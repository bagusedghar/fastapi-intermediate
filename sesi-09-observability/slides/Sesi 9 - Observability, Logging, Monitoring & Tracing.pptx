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80"/>
  </p:notesMasterIdLst>
  <p:sldIdLst>
    <p:sldId id="256" r:id="rId2"/>
    <p:sldId id="257" r:id="rId3"/>
    <p:sldId id="277" r:id="rId4"/>
    <p:sldId id="278"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4" r:id="rId21"/>
    <p:sldId id="295" r:id="rId22"/>
    <p:sldId id="296" r:id="rId23"/>
    <p:sldId id="297" r:id="rId24"/>
    <p:sldId id="298" r:id="rId25"/>
    <p:sldId id="299" r:id="rId26"/>
    <p:sldId id="300" r:id="rId27"/>
    <p:sldId id="301" r:id="rId28"/>
    <p:sldId id="302" r:id="rId29"/>
    <p:sldId id="303" r:id="rId30"/>
    <p:sldId id="304" r:id="rId31"/>
    <p:sldId id="305" r:id="rId32"/>
    <p:sldId id="306" r:id="rId33"/>
    <p:sldId id="307" r:id="rId34"/>
    <p:sldId id="308" r:id="rId35"/>
    <p:sldId id="309" r:id="rId36"/>
    <p:sldId id="310" r:id="rId37"/>
    <p:sldId id="311" r:id="rId38"/>
    <p:sldId id="312" r:id="rId39"/>
    <p:sldId id="313" r:id="rId40"/>
    <p:sldId id="314" r:id="rId41"/>
    <p:sldId id="315" r:id="rId42"/>
    <p:sldId id="316" r:id="rId43"/>
    <p:sldId id="317" r:id="rId44"/>
    <p:sldId id="318" r:id="rId45"/>
    <p:sldId id="319" r:id="rId46"/>
    <p:sldId id="320" r:id="rId47"/>
    <p:sldId id="321" r:id="rId48"/>
    <p:sldId id="322" r:id="rId49"/>
    <p:sldId id="323" r:id="rId50"/>
    <p:sldId id="324" r:id="rId51"/>
    <p:sldId id="325" r:id="rId52"/>
    <p:sldId id="326" r:id="rId53"/>
    <p:sldId id="327" r:id="rId54"/>
    <p:sldId id="328" r:id="rId55"/>
    <p:sldId id="329" r:id="rId56"/>
    <p:sldId id="330" r:id="rId57"/>
    <p:sldId id="331" r:id="rId58"/>
    <p:sldId id="332" r:id="rId59"/>
    <p:sldId id="333" r:id="rId60"/>
    <p:sldId id="334" r:id="rId61"/>
    <p:sldId id="335" r:id="rId62"/>
    <p:sldId id="336" r:id="rId63"/>
    <p:sldId id="337" r:id="rId64"/>
    <p:sldId id="338" r:id="rId65"/>
    <p:sldId id="339" r:id="rId66"/>
    <p:sldId id="340" r:id="rId67"/>
    <p:sldId id="341" r:id="rId68"/>
    <p:sldId id="342" r:id="rId69"/>
    <p:sldId id="343" r:id="rId70"/>
    <p:sldId id="344" r:id="rId71"/>
    <p:sldId id="345" r:id="rId72"/>
    <p:sldId id="346" r:id="rId73"/>
    <p:sldId id="347" r:id="rId74"/>
    <p:sldId id="348" r:id="rId75"/>
    <p:sldId id="349" r:id="rId76"/>
    <p:sldId id="350" r:id="rId77"/>
    <p:sldId id="351" r:id="rId78"/>
    <p:sldId id="276" r:id="rId79"/>
  </p:sldIdLst>
  <p:sldSz cx="9144000" cy="5143500" type="screen16x9"/>
  <p:notesSz cx="6858000" cy="9144000"/>
  <p:embeddedFontLst>
    <p:embeddedFont>
      <p:font typeface="Inconsolata" pitchFamily="1" charset="0"/>
      <p:regular r:id="rId81"/>
      <p:bold r:id="rId82"/>
    </p:embeddedFont>
    <p:embeddedFont>
      <p:font typeface="Inter" panose="02000503000000020004" pitchFamily="2" charset="0"/>
      <p:regular r:id="rId83"/>
      <p:bold r:id="rId84"/>
      <p:italic r:id="rId85"/>
      <p:boldItalic r:id="rId86"/>
    </p:embeddedFont>
    <p:embeddedFont>
      <p:font typeface="Work Sans Medium" pitchFamily="2" charset="0"/>
      <p:regular r:id="rId8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8" roundtripDataSignature="AMtx7misuxx245f/qKiEmR3PX6YRe0tIP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4.fntdata"/><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3.fntdata"/><Relationship Id="rId88" Type="http://customschemas.google.com/relationships/presentationmetadata" Target="metadata"/><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font" Target="fonts/font1.fntdata"/><Relationship Id="rId86"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7.fntdata"/><Relationship Id="rId61" Type="http://schemas.openxmlformats.org/officeDocument/2006/relationships/slide" Target="slides/slide60.xml"/><Relationship Id="rId82" Type="http://schemas.openxmlformats.org/officeDocument/2006/relationships/font" Target="fonts/font2.fntdata"/><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442ffe4c8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 name="Google Shape;89;g2442ffe4c8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Peserta mengerjakan hands-on bersama mentor.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907dbd872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1" name="Google Shape;251;g2907dbd872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pic>
        <p:nvPicPr>
          <p:cNvPr id="10" name="Google Shape;10;p19"/>
          <p:cNvPicPr preferRelativeResize="0"/>
          <p:nvPr/>
        </p:nvPicPr>
        <p:blipFill rotWithShape="1">
          <a:blip r:embed="rId2">
            <a:alphaModFix/>
          </a:blip>
          <a:srcRect/>
          <a:stretch/>
        </p:blipFill>
        <p:spPr>
          <a:xfrm>
            <a:off x="-7200" y="-15150"/>
            <a:ext cx="9190446" cy="5169626"/>
          </a:xfrm>
          <a:prstGeom prst="rect">
            <a:avLst/>
          </a:prstGeom>
          <a:noFill/>
          <a:ln>
            <a:noFill/>
          </a:ln>
        </p:spPr>
      </p:pic>
      <p:sp>
        <p:nvSpPr>
          <p:cNvPr id="11" name="Google Shape;11;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2" name="Google Shape;12;p19"/>
          <p:cNvPicPr preferRelativeResize="0"/>
          <p:nvPr/>
        </p:nvPicPr>
        <p:blipFill rotWithShape="1">
          <a:blip r:embed="rId3">
            <a:alphaModFix/>
          </a:blip>
          <a:srcRect/>
          <a:stretch/>
        </p:blipFill>
        <p:spPr>
          <a:xfrm>
            <a:off x="7768176" y="286450"/>
            <a:ext cx="1080001" cy="2473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pic>
        <p:nvPicPr>
          <p:cNvPr id="14" name="Google Shape;14;p23"/>
          <p:cNvPicPr preferRelativeResize="0"/>
          <p:nvPr/>
        </p:nvPicPr>
        <p:blipFill rotWithShape="1">
          <a:blip r:embed="rId2">
            <a:alphaModFix/>
          </a:blip>
          <a:srcRect/>
          <a:stretch/>
        </p:blipFill>
        <p:spPr>
          <a:xfrm>
            <a:off x="0" y="-1"/>
            <a:ext cx="9144003" cy="5143504"/>
          </a:xfrm>
          <a:prstGeom prst="rect">
            <a:avLst/>
          </a:prstGeom>
          <a:noFill/>
          <a:ln>
            <a:noFill/>
          </a:ln>
        </p:spPr>
      </p:pic>
      <p:sp>
        <p:nvSpPr>
          <p:cNvPr id="15" name="Google Shape;15;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6" name="Google Shape;16;p23"/>
          <p:cNvPicPr preferRelativeResize="0"/>
          <p:nvPr/>
        </p:nvPicPr>
        <p:blipFill rotWithShape="1">
          <a:blip r:embed="rId3">
            <a:alphaModFix/>
          </a:blip>
          <a:srcRect/>
          <a:stretch/>
        </p:blipFill>
        <p:spPr>
          <a:xfrm>
            <a:off x="7768176" y="286450"/>
            <a:ext cx="1080001" cy="2473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1">
  <p:cSld name="SECTION_HEADER_3">
    <p:spTree>
      <p:nvGrpSpPr>
        <p:cNvPr id="1" name="Shape 17"/>
        <p:cNvGrpSpPr/>
        <p:nvPr/>
      </p:nvGrpSpPr>
      <p:grpSpPr>
        <a:xfrm>
          <a:off x="0" y="0"/>
          <a:ext cx="0" cy="0"/>
          <a:chOff x="0" y="0"/>
          <a:chExt cx="0" cy="0"/>
        </a:xfrm>
      </p:grpSpPr>
      <p:pic>
        <p:nvPicPr>
          <p:cNvPr id="18" name="Google Shape;18;p62"/>
          <p:cNvPicPr preferRelativeResize="0"/>
          <p:nvPr/>
        </p:nvPicPr>
        <p:blipFill rotWithShape="1">
          <a:blip r:embed="rId2">
            <a:alphaModFix/>
          </a:blip>
          <a:srcRect/>
          <a:stretch/>
        </p:blipFill>
        <p:spPr>
          <a:xfrm>
            <a:off x="0" y="-1"/>
            <a:ext cx="9206026" cy="5178401"/>
          </a:xfrm>
          <a:prstGeom prst="rect">
            <a:avLst/>
          </a:prstGeom>
          <a:noFill/>
          <a:ln>
            <a:noFill/>
          </a:ln>
        </p:spPr>
      </p:pic>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0" name="Google Shape;20;p62"/>
          <p:cNvPicPr preferRelativeResize="0"/>
          <p:nvPr/>
        </p:nvPicPr>
        <p:blipFill rotWithShape="1">
          <a:blip r:embed="rId3">
            <a:alphaModFix/>
          </a:blip>
          <a:srcRect/>
          <a:stretch/>
        </p:blipFill>
        <p:spPr>
          <a:xfrm>
            <a:off x="7768176" y="286450"/>
            <a:ext cx="1080001" cy="2473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2 1 1">
  <p:cSld name="TITLE_2_1_1">
    <p:spTree>
      <p:nvGrpSpPr>
        <p:cNvPr id="1" name="Shape 21"/>
        <p:cNvGrpSpPr/>
        <p:nvPr/>
      </p:nvGrpSpPr>
      <p:grpSpPr>
        <a:xfrm>
          <a:off x="0" y="0"/>
          <a:ext cx="0" cy="0"/>
          <a:chOff x="0" y="0"/>
          <a:chExt cx="0" cy="0"/>
        </a:xfrm>
      </p:grpSpPr>
      <p:sp>
        <p:nvSpPr>
          <p:cNvPr id="22" name="Google Shape;22;p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3" name="Google Shape;23;p49"/>
          <p:cNvPicPr preferRelativeResize="0"/>
          <p:nvPr/>
        </p:nvPicPr>
        <p:blipFill rotWithShape="1">
          <a:blip r:embed="rId2">
            <a:alphaModFix/>
          </a:blip>
          <a:srcRect l="-11869" r="-10498"/>
          <a:stretch/>
        </p:blipFill>
        <p:spPr>
          <a:xfrm>
            <a:off x="7614450" y="286450"/>
            <a:ext cx="1372051" cy="247350"/>
          </a:xfrm>
          <a:prstGeom prst="rect">
            <a:avLst/>
          </a:prstGeom>
          <a:noFill/>
          <a:ln>
            <a:noFill/>
          </a:ln>
        </p:spPr>
      </p:pic>
      <p:pic>
        <p:nvPicPr>
          <p:cNvPr id="24" name="Google Shape;24;p49"/>
          <p:cNvPicPr preferRelativeResize="0"/>
          <p:nvPr/>
        </p:nvPicPr>
        <p:blipFill rotWithShape="1">
          <a:blip r:embed="rId3">
            <a:alphaModFix/>
          </a:blip>
          <a:srcRect/>
          <a:stretch/>
        </p:blipFill>
        <p:spPr>
          <a:xfrm>
            <a:off x="0" y="0"/>
            <a:ext cx="9143992" cy="514350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3">
  <p:cSld name="SECTION_HEADER_4">
    <p:spTree>
      <p:nvGrpSpPr>
        <p:cNvPr id="1" name="Shape 25"/>
        <p:cNvGrpSpPr/>
        <p:nvPr/>
      </p:nvGrpSpPr>
      <p:grpSpPr>
        <a:xfrm>
          <a:off x="0" y="0"/>
          <a:ext cx="0" cy="0"/>
          <a:chOff x="0" y="0"/>
          <a:chExt cx="0" cy="0"/>
        </a:xfrm>
      </p:grpSpPr>
      <p:pic>
        <p:nvPicPr>
          <p:cNvPr id="26" name="Google Shape;26;p20"/>
          <p:cNvPicPr preferRelativeResize="0"/>
          <p:nvPr/>
        </p:nvPicPr>
        <p:blipFill rotWithShape="1">
          <a:blip r:embed="rId2">
            <a:alphaModFix/>
          </a:blip>
          <a:srcRect/>
          <a:stretch/>
        </p:blipFill>
        <p:spPr>
          <a:xfrm>
            <a:off x="0" y="-1"/>
            <a:ext cx="9143992" cy="5143501"/>
          </a:xfrm>
          <a:prstGeom prst="rect">
            <a:avLst/>
          </a:prstGeom>
          <a:noFill/>
          <a:ln>
            <a:noFill/>
          </a:ln>
        </p:spPr>
      </p:pic>
      <p:sp>
        <p:nvSpPr>
          <p:cNvPr id="27" name="Google Shape;27;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8" name="Google Shape;28;p20"/>
          <p:cNvPicPr preferRelativeResize="0"/>
          <p:nvPr/>
        </p:nvPicPr>
        <p:blipFill rotWithShape="1">
          <a:blip r:embed="rId3">
            <a:alphaModFix/>
          </a:blip>
          <a:srcRect/>
          <a:stretch/>
        </p:blipFill>
        <p:spPr>
          <a:xfrm>
            <a:off x="7768176" y="286450"/>
            <a:ext cx="1080001" cy="2473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2 1">
  <p:cSld name="TITLE_2_1">
    <p:spTree>
      <p:nvGrpSpPr>
        <p:cNvPr id="1" name="Shape 29"/>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31" name="Google Shape;31;p21"/>
          <p:cNvPicPr preferRelativeResize="0"/>
          <p:nvPr/>
        </p:nvPicPr>
        <p:blipFill rotWithShape="1">
          <a:blip r:embed="rId2">
            <a:alphaModFix/>
          </a:blip>
          <a:srcRect/>
          <a:stretch/>
        </p:blipFill>
        <p:spPr>
          <a:xfrm>
            <a:off x="-7200" y="-7175"/>
            <a:ext cx="9204623" cy="5177601"/>
          </a:xfrm>
          <a:prstGeom prst="rect">
            <a:avLst/>
          </a:prstGeom>
          <a:noFill/>
          <a:ln>
            <a:noFill/>
          </a:ln>
        </p:spPr>
      </p:pic>
      <p:pic>
        <p:nvPicPr>
          <p:cNvPr id="32" name="Google Shape;32;p21"/>
          <p:cNvPicPr preferRelativeResize="0"/>
          <p:nvPr/>
        </p:nvPicPr>
        <p:blipFill rotWithShape="1">
          <a:blip r:embed="rId3">
            <a:alphaModFix/>
          </a:blip>
          <a:srcRect l="-11869" r="-10498"/>
          <a:stretch/>
        </p:blipFill>
        <p:spPr>
          <a:xfrm>
            <a:off x="7614450" y="286450"/>
            <a:ext cx="1372051" cy="2473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2">
  <p:cSld name="TITLE_2">
    <p:spTree>
      <p:nvGrpSpPr>
        <p:cNvPr id="1" name="Shape 33"/>
        <p:cNvGrpSpPr/>
        <p:nvPr/>
      </p:nvGrpSpPr>
      <p:grpSpPr>
        <a:xfrm>
          <a:off x="0" y="0"/>
          <a:ext cx="0" cy="0"/>
          <a:chOff x="0" y="0"/>
          <a:chExt cx="0" cy="0"/>
        </a:xfrm>
      </p:grpSpPr>
      <p:pic>
        <p:nvPicPr>
          <p:cNvPr id="34" name="Google Shape;34;p22"/>
          <p:cNvPicPr preferRelativeResize="0"/>
          <p:nvPr/>
        </p:nvPicPr>
        <p:blipFill rotWithShape="1">
          <a:blip r:embed="rId2">
            <a:alphaModFix/>
          </a:blip>
          <a:srcRect/>
          <a:stretch/>
        </p:blipFill>
        <p:spPr>
          <a:xfrm>
            <a:off x="-14350" y="-6375"/>
            <a:ext cx="9160668" cy="5152876"/>
          </a:xfrm>
          <a:prstGeom prst="rect">
            <a:avLst/>
          </a:prstGeom>
          <a:noFill/>
          <a:ln>
            <a:noFill/>
          </a:ln>
        </p:spPr>
      </p:pic>
      <p:sp>
        <p:nvSpPr>
          <p:cNvPr id="35" name="Google Shape;35;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36" name="Google Shape;36;p22"/>
          <p:cNvPicPr preferRelativeResize="0"/>
          <p:nvPr/>
        </p:nvPicPr>
        <p:blipFill rotWithShape="1">
          <a:blip r:embed="rId3">
            <a:alphaModFix/>
          </a:blip>
          <a:srcRect l="-11869" r="-10498"/>
          <a:stretch/>
        </p:blipFill>
        <p:spPr>
          <a:xfrm>
            <a:off x="7614450" y="286450"/>
            <a:ext cx="1372051" cy="2473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7"/>
        <p:cNvGrpSpPr/>
        <p:nvPr/>
      </p:nvGrpSpPr>
      <p:grpSpPr>
        <a:xfrm>
          <a:off x="0" y="0"/>
          <a:ext cx="0" cy="0"/>
          <a:chOff x="0" y="0"/>
          <a:chExt cx="0" cy="0"/>
        </a:xfrm>
      </p:grpSpPr>
      <p:sp>
        <p:nvSpPr>
          <p:cNvPr id="38" name="Google Shape;38;p5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9" name="Google Shape;39;p5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1"/>
        <p:cNvGrpSpPr/>
        <p:nvPr/>
      </p:nvGrpSpPr>
      <p:grpSpPr>
        <a:xfrm>
          <a:off x="0" y="0"/>
          <a:ext cx="0" cy="0"/>
          <a:chOff x="0" y="0"/>
          <a:chExt cx="0" cy="0"/>
        </a:xfrm>
      </p:grpSpPr>
      <p:sp>
        <p:nvSpPr>
          <p:cNvPr id="42" name="Google Shape;42;p5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3" name="Google Shape;43;p51"/>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4" name="Google Shape;44;p51"/>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5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
        <p:cNvGrpSpPr/>
        <p:nvPr/>
      </p:nvGrpSpPr>
      <p:grpSpPr>
        <a:xfrm>
          <a:off x="0" y="0"/>
          <a:ext cx="0" cy="0"/>
          <a:chOff x="0" y="0"/>
          <a:chExt cx="0" cy="0"/>
        </a:xfrm>
      </p:grpSpPr>
      <p:sp>
        <p:nvSpPr>
          <p:cNvPr id="47" name="Google Shape;47;p5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8" name="Google Shape;48;p5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9"/>
        <p:cNvGrpSpPr/>
        <p:nvPr/>
      </p:nvGrpSpPr>
      <p:grpSpPr>
        <a:xfrm>
          <a:off x="0" y="0"/>
          <a:ext cx="0" cy="0"/>
          <a:chOff x="0" y="0"/>
          <a:chExt cx="0" cy="0"/>
        </a:xfrm>
      </p:grpSpPr>
      <p:sp>
        <p:nvSpPr>
          <p:cNvPr id="50" name="Google Shape;50;p53"/>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51" name="Google Shape;51;p53"/>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2" name="Google Shape;52;p5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3"/>
        <p:cNvGrpSpPr/>
        <p:nvPr/>
      </p:nvGrpSpPr>
      <p:grpSpPr>
        <a:xfrm>
          <a:off x="0" y="0"/>
          <a:ext cx="0" cy="0"/>
          <a:chOff x="0" y="0"/>
          <a:chExt cx="0" cy="0"/>
        </a:xfrm>
      </p:grpSpPr>
      <p:sp>
        <p:nvSpPr>
          <p:cNvPr id="54" name="Google Shape;54;p54"/>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55" name="Google Shape;55;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6"/>
        <p:cNvGrpSpPr/>
        <p:nvPr/>
      </p:nvGrpSpPr>
      <p:grpSpPr>
        <a:xfrm>
          <a:off x="0" y="0"/>
          <a:ext cx="0" cy="0"/>
          <a:chOff x="0" y="0"/>
          <a:chExt cx="0" cy="0"/>
        </a:xfrm>
      </p:grpSpPr>
      <p:sp>
        <p:nvSpPr>
          <p:cNvPr id="57" name="Google Shape;57;p55"/>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55"/>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9" name="Google Shape;59;p55"/>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0" name="Google Shape;60;p55"/>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1" name="Google Shape;61;p5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2"/>
        <p:cNvGrpSpPr/>
        <p:nvPr/>
      </p:nvGrpSpPr>
      <p:grpSpPr>
        <a:xfrm>
          <a:off x="0" y="0"/>
          <a:ext cx="0" cy="0"/>
          <a:chOff x="0" y="0"/>
          <a:chExt cx="0" cy="0"/>
        </a:xfrm>
      </p:grpSpPr>
      <p:sp>
        <p:nvSpPr>
          <p:cNvPr id="63" name="Google Shape;63;p56"/>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64" name="Google Shape;64;p5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5"/>
        <p:cNvGrpSpPr/>
        <p:nvPr/>
      </p:nvGrpSpPr>
      <p:grpSpPr>
        <a:xfrm>
          <a:off x="0" y="0"/>
          <a:ext cx="0" cy="0"/>
          <a:chOff x="0" y="0"/>
          <a:chExt cx="0" cy="0"/>
        </a:xfrm>
      </p:grpSpPr>
      <p:sp>
        <p:nvSpPr>
          <p:cNvPr id="66" name="Google Shape;66;p57"/>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7" name="Google Shape;67;p57"/>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8" name="Google Shape;68;p5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9"/>
        <p:cNvGrpSpPr/>
        <p:nvPr/>
      </p:nvGrpSpPr>
      <p:grpSpPr>
        <a:xfrm>
          <a:off x="0" y="0"/>
          <a:ext cx="0" cy="0"/>
          <a:chOff x="0" y="0"/>
          <a:chExt cx="0" cy="0"/>
        </a:xfrm>
      </p:grpSpPr>
      <p:sp>
        <p:nvSpPr>
          <p:cNvPr id="70" name="Google Shape;70;p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1" name="Shape 71"/>
        <p:cNvGrpSpPr/>
        <p:nvPr/>
      </p:nvGrpSpPr>
      <p:grpSpPr>
        <a:xfrm>
          <a:off x="0" y="0"/>
          <a:ext cx="0" cy="0"/>
          <a:chOff x="0" y="0"/>
          <a:chExt cx="0" cy="0"/>
        </a:xfrm>
      </p:grpSpPr>
      <p:sp>
        <p:nvSpPr>
          <p:cNvPr id="72" name="Google Shape;72;p5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73" name="Google Shape;73;p59"/>
          <p:cNvCxnSpPr/>
          <p:nvPr/>
        </p:nvCxnSpPr>
        <p:spPr>
          <a:xfrm>
            <a:off x="2740288" y="3545850"/>
            <a:ext cx="3824400" cy="0"/>
          </a:xfrm>
          <a:prstGeom prst="straightConnector1">
            <a:avLst/>
          </a:prstGeom>
          <a:noFill/>
          <a:ln w="9525" cap="flat" cmpd="sng">
            <a:solidFill>
              <a:srgbClr val="FFFFFF"/>
            </a:solidFill>
            <a:prstDash val="solid"/>
            <a:round/>
            <a:headEnd type="none" w="sm" len="sm"/>
            <a:tailEnd type="none" w="sm" len="sm"/>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1 1">
  <p:cSld name="TITLE_1_1">
    <p:spTree>
      <p:nvGrpSpPr>
        <p:cNvPr id="1" name="Shape 74"/>
        <p:cNvGrpSpPr/>
        <p:nvPr/>
      </p:nvGrpSpPr>
      <p:grpSpPr>
        <a:xfrm>
          <a:off x="0" y="0"/>
          <a:ext cx="0" cy="0"/>
          <a:chOff x="0" y="0"/>
          <a:chExt cx="0" cy="0"/>
        </a:xfrm>
      </p:grpSpPr>
      <p:sp>
        <p:nvSpPr>
          <p:cNvPr id="75" name="Google Shape;75;p6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76" name="Google Shape;76;p60"/>
          <p:cNvCxnSpPr/>
          <p:nvPr/>
        </p:nvCxnSpPr>
        <p:spPr>
          <a:xfrm>
            <a:off x="2740288" y="3545850"/>
            <a:ext cx="3824400" cy="0"/>
          </a:xfrm>
          <a:prstGeom prst="straightConnector1">
            <a:avLst/>
          </a:prstGeom>
          <a:noFill/>
          <a:ln w="9525" cap="flat" cmpd="sng">
            <a:solidFill>
              <a:srgbClr val="FFFFFF"/>
            </a:solidFill>
            <a:prstDash val="solid"/>
            <a:round/>
            <a:headEnd type="none" w="sm" len="sm"/>
            <a:tailEnd type="none" w="sm" len="sm"/>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2">
  <p:cSld name="SECTION_HEADER_2">
    <p:spTree>
      <p:nvGrpSpPr>
        <p:cNvPr id="1" name="Shape 77"/>
        <p:cNvGrpSpPr/>
        <p:nvPr/>
      </p:nvGrpSpPr>
      <p:grpSpPr>
        <a:xfrm>
          <a:off x="0" y="0"/>
          <a:ext cx="0" cy="0"/>
          <a:chOff x="0" y="0"/>
          <a:chExt cx="0" cy="0"/>
        </a:xfrm>
      </p:grpSpPr>
      <p:sp>
        <p:nvSpPr>
          <p:cNvPr id="78" name="Google Shape;78;p61"/>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pic>
        <p:nvPicPr>
          <p:cNvPr id="79" name="Google Shape;79;p61"/>
          <p:cNvPicPr preferRelativeResize="0"/>
          <p:nvPr/>
        </p:nvPicPr>
        <p:blipFill rotWithShape="1">
          <a:blip r:embed="rId2">
            <a:alphaModFix/>
          </a:blip>
          <a:srcRect t="31469" b="34000"/>
          <a:stretch/>
        </p:blipFill>
        <p:spPr>
          <a:xfrm>
            <a:off x="134750" y="4589275"/>
            <a:ext cx="1410576" cy="34434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8" Type="http://schemas.openxmlformats.org/officeDocument/2006/relationships/hyperlink" Target="https://github.com/bagusedghar/fastapi-intermediate/tree/main/sesi-09-observability" TargetMode="External"/><Relationship Id="rId3" Type="http://schemas.openxmlformats.org/officeDocument/2006/relationships/image" Target="../media/image33.png"/><Relationship Id="rId7" Type="http://schemas.openxmlformats.org/officeDocument/2006/relationships/hyperlink" Target="https://colab.research.google.com/github/FTDS-learning-materials/phase-2/blob/master/w2/P2W2D1PM%20-%20Data%20Ethics%20&amp;%20Data%20Validation.ipynb"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a:t>
            </a:fld>
            <a:endParaRPr/>
          </a:p>
        </p:txBody>
      </p:sp>
      <p:sp>
        <p:nvSpPr>
          <p:cNvPr id="85" name="Google Shape;85;p5"/>
          <p:cNvSpPr txBox="1"/>
          <p:nvPr/>
        </p:nvSpPr>
        <p:spPr>
          <a:xfrm>
            <a:off x="763050" y="2010750"/>
            <a:ext cx="8258100" cy="11034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rgbClr val="000000"/>
              </a:buClr>
              <a:buSzPts val="3500"/>
              <a:buFont typeface="Arial"/>
              <a:buNone/>
            </a:pPr>
            <a:r>
              <a:rPr lang="en" sz="3500">
                <a:solidFill>
                  <a:srgbClr val="F06634"/>
                </a:solidFill>
                <a:latin typeface="Work Sans ExtraBold"/>
                <a:ea typeface="Work Sans ExtraBold"/>
                <a:cs typeface="Work Sans ExtraBold"/>
                <a:sym typeface="Work Sans ExtraBold"/>
              </a:rPr>
              <a:t>Observability: Logging, Monitoring &amp; Tracing</a:t>
            </a:r>
            <a:endParaRPr sz="3500" b="0" i="0" u="none" strike="noStrike" cap="none">
              <a:solidFill>
                <a:srgbClr val="F06634"/>
              </a:solidFill>
              <a:latin typeface="Work Sans ExtraBold"/>
              <a:ea typeface="Work Sans ExtraBold"/>
              <a:cs typeface="Work Sans ExtraBold"/>
              <a:sym typeface="Work Sans ExtraBold"/>
            </a:endParaRPr>
          </a:p>
        </p:txBody>
      </p:sp>
      <p:sp>
        <p:nvSpPr>
          <p:cNvPr id="86" name="Google Shape;86;p5"/>
          <p:cNvSpPr txBox="1"/>
          <p:nvPr/>
        </p:nvSpPr>
        <p:spPr>
          <a:xfrm>
            <a:off x="763050" y="3157225"/>
            <a:ext cx="7315200" cy="5313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rgbClr val="000000"/>
              </a:buClr>
              <a:buSzPts val="1500"/>
              <a:buFont typeface="Arial"/>
              <a:buNone/>
            </a:pPr>
            <a:r>
              <a:rPr lang="en" sz="1500" b="0" i="0" u="none" strike="noStrike" cap="none">
                <a:solidFill>
                  <a:schemeClr val="dk2"/>
                </a:solidFill>
                <a:latin typeface="Work Sans Medium"/>
                <a:ea typeface="Work Sans Medium"/>
                <a:cs typeface="Work Sans Medium"/>
                <a:sym typeface="Work Sans Medium"/>
              </a:rPr>
              <a:t>Intermediate Backend Developer with FastAPI  -  Sesi 9</a:t>
            </a:r>
            <a:endParaRPr sz="1500" b="0" i="0" u="none" strike="noStrike" cap="none">
              <a:solidFill>
                <a:schemeClr val="dk2"/>
              </a:solidFill>
              <a:latin typeface="Work Sans Medium"/>
              <a:ea typeface="Work Sans Medium"/>
              <a:cs typeface="Work Sans Medium"/>
              <a:sym typeface="Work Sans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g2442ffe4c8e_0_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2</a:t>
            </a:fld>
            <a:endParaRPr/>
          </a:p>
        </p:txBody>
      </p:sp>
      <p:sp>
        <p:nvSpPr>
          <p:cNvPr id="92" name="Google Shape;92;g2442ffe4c8e_0_0"/>
          <p:cNvSpPr txBox="1"/>
          <p:nvPr/>
        </p:nvSpPr>
        <p:spPr>
          <a:xfrm>
            <a:off x="310675" y="249275"/>
            <a:ext cx="4456800" cy="48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300"/>
              <a:buFont typeface="Arial"/>
              <a:buNone/>
            </a:pPr>
            <a:r>
              <a:rPr lang="en" sz="2300" b="0" i="0" u="none" strike="noStrike" cap="none">
                <a:solidFill>
                  <a:srgbClr val="1D3D70"/>
                </a:solidFill>
                <a:latin typeface="Work Sans ExtraBold"/>
                <a:ea typeface="Work Sans ExtraBold"/>
                <a:cs typeface="Work Sans ExtraBold"/>
                <a:sym typeface="Work Sans ExtraBold"/>
              </a:rPr>
              <a:t>Contents</a:t>
            </a:r>
            <a:endParaRPr sz="2300" b="0" i="0" u="none" strike="noStrike" cap="none">
              <a:solidFill>
                <a:srgbClr val="1D3D70"/>
              </a:solidFill>
              <a:latin typeface="Work Sans ExtraBold"/>
              <a:ea typeface="Work Sans ExtraBold"/>
              <a:cs typeface="Work Sans ExtraBold"/>
              <a:sym typeface="Work Sans ExtraBold"/>
            </a:endParaRPr>
          </a:p>
        </p:txBody>
      </p:sp>
      <p:sp>
        <p:nvSpPr>
          <p:cNvPr id="93" name="Text 1"/>
          <p:cNvSpPr txBox="1"/>
          <p:nvPr/>
        </p:nvSpPr>
        <p:spPr>
          <a:xfrm>
            <a:off x="548640" y="1143000"/>
            <a:ext cx="5669280" cy="292608"/>
          </a:xfrm>
          <a:prstGeom prst="rect">
            <a:avLst/>
          </a:prstGeom>
          <a:noFill/>
        </p:spPr>
        <p:txBody>
          <a:bodyPr wrap="square" lIns="45720" rIns="45720" anchor="ctr">
            <a:spAutoFit/>
          </a:bodyPr>
          <a:lstStyle/>
          <a:p>
            <a:pPr algn="r">
              <a:lnSpc>
                <a:spcPct val="115000"/>
              </a:lnSpc>
              <a:spcAft>
                <a:spcPts val="400"/>
              </a:spcAft>
            </a:pPr>
            <a:r>
              <a:rPr sz="1000" b="0" i="0">
                <a:solidFill>
                  <a:srgbClr val="434343"/>
                </a:solidFill>
                <a:latin typeface="Inter"/>
              </a:rPr>
              <a:t>Logging</a:t>
            </a:r>
          </a:p>
        </p:txBody>
      </p:sp>
      <p:cxnSp>
        <p:nvCxnSpPr>
          <p:cNvPr id="94" name="Arrow 2"/>
          <p:cNvCxnSpPr/>
          <p:nvPr/>
        </p:nvCxnSpPr>
        <p:spPr>
          <a:xfrm>
            <a:off x="6318504" y="1325880"/>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95" name="Text 3"/>
          <p:cNvSpPr txBox="1"/>
          <p:nvPr/>
        </p:nvSpPr>
        <p:spPr>
          <a:xfrm>
            <a:off x="8266175" y="1143000"/>
            <a:ext cx="548640" cy="292608"/>
          </a:xfrm>
          <a:prstGeom prst="rect">
            <a:avLst/>
          </a:prstGeom>
          <a:noFill/>
        </p:spPr>
        <p:txBody>
          <a:bodyPr wrap="square" lIns="45720" rIns="45720" anchor="ctr">
            <a:spAutoFit/>
          </a:bodyPr>
          <a:lstStyle/>
          <a:p>
            <a:pPr algn="l">
              <a:lnSpc>
                <a:spcPct val="115000"/>
              </a:lnSpc>
              <a:spcAft>
                <a:spcPts val="400"/>
              </a:spcAft>
            </a:pPr>
            <a:r>
              <a:rPr sz="1000" b="1" i="1">
                <a:solidFill>
                  <a:srgbClr val="E0764F"/>
                </a:solidFill>
                <a:latin typeface="Inter"/>
              </a:rPr>
              <a:t>10</a:t>
            </a:r>
          </a:p>
        </p:txBody>
      </p:sp>
      <p:sp>
        <p:nvSpPr>
          <p:cNvPr id="96" name="Text 4"/>
          <p:cNvSpPr txBox="1"/>
          <p:nvPr/>
        </p:nvSpPr>
        <p:spPr>
          <a:xfrm>
            <a:off x="548640" y="1527048"/>
            <a:ext cx="5669280" cy="292608"/>
          </a:xfrm>
          <a:prstGeom prst="rect">
            <a:avLst/>
          </a:prstGeom>
          <a:noFill/>
        </p:spPr>
        <p:txBody>
          <a:bodyPr wrap="square" lIns="45720" rIns="45720" anchor="ctr">
            <a:spAutoFit/>
          </a:bodyPr>
          <a:lstStyle/>
          <a:p>
            <a:pPr algn="r">
              <a:lnSpc>
                <a:spcPct val="115000"/>
              </a:lnSpc>
              <a:spcAft>
                <a:spcPts val="400"/>
              </a:spcAft>
            </a:pPr>
            <a:r>
              <a:rPr sz="1000" b="0" i="0">
                <a:solidFill>
                  <a:srgbClr val="434343"/>
                </a:solidFill>
                <a:latin typeface="Inter"/>
              </a:rPr>
              <a:t>Metrics &amp; Health Check</a:t>
            </a:r>
          </a:p>
        </p:txBody>
      </p:sp>
      <p:cxnSp>
        <p:nvCxnSpPr>
          <p:cNvPr id="97" name="Arrow 5"/>
          <p:cNvCxnSpPr/>
          <p:nvPr/>
        </p:nvCxnSpPr>
        <p:spPr>
          <a:xfrm>
            <a:off x="6318504" y="1709928"/>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98" name="Text 6"/>
          <p:cNvSpPr txBox="1"/>
          <p:nvPr/>
        </p:nvSpPr>
        <p:spPr>
          <a:xfrm>
            <a:off x="8266175" y="1527048"/>
            <a:ext cx="548640" cy="292608"/>
          </a:xfrm>
          <a:prstGeom prst="rect">
            <a:avLst/>
          </a:prstGeom>
          <a:noFill/>
        </p:spPr>
        <p:txBody>
          <a:bodyPr wrap="square" lIns="45720" rIns="45720" anchor="ctr">
            <a:spAutoFit/>
          </a:bodyPr>
          <a:lstStyle/>
          <a:p>
            <a:pPr algn="l">
              <a:lnSpc>
                <a:spcPct val="115000"/>
              </a:lnSpc>
              <a:spcAft>
                <a:spcPts val="400"/>
              </a:spcAft>
            </a:pPr>
            <a:r>
              <a:rPr sz="1000" b="1" i="1">
                <a:solidFill>
                  <a:srgbClr val="E0764F"/>
                </a:solidFill>
                <a:latin typeface="Inter"/>
              </a:rPr>
              <a:t>32</a:t>
            </a:r>
          </a:p>
        </p:txBody>
      </p:sp>
      <p:sp>
        <p:nvSpPr>
          <p:cNvPr id="99" name="Text 7"/>
          <p:cNvSpPr txBox="1"/>
          <p:nvPr/>
        </p:nvSpPr>
        <p:spPr>
          <a:xfrm>
            <a:off x="548640" y="1911095"/>
            <a:ext cx="5669280" cy="292608"/>
          </a:xfrm>
          <a:prstGeom prst="rect">
            <a:avLst/>
          </a:prstGeom>
          <a:noFill/>
        </p:spPr>
        <p:txBody>
          <a:bodyPr wrap="square" lIns="45720" rIns="45720" anchor="ctr">
            <a:spAutoFit/>
          </a:bodyPr>
          <a:lstStyle/>
          <a:p>
            <a:pPr algn="r">
              <a:lnSpc>
                <a:spcPct val="115000"/>
              </a:lnSpc>
              <a:spcAft>
                <a:spcPts val="400"/>
              </a:spcAft>
            </a:pPr>
            <a:r>
              <a:rPr sz="1000" b="0" i="0">
                <a:solidFill>
                  <a:srgbClr val="434343"/>
                </a:solidFill>
                <a:latin typeface="Inter"/>
              </a:rPr>
              <a:t>Distributed Tracing</a:t>
            </a:r>
          </a:p>
        </p:txBody>
      </p:sp>
      <p:cxnSp>
        <p:nvCxnSpPr>
          <p:cNvPr id="100" name="Arrow 8"/>
          <p:cNvCxnSpPr/>
          <p:nvPr/>
        </p:nvCxnSpPr>
        <p:spPr>
          <a:xfrm>
            <a:off x="6318504" y="2093976"/>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101" name="Text 9"/>
          <p:cNvSpPr txBox="1"/>
          <p:nvPr/>
        </p:nvSpPr>
        <p:spPr>
          <a:xfrm>
            <a:off x="8266175" y="1911095"/>
            <a:ext cx="548640" cy="292608"/>
          </a:xfrm>
          <a:prstGeom prst="rect">
            <a:avLst/>
          </a:prstGeom>
          <a:noFill/>
        </p:spPr>
        <p:txBody>
          <a:bodyPr wrap="square" lIns="45720" rIns="45720" anchor="ctr">
            <a:spAutoFit/>
          </a:bodyPr>
          <a:lstStyle/>
          <a:p>
            <a:pPr algn="l">
              <a:lnSpc>
                <a:spcPct val="115000"/>
              </a:lnSpc>
              <a:spcAft>
                <a:spcPts val="400"/>
              </a:spcAft>
            </a:pPr>
            <a:r>
              <a:rPr sz="1000" b="1" i="1">
                <a:solidFill>
                  <a:srgbClr val="E0764F"/>
                </a:solidFill>
                <a:latin typeface="Inter"/>
              </a:rPr>
              <a:t>50</a:t>
            </a:r>
          </a:p>
        </p:txBody>
      </p:sp>
      <p:sp>
        <p:nvSpPr>
          <p:cNvPr id="102" name="Text 10"/>
          <p:cNvSpPr txBox="1"/>
          <p:nvPr/>
        </p:nvSpPr>
        <p:spPr>
          <a:xfrm>
            <a:off x="548640" y="2295144"/>
            <a:ext cx="5669280" cy="292608"/>
          </a:xfrm>
          <a:prstGeom prst="rect">
            <a:avLst/>
          </a:prstGeom>
          <a:noFill/>
        </p:spPr>
        <p:txBody>
          <a:bodyPr wrap="square" lIns="45720" rIns="45720" anchor="ctr">
            <a:spAutoFit/>
          </a:bodyPr>
          <a:lstStyle/>
          <a:p>
            <a:pPr algn="r">
              <a:lnSpc>
                <a:spcPct val="115000"/>
              </a:lnSpc>
              <a:spcAft>
                <a:spcPts val="400"/>
              </a:spcAft>
            </a:pPr>
            <a:r>
              <a:rPr sz="1000" b="0" i="0">
                <a:solidFill>
                  <a:srgbClr val="434343"/>
                </a:solidFill>
                <a:latin typeface="Inter"/>
              </a:rPr>
              <a:t>Hands-on: Observability Order API</a:t>
            </a:r>
          </a:p>
        </p:txBody>
      </p:sp>
      <p:cxnSp>
        <p:nvCxnSpPr>
          <p:cNvPr id="103" name="Arrow 11"/>
          <p:cNvCxnSpPr/>
          <p:nvPr/>
        </p:nvCxnSpPr>
        <p:spPr>
          <a:xfrm>
            <a:off x="6318504" y="2478024"/>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104" name="Text 12"/>
          <p:cNvSpPr txBox="1"/>
          <p:nvPr/>
        </p:nvSpPr>
        <p:spPr>
          <a:xfrm>
            <a:off x="8266175" y="2295144"/>
            <a:ext cx="548640" cy="292608"/>
          </a:xfrm>
          <a:prstGeom prst="rect">
            <a:avLst/>
          </a:prstGeom>
          <a:noFill/>
        </p:spPr>
        <p:txBody>
          <a:bodyPr wrap="square" lIns="45720" rIns="45720" anchor="ctr">
            <a:spAutoFit/>
          </a:bodyPr>
          <a:lstStyle/>
          <a:p>
            <a:pPr algn="l">
              <a:lnSpc>
                <a:spcPct val="115000"/>
              </a:lnSpc>
              <a:spcAft>
                <a:spcPts val="400"/>
              </a:spcAft>
            </a:pPr>
            <a:r>
              <a:rPr sz="1000" b="1" i="1">
                <a:solidFill>
                  <a:srgbClr val="E0764F"/>
                </a:solidFill>
                <a:latin typeface="Inter"/>
              </a:rPr>
              <a:t>58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Sesi 9</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Learning Outcome</a:t>
            </a:r>
          </a:p>
        </p:txBody>
      </p:sp>
      <p:sp>
        <p:nvSpPr>
          <p:cNvPr id="22" name="Box 3"/>
          <p:cNvSpPr/>
          <p:nvPr/>
        </p:nvSpPr>
        <p:spPr>
          <a:xfrm>
            <a:off x="621792" y="1600200"/>
            <a:ext cx="2523744" cy="2011680"/>
          </a:xfrm>
          <a:prstGeom prst="roundRect">
            <a:avLst>
              <a:gd name="adj" fmla="val 5454"/>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Box 4"/>
          <p:cNvSpPr/>
          <p:nvPr/>
        </p:nvSpPr>
        <p:spPr>
          <a:xfrm>
            <a:off x="758952" y="1737360"/>
            <a:ext cx="329184" cy="32918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1100" b="1" i="0">
                <a:solidFill>
                  <a:srgbClr val="FFFFFF"/>
                </a:solidFill>
                <a:latin typeface="Inter"/>
              </a:rPr>
              <a:t>1</a:t>
            </a:r>
          </a:p>
        </p:txBody>
      </p:sp>
      <p:sp>
        <p:nvSpPr>
          <p:cNvPr id="24" name="Text 5"/>
          <p:cNvSpPr txBox="1"/>
          <p:nvPr/>
        </p:nvSpPr>
        <p:spPr>
          <a:xfrm>
            <a:off x="1170432" y="1709928"/>
            <a:ext cx="1883663" cy="384048"/>
          </a:xfrm>
          <a:prstGeom prst="rect">
            <a:avLst/>
          </a:prstGeom>
          <a:noFill/>
        </p:spPr>
        <p:txBody>
          <a:bodyPr wrap="square" lIns="45720" rIns="45720" anchor="ctr">
            <a:spAutoFit/>
          </a:bodyPr>
          <a:lstStyle/>
          <a:p>
            <a:pPr algn="l">
              <a:lnSpc>
                <a:spcPct val="115000"/>
              </a:lnSpc>
              <a:spcAft>
                <a:spcPts val="400"/>
              </a:spcAft>
            </a:pPr>
            <a:r>
              <a:rPr sz="1200" b="1" i="0">
                <a:solidFill>
                  <a:srgbClr val="1C4587"/>
                </a:solidFill>
                <a:latin typeface="Inter"/>
              </a:rPr>
              <a:t>Logging</a:t>
            </a:r>
          </a:p>
        </p:txBody>
      </p:sp>
      <p:sp>
        <p:nvSpPr>
          <p:cNvPr id="25" name="Text 6"/>
          <p:cNvSpPr txBox="1"/>
          <p:nvPr/>
        </p:nvSpPr>
        <p:spPr>
          <a:xfrm>
            <a:off x="758952" y="2148840"/>
            <a:ext cx="2249424" cy="1371600"/>
          </a:xfrm>
          <a:prstGeom prst="rect">
            <a:avLst/>
          </a:prstGeom>
          <a:noFill/>
        </p:spPr>
        <p:txBody>
          <a:bodyPr wrap="square" lIns="45720" rIns="45720" anchor="t">
            <a:spAutoFit/>
          </a:bodyPr>
          <a:lstStyle/>
          <a:p>
            <a:pPr algn="l">
              <a:lnSpc>
                <a:spcPct val="115000"/>
              </a:lnSpc>
              <a:spcAft>
                <a:spcPts val="400"/>
              </a:spcAft>
            </a:pPr>
            <a:r>
              <a:rPr sz="1050" b="0" i="0">
                <a:solidFill>
                  <a:srgbClr val="434343"/>
                </a:solidFill>
                <a:latin typeface="Inter"/>
              </a:rPr>
              <a:t>Menghasilkan log terstruktur yang dapat ditelusuri menggunakan request/correlation ID.</a:t>
            </a:r>
          </a:p>
        </p:txBody>
      </p:sp>
      <p:sp>
        <p:nvSpPr>
          <p:cNvPr id="26" name="Box 7"/>
          <p:cNvSpPr/>
          <p:nvPr/>
        </p:nvSpPr>
        <p:spPr>
          <a:xfrm>
            <a:off x="3291840" y="1600200"/>
            <a:ext cx="2523744" cy="2011680"/>
          </a:xfrm>
          <a:prstGeom prst="roundRect">
            <a:avLst>
              <a:gd name="adj" fmla="val 5454"/>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7" name="Box 8"/>
          <p:cNvSpPr/>
          <p:nvPr/>
        </p:nvSpPr>
        <p:spPr>
          <a:xfrm>
            <a:off x="3429000" y="1737360"/>
            <a:ext cx="329184" cy="32918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1100" b="1" i="0">
                <a:solidFill>
                  <a:srgbClr val="FFFFFF"/>
                </a:solidFill>
                <a:latin typeface="Inter"/>
              </a:rPr>
              <a:t>2</a:t>
            </a:r>
          </a:p>
        </p:txBody>
      </p:sp>
      <p:sp>
        <p:nvSpPr>
          <p:cNvPr id="28" name="Text 9"/>
          <p:cNvSpPr txBox="1"/>
          <p:nvPr/>
        </p:nvSpPr>
        <p:spPr>
          <a:xfrm>
            <a:off x="3840480" y="1709928"/>
            <a:ext cx="1883663" cy="384048"/>
          </a:xfrm>
          <a:prstGeom prst="rect">
            <a:avLst/>
          </a:prstGeom>
          <a:noFill/>
        </p:spPr>
        <p:txBody>
          <a:bodyPr wrap="square" lIns="45720" rIns="45720" anchor="ctr">
            <a:spAutoFit/>
          </a:bodyPr>
          <a:lstStyle/>
          <a:p>
            <a:pPr algn="l">
              <a:lnSpc>
                <a:spcPct val="115000"/>
              </a:lnSpc>
              <a:spcAft>
                <a:spcPts val="400"/>
              </a:spcAft>
            </a:pPr>
            <a:r>
              <a:rPr sz="1200" b="1" i="0">
                <a:solidFill>
                  <a:srgbClr val="1C4587"/>
                </a:solidFill>
                <a:latin typeface="Inter"/>
              </a:rPr>
              <a:t>Metrics &amp; Health</a:t>
            </a:r>
          </a:p>
        </p:txBody>
      </p:sp>
      <p:sp>
        <p:nvSpPr>
          <p:cNvPr id="29" name="Text 10"/>
          <p:cNvSpPr txBox="1"/>
          <p:nvPr/>
        </p:nvSpPr>
        <p:spPr>
          <a:xfrm>
            <a:off x="3429000" y="2148840"/>
            <a:ext cx="2249424" cy="1371600"/>
          </a:xfrm>
          <a:prstGeom prst="rect">
            <a:avLst/>
          </a:prstGeom>
          <a:noFill/>
        </p:spPr>
        <p:txBody>
          <a:bodyPr wrap="square" lIns="45720" rIns="45720" anchor="t">
            <a:spAutoFit/>
          </a:bodyPr>
          <a:lstStyle/>
          <a:p>
            <a:pPr algn="l">
              <a:lnSpc>
                <a:spcPct val="115000"/>
              </a:lnSpc>
              <a:spcAft>
                <a:spcPts val="400"/>
              </a:spcAft>
            </a:pPr>
            <a:r>
              <a:rPr sz="1050" b="0" i="0">
                <a:solidFill>
                  <a:srgbClr val="434343"/>
                </a:solidFill>
                <a:latin typeface="Inter"/>
              </a:rPr>
              <a:t>Menentukan metrics utama untuk traffic, latency, errors, serta membuat health/readiness checks.</a:t>
            </a:r>
          </a:p>
        </p:txBody>
      </p:sp>
      <p:sp>
        <p:nvSpPr>
          <p:cNvPr id="30" name="Box 11"/>
          <p:cNvSpPr/>
          <p:nvPr/>
        </p:nvSpPr>
        <p:spPr>
          <a:xfrm>
            <a:off x="5961888" y="1600200"/>
            <a:ext cx="2523744" cy="2011680"/>
          </a:xfrm>
          <a:prstGeom prst="roundRect">
            <a:avLst>
              <a:gd name="adj" fmla="val 545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Box 12"/>
          <p:cNvSpPr/>
          <p:nvPr/>
        </p:nvSpPr>
        <p:spPr>
          <a:xfrm>
            <a:off x="6099048" y="1737360"/>
            <a:ext cx="329184" cy="32918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1100" b="1" i="0">
                <a:solidFill>
                  <a:srgbClr val="FFFFFF"/>
                </a:solidFill>
                <a:latin typeface="Inter"/>
              </a:rPr>
              <a:t>3</a:t>
            </a:r>
          </a:p>
        </p:txBody>
      </p:sp>
      <p:sp>
        <p:nvSpPr>
          <p:cNvPr id="32" name="Text 13"/>
          <p:cNvSpPr txBox="1"/>
          <p:nvPr/>
        </p:nvSpPr>
        <p:spPr>
          <a:xfrm>
            <a:off x="6510527" y="1709928"/>
            <a:ext cx="1883664" cy="384048"/>
          </a:xfrm>
          <a:prstGeom prst="rect">
            <a:avLst/>
          </a:prstGeom>
          <a:noFill/>
        </p:spPr>
        <p:txBody>
          <a:bodyPr wrap="square" lIns="45720" rIns="45720" anchor="ctr">
            <a:spAutoFit/>
          </a:bodyPr>
          <a:lstStyle/>
          <a:p>
            <a:pPr algn="l">
              <a:lnSpc>
                <a:spcPct val="115000"/>
              </a:lnSpc>
              <a:spcAft>
                <a:spcPts val="400"/>
              </a:spcAft>
            </a:pPr>
            <a:r>
              <a:rPr sz="1200" b="1" i="0">
                <a:solidFill>
                  <a:srgbClr val="1C4587"/>
                </a:solidFill>
                <a:latin typeface="Inter"/>
              </a:rPr>
              <a:t>Tracing</a:t>
            </a:r>
          </a:p>
        </p:txBody>
      </p:sp>
      <p:sp>
        <p:nvSpPr>
          <p:cNvPr id="33" name="Text 14"/>
          <p:cNvSpPr txBox="1"/>
          <p:nvPr/>
        </p:nvSpPr>
        <p:spPr>
          <a:xfrm>
            <a:off x="6099048" y="2148840"/>
            <a:ext cx="2249424" cy="1371600"/>
          </a:xfrm>
          <a:prstGeom prst="rect">
            <a:avLst/>
          </a:prstGeom>
          <a:noFill/>
        </p:spPr>
        <p:txBody>
          <a:bodyPr wrap="square" lIns="45720" rIns="45720" anchor="t">
            <a:spAutoFit/>
          </a:bodyPr>
          <a:lstStyle/>
          <a:p>
            <a:pPr algn="l">
              <a:lnSpc>
                <a:spcPct val="115000"/>
              </a:lnSpc>
              <a:spcAft>
                <a:spcPts val="400"/>
              </a:spcAft>
            </a:pPr>
            <a:r>
              <a:rPr sz="1050" b="0" i="0">
                <a:solidFill>
                  <a:srgbClr val="434343"/>
                </a:solidFill>
                <a:latin typeface="Inter"/>
              </a:rPr>
              <a:t>Membaca alur request antar komponen melalui distributed traces untuk troubleshooting.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Tema Training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Order Management API</a:t>
            </a:r>
          </a:p>
        </p:txBody>
      </p:sp>
      <p:sp>
        <p:nvSpPr>
          <p:cNvPr id="22" name="Text 3"/>
          <p:cNvSpPr txBox="1"/>
          <p:nvPr/>
        </p:nvSpPr>
        <p:spPr>
          <a:xfrm>
            <a:off x="621792" y="1481328"/>
            <a:ext cx="4297680" cy="324612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Pada training ini, kita akan memakai satu tema yang sama dari awal sampai akhir, yaitu </a:t>
            </a:r>
            <a:r>
              <a:rPr sz="1000" b="1" i="0">
                <a:solidFill>
                  <a:srgbClr val="434343"/>
                </a:solidFill>
                <a:latin typeface="Inter"/>
              </a:rPr>
              <a:t>Order Management API</a:t>
            </a:r>
            <a:r>
              <a:rPr sz="1000" b="0" i="0">
                <a:solidFill>
                  <a:srgbClr val="434343"/>
                </a:solidFill>
                <a:latin typeface="Inter"/>
              </a:rPr>
              <a:t>: API sederhana untuk menerima order, menghitung diskon, menyimpan data order, dan mengirim notifikasi ke customer.</a:t>
            </a:r>
          </a:p>
          <a:p>
            <a:pPr algn="l">
              <a:lnSpc>
                <a:spcPct val="115000"/>
              </a:lnSpc>
              <a:spcAft>
                <a:spcPts val="0"/>
              </a:spcAft>
            </a:pPr>
            <a:endParaRPr sz="1000" b="0" i="0">
              <a:solidFill>
                <a:srgbClr val="434343"/>
              </a:solidFill>
              <a:latin typeface="Inter"/>
            </a:endParaRPr>
          </a:p>
          <a:p>
            <a:pPr algn="l">
              <a:lnSpc>
                <a:spcPct val="115000"/>
              </a:lnSpc>
              <a:spcAft>
                <a:spcPts val="400"/>
              </a:spcAft>
            </a:pPr>
            <a:r>
              <a:rPr sz="1000" b="0" i="0">
                <a:solidFill>
                  <a:srgbClr val="434343"/>
                </a:solidFill>
                <a:latin typeface="Inter"/>
              </a:rPr>
              <a:t>Aplikasi ini kita kembangkan sedikit demi sedikit di setiap sesi. Di Sesi 1 kita mulai dari kode yang masih ditulis di satu file, lalu merapikannya. Hasil akhir setiap sesi menjadi titik awal sesi berikutnya, sampai di Sesi 12 menjadi Order API yang siap production.</a:t>
            </a:r>
          </a:p>
          <a:p>
            <a:pPr algn="l">
              <a:lnSpc>
                <a:spcPct val="115000"/>
              </a:lnSpc>
              <a:spcAft>
                <a:spcPts val="0"/>
              </a:spcAft>
            </a:pPr>
            <a:endParaRPr sz="1000" b="0" i="0">
              <a:solidFill>
                <a:srgbClr val="434343"/>
              </a:solidFill>
              <a:latin typeface="Inter"/>
            </a:endParaRPr>
          </a:p>
          <a:p>
            <a:pPr algn="l">
              <a:lnSpc>
                <a:spcPct val="115000"/>
              </a:lnSpc>
              <a:spcAft>
                <a:spcPts val="400"/>
              </a:spcAft>
            </a:pPr>
            <a:r>
              <a:rPr sz="1000" b="0" i="0">
                <a:solidFill>
                  <a:srgbClr val="434343"/>
                </a:solidFill>
                <a:latin typeface="Inter"/>
              </a:rPr>
              <a:t>Di Sesi 9 (Observability): log terstruktur, metrics, dan tracing.</a:t>
            </a:r>
          </a:p>
        </p:txBody>
      </p:sp>
      <p:sp>
        <p:nvSpPr>
          <p:cNvPr id="23" name="Box 4"/>
          <p:cNvSpPr/>
          <p:nvPr/>
        </p:nvSpPr>
        <p:spPr>
          <a:xfrm>
            <a:off x="5120640" y="1600200"/>
            <a:ext cx="1828800" cy="402336"/>
          </a:xfrm>
          <a:prstGeom prst="roundRect">
            <a:avLst>
              <a:gd name="adj" fmla="val 27272"/>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FFFFFF"/>
                </a:solidFill>
                <a:latin typeface="Inter"/>
              </a:rPr>
              <a:t>Terima order</a:t>
            </a:r>
          </a:p>
        </p:txBody>
      </p:sp>
      <p:sp>
        <p:nvSpPr>
          <p:cNvPr id="24" name="Box 5"/>
          <p:cNvSpPr/>
          <p:nvPr/>
        </p:nvSpPr>
        <p:spPr>
          <a:xfrm>
            <a:off x="5120640" y="2167128"/>
            <a:ext cx="1828800" cy="402336"/>
          </a:xfrm>
          <a:prstGeom prst="roundRect">
            <a:avLst>
              <a:gd name="adj" fmla="val 27272"/>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1C4587"/>
                </a:solidFill>
                <a:latin typeface="Inter"/>
              </a:rPr>
              <a:t>Hitung diskon</a:t>
            </a:r>
          </a:p>
        </p:txBody>
      </p:sp>
      <p:cxnSp>
        <p:nvCxnSpPr>
          <p:cNvPr id="25" name="Arrow 6"/>
          <p:cNvCxnSpPr/>
          <p:nvPr/>
        </p:nvCxnSpPr>
        <p:spPr>
          <a:xfrm>
            <a:off x="6035040" y="2002536"/>
            <a:ext cx="0" cy="164592"/>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Box 7"/>
          <p:cNvSpPr/>
          <p:nvPr/>
        </p:nvSpPr>
        <p:spPr>
          <a:xfrm>
            <a:off x="5120640" y="2734056"/>
            <a:ext cx="1828800" cy="402336"/>
          </a:xfrm>
          <a:prstGeom prst="roundRect">
            <a:avLst>
              <a:gd name="adj" fmla="val 27272"/>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1C4587"/>
                </a:solidFill>
                <a:latin typeface="Inter"/>
              </a:rPr>
              <a:t>Simpan ke database</a:t>
            </a:r>
          </a:p>
        </p:txBody>
      </p:sp>
      <p:cxnSp>
        <p:nvCxnSpPr>
          <p:cNvPr id="27" name="Arrow 8"/>
          <p:cNvCxnSpPr/>
          <p:nvPr/>
        </p:nvCxnSpPr>
        <p:spPr>
          <a:xfrm>
            <a:off x="6035040" y="2569464"/>
            <a:ext cx="0" cy="164592"/>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Box 9"/>
          <p:cNvSpPr/>
          <p:nvPr/>
        </p:nvSpPr>
        <p:spPr>
          <a:xfrm>
            <a:off x="5120640" y="3300984"/>
            <a:ext cx="1828800" cy="402336"/>
          </a:xfrm>
          <a:prstGeom prst="roundRect">
            <a:avLst>
              <a:gd name="adj" fmla="val 27272"/>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1C4587"/>
                </a:solidFill>
                <a:latin typeface="Inter"/>
              </a:rPr>
              <a:t>Kirim notifikasi</a:t>
            </a:r>
          </a:p>
        </p:txBody>
      </p:sp>
      <p:cxnSp>
        <p:nvCxnSpPr>
          <p:cNvPr id="29" name="Arrow 10"/>
          <p:cNvCxnSpPr/>
          <p:nvPr/>
        </p:nvCxnSpPr>
        <p:spPr>
          <a:xfrm>
            <a:off x="6035040" y="3136391"/>
            <a:ext cx="0" cy="164593"/>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 11"/>
          <p:cNvSpPr txBox="1"/>
          <p:nvPr/>
        </p:nvSpPr>
        <p:spPr>
          <a:xfrm>
            <a:off x="7086600" y="1600200"/>
            <a:ext cx="1417320" cy="2103120"/>
          </a:xfrm>
          <a:prstGeom prst="rect">
            <a:avLst/>
          </a:prstGeom>
          <a:noFill/>
        </p:spPr>
        <p:txBody>
          <a:bodyPr wrap="square" lIns="45720" rIns="45720" anchor="t">
            <a:spAutoFit/>
          </a:bodyPr>
          <a:lstStyle/>
          <a:p>
            <a:pPr algn="l">
              <a:lnSpc>
                <a:spcPct val="115000"/>
              </a:lnSpc>
              <a:spcAft>
                <a:spcPts val="400"/>
              </a:spcAft>
            </a:pPr>
            <a:r>
              <a:rPr sz="900" b="1" i="0">
                <a:solidFill>
                  <a:srgbClr val="7A7A7A"/>
                </a:solidFill>
                <a:latin typeface="Inter"/>
              </a:rPr>
              <a:t>Aturan diskon</a:t>
            </a:r>
          </a:p>
          <a:p>
            <a:pPr algn="l">
              <a:lnSpc>
                <a:spcPct val="115000"/>
              </a:lnSpc>
              <a:spcAft>
                <a:spcPts val="400"/>
              </a:spcAft>
            </a:pPr>
            <a:r>
              <a:rPr sz="900" b="0" i="0">
                <a:solidFill>
                  <a:srgbClr val="7A7A7A"/>
                </a:solidFill>
                <a:latin typeface="Inter"/>
              </a:rPr>
              <a:t>regular: 0%</a:t>
            </a:r>
          </a:p>
          <a:p>
            <a:pPr algn="l">
              <a:lnSpc>
                <a:spcPct val="115000"/>
              </a:lnSpc>
              <a:spcAft>
                <a:spcPts val="400"/>
              </a:spcAft>
            </a:pPr>
            <a:r>
              <a:rPr sz="900" b="0" i="0">
                <a:solidFill>
                  <a:srgbClr val="7A7A7A"/>
                </a:solidFill>
                <a:latin typeface="Inter"/>
              </a:rPr>
              <a:t>member: 5%</a:t>
            </a:r>
          </a:p>
          <a:p>
            <a:pPr algn="l">
              <a:lnSpc>
                <a:spcPct val="115000"/>
              </a:lnSpc>
              <a:spcAft>
                <a:spcPts val="400"/>
              </a:spcAft>
            </a:pPr>
            <a:r>
              <a:rPr sz="900" b="0" i="0">
                <a:solidFill>
                  <a:srgbClr val="7A7A7A"/>
                </a:solidFill>
                <a:latin typeface="Inter"/>
              </a:rPr>
              <a:t>vip: 10%</a:t>
            </a:r>
          </a:p>
          <a:p>
            <a:pPr algn="l">
              <a:lnSpc>
                <a:spcPct val="115000"/>
              </a:lnSpc>
              <a:spcAft>
                <a:spcPts val="0"/>
              </a:spcAft>
            </a:pPr>
            <a:endParaRPr sz="900" b="0" i="0">
              <a:solidFill>
                <a:srgbClr val="7A7A7A"/>
              </a:solidFill>
              <a:latin typeface="Inter"/>
            </a:endParaRPr>
          </a:p>
          <a:p>
            <a:pPr algn="l">
              <a:lnSpc>
                <a:spcPct val="115000"/>
              </a:lnSpc>
              <a:spcAft>
                <a:spcPts val="400"/>
              </a:spcAft>
            </a:pPr>
            <a:r>
              <a:rPr sz="900" b="1" i="0">
                <a:solidFill>
                  <a:srgbClr val="7A7A7A"/>
                </a:solidFill>
                <a:latin typeface="Inter"/>
              </a:rPr>
              <a:t>Notifikasi</a:t>
            </a:r>
          </a:p>
          <a:p>
            <a:pPr algn="l">
              <a:lnSpc>
                <a:spcPct val="115000"/>
              </a:lnSpc>
              <a:spcAft>
                <a:spcPts val="400"/>
              </a:spcAft>
            </a:pPr>
            <a:r>
              <a:rPr sz="900" b="0" i="0">
                <a:solidFill>
                  <a:srgbClr val="7A7A7A"/>
                </a:solidFill>
                <a:latin typeface="Inter"/>
              </a:rPr>
              <a:t>email atau SMS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Tema Training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Tahapan Pengembangan Order API</a:t>
            </a:r>
          </a:p>
        </p:txBody>
      </p:sp>
      <p:graphicFrame>
        <p:nvGraphicFramePr>
          <p:cNvPr id="22" name="Table 3"/>
          <p:cNvGraphicFramePr>
            <a:graphicFrameLocks noGrp="1"/>
          </p:cNvGraphicFramePr>
          <p:nvPr/>
        </p:nvGraphicFramePr>
        <p:xfrm>
          <a:off x="621792" y="1463040"/>
          <a:ext cx="7863840" cy="3031236"/>
        </p:xfrm>
        <a:graphic>
          <a:graphicData uri="http://schemas.openxmlformats.org/drawingml/2006/table">
            <a:tbl>
              <a:tblPr firstRow="1" bandRow="1"/>
              <a:tblGrid>
                <a:gridCol w="96012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233172">
                <a:tc>
                  <a:txBody>
                    <a:bodyPr/>
                    <a:lstStyle/>
                    <a:p>
                      <a:pPr algn="l">
                        <a:lnSpc>
                          <a:spcPct val="100000"/>
                        </a:lnSpc>
                        <a:spcAft>
                          <a:spcPts val="0"/>
                        </a:spcAft>
                      </a:pPr>
                      <a:r>
                        <a:rPr sz="800" b="1" i="0">
                          <a:solidFill>
                            <a:srgbClr val="FFFFFF"/>
                          </a:solidFill>
                          <a:latin typeface="Inter"/>
                        </a:rPr>
                        <a:t>Sesi</a:t>
                      </a:r>
                    </a:p>
                  </a:txBody>
                  <a:tcPr marL="73152" marR="73152" marT="36576" marB="36576" anchor="ctr">
                    <a:solidFill>
                      <a:srgbClr val="1C4587"/>
                    </a:solidFill>
                  </a:tcPr>
                </a:tc>
                <a:tc>
                  <a:txBody>
                    <a:bodyPr/>
                    <a:lstStyle/>
                    <a:p>
                      <a:pPr algn="l">
                        <a:lnSpc>
                          <a:spcPct val="100000"/>
                        </a:lnSpc>
                        <a:spcAft>
                          <a:spcPts val="0"/>
                        </a:spcAft>
                      </a:pPr>
                      <a:r>
                        <a:rPr sz="800" b="1" i="0">
                          <a:solidFill>
                            <a:srgbClr val="FFFFFF"/>
                          </a:solidFill>
                          <a:latin typeface="Inter"/>
                        </a:rPr>
                        <a:t>Topik</a:t>
                      </a:r>
                    </a:p>
                  </a:txBody>
                  <a:tcPr marL="73152" marR="73152" marT="36576" marB="36576" anchor="ctr">
                    <a:solidFill>
                      <a:srgbClr val="1C4587"/>
                    </a:solidFill>
                  </a:tcPr>
                </a:tc>
                <a:tc>
                  <a:txBody>
                    <a:bodyPr/>
                    <a:lstStyle/>
                    <a:p>
                      <a:pPr algn="l">
                        <a:lnSpc>
                          <a:spcPct val="100000"/>
                        </a:lnSpc>
                        <a:spcAft>
                          <a:spcPts val="0"/>
                        </a:spcAft>
                      </a:pPr>
                      <a:r>
                        <a:rPr sz="800" b="1" i="0">
                          <a:solidFill>
                            <a:srgbClr val="FFFFFF"/>
                          </a:solidFill>
                          <a:latin typeface="Inter"/>
                        </a:rPr>
                        <a:t>Yang ditambahkan ke Order API</a:t>
                      </a:r>
                    </a:p>
                  </a:txBody>
                  <a:tcPr marL="73152" marR="73152" marT="36576" marB="36576" anchor="ctr">
                    <a:solidFill>
                      <a:srgbClr val="1C4587"/>
                    </a:solidFill>
                  </a:tcPr>
                </a:tc>
                <a:extLst>
                  <a:ext uri="{0D108BD9-81ED-4DB2-BD59-A6C34878D82A}">
                    <a16:rowId xmlns:a16="http://schemas.microsoft.com/office/drawing/2014/main" val="10000"/>
                  </a:ext>
                </a:extLst>
              </a:tr>
              <a:tr h="233172">
                <a:tc>
                  <a:txBody>
                    <a:bodyPr/>
                    <a:lstStyle/>
                    <a:p>
                      <a:pPr algn="l">
                        <a:lnSpc>
                          <a:spcPct val="100000"/>
                        </a:lnSpc>
                        <a:spcAft>
                          <a:spcPts val="0"/>
                        </a:spcAft>
                      </a:pPr>
                      <a:r>
                        <a:rPr sz="800" b="1" i="0">
                          <a:solidFill>
                            <a:srgbClr val="1C4587"/>
                          </a:solidFill>
                          <a:latin typeface="Inter"/>
                        </a:rPr>
                        <a:t>1</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Design Patterns</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Kode didalam satu file diperbaiki: Factory, Singleton, Strategy, Repository, Service Layer</a:t>
                      </a:r>
                    </a:p>
                  </a:txBody>
                  <a:tcPr marL="73152" marR="73152" marT="36576" marB="36576" anchor="ctr">
                    <a:solidFill>
                      <a:srgbClr val="FFFFFF"/>
                    </a:solidFill>
                  </a:tcPr>
                </a:tc>
                <a:extLst>
                  <a:ext uri="{0D108BD9-81ED-4DB2-BD59-A6C34878D82A}">
                    <a16:rowId xmlns:a16="http://schemas.microsoft.com/office/drawing/2014/main" val="10001"/>
                  </a:ext>
                </a:extLst>
              </a:tr>
              <a:tr h="233172">
                <a:tc>
                  <a:txBody>
                    <a:bodyPr/>
                    <a:lstStyle/>
                    <a:p>
                      <a:pPr algn="l">
                        <a:lnSpc>
                          <a:spcPct val="100000"/>
                        </a:lnSpc>
                        <a:spcAft>
                          <a:spcPts val="0"/>
                        </a:spcAft>
                      </a:pPr>
                      <a:r>
                        <a:rPr sz="800" b="1" i="0">
                          <a:solidFill>
                            <a:srgbClr val="1C4587"/>
                          </a:solidFill>
                          <a:latin typeface="Inter"/>
                        </a:rPr>
                        <a:t>2</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SOLID &amp; Clean Architecture</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Dipisah per layer: domain, application, infrastructure, api</a:t>
                      </a:r>
                    </a:p>
                  </a:txBody>
                  <a:tcPr marL="73152" marR="73152" marT="36576" marB="36576" anchor="ctr">
                    <a:solidFill>
                      <a:srgbClr val="F3F4F6"/>
                    </a:solidFill>
                  </a:tcPr>
                </a:tc>
                <a:extLst>
                  <a:ext uri="{0D108BD9-81ED-4DB2-BD59-A6C34878D82A}">
                    <a16:rowId xmlns:a16="http://schemas.microsoft.com/office/drawing/2014/main" val="10002"/>
                  </a:ext>
                </a:extLst>
              </a:tr>
              <a:tr h="233172">
                <a:tc>
                  <a:txBody>
                    <a:bodyPr/>
                    <a:lstStyle/>
                    <a:p>
                      <a:pPr algn="l">
                        <a:lnSpc>
                          <a:spcPct val="100000"/>
                        </a:lnSpc>
                        <a:spcAft>
                          <a:spcPts val="0"/>
                        </a:spcAft>
                      </a:pPr>
                      <a:r>
                        <a:rPr sz="800" b="1" i="0">
                          <a:solidFill>
                            <a:srgbClr val="1C4587"/>
                          </a:solidFill>
                          <a:latin typeface="Inter"/>
                        </a:rPr>
                        <a:t>3</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Domain-Driven Design</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Order jadi aggregate, Money value object, aturan bayar &amp; batal</a:t>
                      </a:r>
                    </a:p>
                  </a:txBody>
                  <a:tcPr marL="73152" marR="73152" marT="36576" marB="36576" anchor="ctr">
                    <a:solidFill>
                      <a:srgbClr val="FFFFFF"/>
                    </a:solidFill>
                  </a:tcPr>
                </a:tc>
                <a:extLst>
                  <a:ext uri="{0D108BD9-81ED-4DB2-BD59-A6C34878D82A}">
                    <a16:rowId xmlns:a16="http://schemas.microsoft.com/office/drawing/2014/main" val="10003"/>
                  </a:ext>
                </a:extLst>
              </a:tr>
              <a:tr h="233172">
                <a:tc>
                  <a:txBody>
                    <a:bodyPr/>
                    <a:lstStyle/>
                    <a:p>
                      <a:pPr algn="l">
                        <a:lnSpc>
                          <a:spcPct val="100000"/>
                        </a:lnSpc>
                        <a:spcAft>
                          <a:spcPts val="0"/>
                        </a:spcAft>
                      </a:pPr>
                      <a:r>
                        <a:rPr sz="800" b="1" i="0">
                          <a:solidFill>
                            <a:srgbClr val="1C4587"/>
                          </a:solidFill>
                          <a:latin typeface="Inter"/>
                        </a:rPr>
                        <a:t>4</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Modular FastAPI &amp; ORM</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Router per modul, SQLAlchemy, Unit of Work, format error</a:t>
                      </a:r>
                    </a:p>
                  </a:txBody>
                  <a:tcPr marL="73152" marR="73152" marT="36576" marB="36576" anchor="ctr">
                    <a:solidFill>
                      <a:srgbClr val="F3F4F6"/>
                    </a:solidFill>
                  </a:tcPr>
                </a:tc>
                <a:extLst>
                  <a:ext uri="{0D108BD9-81ED-4DB2-BD59-A6C34878D82A}">
                    <a16:rowId xmlns:a16="http://schemas.microsoft.com/office/drawing/2014/main" val="10004"/>
                  </a:ext>
                </a:extLst>
              </a:tr>
              <a:tr h="233172">
                <a:tc>
                  <a:txBody>
                    <a:bodyPr/>
                    <a:lstStyle/>
                    <a:p>
                      <a:pPr algn="l">
                        <a:lnSpc>
                          <a:spcPct val="100000"/>
                        </a:lnSpc>
                        <a:spcAft>
                          <a:spcPts val="0"/>
                        </a:spcAft>
                      </a:pPr>
                      <a:r>
                        <a:rPr sz="800" b="1" i="0">
                          <a:solidFill>
                            <a:srgbClr val="1C4587"/>
                          </a:solidFill>
                          <a:latin typeface="Inter"/>
                        </a:rPr>
                        <a:t>5</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Celery &amp; Redis</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Notifikasi dan report dikerjakan di background job</a:t>
                      </a:r>
                    </a:p>
                  </a:txBody>
                  <a:tcPr marL="73152" marR="73152" marT="36576" marB="36576" anchor="ctr">
                    <a:solidFill>
                      <a:srgbClr val="FFFFFF"/>
                    </a:solidFill>
                  </a:tcPr>
                </a:tc>
                <a:extLst>
                  <a:ext uri="{0D108BD9-81ED-4DB2-BD59-A6C34878D82A}">
                    <a16:rowId xmlns:a16="http://schemas.microsoft.com/office/drawing/2014/main" val="10005"/>
                  </a:ext>
                </a:extLst>
              </a:tr>
              <a:tr h="233172">
                <a:tc>
                  <a:txBody>
                    <a:bodyPr/>
                    <a:lstStyle/>
                    <a:p>
                      <a:pPr algn="l">
                        <a:lnSpc>
                          <a:spcPct val="100000"/>
                        </a:lnSpc>
                        <a:spcAft>
                          <a:spcPts val="0"/>
                        </a:spcAft>
                      </a:pPr>
                      <a:r>
                        <a:rPr sz="800" b="1" i="0">
                          <a:solidFill>
                            <a:srgbClr val="1C4587"/>
                          </a:solidFill>
                          <a:latin typeface="Inter"/>
                        </a:rPr>
                        <a:t>6</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Caching &amp; Rate Limiting</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Data produk di-cache di Redis, request dibatasi</a:t>
                      </a:r>
                    </a:p>
                  </a:txBody>
                  <a:tcPr marL="73152" marR="73152" marT="36576" marB="36576" anchor="ctr">
                    <a:solidFill>
                      <a:srgbClr val="F3F4F6"/>
                    </a:solidFill>
                  </a:tcPr>
                </a:tc>
                <a:extLst>
                  <a:ext uri="{0D108BD9-81ED-4DB2-BD59-A6C34878D82A}">
                    <a16:rowId xmlns:a16="http://schemas.microsoft.com/office/drawing/2014/main" val="10006"/>
                  </a:ext>
                </a:extLst>
              </a:tr>
              <a:tr h="233172">
                <a:tc>
                  <a:txBody>
                    <a:bodyPr/>
                    <a:lstStyle/>
                    <a:p>
                      <a:pPr algn="l">
                        <a:lnSpc>
                          <a:spcPct val="100000"/>
                        </a:lnSpc>
                        <a:spcAft>
                          <a:spcPts val="0"/>
                        </a:spcAft>
                      </a:pPr>
                      <a:r>
                        <a:rPr sz="800" b="1" i="0">
                          <a:solidFill>
                            <a:srgbClr val="1C4587"/>
                          </a:solidFill>
                          <a:latin typeface="Inter"/>
                        </a:rPr>
                        <a:t>7</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Database Optimization</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PostgreSQL, index, tanpa N+1, pagination</a:t>
                      </a:r>
                    </a:p>
                  </a:txBody>
                  <a:tcPr marL="73152" marR="73152" marT="36576" marB="36576" anchor="ctr">
                    <a:solidFill>
                      <a:srgbClr val="FFFFFF"/>
                    </a:solidFill>
                  </a:tcPr>
                </a:tc>
                <a:extLst>
                  <a:ext uri="{0D108BD9-81ED-4DB2-BD59-A6C34878D82A}">
                    <a16:rowId xmlns:a16="http://schemas.microsoft.com/office/drawing/2014/main" val="10007"/>
                  </a:ext>
                </a:extLst>
              </a:tr>
              <a:tr h="233172">
                <a:tc>
                  <a:txBody>
                    <a:bodyPr/>
                    <a:lstStyle/>
                    <a:p>
                      <a:pPr algn="l">
                        <a:lnSpc>
                          <a:spcPct val="100000"/>
                        </a:lnSpc>
                        <a:spcAft>
                          <a:spcPts val="0"/>
                        </a:spcAft>
                      </a:pPr>
                      <a:r>
                        <a:rPr sz="800" b="1" i="0">
                          <a:solidFill>
                            <a:srgbClr val="1C4587"/>
                          </a:solidFill>
                          <a:latin typeface="Inter"/>
                        </a:rPr>
                        <a:t>8</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RabbitMQ &amp; Kafka</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Event order, consumer notifikasi yang retry-safe</a:t>
                      </a:r>
                    </a:p>
                  </a:txBody>
                  <a:tcPr marL="73152" marR="73152" marT="36576" marB="36576" anchor="ctr">
                    <a:solidFill>
                      <a:srgbClr val="F3F4F6"/>
                    </a:solidFill>
                  </a:tcPr>
                </a:tc>
                <a:extLst>
                  <a:ext uri="{0D108BD9-81ED-4DB2-BD59-A6C34878D82A}">
                    <a16:rowId xmlns:a16="http://schemas.microsoft.com/office/drawing/2014/main" val="10008"/>
                  </a:ext>
                </a:extLst>
              </a:tr>
              <a:tr h="233172">
                <a:tc>
                  <a:txBody>
                    <a:bodyPr/>
                    <a:lstStyle/>
                    <a:p>
                      <a:pPr algn="l">
                        <a:lnSpc>
                          <a:spcPct val="100000"/>
                        </a:lnSpc>
                        <a:spcAft>
                          <a:spcPts val="0"/>
                        </a:spcAft>
                      </a:pPr>
                      <a:r>
                        <a:rPr sz="800" b="1" i="0">
                          <a:solidFill>
                            <a:srgbClr val="1C4587"/>
                          </a:solidFill>
                          <a:latin typeface="Inter"/>
                        </a:rPr>
                        <a:t>9  (sesi ini)</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Observability</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Log terstruktur, metrics, dan tracing</a:t>
                      </a:r>
                    </a:p>
                  </a:txBody>
                  <a:tcPr marL="73152" marR="73152" marT="36576" marB="36576" anchor="ctr">
                    <a:solidFill>
                      <a:srgbClr val="FFFFFF"/>
                    </a:solidFill>
                  </a:tcPr>
                </a:tc>
                <a:extLst>
                  <a:ext uri="{0D108BD9-81ED-4DB2-BD59-A6C34878D82A}">
                    <a16:rowId xmlns:a16="http://schemas.microsoft.com/office/drawing/2014/main" val="10009"/>
                  </a:ext>
                </a:extLst>
              </a:tr>
              <a:tr h="233172">
                <a:tc>
                  <a:txBody>
                    <a:bodyPr/>
                    <a:lstStyle/>
                    <a:p>
                      <a:pPr algn="l">
                        <a:lnSpc>
                          <a:spcPct val="100000"/>
                        </a:lnSpc>
                        <a:spcAft>
                          <a:spcPts val="0"/>
                        </a:spcAft>
                      </a:pPr>
                      <a:r>
                        <a:rPr sz="800" b="1" i="0">
                          <a:solidFill>
                            <a:srgbClr val="1C4587"/>
                          </a:solidFill>
                          <a:latin typeface="Inter"/>
                        </a:rPr>
                        <a:t>10</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API Security</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Login OAuth2/JWT, hak akses per role</a:t>
                      </a:r>
                    </a:p>
                  </a:txBody>
                  <a:tcPr marL="73152" marR="73152" marT="36576" marB="36576" anchor="ctr">
                    <a:solidFill>
                      <a:srgbClr val="F3F4F6"/>
                    </a:solidFill>
                  </a:tcPr>
                </a:tc>
                <a:extLst>
                  <a:ext uri="{0D108BD9-81ED-4DB2-BD59-A6C34878D82A}">
                    <a16:rowId xmlns:a16="http://schemas.microsoft.com/office/drawing/2014/main" val="10010"/>
                  </a:ext>
                </a:extLst>
              </a:tr>
              <a:tr h="233172">
                <a:tc>
                  <a:txBody>
                    <a:bodyPr/>
                    <a:lstStyle/>
                    <a:p>
                      <a:pPr algn="l">
                        <a:lnSpc>
                          <a:spcPct val="100000"/>
                        </a:lnSpc>
                        <a:spcAft>
                          <a:spcPts val="0"/>
                        </a:spcAft>
                      </a:pPr>
                      <a:r>
                        <a:rPr sz="800" b="1" i="0">
                          <a:solidFill>
                            <a:srgbClr val="1C4587"/>
                          </a:solidFill>
                          <a:latin typeface="Inter"/>
                        </a:rPr>
                        <a:t>11</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Docker &amp; CI/CD</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Docker image, Compose, dan pipeline otomatis</a:t>
                      </a:r>
                    </a:p>
                  </a:txBody>
                  <a:tcPr marL="73152" marR="73152" marT="36576" marB="36576" anchor="ctr">
                    <a:solidFill>
                      <a:srgbClr val="FFFFFF"/>
                    </a:solidFill>
                  </a:tcPr>
                </a:tc>
                <a:extLst>
                  <a:ext uri="{0D108BD9-81ED-4DB2-BD59-A6C34878D82A}">
                    <a16:rowId xmlns:a16="http://schemas.microsoft.com/office/drawing/2014/main" val="10011"/>
                  </a:ext>
                </a:extLst>
              </a:tr>
              <a:tr h="233172">
                <a:tc>
                  <a:txBody>
                    <a:bodyPr/>
                    <a:lstStyle/>
                    <a:p>
                      <a:pPr algn="l">
                        <a:lnSpc>
                          <a:spcPct val="100000"/>
                        </a:lnSpc>
                        <a:spcAft>
                          <a:spcPts val="0"/>
                        </a:spcAft>
                      </a:pPr>
                      <a:r>
                        <a:rPr sz="800" b="1" i="0">
                          <a:solidFill>
                            <a:srgbClr val="1C4587"/>
                          </a:solidFill>
                          <a:latin typeface="Inter"/>
                        </a:rPr>
                        <a:t>12</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Final Project</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Order API yang siap production</a:t>
                      </a:r>
                    </a:p>
                  </a:txBody>
                  <a:tcPr marL="73152" marR="73152" marT="36576" marB="36576" anchor="ctr">
                    <a:solidFill>
                      <a:srgbClr val="F3F4F6"/>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Pengantar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Fitur Library, Tool, dan Pattern di Sesi Ini</a:t>
            </a:r>
          </a:p>
        </p:txBody>
      </p:sp>
      <p:graphicFrame>
        <p:nvGraphicFramePr>
          <p:cNvPr id="22" name="Table 3"/>
          <p:cNvGraphicFramePr>
            <a:graphicFrameLocks noGrp="1"/>
          </p:cNvGraphicFramePr>
          <p:nvPr/>
        </p:nvGraphicFramePr>
        <p:xfrm>
          <a:off x="621792" y="1481328"/>
          <a:ext cx="7863840" cy="2798064"/>
        </p:xfrm>
        <a:graphic>
          <a:graphicData uri="http://schemas.openxmlformats.org/drawingml/2006/table">
            <a:tbl>
              <a:tblPr firstRow="1" bandRow="1"/>
              <a:tblGrid>
                <a:gridCol w="22860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310896">
                <a:tc>
                  <a:txBody>
                    <a:bodyPr/>
                    <a:lstStyle/>
                    <a:p>
                      <a:pPr algn="l">
                        <a:lnSpc>
                          <a:spcPct val="100000"/>
                        </a:lnSpc>
                        <a:spcAft>
                          <a:spcPts val="0"/>
                        </a:spcAft>
                      </a:pPr>
                      <a:r>
                        <a:rPr sz="950" b="1" i="0">
                          <a:solidFill>
                            <a:srgbClr val="FFFFFF"/>
                          </a:solidFill>
                          <a:latin typeface="Inter"/>
                        </a:rPr>
                        <a:t>Topik</a:t>
                      </a:r>
                    </a:p>
                  </a:txBody>
                  <a:tcPr marL="73152" marR="73152" marT="36576" marB="36576" anchor="ctr">
                    <a:solidFill>
                      <a:srgbClr val="1C4587"/>
                    </a:solidFill>
                  </a:tcPr>
                </a:tc>
                <a:tc>
                  <a:txBody>
                    <a:bodyPr/>
                    <a:lstStyle/>
                    <a:p>
                      <a:pPr algn="l">
                        <a:lnSpc>
                          <a:spcPct val="100000"/>
                        </a:lnSpc>
                        <a:spcAft>
                          <a:spcPts val="0"/>
                        </a:spcAft>
                      </a:pPr>
                      <a:r>
                        <a:rPr sz="950" b="1" i="0">
                          <a:solidFill>
                            <a:srgbClr val="FFFFFF"/>
                          </a:solidFill>
                          <a:latin typeface="Inter"/>
                        </a:rPr>
                        <a:t>Jenisnya</a:t>
                      </a:r>
                    </a:p>
                  </a:txBody>
                  <a:tcPr marL="73152" marR="73152" marT="36576" marB="36576" anchor="ctr">
                    <a:solidFill>
                      <a:srgbClr val="1C4587"/>
                    </a:solidFill>
                  </a:tcPr>
                </a:tc>
                <a:tc>
                  <a:txBody>
                    <a:bodyPr/>
                    <a:lstStyle/>
                    <a:p>
                      <a:pPr algn="l">
                        <a:lnSpc>
                          <a:spcPct val="100000"/>
                        </a:lnSpc>
                        <a:spcAft>
                          <a:spcPts val="0"/>
                        </a:spcAft>
                      </a:pPr>
                      <a:r>
                        <a:rPr sz="950" b="1" i="0">
                          <a:solidFill>
                            <a:srgbClr val="FFFFFF"/>
                          </a:solidFill>
                          <a:latin typeface="Inter"/>
                        </a:rPr>
                        <a:t>Disediakan oleh</a:t>
                      </a:r>
                    </a:p>
                  </a:txBody>
                  <a:tcPr marL="73152" marR="73152" marT="36576" marB="36576" anchor="ctr">
                    <a:solidFill>
                      <a:srgbClr val="1C4587"/>
                    </a:solidFill>
                  </a:tcPr>
                </a:tc>
                <a:extLst>
                  <a:ext uri="{0D108BD9-81ED-4DB2-BD59-A6C34878D82A}">
                    <a16:rowId xmlns:a16="http://schemas.microsoft.com/office/drawing/2014/main" val="10000"/>
                  </a:ext>
                </a:extLst>
              </a:tr>
              <a:tr h="310896">
                <a:tc>
                  <a:txBody>
                    <a:bodyPr/>
                    <a:lstStyle/>
                    <a:p>
                      <a:pPr algn="l">
                        <a:lnSpc>
                          <a:spcPct val="100000"/>
                        </a:lnSpc>
                        <a:spcAft>
                          <a:spcPts val="0"/>
                        </a:spcAft>
                      </a:pPr>
                      <a:r>
                        <a:rPr sz="950" b="1" i="0">
                          <a:solidFill>
                            <a:srgbClr val="1C4587"/>
                          </a:solidFill>
                          <a:latin typeface="Inter"/>
                        </a:rPr>
                        <a:t>Structured logging (JSON)</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Format log</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Modul logging bawaan Python, Formatter ditulis sendiri</a:t>
                      </a:r>
                    </a:p>
                  </a:txBody>
                  <a:tcPr marL="73152" marR="73152" marT="36576" marB="36576" anchor="ctr">
                    <a:solidFill>
                      <a:srgbClr val="FFFFFF"/>
                    </a:solidFill>
                  </a:tcPr>
                </a:tc>
                <a:extLst>
                  <a:ext uri="{0D108BD9-81ED-4DB2-BD59-A6C34878D82A}">
                    <a16:rowId xmlns:a16="http://schemas.microsoft.com/office/drawing/2014/main" val="10001"/>
                  </a:ext>
                </a:extLst>
              </a:tr>
              <a:tr h="310896">
                <a:tc>
                  <a:txBody>
                    <a:bodyPr/>
                    <a:lstStyle/>
                    <a:p>
                      <a:pPr algn="l">
                        <a:lnSpc>
                          <a:spcPct val="100000"/>
                        </a:lnSpc>
                        <a:spcAft>
                          <a:spcPts val="0"/>
                        </a:spcAft>
                      </a:pPr>
                      <a:r>
                        <a:rPr sz="950" b="1" i="0">
                          <a:solidFill>
                            <a:srgbClr val="1C4587"/>
                          </a:solidFill>
                          <a:latin typeface="Inter"/>
                        </a:rPr>
                        <a:t>Correlation ID</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Design pattern</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Ditulis sendiri: middleware + contextvars</a:t>
                      </a:r>
                    </a:p>
                  </a:txBody>
                  <a:tcPr marL="73152" marR="73152" marT="36576" marB="36576" anchor="ctr">
                    <a:solidFill>
                      <a:srgbClr val="F3F4F6"/>
                    </a:solidFill>
                  </a:tcPr>
                </a:tc>
                <a:extLst>
                  <a:ext uri="{0D108BD9-81ED-4DB2-BD59-A6C34878D82A}">
                    <a16:rowId xmlns:a16="http://schemas.microsoft.com/office/drawing/2014/main" val="10002"/>
                  </a:ext>
                </a:extLst>
              </a:tr>
              <a:tr h="310896">
                <a:tc>
                  <a:txBody>
                    <a:bodyPr/>
                    <a:lstStyle/>
                    <a:p>
                      <a:pPr algn="l">
                        <a:lnSpc>
                          <a:spcPct val="100000"/>
                        </a:lnSpc>
                        <a:spcAft>
                          <a:spcPts val="0"/>
                        </a:spcAft>
                      </a:pPr>
                      <a:r>
                        <a:rPr sz="950" b="1" i="0">
                          <a:solidFill>
                            <a:srgbClr val="1C4587"/>
                          </a:solidFill>
                          <a:latin typeface="Inter"/>
                        </a:rPr>
                        <a:t>Klasifikasi error</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Aturan penanganan error</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Ditulis sendiri: exception handler FastAPI</a:t>
                      </a:r>
                    </a:p>
                  </a:txBody>
                  <a:tcPr marL="73152" marR="73152" marT="36576" marB="36576" anchor="ctr">
                    <a:solidFill>
                      <a:srgbClr val="FFFFFF"/>
                    </a:solidFill>
                  </a:tcPr>
                </a:tc>
                <a:extLst>
                  <a:ext uri="{0D108BD9-81ED-4DB2-BD59-A6C34878D82A}">
                    <a16:rowId xmlns:a16="http://schemas.microsoft.com/office/drawing/2014/main" val="10003"/>
                  </a:ext>
                </a:extLst>
              </a:tr>
              <a:tr h="310896">
                <a:tc>
                  <a:txBody>
                    <a:bodyPr/>
                    <a:lstStyle/>
                    <a:p>
                      <a:pPr algn="l">
                        <a:lnSpc>
                          <a:spcPct val="100000"/>
                        </a:lnSpc>
                        <a:spcAft>
                          <a:spcPts val="0"/>
                        </a:spcAft>
                      </a:pPr>
                      <a:r>
                        <a:rPr sz="950" b="1" i="0">
                          <a:solidFill>
                            <a:srgbClr val="1C4587"/>
                          </a:solidFill>
                          <a:latin typeface="Inter"/>
                        </a:rPr>
                        <a:t>Metrics</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Fitur library</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prometheus_client: Counter, Histogram</a:t>
                      </a:r>
                    </a:p>
                  </a:txBody>
                  <a:tcPr marL="73152" marR="73152" marT="36576" marB="36576" anchor="ctr">
                    <a:solidFill>
                      <a:srgbClr val="F3F4F6"/>
                    </a:solidFill>
                  </a:tcPr>
                </a:tc>
                <a:extLst>
                  <a:ext uri="{0D108BD9-81ED-4DB2-BD59-A6C34878D82A}">
                    <a16:rowId xmlns:a16="http://schemas.microsoft.com/office/drawing/2014/main" val="10004"/>
                  </a:ext>
                </a:extLst>
              </a:tr>
              <a:tr h="310896">
                <a:tc>
                  <a:txBody>
                    <a:bodyPr/>
                    <a:lstStyle/>
                    <a:p>
                      <a:pPr algn="l">
                        <a:lnSpc>
                          <a:spcPct val="100000"/>
                        </a:lnSpc>
                        <a:spcAft>
                          <a:spcPts val="0"/>
                        </a:spcAft>
                      </a:pPr>
                      <a:r>
                        <a:rPr sz="950" b="1" i="0">
                          <a:solidFill>
                            <a:srgbClr val="1C4587"/>
                          </a:solidFill>
                          <a:latin typeface="Inter"/>
                        </a:rPr>
                        <a:t>Health check</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Design pattern</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Ditulis sendiri: endpoint FastAPI</a:t>
                      </a:r>
                    </a:p>
                  </a:txBody>
                  <a:tcPr marL="73152" marR="73152" marT="36576" marB="36576" anchor="ctr">
                    <a:solidFill>
                      <a:srgbClr val="FFFFFF"/>
                    </a:solidFill>
                  </a:tcPr>
                </a:tc>
                <a:extLst>
                  <a:ext uri="{0D108BD9-81ED-4DB2-BD59-A6C34878D82A}">
                    <a16:rowId xmlns:a16="http://schemas.microsoft.com/office/drawing/2014/main" val="10005"/>
                  </a:ext>
                </a:extLst>
              </a:tr>
              <a:tr h="310896">
                <a:tc>
                  <a:txBody>
                    <a:bodyPr/>
                    <a:lstStyle/>
                    <a:p>
                      <a:pPr algn="l">
                        <a:lnSpc>
                          <a:spcPct val="100000"/>
                        </a:lnSpc>
                        <a:spcAft>
                          <a:spcPts val="0"/>
                        </a:spcAft>
                      </a:pPr>
                      <a:r>
                        <a:rPr sz="950" b="1" i="0">
                          <a:solidFill>
                            <a:srgbClr val="1C4587"/>
                          </a:solidFill>
                          <a:latin typeface="Inter"/>
                        </a:rPr>
                        <a:t>SLI, SLO, alerting</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Konsep SRE</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Alert rule di Prometheus</a:t>
                      </a:r>
                    </a:p>
                  </a:txBody>
                  <a:tcPr marL="73152" marR="73152" marT="36576" marB="36576" anchor="ctr">
                    <a:solidFill>
                      <a:srgbClr val="F3F4F6"/>
                    </a:solidFill>
                  </a:tcPr>
                </a:tc>
                <a:extLst>
                  <a:ext uri="{0D108BD9-81ED-4DB2-BD59-A6C34878D82A}">
                    <a16:rowId xmlns:a16="http://schemas.microsoft.com/office/drawing/2014/main" val="10006"/>
                  </a:ext>
                </a:extLst>
              </a:tr>
              <a:tr h="310896">
                <a:tc>
                  <a:txBody>
                    <a:bodyPr/>
                    <a:lstStyle/>
                    <a:p>
                      <a:pPr algn="l">
                        <a:lnSpc>
                          <a:spcPct val="100000"/>
                        </a:lnSpc>
                        <a:spcAft>
                          <a:spcPts val="0"/>
                        </a:spcAft>
                      </a:pPr>
                      <a:r>
                        <a:rPr sz="950" b="1" i="0">
                          <a:solidFill>
                            <a:srgbClr val="1C4587"/>
                          </a:solidFill>
                          <a:latin typeface="Inter"/>
                        </a:rPr>
                        <a:t>Distributed tracing</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Fitur library</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OpenTelemetry SDK dan instrumentation</a:t>
                      </a:r>
                    </a:p>
                  </a:txBody>
                  <a:tcPr marL="73152" marR="73152" marT="36576" marB="36576" anchor="ctr">
                    <a:solidFill>
                      <a:srgbClr val="FFFFFF"/>
                    </a:solidFill>
                  </a:tcPr>
                </a:tc>
                <a:extLst>
                  <a:ext uri="{0D108BD9-81ED-4DB2-BD59-A6C34878D82A}">
                    <a16:rowId xmlns:a16="http://schemas.microsoft.com/office/drawing/2014/main" val="10007"/>
                  </a:ext>
                </a:extLst>
              </a:tr>
              <a:tr h="310896">
                <a:tc>
                  <a:txBody>
                    <a:bodyPr/>
                    <a:lstStyle/>
                    <a:p>
                      <a:pPr algn="l">
                        <a:lnSpc>
                          <a:spcPct val="100000"/>
                        </a:lnSpc>
                        <a:spcAft>
                          <a:spcPts val="0"/>
                        </a:spcAft>
                      </a:pPr>
                      <a:r>
                        <a:rPr sz="950" b="1" i="0">
                          <a:solidFill>
                            <a:srgbClr val="1C4587"/>
                          </a:solidFill>
                          <a:latin typeface="Inter"/>
                        </a:rPr>
                        <a:t>Prometheus dan Jaeger</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Software terpisah</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Dijalankan dengan Docker</a:t>
                      </a:r>
                    </a:p>
                  </a:txBody>
                  <a:tcPr marL="73152" marR="73152" marT="36576" marB="36576" anchor="ctr">
                    <a:solidFill>
                      <a:srgbClr val="F3F4F6"/>
                    </a:solidFill>
                  </a:tcPr>
                </a:tc>
                <a:extLst>
                  <a:ext uri="{0D108BD9-81ED-4DB2-BD59-A6C34878D82A}">
                    <a16:rowId xmlns:a16="http://schemas.microsoft.com/office/drawing/2014/main" val="10008"/>
                  </a:ext>
                </a:extLst>
              </a:tr>
            </a:tbl>
          </a:graphicData>
        </a:graphic>
      </p:graphicFrame>
      <p:sp>
        <p:nvSpPr>
          <p:cNvPr id="23" name="Text 4"/>
          <p:cNvSpPr txBox="1"/>
          <p:nvPr/>
        </p:nvSpPr>
        <p:spPr>
          <a:xfrm>
            <a:off x="621792" y="4526280"/>
            <a:ext cx="7863840" cy="274320"/>
          </a:xfrm>
          <a:prstGeom prst="rect">
            <a:avLst/>
          </a:prstGeom>
          <a:noFill/>
        </p:spPr>
        <p:txBody>
          <a:bodyPr wrap="square" lIns="45720" rIns="45720" anchor="t">
            <a:spAutoFit/>
          </a:bodyPr>
          <a:lstStyle/>
          <a:p>
            <a:pPr algn="l">
              <a:lnSpc>
                <a:spcPct val="115000"/>
              </a:lnSpc>
              <a:spcAft>
                <a:spcPts val="400"/>
              </a:spcAft>
            </a:pPr>
            <a:r>
              <a:rPr sz="950" b="0" i="0">
                <a:solidFill>
                  <a:srgbClr val="1C4587"/>
                </a:solidFill>
                <a:latin typeface="Inter"/>
              </a:rPr>
              <a:t>Bagian 1 membahas logging, bagian 2 metrics dan health check, bagian 3 tracing.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Pengantar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Observability?</a:t>
            </a:r>
          </a:p>
        </p:txBody>
      </p:sp>
      <p:sp>
        <p:nvSpPr>
          <p:cNvPr id="22" name="Text 3"/>
          <p:cNvSpPr txBox="1"/>
          <p:nvPr/>
        </p:nvSpPr>
        <p:spPr>
          <a:xfrm>
            <a:off x="621792" y="1481328"/>
            <a:ext cx="384048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Observability adalah</a:t>
            </a:r>
          </a:p>
          <a:p>
            <a:pPr algn="l">
              <a:lnSpc>
                <a:spcPct val="115000"/>
              </a:lnSpc>
              <a:spcAft>
                <a:spcPts val="400"/>
              </a:spcAft>
            </a:pPr>
            <a:r>
              <a:rPr sz="950" b="0" i="0">
                <a:solidFill>
                  <a:srgbClr val="434343"/>
                </a:solidFill>
                <a:latin typeface="Inter"/>
              </a:rPr>
              <a:t>Kemampuan untuk mengetahui apa yang terjadi di dalam aplikasi yang sedang berjalan di production, hanya dari data yang dikeluarkan aplikasi itu sendiri. Sehingga saat ada masalah, penyebabnya bisa dicari tanpa menebak dan tanpa menambah kode baru dulu.</a:t>
            </a:r>
          </a:p>
          <a:p>
            <a:pPr algn="l">
              <a:lnSpc>
                <a:spcPct val="115000"/>
              </a:lnSpc>
              <a:spcAft>
                <a:spcPts val="400"/>
              </a:spcAft>
            </a:pPr>
            <a:r>
              <a:rPr sz="105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Mengetahui ada masalah sebelum customer komplain</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Menemukan request, langkah, dan baris kode penyebab masalah</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Mengukur apakah aplikasi sudah memenuhi target (SLO)</a:t>
            </a:r>
          </a:p>
        </p:txBody>
      </p:sp>
      <p:graphicFrame>
        <p:nvGraphicFramePr>
          <p:cNvPr id="23" name="Table 4"/>
          <p:cNvGraphicFramePr>
            <a:graphicFrameLocks noGrp="1"/>
          </p:cNvGraphicFramePr>
          <p:nvPr/>
        </p:nvGraphicFramePr>
        <p:xfrm>
          <a:off x="4892040" y="1481328"/>
          <a:ext cx="3593592" cy="1828800"/>
        </p:xfrm>
        <a:graphic>
          <a:graphicData uri="http://schemas.openxmlformats.org/drawingml/2006/table">
            <a:tbl>
              <a:tblPr firstRow="1" bandRow="1"/>
              <a:tblGrid>
                <a:gridCol w="914400">
                  <a:extLst>
                    <a:ext uri="{9D8B030D-6E8A-4147-A177-3AD203B41FA5}">
                      <a16:colId xmlns:a16="http://schemas.microsoft.com/office/drawing/2014/main" val="20000"/>
                    </a:ext>
                  </a:extLst>
                </a:gridCol>
                <a:gridCol w="2679192">
                  <a:extLst>
                    <a:ext uri="{9D8B030D-6E8A-4147-A177-3AD203B41FA5}">
                      <a16:colId xmlns:a16="http://schemas.microsoft.com/office/drawing/2014/main" val="20001"/>
                    </a:ext>
                  </a:extLst>
                </a:gridCol>
              </a:tblGrid>
              <a:tr h="457200">
                <a:tc>
                  <a:txBody>
                    <a:bodyPr/>
                    <a:lstStyle/>
                    <a:p>
                      <a:pPr algn="l">
                        <a:lnSpc>
                          <a:spcPct val="100000"/>
                        </a:lnSpc>
                        <a:spcAft>
                          <a:spcPts val="0"/>
                        </a:spcAft>
                      </a:pPr>
                      <a:r>
                        <a:rPr sz="900" b="1" i="0">
                          <a:solidFill>
                            <a:srgbClr val="FFFFFF"/>
                          </a:solidFill>
                          <a:latin typeface="Inter"/>
                        </a:rPr>
                        <a:t>Data</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Menjawab pertanyaan</a:t>
                      </a:r>
                    </a:p>
                  </a:txBody>
                  <a:tcPr marL="73152" marR="73152" marT="36576" marB="36576" anchor="ctr">
                    <a:solidFill>
                      <a:srgbClr val="1C4587"/>
                    </a:solidFill>
                  </a:tcPr>
                </a:tc>
                <a:extLst>
                  <a:ext uri="{0D108BD9-81ED-4DB2-BD59-A6C34878D82A}">
                    <a16:rowId xmlns:a16="http://schemas.microsoft.com/office/drawing/2014/main" val="10000"/>
                  </a:ext>
                </a:extLst>
              </a:tr>
              <a:tr h="457200">
                <a:tc>
                  <a:txBody>
                    <a:bodyPr/>
                    <a:lstStyle/>
                    <a:p>
                      <a:pPr algn="l">
                        <a:lnSpc>
                          <a:spcPct val="100000"/>
                        </a:lnSpc>
                        <a:spcAft>
                          <a:spcPts val="0"/>
                        </a:spcAft>
                      </a:pPr>
                      <a:r>
                        <a:rPr sz="900" b="1" i="0">
                          <a:solidFill>
                            <a:srgbClr val="1C4587"/>
                          </a:solidFill>
                          <a:latin typeface="Inter"/>
                        </a:rPr>
                        <a:t>Logs</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Apa yang terjadi di request ini?</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pPr algn="l">
                        <a:lnSpc>
                          <a:spcPct val="100000"/>
                        </a:lnSpc>
                        <a:spcAft>
                          <a:spcPts val="0"/>
                        </a:spcAft>
                      </a:pPr>
                      <a:r>
                        <a:rPr sz="900" b="1" i="0">
                          <a:solidFill>
                            <a:srgbClr val="1C4587"/>
                          </a:solidFill>
                          <a:latin typeface="Inter"/>
                        </a:rPr>
                        <a:t>Metrics</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Berapa banyak, berapa cepat, berapa yang error?</a:t>
                      </a:r>
                    </a:p>
                  </a:txBody>
                  <a:tcPr marL="73152" marR="73152" marT="36576" marB="36576" anchor="ctr">
                    <a:solidFill>
                      <a:srgbClr val="F3F4F6"/>
                    </a:solidFill>
                  </a:tcPr>
                </a:tc>
                <a:extLst>
                  <a:ext uri="{0D108BD9-81ED-4DB2-BD59-A6C34878D82A}">
                    <a16:rowId xmlns:a16="http://schemas.microsoft.com/office/drawing/2014/main" val="10002"/>
                  </a:ext>
                </a:extLst>
              </a:tr>
              <a:tr h="457200">
                <a:tc>
                  <a:txBody>
                    <a:bodyPr/>
                    <a:lstStyle/>
                    <a:p>
                      <a:pPr algn="l">
                        <a:lnSpc>
                          <a:spcPct val="100000"/>
                        </a:lnSpc>
                        <a:spcAft>
                          <a:spcPts val="0"/>
                        </a:spcAft>
                      </a:pPr>
                      <a:r>
                        <a:rPr sz="900" b="1" i="0">
                          <a:solidFill>
                            <a:srgbClr val="1C4587"/>
                          </a:solidFill>
                          <a:latin typeface="Inter"/>
                        </a:rPr>
                        <a:t>Traces</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Waktunya habis di langkah mana?</a:t>
                      </a:r>
                    </a:p>
                  </a:txBody>
                  <a:tcPr marL="73152" marR="73152"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24" name="Text 5"/>
          <p:cNvSpPr txBox="1"/>
          <p:nvPr/>
        </p:nvSpPr>
        <p:spPr>
          <a:xfrm>
            <a:off x="4892040" y="3474720"/>
            <a:ext cx="3593592" cy="1097280"/>
          </a:xfrm>
          <a:prstGeom prst="rect">
            <a:avLst/>
          </a:prstGeom>
          <a:noFill/>
        </p:spPr>
        <p:txBody>
          <a:bodyPr wrap="square" lIns="45720" rIns="45720" anchor="t">
            <a:spAutoFit/>
          </a:bodyPr>
          <a:lstStyle/>
          <a:p>
            <a:pPr algn="l">
              <a:lnSpc>
                <a:spcPct val="115000"/>
              </a:lnSpc>
              <a:spcAft>
                <a:spcPts val="400"/>
              </a:spcAft>
            </a:pPr>
            <a:r>
              <a:rPr sz="900" b="0" i="0">
                <a:solidFill>
                  <a:srgbClr val="7A7A7A"/>
                </a:solidFill>
                <a:latin typeface="Inter"/>
              </a:rPr>
              <a:t>Ketiganya disambungkan oleh id yang sama: request_id dan trace_id ada di log, trace_id juga ada di trace.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Pengantar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Jaeger dan Prometheus</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terminal</a:t>
            </a:r>
          </a:p>
        </p:txBody>
      </p:sp>
      <p:sp>
        <p:nvSpPr>
          <p:cNvPr id="27" name="CodeBg 10"/>
          <p:cNvSpPr/>
          <p:nvPr/>
        </p:nvSpPr>
        <p:spPr>
          <a:xfrm>
            <a:off x="621792" y="1719072"/>
            <a:ext cx="4297680" cy="1179576"/>
          </a:xfrm>
          <a:prstGeom prst="roundRect">
            <a:avLst>
              <a:gd name="adj" fmla="val 1550"/>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1179576"/>
          </a:xfrm>
          <a:prstGeom prst="rect">
            <a:avLst/>
          </a:prstGeom>
          <a:noFill/>
        </p:spPr>
        <p:txBody>
          <a:bodyPr wrap="none" lIns="146304" tIns="91440" rIns="146304" bIns="54864">
            <a:spAutoFit/>
          </a:bodyPr>
          <a:lstStyle/>
          <a:p>
            <a:pPr>
              <a:lnSpc>
                <a:spcPct val="111111"/>
              </a:lnSpc>
              <a:spcAft>
                <a:spcPts val="0"/>
              </a:spcAft>
            </a:pPr>
            <a:r>
              <a:rPr sz="900" i="1">
                <a:solidFill>
                  <a:srgbClr val="8B98A8"/>
                </a:solidFill>
                <a:latin typeface="Inconsolata"/>
              </a:rPr>
              <a:t># dari folder sesi-09</a:t>
            </a:r>
          </a:p>
          <a:p>
            <a:pPr>
              <a:lnSpc>
                <a:spcPct val="111111"/>
              </a:lnSpc>
              <a:spcAft>
                <a:spcPts val="0"/>
              </a:spcAft>
            </a:pPr>
            <a:r>
              <a:rPr sz="900" i="0">
                <a:solidFill>
                  <a:srgbClr val="82B1FF"/>
                </a:solidFill>
                <a:latin typeface="Inconsolata"/>
              </a:rPr>
              <a:t>$ docker compose up -d</a:t>
            </a:r>
          </a:p>
          <a:p>
            <a:pPr>
              <a:lnSpc>
                <a:spcPct val="111111"/>
              </a:lnSpc>
              <a:spcAft>
                <a:spcPts val="0"/>
              </a:spcAft>
            </a:pPr>
            <a:r>
              <a:rPr sz="900" i="1">
                <a:solidFill>
                  <a:srgbClr val="8B98A8"/>
                </a:solidFill>
                <a:latin typeface="Inconsolata"/>
              </a:rPr>
              <a:t># Jaeger     : http://localhost:16686</a:t>
            </a:r>
          </a:p>
          <a:p>
            <a:pPr>
              <a:lnSpc>
                <a:spcPct val="111111"/>
              </a:lnSpc>
              <a:spcAft>
                <a:spcPts val="0"/>
              </a:spcAft>
            </a:pPr>
            <a:r>
              <a:rPr sz="900" i="1">
                <a:solidFill>
                  <a:srgbClr val="8B98A8"/>
                </a:solidFill>
                <a:latin typeface="Inconsolata"/>
              </a:rPr>
              <a:t># Prometheus : http://localhost:9090</a:t>
            </a:r>
          </a:p>
        </p:txBody>
      </p:sp>
      <p:graphicFrame>
        <p:nvGraphicFramePr>
          <p:cNvPr id="29" name="Table 12"/>
          <p:cNvGraphicFramePr>
            <a:graphicFrameLocks noGrp="1"/>
          </p:cNvGraphicFramePr>
          <p:nvPr/>
        </p:nvGraphicFramePr>
        <p:xfrm>
          <a:off x="5074920" y="1481328"/>
          <a:ext cx="3410712" cy="2084832"/>
        </p:xfrm>
        <a:graphic>
          <a:graphicData uri="http://schemas.openxmlformats.org/drawingml/2006/table">
            <a:tbl>
              <a:tblPr firstRow="1" bandRow="1"/>
              <a:tblGrid>
                <a:gridCol w="10058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490472">
                  <a:extLst>
                    <a:ext uri="{9D8B030D-6E8A-4147-A177-3AD203B41FA5}">
                      <a16:colId xmlns:a16="http://schemas.microsoft.com/office/drawing/2014/main" val="20002"/>
                    </a:ext>
                  </a:extLst>
                </a:gridCol>
              </a:tblGrid>
              <a:tr h="347472">
                <a:tc>
                  <a:txBody>
                    <a:bodyPr/>
                    <a:lstStyle/>
                    <a:p>
                      <a:pPr algn="l">
                        <a:lnSpc>
                          <a:spcPct val="100000"/>
                        </a:lnSpc>
                        <a:spcAft>
                          <a:spcPts val="0"/>
                        </a:spcAft>
                      </a:pPr>
                      <a:r>
                        <a:rPr sz="900" b="1" i="0">
                          <a:solidFill>
                            <a:srgbClr val="FFFFFF"/>
                          </a:solidFill>
                          <a:latin typeface="Inter"/>
                        </a:rPr>
                        <a:t>Service</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Port</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Dipakai di</a:t>
                      </a:r>
                    </a:p>
                  </a:txBody>
                  <a:tcPr marL="73152" marR="73152" marT="36576" marB="36576" anchor="ctr">
                    <a:solidFill>
                      <a:srgbClr val="1C4587"/>
                    </a:solidFill>
                  </a:tcPr>
                </a:tc>
                <a:extLst>
                  <a:ext uri="{0D108BD9-81ED-4DB2-BD59-A6C34878D82A}">
                    <a16:rowId xmlns:a16="http://schemas.microsoft.com/office/drawing/2014/main" val="10000"/>
                  </a:ext>
                </a:extLst>
              </a:tr>
              <a:tr h="347472">
                <a:tc>
                  <a:txBody>
                    <a:bodyPr/>
                    <a:lstStyle/>
                    <a:p>
                      <a:pPr algn="l">
                        <a:lnSpc>
                          <a:spcPct val="100000"/>
                        </a:lnSpc>
                        <a:spcAft>
                          <a:spcPts val="0"/>
                        </a:spcAft>
                      </a:pPr>
                      <a:r>
                        <a:rPr sz="900" b="1" i="0">
                          <a:solidFill>
                            <a:srgbClr val="1C4587"/>
                          </a:solidFill>
                          <a:latin typeface="Inter"/>
                        </a:rPr>
                        <a:t>Jaeger</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4318, 16686</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Hands-on (trace)</a:t>
                      </a:r>
                    </a:p>
                  </a:txBody>
                  <a:tcPr marL="73152" marR="73152" marT="36576" marB="36576" anchor="ctr">
                    <a:solidFill>
                      <a:srgbClr val="FFFFFF"/>
                    </a:solidFill>
                  </a:tcPr>
                </a:tc>
                <a:extLst>
                  <a:ext uri="{0D108BD9-81ED-4DB2-BD59-A6C34878D82A}">
                    <a16:rowId xmlns:a16="http://schemas.microsoft.com/office/drawing/2014/main" val="10001"/>
                  </a:ext>
                </a:extLst>
              </a:tr>
              <a:tr h="347472">
                <a:tc>
                  <a:txBody>
                    <a:bodyPr/>
                    <a:lstStyle/>
                    <a:p>
                      <a:pPr algn="l">
                        <a:lnSpc>
                          <a:spcPct val="100000"/>
                        </a:lnSpc>
                        <a:spcAft>
                          <a:spcPts val="0"/>
                        </a:spcAft>
                      </a:pPr>
                      <a:r>
                        <a:rPr sz="900" b="1" i="0">
                          <a:solidFill>
                            <a:srgbClr val="1C4587"/>
                          </a:solidFill>
                          <a:latin typeface="Inter"/>
                        </a:rPr>
                        <a:t>Prometheus</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9090</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Hands-on (metrics)</a:t>
                      </a:r>
                    </a:p>
                  </a:txBody>
                  <a:tcPr marL="73152" marR="73152" marT="36576" marB="36576" anchor="ctr">
                    <a:solidFill>
                      <a:srgbClr val="F3F4F6"/>
                    </a:solidFill>
                  </a:tcPr>
                </a:tc>
                <a:extLst>
                  <a:ext uri="{0D108BD9-81ED-4DB2-BD59-A6C34878D82A}">
                    <a16:rowId xmlns:a16="http://schemas.microsoft.com/office/drawing/2014/main" val="10002"/>
                  </a:ext>
                </a:extLst>
              </a:tr>
              <a:tr h="347472">
                <a:tc>
                  <a:txBody>
                    <a:bodyPr/>
                    <a:lstStyle/>
                    <a:p>
                      <a:pPr algn="l">
                        <a:lnSpc>
                          <a:spcPct val="100000"/>
                        </a:lnSpc>
                        <a:spcAft>
                          <a:spcPts val="0"/>
                        </a:spcAft>
                      </a:pPr>
                      <a:r>
                        <a:rPr sz="900" b="1" i="0">
                          <a:solidFill>
                            <a:srgbClr val="1C4587"/>
                          </a:solidFill>
                          <a:latin typeface="Inter"/>
                        </a:rPr>
                        <a:t>RabbitMQ</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5672, 15672</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Hands-on</a:t>
                      </a:r>
                    </a:p>
                  </a:txBody>
                  <a:tcPr marL="73152" marR="73152" marT="36576" marB="36576" anchor="ctr">
                    <a:solidFill>
                      <a:srgbClr val="FFFFFF"/>
                    </a:solidFill>
                  </a:tcPr>
                </a:tc>
                <a:extLst>
                  <a:ext uri="{0D108BD9-81ED-4DB2-BD59-A6C34878D82A}">
                    <a16:rowId xmlns:a16="http://schemas.microsoft.com/office/drawing/2014/main" val="10003"/>
                  </a:ext>
                </a:extLst>
              </a:tr>
              <a:tr h="347472">
                <a:tc>
                  <a:txBody>
                    <a:bodyPr/>
                    <a:lstStyle/>
                    <a:p>
                      <a:pPr algn="l">
                        <a:lnSpc>
                          <a:spcPct val="100000"/>
                        </a:lnSpc>
                        <a:spcAft>
                          <a:spcPts val="0"/>
                        </a:spcAft>
                      </a:pPr>
                      <a:r>
                        <a:rPr sz="900" b="1" i="0">
                          <a:solidFill>
                            <a:srgbClr val="1C4587"/>
                          </a:solidFill>
                          <a:latin typeface="Inter"/>
                        </a:rPr>
                        <a:t>PostgreSQL</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5432</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Hands-on</a:t>
                      </a:r>
                    </a:p>
                  </a:txBody>
                  <a:tcPr marL="73152" marR="73152" marT="36576" marB="36576" anchor="ctr">
                    <a:solidFill>
                      <a:srgbClr val="F3F4F6"/>
                    </a:solidFill>
                  </a:tcPr>
                </a:tc>
                <a:extLst>
                  <a:ext uri="{0D108BD9-81ED-4DB2-BD59-A6C34878D82A}">
                    <a16:rowId xmlns:a16="http://schemas.microsoft.com/office/drawing/2014/main" val="10004"/>
                  </a:ext>
                </a:extLst>
              </a:tr>
              <a:tr h="347472">
                <a:tc>
                  <a:txBody>
                    <a:bodyPr/>
                    <a:lstStyle/>
                    <a:p>
                      <a:pPr algn="l">
                        <a:lnSpc>
                          <a:spcPct val="100000"/>
                        </a:lnSpc>
                        <a:spcAft>
                          <a:spcPts val="0"/>
                        </a:spcAft>
                      </a:pPr>
                      <a:r>
                        <a:rPr sz="900" b="1" i="0">
                          <a:solidFill>
                            <a:srgbClr val="1C4587"/>
                          </a:solidFill>
                          <a:latin typeface="Inter"/>
                        </a:rPr>
                        <a:t>Redis</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6379</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Hands-on</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30" name="Text 13"/>
          <p:cNvSpPr txBox="1"/>
          <p:nvPr/>
        </p:nvSpPr>
        <p:spPr>
          <a:xfrm>
            <a:off x="621792" y="3063240"/>
            <a:ext cx="4297680" cy="164592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Contoh 01-07</a:t>
            </a:r>
          </a:p>
          <a:p>
            <a:pPr algn="l">
              <a:lnSpc>
                <a:spcPct val="115000"/>
              </a:lnSpc>
              <a:spcAft>
                <a:spcPts val="400"/>
              </a:spcAft>
            </a:pPr>
            <a:r>
              <a:rPr sz="950" b="0" i="0">
                <a:solidFill>
                  <a:srgbClr val="434343"/>
                </a:solidFill>
                <a:latin typeface="Inter"/>
              </a:rPr>
              <a:t>Cukup dijalankan dengan Python, tidak butuh Docker. Jaeger dan Prometheus baru dipakai di hands-on.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9</a:t>
            </a:fld>
            <a:endParaRPr/>
          </a:p>
        </p:txBody>
      </p:sp>
      <p:sp>
        <p:nvSpPr>
          <p:cNvPr id="31" name="Text 1"/>
          <p:cNvSpPr txBox="1"/>
          <p:nvPr/>
        </p:nvSpPr>
        <p:spPr>
          <a:xfrm>
            <a:off x="822960" y="1600200"/>
            <a:ext cx="7315200" cy="365760"/>
          </a:xfrm>
          <a:prstGeom prst="rect">
            <a:avLst/>
          </a:prstGeom>
          <a:noFill/>
        </p:spPr>
        <p:txBody>
          <a:bodyPr wrap="square" lIns="45720" rIns="45720" anchor="t">
            <a:spAutoFit/>
          </a:bodyPr>
          <a:lstStyle/>
          <a:p>
            <a:pPr algn="l">
              <a:lnSpc>
                <a:spcPct val="115000"/>
              </a:lnSpc>
              <a:spcAft>
                <a:spcPts val="400"/>
              </a:spcAft>
            </a:pPr>
            <a:r>
              <a:rPr sz="1400" b="0" i="0">
                <a:solidFill>
                  <a:srgbClr val="CFE0FA"/>
                </a:solidFill>
                <a:latin typeface="Inter"/>
              </a:rPr>
              <a:t>Bagian 01</a:t>
            </a:r>
          </a:p>
        </p:txBody>
      </p:sp>
      <p:sp>
        <p:nvSpPr>
          <p:cNvPr id="32" name="Text 2"/>
          <p:cNvSpPr txBox="1"/>
          <p:nvPr/>
        </p:nvSpPr>
        <p:spPr>
          <a:xfrm>
            <a:off x="822960" y="1920240"/>
            <a:ext cx="7315200" cy="822960"/>
          </a:xfrm>
          <a:prstGeom prst="rect">
            <a:avLst/>
          </a:prstGeom>
          <a:noFill/>
        </p:spPr>
        <p:txBody>
          <a:bodyPr wrap="square" lIns="45720" rIns="45720" anchor="t">
            <a:spAutoFit/>
          </a:bodyPr>
          <a:lstStyle/>
          <a:p>
            <a:pPr algn="l">
              <a:lnSpc>
                <a:spcPct val="115000"/>
              </a:lnSpc>
              <a:spcAft>
                <a:spcPts val="400"/>
              </a:spcAft>
            </a:pPr>
            <a:r>
              <a:rPr sz="3000" b="0" i="0">
                <a:solidFill>
                  <a:srgbClr val="FFFFFF"/>
                </a:solidFill>
                <a:latin typeface="Work Sans ExtraBold"/>
              </a:rPr>
              <a:t>Logging</a:t>
            </a:r>
          </a:p>
        </p:txBody>
      </p:sp>
      <p:sp>
        <p:nvSpPr>
          <p:cNvPr id="33" name="Text 3"/>
          <p:cNvSpPr txBox="1"/>
          <p:nvPr/>
        </p:nvSpPr>
        <p:spPr>
          <a:xfrm>
            <a:off x="822960" y="2743200"/>
            <a:ext cx="6583680" cy="731520"/>
          </a:xfrm>
          <a:prstGeom prst="rect">
            <a:avLst/>
          </a:prstGeom>
          <a:noFill/>
        </p:spPr>
        <p:txBody>
          <a:bodyPr wrap="square" lIns="45720" rIns="45720" anchor="t">
            <a:spAutoFit/>
          </a:bodyPr>
          <a:lstStyle/>
          <a:p>
            <a:pPr algn="l">
              <a:lnSpc>
                <a:spcPct val="115000"/>
              </a:lnSpc>
              <a:spcAft>
                <a:spcPts val="400"/>
              </a:spcAft>
            </a:pPr>
            <a:r>
              <a:rPr sz="1200" b="0" i="0">
                <a:solidFill>
                  <a:srgbClr val="E3ECFA"/>
                </a:solidFill>
                <a:latin typeface="Inter"/>
              </a:rPr>
              <a:t>Log terstruktur, correlation ID, dan klasifikasi error.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Structured Logging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Structured Logging?</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Structured logging adalah</a:t>
            </a:r>
          </a:p>
          <a:p>
            <a:pPr algn="l">
              <a:lnSpc>
                <a:spcPct val="115000"/>
              </a:lnSpc>
              <a:spcAft>
                <a:spcPts val="400"/>
              </a:spcAft>
            </a:pPr>
            <a:r>
              <a:rPr sz="900" b="0" i="0">
                <a:solidFill>
                  <a:srgbClr val="434343"/>
                </a:solidFill>
                <a:latin typeface="Inter"/>
              </a:rPr>
              <a:t>Cara menulis log sebagai data dengan field yang tetap, biasanya </a:t>
            </a:r>
            <a:r>
              <a:rPr sz="900" b="1" i="0">
                <a:solidFill>
                  <a:srgbClr val="434343"/>
                </a:solidFill>
                <a:latin typeface="Inter"/>
              </a:rPr>
              <a:t>satu baris JSON</a:t>
            </a:r>
            <a:r>
              <a:rPr sz="900" b="0" i="0">
                <a:solidFill>
                  <a:srgbClr val="434343"/>
                </a:solidFill>
                <a:latin typeface="Inter"/>
              </a:rPr>
              <a:t>, bukan kalimat bebas. Sehingga log bisa dicari dan difilter berdasarkan field, misalnya </a:t>
            </a:r>
            <a:r>
              <a:rPr sz="900" b="0" i="0">
                <a:solidFill>
                  <a:srgbClr val="B5482A"/>
                </a:solidFill>
                <a:latin typeface="Inconsolata"/>
              </a:rPr>
              <a:t>order_id == 2</a:t>
            </a:r>
            <a:r>
              <a:rPr sz="900" b="0" i="0">
                <a:solidFill>
                  <a:srgbClr val="434343"/>
                </a:solidFill>
                <a:latin typeface="Inter"/>
              </a:rPr>
              <a:t>.</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Mencari semua log milik satu order atau satu customer</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Menyamakan format log dari semua developer</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Membuat log bisa dibaca tool seperti Grafana Loki dan Elasticsearch</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kalimat bebas: 01-structured-logging/before.py</a:t>
            </a:r>
          </a:p>
        </p:txBody>
      </p:sp>
      <p:sp>
        <p:nvSpPr>
          <p:cNvPr id="28" name="CodeBg 11"/>
          <p:cNvSpPr/>
          <p:nvPr/>
        </p:nvSpPr>
        <p:spPr>
          <a:xfrm>
            <a:off x="4297680" y="1719072"/>
            <a:ext cx="4187951" cy="1170432"/>
          </a:xfrm>
          <a:prstGeom prst="roundRect">
            <a:avLst>
              <a:gd name="adj" fmla="val 1562"/>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1170432"/>
          </a:xfrm>
          <a:prstGeom prst="rect">
            <a:avLst/>
          </a:prstGeom>
          <a:noFill/>
        </p:spPr>
        <p:txBody>
          <a:bodyPr wrap="none" lIns="146304" tIns="91440" rIns="146304" bIns="54864">
            <a:spAutoFit/>
          </a:bodyPr>
          <a:lstStyle/>
          <a:p>
            <a:pPr>
              <a:lnSpc>
                <a:spcPct val="107843"/>
              </a:lnSpc>
              <a:spcAft>
                <a:spcPts val="0"/>
              </a:spcAft>
            </a:pPr>
            <a:r>
              <a:rPr sz="850" i="0">
                <a:solidFill>
                  <a:srgbClr val="E6EDF3"/>
                </a:solidFill>
                <a:latin typeface="Inconsolata"/>
              </a:rPr>
              <a:t>    logger.info(</a:t>
            </a:r>
            <a:r>
              <a:rPr sz="850" i="0">
                <a:solidFill>
                  <a:srgbClr val="A5D6A7"/>
                </a:solidFill>
                <a:latin typeface="Inconsolata"/>
              </a:rPr>
              <a:t>f"Order #{order_id} dibuat oleh {customer}"</a:t>
            </a:r>
            <a:r>
              <a:rPr sz="850" i="0">
                <a:solidFill>
                  <a:srgbClr val="E6EDF3"/>
                </a:solidFill>
                <a:latin typeface="Inconsolata"/>
              </a:rPr>
              <a:t>)</a:t>
            </a:r>
          </a:p>
          <a:p>
            <a:pPr>
              <a:lnSpc>
                <a:spcPct val="107843"/>
              </a:lnSpc>
              <a:spcAft>
                <a:spcPts val="0"/>
              </a:spcAft>
            </a:pPr>
            <a:r>
              <a:rPr sz="850" i="0">
                <a:solidFill>
                  <a:srgbClr val="E6EDF3"/>
                </a:solidFill>
                <a:latin typeface="Inconsolata"/>
              </a:rPr>
              <a:t>    logger.info(</a:t>
            </a:r>
            <a:r>
              <a:rPr sz="850" i="0">
                <a:solidFill>
                  <a:srgbClr val="A5D6A7"/>
                </a:solidFill>
                <a:latin typeface="Inconsolata"/>
              </a:rPr>
              <a:t>f"Total order_id={order_id}: Rp{total:,}"</a:t>
            </a:r>
            <a:r>
              <a:rPr sz="850" i="0">
                <a:solidFill>
                  <a:srgbClr val="E6EDF3"/>
                </a:solidFill>
                <a:latin typeface="Inconsolata"/>
              </a:rPr>
              <a:t>)</a:t>
            </a:r>
          </a:p>
          <a:p>
            <a:pPr>
              <a:lnSpc>
                <a:spcPct val="107843"/>
              </a:lnSpc>
              <a:spcAft>
                <a:spcPts val="0"/>
              </a:spcAft>
            </a:pPr>
            <a:r>
              <a:rPr sz="850" i="0">
                <a:solidFill>
                  <a:srgbClr val="E6EDF3"/>
                </a:solidFill>
                <a:latin typeface="Inconsolata"/>
              </a:rPr>
              <a:t>    </a:t>
            </a:r>
            <a:r>
              <a:rPr sz="850" i="0">
                <a:solidFill>
                  <a:srgbClr val="FF8E6E"/>
                </a:solidFill>
                <a:latin typeface="Inconsolata"/>
              </a:rPr>
              <a:t>if</a:t>
            </a:r>
            <a:r>
              <a:rPr sz="850" i="0">
                <a:solidFill>
                  <a:srgbClr val="E6EDF3"/>
                </a:solidFill>
                <a:latin typeface="Inconsolata"/>
              </a:rPr>
              <a:t> total &gt; </a:t>
            </a:r>
            <a:r>
              <a:rPr sz="850" i="0">
                <a:solidFill>
                  <a:srgbClr val="F9C97A"/>
                </a:solidFill>
                <a:latin typeface="Inconsolata"/>
              </a:rPr>
              <a:t>1_000_000</a:t>
            </a:r>
            <a:r>
              <a:rPr sz="850" i="0">
                <a:solidFill>
                  <a:srgbClr val="E6EDF3"/>
                </a:solidFill>
                <a:latin typeface="Inconsolata"/>
              </a:rPr>
              <a:t>:</a:t>
            </a:r>
          </a:p>
          <a:p>
            <a:pPr>
              <a:lnSpc>
                <a:spcPct val="107843"/>
              </a:lnSpc>
              <a:spcAft>
                <a:spcPts val="0"/>
              </a:spcAft>
            </a:pPr>
            <a:r>
              <a:rPr sz="850" i="0">
                <a:solidFill>
                  <a:srgbClr val="E6EDF3"/>
                </a:solidFill>
                <a:latin typeface="Inconsolata"/>
              </a:rPr>
              <a:t>        logger.warning(</a:t>
            </a:r>
            <a:r>
              <a:rPr sz="850" i="0">
                <a:solidFill>
                  <a:srgbClr val="A5D6A7"/>
                </a:solidFill>
                <a:latin typeface="Inconsolata"/>
              </a:rPr>
              <a:t>f"Pembayaran Order {order_id} ditolak bank"</a:t>
            </a:r>
            <a:r>
              <a:rPr sz="850" i="0">
                <a:solidFill>
                  <a:srgbClr val="E6EDF3"/>
                </a:solidFill>
                <a:latin typeface="Inconsolata"/>
              </a:rPr>
              <a:t>)</a:t>
            </a:r>
          </a:p>
        </p:txBody>
      </p:sp>
      <p:sp>
        <p:nvSpPr>
          <p:cNvPr id="30" name="Box 13"/>
          <p:cNvSpPr/>
          <p:nvPr/>
        </p:nvSpPr>
        <p:spPr>
          <a:xfrm>
            <a:off x="4379976" y="1828673"/>
            <a:ext cx="4023359" cy="550418"/>
          </a:xfrm>
          <a:prstGeom prst="roundRect">
            <a:avLst>
              <a:gd name="adj" fmla="val 830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2980944"/>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3058668"/>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3058668"/>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3058668"/>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2990088"/>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field JSON: 01-structured-logging/after.py</a:t>
            </a:r>
          </a:p>
        </p:txBody>
      </p:sp>
      <p:sp>
        <p:nvSpPr>
          <p:cNvPr id="36" name="CodeBg 21"/>
          <p:cNvSpPr/>
          <p:nvPr/>
        </p:nvSpPr>
        <p:spPr>
          <a:xfrm>
            <a:off x="4297680" y="3218688"/>
            <a:ext cx="4187951" cy="1481327"/>
          </a:xfrm>
          <a:prstGeom prst="roundRect">
            <a:avLst>
              <a:gd name="adj" fmla="val 1234"/>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3218688"/>
            <a:ext cx="4187951" cy="1481327"/>
          </a:xfrm>
          <a:prstGeom prst="rect">
            <a:avLst/>
          </a:prstGeom>
          <a:noFill/>
        </p:spPr>
        <p:txBody>
          <a:bodyPr wrap="none" lIns="146304" tIns="91440" rIns="146304" bIns="54864">
            <a:spAutoFit/>
          </a:bodyPr>
          <a:lstStyle/>
          <a:p>
            <a:pPr>
              <a:lnSpc>
                <a:spcPct val="107843"/>
              </a:lnSpc>
              <a:spcAft>
                <a:spcPts val="0"/>
              </a:spcAft>
            </a:pPr>
            <a:r>
              <a:rPr sz="850" i="0">
                <a:solidFill>
                  <a:srgbClr val="E6EDF3"/>
                </a:solidFill>
                <a:latin typeface="Inconsolata"/>
              </a:rPr>
              <a:t>    fields = {</a:t>
            </a:r>
            <a:r>
              <a:rPr sz="850" i="0">
                <a:solidFill>
                  <a:srgbClr val="A5D6A7"/>
                </a:solidFill>
                <a:latin typeface="Inconsolata"/>
              </a:rPr>
              <a:t>"order_id"</a:t>
            </a:r>
            <a:r>
              <a:rPr sz="850" i="0">
                <a:solidFill>
                  <a:srgbClr val="E6EDF3"/>
                </a:solidFill>
                <a:latin typeface="Inconsolata"/>
              </a:rPr>
              <a:t>: order_id, </a:t>
            </a:r>
            <a:r>
              <a:rPr sz="850" i="0">
                <a:solidFill>
                  <a:srgbClr val="A5D6A7"/>
                </a:solidFill>
                <a:latin typeface="Inconsolata"/>
              </a:rPr>
              <a:t>"customer"</a:t>
            </a:r>
            <a:r>
              <a:rPr sz="850" i="0">
                <a:solidFill>
                  <a:srgbClr val="E6EDF3"/>
                </a:solidFill>
                <a:latin typeface="Inconsolata"/>
              </a:rPr>
              <a:t>: customer}</a:t>
            </a:r>
          </a:p>
          <a:p>
            <a:pPr>
              <a:lnSpc>
                <a:spcPct val="107843"/>
              </a:lnSpc>
              <a:spcAft>
                <a:spcPts val="0"/>
              </a:spcAft>
            </a:pPr>
            <a:r>
              <a:rPr sz="850" i="0">
                <a:solidFill>
                  <a:srgbClr val="E6EDF3"/>
                </a:solidFill>
                <a:latin typeface="Inconsolata"/>
              </a:rPr>
              <a:t>    logger.info(</a:t>
            </a:r>
            <a:r>
              <a:rPr sz="850" i="0">
                <a:solidFill>
                  <a:srgbClr val="A5D6A7"/>
                </a:solidFill>
                <a:latin typeface="Inconsolata"/>
              </a:rPr>
              <a:t>"order dibuat"</a:t>
            </a:r>
            <a:r>
              <a:rPr sz="850" i="0">
                <a:solidFill>
                  <a:srgbClr val="E6EDF3"/>
                </a:solidFill>
                <a:latin typeface="Inconsolata"/>
              </a:rPr>
              <a:t>, extra=fields)</a:t>
            </a:r>
          </a:p>
          <a:p>
            <a:pPr>
              <a:lnSpc>
                <a:spcPct val="107843"/>
              </a:lnSpc>
              <a:spcAft>
                <a:spcPts val="0"/>
              </a:spcAft>
            </a:pPr>
            <a:r>
              <a:rPr sz="850" i="0">
                <a:solidFill>
                  <a:srgbClr val="E6EDF3"/>
                </a:solidFill>
                <a:latin typeface="Inconsolata"/>
              </a:rPr>
              <a:t>    logger.info(</a:t>
            </a:r>
            <a:r>
              <a:rPr sz="850" i="0">
                <a:solidFill>
                  <a:srgbClr val="A5D6A7"/>
                </a:solidFill>
                <a:latin typeface="Inconsolata"/>
              </a:rPr>
              <a:t>"total dihitung"</a:t>
            </a:r>
            <a:r>
              <a:rPr sz="850" i="0">
                <a:solidFill>
                  <a:srgbClr val="E6EDF3"/>
                </a:solidFill>
                <a:latin typeface="Inconsolata"/>
              </a:rPr>
              <a:t>, extra={**fields, </a:t>
            </a:r>
            <a:r>
              <a:rPr sz="850" i="0">
                <a:solidFill>
                  <a:srgbClr val="A5D6A7"/>
                </a:solidFill>
                <a:latin typeface="Inconsolata"/>
              </a:rPr>
              <a:t>"total"</a:t>
            </a:r>
            <a:r>
              <a:rPr sz="850" i="0">
                <a:solidFill>
                  <a:srgbClr val="E6EDF3"/>
                </a:solidFill>
                <a:latin typeface="Inconsolata"/>
              </a:rPr>
              <a:t>: total})</a:t>
            </a:r>
          </a:p>
          <a:p>
            <a:pPr>
              <a:lnSpc>
                <a:spcPct val="107843"/>
              </a:lnSpc>
              <a:spcAft>
                <a:spcPts val="0"/>
              </a:spcAft>
            </a:pPr>
            <a:r>
              <a:rPr sz="850" i="0">
                <a:solidFill>
                  <a:srgbClr val="E6EDF3"/>
                </a:solidFill>
                <a:latin typeface="Inconsolata"/>
              </a:rPr>
              <a:t>    </a:t>
            </a:r>
            <a:r>
              <a:rPr sz="850" i="0">
                <a:solidFill>
                  <a:srgbClr val="FF8E6E"/>
                </a:solidFill>
                <a:latin typeface="Inconsolata"/>
              </a:rPr>
              <a:t>if</a:t>
            </a:r>
            <a:r>
              <a:rPr sz="850" i="0">
                <a:solidFill>
                  <a:srgbClr val="E6EDF3"/>
                </a:solidFill>
                <a:latin typeface="Inconsolata"/>
              </a:rPr>
              <a:t> total &gt; </a:t>
            </a:r>
            <a:r>
              <a:rPr sz="850" i="0">
                <a:solidFill>
                  <a:srgbClr val="F9C97A"/>
                </a:solidFill>
                <a:latin typeface="Inconsolata"/>
              </a:rPr>
              <a:t>1_000_000</a:t>
            </a:r>
            <a:r>
              <a:rPr sz="850" i="0">
                <a:solidFill>
                  <a:srgbClr val="E6EDF3"/>
                </a:solidFill>
                <a:latin typeface="Inconsolata"/>
              </a:rPr>
              <a:t>:</a:t>
            </a:r>
          </a:p>
          <a:p>
            <a:pPr>
              <a:lnSpc>
                <a:spcPct val="107843"/>
              </a:lnSpc>
              <a:spcAft>
                <a:spcPts val="0"/>
              </a:spcAft>
            </a:pPr>
            <a:r>
              <a:rPr sz="850" i="0">
                <a:solidFill>
                  <a:srgbClr val="E6EDF3"/>
                </a:solidFill>
                <a:latin typeface="Inconsolata"/>
              </a:rPr>
              <a:t>        logger.warning(</a:t>
            </a:r>
            <a:r>
              <a:rPr sz="850" i="0">
                <a:solidFill>
                  <a:srgbClr val="A5D6A7"/>
                </a:solidFill>
                <a:latin typeface="Inconsolata"/>
              </a:rPr>
              <a:t>"pembayaran ditolak"</a:t>
            </a:r>
            <a:r>
              <a:rPr sz="850" i="0">
                <a:solidFill>
                  <a:srgbClr val="E6EDF3"/>
                </a:solidFill>
                <a:latin typeface="Inconsolata"/>
              </a:rPr>
              <a:t>, extra=fields)</a:t>
            </a:r>
          </a:p>
        </p:txBody>
      </p:sp>
      <p:sp>
        <p:nvSpPr>
          <p:cNvPr id="38" name="Box 23"/>
          <p:cNvSpPr/>
          <p:nvPr/>
        </p:nvSpPr>
        <p:spPr>
          <a:xfrm>
            <a:off x="4379976" y="3328289"/>
            <a:ext cx="4023359" cy="131318"/>
          </a:xfrm>
          <a:prstGeom prst="roundRect">
            <a:avLst>
              <a:gd name="adj" fmla="val 3481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379976" y="3467989"/>
            <a:ext cx="4023359" cy="131318"/>
          </a:xfrm>
          <a:prstGeom prst="roundRect">
            <a:avLst>
              <a:gd name="adj" fmla="val 3481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Structured Logging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menggunakan Structured Logging?</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Tanpa structured logging</a:t>
            </a:r>
          </a:p>
          <a:p>
            <a:pPr algn="l">
              <a:lnSpc>
                <a:spcPct val="115000"/>
              </a:lnSpc>
              <a:spcAft>
                <a:spcPts val="400"/>
              </a:spcAft>
            </a:pPr>
            <a:r>
              <a:rPr sz="950" b="0" i="0">
                <a:solidFill>
                  <a:srgbClr val="434343"/>
                </a:solidFill>
                <a:latin typeface="Inter"/>
              </a:rPr>
              <a:t>Setiap developer menulis kalimatnya sendiri: "Order #2", "order_id=2", "Order 2". Data penting terselip di tengah kalimat.</a:t>
            </a:r>
          </a:p>
          <a:p>
            <a:pPr algn="l">
              <a:lnSpc>
                <a:spcPct val="115000"/>
              </a:lnSpc>
              <a:spcAft>
                <a:spcPts val="400"/>
              </a:spcAft>
            </a:pPr>
            <a:r>
              <a:rPr sz="1050" b="1" i="0">
                <a:solidFill>
                  <a:srgbClr val="1C4587"/>
                </a:solidFill>
                <a:latin typeface="Inter"/>
              </a:rPr>
              <a:t>Jika lognya makin banyak</a:t>
            </a:r>
          </a:p>
          <a:p>
            <a:pPr algn="l">
              <a:lnSpc>
                <a:spcPct val="115000"/>
              </a:lnSpc>
              <a:spcAft>
                <a:spcPts val="400"/>
              </a:spcAft>
            </a:pPr>
            <a:r>
              <a:rPr sz="950" b="0" i="0">
                <a:solidFill>
                  <a:srgbClr val="434343"/>
                </a:solidFill>
                <a:latin typeface="Inter"/>
              </a:rPr>
              <a:t>Mencari log satu order harus memakai pencarian teks, dan hasilnya tidak lengkap.</a:t>
            </a:r>
          </a:p>
          <a:p>
            <a:pPr algn="l">
              <a:lnSpc>
                <a:spcPct val="115000"/>
              </a:lnSpc>
              <a:spcAft>
                <a:spcPts val="400"/>
              </a:spcAft>
            </a:pPr>
            <a:r>
              <a:rPr sz="950" b="0" i="0">
                <a:solidFill>
                  <a:srgbClr val="434343"/>
                </a:solidFill>
                <a:latin typeface="Inter"/>
              </a:rPr>
              <a:t>Hal ini membuat investigasi error di production lama dan sering salah arah.</a:t>
            </a:r>
          </a:p>
          <a:p>
            <a:pPr algn="l">
              <a:lnSpc>
                <a:spcPct val="115000"/>
              </a:lnSpc>
              <a:spcAft>
                <a:spcPts val="400"/>
              </a:spcAft>
            </a:pPr>
            <a:r>
              <a:rPr sz="1050" b="1" i="0">
                <a:solidFill>
                  <a:srgbClr val="1C4587"/>
                </a:solidFill>
                <a:latin typeface="Inter"/>
              </a:rPr>
              <a:t>Yang dipakai dari Python: logging.Formatter</a:t>
            </a:r>
          </a:p>
          <a:p>
            <a:pPr algn="l">
              <a:lnSpc>
                <a:spcPct val="115000"/>
              </a:lnSpc>
              <a:spcAft>
                <a:spcPts val="400"/>
              </a:spcAft>
            </a:pPr>
            <a:r>
              <a:rPr sz="950" b="0" i="0">
                <a:solidFill>
                  <a:srgbClr val="434343"/>
                </a:solidFill>
                <a:latin typeface="Inter"/>
              </a:rPr>
              <a:t>Formatter mengubah setiap LogRecord menjadi teks. Kita menulis Formatter sendiri yang menghasilkan JSON.</a:t>
            </a:r>
          </a:p>
        </p:txBody>
      </p:sp>
      <p:graphicFrame>
        <p:nvGraphicFramePr>
          <p:cNvPr id="23" name="Table 4"/>
          <p:cNvGraphicFramePr>
            <a:graphicFrameLocks noGrp="1"/>
          </p:cNvGraphicFramePr>
          <p:nvPr/>
        </p:nvGraphicFramePr>
        <p:xfrm>
          <a:off x="4800600" y="1481328"/>
          <a:ext cx="3685031" cy="205740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1856231">
                  <a:extLst>
                    <a:ext uri="{9D8B030D-6E8A-4147-A177-3AD203B41FA5}">
                      <a16:colId xmlns:a16="http://schemas.microsoft.com/office/drawing/2014/main" val="20001"/>
                    </a:ext>
                  </a:extLst>
                </a:gridCol>
              </a:tblGrid>
              <a:tr h="411480">
                <a:tc>
                  <a:txBody>
                    <a:bodyPr/>
                    <a:lstStyle/>
                    <a:p>
                      <a:pPr algn="l">
                        <a:lnSpc>
                          <a:spcPct val="100000"/>
                        </a:lnSpc>
                        <a:spcAft>
                          <a:spcPts val="0"/>
                        </a:spcAft>
                      </a:pPr>
                      <a:r>
                        <a:rPr sz="850" b="1" i="0">
                          <a:solidFill>
                            <a:srgbClr val="FFFFFF"/>
                          </a:solidFill>
                          <a:latin typeface="Inter"/>
                        </a:rPr>
                        <a:t>Ditulis</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Artinya</a:t>
                      </a:r>
                    </a:p>
                  </a:txBody>
                  <a:tcPr marL="73152" marR="73152" marT="36576" marB="36576" anchor="ctr">
                    <a:solidFill>
                      <a:srgbClr val="1C4587"/>
                    </a:solidFill>
                  </a:tcPr>
                </a:tc>
                <a:extLst>
                  <a:ext uri="{0D108BD9-81ED-4DB2-BD59-A6C34878D82A}">
                    <a16:rowId xmlns:a16="http://schemas.microsoft.com/office/drawing/2014/main" val="10000"/>
                  </a:ext>
                </a:extLst>
              </a:tr>
              <a:tr h="411480">
                <a:tc>
                  <a:txBody>
                    <a:bodyPr/>
                    <a:lstStyle/>
                    <a:p>
                      <a:pPr algn="l">
                        <a:lnSpc>
                          <a:spcPct val="100000"/>
                        </a:lnSpc>
                        <a:spcAft>
                          <a:spcPts val="0"/>
                        </a:spcAft>
                      </a:pPr>
                      <a:r>
                        <a:rPr sz="850" b="1" i="0">
                          <a:solidFill>
                            <a:srgbClr val="1C4587"/>
                          </a:solidFill>
                          <a:latin typeface="Inter"/>
                        </a:rPr>
                        <a:t>extra={"order_id": 2}</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Field tambahan, jadi atribut LogRecord</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pPr algn="l">
                        <a:lnSpc>
                          <a:spcPct val="100000"/>
                        </a:lnSpc>
                        <a:spcAft>
                          <a:spcPts val="0"/>
                        </a:spcAft>
                      </a:pPr>
                      <a:r>
                        <a:rPr sz="850" b="1" i="0">
                          <a:solidFill>
                            <a:srgbClr val="1C4587"/>
                          </a:solidFill>
                          <a:latin typeface="Inter"/>
                        </a:rPr>
                        <a:t>class JsonFormatter</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Mengubah LogRecord jadi satu baris JSON</a:t>
                      </a:r>
                    </a:p>
                  </a:txBody>
                  <a:tcPr marL="73152" marR="73152" marT="36576" marB="36576" anchor="ctr">
                    <a:solidFill>
                      <a:srgbClr val="F3F4F6"/>
                    </a:solidFill>
                  </a:tcPr>
                </a:tc>
                <a:extLst>
                  <a:ext uri="{0D108BD9-81ED-4DB2-BD59-A6C34878D82A}">
                    <a16:rowId xmlns:a16="http://schemas.microsoft.com/office/drawing/2014/main" val="10002"/>
                  </a:ext>
                </a:extLst>
              </a:tr>
              <a:tr h="411480">
                <a:tc>
                  <a:txBody>
                    <a:bodyPr/>
                    <a:lstStyle/>
                    <a:p>
                      <a:pPr algn="l">
                        <a:lnSpc>
                          <a:spcPct val="100000"/>
                        </a:lnSpc>
                        <a:spcAft>
                          <a:spcPts val="0"/>
                        </a:spcAft>
                      </a:pPr>
                      <a:r>
                        <a:rPr sz="850" b="1" i="0">
                          <a:solidFill>
                            <a:srgbClr val="1C4587"/>
                          </a:solidFill>
                          <a:latin typeface="Inter"/>
                        </a:rPr>
                        <a:t>handler.setFormatter()</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Memasang formatter ke handler</a:t>
                      </a:r>
                    </a:p>
                  </a:txBody>
                  <a:tcPr marL="73152" marR="73152" marT="36576" marB="36576"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Aft>
                          <a:spcPts val="0"/>
                        </a:spcAft>
                      </a:pPr>
                      <a:r>
                        <a:rPr sz="850" b="1" i="0">
                          <a:solidFill>
                            <a:srgbClr val="1C4587"/>
                          </a:solidFill>
                          <a:latin typeface="Inter"/>
                        </a:rPr>
                        <a:t>logging.basicConfig()</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Mengatur handler dan level untuk semua logger</a:t>
                      </a:r>
                    </a:p>
                  </a:txBody>
                  <a:tcPr marL="73152" marR="73152" marT="36576" marB="36576" anchor="ctr">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Structured Logging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log berupa kalimat bebas</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01-structured-logging/before.py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5686"/>
              </a:lnSpc>
              <a:spcAft>
                <a:spcPts val="0"/>
              </a:spcAft>
            </a:pPr>
            <a:r>
              <a:rPr sz="709" i="0">
                <a:solidFill>
                  <a:srgbClr val="5C6773"/>
                </a:solidFill>
                <a:latin typeface="Inconsolata"/>
              </a:rPr>
              <a:t>10  </a:t>
            </a:r>
            <a:r>
              <a:rPr sz="709" i="0">
                <a:solidFill>
                  <a:srgbClr val="FF8E6E"/>
                </a:solidFill>
                <a:latin typeface="Inconsolata"/>
              </a:rPr>
              <a:t>import</a:t>
            </a:r>
            <a:r>
              <a:rPr sz="709" i="0">
                <a:solidFill>
                  <a:srgbClr val="E6EDF3"/>
                </a:solidFill>
                <a:latin typeface="Inconsolata"/>
              </a:rPr>
              <a:t> io</a:t>
            </a:r>
          </a:p>
          <a:p>
            <a:pPr>
              <a:lnSpc>
                <a:spcPct val="105686"/>
              </a:lnSpc>
              <a:spcAft>
                <a:spcPts val="0"/>
              </a:spcAft>
            </a:pPr>
            <a:r>
              <a:rPr sz="709" i="0">
                <a:solidFill>
                  <a:srgbClr val="5C6773"/>
                </a:solidFill>
                <a:latin typeface="Inconsolata"/>
              </a:rPr>
              <a:t>11  </a:t>
            </a:r>
            <a:r>
              <a:rPr sz="709" i="0">
                <a:solidFill>
                  <a:srgbClr val="FF8E6E"/>
                </a:solidFill>
                <a:latin typeface="Inconsolata"/>
              </a:rPr>
              <a:t>import</a:t>
            </a:r>
            <a:r>
              <a:rPr sz="709" i="0">
                <a:solidFill>
                  <a:srgbClr val="E6EDF3"/>
                </a:solidFill>
                <a:latin typeface="Inconsolata"/>
              </a:rPr>
              <a:t> logging</a:t>
            </a:r>
          </a:p>
          <a:p>
            <a:pPr>
              <a:lnSpc>
                <a:spcPct val="105686"/>
              </a:lnSpc>
              <a:spcAft>
                <a:spcPts val="0"/>
              </a:spcAft>
            </a:pPr>
            <a:r>
              <a:rPr sz="709" i="0">
                <a:solidFill>
                  <a:srgbClr val="5C6773"/>
                </a:solidFill>
                <a:latin typeface="Inconsolata"/>
              </a:rPr>
              <a:t>12  </a:t>
            </a:r>
            <a:r>
              <a:rPr sz="709" i="0">
                <a:solidFill>
                  <a:srgbClr val="E6EDF3"/>
                </a:solidFill>
                <a:latin typeface="Inconsolata"/>
              </a:rPr>
              <a:t> </a:t>
            </a:r>
          </a:p>
          <a:p>
            <a:pPr>
              <a:lnSpc>
                <a:spcPct val="105686"/>
              </a:lnSpc>
              <a:spcAft>
                <a:spcPts val="0"/>
              </a:spcAft>
            </a:pPr>
            <a:r>
              <a:rPr sz="709" i="0">
                <a:solidFill>
                  <a:srgbClr val="5C6773"/>
                </a:solidFill>
                <a:latin typeface="Inconsolata"/>
              </a:rPr>
              <a:t>13  </a:t>
            </a:r>
            <a:r>
              <a:rPr sz="709" i="0">
                <a:solidFill>
                  <a:srgbClr val="E6EDF3"/>
                </a:solidFill>
                <a:latin typeface="Inconsolata"/>
              </a:rPr>
              <a:t>stream = io.</a:t>
            </a:r>
            <a:r>
              <a:rPr sz="709" i="0">
                <a:solidFill>
                  <a:srgbClr val="7FDBCA"/>
                </a:solidFill>
                <a:latin typeface="Inconsolata"/>
              </a:rPr>
              <a:t>StringIO</a:t>
            </a:r>
            <a:r>
              <a:rPr sz="709" i="0">
                <a:solidFill>
                  <a:srgbClr val="E6EDF3"/>
                </a:solidFill>
                <a:latin typeface="Inconsolata"/>
              </a:rPr>
              <a:t>()                   </a:t>
            </a:r>
            <a:r>
              <a:rPr sz="709" i="1">
                <a:solidFill>
                  <a:srgbClr val="8B98A8"/>
                </a:solidFill>
                <a:latin typeface="Inconsolata"/>
              </a:rPr>
              <a:t># tempat log, anggap: file log</a:t>
            </a:r>
          </a:p>
          <a:p>
            <a:pPr>
              <a:lnSpc>
                <a:spcPct val="105686"/>
              </a:lnSpc>
              <a:spcAft>
                <a:spcPts val="0"/>
              </a:spcAft>
            </a:pPr>
            <a:r>
              <a:rPr sz="709" i="0">
                <a:solidFill>
                  <a:srgbClr val="5C6773"/>
                </a:solidFill>
                <a:latin typeface="Inconsolata"/>
              </a:rPr>
              <a:t>14  </a:t>
            </a:r>
            <a:r>
              <a:rPr sz="709" i="0">
                <a:solidFill>
                  <a:srgbClr val="E6EDF3"/>
                </a:solidFill>
                <a:latin typeface="Inconsolata"/>
              </a:rPr>
              <a:t>logging.basicConfig(</a:t>
            </a:r>
          </a:p>
          <a:p>
            <a:pPr>
              <a:lnSpc>
                <a:spcPct val="105686"/>
              </a:lnSpc>
              <a:spcAft>
                <a:spcPts val="0"/>
              </a:spcAft>
            </a:pPr>
            <a:r>
              <a:rPr sz="709" i="0">
                <a:solidFill>
                  <a:srgbClr val="5C6773"/>
                </a:solidFill>
                <a:latin typeface="Inconsolata"/>
              </a:rPr>
              <a:t>15  </a:t>
            </a:r>
            <a:r>
              <a:rPr sz="709" i="0">
                <a:solidFill>
                  <a:srgbClr val="E6EDF3"/>
                </a:solidFill>
                <a:latin typeface="Inconsolata"/>
              </a:rPr>
              <a:t>    level=logging.</a:t>
            </a:r>
            <a:r>
              <a:rPr sz="709" i="0">
                <a:solidFill>
                  <a:srgbClr val="7FDBCA"/>
                </a:solidFill>
                <a:latin typeface="Inconsolata"/>
              </a:rPr>
              <a:t>INFO</a:t>
            </a:r>
            <a:r>
              <a:rPr sz="709" i="0">
                <a:solidFill>
                  <a:srgbClr val="E6EDF3"/>
                </a:solidFill>
                <a:latin typeface="Inconsolata"/>
              </a:rPr>
              <a:t>, stream=stream,</a:t>
            </a:r>
          </a:p>
          <a:p>
            <a:pPr>
              <a:lnSpc>
                <a:spcPct val="105686"/>
              </a:lnSpc>
              <a:spcAft>
                <a:spcPts val="0"/>
              </a:spcAft>
            </a:pPr>
            <a:r>
              <a:rPr sz="709" i="0">
                <a:solidFill>
                  <a:srgbClr val="5C6773"/>
                </a:solidFill>
                <a:latin typeface="Inconsolata"/>
              </a:rPr>
              <a:t>16  </a:t>
            </a:r>
            <a:r>
              <a:rPr sz="709" i="0">
                <a:solidFill>
                  <a:srgbClr val="E6EDF3"/>
                </a:solidFill>
                <a:latin typeface="Inconsolata"/>
              </a:rPr>
              <a:t>    format=</a:t>
            </a:r>
            <a:r>
              <a:rPr sz="709" i="0">
                <a:solidFill>
                  <a:srgbClr val="A5D6A7"/>
                </a:solidFill>
                <a:latin typeface="Inconsolata"/>
              </a:rPr>
              <a:t>"%(asctime)s %(levelname)s %(message)s"</a:t>
            </a:r>
            <a:r>
              <a:rPr sz="709" i="0">
                <a:solidFill>
                  <a:srgbClr val="E6EDF3"/>
                </a:solidFill>
                <a:latin typeface="Inconsolata"/>
              </a:rPr>
              <a:t>)</a:t>
            </a:r>
          </a:p>
          <a:p>
            <a:pPr>
              <a:lnSpc>
                <a:spcPct val="105686"/>
              </a:lnSpc>
              <a:spcAft>
                <a:spcPts val="0"/>
              </a:spcAft>
            </a:pPr>
            <a:r>
              <a:rPr sz="709" i="0">
                <a:solidFill>
                  <a:srgbClr val="5C6773"/>
                </a:solidFill>
                <a:latin typeface="Inconsolata"/>
              </a:rPr>
              <a:t>17  </a:t>
            </a:r>
            <a:r>
              <a:rPr sz="709" i="0">
                <a:solidFill>
                  <a:srgbClr val="E6EDF3"/>
                </a:solidFill>
                <a:latin typeface="Inconsolata"/>
              </a:rPr>
              <a:t>logger = logging.getLogger(</a:t>
            </a:r>
            <a:r>
              <a:rPr sz="709" i="0">
                <a:solidFill>
                  <a:srgbClr val="A5D6A7"/>
                </a:solidFill>
                <a:latin typeface="Inconsolata"/>
              </a:rPr>
              <a:t>"orders"</a:t>
            </a:r>
            <a:r>
              <a:rPr sz="709" i="0">
                <a:solidFill>
                  <a:srgbClr val="E6EDF3"/>
                </a:solidFill>
                <a:latin typeface="Inconsolata"/>
              </a:rPr>
              <a:t>)</a:t>
            </a:r>
          </a:p>
          <a:p>
            <a:pPr>
              <a:lnSpc>
                <a:spcPct val="105686"/>
              </a:lnSpc>
              <a:spcAft>
                <a:spcPts val="0"/>
              </a:spcAft>
            </a:pPr>
            <a:r>
              <a:rPr sz="709" i="0">
                <a:solidFill>
                  <a:srgbClr val="5C6773"/>
                </a:solidFill>
                <a:latin typeface="Inconsolata"/>
              </a:rPr>
              <a:t>18  </a:t>
            </a:r>
            <a:r>
              <a:rPr sz="709" i="0">
                <a:solidFill>
                  <a:srgbClr val="E6EDF3"/>
                </a:solidFill>
                <a:latin typeface="Inconsolata"/>
              </a:rPr>
              <a:t> </a:t>
            </a:r>
          </a:p>
          <a:p>
            <a:pPr>
              <a:lnSpc>
                <a:spcPct val="105686"/>
              </a:lnSpc>
              <a:spcAft>
                <a:spcPts val="0"/>
              </a:spcAft>
            </a:pPr>
            <a:r>
              <a:rPr sz="709" i="0">
                <a:solidFill>
                  <a:srgbClr val="5C6773"/>
                </a:solidFill>
                <a:latin typeface="Inconsolata"/>
              </a:rPr>
              <a:t>19  </a:t>
            </a:r>
            <a:r>
              <a:rPr sz="709" i="0">
                <a:solidFill>
                  <a:srgbClr val="E6EDF3"/>
                </a:solidFill>
                <a:latin typeface="Inconsolata"/>
              </a:rPr>
              <a:t> </a:t>
            </a:r>
          </a:p>
          <a:p>
            <a:pPr>
              <a:lnSpc>
                <a:spcPct val="105686"/>
              </a:lnSpc>
              <a:spcAft>
                <a:spcPts val="0"/>
              </a:spcAft>
            </a:pPr>
            <a:r>
              <a:rPr sz="709" i="0">
                <a:solidFill>
                  <a:srgbClr val="5C6773"/>
                </a:solidFill>
                <a:latin typeface="Inconsolata"/>
              </a:rPr>
              <a:t>20  </a:t>
            </a:r>
            <a:r>
              <a:rPr sz="709" i="0">
                <a:solidFill>
                  <a:srgbClr val="FF8E6E"/>
                </a:solidFill>
                <a:latin typeface="Inconsolata"/>
              </a:rPr>
              <a:t>def</a:t>
            </a:r>
            <a:r>
              <a:rPr sz="709" i="0">
                <a:solidFill>
                  <a:srgbClr val="E6EDF3"/>
                </a:solidFill>
                <a:latin typeface="Inconsolata"/>
              </a:rPr>
              <a:t> </a:t>
            </a:r>
            <a:r>
              <a:rPr sz="709" i="0">
                <a:solidFill>
                  <a:srgbClr val="82B1FF"/>
                </a:solidFill>
                <a:latin typeface="Inconsolata"/>
              </a:rPr>
              <a:t>place_order</a:t>
            </a:r>
            <a:r>
              <a:rPr sz="709" i="0">
                <a:solidFill>
                  <a:srgbClr val="E6EDF3"/>
                </a:solidFill>
                <a:latin typeface="Inconsolata"/>
              </a:rPr>
              <a:t>(order_id: </a:t>
            </a:r>
            <a:r>
              <a:rPr sz="709" i="0">
                <a:solidFill>
                  <a:srgbClr val="C3A6FF"/>
                </a:solidFill>
                <a:latin typeface="Inconsolata"/>
              </a:rPr>
              <a:t>int</a:t>
            </a:r>
            <a:r>
              <a:rPr sz="709" i="0">
                <a:solidFill>
                  <a:srgbClr val="E6EDF3"/>
                </a:solidFill>
                <a:latin typeface="Inconsolata"/>
              </a:rPr>
              <a:t>, customer: </a:t>
            </a:r>
            <a:r>
              <a:rPr sz="709" i="0">
                <a:solidFill>
                  <a:srgbClr val="C3A6FF"/>
                </a:solidFill>
                <a:latin typeface="Inconsolata"/>
              </a:rPr>
              <a:t>str</a:t>
            </a:r>
            <a:r>
              <a:rPr sz="709" i="0">
                <a:solidFill>
                  <a:srgbClr val="E6EDF3"/>
                </a:solidFill>
                <a:latin typeface="Inconsolata"/>
              </a:rPr>
              <a:t>, total: </a:t>
            </a:r>
            <a:r>
              <a:rPr sz="709" i="0">
                <a:solidFill>
                  <a:srgbClr val="C3A6FF"/>
                </a:solidFill>
                <a:latin typeface="Inconsolata"/>
              </a:rPr>
              <a:t>int</a:t>
            </a:r>
            <a:r>
              <a:rPr sz="709" i="0">
                <a:solidFill>
                  <a:srgbClr val="E6EDF3"/>
                </a:solidFill>
                <a:latin typeface="Inconsolata"/>
              </a:rPr>
              <a:t>):</a:t>
            </a:r>
          </a:p>
          <a:p>
            <a:pPr>
              <a:lnSpc>
                <a:spcPct val="105686"/>
              </a:lnSpc>
              <a:spcAft>
                <a:spcPts val="0"/>
              </a:spcAft>
            </a:pPr>
            <a:r>
              <a:rPr sz="709" i="0">
                <a:solidFill>
                  <a:srgbClr val="5C6773"/>
                </a:solidFill>
                <a:latin typeface="Inconsolata"/>
              </a:rPr>
              <a:t>21  </a:t>
            </a:r>
            <a:r>
              <a:rPr sz="709" i="0">
                <a:solidFill>
                  <a:srgbClr val="E6EDF3"/>
                </a:solidFill>
                <a:latin typeface="Inconsolata"/>
              </a:rPr>
              <a:t>    logger.info(</a:t>
            </a:r>
            <a:r>
              <a:rPr sz="709" i="0">
                <a:solidFill>
                  <a:srgbClr val="A5D6A7"/>
                </a:solidFill>
                <a:latin typeface="Inconsolata"/>
              </a:rPr>
              <a:t>f"Order #{order_id} dibuat oleh {customer}"</a:t>
            </a:r>
            <a:r>
              <a:rPr sz="709" i="0">
                <a:solidFill>
                  <a:srgbClr val="E6EDF3"/>
                </a:solidFill>
                <a:latin typeface="Inconsolata"/>
              </a:rPr>
              <a:t>)</a:t>
            </a:r>
          </a:p>
          <a:p>
            <a:pPr>
              <a:lnSpc>
                <a:spcPct val="105686"/>
              </a:lnSpc>
              <a:spcAft>
                <a:spcPts val="0"/>
              </a:spcAft>
            </a:pPr>
            <a:r>
              <a:rPr sz="709" i="0">
                <a:solidFill>
                  <a:srgbClr val="5C6773"/>
                </a:solidFill>
                <a:latin typeface="Inconsolata"/>
              </a:rPr>
              <a:t>22  </a:t>
            </a:r>
            <a:r>
              <a:rPr sz="709" i="0">
                <a:solidFill>
                  <a:srgbClr val="E6EDF3"/>
                </a:solidFill>
                <a:latin typeface="Inconsolata"/>
              </a:rPr>
              <a:t>    logger.info(</a:t>
            </a:r>
            <a:r>
              <a:rPr sz="709" i="0">
                <a:solidFill>
                  <a:srgbClr val="A5D6A7"/>
                </a:solidFill>
                <a:latin typeface="Inconsolata"/>
              </a:rPr>
              <a:t>f"Total order_id={order_id}: Rp{total:,}"</a:t>
            </a:r>
            <a:r>
              <a:rPr sz="709" i="0">
                <a:solidFill>
                  <a:srgbClr val="E6EDF3"/>
                </a:solidFill>
                <a:latin typeface="Inconsolata"/>
              </a:rPr>
              <a:t>)</a:t>
            </a:r>
          </a:p>
          <a:p>
            <a:pPr>
              <a:lnSpc>
                <a:spcPct val="105686"/>
              </a:lnSpc>
              <a:spcAft>
                <a:spcPts val="0"/>
              </a:spcAft>
            </a:pPr>
            <a:r>
              <a:rPr sz="709" i="0">
                <a:solidFill>
                  <a:srgbClr val="5C6773"/>
                </a:solidFill>
                <a:latin typeface="Inconsolata"/>
              </a:rPr>
              <a:t>23  </a:t>
            </a:r>
            <a:r>
              <a:rPr sz="709" i="0">
                <a:solidFill>
                  <a:srgbClr val="E6EDF3"/>
                </a:solidFill>
                <a:latin typeface="Inconsolata"/>
              </a:rPr>
              <a:t>    </a:t>
            </a:r>
            <a:r>
              <a:rPr sz="709" i="0">
                <a:solidFill>
                  <a:srgbClr val="FF8E6E"/>
                </a:solidFill>
                <a:latin typeface="Inconsolata"/>
              </a:rPr>
              <a:t>if</a:t>
            </a:r>
            <a:r>
              <a:rPr sz="709" i="0">
                <a:solidFill>
                  <a:srgbClr val="E6EDF3"/>
                </a:solidFill>
                <a:latin typeface="Inconsolata"/>
              </a:rPr>
              <a:t> total &gt; </a:t>
            </a:r>
            <a:r>
              <a:rPr sz="709" i="0">
                <a:solidFill>
                  <a:srgbClr val="F9C97A"/>
                </a:solidFill>
                <a:latin typeface="Inconsolata"/>
              </a:rPr>
              <a:t>1_000_000</a:t>
            </a:r>
            <a:r>
              <a:rPr sz="709" i="0">
                <a:solidFill>
                  <a:srgbClr val="E6EDF3"/>
                </a:solidFill>
                <a:latin typeface="Inconsolata"/>
              </a:rPr>
              <a:t>:</a:t>
            </a:r>
          </a:p>
          <a:p>
            <a:pPr>
              <a:lnSpc>
                <a:spcPct val="105686"/>
              </a:lnSpc>
              <a:spcAft>
                <a:spcPts val="0"/>
              </a:spcAft>
            </a:pPr>
            <a:r>
              <a:rPr sz="709" i="0">
                <a:solidFill>
                  <a:srgbClr val="5C6773"/>
                </a:solidFill>
                <a:latin typeface="Inconsolata"/>
              </a:rPr>
              <a:t>24  </a:t>
            </a:r>
            <a:r>
              <a:rPr sz="709" i="0">
                <a:solidFill>
                  <a:srgbClr val="E6EDF3"/>
                </a:solidFill>
                <a:latin typeface="Inconsolata"/>
              </a:rPr>
              <a:t>        logger.warning(</a:t>
            </a:r>
            <a:r>
              <a:rPr sz="709" i="0">
                <a:solidFill>
                  <a:srgbClr val="A5D6A7"/>
                </a:solidFill>
                <a:latin typeface="Inconsolata"/>
              </a:rPr>
              <a:t>f"Pembayaran Order {order_id} ditolak bank"</a:t>
            </a:r>
            <a:r>
              <a:rPr sz="709" i="0">
                <a:solidFill>
                  <a:srgbClr val="E6EDF3"/>
                </a:solidFill>
                <a:latin typeface="Inconsolata"/>
              </a:rPr>
              <a: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01-structured-logging/before.py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5686"/>
              </a:lnSpc>
              <a:spcAft>
                <a:spcPts val="0"/>
              </a:spcAft>
            </a:pPr>
            <a:r>
              <a:rPr sz="709" i="0">
                <a:solidFill>
                  <a:srgbClr val="5C6773"/>
                </a:solidFill>
                <a:latin typeface="Inconsolata"/>
              </a:rPr>
              <a:t>27  </a:t>
            </a:r>
            <a:r>
              <a:rPr sz="709" i="0">
                <a:solidFill>
                  <a:srgbClr val="FF8E6E"/>
                </a:solidFill>
                <a:latin typeface="Inconsolata"/>
              </a:rPr>
              <a:t>if</a:t>
            </a:r>
            <a:r>
              <a:rPr sz="709" i="0">
                <a:solidFill>
                  <a:srgbClr val="E6EDF3"/>
                </a:solidFill>
                <a:latin typeface="Inconsolata"/>
              </a:rPr>
              <a:t> __name__ == </a:t>
            </a:r>
            <a:r>
              <a:rPr sz="709" i="0">
                <a:solidFill>
                  <a:srgbClr val="A5D6A7"/>
                </a:solidFill>
                <a:latin typeface="Inconsolata"/>
              </a:rPr>
              <a:t>"__main__"</a:t>
            </a:r>
            <a:r>
              <a:rPr sz="709" i="0">
                <a:solidFill>
                  <a:srgbClr val="E6EDF3"/>
                </a:solidFill>
                <a:latin typeface="Inconsolata"/>
              </a:rPr>
              <a:t>:</a:t>
            </a:r>
          </a:p>
          <a:p>
            <a:pPr>
              <a:lnSpc>
                <a:spcPct val="105686"/>
              </a:lnSpc>
              <a:spcAft>
                <a:spcPts val="0"/>
              </a:spcAft>
            </a:pPr>
            <a:r>
              <a:rPr sz="709" i="0">
                <a:solidFill>
                  <a:srgbClr val="5C6773"/>
                </a:solidFill>
                <a:latin typeface="Inconsolata"/>
              </a:rPr>
              <a:t>28  </a:t>
            </a:r>
            <a:r>
              <a:rPr sz="709" i="0">
                <a:solidFill>
                  <a:srgbClr val="E6EDF3"/>
                </a:solidFill>
                <a:latin typeface="Inconsolata"/>
              </a:rPr>
              <a:t>    place_order(</a:t>
            </a:r>
            <a:r>
              <a:rPr sz="709" i="0">
                <a:solidFill>
                  <a:srgbClr val="F9C97A"/>
                </a:solidFill>
                <a:latin typeface="Inconsolata"/>
              </a:rPr>
              <a:t>1</a:t>
            </a:r>
            <a:r>
              <a:rPr sz="709" i="0">
                <a:solidFill>
                  <a:srgbClr val="E6EDF3"/>
                </a:solidFill>
                <a:latin typeface="Inconsolata"/>
              </a:rPr>
              <a:t>, </a:t>
            </a:r>
            <a:r>
              <a:rPr sz="709" i="0">
                <a:solidFill>
                  <a:srgbClr val="A5D6A7"/>
                </a:solidFill>
                <a:latin typeface="Inconsolata"/>
              </a:rPr>
              <a:t>"ani@mail.com"</a:t>
            </a:r>
            <a:r>
              <a:rPr sz="709" i="0">
                <a:solidFill>
                  <a:srgbClr val="E6EDF3"/>
                </a:solidFill>
                <a:latin typeface="Inconsolata"/>
              </a:rPr>
              <a:t>, </a:t>
            </a:r>
            <a:r>
              <a:rPr sz="709" i="0">
                <a:solidFill>
                  <a:srgbClr val="F9C97A"/>
                </a:solidFill>
                <a:latin typeface="Inconsolata"/>
              </a:rPr>
              <a:t>300_000</a:t>
            </a:r>
            <a:r>
              <a:rPr sz="709" i="0">
                <a:solidFill>
                  <a:srgbClr val="E6EDF3"/>
                </a:solidFill>
                <a:latin typeface="Inconsolata"/>
              </a:rPr>
              <a:t>)</a:t>
            </a:r>
          </a:p>
          <a:p>
            <a:pPr>
              <a:lnSpc>
                <a:spcPct val="105686"/>
              </a:lnSpc>
              <a:spcAft>
                <a:spcPts val="0"/>
              </a:spcAft>
            </a:pPr>
            <a:r>
              <a:rPr sz="709" i="0">
                <a:solidFill>
                  <a:srgbClr val="5C6773"/>
                </a:solidFill>
                <a:latin typeface="Inconsolata"/>
              </a:rPr>
              <a:t>29  </a:t>
            </a:r>
            <a:r>
              <a:rPr sz="709" i="0">
                <a:solidFill>
                  <a:srgbClr val="E6EDF3"/>
                </a:solidFill>
                <a:latin typeface="Inconsolata"/>
              </a:rPr>
              <a:t>    place_order(</a:t>
            </a:r>
            <a:r>
              <a:rPr sz="709" i="0">
                <a:solidFill>
                  <a:srgbClr val="F9C97A"/>
                </a:solidFill>
                <a:latin typeface="Inconsolata"/>
              </a:rPr>
              <a:t>2</a:t>
            </a:r>
            <a:r>
              <a:rPr sz="709" i="0">
                <a:solidFill>
                  <a:srgbClr val="E6EDF3"/>
                </a:solidFill>
                <a:latin typeface="Inconsolata"/>
              </a:rPr>
              <a:t>, </a:t>
            </a:r>
            <a:r>
              <a:rPr sz="709" i="0">
                <a:solidFill>
                  <a:srgbClr val="A5D6A7"/>
                </a:solidFill>
                <a:latin typeface="Inconsolata"/>
              </a:rPr>
              <a:t>"budi@mail.com"</a:t>
            </a:r>
            <a:r>
              <a:rPr sz="709" i="0">
                <a:solidFill>
                  <a:srgbClr val="E6EDF3"/>
                </a:solidFill>
                <a:latin typeface="Inconsolata"/>
              </a:rPr>
              <a:t>, </a:t>
            </a:r>
            <a:r>
              <a:rPr sz="709" i="0">
                <a:solidFill>
                  <a:srgbClr val="F9C97A"/>
                </a:solidFill>
                <a:latin typeface="Inconsolata"/>
              </a:rPr>
              <a:t>1_500_000</a:t>
            </a:r>
            <a:r>
              <a:rPr sz="709" i="0">
                <a:solidFill>
                  <a:srgbClr val="E6EDF3"/>
                </a:solidFill>
                <a:latin typeface="Inconsolata"/>
              </a:rPr>
              <a:t>)</a:t>
            </a:r>
          </a:p>
          <a:p>
            <a:pPr>
              <a:lnSpc>
                <a:spcPct val="105686"/>
              </a:lnSpc>
              <a:spcAft>
                <a:spcPts val="0"/>
              </a:spcAft>
            </a:pPr>
            <a:r>
              <a:rPr sz="709" i="0">
                <a:solidFill>
                  <a:srgbClr val="5C6773"/>
                </a:solidFill>
                <a:latin typeface="Inconsolata"/>
              </a:rPr>
              <a:t>30  </a:t>
            </a:r>
            <a:r>
              <a:rPr sz="709" i="0">
                <a:solidFill>
                  <a:srgbClr val="E6EDF3"/>
                </a:solidFill>
                <a:latin typeface="Inconsolata"/>
              </a:rPr>
              <a:t> </a:t>
            </a:r>
          </a:p>
          <a:p>
            <a:pPr>
              <a:lnSpc>
                <a:spcPct val="105686"/>
              </a:lnSpc>
              <a:spcAft>
                <a:spcPts val="0"/>
              </a:spcAft>
            </a:pPr>
            <a:r>
              <a:rPr sz="709" i="0">
                <a:solidFill>
                  <a:srgbClr val="5C6773"/>
                </a:solidFill>
                <a:latin typeface="Inconsolata"/>
              </a:rPr>
              <a:t>31  </a:t>
            </a:r>
            <a:r>
              <a:rPr sz="709" i="0">
                <a:solidFill>
                  <a:srgbClr val="E6EDF3"/>
                </a:solidFill>
                <a:latin typeface="Inconsolata"/>
              </a:rPr>
              <a:t>    lines = stream.getvalue().splitlines()</a:t>
            </a:r>
          </a:p>
          <a:p>
            <a:pPr>
              <a:lnSpc>
                <a:spcPct val="105686"/>
              </a:lnSpc>
              <a:spcAft>
                <a:spcPts val="0"/>
              </a:spcAft>
            </a:pPr>
            <a:r>
              <a:rPr sz="709" i="0">
                <a:solidFill>
                  <a:srgbClr val="5C6773"/>
                </a:solidFill>
                <a:latin typeface="Inconsolata"/>
              </a:rPr>
              <a:t>32  </a:t>
            </a:r>
            <a:r>
              <a:rPr sz="709" i="0">
                <a:solidFill>
                  <a:srgbClr val="E6EDF3"/>
                </a:solidFill>
                <a:latin typeface="Inconsolata"/>
              </a:rPr>
              <a:t>    </a:t>
            </a:r>
            <a:r>
              <a:rPr sz="709" i="0">
                <a:solidFill>
                  <a:srgbClr val="C3A6FF"/>
                </a:solidFill>
                <a:latin typeface="Inconsolata"/>
              </a:rPr>
              <a:t>print</a:t>
            </a:r>
            <a:r>
              <a:rPr sz="709" i="0">
                <a:solidFill>
                  <a:srgbClr val="E6EDF3"/>
                </a:solidFill>
                <a:latin typeface="Inconsolata"/>
              </a:rPr>
              <a:t>(</a:t>
            </a:r>
            <a:r>
              <a:rPr sz="709" i="0">
                <a:solidFill>
                  <a:srgbClr val="A5D6A7"/>
                </a:solidFill>
                <a:latin typeface="Inconsolata"/>
              </a:rPr>
              <a:t>"\n"</a:t>
            </a:r>
            <a:r>
              <a:rPr sz="709" i="0">
                <a:solidFill>
                  <a:srgbClr val="E6EDF3"/>
                </a:solidFill>
                <a:latin typeface="Inconsolata"/>
              </a:rPr>
              <a:t>.join(lines))</a:t>
            </a:r>
          </a:p>
          <a:p>
            <a:pPr>
              <a:lnSpc>
                <a:spcPct val="105686"/>
              </a:lnSpc>
              <a:spcAft>
                <a:spcPts val="0"/>
              </a:spcAft>
            </a:pPr>
            <a:r>
              <a:rPr sz="709" i="0">
                <a:solidFill>
                  <a:srgbClr val="5C6773"/>
                </a:solidFill>
                <a:latin typeface="Inconsolata"/>
              </a:rPr>
              <a:t>33  </a:t>
            </a:r>
            <a:r>
              <a:rPr sz="709" i="0">
                <a:solidFill>
                  <a:srgbClr val="E6EDF3"/>
                </a:solidFill>
                <a:latin typeface="Inconsolata"/>
              </a:rPr>
              <a:t>    found = [line </a:t>
            </a:r>
            <a:r>
              <a:rPr sz="709" i="0">
                <a:solidFill>
                  <a:srgbClr val="FF8E6E"/>
                </a:solidFill>
                <a:latin typeface="Inconsolata"/>
              </a:rPr>
              <a:t>for</a:t>
            </a:r>
            <a:r>
              <a:rPr sz="709" i="0">
                <a:solidFill>
                  <a:srgbClr val="E6EDF3"/>
                </a:solidFill>
                <a:latin typeface="Inconsolata"/>
              </a:rPr>
              <a:t> line </a:t>
            </a:r>
            <a:r>
              <a:rPr sz="709" i="0">
                <a:solidFill>
                  <a:srgbClr val="FF8E6E"/>
                </a:solidFill>
                <a:latin typeface="Inconsolata"/>
              </a:rPr>
              <a:t>in</a:t>
            </a:r>
            <a:r>
              <a:rPr sz="709" i="0">
                <a:solidFill>
                  <a:srgbClr val="E6EDF3"/>
                </a:solidFill>
                <a:latin typeface="Inconsolata"/>
              </a:rPr>
              <a:t> lines </a:t>
            </a:r>
            <a:r>
              <a:rPr sz="709" i="0">
                <a:solidFill>
                  <a:srgbClr val="FF8E6E"/>
                </a:solidFill>
                <a:latin typeface="Inconsolata"/>
              </a:rPr>
              <a:t>if</a:t>
            </a:r>
            <a:r>
              <a:rPr sz="709" i="0">
                <a:solidFill>
                  <a:srgbClr val="E6EDF3"/>
                </a:solidFill>
                <a:latin typeface="Inconsolata"/>
              </a:rPr>
              <a:t> </a:t>
            </a:r>
            <a:r>
              <a:rPr sz="709" i="0">
                <a:solidFill>
                  <a:srgbClr val="A5D6A7"/>
                </a:solidFill>
                <a:latin typeface="Inconsolata"/>
              </a:rPr>
              <a:t>"order #2"</a:t>
            </a:r>
            <a:r>
              <a:rPr sz="709" i="0">
                <a:solidFill>
                  <a:srgbClr val="E6EDF3"/>
                </a:solidFill>
                <a:latin typeface="Inconsolata"/>
              </a:rPr>
              <a:t> </a:t>
            </a:r>
            <a:r>
              <a:rPr sz="709" i="0">
                <a:solidFill>
                  <a:srgbClr val="FF8E6E"/>
                </a:solidFill>
                <a:latin typeface="Inconsolata"/>
              </a:rPr>
              <a:t>in</a:t>
            </a:r>
            <a:r>
              <a:rPr sz="709" i="0">
                <a:solidFill>
                  <a:srgbClr val="E6EDF3"/>
                </a:solidFill>
                <a:latin typeface="Inconsolata"/>
              </a:rPr>
              <a:t> line.lower()]</a:t>
            </a:r>
          </a:p>
          <a:p>
            <a:pPr>
              <a:lnSpc>
                <a:spcPct val="105686"/>
              </a:lnSpc>
              <a:spcAft>
                <a:spcPts val="0"/>
              </a:spcAft>
            </a:pPr>
            <a:r>
              <a:rPr sz="709" i="0">
                <a:solidFill>
                  <a:srgbClr val="5C6773"/>
                </a:solidFill>
                <a:latin typeface="Inconsolata"/>
              </a:rPr>
              <a:t>34  </a:t>
            </a:r>
            <a:r>
              <a:rPr sz="709" i="0">
                <a:solidFill>
                  <a:srgbClr val="E6EDF3"/>
                </a:solidFill>
                <a:latin typeface="Inconsolata"/>
              </a:rPr>
              <a:t>    </a:t>
            </a:r>
            <a:r>
              <a:rPr sz="709" i="0">
                <a:solidFill>
                  <a:srgbClr val="C3A6FF"/>
                </a:solidFill>
                <a:latin typeface="Inconsolata"/>
              </a:rPr>
              <a:t>print</a:t>
            </a:r>
            <a:r>
              <a:rPr sz="709" i="0">
                <a:solidFill>
                  <a:srgbClr val="E6EDF3"/>
                </a:solidFill>
                <a:latin typeface="Inconsolata"/>
              </a:rPr>
              <a:t>(</a:t>
            </a:r>
            <a:r>
              <a:rPr sz="709" i="0">
                <a:solidFill>
                  <a:srgbClr val="A5D6A7"/>
                </a:solidFill>
                <a:latin typeface="Inconsolata"/>
              </a:rPr>
              <a:t>f"\nCari 'order #2': {len(found)} dari 3 log order 2"</a:t>
            </a:r>
            <a:r>
              <a:rPr sz="709" i="0">
                <a:solidFill>
                  <a:srgbClr val="E6EDF3"/>
                </a:solidFill>
                <a:latin typeface="Inconsolata"/>
              </a:rPr>
              <a:t>)</a:t>
            </a:r>
          </a:p>
        </p:txBody>
      </p:sp>
      <p:sp>
        <p:nvSpPr>
          <p:cNvPr id="36" name="Box 21"/>
          <p:cNvSpPr/>
          <p:nvPr/>
        </p:nvSpPr>
        <p:spPr>
          <a:xfrm>
            <a:off x="704088" y="2511171"/>
            <a:ext cx="3694176" cy="107442"/>
          </a:xfrm>
          <a:prstGeom prst="roundRect">
            <a:avLst>
              <a:gd name="adj" fmla="val 42553"/>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24460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704088" y="3082671"/>
            <a:ext cx="3694176" cy="450342"/>
          </a:xfrm>
          <a:prstGeom prst="roundRect">
            <a:avLst>
              <a:gd name="adj" fmla="val 10152"/>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279392" y="318897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40" name="Box 25"/>
          <p:cNvSpPr/>
          <p:nvPr/>
        </p:nvSpPr>
        <p:spPr>
          <a:xfrm>
            <a:off x="4709159" y="2511171"/>
            <a:ext cx="3694176" cy="107442"/>
          </a:xfrm>
          <a:prstGeom prst="roundRect">
            <a:avLst>
              <a:gd name="adj" fmla="val 42553"/>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8284463" y="24460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Structured Logging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01-structured-logging/before.py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sesi-09-observability/01-structured-logging</a:t>
            </a:r>
          </a:p>
          <a:p>
            <a:pPr>
              <a:lnSpc>
                <a:spcPct val="111111"/>
              </a:lnSpc>
              <a:spcAft>
                <a:spcPts val="0"/>
              </a:spcAft>
            </a:pPr>
            <a:r>
              <a:rPr sz="900" i="0">
                <a:solidFill>
                  <a:srgbClr val="82B1FF"/>
                </a:solidFill>
                <a:latin typeface="Inconsolata"/>
              </a:rPr>
              <a:t>$ python before.py</a:t>
            </a:r>
          </a:p>
        </p:txBody>
      </p:sp>
      <p:pic>
        <p:nvPicPr>
          <p:cNvPr id="29" name="Image 12" descr="s09-01-structured-logging-before.png"/>
          <p:cNvPicPr>
            <a:picLocks noChangeAspect="1"/>
          </p:cNvPicPr>
          <p:nvPr/>
        </p:nvPicPr>
        <p:blipFill>
          <a:blip r:embed="rId2"/>
          <a:stretch>
            <a:fillRect/>
          </a:stretch>
        </p:blipFill>
        <p:spPr>
          <a:xfrm>
            <a:off x="621792" y="2322576"/>
            <a:ext cx="4297680" cy="1484043"/>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Format log hanya waktu, level, dan kalimat (baris 16)</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Data order diselipkan di kalimat dengan tulisan yang berbeda-beda (baris 21-24)</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Log order 2 dicari dengan teks "order #2" (baris 33)</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Hanya 1 dari 3 log order 2 yang ditemukan.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Structured Logging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satu log satu baris JSON</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01-structured-logging/after.py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5686"/>
              </a:lnSpc>
              <a:spcAft>
                <a:spcPts val="0"/>
              </a:spcAft>
            </a:pPr>
            <a:r>
              <a:rPr sz="709" i="0">
                <a:solidFill>
                  <a:srgbClr val="5C6773"/>
                </a:solidFill>
                <a:latin typeface="Inconsolata"/>
              </a:rPr>
              <a:t>10  </a:t>
            </a:r>
            <a:r>
              <a:rPr sz="709" i="0">
                <a:solidFill>
                  <a:srgbClr val="FF8E6E"/>
                </a:solidFill>
                <a:latin typeface="Inconsolata"/>
              </a:rPr>
              <a:t>import</a:t>
            </a:r>
            <a:r>
              <a:rPr sz="709" i="0">
                <a:solidFill>
                  <a:srgbClr val="E6EDF3"/>
                </a:solidFill>
                <a:latin typeface="Inconsolata"/>
              </a:rPr>
              <a:t> io</a:t>
            </a:r>
          </a:p>
          <a:p>
            <a:pPr>
              <a:lnSpc>
                <a:spcPct val="105686"/>
              </a:lnSpc>
              <a:spcAft>
                <a:spcPts val="0"/>
              </a:spcAft>
            </a:pPr>
            <a:r>
              <a:rPr sz="709" i="0">
                <a:solidFill>
                  <a:srgbClr val="5C6773"/>
                </a:solidFill>
                <a:latin typeface="Inconsolata"/>
              </a:rPr>
              <a:t>11  </a:t>
            </a:r>
            <a:r>
              <a:rPr sz="709" i="0">
                <a:solidFill>
                  <a:srgbClr val="FF8E6E"/>
                </a:solidFill>
                <a:latin typeface="Inconsolata"/>
              </a:rPr>
              <a:t>import</a:t>
            </a:r>
            <a:r>
              <a:rPr sz="709" i="0">
                <a:solidFill>
                  <a:srgbClr val="E6EDF3"/>
                </a:solidFill>
                <a:latin typeface="Inconsolata"/>
              </a:rPr>
              <a:t> json</a:t>
            </a:r>
          </a:p>
          <a:p>
            <a:pPr>
              <a:lnSpc>
                <a:spcPct val="105686"/>
              </a:lnSpc>
              <a:spcAft>
                <a:spcPts val="0"/>
              </a:spcAft>
            </a:pPr>
            <a:r>
              <a:rPr sz="709" i="0">
                <a:solidFill>
                  <a:srgbClr val="5C6773"/>
                </a:solidFill>
                <a:latin typeface="Inconsolata"/>
              </a:rPr>
              <a:t>12  </a:t>
            </a:r>
            <a:r>
              <a:rPr sz="709" i="0">
                <a:solidFill>
                  <a:srgbClr val="FF8E6E"/>
                </a:solidFill>
                <a:latin typeface="Inconsolata"/>
              </a:rPr>
              <a:t>import</a:t>
            </a:r>
            <a:r>
              <a:rPr sz="709" i="0">
                <a:solidFill>
                  <a:srgbClr val="E6EDF3"/>
                </a:solidFill>
                <a:latin typeface="Inconsolata"/>
              </a:rPr>
              <a:t> logging</a:t>
            </a:r>
          </a:p>
          <a:p>
            <a:pPr>
              <a:lnSpc>
                <a:spcPct val="105686"/>
              </a:lnSpc>
              <a:spcAft>
                <a:spcPts val="0"/>
              </a:spcAft>
            </a:pPr>
            <a:r>
              <a:rPr sz="709" i="0">
                <a:solidFill>
                  <a:srgbClr val="5C6773"/>
                </a:solidFill>
                <a:latin typeface="Inconsolata"/>
              </a:rPr>
              <a:t>13  </a:t>
            </a:r>
            <a:r>
              <a:rPr sz="709" i="0">
                <a:solidFill>
                  <a:srgbClr val="FF8E6E"/>
                </a:solidFill>
                <a:latin typeface="Inconsolata"/>
              </a:rPr>
              <a:t>from</a:t>
            </a:r>
            <a:r>
              <a:rPr sz="709" i="0">
                <a:solidFill>
                  <a:srgbClr val="E6EDF3"/>
                </a:solidFill>
                <a:latin typeface="Inconsolata"/>
              </a:rPr>
              <a:t> datetime </a:t>
            </a:r>
            <a:r>
              <a:rPr sz="709" i="0">
                <a:solidFill>
                  <a:srgbClr val="FF8E6E"/>
                </a:solidFill>
                <a:latin typeface="Inconsolata"/>
              </a:rPr>
              <a:t>import</a:t>
            </a:r>
            <a:r>
              <a:rPr sz="709" i="0">
                <a:solidFill>
                  <a:srgbClr val="E6EDF3"/>
                </a:solidFill>
                <a:latin typeface="Inconsolata"/>
              </a:rPr>
              <a:t> datetime, timezone</a:t>
            </a:r>
          </a:p>
          <a:p>
            <a:pPr>
              <a:lnSpc>
                <a:spcPct val="105686"/>
              </a:lnSpc>
              <a:spcAft>
                <a:spcPts val="0"/>
              </a:spcAft>
            </a:pPr>
            <a:r>
              <a:rPr sz="709" i="0">
                <a:solidFill>
                  <a:srgbClr val="5C6773"/>
                </a:solidFill>
                <a:latin typeface="Inconsolata"/>
              </a:rPr>
              <a:t>14  </a:t>
            </a:r>
            <a:r>
              <a:rPr sz="709" i="0">
                <a:solidFill>
                  <a:srgbClr val="E6EDF3"/>
                </a:solidFill>
                <a:latin typeface="Inconsolata"/>
              </a:rPr>
              <a:t> </a:t>
            </a:r>
          </a:p>
          <a:p>
            <a:pPr>
              <a:lnSpc>
                <a:spcPct val="105686"/>
              </a:lnSpc>
              <a:spcAft>
                <a:spcPts val="0"/>
              </a:spcAft>
            </a:pPr>
            <a:r>
              <a:rPr sz="709" i="0">
                <a:solidFill>
                  <a:srgbClr val="5C6773"/>
                </a:solidFill>
                <a:latin typeface="Inconsolata"/>
              </a:rPr>
              <a:t>15  </a:t>
            </a:r>
            <a:r>
              <a:rPr sz="709" i="1">
                <a:solidFill>
                  <a:srgbClr val="8B98A8"/>
                </a:solidFill>
                <a:latin typeface="Inconsolata"/>
              </a:rPr>
              <a:t># atribut bawaan setiap LogRecord, selain ini berarti dari extra={...}</a:t>
            </a:r>
          </a:p>
          <a:p>
            <a:pPr>
              <a:lnSpc>
                <a:spcPct val="105686"/>
              </a:lnSpc>
              <a:spcAft>
                <a:spcPts val="0"/>
              </a:spcAft>
            </a:pPr>
            <a:r>
              <a:rPr sz="709" i="0">
                <a:solidFill>
                  <a:srgbClr val="5C6773"/>
                </a:solidFill>
                <a:latin typeface="Inconsolata"/>
              </a:rPr>
              <a:t>16  </a:t>
            </a:r>
            <a:r>
              <a:rPr sz="709" i="0">
                <a:solidFill>
                  <a:srgbClr val="7FDBCA"/>
                </a:solidFill>
                <a:latin typeface="Inconsolata"/>
              </a:rPr>
              <a:t>STANDARD</a:t>
            </a:r>
            <a:r>
              <a:rPr sz="709" i="0">
                <a:solidFill>
                  <a:srgbClr val="E6EDF3"/>
                </a:solidFill>
                <a:latin typeface="Inconsolata"/>
              </a:rPr>
              <a:t> = </a:t>
            </a:r>
            <a:r>
              <a:rPr sz="709" i="0">
                <a:solidFill>
                  <a:srgbClr val="C3A6FF"/>
                </a:solidFill>
                <a:latin typeface="Inconsolata"/>
              </a:rPr>
              <a:t>set</a:t>
            </a:r>
            <a:r>
              <a:rPr sz="709" i="0">
                <a:solidFill>
                  <a:srgbClr val="E6EDF3"/>
                </a:solidFill>
                <a:latin typeface="Inconsolata"/>
              </a:rPr>
              <a:t>(vars(logging.makeLogRecord({}))) | {</a:t>
            </a:r>
            <a:r>
              <a:rPr sz="709" i="0">
                <a:solidFill>
                  <a:srgbClr val="A5D6A7"/>
                </a:solidFill>
                <a:latin typeface="Inconsolata"/>
              </a:rPr>
              <a:t>"message"</a:t>
            </a:r>
            <a:r>
              <a:rPr sz="709" i="0">
                <a:solidFill>
                  <a:srgbClr val="E6EDF3"/>
                </a:solidFill>
                <a:latin typeface="Inconsolata"/>
              </a:rPr>
              <a:t>}</a:t>
            </a:r>
          </a:p>
          <a:p>
            <a:pPr>
              <a:lnSpc>
                <a:spcPct val="105686"/>
              </a:lnSpc>
              <a:spcAft>
                <a:spcPts val="0"/>
              </a:spcAft>
            </a:pPr>
            <a:r>
              <a:rPr sz="709" i="0">
                <a:solidFill>
                  <a:srgbClr val="5C6773"/>
                </a:solidFill>
                <a:latin typeface="Inconsolata"/>
              </a:rPr>
              <a:t>17  </a:t>
            </a:r>
            <a:r>
              <a:rPr sz="709" i="0">
                <a:solidFill>
                  <a:srgbClr val="E6EDF3"/>
                </a:solidFill>
                <a:latin typeface="Inconsolata"/>
              </a:rPr>
              <a:t> </a:t>
            </a:r>
          </a:p>
          <a:p>
            <a:pPr>
              <a:lnSpc>
                <a:spcPct val="105686"/>
              </a:lnSpc>
              <a:spcAft>
                <a:spcPts val="0"/>
              </a:spcAft>
            </a:pPr>
            <a:r>
              <a:rPr sz="709" i="0">
                <a:solidFill>
                  <a:srgbClr val="5C6773"/>
                </a:solidFill>
                <a:latin typeface="Inconsolata"/>
              </a:rPr>
              <a:t>18  </a:t>
            </a:r>
            <a:r>
              <a:rPr sz="709" i="0">
                <a:solidFill>
                  <a:srgbClr val="E6EDF3"/>
                </a:solidFill>
                <a:latin typeface="Inconsolata"/>
              </a:rPr>
              <a:t> </a:t>
            </a:r>
          </a:p>
          <a:p>
            <a:pPr>
              <a:lnSpc>
                <a:spcPct val="105686"/>
              </a:lnSpc>
              <a:spcAft>
                <a:spcPts val="0"/>
              </a:spcAft>
            </a:pPr>
            <a:r>
              <a:rPr sz="709" i="0">
                <a:solidFill>
                  <a:srgbClr val="5C6773"/>
                </a:solidFill>
                <a:latin typeface="Inconsolata"/>
              </a:rPr>
              <a:t>19  </a:t>
            </a:r>
            <a:r>
              <a:rPr sz="709" i="0">
                <a:solidFill>
                  <a:srgbClr val="FF8E6E"/>
                </a:solidFill>
                <a:latin typeface="Inconsolata"/>
              </a:rPr>
              <a:t>class</a:t>
            </a:r>
            <a:r>
              <a:rPr sz="709" i="0">
                <a:solidFill>
                  <a:srgbClr val="E6EDF3"/>
                </a:solidFill>
                <a:latin typeface="Inconsolata"/>
              </a:rPr>
              <a:t> </a:t>
            </a:r>
            <a:r>
              <a:rPr sz="709" i="0">
                <a:solidFill>
                  <a:srgbClr val="7FDBCA"/>
                </a:solidFill>
                <a:latin typeface="Inconsolata"/>
              </a:rPr>
              <a:t>JsonFormatter</a:t>
            </a:r>
            <a:r>
              <a:rPr sz="709" i="0">
                <a:solidFill>
                  <a:srgbClr val="E6EDF3"/>
                </a:solidFill>
                <a:latin typeface="Inconsolata"/>
              </a:rPr>
              <a:t>(logging.</a:t>
            </a:r>
            <a:r>
              <a:rPr sz="709" i="0">
                <a:solidFill>
                  <a:srgbClr val="7FDBCA"/>
                </a:solidFill>
                <a:latin typeface="Inconsolata"/>
              </a:rPr>
              <a:t>Formatter</a:t>
            </a:r>
            <a:r>
              <a:rPr sz="709" i="0">
                <a:solidFill>
                  <a:srgbClr val="E6EDF3"/>
                </a:solidFill>
                <a:latin typeface="Inconsolata"/>
              </a:rPr>
              <a:t>):</a:t>
            </a:r>
          </a:p>
          <a:p>
            <a:pPr>
              <a:lnSpc>
                <a:spcPct val="105686"/>
              </a:lnSpc>
              <a:spcAft>
                <a:spcPts val="0"/>
              </a:spcAft>
            </a:pPr>
            <a:r>
              <a:rPr sz="709" i="0">
                <a:solidFill>
                  <a:srgbClr val="5C6773"/>
                </a:solidFill>
                <a:latin typeface="Inconsolata"/>
              </a:rPr>
              <a:t>20  </a:t>
            </a:r>
            <a:r>
              <a:rPr sz="709" i="0">
                <a:solidFill>
                  <a:srgbClr val="E6EDF3"/>
                </a:solidFill>
                <a:latin typeface="Inconsolata"/>
              </a:rPr>
              <a:t>    </a:t>
            </a:r>
            <a:r>
              <a:rPr sz="709" i="0">
                <a:solidFill>
                  <a:srgbClr val="FF8E6E"/>
                </a:solidFill>
                <a:latin typeface="Inconsolata"/>
              </a:rPr>
              <a:t>def</a:t>
            </a:r>
            <a:r>
              <a:rPr sz="709" i="0">
                <a:solidFill>
                  <a:srgbClr val="E6EDF3"/>
                </a:solidFill>
                <a:latin typeface="Inconsolata"/>
              </a:rPr>
              <a:t> </a:t>
            </a:r>
            <a:r>
              <a:rPr sz="709" i="0">
                <a:solidFill>
                  <a:srgbClr val="82B1FF"/>
                </a:solidFill>
                <a:latin typeface="Inconsolata"/>
              </a:rPr>
              <a:t>format</a:t>
            </a:r>
            <a:r>
              <a:rPr sz="709" i="0">
                <a:solidFill>
                  <a:srgbClr val="E6EDF3"/>
                </a:solidFill>
                <a:latin typeface="Inconsolata"/>
              </a:rPr>
              <a:t>(</a:t>
            </a:r>
            <a:r>
              <a:rPr sz="709" i="0">
                <a:solidFill>
                  <a:srgbClr val="C3A6FF"/>
                </a:solidFill>
                <a:latin typeface="Inconsolata"/>
              </a:rPr>
              <a:t>self</a:t>
            </a:r>
            <a:r>
              <a:rPr sz="709" i="0">
                <a:solidFill>
                  <a:srgbClr val="E6EDF3"/>
                </a:solidFill>
                <a:latin typeface="Inconsolata"/>
              </a:rPr>
              <a:t>, record: logging.</a:t>
            </a:r>
            <a:r>
              <a:rPr sz="709" i="0">
                <a:solidFill>
                  <a:srgbClr val="7FDBCA"/>
                </a:solidFill>
                <a:latin typeface="Inconsolata"/>
              </a:rPr>
              <a:t>LogRecord</a:t>
            </a:r>
            <a:r>
              <a:rPr sz="709" i="0">
                <a:solidFill>
                  <a:srgbClr val="E6EDF3"/>
                </a:solidFill>
                <a:latin typeface="Inconsolata"/>
              </a:rPr>
              <a:t>) -&gt; </a:t>
            </a:r>
            <a:r>
              <a:rPr sz="709" i="0">
                <a:solidFill>
                  <a:srgbClr val="C3A6FF"/>
                </a:solidFill>
                <a:latin typeface="Inconsolata"/>
              </a:rPr>
              <a:t>str</a:t>
            </a:r>
            <a:r>
              <a:rPr sz="709" i="0">
                <a:solidFill>
                  <a:srgbClr val="E6EDF3"/>
                </a:solidFill>
                <a:latin typeface="Inconsolata"/>
              </a:rPr>
              <a:t>:</a:t>
            </a:r>
          </a:p>
          <a:p>
            <a:pPr>
              <a:lnSpc>
                <a:spcPct val="105686"/>
              </a:lnSpc>
              <a:spcAft>
                <a:spcPts val="0"/>
              </a:spcAft>
            </a:pPr>
            <a:r>
              <a:rPr sz="709" i="0">
                <a:solidFill>
                  <a:srgbClr val="5C6773"/>
                </a:solidFill>
                <a:latin typeface="Inconsolata"/>
              </a:rPr>
              <a:t>21  </a:t>
            </a:r>
            <a:r>
              <a:rPr sz="709" i="0">
                <a:solidFill>
                  <a:srgbClr val="E6EDF3"/>
                </a:solidFill>
                <a:latin typeface="Inconsolata"/>
              </a:rPr>
              <a:t>        time = datetime.fromtimestamp(record.created, timezone.utc)</a:t>
            </a:r>
          </a:p>
          <a:p>
            <a:pPr>
              <a:lnSpc>
                <a:spcPct val="105686"/>
              </a:lnSpc>
              <a:spcAft>
                <a:spcPts val="0"/>
              </a:spcAft>
            </a:pPr>
            <a:r>
              <a:rPr sz="709" i="0">
                <a:solidFill>
                  <a:srgbClr val="5C6773"/>
                </a:solidFill>
                <a:latin typeface="Inconsolata"/>
              </a:rPr>
              <a:t>22  </a:t>
            </a:r>
            <a:r>
              <a:rPr sz="709" i="0">
                <a:solidFill>
                  <a:srgbClr val="E6EDF3"/>
                </a:solidFill>
                <a:latin typeface="Inconsolata"/>
              </a:rPr>
              <a:t>        log = {</a:t>
            </a:r>
          </a:p>
          <a:p>
            <a:pPr>
              <a:lnSpc>
                <a:spcPct val="105686"/>
              </a:lnSpc>
              <a:spcAft>
                <a:spcPts val="0"/>
              </a:spcAft>
            </a:pPr>
            <a:r>
              <a:rPr sz="709" i="0">
                <a:solidFill>
                  <a:srgbClr val="5C6773"/>
                </a:solidFill>
                <a:latin typeface="Inconsolata"/>
              </a:rPr>
              <a:t>23  </a:t>
            </a:r>
            <a:r>
              <a:rPr sz="709" i="0">
                <a:solidFill>
                  <a:srgbClr val="E6EDF3"/>
                </a:solidFill>
                <a:latin typeface="Inconsolata"/>
              </a:rPr>
              <a:t>            </a:t>
            </a:r>
            <a:r>
              <a:rPr sz="709" i="0">
                <a:solidFill>
                  <a:srgbClr val="A5D6A7"/>
                </a:solidFill>
                <a:latin typeface="Inconsolata"/>
              </a:rPr>
              <a:t>"time"</a:t>
            </a:r>
            <a:r>
              <a:rPr sz="709" i="0">
                <a:solidFill>
                  <a:srgbClr val="E6EDF3"/>
                </a:solidFill>
                <a:latin typeface="Inconsolata"/>
              </a:rPr>
              <a:t>: time.isoformat(timespec=</a:t>
            </a:r>
            <a:r>
              <a:rPr sz="709" i="0">
                <a:solidFill>
                  <a:srgbClr val="A5D6A7"/>
                </a:solidFill>
                <a:latin typeface="Inconsolata"/>
              </a:rPr>
              <a:t>"seconds"</a:t>
            </a:r>
            <a:r>
              <a:rPr sz="709" i="0">
                <a:solidFill>
                  <a:srgbClr val="E6EDF3"/>
                </a:solidFill>
                <a:latin typeface="Inconsolata"/>
              </a:rPr>
              <a:t>),</a:t>
            </a:r>
          </a:p>
          <a:p>
            <a:pPr>
              <a:lnSpc>
                <a:spcPct val="105686"/>
              </a:lnSpc>
              <a:spcAft>
                <a:spcPts val="0"/>
              </a:spcAft>
            </a:pPr>
            <a:r>
              <a:rPr sz="709" i="0">
                <a:solidFill>
                  <a:srgbClr val="5C6773"/>
                </a:solidFill>
                <a:latin typeface="Inconsolata"/>
              </a:rPr>
              <a:t>24  </a:t>
            </a:r>
            <a:r>
              <a:rPr sz="709" i="0">
                <a:solidFill>
                  <a:srgbClr val="E6EDF3"/>
                </a:solidFill>
                <a:latin typeface="Inconsolata"/>
              </a:rPr>
              <a:t>            </a:t>
            </a:r>
            <a:r>
              <a:rPr sz="709" i="0">
                <a:solidFill>
                  <a:srgbClr val="A5D6A7"/>
                </a:solidFill>
                <a:latin typeface="Inconsolata"/>
              </a:rPr>
              <a:t>"level"</a:t>
            </a:r>
            <a:r>
              <a:rPr sz="709" i="0">
                <a:solidFill>
                  <a:srgbClr val="E6EDF3"/>
                </a:solidFill>
                <a:latin typeface="Inconsolata"/>
              </a:rPr>
              <a:t>: record.levelname,</a:t>
            </a:r>
          </a:p>
          <a:p>
            <a:pPr>
              <a:lnSpc>
                <a:spcPct val="105686"/>
              </a:lnSpc>
              <a:spcAft>
                <a:spcPts val="0"/>
              </a:spcAft>
            </a:pPr>
            <a:r>
              <a:rPr sz="709" i="0">
                <a:solidFill>
                  <a:srgbClr val="5C6773"/>
                </a:solidFill>
                <a:latin typeface="Inconsolata"/>
              </a:rPr>
              <a:t>25  </a:t>
            </a:r>
            <a:r>
              <a:rPr sz="709" i="0">
                <a:solidFill>
                  <a:srgbClr val="E6EDF3"/>
                </a:solidFill>
                <a:latin typeface="Inconsolata"/>
              </a:rPr>
              <a:t>            </a:t>
            </a:r>
            <a:r>
              <a:rPr sz="709" i="0">
                <a:solidFill>
                  <a:srgbClr val="A5D6A7"/>
                </a:solidFill>
                <a:latin typeface="Inconsolata"/>
              </a:rPr>
              <a:t>"logger"</a:t>
            </a:r>
            <a:r>
              <a:rPr sz="709" i="0">
                <a:solidFill>
                  <a:srgbClr val="E6EDF3"/>
                </a:solidFill>
                <a:latin typeface="Inconsolata"/>
              </a:rPr>
              <a:t>: record.name,</a:t>
            </a:r>
          </a:p>
          <a:p>
            <a:pPr>
              <a:lnSpc>
                <a:spcPct val="105686"/>
              </a:lnSpc>
              <a:spcAft>
                <a:spcPts val="0"/>
              </a:spcAft>
            </a:pPr>
            <a:r>
              <a:rPr sz="709" i="0">
                <a:solidFill>
                  <a:srgbClr val="5C6773"/>
                </a:solidFill>
                <a:latin typeface="Inconsolata"/>
              </a:rPr>
              <a:t>26  </a:t>
            </a:r>
            <a:r>
              <a:rPr sz="709" i="0">
                <a:solidFill>
                  <a:srgbClr val="E6EDF3"/>
                </a:solidFill>
                <a:latin typeface="Inconsolata"/>
              </a:rPr>
              <a:t>            </a:t>
            </a:r>
            <a:r>
              <a:rPr sz="709" i="0">
                <a:solidFill>
                  <a:srgbClr val="A5D6A7"/>
                </a:solidFill>
                <a:latin typeface="Inconsolata"/>
              </a:rPr>
              <a:t>"message"</a:t>
            </a:r>
            <a:r>
              <a:rPr sz="709" i="0">
                <a:solidFill>
                  <a:srgbClr val="E6EDF3"/>
                </a:solidFill>
                <a:latin typeface="Inconsolata"/>
              </a:rPr>
              <a:t>: record.getMessage(),</a:t>
            </a:r>
          </a:p>
          <a:p>
            <a:pPr>
              <a:lnSpc>
                <a:spcPct val="105686"/>
              </a:lnSpc>
              <a:spcAft>
                <a:spcPts val="0"/>
              </a:spcAft>
            </a:pPr>
            <a:r>
              <a:rPr sz="709" i="0">
                <a:solidFill>
                  <a:srgbClr val="5C6773"/>
                </a:solidFill>
                <a:latin typeface="Inconsolata"/>
              </a:rPr>
              <a:t>27  </a:t>
            </a:r>
            <a:r>
              <a:rPr sz="709" i="0">
                <a:solidFill>
                  <a:srgbClr val="E6EDF3"/>
                </a:solidFill>
                <a:latin typeface="Inconsolata"/>
              </a:rPr>
              <a:t>        }</a:t>
            </a:r>
          </a:p>
          <a:p>
            <a:pPr>
              <a:lnSpc>
                <a:spcPct val="105686"/>
              </a:lnSpc>
              <a:spcAft>
                <a:spcPts val="0"/>
              </a:spcAft>
            </a:pPr>
            <a:r>
              <a:rPr sz="709" i="0">
                <a:solidFill>
                  <a:srgbClr val="5C6773"/>
                </a:solidFill>
                <a:latin typeface="Inconsolata"/>
              </a:rPr>
              <a:t>28  </a:t>
            </a:r>
            <a:r>
              <a:rPr sz="709" i="0">
                <a:solidFill>
                  <a:srgbClr val="E6EDF3"/>
                </a:solidFill>
                <a:latin typeface="Inconsolata"/>
              </a:rPr>
              <a:t>        </a:t>
            </a:r>
            <a:r>
              <a:rPr sz="709" i="0">
                <a:solidFill>
                  <a:srgbClr val="FF8E6E"/>
                </a:solidFill>
                <a:latin typeface="Inconsolata"/>
              </a:rPr>
              <a:t>for</a:t>
            </a:r>
            <a:r>
              <a:rPr sz="709" i="0">
                <a:solidFill>
                  <a:srgbClr val="E6EDF3"/>
                </a:solidFill>
                <a:latin typeface="Inconsolata"/>
              </a:rPr>
              <a:t> key, value </a:t>
            </a:r>
            <a:r>
              <a:rPr sz="709" i="0">
                <a:solidFill>
                  <a:srgbClr val="FF8E6E"/>
                </a:solidFill>
                <a:latin typeface="Inconsolata"/>
              </a:rPr>
              <a:t>in</a:t>
            </a:r>
            <a:r>
              <a:rPr sz="709" i="0">
                <a:solidFill>
                  <a:srgbClr val="E6EDF3"/>
                </a:solidFill>
                <a:latin typeface="Inconsolata"/>
              </a:rPr>
              <a:t> vars(record).items():</a:t>
            </a:r>
          </a:p>
          <a:p>
            <a:pPr>
              <a:lnSpc>
                <a:spcPct val="105686"/>
              </a:lnSpc>
              <a:spcAft>
                <a:spcPts val="0"/>
              </a:spcAft>
            </a:pPr>
            <a:r>
              <a:rPr sz="709" i="0">
                <a:solidFill>
                  <a:srgbClr val="5C6773"/>
                </a:solidFill>
                <a:latin typeface="Inconsolata"/>
              </a:rPr>
              <a:t>29  </a:t>
            </a:r>
            <a:r>
              <a:rPr sz="709" i="0">
                <a:solidFill>
                  <a:srgbClr val="E6EDF3"/>
                </a:solidFill>
                <a:latin typeface="Inconsolata"/>
              </a:rPr>
              <a:t>            </a:t>
            </a:r>
            <a:r>
              <a:rPr sz="709" i="0">
                <a:solidFill>
                  <a:srgbClr val="FF8E6E"/>
                </a:solidFill>
                <a:latin typeface="Inconsolata"/>
              </a:rPr>
              <a:t>if</a:t>
            </a:r>
            <a:r>
              <a:rPr sz="709" i="0">
                <a:solidFill>
                  <a:srgbClr val="E6EDF3"/>
                </a:solidFill>
                <a:latin typeface="Inconsolata"/>
              </a:rPr>
              <a:t> key </a:t>
            </a:r>
            <a:r>
              <a:rPr sz="709" i="0">
                <a:solidFill>
                  <a:srgbClr val="FF8E6E"/>
                </a:solidFill>
                <a:latin typeface="Inconsolata"/>
              </a:rPr>
              <a:t>not</a:t>
            </a:r>
            <a:r>
              <a:rPr sz="709" i="0">
                <a:solidFill>
                  <a:srgbClr val="E6EDF3"/>
                </a:solidFill>
                <a:latin typeface="Inconsolata"/>
              </a:rPr>
              <a:t> </a:t>
            </a:r>
            <a:r>
              <a:rPr sz="709" i="0">
                <a:solidFill>
                  <a:srgbClr val="FF8E6E"/>
                </a:solidFill>
                <a:latin typeface="Inconsolata"/>
              </a:rPr>
              <a:t>in</a:t>
            </a:r>
            <a:r>
              <a:rPr sz="709" i="0">
                <a:solidFill>
                  <a:srgbClr val="E6EDF3"/>
                </a:solidFill>
                <a:latin typeface="Inconsolata"/>
              </a:rPr>
              <a:t> </a:t>
            </a:r>
            <a:r>
              <a:rPr sz="709" i="0">
                <a:solidFill>
                  <a:srgbClr val="7FDBCA"/>
                </a:solidFill>
                <a:latin typeface="Inconsolata"/>
              </a:rPr>
              <a:t>STANDARD</a:t>
            </a:r>
            <a:r>
              <a:rPr sz="709" i="0">
                <a:solidFill>
                  <a:srgbClr val="E6EDF3"/>
                </a:solidFill>
                <a:latin typeface="Inconsolata"/>
              </a:rPr>
              <a:t>:</a:t>
            </a:r>
          </a:p>
          <a:p>
            <a:pPr>
              <a:lnSpc>
                <a:spcPct val="105686"/>
              </a:lnSpc>
              <a:spcAft>
                <a:spcPts val="0"/>
              </a:spcAft>
            </a:pPr>
            <a:r>
              <a:rPr sz="709" i="0">
                <a:solidFill>
                  <a:srgbClr val="5C6773"/>
                </a:solidFill>
                <a:latin typeface="Inconsolata"/>
              </a:rPr>
              <a:t>30  </a:t>
            </a:r>
            <a:r>
              <a:rPr sz="709" i="0">
                <a:solidFill>
                  <a:srgbClr val="E6EDF3"/>
                </a:solidFill>
                <a:latin typeface="Inconsolata"/>
              </a:rPr>
              <a:t>                log[key] = value                 </a:t>
            </a:r>
            <a:r>
              <a:rPr sz="709" i="1">
                <a:solidFill>
                  <a:srgbClr val="8B98A8"/>
                </a:solidFill>
                <a:latin typeface="Inconsolata"/>
              </a:rPr>
              <a:t># field dari extra</a:t>
            </a:r>
          </a:p>
          <a:p>
            <a:pPr>
              <a:lnSpc>
                <a:spcPct val="105686"/>
              </a:lnSpc>
              <a:spcAft>
                <a:spcPts val="0"/>
              </a:spcAft>
            </a:pPr>
            <a:r>
              <a:rPr sz="709" i="0">
                <a:solidFill>
                  <a:srgbClr val="5C6773"/>
                </a:solidFill>
                <a:latin typeface="Inconsolata"/>
              </a:rPr>
              <a:t>31  </a:t>
            </a:r>
            <a:r>
              <a:rPr sz="709" i="0">
                <a:solidFill>
                  <a:srgbClr val="E6EDF3"/>
                </a:solidFill>
                <a:latin typeface="Inconsolata"/>
              </a:rPr>
              <a:t>        </a:t>
            </a:r>
            <a:r>
              <a:rPr sz="709" i="0">
                <a:solidFill>
                  <a:srgbClr val="FF8E6E"/>
                </a:solidFill>
                <a:latin typeface="Inconsolata"/>
              </a:rPr>
              <a:t>return</a:t>
            </a:r>
            <a:r>
              <a:rPr sz="709" i="0">
                <a:solidFill>
                  <a:srgbClr val="E6EDF3"/>
                </a:solidFill>
                <a:latin typeface="Inconsolata"/>
              </a:rPr>
              <a:t> json.dumps(log)</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01-structured-logging/after.py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5686"/>
              </a:lnSpc>
              <a:spcAft>
                <a:spcPts val="0"/>
              </a:spcAft>
            </a:pPr>
            <a:r>
              <a:rPr sz="709" i="0">
                <a:solidFill>
                  <a:srgbClr val="5C6773"/>
                </a:solidFill>
                <a:latin typeface="Inconsolata"/>
              </a:rPr>
              <a:t>34  </a:t>
            </a:r>
            <a:r>
              <a:rPr sz="709" i="0">
                <a:solidFill>
                  <a:srgbClr val="E6EDF3"/>
                </a:solidFill>
                <a:latin typeface="Inconsolata"/>
              </a:rPr>
              <a:t>stream = io.</a:t>
            </a:r>
            <a:r>
              <a:rPr sz="709" i="0">
                <a:solidFill>
                  <a:srgbClr val="7FDBCA"/>
                </a:solidFill>
                <a:latin typeface="Inconsolata"/>
              </a:rPr>
              <a:t>StringIO</a:t>
            </a:r>
            <a:r>
              <a:rPr sz="709" i="0">
                <a:solidFill>
                  <a:srgbClr val="E6EDF3"/>
                </a:solidFill>
                <a:latin typeface="Inconsolata"/>
              </a:rPr>
              <a:t>()                   </a:t>
            </a:r>
            <a:r>
              <a:rPr sz="709" i="1">
                <a:solidFill>
                  <a:srgbClr val="8B98A8"/>
                </a:solidFill>
                <a:latin typeface="Inconsolata"/>
              </a:rPr>
              <a:t># tempat log, anggap: file log</a:t>
            </a:r>
          </a:p>
          <a:p>
            <a:pPr>
              <a:lnSpc>
                <a:spcPct val="105686"/>
              </a:lnSpc>
              <a:spcAft>
                <a:spcPts val="0"/>
              </a:spcAft>
            </a:pPr>
            <a:r>
              <a:rPr sz="709" i="0">
                <a:solidFill>
                  <a:srgbClr val="5C6773"/>
                </a:solidFill>
                <a:latin typeface="Inconsolata"/>
              </a:rPr>
              <a:t>35  </a:t>
            </a:r>
            <a:r>
              <a:rPr sz="709" i="0">
                <a:solidFill>
                  <a:srgbClr val="E6EDF3"/>
                </a:solidFill>
                <a:latin typeface="Inconsolata"/>
              </a:rPr>
              <a:t>handler = logging.</a:t>
            </a:r>
            <a:r>
              <a:rPr sz="709" i="0">
                <a:solidFill>
                  <a:srgbClr val="7FDBCA"/>
                </a:solidFill>
                <a:latin typeface="Inconsolata"/>
              </a:rPr>
              <a:t>StreamHandler</a:t>
            </a:r>
            <a:r>
              <a:rPr sz="709" i="0">
                <a:solidFill>
                  <a:srgbClr val="E6EDF3"/>
                </a:solidFill>
                <a:latin typeface="Inconsolata"/>
              </a:rPr>
              <a:t>(stream)</a:t>
            </a:r>
          </a:p>
          <a:p>
            <a:pPr>
              <a:lnSpc>
                <a:spcPct val="105686"/>
              </a:lnSpc>
              <a:spcAft>
                <a:spcPts val="0"/>
              </a:spcAft>
            </a:pPr>
            <a:r>
              <a:rPr sz="709" i="0">
                <a:solidFill>
                  <a:srgbClr val="5C6773"/>
                </a:solidFill>
                <a:latin typeface="Inconsolata"/>
              </a:rPr>
              <a:t>36  </a:t>
            </a:r>
            <a:r>
              <a:rPr sz="709" i="0">
                <a:solidFill>
                  <a:srgbClr val="E6EDF3"/>
                </a:solidFill>
                <a:latin typeface="Inconsolata"/>
              </a:rPr>
              <a:t>handler.setFormatter(</a:t>
            </a:r>
            <a:r>
              <a:rPr sz="709" i="0">
                <a:solidFill>
                  <a:srgbClr val="7FDBCA"/>
                </a:solidFill>
                <a:latin typeface="Inconsolata"/>
              </a:rPr>
              <a:t>JsonFormatter</a:t>
            </a:r>
            <a:r>
              <a:rPr sz="709" i="0">
                <a:solidFill>
                  <a:srgbClr val="E6EDF3"/>
                </a:solidFill>
                <a:latin typeface="Inconsolata"/>
              </a:rPr>
              <a:t>())</a:t>
            </a:r>
          </a:p>
          <a:p>
            <a:pPr>
              <a:lnSpc>
                <a:spcPct val="105686"/>
              </a:lnSpc>
              <a:spcAft>
                <a:spcPts val="0"/>
              </a:spcAft>
            </a:pPr>
            <a:r>
              <a:rPr sz="709" i="0">
                <a:solidFill>
                  <a:srgbClr val="5C6773"/>
                </a:solidFill>
                <a:latin typeface="Inconsolata"/>
              </a:rPr>
              <a:t>37  </a:t>
            </a:r>
            <a:r>
              <a:rPr sz="709" i="0">
                <a:solidFill>
                  <a:srgbClr val="E6EDF3"/>
                </a:solidFill>
                <a:latin typeface="Inconsolata"/>
              </a:rPr>
              <a:t>logging.basicConfig(level=logging.</a:t>
            </a:r>
            <a:r>
              <a:rPr sz="709" i="0">
                <a:solidFill>
                  <a:srgbClr val="7FDBCA"/>
                </a:solidFill>
                <a:latin typeface="Inconsolata"/>
              </a:rPr>
              <a:t>INFO</a:t>
            </a:r>
            <a:r>
              <a:rPr sz="709" i="0">
                <a:solidFill>
                  <a:srgbClr val="E6EDF3"/>
                </a:solidFill>
                <a:latin typeface="Inconsolata"/>
              </a:rPr>
              <a:t>, handlers=[handler])</a:t>
            </a:r>
          </a:p>
          <a:p>
            <a:pPr>
              <a:lnSpc>
                <a:spcPct val="105686"/>
              </a:lnSpc>
              <a:spcAft>
                <a:spcPts val="0"/>
              </a:spcAft>
            </a:pPr>
            <a:r>
              <a:rPr sz="709" i="0">
                <a:solidFill>
                  <a:srgbClr val="5C6773"/>
                </a:solidFill>
                <a:latin typeface="Inconsolata"/>
              </a:rPr>
              <a:t>38  </a:t>
            </a:r>
            <a:r>
              <a:rPr sz="709" i="0">
                <a:solidFill>
                  <a:srgbClr val="E6EDF3"/>
                </a:solidFill>
                <a:latin typeface="Inconsolata"/>
              </a:rPr>
              <a:t>logger = logging.getLogger(</a:t>
            </a:r>
            <a:r>
              <a:rPr sz="709" i="0">
                <a:solidFill>
                  <a:srgbClr val="A5D6A7"/>
                </a:solidFill>
                <a:latin typeface="Inconsolata"/>
              </a:rPr>
              <a:t>"orders"</a:t>
            </a:r>
            <a:r>
              <a:rPr sz="709" i="0">
                <a:solidFill>
                  <a:srgbClr val="E6EDF3"/>
                </a:solidFill>
                <a:latin typeface="Inconsolata"/>
              </a:rPr>
              <a:t>)</a:t>
            </a:r>
          </a:p>
          <a:p>
            <a:pPr>
              <a:lnSpc>
                <a:spcPct val="105686"/>
              </a:lnSpc>
              <a:spcAft>
                <a:spcPts val="0"/>
              </a:spcAft>
            </a:pPr>
            <a:r>
              <a:rPr sz="709" i="0">
                <a:solidFill>
                  <a:srgbClr val="5C6773"/>
                </a:solidFill>
                <a:latin typeface="Inconsolata"/>
              </a:rPr>
              <a:t>39  </a:t>
            </a:r>
            <a:r>
              <a:rPr sz="709" i="0">
                <a:solidFill>
                  <a:srgbClr val="E6EDF3"/>
                </a:solidFill>
                <a:latin typeface="Inconsolata"/>
              </a:rPr>
              <a:t> </a:t>
            </a:r>
          </a:p>
          <a:p>
            <a:pPr>
              <a:lnSpc>
                <a:spcPct val="105686"/>
              </a:lnSpc>
              <a:spcAft>
                <a:spcPts val="0"/>
              </a:spcAft>
            </a:pPr>
            <a:r>
              <a:rPr sz="709" i="0">
                <a:solidFill>
                  <a:srgbClr val="5C6773"/>
                </a:solidFill>
                <a:latin typeface="Inconsolata"/>
              </a:rPr>
              <a:t>40  </a:t>
            </a:r>
            <a:r>
              <a:rPr sz="709" i="0">
                <a:solidFill>
                  <a:srgbClr val="E6EDF3"/>
                </a:solidFill>
                <a:latin typeface="Inconsolata"/>
              </a:rPr>
              <a:t> </a:t>
            </a:r>
          </a:p>
          <a:p>
            <a:pPr>
              <a:lnSpc>
                <a:spcPct val="105686"/>
              </a:lnSpc>
              <a:spcAft>
                <a:spcPts val="0"/>
              </a:spcAft>
            </a:pPr>
            <a:r>
              <a:rPr sz="709" i="0">
                <a:solidFill>
                  <a:srgbClr val="5C6773"/>
                </a:solidFill>
                <a:latin typeface="Inconsolata"/>
              </a:rPr>
              <a:t>41  </a:t>
            </a:r>
            <a:r>
              <a:rPr sz="709" i="0">
                <a:solidFill>
                  <a:srgbClr val="FF8E6E"/>
                </a:solidFill>
                <a:latin typeface="Inconsolata"/>
              </a:rPr>
              <a:t>def</a:t>
            </a:r>
            <a:r>
              <a:rPr sz="709" i="0">
                <a:solidFill>
                  <a:srgbClr val="E6EDF3"/>
                </a:solidFill>
                <a:latin typeface="Inconsolata"/>
              </a:rPr>
              <a:t> </a:t>
            </a:r>
            <a:r>
              <a:rPr sz="709" i="0">
                <a:solidFill>
                  <a:srgbClr val="82B1FF"/>
                </a:solidFill>
                <a:latin typeface="Inconsolata"/>
              </a:rPr>
              <a:t>place_order</a:t>
            </a:r>
            <a:r>
              <a:rPr sz="709" i="0">
                <a:solidFill>
                  <a:srgbClr val="E6EDF3"/>
                </a:solidFill>
                <a:latin typeface="Inconsolata"/>
              </a:rPr>
              <a:t>(order_id: </a:t>
            </a:r>
            <a:r>
              <a:rPr sz="709" i="0">
                <a:solidFill>
                  <a:srgbClr val="C3A6FF"/>
                </a:solidFill>
                <a:latin typeface="Inconsolata"/>
              </a:rPr>
              <a:t>int</a:t>
            </a:r>
            <a:r>
              <a:rPr sz="709" i="0">
                <a:solidFill>
                  <a:srgbClr val="E6EDF3"/>
                </a:solidFill>
                <a:latin typeface="Inconsolata"/>
              </a:rPr>
              <a:t>, customer: </a:t>
            </a:r>
            <a:r>
              <a:rPr sz="709" i="0">
                <a:solidFill>
                  <a:srgbClr val="C3A6FF"/>
                </a:solidFill>
                <a:latin typeface="Inconsolata"/>
              </a:rPr>
              <a:t>str</a:t>
            </a:r>
            <a:r>
              <a:rPr sz="709" i="0">
                <a:solidFill>
                  <a:srgbClr val="E6EDF3"/>
                </a:solidFill>
                <a:latin typeface="Inconsolata"/>
              </a:rPr>
              <a:t>, total: </a:t>
            </a:r>
            <a:r>
              <a:rPr sz="709" i="0">
                <a:solidFill>
                  <a:srgbClr val="C3A6FF"/>
                </a:solidFill>
                <a:latin typeface="Inconsolata"/>
              </a:rPr>
              <a:t>int</a:t>
            </a:r>
            <a:r>
              <a:rPr sz="709" i="0">
                <a:solidFill>
                  <a:srgbClr val="E6EDF3"/>
                </a:solidFill>
                <a:latin typeface="Inconsolata"/>
              </a:rPr>
              <a:t>):</a:t>
            </a:r>
          </a:p>
          <a:p>
            <a:pPr>
              <a:lnSpc>
                <a:spcPct val="105686"/>
              </a:lnSpc>
              <a:spcAft>
                <a:spcPts val="0"/>
              </a:spcAft>
            </a:pPr>
            <a:r>
              <a:rPr sz="709" i="0">
                <a:solidFill>
                  <a:srgbClr val="5C6773"/>
                </a:solidFill>
                <a:latin typeface="Inconsolata"/>
              </a:rPr>
              <a:t>42  </a:t>
            </a:r>
            <a:r>
              <a:rPr sz="709" i="0">
                <a:solidFill>
                  <a:srgbClr val="E6EDF3"/>
                </a:solidFill>
                <a:latin typeface="Inconsolata"/>
              </a:rPr>
              <a:t>    fields = {</a:t>
            </a:r>
            <a:r>
              <a:rPr sz="709" i="0">
                <a:solidFill>
                  <a:srgbClr val="A5D6A7"/>
                </a:solidFill>
                <a:latin typeface="Inconsolata"/>
              </a:rPr>
              <a:t>"order_id"</a:t>
            </a:r>
            <a:r>
              <a:rPr sz="709" i="0">
                <a:solidFill>
                  <a:srgbClr val="E6EDF3"/>
                </a:solidFill>
                <a:latin typeface="Inconsolata"/>
              </a:rPr>
              <a:t>: order_id, </a:t>
            </a:r>
            <a:r>
              <a:rPr sz="709" i="0">
                <a:solidFill>
                  <a:srgbClr val="A5D6A7"/>
                </a:solidFill>
                <a:latin typeface="Inconsolata"/>
              </a:rPr>
              <a:t>"customer"</a:t>
            </a:r>
            <a:r>
              <a:rPr sz="709" i="0">
                <a:solidFill>
                  <a:srgbClr val="E6EDF3"/>
                </a:solidFill>
                <a:latin typeface="Inconsolata"/>
              </a:rPr>
              <a:t>: customer}</a:t>
            </a:r>
          </a:p>
          <a:p>
            <a:pPr>
              <a:lnSpc>
                <a:spcPct val="105686"/>
              </a:lnSpc>
              <a:spcAft>
                <a:spcPts val="0"/>
              </a:spcAft>
            </a:pPr>
            <a:r>
              <a:rPr sz="709" i="0">
                <a:solidFill>
                  <a:srgbClr val="5C6773"/>
                </a:solidFill>
                <a:latin typeface="Inconsolata"/>
              </a:rPr>
              <a:t>43  </a:t>
            </a:r>
            <a:r>
              <a:rPr sz="709" i="0">
                <a:solidFill>
                  <a:srgbClr val="E6EDF3"/>
                </a:solidFill>
                <a:latin typeface="Inconsolata"/>
              </a:rPr>
              <a:t>    logger.info(</a:t>
            </a:r>
            <a:r>
              <a:rPr sz="709" i="0">
                <a:solidFill>
                  <a:srgbClr val="A5D6A7"/>
                </a:solidFill>
                <a:latin typeface="Inconsolata"/>
              </a:rPr>
              <a:t>"order dibuat"</a:t>
            </a:r>
            <a:r>
              <a:rPr sz="709" i="0">
                <a:solidFill>
                  <a:srgbClr val="E6EDF3"/>
                </a:solidFill>
                <a:latin typeface="Inconsolata"/>
              </a:rPr>
              <a:t>, extra=fields)</a:t>
            </a:r>
          </a:p>
          <a:p>
            <a:pPr>
              <a:lnSpc>
                <a:spcPct val="105686"/>
              </a:lnSpc>
              <a:spcAft>
                <a:spcPts val="0"/>
              </a:spcAft>
            </a:pPr>
            <a:r>
              <a:rPr sz="709" i="0">
                <a:solidFill>
                  <a:srgbClr val="5C6773"/>
                </a:solidFill>
                <a:latin typeface="Inconsolata"/>
              </a:rPr>
              <a:t>44  </a:t>
            </a:r>
            <a:r>
              <a:rPr sz="709" i="0">
                <a:solidFill>
                  <a:srgbClr val="E6EDF3"/>
                </a:solidFill>
                <a:latin typeface="Inconsolata"/>
              </a:rPr>
              <a:t>    logger.info(</a:t>
            </a:r>
            <a:r>
              <a:rPr sz="709" i="0">
                <a:solidFill>
                  <a:srgbClr val="A5D6A7"/>
                </a:solidFill>
                <a:latin typeface="Inconsolata"/>
              </a:rPr>
              <a:t>"total dihitung"</a:t>
            </a:r>
            <a:r>
              <a:rPr sz="709" i="0">
                <a:solidFill>
                  <a:srgbClr val="E6EDF3"/>
                </a:solidFill>
                <a:latin typeface="Inconsolata"/>
              </a:rPr>
              <a:t>, extra={**fields, </a:t>
            </a:r>
            <a:r>
              <a:rPr sz="709" i="0">
                <a:solidFill>
                  <a:srgbClr val="A5D6A7"/>
                </a:solidFill>
                <a:latin typeface="Inconsolata"/>
              </a:rPr>
              <a:t>"total"</a:t>
            </a:r>
            <a:r>
              <a:rPr sz="709" i="0">
                <a:solidFill>
                  <a:srgbClr val="E6EDF3"/>
                </a:solidFill>
                <a:latin typeface="Inconsolata"/>
              </a:rPr>
              <a:t>: total})</a:t>
            </a:r>
          </a:p>
          <a:p>
            <a:pPr>
              <a:lnSpc>
                <a:spcPct val="105686"/>
              </a:lnSpc>
              <a:spcAft>
                <a:spcPts val="0"/>
              </a:spcAft>
            </a:pPr>
            <a:r>
              <a:rPr sz="709" i="0">
                <a:solidFill>
                  <a:srgbClr val="5C6773"/>
                </a:solidFill>
                <a:latin typeface="Inconsolata"/>
              </a:rPr>
              <a:t>45  </a:t>
            </a:r>
            <a:r>
              <a:rPr sz="709" i="0">
                <a:solidFill>
                  <a:srgbClr val="E6EDF3"/>
                </a:solidFill>
                <a:latin typeface="Inconsolata"/>
              </a:rPr>
              <a:t>    </a:t>
            </a:r>
            <a:r>
              <a:rPr sz="709" i="0">
                <a:solidFill>
                  <a:srgbClr val="FF8E6E"/>
                </a:solidFill>
                <a:latin typeface="Inconsolata"/>
              </a:rPr>
              <a:t>if</a:t>
            </a:r>
            <a:r>
              <a:rPr sz="709" i="0">
                <a:solidFill>
                  <a:srgbClr val="E6EDF3"/>
                </a:solidFill>
                <a:latin typeface="Inconsolata"/>
              </a:rPr>
              <a:t> total &gt; </a:t>
            </a:r>
            <a:r>
              <a:rPr sz="709" i="0">
                <a:solidFill>
                  <a:srgbClr val="F9C97A"/>
                </a:solidFill>
                <a:latin typeface="Inconsolata"/>
              </a:rPr>
              <a:t>1_000_000</a:t>
            </a:r>
            <a:r>
              <a:rPr sz="709" i="0">
                <a:solidFill>
                  <a:srgbClr val="E6EDF3"/>
                </a:solidFill>
                <a:latin typeface="Inconsolata"/>
              </a:rPr>
              <a:t>:</a:t>
            </a:r>
          </a:p>
          <a:p>
            <a:pPr>
              <a:lnSpc>
                <a:spcPct val="105686"/>
              </a:lnSpc>
              <a:spcAft>
                <a:spcPts val="0"/>
              </a:spcAft>
            </a:pPr>
            <a:r>
              <a:rPr sz="709" i="0">
                <a:solidFill>
                  <a:srgbClr val="5C6773"/>
                </a:solidFill>
                <a:latin typeface="Inconsolata"/>
              </a:rPr>
              <a:t>46  </a:t>
            </a:r>
            <a:r>
              <a:rPr sz="709" i="0">
                <a:solidFill>
                  <a:srgbClr val="E6EDF3"/>
                </a:solidFill>
                <a:latin typeface="Inconsolata"/>
              </a:rPr>
              <a:t>        logger.warning(</a:t>
            </a:r>
            <a:r>
              <a:rPr sz="709" i="0">
                <a:solidFill>
                  <a:srgbClr val="A5D6A7"/>
                </a:solidFill>
                <a:latin typeface="Inconsolata"/>
              </a:rPr>
              <a:t>"pembayaran ditolak"</a:t>
            </a:r>
            <a:r>
              <a:rPr sz="709" i="0">
                <a:solidFill>
                  <a:srgbClr val="E6EDF3"/>
                </a:solidFill>
                <a:latin typeface="Inconsolata"/>
              </a:rPr>
              <a:t>, extra=fields)</a:t>
            </a:r>
          </a:p>
          <a:p>
            <a:pPr>
              <a:lnSpc>
                <a:spcPct val="105686"/>
              </a:lnSpc>
              <a:spcAft>
                <a:spcPts val="0"/>
              </a:spcAft>
            </a:pPr>
            <a:r>
              <a:rPr sz="709" i="0">
                <a:solidFill>
                  <a:srgbClr val="5C6773"/>
                </a:solidFill>
                <a:latin typeface="Inconsolata"/>
              </a:rPr>
              <a:t>47  </a:t>
            </a:r>
            <a:r>
              <a:rPr sz="709" i="0">
                <a:solidFill>
                  <a:srgbClr val="E6EDF3"/>
                </a:solidFill>
                <a:latin typeface="Inconsolata"/>
              </a:rPr>
              <a:t> </a:t>
            </a:r>
          </a:p>
          <a:p>
            <a:pPr>
              <a:lnSpc>
                <a:spcPct val="105686"/>
              </a:lnSpc>
              <a:spcAft>
                <a:spcPts val="0"/>
              </a:spcAft>
            </a:pPr>
            <a:r>
              <a:rPr sz="709" i="0">
                <a:solidFill>
                  <a:srgbClr val="5C6773"/>
                </a:solidFill>
                <a:latin typeface="Inconsolata"/>
              </a:rPr>
              <a:t>48  </a:t>
            </a:r>
            <a:r>
              <a:rPr sz="709" i="0">
                <a:solidFill>
                  <a:srgbClr val="E6EDF3"/>
                </a:solidFill>
                <a:latin typeface="Inconsolata"/>
              </a:rPr>
              <a:t> </a:t>
            </a:r>
          </a:p>
          <a:p>
            <a:pPr>
              <a:lnSpc>
                <a:spcPct val="105686"/>
              </a:lnSpc>
              <a:spcAft>
                <a:spcPts val="0"/>
              </a:spcAft>
            </a:pPr>
            <a:r>
              <a:rPr sz="709" i="0">
                <a:solidFill>
                  <a:srgbClr val="5C6773"/>
                </a:solidFill>
                <a:latin typeface="Inconsolata"/>
              </a:rPr>
              <a:t>49  </a:t>
            </a:r>
            <a:r>
              <a:rPr sz="709" i="0">
                <a:solidFill>
                  <a:srgbClr val="FF8E6E"/>
                </a:solidFill>
                <a:latin typeface="Inconsolata"/>
              </a:rPr>
              <a:t>if</a:t>
            </a:r>
            <a:r>
              <a:rPr sz="709" i="0">
                <a:solidFill>
                  <a:srgbClr val="E6EDF3"/>
                </a:solidFill>
                <a:latin typeface="Inconsolata"/>
              </a:rPr>
              <a:t> __name__ == </a:t>
            </a:r>
            <a:r>
              <a:rPr sz="709" i="0">
                <a:solidFill>
                  <a:srgbClr val="A5D6A7"/>
                </a:solidFill>
                <a:latin typeface="Inconsolata"/>
              </a:rPr>
              <a:t>"__main__"</a:t>
            </a:r>
            <a:r>
              <a:rPr sz="709" i="0">
                <a:solidFill>
                  <a:srgbClr val="E6EDF3"/>
                </a:solidFill>
                <a:latin typeface="Inconsolata"/>
              </a:rPr>
              <a:t>:</a:t>
            </a:r>
          </a:p>
          <a:p>
            <a:pPr>
              <a:lnSpc>
                <a:spcPct val="105686"/>
              </a:lnSpc>
              <a:spcAft>
                <a:spcPts val="0"/>
              </a:spcAft>
            </a:pPr>
            <a:r>
              <a:rPr sz="709" i="0">
                <a:solidFill>
                  <a:srgbClr val="5C6773"/>
                </a:solidFill>
                <a:latin typeface="Inconsolata"/>
              </a:rPr>
              <a:t>50  </a:t>
            </a:r>
            <a:r>
              <a:rPr sz="709" i="0">
                <a:solidFill>
                  <a:srgbClr val="E6EDF3"/>
                </a:solidFill>
                <a:latin typeface="Inconsolata"/>
              </a:rPr>
              <a:t>    place_order(</a:t>
            </a:r>
            <a:r>
              <a:rPr sz="709" i="0">
                <a:solidFill>
                  <a:srgbClr val="F9C97A"/>
                </a:solidFill>
                <a:latin typeface="Inconsolata"/>
              </a:rPr>
              <a:t>1</a:t>
            </a:r>
            <a:r>
              <a:rPr sz="709" i="0">
                <a:solidFill>
                  <a:srgbClr val="E6EDF3"/>
                </a:solidFill>
                <a:latin typeface="Inconsolata"/>
              </a:rPr>
              <a:t>, </a:t>
            </a:r>
            <a:r>
              <a:rPr sz="709" i="0">
                <a:solidFill>
                  <a:srgbClr val="A5D6A7"/>
                </a:solidFill>
                <a:latin typeface="Inconsolata"/>
              </a:rPr>
              <a:t>"ani@mail.com"</a:t>
            </a:r>
            <a:r>
              <a:rPr sz="709" i="0">
                <a:solidFill>
                  <a:srgbClr val="E6EDF3"/>
                </a:solidFill>
                <a:latin typeface="Inconsolata"/>
              </a:rPr>
              <a:t>, </a:t>
            </a:r>
            <a:r>
              <a:rPr sz="709" i="0">
                <a:solidFill>
                  <a:srgbClr val="F9C97A"/>
                </a:solidFill>
                <a:latin typeface="Inconsolata"/>
              </a:rPr>
              <a:t>300_000</a:t>
            </a:r>
            <a:r>
              <a:rPr sz="709" i="0">
                <a:solidFill>
                  <a:srgbClr val="E6EDF3"/>
                </a:solidFill>
                <a:latin typeface="Inconsolata"/>
              </a:rPr>
              <a:t>)</a:t>
            </a:r>
          </a:p>
          <a:p>
            <a:pPr>
              <a:lnSpc>
                <a:spcPct val="105686"/>
              </a:lnSpc>
              <a:spcAft>
                <a:spcPts val="0"/>
              </a:spcAft>
            </a:pPr>
            <a:r>
              <a:rPr sz="709" i="0">
                <a:solidFill>
                  <a:srgbClr val="5C6773"/>
                </a:solidFill>
                <a:latin typeface="Inconsolata"/>
              </a:rPr>
              <a:t>51  </a:t>
            </a:r>
            <a:r>
              <a:rPr sz="709" i="0">
                <a:solidFill>
                  <a:srgbClr val="E6EDF3"/>
                </a:solidFill>
                <a:latin typeface="Inconsolata"/>
              </a:rPr>
              <a:t>    place_order(</a:t>
            </a:r>
            <a:r>
              <a:rPr sz="709" i="0">
                <a:solidFill>
                  <a:srgbClr val="F9C97A"/>
                </a:solidFill>
                <a:latin typeface="Inconsolata"/>
              </a:rPr>
              <a:t>2</a:t>
            </a:r>
            <a:r>
              <a:rPr sz="709" i="0">
                <a:solidFill>
                  <a:srgbClr val="E6EDF3"/>
                </a:solidFill>
                <a:latin typeface="Inconsolata"/>
              </a:rPr>
              <a:t>, </a:t>
            </a:r>
            <a:r>
              <a:rPr sz="709" i="0">
                <a:solidFill>
                  <a:srgbClr val="A5D6A7"/>
                </a:solidFill>
                <a:latin typeface="Inconsolata"/>
              </a:rPr>
              <a:t>"budi@mail.com"</a:t>
            </a:r>
            <a:r>
              <a:rPr sz="709" i="0">
                <a:solidFill>
                  <a:srgbClr val="E6EDF3"/>
                </a:solidFill>
                <a:latin typeface="Inconsolata"/>
              </a:rPr>
              <a:t>, </a:t>
            </a:r>
            <a:r>
              <a:rPr sz="709" i="0">
                <a:solidFill>
                  <a:srgbClr val="F9C97A"/>
                </a:solidFill>
                <a:latin typeface="Inconsolata"/>
              </a:rPr>
              <a:t>1_500_000</a:t>
            </a:r>
            <a:r>
              <a:rPr sz="709" i="0">
                <a:solidFill>
                  <a:srgbClr val="E6EDF3"/>
                </a:solidFill>
                <a:latin typeface="Inconsolata"/>
              </a:rPr>
              <a:t>)</a:t>
            </a:r>
          </a:p>
          <a:p>
            <a:pPr>
              <a:lnSpc>
                <a:spcPct val="105686"/>
              </a:lnSpc>
              <a:spcAft>
                <a:spcPts val="0"/>
              </a:spcAft>
            </a:pPr>
            <a:r>
              <a:rPr sz="709" i="0">
                <a:solidFill>
                  <a:srgbClr val="5C6773"/>
                </a:solidFill>
                <a:latin typeface="Inconsolata"/>
              </a:rPr>
              <a:t>52  </a:t>
            </a:r>
            <a:r>
              <a:rPr sz="709" i="0">
                <a:solidFill>
                  <a:srgbClr val="E6EDF3"/>
                </a:solidFill>
                <a:latin typeface="Inconsolata"/>
              </a:rPr>
              <a:t> </a:t>
            </a:r>
          </a:p>
          <a:p>
            <a:pPr>
              <a:lnSpc>
                <a:spcPct val="105686"/>
              </a:lnSpc>
              <a:spcAft>
                <a:spcPts val="0"/>
              </a:spcAft>
            </a:pPr>
            <a:r>
              <a:rPr sz="709" i="0">
                <a:solidFill>
                  <a:srgbClr val="5C6773"/>
                </a:solidFill>
                <a:latin typeface="Inconsolata"/>
              </a:rPr>
              <a:t>53  </a:t>
            </a:r>
            <a:r>
              <a:rPr sz="709" i="0">
                <a:solidFill>
                  <a:srgbClr val="E6EDF3"/>
                </a:solidFill>
                <a:latin typeface="Inconsolata"/>
              </a:rPr>
              <a:t>    lines = stream.getvalue().splitlines()</a:t>
            </a:r>
          </a:p>
          <a:p>
            <a:pPr>
              <a:lnSpc>
                <a:spcPct val="105686"/>
              </a:lnSpc>
              <a:spcAft>
                <a:spcPts val="0"/>
              </a:spcAft>
            </a:pPr>
            <a:r>
              <a:rPr sz="709" i="0">
                <a:solidFill>
                  <a:srgbClr val="5C6773"/>
                </a:solidFill>
                <a:latin typeface="Inconsolata"/>
              </a:rPr>
              <a:t>54  </a:t>
            </a:r>
            <a:r>
              <a:rPr sz="709" i="0">
                <a:solidFill>
                  <a:srgbClr val="E6EDF3"/>
                </a:solidFill>
                <a:latin typeface="Inconsolata"/>
              </a:rPr>
              <a:t>    </a:t>
            </a:r>
            <a:r>
              <a:rPr sz="709" i="0">
                <a:solidFill>
                  <a:srgbClr val="C3A6FF"/>
                </a:solidFill>
                <a:latin typeface="Inconsolata"/>
              </a:rPr>
              <a:t>print</a:t>
            </a:r>
            <a:r>
              <a:rPr sz="709" i="0">
                <a:solidFill>
                  <a:srgbClr val="E6EDF3"/>
                </a:solidFill>
                <a:latin typeface="Inconsolata"/>
              </a:rPr>
              <a:t>(</a:t>
            </a:r>
            <a:r>
              <a:rPr sz="709" i="0">
                <a:solidFill>
                  <a:srgbClr val="A5D6A7"/>
                </a:solidFill>
                <a:latin typeface="Inconsolata"/>
              </a:rPr>
              <a:t>"\n"</a:t>
            </a:r>
            <a:r>
              <a:rPr sz="709" i="0">
                <a:solidFill>
                  <a:srgbClr val="E6EDF3"/>
                </a:solidFill>
                <a:latin typeface="Inconsolata"/>
              </a:rPr>
              <a:t>.join(lines))</a:t>
            </a:r>
          </a:p>
          <a:p>
            <a:pPr>
              <a:lnSpc>
                <a:spcPct val="105686"/>
              </a:lnSpc>
              <a:spcAft>
                <a:spcPts val="0"/>
              </a:spcAft>
            </a:pPr>
            <a:r>
              <a:rPr sz="709" i="0">
                <a:solidFill>
                  <a:srgbClr val="5C6773"/>
                </a:solidFill>
                <a:latin typeface="Inconsolata"/>
              </a:rPr>
              <a:t>55  </a:t>
            </a:r>
            <a:r>
              <a:rPr sz="709" i="0">
                <a:solidFill>
                  <a:srgbClr val="E6EDF3"/>
                </a:solidFill>
                <a:latin typeface="Inconsolata"/>
              </a:rPr>
              <a:t>    found = [line </a:t>
            </a:r>
            <a:r>
              <a:rPr sz="709" i="0">
                <a:solidFill>
                  <a:srgbClr val="FF8E6E"/>
                </a:solidFill>
                <a:latin typeface="Inconsolata"/>
              </a:rPr>
              <a:t>for</a:t>
            </a:r>
            <a:r>
              <a:rPr sz="709" i="0">
                <a:solidFill>
                  <a:srgbClr val="E6EDF3"/>
                </a:solidFill>
                <a:latin typeface="Inconsolata"/>
              </a:rPr>
              <a:t> line </a:t>
            </a:r>
            <a:r>
              <a:rPr sz="709" i="0">
                <a:solidFill>
                  <a:srgbClr val="FF8E6E"/>
                </a:solidFill>
                <a:latin typeface="Inconsolata"/>
              </a:rPr>
              <a:t>in</a:t>
            </a:r>
            <a:r>
              <a:rPr sz="709" i="0">
                <a:solidFill>
                  <a:srgbClr val="E6EDF3"/>
                </a:solidFill>
                <a:latin typeface="Inconsolata"/>
              </a:rPr>
              <a:t> lines</a:t>
            </a:r>
          </a:p>
          <a:p>
            <a:pPr>
              <a:lnSpc>
                <a:spcPct val="105686"/>
              </a:lnSpc>
              <a:spcAft>
                <a:spcPts val="0"/>
              </a:spcAft>
            </a:pPr>
            <a:r>
              <a:rPr sz="709" i="0">
                <a:solidFill>
                  <a:srgbClr val="5C6773"/>
                </a:solidFill>
                <a:latin typeface="Inconsolata"/>
              </a:rPr>
              <a:t>56  </a:t>
            </a:r>
            <a:r>
              <a:rPr sz="709" i="0">
                <a:solidFill>
                  <a:srgbClr val="E6EDF3"/>
                </a:solidFill>
                <a:latin typeface="Inconsolata"/>
              </a:rPr>
              <a:t>             </a:t>
            </a:r>
            <a:r>
              <a:rPr sz="709" i="0">
                <a:solidFill>
                  <a:srgbClr val="FF8E6E"/>
                </a:solidFill>
                <a:latin typeface="Inconsolata"/>
              </a:rPr>
              <a:t>if</a:t>
            </a:r>
            <a:r>
              <a:rPr sz="709" i="0">
                <a:solidFill>
                  <a:srgbClr val="E6EDF3"/>
                </a:solidFill>
                <a:latin typeface="Inconsolata"/>
              </a:rPr>
              <a:t> json.loads(line)[</a:t>
            </a:r>
            <a:r>
              <a:rPr sz="709" i="0">
                <a:solidFill>
                  <a:srgbClr val="A5D6A7"/>
                </a:solidFill>
                <a:latin typeface="Inconsolata"/>
              </a:rPr>
              <a:t>"order_id"</a:t>
            </a:r>
            <a:r>
              <a:rPr sz="709" i="0">
                <a:solidFill>
                  <a:srgbClr val="E6EDF3"/>
                </a:solidFill>
                <a:latin typeface="Inconsolata"/>
              </a:rPr>
              <a:t>] == </a:t>
            </a:r>
            <a:r>
              <a:rPr sz="709" i="0">
                <a:solidFill>
                  <a:srgbClr val="F9C97A"/>
                </a:solidFill>
                <a:latin typeface="Inconsolata"/>
              </a:rPr>
              <a:t>2</a:t>
            </a:r>
            <a:r>
              <a:rPr sz="709" i="0">
                <a:solidFill>
                  <a:srgbClr val="E6EDF3"/>
                </a:solidFill>
                <a:latin typeface="Inconsolata"/>
              </a:rPr>
              <a:t>]</a:t>
            </a:r>
          </a:p>
          <a:p>
            <a:pPr>
              <a:lnSpc>
                <a:spcPct val="105686"/>
              </a:lnSpc>
              <a:spcAft>
                <a:spcPts val="0"/>
              </a:spcAft>
            </a:pPr>
            <a:r>
              <a:rPr sz="709" i="0">
                <a:solidFill>
                  <a:srgbClr val="5C6773"/>
                </a:solidFill>
                <a:latin typeface="Inconsolata"/>
              </a:rPr>
              <a:t>57  </a:t>
            </a:r>
            <a:r>
              <a:rPr sz="709" i="0">
                <a:solidFill>
                  <a:srgbClr val="E6EDF3"/>
                </a:solidFill>
                <a:latin typeface="Inconsolata"/>
              </a:rPr>
              <a:t>    </a:t>
            </a:r>
            <a:r>
              <a:rPr sz="709" i="0">
                <a:solidFill>
                  <a:srgbClr val="C3A6FF"/>
                </a:solidFill>
                <a:latin typeface="Inconsolata"/>
              </a:rPr>
              <a:t>print</a:t>
            </a:r>
            <a:r>
              <a:rPr sz="709" i="0">
                <a:solidFill>
                  <a:srgbClr val="E6EDF3"/>
                </a:solidFill>
                <a:latin typeface="Inconsolata"/>
              </a:rPr>
              <a:t>(</a:t>
            </a:r>
            <a:r>
              <a:rPr sz="709" i="0">
                <a:solidFill>
                  <a:srgbClr val="A5D6A7"/>
                </a:solidFill>
                <a:latin typeface="Inconsolata"/>
              </a:rPr>
              <a:t>f"\nFilter order_id == 2: {len(found)} dari 3 log order 2"</a:t>
            </a:r>
            <a:r>
              <a:rPr sz="709" i="0">
                <a:solidFill>
                  <a:srgbClr val="E6EDF3"/>
                </a:solidFill>
                <a:latin typeface="Inconsolata"/>
              </a:rPr>
              <a:t>)</a:t>
            </a:r>
          </a:p>
        </p:txBody>
      </p:sp>
      <p:sp>
        <p:nvSpPr>
          <p:cNvPr id="36" name="Box 21"/>
          <p:cNvSpPr/>
          <p:nvPr/>
        </p:nvSpPr>
        <p:spPr>
          <a:xfrm>
            <a:off x="704088" y="2854071"/>
            <a:ext cx="3694176" cy="1479042"/>
          </a:xfrm>
          <a:prstGeom prst="roundRect">
            <a:avLst>
              <a:gd name="adj" fmla="val 3091"/>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34747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2739771"/>
            <a:ext cx="3694176" cy="564642"/>
          </a:xfrm>
          <a:prstGeom prst="roundRect">
            <a:avLst>
              <a:gd name="adj" fmla="val 80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29032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40" name="Box 25"/>
          <p:cNvSpPr/>
          <p:nvPr/>
        </p:nvSpPr>
        <p:spPr>
          <a:xfrm>
            <a:off x="4709159" y="4339971"/>
            <a:ext cx="3694176" cy="107442"/>
          </a:xfrm>
          <a:prstGeom prst="roundRect">
            <a:avLst>
              <a:gd name="adj" fmla="val 42553"/>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8284463" y="42748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Structured Logging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01-structured-logging/after.py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sesi-09-observability/01-structured-logging</a:t>
            </a:r>
          </a:p>
          <a:p>
            <a:pPr>
              <a:lnSpc>
                <a:spcPct val="111111"/>
              </a:lnSpc>
              <a:spcAft>
                <a:spcPts val="0"/>
              </a:spcAft>
            </a:pPr>
            <a:r>
              <a:rPr sz="900" i="0">
                <a:solidFill>
                  <a:srgbClr val="82B1FF"/>
                </a:solidFill>
                <a:latin typeface="Inconsolata"/>
              </a:rPr>
              <a:t>$ python after.py</a:t>
            </a:r>
          </a:p>
        </p:txBody>
      </p:sp>
      <p:pic>
        <p:nvPicPr>
          <p:cNvPr id="29" name="Image 12" descr="s09-01-structured-logging-after.png"/>
          <p:cNvPicPr>
            <a:picLocks noChangeAspect="1"/>
          </p:cNvPicPr>
          <p:nvPr/>
        </p:nvPicPr>
        <p:blipFill>
          <a:blip r:embed="rId2"/>
          <a:stretch>
            <a:fillRect/>
          </a:stretch>
        </p:blipFill>
        <p:spPr>
          <a:xfrm>
            <a:off x="621792" y="2322576"/>
            <a:ext cx="4191629" cy="2377440"/>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B5482A"/>
                </a:solidFill>
                <a:latin typeface="Inconsolata"/>
              </a:rPr>
              <a:t>JsonFormatter</a:t>
            </a:r>
            <a:r>
              <a:rPr sz="950" b="0" i="0">
                <a:solidFill>
                  <a:srgbClr val="434343"/>
                </a:solidFill>
                <a:latin typeface="Inter"/>
              </a:rPr>
              <a:t> menyusun field tetap, lalu menambahkan field dari </a:t>
            </a:r>
            <a:r>
              <a:rPr sz="950" b="0" i="0">
                <a:solidFill>
                  <a:srgbClr val="B5482A"/>
                </a:solidFill>
                <a:latin typeface="Inconsolata"/>
              </a:rPr>
              <a:t>extra</a:t>
            </a:r>
            <a:r>
              <a:rPr sz="950" b="0" i="0">
                <a:solidFill>
                  <a:srgbClr val="434343"/>
                </a:solidFill>
                <a:latin typeface="Inter"/>
              </a:rPr>
              <a:t> (baris 19-31)</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Data order dikirim sebagai field, kalimatnya pendek dan sama (baris 42-46)</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Log dicari dengan field, bukan teks (baris 56)</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Semua 3 log order 2 ditemukan.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Correlation ID</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Correlation ID?</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Correlation ID adalah</a:t>
            </a:r>
          </a:p>
          <a:p>
            <a:pPr algn="l">
              <a:lnSpc>
                <a:spcPct val="115000"/>
              </a:lnSpc>
              <a:spcAft>
                <a:spcPts val="400"/>
              </a:spcAft>
            </a:pPr>
            <a:r>
              <a:rPr sz="900" b="0" i="0">
                <a:solidFill>
                  <a:srgbClr val="434343"/>
                </a:solidFill>
                <a:latin typeface="Inter"/>
              </a:rPr>
              <a:t>Design pattern yang memberi setiap request sebuah id unik (</a:t>
            </a:r>
            <a:r>
              <a:rPr sz="900" b="1" i="0">
                <a:solidFill>
                  <a:srgbClr val="434343"/>
                </a:solidFill>
                <a:latin typeface="Inter"/>
              </a:rPr>
              <a:t>request_id</a:t>
            </a:r>
            <a:r>
              <a:rPr sz="900" b="0" i="0">
                <a:solidFill>
                  <a:srgbClr val="434343"/>
                </a:solidFill>
                <a:latin typeface="Inter"/>
              </a:rPr>
              <a:t>), lalu menempelkan id itu ke semua log selama request diproses. Sehingga log dari banyak request yang berjalan bersamaan bisa dipisahkan lagi.</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Mengumpulkan semua log milik satu request</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Memberi customer dan tim support nomor yang bisa dicari di log</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Menyambungkan log antar service lewat header </a:t>
            </a:r>
            <a:r>
              <a:rPr sz="900" b="0" i="0">
                <a:solidFill>
                  <a:srgbClr val="B5482A"/>
                </a:solidFill>
                <a:latin typeface="Inconsolata"/>
              </a:rPr>
              <a:t>X-Request-ID</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tanpa request_id: 02-correlation-id/before.py</a:t>
            </a:r>
          </a:p>
        </p:txBody>
      </p:sp>
      <p:sp>
        <p:nvSpPr>
          <p:cNvPr id="28" name="CodeBg 11"/>
          <p:cNvSpPr/>
          <p:nvPr/>
        </p:nvSpPr>
        <p:spPr>
          <a:xfrm>
            <a:off x="4297680" y="1719072"/>
            <a:ext cx="4187951" cy="868680"/>
          </a:xfrm>
          <a:prstGeom prst="roundRect">
            <a:avLst>
              <a:gd name="adj" fmla="val 210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868680"/>
          </a:xfrm>
          <a:prstGeom prst="rect">
            <a:avLst/>
          </a:prstGeom>
          <a:noFill/>
        </p:spPr>
        <p:txBody>
          <a:bodyPr wrap="none" lIns="146304" tIns="91440" rIns="146304" bIns="54864">
            <a:spAutoFit/>
          </a:bodyPr>
          <a:lstStyle/>
          <a:p>
            <a:pPr>
              <a:lnSpc>
                <a:spcPct val="107843"/>
              </a:lnSpc>
              <a:spcAft>
                <a:spcPts val="0"/>
              </a:spcAft>
            </a:pPr>
            <a:r>
              <a:rPr sz="850" i="0">
                <a:solidFill>
                  <a:srgbClr val="E6EDF3"/>
                </a:solidFill>
                <a:latin typeface="Inconsolata"/>
              </a:rPr>
              <a:t>    logger.info(</a:t>
            </a:r>
            <a:r>
              <a:rPr sz="850" i="0">
                <a:solidFill>
                  <a:srgbClr val="A5D6A7"/>
                </a:solidFill>
                <a:latin typeface="Inconsolata"/>
              </a:rPr>
              <a:t>"simpan order"</a:t>
            </a:r>
            <a:r>
              <a:rPr sz="850" i="0">
                <a:solidFill>
                  <a:srgbClr val="E6EDF3"/>
                </a:solidFill>
                <a:latin typeface="Inconsolata"/>
              </a:rPr>
              <a:t>)</a:t>
            </a:r>
          </a:p>
          <a:p>
            <a:pPr>
              <a:lnSpc>
                <a:spcPct val="107843"/>
              </a:lnSpc>
              <a:spcAft>
                <a:spcPts val="0"/>
              </a:spcAft>
            </a:pPr>
            <a:r>
              <a:rPr sz="850" i="0">
                <a:solidFill>
                  <a:srgbClr val="E6EDF3"/>
                </a:solidFill>
                <a:latin typeface="Inconsolata"/>
              </a:rPr>
              <a:t>    </a:t>
            </a:r>
            <a:r>
              <a:rPr sz="850" i="0">
                <a:solidFill>
                  <a:srgbClr val="FF8E6E"/>
                </a:solidFill>
                <a:latin typeface="Inconsolata"/>
              </a:rPr>
              <a:t>await</a:t>
            </a:r>
            <a:r>
              <a:rPr sz="850" i="0">
                <a:solidFill>
                  <a:srgbClr val="E6EDF3"/>
                </a:solidFill>
                <a:latin typeface="Inconsolata"/>
              </a:rPr>
              <a:t> asyncio.sleep(</a:t>
            </a:r>
            <a:r>
              <a:rPr sz="850" i="0">
                <a:solidFill>
                  <a:srgbClr val="F9C97A"/>
                </a:solidFill>
                <a:latin typeface="Inconsolata"/>
              </a:rPr>
              <a:t>0</a:t>
            </a:r>
            <a:r>
              <a:rPr sz="850" i="0">
                <a:solidFill>
                  <a:srgbClr val="E6EDF3"/>
                </a:solidFill>
                <a:latin typeface="Inconsolata"/>
              </a:rPr>
              <a:t>.</a:t>
            </a:r>
            <a:r>
              <a:rPr sz="850" i="0">
                <a:solidFill>
                  <a:srgbClr val="F9C97A"/>
                </a:solidFill>
                <a:latin typeface="Inconsolata"/>
              </a:rPr>
              <a:t>1</a:t>
            </a:r>
            <a:r>
              <a:rPr sz="850" i="0">
                <a:solidFill>
                  <a:srgbClr val="E6EDF3"/>
                </a:solidFill>
                <a:latin typeface="Inconsolata"/>
              </a:rPr>
              <a:t>)         </a:t>
            </a:r>
            <a:r>
              <a:rPr sz="850" i="1">
                <a:solidFill>
                  <a:srgbClr val="8B98A8"/>
                </a:solidFill>
                <a:latin typeface="Inconsolata"/>
              </a:rPr>
              <a:t># anggap: menyimpan ke database</a:t>
            </a:r>
          </a:p>
          <a:p>
            <a:pPr>
              <a:lnSpc>
                <a:spcPct val="107843"/>
              </a:lnSpc>
              <a:spcAft>
                <a:spcPts val="0"/>
              </a:spcAft>
            </a:pPr>
            <a:r>
              <a:rPr sz="850" i="0">
                <a:solidFill>
                  <a:srgbClr val="E6EDF3"/>
                </a:solidFill>
                <a:latin typeface="Inconsolata"/>
              </a:rPr>
              <a:t>    logger.info(</a:t>
            </a:r>
            <a:r>
              <a:rPr sz="850" i="0">
                <a:solidFill>
                  <a:srgbClr val="A5D6A7"/>
                </a:solidFill>
                <a:latin typeface="Inconsolata"/>
              </a:rPr>
              <a:t>"kirim event order.placed"</a:t>
            </a:r>
            <a:r>
              <a:rPr sz="850" i="0">
                <a:solidFill>
                  <a:srgbClr val="E6EDF3"/>
                </a:solidFill>
                <a:latin typeface="Inconsolata"/>
              </a:rPr>
              <a:t>)</a:t>
            </a:r>
          </a:p>
        </p:txBody>
      </p:sp>
      <p:sp>
        <p:nvSpPr>
          <p:cNvPr id="30" name="Box 13"/>
          <p:cNvSpPr/>
          <p:nvPr/>
        </p:nvSpPr>
        <p:spPr>
          <a:xfrm>
            <a:off x="4379976" y="1828673"/>
            <a:ext cx="4023359" cy="410718"/>
          </a:xfrm>
          <a:prstGeom prst="roundRect">
            <a:avLst>
              <a:gd name="adj" fmla="val 11131"/>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2679192"/>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2756916"/>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2756916"/>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2756916"/>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2688336"/>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middleware request_id: 02-correlation-id/after.py</a:t>
            </a:r>
          </a:p>
        </p:txBody>
      </p:sp>
      <p:sp>
        <p:nvSpPr>
          <p:cNvPr id="36" name="CodeBg 21"/>
          <p:cNvSpPr/>
          <p:nvPr/>
        </p:nvSpPr>
        <p:spPr>
          <a:xfrm>
            <a:off x="4297680" y="2916936"/>
            <a:ext cx="4187951" cy="1783079"/>
          </a:xfrm>
          <a:prstGeom prst="roundRect">
            <a:avLst>
              <a:gd name="adj" fmla="val 102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2916936"/>
            <a:ext cx="4187951" cy="1783079"/>
          </a:xfrm>
          <a:prstGeom prst="rect">
            <a:avLst/>
          </a:prstGeom>
          <a:noFill/>
        </p:spPr>
        <p:txBody>
          <a:bodyPr wrap="none" lIns="146304" tIns="91440" rIns="146304" bIns="54864">
            <a:spAutoFit/>
          </a:bodyPr>
          <a:lstStyle/>
          <a:p>
            <a:pPr>
              <a:lnSpc>
                <a:spcPct val="111111"/>
              </a:lnSpc>
              <a:spcAft>
                <a:spcPts val="0"/>
              </a:spcAft>
            </a:pPr>
            <a:r>
              <a:rPr sz="825" i="0">
                <a:solidFill>
                  <a:srgbClr val="FF8E6E"/>
                </a:solidFill>
                <a:latin typeface="Inconsolata"/>
              </a:rPr>
              <a:t>async</a:t>
            </a:r>
            <a:r>
              <a:rPr sz="825" i="0">
                <a:solidFill>
                  <a:srgbClr val="E6EDF3"/>
                </a:solidFill>
                <a:latin typeface="Inconsolata"/>
              </a:rPr>
              <a:t> </a:t>
            </a:r>
            <a:r>
              <a:rPr sz="825" i="0">
                <a:solidFill>
                  <a:srgbClr val="FF8E6E"/>
                </a:solidFill>
                <a:latin typeface="Inconsolata"/>
              </a:rPr>
              <a:t>def</a:t>
            </a:r>
            <a:r>
              <a:rPr sz="825" i="0">
                <a:solidFill>
                  <a:srgbClr val="E6EDF3"/>
                </a:solidFill>
                <a:latin typeface="Inconsolata"/>
              </a:rPr>
              <a:t> </a:t>
            </a:r>
            <a:r>
              <a:rPr sz="825" i="0">
                <a:solidFill>
                  <a:srgbClr val="82B1FF"/>
                </a:solidFill>
                <a:latin typeface="Inconsolata"/>
              </a:rPr>
              <a:t>add_request_id</a:t>
            </a:r>
            <a:r>
              <a:rPr sz="825" i="0">
                <a:solidFill>
                  <a:srgbClr val="E6EDF3"/>
                </a:solidFill>
                <a:latin typeface="Inconsolata"/>
              </a:rPr>
              <a:t>(request: </a:t>
            </a:r>
            <a:r>
              <a:rPr sz="825" i="0">
                <a:solidFill>
                  <a:srgbClr val="7FDBCA"/>
                </a:solidFill>
                <a:latin typeface="Inconsolata"/>
              </a:rPr>
              <a:t>Request</a:t>
            </a:r>
            <a:r>
              <a:rPr sz="825" i="0">
                <a:solidFill>
                  <a:srgbClr val="E6EDF3"/>
                </a:solidFill>
                <a:latin typeface="Inconsolata"/>
              </a:rPr>
              <a:t>, call_next):</a:t>
            </a:r>
          </a:p>
          <a:p>
            <a:pPr>
              <a:lnSpc>
                <a:spcPct val="111111"/>
              </a:lnSpc>
              <a:spcAft>
                <a:spcPts val="0"/>
              </a:spcAft>
            </a:pPr>
            <a:r>
              <a:rPr sz="825" i="0">
                <a:solidFill>
                  <a:srgbClr val="E6EDF3"/>
                </a:solidFill>
                <a:latin typeface="Inconsolata"/>
              </a:rPr>
              <a:t>    request_id = (request.headers.get(</a:t>
            </a:r>
            <a:r>
              <a:rPr sz="825" i="0">
                <a:solidFill>
                  <a:srgbClr val="A5D6A7"/>
                </a:solidFill>
                <a:latin typeface="Inconsolata"/>
              </a:rPr>
              <a:t>"X-Request-ID"</a:t>
            </a:r>
            <a:r>
              <a:rPr sz="825" i="0">
                <a:solidFill>
                  <a:srgbClr val="E6EDF3"/>
                </a:solidFill>
                <a:latin typeface="Inconsolata"/>
              </a:rPr>
              <a:t>)</a:t>
            </a:r>
          </a:p>
          <a:p>
            <a:pPr>
              <a:lnSpc>
                <a:spcPct val="111111"/>
              </a:lnSpc>
              <a:spcAft>
                <a:spcPts val="0"/>
              </a:spcAft>
            </a:pPr>
            <a:r>
              <a:rPr sz="825" i="0">
                <a:solidFill>
                  <a:srgbClr val="E6EDF3"/>
                </a:solidFill>
                <a:latin typeface="Inconsolata"/>
              </a:rPr>
              <a:t>                  </a:t>
            </a:r>
            <a:r>
              <a:rPr sz="825" i="0">
                <a:solidFill>
                  <a:srgbClr val="FF8E6E"/>
                </a:solidFill>
                <a:latin typeface="Inconsolata"/>
              </a:rPr>
              <a:t>or</a:t>
            </a:r>
            <a:r>
              <a:rPr sz="825" i="0">
                <a:solidFill>
                  <a:srgbClr val="E6EDF3"/>
                </a:solidFill>
                <a:latin typeface="Inconsolata"/>
              </a:rPr>
              <a:t> uuid.uuid4().hex[:</a:t>
            </a:r>
            <a:r>
              <a:rPr sz="825" i="0">
                <a:solidFill>
                  <a:srgbClr val="F9C97A"/>
                </a:solidFill>
                <a:latin typeface="Inconsolata"/>
              </a:rPr>
              <a:t>8</a:t>
            </a:r>
            <a:r>
              <a:rPr sz="825" i="0">
                <a:solidFill>
                  <a:srgbClr val="E6EDF3"/>
                </a:solidFill>
                <a:latin typeface="Inconsolata"/>
              </a:rPr>
              <a:t>])</a:t>
            </a:r>
          </a:p>
          <a:p>
            <a:pPr>
              <a:lnSpc>
                <a:spcPct val="111111"/>
              </a:lnSpc>
              <a:spcAft>
                <a:spcPts val="0"/>
              </a:spcAft>
            </a:pPr>
            <a:r>
              <a:rPr sz="825" i="0">
                <a:solidFill>
                  <a:srgbClr val="E6EDF3"/>
                </a:solidFill>
                <a:latin typeface="Inconsolata"/>
              </a:rPr>
              <a:t>    request_id_var.</a:t>
            </a:r>
            <a:r>
              <a:rPr sz="825" i="0">
                <a:solidFill>
                  <a:srgbClr val="C3A6FF"/>
                </a:solidFill>
                <a:latin typeface="Inconsolata"/>
              </a:rPr>
              <a:t>set</a:t>
            </a:r>
            <a:r>
              <a:rPr sz="825" i="0">
                <a:solidFill>
                  <a:srgbClr val="E6EDF3"/>
                </a:solidFill>
                <a:latin typeface="Inconsolata"/>
              </a:rPr>
              <a:t>(request_id)       </a:t>
            </a:r>
            <a:r>
              <a:rPr sz="825" i="1">
                <a:solidFill>
                  <a:srgbClr val="8B98A8"/>
                </a:solidFill>
                <a:latin typeface="Inconsolata"/>
              </a:rPr>
              <a:t># berlaku di request ini saja</a:t>
            </a:r>
          </a:p>
          <a:p>
            <a:pPr>
              <a:lnSpc>
                <a:spcPct val="111111"/>
              </a:lnSpc>
              <a:spcAft>
                <a:spcPts val="0"/>
              </a:spcAft>
            </a:pPr>
            <a:r>
              <a:rPr sz="825" i="0">
                <a:solidFill>
                  <a:srgbClr val="E6EDF3"/>
                </a:solidFill>
                <a:latin typeface="Inconsolata"/>
              </a:rPr>
              <a:t>    response = </a:t>
            </a:r>
            <a:r>
              <a:rPr sz="825" i="0">
                <a:solidFill>
                  <a:srgbClr val="FF8E6E"/>
                </a:solidFill>
                <a:latin typeface="Inconsolata"/>
              </a:rPr>
              <a:t>await</a:t>
            </a:r>
            <a:r>
              <a:rPr sz="825" i="0">
                <a:solidFill>
                  <a:srgbClr val="E6EDF3"/>
                </a:solidFill>
                <a:latin typeface="Inconsolata"/>
              </a:rPr>
              <a:t> call_next(request)</a:t>
            </a:r>
          </a:p>
          <a:p>
            <a:pPr>
              <a:lnSpc>
                <a:spcPct val="111111"/>
              </a:lnSpc>
              <a:spcAft>
                <a:spcPts val="0"/>
              </a:spcAft>
            </a:pPr>
            <a:r>
              <a:rPr sz="825" i="0">
                <a:solidFill>
                  <a:srgbClr val="E6EDF3"/>
                </a:solidFill>
                <a:latin typeface="Inconsolata"/>
              </a:rPr>
              <a:t>    response.headers[</a:t>
            </a:r>
            <a:r>
              <a:rPr sz="825" i="0">
                <a:solidFill>
                  <a:srgbClr val="A5D6A7"/>
                </a:solidFill>
                <a:latin typeface="Inconsolata"/>
              </a:rPr>
              <a:t>"X-Request-ID"</a:t>
            </a:r>
            <a:r>
              <a:rPr sz="825" i="0">
                <a:solidFill>
                  <a:srgbClr val="E6EDF3"/>
                </a:solidFill>
                <a:latin typeface="Inconsolata"/>
              </a:rPr>
              <a:t>] = request_id</a:t>
            </a:r>
          </a:p>
        </p:txBody>
      </p:sp>
      <p:sp>
        <p:nvSpPr>
          <p:cNvPr id="38" name="Box 23"/>
          <p:cNvSpPr/>
          <p:nvPr/>
        </p:nvSpPr>
        <p:spPr>
          <a:xfrm>
            <a:off x="4379976" y="3166237"/>
            <a:ext cx="4023359" cy="410718"/>
          </a:xfrm>
          <a:prstGeom prst="roundRect">
            <a:avLst>
              <a:gd name="adj" fmla="val 11131"/>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379976" y="3725037"/>
            <a:ext cx="4023359" cy="131318"/>
          </a:xfrm>
          <a:prstGeom prst="roundRect">
            <a:avLst>
              <a:gd name="adj" fmla="val 3481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Correlation ID</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menggunakan Correlation ID?</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Tanpa correlation ID</a:t>
            </a:r>
          </a:p>
          <a:p>
            <a:pPr algn="l">
              <a:lnSpc>
                <a:spcPct val="115000"/>
              </a:lnSpc>
              <a:spcAft>
                <a:spcPts val="400"/>
              </a:spcAft>
            </a:pPr>
            <a:r>
              <a:rPr sz="950" b="0" i="0">
                <a:solidFill>
                  <a:srgbClr val="434343"/>
                </a:solidFill>
                <a:latin typeface="Inter"/>
              </a:rPr>
              <a:t>Tiga request berjalan bersamaan. Log "event gagal dikirim" muncul di antara log request lain, tanpa tanda milik siapa.</a:t>
            </a:r>
          </a:p>
          <a:p>
            <a:pPr algn="l">
              <a:lnSpc>
                <a:spcPct val="115000"/>
              </a:lnSpc>
              <a:spcAft>
                <a:spcPts val="400"/>
              </a:spcAft>
            </a:pPr>
            <a:r>
              <a:rPr sz="1050" b="1" i="0">
                <a:solidFill>
                  <a:srgbClr val="1C4587"/>
                </a:solidFill>
                <a:latin typeface="Inter"/>
              </a:rPr>
              <a:t>Jika request yang berjalan bersamaan makin banyak</a:t>
            </a:r>
          </a:p>
          <a:p>
            <a:pPr algn="l">
              <a:lnSpc>
                <a:spcPct val="115000"/>
              </a:lnSpc>
              <a:spcAft>
                <a:spcPts val="400"/>
              </a:spcAft>
            </a:pPr>
            <a:r>
              <a:rPr sz="950" b="0" i="0">
                <a:solidFill>
                  <a:srgbClr val="434343"/>
                </a:solidFill>
                <a:latin typeface="Inter"/>
              </a:rPr>
              <a:t>Log dari ratusan request saling bercampur dalam hitungan detik.</a:t>
            </a:r>
          </a:p>
          <a:p>
            <a:pPr algn="l">
              <a:lnSpc>
                <a:spcPct val="115000"/>
              </a:lnSpc>
              <a:spcAft>
                <a:spcPts val="400"/>
              </a:spcAft>
            </a:pPr>
            <a:r>
              <a:rPr sz="950" b="0" i="0">
                <a:solidFill>
                  <a:srgbClr val="434343"/>
                </a:solidFill>
                <a:latin typeface="Inter"/>
              </a:rPr>
              <a:t>Hal ini membuat satu error hampir tidak mungkin ditelusuri ke request dan customer yang mengalaminya.</a:t>
            </a:r>
          </a:p>
          <a:p>
            <a:pPr algn="l">
              <a:lnSpc>
                <a:spcPct val="115000"/>
              </a:lnSpc>
              <a:spcAft>
                <a:spcPts val="400"/>
              </a:spcAft>
            </a:pPr>
            <a:r>
              <a:rPr sz="1050" b="1" i="0">
                <a:solidFill>
                  <a:srgbClr val="1C4587"/>
                </a:solidFill>
                <a:latin typeface="Inter"/>
              </a:rPr>
              <a:t>Yang dipakai dari Python: contextvars</a:t>
            </a:r>
          </a:p>
          <a:p>
            <a:pPr algn="l">
              <a:lnSpc>
                <a:spcPct val="115000"/>
              </a:lnSpc>
              <a:spcAft>
                <a:spcPts val="400"/>
              </a:spcAft>
            </a:pPr>
            <a:r>
              <a:rPr sz="950" b="0" i="0">
                <a:solidFill>
                  <a:srgbClr val="B5482A"/>
                </a:solidFill>
                <a:latin typeface="Inconsolata"/>
              </a:rPr>
              <a:t>ContextVar</a:t>
            </a:r>
            <a:r>
              <a:rPr sz="950" b="0" i="0">
                <a:solidFill>
                  <a:srgbClr val="434343"/>
                </a:solidFill>
                <a:latin typeface="Inter"/>
              </a:rPr>
              <a:t> menyimpan nilai yang terpisah untuk setiap request, aman untuk kode async.</a:t>
            </a:r>
          </a:p>
        </p:txBody>
      </p:sp>
      <p:graphicFrame>
        <p:nvGraphicFramePr>
          <p:cNvPr id="23" name="Table 4"/>
          <p:cNvGraphicFramePr>
            <a:graphicFrameLocks noGrp="1"/>
          </p:cNvGraphicFramePr>
          <p:nvPr/>
        </p:nvGraphicFramePr>
        <p:xfrm>
          <a:off x="4800600" y="1481328"/>
          <a:ext cx="3685031" cy="2057400"/>
        </p:xfrm>
        <a:graphic>
          <a:graphicData uri="http://schemas.openxmlformats.org/drawingml/2006/table">
            <a:tbl>
              <a:tblPr firstRow="1" bandRow="1"/>
              <a:tblGrid>
                <a:gridCol w="1856231">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411480">
                <a:tc>
                  <a:txBody>
                    <a:bodyPr/>
                    <a:lstStyle/>
                    <a:p>
                      <a:pPr algn="l">
                        <a:lnSpc>
                          <a:spcPct val="100000"/>
                        </a:lnSpc>
                        <a:spcAft>
                          <a:spcPts val="0"/>
                        </a:spcAft>
                      </a:pPr>
                      <a:r>
                        <a:rPr sz="850" b="1" i="0">
                          <a:solidFill>
                            <a:srgbClr val="FFFFFF"/>
                          </a:solidFill>
                          <a:latin typeface="Inter"/>
                        </a:rPr>
                        <a:t>Ditulis</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Artinya</a:t>
                      </a:r>
                    </a:p>
                  </a:txBody>
                  <a:tcPr marL="73152" marR="73152" marT="36576" marB="36576" anchor="ctr">
                    <a:solidFill>
                      <a:srgbClr val="1C4587"/>
                    </a:solidFill>
                  </a:tcPr>
                </a:tc>
                <a:extLst>
                  <a:ext uri="{0D108BD9-81ED-4DB2-BD59-A6C34878D82A}">
                    <a16:rowId xmlns:a16="http://schemas.microsoft.com/office/drawing/2014/main" val="10000"/>
                  </a:ext>
                </a:extLst>
              </a:tr>
              <a:tr h="411480">
                <a:tc>
                  <a:txBody>
                    <a:bodyPr/>
                    <a:lstStyle/>
                    <a:p>
                      <a:pPr algn="l">
                        <a:lnSpc>
                          <a:spcPct val="100000"/>
                        </a:lnSpc>
                        <a:spcAft>
                          <a:spcPts val="0"/>
                        </a:spcAft>
                      </a:pPr>
                      <a:r>
                        <a:rPr sz="850" b="1" i="0">
                          <a:solidFill>
                            <a:srgbClr val="1C4587"/>
                          </a:solidFill>
                          <a:latin typeface="Inter"/>
                        </a:rPr>
                        <a:t>ContextVar("request_id")</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Wadah nilai per request</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pPr algn="l">
                        <a:lnSpc>
                          <a:spcPct val="100000"/>
                        </a:lnSpc>
                        <a:spcAft>
                          <a:spcPts val="0"/>
                        </a:spcAft>
                      </a:pPr>
                      <a:r>
                        <a:rPr sz="850" b="1" i="0">
                          <a:solidFill>
                            <a:srgbClr val="1C4587"/>
                          </a:solidFill>
                          <a:latin typeface="Inter"/>
                        </a:rPr>
                        <a:t>request_id_var.set(...)</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Diisi middleware di awal request</a:t>
                      </a:r>
                    </a:p>
                  </a:txBody>
                  <a:tcPr marL="73152" marR="73152" marT="36576" marB="36576" anchor="ctr">
                    <a:solidFill>
                      <a:srgbClr val="F3F4F6"/>
                    </a:solidFill>
                  </a:tcPr>
                </a:tc>
                <a:extLst>
                  <a:ext uri="{0D108BD9-81ED-4DB2-BD59-A6C34878D82A}">
                    <a16:rowId xmlns:a16="http://schemas.microsoft.com/office/drawing/2014/main" val="10002"/>
                  </a:ext>
                </a:extLst>
              </a:tr>
              <a:tr h="411480">
                <a:tc>
                  <a:txBody>
                    <a:bodyPr/>
                    <a:lstStyle/>
                    <a:p>
                      <a:pPr algn="l">
                        <a:lnSpc>
                          <a:spcPct val="100000"/>
                        </a:lnSpc>
                        <a:spcAft>
                          <a:spcPts val="0"/>
                        </a:spcAft>
                      </a:pPr>
                      <a:r>
                        <a:rPr sz="850" b="1" i="0">
                          <a:solidFill>
                            <a:srgbClr val="1C4587"/>
                          </a:solidFill>
                          <a:latin typeface="Inter"/>
                        </a:rPr>
                        <a:t>logging.Filter</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Menempelkan request_id ke setiap log</a:t>
                      </a:r>
                    </a:p>
                  </a:txBody>
                  <a:tcPr marL="73152" marR="73152" marT="36576" marB="36576"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Aft>
                          <a:spcPts val="0"/>
                        </a:spcAft>
                      </a:pPr>
                      <a:r>
                        <a:rPr sz="850" b="1" i="0">
                          <a:solidFill>
                            <a:srgbClr val="1C4587"/>
                          </a:solidFill>
                          <a:latin typeface="Inter"/>
                        </a:rPr>
                        <a:t>X-Request-ID</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Header request dan response</a:t>
                      </a:r>
                    </a:p>
                  </a:txBody>
                  <a:tcPr marL="73152" marR="73152" marT="36576" marB="36576" anchor="ctr">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Correlation ID</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log dari banyak request bercampur</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02-correlation-id/before.py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7095"/>
              </a:lnSpc>
              <a:spcAft>
                <a:spcPts val="0"/>
              </a:spcAft>
            </a:pPr>
            <a:r>
              <a:rPr sz="700" i="0">
                <a:solidFill>
                  <a:srgbClr val="5C6773"/>
                </a:solidFill>
                <a:latin typeface="Inconsolata"/>
              </a:rPr>
              <a:t> 9  </a:t>
            </a:r>
            <a:r>
              <a:rPr sz="700" i="0">
                <a:solidFill>
                  <a:srgbClr val="FF8E6E"/>
                </a:solidFill>
                <a:latin typeface="Inconsolata"/>
              </a:rPr>
              <a:t>import</a:t>
            </a:r>
            <a:r>
              <a:rPr sz="700" i="0">
                <a:solidFill>
                  <a:srgbClr val="E6EDF3"/>
                </a:solidFill>
                <a:latin typeface="Inconsolata"/>
              </a:rPr>
              <a:t> asyncio</a:t>
            </a:r>
          </a:p>
          <a:p>
            <a:pPr>
              <a:lnSpc>
                <a:spcPct val="107095"/>
              </a:lnSpc>
              <a:spcAft>
                <a:spcPts val="0"/>
              </a:spcAft>
            </a:pPr>
            <a:r>
              <a:rPr sz="700" i="0">
                <a:solidFill>
                  <a:srgbClr val="5C6773"/>
                </a:solidFill>
                <a:latin typeface="Inconsolata"/>
              </a:rPr>
              <a:t>10  </a:t>
            </a:r>
            <a:r>
              <a:rPr sz="700" i="0">
                <a:solidFill>
                  <a:srgbClr val="FF8E6E"/>
                </a:solidFill>
                <a:latin typeface="Inconsolata"/>
              </a:rPr>
              <a:t>import</a:t>
            </a:r>
            <a:r>
              <a:rPr sz="700" i="0">
                <a:solidFill>
                  <a:srgbClr val="E6EDF3"/>
                </a:solidFill>
                <a:latin typeface="Inconsolata"/>
              </a:rPr>
              <a:t> logging</a:t>
            </a:r>
          </a:p>
          <a:p>
            <a:pPr>
              <a:lnSpc>
                <a:spcPct val="107095"/>
              </a:lnSpc>
              <a:spcAft>
                <a:spcPts val="0"/>
              </a:spcAft>
            </a:pPr>
            <a:r>
              <a:rPr sz="700" i="0">
                <a:solidFill>
                  <a:srgbClr val="5C6773"/>
                </a:solidFill>
                <a:latin typeface="Inconsolata"/>
              </a:rPr>
              <a:t>11  </a:t>
            </a:r>
            <a:r>
              <a:rPr sz="700" i="0">
                <a:solidFill>
                  <a:srgbClr val="E6EDF3"/>
                </a:solidFill>
                <a:latin typeface="Inconsolata"/>
              </a:rPr>
              <a:t> </a:t>
            </a:r>
          </a:p>
          <a:p>
            <a:pPr>
              <a:lnSpc>
                <a:spcPct val="107095"/>
              </a:lnSpc>
              <a:spcAft>
                <a:spcPts val="0"/>
              </a:spcAft>
            </a:pPr>
            <a:r>
              <a:rPr sz="700" i="0">
                <a:solidFill>
                  <a:srgbClr val="5C6773"/>
                </a:solidFill>
                <a:latin typeface="Inconsolata"/>
              </a:rPr>
              <a:t>12  </a:t>
            </a:r>
            <a:r>
              <a:rPr sz="700" i="0">
                <a:solidFill>
                  <a:srgbClr val="FF8E6E"/>
                </a:solidFill>
                <a:latin typeface="Inconsolata"/>
              </a:rPr>
              <a:t>import</a:t>
            </a:r>
            <a:r>
              <a:rPr sz="700" i="0">
                <a:solidFill>
                  <a:srgbClr val="E6EDF3"/>
                </a:solidFill>
                <a:latin typeface="Inconsolata"/>
              </a:rPr>
              <a:t> httpx</a:t>
            </a:r>
          </a:p>
          <a:p>
            <a:pPr>
              <a:lnSpc>
                <a:spcPct val="107095"/>
              </a:lnSpc>
              <a:spcAft>
                <a:spcPts val="0"/>
              </a:spcAft>
            </a:pPr>
            <a:r>
              <a:rPr sz="700" i="0">
                <a:solidFill>
                  <a:srgbClr val="5C6773"/>
                </a:solidFill>
                <a:latin typeface="Inconsolata"/>
              </a:rPr>
              <a:t>13  </a:t>
            </a:r>
            <a:r>
              <a:rPr sz="700" i="0">
                <a:solidFill>
                  <a:srgbClr val="FF8E6E"/>
                </a:solidFill>
                <a:latin typeface="Inconsolata"/>
              </a:rPr>
              <a:t>from</a:t>
            </a:r>
            <a:r>
              <a:rPr sz="700" i="0">
                <a:solidFill>
                  <a:srgbClr val="E6EDF3"/>
                </a:solidFill>
                <a:latin typeface="Inconsolata"/>
              </a:rPr>
              <a:t> fastapi </a:t>
            </a:r>
            <a:r>
              <a:rPr sz="700" i="0">
                <a:solidFill>
                  <a:srgbClr val="FF8E6E"/>
                </a:solidFill>
                <a:latin typeface="Inconsolata"/>
              </a:rPr>
              <a:t>import</a:t>
            </a:r>
            <a:r>
              <a:rPr sz="700" i="0">
                <a:solidFill>
                  <a:srgbClr val="E6EDF3"/>
                </a:solidFill>
                <a:latin typeface="Inconsolata"/>
              </a:rPr>
              <a:t> </a:t>
            </a:r>
            <a:r>
              <a:rPr sz="700" i="0">
                <a:solidFill>
                  <a:srgbClr val="7FDBCA"/>
                </a:solidFill>
                <a:latin typeface="Inconsolata"/>
              </a:rPr>
              <a:t>FastAPI</a:t>
            </a:r>
          </a:p>
          <a:p>
            <a:pPr>
              <a:lnSpc>
                <a:spcPct val="107095"/>
              </a:lnSpc>
              <a:spcAft>
                <a:spcPts val="0"/>
              </a:spcAft>
            </a:pPr>
            <a:r>
              <a:rPr sz="700" i="0">
                <a:solidFill>
                  <a:srgbClr val="5C6773"/>
                </a:solidFill>
                <a:latin typeface="Inconsolata"/>
              </a:rPr>
              <a:t>14  </a:t>
            </a:r>
            <a:r>
              <a:rPr sz="700" i="0">
                <a:solidFill>
                  <a:srgbClr val="E6EDF3"/>
                </a:solidFill>
                <a:latin typeface="Inconsolata"/>
              </a:rPr>
              <a:t> </a:t>
            </a:r>
          </a:p>
          <a:p>
            <a:pPr>
              <a:lnSpc>
                <a:spcPct val="107095"/>
              </a:lnSpc>
              <a:spcAft>
                <a:spcPts val="0"/>
              </a:spcAft>
            </a:pPr>
            <a:r>
              <a:rPr sz="700" i="0">
                <a:solidFill>
                  <a:srgbClr val="5C6773"/>
                </a:solidFill>
                <a:latin typeface="Inconsolata"/>
              </a:rPr>
              <a:t>15  </a:t>
            </a:r>
            <a:r>
              <a:rPr sz="700" i="0">
                <a:solidFill>
                  <a:srgbClr val="E6EDF3"/>
                </a:solidFill>
                <a:latin typeface="Inconsolata"/>
              </a:rPr>
              <a:t>logging.basicConfig(level=logging.</a:t>
            </a:r>
            <a:r>
              <a:rPr sz="700" i="0">
                <a:solidFill>
                  <a:srgbClr val="7FDBCA"/>
                </a:solidFill>
                <a:latin typeface="Inconsolata"/>
              </a:rPr>
              <a:t>INFO</a:t>
            </a:r>
            <a:r>
              <a:rPr sz="700" i="0">
                <a:solidFill>
                  <a:srgbClr val="E6EDF3"/>
                </a:solidFill>
                <a:latin typeface="Inconsolata"/>
              </a:rPr>
              <a:t>,</a:t>
            </a:r>
          </a:p>
          <a:p>
            <a:pPr>
              <a:lnSpc>
                <a:spcPct val="107095"/>
              </a:lnSpc>
              <a:spcAft>
                <a:spcPts val="0"/>
              </a:spcAft>
            </a:pPr>
            <a:r>
              <a:rPr sz="700" i="0">
                <a:solidFill>
                  <a:srgbClr val="5C6773"/>
                </a:solidFill>
                <a:latin typeface="Inconsolata"/>
              </a:rPr>
              <a:t>16  </a:t>
            </a:r>
            <a:r>
              <a:rPr sz="700" i="0">
                <a:solidFill>
                  <a:srgbClr val="E6EDF3"/>
                </a:solidFill>
                <a:latin typeface="Inconsolata"/>
              </a:rPr>
              <a:t>                    format=</a:t>
            </a:r>
            <a:r>
              <a:rPr sz="700" i="0">
                <a:solidFill>
                  <a:srgbClr val="A5D6A7"/>
                </a:solidFill>
                <a:latin typeface="Inconsolata"/>
              </a:rPr>
              <a:t>"%(levelname)-7s %(message)s"</a:t>
            </a:r>
            <a:r>
              <a:rPr sz="700" i="0">
                <a:solidFill>
                  <a:srgbClr val="E6EDF3"/>
                </a:solidFill>
                <a:latin typeface="Inconsolata"/>
              </a:rPr>
              <a:t>)</a:t>
            </a:r>
          </a:p>
          <a:p>
            <a:pPr>
              <a:lnSpc>
                <a:spcPct val="107095"/>
              </a:lnSpc>
              <a:spcAft>
                <a:spcPts val="0"/>
              </a:spcAft>
            </a:pPr>
            <a:r>
              <a:rPr sz="700" i="0">
                <a:solidFill>
                  <a:srgbClr val="5C6773"/>
                </a:solidFill>
                <a:latin typeface="Inconsolata"/>
              </a:rPr>
              <a:t>17  </a:t>
            </a:r>
            <a:r>
              <a:rPr sz="700" i="0">
                <a:solidFill>
                  <a:srgbClr val="E6EDF3"/>
                </a:solidFill>
                <a:latin typeface="Inconsolata"/>
              </a:rPr>
              <a:t>logging.getLogger(</a:t>
            </a:r>
            <a:r>
              <a:rPr sz="700" i="0">
                <a:solidFill>
                  <a:srgbClr val="A5D6A7"/>
                </a:solidFill>
                <a:latin typeface="Inconsolata"/>
              </a:rPr>
              <a:t>"httpx"</a:t>
            </a:r>
            <a:r>
              <a:rPr sz="700" i="0">
                <a:solidFill>
                  <a:srgbClr val="E6EDF3"/>
                </a:solidFill>
                <a:latin typeface="Inconsolata"/>
              </a:rPr>
              <a:t>).setLevel(logging.</a:t>
            </a:r>
            <a:r>
              <a:rPr sz="700" i="0">
                <a:solidFill>
                  <a:srgbClr val="7FDBCA"/>
                </a:solidFill>
                <a:latin typeface="Inconsolata"/>
              </a:rPr>
              <a:t>WARNING</a:t>
            </a:r>
            <a:r>
              <a:rPr sz="700" i="0">
                <a:solidFill>
                  <a:srgbClr val="E6EDF3"/>
                </a:solidFill>
                <a:latin typeface="Inconsolata"/>
              </a:rPr>
              <a:t>)   </a:t>
            </a:r>
            <a:r>
              <a:rPr sz="700" i="1">
                <a:solidFill>
                  <a:srgbClr val="8B98A8"/>
                </a:solidFill>
                <a:latin typeface="Inconsolata"/>
              </a:rPr>
              <a:t># log client demo</a:t>
            </a:r>
          </a:p>
          <a:p>
            <a:pPr>
              <a:lnSpc>
                <a:spcPct val="107095"/>
              </a:lnSpc>
              <a:spcAft>
                <a:spcPts val="0"/>
              </a:spcAft>
            </a:pPr>
            <a:r>
              <a:rPr sz="700" i="0">
                <a:solidFill>
                  <a:srgbClr val="5C6773"/>
                </a:solidFill>
                <a:latin typeface="Inconsolata"/>
              </a:rPr>
              <a:t>18  </a:t>
            </a:r>
            <a:r>
              <a:rPr sz="700" i="0">
                <a:solidFill>
                  <a:srgbClr val="E6EDF3"/>
                </a:solidFill>
                <a:latin typeface="Inconsolata"/>
              </a:rPr>
              <a:t>logger = logging.getLogger(</a:t>
            </a:r>
            <a:r>
              <a:rPr sz="700" i="0">
                <a:solidFill>
                  <a:srgbClr val="A5D6A7"/>
                </a:solidFill>
                <a:latin typeface="Inconsolata"/>
              </a:rPr>
              <a:t>"orders"</a:t>
            </a:r>
            <a:r>
              <a:rPr sz="700" i="0">
                <a:solidFill>
                  <a:srgbClr val="E6EDF3"/>
                </a:solidFill>
                <a:latin typeface="Inconsolata"/>
              </a:rPr>
              <a:t>)</a:t>
            </a:r>
          </a:p>
          <a:p>
            <a:pPr>
              <a:lnSpc>
                <a:spcPct val="107095"/>
              </a:lnSpc>
              <a:spcAft>
                <a:spcPts val="0"/>
              </a:spcAft>
            </a:pPr>
            <a:r>
              <a:rPr sz="700" i="0">
                <a:solidFill>
                  <a:srgbClr val="5C6773"/>
                </a:solidFill>
                <a:latin typeface="Inconsolata"/>
              </a:rPr>
              <a:t>19  </a:t>
            </a:r>
            <a:r>
              <a:rPr sz="700" i="0">
                <a:solidFill>
                  <a:srgbClr val="E6EDF3"/>
                </a:solidFill>
                <a:latin typeface="Inconsolata"/>
              </a:rPr>
              <a:t>app = </a:t>
            </a:r>
            <a:r>
              <a:rPr sz="700" i="0">
                <a:solidFill>
                  <a:srgbClr val="7FDBCA"/>
                </a:solidFill>
                <a:latin typeface="Inconsolata"/>
              </a:rPr>
              <a:t>FastAPI</a:t>
            </a:r>
            <a:r>
              <a:rPr sz="700" i="0">
                <a:solidFill>
                  <a:srgbClr val="E6EDF3"/>
                </a:solidFill>
                <a:latin typeface="Inconsolata"/>
              </a:rPr>
              <a:t>()</a:t>
            </a:r>
          </a:p>
          <a:p>
            <a:pPr>
              <a:lnSpc>
                <a:spcPct val="107095"/>
              </a:lnSpc>
              <a:spcAft>
                <a:spcPts val="0"/>
              </a:spcAft>
            </a:pPr>
            <a:r>
              <a:rPr sz="700" i="0">
                <a:solidFill>
                  <a:srgbClr val="5C6773"/>
                </a:solidFill>
                <a:latin typeface="Inconsolata"/>
              </a:rPr>
              <a:t>20  </a:t>
            </a:r>
            <a:r>
              <a:rPr sz="700" i="0">
                <a:solidFill>
                  <a:srgbClr val="E6EDF3"/>
                </a:solidFill>
                <a:latin typeface="Inconsolata"/>
              </a:rPr>
              <a:t> </a:t>
            </a:r>
          </a:p>
          <a:p>
            <a:pPr>
              <a:lnSpc>
                <a:spcPct val="107095"/>
              </a:lnSpc>
              <a:spcAft>
                <a:spcPts val="0"/>
              </a:spcAft>
            </a:pPr>
            <a:r>
              <a:rPr sz="700" i="0">
                <a:solidFill>
                  <a:srgbClr val="5C6773"/>
                </a:solidFill>
                <a:latin typeface="Inconsolata"/>
              </a:rPr>
              <a:t>21  </a:t>
            </a:r>
            <a:r>
              <a:rPr sz="700" i="0">
                <a:solidFill>
                  <a:srgbClr val="E6EDF3"/>
                </a:solidFill>
                <a:latin typeface="Inconsolata"/>
              </a:rPr>
              <a:t> </a:t>
            </a:r>
          </a:p>
          <a:p>
            <a:pPr>
              <a:lnSpc>
                <a:spcPct val="107095"/>
              </a:lnSpc>
              <a:spcAft>
                <a:spcPts val="0"/>
              </a:spcAft>
            </a:pPr>
            <a:r>
              <a:rPr sz="700" i="0">
                <a:solidFill>
                  <a:srgbClr val="5C6773"/>
                </a:solidFill>
                <a:latin typeface="Inconsolata"/>
              </a:rPr>
              <a:t>22  </a:t>
            </a:r>
            <a:r>
              <a:rPr sz="700" i="0">
                <a:solidFill>
                  <a:srgbClr val="F9C97A"/>
                </a:solidFill>
                <a:latin typeface="Inconsolata"/>
              </a:rPr>
              <a:t>@app.post</a:t>
            </a:r>
            <a:r>
              <a:rPr sz="700" i="0">
                <a:solidFill>
                  <a:srgbClr val="E6EDF3"/>
                </a:solidFill>
                <a:latin typeface="Inconsolata"/>
              </a:rPr>
              <a:t>(</a:t>
            </a:r>
            <a:r>
              <a:rPr sz="700" i="0">
                <a:solidFill>
                  <a:srgbClr val="A5D6A7"/>
                </a:solidFill>
                <a:latin typeface="Inconsolata"/>
              </a:rPr>
              <a:t>"/orders"</a:t>
            </a:r>
            <a:r>
              <a:rPr sz="700" i="0">
                <a:solidFill>
                  <a:srgbClr val="E6EDF3"/>
                </a:solidFill>
                <a:latin typeface="Inconsolata"/>
              </a:rPr>
              <a:t>)</a:t>
            </a:r>
          </a:p>
          <a:p>
            <a:pPr>
              <a:lnSpc>
                <a:spcPct val="107095"/>
              </a:lnSpc>
              <a:spcAft>
                <a:spcPts val="0"/>
              </a:spcAft>
            </a:pPr>
            <a:r>
              <a:rPr sz="700" i="0">
                <a:solidFill>
                  <a:srgbClr val="5C6773"/>
                </a:solidFill>
                <a:latin typeface="Inconsolata"/>
              </a:rPr>
              <a:t>23  </a:t>
            </a:r>
            <a:r>
              <a:rPr sz="700" i="0">
                <a:solidFill>
                  <a:srgbClr val="FF8E6E"/>
                </a:solidFill>
                <a:latin typeface="Inconsolata"/>
              </a:rPr>
              <a:t>async</a:t>
            </a:r>
            <a:r>
              <a:rPr sz="700" i="0">
                <a:solidFill>
                  <a:srgbClr val="E6EDF3"/>
                </a:solidFill>
                <a:latin typeface="Inconsolata"/>
              </a:rPr>
              <a:t> </a:t>
            </a: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create_order</a:t>
            </a:r>
            <a:r>
              <a:rPr sz="700" i="0">
                <a:solidFill>
                  <a:srgbClr val="E6EDF3"/>
                </a:solidFill>
                <a:latin typeface="Inconsolata"/>
              </a:rPr>
              <a:t>(customer: </a:t>
            </a:r>
            <a:r>
              <a:rPr sz="700" i="0">
                <a:solidFill>
                  <a:srgbClr val="C3A6FF"/>
                </a:solidFill>
                <a:latin typeface="Inconsolata"/>
              </a:rPr>
              <a:t>str</a:t>
            </a:r>
            <a:r>
              <a:rPr sz="700" i="0">
                <a:solidFill>
                  <a:srgbClr val="E6EDF3"/>
                </a:solidFill>
                <a:latin typeface="Inconsolata"/>
              </a:rPr>
              <a:t>):</a:t>
            </a:r>
          </a:p>
          <a:p>
            <a:pPr>
              <a:lnSpc>
                <a:spcPct val="107095"/>
              </a:lnSpc>
              <a:spcAft>
                <a:spcPts val="0"/>
              </a:spcAft>
            </a:pPr>
            <a:r>
              <a:rPr sz="700" i="0">
                <a:solidFill>
                  <a:srgbClr val="5C6773"/>
                </a:solidFill>
                <a:latin typeface="Inconsolata"/>
              </a:rPr>
              <a:t>24  </a:t>
            </a:r>
            <a:r>
              <a:rPr sz="700" i="0">
                <a:solidFill>
                  <a:srgbClr val="E6EDF3"/>
                </a:solidFill>
                <a:latin typeface="Inconsolata"/>
              </a:rPr>
              <a:t>    logger.info(</a:t>
            </a:r>
            <a:r>
              <a:rPr sz="700" i="0">
                <a:solidFill>
                  <a:srgbClr val="A5D6A7"/>
                </a:solidFill>
                <a:latin typeface="Inconsolata"/>
              </a:rPr>
              <a:t>"simpan order"</a:t>
            </a:r>
            <a:r>
              <a:rPr sz="700" i="0">
                <a:solidFill>
                  <a:srgbClr val="E6EDF3"/>
                </a:solidFill>
                <a:latin typeface="Inconsolata"/>
              </a:rPr>
              <a:t>)</a:t>
            </a:r>
          </a:p>
          <a:p>
            <a:pPr>
              <a:lnSpc>
                <a:spcPct val="107095"/>
              </a:lnSpc>
              <a:spcAft>
                <a:spcPts val="0"/>
              </a:spcAft>
            </a:pPr>
            <a:r>
              <a:rPr sz="700" i="0">
                <a:solidFill>
                  <a:srgbClr val="5C6773"/>
                </a:solidFill>
                <a:latin typeface="Inconsolata"/>
              </a:rPr>
              <a:t>25  </a:t>
            </a:r>
            <a:r>
              <a:rPr sz="700" i="0">
                <a:solidFill>
                  <a:srgbClr val="E6EDF3"/>
                </a:solidFill>
                <a:latin typeface="Inconsolata"/>
              </a:rPr>
              <a:t>    </a:t>
            </a:r>
            <a:r>
              <a:rPr sz="700" i="0">
                <a:solidFill>
                  <a:srgbClr val="FF8E6E"/>
                </a:solidFill>
                <a:latin typeface="Inconsolata"/>
              </a:rPr>
              <a:t>await</a:t>
            </a:r>
            <a:r>
              <a:rPr sz="700" i="0">
                <a:solidFill>
                  <a:srgbClr val="E6EDF3"/>
                </a:solidFill>
                <a:latin typeface="Inconsolata"/>
              </a:rPr>
              <a:t> asyncio.sleep(</a:t>
            </a:r>
            <a:r>
              <a:rPr sz="700" i="0">
                <a:solidFill>
                  <a:srgbClr val="F9C97A"/>
                </a:solidFill>
                <a:latin typeface="Inconsolata"/>
              </a:rPr>
              <a:t>0</a:t>
            </a:r>
            <a:r>
              <a:rPr sz="700" i="0">
                <a:solidFill>
                  <a:srgbClr val="E6EDF3"/>
                </a:solidFill>
                <a:latin typeface="Inconsolata"/>
              </a:rPr>
              <a:t>.</a:t>
            </a:r>
            <a:r>
              <a:rPr sz="700" i="0">
                <a:solidFill>
                  <a:srgbClr val="F9C97A"/>
                </a:solidFill>
                <a:latin typeface="Inconsolata"/>
              </a:rPr>
              <a:t>1</a:t>
            </a:r>
            <a:r>
              <a:rPr sz="700" i="0">
                <a:solidFill>
                  <a:srgbClr val="E6EDF3"/>
                </a:solidFill>
                <a:latin typeface="Inconsolata"/>
              </a:rPr>
              <a:t>)         </a:t>
            </a:r>
            <a:r>
              <a:rPr sz="700" i="1">
                <a:solidFill>
                  <a:srgbClr val="8B98A8"/>
                </a:solidFill>
                <a:latin typeface="Inconsolata"/>
              </a:rPr>
              <a:t># anggap: menyimpan ke database</a:t>
            </a:r>
          </a:p>
          <a:p>
            <a:pPr>
              <a:lnSpc>
                <a:spcPct val="107095"/>
              </a:lnSpc>
              <a:spcAft>
                <a:spcPts val="0"/>
              </a:spcAft>
            </a:pPr>
            <a:r>
              <a:rPr sz="700" i="0">
                <a:solidFill>
                  <a:srgbClr val="5C6773"/>
                </a:solidFill>
                <a:latin typeface="Inconsolata"/>
              </a:rPr>
              <a:t>26  </a:t>
            </a:r>
            <a:r>
              <a:rPr sz="700" i="0">
                <a:solidFill>
                  <a:srgbClr val="E6EDF3"/>
                </a:solidFill>
                <a:latin typeface="Inconsolata"/>
              </a:rPr>
              <a:t>    logger.info(</a:t>
            </a:r>
            <a:r>
              <a:rPr sz="700" i="0">
                <a:solidFill>
                  <a:srgbClr val="A5D6A7"/>
                </a:solidFill>
                <a:latin typeface="Inconsolata"/>
              </a:rPr>
              <a:t>"kirim event order.placed"</a:t>
            </a:r>
            <a:r>
              <a:rPr sz="700" i="0">
                <a:solidFill>
                  <a:srgbClr val="E6EDF3"/>
                </a:solidFill>
                <a:latin typeface="Inconsolata"/>
              </a:rPr>
              <a:t>)</a:t>
            </a:r>
          </a:p>
          <a:p>
            <a:pPr>
              <a:lnSpc>
                <a:spcPct val="107095"/>
              </a:lnSpc>
              <a:spcAft>
                <a:spcPts val="0"/>
              </a:spcAft>
            </a:pPr>
            <a:r>
              <a:rPr sz="700" i="0">
                <a:solidFill>
                  <a:srgbClr val="5C6773"/>
                </a:solidFill>
                <a:latin typeface="Inconsolata"/>
              </a:rPr>
              <a:t>27  </a:t>
            </a:r>
            <a:r>
              <a:rPr sz="700" i="0">
                <a:solidFill>
                  <a:srgbClr val="E6EDF3"/>
                </a:solidFill>
                <a:latin typeface="Inconsolata"/>
              </a:rPr>
              <a:t>    </a:t>
            </a:r>
            <a:r>
              <a:rPr sz="700" i="0">
                <a:solidFill>
                  <a:srgbClr val="FF8E6E"/>
                </a:solidFill>
                <a:latin typeface="Inconsolata"/>
              </a:rPr>
              <a:t>if</a:t>
            </a:r>
            <a:r>
              <a:rPr sz="700" i="0">
                <a:solidFill>
                  <a:srgbClr val="E6EDF3"/>
                </a:solidFill>
                <a:latin typeface="Inconsolata"/>
              </a:rPr>
              <a:t> customer == </a:t>
            </a:r>
            <a:r>
              <a:rPr sz="700" i="0">
                <a:solidFill>
                  <a:srgbClr val="A5D6A7"/>
                </a:solidFill>
                <a:latin typeface="Inconsolata"/>
              </a:rPr>
              <a:t>"budi@mail.com"</a:t>
            </a:r>
            <a:r>
              <a:rPr sz="700" i="0">
                <a:solidFill>
                  <a:srgbClr val="E6EDF3"/>
                </a:solidFill>
                <a:latin typeface="Inconsolata"/>
              </a:rPr>
              <a:t>:</a:t>
            </a:r>
          </a:p>
          <a:p>
            <a:pPr>
              <a:lnSpc>
                <a:spcPct val="107095"/>
              </a:lnSpc>
              <a:spcAft>
                <a:spcPts val="0"/>
              </a:spcAft>
            </a:pPr>
            <a:r>
              <a:rPr sz="700" i="0">
                <a:solidFill>
                  <a:srgbClr val="5C6773"/>
                </a:solidFill>
                <a:latin typeface="Inconsolata"/>
              </a:rPr>
              <a:t>28  </a:t>
            </a:r>
            <a:r>
              <a:rPr sz="700" i="0">
                <a:solidFill>
                  <a:srgbClr val="E6EDF3"/>
                </a:solidFill>
                <a:latin typeface="Inconsolata"/>
              </a:rPr>
              <a:t>        logger.error(</a:t>
            </a:r>
            <a:r>
              <a:rPr sz="700" i="0">
                <a:solidFill>
                  <a:srgbClr val="A5D6A7"/>
                </a:solidFill>
                <a:latin typeface="Inconsolata"/>
              </a:rPr>
              <a:t>"event gagal dikirim"</a:t>
            </a:r>
            <a:r>
              <a:rPr sz="700" i="0">
                <a:solidFill>
                  <a:srgbClr val="E6EDF3"/>
                </a:solidFill>
                <a:latin typeface="Inconsolata"/>
              </a:rPr>
              <a:t>)</a:t>
            </a:r>
          </a:p>
          <a:p>
            <a:pPr>
              <a:lnSpc>
                <a:spcPct val="107095"/>
              </a:lnSpc>
              <a:spcAft>
                <a:spcPts val="0"/>
              </a:spcAft>
            </a:pPr>
            <a:r>
              <a:rPr sz="700" i="0">
                <a:solidFill>
                  <a:srgbClr val="5C6773"/>
                </a:solidFill>
                <a:latin typeface="Inconsolata"/>
              </a:rPr>
              <a:t>29  </a:t>
            </a:r>
            <a:r>
              <a:rPr sz="700" i="0">
                <a:solidFill>
                  <a:srgbClr val="E6EDF3"/>
                </a:solidFill>
                <a:latin typeface="Inconsolata"/>
              </a:rPr>
              <a:t>    </a:t>
            </a:r>
            <a:r>
              <a:rPr sz="700" i="0">
                <a:solidFill>
                  <a:srgbClr val="FF8E6E"/>
                </a:solidFill>
                <a:latin typeface="Inconsolata"/>
              </a:rPr>
              <a:t>return</a:t>
            </a:r>
            <a:r>
              <a:rPr sz="700" i="0">
                <a:solidFill>
                  <a:srgbClr val="E6EDF3"/>
                </a:solidFill>
                <a:latin typeface="Inconsolata"/>
              </a:rPr>
              <a:t> {</a:t>
            </a:r>
            <a:r>
              <a:rPr sz="700" i="0">
                <a:solidFill>
                  <a:srgbClr val="A5D6A7"/>
                </a:solidFill>
                <a:latin typeface="Inconsolata"/>
              </a:rPr>
              <a:t>"status"</a:t>
            </a:r>
            <a:r>
              <a:rPr sz="700" i="0">
                <a:solidFill>
                  <a:srgbClr val="E6EDF3"/>
                </a:solidFill>
                <a:latin typeface="Inconsolata"/>
              </a:rPr>
              <a:t>: </a:t>
            </a:r>
            <a:r>
              <a:rPr sz="700" i="0">
                <a:solidFill>
                  <a:srgbClr val="A5D6A7"/>
                </a:solidFill>
                <a:latin typeface="Inconsolata"/>
              </a:rPr>
              <a:t>"created"</a:t>
            </a:r>
            <a:r>
              <a:rPr sz="700" i="0">
                <a:solidFill>
                  <a:srgbClr val="E6EDF3"/>
                </a:solidFill>
                <a:latin typeface="Inconsolata"/>
              </a:rPr>
              <a: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02-correlation-id/before.py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7095"/>
              </a:lnSpc>
              <a:spcAft>
                <a:spcPts val="0"/>
              </a:spcAft>
            </a:pPr>
            <a:r>
              <a:rPr sz="700" i="0">
                <a:solidFill>
                  <a:srgbClr val="5C6773"/>
                </a:solidFill>
                <a:latin typeface="Inconsolata"/>
              </a:rPr>
              <a:t>32  </a:t>
            </a:r>
            <a:r>
              <a:rPr sz="700" i="0">
                <a:solidFill>
                  <a:srgbClr val="FF8E6E"/>
                </a:solidFill>
                <a:latin typeface="Inconsolata"/>
              </a:rPr>
              <a:t>async</a:t>
            </a:r>
            <a:r>
              <a:rPr sz="700" i="0">
                <a:solidFill>
                  <a:srgbClr val="E6EDF3"/>
                </a:solidFill>
                <a:latin typeface="Inconsolata"/>
              </a:rPr>
              <a:t> </a:t>
            </a: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main</a:t>
            </a:r>
            <a:r>
              <a:rPr sz="700" i="0">
                <a:solidFill>
                  <a:srgbClr val="E6EDF3"/>
                </a:solidFill>
                <a:latin typeface="Inconsolata"/>
              </a:rPr>
              <a:t>():</a:t>
            </a:r>
          </a:p>
          <a:p>
            <a:pPr>
              <a:lnSpc>
                <a:spcPct val="107095"/>
              </a:lnSpc>
              <a:spcAft>
                <a:spcPts val="0"/>
              </a:spcAft>
            </a:pPr>
            <a:r>
              <a:rPr sz="700" i="0">
                <a:solidFill>
                  <a:srgbClr val="5C6773"/>
                </a:solidFill>
                <a:latin typeface="Inconsolata"/>
              </a:rPr>
              <a:t>33  </a:t>
            </a:r>
            <a:r>
              <a:rPr sz="700" i="0">
                <a:solidFill>
                  <a:srgbClr val="E6EDF3"/>
                </a:solidFill>
                <a:latin typeface="Inconsolata"/>
              </a:rPr>
              <a:t>    transport = httpx.</a:t>
            </a:r>
            <a:r>
              <a:rPr sz="700" i="0">
                <a:solidFill>
                  <a:srgbClr val="7FDBCA"/>
                </a:solidFill>
                <a:latin typeface="Inconsolata"/>
              </a:rPr>
              <a:t>ASGITransport</a:t>
            </a:r>
            <a:r>
              <a:rPr sz="700" i="0">
                <a:solidFill>
                  <a:srgbClr val="E6EDF3"/>
                </a:solidFill>
                <a:latin typeface="Inconsolata"/>
              </a:rPr>
              <a:t>(app=app)</a:t>
            </a:r>
          </a:p>
          <a:p>
            <a:pPr>
              <a:lnSpc>
                <a:spcPct val="107095"/>
              </a:lnSpc>
              <a:spcAft>
                <a:spcPts val="0"/>
              </a:spcAft>
            </a:pPr>
            <a:r>
              <a:rPr sz="700" i="0">
                <a:solidFill>
                  <a:srgbClr val="5C6773"/>
                </a:solidFill>
                <a:latin typeface="Inconsolata"/>
              </a:rPr>
              <a:t>34  </a:t>
            </a:r>
            <a:r>
              <a:rPr sz="700" i="0">
                <a:solidFill>
                  <a:srgbClr val="E6EDF3"/>
                </a:solidFill>
                <a:latin typeface="Inconsolata"/>
              </a:rPr>
              <a:t>    </a:t>
            </a:r>
            <a:r>
              <a:rPr sz="700" i="0">
                <a:solidFill>
                  <a:srgbClr val="FF8E6E"/>
                </a:solidFill>
                <a:latin typeface="Inconsolata"/>
              </a:rPr>
              <a:t>async</a:t>
            </a:r>
            <a:r>
              <a:rPr sz="700" i="0">
                <a:solidFill>
                  <a:srgbClr val="E6EDF3"/>
                </a:solidFill>
                <a:latin typeface="Inconsolata"/>
              </a:rPr>
              <a:t> </a:t>
            </a:r>
            <a:r>
              <a:rPr sz="700" i="0">
                <a:solidFill>
                  <a:srgbClr val="FF8E6E"/>
                </a:solidFill>
                <a:latin typeface="Inconsolata"/>
              </a:rPr>
              <a:t>with</a:t>
            </a:r>
            <a:r>
              <a:rPr sz="700" i="0">
                <a:solidFill>
                  <a:srgbClr val="E6EDF3"/>
                </a:solidFill>
                <a:latin typeface="Inconsolata"/>
              </a:rPr>
              <a:t> httpx.</a:t>
            </a:r>
            <a:r>
              <a:rPr sz="700" i="0">
                <a:solidFill>
                  <a:srgbClr val="7FDBCA"/>
                </a:solidFill>
                <a:latin typeface="Inconsolata"/>
              </a:rPr>
              <a:t>AsyncClient</a:t>
            </a:r>
            <a:r>
              <a:rPr sz="700" i="0">
                <a:solidFill>
                  <a:srgbClr val="E6EDF3"/>
                </a:solidFill>
                <a:latin typeface="Inconsolata"/>
              </a:rPr>
              <a:t>(transport=transport,</a:t>
            </a:r>
          </a:p>
          <a:p>
            <a:pPr>
              <a:lnSpc>
                <a:spcPct val="107095"/>
              </a:lnSpc>
              <a:spcAft>
                <a:spcPts val="0"/>
              </a:spcAft>
            </a:pPr>
            <a:r>
              <a:rPr sz="700" i="0">
                <a:solidFill>
                  <a:srgbClr val="5C6773"/>
                </a:solidFill>
                <a:latin typeface="Inconsolata"/>
              </a:rPr>
              <a:t>35  </a:t>
            </a:r>
            <a:r>
              <a:rPr sz="700" i="0">
                <a:solidFill>
                  <a:srgbClr val="E6EDF3"/>
                </a:solidFill>
                <a:latin typeface="Inconsolata"/>
              </a:rPr>
              <a:t>                                 base_url=</a:t>
            </a:r>
            <a:r>
              <a:rPr sz="700" i="0">
                <a:solidFill>
                  <a:srgbClr val="A5D6A7"/>
                </a:solidFill>
                <a:latin typeface="Inconsolata"/>
              </a:rPr>
              <a:t>"http://api"</a:t>
            </a:r>
            <a:r>
              <a:rPr sz="700" i="0">
                <a:solidFill>
                  <a:srgbClr val="E6EDF3"/>
                </a:solidFill>
                <a:latin typeface="Inconsolata"/>
              </a:rPr>
              <a:t>) </a:t>
            </a:r>
            <a:r>
              <a:rPr sz="700" i="0">
                <a:solidFill>
                  <a:srgbClr val="FF8E6E"/>
                </a:solidFill>
                <a:latin typeface="Inconsolata"/>
              </a:rPr>
              <a:t>as</a:t>
            </a:r>
            <a:r>
              <a:rPr sz="700" i="0">
                <a:solidFill>
                  <a:srgbClr val="E6EDF3"/>
                </a:solidFill>
                <a:latin typeface="Inconsolata"/>
              </a:rPr>
              <a:t> client:</a:t>
            </a:r>
          </a:p>
          <a:p>
            <a:pPr>
              <a:lnSpc>
                <a:spcPct val="107095"/>
              </a:lnSpc>
              <a:spcAft>
                <a:spcPts val="0"/>
              </a:spcAft>
            </a:pPr>
            <a:r>
              <a:rPr sz="700" i="0">
                <a:solidFill>
                  <a:srgbClr val="5C6773"/>
                </a:solidFill>
                <a:latin typeface="Inconsolata"/>
              </a:rPr>
              <a:t>36  </a:t>
            </a:r>
            <a:r>
              <a:rPr sz="700" i="0">
                <a:solidFill>
                  <a:srgbClr val="E6EDF3"/>
                </a:solidFill>
                <a:latin typeface="Inconsolata"/>
              </a:rPr>
              <a:t>        customers = [</a:t>
            </a:r>
            <a:r>
              <a:rPr sz="700" i="0">
                <a:solidFill>
                  <a:srgbClr val="A5D6A7"/>
                </a:solidFill>
                <a:latin typeface="Inconsolata"/>
              </a:rPr>
              <a:t>"ani@mail.com"</a:t>
            </a:r>
            <a:r>
              <a:rPr sz="700" i="0">
                <a:solidFill>
                  <a:srgbClr val="E6EDF3"/>
                </a:solidFill>
                <a:latin typeface="Inconsolata"/>
              </a:rPr>
              <a:t>, </a:t>
            </a:r>
            <a:r>
              <a:rPr sz="700" i="0">
                <a:solidFill>
                  <a:srgbClr val="A5D6A7"/>
                </a:solidFill>
                <a:latin typeface="Inconsolata"/>
              </a:rPr>
              <a:t>"budi@mail.com"</a:t>
            </a:r>
            <a:r>
              <a:rPr sz="700" i="0">
                <a:solidFill>
                  <a:srgbClr val="E6EDF3"/>
                </a:solidFill>
                <a:latin typeface="Inconsolata"/>
              </a:rPr>
              <a:t>, </a:t>
            </a:r>
            <a:r>
              <a:rPr sz="700" i="0">
                <a:solidFill>
                  <a:srgbClr val="A5D6A7"/>
                </a:solidFill>
                <a:latin typeface="Inconsolata"/>
              </a:rPr>
              <a:t>"siti@mail.com"</a:t>
            </a:r>
            <a:r>
              <a:rPr sz="700" i="0">
                <a:solidFill>
                  <a:srgbClr val="E6EDF3"/>
                </a:solidFill>
                <a:latin typeface="Inconsolata"/>
              </a:rPr>
              <a:t>]</a:t>
            </a:r>
          </a:p>
          <a:p>
            <a:pPr>
              <a:lnSpc>
                <a:spcPct val="107095"/>
              </a:lnSpc>
              <a:spcAft>
                <a:spcPts val="0"/>
              </a:spcAft>
            </a:pPr>
            <a:r>
              <a:rPr sz="700" i="0">
                <a:solidFill>
                  <a:srgbClr val="5C6773"/>
                </a:solidFill>
                <a:latin typeface="Inconsolata"/>
              </a:rPr>
              <a:t>37  </a:t>
            </a:r>
            <a:r>
              <a:rPr sz="700" i="0">
                <a:solidFill>
                  <a:srgbClr val="E6EDF3"/>
                </a:solidFill>
                <a:latin typeface="Inconsolata"/>
              </a:rPr>
              <a:t>        responses = </a:t>
            </a:r>
            <a:r>
              <a:rPr sz="700" i="0">
                <a:solidFill>
                  <a:srgbClr val="FF8E6E"/>
                </a:solidFill>
                <a:latin typeface="Inconsolata"/>
              </a:rPr>
              <a:t>await</a:t>
            </a:r>
            <a:r>
              <a:rPr sz="700" i="0">
                <a:solidFill>
                  <a:srgbClr val="E6EDF3"/>
                </a:solidFill>
                <a:latin typeface="Inconsolata"/>
              </a:rPr>
              <a:t> asyncio.gather(*(</a:t>
            </a:r>
          </a:p>
          <a:p>
            <a:pPr>
              <a:lnSpc>
                <a:spcPct val="107095"/>
              </a:lnSpc>
              <a:spcAft>
                <a:spcPts val="0"/>
              </a:spcAft>
            </a:pPr>
            <a:r>
              <a:rPr sz="700" i="0">
                <a:solidFill>
                  <a:srgbClr val="5C6773"/>
                </a:solidFill>
                <a:latin typeface="Inconsolata"/>
              </a:rPr>
              <a:t>38  </a:t>
            </a:r>
            <a:r>
              <a:rPr sz="700" i="0">
                <a:solidFill>
                  <a:srgbClr val="E6EDF3"/>
                </a:solidFill>
                <a:latin typeface="Inconsolata"/>
              </a:rPr>
              <a:t>            client.post(</a:t>
            </a:r>
            <a:r>
              <a:rPr sz="700" i="0">
                <a:solidFill>
                  <a:srgbClr val="A5D6A7"/>
                </a:solidFill>
                <a:latin typeface="Inconsolata"/>
              </a:rPr>
              <a:t>"/orders"</a:t>
            </a:r>
            <a:r>
              <a:rPr sz="700" i="0">
                <a:solidFill>
                  <a:srgbClr val="E6EDF3"/>
                </a:solidFill>
                <a:latin typeface="Inconsolata"/>
              </a:rPr>
              <a:t>, params={</a:t>
            </a:r>
            <a:r>
              <a:rPr sz="700" i="0">
                <a:solidFill>
                  <a:srgbClr val="A5D6A7"/>
                </a:solidFill>
                <a:latin typeface="Inconsolata"/>
              </a:rPr>
              <a:t>"customer"</a:t>
            </a:r>
            <a:r>
              <a:rPr sz="700" i="0">
                <a:solidFill>
                  <a:srgbClr val="E6EDF3"/>
                </a:solidFill>
                <a:latin typeface="Inconsolata"/>
              </a:rPr>
              <a:t>: c})</a:t>
            </a:r>
          </a:p>
          <a:p>
            <a:pPr>
              <a:lnSpc>
                <a:spcPct val="107095"/>
              </a:lnSpc>
              <a:spcAft>
                <a:spcPts val="0"/>
              </a:spcAft>
            </a:pPr>
            <a:r>
              <a:rPr sz="700" i="0">
                <a:solidFill>
                  <a:srgbClr val="5C6773"/>
                </a:solidFill>
                <a:latin typeface="Inconsolata"/>
              </a:rPr>
              <a:t>39  </a:t>
            </a:r>
            <a:r>
              <a:rPr sz="700" i="0">
                <a:solidFill>
                  <a:srgbClr val="E6EDF3"/>
                </a:solidFill>
                <a:latin typeface="Inconsolata"/>
              </a:rPr>
              <a:t>            </a:t>
            </a:r>
            <a:r>
              <a:rPr sz="700" i="0">
                <a:solidFill>
                  <a:srgbClr val="FF8E6E"/>
                </a:solidFill>
                <a:latin typeface="Inconsolata"/>
              </a:rPr>
              <a:t>for</a:t>
            </a:r>
            <a:r>
              <a:rPr sz="700" i="0">
                <a:solidFill>
                  <a:srgbClr val="E6EDF3"/>
                </a:solidFill>
                <a:latin typeface="Inconsolata"/>
              </a:rPr>
              <a:t> c </a:t>
            </a:r>
            <a:r>
              <a:rPr sz="700" i="0">
                <a:solidFill>
                  <a:srgbClr val="FF8E6E"/>
                </a:solidFill>
                <a:latin typeface="Inconsolata"/>
              </a:rPr>
              <a:t>in</a:t>
            </a:r>
            <a:r>
              <a:rPr sz="700" i="0">
                <a:solidFill>
                  <a:srgbClr val="E6EDF3"/>
                </a:solidFill>
                <a:latin typeface="Inconsolata"/>
              </a:rPr>
              <a:t> customers))</a:t>
            </a:r>
          </a:p>
          <a:p>
            <a:pPr>
              <a:lnSpc>
                <a:spcPct val="107095"/>
              </a:lnSpc>
              <a:spcAft>
                <a:spcPts val="0"/>
              </a:spcAft>
            </a:pPr>
            <a:r>
              <a:rPr sz="700" i="0">
                <a:solidFill>
                  <a:srgbClr val="5C6773"/>
                </a:solidFill>
                <a:latin typeface="Inconsolata"/>
              </a:rPr>
              <a:t>40  </a:t>
            </a:r>
            <a:r>
              <a:rPr sz="700" i="0">
                <a:solidFill>
                  <a:srgbClr val="E6EDF3"/>
                </a:solidFill>
                <a:latin typeface="Inconsolata"/>
              </a:rPr>
              <a:t>    </a:t>
            </a:r>
            <a:r>
              <a:rPr sz="700" i="0">
                <a:solidFill>
                  <a:srgbClr val="FF8E6E"/>
                </a:solidFill>
                <a:latin typeface="Inconsolata"/>
              </a:rPr>
              <a:t>for</a:t>
            </a:r>
            <a:r>
              <a:rPr sz="700" i="0">
                <a:solidFill>
                  <a:srgbClr val="E6EDF3"/>
                </a:solidFill>
                <a:latin typeface="Inconsolata"/>
              </a:rPr>
              <a:t> customer, response </a:t>
            </a:r>
            <a:r>
              <a:rPr sz="700" i="0">
                <a:solidFill>
                  <a:srgbClr val="FF8E6E"/>
                </a:solidFill>
                <a:latin typeface="Inconsolata"/>
              </a:rPr>
              <a:t>in</a:t>
            </a:r>
            <a:r>
              <a:rPr sz="700" i="0">
                <a:solidFill>
                  <a:srgbClr val="E6EDF3"/>
                </a:solidFill>
                <a:latin typeface="Inconsolata"/>
              </a:rPr>
              <a:t> zip(customers, responses):</a:t>
            </a:r>
          </a:p>
          <a:p>
            <a:pPr>
              <a:lnSpc>
                <a:spcPct val="107095"/>
              </a:lnSpc>
              <a:spcAft>
                <a:spcPts val="0"/>
              </a:spcAft>
            </a:pPr>
            <a:r>
              <a:rPr sz="700" i="0">
                <a:solidFill>
                  <a:srgbClr val="5C6773"/>
                </a:solidFill>
                <a:latin typeface="Inconsolata"/>
              </a:rPr>
              <a:t>41  </a:t>
            </a:r>
            <a:r>
              <a:rPr sz="700" i="0">
                <a:solidFill>
                  <a:srgbClr val="E6EDF3"/>
                </a:solidFill>
                <a:latin typeface="Inconsolata"/>
              </a:rPr>
              <a:t>        </a:t>
            </a:r>
            <a:r>
              <a:rPr sz="700" i="0">
                <a:solidFill>
                  <a:srgbClr val="C3A6FF"/>
                </a:solidFill>
                <a:latin typeface="Inconsolata"/>
              </a:rPr>
              <a:t>print</a:t>
            </a:r>
            <a:r>
              <a:rPr sz="700" i="0">
                <a:solidFill>
                  <a:srgbClr val="E6EDF3"/>
                </a:solidFill>
                <a:latin typeface="Inconsolata"/>
              </a:rPr>
              <a:t>(</a:t>
            </a:r>
            <a:r>
              <a:rPr sz="700" i="0">
                <a:solidFill>
                  <a:srgbClr val="A5D6A7"/>
                </a:solidFill>
                <a:latin typeface="Inconsolata"/>
              </a:rPr>
              <a:t>f"{customer}: {response.status_code}, "</a:t>
            </a:r>
          </a:p>
          <a:p>
            <a:pPr>
              <a:lnSpc>
                <a:spcPct val="107095"/>
              </a:lnSpc>
              <a:spcAft>
                <a:spcPts val="0"/>
              </a:spcAft>
            </a:pPr>
            <a:r>
              <a:rPr sz="700" i="0">
                <a:solidFill>
                  <a:srgbClr val="5C6773"/>
                </a:solidFill>
                <a:latin typeface="Inconsolata"/>
              </a:rPr>
              <a:t>42  </a:t>
            </a:r>
            <a:r>
              <a:rPr sz="700" i="0">
                <a:solidFill>
                  <a:srgbClr val="E6EDF3"/>
                </a:solidFill>
                <a:latin typeface="Inconsolata"/>
              </a:rPr>
              <a:t>              </a:t>
            </a:r>
            <a:r>
              <a:rPr sz="700" i="0">
                <a:solidFill>
                  <a:srgbClr val="A5D6A7"/>
                </a:solidFill>
                <a:latin typeface="Inconsolata"/>
              </a:rPr>
              <a:t>f"header X-Request-ID = "</a:t>
            </a:r>
          </a:p>
          <a:p>
            <a:pPr>
              <a:lnSpc>
                <a:spcPct val="107095"/>
              </a:lnSpc>
              <a:spcAft>
                <a:spcPts val="0"/>
              </a:spcAft>
            </a:pPr>
            <a:r>
              <a:rPr sz="700" i="0">
                <a:solidFill>
                  <a:srgbClr val="5C6773"/>
                </a:solidFill>
                <a:latin typeface="Inconsolata"/>
              </a:rPr>
              <a:t>43  </a:t>
            </a:r>
            <a:r>
              <a:rPr sz="700" i="0">
                <a:solidFill>
                  <a:srgbClr val="E6EDF3"/>
                </a:solidFill>
                <a:latin typeface="Inconsolata"/>
              </a:rPr>
              <a:t>              </a:t>
            </a:r>
            <a:r>
              <a:rPr sz="700" i="0">
                <a:solidFill>
                  <a:srgbClr val="A5D6A7"/>
                </a:solidFill>
                <a:latin typeface="Inconsolata"/>
              </a:rPr>
              <a:t>f"{response.headers.get('X-Request-ID')}"</a:t>
            </a:r>
            <a:r>
              <a:rPr sz="700" i="0">
                <a:solidFill>
                  <a:srgbClr val="E6EDF3"/>
                </a:solidFill>
                <a:latin typeface="Inconsolata"/>
              </a:rPr>
              <a:t>)</a:t>
            </a:r>
          </a:p>
          <a:p>
            <a:pPr>
              <a:lnSpc>
                <a:spcPct val="107095"/>
              </a:lnSpc>
              <a:spcAft>
                <a:spcPts val="0"/>
              </a:spcAft>
            </a:pPr>
            <a:r>
              <a:rPr sz="700" i="0">
                <a:solidFill>
                  <a:srgbClr val="5C6773"/>
                </a:solidFill>
                <a:latin typeface="Inconsolata"/>
              </a:rPr>
              <a:t>44  </a:t>
            </a:r>
            <a:r>
              <a:rPr sz="700" i="0">
                <a:solidFill>
                  <a:srgbClr val="E6EDF3"/>
                </a:solidFill>
                <a:latin typeface="Inconsolata"/>
              </a:rPr>
              <a:t> </a:t>
            </a:r>
          </a:p>
          <a:p>
            <a:pPr>
              <a:lnSpc>
                <a:spcPct val="107095"/>
              </a:lnSpc>
              <a:spcAft>
                <a:spcPts val="0"/>
              </a:spcAft>
            </a:pPr>
            <a:r>
              <a:rPr sz="700" i="0">
                <a:solidFill>
                  <a:srgbClr val="5C6773"/>
                </a:solidFill>
                <a:latin typeface="Inconsolata"/>
              </a:rPr>
              <a:t>45  </a:t>
            </a:r>
            <a:r>
              <a:rPr sz="700" i="0">
                <a:solidFill>
                  <a:srgbClr val="E6EDF3"/>
                </a:solidFill>
                <a:latin typeface="Inconsolata"/>
              </a:rPr>
              <a:t> </a:t>
            </a:r>
          </a:p>
          <a:p>
            <a:pPr>
              <a:lnSpc>
                <a:spcPct val="107095"/>
              </a:lnSpc>
              <a:spcAft>
                <a:spcPts val="0"/>
              </a:spcAft>
            </a:pPr>
            <a:r>
              <a:rPr sz="700" i="0">
                <a:solidFill>
                  <a:srgbClr val="5C6773"/>
                </a:solidFill>
                <a:latin typeface="Inconsolata"/>
              </a:rPr>
              <a:t>46  </a:t>
            </a:r>
            <a:r>
              <a:rPr sz="700" i="0">
                <a:solidFill>
                  <a:srgbClr val="FF8E6E"/>
                </a:solidFill>
                <a:latin typeface="Inconsolata"/>
              </a:rPr>
              <a:t>if</a:t>
            </a:r>
            <a:r>
              <a:rPr sz="700" i="0">
                <a:solidFill>
                  <a:srgbClr val="E6EDF3"/>
                </a:solidFill>
                <a:latin typeface="Inconsolata"/>
              </a:rPr>
              <a:t> __name__ == </a:t>
            </a:r>
            <a:r>
              <a:rPr sz="700" i="0">
                <a:solidFill>
                  <a:srgbClr val="A5D6A7"/>
                </a:solidFill>
                <a:latin typeface="Inconsolata"/>
              </a:rPr>
              <a:t>"__main__"</a:t>
            </a:r>
            <a:r>
              <a:rPr sz="700" i="0">
                <a:solidFill>
                  <a:srgbClr val="E6EDF3"/>
                </a:solidFill>
                <a:latin typeface="Inconsolata"/>
              </a:rPr>
              <a:t>:</a:t>
            </a:r>
          </a:p>
          <a:p>
            <a:pPr>
              <a:lnSpc>
                <a:spcPct val="107095"/>
              </a:lnSpc>
              <a:spcAft>
                <a:spcPts val="0"/>
              </a:spcAft>
            </a:pPr>
            <a:r>
              <a:rPr sz="700" i="0">
                <a:solidFill>
                  <a:srgbClr val="5C6773"/>
                </a:solidFill>
                <a:latin typeface="Inconsolata"/>
              </a:rPr>
              <a:t>47  </a:t>
            </a:r>
            <a:r>
              <a:rPr sz="700" i="0">
                <a:solidFill>
                  <a:srgbClr val="E6EDF3"/>
                </a:solidFill>
                <a:latin typeface="Inconsolata"/>
              </a:rPr>
              <a:t>    asyncio.run(main())</a:t>
            </a:r>
          </a:p>
        </p:txBody>
      </p:sp>
      <p:sp>
        <p:nvSpPr>
          <p:cNvPr id="36" name="Box 21"/>
          <p:cNvSpPr/>
          <p:nvPr/>
        </p:nvSpPr>
        <p:spPr>
          <a:xfrm>
            <a:off x="704088" y="2625471"/>
            <a:ext cx="3694176" cy="107442"/>
          </a:xfrm>
          <a:prstGeom prst="roundRect">
            <a:avLst>
              <a:gd name="adj" fmla="val 42553"/>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25603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2396871"/>
            <a:ext cx="3694176" cy="336042"/>
          </a:xfrm>
          <a:prstGeom prst="roundRect">
            <a:avLst>
              <a:gd name="adj" fmla="val 13605"/>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24460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Correlation ID</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02-correlation-id/before.py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sesi-09-observability/02-correlation-id</a:t>
            </a:r>
          </a:p>
          <a:p>
            <a:pPr>
              <a:lnSpc>
                <a:spcPct val="111111"/>
              </a:lnSpc>
              <a:spcAft>
                <a:spcPts val="0"/>
              </a:spcAft>
            </a:pPr>
            <a:r>
              <a:rPr sz="900" i="0">
                <a:solidFill>
                  <a:srgbClr val="82B1FF"/>
                </a:solidFill>
                <a:latin typeface="Inconsolata"/>
              </a:rPr>
              <a:t>$ python before.py</a:t>
            </a:r>
          </a:p>
        </p:txBody>
      </p:sp>
      <p:pic>
        <p:nvPicPr>
          <p:cNvPr id="29" name="Image 12" descr="s09-02-correlation-id-before.png"/>
          <p:cNvPicPr>
            <a:picLocks noChangeAspect="1"/>
          </p:cNvPicPr>
          <p:nvPr/>
        </p:nvPicPr>
        <p:blipFill>
          <a:blip r:embed="rId2"/>
          <a:stretch>
            <a:fillRect/>
          </a:stretch>
        </p:blipFill>
        <p:spPr>
          <a:xfrm>
            <a:off x="621792" y="2322576"/>
            <a:ext cx="4297680" cy="1893665"/>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Format log tanpa id request (baris 16)</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Tiga request dikirim bersamaan (baris 37-39)</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Log "event gagal dikirim" tidak jelas milik request mana, dan response tidak membawa id apa pun.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Correlation ID</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request_id di setiap log (1/2)</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02-correlation-id/after.py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7095"/>
              </a:lnSpc>
              <a:spcAft>
                <a:spcPts val="0"/>
              </a:spcAft>
            </a:pPr>
            <a:r>
              <a:rPr sz="700" i="0">
                <a:solidFill>
                  <a:srgbClr val="5C6773"/>
                </a:solidFill>
                <a:latin typeface="Inconsolata"/>
              </a:rPr>
              <a:t>12  </a:t>
            </a:r>
            <a:r>
              <a:rPr sz="700" i="0">
                <a:solidFill>
                  <a:srgbClr val="FF8E6E"/>
                </a:solidFill>
                <a:latin typeface="Inconsolata"/>
              </a:rPr>
              <a:t>import</a:t>
            </a:r>
            <a:r>
              <a:rPr sz="700" i="0">
                <a:solidFill>
                  <a:srgbClr val="E6EDF3"/>
                </a:solidFill>
                <a:latin typeface="Inconsolata"/>
              </a:rPr>
              <a:t> asyncio</a:t>
            </a:r>
          </a:p>
          <a:p>
            <a:pPr>
              <a:lnSpc>
                <a:spcPct val="107095"/>
              </a:lnSpc>
              <a:spcAft>
                <a:spcPts val="0"/>
              </a:spcAft>
            </a:pPr>
            <a:r>
              <a:rPr sz="700" i="0">
                <a:solidFill>
                  <a:srgbClr val="5C6773"/>
                </a:solidFill>
                <a:latin typeface="Inconsolata"/>
              </a:rPr>
              <a:t>13  </a:t>
            </a:r>
            <a:r>
              <a:rPr sz="700" i="0">
                <a:solidFill>
                  <a:srgbClr val="FF8E6E"/>
                </a:solidFill>
                <a:latin typeface="Inconsolata"/>
              </a:rPr>
              <a:t>import</a:t>
            </a:r>
            <a:r>
              <a:rPr sz="700" i="0">
                <a:solidFill>
                  <a:srgbClr val="E6EDF3"/>
                </a:solidFill>
                <a:latin typeface="Inconsolata"/>
              </a:rPr>
              <a:t> logging</a:t>
            </a:r>
          </a:p>
          <a:p>
            <a:pPr>
              <a:lnSpc>
                <a:spcPct val="107095"/>
              </a:lnSpc>
              <a:spcAft>
                <a:spcPts val="0"/>
              </a:spcAft>
            </a:pPr>
            <a:r>
              <a:rPr sz="700" i="0">
                <a:solidFill>
                  <a:srgbClr val="5C6773"/>
                </a:solidFill>
                <a:latin typeface="Inconsolata"/>
              </a:rPr>
              <a:t>14  </a:t>
            </a:r>
            <a:r>
              <a:rPr sz="700" i="0">
                <a:solidFill>
                  <a:srgbClr val="FF8E6E"/>
                </a:solidFill>
                <a:latin typeface="Inconsolata"/>
              </a:rPr>
              <a:t>import</a:t>
            </a:r>
            <a:r>
              <a:rPr sz="700" i="0">
                <a:solidFill>
                  <a:srgbClr val="E6EDF3"/>
                </a:solidFill>
                <a:latin typeface="Inconsolata"/>
              </a:rPr>
              <a:t> uuid</a:t>
            </a:r>
          </a:p>
          <a:p>
            <a:pPr>
              <a:lnSpc>
                <a:spcPct val="107095"/>
              </a:lnSpc>
              <a:spcAft>
                <a:spcPts val="0"/>
              </a:spcAft>
            </a:pPr>
            <a:r>
              <a:rPr sz="700" i="0">
                <a:solidFill>
                  <a:srgbClr val="5C6773"/>
                </a:solidFill>
                <a:latin typeface="Inconsolata"/>
              </a:rPr>
              <a:t>15  </a:t>
            </a:r>
            <a:r>
              <a:rPr sz="700" i="0">
                <a:solidFill>
                  <a:srgbClr val="FF8E6E"/>
                </a:solidFill>
                <a:latin typeface="Inconsolata"/>
              </a:rPr>
              <a:t>from</a:t>
            </a:r>
            <a:r>
              <a:rPr sz="700" i="0">
                <a:solidFill>
                  <a:srgbClr val="E6EDF3"/>
                </a:solidFill>
                <a:latin typeface="Inconsolata"/>
              </a:rPr>
              <a:t> contextvars </a:t>
            </a:r>
            <a:r>
              <a:rPr sz="700" i="0">
                <a:solidFill>
                  <a:srgbClr val="FF8E6E"/>
                </a:solidFill>
                <a:latin typeface="Inconsolata"/>
              </a:rPr>
              <a:t>import</a:t>
            </a:r>
            <a:r>
              <a:rPr sz="700" i="0">
                <a:solidFill>
                  <a:srgbClr val="E6EDF3"/>
                </a:solidFill>
                <a:latin typeface="Inconsolata"/>
              </a:rPr>
              <a:t> </a:t>
            </a:r>
            <a:r>
              <a:rPr sz="700" i="0">
                <a:solidFill>
                  <a:srgbClr val="7FDBCA"/>
                </a:solidFill>
                <a:latin typeface="Inconsolata"/>
              </a:rPr>
              <a:t>ContextVar</a:t>
            </a:r>
          </a:p>
          <a:p>
            <a:pPr>
              <a:lnSpc>
                <a:spcPct val="107095"/>
              </a:lnSpc>
              <a:spcAft>
                <a:spcPts val="0"/>
              </a:spcAft>
            </a:pPr>
            <a:r>
              <a:rPr sz="700" i="0">
                <a:solidFill>
                  <a:srgbClr val="5C6773"/>
                </a:solidFill>
                <a:latin typeface="Inconsolata"/>
              </a:rPr>
              <a:t>16  </a:t>
            </a:r>
            <a:r>
              <a:rPr sz="700" i="0">
                <a:solidFill>
                  <a:srgbClr val="E6EDF3"/>
                </a:solidFill>
                <a:latin typeface="Inconsolata"/>
              </a:rPr>
              <a:t> </a:t>
            </a:r>
          </a:p>
          <a:p>
            <a:pPr>
              <a:lnSpc>
                <a:spcPct val="107095"/>
              </a:lnSpc>
              <a:spcAft>
                <a:spcPts val="0"/>
              </a:spcAft>
            </a:pPr>
            <a:r>
              <a:rPr sz="700" i="0">
                <a:solidFill>
                  <a:srgbClr val="5C6773"/>
                </a:solidFill>
                <a:latin typeface="Inconsolata"/>
              </a:rPr>
              <a:t>17  </a:t>
            </a:r>
            <a:r>
              <a:rPr sz="700" i="0">
                <a:solidFill>
                  <a:srgbClr val="FF8E6E"/>
                </a:solidFill>
                <a:latin typeface="Inconsolata"/>
              </a:rPr>
              <a:t>import</a:t>
            </a:r>
            <a:r>
              <a:rPr sz="700" i="0">
                <a:solidFill>
                  <a:srgbClr val="E6EDF3"/>
                </a:solidFill>
                <a:latin typeface="Inconsolata"/>
              </a:rPr>
              <a:t> httpx</a:t>
            </a:r>
          </a:p>
          <a:p>
            <a:pPr>
              <a:lnSpc>
                <a:spcPct val="107095"/>
              </a:lnSpc>
              <a:spcAft>
                <a:spcPts val="0"/>
              </a:spcAft>
            </a:pPr>
            <a:r>
              <a:rPr sz="700" i="0">
                <a:solidFill>
                  <a:srgbClr val="5C6773"/>
                </a:solidFill>
                <a:latin typeface="Inconsolata"/>
              </a:rPr>
              <a:t>18  </a:t>
            </a:r>
            <a:r>
              <a:rPr sz="700" i="0">
                <a:solidFill>
                  <a:srgbClr val="FF8E6E"/>
                </a:solidFill>
                <a:latin typeface="Inconsolata"/>
              </a:rPr>
              <a:t>from</a:t>
            </a:r>
            <a:r>
              <a:rPr sz="700" i="0">
                <a:solidFill>
                  <a:srgbClr val="E6EDF3"/>
                </a:solidFill>
                <a:latin typeface="Inconsolata"/>
              </a:rPr>
              <a:t> fastapi </a:t>
            </a:r>
            <a:r>
              <a:rPr sz="700" i="0">
                <a:solidFill>
                  <a:srgbClr val="FF8E6E"/>
                </a:solidFill>
                <a:latin typeface="Inconsolata"/>
              </a:rPr>
              <a:t>import</a:t>
            </a:r>
            <a:r>
              <a:rPr sz="700" i="0">
                <a:solidFill>
                  <a:srgbClr val="E6EDF3"/>
                </a:solidFill>
                <a:latin typeface="Inconsolata"/>
              </a:rPr>
              <a:t> </a:t>
            </a:r>
            <a:r>
              <a:rPr sz="700" i="0">
                <a:solidFill>
                  <a:srgbClr val="7FDBCA"/>
                </a:solidFill>
                <a:latin typeface="Inconsolata"/>
              </a:rPr>
              <a:t>FastAPI</a:t>
            </a:r>
            <a:r>
              <a:rPr sz="700" i="0">
                <a:solidFill>
                  <a:srgbClr val="E6EDF3"/>
                </a:solidFill>
                <a:latin typeface="Inconsolata"/>
              </a:rPr>
              <a:t>, </a:t>
            </a:r>
            <a:r>
              <a:rPr sz="700" i="0">
                <a:solidFill>
                  <a:srgbClr val="7FDBCA"/>
                </a:solidFill>
                <a:latin typeface="Inconsolata"/>
              </a:rPr>
              <a:t>Request</a:t>
            </a:r>
          </a:p>
          <a:p>
            <a:pPr>
              <a:lnSpc>
                <a:spcPct val="107095"/>
              </a:lnSpc>
              <a:spcAft>
                <a:spcPts val="0"/>
              </a:spcAft>
            </a:pPr>
            <a:r>
              <a:rPr sz="700" i="0">
                <a:solidFill>
                  <a:srgbClr val="5C6773"/>
                </a:solidFill>
                <a:latin typeface="Inconsolata"/>
              </a:rPr>
              <a:t>19  </a:t>
            </a:r>
            <a:r>
              <a:rPr sz="700" i="0">
                <a:solidFill>
                  <a:srgbClr val="E6EDF3"/>
                </a:solidFill>
                <a:latin typeface="Inconsolata"/>
              </a:rPr>
              <a:t> </a:t>
            </a:r>
          </a:p>
          <a:p>
            <a:pPr>
              <a:lnSpc>
                <a:spcPct val="107095"/>
              </a:lnSpc>
              <a:spcAft>
                <a:spcPts val="0"/>
              </a:spcAft>
            </a:pPr>
            <a:r>
              <a:rPr sz="700" i="0">
                <a:solidFill>
                  <a:srgbClr val="5C6773"/>
                </a:solidFill>
                <a:latin typeface="Inconsolata"/>
              </a:rPr>
              <a:t>20  </a:t>
            </a:r>
            <a:r>
              <a:rPr sz="700" i="0">
                <a:solidFill>
                  <a:srgbClr val="E6EDF3"/>
                </a:solidFill>
                <a:latin typeface="Inconsolata"/>
              </a:rPr>
              <a:t>request_id_var: </a:t>
            </a:r>
            <a:r>
              <a:rPr sz="700" i="0">
                <a:solidFill>
                  <a:srgbClr val="7FDBCA"/>
                </a:solidFill>
                <a:latin typeface="Inconsolata"/>
              </a:rPr>
              <a:t>ContextVar</a:t>
            </a:r>
            <a:r>
              <a:rPr sz="700" i="0">
                <a:solidFill>
                  <a:srgbClr val="E6EDF3"/>
                </a:solidFill>
                <a:latin typeface="Inconsolata"/>
              </a:rPr>
              <a:t>[</a:t>
            </a:r>
            <a:r>
              <a:rPr sz="700" i="0">
                <a:solidFill>
                  <a:srgbClr val="C3A6FF"/>
                </a:solidFill>
                <a:latin typeface="Inconsolata"/>
              </a:rPr>
              <a:t>str</a:t>
            </a:r>
            <a:r>
              <a:rPr sz="700" i="0">
                <a:solidFill>
                  <a:srgbClr val="E6EDF3"/>
                </a:solidFill>
                <a:latin typeface="Inconsolata"/>
              </a:rPr>
              <a:t>] = </a:t>
            </a:r>
            <a:r>
              <a:rPr sz="700" i="0">
                <a:solidFill>
                  <a:srgbClr val="7FDBCA"/>
                </a:solidFill>
                <a:latin typeface="Inconsolata"/>
              </a:rPr>
              <a:t>ContextVar</a:t>
            </a:r>
            <a:r>
              <a:rPr sz="700" i="0">
                <a:solidFill>
                  <a:srgbClr val="E6EDF3"/>
                </a:solidFill>
                <a:latin typeface="Inconsolata"/>
              </a:rPr>
              <a:t>(</a:t>
            </a:r>
            <a:r>
              <a:rPr sz="700" i="0">
                <a:solidFill>
                  <a:srgbClr val="A5D6A7"/>
                </a:solidFill>
                <a:latin typeface="Inconsolata"/>
              </a:rPr>
              <a:t>"request_id"</a:t>
            </a:r>
            <a:r>
              <a:rPr sz="700" i="0">
                <a:solidFill>
                  <a:srgbClr val="E6EDF3"/>
                </a:solidFill>
                <a:latin typeface="Inconsolata"/>
              </a:rPr>
              <a:t>, default=</a:t>
            </a:r>
            <a:r>
              <a:rPr sz="700" i="0">
                <a:solidFill>
                  <a:srgbClr val="A5D6A7"/>
                </a:solidFill>
                <a:latin typeface="Inconsolata"/>
              </a:rPr>
              <a:t>"-"</a:t>
            </a:r>
            <a:r>
              <a:rPr sz="700" i="0">
                <a:solidFill>
                  <a:srgbClr val="E6EDF3"/>
                </a:solidFill>
                <a:latin typeface="Inconsolata"/>
              </a:rPr>
              <a:t>)</a:t>
            </a:r>
          </a:p>
          <a:p>
            <a:pPr>
              <a:lnSpc>
                <a:spcPct val="107095"/>
              </a:lnSpc>
              <a:spcAft>
                <a:spcPts val="0"/>
              </a:spcAft>
            </a:pPr>
            <a:r>
              <a:rPr sz="700" i="0">
                <a:solidFill>
                  <a:srgbClr val="5C6773"/>
                </a:solidFill>
                <a:latin typeface="Inconsolata"/>
              </a:rPr>
              <a:t>21  </a:t>
            </a:r>
            <a:r>
              <a:rPr sz="700" i="0">
                <a:solidFill>
                  <a:srgbClr val="E6EDF3"/>
                </a:solidFill>
                <a:latin typeface="Inconsolata"/>
              </a:rPr>
              <a:t> </a:t>
            </a:r>
          </a:p>
          <a:p>
            <a:pPr>
              <a:lnSpc>
                <a:spcPct val="107095"/>
              </a:lnSpc>
              <a:spcAft>
                <a:spcPts val="0"/>
              </a:spcAft>
            </a:pPr>
            <a:r>
              <a:rPr sz="700" i="0">
                <a:solidFill>
                  <a:srgbClr val="5C6773"/>
                </a:solidFill>
                <a:latin typeface="Inconsolata"/>
              </a:rPr>
              <a:t>22  </a:t>
            </a:r>
            <a:r>
              <a:rPr sz="700" i="0">
                <a:solidFill>
                  <a:srgbClr val="E6EDF3"/>
                </a:solidFill>
                <a:latin typeface="Inconsolata"/>
              </a:rPr>
              <a:t> </a:t>
            </a:r>
          </a:p>
          <a:p>
            <a:pPr>
              <a:lnSpc>
                <a:spcPct val="107095"/>
              </a:lnSpc>
              <a:spcAft>
                <a:spcPts val="0"/>
              </a:spcAft>
            </a:pPr>
            <a:r>
              <a:rPr sz="700" i="0">
                <a:solidFill>
                  <a:srgbClr val="5C6773"/>
                </a:solidFill>
                <a:latin typeface="Inconsolata"/>
              </a:rPr>
              <a:t>23  </a:t>
            </a:r>
            <a:r>
              <a:rPr sz="700" i="0">
                <a:solidFill>
                  <a:srgbClr val="FF8E6E"/>
                </a:solidFill>
                <a:latin typeface="Inconsolata"/>
              </a:rPr>
              <a:t>class</a:t>
            </a:r>
            <a:r>
              <a:rPr sz="700" i="0">
                <a:solidFill>
                  <a:srgbClr val="E6EDF3"/>
                </a:solidFill>
                <a:latin typeface="Inconsolata"/>
              </a:rPr>
              <a:t> </a:t>
            </a:r>
            <a:r>
              <a:rPr sz="700" i="0">
                <a:solidFill>
                  <a:srgbClr val="7FDBCA"/>
                </a:solidFill>
                <a:latin typeface="Inconsolata"/>
              </a:rPr>
              <a:t>RequestIdFilter</a:t>
            </a:r>
            <a:r>
              <a:rPr sz="700" i="0">
                <a:solidFill>
                  <a:srgbClr val="E6EDF3"/>
                </a:solidFill>
                <a:latin typeface="Inconsolata"/>
              </a:rPr>
              <a:t>(logging.</a:t>
            </a:r>
            <a:r>
              <a:rPr sz="700" i="0">
                <a:solidFill>
                  <a:srgbClr val="7FDBCA"/>
                </a:solidFill>
                <a:latin typeface="Inconsolata"/>
              </a:rPr>
              <a:t>Filter</a:t>
            </a:r>
            <a:r>
              <a:rPr sz="700" i="0">
                <a:solidFill>
                  <a:srgbClr val="E6EDF3"/>
                </a:solidFill>
                <a:latin typeface="Inconsolata"/>
              </a:rPr>
              <a:t>):</a:t>
            </a:r>
          </a:p>
          <a:p>
            <a:pPr>
              <a:lnSpc>
                <a:spcPct val="107095"/>
              </a:lnSpc>
              <a:spcAft>
                <a:spcPts val="0"/>
              </a:spcAft>
            </a:pPr>
            <a:r>
              <a:rPr sz="700" i="0">
                <a:solidFill>
                  <a:srgbClr val="5C6773"/>
                </a:solidFill>
                <a:latin typeface="Inconsolata"/>
              </a:rPr>
              <a:t>24  </a:t>
            </a:r>
            <a:r>
              <a:rPr sz="700" i="0">
                <a:solidFill>
                  <a:srgbClr val="E6EDF3"/>
                </a:solidFill>
                <a:latin typeface="Inconsolata"/>
              </a:rPr>
              <a:t>    </a:t>
            </a: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filter</a:t>
            </a:r>
            <a:r>
              <a:rPr sz="700" i="0">
                <a:solidFill>
                  <a:srgbClr val="E6EDF3"/>
                </a:solidFill>
                <a:latin typeface="Inconsolata"/>
              </a:rPr>
              <a:t>(</a:t>
            </a:r>
            <a:r>
              <a:rPr sz="700" i="0">
                <a:solidFill>
                  <a:srgbClr val="C3A6FF"/>
                </a:solidFill>
                <a:latin typeface="Inconsolata"/>
              </a:rPr>
              <a:t>self</a:t>
            </a:r>
            <a:r>
              <a:rPr sz="700" i="0">
                <a:solidFill>
                  <a:srgbClr val="E6EDF3"/>
                </a:solidFill>
                <a:latin typeface="Inconsolata"/>
              </a:rPr>
              <a:t>, record: logging.</a:t>
            </a:r>
            <a:r>
              <a:rPr sz="700" i="0">
                <a:solidFill>
                  <a:srgbClr val="7FDBCA"/>
                </a:solidFill>
                <a:latin typeface="Inconsolata"/>
              </a:rPr>
              <a:t>LogRecord</a:t>
            </a:r>
            <a:r>
              <a:rPr sz="700" i="0">
                <a:solidFill>
                  <a:srgbClr val="E6EDF3"/>
                </a:solidFill>
                <a:latin typeface="Inconsolata"/>
              </a:rPr>
              <a:t>) -&gt; </a:t>
            </a:r>
            <a:r>
              <a:rPr sz="700" i="0">
                <a:solidFill>
                  <a:srgbClr val="C3A6FF"/>
                </a:solidFill>
                <a:latin typeface="Inconsolata"/>
              </a:rPr>
              <a:t>bool</a:t>
            </a:r>
            <a:r>
              <a:rPr sz="700" i="0">
                <a:solidFill>
                  <a:srgbClr val="E6EDF3"/>
                </a:solidFill>
                <a:latin typeface="Inconsolata"/>
              </a:rPr>
              <a:t>:</a:t>
            </a:r>
          </a:p>
          <a:p>
            <a:pPr>
              <a:lnSpc>
                <a:spcPct val="107095"/>
              </a:lnSpc>
              <a:spcAft>
                <a:spcPts val="0"/>
              </a:spcAft>
            </a:pPr>
            <a:r>
              <a:rPr sz="700" i="0">
                <a:solidFill>
                  <a:srgbClr val="5C6773"/>
                </a:solidFill>
                <a:latin typeface="Inconsolata"/>
              </a:rPr>
              <a:t>25  </a:t>
            </a:r>
            <a:r>
              <a:rPr sz="700" i="0">
                <a:solidFill>
                  <a:srgbClr val="E6EDF3"/>
                </a:solidFill>
                <a:latin typeface="Inconsolata"/>
              </a:rPr>
              <a:t>        record.request_id = request_id_var.get()   </a:t>
            </a:r>
            <a:r>
              <a:rPr sz="700" i="1">
                <a:solidFill>
                  <a:srgbClr val="8B98A8"/>
                </a:solidFill>
                <a:latin typeface="Inconsolata"/>
              </a:rPr>
              <a:t># tempel ke log</a:t>
            </a:r>
          </a:p>
          <a:p>
            <a:pPr>
              <a:lnSpc>
                <a:spcPct val="107095"/>
              </a:lnSpc>
              <a:spcAft>
                <a:spcPts val="0"/>
              </a:spcAft>
            </a:pPr>
            <a:r>
              <a:rPr sz="700" i="0">
                <a:solidFill>
                  <a:srgbClr val="5C6773"/>
                </a:solidFill>
                <a:latin typeface="Inconsolata"/>
              </a:rPr>
              <a:t>26  </a:t>
            </a:r>
            <a:r>
              <a:rPr sz="700" i="0">
                <a:solidFill>
                  <a:srgbClr val="E6EDF3"/>
                </a:solidFill>
                <a:latin typeface="Inconsolata"/>
              </a:rPr>
              <a:t>        </a:t>
            </a:r>
            <a:r>
              <a:rPr sz="700" i="0">
                <a:solidFill>
                  <a:srgbClr val="FF8E6E"/>
                </a:solidFill>
                <a:latin typeface="Inconsolata"/>
              </a:rPr>
              <a:t>return</a:t>
            </a:r>
            <a:r>
              <a:rPr sz="700" i="0">
                <a:solidFill>
                  <a:srgbClr val="E6EDF3"/>
                </a:solidFill>
                <a:latin typeface="Inconsolata"/>
              </a:rPr>
              <a:t> </a:t>
            </a:r>
            <a:r>
              <a:rPr sz="700" i="0">
                <a:solidFill>
                  <a:srgbClr val="FF8E6E"/>
                </a:solidFill>
                <a:latin typeface="Inconsolata"/>
              </a:rPr>
              <a:t>True</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02-correlation-id/after.py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7095"/>
              </a:lnSpc>
              <a:spcAft>
                <a:spcPts val="0"/>
              </a:spcAft>
            </a:pPr>
            <a:r>
              <a:rPr sz="700" i="0">
                <a:solidFill>
                  <a:srgbClr val="5C6773"/>
                </a:solidFill>
                <a:latin typeface="Inconsolata"/>
              </a:rPr>
              <a:t>29  </a:t>
            </a:r>
            <a:r>
              <a:rPr sz="700" i="0">
                <a:solidFill>
                  <a:srgbClr val="E6EDF3"/>
                </a:solidFill>
                <a:latin typeface="Inconsolata"/>
              </a:rPr>
              <a:t>handler = logging.</a:t>
            </a:r>
            <a:r>
              <a:rPr sz="700" i="0">
                <a:solidFill>
                  <a:srgbClr val="7FDBCA"/>
                </a:solidFill>
                <a:latin typeface="Inconsolata"/>
              </a:rPr>
              <a:t>StreamHandler</a:t>
            </a:r>
            <a:r>
              <a:rPr sz="700" i="0">
                <a:solidFill>
                  <a:srgbClr val="E6EDF3"/>
                </a:solidFill>
                <a:latin typeface="Inconsolata"/>
              </a:rPr>
              <a:t>()</a:t>
            </a:r>
          </a:p>
          <a:p>
            <a:pPr>
              <a:lnSpc>
                <a:spcPct val="107095"/>
              </a:lnSpc>
              <a:spcAft>
                <a:spcPts val="0"/>
              </a:spcAft>
            </a:pPr>
            <a:r>
              <a:rPr sz="700" i="0">
                <a:solidFill>
                  <a:srgbClr val="5C6773"/>
                </a:solidFill>
                <a:latin typeface="Inconsolata"/>
              </a:rPr>
              <a:t>30  </a:t>
            </a:r>
            <a:r>
              <a:rPr sz="700" i="0">
                <a:solidFill>
                  <a:srgbClr val="E6EDF3"/>
                </a:solidFill>
                <a:latin typeface="Inconsolata"/>
              </a:rPr>
              <a:t>handler.addFilter(</a:t>
            </a:r>
            <a:r>
              <a:rPr sz="700" i="0">
                <a:solidFill>
                  <a:srgbClr val="7FDBCA"/>
                </a:solidFill>
                <a:latin typeface="Inconsolata"/>
              </a:rPr>
              <a:t>RequestIdFilter</a:t>
            </a:r>
            <a:r>
              <a:rPr sz="700" i="0">
                <a:solidFill>
                  <a:srgbClr val="E6EDF3"/>
                </a:solidFill>
                <a:latin typeface="Inconsolata"/>
              </a:rPr>
              <a:t>())</a:t>
            </a:r>
          </a:p>
          <a:p>
            <a:pPr>
              <a:lnSpc>
                <a:spcPct val="107095"/>
              </a:lnSpc>
              <a:spcAft>
                <a:spcPts val="0"/>
              </a:spcAft>
            </a:pPr>
            <a:r>
              <a:rPr sz="700" i="0">
                <a:solidFill>
                  <a:srgbClr val="5C6773"/>
                </a:solidFill>
                <a:latin typeface="Inconsolata"/>
              </a:rPr>
              <a:t>31  </a:t>
            </a:r>
            <a:r>
              <a:rPr sz="700" i="0">
                <a:solidFill>
                  <a:srgbClr val="E6EDF3"/>
                </a:solidFill>
                <a:latin typeface="Inconsolata"/>
              </a:rPr>
              <a:t>logging.basicConfig(</a:t>
            </a:r>
          </a:p>
          <a:p>
            <a:pPr>
              <a:lnSpc>
                <a:spcPct val="107095"/>
              </a:lnSpc>
              <a:spcAft>
                <a:spcPts val="0"/>
              </a:spcAft>
            </a:pPr>
            <a:r>
              <a:rPr sz="700" i="0">
                <a:solidFill>
                  <a:srgbClr val="5C6773"/>
                </a:solidFill>
                <a:latin typeface="Inconsolata"/>
              </a:rPr>
              <a:t>32  </a:t>
            </a:r>
            <a:r>
              <a:rPr sz="700" i="0">
                <a:solidFill>
                  <a:srgbClr val="E6EDF3"/>
                </a:solidFill>
                <a:latin typeface="Inconsolata"/>
              </a:rPr>
              <a:t>    level=logging.</a:t>
            </a:r>
            <a:r>
              <a:rPr sz="700" i="0">
                <a:solidFill>
                  <a:srgbClr val="7FDBCA"/>
                </a:solidFill>
                <a:latin typeface="Inconsolata"/>
              </a:rPr>
              <a:t>INFO</a:t>
            </a:r>
            <a:r>
              <a:rPr sz="700" i="0">
                <a:solidFill>
                  <a:srgbClr val="E6EDF3"/>
                </a:solidFill>
                <a:latin typeface="Inconsolata"/>
              </a:rPr>
              <a:t>, handlers=[handler],</a:t>
            </a:r>
          </a:p>
          <a:p>
            <a:pPr>
              <a:lnSpc>
                <a:spcPct val="107095"/>
              </a:lnSpc>
              <a:spcAft>
                <a:spcPts val="0"/>
              </a:spcAft>
            </a:pPr>
            <a:r>
              <a:rPr sz="700" i="0">
                <a:solidFill>
                  <a:srgbClr val="5C6773"/>
                </a:solidFill>
                <a:latin typeface="Inconsolata"/>
              </a:rPr>
              <a:t>33  </a:t>
            </a:r>
            <a:r>
              <a:rPr sz="700" i="0">
                <a:solidFill>
                  <a:srgbClr val="E6EDF3"/>
                </a:solidFill>
                <a:latin typeface="Inconsolata"/>
              </a:rPr>
              <a:t>    format=</a:t>
            </a:r>
            <a:r>
              <a:rPr sz="700" i="0">
                <a:solidFill>
                  <a:srgbClr val="A5D6A7"/>
                </a:solidFill>
                <a:latin typeface="Inconsolata"/>
              </a:rPr>
              <a:t>"%(levelname)-7s [%(request_id)s] %(message)s"</a:t>
            </a:r>
            <a:r>
              <a:rPr sz="700" i="0">
                <a:solidFill>
                  <a:srgbClr val="E6EDF3"/>
                </a:solidFill>
                <a:latin typeface="Inconsolata"/>
              </a:rPr>
              <a:t>)</a:t>
            </a:r>
          </a:p>
          <a:p>
            <a:pPr>
              <a:lnSpc>
                <a:spcPct val="107095"/>
              </a:lnSpc>
              <a:spcAft>
                <a:spcPts val="0"/>
              </a:spcAft>
            </a:pPr>
            <a:r>
              <a:rPr sz="700" i="0">
                <a:solidFill>
                  <a:srgbClr val="5C6773"/>
                </a:solidFill>
                <a:latin typeface="Inconsolata"/>
              </a:rPr>
              <a:t>34  </a:t>
            </a:r>
            <a:r>
              <a:rPr sz="700" i="0">
                <a:solidFill>
                  <a:srgbClr val="E6EDF3"/>
                </a:solidFill>
                <a:latin typeface="Inconsolata"/>
              </a:rPr>
              <a:t>logging.getLogger(</a:t>
            </a:r>
            <a:r>
              <a:rPr sz="700" i="0">
                <a:solidFill>
                  <a:srgbClr val="A5D6A7"/>
                </a:solidFill>
                <a:latin typeface="Inconsolata"/>
              </a:rPr>
              <a:t>"httpx"</a:t>
            </a:r>
            <a:r>
              <a:rPr sz="700" i="0">
                <a:solidFill>
                  <a:srgbClr val="E6EDF3"/>
                </a:solidFill>
                <a:latin typeface="Inconsolata"/>
              </a:rPr>
              <a:t>).setLevel(logging.</a:t>
            </a:r>
            <a:r>
              <a:rPr sz="700" i="0">
                <a:solidFill>
                  <a:srgbClr val="7FDBCA"/>
                </a:solidFill>
                <a:latin typeface="Inconsolata"/>
              </a:rPr>
              <a:t>WARNING</a:t>
            </a:r>
            <a:r>
              <a:rPr sz="700" i="0">
                <a:solidFill>
                  <a:srgbClr val="E6EDF3"/>
                </a:solidFill>
                <a:latin typeface="Inconsolata"/>
              </a:rPr>
              <a:t>)   </a:t>
            </a:r>
            <a:r>
              <a:rPr sz="700" i="1">
                <a:solidFill>
                  <a:srgbClr val="8B98A8"/>
                </a:solidFill>
                <a:latin typeface="Inconsolata"/>
              </a:rPr>
              <a:t># log client demo</a:t>
            </a:r>
          </a:p>
          <a:p>
            <a:pPr>
              <a:lnSpc>
                <a:spcPct val="107095"/>
              </a:lnSpc>
              <a:spcAft>
                <a:spcPts val="0"/>
              </a:spcAft>
            </a:pPr>
            <a:r>
              <a:rPr sz="700" i="0">
                <a:solidFill>
                  <a:srgbClr val="5C6773"/>
                </a:solidFill>
                <a:latin typeface="Inconsolata"/>
              </a:rPr>
              <a:t>35  </a:t>
            </a:r>
            <a:r>
              <a:rPr sz="700" i="0">
                <a:solidFill>
                  <a:srgbClr val="E6EDF3"/>
                </a:solidFill>
                <a:latin typeface="Inconsolata"/>
              </a:rPr>
              <a:t>logger = logging.getLogger(</a:t>
            </a:r>
            <a:r>
              <a:rPr sz="700" i="0">
                <a:solidFill>
                  <a:srgbClr val="A5D6A7"/>
                </a:solidFill>
                <a:latin typeface="Inconsolata"/>
              </a:rPr>
              <a:t>"orders"</a:t>
            </a:r>
            <a:r>
              <a:rPr sz="700" i="0">
                <a:solidFill>
                  <a:srgbClr val="E6EDF3"/>
                </a:solidFill>
                <a:latin typeface="Inconsolata"/>
              </a:rPr>
              <a:t>)</a:t>
            </a:r>
          </a:p>
          <a:p>
            <a:pPr>
              <a:lnSpc>
                <a:spcPct val="107095"/>
              </a:lnSpc>
              <a:spcAft>
                <a:spcPts val="0"/>
              </a:spcAft>
            </a:pPr>
            <a:r>
              <a:rPr sz="700" i="0">
                <a:solidFill>
                  <a:srgbClr val="5C6773"/>
                </a:solidFill>
                <a:latin typeface="Inconsolata"/>
              </a:rPr>
              <a:t>36  </a:t>
            </a:r>
            <a:r>
              <a:rPr sz="700" i="0">
                <a:solidFill>
                  <a:srgbClr val="E6EDF3"/>
                </a:solidFill>
                <a:latin typeface="Inconsolata"/>
              </a:rPr>
              <a:t>app = </a:t>
            </a:r>
            <a:r>
              <a:rPr sz="700" i="0">
                <a:solidFill>
                  <a:srgbClr val="7FDBCA"/>
                </a:solidFill>
                <a:latin typeface="Inconsolata"/>
              </a:rPr>
              <a:t>FastAPI</a:t>
            </a:r>
            <a:r>
              <a:rPr sz="700" i="0">
                <a:solidFill>
                  <a:srgbClr val="E6EDF3"/>
                </a:solidFill>
                <a:latin typeface="Inconsolata"/>
              </a:rPr>
              <a:t>()</a:t>
            </a:r>
          </a:p>
          <a:p>
            <a:pPr>
              <a:lnSpc>
                <a:spcPct val="107095"/>
              </a:lnSpc>
              <a:spcAft>
                <a:spcPts val="0"/>
              </a:spcAft>
            </a:pPr>
            <a:r>
              <a:rPr sz="700" i="0">
                <a:solidFill>
                  <a:srgbClr val="5C6773"/>
                </a:solidFill>
                <a:latin typeface="Inconsolata"/>
              </a:rPr>
              <a:t>37  </a:t>
            </a:r>
            <a:r>
              <a:rPr sz="700" i="0">
                <a:solidFill>
                  <a:srgbClr val="E6EDF3"/>
                </a:solidFill>
                <a:latin typeface="Inconsolata"/>
              </a:rPr>
              <a:t> </a:t>
            </a:r>
          </a:p>
          <a:p>
            <a:pPr>
              <a:lnSpc>
                <a:spcPct val="107095"/>
              </a:lnSpc>
              <a:spcAft>
                <a:spcPts val="0"/>
              </a:spcAft>
            </a:pPr>
            <a:r>
              <a:rPr sz="700" i="0">
                <a:solidFill>
                  <a:srgbClr val="5C6773"/>
                </a:solidFill>
                <a:latin typeface="Inconsolata"/>
              </a:rPr>
              <a:t>38  </a:t>
            </a:r>
            <a:r>
              <a:rPr sz="700" i="0">
                <a:solidFill>
                  <a:srgbClr val="E6EDF3"/>
                </a:solidFill>
                <a:latin typeface="Inconsolata"/>
              </a:rPr>
              <a:t> </a:t>
            </a:r>
          </a:p>
          <a:p>
            <a:pPr>
              <a:lnSpc>
                <a:spcPct val="107095"/>
              </a:lnSpc>
              <a:spcAft>
                <a:spcPts val="0"/>
              </a:spcAft>
            </a:pPr>
            <a:r>
              <a:rPr sz="700" i="0">
                <a:solidFill>
                  <a:srgbClr val="5C6773"/>
                </a:solidFill>
                <a:latin typeface="Inconsolata"/>
              </a:rPr>
              <a:t>39  </a:t>
            </a:r>
            <a:r>
              <a:rPr sz="700" i="0">
                <a:solidFill>
                  <a:srgbClr val="F9C97A"/>
                </a:solidFill>
                <a:latin typeface="Inconsolata"/>
              </a:rPr>
              <a:t>@app.middleware</a:t>
            </a:r>
            <a:r>
              <a:rPr sz="700" i="0">
                <a:solidFill>
                  <a:srgbClr val="E6EDF3"/>
                </a:solidFill>
                <a:latin typeface="Inconsolata"/>
              </a:rPr>
              <a:t>(</a:t>
            </a:r>
            <a:r>
              <a:rPr sz="700" i="0">
                <a:solidFill>
                  <a:srgbClr val="A5D6A7"/>
                </a:solidFill>
                <a:latin typeface="Inconsolata"/>
              </a:rPr>
              <a:t>"http"</a:t>
            </a:r>
            <a:r>
              <a:rPr sz="700" i="0">
                <a:solidFill>
                  <a:srgbClr val="E6EDF3"/>
                </a:solidFill>
                <a:latin typeface="Inconsolata"/>
              </a:rPr>
              <a:t>)</a:t>
            </a:r>
          </a:p>
          <a:p>
            <a:pPr>
              <a:lnSpc>
                <a:spcPct val="107095"/>
              </a:lnSpc>
              <a:spcAft>
                <a:spcPts val="0"/>
              </a:spcAft>
            </a:pPr>
            <a:r>
              <a:rPr sz="700" i="0">
                <a:solidFill>
                  <a:srgbClr val="5C6773"/>
                </a:solidFill>
                <a:latin typeface="Inconsolata"/>
              </a:rPr>
              <a:t>40  </a:t>
            </a:r>
            <a:r>
              <a:rPr sz="700" i="0">
                <a:solidFill>
                  <a:srgbClr val="FF8E6E"/>
                </a:solidFill>
                <a:latin typeface="Inconsolata"/>
              </a:rPr>
              <a:t>async</a:t>
            </a:r>
            <a:r>
              <a:rPr sz="700" i="0">
                <a:solidFill>
                  <a:srgbClr val="E6EDF3"/>
                </a:solidFill>
                <a:latin typeface="Inconsolata"/>
              </a:rPr>
              <a:t> </a:t>
            </a: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add_request_id</a:t>
            </a:r>
            <a:r>
              <a:rPr sz="700" i="0">
                <a:solidFill>
                  <a:srgbClr val="E6EDF3"/>
                </a:solidFill>
                <a:latin typeface="Inconsolata"/>
              </a:rPr>
              <a:t>(request: </a:t>
            </a:r>
            <a:r>
              <a:rPr sz="700" i="0">
                <a:solidFill>
                  <a:srgbClr val="7FDBCA"/>
                </a:solidFill>
                <a:latin typeface="Inconsolata"/>
              </a:rPr>
              <a:t>Request</a:t>
            </a:r>
            <a:r>
              <a:rPr sz="700" i="0">
                <a:solidFill>
                  <a:srgbClr val="E6EDF3"/>
                </a:solidFill>
                <a:latin typeface="Inconsolata"/>
              </a:rPr>
              <a:t>, call_next):</a:t>
            </a:r>
          </a:p>
          <a:p>
            <a:pPr>
              <a:lnSpc>
                <a:spcPct val="107095"/>
              </a:lnSpc>
              <a:spcAft>
                <a:spcPts val="0"/>
              </a:spcAft>
            </a:pPr>
            <a:r>
              <a:rPr sz="700" i="0">
                <a:solidFill>
                  <a:srgbClr val="5C6773"/>
                </a:solidFill>
                <a:latin typeface="Inconsolata"/>
              </a:rPr>
              <a:t>41  </a:t>
            </a:r>
            <a:r>
              <a:rPr sz="700" i="0">
                <a:solidFill>
                  <a:srgbClr val="E6EDF3"/>
                </a:solidFill>
                <a:latin typeface="Inconsolata"/>
              </a:rPr>
              <a:t>    request_id = (request.headers.get(</a:t>
            </a:r>
            <a:r>
              <a:rPr sz="700" i="0">
                <a:solidFill>
                  <a:srgbClr val="A5D6A7"/>
                </a:solidFill>
                <a:latin typeface="Inconsolata"/>
              </a:rPr>
              <a:t>"X-Request-ID"</a:t>
            </a:r>
            <a:r>
              <a:rPr sz="700" i="0">
                <a:solidFill>
                  <a:srgbClr val="E6EDF3"/>
                </a:solidFill>
                <a:latin typeface="Inconsolata"/>
              </a:rPr>
              <a:t>)</a:t>
            </a:r>
          </a:p>
          <a:p>
            <a:pPr>
              <a:lnSpc>
                <a:spcPct val="107095"/>
              </a:lnSpc>
              <a:spcAft>
                <a:spcPts val="0"/>
              </a:spcAft>
            </a:pPr>
            <a:r>
              <a:rPr sz="700" i="0">
                <a:solidFill>
                  <a:srgbClr val="5C6773"/>
                </a:solidFill>
                <a:latin typeface="Inconsolata"/>
              </a:rPr>
              <a:t>42  </a:t>
            </a:r>
            <a:r>
              <a:rPr sz="700" i="0">
                <a:solidFill>
                  <a:srgbClr val="E6EDF3"/>
                </a:solidFill>
                <a:latin typeface="Inconsolata"/>
              </a:rPr>
              <a:t>                  </a:t>
            </a:r>
            <a:r>
              <a:rPr sz="700" i="0">
                <a:solidFill>
                  <a:srgbClr val="FF8E6E"/>
                </a:solidFill>
                <a:latin typeface="Inconsolata"/>
              </a:rPr>
              <a:t>or</a:t>
            </a:r>
            <a:r>
              <a:rPr sz="700" i="0">
                <a:solidFill>
                  <a:srgbClr val="E6EDF3"/>
                </a:solidFill>
                <a:latin typeface="Inconsolata"/>
              </a:rPr>
              <a:t> uuid.uuid4().hex[:</a:t>
            </a:r>
            <a:r>
              <a:rPr sz="700" i="0">
                <a:solidFill>
                  <a:srgbClr val="F9C97A"/>
                </a:solidFill>
                <a:latin typeface="Inconsolata"/>
              </a:rPr>
              <a:t>8</a:t>
            </a:r>
            <a:r>
              <a:rPr sz="700" i="0">
                <a:solidFill>
                  <a:srgbClr val="E6EDF3"/>
                </a:solidFill>
                <a:latin typeface="Inconsolata"/>
              </a:rPr>
              <a:t>])</a:t>
            </a:r>
          </a:p>
          <a:p>
            <a:pPr>
              <a:lnSpc>
                <a:spcPct val="107095"/>
              </a:lnSpc>
              <a:spcAft>
                <a:spcPts val="0"/>
              </a:spcAft>
            </a:pPr>
            <a:r>
              <a:rPr sz="700" i="0">
                <a:solidFill>
                  <a:srgbClr val="5C6773"/>
                </a:solidFill>
                <a:latin typeface="Inconsolata"/>
              </a:rPr>
              <a:t>43  </a:t>
            </a:r>
            <a:r>
              <a:rPr sz="700" i="0">
                <a:solidFill>
                  <a:srgbClr val="E6EDF3"/>
                </a:solidFill>
                <a:latin typeface="Inconsolata"/>
              </a:rPr>
              <a:t>    request_id_var.</a:t>
            </a:r>
            <a:r>
              <a:rPr sz="700" i="0">
                <a:solidFill>
                  <a:srgbClr val="C3A6FF"/>
                </a:solidFill>
                <a:latin typeface="Inconsolata"/>
              </a:rPr>
              <a:t>set</a:t>
            </a:r>
            <a:r>
              <a:rPr sz="700" i="0">
                <a:solidFill>
                  <a:srgbClr val="E6EDF3"/>
                </a:solidFill>
                <a:latin typeface="Inconsolata"/>
              </a:rPr>
              <a:t>(request_id)       </a:t>
            </a:r>
            <a:r>
              <a:rPr sz="700" i="1">
                <a:solidFill>
                  <a:srgbClr val="8B98A8"/>
                </a:solidFill>
                <a:latin typeface="Inconsolata"/>
              </a:rPr>
              <a:t># berlaku di request ini saja</a:t>
            </a:r>
          </a:p>
          <a:p>
            <a:pPr>
              <a:lnSpc>
                <a:spcPct val="107095"/>
              </a:lnSpc>
              <a:spcAft>
                <a:spcPts val="0"/>
              </a:spcAft>
            </a:pPr>
            <a:r>
              <a:rPr sz="700" i="0">
                <a:solidFill>
                  <a:srgbClr val="5C6773"/>
                </a:solidFill>
                <a:latin typeface="Inconsolata"/>
              </a:rPr>
              <a:t>44  </a:t>
            </a:r>
            <a:r>
              <a:rPr sz="700" i="0">
                <a:solidFill>
                  <a:srgbClr val="E6EDF3"/>
                </a:solidFill>
                <a:latin typeface="Inconsolata"/>
              </a:rPr>
              <a:t>    response = </a:t>
            </a:r>
            <a:r>
              <a:rPr sz="700" i="0">
                <a:solidFill>
                  <a:srgbClr val="FF8E6E"/>
                </a:solidFill>
                <a:latin typeface="Inconsolata"/>
              </a:rPr>
              <a:t>await</a:t>
            </a:r>
            <a:r>
              <a:rPr sz="700" i="0">
                <a:solidFill>
                  <a:srgbClr val="E6EDF3"/>
                </a:solidFill>
                <a:latin typeface="Inconsolata"/>
              </a:rPr>
              <a:t> call_next(request)</a:t>
            </a:r>
          </a:p>
          <a:p>
            <a:pPr>
              <a:lnSpc>
                <a:spcPct val="107095"/>
              </a:lnSpc>
              <a:spcAft>
                <a:spcPts val="0"/>
              </a:spcAft>
            </a:pPr>
            <a:r>
              <a:rPr sz="700" i="0">
                <a:solidFill>
                  <a:srgbClr val="5C6773"/>
                </a:solidFill>
                <a:latin typeface="Inconsolata"/>
              </a:rPr>
              <a:t>45  </a:t>
            </a:r>
            <a:r>
              <a:rPr sz="700" i="0">
                <a:solidFill>
                  <a:srgbClr val="E6EDF3"/>
                </a:solidFill>
                <a:latin typeface="Inconsolata"/>
              </a:rPr>
              <a:t>    response.headers[</a:t>
            </a:r>
            <a:r>
              <a:rPr sz="700" i="0">
                <a:solidFill>
                  <a:srgbClr val="A5D6A7"/>
                </a:solidFill>
                <a:latin typeface="Inconsolata"/>
              </a:rPr>
              <a:t>"X-Request-ID"</a:t>
            </a:r>
            <a:r>
              <a:rPr sz="700" i="0">
                <a:solidFill>
                  <a:srgbClr val="E6EDF3"/>
                </a:solidFill>
                <a:latin typeface="Inconsolata"/>
              </a:rPr>
              <a:t>] = request_id</a:t>
            </a:r>
          </a:p>
          <a:p>
            <a:pPr>
              <a:lnSpc>
                <a:spcPct val="107095"/>
              </a:lnSpc>
              <a:spcAft>
                <a:spcPts val="0"/>
              </a:spcAft>
            </a:pPr>
            <a:r>
              <a:rPr sz="700" i="0">
                <a:solidFill>
                  <a:srgbClr val="5C6773"/>
                </a:solidFill>
                <a:latin typeface="Inconsolata"/>
              </a:rPr>
              <a:t>46  </a:t>
            </a:r>
            <a:r>
              <a:rPr sz="700" i="0">
                <a:solidFill>
                  <a:srgbClr val="E6EDF3"/>
                </a:solidFill>
                <a:latin typeface="Inconsolata"/>
              </a:rPr>
              <a:t>    </a:t>
            </a:r>
            <a:r>
              <a:rPr sz="700" i="0">
                <a:solidFill>
                  <a:srgbClr val="FF8E6E"/>
                </a:solidFill>
                <a:latin typeface="Inconsolata"/>
              </a:rPr>
              <a:t>return</a:t>
            </a:r>
            <a:r>
              <a:rPr sz="700" i="0">
                <a:solidFill>
                  <a:srgbClr val="E6EDF3"/>
                </a:solidFill>
                <a:latin typeface="Inconsolata"/>
              </a:rPr>
              <a:t> response</a:t>
            </a:r>
          </a:p>
        </p:txBody>
      </p:sp>
      <p:sp>
        <p:nvSpPr>
          <p:cNvPr id="36" name="Box 21"/>
          <p:cNvSpPr/>
          <p:nvPr/>
        </p:nvSpPr>
        <p:spPr>
          <a:xfrm>
            <a:off x="704088" y="2739771"/>
            <a:ext cx="3694176" cy="107442"/>
          </a:xfrm>
          <a:prstGeom prst="roundRect">
            <a:avLst>
              <a:gd name="adj" fmla="val 42553"/>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26746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704088" y="3082671"/>
            <a:ext cx="3694176" cy="450342"/>
          </a:xfrm>
          <a:prstGeom prst="roundRect">
            <a:avLst>
              <a:gd name="adj" fmla="val 10152"/>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279392" y="318897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40" name="Box 25"/>
          <p:cNvSpPr/>
          <p:nvPr/>
        </p:nvSpPr>
        <p:spPr>
          <a:xfrm>
            <a:off x="4709159" y="3082671"/>
            <a:ext cx="3694176" cy="793242"/>
          </a:xfrm>
          <a:prstGeom prst="roundRect">
            <a:avLst>
              <a:gd name="adj" fmla="val 5763"/>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8284463" y="33604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Correlation ID</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request_id di setiap log (2/2)</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02-correlation-id/after.py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49  </a:t>
            </a:r>
            <a:r>
              <a:rPr sz="719" i="0">
                <a:solidFill>
                  <a:srgbClr val="F9C97A"/>
                </a:solidFill>
                <a:latin typeface="Inconsolata"/>
              </a:rPr>
              <a:t>@app.post</a:t>
            </a:r>
            <a:r>
              <a:rPr sz="719" i="0">
                <a:solidFill>
                  <a:srgbClr val="E6EDF3"/>
                </a:solidFill>
                <a:latin typeface="Inconsolata"/>
              </a:rPr>
              <a:t>(</a:t>
            </a:r>
            <a:r>
              <a:rPr sz="719" i="0">
                <a:solidFill>
                  <a:srgbClr val="A5D6A7"/>
                </a:solidFill>
                <a:latin typeface="Inconsolata"/>
              </a:rPr>
              <a:t>"/orders"</a:t>
            </a:r>
            <a:r>
              <a:rPr sz="719" i="0">
                <a:solidFill>
                  <a:srgbClr val="E6EDF3"/>
                </a:solidFill>
                <a:latin typeface="Inconsolata"/>
              </a:rPr>
              <a:t>)</a:t>
            </a:r>
          </a:p>
          <a:p>
            <a:pPr>
              <a:lnSpc>
                <a:spcPct val="104277"/>
              </a:lnSpc>
              <a:spcAft>
                <a:spcPts val="0"/>
              </a:spcAft>
            </a:pPr>
            <a:r>
              <a:rPr sz="719" i="0">
                <a:solidFill>
                  <a:srgbClr val="5C6773"/>
                </a:solidFill>
                <a:latin typeface="Inconsolata"/>
              </a:rPr>
              <a:t>50  </a:t>
            </a:r>
            <a:r>
              <a:rPr sz="719" i="0">
                <a:solidFill>
                  <a:srgbClr val="FF8E6E"/>
                </a:solidFill>
                <a:latin typeface="Inconsolata"/>
              </a:rPr>
              <a:t>async</a:t>
            </a:r>
            <a:r>
              <a:rPr sz="719" i="0">
                <a:solidFill>
                  <a:srgbClr val="E6EDF3"/>
                </a:solidFill>
                <a:latin typeface="Inconsolata"/>
              </a:rPr>
              <a:t>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create_order</a:t>
            </a:r>
            <a:r>
              <a:rPr sz="719" i="0">
                <a:solidFill>
                  <a:srgbClr val="E6EDF3"/>
                </a:solidFill>
                <a:latin typeface="Inconsolata"/>
              </a:rPr>
              <a:t>(customer: </a:t>
            </a:r>
            <a:r>
              <a:rPr sz="719" i="0">
                <a:solidFill>
                  <a:srgbClr val="C3A6FF"/>
                </a:solidFill>
                <a:latin typeface="Inconsolata"/>
              </a:rPr>
              <a:t>str</a:t>
            </a:r>
            <a:r>
              <a:rPr sz="719" i="0">
                <a:solidFill>
                  <a:srgbClr val="E6EDF3"/>
                </a:solidFill>
                <a:latin typeface="Inconsolata"/>
              </a:rPr>
              <a:t>):</a:t>
            </a:r>
          </a:p>
          <a:p>
            <a:pPr>
              <a:lnSpc>
                <a:spcPct val="104277"/>
              </a:lnSpc>
              <a:spcAft>
                <a:spcPts val="0"/>
              </a:spcAft>
            </a:pPr>
            <a:r>
              <a:rPr sz="719" i="0">
                <a:solidFill>
                  <a:srgbClr val="5C6773"/>
                </a:solidFill>
                <a:latin typeface="Inconsolata"/>
              </a:rPr>
              <a:t>51  </a:t>
            </a:r>
            <a:r>
              <a:rPr sz="719" i="0">
                <a:solidFill>
                  <a:srgbClr val="E6EDF3"/>
                </a:solidFill>
                <a:latin typeface="Inconsolata"/>
              </a:rPr>
              <a:t>    logger.info(</a:t>
            </a:r>
            <a:r>
              <a:rPr sz="719" i="0">
                <a:solidFill>
                  <a:srgbClr val="A5D6A7"/>
                </a:solidFill>
                <a:latin typeface="Inconsolata"/>
              </a:rPr>
              <a:t>"simpan order"</a:t>
            </a:r>
            <a:r>
              <a:rPr sz="719" i="0">
                <a:solidFill>
                  <a:srgbClr val="E6EDF3"/>
                </a:solidFill>
                <a:latin typeface="Inconsolata"/>
              </a:rPr>
              <a:t>)</a:t>
            </a:r>
          </a:p>
          <a:p>
            <a:pPr>
              <a:lnSpc>
                <a:spcPct val="104277"/>
              </a:lnSpc>
              <a:spcAft>
                <a:spcPts val="0"/>
              </a:spcAft>
            </a:pPr>
            <a:r>
              <a:rPr sz="719" i="0">
                <a:solidFill>
                  <a:srgbClr val="5C6773"/>
                </a:solidFill>
                <a:latin typeface="Inconsolata"/>
              </a:rPr>
              <a:t>52  </a:t>
            </a:r>
            <a:r>
              <a:rPr sz="719" i="0">
                <a:solidFill>
                  <a:srgbClr val="E6EDF3"/>
                </a:solidFill>
                <a:latin typeface="Inconsolata"/>
              </a:rPr>
              <a:t>    </a:t>
            </a:r>
            <a:r>
              <a:rPr sz="719" i="0">
                <a:solidFill>
                  <a:srgbClr val="FF8E6E"/>
                </a:solidFill>
                <a:latin typeface="Inconsolata"/>
              </a:rPr>
              <a:t>await</a:t>
            </a:r>
            <a:r>
              <a:rPr sz="719" i="0">
                <a:solidFill>
                  <a:srgbClr val="E6EDF3"/>
                </a:solidFill>
                <a:latin typeface="Inconsolata"/>
              </a:rPr>
              <a:t> asyncio.sleep(</a:t>
            </a:r>
            <a:r>
              <a:rPr sz="719" i="0">
                <a:solidFill>
                  <a:srgbClr val="F9C97A"/>
                </a:solidFill>
                <a:latin typeface="Inconsolata"/>
              </a:rPr>
              <a:t>0</a:t>
            </a:r>
            <a:r>
              <a:rPr sz="719" i="0">
                <a:solidFill>
                  <a:srgbClr val="E6EDF3"/>
                </a:solidFill>
                <a:latin typeface="Inconsolata"/>
              </a:rPr>
              <a:t>.</a:t>
            </a:r>
            <a:r>
              <a:rPr sz="719" i="0">
                <a:solidFill>
                  <a:srgbClr val="F9C97A"/>
                </a:solidFill>
                <a:latin typeface="Inconsolata"/>
              </a:rPr>
              <a:t>1</a:t>
            </a:r>
            <a:r>
              <a:rPr sz="719" i="0">
                <a:solidFill>
                  <a:srgbClr val="E6EDF3"/>
                </a:solidFill>
                <a:latin typeface="Inconsolata"/>
              </a:rPr>
              <a:t>)         </a:t>
            </a:r>
            <a:r>
              <a:rPr sz="719" i="1">
                <a:solidFill>
                  <a:srgbClr val="8B98A8"/>
                </a:solidFill>
                <a:latin typeface="Inconsolata"/>
              </a:rPr>
              <a:t># anggap: menyimpan ke database</a:t>
            </a:r>
          </a:p>
          <a:p>
            <a:pPr>
              <a:lnSpc>
                <a:spcPct val="104277"/>
              </a:lnSpc>
              <a:spcAft>
                <a:spcPts val="0"/>
              </a:spcAft>
            </a:pPr>
            <a:r>
              <a:rPr sz="719" i="0">
                <a:solidFill>
                  <a:srgbClr val="5C6773"/>
                </a:solidFill>
                <a:latin typeface="Inconsolata"/>
              </a:rPr>
              <a:t>53  </a:t>
            </a:r>
            <a:r>
              <a:rPr sz="719" i="0">
                <a:solidFill>
                  <a:srgbClr val="E6EDF3"/>
                </a:solidFill>
                <a:latin typeface="Inconsolata"/>
              </a:rPr>
              <a:t>    logger.info(</a:t>
            </a:r>
            <a:r>
              <a:rPr sz="719" i="0">
                <a:solidFill>
                  <a:srgbClr val="A5D6A7"/>
                </a:solidFill>
                <a:latin typeface="Inconsolata"/>
              </a:rPr>
              <a:t>"kirim event order.placed"</a:t>
            </a:r>
            <a:r>
              <a:rPr sz="719" i="0">
                <a:solidFill>
                  <a:srgbClr val="E6EDF3"/>
                </a:solidFill>
                <a:latin typeface="Inconsolata"/>
              </a:rPr>
              <a:t>)</a:t>
            </a:r>
          </a:p>
          <a:p>
            <a:pPr>
              <a:lnSpc>
                <a:spcPct val="104277"/>
              </a:lnSpc>
              <a:spcAft>
                <a:spcPts val="0"/>
              </a:spcAft>
            </a:pPr>
            <a:r>
              <a:rPr sz="719" i="0">
                <a:solidFill>
                  <a:srgbClr val="5C6773"/>
                </a:solidFill>
                <a:latin typeface="Inconsolata"/>
              </a:rPr>
              <a:t>54  </a:t>
            </a:r>
            <a:r>
              <a:rPr sz="719" i="0">
                <a:solidFill>
                  <a:srgbClr val="E6EDF3"/>
                </a:solidFill>
                <a:latin typeface="Inconsolata"/>
              </a:rPr>
              <a:t>    </a:t>
            </a:r>
            <a:r>
              <a:rPr sz="719" i="0">
                <a:solidFill>
                  <a:srgbClr val="FF8E6E"/>
                </a:solidFill>
                <a:latin typeface="Inconsolata"/>
              </a:rPr>
              <a:t>if</a:t>
            </a:r>
            <a:r>
              <a:rPr sz="719" i="0">
                <a:solidFill>
                  <a:srgbClr val="E6EDF3"/>
                </a:solidFill>
                <a:latin typeface="Inconsolata"/>
              </a:rPr>
              <a:t> customer == </a:t>
            </a:r>
            <a:r>
              <a:rPr sz="719" i="0">
                <a:solidFill>
                  <a:srgbClr val="A5D6A7"/>
                </a:solidFill>
                <a:latin typeface="Inconsolata"/>
              </a:rPr>
              <a:t>"budi@mail.com"</a:t>
            </a:r>
            <a:r>
              <a:rPr sz="719" i="0">
                <a:solidFill>
                  <a:srgbClr val="E6EDF3"/>
                </a:solidFill>
                <a:latin typeface="Inconsolata"/>
              </a:rPr>
              <a:t>:</a:t>
            </a:r>
          </a:p>
          <a:p>
            <a:pPr>
              <a:lnSpc>
                <a:spcPct val="104277"/>
              </a:lnSpc>
              <a:spcAft>
                <a:spcPts val="0"/>
              </a:spcAft>
            </a:pPr>
            <a:r>
              <a:rPr sz="719" i="0">
                <a:solidFill>
                  <a:srgbClr val="5C6773"/>
                </a:solidFill>
                <a:latin typeface="Inconsolata"/>
              </a:rPr>
              <a:t>55  </a:t>
            </a:r>
            <a:r>
              <a:rPr sz="719" i="0">
                <a:solidFill>
                  <a:srgbClr val="E6EDF3"/>
                </a:solidFill>
                <a:latin typeface="Inconsolata"/>
              </a:rPr>
              <a:t>        logger.error(</a:t>
            </a:r>
            <a:r>
              <a:rPr sz="719" i="0">
                <a:solidFill>
                  <a:srgbClr val="A5D6A7"/>
                </a:solidFill>
                <a:latin typeface="Inconsolata"/>
              </a:rPr>
              <a:t>"event gagal dikirim"</a:t>
            </a:r>
            <a:r>
              <a:rPr sz="719" i="0">
                <a:solidFill>
                  <a:srgbClr val="E6EDF3"/>
                </a:solidFill>
                <a:latin typeface="Inconsolata"/>
              </a:rPr>
              <a:t>)</a:t>
            </a:r>
          </a:p>
          <a:p>
            <a:pPr>
              <a:lnSpc>
                <a:spcPct val="104277"/>
              </a:lnSpc>
              <a:spcAft>
                <a:spcPts val="0"/>
              </a:spcAft>
            </a:pPr>
            <a:r>
              <a:rPr sz="719" i="0">
                <a:solidFill>
                  <a:srgbClr val="5C6773"/>
                </a:solidFill>
                <a:latin typeface="Inconsolata"/>
              </a:rPr>
              <a:t>56  </a:t>
            </a:r>
            <a:r>
              <a:rPr sz="719" i="0">
                <a:solidFill>
                  <a:srgbClr val="E6EDF3"/>
                </a:solidFill>
                <a:latin typeface="Inconsolata"/>
              </a:rPr>
              <a:t>    </a:t>
            </a:r>
            <a:r>
              <a:rPr sz="719" i="0">
                <a:solidFill>
                  <a:srgbClr val="FF8E6E"/>
                </a:solidFill>
                <a:latin typeface="Inconsolata"/>
              </a:rPr>
              <a:t>return</a:t>
            </a:r>
            <a:r>
              <a:rPr sz="719" i="0">
                <a:solidFill>
                  <a:srgbClr val="E6EDF3"/>
                </a:solidFill>
                <a:latin typeface="Inconsolata"/>
              </a:rPr>
              <a:t> {</a:t>
            </a:r>
            <a:r>
              <a:rPr sz="719" i="0">
                <a:solidFill>
                  <a:srgbClr val="A5D6A7"/>
                </a:solidFill>
                <a:latin typeface="Inconsolata"/>
              </a:rPr>
              <a:t>"status"</a:t>
            </a:r>
            <a:r>
              <a:rPr sz="719" i="0">
                <a:solidFill>
                  <a:srgbClr val="E6EDF3"/>
                </a:solidFill>
                <a:latin typeface="Inconsolata"/>
              </a:rPr>
              <a:t>: </a:t>
            </a:r>
            <a:r>
              <a:rPr sz="719" i="0">
                <a:solidFill>
                  <a:srgbClr val="A5D6A7"/>
                </a:solidFill>
                <a:latin typeface="Inconsolata"/>
              </a:rPr>
              <a:t>"created"</a:t>
            </a:r>
            <a:r>
              <a:rPr sz="719" i="0">
                <a:solidFill>
                  <a:srgbClr val="E6EDF3"/>
                </a:solidFill>
                <a:latin typeface="Inconsolata"/>
              </a:rPr>
              <a: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02-correlation-id/after.py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59  </a:t>
            </a:r>
            <a:r>
              <a:rPr sz="719" i="0">
                <a:solidFill>
                  <a:srgbClr val="FF8E6E"/>
                </a:solidFill>
                <a:latin typeface="Inconsolata"/>
              </a:rPr>
              <a:t>async</a:t>
            </a:r>
            <a:r>
              <a:rPr sz="719" i="0">
                <a:solidFill>
                  <a:srgbClr val="E6EDF3"/>
                </a:solidFill>
                <a:latin typeface="Inconsolata"/>
              </a:rPr>
              <a:t>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main</a:t>
            </a:r>
            <a:r>
              <a:rPr sz="719" i="0">
                <a:solidFill>
                  <a:srgbClr val="E6EDF3"/>
                </a:solidFill>
                <a:latin typeface="Inconsolata"/>
              </a:rPr>
              <a:t>():</a:t>
            </a:r>
          </a:p>
          <a:p>
            <a:pPr>
              <a:lnSpc>
                <a:spcPct val="104277"/>
              </a:lnSpc>
              <a:spcAft>
                <a:spcPts val="0"/>
              </a:spcAft>
            </a:pPr>
            <a:r>
              <a:rPr sz="719" i="0">
                <a:solidFill>
                  <a:srgbClr val="5C6773"/>
                </a:solidFill>
                <a:latin typeface="Inconsolata"/>
              </a:rPr>
              <a:t>60  </a:t>
            </a:r>
            <a:r>
              <a:rPr sz="719" i="0">
                <a:solidFill>
                  <a:srgbClr val="E6EDF3"/>
                </a:solidFill>
                <a:latin typeface="Inconsolata"/>
              </a:rPr>
              <a:t>    transport = httpx.</a:t>
            </a:r>
            <a:r>
              <a:rPr sz="719" i="0">
                <a:solidFill>
                  <a:srgbClr val="7FDBCA"/>
                </a:solidFill>
                <a:latin typeface="Inconsolata"/>
              </a:rPr>
              <a:t>ASGITransport</a:t>
            </a:r>
            <a:r>
              <a:rPr sz="719" i="0">
                <a:solidFill>
                  <a:srgbClr val="E6EDF3"/>
                </a:solidFill>
                <a:latin typeface="Inconsolata"/>
              </a:rPr>
              <a:t>(app=app)</a:t>
            </a:r>
          </a:p>
          <a:p>
            <a:pPr>
              <a:lnSpc>
                <a:spcPct val="104277"/>
              </a:lnSpc>
              <a:spcAft>
                <a:spcPts val="0"/>
              </a:spcAft>
            </a:pPr>
            <a:r>
              <a:rPr sz="719" i="0">
                <a:solidFill>
                  <a:srgbClr val="5C6773"/>
                </a:solidFill>
                <a:latin typeface="Inconsolata"/>
              </a:rPr>
              <a:t>61  </a:t>
            </a:r>
            <a:r>
              <a:rPr sz="719" i="0">
                <a:solidFill>
                  <a:srgbClr val="E6EDF3"/>
                </a:solidFill>
                <a:latin typeface="Inconsolata"/>
              </a:rPr>
              <a:t>    </a:t>
            </a:r>
            <a:r>
              <a:rPr sz="719" i="0">
                <a:solidFill>
                  <a:srgbClr val="FF8E6E"/>
                </a:solidFill>
                <a:latin typeface="Inconsolata"/>
              </a:rPr>
              <a:t>async</a:t>
            </a:r>
            <a:r>
              <a:rPr sz="719" i="0">
                <a:solidFill>
                  <a:srgbClr val="E6EDF3"/>
                </a:solidFill>
                <a:latin typeface="Inconsolata"/>
              </a:rPr>
              <a:t> </a:t>
            </a:r>
            <a:r>
              <a:rPr sz="719" i="0">
                <a:solidFill>
                  <a:srgbClr val="FF8E6E"/>
                </a:solidFill>
                <a:latin typeface="Inconsolata"/>
              </a:rPr>
              <a:t>with</a:t>
            </a:r>
            <a:r>
              <a:rPr sz="719" i="0">
                <a:solidFill>
                  <a:srgbClr val="E6EDF3"/>
                </a:solidFill>
                <a:latin typeface="Inconsolata"/>
              </a:rPr>
              <a:t> httpx.</a:t>
            </a:r>
            <a:r>
              <a:rPr sz="719" i="0">
                <a:solidFill>
                  <a:srgbClr val="7FDBCA"/>
                </a:solidFill>
                <a:latin typeface="Inconsolata"/>
              </a:rPr>
              <a:t>AsyncClient</a:t>
            </a:r>
            <a:r>
              <a:rPr sz="719" i="0">
                <a:solidFill>
                  <a:srgbClr val="E6EDF3"/>
                </a:solidFill>
                <a:latin typeface="Inconsolata"/>
              </a:rPr>
              <a:t>(transport=transport,</a:t>
            </a:r>
          </a:p>
          <a:p>
            <a:pPr>
              <a:lnSpc>
                <a:spcPct val="104277"/>
              </a:lnSpc>
              <a:spcAft>
                <a:spcPts val="0"/>
              </a:spcAft>
            </a:pPr>
            <a:r>
              <a:rPr sz="719" i="0">
                <a:solidFill>
                  <a:srgbClr val="5C6773"/>
                </a:solidFill>
                <a:latin typeface="Inconsolata"/>
              </a:rPr>
              <a:t>62  </a:t>
            </a:r>
            <a:r>
              <a:rPr sz="719" i="0">
                <a:solidFill>
                  <a:srgbClr val="E6EDF3"/>
                </a:solidFill>
                <a:latin typeface="Inconsolata"/>
              </a:rPr>
              <a:t>                                 base_url=</a:t>
            </a:r>
            <a:r>
              <a:rPr sz="719" i="0">
                <a:solidFill>
                  <a:srgbClr val="A5D6A7"/>
                </a:solidFill>
                <a:latin typeface="Inconsolata"/>
              </a:rPr>
              <a:t>"http://api"</a:t>
            </a:r>
            <a:r>
              <a:rPr sz="719" i="0">
                <a:solidFill>
                  <a:srgbClr val="E6EDF3"/>
                </a:solidFill>
                <a:latin typeface="Inconsolata"/>
              </a:rPr>
              <a:t>) </a:t>
            </a:r>
            <a:r>
              <a:rPr sz="719" i="0">
                <a:solidFill>
                  <a:srgbClr val="FF8E6E"/>
                </a:solidFill>
                <a:latin typeface="Inconsolata"/>
              </a:rPr>
              <a:t>as</a:t>
            </a:r>
            <a:r>
              <a:rPr sz="719" i="0">
                <a:solidFill>
                  <a:srgbClr val="E6EDF3"/>
                </a:solidFill>
                <a:latin typeface="Inconsolata"/>
              </a:rPr>
              <a:t> client:</a:t>
            </a:r>
          </a:p>
          <a:p>
            <a:pPr>
              <a:lnSpc>
                <a:spcPct val="104277"/>
              </a:lnSpc>
              <a:spcAft>
                <a:spcPts val="0"/>
              </a:spcAft>
            </a:pPr>
            <a:r>
              <a:rPr sz="719" i="0">
                <a:solidFill>
                  <a:srgbClr val="5C6773"/>
                </a:solidFill>
                <a:latin typeface="Inconsolata"/>
              </a:rPr>
              <a:t>63  </a:t>
            </a:r>
            <a:r>
              <a:rPr sz="719" i="0">
                <a:solidFill>
                  <a:srgbClr val="E6EDF3"/>
                </a:solidFill>
                <a:latin typeface="Inconsolata"/>
              </a:rPr>
              <a:t>        customers = [</a:t>
            </a:r>
            <a:r>
              <a:rPr sz="719" i="0">
                <a:solidFill>
                  <a:srgbClr val="A5D6A7"/>
                </a:solidFill>
                <a:latin typeface="Inconsolata"/>
              </a:rPr>
              <a:t>"ani@mail.com"</a:t>
            </a:r>
            <a:r>
              <a:rPr sz="719" i="0">
                <a:solidFill>
                  <a:srgbClr val="E6EDF3"/>
                </a:solidFill>
                <a:latin typeface="Inconsolata"/>
              </a:rPr>
              <a:t>, </a:t>
            </a:r>
            <a:r>
              <a:rPr sz="719" i="0">
                <a:solidFill>
                  <a:srgbClr val="A5D6A7"/>
                </a:solidFill>
                <a:latin typeface="Inconsolata"/>
              </a:rPr>
              <a:t>"budi@mail.com"</a:t>
            </a:r>
            <a:r>
              <a:rPr sz="719" i="0">
                <a:solidFill>
                  <a:srgbClr val="E6EDF3"/>
                </a:solidFill>
                <a:latin typeface="Inconsolata"/>
              </a:rPr>
              <a:t>, </a:t>
            </a:r>
            <a:r>
              <a:rPr sz="719" i="0">
                <a:solidFill>
                  <a:srgbClr val="A5D6A7"/>
                </a:solidFill>
                <a:latin typeface="Inconsolata"/>
              </a:rPr>
              <a:t>"siti@mail.com"</a:t>
            </a:r>
            <a:r>
              <a:rPr sz="719" i="0">
                <a:solidFill>
                  <a:srgbClr val="E6EDF3"/>
                </a:solidFill>
                <a:latin typeface="Inconsolata"/>
              </a:rPr>
              <a:t>]</a:t>
            </a:r>
          </a:p>
          <a:p>
            <a:pPr>
              <a:lnSpc>
                <a:spcPct val="104277"/>
              </a:lnSpc>
              <a:spcAft>
                <a:spcPts val="0"/>
              </a:spcAft>
            </a:pPr>
            <a:r>
              <a:rPr sz="719" i="0">
                <a:solidFill>
                  <a:srgbClr val="5C6773"/>
                </a:solidFill>
                <a:latin typeface="Inconsolata"/>
              </a:rPr>
              <a:t>64  </a:t>
            </a:r>
            <a:r>
              <a:rPr sz="719" i="0">
                <a:solidFill>
                  <a:srgbClr val="E6EDF3"/>
                </a:solidFill>
                <a:latin typeface="Inconsolata"/>
              </a:rPr>
              <a:t>        responses = </a:t>
            </a:r>
            <a:r>
              <a:rPr sz="719" i="0">
                <a:solidFill>
                  <a:srgbClr val="FF8E6E"/>
                </a:solidFill>
                <a:latin typeface="Inconsolata"/>
              </a:rPr>
              <a:t>await</a:t>
            </a:r>
            <a:r>
              <a:rPr sz="719" i="0">
                <a:solidFill>
                  <a:srgbClr val="E6EDF3"/>
                </a:solidFill>
                <a:latin typeface="Inconsolata"/>
              </a:rPr>
              <a:t> asyncio.gather(*(</a:t>
            </a:r>
          </a:p>
          <a:p>
            <a:pPr>
              <a:lnSpc>
                <a:spcPct val="104277"/>
              </a:lnSpc>
              <a:spcAft>
                <a:spcPts val="0"/>
              </a:spcAft>
            </a:pPr>
            <a:r>
              <a:rPr sz="719" i="0">
                <a:solidFill>
                  <a:srgbClr val="5C6773"/>
                </a:solidFill>
                <a:latin typeface="Inconsolata"/>
              </a:rPr>
              <a:t>65  </a:t>
            </a:r>
            <a:r>
              <a:rPr sz="719" i="0">
                <a:solidFill>
                  <a:srgbClr val="E6EDF3"/>
                </a:solidFill>
                <a:latin typeface="Inconsolata"/>
              </a:rPr>
              <a:t>            client.post(</a:t>
            </a:r>
            <a:r>
              <a:rPr sz="719" i="0">
                <a:solidFill>
                  <a:srgbClr val="A5D6A7"/>
                </a:solidFill>
                <a:latin typeface="Inconsolata"/>
              </a:rPr>
              <a:t>"/orders"</a:t>
            </a:r>
            <a:r>
              <a:rPr sz="719" i="0">
                <a:solidFill>
                  <a:srgbClr val="E6EDF3"/>
                </a:solidFill>
                <a:latin typeface="Inconsolata"/>
              </a:rPr>
              <a:t>, params={</a:t>
            </a:r>
            <a:r>
              <a:rPr sz="719" i="0">
                <a:solidFill>
                  <a:srgbClr val="A5D6A7"/>
                </a:solidFill>
                <a:latin typeface="Inconsolata"/>
              </a:rPr>
              <a:t>"customer"</a:t>
            </a:r>
            <a:r>
              <a:rPr sz="719" i="0">
                <a:solidFill>
                  <a:srgbClr val="E6EDF3"/>
                </a:solidFill>
                <a:latin typeface="Inconsolata"/>
              </a:rPr>
              <a:t>: c})</a:t>
            </a:r>
          </a:p>
          <a:p>
            <a:pPr>
              <a:lnSpc>
                <a:spcPct val="104277"/>
              </a:lnSpc>
              <a:spcAft>
                <a:spcPts val="0"/>
              </a:spcAft>
            </a:pPr>
            <a:r>
              <a:rPr sz="719" i="0">
                <a:solidFill>
                  <a:srgbClr val="5C6773"/>
                </a:solidFill>
                <a:latin typeface="Inconsolata"/>
              </a:rPr>
              <a:t>66  </a:t>
            </a:r>
            <a:r>
              <a:rPr sz="719" i="0">
                <a:solidFill>
                  <a:srgbClr val="E6EDF3"/>
                </a:solidFill>
                <a:latin typeface="Inconsolata"/>
              </a:rPr>
              <a:t>            </a:t>
            </a:r>
            <a:r>
              <a:rPr sz="719" i="0">
                <a:solidFill>
                  <a:srgbClr val="FF8E6E"/>
                </a:solidFill>
                <a:latin typeface="Inconsolata"/>
              </a:rPr>
              <a:t>for</a:t>
            </a:r>
            <a:r>
              <a:rPr sz="719" i="0">
                <a:solidFill>
                  <a:srgbClr val="E6EDF3"/>
                </a:solidFill>
                <a:latin typeface="Inconsolata"/>
              </a:rPr>
              <a:t> c </a:t>
            </a:r>
            <a:r>
              <a:rPr sz="719" i="0">
                <a:solidFill>
                  <a:srgbClr val="FF8E6E"/>
                </a:solidFill>
                <a:latin typeface="Inconsolata"/>
              </a:rPr>
              <a:t>in</a:t>
            </a:r>
            <a:r>
              <a:rPr sz="719" i="0">
                <a:solidFill>
                  <a:srgbClr val="E6EDF3"/>
                </a:solidFill>
                <a:latin typeface="Inconsolata"/>
              </a:rPr>
              <a:t> customers))</a:t>
            </a:r>
          </a:p>
          <a:p>
            <a:pPr>
              <a:lnSpc>
                <a:spcPct val="104277"/>
              </a:lnSpc>
              <a:spcAft>
                <a:spcPts val="0"/>
              </a:spcAft>
            </a:pPr>
            <a:r>
              <a:rPr sz="719" i="0">
                <a:solidFill>
                  <a:srgbClr val="5C6773"/>
                </a:solidFill>
                <a:latin typeface="Inconsolata"/>
              </a:rPr>
              <a:t>67  </a:t>
            </a:r>
            <a:r>
              <a:rPr sz="719" i="0">
                <a:solidFill>
                  <a:srgbClr val="E6EDF3"/>
                </a:solidFill>
                <a:latin typeface="Inconsolata"/>
              </a:rPr>
              <a:t>    </a:t>
            </a:r>
            <a:r>
              <a:rPr sz="719" i="0">
                <a:solidFill>
                  <a:srgbClr val="FF8E6E"/>
                </a:solidFill>
                <a:latin typeface="Inconsolata"/>
              </a:rPr>
              <a:t>for</a:t>
            </a:r>
            <a:r>
              <a:rPr sz="719" i="0">
                <a:solidFill>
                  <a:srgbClr val="E6EDF3"/>
                </a:solidFill>
                <a:latin typeface="Inconsolata"/>
              </a:rPr>
              <a:t> customer, response </a:t>
            </a:r>
            <a:r>
              <a:rPr sz="719" i="0">
                <a:solidFill>
                  <a:srgbClr val="FF8E6E"/>
                </a:solidFill>
                <a:latin typeface="Inconsolata"/>
              </a:rPr>
              <a:t>in</a:t>
            </a:r>
            <a:r>
              <a:rPr sz="719" i="0">
                <a:solidFill>
                  <a:srgbClr val="E6EDF3"/>
                </a:solidFill>
                <a:latin typeface="Inconsolata"/>
              </a:rPr>
              <a:t> zip(customers, responses):</a:t>
            </a:r>
          </a:p>
          <a:p>
            <a:pPr>
              <a:lnSpc>
                <a:spcPct val="104277"/>
              </a:lnSpc>
              <a:spcAft>
                <a:spcPts val="0"/>
              </a:spcAft>
            </a:pPr>
            <a:r>
              <a:rPr sz="719" i="0">
                <a:solidFill>
                  <a:srgbClr val="5C6773"/>
                </a:solidFill>
                <a:latin typeface="Inconsolata"/>
              </a:rPr>
              <a:t>68  </a:t>
            </a:r>
            <a:r>
              <a:rPr sz="719" i="0">
                <a:solidFill>
                  <a:srgbClr val="E6EDF3"/>
                </a:solidFill>
                <a:latin typeface="Inconsolata"/>
              </a:rPr>
              <a:t>        </a:t>
            </a:r>
            <a:r>
              <a:rPr sz="719" i="0">
                <a:solidFill>
                  <a:srgbClr val="C3A6FF"/>
                </a:solidFill>
                <a:latin typeface="Inconsolata"/>
              </a:rPr>
              <a:t>print</a:t>
            </a:r>
            <a:r>
              <a:rPr sz="719" i="0">
                <a:solidFill>
                  <a:srgbClr val="E6EDF3"/>
                </a:solidFill>
                <a:latin typeface="Inconsolata"/>
              </a:rPr>
              <a:t>(</a:t>
            </a:r>
            <a:r>
              <a:rPr sz="719" i="0">
                <a:solidFill>
                  <a:srgbClr val="A5D6A7"/>
                </a:solidFill>
                <a:latin typeface="Inconsolata"/>
              </a:rPr>
              <a:t>f"{customer}: {response.status_code}, "</a:t>
            </a:r>
          </a:p>
          <a:p>
            <a:pPr>
              <a:lnSpc>
                <a:spcPct val="104277"/>
              </a:lnSpc>
              <a:spcAft>
                <a:spcPts val="0"/>
              </a:spcAft>
            </a:pPr>
            <a:r>
              <a:rPr sz="719" i="0">
                <a:solidFill>
                  <a:srgbClr val="5C6773"/>
                </a:solidFill>
                <a:latin typeface="Inconsolata"/>
              </a:rPr>
              <a:t>69  </a:t>
            </a:r>
            <a:r>
              <a:rPr sz="719" i="0">
                <a:solidFill>
                  <a:srgbClr val="E6EDF3"/>
                </a:solidFill>
                <a:latin typeface="Inconsolata"/>
              </a:rPr>
              <a:t>              </a:t>
            </a:r>
            <a:r>
              <a:rPr sz="719" i="0">
                <a:solidFill>
                  <a:srgbClr val="A5D6A7"/>
                </a:solidFill>
                <a:latin typeface="Inconsolata"/>
              </a:rPr>
              <a:t>f"header X-Request-ID = "</a:t>
            </a:r>
          </a:p>
          <a:p>
            <a:pPr>
              <a:lnSpc>
                <a:spcPct val="104277"/>
              </a:lnSpc>
              <a:spcAft>
                <a:spcPts val="0"/>
              </a:spcAft>
            </a:pPr>
            <a:r>
              <a:rPr sz="719" i="0">
                <a:solidFill>
                  <a:srgbClr val="5C6773"/>
                </a:solidFill>
                <a:latin typeface="Inconsolata"/>
              </a:rPr>
              <a:t>70  </a:t>
            </a:r>
            <a:r>
              <a:rPr sz="719" i="0">
                <a:solidFill>
                  <a:srgbClr val="E6EDF3"/>
                </a:solidFill>
                <a:latin typeface="Inconsolata"/>
              </a:rPr>
              <a:t>              </a:t>
            </a:r>
            <a:r>
              <a:rPr sz="719" i="0">
                <a:solidFill>
                  <a:srgbClr val="A5D6A7"/>
                </a:solidFill>
                <a:latin typeface="Inconsolata"/>
              </a:rPr>
              <a:t>f"{response.headers.get('X-Request-ID')}"</a:t>
            </a:r>
            <a:r>
              <a:rPr sz="719" i="0">
                <a:solidFill>
                  <a:srgbClr val="E6EDF3"/>
                </a:solidFill>
                <a:latin typeface="Inconsolata"/>
              </a:rPr>
              <a:t>)</a:t>
            </a:r>
          </a:p>
          <a:p>
            <a:pPr>
              <a:lnSpc>
                <a:spcPct val="104277"/>
              </a:lnSpc>
              <a:spcAft>
                <a:spcPts val="0"/>
              </a:spcAft>
            </a:pPr>
            <a:r>
              <a:rPr sz="719" i="0">
                <a:solidFill>
                  <a:srgbClr val="5C6773"/>
                </a:solidFill>
                <a:latin typeface="Inconsolata"/>
              </a:rPr>
              <a:t>71  </a:t>
            </a:r>
            <a:r>
              <a:rPr sz="719" i="0">
                <a:solidFill>
                  <a:srgbClr val="E6EDF3"/>
                </a:solidFill>
                <a:latin typeface="Inconsolata"/>
              </a:rPr>
              <a:t> </a:t>
            </a:r>
          </a:p>
          <a:p>
            <a:pPr>
              <a:lnSpc>
                <a:spcPct val="104277"/>
              </a:lnSpc>
              <a:spcAft>
                <a:spcPts val="0"/>
              </a:spcAft>
            </a:pPr>
            <a:r>
              <a:rPr sz="719" i="0">
                <a:solidFill>
                  <a:srgbClr val="5C6773"/>
                </a:solidFill>
                <a:latin typeface="Inconsolata"/>
              </a:rPr>
              <a:t>72  </a:t>
            </a:r>
            <a:r>
              <a:rPr sz="719" i="0">
                <a:solidFill>
                  <a:srgbClr val="E6EDF3"/>
                </a:solidFill>
                <a:latin typeface="Inconsolata"/>
              </a:rPr>
              <a:t> </a:t>
            </a:r>
          </a:p>
          <a:p>
            <a:pPr>
              <a:lnSpc>
                <a:spcPct val="104277"/>
              </a:lnSpc>
              <a:spcAft>
                <a:spcPts val="0"/>
              </a:spcAft>
            </a:pPr>
            <a:r>
              <a:rPr sz="719" i="0">
                <a:solidFill>
                  <a:srgbClr val="5C6773"/>
                </a:solidFill>
                <a:latin typeface="Inconsolata"/>
              </a:rPr>
              <a:t>73  </a:t>
            </a:r>
            <a:r>
              <a:rPr sz="719" i="0">
                <a:solidFill>
                  <a:srgbClr val="FF8E6E"/>
                </a:solidFill>
                <a:latin typeface="Inconsolata"/>
              </a:rPr>
              <a:t>if</a:t>
            </a:r>
            <a:r>
              <a:rPr sz="719" i="0">
                <a:solidFill>
                  <a:srgbClr val="E6EDF3"/>
                </a:solidFill>
                <a:latin typeface="Inconsolata"/>
              </a:rPr>
              <a:t> __name__ == </a:t>
            </a:r>
            <a:r>
              <a:rPr sz="719" i="0">
                <a:solidFill>
                  <a:srgbClr val="A5D6A7"/>
                </a:solidFill>
                <a:latin typeface="Inconsolata"/>
              </a:rPr>
              <a:t>"__main__"</a:t>
            </a:r>
            <a:r>
              <a:rPr sz="719" i="0">
                <a:solidFill>
                  <a:srgbClr val="E6EDF3"/>
                </a:solidFill>
                <a:latin typeface="Inconsolata"/>
              </a:rPr>
              <a:t>:</a:t>
            </a:r>
          </a:p>
          <a:p>
            <a:pPr>
              <a:lnSpc>
                <a:spcPct val="104277"/>
              </a:lnSpc>
              <a:spcAft>
                <a:spcPts val="0"/>
              </a:spcAft>
            </a:pPr>
            <a:r>
              <a:rPr sz="719" i="0">
                <a:solidFill>
                  <a:srgbClr val="5C6773"/>
                </a:solidFill>
                <a:latin typeface="Inconsolata"/>
              </a:rPr>
              <a:t>74  </a:t>
            </a:r>
            <a:r>
              <a:rPr sz="719" i="0">
                <a:solidFill>
                  <a:srgbClr val="E6EDF3"/>
                </a:solidFill>
                <a:latin typeface="Inconsolata"/>
              </a:rPr>
              <a:t>    asyncio.run(main())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Correlation ID</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02-correlation-id/after.py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sesi-09-observability/02-correlation-id</a:t>
            </a:r>
          </a:p>
          <a:p>
            <a:pPr>
              <a:lnSpc>
                <a:spcPct val="111111"/>
              </a:lnSpc>
              <a:spcAft>
                <a:spcPts val="0"/>
              </a:spcAft>
            </a:pPr>
            <a:r>
              <a:rPr sz="900" i="0">
                <a:solidFill>
                  <a:srgbClr val="82B1FF"/>
                </a:solidFill>
                <a:latin typeface="Inconsolata"/>
              </a:rPr>
              <a:t>$ python after.py</a:t>
            </a:r>
          </a:p>
        </p:txBody>
      </p:sp>
      <p:pic>
        <p:nvPicPr>
          <p:cNvPr id="29" name="Image 12" descr="s09-02-correlation-id-after.png"/>
          <p:cNvPicPr>
            <a:picLocks noChangeAspect="1"/>
          </p:cNvPicPr>
          <p:nvPr/>
        </p:nvPicPr>
        <p:blipFill>
          <a:blip r:embed="rId2"/>
          <a:stretch>
            <a:fillRect/>
          </a:stretch>
        </p:blipFill>
        <p:spPr>
          <a:xfrm>
            <a:off x="621792" y="2322576"/>
            <a:ext cx="4297680" cy="1893665"/>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B5482A"/>
                </a:solidFill>
                <a:latin typeface="Inconsolata"/>
              </a:rPr>
              <a:t>ContextVar</a:t>
            </a:r>
            <a:r>
              <a:rPr sz="950" b="0" i="0">
                <a:solidFill>
                  <a:srgbClr val="434343"/>
                </a:solidFill>
                <a:latin typeface="Inter"/>
              </a:rPr>
              <a:t> menyimpan request_id per request (baris 20)</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Filter menempelkan request_id ke setiap log (baris 23-26)</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Middleware mengambil atau membuat request_id, lalu mengirimnya di header response (baris 40-46)</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Log error jelas milik request </a:t>
            </a:r>
            <a:r>
              <a:rPr sz="950" b="0" i="0">
                <a:solidFill>
                  <a:srgbClr val="B5482A"/>
                </a:solidFill>
                <a:latin typeface="Inconsolata"/>
              </a:rPr>
              <a:t>budi@mail.com</a:t>
            </a:r>
            <a:r>
              <a:rPr sz="950" b="0" i="0">
                <a:solidFill>
                  <a:srgbClr val="434343"/>
                </a:solidFill>
                <a:latin typeface="Inter"/>
              </a:rPr>
              <a:t>, dan id yang sama ada di header response.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Klasifikasi Error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Klasifikasi Error?</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Klasifikasi error adalah</a:t>
            </a:r>
          </a:p>
          <a:p>
            <a:pPr algn="l">
              <a:lnSpc>
                <a:spcPct val="115000"/>
              </a:lnSpc>
              <a:spcAft>
                <a:spcPts val="400"/>
              </a:spcAft>
            </a:pPr>
            <a:r>
              <a:rPr sz="900" b="0" i="0">
                <a:solidFill>
                  <a:srgbClr val="434343"/>
                </a:solidFill>
                <a:latin typeface="Inter"/>
              </a:rPr>
              <a:t>Aturan untuk mengelompokkan error berdasarkan penyebabnya: kesalahan request dari </a:t>
            </a:r>
            <a:r>
              <a:rPr sz="900" b="1" i="0">
                <a:solidFill>
                  <a:srgbClr val="434343"/>
                </a:solidFill>
                <a:latin typeface="Inter"/>
              </a:rPr>
              <a:t>client</a:t>
            </a:r>
            <a:r>
              <a:rPr sz="900" b="0" i="0">
                <a:solidFill>
                  <a:srgbClr val="434343"/>
                </a:solidFill>
                <a:latin typeface="Inter"/>
              </a:rPr>
              <a:t>, gangguan </a:t>
            </a:r>
            <a:r>
              <a:rPr sz="900" b="1" i="0">
                <a:solidFill>
                  <a:srgbClr val="434343"/>
                </a:solidFill>
                <a:latin typeface="Inter"/>
              </a:rPr>
              <a:t>dependency</a:t>
            </a:r>
            <a:r>
              <a:rPr sz="900" b="0" i="0">
                <a:solidFill>
                  <a:srgbClr val="434343"/>
                </a:solidFill>
                <a:latin typeface="Inter"/>
              </a:rPr>
              <a:t> seperti database, atau </a:t>
            </a:r>
            <a:r>
              <a:rPr sz="900" b="1" i="0">
                <a:solidFill>
                  <a:srgbClr val="434343"/>
                </a:solidFill>
                <a:latin typeface="Inter"/>
              </a:rPr>
              <a:t>bug</a:t>
            </a:r>
            <a:r>
              <a:rPr sz="900" b="0" i="0">
                <a:solidFill>
                  <a:srgbClr val="434343"/>
                </a:solidFill>
                <a:latin typeface="Inter"/>
              </a:rPr>
              <a:t> di kode kita. Sehingga setiap kelompok mendapat status code, level log, dan tindakan yang tepat.</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Mencegah kesalahan client memicu alert ke tim on-call</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Memberi tahu client kapan request boleh dicoba lagi (503)</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Menyimpan traceback hanya untuk bug yang perlu diperbaiki</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satu handler: 03-error-classification/before.py</a:t>
            </a:r>
          </a:p>
        </p:txBody>
      </p:sp>
      <p:sp>
        <p:nvSpPr>
          <p:cNvPr id="28" name="CodeBg 11"/>
          <p:cNvSpPr/>
          <p:nvPr/>
        </p:nvSpPr>
        <p:spPr>
          <a:xfrm>
            <a:off x="4297680" y="1719072"/>
            <a:ext cx="4187951" cy="1170432"/>
          </a:xfrm>
          <a:prstGeom prst="roundRect">
            <a:avLst>
              <a:gd name="adj" fmla="val 1562"/>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1170432"/>
          </a:xfrm>
          <a:prstGeom prst="rect">
            <a:avLst/>
          </a:prstGeom>
          <a:noFill/>
        </p:spPr>
        <p:txBody>
          <a:bodyPr wrap="none" lIns="146304" tIns="91440" rIns="146304" bIns="54864">
            <a:spAutoFit/>
          </a:bodyPr>
          <a:lstStyle/>
          <a:p>
            <a:pPr>
              <a:lnSpc>
                <a:spcPct val="107843"/>
              </a:lnSpc>
              <a:spcAft>
                <a:spcPts val="0"/>
              </a:spcAft>
            </a:pPr>
            <a:r>
              <a:rPr sz="850" i="0">
                <a:solidFill>
                  <a:srgbClr val="F9C97A"/>
                </a:solidFill>
                <a:latin typeface="Inconsolata"/>
              </a:rPr>
              <a:t>@app.exception_handler</a:t>
            </a:r>
            <a:r>
              <a:rPr sz="850" i="0">
                <a:solidFill>
                  <a:srgbClr val="E6EDF3"/>
                </a:solidFill>
                <a:latin typeface="Inconsolata"/>
              </a:rPr>
              <a:t>(</a:t>
            </a:r>
            <a:r>
              <a:rPr sz="850" i="0">
                <a:solidFill>
                  <a:srgbClr val="7FDBCA"/>
                </a:solidFill>
                <a:latin typeface="Inconsolata"/>
              </a:rPr>
              <a:t>Exception</a:t>
            </a:r>
            <a:r>
              <a:rPr sz="850" i="0">
                <a:solidFill>
                  <a:srgbClr val="E6EDF3"/>
                </a:solidFill>
                <a:latin typeface="Inconsolata"/>
              </a:rPr>
              <a:t>)</a:t>
            </a:r>
          </a:p>
          <a:p>
            <a:pPr>
              <a:lnSpc>
                <a:spcPct val="107843"/>
              </a:lnSpc>
              <a:spcAft>
                <a:spcPts val="0"/>
              </a:spcAft>
            </a:pPr>
            <a:r>
              <a:rPr sz="850" i="0">
                <a:solidFill>
                  <a:srgbClr val="FF8E6E"/>
                </a:solidFill>
                <a:latin typeface="Inconsolata"/>
              </a:rPr>
              <a:t>async</a:t>
            </a:r>
            <a:r>
              <a:rPr sz="850" i="0">
                <a:solidFill>
                  <a:srgbClr val="E6EDF3"/>
                </a:solidFill>
                <a:latin typeface="Inconsolata"/>
              </a:rPr>
              <a:t> </a:t>
            </a:r>
            <a:r>
              <a:rPr sz="850" i="0">
                <a:solidFill>
                  <a:srgbClr val="FF8E6E"/>
                </a:solidFill>
                <a:latin typeface="Inconsolata"/>
              </a:rPr>
              <a:t>def</a:t>
            </a:r>
            <a:r>
              <a:rPr sz="850" i="0">
                <a:solidFill>
                  <a:srgbClr val="E6EDF3"/>
                </a:solidFill>
                <a:latin typeface="Inconsolata"/>
              </a:rPr>
              <a:t> </a:t>
            </a:r>
            <a:r>
              <a:rPr sz="850" i="0">
                <a:solidFill>
                  <a:srgbClr val="82B1FF"/>
                </a:solidFill>
                <a:latin typeface="Inconsolata"/>
              </a:rPr>
              <a:t>handle_error</a:t>
            </a:r>
            <a:r>
              <a:rPr sz="850" i="0">
                <a:solidFill>
                  <a:srgbClr val="E6EDF3"/>
                </a:solidFill>
                <a:latin typeface="Inconsolata"/>
              </a:rPr>
              <a:t>(request: </a:t>
            </a:r>
            <a:r>
              <a:rPr sz="850" i="0">
                <a:solidFill>
                  <a:srgbClr val="7FDBCA"/>
                </a:solidFill>
                <a:latin typeface="Inconsolata"/>
              </a:rPr>
              <a:t>Request</a:t>
            </a:r>
            <a:r>
              <a:rPr sz="850" i="0">
                <a:solidFill>
                  <a:srgbClr val="E6EDF3"/>
                </a:solidFill>
                <a:latin typeface="Inconsolata"/>
              </a:rPr>
              <a:t>, exc: </a:t>
            </a:r>
            <a:r>
              <a:rPr sz="850" i="0">
                <a:solidFill>
                  <a:srgbClr val="7FDBCA"/>
                </a:solidFill>
                <a:latin typeface="Inconsolata"/>
              </a:rPr>
              <a:t>Exception</a:t>
            </a:r>
            <a:r>
              <a:rPr sz="850" i="0">
                <a:solidFill>
                  <a:srgbClr val="E6EDF3"/>
                </a:solidFill>
                <a:latin typeface="Inconsolata"/>
              </a:rPr>
              <a:t>):</a:t>
            </a:r>
          </a:p>
          <a:p>
            <a:pPr>
              <a:lnSpc>
                <a:spcPct val="107843"/>
              </a:lnSpc>
              <a:spcAft>
                <a:spcPts val="0"/>
              </a:spcAft>
            </a:pPr>
            <a:r>
              <a:rPr sz="850" i="0">
                <a:solidFill>
                  <a:srgbClr val="E6EDF3"/>
                </a:solidFill>
                <a:latin typeface="Inconsolata"/>
              </a:rPr>
              <a:t>    logger.error(</a:t>
            </a:r>
            <a:r>
              <a:rPr sz="850" i="0">
                <a:solidFill>
                  <a:srgbClr val="A5D6A7"/>
                </a:solidFill>
                <a:latin typeface="Inconsolata"/>
              </a:rPr>
              <a:t>"request gagal: %s"</a:t>
            </a:r>
            <a:r>
              <a:rPr sz="850" i="0">
                <a:solidFill>
                  <a:srgbClr val="E6EDF3"/>
                </a:solidFill>
                <a:latin typeface="Inconsolata"/>
              </a:rPr>
              <a:t>, exc)</a:t>
            </a:r>
          </a:p>
          <a:p>
            <a:pPr>
              <a:lnSpc>
                <a:spcPct val="107843"/>
              </a:lnSpc>
              <a:spcAft>
                <a:spcPts val="0"/>
              </a:spcAft>
            </a:pPr>
            <a:r>
              <a:rPr sz="850" i="0">
                <a:solidFill>
                  <a:srgbClr val="E6EDF3"/>
                </a:solidFill>
                <a:latin typeface="Inconsolata"/>
              </a:rPr>
              <a:t>    </a:t>
            </a:r>
            <a:r>
              <a:rPr sz="850" i="0">
                <a:solidFill>
                  <a:srgbClr val="FF8E6E"/>
                </a:solidFill>
                <a:latin typeface="Inconsolata"/>
              </a:rPr>
              <a:t>return</a:t>
            </a:r>
            <a:r>
              <a:rPr sz="850" i="0">
                <a:solidFill>
                  <a:srgbClr val="E6EDF3"/>
                </a:solidFill>
                <a:latin typeface="Inconsolata"/>
              </a:rPr>
              <a:t> </a:t>
            </a:r>
            <a:r>
              <a:rPr sz="850" i="0">
                <a:solidFill>
                  <a:srgbClr val="7FDBCA"/>
                </a:solidFill>
                <a:latin typeface="Inconsolata"/>
              </a:rPr>
              <a:t>JSONResponse</a:t>
            </a:r>
            <a:r>
              <a:rPr sz="850" i="0">
                <a:solidFill>
                  <a:srgbClr val="E6EDF3"/>
                </a:solidFill>
                <a:latin typeface="Inconsolata"/>
              </a:rPr>
              <a:t>(status_code=</a:t>
            </a:r>
            <a:r>
              <a:rPr sz="850" i="0">
                <a:solidFill>
                  <a:srgbClr val="F9C97A"/>
                </a:solidFill>
                <a:latin typeface="Inconsolata"/>
              </a:rPr>
              <a:t>500</a:t>
            </a:r>
            <a:r>
              <a:rPr sz="850" i="0">
                <a:solidFill>
                  <a:srgbClr val="E6EDF3"/>
                </a:solidFill>
                <a:latin typeface="Inconsolata"/>
              </a:rPr>
              <a:t>,</a:t>
            </a:r>
          </a:p>
        </p:txBody>
      </p:sp>
      <p:sp>
        <p:nvSpPr>
          <p:cNvPr id="30" name="Box 13"/>
          <p:cNvSpPr/>
          <p:nvPr/>
        </p:nvSpPr>
        <p:spPr>
          <a:xfrm>
            <a:off x="4379976" y="1828673"/>
            <a:ext cx="4023359" cy="550418"/>
          </a:xfrm>
          <a:prstGeom prst="roundRect">
            <a:avLst>
              <a:gd name="adj" fmla="val 830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2980944"/>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3058668"/>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3058668"/>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3058668"/>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2990088"/>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dikelompokkan: 03-error-classification/after.py</a:t>
            </a:r>
          </a:p>
        </p:txBody>
      </p:sp>
      <p:sp>
        <p:nvSpPr>
          <p:cNvPr id="36" name="CodeBg 21"/>
          <p:cNvSpPr/>
          <p:nvPr/>
        </p:nvSpPr>
        <p:spPr>
          <a:xfrm>
            <a:off x="4297680" y="3218688"/>
            <a:ext cx="4187951" cy="1481327"/>
          </a:xfrm>
          <a:prstGeom prst="roundRect">
            <a:avLst>
              <a:gd name="adj" fmla="val 1234"/>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3218688"/>
            <a:ext cx="4187951" cy="1481327"/>
          </a:xfrm>
          <a:prstGeom prst="rect">
            <a:avLst/>
          </a:prstGeom>
          <a:noFill/>
        </p:spPr>
        <p:txBody>
          <a:bodyPr wrap="none" lIns="146304" tIns="91440" rIns="146304" bIns="54864">
            <a:spAutoFit/>
          </a:bodyPr>
          <a:lstStyle/>
          <a:p>
            <a:pPr>
              <a:lnSpc>
                <a:spcPct val="107843"/>
              </a:lnSpc>
              <a:spcAft>
                <a:spcPts val="0"/>
              </a:spcAft>
            </a:pPr>
            <a:r>
              <a:rPr sz="850" i="0">
                <a:solidFill>
                  <a:srgbClr val="FF8E6E"/>
                </a:solidFill>
                <a:latin typeface="Inconsolata"/>
              </a:rPr>
              <a:t>class</a:t>
            </a:r>
            <a:r>
              <a:rPr sz="850" i="0">
                <a:solidFill>
                  <a:srgbClr val="E6EDF3"/>
                </a:solidFill>
                <a:latin typeface="Inconsolata"/>
              </a:rPr>
              <a:t> </a:t>
            </a:r>
            <a:r>
              <a:rPr sz="850" i="0">
                <a:solidFill>
                  <a:srgbClr val="7FDBCA"/>
                </a:solidFill>
                <a:latin typeface="Inconsolata"/>
              </a:rPr>
              <a:t>ClientError</a:t>
            </a:r>
            <a:r>
              <a:rPr sz="850" i="0">
                <a:solidFill>
                  <a:srgbClr val="E6EDF3"/>
                </a:solidFill>
                <a:latin typeface="Inconsolata"/>
              </a:rPr>
              <a:t>(</a:t>
            </a:r>
            <a:r>
              <a:rPr sz="850" i="0">
                <a:solidFill>
                  <a:srgbClr val="7FDBCA"/>
                </a:solidFill>
                <a:latin typeface="Inconsolata"/>
              </a:rPr>
              <a:t>Exception</a:t>
            </a:r>
            <a:r>
              <a:rPr sz="850" i="0">
                <a:solidFill>
                  <a:srgbClr val="E6EDF3"/>
                </a:solidFill>
                <a:latin typeface="Inconsolata"/>
              </a:rPr>
              <a:t>):        </a:t>
            </a:r>
            <a:r>
              <a:rPr sz="850" i="1">
                <a:solidFill>
                  <a:srgbClr val="8B98A8"/>
                </a:solidFill>
                <a:latin typeface="Inconsolata"/>
              </a:rPr>
              <a:t># kesalahan dari sisi request</a:t>
            </a:r>
          </a:p>
          <a:p>
            <a:pPr>
              <a:lnSpc>
                <a:spcPct val="107843"/>
              </a:lnSpc>
              <a:spcAft>
                <a:spcPts val="0"/>
              </a:spcAft>
            </a:pPr>
            <a:r>
              <a:rPr sz="850" i="0">
                <a:solidFill>
                  <a:srgbClr val="E6EDF3"/>
                </a:solidFill>
                <a:latin typeface="Inconsolata"/>
              </a:rPr>
              <a:t>    status_code = </a:t>
            </a:r>
            <a:r>
              <a:rPr sz="850" i="0">
                <a:solidFill>
                  <a:srgbClr val="F9C97A"/>
                </a:solidFill>
                <a:latin typeface="Inconsolata"/>
              </a:rPr>
              <a:t>400</a:t>
            </a:r>
          </a:p>
          <a:p>
            <a:pPr>
              <a:lnSpc>
                <a:spcPct val="107843"/>
              </a:lnSpc>
              <a:spcAft>
                <a:spcPts val="0"/>
              </a:spcAft>
            </a:pPr>
            <a:r>
              <a:rPr sz="850" i="0">
                <a:solidFill>
                  <a:srgbClr val="E6EDF3"/>
                </a:solidFill>
                <a:latin typeface="Inconsolata"/>
              </a:rPr>
              <a:t>...</a:t>
            </a:r>
          </a:p>
          <a:p>
            <a:pPr>
              <a:lnSpc>
                <a:spcPct val="107843"/>
              </a:lnSpc>
              <a:spcAft>
                <a:spcPts val="0"/>
              </a:spcAft>
            </a:pPr>
            <a:r>
              <a:rPr sz="850" i="0">
                <a:solidFill>
                  <a:srgbClr val="FF8E6E"/>
                </a:solidFill>
                <a:latin typeface="Inconsolata"/>
              </a:rPr>
              <a:t>class</a:t>
            </a:r>
            <a:r>
              <a:rPr sz="850" i="0">
                <a:solidFill>
                  <a:srgbClr val="E6EDF3"/>
                </a:solidFill>
                <a:latin typeface="Inconsolata"/>
              </a:rPr>
              <a:t> </a:t>
            </a:r>
            <a:r>
              <a:rPr sz="850" i="0">
                <a:solidFill>
                  <a:srgbClr val="7FDBCA"/>
                </a:solidFill>
                <a:latin typeface="Inconsolata"/>
              </a:rPr>
              <a:t>DependencyError</a:t>
            </a:r>
            <a:r>
              <a:rPr sz="850" i="0">
                <a:solidFill>
                  <a:srgbClr val="E6EDF3"/>
                </a:solidFill>
                <a:latin typeface="Inconsolata"/>
              </a:rPr>
              <a:t>(</a:t>
            </a:r>
            <a:r>
              <a:rPr sz="850" i="0">
                <a:solidFill>
                  <a:srgbClr val="7FDBCA"/>
                </a:solidFill>
                <a:latin typeface="Inconsolata"/>
              </a:rPr>
              <a:t>Exception</a:t>
            </a:r>
            <a:r>
              <a:rPr sz="850" i="0">
                <a:solidFill>
                  <a:srgbClr val="E6EDF3"/>
                </a:solidFill>
                <a:latin typeface="Inconsolata"/>
              </a:rPr>
              <a:t>):    </a:t>
            </a:r>
            <a:r>
              <a:rPr sz="850" i="1">
                <a:solidFill>
                  <a:srgbClr val="8B98A8"/>
                </a:solidFill>
                <a:latin typeface="Inconsolata"/>
              </a:rPr>
              <a:t># layanan lain sedang gangguan</a:t>
            </a:r>
          </a:p>
          <a:p>
            <a:pPr>
              <a:lnSpc>
                <a:spcPct val="107843"/>
              </a:lnSpc>
              <a:spcAft>
                <a:spcPts val="0"/>
              </a:spcAft>
            </a:pPr>
            <a:r>
              <a:rPr sz="850" i="0">
                <a:solidFill>
                  <a:srgbClr val="E6EDF3"/>
                </a:solidFill>
                <a:latin typeface="Inconsolata"/>
              </a:rPr>
              <a:t>    status_code = </a:t>
            </a:r>
            <a:r>
              <a:rPr sz="850" i="0">
                <a:solidFill>
                  <a:srgbClr val="F9C97A"/>
                </a:solidFill>
                <a:latin typeface="Inconsolata"/>
              </a:rPr>
              <a:t>503</a:t>
            </a:r>
          </a:p>
        </p:txBody>
      </p:sp>
      <p:sp>
        <p:nvSpPr>
          <p:cNvPr id="38" name="Box 23"/>
          <p:cNvSpPr/>
          <p:nvPr/>
        </p:nvSpPr>
        <p:spPr>
          <a:xfrm>
            <a:off x="4379976" y="3328289"/>
            <a:ext cx="4023359" cy="271018"/>
          </a:xfrm>
          <a:prstGeom prst="roundRect">
            <a:avLst>
              <a:gd name="adj" fmla="val 16869"/>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379976" y="3747389"/>
            <a:ext cx="4023359" cy="271018"/>
          </a:xfrm>
          <a:prstGeom prst="roundRect">
            <a:avLst>
              <a:gd name="adj" fmla="val 16869"/>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Klasifikasi Error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menggunakan Klasifikasi Error?</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Tanpa klasifikasi</a:t>
            </a:r>
          </a:p>
          <a:p>
            <a:pPr algn="l">
              <a:lnSpc>
                <a:spcPct val="115000"/>
              </a:lnSpc>
              <a:spcAft>
                <a:spcPts val="400"/>
              </a:spcAft>
            </a:pPr>
            <a:r>
              <a:rPr sz="950" b="0" i="0">
                <a:solidFill>
                  <a:srgbClr val="434343"/>
                </a:solidFill>
                <a:latin typeface="Inter"/>
              </a:rPr>
              <a:t>Produk tidak ditemukan, stok kurang, database timeout, dan bug semuanya menjadi 500 dan log ERROR.</a:t>
            </a:r>
          </a:p>
          <a:p>
            <a:pPr algn="l">
              <a:lnSpc>
                <a:spcPct val="115000"/>
              </a:lnSpc>
              <a:spcAft>
                <a:spcPts val="400"/>
              </a:spcAft>
            </a:pPr>
            <a:r>
              <a:rPr sz="1050" b="1" i="0">
                <a:solidFill>
                  <a:srgbClr val="1C4587"/>
                </a:solidFill>
                <a:latin typeface="Inter"/>
              </a:rPr>
              <a:t>Jika user makin banyak</a:t>
            </a:r>
          </a:p>
          <a:p>
            <a:pPr algn="l">
              <a:lnSpc>
                <a:spcPct val="115000"/>
              </a:lnSpc>
              <a:spcAft>
                <a:spcPts val="400"/>
              </a:spcAft>
            </a:pPr>
            <a:r>
              <a:rPr sz="950" b="0" i="0">
                <a:solidFill>
                  <a:srgbClr val="434343"/>
                </a:solidFill>
                <a:latin typeface="Inter"/>
              </a:rPr>
              <a:t>Kesalahan input user ikut memicu alert setiap menit.</a:t>
            </a:r>
          </a:p>
          <a:p>
            <a:pPr algn="l">
              <a:lnSpc>
                <a:spcPct val="115000"/>
              </a:lnSpc>
              <a:spcAft>
                <a:spcPts val="400"/>
              </a:spcAft>
            </a:pPr>
            <a:r>
              <a:rPr sz="950" b="0" i="0">
                <a:solidFill>
                  <a:srgbClr val="434343"/>
                </a:solidFill>
                <a:latin typeface="Inter"/>
              </a:rPr>
              <a:t>Hal ini membuat tim on-call terbiasa mengabaikan alert, termasuk alert dari bug sungguhan.</a:t>
            </a:r>
          </a:p>
          <a:p>
            <a:pPr algn="l">
              <a:lnSpc>
                <a:spcPct val="115000"/>
              </a:lnSpc>
              <a:spcAft>
                <a:spcPts val="400"/>
              </a:spcAft>
            </a:pPr>
            <a:r>
              <a:rPr sz="1050" b="1" i="0">
                <a:solidFill>
                  <a:srgbClr val="1C4587"/>
                </a:solidFill>
                <a:latin typeface="Inter"/>
              </a:rPr>
              <a:t>Yang dipakai dari FastAPI: exception handler per class</a:t>
            </a:r>
          </a:p>
          <a:p>
            <a:pPr algn="l">
              <a:lnSpc>
                <a:spcPct val="115000"/>
              </a:lnSpc>
              <a:spcAft>
                <a:spcPts val="400"/>
              </a:spcAft>
            </a:pPr>
            <a:r>
              <a:rPr sz="950" b="0" i="0">
                <a:solidFill>
                  <a:srgbClr val="434343"/>
                </a:solidFill>
                <a:latin typeface="Inter"/>
              </a:rPr>
              <a:t>Handler dipilih berdasarkan class exception. Subclass ikut ditangani oleh handler class induknya.</a:t>
            </a:r>
          </a:p>
        </p:txBody>
      </p:sp>
      <p:graphicFrame>
        <p:nvGraphicFramePr>
          <p:cNvPr id="23" name="Table 4"/>
          <p:cNvGraphicFramePr>
            <a:graphicFrameLocks noGrp="1"/>
          </p:cNvGraphicFramePr>
          <p:nvPr/>
        </p:nvGraphicFramePr>
        <p:xfrm>
          <a:off x="4800600" y="1481328"/>
          <a:ext cx="3685032" cy="1828800"/>
        </p:xfrm>
        <a:graphic>
          <a:graphicData uri="http://schemas.openxmlformats.org/drawingml/2006/table">
            <a:tbl>
              <a:tblPr firstRow="1" bandRow="1"/>
              <a:tblGrid>
                <a:gridCol w="1216152">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tblGrid>
              <a:tr h="457200">
                <a:tc>
                  <a:txBody>
                    <a:bodyPr/>
                    <a:lstStyle/>
                    <a:p>
                      <a:pPr algn="l">
                        <a:lnSpc>
                          <a:spcPct val="100000"/>
                        </a:lnSpc>
                        <a:spcAft>
                          <a:spcPts val="0"/>
                        </a:spcAft>
                      </a:pPr>
                      <a:r>
                        <a:rPr sz="850" b="1" i="0">
                          <a:solidFill>
                            <a:srgbClr val="FFFFFF"/>
                          </a:solidFill>
                          <a:latin typeface="Inter"/>
                        </a:rPr>
                        <a:t>Kelompok</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Status, log, dan tindakan</a:t>
                      </a:r>
                    </a:p>
                  </a:txBody>
                  <a:tcPr marL="73152" marR="73152" marT="36576" marB="36576" anchor="ctr">
                    <a:solidFill>
                      <a:srgbClr val="1C4587"/>
                    </a:solidFill>
                  </a:tcPr>
                </a:tc>
                <a:extLst>
                  <a:ext uri="{0D108BD9-81ED-4DB2-BD59-A6C34878D82A}">
                    <a16:rowId xmlns:a16="http://schemas.microsoft.com/office/drawing/2014/main" val="10000"/>
                  </a:ext>
                </a:extLst>
              </a:tr>
              <a:tr h="457200">
                <a:tc>
                  <a:txBody>
                    <a:bodyPr/>
                    <a:lstStyle/>
                    <a:p>
                      <a:pPr algn="l">
                        <a:lnSpc>
                          <a:spcPct val="100000"/>
                        </a:lnSpc>
                        <a:spcAft>
                          <a:spcPts val="0"/>
                        </a:spcAft>
                      </a:pPr>
                      <a:r>
                        <a:rPr sz="850" b="1" i="0">
                          <a:solidFill>
                            <a:srgbClr val="1C4587"/>
                          </a:solidFill>
                          <a:latin typeface="Inter"/>
                        </a:rPr>
                        <a:t>client</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4xx, WARNING, tidak ada alert</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pPr algn="l">
                        <a:lnSpc>
                          <a:spcPct val="100000"/>
                        </a:lnSpc>
                        <a:spcAft>
                          <a:spcPts val="0"/>
                        </a:spcAft>
                      </a:pPr>
                      <a:r>
                        <a:rPr sz="850" b="1" i="0">
                          <a:solidFill>
                            <a:srgbClr val="1C4587"/>
                          </a:solidFill>
                          <a:latin typeface="Inter"/>
                        </a:rPr>
                        <a:t>dependency</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503, ERROR, biasanya pulih sendiri</a:t>
                      </a:r>
                    </a:p>
                  </a:txBody>
                  <a:tcPr marL="73152" marR="73152" marT="36576" marB="36576" anchor="ctr">
                    <a:solidFill>
                      <a:srgbClr val="F3F4F6"/>
                    </a:solidFill>
                  </a:tcPr>
                </a:tc>
                <a:extLst>
                  <a:ext uri="{0D108BD9-81ED-4DB2-BD59-A6C34878D82A}">
                    <a16:rowId xmlns:a16="http://schemas.microsoft.com/office/drawing/2014/main" val="10002"/>
                  </a:ext>
                </a:extLst>
              </a:tr>
              <a:tr h="457200">
                <a:tc>
                  <a:txBody>
                    <a:bodyPr/>
                    <a:lstStyle/>
                    <a:p>
                      <a:pPr algn="l">
                        <a:lnSpc>
                          <a:spcPct val="100000"/>
                        </a:lnSpc>
                        <a:spcAft>
                          <a:spcPts val="0"/>
                        </a:spcAft>
                      </a:pPr>
                      <a:r>
                        <a:rPr sz="850" b="1" i="0">
                          <a:solidFill>
                            <a:srgbClr val="1C4587"/>
                          </a:solidFill>
                          <a:latin typeface="Inter"/>
                        </a:rPr>
                        <a:t>bug</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500, ERROR + traceback, harus diperbaiki</a:t>
                      </a:r>
                    </a:p>
                  </a:txBody>
                  <a:tcPr marL="73152" marR="73152" marT="36576" marB="36576"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Klasifikasi Error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semua error jadi 500 (1/2)</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03-error-classification/before.py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7095"/>
              </a:lnSpc>
              <a:spcAft>
                <a:spcPts val="0"/>
              </a:spcAft>
            </a:pPr>
            <a:r>
              <a:rPr sz="700" i="0">
                <a:solidFill>
                  <a:srgbClr val="5C6773"/>
                </a:solidFill>
                <a:latin typeface="Inconsolata"/>
              </a:rPr>
              <a:t>10  </a:t>
            </a:r>
            <a:r>
              <a:rPr sz="700" i="0">
                <a:solidFill>
                  <a:srgbClr val="FF8E6E"/>
                </a:solidFill>
                <a:latin typeface="Inconsolata"/>
              </a:rPr>
              <a:t>import</a:t>
            </a:r>
            <a:r>
              <a:rPr sz="700" i="0">
                <a:solidFill>
                  <a:srgbClr val="E6EDF3"/>
                </a:solidFill>
                <a:latin typeface="Inconsolata"/>
              </a:rPr>
              <a:t> logging</a:t>
            </a:r>
          </a:p>
          <a:p>
            <a:pPr>
              <a:lnSpc>
                <a:spcPct val="107095"/>
              </a:lnSpc>
              <a:spcAft>
                <a:spcPts val="0"/>
              </a:spcAft>
            </a:pPr>
            <a:r>
              <a:rPr sz="700" i="0">
                <a:solidFill>
                  <a:srgbClr val="5C6773"/>
                </a:solidFill>
                <a:latin typeface="Inconsolata"/>
              </a:rPr>
              <a:t>11  </a:t>
            </a:r>
            <a:r>
              <a:rPr sz="700" i="0">
                <a:solidFill>
                  <a:srgbClr val="E6EDF3"/>
                </a:solidFill>
                <a:latin typeface="Inconsolata"/>
              </a:rPr>
              <a:t> </a:t>
            </a:r>
          </a:p>
          <a:p>
            <a:pPr>
              <a:lnSpc>
                <a:spcPct val="107095"/>
              </a:lnSpc>
              <a:spcAft>
                <a:spcPts val="0"/>
              </a:spcAft>
            </a:pPr>
            <a:r>
              <a:rPr sz="700" i="0">
                <a:solidFill>
                  <a:srgbClr val="5C6773"/>
                </a:solidFill>
                <a:latin typeface="Inconsolata"/>
              </a:rPr>
              <a:t>12  </a:t>
            </a:r>
            <a:r>
              <a:rPr sz="700" i="0">
                <a:solidFill>
                  <a:srgbClr val="FF8E6E"/>
                </a:solidFill>
                <a:latin typeface="Inconsolata"/>
              </a:rPr>
              <a:t>from</a:t>
            </a:r>
            <a:r>
              <a:rPr sz="700" i="0">
                <a:solidFill>
                  <a:srgbClr val="E6EDF3"/>
                </a:solidFill>
                <a:latin typeface="Inconsolata"/>
              </a:rPr>
              <a:t> fastapi </a:t>
            </a:r>
            <a:r>
              <a:rPr sz="700" i="0">
                <a:solidFill>
                  <a:srgbClr val="FF8E6E"/>
                </a:solidFill>
                <a:latin typeface="Inconsolata"/>
              </a:rPr>
              <a:t>import</a:t>
            </a:r>
            <a:r>
              <a:rPr sz="700" i="0">
                <a:solidFill>
                  <a:srgbClr val="E6EDF3"/>
                </a:solidFill>
                <a:latin typeface="Inconsolata"/>
              </a:rPr>
              <a:t> </a:t>
            </a:r>
            <a:r>
              <a:rPr sz="700" i="0">
                <a:solidFill>
                  <a:srgbClr val="7FDBCA"/>
                </a:solidFill>
                <a:latin typeface="Inconsolata"/>
              </a:rPr>
              <a:t>FastAPI</a:t>
            </a:r>
            <a:r>
              <a:rPr sz="700" i="0">
                <a:solidFill>
                  <a:srgbClr val="E6EDF3"/>
                </a:solidFill>
                <a:latin typeface="Inconsolata"/>
              </a:rPr>
              <a:t>, </a:t>
            </a:r>
            <a:r>
              <a:rPr sz="700" i="0">
                <a:solidFill>
                  <a:srgbClr val="7FDBCA"/>
                </a:solidFill>
                <a:latin typeface="Inconsolata"/>
              </a:rPr>
              <a:t>Request</a:t>
            </a:r>
          </a:p>
          <a:p>
            <a:pPr>
              <a:lnSpc>
                <a:spcPct val="107095"/>
              </a:lnSpc>
              <a:spcAft>
                <a:spcPts val="0"/>
              </a:spcAft>
            </a:pPr>
            <a:r>
              <a:rPr sz="700" i="0">
                <a:solidFill>
                  <a:srgbClr val="5C6773"/>
                </a:solidFill>
                <a:latin typeface="Inconsolata"/>
              </a:rPr>
              <a:t>13  </a:t>
            </a:r>
            <a:r>
              <a:rPr sz="700" i="0">
                <a:solidFill>
                  <a:srgbClr val="FF8E6E"/>
                </a:solidFill>
                <a:latin typeface="Inconsolata"/>
              </a:rPr>
              <a:t>from</a:t>
            </a:r>
            <a:r>
              <a:rPr sz="700" i="0">
                <a:solidFill>
                  <a:srgbClr val="E6EDF3"/>
                </a:solidFill>
                <a:latin typeface="Inconsolata"/>
              </a:rPr>
              <a:t> fastapi.responses </a:t>
            </a:r>
            <a:r>
              <a:rPr sz="700" i="0">
                <a:solidFill>
                  <a:srgbClr val="FF8E6E"/>
                </a:solidFill>
                <a:latin typeface="Inconsolata"/>
              </a:rPr>
              <a:t>import</a:t>
            </a:r>
            <a:r>
              <a:rPr sz="700" i="0">
                <a:solidFill>
                  <a:srgbClr val="E6EDF3"/>
                </a:solidFill>
                <a:latin typeface="Inconsolata"/>
              </a:rPr>
              <a:t> </a:t>
            </a:r>
            <a:r>
              <a:rPr sz="700" i="0">
                <a:solidFill>
                  <a:srgbClr val="7FDBCA"/>
                </a:solidFill>
                <a:latin typeface="Inconsolata"/>
              </a:rPr>
              <a:t>JSONResponse</a:t>
            </a:r>
          </a:p>
          <a:p>
            <a:pPr>
              <a:lnSpc>
                <a:spcPct val="107095"/>
              </a:lnSpc>
              <a:spcAft>
                <a:spcPts val="0"/>
              </a:spcAft>
            </a:pPr>
            <a:r>
              <a:rPr sz="700" i="0">
                <a:solidFill>
                  <a:srgbClr val="5C6773"/>
                </a:solidFill>
                <a:latin typeface="Inconsolata"/>
              </a:rPr>
              <a:t>14  </a:t>
            </a:r>
            <a:r>
              <a:rPr sz="700" i="0">
                <a:solidFill>
                  <a:srgbClr val="FF8E6E"/>
                </a:solidFill>
                <a:latin typeface="Inconsolata"/>
              </a:rPr>
              <a:t>from</a:t>
            </a:r>
            <a:r>
              <a:rPr sz="700" i="0">
                <a:solidFill>
                  <a:srgbClr val="E6EDF3"/>
                </a:solidFill>
                <a:latin typeface="Inconsolata"/>
              </a:rPr>
              <a:t> fastapi.testclient </a:t>
            </a:r>
            <a:r>
              <a:rPr sz="700" i="0">
                <a:solidFill>
                  <a:srgbClr val="FF8E6E"/>
                </a:solidFill>
                <a:latin typeface="Inconsolata"/>
              </a:rPr>
              <a:t>import</a:t>
            </a:r>
            <a:r>
              <a:rPr sz="700" i="0">
                <a:solidFill>
                  <a:srgbClr val="E6EDF3"/>
                </a:solidFill>
                <a:latin typeface="Inconsolata"/>
              </a:rPr>
              <a:t> </a:t>
            </a:r>
            <a:r>
              <a:rPr sz="700" i="0">
                <a:solidFill>
                  <a:srgbClr val="7FDBCA"/>
                </a:solidFill>
                <a:latin typeface="Inconsolata"/>
              </a:rPr>
              <a:t>TestClient</a:t>
            </a:r>
          </a:p>
          <a:p>
            <a:pPr>
              <a:lnSpc>
                <a:spcPct val="107095"/>
              </a:lnSpc>
              <a:spcAft>
                <a:spcPts val="0"/>
              </a:spcAft>
            </a:pPr>
            <a:r>
              <a:rPr sz="700" i="0">
                <a:solidFill>
                  <a:srgbClr val="5C6773"/>
                </a:solidFill>
                <a:latin typeface="Inconsolata"/>
              </a:rPr>
              <a:t>15  </a:t>
            </a:r>
            <a:r>
              <a:rPr sz="700" i="0">
                <a:solidFill>
                  <a:srgbClr val="E6EDF3"/>
                </a:solidFill>
                <a:latin typeface="Inconsolata"/>
              </a:rPr>
              <a:t> </a:t>
            </a:r>
          </a:p>
          <a:p>
            <a:pPr>
              <a:lnSpc>
                <a:spcPct val="107095"/>
              </a:lnSpc>
              <a:spcAft>
                <a:spcPts val="0"/>
              </a:spcAft>
            </a:pPr>
            <a:r>
              <a:rPr sz="700" i="0">
                <a:solidFill>
                  <a:srgbClr val="5C6773"/>
                </a:solidFill>
                <a:latin typeface="Inconsolata"/>
              </a:rPr>
              <a:t>16  </a:t>
            </a:r>
            <a:r>
              <a:rPr sz="700" i="0">
                <a:solidFill>
                  <a:srgbClr val="E6EDF3"/>
                </a:solidFill>
                <a:latin typeface="Inconsolata"/>
              </a:rPr>
              <a:t>logging.basicConfig(level=logging.</a:t>
            </a:r>
            <a:r>
              <a:rPr sz="700" i="0">
                <a:solidFill>
                  <a:srgbClr val="7FDBCA"/>
                </a:solidFill>
                <a:latin typeface="Inconsolata"/>
              </a:rPr>
              <a:t>INFO</a:t>
            </a:r>
            <a:r>
              <a:rPr sz="700" i="0">
                <a:solidFill>
                  <a:srgbClr val="E6EDF3"/>
                </a:solidFill>
                <a:latin typeface="Inconsolata"/>
              </a:rPr>
              <a:t>,</a:t>
            </a:r>
          </a:p>
          <a:p>
            <a:pPr>
              <a:lnSpc>
                <a:spcPct val="107095"/>
              </a:lnSpc>
              <a:spcAft>
                <a:spcPts val="0"/>
              </a:spcAft>
            </a:pPr>
            <a:r>
              <a:rPr sz="700" i="0">
                <a:solidFill>
                  <a:srgbClr val="5C6773"/>
                </a:solidFill>
                <a:latin typeface="Inconsolata"/>
              </a:rPr>
              <a:t>17  </a:t>
            </a:r>
            <a:r>
              <a:rPr sz="700" i="0">
                <a:solidFill>
                  <a:srgbClr val="E6EDF3"/>
                </a:solidFill>
                <a:latin typeface="Inconsolata"/>
              </a:rPr>
              <a:t>                    format=</a:t>
            </a:r>
            <a:r>
              <a:rPr sz="700" i="0">
                <a:solidFill>
                  <a:srgbClr val="A5D6A7"/>
                </a:solidFill>
                <a:latin typeface="Inconsolata"/>
              </a:rPr>
              <a:t>"%(levelname)-7s %(message)s"</a:t>
            </a:r>
            <a:r>
              <a:rPr sz="700" i="0">
                <a:solidFill>
                  <a:srgbClr val="E6EDF3"/>
                </a:solidFill>
                <a:latin typeface="Inconsolata"/>
              </a:rPr>
              <a:t>)</a:t>
            </a:r>
          </a:p>
          <a:p>
            <a:pPr>
              <a:lnSpc>
                <a:spcPct val="107095"/>
              </a:lnSpc>
              <a:spcAft>
                <a:spcPts val="0"/>
              </a:spcAft>
            </a:pPr>
            <a:r>
              <a:rPr sz="700" i="0">
                <a:solidFill>
                  <a:srgbClr val="5C6773"/>
                </a:solidFill>
                <a:latin typeface="Inconsolata"/>
              </a:rPr>
              <a:t>18  </a:t>
            </a:r>
            <a:r>
              <a:rPr sz="700" i="0">
                <a:solidFill>
                  <a:srgbClr val="E6EDF3"/>
                </a:solidFill>
                <a:latin typeface="Inconsolata"/>
              </a:rPr>
              <a:t>logging.getLogger(</a:t>
            </a:r>
            <a:r>
              <a:rPr sz="700" i="0">
                <a:solidFill>
                  <a:srgbClr val="A5D6A7"/>
                </a:solidFill>
                <a:latin typeface="Inconsolata"/>
              </a:rPr>
              <a:t>"httpx"</a:t>
            </a:r>
            <a:r>
              <a:rPr sz="700" i="0">
                <a:solidFill>
                  <a:srgbClr val="E6EDF3"/>
                </a:solidFill>
                <a:latin typeface="Inconsolata"/>
              </a:rPr>
              <a:t>).setLevel(logging.</a:t>
            </a:r>
            <a:r>
              <a:rPr sz="700" i="0">
                <a:solidFill>
                  <a:srgbClr val="7FDBCA"/>
                </a:solidFill>
                <a:latin typeface="Inconsolata"/>
              </a:rPr>
              <a:t>WARNING</a:t>
            </a:r>
            <a:r>
              <a:rPr sz="700" i="0">
                <a:solidFill>
                  <a:srgbClr val="E6EDF3"/>
                </a:solidFill>
                <a:latin typeface="Inconsolata"/>
              </a:rPr>
              <a:t>)   </a:t>
            </a:r>
            <a:r>
              <a:rPr sz="700" i="1">
                <a:solidFill>
                  <a:srgbClr val="8B98A8"/>
                </a:solidFill>
                <a:latin typeface="Inconsolata"/>
              </a:rPr>
              <a:t># log client demo</a:t>
            </a:r>
          </a:p>
          <a:p>
            <a:pPr>
              <a:lnSpc>
                <a:spcPct val="107095"/>
              </a:lnSpc>
              <a:spcAft>
                <a:spcPts val="0"/>
              </a:spcAft>
            </a:pPr>
            <a:r>
              <a:rPr sz="700" i="0">
                <a:solidFill>
                  <a:srgbClr val="5C6773"/>
                </a:solidFill>
                <a:latin typeface="Inconsolata"/>
              </a:rPr>
              <a:t>19  </a:t>
            </a:r>
            <a:r>
              <a:rPr sz="700" i="0">
                <a:solidFill>
                  <a:srgbClr val="E6EDF3"/>
                </a:solidFill>
                <a:latin typeface="Inconsolata"/>
              </a:rPr>
              <a:t>logger = logging.getLogger(</a:t>
            </a:r>
            <a:r>
              <a:rPr sz="700" i="0">
                <a:solidFill>
                  <a:srgbClr val="A5D6A7"/>
                </a:solidFill>
                <a:latin typeface="Inconsolata"/>
              </a:rPr>
              <a:t>"orders"</a:t>
            </a:r>
            <a:r>
              <a:rPr sz="700" i="0">
                <a:solidFill>
                  <a:srgbClr val="E6EDF3"/>
                </a:solidFill>
                <a:latin typeface="Inconsolata"/>
              </a:rPr>
              <a:t>)</a:t>
            </a:r>
          </a:p>
          <a:p>
            <a:pPr>
              <a:lnSpc>
                <a:spcPct val="107095"/>
              </a:lnSpc>
              <a:spcAft>
                <a:spcPts val="0"/>
              </a:spcAft>
            </a:pPr>
            <a:r>
              <a:rPr sz="700" i="0">
                <a:solidFill>
                  <a:srgbClr val="5C6773"/>
                </a:solidFill>
                <a:latin typeface="Inconsolata"/>
              </a:rPr>
              <a:t>20  </a:t>
            </a:r>
            <a:r>
              <a:rPr sz="700" i="0">
                <a:solidFill>
                  <a:srgbClr val="E6EDF3"/>
                </a:solidFill>
                <a:latin typeface="Inconsolata"/>
              </a:rPr>
              <a:t>app = </a:t>
            </a:r>
            <a:r>
              <a:rPr sz="700" i="0">
                <a:solidFill>
                  <a:srgbClr val="7FDBCA"/>
                </a:solidFill>
                <a:latin typeface="Inconsolata"/>
              </a:rPr>
              <a:t>FastAPI</a:t>
            </a:r>
            <a:r>
              <a:rPr sz="700" i="0">
                <a:solidFill>
                  <a:srgbClr val="E6EDF3"/>
                </a:solidFill>
                <a:latin typeface="Inconsolata"/>
              </a:rPr>
              <a:t>()</a:t>
            </a:r>
          </a:p>
          <a:p>
            <a:pPr>
              <a:lnSpc>
                <a:spcPct val="107095"/>
              </a:lnSpc>
              <a:spcAft>
                <a:spcPts val="0"/>
              </a:spcAft>
            </a:pPr>
            <a:r>
              <a:rPr sz="700" i="0">
                <a:solidFill>
                  <a:srgbClr val="5C6773"/>
                </a:solidFill>
                <a:latin typeface="Inconsolata"/>
              </a:rPr>
              <a:t>21  </a:t>
            </a:r>
            <a:r>
              <a:rPr sz="700" i="0">
                <a:solidFill>
                  <a:srgbClr val="E6EDF3"/>
                </a:solidFill>
                <a:latin typeface="Inconsolata"/>
              </a:rPr>
              <a:t> </a:t>
            </a:r>
          </a:p>
          <a:p>
            <a:pPr>
              <a:lnSpc>
                <a:spcPct val="107095"/>
              </a:lnSpc>
              <a:spcAft>
                <a:spcPts val="0"/>
              </a:spcAft>
            </a:pPr>
            <a:r>
              <a:rPr sz="700" i="0">
                <a:solidFill>
                  <a:srgbClr val="5C6773"/>
                </a:solidFill>
                <a:latin typeface="Inconsolata"/>
              </a:rPr>
              <a:t>22  </a:t>
            </a:r>
            <a:r>
              <a:rPr sz="700" i="0">
                <a:solidFill>
                  <a:srgbClr val="7FDBCA"/>
                </a:solidFill>
                <a:latin typeface="Inconsolata"/>
              </a:rPr>
              <a:t>PRODUCTS</a:t>
            </a:r>
            <a:r>
              <a:rPr sz="700" i="0">
                <a:solidFill>
                  <a:srgbClr val="E6EDF3"/>
                </a:solidFill>
                <a:latin typeface="Inconsolata"/>
              </a:rPr>
              <a:t> = {</a:t>
            </a:r>
            <a:r>
              <a:rPr sz="700" i="0">
                <a:solidFill>
                  <a:srgbClr val="F9C97A"/>
                </a:solidFill>
                <a:latin typeface="Inconsolata"/>
              </a:rPr>
              <a:t>1</a:t>
            </a:r>
            <a:r>
              <a:rPr sz="700" i="0">
                <a:solidFill>
                  <a:srgbClr val="E6EDF3"/>
                </a:solidFill>
                <a:latin typeface="Inconsolata"/>
              </a:rPr>
              <a:t>: {</a:t>
            </a:r>
            <a:r>
              <a:rPr sz="700" i="0">
                <a:solidFill>
                  <a:srgbClr val="A5D6A7"/>
                </a:solidFill>
                <a:latin typeface="Inconsolata"/>
              </a:rPr>
              <a:t>"price"</a:t>
            </a:r>
            <a:r>
              <a:rPr sz="700" i="0">
                <a:solidFill>
                  <a:srgbClr val="E6EDF3"/>
                </a:solidFill>
                <a:latin typeface="Inconsolata"/>
              </a:rPr>
              <a:t>: </a:t>
            </a:r>
            <a:r>
              <a:rPr sz="700" i="0">
                <a:solidFill>
                  <a:srgbClr val="F9C97A"/>
                </a:solidFill>
                <a:latin typeface="Inconsolata"/>
              </a:rPr>
              <a:t>100_000</a:t>
            </a:r>
            <a:r>
              <a:rPr sz="700" i="0">
                <a:solidFill>
                  <a:srgbClr val="E6EDF3"/>
                </a:solidFill>
                <a:latin typeface="Inconsolata"/>
              </a:rPr>
              <a:t>, </a:t>
            </a:r>
            <a:r>
              <a:rPr sz="700" i="0">
                <a:solidFill>
                  <a:srgbClr val="A5D6A7"/>
                </a:solidFill>
                <a:latin typeface="Inconsolata"/>
              </a:rPr>
              <a:t>"stock"</a:t>
            </a:r>
            <a:r>
              <a:rPr sz="700" i="0">
                <a:solidFill>
                  <a:srgbClr val="E6EDF3"/>
                </a:solidFill>
                <a:latin typeface="Inconsolata"/>
              </a:rPr>
              <a:t>: </a:t>
            </a:r>
            <a:r>
              <a:rPr sz="700" i="0">
                <a:solidFill>
                  <a:srgbClr val="F9C97A"/>
                </a:solidFill>
                <a:latin typeface="Inconsolata"/>
              </a:rPr>
              <a:t>5</a:t>
            </a:r>
            <a:r>
              <a:rPr sz="700" i="0">
                <a:solidFill>
                  <a:srgbClr val="E6EDF3"/>
                </a:solidFill>
                <a:latin typeface="Inconsolata"/>
              </a:rPr>
              <a:t>},</a:t>
            </a:r>
          </a:p>
          <a:p>
            <a:pPr>
              <a:lnSpc>
                <a:spcPct val="107095"/>
              </a:lnSpc>
              <a:spcAft>
                <a:spcPts val="0"/>
              </a:spcAft>
            </a:pPr>
            <a:r>
              <a:rPr sz="700" i="0">
                <a:solidFill>
                  <a:srgbClr val="5C6773"/>
                </a:solidFill>
                <a:latin typeface="Inconsolata"/>
              </a:rPr>
              <a:t>23  </a:t>
            </a:r>
            <a:r>
              <a:rPr sz="700" i="0">
                <a:solidFill>
                  <a:srgbClr val="E6EDF3"/>
                </a:solidFill>
                <a:latin typeface="Inconsolata"/>
              </a:rPr>
              <a:t>            </a:t>
            </a:r>
            <a:r>
              <a:rPr sz="700" i="0">
                <a:solidFill>
                  <a:srgbClr val="F9C97A"/>
                </a:solidFill>
                <a:latin typeface="Inconsolata"/>
              </a:rPr>
              <a:t>3</a:t>
            </a:r>
            <a:r>
              <a:rPr sz="700" i="0">
                <a:solidFill>
                  <a:srgbClr val="E6EDF3"/>
                </a:solidFill>
                <a:latin typeface="Inconsolata"/>
              </a:rPr>
              <a:t>: {</a:t>
            </a:r>
            <a:r>
              <a:rPr sz="700" i="0">
                <a:solidFill>
                  <a:srgbClr val="A5D6A7"/>
                </a:solidFill>
                <a:latin typeface="Inconsolata"/>
              </a:rPr>
              <a:t>"price"</a:t>
            </a:r>
            <a:r>
              <a:rPr sz="700" i="0">
                <a:solidFill>
                  <a:srgbClr val="E6EDF3"/>
                </a:solidFill>
                <a:latin typeface="Inconsolata"/>
              </a:rPr>
              <a:t>: </a:t>
            </a:r>
            <a:r>
              <a:rPr sz="700" i="0">
                <a:solidFill>
                  <a:srgbClr val="F9C97A"/>
                </a:solidFill>
                <a:latin typeface="Inconsolata"/>
              </a:rPr>
              <a:t>200_000</a:t>
            </a:r>
            <a:r>
              <a:rPr sz="700" i="0">
                <a:solidFill>
                  <a:srgbClr val="E6EDF3"/>
                </a:solidFill>
                <a:latin typeface="Inconsolata"/>
              </a:rPr>
              <a:t>, </a:t>
            </a:r>
            <a:r>
              <a:rPr sz="700" i="0">
                <a:solidFill>
                  <a:srgbClr val="A5D6A7"/>
                </a:solidFill>
                <a:latin typeface="Inconsolata"/>
              </a:rPr>
              <a:t>"stock"</a:t>
            </a:r>
            <a:r>
              <a:rPr sz="700" i="0">
                <a:solidFill>
                  <a:srgbClr val="E6EDF3"/>
                </a:solidFill>
                <a:latin typeface="Inconsolata"/>
              </a:rPr>
              <a:t>: </a:t>
            </a:r>
            <a:r>
              <a:rPr sz="700" i="0">
                <a:solidFill>
                  <a:srgbClr val="F9C97A"/>
                </a:solidFill>
                <a:latin typeface="Inconsolata"/>
              </a:rPr>
              <a:t>5</a:t>
            </a:r>
            <a:r>
              <a:rPr sz="700" i="0">
                <a:solidFill>
                  <a:srgbClr val="E6EDF3"/>
                </a:solidFill>
                <a:latin typeface="Inconsolata"/>
              </a:rPr>
              <a:t>},</a:t>
            </a:r>
          </a:p>
          <a:p>
            <a:pPr>
              <a:lnSpc>
                <a:spcPct val="107095"/>
              </a:lnSpc>
              <a:spcAft>
                <a:spcPts val="0"/>
              </a:spcAft>
            </a:pPr>
            <a:r>
              <a:rPr sz="700" i="0">
                <a:solidFill>
                  <a:srgbClr val="5C6773"/>
                </a:solidFill>
                <a:latin typeface="Inconsolata"/>
              </a:rPr>
              <a:t>24  </a:t>
            </a:r>
            <a:r>
              <a:rPr sz="700" i="0">
                <a:solidFill>
                  <a:srgbClr val="E6EDF3"/>
                </a:solidFill>
                <a:latin typeface="Inconsolata"/>
              </a:rPr>
              <a:t>            </a:t>
            </a:r>
            <a:r>
              <a:rPr sz="700" i="0">
                <a:solidFill>
                  <a:srgbClr val="F9C97A"/>
                </a:solidFill>
                <a:latin typeface="Inconsolata"/>
              </a:rPr>
              <a:t>4</a:t>
            </a:r>
            <a:r>
              <a:rPr sz="700" i="0">
                <a:solidFill>
                  <a:srgbClr val="E6EDF3"/>
                </a:solidFill>
                <a:latin typeface="Inconsolata"/>
              </a:rPr>
              <a:t>: {</a:t>
            </a:r>
            <a:r>
              <a:rPr sz="700" i="0">
                <a:solidFill>
                  <a:srgbClr val="A5D6A7"/>
                </a:solidFill>
                <a:latin typeface="Inconsolata"/>
              </a:rPr>
              <a:t>"price"</a:t>
            </a:r>
            <a:r>
              <a:rPr sz="700" i="0">
                <a:solidFill>
                  <a:srgbClr val="E6EDF3"/>
                </a:solidFill>
                <a:latin typeface="Inconsolata"/>
              </a:rPr>
              <a:t>: </a:t>
            </a:r>
            <a:r>
              <a:rPr sz="700" i="0">
                <a:solidFill>
                  <a:srgbClr val="FF8E6E"/>
                </a:solidFill>
                <a:latin typeface="Inconsolata"/>
              </a:rPr>
              <a:t>None</a:t>
            </a:r>
            <a:r>
              <a:rPr sz="700" i="0">
                <a:solidFill>
                  <a:srgbClr val="E6EDF3"/>
                </a:solidFill>
                <a:latin typeface="Inconsolata"/>
              </a:rPr>
              <a:t>, </a:t>
            </a:r>
            <a:r>
              <a:rPr sz="700" i="0">
                <a:solidFill>
                  <a:srgbClr val="A5D6A7"/>
                </a:solidFill>
                <a:latin typeface="Inconsolata"/>
              </a:rPr>
              <a:t>"stock"</a:t>
            </a:r>
            <a:r>
              <a:rPr sz="700" i="0">
                <a:solidFill>
                  <a:srgbClr val="E6EDF3"/>
                </a:solidFill>
                <a:latin typeface="Inconsolata"/>
              </a:rPr>
              <a:t>: </a:t>
            </a:r>
            <a:r>
              <a:rPr sz="700" i="0">
                <a:solidFill>
                  <a:srgbClr val="F9C97A"/>
                </a:solidFill>
                <a:latin typeface="Inconsolata"/>
              </a:rPr>
              <a:t>5</a:t>
            </a:r>
            <a:r>
              <a:rPr sz="700" i="0">
                <a:solidFill>
                  <a:srgbClr val="E6EDF3"/>
                </a:solidFill>
                <a:latin typeface="Inconsolata"/>
              </a:rPr>
              <a:t>}}  </a:t>
            </a:r>
            <a:r>
              <a:rPr sz="700" i="1">
                <a:solidFill>
                  <a:srgbClr val="8B98A8"/>
                </a:solidFill>
                <a:latin typeface="Inconsolata"/>
              </a:rPr>
              <a:t># data rusak, bikin bug</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03-error-classification/before.py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7095"/>
              </a:lnSpc>
              <a:spcAft>
                <a:spcPts val="0"/>
              </a:spcAft>
            </a:pPr>
            <a:r>
              <a:rPr sz="700" i="0">
                <a:solidFill>
                  <a:srgbClr val="5C6773"/>
                </a:solidFill>
                <a:latin typeface="Inconsolata"/>
              </a:rPr>
              <a:t>27  </a:t>
            </a:r>
            <a:r>
              <a:rPr sz="700" i="0">
                <a:solidFill>
                  <a:srgbClr val="FF8E6E"/>
                </a:solidFill>
                <a:latin typeface="Inconsolata"/>
              </a:rPr>
              <a:t>class</a:t>
            </a:r>
            <a:r>
              <a:rPr sz="700" i="0">
                <a:solidFill>
                  <a:srgbClr val="E6EDF3"/>
                </a:solidFill>
                <a:latin typeface="Inconsolata"/>
              </a:rPr>
              <a:t> </a:t>
            </a:r>
            <a:r>
              <a:rPr sz="700" i="0">
                <a:solidFill>
                  <a:srgbClr val="7FDBCA"/>
                </a:solidFill>
                <a:latin typeface="Inconsolata"/>
              </a:rPr>
              <a:t>ProductNotFound</a:t>
            </a:r>
            <a:r>
              <a:rPr sz="700" i="0">
                <a:solidFill>
                  <a:srgbClr val="E6EDF3"/>
                </a:solidFill>
                <a:latin typeface="Inconsolata"/>
              </a:rPr>
              <a:t>(</a:t>
            </a:r>
            <a:r>
              <a:rPr sz="700" i="0">
                <a:solidFill>
                  <a:srgbClr val="7FDBCA"/>
                </a:solidFill>
                <a:latin typeface="Inconsolata"/>
              </a:rPr>
              <a:t>Exception</a:t>
            </a:r>
            <a:r>
              <a:rPr sz="700" i="0">
                <a:solidFill>
                  <a:srgbClr val="E6EDF3"/>
                </a:solidFill>
                <a:latin typeface="Inconsolata"/>
              </a:rPr>
              <a:t>):</a:t>
            </a:r>
          </a:p>
          <a:p>
            <a:pPr>
              <a:lnSpc>
                <a:spcPct val="107095"/>
              </a:lnSpc>
              <a:spcAft>
                <a:spcPts val="0"/>
              </a:spcAft>
            </a:pPr>
            <a:r>
              <a:rPr sz="700" i="0">
                <a:solidFill>
                  <a:srgbClr val="5C6773"/>
                </a:solidFill>
                <a:latin typeface="Inconsolata"/>
              </a:rPr>
              <a:t>28  </a:t>
            </a:r>
            <a:r>
              <a:rPr sz="700" i="0">
                <a:solidFill>
                  <a:srgbClr val="E6EDF3"/>
                </a:solidFill>
                <a:latin typeface="Inconsolata"/>
              </a:rPr>
              <a:t>    </a:t>
            </a:r>
            <a:r>
              <a:rPr sz="700" i="0">
                <a:solidFill>
                  <a:srgbClr val="FF8E6E"/>
                </a:solidFill>
                <a:latin typeface="Inconsolata"/>
              </a:rPr>
              <a:t>pass</a:t>
            </a:r>
          </a:p>
          <a:p>
            <a:pPr>
              <a:lnSpc>
                <a:spcPct val="107095"/>
              </a:lnSpc>
              <a:spcAft>
                <a:spcPts val="0"/>
              </a:spcAft>
            </a:pPr>
            <a:r>
              <a:rPr sz="700" i="0">
                <a:solidFill>
                  <a:srgbClr val="5C6773"/>
                </a:solidFill>
                <a:latin typeface="Inconsolata"/>
              </a:rPr>
              <a:t>29  </a:t>
            </a:r>
            <a:r>
              <a:rPr sz="700" i="0">
                <a:solidFill>
                  <a:srgbClr val="E6EDF3"/>
                </a:solidFill>
                <a:latin typeface="Inconsolata"/>
              </a:rPr>
              <a:t> </a:t>
            </a:r>
          </a:p>
          <a:p>
            <a:pPr>
              <a:lnSpc>
                <a:spcPct val="107095"/>
              </a:lnSpc>
              <a:spcAft>
                <a:spcPts val="0"/>
              </a:spcAft>
            </a:pPr>
            <a:r>
              <a:rPr sz="700" i="0">
                <a:solidFill>
                  <a:srgbClr val="5C6773"/>
                </a:solidFill>
                <a:latin typeface="Inconsolata"/>
              </a:rPr>
              <a:t>30  </a:t>
            </a:r>
            <a:r>
              <a:rPr sz="700" i="0">
                <a:solidFill>
                  <a:srgbClr val="E6EDF3"/>
                </a:solidFill>
                <a:latin typeface="Inconsolata"/>
              </a:rPr>
              <a:t> </a:t>
            </a:r>
          </a:p>
          <a:p>
            <a:pPr>
              <a:lnSpc>
                <a:spcPct val="107095"/>
              </a:lnSpc>
              <a:spcAft>
                <a:spcPts val="0"/>
              </a:spcAft>
            </a:pPr>
            <a:r>
              <a:rPr sz="700" i="0">
                <a:solidFill>
                  <a:srgbClr val="5C6773"/>
                </a:solidFill>
                <a:latin typeface="Inconsolata"/>
              </a:rPr>
              <a:t>31  </a:t>
            </a:r>
            <a:r>
              <a:rPr sz="700" i="0">
                <a:solidFill>
                  <a:srgbClr val="FF8E6E"/>
                </a:solidFill>
                <a:latin typeface="Inconsolata"/>
              </a:rPr>
              <a:t>class</a:t>
            </a:r>
            <a:r>
              <a:rPr sz="700" i="0">
                <a:solidFill>
                  <a:srgbClr val="E6EDF3"/>
                </a:solidFill>
                <a:latin typeface="Inconsolata"/>
              </a:rPr>
              <a:t> </a:t>
            </a:r>
            <a:r>
              <a:rPr sz="700" i="0">
                <a:solidFill>
                  <a:srgbClr val="7FDBCA"/>
                </a:solidFill>
                <a:latin typeface="Inconsolata"/>
              </a:rPr>
              <a:t>OutOfStock</a:t>
            </a:r>
            <a:r>
              <a:rPr sz="700" i="0">
                <a:solidFill>
                  <a:srgbClr val="E6EDF3"/>
                </a:solidFill>
                <a:latin typeface="Inconsolata"/>
              </a:rPr>
              <a:t>(</a:t>
            </a:r>
            <a:r>
              <a:rPr sz="700" i="0">
                <a:solidFill>
                  <a:srgbClr val="7FDBCA"/>
                </a:solidFill>
                <a:latin typeface="Inconsolata"/>
              </a:rPr>
              <a:t>Exception</a:t>
            </a:r>
            <a:r>
              <a:rPr sz="700" i="0">
                <a:solidFill>
                  <a:srgbClr val="E6EDF3"/>
                </a:solidFill>
                <a:latin typeface="Inconsolata"/>
              </a:rPr>
              <a:t>):</a:t>
            </a:r>
          </a:p>
          <a:p>
            <a:pPr>
              <a:lnSpc>
                <a:spcPct val="107095"/>
              </a:lnSpc>
              <a:spcAft>
                <a:spcPts val="0"/>
              </a:spcAft>
            </a:pPr>
            <a:r>
              <a:rPr sz="700" i="0">
                <a:solidFill>
                  <a:srgbClr val="5C6773"/>
                </a:solidFill>
                <a:latin typeface="Inconsolata"/>
              </a:rPr>
              <a:t>32  </a:t>
            </a:r>
            <a:r>
              <a:rPr sz="700" i="0">
                <a:solidFill>
                  <a:srgbClr val="E6EDF3"/>
                </a:solidFill>
                <a:latin typeface="Inconsolata"/>
              </a:rPr>
              <a:t>    </a:t>
            </a:r>
            <a:r>
              <a:rPr sz="700" i="0">
                <a:solidFill>
                  <a:srgbClr val="FF8E6E"/>
                </a:solidFill>
                <a:latin typeface="Inconsolata"/>
              </a:rPr>
              <a:t>pass</a:t>
            </a:r>
          </a:p>
          <a:p>
            <a:pPr>
              <a:lnSpc>
                <a:spcPct val="107095"/>
              </a:lnSpc>
              <a:spcAft>
                <a:spcPts val="0"/>
              </a:spcAft>
            </a:pPr>
            <a:r>
              <a:rPr sz="700" i="0">
                <a:solidFill>
                  <a:srgbClr val="5C6773"/>
                </a:solidFill>
                <a:latin typeface="Inconsolata"/>
              </a:rPr>
              <a:t>33  </a:t>
            </a:r>
            <a:r>
              <a:rPr sz="700" i="0">
                <a:solidFill>
                  <a:srgbClr val="E6EDF3"/>
                </a:solidFill>
                <a:latin typeface="Inconsolata"/>
              </a:rPr>
              <a:t> </a:t>
            </a:r>
          </a:p>
          <a:p>
            <a:pPr>
              <a:lnSpc>
                <a:spcPct val="107095"/>
              </a:lnSpc>
              <a:spcAft>
                <a:spcPts val="0"/>
              </a:spcAft>
            </a:pPr>
            <a:r>
              <a:rPr sz="700" i="0">
                <a:solidFill>
                  <a:srgbClr val="5C6773"/>
                </a:solidFill>
                <a:latin typeface="Inconsolata"/>
              </a:rPr>
              <a:t>34  </a:t>
            </a:r>
            <a:r>
              <a:rPr sz="700" i="0">
                <a:solidFill>
                  <a:srgbClr val="E6EDF3"/>
                </a:solidFill>
                <a:latin typeface="Inconsolata"/>
              </a:rPr>
              <a:t> </a:t>
            </a:r>
          </a:p>
          <a:p>
            <a:pPr>
              <a:lnSpc>
                <a:spcPct val="107095"/>
              </a:lnSpc>
              <a:spcAft>
                <a:spcPts val="0"/>
              </a:spcAft>
            </a:pPr>
            <a:r>
              <a:rPr sz="700" i="0">
                <a:solidFill>
                  <a:srgbClr val="5C6773"/>
                </a:solidFill>
                <a:latin typeface="Inconsolata"/>
              </a:rPr>
              <a:t>35  </a:t>
            </a:r>
            <a:r>
              <a:rPr sz="700" i="0">
                <a:solidFill>
                  <a:srgbClr val="FF8E6E"/>
                </a:solidFill>
                <a:latin typeface="Inconsolata"/>
              </a:rPr>
              <a:t>class</a:t>
            </a:r>
            <a:r>
              <a:rPr sz="700" i="0">
                <a:solidFill>
                  <a:srgbClr val="E6EDF3"/>
                </a:solidFill>
                <a:latin typeface="Inconsolata"/>
              </a:rPr>
              <a:t> </a:t>
            </a:r>
            <a:r>
              <a:rPr sz="700" i="0">
                <a:solidFill>
                  <a:srgbClr val="7FDBCA"/>
                </a:solidFill>
                <a:latin typeface="Inconsolata"/>
              </a:rPr>
              <a:t>DatabaseUnavailable</a:t>
            </a:r>
            <a:r>
              <a:rPr sz="700" i="0">
                <a:solidFill>
                  <a:srgbClr val="E6EDF3"/>
                </a:solidFill>
                <a:latin typeface="Inconsolata"/>
              </a:rPr>
              <a:t>(</a:t>
            </a:r>
            <a:r>
              <a:rPr sz="700" i="0">
                <a:solidFill>
                  <a:srgbClr val="7FDBCA"/>
                </a:solidFill>
                <a:latin typeface="Inconsolata"/>
              </a:rPr>
              <a:t>Exception</a:t>
            </a:r>
            <a:r>
              <a:rPr sz="700" i="0">
                <a:solidFill>
                  <a:srgbClr val="E6EDF3"/>
                </a:solidFill>
                <a:latin typeface="Inconsolata"/>
              </a:rPr>
              <a:t>):</a:t>
            </a:r>
          </a:p>
          <a:p>
            <a:pPr>
              <a:lnSpc>
                <a:spcPct val="107095"/>
              </a:lnSpc>
              <a:spcAft>
                <a:spcPts val="0"/>
              </a:spcAft>
            </a:pPr>
            <a:r>
              <a:rPr sz="700" i="0">
                <a:solidFill>
                  <a:srgbClr val="5C6773"/>
                </a:solidFill>
                <a:latin typeface="Inconsolata"/>
              </a:rPr>
              <a:t>36  </a:t>
            </a:r>
            <a:r>
              <a:rPr sz="700" i="0">
                <a:solidFill>
                  <a:srgbClr val="E6EDF3"/>
                </a:solidFill>
                <a:latin typeface="Inconsolata"/>
              </a:rPr>
              <a:t>    </a:t>
            </a:r>
            <a:r>
              <a:rPr sz="700" i="0">
                <a:solidFill>
                  <a:srgbClr val="FF8E6E"/>
                </a:solidFill>
                <a:latin typeface="Inconsolata"/>
              </a:rPr>
              <a:t>pass</a:t>
            </a:r>
          </a:p>
        </p:txBody>
      </p:sp>
      <p:sp>
        <p:nvSpPr>
          <p:cNvPr id="36" name="Box 21"/>
          <p:cNvSpPr/>
          <p:nvPr/>
        </p:nvSpPr>
        <p:spPr>
          <a:xfrm>
            <a:off x="4709159" y="1825371"/>
            <a:ext cx="3694176" cy="1021842"/>
          </a:xfrm>
          <a:prstGeom prst="roundRect">
            <a:avLst>
              <a:gd name="adj" fmla="val 4474"/>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8284463" y="22174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Klasifikasi Error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semua error jadi 500 (2/2)</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03-error-classification/before.py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39  </a:t>
            </a:r>
            <a:r>
              <a:rPr sz="719" i="0">
                <a:solidFill>
                  <a:srgbClr val="F9C97A"/>
                </a:solidFill>
                <a:latin typeface="Inconsolata"/>
              </a:rPr>
              <a:t>@app.post</a:t>
            </a:r>
            <a:r>
              <a:rPr sz="719" i="0">
                <a:solidFill>
                  <a:srgbClr val="E6EDF3"/>
                </a:solidFill>
                <a:latin typeface="Inconsolata"/>
              </a:rPr>
              <a:t>(</a:t>
            </a:r>
            <a:r>
              <a:rPr sz="719" i="0">
                <a:solidFill>
                  <a:srgbClr val="A5D6A7"/>
                </a:solidFill>
                <a:latin typeface="Inconsolata"/>
              </a:rPr>
              <a:t>"/products/{product_id}/buy"</a:t>
            </a:r>
            <a:r>
              <a:rPr sz="719" i="0">
                <a:solidFill>
                  <a:srgbClr val="E6EDF3"/>
                </a:solidFill>
                <a:latin typeface="Inconsolata"/>
              </a:rPr>
              <a:t>)</a:t>
            </a:r>
          </a:p>
          <a:p>
            <a:pPr>
              <a:lnSpc>
                <a:spcPct val="104277"/>
              </a:lnSpc>
              <a:spcAft>
                <a:spcPts val="0"/>
              </a:spcAft>
            </a:pPr>
            <a:r>
              <a:rPr sz="719" i="0">
                <a:solidFill>
                  <a:srgbClr val="5C6773"/>
                </a:solidFill>
                <a:latin typeface="Inconsolata"/>
              </a:rPr>
              <a:t>40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buy</a:t>
            </a:r>
            <a:r>
              <a:rPr sz="719" i="0">
                <a:solidFill>
                  <a:srgbClr val="E6EDF3"/>
                </a:solidFill>
                <a:latin typeface="Inconsolata"/>
              </a:rPr>
              <a:t>(product_id: </a:t>
            </a:r>
            <a:r>
              <a:rPr sz="719" i="0">
                <a:solidFill>
                  <a:srgbClr val="C3A6FF"/>
                </a:solidFill>
                <a:latin typeface="Inconsolata"/>
              </a:rPr>
              <a:t>int</a:t>
            </a:r>
            <a:r>
              <a:rPr sz="719" i="0">
                <a:solidFill>
                  <a:srgbClr val="E6EDF3"/>
                </a:solidFill>
                <a:latin typeface="Inconsolata"/>
              </a:rPr>
              <a:t>, qty: </a:t>
            </a:r>
            <a:r>
              <a:rPr sz="719" i="0">
                <a:solidFill>
                  <a:srgbClr val="C3A6FF"/>
                </a:solidFill>
                <a:latin typeface="Inconsolata"/>
              </a:rPr>
              <a:t>int</a:t>
            </a:r>
            <a:r>
              <a:rPr sz="719" i="0">
                <a:solidFill>
                  <a:srgbClr val="E6EDF3"/>
                </a:solidFill>
                <a:latin typeface="Inconsolata"/>
              </a:rPr>
              <a:t> = </a:t>
            </a:r>
            <a:r>
              <a:rPr sz="719" i="0">
                <a:solidFill>
                  <a:srgbClr val="F9C97A"/>
                </a:solidFill>
                <a:latin typeface="Inconsolata"/>
              </a:rPr>
              <a:t>1</a:t>
            </a:r>
            <a:r>
              <a:rPr sz="719" i="0">
                <a:solidFill>
                  <a:srgbClr val="E6EDF3"/>
                </a:solidFill>
                <a:latin typeface="Inconsolata"/>
              </a:rPr>
              <a:t>):</a:t>
            </a:r>
          </a:p>
          <a:p>
            <a:pPr>
              <a:lnSpc>
                <a:spcPct val="104277"/>
              </a:lnSpc>
              <a:spcAft>
                <a:spcPts val="0"/>
              </a:spcAft>
            </a:pPr>
            <a:r>
              <a:rPr sz="719" i="0">
                <a:solidFill>
                  <a:srgbClr val="5C6773"/>
                </a:solidFill>
                <a:latin typeface="Inconsolata"/>
              </a:rPr>
              <a:t>41  </a:t>
            </a:r>
            <a:r>
              <a:rPr sz="719" i="0">
                <a:solidFill>
                  <a:srgbClr val="E6EDF3"/>
                </a:solidFill>
                <a:latin typeface="Inconsolata"/>
              </a:rPr>
              <a:t>    </a:t>
            </a:r>
            <a:r>
              <a:rPr sz="719" i="0">
                <a:solidFill>
                  <a:srgbClr val="FF8E6E"/>
                </a:solidFill>
                <a:latin typeface="Inconsolata"/>
              </a:rPr>
              <a:t>if</a:t>
            </a:r>
            <a:r>
              <a:rPr sz="719" i="0">
                <a:solidFill>
                  <a:srgbClr val="E6EDF3"/>
                </a:solidFill>
                <a:latin typeface="Inconsolata"/>
              </a:rPr>
              <a:t> product_id == </a:t>
            </a:r>
            <a:r>
              <a:rPr sz="719" i="0">
                <a:solidFill>
                  <a:srgbClr val="F9C97A"/>
                </a:solidFill>
                <a:latin typeface="Inconsolata"/>
              </a:rPr>
              <a:t>3</a:t>
            </a:r>
            <a:r>
              <a:rPr sz="719" i="0">
                <a:solidFill>
                  <a:srgbClr val="E6EDF3"/>
                </a:solidFill>
                <a:latin typeface="Inconsolata"/>
              </a:rPr>
              <a:t>:          </a:t>
            </a:r>
            <a:r>
              <a:rPr sz="719" i="1">
                <a:solidFill>
                  <a:srgbClr val="8B98A8"/>
                </a:solidFill>
                <a:latin typeface="Inconsolata"/>
              </a:rPr>
              <a:t># anggap: koneksi database timeout</a:t>
            </a:r>
          </a:p>
          <a:p>
            <a:pPr>
              <a:lnSpc>
                <a:spcPct val="104277"/>
              </a:lnSpc>
              <a:spcAft>
                <a:spcPts val="0"/>
              </a:spcAft>
            </a:pPr>
            <a:r>
              <a:rPr sz="719" i="0">
                <a:solidFill>
                  <a:srgbClr val="5C6773"/>
                </a:solidFill>
                <a:latin typeface="Inconsolata"/>
              </a:rPr>
              <a:t>42  </a:t>
            </a:r>
            <a:r>
              <a:rPr sz="719" i="0">
                <a:solidFill>
                  <a:srgbClr val="E6EDF3"/>
                </a:solidFill>
                <a:latin typeface="Inconsolata"/>
              </a:rPr>
              <a:t>        </a:t>
            </a:r>
            <a:r>
              <a:rPr sz="719" i="0">
                <a:solidFill>
                  <a:srgbClr val="FF8E6E"/>
                </a:solidFill>
                <a:latin typeface="Inconsolata"/>
              </a:rPr>
              <a:t>raise</a:t>
            </a:r>
            <a:r>
              <a:rPr sz="719" i="0">
                <a:solidFill>
                  <a:srgbClr val="E6EDF3"/>
                </a:solidFill>
                <a:latin typeface="Inconsolata"/>
              </a:rPr>
              <a:t> </a:t>
            </a:r>
            <a:r>
              <a:rPr sz="719" i="0">
                <a:solidFill>
                  <a:srgbClr val="7FDBCA"/>
                </a:solidFill>
                <a:latin typeface="Inconsolata"/>
              </a:rPr>
              <a:t>DatabaseUnavailable</a:t>
            </a:r>
            <a:r>
              <a:rPr sz="719" i="0">
                <a:solidFill>
                  <a:srgbClr val="E6EDF3"/>
                </a:solidFill>
                <a:latin typeface="Inconsolata"/>
              </a:rPr>
              <a:t>(</a:t>
            </a:r>
            <a:r>
              <a:rPr sz="719" i="0">
                <a:solidFill>
                  <a:srgbClr val="A5D6A7"/>
                </a:solidFill>
                <a:latin typeface="Inconsolata"/>
              </a:rPr>
              <a:t>"koneksi database timeout"</a:t>
            </a:r>
            <a:r>
              <a:rPr sz="719" i="0">
                <a:solidFill>
                  <a:srgbClr val="E6EDF3"/>
                </a:solidFill>
                <a:latin typeface="Inconsolata"/>
              </a:rPr>
              <a:t>)</a:t>
            </a:r>
          </a:p>
          <a:p>
            <a:pPr>
              <a:lnSpc>
                <a:spcPct val="104277"/>
              </a:lnSpc>
              <a:spcAft>
                <a:spcPts val="0"/>
              </a:spcAft>
            </a:pPr>
            <a:r>
              <a:rPr sz="719" i="0">
                <a:solidFill>
                  <a:srgbClr val="5C6773"/>
                </a:solidFill>
                <a:latin typeface="Inconsolata"/>
              </a:rPr>
              <a:t>43  </a:t>
            </a:r>
            <a:r>
              <a:rPr sz="719" i="0">
                <a:solidFill>
                  <a:srgbClr val="E6EDF3"/>
                </a:solidFill>
                <a:latin typeface="Inconsolata"/>
              </a:rPr>
              <a:t>    </a:t>
            </a:r>
            <a:r>
              <a:rPr sz="719" i="0">
                <a:solidFill>
                  <a:srgbClr val="FF8E6E"/>
                </a:solidFill>
                <a:latin typeface="Inconsolata"/>
              </a:rPr>
              <a:t>if</a:t>
            </a:r>
            <a:r>
              <a:rPr sz="719" i="0">
                <a:solidFill>
                  <a:srgbClr val="E6EDF3"/>
                </a:solidFill>
                <a:latin typeface="Inconsolata"/>
              </a:rPr>
              <a:t> product_id </a:t>
            </a:r>
            <a:r>
              <a:rPr sz="719" i="0">
                <a:solidFill>
                  <a:srgbClr val="FF8E6E"/>
                </a:solidFill>
                <a:latin typeface="Inconsolata"/>
              </a:rPr>
              <a:t>not</a:t>
            </a:r>
            <a:r>
              <a:rPr sz="719" i="0">
                <a:solidFill>
                  <a:srgbClr val="E6EDF3"/>
                </a:solidFill>
                <a:latin typeface="Inconsolata"/>
              </a:rPr>
              <a:t> </a:t>
            </a:r>
            <a:r>
              <a:rPr sz="719" i="0">
                <a:solidFill>
                  <a:srgbClr val="FF8E6E"/>
                </a:solidFill>
                <a:latin typeface="Inconsolata"/>
              </a:rPr>
              <a:t>in</a:t>
            </a:r>
            <a:r>
              <a:rPr sz="719" i="0">
                <a:solidFill>
                  <a:srgbClr val="E6EDF3"/>
                </a:solidFill>
                <a:latin typeface="Inconsolata"/>
              </a:rPr>
              <a:t> </a:t>
            </a:r>
            <a:r>
              <a:rPr sz="719" i="0">
                <a:solidFill>
                  <a:srgbClr val="7FDBCA"/>
                </a:solidFill>
                <a:latin typeface="Inconsolata"/>
              </a:rPr>
              <a:t>PRODUCTS</a:t>
            </a:r>
            <a:r>
              <a:rPr sz="719" i="0">
                <a:solidFill>
                  <a:srgbClr val="E6EDF3"/>
                </a:solidFill>
                <a:latin typeface="Inconsolata"/>
              </a:rPr>
              <a:t>:</a:t>
            </a:r>
          </a:p>
          <a:p>
            <a:pPr>
              <a:lnSpc>
                <a:spcPct val="104277"/>
              </a:lnSpc>
              <a:spcAft>
                <a:spcPts val="0"/>
              </a:spcAft>
            </a:pPr>
            <a:r>
              <a:rPr sz="719" i="0">
                <a:solidFill>
                  <a:srgbClr val="5C6773"/>
                </a:solidFill>
                <a:latin typeface="Inconsolata"/>
              </a:rPr>
              <a:t>44  </a:t>
            </a:r>
            <a:r>
              <a:rPr sz="719" i="0">
                <a:solidFill>
                  <a:srgbClr val="E6EDF3"/>
                </a:solidFill>
                <a:latin typeface="Inconsolata"/>
              </a:rPr>
              <a:t>        </a:t>
            </a:r>
            <a:r>
              <a:rPr sz="719" i="0">
                <a:solidFill>
                  <a:srgbClr val="FF8E6E"/>
                </a:solidFill>
                <a:latin typeface="Inconsolata"/>
              </a:rPr>
              <a:t>raise</a:t>
            </a:r>
            <a:r>
              <a:rPr sz="719" i="0">
                <a:solidFill>
                  <a:srgbClr val="E6EDF3"/>
                </a:solidFill>
                <a:latin typeface="Inconsolata"/>
              </a:rPr>
              <a:t> </a:t>
            </a:r>
            <a:r>
              <a:rPr sz="719" i="0">
                <a:solidFill>
                  <a:srgbClr val="7FDBCA"/>
                </a:solidFill>
                <a:latin typeface="Inconsolata"/>
              </a:rPr>
              <a:t>ProductNotFound</a:t>
            </a:r>
            <a:r>
              <a:rPr sz="719" i="0">
                <a:solidFill>
                  <a:srgbClr val="E6EDF3"/>
                </a:solidFill>
                <a:latin typeface="Inconsolata"/>
              </a:rPr>
              <a:t>(</a:t>
            </a:r>
            <a:r>
              <a:rPr sz="719" i="0">
                <a:solidFill>
                  <a:srgbClr val="A5D6A7"/>
                </a:solidFill>
                <a:latin typeface="Inconsolata"/>
              </a:rPr>
              <a:t>f"produk {product_id} tidak ada"</a:t>
            </a:r>
            <a:r>
              <a:rPr sz="719" i="0">
                <a:solidFill>
                  <a:srgbClr val="E6EDF3"/>
                </a:solidFill>
                <a:latin typeface="Inconsolata"/>
              </a:rPr>
              <a:t>)</a:t>
            </a:r>
          </a:p>
          <a:p>
            <a:pPr>
              <a:lnSpc>
                <a:spcPct val="104277"/>
              </a:lnSpc>
              <a:spcAft>
                <a:spcPts val="0"/>
              </a:spcAft>
            </a:pPr>
            <a:r>
              <a:rPr sz="719" i="0">
                <a:solidFill>
                  <a:srgbClr val="5C6773"/>
                </a:solidFill>
                <a:latin typeface="Inconsolata"/>
              </a:rPr>
              <a:t>45  </a:t>
            </a:r>
            <a:r>
              <a:rPr sz="719" i="0">
                <a:solidFill>
                  <a:srgbClr val="E6EDF3"/>
                </a:solidFill>
                <a:latin typeface="Inconsolata"/>
              </a:rPr>
              <a:t>    product = </a:t>
            </a:r>
            <a:r>
              <a:rPr sz="719" i="0">
                <a:solidFill>
                  <a:srgbClr val="7FDBCA"/>
                </a:solidFill>
                <a:latin typeface="Inconsolata"/>
              </a:rPr>
              <a:t>PRODUCTS</a:t>
            </a:r>
            <a:r>
              <a:rPr sz="719" i="0">
                <a:solidFill>
                  <a:srgbClr val="E6EDF3"/>
                </a:solidFill>
                <a:latin typeface="Inconsolata"/>
              </a:rPr>
              <a:t>[product_id]</a:t>
            </a:r>
          </a:p>
          <a:p>
            <a:pPr>
              <a:lnSpc>
                <a:spcPct val="104277"/>
              </a:lnSpc>
              <a:spcAft>
                <a:spcPts val="0"/>
              </a:spcAft>
            </a:pPr>
            <a:r>
              <a:rPr sz="719" i="0">
                <a:solidFill>
                  <a:srgbClr val="5C6773"/>
                </a:solidFill>
                <a:latin typeface="Inconsolata"/>
              </a:rPr>
              <a:t>46  </a:t>
            </a:r>
            <a:r>
              <a:rPr sz="719" i="0">
                <a:solidFill>
                  <a:srgbClr val="E6EDF3"/>
                </a:solidFill>
                <a:latin typeface="Inconsolata"/>
              </a:rPr>
              <a:t>    </a:t>
            </a:r>
            <a:r>
              <a:rPr sz="719" i="0">
                <a:solidFill>
                  <a:srgbClr val="FF8E6E"/>
                </a:solidFill>
                <a:latin typeface="Inconsolata"/>
              </a:rPr>
              <a:t>if</a:t>
            </a:r>
            <a:r>
              <a:rPr sz="719" i="0">
                <a:solidFill>
                  <a:srgbClr val="E6EDF3"/>
                </a:solidFill>
                <a:latin typeface="Inconsolata"/>
              </a:rPr>
              <a:t> qty &gt; product[</a:t>
            </a:r>
            <a:r>
              <a:rPr sz="719" i="0">
                <a:solidFill>
                  <a:srgbClr val="A5D6A7"/>
                </a:solidFill>
                <a:latin typeface="Inconsolata"/>
              </a:rPr>
              <a:t>"stock"</a:t>
            </a:r>
            <a:r>
              <a:rPr sz="719" i="0">
                <a:solidFill>
                  <a:srgbClr val="E6EDF3"/>
                </a:solidFill>
                <a:latin typeface="Inconsolata"/>
              </a:rPr>
              <a:t>]:</a:t>
            </a:r>
          </a:p>
          <a:p>
            <a:pPr>
              <a:lnSpc>
                <a:spcPct val="104277"/>
              </a:lnSpc>
              <a:spcAft>
                <a:spcPts val="0"/>
              </a:spcAft>
            </a:pPr>
            <a:r>
              <a:rPr sz="719" i="0">
                <a:solidFill>
                  <a:srgbClr val="5C6773"/>
                </a:solidFill>
                <a:latin typeface="Inconsolata"/>
              </a:rPr>
              <a:t>47  </a:t>
            </a:r>
            <a:r>
              <a:rPr sz="719" i="0">
                <a:solidFill>
                  <a:srgbClr val="E6EDF3"/>
                </a:solidFill>
                <a:latin typeface="Inconsolata"/>
              </a:rPr>
              <a:t>        </a:t>
            </a:r>
            <a:r>
              <a:rPr sz="719" i="0">
                <a:solidFill>
                  <a:srgbClr val="FF8E6E"/>
                </a:solidFill>
                <a:latin typeface="Inconsolata"/>
              </a:rPr>
              <a:t>raise</a:t>
            </a:r>
            <a:r>
              <a:rPr sz="719" i="0">
                <a:solidFill>
                  <a:srgbClr val="E6EDF3"/>
                </a:solidFill>
                <a:latin typeface="Inconsolata"/>
              </a:rPr>
              <a:t> </a:t>
            </a:r>
            <a:r>
              <a:rPr sz="719" i="0">
                <a:solidFill>
                  <a:srgbClr val="7FDBCA"/>
                </a:solidFill>
                <a:latin typeface="Inconsolata"/>
              </a:rPr>
              <a:t>OutOfStock</a:t>
            </a:r>
            <a:r>
              <a:rPr sz="719" i="0">
                <a:solidFill>
                  <a:srgbClr val="E6EDF3"/>
                </a:solidFill>
                <a:latin typeface="Inconsolata"/>
              </a:rPr>
              <a:t>(</a:t>
            </a:r>
            <a:r>
              <a:rPr sz="719" i="0">
                <a:solidFill>
                  <a:srgbClr val="A5D6A7"/>
                </a:solidFill>
                <a:latin typeface="Inconsolata"/>
              </a:rPr>
              <a:t>f"stok produk {product_id} kurang"</a:t>
            </a:r>
            <a:r>
              <a:rPr sz="719" i="0">
                <a:solidFill>
                  <a:srgbClr val="E6EDF3"/>
                </a:solidFill>
                <a:latin typeface="Inconsolata"/>
              </a:rPr>
              <a:t>)</a:t>
            </a:r>
          </a:p>
          <a:p>
            <a:pPr>
              <a:lnSpc>
                <a:spcPct val="104277"/>
              </a:lnSpc>
              <a:spcAft>
                <a:spcPts val="0"/>
              </a:spcAft>
            </a:pPr>
            <a:r>
              <a:rPr sz="719" i="0">
                <a:solidFill>
                  <a:srgbClr val="5C6773"/>
                </a:solidFill>
                <a:latin typeface="Inconsolata"/>
              </a:rPr>
              <a:t>48  </a:t>
            </a:r>
            <a:r>
              <a:rPr sz="719" i="0">
                <a:solidFill>
                  <a:srgbClr val="E6EDF3"/>
                </a:solidFill>
                <a:latin typeface="Inconsolata"/>
              </a:rPr>
              <a:t>    </a:t>
            </a:r>
            <a:r>
              <a:rPr sz="719" i="0">
                <a:solidFill>
                  <a:srgbClr val="FF8E6E"/>
                </a:solidFill>
                <a:latin typeface="Inconsolata"/>
              </a:rPr>
              <a:t>return</a:t>
            </a:r>
            <a:r>
              <a:rPr sz="719" i="0">
                <a:solidFill>
                  <a:srgbClr val="E6EDF3"/>
                </a:solidFill>
                <a:latin typeface="Inconsolata"/>
              </a:rPr>
              <a:t> {</a:t>
            </a:r>
            <a:r>
              <a:rPr sz="719" i="0">
                <a:solidFill>
                  <a:srgbClr val="A5D6A7"/>
                </a:solidFill>
                <a:latin typeface="Inconsolata"/>
              </a:rPr>
              <a:t>"total"</a:t>
            </a:r>
            <a:r>
              <a:rPr sz="719" i="0">
                <a:solidFill>
                  <a:srgbClr val="E6EDF3"/>
                </a:solidFill>
                <a:latin typeface="Inconsolata"/>
              </a:rPr>
              <a:t>: product[</a:t>
            </a:r>
            <a:r>
              <a:rPr sz="719" i="0">
                <a:solidFill>
                  <a:srgbClr val="A5D6A7"/>
                </a:solidFill>
                <a:latin typeface="Inconsolata"/>
              </a:rPr>
              <a:t>"price"</a:t>
            </a:r>
            <a:r>
              <a:rPr sz="719" i="0">
                <a:solidFill>
                  <a:srgbClr val="E6EDF3"/>
                </a:solidFill>
                <a:latin typeface="Inconsolata"/>
              </a:rPr>
              <a:t>] * qty}</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03-error-classification/before.py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51  </a:t>
            </a:r>
            <a:r>
              <a:rPr sz="719" i="0">
                <a:solidFill>
                  <a:srgbClr val="F9C97A"/>
                </a:solidFill>
                <a:latin typeface="Inconsolata"/>
              </a:rPr>
              <a:t>@app.exception_handler</a:t>
            </a:r>
            <a:r>
              <a:rPr sz="719" i="0">
                <a:solidFill>
                  <a:srgbClr val="E6EDF3"/>
                </a:solidFill>
                <a:latin typeface="Inconsolata"/>
              </a:rPr>
              <a:t>(</a:t>
            </a:r>
            <a:r>
              <a:rPr sz="719" i="0">
                <a:solidFill>
                  <a:srgbClr val="7FDBCA"/>
                </a:solidFill>
                <a:latin typeface="Inconsolata"/>
              </a:rPr>
              <a:t>Exception</a:t>
            </a:r>
            <a:r>
              <a:rPr sz="719" i="0">
                <a:solidFill>
                  <a:srgbClr val="E6EDF3"/>
                </a:solidFill>
                <a:latin typeface="Inconsolata"/>
              </a:rPr>
              <a:t>)</a:t>
            </a:r>
          </a:p>
          <a:p>
            <a:pPr>
              <a:lnSpc>
                <a:spcPct val="104277"/>
              </a:lnSpc>
              <a:spcAft>
                <a:spcPts val="0"/>
              </a:spcAft>
            </a:pPr>
            <a:r>
              <a:rPr sz="719" i="0">
                <a:solidFill>
                  <a:srgbClr val="5C6773"/>
                </a:solidFill>
                <a:latin typeface="Inconsolata"/>
              </a:rPr>
              <a:t>52  </a:t>
            </a:r>
            <a:r>
              <a:rPr sz="719" i="0">
                <a:solidFill>
                  <a:srgbClr val="FF8E6E"/>
                </a:solidFill>
                <a:latin typeface="Inconsolata"/>
              </a:rPr>
              <a:t>async</a:t>
            </a:r>
            <a:r>
              <a:rPr sz="719" i="0">
                <a:solidFill>
                  <a:srgbClr val="E6EDF3"/>
                </a:solidFill>
                <a:latin typeface="Inconsolata"/>
              </a:rPr>
              <a:t>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handle_error</a:t>
            </a:r>
            <a:r>
              <a:rPr sz="719" i="0">
                <a:solidFill>
                  <a:srgbClr val="E6EDF3"/>
                </a:solidFill>
                <a:latin typeface="Inconsolata"/>
              </a:rPr>
              <a:t>(request: </a:t>
            </a:r>
            <a:r>
              <a:rPr sz="719" i="0">
                <a:solidFill>
                  <a:srgbClr val="7FDBCA"/>
                </a:solidFill>
                <a:latin typeface="Inconsolata"/>
              </a:rPr>
              <a:t>Request</a:t>
            </a:r>
            <a:r>
              <a:rPr sz="719" i="0">
                <a:solidFill>
                  <a:srgbClr val="E6EDF3"/>
                </a:solidFill>
                <a:latin typeface="Inconsolata"/>
              </a:rPr>
              <a:t>, exc: </a:t>
            </a:r>
            <a:r>
              <a:rPr sz="719" i="0">
                <a:solidFill>
                  <a:srgbClr val="7FDBCA"/>
                </a:solidFill>
                <a:latin typeface="Inconsolata"/>
              </a:rPr>
              <a:t>Exception</a:t>
            </a:r>
            <a:r>
              <a:rPr sz="719" i="0">
                <a:solidFill>
                  <a:srgbClr val="E6EDF3"/>
                </a:solidFill>
                <a:latin typeface="Inconsolata"/>
              </a:rPr>
              <a:t>):</a:t>
            </a:r>
          </a:p>
          <a:p>
            <a:pPr>
              <a:lnSpc>
                <a:spcPct val="104277"/>
              </a:lnSpc>
              <a:spcAft>
                <a:spcPts val="0"/>
              </a:spcAft>
            </a:pPr>
            <a:r>
              <a:rPr sz="719" i="0">
                <a:solidFill>
                  <a:srgbClr val="5C6773"/>
                </a:solidFill>
                <a:latin typeface="Inconsolata"/>
              </a:rPr>
              <a:t>53  </a:t>
            </a:r>
            <a:r>
              <a:rPr sz="719" i="0">
                <a:solidFill>
                  <a:srgbClr val="E6EDF3"/>
                </a:solidFill>
                <a:latin typeface="Inconsolata"/>
              </a:rPr>
              <a:t>    logger.error(</a:t>
            </a:r>
            <a:r>
              <a:rPr sz="719" i="0">
                <a:solidFill>
                  <a:srgbClr val="A5D6A7"/>
                </a:solidFill>
                <a:latin typeface="Inconsolata"/>
              </a:rPr>
              <a:t>"request gagal: %s"</a:t>
            </a:r>
            <a:r>
              <a:rPr sz="719" i="0">
                <a:solidFill>
                  <a:srgbClr val="E6EDF3"/>
                </a:solidFill>
                <a:latin typeface="Inconsolata"/>
              </a:rPr>
              <a:t>, exc)</a:t>
            </a:r>
          </a:p>
          <a:p>
            <a:pPr>
              <a:lnSpc>
                <a:spcPct val="104277"/>
              </a:lnSpc>
              <a:spcAft>
                <a:spcPts val="0"/>
              </a:spcAft>
            </a:pPr>
            <a:r>
              <a:rPr sz="719" i="0">
                <a:solidFill>
                  <a:srgbClr val="5C6773"/>
                </a:solidFill>
                <a:latin typeface="Inconsolata"/>
              </a:rPr>
              <a:t>54  </a:t>
            </a:r>
            <a:r>
              <a:rPr sz="719" i="0">
                <a:solidFill>
                  <a:srgbClr val="E6EDF3"/>
                </a:solidFill>
                <a:latin typeface="Inconsolata"/>
              </a:rPr>
              <a:t>    </a:t>
            </a:r>
            <a:r>
              <a:rPr sz="719" i="0">
                <a:solidFill>
                  <a:srgbClr val="FF8E6E"/>
                </a:solidFill>
                <a:latin typeface="Inconsolata"/>
              </a:rPr>
              <a:t>return</a:t>
            </a:r>
            <a:r>
              <a:rPr sz="719" i="0">
                <a:solidFill>
                  <a:srgbClr val="E6EDF3"/>
                </a:solidFill>
                <a:latin typeface="Inconsolata"/>
              </a:rPr>
              <a:t> </a:t>
            </a:r>
            <a:r>
              <a:rPr sz="719" i="0">
                <a:solidFill>
                  <a:srgbClr val="7FDBCA"/>
                </a:solidFill>
                <a:latin typeface="Inconsolata"/>
              </a:rPr>
              <a:t>JSONResponse</a:t>
            </a:r>
            <a:r>
              <a:rPr sz="719" i="0">
                <a:solidFill>
                  <a:srgbClr val="E6EDF3"/>
                </a:solidFill>
                <a:latin typeface="Inconsolata"/>
              </a:rPr>
              <a:t>(status_code=</a:t>
            </a:r>
            <a:r>
              <a:rPr sz="719" i="0">
                <a:solidFill>
                  <a:srgbClr val="F9C97A"/>
                </a:solidFill>
                <a:latin typeface="Inconsolata"/>
              </a:rPr>
              <a:t>500</a:t>
            </a:r>
            <a:r>
              <a:rPr sz="719" i="0">
                <a:solidFill>
                  <a:srgbClr val="E6EDF3"/>
                </a:solidFill>
                <a:latin typeface="Inconsolata"/>
              </a:rPr>
              <a:t>,</a:t>
            </a:r>
          </a:p>
          <a:p>
            <a:pPr>
              <a:lnSpc>
                <a:spcPct val="104277"/>
              </a:lnSpc>
              <a:spcAft>
                <a:spcPts val="0"/>
              </a:spcAft>
            </a:pPr>
            <a:r>
              <a:rPr sz="719" i="0">
                <a:solidFill>
                  <a:srgbClr val="5C6773"/>
                </a:solidFill>
                <a:latin typeface="Inconsolata"/>
              </a:rPr>
              <a:t>55  </a:t>
            </a:r>
            <a:r>
              <a:rPr sz="719" i="0">
                <a:solidFill>
                  <a:srgbClr val="E6EDF3"/>
                </a:solidFill>
                <a:latin typeface="Inconsolata"/>
              </a:rPr>
              <a:t>                        content={</a:t>
            </a:r>
            <a:r>
              <a:rPr sz="719" i="0">
                <a:solidFill>
                  <a:srgbClr val="A5D6A7"/>
                </a:solidFill>
                <a:latin typeface="Inconsolata"/>
              </a:rPr>
              <a:t>"error"</a:t>
            </a:r>
            <a:r>
              <a:rPr sz="719" i="0">
                <a:solidFill>
                  <a:srgbClr val="E6EDF3"/>
                </a:solidFill>
                <a:latin typeface="Inconsolata"/>
              </a:rPr>
              <a:t>: </a:t>
            </a:r>
            <a:r>
              <a:rPr sz="719" i="0">
                <a:solidFill>
                  <a:srgbClr val="A5D6A7"/>
                </a:solidFill>
                <a:latin typeface="Inconsolata"/>
              </a:rPr>
              <a:t>"Internal Server Error"</a:t>
            </a:r>
            <a:r>
              <a:rPr sz="719" i="0">
                <a:solidFill>
                  <a:srgbClr val="E6EDF3"/>
                </a:solidFill>
                <a:latin typeface="Inconsolata"/>
              </a:rPr>
              <a:t>})</a:t>
            </a:r>
          </a:p>
          <a:p>
            <a:pPr>
              <a:lnSpc>
                <a:spcPct val="104277"/>
              </a:lnSpc>
              <a:spcAft>
                <a:spcPts val="0"/>
              </a:spcAft>
            </a:pPr>
            <a:r>
              <a:rPr sz="719" i="0">
                <a:solidFill>
                  <a:srgbClr val="5C6773"/>
                </a:solidFill>
                <a:latin typeface="Inconsolata"/>
              </a:rPr>
              <a:t>56  </a:t>
            </a:r>
            <a:r>
              <a:rPr sz="719" i="0">
                <a:solidFill>
                  <a:srgbClr val="E6EDF3"/>
                </a:solidFill>
                <a:latin typeface="Inconsolata"/>
              </a:rPr>
              <a:t> </a:t>
            </a:r>
          </a:p>
          <a:p>
            <a:pPr>
              <a:lnSpc>
                <a:spcPct val="104277"/>
              </a:lnSpc>
              <a:spcAft>
                <a:spcPts val="0"/>
              </a:spcAft>
            </a:pPr>
            <a:r>
              <a:rPr sz="719" i="0">
                <a:solidFill>
                  <a:srgbClr val="5C6773"/>
                </a:solidFill>
                <a:latin typeface="Inconsolata"/>
              </a:rPr>
              <a:t>57  </a:t>
            </a:r>
            <a:r>
              <a:rPr sz="719" i="0">
                <a:solidFill>
                  <a:srgbClr val="E6EDF3"/>
                </a:solidFill>
                <a:latin typeface="Inconsolata"/>
              </a:rPr>
              <a:t> </a:t>
            </a:r>
          </a:p>
          <a:p>
            <a:pPr>
              <a:lnSpc>
                <a:spcPct val="104277"/>
              </a:lnSpc>
              <a:spcAft>
                <a:spcPts val="0"/>
              </a:spcAft>
            </a:pPr>
            <a:r>
              <a:rPr sz="719" i="0">
                <a:solidFill>
                  <a:srgbClr val="5C6773"/>
                </a:solidFill>
                <a:latin typeface="Inconsolata"/>
              </a:rPr>
              <a:t>58  </a:t>
            </a:r>
            <a:r>
              <a:rPr sz="719" i="0">
                <a:solidFill>
                  <a:srgbClr val="FF8E6E"/>
                </a:solidFill>
                <a:latin typeface="Inconsolata"/>
              </a:rPr>
              <a:t>if</a:t>
            </a:r>
            <a:r>
              <a:rPr sz="719" i="0">
                <a:solidFill>
                  <a:srgbClr val="E6EDF3"/>
                </a:solidFill>
                <a:latin typeface="Inconsolata"/>
              </a:rPr>
              <a:t> __name__ == </a:t>
            </a:r>
            <a:r>
              <a:rPr sz="719" i="0">
                <a:solidFill>
                  <a:srgbClr val="A5D6A7"/>
                </a:solidFill>
                <a:latin typeface="Inconsolata"/>
              </a:rPr>
              <a:t>"__main__"</a:t>
            </a:r>
            <a:r>
              <a:rPr sz="719" i="0">
                <a:solidFill>
                  <a:srgbClr val="E6EDF3"/>
                </a:solidFill>
                <a:latin typeface="Inconsolata"/>
              </a:rPr>
              <a:t>:</a:t>
            </a:r>
          </a:p>
          <a:p>
            <a:pPr>
              <a:lnSpc>
                <a:spcPct val="104277"/>
              </a:lnSpc>
              <a:spcAft>
                <a:spcPts val="0"/>
              </a:spcAft>
            </a:pPr>
            <a:r>
              <a:rPr sz="719" i="0">
                <a:solidFill>
                  <a:srgbClr val="5C6773"/>
                </a:solidFill>
                <a:latin typeface="Inconsolata"/>
              </a:rPr>
              <a:t>59  </a:t>
            </a:r>
            <a:r>
              <a:rPr sz="719" i="0">
                <a:solidFill>
                  <a:srgbClr val="E6EDF3"/>
                </a:solidFill>
                <a:latin typeface="Inconsolata"/>
              </a:rPr>
              <a:t>    client = </a:t>
            </a:r>
            <a:r>
              <a:rPr sz="719" i="0">
                <a:solidFill>
                  <a:srgbClr val="7FDBCA"/>
                </a:solidFill>
                <a:latin typeface="Inconsolata"/>
              </a:rPr>
              <a:t>TestClient</a:t>
            </a:r>
            <a:r>
              <a:rPr sz="719" i="0">
                <a:solidFill>
                  <a:srgbClr val="E6EDF3"/>
                </a:solidFill>
                <a:latin typeface="Inconsolata"/>
              </a:rPr>
              <a:t>(app, raise_server_exceptions=</a:t>
            </a:r>
            <a:r>
              <a:rPr sz="719" i="0">
                <a:solidFill>
                  <a:srgbClr val="FF8E6E"/>
                </a:solidFill>
                <a:latin typeface="Inconsolata"/>
              </a:rPr>
              <a:t>False</a:t>
            </a:r>
            <a:r>
              <a:rPr sz="719" i="0">
                <a:solidFill>
                  <a:srgbClr val="E6EDF3"/>
                </a:solidFill>
                <a:latin typeface="Inconsolata"/>
              </a:rPr>
              <a:t>)</a:t>
            </a:r>
          </a:p>
          <a:p>
            <a:pPr>
              <a:lnSpc>
                <a:spcPct val="104277"/>
              </a:lnSpc>
              <a:spcAft>
                <a:spcPts val="0"/>
              </a:spcAft>
            </a:pPr>
            <a:r>
              <a:rPr sz="719" i="0">
                <a:solidFill>
                  <a:srgbClr val="5C6773"/>
                </a:solidFill>
                <a:latin typeface="Inconsolata"/>
              </a:rPr>
              <a:t>60  </a:t>
            </a:r>
            <a:r>
              <a:rPr sz="719" i="0">
                <a:solidFill>
                  <a:srgbClr val="E6EDF3"/>
                </a:solidFill>
                <a:latin typeface="Inconsolata"/>
              </a:rPr>
              <a:t>    </a:t>
            </a:r>
            <a:r>
              <a:rPr sz="719" i="0">
                <a:solidFill>
                  <a:srgbClr val="FF8E6E"/>
                </a:solidFill>
                <a:latin typeface="Inconsolata"/>
              </a:rPr>
              <a:t>for</a:t>
            </a:r>
            <a:r>
              <a:rPr sz="719" i="0">
                <a:solidFill>
                  <a:srgbClr val="E6EDF3"/>
                </a:solidFill>
                <a:latin typeface="Inconsolata"/>
              </a:rPr>
              <a:t> product_id, qty </a:t>
            </a:r>
            <a:r>
              <a:rPr sz="719" i="0">
                <a:solidFill>
                  <a:srgbClr val="FF8E6E"/>
                </a:solidFill>
                <a:latin typeface="Inconsolata"/>
              </a:rPr>
              <a:t>in</a:t>
            </a:r>
            <a:r>
              <a:rPr sz="719" i="0">
                <a:solidFill>
                  <a:srgbClr val="E6EDF3"/>
                </a:solidFill>
                <a:latin typeface="Inconsolata"/>
              </a:rPr>
              <a:t> [(</a:t>
            </a:r>
            <a:r>
              <a:rPr sz="719" i="0">
                <a:solidFill>
                  <a:srgbClr val="F9C97A"/>
                </a:solidFill>
                <a:latin typeface="Inconsolata"/>
              </a:rPr>
              <a:t>1</a:t>
            </a:r>
            <a:r>
              <a:rPr sz="719" i="0">
                <a:solidFill>
                  <a:srgbClr val="E6EDF3"/>
                </a:solidFill>
                <a:latin typeface="Inconsolata"/>
              </a:rPr>
              <a:t>, </a:t>
            </a:r>
            <a:r>
              <a:rPr sz="719" i="0">
                <a:solidFill>
                  <a:srgbClr val="F9C97A"/>
                </a:solidFill>
                <a:latin typeface="Inconsolata"/>
              </a:rPr>
              <a:t>1</a:t>
            </a:r>
            <a:r>
              <a:rPr sz="719" i="0">
                <a:solidFill>
                  <a:srgbClr val="E6EDF3"/>
                </a:solidFill>
                <a:latin typeface="Inconsolata"/>
              </a:rPr>
              <a:t>), (</a:t>
            </a:r>
            <a:r>
              <a:rPr sz="719" i="0">
                <a:solidFill>
                  <a:srgbClr val="F9C97A"/>
                </a:solidFill>
                <a:latin typeface="Inconsolata"/>
              </a:rPr>
              <a:t>99</a:t>
            </a:r>
            <a:r>
              <a:rPr sz="719" i="0">
                <a:solidFill>
                  <a:srgbClr val="E6EDF3"/>
                </a:solidFill>
                <a:latin typeface="Inconsolata"/>
              </a:rPr>
              <a:t>, </a:t>
            </a:r>
            <a:r>
              <a:rPr sz="719" i="0">
                <a:solidFill>
                  <a:srgbClr val="F9C97A"/>
                </a:solidFill>
                <a:latin typeface="Inconsolata"/>
              </a:rPr>
              <a:t>1</a:t>
            </a:r>
            <a:r>
              <a:rPr sz="719" i="0">
                <a:solidFill>
                  <a:srgbClr val="E6EDF3"/>
                </a:solidFill>
                <a:latin typeface="Inconsolata"/>
              </a:rPr>
              <a:t>), (</a:t>
            </a:r>
            <a:r>
              <a:rPr sz="719" i="0">
                <a:solidFill>
                  <a:srgbClr val="F9C97A"/>
                </a:solidFill>
                <a:latin typeface="Inconsolata"/>
              </a:rPr>
              <a:t>1</a:t>
            </a:r>
            <a:r>
              <a:rPr sz="719" i="0">
                <a:solidFill>
                  <a:srgbClr val="E6EDF3"/>
                </a:solidFill>
                <a:latin typeface="Inconsolata"/>
              </a:rPr>
              <a:t>, </a:t>
            </a:r>
            <a:r>
              <a:rPr sz="719" i="0">
                <a:solidFill>
                  <a:srgbClr val="F9C97A"/>
                </a:solidFill>
                <a:latin typeface="Inconsolata"/>
              </a:rPr>
              <a:t>10</a:t>
            </a:r>
            <a:r>
              <a:rPr sz="719" i="0">
                <a:solidFill>
                  <a:srgbClr val="E6EDF3"/>
                </a:solidFill>
                <a:latin typeface="Inconsolata"/>
              </a:rPr>
              <a:t>), (</a:t>
            </a:r>
            <a:r>
              <a:rPr sz="719" i="0">
                <a:solidFill>
                  <a:srgbClr val="F9C97A"/>
                </a:solidFill>
                <a:latin typeface="Inconsolata"/>
              </a:rPr>
              <a:t>3</a:t>
            </a:r>
            <a:r>
              <a:rPr sz="719" i="0">
                <a:solidFill>
                  <a:srgbClr val="E6EDF3"/>
                </a:solidFill>
                <a:latin typeface="Inconsolata"/>
              </a:rPr>
              <a:t>, </a:t>
            </a:r>
            <a:r>
              <a:rPr sz="719" i="0">
                <a:solidFill>
                  <a:srgbClr val="F9C97A"/>
                </a:solidFill>
                <a:latin typeface="Inconsolata"/>
              </a:rPr>
              <a:t>1</a:t>
            </a:r>
            <a:r>
              <a:rPr sz="719" i="0">
                <a:solidFill>
                  <a:srgbClr val="E6EDF3"/>
                </a:solidFill>
                <a:latin typeface="Inconsolata"/>
              </a:rPr>
              <a:t>), (</a:t>
            </a:r>
            <a:r>
              <a:rPr sz="719" i="0">
                <a:solidFill>
                  <a:srgbClr val="F9C97A"/>
                </a:solidFill>
                <a:latin typeface="Inconsolata"/>
              </a:rPr>
              <a:t>4</a:t>
            </a:r>
            <a:r>
              <a:rPr sz="719" i="0">
                <a:solidFill>
                  <a:srgbClr val="E6EDF3"/>
                </a:solidFill>
                <a:latin typeface="Inconsolata"/>
              </a:rPr>
              <a:t>, </a:t>
            </a:r>
            <a:r>
              <a:rPr sz="719" i="0">
                <a:solidFill>
                  <a:srgbClr val="F9C97A"/>
                </a:solidFill>
                <a:latin typeface="Inconsolata"/>
              </a:rPr>
              <a:t>1</a:t>
            </a:r>
            <a:r>
              <a:rPr sz="719" i="0">
                <a:solidFill>
                  <a:srgbClr val="E6EDF3"/>
                </a:solidFill>
                <a:latin typeface="Inconsolata"/>
              </a:rPr>
              <a:t>)]:</a:t>
            </a:r>
          </a:p>
          <a:p>
            <a:pPr>
              <a:lnSpc>
                <a:spcPct val="104277"/>
              </a:lnSpc>
              <a:spcAft>
                <a:spcPts val="0"/>
              </a:spcAft>
            </a:pPr>
            <a:r>
              <a:rPr sz="719" i="0">
                <a:solidFill>
                  <a:srgbClr val="5C6773"/>
                </a:solidFill>
                <a:latin typeface="Inconsolata"/>
              </a:rPr>
              <a:t>61  </a:t>
            </a:r>
            <a:r>
              <a:rPr sz="719" i="0">
                <a:solidFill>
                  <a:srgbClr val="E6EDF3"/>
                </a:solidFill>
                <a:latin typeface="Inconsolata"/>
              </a:rPr>
              <a:t>        response = client.post(</a:t>
            </a:r>
            <a:r>
              <a:rPr sz="719" i="0">
                <a:solidFill>
                  <a:srgbClr val="A5D6A7"/>
                </a:solidFill>
                <a:latin typeface="Inconsolata"/>
              </a:rPr>
              <a:t>f"/products/{product_id}/buy"</a:t>
            </a:r>
            <a:r>
              <a:rPr sz="719" i="0">
                <a:solidFill>
                  <a:srgbClr val="E6EDF3"/>
                </a:solidFill>
                <a:latin typeface="Inconsolata"/>
              </a:rPr>
              <a:t>,</a:t>
            </a:r>
          </a:p>
          <a:p>
            <a:pPr>
              <a:lnSpc>
                <a:spcPct val="104277"/>
              </a:lnSpc>
              <a:spcAft>
                <a:spcPts val="0"/>
              </a:spcAft>
            </a:pPr>
            <a:r>
              <a:rPr sz="719" i="0">
                <a:solidFill>
                  <a:srgbClr val="5C6773"/>
                </a:solidFill>
                <a:latin typeface="Inconsolata"/>
              </a:rPr>
              <a:t>62  </a:t>
            </a:r>
            <a:r>
              <a:rPr sz="719" i="0">
                <a:solidFill>
                  <a:srgbClr val="E6EDF3"/>
                </a:solidFill>
                <a:latin typeface="Inconsolata"/>
              </a:rPr>
              <a:t>                               params={</a:t>
            </a:r>
            <a:r>
              <a:rPr sz="719" i="0">
                <a:solidFill>
                  <a:srgbClr val="A5D6A7"/>
                </a:solidFill>
                <a:latin typeface="Inconsolata"/>
              </a:rPr>
              <a:t>"qty"</a:t>
            </a:r>
            <a:r>
              <a:rPr sz="719" i="0">
                <a:solidFill>
                  <a:srgbClr val="E6EDF3"/>
                </a:solidFill>
                <a:latin typeface="Inconsolata"/>
              </a:rPr>
              <a:t>: qty})</a:t>
            </a:r>
          </a:p>
          <a:p>
            <a:pPr>
              <a:lnSpc>
                <a:spcPct val="104277"/>
              </a:lnSpc>
              <a:spcAft>
                <a:spcPts val="0"/>
              </a:spcAft>
            </a:pPr>
            <a:r>
              <a:rPr sz="719" i="0">
                <a:solidFill>
                  <a:srgbClr val="5C6773"/>
                </a:solidFill>
                <a:latin typeface="Inconsolata"/>
              </a:rPr>
              <a:t>63  </a:t>
            </a:r>
            <a:r>
              <a:rPr sz="719" i="0">
                <a:solidFill>
                  <a:srgbClr val="E6EDF3"/>
                </a:solidFill>
                <a:latin typeface="Inconsolata"/>
              </a:rPr>
              <a:t>        </a:t>
            </a:r>
            <a:r>
              <a:rPr sz="719" i="0">
                <a:solidFill>
                  <a:srgbClr val="C3A6FF"/>
                </a:solidFill>
                <a:latin typeface="Inconsolata"/>
              </a:rPr>
              <a:t>print</a:t>
            </a:r>
            <a:r>
              <a:rPr sz="719" i="0">
                <a:solidFill>
                  <a:srgbClr val="E6EDF3"/>
                </a:solidFill>
                <a:latin typeface="Inconsolata"/>
              </a:rPr>
              <a:t>(</a:t>
            </a:r>
            <a:r>
              <a:rPr sz="719" i="0">
                <a:solidFill>
                  <a:srgbClr val="A5D6A7"/>
                </a:solidFill>
                <a:latin typeface="Inconsolata"/>
              </a:rPr>
              <a:t>f"  -&gt; produk {product_id} qty {qty}: "</a:t>
            </a:r>
          </a:p>
          <a:p>
            <a:pPr>
              <a:lnSpc>
                <a:spcPct val="104277"/>
              </a:lnSpc>
              <a:spcAft>
                <a:spcPts val="0"/>
              </a:spcAft>
            </a:pPr>
            <a:r>
              <a:rPr sz="719" i="0">
                <a:solidFill>
                  <a:srgbClr val="5C6773"/>
                </a:solidFill>
                <a:latin typeface="Inconsolata"/>
              </a:rPr>
              <a:t>64  </a:t>
            </a:r>
            <a:r>
              <a:rPr sz="719" i="0">
                <a:solidFill>
                  <a:srgbClr val="E6EDF3"/>
                </a:solidFill>
                <a:latin typeface="Inconsolata"/>
              </a:rPr>
              <a:t>              </a:t>
            </a:r>
            <a:r>
              <a:rPr sz="719" i="0">
                <a:solidFill>
                  <a:srgbClr val="A5D6A7"/>
                </a:solidFill>
                <a:latin typeface="Inconsolata"/>
              </a:rPr>
              <a:t>f"{response.status_code}"</a:t>
            </a:r>
            <a:r>
              <a:rPr sz="719" i="0">
                <a:solidFill>
                  <a:srgbClr val="E6EDF3"/>
                </a:solidFill>
                <a:latin typeface="Inconsolata"/>
              </a:rPr>
              <a:t>)</a:t>
            </a:r>
          </a:p>
        </p:txBody>
      </p:sp>
      <p:sp>
        <p:nvSpPr>
          <p:cNvPr id="36" name="Box 21"/>
          <p:cNvSpPr/>
          <p:nvPr/>
        </p:nvSpPr>
        <p:spPr>
          <a:xfrm>
            <a:off x="4709159" y="1825371"/>
            <a:ext cx="3694176" cy="564642"/>
          </a:xfrm>
          <a:prstGeom prst="roundRect">
            <a:avLst>
              <a:gd name="adj" fmla="val 80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8284463" y="19888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Klasifikasi Error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03-error-classification/before.py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sesi-09-observability/03-error-classification</a:t>
            </a:r>
          </a:p>
          <a:p>
            <a:pPr>
              <a:lnSpc>
                <a:spcPct val="111111"/>
              </a:lnSpc>
              <a:spcAft>
                <a:spcPts val="0"/>
              </a:spcAft>
            </a:pPr>
            <a:r>
              <a:rPr sz="900" i="0">
                <a:solidFill>
                  <a:srgbClr val="82B1FF"/>
                </a:solidFill>
                <a:latin typeface="Inconsolata"/>
              </a:rPr>
              <a:t>$ python before.py</a:t>
            </a:r>
          </a:p>
        </p:txBody>
      </p:sp>
      <p:pic>
        <p:nvPicPr>
          <p:cNvPr id="29" name="Image 12" descr="s09-03-error-classification-before.png"/>
          <p:cNvPicPr>
            <a:picLocks noChangeAspect="1"/>
          </p:cNvPicPr>
          <p:nvPr/>
        </p:nvPicPr>
        <p:blipFill>
          <a:blip r:embed="rId2"/>
          <a:stretch>
            <a:fillRect/>
          </a:stretch>
        </p:blipFill>
        <p:spPr>
          <a:xfrm>
            <a:off x="621792" y="2322576"/>
            <a:ext cx="4297680" cy="1752648"/>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Semua jenis error didefinisikan sebagai </a:t>
            </a:r>
            <a:r>
              <a:rPr sz="950" b="0" i="0">
                <a:solidFill>
                  <a:srgbClr val="B5482A"/>
                </a:solidFill>
                <a:latin typeface="Inconsolata"/>
              </a:rPr>
              <a:t>Exception</a:t>
            </a:r>
            <a:r>
              <a:rPr sz="950" b="0" i="0">
                <a:solidFill>
                  <a:srgbClr val="434343"/>
                </a:solidFill>
                <a:latin typeface="Inter"/>
              </a:rPr>
              <a:t> biasa (baris 27-35)</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Satu handler untuk semua: 500 dan log ERROR, tanpa traceback (baris 51-55)</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4 log ERROR, semua response 500, termasuk produk yang memang tidak ada.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Klasifikasi Error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client, dependency, dan bug (1/2)</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03-error-classification/after.py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8505"/>
              </a:lnSpc>
              <a:spcAft>
                <a:spcPts val="0"/>
              </a:spcAft>
            </a:pPr>
            <a:r>
              <a:rPr sz="691" i="0">
                <a:solidFill>
                  <a:srgbClr val="5C6773"/>
                </a:solidFill>
                <a:latin typeface="Inconsolata"/>
              </a:rPr>
              <a:t>11  </a:t>
            </a:r>
            <a:r>
              <a:rPr sz="691" i="0">
                <a:solidFill>
                  <a:srgbClr val="FF8E6E"/>
                </a:solidFill>
                <a:latin typeface="Inconsolata"/>
              </a:rPr>
              <a:t>import</a:t>
            </a:r>
            <a:r>
              <a:rPr sz="691" i="0">
                <a:solidFill>
                  <a:srgbClr val="E6EDF3"/>
                </a:solidFill>
                <a:latin typeface="Inconsolata"/>
              </a:rPr>
              <a:t> logging</a:t>
            </a:r>
          </a:p>
          <a:p>
            <a:pPr>
              <a:lnSpc>
                <a:spcPct val="108505"/>
              </a:lnSpc>
              <a:spcAft>
                <a:spcPts val="0"/>
              </a:spcAft>
            </a:pPr>
            <a:r>
              <a:rPr sz="691" i="0">
                <a:solidFill>
                  <a:srgbClr val="5C6773"/>
                </a:solidFill>
                <a:latin typeface="Inconsolata"/>
              </a:rPr>
              <a:t>12  </a:t>
            </a:r>
            <a:r>
              <a:rPr sz="691" i="0">
                <a:solidFill>
                  <a:srgbClr val="FF8E6E"/>
                </a:solidFill>
                <a:latin typeface="Inconsolata"/>
              </a:rPr>
              <a:t>import</a:t>
            </a:r>
            <a:r>
              <a:rPr sz="691" i="0">
                <a:solidFill>
                  <a:srgbClr val="E6EDF3"/>
                </a:solidFill>
                <a:latin typeface="Inconsolata"/>
              </a:rPr>
              <a:t> traceback</a:t>
            </a:r>
          </a:p>
          <a:p>
            <a:pPr>
              <a:lnSpc>
                <a:spcPct val="108505"/>
              </a:lnSpc>
              <a:spcAft>
                <a:spcPts val="0"/>
              </a:spcAft>
            </a:pPr>
            <a:r>
              <a:rPr sz="691" i="0">
                <a:solidFill>
                  <a:srgbClr val="5C6773"/>
                </a:solidFill>
                <a:latin typeface="Inconsolata"/>
              </a:rPr>
              <a:t>13  </a:t>
            </a:r>
            <a:r>
              <a:rPr sz="691" i="0">
                <a:solidFill>
                  <a:srgbClr val="E6EDF3"/>
                </a:solidFill>
                <a:latin typeface="Inconsolata"/>
              </a:rPr>
              <a:t> </a:t>
            </a:r>
          </a:p>
          <a:p>
            <a:pPr>
              <a:lnSpc>
                <a:spcPct val="108505"/>
              </a:lnSpc>
              <a:spcAft>
                <a:spcPts val="0"/>
              </a:spcAft>
            </a:pPr>
            <a:r>
              <a:rPr sz="691" i="0">
                <a:solidFill>
                  <a:srgbClr val="5C6773"/>
                </a:solidFill>
                <a:latin typeface="Inconsolata"/>
              </a:rPr>
              <a:t>14  </a:t>
            </a:r>
            <a:r>
              <a:rPr sz="691" i="0">
                <a:solidFill>
                  <a:srgbClr val="FF8E6E"/>
                </a:solidFill>
                <a:latin typeface="Inconsolata"/>
              </a:rPr>
              <a:t>from</a:t>
            </a:r>
            <a:r>
              <a:rPr sz="691" i="0">
                <a:solidFill>
                  <a:srgbClr val="E6EDF3"/>
                </a:solidFill>
                <a:latin typeface="Inconsolata"/>
              </a:rPr>
              <a:t> fastapi </a:t>
            </a:r>
            <a:r>
              <a:rPr sz="691" i="0">
                <a:solidFill>
                  <a:srgbClr val="FF8E6E"/>
                </a:solidFill>
                <a:latin typeface="Inconsolata"/>
              </a:rPr>
              <a:t>import</a:t>
            </a:r>
            <a:r>
              <a:rPr sz="691" i="0">
                <a:solidFill>
                  <a:srgbClr val="E6EDF3"/>
                </a:solidFill>
                <a:latin typeface="Inconsolata"/>
              </a:rPr>
              <a:t> </a:t>
            </a:r>
            <a:r>
              <a:rPr sz="691" i="0">
                <a:solidFill>
                  <a:srgbClr val="7FDBCA"/>
                </a:solidFill>
                <a:latin typeface="Inconsolata"/>
              </a:rPr>
              <a:t>FastAPI</a:t>
            </a:r>
            <a:r>
              <a:rPr sz="691" i="0">
                <a:solidFill>
                  <a:srgbClr val="E6EDF3"/>
                </a:solidFill>
                <a:latin typeface="Inconsolata"/>
              </a:rPr>
              <a:t>, </a:t>
            </a:r>
            <a:r>
              <a:rPr sz="691" i="0">
                <a:solidFill>
                  <a:srgbClr val="7FDBCA"/>
                </a:solidFill>
                <a:latin typeface="Inconsolata"/>
              </a:rPr>
              <a:t>Request</a:t>
            </a:r>
          </a:p>
          <a:p>
            <a:pPr>
              <a:lnSpc>
                <a:spcPct val="108505"/>
              </a:lnSpc>
              <a:spcAft>
                <a:spcPts val="0"/>
              </a:spcAft>
            </a:pPr>
            <a:r>
              <a:rPr sz="691" i="0">
                <a:solidFill>
                  <a:srgbClr val="5C6773"/>
                </a:solidFill>
                <a:latin typeface="Inconsolata"/>
              </a:rPr>
              <a:t>15  </a:t>
            </a:r>
            <a:r>
              <a:rPr sz="691" i="0">
                <a:solidFill>
                  <a:srgbClr val="FF8E6E"/>
                </a:solidFill>
                <a:latin typeface="Inconsolata"/>
              </a:rPr>
              <a:t>from</a:t>
            </a:r>
            <a:r>
              <a:rPr sz="691" i="0">
                <a:solidFill>
                  <a:srgbClr val="E6EDF3"/>
                </a:solidFill>
                <a:latin typeface="Inconsolata"/>
              </a:rPr>
              <a:t> fastapi.responses </a:t>
            </a:r>
            <a:r>
              <a:rPr sz="691" i="0">
                <a:solidFill>
                  <a:srgbClr val="FF8E6E"/>
                </a:solidFill>
                <a:latin typeface="Inconsolata"/>
              </a:rPr>
              <a:t>import</a:t>
            </a:r>
            <a:r>
              <a:rPr sz="691" i="0">
                <a:solidFill>
                  <a:srgbClr val="E6EDF3"/>
                </a:solidFill>
                <a:latin typeface="Inconsolata"/>
              </a:rPr>
              <a:t> </a:t>
            </a:r>
            <a:r>
              <a:rPr sz="691" i="0">
                <a:solidFill>
                  <a:srgbClr val="7FDBCA"/>
                </a:solidFill>
                <a:latin typeface="Inconsolata"/>
              </a:rPr>
              <a:t>JSONResponse</a:t>
            </a:r>
          </a:p>
          <a:p>
            <a:pPr>
              <a:lnSpc>
                <a:spcPct val="108505"/>
              </a:lnSpc>
              <a:spcAft>
                <a:spcPts val="0"/>
              </a:spcAft>
            </a:pPr>
            <a:r>
              <a:rPr sz="691" i="0">
                <a:solidFill>
                  <a:srgbClr val="5C6773"/>
                </a:solidFill>
                <a:latin typeface="Inconsolata"/>
              </a:rPr>
              <a:t>16  </a:t>
            </a:r>
            <a:r>
              <a:rPr sz="691" i="0">
                <a:solidFill>
                  <a:srgbClr val="FF8E6E"/>
                </a:solidFill>
                <a:latin typeface="Inconsolata"/>
              </a:rPr>
              <a:t>from</a:t>
            </a:r>
            <a:r>
              <a:rPr sz="691" i="0">
                <a:solidFill>
                  <a:srgbClr val="E6EDF3"/>
                </a:solidFill>
                <a:latin typeface="Inconsolata"/>
              </a:rPr>
              <a:t> fastapi.testclient </a:t>
            </a:r>
            <a:r>
              <a:rPr sz="691" i="0">
                <a:solidFill>
                  <a:srgbClr val="FF8E6E"/>
                </a:solidFill>
                <a:latin typeface="Inconsolata"/>
              </a:rPr>
              <a:t>import</a:t>
            </a:r>
            <a:r>
              <a:rPr sz="691" i="0">
                <a:solidFill>
                  <a:srgbClr val="E6EDF3"/>
                </a:solidFill>
                <a:latin typeface="Inconsolata"/>
              </a:rPr>
              <a:t> </a:t>
            </a:r>
            <a:r>
              <a:rPr sz="691" i="0">
                <a:solidFill>
                  <a:srgbClr val="7FDBCA"/>
                </a:solidFill>
                <a:latin typeface="Inconsolata"/>
              </a:rPr>
              <a:t>TestClient</a:t>
            </a:r>
          </a:p>
          <a:p>
            <a:pPr>
              <a:lnSpc>
                <a:spcPct val="108505"/>
              </a:lnSpc>
              <a:spcAft>
                <a:spcPts val="0"/>
              </a:spcAft>
            </a:pPr>
            <a:r>
              <a:rPr sz="691" i="0">
                <a:solidFill>
                  <a:srgbClr val="5C6773"/>
                </a:solidFill>
                <a:latin typeface="Inconsolata"/>
              </a:rPr>
              <a:t>17  </a:t>
            </a:r>
            <a:r>
              <a:rPr sz="691" i="0">
                <a:solidFill>
                  <a:srgbClr val="E6EDF3"/>
                </a:solidFill>
                <a:latin typeface="Inconsolata"/>
              </a:rPr>
              <a:t> </a:t>
            </a:r>
          </a:p>
          <a:p>
            <a:pPr>
              <a:lnSpc>
                <a:spcPct val="108505"/>
              </a:lnSpc>
              <a:spcAft>
                <a:spcPts val="0"/>
              </a:spcAft>
            </a:pPr>
            <a:r>
              <a:rPr sz="691" i="0">
                <a:solidFill>
                  <a:srgbClr val="5C6773"/>
                </a:solidFill>
                <a:latin typeface="Inconsolata"/>
              </a:rPr>
              <a:t>18  </a:t>
            </a:r>
            <a:r>
              <a:rPr sz="691" i="0">
                <a:solidFill>
                  <a:srgbClr val="E6EDF3"/>
                </a:solidFill>
                <a:latin typeface="Inconsolata"/>
              </a:rPr>
              <a:t> </a:t>
            </a:r>
          </a:p>
          <a:p>
            <a:pPr>
              <a:lnSpc>
                <a:spcPct val="108505"/>
              </a:lnSpc>
              <a:spcAft>
                <a:spcPts val="0"/>
              </a:spcAft>
            </a:pPr>
            <a:r>
              <a:rPr sz="691" i="0">
                <a:solidFill>
                  <a:srgbClr val="5C6773"/>
                </a:solidFill>
                <a:latin typeface="Inconsolata"/>
              </a:rPr>
              <a:t>19  </a:t>
            </a:r>
            <a:r>
              <a:rPr sz="691" i="0">
                <a:solidFill>
                  <a:srgbClr val="FF8E6E"/>
                </a:solidFill>
                <a:latin typeface="Inconsolata"/>
              </a:rPr>
              <a:t>class</a:t>
            </a:r>
            <a:r>
              <a:rPr sz="691" i="0">
                <a:solidFill>
                  <a:srgbClr val="E6EDF3"/>
                </a:solidFill>
                <a:latin typeface="Inconsolata"/>
              </a:rPr>
              <a:t> </a:t>
            </a:r>
            <a:r>
              <a:rPr sz="691" i="0">
                <a:solidFill>
                  <a:srgbClr val="7FDBCA"/>
                </a:solidFill>
                <a:latin typeface="Inconsolata"/>
              </a:rPr>
              <a:t>ShortTraceback</a:t>
            </a:r>
            <a:r>
              <a:rPr sz="691" i="0">
                <a:solidFill>
                  <a:srgbClr val="E6EDF3"/>
                </a:solidFill>
                <a:latin typeface="Inconsolata"/>
              </a:rPr>
              <a:t>(logging.</a:t>
            </a:r>
            <a:r>
              <a:rPr sz="691" i="0">
                <a:solidFill>
                  <a:srgbClr val="7FDBCA"/>
                </a:solidFill>
                <a:latin typeface="Inconsolata"/>
              </a:rPr>
              <a:t>Formatter</a:t>
            </a:r>
            <a:r>
              <a:rPr sz="691" i="0">
                <a:solidFill>
                  <a:srgbClr val="E6EDF3"/>
                </a:solidFill>
                <a:latin typeface="Inconsolata"/>
              </a:rPr>
              <a:t>):</a:t>
            </a:r>
          </a:p>
          <a:p>
            <a:pPr>
              <a:lnSpc>
                <a:spcPct val="108505"/>
              </a:lnSpc>
              <a:spcAft>
                <a:spcPts val="0"/>
              </a:spcAft>
            </a:pPr>
            <a:r>
              <a:rPr sz="691" i="0">
                <a:solidFill>
                  <a:srgbClr val="5C6773"/>
                </a:solidFill>
                <a:latin typeface="Inconsolata"/>
              </a:rPr>
              <a:t>20  </a:t>
            </a:r>
            <a:r>
              <a:rPr sz="691" i="0">
                <a:solidFill>
                  <a:srgbClr val="E6EDF3"/>
                </a:solidFill>
                <a:latin typeface="Inconsolata"/>
              </a:rPr>
              <a:t>    </a:t>
            </a:r>
            <a:r>
              <a:rPr sz="691" i="0">
                <a:solidFill>
                  <a:srgbClr val="A5D6A7"/>
                </a:solidFill>
                <a:latin typeface="Inconsolata"/>
              </a:rPr>
              <a:t>"""Demo: traceback dipendekkan jadi baris kode terakhir saja."""</a:t>
            </a:r>
          </a:p>
          <a:p>
            <a:pPr>
              <a:lnSpc>
                <a:spcPct val="108505"/>
              </a:lnSpc>
              <a:spcAft>
                <a:spcPts val="0"/>
              </a:spcAft>
            </a:pPr>
            <a:r>
              <a:rPr sz="691" i="0">
                <a:solidFill>
                  <a:srgbClr val="5C6773"/>
                </a:solidFill>
                <a:latin typeface="Inconsolata"/>
              </a:rPr>
              <a:t>21  </a:t>
            </a:r>
            <a:r>
              <a:rPr sz="691" i="0">
                <a:solidFill>
                  <a:srgbClr val="E6EDF3"/>
                </a:solidFill>
                <a:latin typeface="Inconsolata"/>
              </a:rPr>
              <a:t>    </a:t>
            </a:r>
            <a:r>
              <a:rPr sz="691" i="0">
                <a:solidFill>
                  <a:srgbClr val="FF8E6E"/>
                </a:solidFill>
                <a:latin typeface="Inconsolata"/>
              </a:rPr>
              <a:t>def</a:t>
            </a:r>
            <a:r>
              <a:rPr sz="691" i="0">
                <a:solidFill>
                  <a:srgbClr val="E6EDF3"/>
                </a:solidFill>
                <a:latin typeface="Inconsolata"/>
              </a:rPr>
              <a:t> </a:t>
            </a:r>
            <a:r>
              <a:rPr sz="691" i="0">
                <a:solidFill>
                  <a:srgbClr val="82B1FF"/>
                </a:solidFill>
                <a:latin typeface="Inconsolata"/>
              </a:rPr>
              <a:t>formatException</a:t>
            </a:r>
            <a:r>
              <a:rPr sz="691" i="0">
                <a:solidFill>
                  <a:srgbClr val="E6EDF3"/>
                </a:solidFill>
                <a:latin typeface="Inconsolata"/>
              </a:rPr>
              <a:t>(</a:t>
            </a:r>
            <a:r>
              <a:rPr sz="691" i="0">
                <a:solidFill>
                  <a:srgbClr val="C3A6FF"/>
                </a:solidFill>
                <a:latin typeface="Inconsolata"/>
              </a:rPr>
              <a:t>self</a:t>
            </a:r>
            <a:r>
              <a:rPr sz="691" i="0">
                <a:solidFill>
                  <a:srgbClr val="E6EDF3"/>
                </a:solidFill>
                <a:latin typeface="Inconsolata"/>
              </a:rPr>
              <a:t>, exc_info) -&gt; </a:t>
            </a:r>
            <a:r>
              <a:rPr sz="691" i="0">
                <a:solidFill>
                  <a:srgbClr val="C3A6FF"/>
                </a:solidFill>
                <a:latin typeface="Inconsolata"/>
              </a:rPr>
              <a:t>str</a:t>
            </a:r>
            <a:r>
              <a:rPr sz="691" i="0">
                <a:solidFill>
                  <a:srgbClr val="E6EDF3"/>
                </a:solidFill>
                <a:latin typeface="Inconsolata"/>
              </a:rPr>
              <a:t>:</a:t>
            </a:r>
          </a:p>
          <a:p>
            <a:pPr>
              <a:lnSpc>
                <a:spcPct val="108505"/>
              </a:lnSpc>
              <a:spcAft>
                <a:spcPts val="0"/>
              </a:spcAft>
            </a:pPr>
            <a:r>
              <a:rPr sz="691" i="0">
                <a:solidFill>
                  <a:srgbClr val="5C6773"/>
                </a:solidFill>
                <a:latin typeface="Inconsolata"/>
              </a:rPr>
              <a:t>22  </a:t>
            </a:r>
            <a:r>
              <a:rPr sz="691" i="0">
                <a:solidFill>
                  <a:srgbClr val="E6EDF3"/>
                </a:solidFill>
                <a:latin typeface="Inconsolata"/>
              </a:rPr>
              <a:t>        frame = traceback.extract_tb(exc_info[</a:t>
            </a:r>
            <a:r>
              <a:rPr sz="691" i="0">
                <a:solidFill>
                  <a:srgbClr val="F9C97A"/>
                </a:solidFill>
                <a:latin typeface="Inconsolata"/>
              </a:rPr>
              <a:t>2</a:t>
            </a:r>
            <a:r>
              <a:rPr sz="691" i="0">
                <a:solidFill>
                  <a:srgbClr val="E6EDF3"/>
                </a:solidFill>
                <a:latin typeface="Inconsolata"/>
              </a:rPr>
              <a:t>])[-</a:t>
            </a:r>
            <a:r>
              <a:rPr sz="691" i="0">
                <a:solidFill>
                  <a:srgbClr val="F9C97A"/>
                </a:solidFill>
                <a:latin typeface="Inconsolata"/>
              </a:rPr>
              <a:t>1</a:t>
            </a:r>
            <a:r>
              <a:rPr sz="691" i="0">
                <a:solidFill>
                  <a:srgbClr val="E6EDF3"/>
                </a:solidFill>
                <a:latin typeface="Inconsolata"/>
              </a:rPr>
              <a:t>]</a:t>
            </a:r>
          </a:p>
          <a:p>
            <a:pPr>
              <a:lnSpc>
                <a:spcPct val="108505"/>
              </a:lnSpc>
              <a:spcAft>
                <a:spcPts val="0"/>
              </a:spcAft>
            </a:pPr>
            <a:r>
              <a:rPr sz="691" i="0">
                <a:solidFill>
                  <a:srgbClr val="5C6773"/>
                </a:solidFill>
                <a:latin typeface="Inconsolata"/>
              </a:rPr>
              <a:t>23  </a:t>
            </a:r>
            <a:r>
              <a:rPr sz="691" i="0">
                <a:solidFill>
                  <a:srgbClr val="E6EDF3"/>
                </a:solidFill>
                <a:latin typeface="Inconsolata"/>
              </a:rPr>
              <a:t>        </a:t>
            </a:r>
            <a:r>
              <a:rPr sz="691" i="0">
                <a:solidFill>
                  <a:srgbClr val="FF8E6E"/>
                </a:solidFill>
                <a:latin typeface="Inconsolata"/>
              </a:rPr>
              <a:t>return</a:t>
            </a:r>
            <a:r>
              <a:rPr sz="691" i="0">
                <a:solidFill>
                  <a:srgbClr val="E6EDF3"/>
                </a:solidFill>
                <a:latin typeface="Inconsolata"/>
              </a:rPr>
              <a:t> (</a:t>
            </a:r>
            <a:r>
              <a:rPr sz="691" i="0">
                <a:solidFill>
                  <a:srgbClr val="A5D6A7"/>
                </a:solidFill>
                <a:latin typeface="Inconsolata"/>
              </a:rPr>
              <a:t>f"  {exc_info[0].__name__}: {exc_info[1]}\n"</a:t>
            </a:r>
          </a:p>
          <a:p>
            <a:pPr>
              <a:lnSpc>
                <a:spcPct val="108505"/>
              </a:lnSpc>
              <a:spcAft>
                <a:spcPts val="0"/>
              </a:spcAft>
            </a:pPr>
            <a:r>
              <a:rPr sz="691" i="0">
                <a:solidFill>
                  <a:srgbClr val="5C6773"/>
                </a:solidFill>
                <a:latin typeface="Inconsolata"/>
              </a:rPr>
              <a:t>24  </a:t>
            </a:r>
            <a:r>
              <a:rPr sz="691" i="0">
                <a:solidFill>
                  <a:srgbClr val="E6EDF3"/>
                </a:solidFill>
                <a:latin typeface="Inconsolata"/>
              </a:rPr>
              <a:t>                </a:t>
            </a:r>
            <a:r>
              <a:rPr sz="691" i="0">
                <a:solidFill>
                  <a:srgbClr val="A5D6A7"/>
                </a:solidFill>
                <a:latin typeface="Inconsolata"/>
              </a:rPr>
              <a:t>f"  di {frame.name}(), baris {frame.lineno}: "</a:t>
            </a:r>
          </a:p>
          <a:p>
            <a:pPr>
              <a:lnSpc>
                <a:spcPct val="108505"/>
              </a:lnSpc>
              <a:spcAft>
                <a:spcPts val="0"/>
              </a:spcAft>
            </a:pPr>
            <a:r>
              <a:rPr sz="691" i="0">
                <a:solidFill>
                  <a:srgbClr val="5C6773"/>
                </a:solidFill>
                <a:latin typeface="Inconsolata"/>
              </a:rPr>
              <a:t>25  </a:t>
            </a:r>
            <a:r>
              <a:rPr sz="691" i="0">
                <a:solidFill>
                  <a:srgbClr val="E6EDF3"/>
                </a:solidFill>
                <a:latin typeface="Inconsolata"/>
              </a:rPr>
              <a:t>                </a:t>
            </a:r>
            <a:r>
              <a:rPr sz="691" i="0">
                <a:solidFill>
                  <a:srgbClr val="A5D6A7"/>
                </a:solidFill>
                <a:latin typeface="Inconsolata"/>
              </a:rPr>
              <a:t>f"{frame.line}"</a:t>
            </a:r>
            <a:r>
              <a:rPr sz="691" i="0">
                <a:solidFill>
                  <a:srgbClr val="E6EDF3"/>
                </a:solidFill>
                <a:latin typeface="Inconsolata"/>
              </a:rPr>
              <a:t>)</a:t>
            </a:r>
          </a:p>
          <a:p>
            <a:pPr>
              <a:lnSpc>
                <a:spcPct val="108505"/>
              </a:lnSpc>
              <a:spcAft>
                <a:spcPts val="0"/>
              </a:spcAft>
            </a:pPr>
            <a:r>
              <a:rPr sz="691" i="0">
                <a:solidFill>
                  <a:srgbClr val="5C6773"/>
                </a:solidFill>
                <a:latin typeface="Inconsolata"/>
              </a:rPr>
              <a:t>26  </a:t>
            </a:r>
            <a:r>
              <a:rPr sz="691" i="0">
                <a:solidFill>
                  <a:srgbClr val="E6EDF3"/>
                </a:solidFill>
                <a:latin typeface="Inconsolata"/>
              </a:rPr>
              <a:t> </a:t>
            </a:r>
          </a:p>
          <a:p>
            <a:pPr>
              <a:lnSpc>
                <a:spcPct val="108505"/>
              </a:lnSpc>
              <a:spcAft>
                <a:spcPts val="0"/>
              </a:spcAft>
            </a:pPr>
            <a:r>
              <a:rPr sz="691" i="0">
                <a:solidFill>
                  <a:srgbClr val="5C6773"/>
                </a:solidFill>
                <a:latin typeface="Inconsolata"/>
              </a:rPr>
              <a:t>27  </a:t>
            </a:r>
            <a:r>
              <a:rPr sz="691" i="0">
                <a:solidFill>
                  <a:srgbClr val="E6EDF3"/>
                </a:solidFill>
                <a:latin typeface="Inconsolata"/>
              </a:rPr>
              <a:t> </a:t>
            </a:r>
          </a:p>
          <a:p>
            <a:pPr>
              <a:lnSpc>
                <a:spcPct val="108505"/>
              </a:lnSpc>
              <a:spcAft>
                <a:spcPts val="0"/>
              </a:spcAft>
            </a:pPr>
            <a:r>
              <a:rPr sz="691" i="0">
                <a:solidFill>
                  <a:srgbClr val="5C6773"/>
                </a:solidFill>
                <a:latin typeface="Inconsolata"/>
              </a:rPr>
              <a:t>28  </a:t>
            </a:r>
            <a:r>
              <a:rPr sz="691" i="0">
                <a:solidFill>
                  <a:srgbClr val="E6EDF3"/>
                </a:solidFill>
                <a:latin typeface="Inconsolata"/>
              </a:rPr>
              <a:t>handler = logging.</a:t>
            </a:r>
            <a:r>
              <a:rPr sz="691" i="0">
                <a:solidFill>
                  <a:srgbClr val="7FDBCA"/>
                </a:solidFill>
                <a:latin typeface="Inconsolata"/>
              </a:rPr>
              <a:t>StreamHandler</a:t>
            </a:r>
            <a:r>
              <a:rPr sz="691" i="0">
                <a:solidFill>
                  <a:srgbClr val="E6EDF3"/>
                </a:solidFill>
                <a:latin typeface="Inconsolata"/>
              </a:rPr>
              <a:t>()</a:t>
            </a:r>
          </a:p>
          <a:p>
            <a:pPr>
              <a:lnSpc>
                <a:spcPct val="108505"/>
              </a:lnSpc>
              <a:spcAft>
                <a:spcPts val="0"/>
              </a:spcAft>
            </a:pPr>
            <a:r>
              <a:rPr sz="691" i="0">
                <a:solidFill>
                  <a:srgbClr val="5C6773"/>
                </a:solidFill>
                <a:latin typeface="Inconsolata"/>
              </a:rPr>
              <a:t>29  </a:t>
            </a:r>
            <a:r>
              <a:rPr sz="691" i="0">
                <a:solidFill>
                  <a:srgbClr val="E6EDF3"/>
                </a:solidFill>
                <a:latin typeface="Inconsolata"/>
              </a:rPr>
              <a:t>handler.setFormatter(</a:t>
            </a:r>
            <a:r>
              <a:rPr sz="691" i="0">
                <a:solidFill>
                  <a:srgbClr val="7FDBCA"/>
                </a:solidFill>
                <a:latin typeface="Inconsolata"/>
              </a:rPr>
              <a:t>ShortTraceback</a:t>
            </a:r>
            <a:r>
              <a:rPr sz="691" i="0">
                <a:solidFill>
                  <a:srgbClr val="E6EDF3"/>
                </a:solidFill>
                <a:latin typeface="Inconsolata"/>
              </a:rPr>
              <a:t>(</a:t>
            </a:r>
          </a:p>
          <a:p>
            <a:pPr>
              <a:lnSpc>
                <a:spcPct val="108505"/>
              </a:lnSpc>
              <a:spcAft>
                <a:spcPts val="0"/>
              </a:spcAft>
            </a:pPr>
            <a:r>
              <a:rPr sz="691" i="0">
                <a:solidFill>
                  <a:srgbClr val="5C6773"/>
                </a:solidFill>
                <a:latin typeface="Inconsolata"/>
              </a:rPr>
              <a:t>30  </a:t>
            </a:r>
            <a:r>
              <a:rPr sz="691" i="0">
                <a:solidFill>
                  <a:srgbClr val="E6EDF3"/>
                </a:solidFill>
                <a:latin typeface="Inconsolata"/>
              </a:rPr>
              <a:t>    </a:t>
            </a:r>
            <a:r>
              <a:rPr sz="691" i="0">
                <a:solidFill>
                  <a:srgbClr val="A5D6A7"/>
                </a:solidFill>
                <a:latin typeface="Inconsolata"/>
              </a:rPr>
              <a:t>"%(levelname)-7s %(message)s [error_type=%(error_type)s]"</a:t>
            </a:r>
            <a:r>
              <a:rPr sz="691" i="0">
                <a:solidFill>
                  <a:srgbClr val="E6EDF3"/>
                </a:solidFill>
                <a:latin typeface="Inconsolata"/>
              </a:rPr>
              <a:t>))</a:t>
            </a:r>
          </a:p>
          <a:p>
            <a:pPr>
              <a:lnSpc>
                <a:spcPct val="108505"/>
              </a:lnSpc>
              <a:spcAft>
                <a:spcPts val="0"/>
              </a:spcAft>
            </a:pPr>
            <a:r>
              <a:rPr sz="691" i="0">
                <a:solidFill>
                  <a:srgbClr val="5C6773"/>
                </a:solidFill>
                <a:latin typeface="Inconsolata"/>
              </a:rPr>
              <a:t>31  </a:t>
            </a:r>
            <a:r>
              <a:rPr sz="691" i="0">
                <a:solidFill>
                  <a:srgbClr val="E6EDF3"/>
                </a:solidFill>
                <a:latin typeface="Inconsolata"/>
              </a:rPr>
              <a:t>logging.basicConfig(level=logging.</a:t>
            </a:r>
            <a:r>
              <a:rPr sz="691" i="0">
                <a:solidFill>
                  <a:srgbClr val="7FDBCA"/>
                </a:solidFill>
                <a:latin typeface="Inconsolata"/>
              </a:rPr>
              <a:t>INFO</a:t>
            </a:r>
            <a:r>
              <a:rPr sz="691" i="0">
                <a:solidFill>
                  <a:srgbClr val="E6EDF3"/>
                </a:solidFill>
                <a:latin typeface="Inconsolata"/>
              </a:rPr>
              <a:t>, handlers=[handler])</a:t>
            </a:r>
          </a:p>
          <a:p>
            <a:pPr>
              <a:lnSpc>
                <a:spcPct val="108505"/>
              </a:lnSpc>
              <a:spcAft>
                <a:spcPts val="0"/>
              </a:spcAft>
            </a:pPr>
            <a:r>
              <a:rPr sz="691" i="0">
                <a:solidFill>
                  <a:srgbClr val="5C6773"/>
                </a:solidFill>
                <a:latin typeface="Inconsolata"/>
              </a:rPr>
              <a:t>32  </a:t>
            </a:r>
            <a:r>
              <a:rPr sz="691" i="0">
                <a:solidFill>
                  <a:srgbClr val="E6EDF3"/>
                </a:solidFill>
                <a:latin typeface="Inconsolata"/>
              </a:rPr>
              <a:t>logging.getLogger(</a:t>
            </a:r>
            <a:r>
              <a:rPr sz="691" i="0">
                <a:solidFill>
                  <a:srgbClr val="A5D6A7"/>
                </a:solidFill>
                <a:latin typeface="Inconsolata"/>
              </a:rPr>
              <a:t>"httpx"</a:t>
            </a:r>
            <a:r>
              <a:rPr sz="691" i="0">
                <a:solidFill>
                  <a:srgbClr val="E6EDF3"/>
                </a:solidFill>
                <a:latin typeface="Inconsolata"/>
              </a:rPr>
              <a:t>).setLevel(logging.</a:t>
            </a:r>
            <a:r>
              <a:rPr sz="691" i="0">
                <a:solidFill>
                  <a:srgbClr val="7FDBCA"/>
                </a:solidFill>
                <a:latin typeface="Inconsolata"/>
              </a:rPr>
              <a:t>WARNING</a:t>
            </a:r>
            <a:r>
              <a:rPr sz="691" i="0">
                <a:solidFill>
                  <a:srgbClr val="E6EDF3"/>
                </a:solidFill>
                <a:latin typeface="Inconsolata"/>
              </a:rPr>
              <a:t>)   </a:t>
            </a:r>
            <a:r>
              <a:rPr sz="691" i="1">
                <a:solidFill>
                  <a:srgbClr val="8B98A8"/>
                </a:solidFill>
                <a:latin typeface="Inconsolata"/>
              </a:rPr>
              <a:t># log client demo</a:t>
            </a:r>
          </a:p>
          <a:p>
            <a:pPr>
              <a:lnSpc>
                <a:spcPct val="108505"/>
              </a:lnSpc>
              <a:spcAft>
                <a:spcPts val="0"/>
              </a:spcAft>
            </a:pPr>
            <a:r>
              <a:rPr sz="691" i="0">
                <a:solidFill>
                  <a:srgbClr val="5C6773"/>
                </a:solidFill>
                <a:latin typeface="Inconsolata"/>
              </a:rPr>
              <a:t>33  </a:t>
            </a:r>
            <a:r>
              <a:rPr sz="691" i="0">
                <a:solidFill>
                  <a:srgbClr val="E6EDF3"/>
                </a:solidFill>
                <a:latin typeface="Inconsolata"/>
              </a:rPr>
              <a:t>logger = logging.getLogger(</a:t>
            </a:r>
            <a:r>
              <a:rPr sz="691" i="0">
                <a:solidFill>
                  <a:srgbClr val="A5D6A7"/>
                </a:solidFill>
                <a:latin typeface="Inconsolata"/>
              </a:rPr>
              <a:t>"orders"</a:t>
            </a:r>
            <a:r>
              <a:rPr sz="691" i="0">
                <a:solidFill>
                  <a:srgbClr val="E6EDF3"/>
                </a:solidFill>
                <a:latin typeface="Inconsolata"/>
              </a:rPr>
              <a:t>)</a:t>
            </a:r>
          </a:p>
          <a:p>
            <a:pPr>
              <a:lnSpc>
                <a:spcPct val="108505"/>
              </a:lnSpc>
              <a:spcAft>
                <a:spcPts val="0"/>
              </a:spcAft>
            </a:pPr>
            <a:r>
              <a:rPr sz="691" i="0">
                <a:solidFill>
                  <a:srgbClr val="5C6773"/>
                </a:solidFill>
                <a:latin typeface="Inconsolata"/>
              </a:rPr>
              <a:t>34  </a:t>
            </a:r>
            <a:r>
              <a:rPr sz="691" i="0">
                <a:solidFill>
                  <a:srgbClr val="E6EDF3"/>
                </a:solidFill>
                <a:latin typeface="Inconsolata"/>
              </a:rPr>
              <a:t>app = </a:t>
            </a:r>
            <a:r>
              <a:rPr sz="691" i="0">
                <a:solidFill>
                  <a:srgbClr val="7FDBCA"/>
                </a:solidFill>
                <a:latin typeface="Inconsolata"/>
              </a:rPr>
              <a:t>FastAPI</a:t>
            </a:r>
            <a:r>
              <a:rPr sz="691" i="0">
                <a:solidFill>
                  <a:srgbClr val="E6EDF3"/>
                </a:solidFill>
                <a:latin typeface="Inconsolata"/>
              </a:rPr>
              <a: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03-error-classification/after.py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8505"/>
              </a:lnSpc>
              <a:spcAft>
                <a:spcPts val="0"/>
              </a:spcAft>
            </a:pPr>
            <a:r>
              <a:rPr sz="691" i="0">
                <a:solidFill>
                  <a:srgbClr val="5C6773"/>
                </a:solidFill>
                <a:latin typeface="Inconsolata"/>
              </a:rPr>
              <a:t>36  </a:t>
            </a:r>
            <a:r>
              <a:rPr sz="691" i="0">
                <a:solidFill>
                  <a:srgbClr val="7FDBCA"/>
                </a:solidFill>
                <a:latin typeface="Inconsolata"/>
              </a:rPr>
              <a:t>PRODUCTS</a:t>
            </a:r>
            <a:r>
              <a:rPr sz="691" i="0">
                <a:solidFill>
                  <a:srgbClr val="E6EDF3"/>
                </a:solidFill>
                <a:latin typeface="Inconsolata"/>
              </a:rPr>
              <a:t> = {</a:t>
            </a:r>
            <a:r>
              <a:rPr sz="691" i="0">
                <a:solidFill>
                  <a:srgbClr val="F9C97A"/>
                </a:solidFill>
                <a:latin typeface="Inconsolata"/>
              </a:rPr>
              <a:t>1</a:t>
            </a:r>
            <a:r>
              <a:rPr sz="691" i="0">
                <a:solidFill>
                  <a:srgbClr val="E6EDF3"/>
                </a:solidFill>
                <a:latin typeface="Inconsolata"/>
              </a:rPr>
              <a:t>: {</a:t>
            </a:r>
            <a:r>
              <a:rPr sz="691" i="0">
                <a:solidFill>
                  <a:srgbClr val="A5D6A7"/>
                </a:solidFill>
                <a:latin typeface="Inconsolata"/>
              </a:rPr>
              <a:t>"price"</a:t>
            </a:r>
            <a:r>
              <a:rPr sz="691" i="0">
                <a:solidFill>
                  <a:srgbClr val="E6EDF3"/>
                </a:solidFill>
                <a:latin typeface="Inconsolata"/>
              </a:rPr>
              <a:t>: </a:t>
            </a:r>
            <a:r>
              <a:rPr sz="691" i="0">
                <a:solidFill>
                  <a:srgbClr val="F9C97A"/>
                </a:solidFill>
                <a:latin typeface="Inconsolata"/>
              </a:rPr>
              <a:t>100_000</a:t>
            </a:r>
            <a:r>
              <a:rPr sz="691" i="0">
                <a:solidFill>
                  <a:srgbClr val="E6EDF3"/>
                </a:solidFill>
                <a:latin typeface="Inconsolata"/>
              </a:rPr>
              <a:t>, </a:t>
            </a:r>
            <a:r>
              <a:rPr sz="691" i="0">
                <a:solidFill>
                  <a:srgbClr val="A5D6A7"/>
                </a:solidFill>
                <a:latin typeface="Inconsolata"/>
              </a:rPr>
              <a:t>"stock"</a:t>
            </a:r>
            <a:r>
              <a:rPr sz="691" i="0">
                <a:solidFill>
                  <a:srgbClr val="E6EDF3"/>
                </a:solidFill>
                <a:latin typeface="Inconsolata"/>
              </a:rPr>
              <a:t>: </a:t>
            </a:r>
            <a:r>
              <a:rPr sz="691" i="0">
                <a:solidFill>
                  <a:srgbClr val="F9C97A"/>
                </a:solidFill>
                <a:latin typeface="Inconsolata"/>
              </a:rPr>
              <a:t>5</a:t>
            </a:r>
            <a:r>
              <a:rPr sz="691" i="0">
                <a:solidFill>
                  <a:srgbClr val="E6EDF3"/>
                </a:solidFill>
                <a:latin typeface="Inconsolata"/>
              </a:rPr>
              <a:t>},</a:t>
            </a:r>
          </a:p>
          <a:p>
            <a:pPr>
              <a:lnSpc>
                <a:spcPct val="108505"/>
              </a:lnSpc>
              <a:spcAft>
                <a:spcPts val="0"/>
              </a:spcAft>
            </a:pPr>
            <a:r>
              <a:rPr sz="691" i="0">
                <a:solidFill>
                  <a:srgbClr val="5C6773"/>
                </a:solidFill>
                <a:latin typeface="Inconsolata"/>
              </a:rPr>
              <a:t>37  </a:t>
            </a:r>
            <a:r>
              <a:rPr sz="691" i="0">
                <a:solidFill>
                  <a:srgbClr val="E6EDF3"/>
                </a:solidFill>
                <a:latin typeface="Inconsolata"/>
              </a:rPr>
              <a:t>            </a:t>
            </a:r>
            <a:r>
              <a:rPr sz="691" i="0">
                <a:solidFill>
                  <a:srgbClr val="F9C97A"/>
                </a:solidFill>
                <a:latin typeface="Inconsolata"/>
              </a:rPr>
              <a:t>3</a:t>
            </a:r>
            <a:r>
              <a:rPr sz="691" i="0">
                <a:solidFill>
                  <a:srgbClr val="E6EDF3"/>
                </a:solidFill>
                <a:latin typeface="Inconsolata"/>
              </a:rPr>
              <a:t>: {</a:t>
            </a:r>
            <a:r>
              <a:rPr sz="691" i="0">
                <a:solidFill>
                  <a:srgbClr val="A5D6A7"/>
                </a:solidFill>
                <a:latin typeface="Inconsolata"/>
              </a:rPr>
              <a:t>"price"</a:t>
            </a:r>
            <a:r>
              <a:rPr sz="691" i="0">
                <a:solidFill>
                  <a:srgbClr val="E6EDF3"/>
                </a:solidFill>
                <a:latin typeface="Inconsolata"/>
              </a:rPr>
              <a:t>: </a:t>
            </a:r>
            <a:r>
              <a:rPr sz="691" i="0">
                <a:solidFill>
                  <a:srgbClr val="F9C97A"/>
                </a:solidFill>
                <a:latin typeface="Inconsolata"/>
              </a:rPr>
              <a:t>200_000</a:t>
            </a:r>
            <a:r>
              <a:rPr sz="691" i="0">
                <a:solidFill>
                  <a:srgbClr val="E6EDF3"/>
                </a:solidFill>
                <a:latin typeface="Inconsolata"/>
              </a:rPr>
              <a:t>, </a:t>
            </a:r>
            <a:r>
              <a:rPr sz="691" i="0">
                <a:solidFill>
                  <a:srgbClr val="A5D6A7"/>
                </a:solidFill>
                <a:latin typeface="Inconsolata"/>
              </a:rPr>
              <a:t>"stock"</a:t>
            </a:r>
            <a:r>
              <a:rPr sz="691" i="0">
                <a:solidFill>
                  <a:srgbClr val="E6EDF3"/>
                </a:solidFill>
                <a:latin typeface="Inconsolata"/>
              </a:rPr>
              <a:t>: </a:t>
            </a:r>
            <a:r>
              <a:rPr sz="691" i="0">
                <a:solidFill>
                  <a:srgbClr val="F9C97A"/>
                </a:solidFill>
                <a:latin typeface="Inconsolata"/>
              </a:rPr>
              <a:t>5</a:t>
            </a:r>
            <a:r>
              <a:rPr sz="691" i="0">
                <a:solidFill>
                  <a:srgbClr val="E6EDF3"/>
                </a:solidFill>
                <a:latin typeface="Inconsolata"/>
              </a:rPr>
              <a:t>},</a:t>
            </a:r>
          </a:p>
          <a:p>
            <a:pPr>
              <a:lnSpc>
                <a:spcPct val="108505"/>
              </a:lnSpc>
              <a:spcAft>
                <a:spcPts val="0"/>
              </a:spcAft>
            </a:pPr>
            <a:r>
              <a:rPr sz="691" i="0">
                <a:solidFill>
                  <a:srgbClr val="5C6773"/>
                </a:solidFill>
                <a:latin typeface="Inconsolata"/>
              </a:rPr>
              <a:t>38  </a:t>
            </a:r>
            <a:r>
              <a:rPr sz="691" i="0">
                <a:solidFill>
                  <a:srgbClr val="E6EDF3"/>
                </a:solidFill>
                <a:latin typeface="Inconsolata"/>
              </a:rPr>
              <a:t>            </a:t>
            </a:r>
            <a:r>
              <a:rPr sz="691" i="0">
                <a:solidFill>
                  <a:srgbClr val="F9C97A"/>
                </a:solidFill>
                <a:latin typeface="Inconsolata"/>
              </a:rPr>
              <a:t>4</a:t>
            </a:r>
            <a:r>
              <a:rPr sz="691" i="0">
                <a:solidFill>
                  <a:srgbClr val="E6EDF3"/>
                </a:solidFill>
                <a:latin typeface="Inconsolata"/>
              </a:rPr>
              <a:t>: {</a:t>
            </a:r>
            <a:r>
              <a:rPr sz="691" i="0">
                <a:solidFill>
                  <a:srgbClr val="A5D6A7"/>
                </a:solidFill>
                <a:latin typeface="Inconsolata"/>
              </a:rPr>
              <a:t>"price"</a:t>
            </a:r>
            <a:r>
              <a:rPr sz="691" i="0">
                <a:solidFill>
                  <a:srgbClr val="E6EDF3"/>
                </a:solidFill>
                <a:latin typeface="Inconsolata"/>
              </a:rPr>
              <a:t>: </a:t>
            </a:r>
            <a:r>
              <a:rPr sz="691" i="0">
                <a:solidFill>
                  <a:srgbClr val="FF8E6E"/>
                </a:solidFill>
                <a:latin typeface="Inconsolata"/>
              </a:rPr>
              <a:t>None</a:t>
            </a:r>
            <a:r>
              <a:rPr sz="691" i="0">
                <a:solidFill>
                  <a:srgbClr val="E6EDF3"/>
                </a:solidFill>
                <a:latin typeface="Inconsolata"/>
              </a:rPr>
              <a:t>, </a:t>
            </a:r>
            <a:r>
              <a:rPr sz="691" i="0">
                <a:solidFill>
                  <a:srgbClr val="A5D6A7"/>
                </a:solidFill>
                <a:latin typeface="Inconsolata"/>
              </a:rPr>
              <a:t>"stock"</a:t>
            </a:r>
            <a:r>
              <a:rPr sz="691" i="0">
                <a:solidFill>
                  <a:srgbClr val="E6EDF3"/>
                </a:solidFill>
                <a:latin typeface="Inconsolata"/>
              </a:rPr>
              <a:t>: </a:t>
            </a:r>
            <a:r>
              <a:rPr sz="691" i="0">
                <a:solidFill>
                  <a:srgbClr val="F9C97A"/>
                </a:solidFill>
                <a:latin typeface="Inconsolata"/>
              </a:rPr>
              <a:t>5</a:t>
            </a:r>
            <a:r>
              <a:rPr sz="691" i="0">
                <a:solidFill>
                  <a:srgbClr val="E6EDF3"/>
                </a:solidFill>
                <a:latin typeface="Inconsolata"/>
              </a:rPr>
              <a:t>}}  </a:t>
            </a:r>
            <a:r>
              <a:rPr sz="691" i="1">
                <a:solidFill>
                  <a:srgbClr val="8B98A8"/>
                </a:solidFill>
                <a:latin typeface="Inconsolata"/>
              </a:rPr>
              <a:t># data rusak, bikin bug</a:t>
            </a:r>
          </a:p>
          <a:p>
            <a:pPr>
              <a:lnSpc>
                <a:spcPct val="108505"/>
              </a:lnSpc>
              <a:spcAft>
                <a:spcPts val="0"/>
              </a:spcAft>
            </a:pPr>
            <a:r>
              <a:rPr sz="691" i="0">
                <a:solidFill>
                  <a:srgbClr val="5C6773"/>
                </a:solidFill>
                <a:latin typeface="Inconsolata"/>
              </a:rPr>
              <a:t>39  </a:t>
            </a:r>
            <a:r>
              <a:rPr sz="691" i="0">
                <a:solidFill>
                  <a:srgbClr val="E6EDF3"/>
                </a:solidFill>
                <a:latin typeface="Inconsolata"/>
              </a:rPr>
              <a:t> </a:t>
            </a:r>
          </a:p>
          <a:p>
            <a:pPr>
              <a:lnSpc>
                <a:spcPct val="108505"/>
              </a:lnSpc>
              <a:spcAft>
                <a:spcPts val="0"/>
              </a:spcAft>
            </a:pPr>
            <a:r>
              <a:rPr sz="691" i="0">
                <a:solidFill>
                  <a:srgbClr val="5C6773"/>
                </a:solidFill>
                <a:latin typeface="Inconsolata"/>
              </a:rPr>
              <a:t>40  </a:t>
            </a:r>
            <a:r>
              <a:rPr sz="691" i="0">
                <a:solidFill>
                  <a:srgbClr val="E6EDF3"/>
                </a:solidFill>
                <a:latin typeface="Inconsolata"/>
              </a:rPr>
              <a:t> </a:t>
            </a:r>
          </a:p>
          <a:p>
            <a:pPr>
              <a:lnSpc>
                <a:spcPct val="108505"/>
              </a:lnSpc>
              <a:spcAft>
                <a:spcPts val="0"/>
              </a:spcAft>
            </a:pPr>
            <a:r>
              <a:rPr sz="691" i="0">
                <a:solidFill>
                  <a:srgbClr val="5C6773"/>
                </a:solidFill>
                <a:latin typeface="Inconsolata"/>
              </a:rPr>
              <a:t>41  </a:t>
            </a:r>
            <a:r>
              <a:rPr sz="691" i="0">
                <a:solidFill>
                  <a:srgbClr val="FF8E6E"/>
                </a:solidFill>
                <a:latin typeface="Inconsolata"/>
              </a:rPr>
              <a:t>class</a:t>
            </a:r>
            <a:r>
              <a:rPr sz="691" i="0">
                <a:solidFill>
                  <a:srgbClr val="E6EDF3"/>
                </a:solidFill>
                <a:latin typeface="Inconsolata"/>
              </a:rPr>
              <a:t> </a:t>
            </a:r>
            <a:r>
              <a:rPr sz="691" i="0">
                <a:solidFill>
                  <a:srgbClr val="7FDBCA"/>
                </a:solidFill>
                <a:latin typeface="Inconsolata"/>
              </a:rPr>
              <a:t>ClientError</a:t>
            </a:r>
            <a:r>
              <a:rPr sz="691" i="0">
                <a:solidFill>
                  <a:srgbClr val="E6EDF3"/>
                </a:solidFill>
                <a:latin typeface="Inconsolata"/>
              </a:rPr>
              <a:t>(</a:t>
            </a:r>
            <a:r>
              <a:rPr sz="691" i="0">
                <a:solidFill>
                  <a:srgbClr val="7FDBCA"/>
                </a:solidFill>
                <a:latin typeface="Inconsolata"/>
              </a:rPr>
              <a:t>Exception</a:t>
            </a:r>
            <a:r>
              <a:rPr sz="691" i="0">
                <a:solidFill>
                  <a:srgbClr val="E6EDF3"/>
                </a:solidFill>
                <a:latin typeface="Inconsolata"/>
              </a:rPr>
              <a:t>):        </a:t>
            </a:r>
            <a:r>
              <a:rPr sz="691" i="1">
                <a:solidFill>
                  <a:srgbClr val="8B98A8"/>
                </a:solidFill>
                <a:latin typeface="Inconsolata"/>
              </a:rPr>
              <a:t># kesalahan dari sisi request</a:t>
            </a:r>
          </a:p>
          <a:p>
            <a:pPr>
              <a:lnSpc>
                <a:spcPct val="108505"/>
              </a:lnSpc>
              <a:spcAft>
                <a:spcPts val="0"/>
              </a:spcAft>
            </a:pPr>
            <a:r>
              <a:rPr sz="691" i="0">
                <a:solidFill>
                  <a:srgbClr val="5C6773"/>
                </a:solidFill>
                <a:latin typeface="Inconsolata"/>
              </a:rPr>
              <a:t>42  </a:t>
            </a:r>
            <a:r>
              <a:rPr sz="691" i="0">
                <a:solidFill>
                  <a:srgbClr val="E6EDF3"/>
                </a:solidFill>
                <a:latin typeface="Inconsolata"/>
              </a:rPr>
              <a:t>    status_code = </a:t>
            </a:r>
            <a:r>
              <a:rPr sz="691" i="0">
                <a:solidFill>
                  <a:srgbClr val="F9C97A"/>
                </a:solidFill>
                <a:latin typeface="Inconsolata"/>
              </a:rPr>
              <a:t>400</a:t>
            </a:r>
          </a:p>
          <a:p>
            <a:pPr>
              <a:lnSpc>
                <a:spcPct val="108505"/>
              </a:lnSpc>
              <a:spcAft>
                <a:spcPts val="0"/>
              </a:spcAft>
            </a:pPr>
            <a:r>
              <a:rPr sz="691" i="0">
                <a:solidFill>
                  <a:srgbClr val="5C6773"/>
                </a:solidFill>
                <a:latin typeface="Inconsolata"/>
              </a:rPr>
              <a:t>43  </a:t>
            </a:r>
            <a:r>
              <a:rPr sz="691" i="0">
                <a:solidFill>
                  <a:srgbClr val="E6EDF3"/>
                </a:solidFill>
                <a:latin typeface="Inconsolata"/>
              </a:rPr>
              <a:t> </a:t>
            </a:r>
          </a:p>
          <a:p>
            <a:pPr>
              <a:lnSpc>
                <a:spcPct val="108505"/>
              </a:lnSpc>
              <a:spcAft>
                <a:spcPts val="0"/>
              </a:spcAft>
            </a:pPr>
            <a:r>
              <a:rPr sz="691" i="0">
                <a:solidFill>
                  <a:srgbClr val="5C6773"/>
                </a:solidFill>
                <a:latin typeface="Inconsolata"/>
              </a:rPr>
              <a:t>44  </a:t>
            </a:r>
            <a:r>
              <a:rPr sz="691" i="0">
                <a:solidFill>
                  <a:srgbClr val="E6EDF3"/>
                </a:solidFill>
                <a:latin typeface="Inconsolata"/>
              </a:rPr>
              <a:t> </a:t>
            </a:r>
          </a:p>
          <a:p>
            <a:pPr>
              <a:lnSpc>
                <a:spcPct val="108505"/>
              </a:lnSpc>
              <a:spcAft>
                <a:spcPts val="0"/>
              </a:spcAft>
            </a:pPr>
            <a:r>
              <a:rPr sz="691" i="0">
                <a:solidFill>
                  <a:srgbClr val="5C6773"/>
                </a:solidFill>
                <a:latin typeface="Inconsolata"/>
              </a:rPr>
              <a:t>45  </a:t>
            </a:r>
            <a:r>
              <a:rPr sz="691" i="0">
                <a:solidFill>
                  <a:srgbClr val="FF8E6E"/>
                </a:solidFill>
                <a:latin typeface="Inconsolata"/>
              </a:rPr>
              <a:t>class</a:t>
            </a:r>
            <a:r>
              <a:rPr sz="691" i="0">
                <a:solidFill>
                  <a:srgbClr val="E6EDF3"/>
                </a:solidFill>
                <a:latin typeface="Inconsolata"/>
              </a:rPr>
              <a:t> </a:t>
            </a:r>
            <a:r>
              <a:rPr sz="691" i="0">
                <a:solidFill>
                  <a:srgbClr val="7FDBCA"/>
                </a:solidFill>
                <a:latin typeface="Inconsolata"/>
              </a:rPr>
              <a:t>ProductNotFound</a:t>
            </a:r>
            <a:r>
              <a:rPr sz="691" i="0">
                <a:solidFill>
                  <a:srgbClr val="E6EDF3"/>
                </a:solidFill>
                <a:latin typeface="Inconsolata"/>
              </a:rPr>
              <a:t>(</a:t>
            </a:r>
            <a:r>
              <a:rPr sz="691" i="0">
                <a:solidFill>
                  <a:srgbClr val="7FDBCA"/>
                </a:solidFill>
                <a:latin typeface="Inconsolata"/>
              </a:rPr>
              <a:t>ClientError</a:t>
            </a:r>
            <a:r>
              <a:rPr sz="691" i="0">
                <a:solidFill>
                  <a:srgbClr val="E6EDF3"/>
                </a:solidFill>
                <a:latin typeface="Inconsolata"/>
              </a:rPr>
              <a:t>):</a:t>
            </a:r>
          </a:p>
          <a:p>
            <a:pPr>
              <a:lnSpc>
                <a:spcPct val="108505"/>
              </a:lnSpc>
              <a:spcAft>
                <a:spcPts val="0"/>
              </a:spcAft>
            </a:pPr>
            <a:r>
              <a:rPr sz="691" i="0">
                <a:solidFill>
                  <a:srgbClr val="5C6773"/>
                </a:solidFill>
                <a:latin typeface="Inconsolata"/>
              </a:rPr>
              <a:t>46  </a:t>
            </a:r>
            <a:r>
              <a:rPr sz="691" i="0">
                <a:solidFill>
                  <a:srgbClr val="E6EDF3"/>
                </a:solidFill>
                <a:latin typeface="Inconsolata"/>
              </a:rPr>
              <a:t>    status_code = </a:t>
            </a:r>
            <a:r>
              <a:rPr sz="691" i="0">
                <a:solidFill>
                  <a:srgbClr val="F9C97A"/>
                </a:solidFill>
                <a:latin typeface="Inconsolata"/>
              </a:rPr>
              <a:t>404</a:t>
            </a:r>
          </a:p>
          <a:p>
            <a:pPr>
              <a:lnSpc>
                <a:spcPct val="108505"/>
              </a:lnSpc>
              <a:spcAft>
                <a:spcPts val="0"/>
              </a:spcAft>
            </a:pPr>
            <a:r>
              <a:rPr sz="691" i="0">
                <a:solidFill>
                  <a:srgbClr val="5C6773"/>
                </a:solidFill>
                <a:latin typeface="Inconsolata"/>
              </a:rPr>
              <a:t>47  </a:t>
            </a:r>
            <a:r>
              <a:rPr sz="691" i="0">
                <a:solidFill>
                  <a:srgbClr val="E6EDF3"/>
                </a:solidFill>
                <a:latin typeface="Inconsolata"/>
              </a:rPr>
              <a:t> </a:t>
            </a:r>
          </a:p>
          <a:p>
            <a:pPr>
              <a:lnSpc>
                <a:spcPct val="108505"/>
              </a:lnSpc>
              <a:spcAft>
                <a:spcPts val="0"/>
              </a:spcAft>
            </a:pPr>
            <a:r>
              <a:rPr sz="691" i="0">
                <a:solidFill>
                  <a:srgbClr val="5C6773"/>
                </a:solidFill>
                <a:latin typeface="Inconsolata"/>
              </a:rPr>
              <a:t>48  </a:t>
            </a:r>
            <a:r>
              <a:rPr sz="691" i="0">
                <a:solidFill>
                  <a:srgbClr val="E6EDF3"/>
                </a:solidFill>
                <a:latin typeface="Inconsolata"/>
              </a:rPr>
              <a:t> </a:t>
            </a:r>
          </a:p>
          <a:p>
            <a:pPr>
              <a:lnSpc>
                <a:spcPct val="108505"/>
              </a:lnSpc>
              <a:spcAft>
                <a:spcPts val="0"/>
              </a:spcAft>
            </a:pPr>
            <a:r>
              <a:rPr sz="691" i="0">
                <a:solidFill>
                  <a:srgbClr val="5C6773"/>
                </a:solidFill>
                <a:latin typeface="Inconsolata"/>
              </a:rPr>
              <a:t>49  </a:t>
            </a:r>
            <a:r>
              <a:rPr sz="691" i="0">
                <a:solidFill>
                  <a:srgbClr val="FF8E6E"/>
                </a:solidFill>
                <a:latin typeface="Inconsolata"/>
              </a:rPr>
              <a:t>class</a:t>
            </a:r>
            <a:r>
              <a:rPr sz="691" i="0">
                <a:solidFill>
                  <a:srgbClr val="E6EDF3"/>
                </a:solidFill>
                <a:latin typeface="Inconsolata"/>
              </a:rPr>
              <a:t> </a:t>
            </a:r>
            <a:r>
              <a:rPr sz="691" i="0">
                <a:solidFill>
                  <a:srgbClr val="7FDBCA"/>
                </a:solidFill>
                <a:latin typeface="Inconsolata"/>
              </a:rPr>
              <a:t>OutOfStock</a:t>
            </a:r>
            <a:r>
              <a:rPr sz="691" i="0">
                <a:solidFill>
                  <a:srgbClr val="E6EDF3"/>
                </a:solidFill>
                <a:latin typeface="Inconsolata"/>
              </a:rPr>
              <a:t>(</a:t>
            </a:r>
            <a:r>
              <a:rPr sz="691" i="0">
                <a:solidFill>
                  <a:srgbClr val="7FDBCA"/>
                </a:solidFill>
                <a:latin typeface="Inconsolata"/>
              </a:rPr>
              <a:t>ClientError</a:t>
            </a:r>
            <a:r>
              <a:rPr sz="691" i="0">
                <a:solidFill>
                  <a:srgbClr val="E6EDF3"/>
                </a:solidFill>
                <a:latin typeface="Inconsolata"/>
              </a:rPr>
              <a:t>):</a:t>
            </a:r>
          </a:p>
          <a:p>
            <a:pPr>
              <a:lnSpc>
                <a:spcPct val="108505"/>
              </a:lnSpc>
              <a:spcAft>
                <a:spcPts val="0"/>
              </a:spcAft>
            </a:pPr>
            <a:r>
              <a:rPr sz="691" i="0">
                <a:solidFill>
                  <a:srgbClr val="5C6773"/>
                </a:solidFill>
                <a:latin typeface="Inconsolata"/>
              </a:rPr>
              <a:t>50  </a:t>
            </a:r>
            <a:r>
              <a:rPr sz="691" i="0">
                <a:solidFill>
                  <a:srgbClr val="E6EDF3"/>
                </a:solidFill>
                <a:latin typeface="Inconsolata"/>
              </a:rPr>
              <a:t>    status_code = </a:t>
            </a:r>
            <a:r>
              <a:rPr sz="691" i="0">
                <a:solidFill>
                  <a:srgbClr val="F9C97A"/>
                </a:solidFill>
                <a:latin typeface="Inconsolata"/>
              </a:rPr>
              <a:t>409</a:t>
            </a:r>
          </a:p>
          <a:p>
            <a:pPr>
              <a:lnSpc>
                <a:spcPct val="108505"/>
              </a:lnSpc>
              <a:spcAft>
                <a:spcPts val="0"/>
              </a:spcAft>
            </a:pPr>
            <a:r>
              <a:rPr sz="691" i="0">
                <a:solidFill>
                  <a:srgbClr val="5C6773"/>
                </a:solidFill>
                <a:latin typeface="Inconsolata"/>
              </a:rPr>
              <a:t>51  </a:t>
            </a:r>
            <a:r>
              <a:rPr sz="691" i="0">
                <a:solidFill>
                  <a:srgbClr val="E6EDF3"/>
                </a:solidFill>
                <a:latin typeface="Inconsolata"/>
              </a:rPr>
              <a:t> </a:t>
            </a:r>
          </a:p>
          <a:p>
            <a:pPr>
              <a:lnSpc>
                <a:spcPct val="108505"/>
              </a:lnSpc>
              <a:spcAft>
                <a:spcPts val="0"/>
              </a:spcAft>
            </a:pPr>
            <a:r>
              <a:rPr sz="691" i="0">
                <a:solidFill>
                  <a:srgbClr val="5C6773"/>
                </a:solidFill>
                <a:latin typeface="Inconsolata"/>
              </a:rPr>
              <a:t>52  </a:t>
            </a:r>
            <a:r>
              <a:rPr sz="691" i="0">
                <a:solidFill>
                  <a:srgbClr val="E6EDF3"/>
                </a:solidFill>
                <a:latin typeface="Inconsolata"/>
              </a:rPr>
              <a:t> </a:t>
            </a:r>
          </a:p>
          <a:p>
            <a:pPr>
              <a:lnSpc>
                <a:spcPct val="108505"/>
              </a:lnSpc>
              <a:spcAft>
                <a:spcPts val="0"/>
              </a:spcAft>
            </a:pPr>
            <a:r>
              <a:rPr sz="691" i="0">
                <a:solidFill>
                  <a:srgbClr val="5C6773"/>
                </a:solidFill>
                <a:latin typeface="Inconsolata"/>
              </a:rPr>
              <a:t>53  </a:t>
            </a:r>
            <a:r>
              <a:rPr sz="691" i="0">
                <a:solidFill>
                  <a:srgbClr val="FF8E6E"/>
                </a:solidFill>
                <a:latin typeface="Inconsolata"/>
              </a:rPr>
              <a:t>class</a:t>
            </a:r>
            <a:r>
              <a:rPr sz="691" i="0">
                <a:solidFill>
                  <a:srgbClr val="E6EDF3"/>
                </a:solidFill>
                <a:latin typeface="Inconsolata"/>
              </a:rPr>
              <a:t> </a:t>
            </a:r>
            <a:r>
              <a:rPr sz="691" i="0">
                <a:solidFill>
                  <a:srgbClr val="7FDBCA"/>
                </a:solidFill>
                <a:latin typeface="Inconsolata"/>
              </a:rPr>
              <a:t>DependencyError</a:t>
            </a:r>
            <a:r>
              <a:rPr sz="691" i="0">
                <a:solidFill>
                  <a:srgbClr val="E6EDF3"/>
                </a:solidFill>
                <a:latin typeface="Inconsolata"/>
              </a:rPr>
              <a:t>(</a:t>
            </a:r>
            <a:r>
              <a:rPr sz="691" i="0">
                <a:solidFill>
                  <a:srgbClr val="7FDBCA"/>
                </a:solidFill>
                <a:latin typeface="Inconsolata"/>
              </a:rPr>
              <a:t>Exception</a:t>
            </a:r>
            <a:r>
              <a:rPr sz="691" i="0">
                <a:solidFill>
                  <a:srgbClr val="E6EDF3"/>
                </a:solidFill>
                <a:latin typeface="Inconsolata"/>
              </a:rPr>
              <a:t>):    </a:t>
            </a:r>
            <a:r>
              <a:rPr sz="691" i="1">
                <a:solidFill>
                  <a:srgbClr val="8B98A8"/>
                </a:solidFill>
                <a:latin typeface="Inconsolata"/>
              </a:rPr>
              <a:t># layanan lain sedang gangguan</a:t>
            </a:r>
          </a:p>
          <a:p>
            <a:pPr>
              <a:lnSpc>
                <a:spcPct val="108505"/>
              </a:lnSpc>
              <a:spcAft>
                <a:spcPts val="0"/>
              </a:spcAft>
            </a:pPr>
            <a:r>
              <a:rPr sz="691" i="0">
                <a:solidFill>
                  <a:srgbClr val="5C6773"/>
                </a:solidFill>
                <a:latin typeface="Inconsolata"/>
              </a:rPr>
              <a:t>54  </a:t>
            </a:r>
            <a:r>
              <a:rPr sz="691" i="0">
                <a:solidFill>
                  <a:srgbClr val="E6EDF3"/>
                </a:solidFill>
                <a:latin typeface="Inconsolata"/>
              </a:rPr>
              <a:t>    status_code = </a:t>
            </a:r>
            <a:r>
              <a:rPr sz="691" i="0">
                <a:solidFill>
                  <a:srgbClr val="F9C97A"/>
                </a:solidFill>
                <a:latin typeface="Inconsolata"/>
              </a:rPr>
              <a:t>503</a:t>
            </a:r>
          </a:p>
          <a:p>
            <a:pPr>
              <a:lnSpc>
                <a:spcPct val="108505"/>
              </a:lnSpc>
              <a:spcAft>
                <a:spcPts val="0"/>
              </a:spcAft>
            </a:pPr>
            <a:r>
              <a:rPr sz="691" i="0">
                <a:solidFill>
                  <a:srgbClr val="5C6773"/>
                </a:solidFill>
                <a:latin typeface="Inconsolata"/>
              </a:rPr>
              <a:t>55  </a:t>
            </a:r>
            <a:r>
              <a:rPr sz="691" i="0">
                <a:solidFill>
                  <a:srgbClr val="E6EDF3"/>
                </a:solidFill>
                <a:latin typeface="Inconsolata"/>
              </a:rPr>
              <a:t> </a:t>
            </a:r>
          </a:p>
          <a:p>
            <a:pPr>
              <a:lnSpc>
                <a:spcPct val="108505"/>
              </a:lnSpc>
              <a:spcAft>
                <a:spcPts val="0"/>
              </a:spcAft>
            </a:pPr>
            <a:r>
              <a:rPr sz="691" i="0">
                <a:solidFill>
                  <a:srgbClr val="5C6773"/>
                </a:solidFill>
                <a:latin typeface="Inconsolata"/>
              </a:rPr>
              <a:t>56  </a:t>
            </a:r>
            <a:r>
              <a:rPr sz="691" i="0">
                <a:solidFill>
                  <a:srgbClr val="E6EDF3"/>
                </a:solidFill>
                <a:latin typeface="Inconsolata"/>
              </a:rPr>
              <a:t> </a:t>
            </a:r>
          </a:p>
          <a:p>
            <a:pPr>
              <a:lnSpc>
                <a:spcPct val="108505"/>
              </a:lnSpc>
              <a:spcAft>
                <a:spcPts val="0"/>
              </a:spcAft>
            </a:pPr>
            <a:r>
              <a:rPr sz="691" i="0">
                <a:solidFill>
                  <a:srgbClr val="5C6773"/>
                </a:solidFill>
                <a:latin typeface="Inconsolata"/>
              </a:rPr>
              <a:t>57  </a:t>
            </a:r>
            <a:r>
              <a:rPr sz="691" i="0">
                <a:solidFill>
                  <a:srgbClr val="FF8E6E"/>
                </a:solidFill>
                <a:latin typeface="Inconsolata"/>
              </a:rPr>
              <a:t>class</a:t>
            </a:r>
            <a:r>
              <a:rPr sz="691" i="0">
                <a:solidFill>
                  <a:srgbClr val="E6EDF3"/>
                </a:solidFill>
                <a:latin typeface="Inconsolata"/>
              </a:rPr>
              <a:t> </a:t>
            </a:r>
            <a:r>
              <a:rPr sz="691" i="0">
                <a:solidFill>
                  <a:srgbClr val="7FDBCA"/>
                </a:solidFill>
                <a:latin typeface="Inconsolata"/>
              </a:rPr>
              <a:t>DatabaseUnavailable</a:t>
            </a:r>
            <a:r>
              <a:rPr sz="691" i="0">
                <a:solidFill>
                  <a:srgbClr val="E6EDF3"/>
                </a:solidFill>
                <a:latin typeface="Inconsolata"/>
              </a:rPr>
              <a:t>(</a:t>
            </a:r>
            <a:r>
              <a:rPr sz="691" i="0">
                <a:solidFill>
                  <a:srgbClr val="7FDBCA"/>
                </a:solidFill>
                <a:latin typeface="Inconsolata"/>
              </a:rPr>
              <a:t>DependencyError</a:t>
            </a:r>
            <a:r>
              <a:rPr sz="691" i="0">
                <a:solidFill>
                  <a:srgbClr val="E6EDF3"/>
                </a:solidFill>
                <a:latin typeface="Inconsolata"/>
              </a:rPr>
              <a:t>):</a:t>
            </a:r>
          </a:p>
          <a:p>
            <a:pPr>
              <a:lnSpc>
                <a:spcPct val="108505"/>
              </a:lnSpc>
              <a:spcAft>
                <a:spcPts val="0"/>
              </a:spcAft>
            </a:pPr>
            <a:r>
              <a:rPr sz="691" i="0">
                <a:solidFill>
                  <a:srgbClr val="5C6773"/>
                </a:solidFill>
                <a:latin typeface="Inconsolata"/>
              </a:rPr>
              <a:t>58  </a:t>
            </a:r>
            <a:r>
              <a:rPr sz="691" i="0">
                <a:solidFill>
                  <a:srgbClr val="E6EDF3"/>
                </a:solidFill>
                <a:latin typeface="Inconsolata"/>
              </a:rPr>
              <a:t>    </a:t>
            </a:r>
            <a:r>
              <a:rPr sz="691" i="0">
                <a:solidFill>
                  <a:srgbClr val="FF8E6E"/>
                </a:solidFill>
                <a:latin typeface="Inconsolata"/>
              </a:rPr>
              <a:t>pass</a:t>
            </a:r>
          </a:p>
        </p:txBody>
      </p:sp>
      <p:sp>
        <p:nvSpPr>
          <p:cNvPr id="36" name="Box 21"/>
          <p:cNvSpPr/>
          <p:nvPr/>
        </p:nvSpPr>
        <p:spPr>
          <a:xfrm>
            <a:off x="4709159" y="2396871"/>
            <a:ext cx="3694176" cy="1936242"/>
          </a:xfrm>
          <a:prstGeom prst="roundRect">
            <a:avLst>
              <a:gd name="adj" fmla="val 2361"/>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8284463" y="32461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Klasifikasi Error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client, dependency, dan bug (2/2)</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03-error-classification/after.py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5686"/>
              </a:lnSpc>
              <a:spcAft>
                <a:spcPts val="0"/>
              </a:spcAft>
            </a:pPr>
            <a:r>
              <a:rPr sz="709" i="0">
                <a:solidFill>
                  <a:srgbClr val="5C6773"/>
                </a:solidFill>
                <a:latin typeface="Inconsolata"/>
              </a:rPr>
              <a:t>61  </a:t>
            </a:r>
            <a:r>
              <a:rPr sz="709" i="0">
                <a:solidFill>
                  <a:srgbClr val="F9C97A"/>
                </a:solidFill>
                <a:latin typeface="Inconsolata"/>
              </a:rPr>
              <a:t>@app.post</a:t>
            </a:r>
            <a:r>
              <a:rPr sz="709" i="0">
                <a:solidFill>
                  <a:srgbClr val="E6EDF3"/>
                </a:solidFill>
                <a:latin typeface="Inconsolata"/>
              </a:rPr>
              <a:t>(</a:t>
            </a:r>
            <a:r>
              <a:rPr sz="709" i="0">
                <a:solidFill>
                  <a:srgbClr val="A5D6A7"/>
                </a:solidFill>
                <a:latin typeface="Inconsolata"/>
              </a:rPr>
              <a:t>"/products/{product_id}/buy"</a:t>
            </a:r>
            <a:r>
              <a:rPr sz="709" i="0">
                <a:solidFill>
                  <a:srgbClr val="E6EDF3"/>
                </a:solidFill>
                <a:latin typeface="Inconsolata"/>
              </a:rPr>
              <a:t>)</a:t>
            </a:r>
          </a:p>
          <a:p>
            <a:pPr>
              <a:lnSpc>
                <a:spcPct val="105686"/>
              </a:lnSpc>
              <a:spcAft>
                <a:spcPts val="0"/>
              </a:spcAft>
            </a:pPr>
            <a:r>
              <a:rPr sz="709" i="0">
                <a:solidFill>
                  <a:srgbClr val="5C6773"/>
                </a:solidFill>
                <a:latin typeface="Inconsolata"/>
              </a:rPr>
              <a:t>62  </a:t>
            </a:r>
            <a:r>
              <a:rPr sz="709" i="0">
                <a:solidFill>
                  <a:srgbClr val="FF8E6E"/>
                </a:solidFill>
                <a:latin typeface="Inconsolata"/>
              </a:rPr>
              <a:t>def</a:t>
            </a:r>
            <a:r>
              <a:rPr sz="709" i="0">
                <a:solidFill>
                  <a:srgbClr val="E6EDF3"/>
                </a:solidFill>
                <a:latin typeface="Inconsolata"/>
              </a:rPr>
              <a:t> </a:t>
            </a:r>
            <a:r>
              <a:rPr sz="709" i="0">
                <a:solidFill>
                  <a:srgbClr val="82B1FF"/>
                </a:solidFill>
                <a:latin typeface="Inconsolata"/>
              </a:rPr>
              <a:t>buy</a:t>
            </a:r>
            <a:r>
              <a:rPr sz="709" i="0">
                <a:solidFill>
                  <a:srgbClr val="E6EDF3"/>
                </a:solidFill>
                <a:latin typeface="Inconsolata"/>
              </a:rPr>
              <a:t>(product_id: </a:t>
            </a:r>
            <a:r>
              <a:rPr sz="709" i="0">
                <a:solidFill>
                  <a:srgbClr val="C3A6FF"/>
                </a:solidFill>
                <a:latin typeface="Inconsolata"/>
              </a:rPr>
              <a:t>int</a:t>
            </a:r>
            <a:r>
              <a:rPr sz="709" i="0">
                <a:solidFill>
                  <a:srgbClr val="E6EDF3"/>
                </a:solidFill>
                <a:latin typeface="Inconsolata"/>
              </a:rPr>
              <a:t>, qty: </a:t>
            </a:r>
            <a:r>
              <a:rPr sz="709" i="0">
                <a:solidFill>
                  <a:srgbClr val="C3A6FF"/>
                </a:solidFill>
                <a:latin typeface="Inconsolata"/>
              </a:rPr>
              <a:t>int</a:t>
            </a:r>
            <a:r>
              <a:rPr sz="709" i="0">
                <a:solidFill>
                  <a:srgbClr val="E6EDF3"/>
                </a:solidFill>
                <a:latin typeface="Inconsolata"/>
              </a:rPr>
              <a:t> = </a:t>
            </a:r>
            <a:r>
              <a:rPr sz="709" i="0">
                <a:solidFill>
                  <a:srgbClr val="F9C97A"/>
                </a:solidFill>
                <a:latin typeface="Inconsolata"/>
              </a:rPr>
              <a:t>1</a:t>
            </a:r>
            <a:r>
              <a:rPr sz="709" i="0">
                <a:solidFill>
                  <a:srgbClr val="E6EDF3"/>
                </a:solidFill>
                <a:latin typeface="Inconsolata"/>
              </a:rPr>
              <a:t>):</a:t>
            </a:r>
          </a:p>
          <a:p>
            <a:pPr>
              <a:lnSpc>
                <a:spcPct val="105686"/>
              </a:lnSpc>
              <a:spcAft>
                <a:spcPts val="0"/>
              </a:spcAft>
            </a:pPr>
            <a:r>
              <a:rPr sz="709" i="0">
                <a:solidFill>
                  <a:srgbClr val="5C6773"/>
                </a:solidFill>
                <a:latin typeface="Inconsolata"/>
              </a:rPr>
              <a:t>63  </a:t>
            </a:r>
            <a:r>
              <a:rPr sz="709" i="0">
                <a:solidFill>
                  <a:srgbClr val="E6EDF3"/>
                </a:solidFill>
                <a:latin typeface="Inconsolata"/>
              </a:rPr>
              <a:t>    </a:t>
            </a:r>
            <a:r>
              <a:rPr sz="709" i="0">
                <a:solidFill>
                  <a:srgbClr val="FF8E6E"/>
                </a:solidFill>
                <a:latin typeface="Inconsolata"/>
              </a:rPr>
              <a:t>if</a:t>
            </a:r>
            <a:r>
              <a:rPr sz="709" i="0">
                <a:solidFill>
                  <a:srgbClr val="E6EDF3"/>
                </a:solidFill>
                <a:latin typeface="Inconsolata"/>
              </a:rPr>
              <a:t> product_id == </a:t>
            </a:r>
            <a:r>
              <a:rPr sz="709" i="0">
                <a:solidFill>
                  <a:srgbClr val="F9C97A"/>
                </a:solidFill>
                <a:latin typeface="Inconsolata"/>
              </a:rPr>
              <a:t>3</a:t>
            </a:r>
            <a:r>
              <a:rPr sz="709" i="0">
                <a:solidFill>
                  <a:srgbClr val="E6EDF3"/>
                </a:solidFill>
                <a:latin typeface="Inconsolata"/>
              </a:rPr>
              <a:t>:          </a:t>
            </a:r>
            <a:r>
              <a:rPr sz="709" i="1">
                <a:solidFill>
                  <a:srgbClr val="8B98A8"/>
                </a:solidFill>
                <a:latin typeface="Inconsolata"/>
              </a:rPr>
              <a:t># anggap: koneksi database timeout</a:t>
            </a:r>
          </a:p>
          <a:p>
            <a:pPr>
              <a:lnSpc>
                <a:spcPct val="105686"/>
              </a:lnSpc>
              <a:spcAft>
                <a:spcPts val="0"/>
              </a:spcAft>
            </a:pPr>
            <a:r>
              <a:rPr sz="709" i="0">
                <a:solidFill>
                  <a:srgbClr val="5C6773"/>
                </a:solidFill>
                <a:latin typeface="Inconsolata"/>
              </a:rPr>
              <a:t>64  </a:t>
            </a:r>
            <a:r>
              <a:rPr sz="709" i="0">
                <a:solidFill>
                  <a:srgbClr val="E6EDF3"/>
                </a:solidFill>
                <a:latin typeface="Inconsolata"/>
              </a:rPr>
              <a:t>        </a:t>
            </a:r>
            <a:r>
              <a:rPr sz="709" i="0">
                <a:solidFill>
                  <a:srgbClr val="FF8E6E"/>
                </a:solidFill>
                <a:latin typeface="Inconsolata"/>
              </a:rPr>
              <a:t>raise</a:t>
            </a:r>
            <a:r>
              <a:rPr sz="709" i="0">
                <a:solidFill>
                  <a:srgbClr val="E6EDF3"/>
                </a:solidFill>
                <a:latin typeface="Inconsolata"/>
              </a:rPr>
              <a:t> </a:t>
            </a:r>
            <a:r>
              <a:rPr sz="709" i="0">
                <a:solidFill>
                  <a:srgbClr val="7FDBCA"/>
                </a:solidFill>
                <a:latin typeface="Inconsolata"/>
              </a:rPr>
              <a:t>DatabaseUnavailable</a:t>
            </a:r>
            <a:r>
              <a:rPr sz="709" i="0">
                <a:solidFill>
                  <a:srgbClr val="E6EDF3"/>
                </a:solidFill>
                <a:latin typeface="Inconsolata"/>
              </a:rPr>
              <a:t>(</a:t>
            </a:r>
            <a:r>
              <a:rPr sz="709" i="0">
                <a:solidFill>
                  <a:srgbClr val="A5D6A7"/>
                </a:solidFill>
                <a:latin typeface="Inconsolata"/>
              </a:rPr>
              <a:t>"koneksi database timeout"</a:t>
            </a:r>
            <a:r>
              <a:rPr sz="709" i="0">
                <a:solidFill>
                  <a:srgbClr val="E6EDF3"/>
                </a:solidFill>
                <a:latin typeface="Inconsolata"/>
              </a:rPr>
              <a:t>)</a:t>
            </a:r>
          </a:p>
          <a:p>
            <a:pPr>
              <a:lnSpc>
                <a:spcPct val="105686"/>
              </a:lnSpc>
              <a:spcAft>
                <a:spcPts val="0"/>
              </a:spcAft>
            </a:pPr>
            <a:r>
              <a:rPr sz="709" i="0">
                <a:solidFill>
                  <a:srgbClr val="5C6773"/>
                </a:solidFill>
                <a:latin typeface="Inconsolata"/>
              </a:rPr>
              <a:t>65  </a:t>
            </a:r>
            <a:r>
              <a:rPr sz="709" i="0">
                <a:solidFill>
                  <a:srgbClr val="E6EDF3"/>
                </a:solidFill>
                <a:latin typeface="Inconsolata"/>
              </a:rPr>
              <a:t>    </a:t>
            </a:r>
            <a:r>
              <a:rPr sz="709" i="0">
                <a:solidFill>
                  <a:srgbClr val="FF8E6E"/>
                </a:solidFill>
                <a:latin typeface="Inconsolata"/>
              </a:rPr>
              <a:t>if</a:t>
            </a:r>
            <a:r>
              <a:rPr sz="709" i="0">
                <a:solidFill>
                  <a:srgbClr val="E6EDF3"/>
                </a:solidFill>
                <a:latin typeface="Inconsolata"/>
              </a:rPr>
              <a:t> product_id </a:t>
            </a:r>
            <a:r>
              <a:rPr sz="709" i="0">
                <a:solidFill>
                  <a:srgbClr val="FF8E6E"/>
                </a:solidFill>
                <a:latin typeface="Inconsolata"/>
              </a:rPr>
              <a:t>not</a:t>
            </a:r>
            <a:r>
              <a:rPr sz="709" i="0">
                <a:solidFill>
                  <a:srgbClr val="E6EDF3"/>
                </a:solidFill>
                <a:latin typeface="Inconsolata"/>
              </a:rPr>
              <a:t> </a:t>
            </a:r>
            <a:r>
              <a:rPr sz="709" i="0">
                <a:solidFill>
                  <a:srgbClr val="FF8E6E"/>
                </a:solidFill>
                <a:latin typeface="Inconsolata"/>
              </a:rPr>
              <a:t>in</a:t>
            </a:r>
            <a:r>
              <a:rPr sz="709" i="0">
                <a:solidFill>
                  <a:srgbClr val="E6EDF3"/>
                </a:solidFill>
                <a:latin typeface="Inconsolata"/>
              </a:rPr>
              <a:t> </a:t>
            </a:r>
            <a:r>
              <a:rPr sz="709" i="0">
                <a:solidFill>
                  <a:srgbClr val="7FDBCA"/>
                </a:solidFill>
                <a:latin typeface="Inconsolata"/>
              </a:rPr>
              <a:t>PRODUCTS</a:t>
            </a:r>
            <a:r>
              <a:rPr sz="709" i="0">
                <a:solidFill>
                  <a:srgbClr val="E6EDF3"/>
                </a:solidFill>
                <a:latin typeface="Inconsolata"/>
              </a:rPr>
              <a:t>:</a:t>
            </a:r>
          </a:p>
          <a:p>
            <a:pPr>
              <a:lnSpc>
                <a:spcPct val="105686"/>
              </a:lnSpc>
              <a:spcAft>
                <a:spcPts val="0"/>
              </a:spcAft>
            </a:pPr>
            <a:r>
              <a:rPr sz="709" i="0">
                <a:solidFill>
                  <a:srgbClr val="5C6773"/>
                </a:solidFill>
                <a:latin typeface="Inconsolata"/>
              </a:rPr>
              <a:t>66  </a:t>
            </a:r>
            <a:r>
              <a:rPr sz="709" i="0">
                <a:solidFill>
                  <a:srgbClr val="E6EDF3"/>
                </a:solidFill>
                <a:latin typeface="Inconsolata"/>
              </a:rPr>
              <a:t>        </a:t>
            </a:r>
            <a:r>
              <a:rPr sz="709" i="0">
                <a:solidFill>
                  <a:srgbClr val="FF8E6E"/>
                </a:solidFill>
                <a:latin typeface="Inconsolata"/>
              </a:rPr>
              <a:t>raise</a:t>
            </a:r>
            <a:r>
              <a:rPr sz="709" i="0">
                <a:solidFill>
                  <a:srgbClr val="E6EDF3"/>
                </a:solidFill>
                <a:latin typeface="Inconsolata"/>
              </a:rPr>
              <a:t> </a:t>
            </a:r>
            <a:r>
              <a:rPr sz="709" i="0">
                <a:solidFill>
                  <a:srgbClr val="7FDBCA"/>
                </a:solidFill>
                <a:latin typeface="Inconsolata"/>
              </a:rPr>
              <a:t>ProductNotFound</a:t>
            </a:r>
            <a:r>
              <a:rPr sz="709" i="0">
                <a:solidFill>
                  <a:srgbClr val="E6EDF3"/>
                </a:solidFill>
                <a:latin typeface="Inconsolata"/>
              </a:rPr>
              <a:t>(</a:t>
            </a:r>
            <a:r>
              <a:rPr sz="709" i="0">
                <a:solidFill>
                  <a:srgbClr val="A5D6A7"/>
                </a:solidFill>
                <a:latin typeface="Inconsolata"/>
              </a:rPr>
              <a:t>f"produk {product_id} tidak ada"</a:t>
            </a:r>
            <a:r>
              <a:rPr sz="709" i="0">
                <a:solidFill>
                  <a:srgbClr val="E6EDF3"/>
                </a:solidFill>
                <a:latin typeface="Inconsolata"/>
              </a:rPr>
              <a:t>)</a:t>
            </a:r>
          </a:p>
          <a:p>
            <a:pPr>
              <a:lnSpc>
                <a:spcPct val="105686"/>
              </a:lnSpc>
              <a:spcAft>
                <a:spcPts val="0"/>
              </a:spcAft>
            </a:pPr>
            <a:r>
              <a:rPr sz="709" i="0">
                <a:solidFill>
                  <a:srgbClr val="5C6773"/>
                </a:solidFill>
                <a:latin typeface="Inconsolata"/>
              </a:rPr>
              <a:t>67  </a:t>
            </a:r>
            <a:r>
              <a:rPr sz="709" i="0">
                <a:solidFill>
                  <a:srgbClr val="E6EDF3"/>
                </a:solidFill>
                <a:latin typeface="Inconsolata"/>
              </a:rPr>
              <a:t>    product = </a:t>
            </a:r>
            <a:r>
              <a:rPr sz="709" i="0">
                <a:solidFill>
                  <a:srgbClr val="7FDBCA"/>
                </a:solidFill>
                <a:latin typeface="Inconsolata"/>
              </a:rPr>
              <a:t>PRODUCTS</a:t>
            </a:r>
            <a:r>
              <a:rPr sz="709" i="0">
                <a:solidFill>
                  <a:srgbClr val="E6EDF3"/>
                </a:solidFill>
                <a:latin typeface="Inconsolata"/>
              </a:rPr>
              <a:t>[product_id]</a:t>
            </a:r>
          </a:p>
          <a:p>
            <a:pPr>
              <a:lnSpc>
                <a:spcPct val="105686"/>
              </a:lnSpc>
              <a:spcAft>
                <a:spcPts val="0"/>
              </a:spcAft>
            </a:pPr>
            <a:r>
              <a:rPr sz="709" i="0">
                <a:solidFill>
                  <a:srgbClr val="5C6773"/>
                </a:solidFill>
                <a:latin typeface="Inconsolata"/>
              </a:rPr>
              <a:t>68  </a:t>
            </a:r>
            <a:r>
              <a:rPr sz="709" i="0">
                <a:solidFill>
                  <a:srgbClr val="E6EDF3"/>
                </a:solidFill>
                <a:latin typeface="Inconsolata"/>
              </a:rPr>
              <a:t>    </a:t>
            </a:r>
            <a:r>
              <a:rPr sz="709" i="0">
                <a:solidFill>
                  <a:srgbClr val="FF8E6E"/>
                </a:solidFill>
                <a:latin typeface="Inconsolata"/>
              </a:rPr>
              <a:t>if</a:t>
            </a:r>
            <a:r>
              <a:rPr sz="709" i="0">
                <a:solidFill>
                  <a:srgbClr val="E6EDF3"/>
                </a:solidFill>
                <a:latin typeface="Inconsolata"/>
              </a:rPr>
              <a:t> qty &gt; product[</a:t>
            </a:r>
            <a:r>
              <a:rPr sz="709" i="0">
                <a:solidFill>
                  <a:srgbClr val="A5D6A7"/>
                </a:solidFill>
                <a:latin typeface="Inconsolata"/>
              </a:rPr>
              <a:t>"stock"</a:t>
            </a:r>
            <a:r>
              <a:rPr sz="709" i="0">
                <a:solidFill>
                  <a:srgbClr val="E6EDF3"/>
                </a:solidFill>
                <a:latin typeface="Inconsolata"/>
              </a:rPr>
              <a:t>]:</a:t>
            </a:r>
          </a:p>
          <a:p>
            <a:pPr>
              <a:lnSpc>
                <a:spcPct val="105686"/>
              </a:lnSpc>
              <a:spcAft>
                <a:spcPts val="0"/>
              </a:spcAft>
            </a:pPr>
            <a:r>
              <a:rPr sz="709" i="0">
                <a:solidFill>
                  <a:srgbClr val="5C6773"/>
                </a:solidFill>
                <a:latin typeface="Inconsolata"/>
              </a:rPr>
              <a:t>69  </a:t>
            </a:r>
            <a:r>
              <a:rPr sz="709" i="0">
                <a:solidFill>
                  <a:srgbClr val="E6EDF3"/>
                </a:solidFill>
                <a:latin typeface="Inconsolata"/>
              </a:rPr>
              <a:t>        </a:t>
            </a:r>
            <a:r>
              <a:rPr sz="709" i="0">
                <a:solidFill>
                  <a:srgbClr val="FF8E6E"/>
                </a:solidFill>
                <a:latin typeface="Inconsolata"/>
              </a:rPr>
              <a:t>raise</a:t>
            </a:r>
            <a:r>
              <a:rPr sz="709" i="0">
                <a:solidFill>
                  <a:srgbClr val="E6EDF3"/>
                </a:solidFill>
                <a:latin typeface="Inconsolata"/>
              </a:rPr>
              <a:t> </a:t>
            </a:r>
            <a:r>
              <a:rPr sz="709" i="0">
                <a:solidFill>
                  <a:srgbClr val="7FDBCA"/>
                </a:solidFill>
                <a:latin typeface="Inconsolata"/>
              </a:rPr>
              <a:t>OutOfStock</a:t>
            </a:r>
            <a:r>
              <a:rPr sz="709" i="0">
                <a:solidFill>
                  <a:srgbClr val="E6EDF3"/>
                </a:solidFill>
                <a:latin typeface="Inconsolata"/>
              </a:rPr>
              <a:t>(</a:t>
            </a:r>
            <a:r>
              <a:rPr sz="709" i="0">
                <a:solidFill>
                  <a:srgbClr val="A5D6A7"/>
                </a:solidFill>
                <a:latin typeface="Inconsolata"/>
              </a:rPr>
              <a:t>f"stok produk {product_id} kurang"</a:t>
            </a:r>
            <a:r>
              <a:rPr sz="709" i="0">
                <a:solidFill>
                  <a:srgbClr val="E6EDF3"/>
                </a:solidFill>
                <a:latin typeface="Inconsolata"/>
              </a:rPr>
              <a:t>)</a:t>
            </a:r>
          </a:p>
          <a:p>
            <a:pPr>
              <a:lnSpc>
                <a:spcPct val="105686"/>
              </a:lnSpc>
              <a:spcAft>
                <a:spcPts val="0"/>
              </a:spcAft>
            </a:pPr>
            <a:r>
              <a:rPr sz="709" i="0">
                <a:solidFill>
                  <a:srgbClr val="5C6773"/>
                </a:solidFill>
                <a:latin typeface="Inconsolata"/>
              </a:rPr>
              <a:t>70  </a:t>
            </a:r>
            <a:r>
              <a:rPr sz="709" i="0">
                <a:solidFill>
                  <a:srgbClr val="E6EDF3"/>
                </a:solidFill>
                <a:latin typeface="Inconsolata"/>
              </a:rPr>
              <a:t>    </a:t>
            </a:r>
            <a:r>
              <a:rPr sz="709" i="0">
                <a:solidFill>
                  <a:srgbClr val="FF8E6E"/>
                </a:solidFill>
                <a:latin typeface="Inconsolata"/>
              </a:rPr>
              <a:t>return</a:t>
            </a:r>
            <a:r>
              <a:rPr sz="709" i="0">
                <a:solidFill>
                  <a:srgbClr val="E6EDF3"/>
                </a:solidFill>
                <a:latin typeface="Inconsolata"/>
              </a:rPr>
              <a:t> {</a:t>
            </a:r>
            <a:r>
              <a:rPr sz="709" i="0">
                <a:solidFill>
                  <a:srgbClr val="A5D6A7"/>
                </a:solidFill>
                <a:latin typeface="Inconsolata"/>
              </a:rPr>
              <a:t>"total"</a:t>
            </a:r>
            <a:r>
              <a:rPr sz="709" i="0">
                <a:solidFill>
                  <a:srgbClr val="E6EDF3"/>
                </a:solidFill>
                <a:latin typeface="Inconsolata"/>
              </a:rPr>
              <a:t>: product[</a:t>
            </a:r>
            <a:r>
              <a:rPr sz="709" i="0">
                <a:solidFill>
                  <a:srgbClr val="A5D6A7"/>
                </a:solidFill>
                <a:latin typeface="Inconsolata"/>
              </a:rPr>
              <a:t>"price"</a:t>
            </a:r>
            <a:r>
              <a:rPr sz="709" i="0">
                <a:solidFill>
                  <a:srgbClr val="E6EDF3"/>
                </a:solidFill>
                <a:latin typeface="Inconsolata"/>
              </a:rPr>
              <a:t>] * qty}</a:t>
            </a:r>
          </a:p>
          <a:p>
            <a:pPr>
              <a:lnSpc>
                <a:spcPct val="105686"/>
              </a:lnSpc>
              <a:spcAft>
                <a:spcPts val="0"/>
              </a:spcAft>
            </a:pPr>
            <a:r>
              <a:rPr sz="709" i="0">
                <a:solidFill>
                  <a:srgbClr val="5C6773"/>
                </a:solidFill>
                <a:latin typeface="Inconsolata"/>
              </a:rPr>
              <a:t>71  </a:t>
            </a:r>
            <a:r>
              <a:rPr sz="709" i="0">
                <a:solidFill>
                  <a:srgbClr val="E6EDF3"/>
                </a:solidFill>
                <a:latin typeface="Inconsolata"/>
              </a:rPr>
              <a:t> </a:t>
            </a:r>
          </a:p>
          <a:p>
            <a:pPr>
              <a:lnSpc>
                <a:spcPct val="105686"/>
              </a:lnSpc>
              <a:spcAft>
                <a:spcPts val="0"/>
              </a:spcAft>
            </a:pPr>
            <a:r>
              <a:rPr sz="709" i="0">
                <a:solidFill>
                  <a:srgbClr val="5C6773"/>
                </a:solidFill>
                <a:latin typeface="Inconsolata"/>
              </a:rPr>
              <a:t>72  </a:t>
            </a:r>
            <a:r>
              <a:rPr sz="709" i="0">
                <a:solidFill>
                  <a:srgbClr val="E6EDF3"/>
                </a:solidFill>
                <a:latin typeface="Inconsolata"/>
              </a:rPr>
              <a:t> </a:t>
            </a:r>
          </a:p>
          <a:p>
            <a:pPr>
              <a:lnSpc>
                <a:spcPct val="105686"/>
              </a:lnSpc>
              <a:spcAft>
                <a:spcPts val="0"/>
              </a:spcAft>
            </a:pPr>
            <a:r>
              <a:rPr sz="709" i="0">
                <a:solidFill>
                  <a:srgbClr val="5C6773"/>
                </a:solidFill>
                <a:latin typeface="Inconsolata"/>
              </a:rPr>
              <a:t>73  </a:t>
            </a:r>
            <a:r>
              <a:rPr sz="709" i="0">
                <a:solidFill>
                  <a:srgbClr val="F9C97A"/>
                </a:solidFill>
                <a:latin typeface="Inconsolata"/>
              </a:rPr>
              <a:t>@app.exception_handler</a:t>
            </a:r>
            <a:r>
              <a:rPr sz="709" i="0">
                <a:solidFill>
                  <a:srgbClr val="E6EDF3"/>
                </a:solidFill>
                <a:latin typeface="Inconsolata"/>
              </a:rPr>
              <a:t>(</a:t>
            </a:r>
            <a:r>
              <a:rPr sz="709" i="0">
                <a:solidFill>
                  <a:srgbClr val="7FDBCA"/>
                </a:solidFill>
                <a:latin typeface="Inconsolata"/>
              </a:rPr>
              <a:t>ClientError</a:t>
            </a:r>
            <a:r>
              <a:rPr sz="709" i="0">
                <a:solidFill>
                  <a:srgbClr val="E6EDF3"/>
                </a:solidFill>
                <a:latin typeface="Inconsolata"/>
              </a:rPr>
              <a:t>)</a:t>
            </a:r>
          </a:p>
          <a:p>
            <a:pPr>
              <a:lnSpc>
                <a:spcPct val="105686"/>
              </a:lnSpc>
              <a:spcAft>
                <a:spcPts val="0"/>
              </a:spcAft>
            </a:pPr>
            <a:r>
              <a:rPr sz="709" i="0">
                <a:solidFill>
                  <a:srgbClr val="5C6773"/>
                </a:solidFill>
                <a:latin typeface="Inconsolata"/>
              </a:rPr>
              <a:t>74  </a:t>
            </a:r>
            <a:r>
              <a:rPr sz="709" i="0">
                <a:solidFill>
                  <a:srgbClr val="FF8E6E"/>
                </a:solidFill>
                <a:latin typeface="Inconsolata"/>
              </a:rPr>
              <a:t>async</a:t>
            </a:r>
            <a:r>
              <a:rPr sz="709" i="0">
                <a:solidFill>
                  <a:srgbClr val="E6EDF3"/>
                </a:solidFill>
                <a:latin typeface="Inconsolata"/>
              </a:rPr>
              <a:t> </a:t>
            </a:r>
            <a:r>
              <a:rPr sz="709" i="0">
                <a:solidFill>
                  <a:srgbClr val="FF8E6E"/>
                </a:solidFill>
                <a:latin typeface="Inconsolata"/>
              </a:rPr>
              <a:t>def</a:t>
            </a:r>
            <a:r>
              <a:rPr sz="709" i="0">
                <a:solidFill>
                  <a:srgbClr val="E6EDF3"/>
                </a:solidFill>
                <a:latin typeface="Inconsolata"/>
              </a:rPr>
              <a:t> </a:t>
            </a:r>
            <a:r>
              <a:rPr sz="709" i="0">
                <a:solidFill>
                  <a:srgbClr val="82B1FF"/>
                </a:solidFill>
                <a:latin typeface="Inconsolata"/>
              </a:rPr>
              <a:t>handle_client_error</a:t>
            </a:r>
            <a:r>
              <a:rPr sz="709" i="0">
                <a:solidFill>
                  <a:srgbClr val="E6EDF3"/>
                </a:solidFill>
                <a:latin typeface="Inconsolata"/>
              </a:rPr>
              <a:t>(request: </a:t>
            </a:r>
            <a:r>
              <a:rPr sz="709" i="0">
                <a:solidFill>
                  <a:srgbClr val="7FDBCA"/>
                </a:solidFill>
                <a:latin typeface="Inconsolata"/>
              </a:rPr>
              <a:t>Request</a:t>
            </a:r>
            <a:r>
              <a:rPr sz="709" i="0">
                <a:solidFill>
                  <a:srgbClr val="E6EDF3"/>
                </a:solidFill>
                <a:latin typeface="Inconsolata"/>
              </a:rPr>
              <a:t>, exc: </a:t>
            </a:r>
            <a:r>
              <a:rPr sz="709" i="0">
                <a:solidFill>
                  <a:srgbClr val="7FDBCA"/>
                </a:solidFill>
                <a:latin typeface="Inconsolata"/>
              </a:rPr>
              <a:t>ClientError</a:t>
            </a:r>
            <a:r>
              <a:rPr sz="709" i="0">
                <a:solidFill>
                  <a:srgbClr val="E6EDF3"/>
                </a:solidFill>
                <a:latin typeface="Inconsolata"/>
              </a:rPr>
              <a:t>):</a:t>
            </a:r>
          </a:p>
          <a:p>
            <a:pPr>
              <a:lnSpc>
                <a:spcPct val="105686"/>
              </a:lnSpc>
              <a:spcAft>
                <a:spcPts val="0"/>
              </a:spcAft>
            </a:pPr>
            <a:r>
              <a:rPr sz="709" i="0">
                <a:solidFill>
                  <a:srgbClr val="5C6773"/>
                </a:solidFill>
                <a:latin typeface="Inconsolata"/>
              </a:rPr>
              <a:t>75  </a:t>
            </a:r>
            <a:r>
              <a:rPr sz="709" i="0">
                <a:solidFill>
                  <a:srgbClr val="E6EDF3"/>
                </a:solidFill>
                <a:latin typeface="Inconsolata"/>
              </a:rPr>
              <a:t>    logger.warning(</a:t>
            </a:r>
            <a:r>
              <a:rPr sz="709" i="0">
                <a:solidFill>
                  <a:srgbClr val="A5D6A7"/>
                </a:solidFill>
                <a:latin typeface="Inconsolata"/>
              </a:rPr>
              <a:t>"request ditolak: %s"</a:t>
            </a:r>
            <a:r>
              <a:rPr sz="709" i="0">
                <a:solidFill>
                  <a:srgbClr val="E6EDF3"/>
                </a:solidFill>
                <a:latin typeface="Inconsolata"/>
              </a:rPr>
              <a:t>, exc,</a:t>
            </a:r>
          </a:p>
          <a:p>
            <a:pPr>
              <a:lnSpc>
                <a:spcPct val="105686"/>
              </a:lnSpc>
              <a:spcAft>
                <a:spcPts val="0"/>
              </a:spcAft>
            </a:pPr>
            <a:r>
              <a:rPr sz="709" i="0">
                <a:solidFill>
                  <a:srgbClr val="5C6773"/>
                </a:solidFill>
                <a:latin typeface="Inconsolata"/>
              </a:rPr>
              <a:t>76  </a:t>
            </a:r>
            <a:r>
              <a:rPr sz="709" i="0">
                <a:solidFill>
                  <a:srgbClr val="E6EDF3"/>
                </a:solidFill>
                <a:latin typeface="Inconsolata"/>
              </a:rPr>
              <a:t>                   extra={</a:t>
            </a:r>
            <a:r>
              <a:rPr sz="709" i="0">
                <a:solidFill>
                  <a:srgbClr val="A5D6A7"/>
                </a:solidFill>
                <a:latin typeface="Inconsolata"/>
              </a:rPr>
              <a:t>"error_type"</a:t>
            </a:r>
            <a:r>
              <a:rPr sz="709" i="0">
                <a:solidFill>
                  <a:srgbClr val="E6EDF3"/>
                </a:solidFill>
                <a:latin typeface="Inconsolata"/>
              </a:rPr>
              <a:t>: </a:t>
            </a:r>
            <a:r>
              <a:rPr sz="709" i="0">
                <a:solidFill>
                  <a:srgbClr val="A5D6A7"/>
                </a:solidFill>
                <a:latin typeface="Inconsolata"/>
              </a:rPr>
              <a:t>"client"</a:t>
            </a:r>
            <a:r>
              <a:rPr sz="709" i="0">
                <a:solidFill>
                  <a:srgbClr val="E6EDF3"/>
                </a:solidFill>
                <a:latin typeface="Inconsolata"/>
              </a:rPr>
              <a:t>})</a:t>
            </a:r>
          </a:p>
          <a:p>
            <a:pPr>
              <a:lnSpc>
                <a:spcPct val="105686"/>
              </a:lnSpc>
              <a:spcAft>
                <a:spcPts val="0"/>
              </a:spcAft>
            </a:pPr>
            <a:r>
              <a:rPr sz="709" i="0">
                <a:solidFill>
                  <a:srgbClr val="5C6773"/>
                </a:solidFill>
                <a:latin typeface="Inconsolata"/>
              </a:rPr>
              <a:t>77  </a:t>
            </a:r>
            <a:r>
              <a:rPr sz="709" i="0">
                <a:solidFill>
                  <a:srgbClr val="E6EDF3"/>
                </a:solidFill>
                <a:latin typeface="Inconsolata"/>
              </a:rPr>
              <a:t>    </a:t>
            </a:r>
            <a:r>
              <a:rPr sz="709" i="0">
                <a:solidFill>
                  <a:srgbClr val="FF8E6E"/>
                </a:solidFill>
                <a:latin typeface="Inconsolata"/>
              </a:rPr>
              <a:t>return</a:t>
            </a:r>
            <a:r>
              <a:rPr sz="709" i="0">
                <a:solidFill>
                  <a:srgbClr val="E6EDF3"/>
                </a:solidFill>
                <a:latin typeface="Inconsolata"/>
              </a:rPr>
              <a:t> </a:t>
            </a:r>
            <a:r>
              <a:rPr sz="709" i="0">
                <a:solidFill>
                  <a:srgbClr val="7FDBCA"/>
                </a:solidFill>
                <a:latin typeface="Inconsolata"/>
              </a:rPr>
              <a:t>JSONResponse</a:t>
            </a:r>
            <a:r>
              <a:rPr sz="709" i="0">
                <a:solidFill>
                  <a:srgbClr val="E6EDF3"/>
                </a:solidFill>
                <a:latin typeface="Inconsolata"/>
              </a:rPr>
              <a:t>(status_code=exc.status_code,</a:t>
            </a:r>
          </a:p>
          <a:p>
            <a:pPr>
              <a:lnSpc>
                <a:spcPct val="105686"/>
              </a:lnSpc>
              <a:spcAft>
                <a:spcPts val="0"/>
              </a:spcAft>
            </a:pPr>
            <a:r>
              <a:rPr sz="709" i="0">
                <a:solidFill>
                  <a:srgbClr val="5C6773"/>
                </a:solidFill>
                <a:latin typeface="Inconsolata"/>
              </a:rPr>
              <a:t>78  </a:t>
            </a:r>
            <a:r>
              <a:rPr sz="709" i="0">
                <a:solidFill>
                  <a:srgbClr val="E6EDF3"/>
                </a:solidFill>
                <a:latin typeface="Inconsolata"/>
              </a:rPr>
              <a:t>                        content={</a:t>
            </a:r>
            <a:r>
              <a:rPr sz="709" i="0">
                <a:solidFill>
                  <a:srgbClr val="A5D6A7"/>
                </a:solidFill>
                <a:latin typeface="Inconsolata"/>
              </a:rPr>
              <a:t>"error"</a:t>
            </a:r>
            <a:r>
              <a:rPr sz="709" i="0">
                <a:solidFill>
                  <a:srgbClr val="E6EDF3"/>
                </a:solidFill>
                <a:latin typeface="Inconsolata"/>
              </a:rPr>
              <a:t>: </a:t>
            </a:r>
            <a:r>
              <a:rPr sz="709" i="0">
                <a:solidFill>
                  <a:srgbClr val="C3A6FF"/>
                </a:solidFill>
                <a:latin typeface="Inconsolata"/>
              </a:rPr>
              <a:t>str</a:t>
            </a:r>
            <a:r>
              <a:rPr sz="709" i="0">
                <a:solidFill>
                  <a:srgbClr val="E6EDF3"/>
                </a:solidFill>
                <a:latin typeface="Inconsolata"/>
              </a:rPr>
              <a:t>(exc)})</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03-error-classification/after.py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5686"/>
              </a:lnSpc>
              <a:spcAft>
                <a:spcPts val="0"/>
              </a:spcAft>
            </a:pPr>
            <a:r>
              <a:rPr sz="709" i="0">
                <a:solidFill>
                  <a:srgbClr val="5C6773"/>
                </a:solidFill>
                <a:latin typeface="Inconsolata"/>
              </a:rPr>
              <a:t> 81  </a:t>
            </a:r>
            <a:r>
              <a:rPr sz="709" i="0">
                <a:solidFill>
                  <a:srgbClr val="F9C97A"/>
                </a:solidFill>
                <a:latin typeface="Inconsolata"/>
              </a:rPr>
              <a:t>@app.exception_handler</a:t>
            </a:r>
            <a:r>
              <a:rPr sz="709" i="0">
                <a:solidFill>
                  <a:srgbClr val="E6EDF3"/>
                </a:solidFill>
                <a:latin typeface="Inconsolata"/>
              </a:rPr>
              <a:t>(</a:t>
            </a:r>
            <a:r>
              <a:rPr sz="709" i="0">
                <a:solidFill>
                  <a:srgbClr val="7FDBCA"/>
                </a:solidFill>
                <a:latin typeface="Inconsolata"/>
              </a:rPr>
              <a:t>DependencyError</a:t>
            </a:r>
            <a:r>
              <a:rPr sz="709" i="0">
                <a:solidFill>
                  <a:srgbClr val="E6EDF3"/>
                </a:solidFill>
                <a:latin typeface="Inconsolata"/>
              </a:rPr>
              <a:t>)</a:t>
            </a:r>
          </a:p>
          <a:p>
            <a:pPr>
              <a:lnSpc>
                <a:spcPct val="105686"/>
              </a:lnSpc>
              <a:spcAft>
                <a:spcPts val="0"/>
              </a:spcAft>
            </a:pPr>
            <a:r>
              <a:rPr sz="709" i="0">
                <a:solidFill>
                  <a:srgbClr val="5C6773"/>
                </a:solidFill>
                <a:latin typeface="Inconsolata"/>
              </a:rPr>
              <a:t> 82  </a:t>
            </a:r>
            <a:r>
              <a:rPr sz="709" i="0">
                <a:solidFill>
                  <a:srgbClr val="FF8E6E"/>
                </a:solidFill>
                <a:latin typeface="Inconsolata"/>
              </a:rPr>
              <a:t>async</a:t>
            </a:r>
            <a:r>
              <a:rPr sz="709" i="0">
                <a:solidFill>
                  <a:srgbClr val="E6EDF3"/>
                </a:solidFill>
                <a:latin typeface="Inconsolata"/>
              </a:rPr>
              <a:t> </a:t>
            </a:r>
            <a:r>
              <a:rPr sz="709" i="0">
                <a:solidFill>
                  <a:srgbClr val="FF8E6E"/>
                </a:solidFill>
                <a:latin typeface="Inconsolata"/>
              </a:rPr>
              <a:t>def</a:t>
            </a:r>
            <a:r>
              <a:rPr sz="709" i="0">
                <a:solidFill>
                  <a:srgbClr val="E6EDF3"/>
                </a:solidFill>
                <a:latin typeface="Inconsolata"/>
              </a:rPr>
              <a:t> </a:t>
            </a:r>
            <a:r>
              <a:rPr sz="709" i="0">
                <a:solidFill>
                  <a:srgbClr val="82B1FF"/>
                </a:solidFill>
                <a:latin typeface="Inconsolata"/>
              </a:rPr>
              <a:t>handle_dependency_error</a:t>
            </a:r>
            <a:r>
              <a:rPr sz="709" i="0">
                <a:solidFill>
                  <a:srgbClr val="E6EDF3"/>
                </a:solidFill>
                <a:latin typeface="Inconsolata"/>
              </a:rPr>
              <a:t>(request: </a:t>
            </a:r>
            <a:r>
              <a:rPr sz="709" i="0">
                <a:solidFill>
                  <a:srgbClr val="7FDBCA"/>
                </a:solidFill>
                <a:latin typeface="Inconsolata"/>
              </a:rPr>
              <a:t>Request</a:t>
            </a:r>
            <a:r>
              <a:rPr sz="709" i="0">
                <a:solidFill>
                  <a:srgbClr val="E6EDF3"/>
                </a:solidFill>
                <a:latin typeface="Inconsolata"/>
              </a:rPr>
              <a:t>,</a:t>
            </a:r>
          </a:p>
          <a:p>
            <a:pPr>
              <a:lnSpc>
                <a:spcPct val="105686"/>
              </a:lnSpc>
              <a:spcAft>
                <a:spcPts val="0"/>
              </a:spcAft>
            </a:pPr>
            <a:r>
              <a:rPr sz="709" i="0">
                <a:solidFill>
                  <a:srgbClr val="5C6773"/>
                </a:solidFill>
                <a:latin typeface="Inconsolata"/>
              </a:rPr>
              <a:t> 83  </a:t>
            </a:r>
            <a:r>
              <a:rPr sz="709" i="0">
                <a:solidFill>
                  <a:srgbClr val="E6EDF3"/>
                </a:solidFill>
                <a:latin typeface="Inconsolata"/>
              </a:rPr>
              <a:t>                                  exc: </a:t>
            </a:r>
            <a:r>
              <a:rPr sz="709" i="0">
                <a:solidFill>
                  <a:srgbClr val="7FDBCA"/>
                </a:solidFill>
                <a:latin typeface="Inconsolata"/>
              </a:rPr>
              <a:t>DependencyError</a:t>
            </a:r>
            <a:r>
              <a:rPr sz="709" i="0">
                <a:solidFill>
                  <a:srgbClr val="E6EDF3"/>
                </a:solidFill>
                <a:latin typeface="Inconsolata"/>
              </a:rPr>
              <a:t>):</a:t>
            </a:r>
          </a:p>
          <a:p>
            <a:pPr>
              <a:lnSpc>
                <a:spcPct val="105686"/>
              </a:lnSpc>
              <a:spcAft>
                <a:spcPts val="0"/>
              </a:spcAft>
            </a:pPr>
            <a:r>
              <a:rPr sz="709" i="0">
                <a:solidFill>
                  <a:srgbClr val="5C6773"/>
                </a:solidFill>
                <a:latin typeface="Inconsolata"/>
              </a:rPr>
              <a:t> 84  </a:t>
            </a:r>
            <a:r>
              <a:rPr sz="709" i="0">
                <a:solidFill>
                  <a:srgbClr val="E6EDF3"/>
                </a:solidFill>
                <a:latin typeface="Inconsolata"/>
              </a:rPr>
              <a:t>    logger.error(</a:t>
            </a:r>
            <a:r>
              <a:rPr sz="709" i="0">
                <a:solidFill>
                  <a:srgbClr val="A5D6A7"/>
                </a:solidFill>
                <a:latin typeface="Inconsolata"/>
              </a:rPr>
              <a:t>"dependency gangguan: %s"</a:t>
            </a:r>
            <a:r>
              <a:rPr sz="709" i="0">
                <a:solidFill>
                  <a:srgbClr val="E6EDF3"/>
                </a:solidFill>
                <a:latin typeface="Inconsolata"/>
              </a:rPr>
              <a:t>, exc,</a:t>
            </a:r>
          </a:p>
          <a:p>
            <a:pPr>
              <a:lnSpc>
                <a:spcPct val="105686"/>
              </a:lnSpc>
              <a:spcAft>
                <a:spcPts val="0"/>
              </a:spcAft>
            </a:pPr>
            <a:r>
              <a:rPr sz="709" i="0">
                <a:solidFill>
                  <a:srgbClr val="5C6773"/>
                </a:solidFill>
                <a:latin typeface="Inconsolata"/>
              </a:rPr>
              <a:t> 85  </a:t>
            </a:r>
            <a:r>
              <a:rPr sz="709" i="0">
                <a:solidFill>
                  <a:srgbClr val="E6EDF3"/>
                </a:solidFill>
                <a:latin typeface="Inconsolata"/>
              </a:rPr>
              <a:t>                 extra={</a:t>
            </a:r>
            <a:r>
              <a:rPr sz="709" i="0">
                <a:solidFill>
                  <a:srgbClr val="A5D6A7"/>
                </a:solidFill>
                <a:latin typeface="Inconsolata"/>
              </a:rPr>
              <a:t>"error_type"</a:t>
            </a:r>
            <a:r>
              <a:rPr sz="709" i="0">
                <a:solidFill>
                  <a:srgbClr val="E6EDF3"/>
                </a:solidFill>
                <a:latin typeface="Inconsolata"/>
              </a:rPr>
              <a:t>: </a:t>
            </a:r>
            <a:r>
              <a:rPr sz="709" i="0">
                <a:solidFill>
                  <a:srgbClr val="A5D6A7"/>
                </a:solidFill>
                <a:latin typeface="Inconsolata"/>
              </a:rPr>
              <a:t>"dependency"</a:t>
            </a:r>
            <a:r>
              <a:rPr sz="709" i="0">
                <a:solidFill>
                  <a:srgbClr val="E6EDF3"/>
                </a:solidFill>
                <a:latin typeface="Inconsolata"/>
              </a:rPr>
              <a:t>})</a:t>
            </a:r>
          </a:p>
          <a:p>
            <a:pPr>
              <a:lnSpc>
                <a:spcPct val="105686"/>
              </a:lnSpc>
              <a:spcAft>
                <a:spcPts val="0"/>
              </a:spcAft>
            </a:pPr>
            <a:r>
              <a:rPr sz="709" i="0">
                <a:solidFill>
                  <a:srgbClr val="5C6773"/>
                </a:solidFill>
                <a:latin typeface="Inconsolata"/>
              </a:rPr>
              <a:t> 86  </a:t>
            </a:r>
            <a:r>
              <a:rPr sz="709" i="0">
                <a:solidFill>
                  <a:srgbClr val="E6EDF3"/>
                </a:solidFill>
                <a:latin typeface="Inconsolata"/>
              </a:rPr>
              <a:t>    </a:t>
            </a:r>
            <a:r>
              <a:rPr sz="709" i="0">
                <a:solidFill>
                  <a:srgbClr val="FF8E6E"/>
                </a:solidFill>
                <a:latin typeface="Inconsolata"/>
              </a:rPr>
              <a:t>return</a:t>
            </a:r>
            <a:r>
              <a:rPr sz="709" i="0">
                <a:solidFill>
                  <a:srgbClr val="E6EDF3"/>
                </a:solidFill>
                <a:latin typeface="Inconsolata"/>
              </a:rPr>
              <a:t> </a:t>
            </a:r>
            <a:r>
              <a:rPr sz="709" i="0">
                <a:solidFill>
                  <a:srgbClr val="7FDBCA"/>
                </a:solidFill>
                <a:latin typeface="Inconsolata"/>
              </a:rPr>
              <a:t>JSONResponse</a:t>
            </a:r>
            <a:r>
              <a:rPr sz="709" i="0">
                <a:solidFill>
                  <a:srgbClr val="E6EDF3"/>
                </a:solidFill>
                <a:latin typeface="Inconsolata"/>
              </a:rPr>
              <a:t>(status_code=</a:t>
            </a:r>
            <a:r>
              <a:rPr sz="709" i="0">
                <a:solidFill>
                  <a:srgbClr val="F9C97A"/>
                </a:solidFill>
                <a:latin typeface="Inconsolata"/>
              </a:rPr>
              <a:t>503</a:t>
            </a:r>
            <a:r>
              <a:rPr sz="709" i="0">
                <a:solidFill>
                  <a:srgbClr val="E6EDF3"/>
                </a:solidFill>
                <a:latin typeface="Inconsolata"/>
              </a:rPr>
              <a:t>,</a:t>
            </a:r>
          </a:p>
          <a:p>
            <a:pPr>
              <a:lnSpc>
                <a:spcPct val="105686"/>
              </a:lnSpc>
              <a:spcAft>
                <a:spcPts val="0"/>
              </a:spcAft>
            </a:pPr>
            <a:r>
              <a:rPr sz="709" i="0">
                <a:solidFill>
                  <a:srgbClr val="5C6773"/>
                </a:solidFill>
                <a:latin typeface="Inconsolata"/>
              </a:rPr>
              <a:t> 87  </a:t>
            </a:r>
            <a:r>
              <a:rPr sz="709" i="0">
                <a:solidFill>
                  <a:srgbClr val="E6EDF3"/>
                </a:solidFill>
                <a:latin typeface="Inconsolata"/>
              </a:rPr>
              <a:t>                        content={</a:t>
            </a:r>
            <a:r>
              <a:rPr sz="709" i="0">
                <a:solidFill>
                  <a:srgbClr val="A5D6A7"/>
                </a:solidFill>
                <a:latin typeface="Inconsolata"/>
              </a:rPr>
              <a:t>"error"</a:t>
            </a:r>
            <a:r>
              <a:rPr sz="709" i="0">
                <a:solidFill>
                  <a:srgbClr val="E6EDF3"/>
                </a:solidFill>
                <a:latin typeface="Inconsolata"/>
              </a:rPr>
              <a:t>: </a:t>
            </a:r>
            <a:r>
              <a:rPr sz="709" i="0">
                <a:solidFill>
                  <a:srgbClr val="A5D6A7"/>
                </a:solidFill>
                <a:latin typeface="Inconsolata"/>
              </a:rPr>
              <a:t>"Coba lagi beberapa saat"</a:t>
            </a:r>
            <a:r>
              <a:rPr sz="709" i="0">
                <a:solidFill>
                  <a:srgbClr val="E6EDF3"/>
                </a:solidFill>
                <a:latin typeface="Inconsolata"/>
              </a:rPr>
              <a:t>})</a:t>
            </a:r>
          </a:p>
          <a:p>
            <a:pPr>
              <a:lnSpc>
                <a:spcPct val="105686"/>
              </a:lnSpc>
              <a:spcAft>
                <a:spcPts val="0"/>
              </a:spcAft>
            </a:pPr>
            <a:r>
              <a:rPr sz="709" i="0">
                <a:solidFill>
                  <a:srgbClr val="5C6773"/>
                </a:solidFill>
                <a:latin typeface="Inconsolata"/>
              </a:rPr>
              <a:t> 88  </a:t>
            </a:r>
            <a:r>
              <a:rPr sz="709" i="0">
                <a:solidFill>
                  <a:srgbClr val="E6EDF3"/>
                </a:solidFill>
                <a:latin typeface="Inconsolata"/>
              </a:rPr>
              <a:t> </a:t>
            </a:r>
          </a:p>
          <a:p>
            <a:pPr>
              <a:lnSpc>
                <a:spcPct val="105686"/>
              </a:lnSpc>
              <a:spcAft>
                <a:spcPts val="0"/>
              </a:spcAft>
            </a:pPr>
            <a:r>
              <a:rPr sz="709" i="0">
                <a:solidFill>
                  <a:srgbClr val="5C6773"/>
                </a:solidFill>
                <a:latin typeface="Inconsolata"/>
              </a:rPr>
              <a:t> 89  </a:t>
            </a:r>
            <a:r>
              <a:rPr sz="709" i="0">
                <a:solidFill>
                  <a:srgbClr val="E6EDF3"/>
                </a:solidFill>
                <a:latin typeface="Inconsolata"/>
              </a:rPr>
              <a:t> </a:t>
            </a:r>
          </a:p>
          <a:p>
            <a:pPr>
              <a:lnSpc>
                <a:spcPct val="105686"/>
              </a:lnSpc>
              <a:spcAft>
                <a:spcPts val="0"/>
              </a:spcAft>
            </a:pPr>
            <a:r>
              <a:rPr sz="709" i="0">
                <a:solidFill>
                  <a:srgbClr val="5C6773"/>
                </a:solidFill>
                <a:latin typeface="Inconsolata"/>
              </a:rPr>
              <a:t> 90  </a:t>
            </a:r>
            <a:r>
              <a:rPr sz="709" i="0">
                <a:solidFill>
                  <a:srgbClr val="F9C97A"/>
                </a:solidFill>
                <a:latin typeface="Inconsolata"/>
              </a:rPr>
              <a:t>@app.exception_handler</a:t>
            </a:r>
            <a:r>
              <a:rPr sz="709" i="0">
                <a:solidFill>
                  <a:srgbClr val="E6EDF3"/>
                </a:solidFill>
                <a:latin typeface="Inconsolata"/>
              </a:rPr>
              <a:t>(</a:t>
            </a:r>
            <a:r>
              <a:rPr sz="709" i="0">
                <a:solidFill>
                  <a:srgbClr val="7FDBCA"/>
                </a:solidFill>
                <a:latin typeface="Inconsolata"/>
              </a:rPr>
              <a:t>Exception</a:t>
            </a:r>
            <a:r>
              <a:rPr sz="709" i="0">
                <a:solidFill>
                  <a:srgbClr val="E6EDF3"/>
                </a:solidFill>
                <a:latin typeface="Inconsolata"/>
              </a:rPr>
              <a:t>)</a:t>
            </a:r>
          </a:p>
          <a:p>
            <a:pPr>
              <a:lnSpc>
                <a:spcPct val="105686"/>
              </a:lnSpc>
              <a:spcAft>
                <a:spcPts val="0"/>
              </a:spcAft>
            </a:pPr>
            <a:r>
              <a:rPr sz="709" i="0">
                <a:solidFill>
                  <a:srgbClr val="5C6773"/>
                </a:solidFill>
                <a:latin typeface="Inconsolata"/>
              </a:rPr>
              <a:t> 91  </a:t>
            </a:r>
            <a:r>
              <a:rPr sz="709" i="0">
                <a:solidFill>
                  <a:srgbClr val="FF8E6E"/>
                </a:solidFill>
                <a:latin typeface="Inconsolata"/>
              </a:rPr>
              <a:t>async</a:t>
            </a:r>
            <a:r>
              <a:rPr sz="709" i="0">
                <a:solidFill>
                  <a:srgbClr val="E6EDF3"/>
                </a:solidFill>
                <a:latin typeface="Inconsolata"/>
              </a:rPr>
              <a:t> </a:t>
            </a:r>
            <a:r>
              <a:rPr sz="709" i="0">
                <a:solidFill>
                  <a:srgbClr val="FF8E6E"/>
                </a:solidFill>
                <a:latin typeface="Inconsolata"/>
              </a:rPr>
              <a:t>def</a:t>
            </a:r>
            <a:r>
              <a:rPr sz="709" i="0">
                <a:solidFill>
                  <a:srgbClr val="E6EDF3"/>
                </a:solidFill>
                <a:latin typeface="Inconsolata"/>
              </a:rPr>
              <a:t> </a:t>
            </a:r>
            <a:r>
              <a:rPr sz="709" i="0">
                <a:solidFill>
                  <a:srgbClr val="82B1FF"/>
                </a:solidFill>
                <a:latin typeface="Inconsolata"/>
              </a:rPr>
              <a:t>handle_bug</a:t>
            </a:r>
            <a:r>
              <a:rPr sz="709" i="0">
                <a:solidFill>
                  <a:srgbClr val="E6EDF3"/>
                </a:solidFill>
                <a:latin typeface="Inconsolata"/>
              </a:rPr>
              <a:t>(request: </a:t>
            </a:r>
            <a:r>
              <a:rPr sz="709" i="0">
                <a:solidFill>
                  <a:srgbClr val="7FDBCA"/>
                </a:solidFill>
                <a:latin typeface="Inconsolata"/>
              </a:rPr>
              <a:t>Request</a:t>
            </a:r>
            <a:r>
              <a:rPr sz="709" i="0">
                <a:solidFill>
                  <a:srgbClr val="E6EDF3"/>
                </a:solidFill>
                <a:latin typeface="Inconsolata"/>
              </a:rPr>
              <a:t>, exc: </a:t>
            </a:r>
            <a:r>
              <a:rPr sz="709" i="0">
                <a:solidFill>
                  <a:srgbClr val="7FDBCA"/>
                </a:solidFill>
                <a:latin typeface="Inconsolata"/>
              </a:rPr>
              <a:t>Exception</a:t>
            </a:r>
            <a:r>
              <a:rPr sz="709" i="0">
                <a:solidFill>
                  <a:srgbClr val="E6EDF3"/>
                </a:solidFill>
                <a:latin typeface="Inconsolata"/>
              </a:rPr>
              <a:t>):</a:t>
            </a:r>
          </a:p>
          <a:p>
            <a:pPr>
              <a:lnSpc>
                <a:spcPct val="105686"/>
              </a:lnSpc>
              <a:spcAft>
                <a:spcPts val="0"/>
              </a:spcAft>
            </a:pPr>
            <a:r>
              <a:rPr sz="709" i="0">
                <a:solidFill>
                  <a:srgbClr val="5C6773"/>
                </a:solidFill>
                <a:latin typeface="Inconsolata"/>
              </a:rPr>
              <a:t> 92  </a:t>
            </a:r>
            <a:r>
              <a:rPr sz="709" i="0">
                <a:solidFill>
                  <a:srgbClr val="E6EDF3"/>
                </a:solidFill>
                <a:latin typeface="Inconsolata"/>
              </a:rPr>
              <a:t>    logger.error(</a:t>
            </a:r>
            <a:r>
              <a:rPr sz="709" i="0">
                <a:solidFill>
                  <a:srgbClr val="A5D6A7"/>
                </a:solidFill>
                <a:latin typeface="Inconsolata"/>
              </a:rPr>
              <a:t>"error tidak terduga"</a:t>
            </a:r>
            <a:r>
              <a:rPr sz="709" i="0">
                <a:solidFill>
                  <a:srgbClr val="E6EDF3"/>
                </a:solidFill>
                <a:latin typeface="Inconsolata"/>
              </a:rPr>
              <a:t>, exc_info=exc,</a:t>
            </a:r>
          </a:p>
          <a:p>
            <a:pPr>
              <a:lnSpc>
                <a:spcPct val="105686"/>
              </a:lnSpc>
              <a:spcAft>
                <a:spcPts val="0"/>
              </a:spcAft>
            </a:pPr>
            <a:r>
              <a:rPr sz="709" i="0">
                <a:solidFill>
                  <a:srgbClr val="5C6773"/>
                </a:solidFill>
                <a:latin typeface="Inconsolata"/>
              </a:rPr>
              <a:t> 93  </a:t>
            </a:r>
            <a:r>
              <a:rPr sz="709" i="0">
                <a:solidFill>
                  <a:srgbClr val="E6EDF3"/>
                </a:solidFill>
                <a:latin typeface="Inconsolata"/>
              </a:rPr>
              <a:t>                 extra={</a:t>
            </a:r>
            <a:r>
              <a:rPr sz="709" i="0">
                <a:solidFill>
                  <a:srgbClr val="A5D6A7"/>
                </a:solidFill>
                <a:latin typeface="Inconsolata"/>
              </a:rPr>
              <a:t>"error_type"</a:t>
            </a:r>
            <a:r>
              <a:rPr sz="709" i="0">
                <a:solidFill>
                  <a:srgbClr val="E6EDF3"/>
                </a:solidFill>
                <a:latin typeface="Inconsolata"/>
              </a:rPr>
              <a:t>: </a:t>
            </a:r>
            <a:r>
              <a:rPr sz="709" i="0">
                <a:solidFill>
                  <a:srgbClr val="A5D6A7"/>
                </a:solidFill>
                <a:latin typeface="Inconsolata"/>
              </a:rPr>
              <a:t>"bug"</a:t>
            </a:r>
            <a:r>
              <a:rPr sz="709" i="0">
                <a:solidFill>
                  <a:srgbClr val="E6EDF3"/>
                </a:solidFill>
                <a:latin typeface="Inconsolata"/>
              </a:rPr>
              <a:t>})</a:t>
            </a:r>
          </a:p>
          <a:p>
            <a:pPr>
              <a:lnSpc>
                <a:spcPct val="105686"/>
              </a:lnSpc>
              <a:spcAft>
                <a:spcPts val="0"/>
              </a:spcAft>
            </a:pPr>
            <a:r>
              <a:rPr sz="709" i="0">
                <a:solidFill>
                  <a:srgbClr val="5C6773"/>
                </a:solidFill>
                <a:latin typeface="Inconsolata"/>
              </a:rPr>
              <a:t> 94  </a:t>
            </a:r>
            <a:r>
              <a:rPr sz="709" i="0">
                <a:solidFill>
                  <a:srgbClr val="E6EDF3"/>
                </a:solidFill>
                <a:latin typeface="Inconsolata"/>
              </a:rPr>
              <a:t>    </a:t>
            </a:r>
            <a:r>
              <a:rPr sz="709" i="0">
                <a:solidFill>
                  <a:srgbClr val="FF8E6E"/>
                </a:solidFill>
                <a:latin typeface="Inconsolata"/>
              </a:rPr>
              <a:t>return</a:t>
            </a:r>
            <a:r>
              <a:rPr sz="709" i="0">
                <a:solidFill>
                  <a:srgbClr val="E6EDF3"/>
                </a:solidFill>
                <a:latin typeface="Inconsolata"/>
              </a:rPr>
              <a:t> </a:t>
            </a:r>
            <a:r>
              <a:rPr sz="709" i="0">
                <a:solidFill>
                  <a:srgbClr val="7FDBCA"/>
                </a:solidFill>
                <a:latin typeface="Inconsolata"/>
              </a:rPr>
              <a:t>JSONResponse</a:t>
            </a:r>
            <a:r>
              <a:rPr sz="709" i="0">
                <a:solidFill>
                  <a:srgbClr val="E6EDF3"/>
                </a:solidFill>
                <a:latin typeface="Inconsolata"/>
              </a:rPr>
              <a:t>(status_code=</a:t>
            </a:r>
            <a:r>
              <a:rPr sz="709" i="0">
                <a:solidFill>
                  <a:srgbClr val="F9C97A"/>
                </a:solidFill>
                <a:latin typeface="Inconsolata"/>
              </a:rPr>
              <a:t>500</a:t>
            </a:r>
            <a:r>
              <a:rPr sz="709" i="0">
                <a:solidFill>
                  <a:srgbClr val="E6EDF3"/>
                </a:solidFill>
                <a:latin typeface="Inconsolata"/>
              </a:rPr>
              <a:t>,</a:t>
            </a:r>
          </a:p>
          <a:p>
            <a:pPr>
              <a:lnSpc>
                <a:spcPct val="105686"/>
              </a:lnSpc>
              <a:spcAft>
                <a:spcPts val="0"/>
              </a:spcAft>
            </a:pPr>
            <a:r>
              <a:rPr sz="709" i="0">
                <a:solidFill>
                  <a:srgbClr val="5C6773"/>
                </a:solidFill>
                <a:latin typeface="Inconsolata"/>
              </a:rPr>
              <a:t> 95  </a:t>
            </a:r>
            <a:r>
              <a:rPr sz="709" i="0">
                <a:solidFill>
                  <a:srgbClr val="E6EDF3"/>
                </a:solidFill>
                <a:latin typeface="Inconsolata"/>
              </a:rPr>
              <a:t>                        content={</a:t>
            </a:r>
            <a:r>
              <a:rPr sz="709" i="0">
                <a:solidFill>
                  <a:srgbClr val="A5D6A7"/>
                </a:solidFill>
                <a:latin typeface="Inconsolata"/>
              </a:rPr>
              <a:t>"error"</a:t>
            </a:r>
            <a:r>
              <a:rPr sz="709" i="0">
                <a:solidFill>
                  <a:srgbClr val="E6EDF3"/>
                </a:solidFill>
                <a:latin typeface="Inconsolata"/>
              </a:rPr>
              <a:t>: </a:t>
            </a:r>
            <a:r>
              <a:rPr sz="709" i="0">
                <a:solidFill>
                  <a:srgbClr val="A5D6A7"/>
                </a:solidFill>
                <a:latin typeface="Inconsolata"/>
              </a:rPr>
              <a:t>"Internal Server Error"</a:t>
            </a:r>
            <a:r>
              <a:rPr sz="709" i="0">
                <a:solidFill>
                  <a:srgbClr val="E6EDF3"/>
                </a:solidFill>
                <a:latin typeface="Inconsolata"/>
              </a:rPr>
              <a:t>})</a:t>
            </a:r>
          </a:p>
          <a:p>
            <a:pPr>
              <a:lnSpc>
                <a:spcPct val="105686"/>
              </a:lnSpc>
              <a:spcAft>
                <a:spcPts val="0"/>
              </a:spcAft>
            </a:pPr>
            <a:r>
              <a:rPr sz="709" i="0">
                <a:solidFill>
                  <a:srgbClr val="5C6773"/>
                </a:solidFill>
                <a:latin typeface="Inconsolata"/>
              </a:rPr>
              <a:t> 96  </a:t>
            </a:r>
            <a:r>
              <a:rPr sz="709" i="0">
                <a:solidFill>
                  <a:srgbClr val="E6EDF3"/>
                </a:solidFill>
                <a:latin typeface="Inconsolata"/>
              </a:rPr>
              <a:t> </a:t>
            </a:r>
          </a:p>
          <a:p>
            <a:pPr>
              <a:lnSpc>
                <a:spcPct val="105686"/>
              </a:lnSpc>
              <a:spcAft>
                <a:spcPts val="0"/>
              </a:spcAft>
            </a:pPr>
            <a:r>
              <a:rPr sz="709" i="0">
                <a:solidFill>
                  <a:srgbClr val="5C6773"/>
                </a:solidFill>
                <a:latin typeface="Inconsolata"/>
              </a:rPr>
              <a:t> 97  </a:t>
            </a:r>
            <a:r>
              <a:rPr sz="709" i="0">
                <a:solidFill>
                  <a:srgbClr val="E6EDF3"/>
                </a:solidFill>
                <a:latin typeface="Inconsolata"/>
              </a:rPr>
              <a:t> </a:t>
            </a:r>
          </a:p>
          <a:p>
            <a:pPr>
              <a:lnSpc>
                <a:spcPct val="105686"/>
              </a:lnSpc>
              <a:spcAft>
                <a:spcPts val="0"/>
              </a:spcAft>
            </a:pPr>
            <a:r>
              <a:rPr sz="709" i="0">
                <a:solidFill>
                  <a:srgbClr val="5C6773"/>
                </a:solidFill>
                <a:latin typeface="Inconsolata"/>
              </a:rPr>
              <a:t> 98  </a:t>
            </a:r>
            <a:r>
              <a:rPr sz="709" i="0">
                <a:solidFill>
                  <a:srgbClr val="FF8E6E"/>
                </a:solidFill>
                <a:latin typeface="Inconsolata"/>
              </a:rPr>
              <a:t>if</a:t>
            </a:r>
            <a:r>
              <a:rPr sz="709" i="0">
                <a:solidFill>
                  <a:srgbClr val="E6EDF3"/>
                </a:solidFill>
                <a:latin typeface="Inconsolata"/>
              </a:rPr>
              <a:t> __name__ == </a:t>
            </a:r>
            <a:r>
              <a:rPr sz="709" i="0">
                <a:solidFill>
                  <a:srgbClr val="A5D6A7"/>
                </a:solidFill>
                <a:latin typeface="Inconsolata"/>
              </a:rPr>
              <a:t>"__main__"</a:t>
            </a:r>
            <a:r>
              <a:rPr sz="709" i="0">
                <a:solidFill>
                  <a:srgbClr val="E6EDF3"/>
                </a:solidFill>
                <a:latin typeface="Inconsolata"/>
              </a:rPr>
              <a:t>:</a:t>
            </a:r>
          </a:p>
          <a:p>
            <a:pPr>
              <a:lnSpc>
                <a:spcPct val="105686"/>
              </a:lnSpc>
              <a:spcAft>
                <a:spcPts val="0"/>
              </a:spcAft>
            </a:pPr>
            <a:r>
              <a:rPr sz="709" i="0">
                <a:solidFill>
                  <a:srgbClr val="5C6773"/>
                </a:solidFill>
                <a:latin typeface="Inconsolata"/>
              </a:rPr>
              <a:t> 99  </a:t>
            </a:r>
            <a:r>
              <a:rPr sz="709" i="0">
                <a:solidFill>
                  <a:srgbClr val="E6EDF3"/>
                </a:solidFill>
                <a:latin typeface="Inconsolata"/>
              </a:rPr>
              <a:t>    client = </a:t>
            </a:r>
            <a:r>
              <a:rPr sz="709" i="0">
                <a:solidFill>
                  <a:srgbClr val="7FDBCA"/>
                </a:solidFill>
                <a:latin typeface="Inconsolata"/>
              </a:rPr>
              <a:t>TestClient</a:t>
            </a:r>
            <a:r>
              <a:rPr sz="709" i="0">
                <a:solidFill>
                  <a:srgbClr val="E6EDF3"/>
                </a:solidFill>
                <a:latin typeface="Inconsolata"/>
              </a:rPr>
              <a:t>(app, raise_server_exceptions=</a:t>
            </a:r>
            <a:r>
              <a:rPr sz="709" i="0">
                <a:solidFill>
                  <a:srgbClr val="FF8E6E"/>
                </a:solidFill>
                <a:latin typeface="Inconsolata"/>
              </a:rPr>
              <a:t>False</a:t>
            </a:r>
            <a:r>
              <a:rPr sz="709" i="0">
                <a:solidFill>
                  <a:srgbClr val="E6EDF3"/>
                </a:solidFill>
                <a:latin typeface="Inconsolata"/>
              </a:rPr>
              <a:t>)</a:t>
            </a:r>
          </a:p>
          <a:p>
            <a:pPr>
              <a:lnSpc>
                <a:spcPct val="105686"/>
              </a:lnSpc>
              <a:spcAft>
                <a:spcPts val="0"/>
              </a:spcAft>
            </a:pPr>
            <a:r>
              <a:rPr sz="709" i="0">
                <a:solidFill>
                  <a:srgbClr val="5C6773"/>
                </a:solidFill>
                <a:latin typeface="Inconsolata"/>
              </a:rPr>
              <a:t>100  </a:t>
            </a:r>
            <a:r>
              <a:rPr sz="709" i="0">
                <a:solidFill>
                  <a:srgbClr val="E6EDF3"/>
                </a:solidFill>
                <a:latin typeface="Inconsolata"/>
              </a:rPr>
              <a:t>    </a:t>
            </a:r>
            <a:r>
              <a:rPr sz="709" i="0">
                <a:solidFill>
                  <a:srgbClr val="FF8E6E"/>
                </a:solidFill>
                <a:latin typeface="Inconsolata"/>
              </a:rPr>
              <a:t>for</a:t>
            </a:r>
            <a:r>
              <a:rPr sz="709" i="0">
                <a:solidFill>
                  <a:srgbClr val="E6EDF3"/>
                </a:solidFill>
                <a:latin typeface="Inconsolata"/>
              </a:rPr>
              <a:t> product_id, qty </a:t>
            </a:r>
            <a:r>
              <a:rPr sz="709" i="0">
                <a:solidFill>
                  <a:srgbClr val="FF8E6E"/>
                </a:solidFill>
                <a:latin typeface="Inconsolata"/>
              </a:rPr>
              <a:t>in</a:t>
            </a:r>
            <a:r>
              <a:rPr sz="709" i="0">
                <a:solidFill>
                  <a:srgbClr val="E6EDF3"/>
                </a:solidFill>
                <a:latin typeface="Inconsolata"/>
              </a:rPr>
              <a:t> [(</a:t>
            </a:r>
            <a:r>
              <a:rPr sz="709" i="0">
                <a:solidFill>
                  <a:srgbClr val="F9C97A"/>
                </a:solidFill>
                <a:latin typeface="Inconsolata"/>
              </a:rPr>
              <a:t>1</a:t>
            </a:r>
            <a:r>
              <a:rPr sz="709" i="0">
                <a:solidFill>
                  <a:srgbClr val="E6EDF3"/>
                </a:solidFill>
                <a:latin typeface="Inconsolata"/>
              </a:rPr>
              <a:t>, </a:t>
            </a:r>
            <a:r>
              <a:rPr sz="709" i="0">
                <a:solidFill>
                  <a:srgbClr val="F9C97A"/>
                </a:solidFill>
                <a:latin typeface="Inconsolata"/>
              </a:rPr>
              <a:t>1</a:t>
            </a:r>
            <a:r>
              <a:rPr sz="709" i="0">
                <a:solidFill>
                  <a:srgbClr val="E6EDF3"/>
                </a:solidFill>
                <a:latin typeface="Inconsolata"/>
              </a:rPr>
              <a:t>), (</a:t>
            </a:r>
            <a:r>
              <a:rPr sz="709" i="0">
                <a:solidFill>
                  <a:srgbClr val="F9C97A"/>
                </a:solidFill>
                <a:latin typeface="Inconsolata"/>
              </a:rPr>
              <a:t>99</a:t>
            </a:r>
            <a:r>
              <a:rPr sz="709" i="0">
                <a:solidFill>
                  <a:srgbClr val="E6EDF3"/>
                </a:solidFill>
                <a:latin typeface="Inconsolata"/>
              </a:rPr>
              <a:t>, </a:t>
            </a:r>
            <a:r>
              <a:rPr sz="709" i="0">
                <a:solidFill>
                  <a:srgbClr val="F9C97A"/>
                </a:solidFill>
                <a:latin typeface="Inconsolata"/>
              </a:rPr>
              <a:t>1</a:t>
            </a:r>
            <a:r>
              <a:rPr sz="709" i="0">
                <a:solidFill>
                  <a:srgbClr val="E6EDF3"/>
                </a:solidFill>
                <a:latin typeface="Inconsolata"/>
              </a:rPr>
              <a:t>), (</a:t>
            </a:r>
            <a:r>
              <a:rPr sz="709" i="0">
                <a:solidFill>
                  <a:srgbClr val="F9C97A"/>
                </a:solidFill>
                <a:latin typeface="Inconsolata"/>
              </a:rPr>
              <a:t>1</a:t>
            </a:r>
            <a:r>
              <a:rPr sz="709" i="0">
                <a:solidFill>
                  <a:srgbClr val="E6EDF3"/>
                </a:solidFill>
                <a:latin typeface="Inconsolata"/>
              </a:rPr>
              <a:t>, </a:t>
            </a:r>
            <a:r>
              <a:rPr sz="709" i="0">
                <a:solidFill>
                  <a:srgbClr val="F9C97A"/>
                </a:solidFill>
                <a:latin typeface="Inconsolata"/>
              </a:rPr>
              <a:t>10</a:t>
            </a:r>
            <a:r>
              <a:rPr sz="709" i="0">
                <a:solidFill>
                  <a:srgbClr val="E6EDF3"/>
                </a:solidFill>
                <a:latin typeface="Inconsolata"/>
              </a:rPr>
              <a:t>), (</a:t>
            </a:r>
            <a:r>
              <a:rPr sz="709" i="0">
                <a:solidFill>
                  <a:srgbClr val="F9C97A"/>
                </a:solidFill>
                <a:latin typeface="Inconsolata"/>
              </a:rPr>
              <a:t>3</a:t>
            </a:r>
            <a:r>
              <a:rPr sz="709" i="0">
                <a:solidFill>
                  <a:srgbClr val="E6EDF3"/>
                </a:solidFill>
                <a:latin typeface="Inconsolata"/>
              </a:rPr>
              <a:t>, </a:t>
            </a:r>
            <a:r>
              <a:rPr sz="709" i="0">
                <a:solidFill>
                  <a:srgbClr val="F9C97A"/>
                </a:solidFill>
                <a:latin typeface="Inconsolata"/>
              </a:rPr>
              <a:t>1</a:t>
            </a:r>
            <a:r>
              <a:rPr sz="709" i="0">
                <a:solidFill>
                  <a:srgbClr val="E6EDF3"/>
                </a:solidFill>
                <a:latin typeface="Inconsolata"/>
              </a:rPr>
              <a:t>), (</a:t>
            </a:r>
            <a:r>
              <a:rPr sz="709" i="0">
                <a:solidFill>
                  <a:srgbClr val="F9C97A"/>
                </a:solidFill>
                <a:latin typeface="Inconsolata"/>
              </a:rPr>
              <a:t>4</a:t>
            </a:r>
            <a:r>
              <a:rPr sz="709" i="0">
                <a:solidFill>
                  <a:srgbClr val="E6EDF3"/>
                </a:solidFill>
                <a:latin typeface="Inconsolata"/>
              </a:rPr>
              <a:t>, </a:t>
            </a:r>
            <a:r>
              <a:rPr sz="709" i="0">
                <a:solidFill>
                  <a:srgbClr val="F9C97A"/>
                </a:solidFill>
                <a:latin typeface="Inconsolata"/>
              </a:rPr>
              <a:t>1</a:t>
            </a:r>
            <a:r>
              <a:rPr sz="709" i="0">
                <a:solidFill>
                  <a:srgbClr val="E6EDF3"/>
                </a:solidFill>
                <a:latin typeface="Inconsolata"/>
              </a:rPr>
              <a:t>)]:</a:t>
            </a:r>
          </a:p>
          <a:p>
            <a:pPr>
              <a:lnSpc>
                <a:spcPct val="105686"/>
              </a:lnSpc>
              <a:spcAft>
                <a:spcPts val="0"/>
              </a:spcAft>
            </a:pPr>
            <a:r>
              <a:rPr sz="709" i="0">
                <a:solidFill>
                  <a:srgbClr val="5C6773"/>
                </a:solidFill>
                <a:latin typeface="Inconsolata"/>
              </a:rPr>
              <a:t>101  </a:t>
            </a:r>
            <a:r>
              <a:rPr sz="709" i="0">
                <a:solidFill>
                  <a:srgbClr val="E6EDF3"/>
                </a:solidFill>
                <a:latin typeface="Inconsolata"/>
              </a:rPr>
              <a:t>        response = client.post(</a:t>
            </a:r>
            <a:r>
              <a:rPr sz="709" i="0">
                <a:solidFill>
                  <a:srgbClr val="A5D6A7"/>
                </a:solidFill>
                <a:latin typeface="Inconsolata"/>
              </a:rPr>
              <a:t>f"/products/{product_id}/buy"</a:t>
            </a:r>
            <a:r>
              <a:rPr sz="709" i="0">
                <a:solidFill>
                  <a:srgbClr val="E6EDF3"/>
                </a:solidFill>
                <a:latin typeface="Inconsolata"/>
              </a:rPr>
              <a:t>,</a:t>
            </a:r>
          </a:p>
          <a:p>
            <a:pPr>
              <a:lnSpc>
                <a:spcPct val="105686"/>
              </a:lnSpc>
              <a:spcAft>
                <a:spcPts val="0"/>
              </a:spcAft>
            </a:pPr>
            <a:r>
              <a:rPr sz="709" i="0">
                <a:solidFill>
                  <a:srgbClr val="5C6773"/>
                </a:solidFill>
                <a:latin typeface="Inconsolata"/>
              </a:rPr>
              <a:t>102  </a:t>
            </a:r>
            <a:r>
              <a:rPr sz="709" i="0">
                <a:solidFill>
                  <a:srgbClr val="E6EDF3"/>
                </a:solidFill>
                <a:latin typeface="Inconsolata"/>
              </a:rPr>
              <a:t>                               params={</a:t>
            </a:r>
            <a:r>
              <a:rPr sz="709" i="0">
                <a:solidFill>
                  <a:srgbClr val="A5D6A7"/>
                </a:solidFill>
                <a:latin typeface="Inconsolata"/>
              </a:rPr>
              <a:t>"qty"</a:t>
            </a:r>
            <a:r>
              <a:rPr sz="709" i="0">
                <a:solidFill>
                  <a:srgbClr val="E6EDF3"/>
                </a:solidFill>
                <a:latin typeface="Inconsolata"/>
              </a:rPr>
              <a:t>: qty})</a:t>
            </a:r>
          </a:p>
          <a:p>
            <a:pPr>
              <a:lnSpc>
                <a:spcPct val="105686"/>
              </a:lnSpc>
              <a:spcAft>
                <a:spcPts val="0"/>
              </a:spcAft>
            </a:pPr>
            <a:r>
              <a:rPr sz="709" i="0">
                <a:solidFill>
                  <a:srgbClr val="5C6773"/>
                </a:solidFill>
                <a:latin typeface="Inconsolata"/>
              </a:rPr>
              <a:t>103  </a:t>
            </a:r>
            <a:r>
              <a:rPr sz="709" i="0">
                <a:solidFill>
                  <a:srgbClr val="E6EDF3"/>
                </a:solidFill>
                <a:latin typeface="Inconsolata"/>
              </a:rPr>
              <a:t>        </a:t>
            </a:r>
            <a:r>
              <a:rPr sz="709" i="0">
                <a:solidFill>
                  <a:srgbClr val="C3A6FF"/>
                </a:solidFill>
                <a:latin typeface="Inconsolata"/>
              </a:rPr>
              <a:t>print</a:t>
            </a:r>
            <a:r>
              <a:rPr sz="709" i="0">
                <a:solidFill>
                  <a:srgbClr val="E6EDF3"/>
                </a:solidFill>
                <a:latin typeface="Inconsolata"/>
              </a:rPr>
              <a:t>(</a:t>
            </a:r>
            <a:r>
              <a:rPr sz="709" i="0">
                <a:solidFill>
                  <a:srgbClr val="A5D6A7"/>
                </a:solidFill>
                <a:latin typeface="Inconsolata"/>
              </a:rPr>
              <a:t>f"  -&gt; produk {product_id} qty {qty}: "</a:t>
            </a:r>
          </a:p>
          <a:p>
            <a:pPr>
              <a:lnSpc>
                <a:spcPct val="105686"/>
              </a:lnSpc>
              <a:spcAft>
                <a:spcPts val="0"/>
              </a:spcAft>
            </a:pPr>
            <a:r>
              <a:rPr sz="709" i="0">
                <a:solidFill>
                  <a:srgbClr val="5C6773"/>
                </a:solidFill>
                <a:latin typeface="Inconsolata"/>
              </a:rPr>
              <a:t>104  </a:t>
            </a:r>
            <a:r>
              <a:rPr sz="709" i="0">
                <a:solidFill>
                  <a:srgbClr val="E6EDF3"/>
                </a:solidFill>
                <a:latin typeface="Inconsolata"/>
              </a:rPr>
              <a:t>              </a:t>
            </a:r>
            <a:r>
              <a:rPr sz="709" i="0">
                <a:solidFill>
                  <a:srgbClr val="A5D6A7"/>
                </a:solidFill>
                <a:latin typeface="Inconsolata"/>
              </a:rPr>
              <a:t>f"{response.status_code}"</a:t>
            </a:r>
            <a:r>
              <a:rPr sz="709" i="0">
                <a:solidFill>
                  <a:srgbClr val="E6EDF3"/>
                </a:solidFill>
                <a:latin typeface="Inconsolata"/>
              </a:rPr>
              <a:t>)</a:t>
            </a:r>
          </a:p>
        </p:txBody>
      </p:sp>
      <p:sp>
        <p:nvSpPr>
          <p:cNvPr id="36" name="Box 21"/>
          <p:cNvSpPr/>
          <p:nvPr/>
        </p:nvSpPr>
        <p:spPr>
          <a:xfrm>
            <a:off x="704088" y="3196971"/>
            <a:ext cx="3694176" cy="678942"/>
          </a:xfrm>
          <a:prstGeom prst="roundRect">
            <a:avLst>
              <a:gd name="adj" fmla="val 6734"/>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341757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8" name="Box 23"/>
          <p:cNvSpPr/>
          <p:nvPr/>
        </p:nvSpPr>
        <p:spPr>
          <a:xfrm>
            <a:off x="4709159" y="1825371"/>
            <a:ext cx="3694176" cy="793242"/>
          </a:xfrm>
          <a:prstGeom prst="roundRect">
            <a:avLst>
              <a:gd name="adj" fmla="val 5763"/>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21031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40" name="Box 25"/>
          <p:cNvSpPr/>
          <p:nvPr/>
        </p:nvSpPr>
        <p:spPr>
          <a:xfrm>
            <a:off x="4709159" y="2854071"/>
            <a:ext cx="3694176" cy="678942"/>
          </a:xfrm>
          <a:prstGeom prst="roundRect">
            <a:avLst>
              <a:gd name="adj" fmla="val 6734"/>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8284463" y="307467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4</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Klasifikasi Error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03-error-classification/after.py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sesi-09-observability/03-error-classification</a:t>
            </a:r>
          </a:p>
          <a:p>
            <a:pPr>
              <a:lnSpc>
                <a:spcPct val="111111"/>
              </a:lnSpc>
              <a:spcAft>
                <a:spcPts val="0"/>
              </a:spcAft>
            </a:pPr>
            <a:r>
              <a:rPr sz="900" i="0">
                <a:solidFill>
                  <a:srgbClr val="82B1FF"/>
                </a:solidFill>
                <a:latin typeface="Inconsolata"/>
              </a:rPr>
              <a:t>$ python after.py</a:t>
            </a:r>
          </a:p>
        </p:txBody>
      </p:sp>
      <p:pic>
        <p:nvPicPr>
          <p:cNvPr id="29" name="Image 12" descr="s09-03-error-classification-after.png"/>
          <p:cNvPicPr>
            <a:picLocks noChangeAspect="1"/>
          </p:cNvPicPr>
          <p:nvPr/>
        </p:nvPicPr>
        <p:blipFill>
          <a:blip r:embed="rId2"/>
          <a:stretch>
            <a:fillRect/>
          </a:stretch>
        </p:blipFill>
        <p:spPr>
          <a:xfrm>
            <a:off x="621792" y="2322576"/>
            <a:ext cx="4297680" cy="2027968"/>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Error dikelompokkan lewat class induk </a:t>
            </a:r>
            <a:r>
              <a:rPr sz="950" b="0" i="0">
                <a:solidFill>
                  <a:srgbClr val="B5482A"/>
                </a:solidFill>
                <a:latin typeface="Inconsolata"/>
              </a:rPr>
              <a:t>ClientError</a:t>
            </a:r>
            <a:r>
              <a:rPr sz="950" b="0" i="0">
                <a:solidFill>
                  <a:srgbClr val="434343"/>
                </a:solidFill>
                <a:latin typeface="Inter"/>
              </a:rPr>
              <a:t> dan </a:t>
            </a:r>
            <a:r>
              <a:rPr sz="950" b="0" i="0">
                <a:solidFill>
                  <a:srgbClr val="B5482A"/>
                </a:solidFill>
                <a:latin typeface="Inconsolata"/>
              </a:rPr>
              <a:t>DependencyError</a:t>
            </a:r>
            <a:r>
              <a:rPr sz="950" b="0" i="0">
                <a:solidFill>
                  <a:srgbClr val="434343"/>
                </a:solidFill>
                <a:latin typeface="Inter"/>
              </a:rPr>
              <a:t> (baris 41-57)</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Client error: WARNING dengan status code dari class-nya (baris 73-78)</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Dependency: ERROR dan 503 (baris 81-87)</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Bug: ERROR dengan traceback (baris 90-95)</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Status code sesuai penyebabnya, dan hanya 2 log ERROR.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31</a:t>
            </a:fld>
            <a:endParaRPr/>
          </a:p>
        </p:txBody>
      </p:sp>
      <p:sp>
        <p:nvSpPr>
          <p:cNvPr id="31" name="Text 1"/>
          <p:cNvSpPr txBox="1"/>
          <p:nvPr/>
        </p:nvSpPr>
        <p:spPr>
          <a:xfrm>
            <a:off x="822960" y="1600200"/>
            <a:ext cx="7315200" cy="365760"/>
          </a:xfrm>
          <a:prstGeom prst="rect">
            <a:avLst/>
          </a:prstGeom>
          <a:noFill/>
        </p:spPr>
        <p:txBody>
          <a:bodyPr wrap="square" lIns="45720" rIns="45720" anchor="t">
            <a:spAutoFit/>
          </a:bodyPr>
          <a:lstStyle/>
          <a:p>
            <a:pPr algn="l">
              <a:lnSpc>
                <a:spcPct val="115000"/>
              </a:lnSpc>
              <a:spcAft>
                <a:spcPts val="400"/>
              </a:spcAft>
            </a:pPr>
            <a:r>
              <a:rPr sz="1400" b="0" i="0">
                <a:solidFill>
                  <a:srgbClr val="CFE0FA"/>
                </a:solidFill>
                <a:latin typeface="Inter"/>
              </a:rPr>
              <a:t>Bagian 02</a:t>
            </a:r>
          </a:p>
        </p:txBody>
      </p:sp>
      <p:sp>
        <p:nvSpPr>
          <p:cNvPr id="32" name="Text 2"/>
          <p:cNvSpPr txBox="1"/>
          <p:nvPr/>
        </p:nvSpPr>
        <p:spPr>
          <a:xfrm>
            <a:off x="822960" y="1920240"/>
            <a:ext cx="7315200" cy="822960"/>
          </a:xfrm>
          <a:prstGeom prst="rect">
            <a:avLst/>
          </a:prstGeom>
          <a:noFill/>
        </p:spPr>
        <p:txBody>
          <a:bodyPr wrap="square" lIns="45720" rIns="45720" anchor="t">
            <a:spAutoFit/>
          </a:bodyPr>
          <a:lstStyle/>
          <a:p>
            <a:pPr algn="l">
              <a:lnSpc>
                <a:spcPct val="115000"/>
              </a:lnSpc>
              <a:spcAft>
                <a:spcPts val="400"/>
              </a:spcAft>
            </a:pPr>
            <a:r>
              <a:rPr sz="3000" b="0" i="0">
                <a:solidFill>
                  <a:srgbClr val="FFFFFF"/>
                </a:solidFill>
                <a:latin typeface="Work Sans ExtraBold"/>
              </a:rPr>
              <a:t>Metrics &amp; Health Check</a:t>
            </a:r>
          </a:p>
        </p:txBody>
      </p:sp>
      <p:sp>
        <p:nvSpPr>
          <p:cNvPr id="33" name="Text 3"/>
          <p:cNvSpPr txBox="1"/>
          <p:nvPr/>
        </p:nvSpPr>
        <p:spPr>
          <a:xfrm>
            <a:off x="822960" y="2743200"/>
            <a:ext cx="6583680" cy="731520"/>
          </a:xfrm>
          <a:prstGeom prst="rect">
            <a:avLst/>
          </a:prstGeom>
          <a:noFill/>
        </p:spPr>
        <p:txBody>
          <a:bodyPr wrap="square" lIns="45720" rIns="45720" anchor="t">
            <a:spAutoFit/>
          </a:bodyPr>
          <a:lstStyle/>
          <a:p>
            <a:pPr algn="l">
              <a:lnSpc>
                <a:spcPct val="115000"/>
              </a:lnSpc>
              <a:spcAft>
                <a:spcPts val="400"/>
              </a:spcAft>
            </a:pPr>
            <a:r>
              <a:rPr sz="1200" b="0" i="0">
                <a:solidFill>
                  <a:srgbClr val="E3ECFA"/>
                </a:solidFill>
                <a:latin typeface="Inter"/>
              </a:rPr>
              <a:t>Traffic, latency, error, health check, SLI, dan alert.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Metrics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Metrics?</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Metrics adalah</a:t>
            </a:r>
          </a:p>
          <a:p>
            <a:pPr algn="l">
              <a:lnSpc>
                <a:spcPct val="115000"/>
              </a:lnSpc>
              <a:spcAft>
                <a:spcPts val="400"/>
              </a:spcAft>
            </a:pPr>
            <a:r>
              <a:rPr sz="900" b="0" i="0">
                <a:solidFill>
                  <a:srgbClr val="434343"/>
                </a:solidFill>
                <a:latin typeface="Inter"/>
              </a:rPr>
              <a:t>Angka yang dicatat terus-menerus dari aplikasi, misalnya jumlah request dan waktu response, dikelompokkan dengan </a:t>
            </a:r>
            <a:r>
              <a:rPr sz="900" b="1" i="0">
                <a:solidFill>
                  <a:srgbClr val="434343"/>
                </a:solidFill>
                <a:latin typeface="Inter"/>
              </a:rPr>
              <a:t>label</a:t>
            </a:r>
            <a:r>
              <a:rPr sz="900" b="0" i="0">
                <a:solidFill>
                  <a:srgbClr val="434343"/>
                </a:solidFill>
                <a:latin typeface="Inter"/>
              </a:rPr>
              <a:t> seperti route dan status. Sehingga kondisi aplikasi bisa dipantau sebagai grafik dari waktu ke waktu.</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Mengukur traffic, error, dan latency setiap endpoint</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Melihat sebaran waktu response, bukan hanya rata-rata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Menjadi dasar alert dan target SLO</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rata-rata di dict: 04-metrics/before.py</a:t>
            </a:r>
          </a:p>
        </p:txBody>
      </p:sp>
      <p:sp>
        <p:nvSpPr>
          <p:cNvPr id="28" name="CodeBg 11"/>
          <p:cNvSpPr/>
          <p:nvPr/>
        </p:nvSpPr>
        <p:spPr>
          <a:xfrm>
            <a:off x="4297680" y="1719072"/>
            <a:ext cx="4187951" cy="1453896"/>
          </a:xfrm>
          <a:prstGeom prst="roundRect">
            <a:avLst>
              <a:gd name="adj" fmla="val 1257"/>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1453896"/>
          </a:xfrm>
          <a:prstGeom prst="rect">
            <a:avLst/>
          </a:prstGeom>
          <a:noFill/>
        </p:spPr>
        <p:txBody>
          <a:bodyPr wrap="none" lIns="146304" tIns="91440" rIns="146304" bIns="54864">
            <a:spAutoFit/>
          </a:bodyPr>
          <a:lstStyle/>
          <a:p>
            <a:pPr>
              <a:lnSpc>
                <a:spcPct val="107843"/>
              </a:lnSpc>
              <a:spcAft>
                <a:spcPts val="0"/>
              </a:spcAft>
            </a:pPr>
            <a:r>
              <a:rPr sz="850" i="0">
                <a:solidFill>
                  <a:srgbClr val="F9C97A"/>
                </a:solidFill>
                <a:latin typeface="Inconsolata"/>
              </a:rPr>
              <a:t>@app.middleware</a:t>
            </a:r>
            <a:r>
              <a:rPr sz="850" i="0">
                <a:solidFill>
                  <a:srgbClr val="E6EDF3"/>
                </a:solidFill>
                <a:latin typeface="Inconsolata"/>
              </a:rPr>
              <a:t>(</a:t>
            </a:r>
            <a:r>
              <a:rPr sz="850" i="0">
                <a:solidFill>
                  <a:srgbClr val="A5D6A7"/>
                </a:solidFill>
                <a:latin typeface="Inconsolata"/>
              </a:rPr>
              <a:t>"http"</a:t>
            </a:r>
            <a:r>
              <a:rPr sz="850" i="0">
                <a:solidFill>
                  <a:srgbClr val="E6EDF3"/>
                </a:solidFill>
                <a:latin typeface="Inconsolata"/>
              </a:rPr>
              <a:t>)</a:t>
            </a:r>
          </a:p>
          <a:p>
            <a:pPr>
              <a:lnSpc>
                <a:spcPct val="107843"/>
              </a:lnSpc>
              <a:spcAft>
                <a:spcPts val="0"/>
              </a:spcAft>
            </a:pPr>
            <a:r>
              <a:rPr sz="850" i="0">
                <a:solidFill>
                  <a:srgbClr val="FF8E6E"/>
                </a:solidFill>
                <a:latin typeface="Inconsolata"/>
              </a:rPr>
              <a:t>async</a:t>
            </a:r>
            <a:r>
              <a:rPr sz="850" i="0">
                <a:solidFill>
                  <a:srgbClr val="E6EDF3"/>
                </a:solidFill>
                <a:latin typeface="Inconsolata"/>
              </a:rPr>
              <a:t> </a:t>
            </a:r>
            <a:r>
              <a:rPr sz="850" i="0">
                <a:solidFill>
                  <a:srgbClr val="FF8E6E"/>
                </a:solidFill>
                <a:latin typeface="Inconsolata"/>
              </a:rPr>
              <a:t>def</a:t>
            </a:r>
            <a:r>
              <a:rPr sz="850" i="0">
                <a:solidFill>
                  <a:srgbClr val="E6EDF3"/>
                </a:solidFill>
                <a:latin typeface="Inconsolata"/>
              </a:rPr>
              <a:t> </a:t>
            </a:r>
            <a:r>
              <a:rPr sz="850" i="0">
                <a:solidFill>
                  <a:srgbClr val="82B1FF"/>
                </a:solidFill>
                <a:latin typeface="Inconsolata"/>
              </a:rPr>
              <a:t>measure</a:t>
            </a:r>
            <a:r>
              <a:rPr sz="850" i="0">
                <a:solidFill>
                  <a:srgbClr val="E6EDF3"/>
                </a:solidFill>
                <a:latin typeface="Inconsolata"/>
              </a:rPr>
              <a:t>(request: </a:t>
            </a:r>
            <a:r>
              <a:rPr sz="850" i="0">
                <a:solidFill>
                  <a:srgbClr val="7FDBCA"/>
                </a:solidFill>
                <a:latin typeface="Inconsolata"/>
              </a:rPr>
              <a:t>Request</a:t>
            </a:r>
            <a:r>
              <a:rPr sz="850" i="0">
                <a:solidFill>
                  <a:srgbClr val="E6EDF3"/>
                </a:solidFill>
                <a:latin typeface="Inconsolata"/>
              </a:rPr>
              <a:t>, call_next):</a:t>
            </a:r>
          </a:p>
          <a:p>
            <a:pPr>
              <a:lnSpc>
                <a:spcPct val="107843"/>
              </a:lnSpc>
              <a:spcAft>
                <a:spcPts val="0"/>
              </a:spcAft>
            </a:pPr>
            <a:r>
              <a:rPr sz="850" i="0">
                <a:solidFill>
                  <a:srgbClr val="E6EDF3"/>
                </a:solidFill>
                <a:latin typeface="Inconsolata"/>
              </a:rPr>
              <a:t>    start = time.perf_counter()</a:t>
            </a:r>
          </a:p>
          <a:p>
            <a:pPr>
              <a:lnSpc>
                <a:spcPct val="107843"/>
              </a:lnSpc>
              <a:spcAft>
                <a:spcPts val="0"/>
              </a:spcAft>
            </a:pPr>
            <a:r>
              <a:rPr sz="850" i="0">
                <a:solidFill>
                  <a:srgbClr val="E6EDF3"/>
                </a:solidFill>
                <a:latin typeface="Inconsolata"/>
              </a:rPr>
              <a:t>    response = </a:t>
            </a:r>
            <a:r>
              <a:rPr sz="850" i="0">
                <a:solidFill>
                  <a:srgbClr val="FF8E6E"/>
                </a:solidFill>
                <a:latin typeface="Inconsolata"/>
              </a:rPr>
              <a:t>await</a:t>
            </a:r>
            <a:r>
              <a:rPr sz="850" i="0">
                <a:solidFill>
                  <a:srgbClr val="E6EDF3"/>
                </a:solidFill>
                <a:latin typeface="Inconsolata"/>
              </a:rPr>
              <a:t> call_next(request)</a:t>
            </a:r>
          </a:p>
          <a:p>
            <a:pPr>
              <a:lnSpc>
                <a:spcPct val="107843"/>
              </a:lnSpc>
              <a:spcAft>
                <a:spcPts val="0"/>
              </a:spcAft>
            </a:pPr>
            <a:r>
              <a:rPr sz="850" i="0">
                <a:solidFill>
                  <a:srgbClr val="E6EDF3"/>
                </a:solidFill>
                <a:latin typeface="Inconsolata"/>
              </a:rPr>
              <a:t>    stats[</a:t>
            </a:r>
            <a:r>
              <a:rPr sz="850" i="0">
                <a:solidFill>
                  <a:srgbClr val="A5D6A7"/>
                </a:solidFill>
                <a:latin typeface="Inconsolata"/>
              </a:rPr>
              <a:t>"requests"</a:t>
            </a:r>
            <a:r>
              <a:rPr sz="850" i="0">
                <a:solidFill>
                  <a:srgbClr val="E6EDF3"/>
                </a:solidFill>
                <a:latin typeface="Inconsolata"/>
              </a:rPr>
              <a:t>] += </a:t>
            </a:r>
            <a:r>
              <a:rPr sz="850" i="0">
                <a:solidFill>
                  <a:srgbClr val="F9C97A"/>
                </a:solidFill>
                <a:latin typeface="Inconsolata"/>
              </a:rPr>
              <a:t>1</a:t>
            </a:r>
          </a:p>
          <a:p>
            <a:pPr>
              <a:lnSpc>
                <a:spcPct val="107843"/>
              </a:lnSpc>
              <a:spcAft>
                <a:spcPts val="0"/>
              </a:spcAft>
            </a:pPr>
            <a:r>
              <a:rPr sz="850" i="0">
                <a:solidFill>
                  <a:srgbClr val="E6EDF3"/>
                </a:solidFill>
                <a:latin typeface="Inconsolata"/>
              </a:rPr>
              <a:t>    stats[</a:t>
            </a:r>
            <a:r>
              <a:rPr sz="850" i="0">
                <a:solidFill>
                  <a:srgbClr val="A5D6A7"/>
                </a:solidFill>
                <a:latin typeface="Inconsolata"/>
              </a:rPr>
              <a:t>"total_ms"</a:t>
            </a:r>
            <a:r>
              <a:rPr sz="850" i="0">
                <a:solidFill>
                  <a:srgbClr val="E6EDF3"/>
                </a:solidFill>
                <a:latin typeface="Inconsolata"/>
              </a:rPr>
              <a:t>] += (time.perf_counter() - start) * </a:t>
            </a:r>
            <a:r>
              <a:rPr sz="850" i="0">
                <a:solidFill>
                  <a:srgbClr val="F9C97A"/>
                </a:solidFill>
                <a:latin typeface="Inconsolata"/>
              </a:rPr>
              <a:t>1000</a:t>
            </a:r>
          </a:p>
        </p:txBody>
      </p:sp>
      <p:sp>
        <p:nvSpPr>
          <p:cNvPr id="30" name="Box 13"/>
          <p:cNvSpPr/>
          <p:nvPr/>
        </p:nvSpPr>
        <p:spPr>
          <a:xfrm>
            <a:off x="4379976" y="2387473"/>
            <a:ext cx="4023359" cy="271018"/>
          </a:xfrm>
          <a:prstGeom prst="roundRect">
            <a:avLst>
              <a:gd name="adj" fmla="val 16869"/>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326440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334213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334213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334213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327355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Prometheus: 04-metrics/after.py</a:t>
            </a:r>
          </a:p>
        </p:txBody>
      </p:sp>
      <p:sp>
        <p:nvSpPr>
          <p:cNvPr id="36" name="CodeBg 21"/>
          <p:cNvSpPr/>
          <p:nvPr/>
        </p:nvSpPr>
        <p:spPr>
          <a:xfrm>
            <a:off x="4297680" y="3502152"/>
            <a:ext cx="4187951" cy="1197864"/>
          </a:xfrm>
          <a:prstGeom prst="roundRect">
            <a:avLst>
              <a:gd name="adj" fmla="val 1526"/>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3502152"/>
            <a:ext cx="4187951" cy="1197864"/>
          </a:xfrm>
          <a:prstGeom prst="rect">
            <a:avLst/>
          </a:prstGeom>
          <a:noFill/>
        </p:spPr>
        <p:txBody>
          <a:bodyPr wrap="none" lIns="146304" tIns="91440" rIns="146304" bIns="54864">
            <a:spAutoFit/>
          </a:bodyPr>
          <a:lstStyle/>
          <a:p>
            <a:pPr>
              <a:lnSpc>
                <a:spcPct val="107843"/>
              </a:lnSpc>
              <a:spcAft>
                <a:spcPts val="0"/>
              </a:spcAft>
            </a:pPr>
            <a:r>
              <a:rPr sz="850" i="0">
                <a:solidFill>
                  <a:srgbClr val="7FDBCA"/>
                </a:solidFill>
                <a:latin typeface="Inconsolata"/>
              </a:rPr>
              <a:t>REQUESTS</a:t>
            </a:r>
            <a:r>
              <a:rPr sz="850" i="0">
                <a:solidFill>
                  <a:srgbClr val="E6EDF3"/>
                </a:solidFill>
                <a:latin typeface="Inconsolata"/>
              </a:rPr>
              <a:t> = </a:t>
            </a:r>
            <a:r>
              <a:rPr sz="850" i="0">
                <a:solidFill>
                  <a:srgbClr val="7FDBCA"/>
                </a:solidFill>
                <a:latin typeface="Inconsolata"/>
              </a:rPr>
              <a:t>Counter</a:t>
            </a:r>
            <a:r>
              <a:rPr sz="850" i="0">
                <a:solidFill>
                  <a:srgbClr val="E6EDF3"/>
                </a:solidFill>
                <a:latin typeface="Inconsolata"/>
              </a:rPr>
              <a:t>(</a:t>
            </a:r>
            <a:r>
              <a:rPr sz="850" i="0">
                <a:solidFill>
                  <a:srgbClr val="A5D6A7"/>
                </a:solidFill>
                <a:latin typeface="Inconsolata"/>
              </a:rPr>
              <a:t>"http_requests_total"</a:t>
            </a:r>
            <a:r>
              <a:rPr sz="850" i="0">
                <a:solidFill>
                  <a:srgbClr val="E6EDF3"/>
                </a:solidFill>
                <a:latin typeface="Inconsolata"/>
              </a:rPr>
              <a:t>, </a:t>
            </a:r>
            <a:r>
              <a:rPr sz="850" i="0">
                <a:solidFill>
                  <a:srgbClr val="A5D6A7"/>
                </a:solidFill>
                <a:latin typeface="Inconsolata"/>
              </a:rPr>
              <a:t>"Jumlah request"</a:t>
            </a:r>
            <a:r>
              <a:rPr sz="850" i="0">
                <a:solidFill>
                  <a:srgbClr val="E6EDF3"/>
                </a:solidFill>
                <a:latin typeface="Inconsolata"/>
              </a:rPr>
              <a:t>,</a:t>
            </a:r>
          </a:p>
          <a:p>
            <a:pPr>
              <a:lnSpc>
                <a:spcPct val="107843"/>
              </a:lnSpc>
              <a:spcAft>
                <a:spcPts val="0"/>
              </a:spcAft>
            </a:pPr>
            <a:r>
              <a:rPr sz="850" i="0">
                <a:solidFill>
                  <a:srgbClr val="E6EDF3"/>
                </a:solidFill>
                <a:latin typeface="Inconsolata"/>
              </a:rPr>
              <a:t>                   [</a:t>
            </a:r>
            <a:r>
              <a:rPr sz="850" i="0">
                <a:solidFill>
                  <a:srgbClr val="A5D6A7"/>
                </a:solidFill>
                <a:latin typeface="Inconsolata"/>
              </a:rPr>
              <a:t>"method"</a:t>
            </a:r>
            <a:r>
              <a:rPr sz="850" i="0">
                <a:solidFill>
                  <a:srgbClr val="E6EDF3"/>
                </a:solidFill>
                <a:latin typeface="Inconsolata"/>
              </a:rPr>
              <a:t>, </a:t>
            </a:r>
            <a:r>
              <a:rPr sz="850" i="0">
                <a:solidFill>
                  <a:srgbClr val="A5D6A7"/>
                </a:solidFill>
                <a:latin typeface="Inconsolata"/>
              </a:rPr>
              <a:t>"route"</a:t>
            </a:r>
            <a:r>
              <a:rPr sz="850" i="0">
                <a:solidFill>
                  <a:srgbClr val="E6EDF3"/>
                </a:solidFill>
                <a:latin typeface="Inconsolata"/>
              </a:rPr>
              <a:t>, </a:t>
            </a:r>
            <a:r>
              <a:rPr sz="850" i="0">
                <a:solidFill>
                  <a:srgbClr val="A5D6A7"/>
                </a:solidFill>
                <a:latin typeface="Inconsolata"/>
              </a:rPr>
              <a:t>"status"</a:t>
            </a:r>
            <a:r>
              <a:rPr sz="850" i="0">
                <a:solidFill>
                  <a:srgbClr val="E6EDF3"/>
                </a:solidFill>
                <a:latin typeface="Inconsolata"/>
              </a:rPr>
              <a:t>])</a:t>
            </a:r>
          </a:p>
          <a:p>
            <a:pPr>
              <a:lnSpc>
                <a:spcPct val="107843"/>
              </a:lnSpc>
              <a:spcAft>
                <a:spcPts val="0"/>
              </a:spcAft>
            </a:pPr>
            <a:r>
              <a:rPr sz="850" i="0">
                <a:solidFill>
                  <a:srgbClr val="7FDBCA"/>
                </a:solidFill>
                <a:latin typeface="Inconsolata"/>
              </a:rPr>
              <a:t>LATENCY</a:t>
            </a:r>
            <a:r>
              <a:rPr sz="850" i="0">
                <a:solidFill>
                  <a:srgbClr val="E6EDF3"/>
                </a:solidFill>
                <a:latin typeface="Inconsolata"/>
              </a:rPr>
              <a:t> = </a:t>
            </a:r>
            <a:r>
              <a:rPr sz="850" i="0">
                <a:solidFill>
                  <a:srgbClr val="7FDBCA"/>
                </a:solidFill>
                <a:latin typeface="Inconsolata"/>
              </a:rPr>
              <a:t>Histogram</a:t>
            </a:r>
            <a:r>
              <a:rPr sz="850" i="0">
                <a:solidFill>
                  <a:srgbClr val="E6EDF3"/>
                </a:solidFill>
                <a:latin typeface="Inconsolata"/>
              </a:rPr>
              <a:t>(</a:t>
            </a:r>
            <a:r>
              <a:rPr sz="850" i="0">
                <a:solidFill>
                  <a:srgbClr val="A5D6A7"/>
                </a:solidFill>
                <a:latin typeface="Inconsolata"/>
              </a:rPr>
              <a:t>"http_request_duration_seconds"</a:t>
            </a:r>
            <a:r>
              <a:rPr sz="850" i="0">
                <a:solidFill>
                  <a:srgbClr val="E6EDF3"/>
                </a:solidFill>
                <a:latin typeface="Inconsolata"/>
              </a:rPr>
              <a:t>,</a:t>
            </a:r>
          </a:p>
          <a:p>
            <a:pPr>
              <a:lnSpc>
                <a:spcPct val="107843"/>
              </a:lnSpc>
              <a:spcAft>
                <a:spcPts val="0"/>
              </a:spcAft>
            </a:pPr>
            <a:r>
              <a:rPr sz="850" i="0">
                <a:solidFill>
                  <a:srgbClr val="E6EDF3"/>
                </a:solidFill>
                <a:latin typeface="Inconsolata"/>
              </a:rPr>
              <a:t>                    </a:t>
            </a:r>
            <a:r>
              <a:rPr sz="850" i="0">
                <a:solidFill>
                  <a:srgbClr val="A5D6A7"/>
                </a:solidFill>
                <a:latin typeface="Inconsolata"/>
              </a:rPr>
              <a:t>"Waktu response"</a:t>
            </a:r>
            <a:r>
              <a:rPr sz="850" i="0">
                <a:solidFill>
                  <a:srgbClr val="E6EDF3"/>
                </a:solidFill>
                <a:latin typeface="Inconsolata"/>
              </a:rPr>
              <a:t>, [</a:t>
            </a:r>
            <a:r>
              <a:rPr sz="850" i="0">
                <a:solidFill>
                  <a:srgbClr val="A5D6A7"/>
                </a:solidFill>
                <a:latin typeface="Inconsolata"/>
              </a:rPr>
              <a:t>"route"</a:t>
            </a:r>
            <a:r>
              <a:rPr sz="850" i="0">
                <a:solidFill>
                  <a:srgbClr val="E6EDF3"/>
                </a:solidFill>
                <a:latin typeface="Inconsolata"/>
              </a:rPr>
              <a:t>],</a:t>
            </a:r>
          </a:p>
          <a:p>
            <a:pPr>
              <a:lnSpc>
                <a:spcPct val="107843"/>
              </a:lnSpc>
              <a:spcAft>
                <a:spcPts val="0"/>
              </a:spcAft>
            </a:pPr>
            <a:r>
              <a:rPr sz="850" i="0">
                <a:solidFill>
                  <a:srgbClr val="E6EDF3"/>
                </a:solidFill>
                <a:latin typeface="Inconsolata"/>
              </a:rPr>
              <a:t>                    buckets=[</a:t>
            </a:r>
            <a:r>
              <a:rPr sz="850" i="0">
                <a:solidFill>
                  <a:srgbClr val="F9C97A"/>
                </a:solidFill>
                <a:latin typeface="Inconsolata"/>
              </a:rPr>
              <a:t>0</a:t>
            </a:r>
            <a:r>
              <a:rPr sz="850" i="0">
                <a:solidFill>
                  <a:srgbClr val="E6EDF3"/>
                </a:solidFill>
                <a:latin typeface="Inconsolata"/>
              </a:rPr>
              <a:t>.</a:t>
            </a:r>
            <a:r>
              <a:rPr sz="850" i="0">
                <a:solidFill>
                  <a:srgbClr val="F9C97A"/>
                </a:solidFill>
                <a:latin typeface="Inconsolata"/>
              </a:rPr>
              <a:t>05</a:t>
            </a:r>
            <a:r>
              <a:rPr sz="850" i="0">
                <a:solidFill>
                  <a:srgbClr val="E6EDF3"/>
                </a:solidFill>
                <a:latin typeface="Inconsolata"/>
              </a:rPr>
              <a:t>, </a:t>
            </a:r>
            <a:r>
              <a:rPr sz="850" i="0">
                <a:solidFill>
                  <a:srgbClr val="F9C97A"/>
                </a:solidFill>
                <a:latin typeface="Inconsolata"/>
              </a:rPr>
              <a:t>0</a:t>
            </a:r>
            <a:r>
              <a:rPr sz="850" i="0">
                <a:solidFill>
                  <a:srgbClr val="E6EDF3"/>
                </a:solidFill>
                <a:latin typeface="Inconsolata"/>
              </a:rPr>
              <a:t>.</a:t>
            </a:r>
            <a:r>
              <a:rPr sz="850" i="0">
                <a:solidFill>
                  <a:srgbClr val="F9C97A"/>
                </a:solidFill>
                <a:latin typeface="Inconsolata"/>
              </a:rPr>
              <a:t>1</a:t>
            </a:r>
            <a:r>
              <a:rPr sz="850" i="0">
                <a:solidFill>
                  <a:srgbClr val="E6EDF3"/>
                </a:solidFill>
                <a:latin typeface="Inconsolata"/>
              </a:rPr>
              <a:t>, </a:t>
            </a:r>
            <a:r>
              <a:rPr sz="850" i="0">
                <a:solidFill>
                  <a:srgbClr val="F9C97A"/>
                </a:solidFill>
                <a:latin typeface="Inconsolata"/>
              </a:rPr>
              <a:t>0</a:t>
            </a:r>
            <a:r>
              <a:rPr sz="850" i="0">
                <a:solidFill>
                  <a:srgbClr val="E6EDF3"/>
                </a:solidFill>
                <a:latin typeface="Inconsolata"/>
              </a:rPr>
              <a:t>.</a:t>
            </a:r>
            <a:r>
              <a:rPr sz="850" i="0">
                <a:solidFill>
                  <a:srgbClr val="F9C97A"/>
                </a:solidFill>
                <a:latin typeface="Inconsolata"/>
              </a:rPr>
              <a:t>25</a:t>
            </a:r>
            <a:r>
              <a:rPr sz="850" i="0">
                <a:solidFill>
                  <a:srgbClr val="E6EDF3"/>
                </a:solidFill>
                <a:latin typeface="Inconsolata"/>
              </a:rPr>
              <a:t>, </a:t>
            </a:r>
            <a:r>
              <a:rPr sz="850" i="0">
                <a:solidFill>
                  <a:srgbClr val="F9C97A"/>
                </a:solidFill>
                <a:latin typeface="Inconsolata"/>
              </a:rPr>
              <a:t>0</a:t>
            </a:r>
            <a:r>
              <a:rPr sz="850" i="0">
                <a:solidFill>
                  <a:srgbClr val="E6EDF3"/>
                </a:solidFill>
                <a:latin typeface="Inconsolata"/>
              </a:rPr>
              <a:t>.</a:t>
            </a:r>
            <a:r>
              <a:rPr sz="850" i="0">
                <a:solidFill>
                  <a:srgbClr val="F9C97A"/>
                </a:solidFill>
                <a:latin typeface="Inconsolata"/>
              </a:rPr>
              <a:t>5</a:t>
            </a:r>
            <a:r>
              <a:rPr sz="850" i="0">
                <a:solidFill>
                  <a:srgbClr val="E6EDF3"/>
                </a:solidFill>
                <a:latin typeface="Inconsolata"/>
              </a:rPr>
              <a:t>, </a:t>
            </a:r>
            <a:r>
              <a:rPr sz="850" i="0">
                <a:solidFill>
                  <a:srgbClr val="F9C97A"/>
                </a:solidFill>
                <a:latin typeface="Inconsolata"/>
              </a:rPr>
              <a:t>1</a:t>
            </a:r>
            <a:r>
              <a:rPr sz="850" i="0">
                <a:solidFill>
                  <a:srgbClr val="E6EDF3"/>
                </a:solidFill>
                <a:latin typeface="Inconsolata"/>
              </a:rPr>
              <a:t>])</a:t>
            </a:r>
          </a:p>
        </p:txBody>
      </p:sp>
      <p:sp>
        <p:nvSpPr>
          <p:cNvPr id="38" name="Box 23"/>
          <p:cNvSpPr/>
          <p:nvPr/>
        </p:nvSpPr>
        <p:spPr>
          <a:xfrm>
            <a:off x="4379976" y="3611753"/>
            <a:ext cx="4023359" cy="271018"/>
          </a:xfrm>
          <a:prstGeom prst="roundRect">
            <a:avLst>
              <a:gd name="adj" fmla="val 16869"/>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379976" y="3891153"/>
            <a:ext cx="4023359" cy="410718"/>
          </a:xfrm>
          <a:prstGeom prst="roundRect">
            <a:avLst>
              <a:gd name="adj" fmla="val 11131"/>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Metrics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menggunakan Metrics?</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Tanpa metrics</a:t>
            </a:r>
          </a:p>
          <a:p>
            <a:pPr algn="l">
              <a:lnSpc>
                <a:spcPct val="115000"/>
              </a:lnSpc>
              <a:spcAft>
                <a:spcPts val="400"/>
              </a:spcAft>
            </a:pPr>
            <a:r>
              <a:rPr sz="950" b="0" i="0">
                <a:solidFill>
                  <a:srgbClr val="434343"/>
                </a:solidFill>
                <a:latin typeface="Inter"/>
              </a:rPr>
              <a:t>Kita hanya punya rata-rata waktu response dari seluruh endpoint, dan angkanya hilang setiap restart.</a:t>
            </a:r>
          </a:p>
          <a:p>
            <a:pPr algn="l">
              <a:lnSpc>
                <a:spcPct val="115000"/>
              </a:lnSpc>
              <a:spcAft>
                <a:spcPts val="400"/>
              </a:spcAft>
            </a:pPr>
            <a:r>
              <a:rPr sz="1050" b="1" i="0">
                <a:solidFill>
                  <a:srgbClr val="1C4587"/>
                </a:solidFill>
                <a:latin typeface="Inter"/>
              </a:rPr>
              <a:t>Jika traffic makin banyak</a:t>
            </a:r>
          </a:p>
          <a:p>
            <a:pPr algn="l">
              <a:lnSpc>
                <a:spcPct val="115000"/>
              </a:lnSpc>
              <a:spcAft>
                <a:spcPts val="400"/>
              </a:spcAft>
            </a:pPr>
            <a:r>
              <a:rPr sz="950" b="0" i="0">
                <a:solidFill>
                  <a:srgbClr val="434343"/>
                </a:solidFill>
                <a:latin typeface="Inter"/>
              </a:rPr>
              <a:t>Rata-rata 17 ms terlihat cepat, padahal 5% request menunggu lebih dari 250 ms dan 4% error.</a:t>
            </a:r>
          </a:p>
          <a:p>
            <a:pPr algn="l">
              <a:lnSpc>
                <a:spcPct val="115000"/>
              </a:lnSpc>
              <a:spcAft>
                <a:spcPts val="400"/>
              </a:spcAft>
            </a:pPr>
            <a:r>
              <a:rPr sz="950" b="0" i="0">
                <a:solidFill>
                  <a:srgbClr val="434343"/>
                </a:solidFill>
                <a:latin typeface="Inter"/>
              </a:rPr>
              <a:t>Hal ini membuat masalah performa baru disadari setelah customer komplain.</a:t>
            </a:r>
          </a:p>
          <a:p>
            <a:pPr algn="l">
              <a:lnSpc>
                <a:spcPct val="115000"/>
              </a:lnSpc>
              <a:spcAft>
                <a:spcPts val="400"/>
              </a:spcAft>
            </a:pPr>
            <a:r>
              <a:rPr sz="1050" b="1" i="0">
                <a:solidFill>
                  <a:srgbClr val="1C4587"/>
                </a:solidFill>
                <a:latin typeface="Inter"/>
              </a:rPr>
              <a:t>Yang dipakai dari prometheus_client: Counter dan Histogram</a:t>
            </a:r>
          </a:p>
          <a:p>
            <a:pPr algn="l">
              <a:lnSpc>
                <a:spcPct val="115000"/>
              </a:lnSpc>
              <a:spcAft>
                <a:spcPts val="400"/>
              </a:spcAft>
            </a:pPr>
            <a:r>
              <a:rPr sz="950" b="0" i="0">
                <a:solidFill>
                  <a:srgbClr val="434343"/>
                </a:solidFill>
                <a:latin typeface="Inter"/>
              </a:rPr>
              <a:t>Tiga angka utama disebut </a:t>
            </a:r>
            <a:r>
              <a:rPr sz="950" b="1" i="0">
                <a:solidFill>
                  <a:srgbClr val="434343"/>
                </a:solidFill>
                <a:latin typeface="Inter"/>
              </a:rPr>
              <a:t>RED</a:t>
            </a:r>
            <a:r>
              <a:rPr sz="950" b="0" i="0">
                <a:solidFill>
                  <a:srgbClr val="434343"/>
                </a:solidFill>
                <a:latin typeface="Inter"/>
              </a:rPr>
              <a:t>: Rate (jumlah request), Errors (status 5xx), Duration (waktu response).</a:t>
            </a:r>
          </a:p>
        </p:txBody>
      </p:sp>
      <p:graphicFrame>
        <p:nvGraphicFramePr>
          <p:cNvPr id="23" name="Table 4"/>
          <p:cNvGraphicFramePr>
            <a:graphicFrameLocks noGrp="1"/>
          </p:cNvGraphicFramePr>
          <p:nvPr/>
        </p:nvGraphicFramePr>
        <p:xfrm>
          <a:off x="4800600" y="1481328"/>
          <a:ext cx="3685031" cy="2057400"/>
        </p:xfrm>
        <a:graphic>
          <a:graphicData uri="http://schemas.openxmlformats.org/drawingml/2006/table">
            <a:tbl>
              <a:tblPr firstRow="1" bandRow="1"/>
              <a:tblGrid>
                <a:gridCol w="1856231">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411480">
                <a:tc>
                  <a:txBody>
                    <a:bodyPr/>
                    <a:lstStyle/>
                    <a:p>
                      <a:pPr algn="l">
                        <a:lnSpc>
                          <a:spcPct val="100000"/>
                        </a:lnSpc>
                        <a:spcAft>
                          <a:spcPts val="0"/>
                        </a:spcAft>
                      </a:pPr>
                      <a:r>
                        <a:rPr sz="850" b="1" i="0">
                          <a:solidFill>
                            <a:srgbClr val="FFFFFF"/>
                          </a:solidFill>
                          <a:latin typeface="Inter"/>
                        </a:rPr>
                        <a:t>Ditulis</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Artinya</a:t>
                      </a:r>
                    </a:p>
                  </a:txBody>
                  <a:tcPr marL="73152" marR="73152" marT="36576" marB="36576" anchor="ctr">
                    <a:solidFill>
                      <a:srgbClr val="1C4587"/>
                    </a:solidFill>
                  </a:tcPr>
                </a:tc>
                <a:extLst>
                  <a:ext uri="{0D108BD9-81ED-4DB2-BD59-A6C34878D82A}">
                    <a16:rowId xmlns:a16="http://schemas.microsoft.com/office/drawing/2014/main" val="10000"/>
                  </a:ext>
                </a:extLst>
              </a:tr>
              <a:tr h="411480">
                <a:tc>
                  <a:txBody>
                    <a:bodyPr/>
                    <a:lstStyle/>
                    <a:p>
                      <a:pPr algn="l">
                        <a:lnSpc>
                          <a:spcPct val="100000"/>
                        </a:lnSpc>
                        <a:spcAft>
                          <a:spcPts val="0"/>
                        </a:spcAft>
                      </a:pPr>
                      <a:r>
                        <a:rPr sz="850" b="1" i="0">
                          <a:solidFill>
                            <a:srgbClr val="1C4587"/>
                          </a:solidFill>
                          <a:latin typeface="Inter"/>
                        </a:rPr>
                        <a:t>Counter(...).inc()</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Angka yang hanya bertambah</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pPr algn="l">
                        <a:lnSpc>
                          <a:spcPct val="100000"/>
                        </a:lnSpc>
                        <a:spcAft>
                          <a:spcPts val="0"/>
                        </a:spcAft>
                      </a:pPr>
                      <a:r>
                        <a:rPr sz="850" b="1" i="0">
                          <a:solidFill>
                            <a:srgbClr val="1C4587"/>
                          </a:solidFill>
                          <a:latin typeface="Inter"/>
                        </a:rPr>
                        <a:t>Histogram(...).observe(s)</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Waktu dimasukkan ke bucket</a:t>
                      </a:r>
                    </a:p>
                  </a:txBody>
                  <a:tcPr marL="73152" marR="73152" marT="36576" marB="36576" anchor="ctr">
                    <a:solidFill>
                      <a:srgbClr val="F3F4F6"/>
                    </a:solidFill>
                  </a:tcPr>
                </a:tc>
                <a:extLst>
                  <a:ext uri="{0D108BD9-81ED-4DB2-BD59-A6C34878D82A}">
                    <a16:rowId xmlns:a16="http://schemas.microsoft.com/office/drawing/2014/main" val="10002"/>
                  </a:ext>
                </a:extLst>
              </a:tr>
              <a:tr h="411480">
                <a:tc>
                  <a:txBody>
                    <a:bodyPr/>
                    <a:lstStyle/>
                    <a:p>
                      <a:pPr algn="l">
                        <a:lnSpc>
                          <a:spcPct val="100000"/>
                        </a:lnSpc>
                        <a:spcAft>
                          <a:spcPts val="0"/>
                        </a:spcAft>
                      </a:pPr>
                      <a:r>
                        <a:rPr sz="850" b="1" i="0">
                          <a:solidFill>
                            <a:srgbClr val="1C4587"/>
                          </a:solidFill>
                          <a:latin typeface="Inter"/>
                        </a:rPr>
                        <a:t>labels(route, status)</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Dikelompokkan per label</a:t>
                      </a:r>
                    </a:p>
                  </a:txBody>
                  <a:tcPr marL="73152" marR="73152" marT="36576" marB="36576"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Aft>
                          <a:spcPts val="0"/>
                        </a:spcAft>
                      </a:pPr>
                      <a:r>
                        <a:rPr sz="850" b="1" i="0">
                          <a:solidFill>
                            <a:srgbClr val="1C4587"/>
                          </a:solidFill>
                          <a:latin typeface="Inter"/>
                        </a:rPr>
                        <a:t>generate_latest()</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Isi /metrics, format Prometheus</a:t>
                      </a:r>
                    </a:p>
                  </a:txBody>
                  <a:tcPr marL="73152" marR="73152" marT="36576" marB="36576" anchor="ctr">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Metrics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hanya rata-rata waktu response</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04-metrics/before.py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11166"/>
              </a:lnSpc>
              <a:spcAft>
                <a:spcPts val="0"/>
              </a:spcAft>
            </a:pPr>
            <a:r>
              <a:rPr sz="749" i="0">
                <a:solidFill>
                  <a:srgbClr val="5C6773"/>
                </a:solidFill>
                <a:latin typeface="Inconsolata"/>
              </a:rPr>
              <a:t>10  </a:t>
            </a:r>
            <a:r>
              <a:rPr sz="749" i="0">
                <a:solidFill>
                  <a:srgbClr val="FF8E6E"/>
                </a:solidFill>
                <a:latin typeface="Inconsolata"/>
              </a:rPr>
              <a:t>import</a:t>
            </a:r>
            <a:r>
              <a:rPr sz="749" i="0">
                <a:solidFill>
                  <a:srgbClr val="E6EDF3"/>
                </a:solidFill>
                <a:latin typeface="Inconsolata"/>
              </a:rPr>
              <a:t> time</a:t>
            </a:r>
          </a:p>
          <a:p>
            <a:pPr>
              <a:lnSpc>
                <a:spcPct val="111166"/>
              </a:lnSpc>
              <a:spcAft>
                <a:spcPts val="0"/>
              </a:spcAft>
            </a:pPr>
            <a:r>
              <a:rPr sz="749" i="0">
                <a:solidFill>
                  <a:srgbClr val="5C6773"/>
                </a:solidFill>
                <a:latin typeface="Inconsolata"/>
              </a:rPr>
              <a:t>11  </a:t>
            </a:r>
            <a:r>
              <a:rPr sz="749" i="0">
                <a:solidFill>
                  <a:srgbClr val="E6EDF3"/>
                </a:solidFill>
                <a:latin typeface="Inconsolata"/>
              </a:rPr>
              <a:t> </a:t>
            </a:r>
          </a:p>
          <a:p>
            <a:pPr>
              <a:lnSpc>
                <a:spcPct val="111166"/>
              </a:lnSpc>
              <a:spcAft>
                <a:spcPts val="0"/>
              </a:spcAft>
            </a:pPr>
            <a:r>
              <a:rPr sz="749" i="0">
                <a:solidFill>
                  <a:srgbClr val="5C6773"/>
                </a:solidFill>
                <a:latin typeface="Inconsolata"/>
              </a:rPr>
              <a:t>12  </a:t>
            </a:r>
            <a:r>
              <a:rPr sz="749" i="0">
                <a:solidFill>
                  <a:srgbClr val="FF8E6E"/>
                </a:solidFill>
                <a:latin typeface="Inconsolata"/>
              </a:rPr>
              <a:t>from</a:t>
            </a:r>
            <a:r>
              <a:rPr sz="749" i="0">
                <a:solidFill>
                  <a:srgbClr val="E6EDF3"/>
                </a:solidFill>
                <a:latin typeface="Inconsolata"/>
              </a:rPr>
              <a:t> fastapi </a:t>
            </a:r>
            <a:r>
              <a:rPr sz="749" i="0">
                <a:solidFill>
                  <a:srgbClr val="FF8E6E"/>
                </a:solidFill>
                <a:latin typeface="Inconsolata"/>
              </a:rPr>
              <a:t>import</a:t>
            </a:r>
            <a:r>
              <a:rPr sz="749" i="0">
                <a:solidFill>
                  <a:srgbClr val="E6EDF3"/>
                </a:solidFill>
                <a:latin typeface="Inconsolata"/>
              </a:rPr>
              <a:t> </a:t>
            </a:r>
            <a:r>
              <a:rPr sz="749" i="0">
                <a:solidFill>
                  <a:srgbClr val="7FDBCA"/>
                </a:solidFill>
                <a:latin typeface="Inconsolata"/>
              </a:rPr>
              <a:t>FastAPI</a:t>
            </a:r>
            <a:r>
              <a:rPr sz="749" i="0">
                <a:solidFill>
                  <a:srgbClr val="E6EDF3"/>
                </a:solidFill>
                <a:latin typeface="Inconsolata"/>
              </a:rPr>
              <a:t>, </a:t>
            </a:r>
            <a:r>
              <a:rPr sz="749" i="0">
                <a:solidFill>
                  <a:srgbClr val="7FDBCA"/>
                </a:solidFill>
                <a:latin typeface="Inconsolata"/>
              </a:rPr>
              <a:t>HTTPException</a:t>
            </a:r>
            <a:r>
              <a:rPr sz="749" i="0">
                <a:solidFill>
                  <a:srgbClr val="E6EDF3"/>
                </a:solidFill>
                <a:latin typeface="Inconsolata"/>
              </a:rPr>
              <a:t>, </a:t>
            </a:r>
            <a:r>
              <a:rPr sz="749" i="0">
                <a:solidFill>
                  <a:srgbClr val="7FDBCA"/>
                </a:solidFill>
                <a:latin typeface="Inconsolata"/>
              </a:rPr>
              <a:t>Request</a:t>
            </a:r>
          </a:p>
          <a:p>
            <a:pPr>
              <a:lnSpc>
                <a:spcPct val="111166"/>
              </a:lnSpc>
              <a:spcAft>
                <a:spcPts val="0"/>
              </a:spcAft>
            </a:pPr>
            <a:r>
              <a:rPr sz="749" i="0">
                <a:solidFill>
                  <a:srgbClr val="5C6773"/>
                </a:solidFill>
                <a:latin typeface="Inconsolata"/>
              </a:rPr>
              <a:t>13  </a:t>
            </a:r>
            <a:r>
              <a:rPr sz="749" i="0">
                <a:solidFill>
                  <a:srgbClr val="FF8E6E"/>
                </a:solidFill>
                <a:latin typeface="Inconsolata"/>
              </a:rPr>
              <a:t>from</a:t>
            </a:r>
            <a:r>
              <a:rPr sz="749" i="0">
                <a:solidFill>
                  <a:srgbClr val="E6EDF3"/>
                </a:solidFill>
                <a:latin typeface="Inconsolata"/>
              </a:rPr>
              <a:t> fastapi.testclient </a:t>
            </a:r>
            <a:r>
              <a:rPr sz="749" i="0">
                <a:solidFill>
                  <a:srgbClr val="FF8E6E"/>
                </a:solidFill>
                <a:latin typeface="Inconsolata"/>
              </a:rPr>
              <a:t>import</a:t>
            </a:r>
            <a:r>
              <a:rPr sz="749" i="0">
                <a:solidFill>
                  <a:srgbClr val="E6EDF3"/>
                </a:solidFill>
                <a:latin typeface="Inconsolata"/>
              </a:rPr>
              <a:t> </a:t>
            </a:r>
            <a:r>
              <a:rPr sz="749" i="0">
                <a:solidFill>
                  <a:srgbClr val="7FDBCA"/>
                </a:solidFill>
                <a:latin typeface="Inconsolata"/>
              </a:rPr>
              <a:t>TestClient</a:t>
            </a:r>
          </a:p>
          <a:p>
            <a:pPr>
              <a:lnSpc>
                <a:spcPct val="111166"/>
              </a:lnSpc>
              <a:spcAft>
                <a:spcPts val="0"/>
              </a:spcAft>
            </a:pPr>
            <a:r>
              <a:rPr sz="749" i="0">
                <a:solidFill>
                  <a:srgbClr val="5C6773"/>
                </a:solidFill>
                <a:latin typeface="Inconsolata"/>
              </a:rPr>
              <a:t>14  </a:t>
            </a:r>
            <a:r>
              <a:rPr sz="749" i="0">
                <a:solidFill>
                  <a:srgbClr val="E6EDF3"/>
                </a:solidFill>
                <a:latin typeface="Inconsolata"/>
              </a:rPr>
              <a:t> </a:t>
            </a:r>
          </a:p>
          <a:p>
            <a:pPr>
              <a:lnSpc>
                <a:spcPct val="111166"/>
              </a:lnSpc>
              <a:spcAft>
                <a:spcPts val="0"/>
              </a:spcAft>
            </a:pPr>
            <a:r>
              <a:rPr sz="749" i="0">
                <a:solidFill>
                  <a:srgbClr val="5C6773"/>
                </a:solidFill>
                <a:latin typeface="Inconsolata"/>
              </a:rPr>
              <a:t>15  </a:t>
            </a:r>
            <a:r>
              <a:rPr sz="749" i="0">
                <a:solidFill>
                  <a:srgbClr val="E6EDF3"/>
                </a:solidFill>
                <a:latin typeface="Inconsolata"/>
              </a:rPr>
              <a:t>app = </a:t>
            </a:r>
            <a:r>
              <a:rPr sz="749" i="0">
                <a:solidFill>
                  <a:srgbClr val="7FDBCA"/>
                </a:solidFill>
                <a:latin typeface="Inconsolata"/>
              </a:rPr>
              <a:t>FastAPI</a:t>
            </a:r>
            <a:r>
              <a:rPr sz="749" i="0">
                <a:solidFill>
                  <a:srgbClr val="E6EDF3"/>
                </a:solidFill>
                <a:latin typeface="Inconsolata"/>
              </a:rPr>
              <a:t>()</a:t>
            </a:r>
          </a:p>
          <a:p>
            <a:pPr>
              <a:lnSpc>
                <a:spcPct val="111166"/>
              </a:lnSpc>
              <a:spcAft>
                <a:spcPts val="0"/>
              </a:spcAft>
            </a:pPr>
            <a:r>
              <a:rPr sz="749" i="0">
                <a:solidFill>
                  <a:srgbClr val="5C6773"/>
                </a:solidFill>
                <a:latin typeface="Inconsolata"/>
              </a:rPr>
              <a:t>16  </a:t>
            </a:r>
            <a:r>
              <a:rPr sz="749" i="0">
                <a:solidFill>
                  <a:srgbClr val="E6EDF3"/>
                </a:solidFill>
                <a:latin typeface="Inconsolata"/>
              </a:rPr>
              <a:t>stats = {</a:t>
            </a:r>
            <a:r>
              <a:rPr sz="749" i="0">
                <a:solidFill>
                  <a:srgbClr val="A5D6A7"/>
                </a:solidFill>
                <a:latin typeface="Inconsolata"/>
              </a:rPr>
              <a:t>"requests"</a:t>
            </a:r>
            <a:r>
              <a:rPr sz="749" i="0">
                <a:solidFill>
                  <a:srgbClr val="E6EDF3"/>
                </a:solidFill>
                <a:latin typeface="Inconsolata"/>
              </a:rPr>
              <a:t>: </a:t>
            </a:r>
            <a:r>
              <a:rPr sz="749" i="0">
                <a:solidFill>
                  <a:srgbClr val="F9C97A"/>
                </a:solidFill>
                <a:latin typeface="Inconsolata"/>
              </a:rPr>
              <a:t>0</a:t>
            </a:r>
            <a:r>
              <a:rPr sz="749" i="0">
                <a:solidFill>
                  <a:srgbClr val="E6EDF3"/>
                </a:solidFill>
                <a:latin typeface="Inconsolata"/>
              </a:rPr>
              <a:t>, </a:t>
            </a:r>
            <a:r>
              <a:rPr sz="749" i="0">
                <a:solidFill>
                  <a:srgbClr val="A5D6A7"/>
                </a:solidFill>
                <a:latin typeface="Inconsolata"/>
              </a:rPr>
              <a:t>"total_ms"</a:t>
            </a:r>
            <a:r>
              <a:rPr sz="749" i="0">
                <a:solidFill>
                  <a:srgbClr val="E6EDF3"/>
                </a:solidFill>
                <a:latin typeface="Inconsolata"/>
              </a:rPr>
              <a:t>: </a:t>
            </a:r>
            <a:r>
              <a:rPr sz="749" i="0">
                <a:solidFill>
                  <a:srgbClr val="F9C97A"/>
                </a:solidFill>
                <a:latin typeface="Inconsolata"/>
              </a:rPr>
              <a:t>0</a:t>
            </a:r>
            <a:r>
              <a:rPr sz="749" i="0">
                <a:solidFill>
                  <a:srgbClr val="E6EDF3"/>
                </a:solidFill>
                <a:latin typeface="Inconsolata"/>
              </a:rPr>
              <a:t>.</a:t>
            </a:r>
            <a:r>
              <a:rPr sz="749" i="0">
                <a:solidFill>
                  <a:srgbClr val="F9C97A"/>
                </a:solidFill>
                <a:latin typeface="Inconsolata"/>
              </a:rPr>
              <a:t>0</a:t>
            </a:r>
            <a:r>
              <a:rPr sz="749" i="0">
                <a:solidFill>
                  <a:srgbClr val="E6EDF3"/>
                </a:solidFill>
                <a:latin typeface="Inconsolata"/>
              </a:rPr>
              <a:t>}</a:t>
            </a:r>
          </a:p>
          <a:p>
            <a:pPr>
              <a:lnSpc>
                <a:spcPct val="111166"/>
              </a:lnSpc>
              <a:spcAft>
                <a:spcPts val="0"/>
              </a:spcAft>
            </a:pPr>
            <a:r>
              <a:rPr sz="749" i="0">
                <a:solidFill>
                  <a:srgbClr val="5C6773"/>
                </a:solidFill>
                <a:latin typeface="Inconsolata"/>
              </a:rPr>
              <a:t>17  </a:t>
            </a:r>
            <a:r>
              <a:rPr sz="749" i="0">
                <a:solidFill>
                  <a:srgbClr val="E6EDF3"/>
                </a:solidFill>
                <a:latin typeface="Inconsolata"/>
              </a:rPr>
              <a:t> </a:t>
            </a:r>
          </a:p>
          <a:p>
            <a:pPr>
              <a:lnSpc>
                <a:spcPct val="111166"/>
              </a:lnSpc>
              <a:spcAft>
                <a:spcPts val="0"/>
              </a:spcAft>
            </a:pPr>
            <a:r>
              <a:rPr sz="749" i="0">
                <a:solidFill>
                  <a:srgbClr val="5C6773"/>
                </a:solidFill>
                <a:latin typeface="Inconsolata"/>
              </a:rPr>
              <a:t>18  </a:t>
            </a:r>
            <a:r>
              <a:rPr sz="749" i="0">
                <a:solidFill>
                  <a:srgbClr val="E6EDF3"/>
                </a:solidFill>
                <a:latin typeface="Inconsolata"/>
              </a:rPr>
              <a:t> </a:t>
            </a:r>
          </a:p>
          <a:p>
            <a:pPr>
              <a:lnSpc>
                <a:spcPct val="111166"/>
              </a:lnSpc>
              <a:spcAft>
                <a:spcPts val="0"/>
              </a:spcAft>
            </a:pPr>
            <a:r>
              <a:rPr sz="749" i="0">
                <a:solidFill>
                  <a:srgbClr val="5C6773"/>
                </a:solidFill>
                <a:latin typeface="Inconsolata"/>
              </a:rPr>
              <a:t>19  </a:t>
            </a:r>
            <a:r>
              <a:rPr sz="749" i="0">
                <a:solidFill>
                  <a:srgbClr val="F9C97A"/>
                </a:solidFill>
                <a:latin typeface="Inconsolata"/>
              </a:rPr>
              <a:t>@app.middleware</a:t>
            </a:r>
            <a:r>
              <a:rPr sz="749" i="0">
                <a:solidFill>
                  <a:srgbClr val="E6EDF3"/>
                </a:solidFill>
                <a:latin typeface="Inconsolata"/>
              </a:rPr>
              <a:t>(</a:t>
            </a:r>
            <a:r>
              <a:rPr sz="749" i="0">
                <a:solidFill>
                  <a:srgbClr val="A5D6A7"/>
                </a:solidFill>
                <a:latin typeface="Inconsolata"/>
              </a:rPr>
              <a:t>"http"</a:t>
            </a:r>
            <a:r>
              <a:rPr sz="749" i="0">
                <a:solidFill>
                  <a:srgbClr val="E6EDF3"/>
                </a:solidFill>
                <a:latin typeface="Inconsolata"/>
              </a:rPr>
              <a:t>)</a:t>
            </a:r>
          </a:p>
          <a:p>
            <a:pPr>
              <a:lnSpc>
                <a:spcPct val="111166"/>
              </a:lnSpc>
              <a:spcAft>
                <a:spcPts val="0"/>
              </a:spcAft>
            </a:pPr>
            <a:r>
              <a:rPr sz="749" i="0">
                <a:solidFill>
                  <a:srgbClr val="5C6773"/>
                </a:solidFill>
                <a:latin typeface="Inconsolata"/>
              </a:rPr>
              <a:t>20  </a:t>
            </a:r>
            <a:r>
              <a:rPr sz="749" i="0">
                <a:solidFill>
                  <a:srgbClr val="FF8E6E"/>
                </a:solidFill>
                <a:latin typeface="Inconsolata"/>
              </a:rPr>
              <a:t>async</a:t>
            </a:r>
            <a:r>
              <a:rPr sz="749" i="0">
                <a:solidFill>
                  <a:srgbClr val="E6EDF3"/>
                </a:solidFill>
                <a:latin typeface="Inconsolata"/>
              </a:rPr>
              <a:t> </a:t>
            </a:r>
            <a:r>
              <a:rPr sz="749" i="0">
                <a:solidFill>
                  <a:srgbClr val="FF8E6E"/>
                </a:solidFill>
                <a:latin typeface="Inconsolata"/>
              </a:rPr>
              <a:t>def</a:t>
            </a:r>
            <a:r>
              <a:rPr sz="749" i="0">
                <a:solidFill>
                  <a:srgbClr val="E6EDF3"/>
                </a:solidFill>
                <a:latin typeface="Inconsolata"/>
              </a:rPr>
              <a:t> </a:t>
            </a:r>
            <a:r>
              <a:rPr sz="749" i="0">
                <a:solidFill>
                  <a:srgbClr val="82B1FF"/>
                </a:solidFill>
                <a:latin typeface="Inconsolata"/>
              </a:rPr>
              <a:t>measure</a:t>
            </a:r>
            <a:r>
              <a:rPr sz="749" i="0">
                <a:solidFill>
                  <a:srgbClr val="E6EDF3"/>
                </a:solidFill>
                <a:latin typeface="Inconsolata"/>
              </a:rPr>
              <a:t>(request: </a:t>
            </a:r>
            <a:r>
              <a:rPr sz="749" i="0">
                <a:solidFill>
                  <a:srgbClr val="7FDBCA"/>
                </a:solidFill>
                <a:latin typeface="Inconsolata"/>
              </a:rPr>
              <a:t>Request</a:t>
            </a:r>
            <a:r>
              <a:rPr sz="749" i="0">
                <a:solidFill>
                  <a:srgbClr val="E6EDF3"/>
                </a:solidFill>
                <a:latin typeface="Inconsolata"/>
              </a:rPr>
              <a:t>, call_next):</a:t>
            </a:r>
          </a:p>
          <a:p>
            <a:pPr>
              <a:lnSpc>
                <a:spcPct val="111166"/>
              </a:lnSpc>
              <a:spcAft>
                <a:spcPts val="0"/>
              </a:spcAft>
            </a:pPr>
            <a:r>
              <a:rPr sz="749" i="0">
                <a:solidFill>
                  <a:srgbClr val="5C6773"/>
                </a:solidFill>
                <a:latin typeface="Inconsolata"/>
              </a:rPr>
              <a:t>21  </a:t>
            </a:r>
            <a:r>
              <a:rPr sz="749" i="0">
                <a:solidFill>
                  <a:srgbClr val="E6EDF3"/>
                </a:solidFill>
                <a:latin typeface="Inconsolata"/>
              </a:rPr>
              <a:t>    start = time.perf_counter()</a:t>
            </a:r>
          </a:p>
          <a:p>
            <a:pPr>
              <a:lnSpc>
                <a:spcPct val="111166"/>
              </a:lnSpc>
              <a:spcAft>
                <a:spcPts val="0"/>
              </a:spcAft>
            </a:pPr>
            <a:r>
              <a:rPr sz="749" i="0">
                <a:solidFill>
                  <a:srgbClr val="5C6773"/>
                </a:solidFill>
                <a:latin typeface="Inconsolata"/>
              </a:rPr>
              <a:t>22  </a:t>
            </a:r>
            <a:r>
              <a:rPr sz="749" i="0">
                <a:solidFill>
                  <a:srgbClr val="E6EDF3"/>
                </a:solidFill>
                <a:latin typeface="Inconsolata"/>
              </a:rPr>
              <a:t>    response = </a:t>
            </a:r>
            <a:r>
              <a:rPr sz="749" i="0">
                <a:solidFill>
                  <a:srgbClr val="FF8E6E"/>
                </a:solidFill>
                <a:latin typeface="Inconsolata"/>
              </a:rPr>
              <a:t>await</a:t>
            </a:r>
            <a:r>
              <a:rPr sz="749" i="0">
                <a:solidFill>
                  <a:srgbClr val="E6EDF3"/>
                </a:solidFill>
                <a:latin typeface="Inconsolata"/>
              </a:rPr>
              <a:t> call_next(request)</a:t>
            </a:r>
          </a:p>
          <a:p>
            <a:pPr>
              <a:lnSpc>
                <a:spcPct val="111166"/>
              </a:lnSpc>
              <a:spcAft>
                <a:spcPts val="0"/>
              </a:spcAft>
            </a:pPr>
            <a:r>
              <a:rPr sz="749" i="0">
                <a:solidFill>
                  <a:srgbClr val="5C6773"/>
                </a:solidFill>
                <a:latin typeface="Inconsolata"/>
              </a:rPr>
              <a:t>23  </a:t>
            </a:r>
            <a:r>
              <a:rPr sz="749" i="0">
                <a:solidFill>
                  <a:srgbClr val="E6EDF3"/>
                </a:solidFill>
                <a:latin typeface="Inconsolata"/>
              </a:rPr>
              <a:t>    stats[</a:t>
            </a:r>
            <a:r>
              <a:rPr sz="749" i="0">
                <a:solidFill>
                  <a:srgbClr val="A5D6A7"/>
                </a:solidFill>
                <a:latin typeface="Inconsolata"/>
              </a:rPr>
              <a:t>"requests"</a:t>
            </a:r>
            <a:r>
              <a:rPr sz="749" i="0">
                <a:solidFill>
                  <a:srgbClr val="E6EDF3"/>
                </a:solidFill>
                <a:latin typeface="Inconsolata"/>
              </a:rPr>
              <a:t>] += </a:t>
            </a:r>
            <a:r>
              <a:rPr sz="749" i="0">
                <a:solidFill>
                  <a:srgbClr val="F9C97A"/>
                </a:solidFill>
                <a:latin typeface="Inconsolata"/>
              </a:rPr>
              <a:t>1</a:t>
            </a:r>
          </a:p>
          <a:p>
            <a:pPr>
              <a:lnSpc>
                <a:spcPct val="111166"/>
              </a:lnSpc>
              <a:spcAft>
                <a:spcPts val="0"/>
              </a:spcAft>
            </a:pPr>
            <a:r>
              <a:rPr sz="749" i="0">
                <a:solidFill>
                  <a:srgbClr val="5C6773"/>
                </a:solidFill>
                <a:latin typeface="Inconsolata"/>
              </a:rPr>
              <a:t>24  </a:t>
            </a:r>
            <a:r>
              <a:rPr sz="749" i="0">
                <a:solidFill>
                  <a:srgbClr val="E6EDF3"/>
                </a:solidFill>
                <a:latin typeface="Inconsolata"/>
              </a:rPr>
              <a:t>    stats[</a:t>
            </a:r>
            <a:r>
              <a:rPr sz="749" i="0">
                <a:solidFill>
                  <a:srgbClr val="A5D6A7"/>
                </a:solidFill>
                <a:latin typeface="Inconsolata"/>
              </a:rPr>
              <a:t>"total_ms"</a:t>
            </a:r>
            <a:r>
              <a:rPr sz="749" i="0">
                <a:solidFill>
                  <a:srgbClr val="E6EDF3"/>
                </a:solidFill>
                <a:latin typeface="Inconsolata"/>
              </a:rPr>
              <a:t>] += (time.perf_counter() - start) * </a:t>
            </a:r>
            <a:r>
              <a:rPr sz="749" i="0">
                <a:solidFill>
                  <a:srgbClr val="F9C97A"/>
                </a:solidFill>
                <a:latin typeface="Inconsolata"/>
              </a:rPr>
              <a:t>1000</a:t>
            </a:r>
          </a:p>
          <a:p>
            <a:pPr>
              <a:lnSpc>
                <a:spcPct val="111166"/>
              </a:lnSpc>
              <a:spcAft>
                <a:spcPts val="0"/>
              </a:spcAft>
            </a:pPr>
            <a:r>
              <a:rPr sz="749" i="0">
                <a:solidFill>
                  <a:srgbClr val="5C6773"/>
                </a:solidFill>
                <a:latin typeface="Inconsolata"/>
              </a:rPr>
              <a:t>25  </a:t>
            </a:r>
            <a:r>
              <a:rPr sz="749" i="0">
                <a:solidFill>
                  <a:srgbClr val="E6EDF3"/>
                </a:solidFill>
                <a:latin typeface="Inconsolata"/>
              </a:rPr>
              <a:t>    </a:t>
            </a:r>
            <a:r>
              <a:rPr sz="749" i="0">
                <a:solidFill>
                  <a:srgbClr val="FF8E6E"/>
                </a:solidFill>
                <a:latin typeface="Inconsolata"/>
              </a:rPr>
              <a:t>return</a:t>
            </a:r>
            <a:r>
              <a:rPr sz="749" i="0">
                <a:solidFill>
                  <a:srgbClr val="E6EDF3"/>
                </a:solidFill>
                <a:latin typeface="Inconsolata"/>
              </a:rPr>
              <a:t> response</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04-metrics/before.py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11166"/>
              </a:lnSpc>
              <a:spcAft>
                <a:spcPts val="0"/>
              </a:spcAft>
            </a:pPr>
            <a:r>
              <a:rPr sz="749" i="0">
                <a:solidFill>
                  <a:srgbClr val="5C6773"/>
                </a:solidFill>
                <a:latin typeface="Inconsolata"/>
              </a:rPr>
              <a:t>28  </a:t>
            </a:r>
            <a:r>
              <a:rPr sz="749" i="0">
                <a:solidFill>
                  <a:srgbClr val="F9C97A"/>
                </a:solidFill>
                <a:latin typeface="Inconsolata"/>
              </a:rPr>
              <a:t>@app.get</a:t>
            </a:r>
            <a:r>
              <a:rPr sz="749" i="0">
                <a:solidFill>
                  <a:srgbClr val="E6EDF3"/>
                </a:solidFill>
                <a:latin typeface="Inconsolata"/>
              </a:rPr>
              <a:t>(</a:t>
            </a:r>
            <a:r>
              <a:rPr sz="749" i="0">
                <a:solidFill>
                  <a:srgbClr val="A5D6A7"/>
                </a:solidFill>
                <a:latin typeface="Inconsolata"/>
              </a:rPr>
              <a:t>"/stats"</a:t>
            </a:r>
            <a:r>
              <a:rPr sz="749" i="0">
                <a:solidFill>
                  <a:srgbClr val="E6EDF3"/>
                </a:solidFill>
                <a:latin typeface="Inconsolata"/>
              </a:rPr>
              <a:t>)</a:t>
            </a:r>
          </a:p>
          <a:p>
            <a:pPr>
              <a:lnSpc>
                <a:spcPct val="111166"/>
              </a:lnSpc>
              <a:spcAft>
                <a:spcPts val="0"/>
              </a:spcAft>
            </a:pPr>
            <a:r>
              <a:rPr sz="749" i="0">
                <a:solidFill>
                  <a:srgbClr val="5C6773"/>
                </a:solidFill>
                <a:latin typeface="Inconsolata"/>
              </a:rPr>
              <a:t>29  </a:t>
            </a:r>
            <a:r>
              <a:rPr sz="749" i="0">
                <a:solidFill>
                  <a:srgbClr val="FF8E6E"/>
                </a:solidFill>
                <a:latin typeface="Inconsolata"/>
              </a:rPr>
              <a:t>def</a:t>
            </a:r>
            <a:r>
              <a:rPr sz="749" i="0">
                <a:solidFill>
                  <a:srgbClr val="E6EDF3"/>
                </a:solidFill>
                <a:latin typeface="Inconsolata"/>
              </a:rPr>
              <a:t> </a:t>
            </a:r>
            <a:r>
              <a:rPr sz="749" i="0">
                <a:solidFill>
                  <a:srgbClr val="82B1FF"/>
                </a:solidFill>
                <a:latin typeface="Inconsolata"/>
              </a:rPr>
              <a:t>get_stats</a:t>
            </a:r>
            <a:r>
              <a:rPr sz="749" i="0">
                <a:solidFill>
                  <a:srgbClr val="E6EDF3"/>
                </a:solidFill>
                <a:latin typeface="Inconsolata"/>
              </a:rPr>
              <a:t>():</a:t>
            </a:r>
          </a:p>
          <a:p>
            <a:pPr>
              <a:lnSpc>
                <a:spcPct val="111166"/>
              </a:lnSpc>
              <a:spcAft>
                <a:spcPts val="0"/>
              </a:spcAft>
            </a:pPr>
            <a:r>
              <a:rPr sz="749" i="0">
                <a:solidFill>
                  <a:srgbClr val="5C6773"/>
                </a:solidFill>
                <a:latin typeface="Inconsolata"/>
              </a:rPr>
              <a:t>30  </a:t>
            </a:r>
            <a:r>
              <a:rPr sz="749" i="0">
                <a:solidFill>
                  <a:srgbClr val="E6EDF3"/>
                </a:solidFill>
                <a:latin typeface="Inconsolata"/>
              </a:rPr>
              <a:t>    avg = stats[</a:t>
            </a:r>
            <a:r>
              <a:rPr sz="749" i="0">
                <a:solidFill>
                  <a:srgbClr val="A5D6A7"/>
                </a:solidFill>
                <a:latin typeface="Inconsolata"/>
              </a:rPr>
              <a:t>"total_ms"</a:t>
            </a:r>
            <a:r>
              <a:rPr sz="749" i="0">
                <a:solidFill>
                  <a:srgbClr val="E6EDF3"/>
                </a:solidFill>
                <a:latin typeface="Inconsolata"/>
              </a:rPr>
              <a:t>] / stats[</a:t>
            </a:r>
            <a:r>
              <a:rPr sz="749" i="0">
                <a:solidFill>
                  <a:srgbClr val="A5D6A7"/>
                </a:solidFill>
                <a:latin typeface="Inconsolata"/>
              </a:rPr>
              <a:t>"requests"</a:t>
            </a:r>
            <a:r>
              <a:rPr sz="749" i="0">
                <a:solidFill>
                  <a:srgbClr val="E6EDF3"/>
                </a:solidFill>
                <a:latin typeface="Inconsolata"/>
              </a:rPr>
              <a:t>]</a:t>
            </a:r>
          </a:p>
          <a:p>
            <a:pPr>
              <a:lnSpc>
                <a:spcPct val="111166"/>
              </a:lnSpc>
              <a:spcAft>
                <a:spcPts val="0"/>
              </a:spcAft>
            </a:pPr>
            <a:r>
              <a:rPr sz="749" i="0">
                <a:solidFill>
                  <a:srgbClr val="5C6773"/>
                </a:solidFill>
                <a:latin typeface="Inconsolata"/>
              </a:rPr>
              <a:t>31  </a:t>
            </a:r>
            <a:r>
              <a:rPr sz="749" i="0">
                <a:solidFill>
                  <a:srgbClr val="E6EDF3"/>
                </a:solidFill>
                <a:latin typeface="Inconsolata"/>
              </a:rPr>
              <a:t>    </a:t>
            </a:r>
            <a:r>
              <a:rPr sz="749" i="0">
                <a:solidFill>
                  <a:srgbClr val="FF8E6E"/>
                </a:solidFill>
                <a:latin typeface="Inconsolata"/>
              </a:rPr>
              <a:t>return</a:t>
            </a:r>
            <a:r>
              <a:rPr sz="749" i="0">
                <a:solidFill>
                  <a:srgbClr val="E6EDF3"/>
                </a:solidFill>
                <a:latin typeface="Inconsolata"/>
              </a:rPr>
              <a:t> {</a:t>
            </a:r>
            <a:r>
              <a:rPr sz="749" i="0">
                <a:solidFill>
                  <a:srgbClr val="A5D6A7"/>
                </a:solidFill>
                <a:latin typeface="Inconsolata"/>
              </a:rPr>
              <a:t>"requests"</a:t>
            </a:r>
            <a:r>
              <a:rPr sz="749" i="0">
                <a:solidFill>
                  <a:srgbClr val="E6EDF3"/>
                </a:solidFill>
                <a:latin typeface="Inconsolata"/>
              </a:rPr>
              <a:t>: stats[</a:t>
            </a:r>
            <a:r>
              <a:rPr sz="749" i="0">
                <a:solidFill>
                  <a:srgbClr val="A5D6A7"/>
                </a:solidFill>
                <a:latin typeface="Inconsolata"/>
              </a:rPr>
              <a:t>"requests"</a:t>
            </a:r>
            <a:r>
              <a:rPr sz="749" i="0">
                <a:solidFill>
                  <a:srgbClr val="E6EDF3"/>
                </a:solidFill>
                <a:latin typeface="Inconsolata"/>
              </a:rPr>
              <a:t>], </a:t>
            </a:r>
            <a:r>
              <a:rPr sz="749" i="0">
                <a:solidFill>
                  <a:srgbClr val="A5D6A7"/>
                </a:solidFill>
                <a:latin typeface="Inconsolata"/>
              </a:rPr>
              <a:t>"avg_ms"</a:t>
            </a:r>
            <a:r>
              <a:rPr sz="749" i="0">
                <a:solidFill>
                  <a:srgbClr val="E6EDF3"/>
                </a:solidFill>
                <a:latin typeface="Inconsolata"/>
              </a:rPr>
              <a:t>: round(avg, </a:t>
            </a:r>
            <a:r>
              <a:rPr sz="749" i="0">
                <a:solidFill>
                  <a:srgbClr val="F9C97A"/>
                </a:solidFill>
                <a:latin typeface="Inconsolata"/>
              </a:rPr>
              <a:t>1</a:t>
            </a:r>
            <a:r>
              <a:rPr sz="749" i="0">
                <a:solidFill>
                  <a:srgbClr val="E6EDF3"/>
                </a:solidFill>
                <a:latin typeface="Inconsolata"/>
              </a:rPr>
              <a:t>)}</a:t>
            </a:r>
          </a:p>
          <a:p>
            <a:pPr>
              <a:lnSpc>
                <a:spcPct val="111166"/>
              </a:lnSpc>
              <a:spcAft>
                <a:spcPts val="0"/>
              </a:spcAft>
            </a:pPr>
            <a:r>
              <a:rPr sz="749" i="0">
                <a:solidFill>
                  <a:srgbClr val="5C6773"/>
                </a:solidFill>
                <a:latin typeface="Inconsolata"/>
              </a:rPr>
              <a:t>32  </a:t>
            </a:r>
            <a:r>
              <a:rPr sz="749" i="0">
                <a:solidFill>
                  <a:srgbClr val="E6EDF3"/>
                </a:solidFill>
                <a:latin typeface="Inconsolata"/>
              </a:rPr>
              <a:t> </a:t>
            </a:r>
          </a:p>
          <a:p>
            <a:pPr>
              <a:lnSpc>
                <a:spcPct val="111166"/>
              </a:lnSpc>
              <a:spcAft>
                <a:spcPts val="0"/>
              </a:spcAft>
            </a:pPr>
            <a:r>
              <a:rPr sz="749" i="0">
                <a:solidFill>
                  <a:srgbClr val="5C6773"/>
                </a:solidFill>
                <a:latin typeface="Inconsolata"/>
              </a:rPr>
              <a:t>33  </a:t>
            </a:r>
            <a:r>
              <a:rPr sz="749" i="0">
                <a:solidFill>
                  <a:srgbClr val="E6EDF3"/>
                </a:solidFill>
                <a:latin typeface="Inconsolata"/>
              </a:rPr>
              <a:t> </a:t>
            </a:r>
          </a:p>
          <a:p>
            <a:pPr>
              <a:lnSpc>
                <a:spcPct val="111166"/>
              </a:lnSpc>
              <a:spcAft>
                <a:spcPts val="0"/>
              </a:spcAft>
            </a:pPr>
            <a:r>
              <a:rPr sz="749" i="0">
                <a:solidFill>
                  <a:srgbClr val="5C6773"/>
                </a:solidFill>
                <a:latin typeface="Inconsolata"/>
              </a:rPr>
              <a:t>34  </a:t>
            </a:r>
            <a:r>
              <a:rPr sz="749" i="0">
                <a:solidFill>
                  <a:srgbClr val="F9C97A"/>
                </a:solidFill>
                <a:latin typeface="Inconsolata"/>
              </a:rPr>
              <a:t>@app.get</a:t>
            </a:r>
            <a:r>
              <a:rPr sz="749" i="0">
                <a:solidFill>
                  <a:srgbClr val="E6EDF3"/>
                </a:solidFill>
                <a:latin typeface="Inconsolata"/>
              </a:rPr>
              <a:t>(</a:t>
            </a:r>
            <a:r>
              <a:rPr sz="749" i="0">
                <a:solidFill>
                  <a:srgbClr val="A5D6A7"/>
                </a:solidFill>
                <a:latin typeface="Inconsolata"/>
              </a:rPr>
              <a:t>"/orders/{order_id}"</a:t>
            </a:r>
            <a:r>
              <a:rPr sz="749" i="0">
                <a:solidFill>
                  <a:srgbClr val="E6EDF3"/>
                </a:solidFill>
                <a:latin typeface="Inconsolata"/>
              </a:rPr>
              <a:t>)</a:t>
            </a:r>
          </a:p>
          <a:p>
            <a:pPr>
              <a:lnSpc>
                <a:spcPct val="111166"/>
              </a:lnSpc>
              <a:spcAft>
                <a:spcPts val="0"/>
              </a:spcAft>
            </a:pPr>
            <a:r>
              <a:rPr sz="749" i="0">
                <a:solidFill>
                  <a:srgbClr val="5C6773"/>
                </a:solidFill>
                <a:latin typeface="Inconsolata"/>
              </a:rPr>
              <a:t>35  </a:t>
            </a:r>
            <a:r>
              <a:rPr sz="749" i="0">
                <a:solidFill>
                  <a:srgbClr val="FF8E6E"/>
                </a:solidFill>
                <a:latin typeface="Inconsolata"/>
              </a:rPr>
              <a:t>def</a:t>
            </a:r>
            <a:r>
              <a:rPr sz="749" i="0">
                <a:solidFill>
                  <a:srgbClr val="E6EDF3"/>
                </a:solidFill>
                <a:latin typeface="Inconsolata"/>
              </a:rPr>
              <a:t> </a:t>
            </a:r>
            <a:r>
              <a:rPr sz="749" i="0">
                <a:solidFill>
                  <a:srgbClr val="82B1FF"/>
                </a:solidFill>
                <a:latin typeface="Inconsolata"/>
              </a:rPr>
              <a:t>get_order</a:t>
            </a:r>
            <a:r>
              <a:rPr sz="749" i="0">
                <a:solidFill>
                  <a:srgbClr val="E6EDF3"/>
                </a:solidFill>
                <a:latin typeface="Inconsolata"/>
              </a:rPr>
              <a:t>(order_id: </a:t>
            </a:r>
            <a:r>
              <a:rPr sz="749" i="0">
                <a:solidFill>
                  <a:srgbClr val="C3A6FF"/>
                </a:solidFill>
                <a:latin typeface="Inconsolata"/>
              </a:rPr>
              <a:t>int</a:t>
            </a:r>
            <a:r>
              <a:rPr sz="749" i="0">
                <a:solidFill>
                  <a:srgbClr val="E6EDF3"/>
                </a:solidFill>
                <a:latin typeface="Inconsolata"/>
              </a:rPr>
              <a:t>):</a:t>
            </a:r>
          </a:p>
          <a:p>
            <a:pPr>
              <a:lnSpc>
                <a:spcPct val="111166"/>
              </a:lnSpc>
              <a:spcAft>
                <a:spcPts val="0"/>
              </a:spcAft>
            </a:pPr>
            <a:r>
              <a:rPr sz="749" i="0">
                <a:solidFill>
                  <a:srgbClr val="5C6773"/>
                </a:solidFill>
                <a:latin typeface="Inconsolata"/>
              </a:rPr>
              <a:t>36  </a:t>
            </a:r>
            <a:r>
              <a:rPr sz="749" i="0">
                <a:solidFill>
                  <a:srgbClr val="E6EDF3"/>
                </a:solidFill>
                <a:latin typeface="Inconsolata"/>
              </a:rPr>
              <a:t>    </a:t>
            </a:r>
            <a:r>
              <a:rPr sz="749" i="0">
                <a:solidFill>
                  <a:srgbClr val="FF8E6E"/>
                </a:solidFill>
                <a:latin typeface="Inconsolata"/>
              </a:rPr>
              <a:t>if</a:t>
            </a:r>
            <a:r>
              <a:rPr sz="749" i="0">
                <a:solidFill>
                  <a:srgbClr val="E6EDF3"/>
                </a:solidFill>
                <a:latin typeface="Inconsolata"/>
              </a:rPr>
              <a:t> order_id % </a:t>
            </a:r>
            <a:r>
              <a:rPr sz="749" i="0">
                <a:solidFill>
                  <a:srgbClr val="F9C97A"/>
                </a:solidFill>
                <a:latin typeface="Inconsolata"/>
              </a:rPr>
              <a:t>20</a:t>
            </a:r>
            <a:r>
              <a:rPr sz="749" i="0">
                <a:solidFill>
                  <a:srgbClr val="E6EDF3"/>
                </a:solidFill>
                <a:latin typeface="Inconsolata"/>
              </a:rPr>
              <a:t> == </a:t>
            </a:r>
            <a:r>
              <a:rPr sz="749" i="0">
                <a:solidFill>
                  <a:srgbClr val="F9C97A"/>
                </a:solidFill>
                <a:latin typeface="Inconsolata"/>
              </a:rPr>
              <a:t>0</a:t>
            </a:r>
            <a:r>
              <a:rPr sz="749" i="0">
                <a:solidFill>
                  <a:srgbClr val="E6EDF3"/>
                </a:solidFill>
                <a:latin typeface="Inconsolata"/>
              </a:rPr>
              <a:t>:</a:t>
            </a:r>
          </a:p>
          <a:p>
            <a:pPr>
              <a:lnSpc>
                <a:spcPct val="111166"/>
              </a:lnSpc>
              <a:spcAft>
                <a:spcPts val="0"/>
              </a:spcAft>
            </a:pPr>
            <a:r>
              <a:rPr sz="749" i="0">
                <a:solidFill>
                  <a:srgbClr val="5C6773"/>
                </a:solidFill>
                <a:latin typeface="Inconsolata"/>
              </a:rPr>
              <a:t>37  </a:t>
            </a:r>
            <a:r>
              <a:rPr sz="749" i="0">
                <a:solidFill>
                  <a:srgbClr val="E6EDF3"/>
                </a:solidFill>
                <a:latin typeface="Inconsolata"/>
              </a:rPr>
              <a:t>        time.sleep(</a:t>
            </a:r>
            <a:r>
              <a:rPr sz="749" i="0">
                <a:solidFill>
                  <a:srgbClr val="F9C97A"/>
                </a:solidFill>
                <a:latin typeface="Inconsolata"/>
              </a:rPr>
              <a:t>0</a:t>
            </a:r>
            <a:r>
              <a:rPr sz="749" i="0">
                <a:solidFill>
                  <a:srgbClr val="E6EDF3"/>
                </a:solidFill>
                <a:latin typeface="Inconsolata"/>
              </a:rPr>
              <a:t>.</a:t>
            </a:r>
            <a:r>
              <a:rPr sz="749" i="0">
                <a:solidFill>
                  <a:srgbClr val="F9C97A"/>
                </a:solidFill>
                <a:latin typeface="Inconsolata"/>
              </a:rPr>
              <a:t>3</a:t>
            </a:r>
            <a:r>
              <a:rPr sz="749" i="0">
                <a:solidFill>
                  <a:srgbClr val="E6EDF3"/>
                </a:solidFill>
                <a:latin typeface="Inconsolata"/>
              </a:rPr>
              <a:t>)              </a:t>
            </a:r>
            <a:r>
              <a:rPr sz="749" i="1">
                <a:solidFill>
                  <a:srgbClr val="8B98A8"/>
                </a:solidFill>
                <a:latin typeface="Inconsolata"/>
              </a:rPr>
              <a:t># anggap: query lambat</a:t>
            </a:r>
          </a:p>
          <a:p>
            <a:pPr>
              <a:lnSpc>
                <a:spcPct val="111166"/>
              </a:lnSpc>
              <a:spcAft>
                <a:spcPts val="0"/>
              </a:spcAft>
            </a:pPr>
            <a:r>
              <a:rPr sz="749" i="0">
                <a:solidFill>
                  <a:srgbClr val="5C6773"/>
                </a:solidFill>
                <a:latin typeface="Inconsolata"/>
              </a:rPr>
              <a:t>38  </a:t>
            </a:r>
            <a:r>
              <a:rPr sz="749" i="0">
                <a:solidFill>
                  <a:srgbClr val="E6EDF3"/>
                </a:solidFill>
                <a:latin typeface="Inconsolata"/>
              </a:rPr>
              <a:t>    </a:t>
            </a:r>
            <a:r>
              <a:rPr sz="749" i="0">
                <a:solidFill>
                  <a:srgbClr val="FF8E6E"/>
                </a:solidFill>
                <a:latin typeface="Inconsolata"/>
              </a:rPr>
              <a:t>if</a:t>
            </a:r>
            <a:r>
              <a:rPr sz="749" i="0">
                <a:solidFill>
                  <a:srgbClr val="E6EDF3"/>
                </a:solidFill>
                <a:latin typeface="Inconsolata"/>
              </a:rPr>
              <a:t> order_id % </a:t>
            </a:r>
            <a:r>
              <a:rPr sz="749" i="0">
                <a:solidFill>
                  <a:srgbClr val="F9C97A"/>
                </a:solidFill>
                <a:latin typeface="Inconsolata"/>
              </a:rPr>
              <a:t>25</a:t>
            </a:r>
            <a:r>
              <a:rPr sz="749" i="0">
                <a:solidFill>
                  <a:srgbClr val="E6EDF3"/>
                </a:solidFill>
                <a:latin typeface="Inconsolata"/>
              </a:rPr>
              <a:t> == </a:t>
            </a:r>
            <a:r>
              <a:rPr sz="749" i="0">
                <a:solidFill>
                  <a:srgbClr val="F9C97A"/>
                </a:solidFill>
                <a:latin typeface="Inconsolata"/>
              </a:rPr>
              <a:t>0</a:t>
            </a:r>
            <a:r>
              <a:rPr sz="749" i="0">
                <a:solidFill>
                  <a:srgbClr val="E6EDF3"/>
                </a:solidFill>
                <a:latin typeface="Inconsolata"/>
              </a:rPr>
              <a:t>:</a:t>
            </a:r>
          </a:p>
          <a:p>
            <a:pPr>
              <a:lnSpc>
                <a:spcPct val="111166"/>
              </a:lnSpc>
              <a:spcAft>
                <a:spcPts val="0"/>
              </a:spcAft>
            </a:pPr>
            <a:r>
              <a:rPr sz="749" i="0">
                <a:solidFill>
                  <a:srgbClr val="5C6773"/>
                </a:solidFill>
                <a:latin typeface="Inconsolata"/>
              </a:rPr>
              <a:t>39  </a:t>
            </a:r>
            <a:r>
              <a:rPr sz="749" i="0">
                <a:solidFill>
                  <a:srgbClr val="E6EDF3"/>
                </a:solidFill>
                <a:latin typeface="Inconsolata"/>
              </a:rPr>
              <a:t>        </a:t>
            </a:r>
            <a:r>
              <a:rPr sz="749" i="0">
                <a:solidFill>
                  <a:srgbClr val="FF8E6E"/>
                </a:solidFill>
                <a:latin typeface="Inconsolata"/>
              </a:rPr>
              <a:t>raise</a:t>
            </a:r>
            <a:r>
              <a:rPr sz="749" i="0">
                <a:solidFill>
                  <a:srgbClr val="E6EDF3"/>
                </a:solidFill>
                <a:latin typeface="Inconsolata"/>
              </a:rPr>
              <a:t> </a:t>
            </a:r>
            <a:r>
              <a:rPr sz="749" i="0">
                <a:solidFill>
                  <a:srgbClr val="7FDBCA"/>
                </a:solidFill>
                <a:latin typeface="Inconsolata"/>
              </a:rPr>
              <a:t>HTTPException</a:t>
            </a:r>
            <a:r>
              <a:rPr sz="749" i="0">
                <a:solidFill>
                  <a:srgbClr val="E6EDF3"/>
                </a:solidFill>
                <a:latin typeface="Inconsolata"/>
              </a:rPr>
              <a:t>(</a:t>
            </a:r>
            <a:r>
              <a:rPr sz="749" i="0">
                <a:solidFill>
                  <a:srgbClr val="F9C97A"/>
                </a:solidFill>
                <a:latin typeface="Inconsolata"/>
              </a:rPr>
              <a:t>500</a:t>
            </a:r>
            <a:r>
              <a:rPr sz="749" i="0">
                <a:solidFill>
                  <a:srgbClr val="E6EDF3"/>
                </a:solidFill>
                <a:latin typeface="Inconsolata"/>
              </a:rPr>
              <a:t>, </a:t>
            </a:r>
            <a:r>
              <a:rPr sz="749" i="0">
                <a:solidFill>
                  <a:srgbClr val="A5D6A7"/>
                </a:solidFill>
                <a:latin typeface="Inconsolata"/>
              </a:rPr>
              <a:t>"database error"</a:t>
            </a:r>
            <a:r>
              <a:rPr sz="749" i="0">
                <a:solidFill>
                  <a:srgbClr val="E6EDF3"/>
                </a:solidFill>
                <a:latin typeface="Inconsolata"/>
              </a:rPr>
              <a:t>)</a:t>
            </a:r>
          </a:p>
          <a:p>
            <a:pPr>
              <a:lnSpc>
                <a:spcPct val="111166"/>
              </a:lnSpc>
              <a:spcAft>
                <a:spcPts val="0"/>
              </a:spcAft>
            </a:pPr>
            <a:r>
              <a:rPr sz="749" i="0">
                <a:solidFill>
                  <a:srgbClr val="5C6773"/>
                </a:solidFill>
                <a:latin typeface="Inconsolata"/>
              </a:rPr>
              <a:t>40  </a:t>
            </a:r>
            <a:r>
              <a:rPr sz="749" i="0">
                <a:solidFill>
                  <a:srgbClr val="E6EDF3"/>
                </a:solidFill>
                <a:latin typeface="Inconsolata"/>
              </a:rPr>
              <a:t>    </a:t>
            </a:r>
            <a:r>
              <a:rPr sz="749" i="0">
                <a:solidFill>
                  <a:srgbClr val="FF8E6E"/>
                </a:solidFill>
                <a:latin typeface="Inconsolata"/>
              </a:rPr>
              <a:t>return</a:t>
            </a:r>
            <a:r>
              <a:rPr sz="749" i="0">
                <a:solidFill>
                  <a:srgbClr val="E6EDF3"/>
                </a:solidFill>
                <a:latin typeface="Inconsolata"/>
              </a:rPr>
              <a:t> {</a:t>
            </a:r>
            <a:r>
              <a:rPr sz="749" i="0">
                <a:solidFill>
                  <a:srgbClr val="A5D6A7"/>
                </a:solidFill>
                <a:latin typeface="Inconsolata"/>
              </a:rPr>
              <a:t>"id"</a:t>
            </a:r>
            <a:r>
              <a:rPr sz="749" i="0">
                <a:solidFill>
                  <a:srgbClr val="E6EDF3"/>
                </a:solidFill>
                <a:latin typeface="Inconsolata"/>
              </a:rPr>
              <a:t>: order_id}</a:t>
            </a:r>
          </a:p>
          <a:p>
            <a:pPr>
              <a:lnSpc>
                <a:spcPct val="111166"/>
              </a:lnSpc>
              <a:spcAft>
                <a:spcPts val="0"/>
              </a:spcAft>
            </a:pPr>
            <a:r>
              <a:rPr sz="749" i="0">
                <a:solidFill>
                  <a:srgbClr val="5C6773"/>
                </a:solidFill>
                <a:latin typeface="Inconsolata"/>
              </a:rPr>
              <a:t>41  </a:t>
            </a:r>
            <a:r>
              <a:rPr sz="749" i="0">
                <a:solidFill>
                  <a:srgbClr val="E6EDF3"/>
                </a:solidFill>
                <a:latin typeface="Inconsolata"/>
              </a:rPr>
              <a:t> </a:t>
            </a:r>
          </a:p>
          <a:p>
            <a:pPr>
              <a:lnSpc>
                <a:spcPct val="111166"/>
              </a:lnSpc>
              <a:spcAft>
                <a:spcPts val="0"/>
              </a:spcAft>
            </a:pPr>
            <a:r>
              <a:rPr sz="749" i="0">
                <a:solidFill>
                  <a:srgbClr val="5C6773"/>
                </a:solidFill>
                <a:latin typeface="Inconsolata"/>
              </a:rPr>
              <a:t>42  </a:t>
            </a:r>
            <a:r>
              <a:rPr sz="749" i="0">
                <a:solidFill>
                  <a:srgbClr val="E6EDF3"/>
                </a:solidFill>
                <a:latin typeface="Inconsolata"/>
              </a:rPr>
              <a:t> </a:t>
            </a:r>
          </a:p>
          <a:p>
            <a:pPr>
              <a:lnSpc>
                <a:spcPct val="111166"/>
              </a:lnSpc>
              <a:spcAft>
                <a:spcPts val="0"/>
              </a:spcAft>
            </a:pPr>
            <a:r>
              <a:rPr sz="749" i="0">
                <a:solidFill>
                  <a:srgbClr val="5C6773"/>
                </a:solidFill>
                <a:latin typeface="Inconsolata"/>
              </a:rPr>
              <a:t>43  </a:t>
            </a:r>
            <a:r>
              <a:rPr sz="749" i="0">
                <a:solidFill>
                  <a:srgbClr val="FF8E6E"/>
                </a:solidFill>
                <a:latin typeface="Inconsolata"/>
              </a:rPr>
              <a:t>if</a:t>
            </a:r>
            <a:r>
              <a:rPr sz="749" i="0">
                <a:solidFill>
                  <a:srgbClr val="E6EDF3"/>
                </a:solidFill>
                <a:latin typeface="Inconsolata"/>
              </a:rPr>
              <a:t> __name__ == </a:t>
            </a:r>
            <a:r>
              <a:rPr sz="749" i="0">
                <a:solidFill>
                  <a:srgbClr val="A5D6A7"/>
                </a:solidFill>
                <a:latin typeface="Inconsolata"/>
              </a:rPr>
              <a:t>"__main__"</a:t>
            </a:r>
            <a:r>
              <a:rPr sz="749" i="0">
                <a:solidFill>
                  <a:srgbClr val="E6EDF3"/>
                </a:solidFill>
                <a:latin typeface="Inconsolata"/>
              </a:rPr>
              <a:t>:</a:t>
            </a:r>
          </a:p>
          <a:p>
            <a:pPr>
              <a:lnSpc>
                <a:spcPct val="111166"/>
              </a:lnSpc>
              <a:spcAft>
                <a:spcPts val="0"/>
              </a:spcAft>
            </a:pPr>
            <a:r>
              <a:rPr sz="749" i="0">
                <a:solidFill>
                  <a:srgbClr val="5C6773"/>
                </a:solidFill>
                <a:latin typeface="Inconsolata"/>
              </a:rPr>
              <a:t>44  </a:t>
            </a:r>
            <a:r>
              <a:rPr sz="749" i="0">
                <a:solidFill>
                  <a:srgbClr val="E6EDF3"/>
                </a:solidFill>
                <a:latin typeface="Inconsolata"/>
              </a:rPr>
              <a:t>    client = </a:t>
            </a:r>
            <a:r>
              <a:rPr sz="749" i="0">
                <a:solidFill>
                  <a:srgbClr val="7FDBCA"/>
                </a:solidFill>
                <a:latin typeface="Inconsolata"/>
              </a:rPr>
              <a:t>TestClient</a:t>
            </a:r>
            <a:r>
              <a:rPr sz="749" i="0">
                <a:solidFill>
                  <a:srgbClr val="E6EDF3"/>
                </a:solidFill>
                <a:latin typeface="Inconsolata"/>
              </a:rPr>
              <a:t>(app, raise_server_exceptions=</a:t>
            </a:r>
            <a:r>
              <a:rPr sz="749" i="0">
                <a:solidFill>
                  <a:srgbClr val="FF8E6E"/>
                </a:solidFill>
                <a:latin typeface="Inconsolata"/>
              </a:rPr>
              <a:t>False</a:t>
            </a:r>
            <a:r>
              <a:rPr sz="749" i="0">
                <a:solidFill>
                  <a:srgbClr val="E6EDF3"/>
                </a:solidFill>
                <a:latin typeface="Inconsolata"/>
              </a:rPr>
              <a:t>)</a:t>
            </a:r>
          </a:p>
          <a:p>
            <a:pPr>
              <a:lnSpc>
                <a:spcPct val="111166"/>
              </a:lnSpc>
              <a:spcAft>
                <a:spcPts val="0"/>
              </a:spcAft>
            </a:pPr>
            <a:r>
              <a:rPr sz="749" i="0">
                <a:solidFill>
                  <a:srgbClr val="5C6773"/>
                </a:solidFill>
                <a:latin typeface="Inconsolata"/>
              </a:rPr>
              <a:t>45  </a:t>
            </a:r>
            <a:r>
              <a:rPr sz="749" i="0">
                <a:solidFill>
                  <a:srgbClr val="E6EDF3"/>
                </a:solidFill>
                <a:latin typeface="Inconsolata"/>
              </a:rPr>
              <a:t>    </a:t>
            </a:r>
            <a:r>
              <a:rPr sz="749" i="0">
                <a:solidFill>
                  <a:srgbClr val="FF8E6E"/>
                </a:solidFill>
                <a:latin typeface="Inconsolata"/>
              </a:rPr>
              <a:t>for</a:t>
            </a:r>
            <a:r>
              <a:rPr sz="749" i="0">
                <a:solidFill>
                  <a:srgbClr val="E6EDF3"/>
                </a:solidFill>
                <a:latin typeface="Inconsolata"/>
              </a:rPr>
              <a:t> order_id </a:t>
            </a:r>
            <a:r>
              <a:rPr sz="749" i="0">
                <a:solidFill>
                  <a:srgbClr val="FF8E6E"/>
                </a:solidFill>
                <a:latin typeface="Inconsolata"/>
              </a:rPr>
              <a:t>in</a:t>
            </a:r>
            <a:r>
              <a:rPr sz="749" i="0">
                <a:solidFill>
                  <a:srgbClr val="E6EDF3"/>
                </a:solidFill>
                <a:latin typeface="Inconsolata"/>
              </a:rPr>
              <a:t> </a:t>
            </a:r>
            <a:r>
              <a:rPr sz="749" i="0">
                <a:solidFill>
                  <a:srgbClr val="C3A6FF"/>
                </a:solidFill>
                <a:latin typeface="Inconsolata"/>
              </a:rPr>
              <a:t>range</a:t>
            </a:r>
            <a:r>
              <a:rPr sz="749" i="0">
                <a:solidFill>
                  <a:srgbClr val="E6EDF3"/>
                </a:solidFill>
                <a:latin typeface="Inconsolata"/>
              </a:rPr>
              <a:t>(</a:t>
            </a:r>
            <a:r>
              <a:rPr sz="749" i="0">
                <a:solidFill>
                  <a:srgbClr val="F9C97A"/>
                </a:solidFill>
                <a:latin typeface="Inconsolata"/>
              </a:rPr>
              <a:t>1</a:t>
            </a:r>
            <a:r>
              <a:rPr sz="749" i="0">
                <a:solidFill>
                  <a:srgbClr val="E6EDF3"/>
                </a:solidFill>
                <a:latin typeface="Inconsolata"/>
              </a:rPr>
              <a:t>, </a:t>
            </a:r>
            <a:r>
              <a:rPr sz="749" i="0">
                <a:solidFill>
                  <a:srgbClr val="F9C97A"/>
                </a:solidFill>
                <a:latin typeface="Inconsolata"/>
              </a:rPr>
              <a:t>101</a:t>
            </a:r>
            <a:r>
              <a:rPr sz="749" i="0">
                <a:solidFill>
                  <a:srgbClr val="E6EDF3"/>
                </a:solidFill>
                <a:latin typeface="Inconsolata"/>
              </a:rPr>
              <a:t>):</a:t>
            </a:r>
          </a:p>
          <a:p>
            <a:pPr>
              <a:lnSpc>
                <a:spcPct val="111166"/>
              </a:lnSpc>
              <a:spcAft>
                <a:spcPts val="0"/>
              </a:spcAft>
            </a:pPr>
            <a:r>
              <a:rPr sz="749" i="0">
                <a:solidFill>
                  <a:srgbClr val="5C6773"/>
                </a:solidFill>
                <a:latin typeface="Inconsolata"/>
              </a:rPr>
              <a:t>46  </a:t>
            </a:r>
            <a:r>
              <a:rPr sz="749" i="0">
                <a:solidFill>
                  <a:srgbClr val="E6EDF3"/>
                </a:solidFill>
                <a:latin typeface="Inconsolata"/>
              </a:rPr>
              <a:t>        client.get(</a:t>
            </a:r>
            <a:r>
              <a:rPr sz="749" i="0">
                <a:solidFill>
                  <a:srgbClr val="A5D6A7"/>
                </a:solidFill>
                <a:latin typeface="Inconsolata"/>
              </a:rPr>
              <a:t>f"/orders/{order_id}"</a:t>
            </a:r>
            <a:r>
              <a:rPr sz="749" i="0">
                <a:solidFill>
                  <a:srgbClr val="E6EDF3"/>
                </a:solidFill>
                <a:latin typeface="Inconsolata"/>
              </a:rPr>
              <a:t>)</a:t>
            </a:r>
          </a:p>
          <a:p>
            <a:pPr>
              <a:lnSpc>
                <a:spcPct val="111166"/>
              </a:lnSpc>
              <a:spcAft>
                <a:spcPts val="0"/>
              </a:spcAft>
            </a:pPr>
            <a:r>
              <a:rPr sz="749" i="0">
                <a:solidFill>
                  <a:srgbClr val="5C6773"/>
                </a:solidFill>
                <a:latin typeface="Inconsolata"/>
              </a:rPr>
              <a:t>47  </a:t>
            </a:r>
            <a:r>
              <a:rPr sz="749" i="0">
                <a:solidFill>
                  <a:srgbClr val="E6EDF3"/>
                </a:solidFill>
                <a:latin typeface="Inconsolata"/>
              </a:rPr>
              <a:t>    </a:t>
            </a:r>
            <a:r>
              <a:rPr sz="749" i="0">
                <a:solidFill>
                  <a:srgbClr val="C3A6FF"/>
                </a:solidFill>
                <a:latin typeface="Inconsolata"/>
              </a:rPr>
              <a:t>print</a:t>
            </a:r>
            <a:r>
              <a:rPr sz="749" i="0">
                <a:solidFill>
                  <a:srgbClr val="E6EDF3"/>
                </a:solidFill>
                <a:latin typeface="Inconsolata"/>
              </a:rPr>
              <a:t>(</a:t>
            </a:r>
            <a:r>
              <a:rPr sz="749" i="0">
                <a:solidFill>
                  <a:srgbClr val="A5D6A7"/>
                </a:solidFill>
                <a:latin typeface="Inconsolata"/>
              </a:rPr>
              <a:t>"GET /stats -&gt;"</a:t>
            </a:r>
            <a:r>
              <a:rPr sz="749" i="0">
                <a:solidFill>
                  <a:srgbClr val="E6EDF3"/>
                </a:solidFill>
                <a:latin typeface="Inconsolata"/>
              </a:rPr>
              <a:t>, client.get(</a:t>
            </a:r>
            <a:r>
              <a:rPr sz="749" i="0">
                <a:solidFill>
                  <a:srgbClr val="A5D6A7"/>
                </a:solidFill>
                <a:latin typeface="Inconsolata"/>
              </a:rPr>
              <a:t>"/stats"</a:t>
            </a:r>
            <a:r>
              <a:rPr sz="749" i="0">
                <a:solidFill>
                  <a:srgbClr val="E6EDF3"/>
                </a:solidFill>
                <a:latin typeface="Inconsolata"/>
              </a:rPr>
              <a:t>).json())</a:t>
            </a:r>
          </a:p>
        </p:txBody>
      </p:sp>
      <p:sp>
        <p:nvSpPr>
          <p:cNvPr id="36" name="Box 21"/>
          <p:cNvSpPr/>
          <p:nvPr/>
        </p:nvSpPr>
        <p:spPr>
          <a:xfrm>
            <a:off x="704088" y="2589022"/>
            <a:ext cx="3694176" cy="119380"/>
          </a:xfrm>
          <a:prstGeom prst="roundRect">
            <a:avLst>
              <a:gd name="adj" fmla="val 382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252984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704088" y="3478022"/>
            <a:ext cx="3694176" cy="246380"/>
          </a:xfrm>
          <a:prstGeom prst="roundRect">
            <a:avLst>
              <a:gd name="adj" fmla="val 1855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279392" y="348234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40" name="Box 25"/>
          <p:cNvSpPr/>
          <p:nvPr/>
        </p:nvSpPr>
        <p:spPr>
          <a:xfrm>
            <a:off x="4709159" y="2843022"/>
            <a:ext cx="3694176" cy="500380"/>
          </a:xfrm>
          <a:prstGeom prst="roundRect">
            <a:avLst>
              <a:gd name="adj" fmla="val 913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8284463" y="297434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Metrics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04-metrics/before.py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sesi-09-observability/04-metrics</a:t>
            </a:r>
          </a:p>
          <a:p>
            <a:pPr>
              <a:lnSpc>
                <a:spcPct val="111111"/>
              </a:lnSpc>
              <a:spcAft>
                <a:spcPts val="0"/>
              </a:spcAft>
            </a:pPr>
            <a:r>
              <a:rPr sz="900" i="0">
                <a:solidFill>
                  <a:srgbClr val="82B1FF"/>
                </a:solidFill>
                <a:latin typeface="Inconsolata"/>
              </a:rPr>
              <a:t>$ python before.py</a:t>
            </a:r>
          </a:p>
        </p:txBody>
      </p:sp>
      <p:pic>
        <p:nvPicPr>
          <p:cNvPr id="29" name="Image 12" descr="s09-04-metrics-before.png"/>
          <p:cNvPicPr>
            <a:picLocks noChangeAspect="1"/>
          </p:cNvPicPr>
          <p:nvPr/>
        </p:nvPicPr>
        <p:blipFill>
          <a:blip r:embed="rId2"/>
          <a:stretch>
            <a:fillRect/>
          </a:stretch>
        </p:blipFill>
        <p:spPr>
          <a:xfrm>
            <a:off x="621792" y="2322576"/>
            <a:ext cx="4297680" cy="664797"/>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Jumlah request dan total waktu disimpan di dict (baris 16)</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Middleware hanya menambah angka, tanpa route dan status (baris 23-24])</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Setiap request ke-20 lambat, setiap request ke-25 error (baris 36-39)</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Hasilnya rata-rata 17 ms. Request lambat dan error tidak terlihat.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Metrics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counter dan histogram per route</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04-metrics/after.py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2960"/>
              </a:lnSpc>
              <a:spcAft>
                <a:spcPts val="0"/>
              </a:spcAft>
            </a:pPr>
            <a:r>
              <a:rPr sz="647" i="0">
                <a:solidFill>
                  <a:srgbClr val="5C6773"/>
                </a:solidFill>
                <a:latin typeface="Inconsolata"/>
              </a:rPr>
              <a:t>14  </a:t>
            </a:r>
            <a:r>
              <a:rPr sz="647" i="0">
                <a:solidFill>
                  <a:srgbClr val="FF8E6E"/>
                </a:solidFill>
                <a:latin typeface="Inconsolata"/>
              </a:rPr>
              <a:t>import</a:t>
            </a:r>
            <a:r>
              <a:rPr sz="647" i="0">
                <a:solidFill>
                  <a:srgbClr val="E6EDF3"/>
                </a:solidFill>
                <a:latin typeface="Inconsolata"/>
              </a:rPr>
              <a:t> time</a:t>
            </a:r>
          </a:p>
          <a:p>
            <a:pPr>
              <a:lnSpc>
                <a:spcPct val="102960"/>
              </a:lnSpc>
              <a:spcAft>
                <a:spcPts val="0"/>
              </a:spcAft>
            </a:pPr>
            <a:r>
              <a:rPr sz="647" i="0">
                <a:solidFill>
                  <a:srgbClr val="5C6773"/>
                </a:solidFill>
                <a:latin typeface="Inconsolata"/>
              </a:rPr>
              <a:t>15  </a:t>
            </a:r>
            <a:r>
              <a:rPr sz="647" i="0">
                <a:solidFill>
                  <a:srgbClr val="E6EDF3"/>
                </a:solidFill>
                <a:latin typeface="Inconsolata"/>
              </a:rPr>
              <a:t> </a:t>
            </a:r>
          </a:p>
          <a:p>
            <a:pPr>
              <a:lnSpc>
                <a:spcPct val="102960"/>
              </a:lnSpc>
              <a:spcAft>
                <a:spcPts val="0"/>
              </a:spcAft>
            </a:pPr>
            <a:r>
              <a:rPr sz="647" i="0">
                <a:solidFill>
                  <a:srgbClr val="5C6773"/>
                </a:solidFill>
                <a:latin typeface="Inconsolata"/>
              </a:rPr>
              <a:t>16  </a:t>
            </a:r>
            <a:r>
              <a:rPr sz="647" i="0">
                <a:solidFill>
                  <a:srgbClr val="FF8E6E"/>
                </a:solidFill>
                <a:latin typeface="Inconsolata"/>
              </a:rPr>
              <a:t>from</a:t>
            </a:r>
            <a:r>
              <a:rPr sz="647" i="0">
                <a:solidFill>
                  <a:srgbClr val="E6EDF3"/>
                </a:solidFill>
                <a:latin typeface="Inconsolata"/>
              </a:rPr>
              <a:t> fastapi </a:t>
            </a:r>
            <a:r>
              <a:rPr sz="647" i="0">
                <a:solidFill>
                  <a:srgbClr val="FF8E6E"/>
                </a:solidFill>
                <a:latin typeface="Inconsolata"/>
              </a:rPr>
              <a:t>import</a:t>
            </a:r>
            <a:r>
              <a:rPr sz="647" i="0">
                <a:solidFill>
                  <a:srgbClr val="E6EDF3"/>
                </a:solidFill>
                <a:latin typeface="Inconsolata"/>
              </a:rPr>
              <a:t> </a:t>
            </a:r>
            <a:r>
              <a:rPr sz="647" i="0">
                <a:solidFill>
                  <a:srgbClr val="7FDBCA"/>
                </a:solidFill>
                <a:latin typeface="Inconsolata"/>
              </a:rPr>
              <a:t>FastAPI</a:t>
            </a:r>
            <a:r>
              <a:rPr sz="647" i="0">
                <a:solidFill>
                  <a:srgbClr val="E6EDF3"/>
                </a:solidFill>
                <a:latin typeface="Inconsolata"/>
              </a:rPr>
              <a:t>, </a:t>
            </a:r>
            <a:r>
              <a:rPr sz="647" i="0">
                <a:solidFill>
                  <a:srgbClr val="7FDBCA"/>
                </a:solidFill>
                <a:latin typeface="Inconsolata"/>
              </a:rPr>
              <a:t>HTTPException</a:t>
            </a:r>
            <a:r>
              <a:rPr sz="647" i="0">
                <a:solidFill>
                  <a:srgbClr val="E6EDF3"/>
                </a:solidFill>
                <a:latin typeface="Inconsolata"/>
              </a:rPr>
              <a:t>, </a:t>
            </a:r>
            <a:r>
              <a:rPr sz="647" i="0">
                <a:solidFill>
                  <a:srgbClr val="7FDBCA"/>
                </a:solidFill>
                <a:latin typeface="Inconsolata"/>
              </a:rPr>
              <a:t>Request</a:t>
            </a:r>
          </a:p>
          <a:p>
            <a:pPr>
              <a:lnSpc>
                <a:spcPct val="102960"/>
              </a:lnSpc>
              <a:spcAft>
                <a:spcPts val="0"/>
              </a:spcAft>
            </a:pPr>
            <a:r>
              <a:rPr sz="647" i="0">
                <a:solidFill>
                  <a:srgbClr val="5C6773"/>
                </a:solidFill>
                <a:latin typeface="Inconsolata"/>
              </a:rPr>
              <a:t>17  </a:t>
            </a:r>
            <a:r>
              <a:rPr sz="647" i="0">
                <a:solidFill>
                  <a:srgbClr val="FF8E6E"/>
                </a:solidFill>
                <a:latin typeface="Inconsolata"/>
              </a:rPr>
              <a:t>from</a:t>
            </a:r>
            <a:r>
              <a:rPr sz="647" i="0">
                <a:solidFill>
                  <a:srgbClr val="E6EDF3"/>
                </a:solidFill>
                <a:latin typeface="Inconsolata"/>
              </a:rPr>
              <a:t> fastapi.testclient </a:t>
            </a:r>
            <a:r>
              <a:rPr sz="647" i="0">
                <a:solidFill>
                  <a:srgbClr val="FF8E6E"/>
                </a:solidFill>
                <a:latin typeface="Inconsolata"/>
              </a:rPr>
              <a:t>import</a:t>
            </a:r>
            <a:r>
              <a:rPr sz="647" i="0">
                <a:solidFill>
                  <a:srgbClr val="E6EDF3"/>
                </a:solidFill>
                <a:latin typeface="Inconsolata"/>
              </a:rPr>
              <a:t> </a:t>
            </a:r>
            <a:r>
              <a:rPr sz="647" i="0">
                <a:solidFill>
                  <a:srgbClr val="7FDBCA"/>
                </a:solidFill>
                <a:latin typeface="Inconsolata"/>
              </a:rPr>
              <a:t>TestClient</a:t>
            </a:r>
          </a:p>
          <a:p>
            <a:pPr>
              <a:lnSpc>
                <a:spcPct val="102960"/>
              </a:lnSpc>
              <a:spcAft>
                <a:spcPts val="0"/>
              </a:spcAft>
            </a:pPr>
            <a:r>
              <a:rPr sz="647" i="0">
                <a:solidFill>
                  <a:srgbClr val="5C6773"/>
                </a:solidFill>
                <a:latin typeface="Inconsolata"/>
              </a:rPr>
              <a:t>18  </a:t>
            </a:r>
            <a:r>
              <a:rPr sz="647" i="0">
                <a:solidFill>
                  <a:srgbClr val="FF8E6E"/>
                </a:solidFill>
                <a:latin typeface="Inconsolata"/>
              </a:rPr>
              <a:t>from</a:t>
            </a:r>
            <a:r>
              <a:rPr sz="647" i="0">
                <a:solidFill>
                  <a:srgbClr val="E6EDF3"/>
                </a:solidFill>
                <a:latin typeface="Inconsolata"/>
              </a:rPr>
              <a:t> prometheus_client </a:t>
            </a:r>
            <a:r>
              <a:rPr sz="647" i="0">
                <a:solidFill>
                  <a:srgbClr val="FF8E6E"/>
                </a:solidFill>
                <a:latin typeface="Inconsolata"/>
              </a:rPr>
              <a:t>import</a:t>
            </a:r>
            <a:r>
              <a:rPr sz="647" i="0">
                <a:solidFill>
                  <a:srgbClr val="E6EDF3"/>
                </a:solidFill>
                <a:latin typeface="Inconsolata"/>
              </a:rPr>
              <a:t> (</a:t>
            </a:r>
            <a:r>
              <a:rPr sz="647" i="0">
                <a:solidFill>
                  <a:srgbClr val="7FDBCA"/>
                </a:solidFill>
                <a:latin typeface="Inconsolata"/>
              </a:rPr>
              <a:t>CONTENT_TYPE_LATEST</a:t>
            </a:r>
            <a:r>
              <a:rPr sz="647" i="0">
                <a:solidFill>
                  <a:srgbClr val="E6EDF3"/>
                </a:solidFill>
                <a:latin typeface="Inconsolata"/>
              </a:rPr>
              <a:t>, </a:t>
            </a:r>
            <a:r>
              <a:rPr sz="647" i="0">
                <a:solidFill>
                  <a:srgbClr val="7FDBCA"/>
                </a:solidFill>
                <a:latin typeface="Inconsolata"/>
              </a:rPr>
              <a:t>Counter</a:t>
            </a:r>
            <a:r>
              <a:rPr sz="647" i="0">
                <a:solidFill>
                  <a:srgbClr val="E6EDF3"/>
                </a:solidFill>
                <a:latin typeface="Inconsolata"/>
              </a:rPr>
              <a:t>, </a:t>
            </a:r>
            <a:r>
              <a:rPr sz="647" i="0">
                <a:solidFill>
                  <a:srgbClr val="7FDBCA"/>
                </a:solidFill>
                <a:latin typeface="Inconsolata"/>
              </a:rPr>
              <a:t>Histogram</a:t>
            </a:r>
            <a:r>
              <a:rPr sz="647" i="0">
                <a:solidFill>
                  <a:srgbClr val="E6EDF3"/>
                </a:solidFill>
                <a:latin typeface="Inconsolata"/>
              </a:rPr>
              <a:t>,</a:t>
            </a:r>
          </a:p>
          <a:p>
            <a:pPr>
              <a:lnSpc>
                <a:spcPct val="102960"/>
              </a:lnSpc>
              <a:spcAft>
                <a:spcPts val="0"/>
              </a:spcAft>
            </a:pPr>
            <a:r>
              <a:rPr sz="647" i="0">
                <a:solidFill>
                  <a:srgbClr val="5C6773"/>
                </a:solidFill>
                <a:latin typeface="Inconsolata"/>
              </a:rPr>
              <a:t>19  </a:t>
            </a:r>
            <a:r>
              <a:rPr sz="647" i="0">
                <a:solidFill>
                  <a:srgbClr val="E6EDF3"/>
                </a:solidFill>
                <a:latin typeface="Inconsolata"/>
              </a:rPr>
              <a:t>                               generate_latest)</a:t>
            </a:r>
          </a:p>
          <a:p>
            <a:pPr>
              <a:lnSpc>
                <a:spcPct val="102960"/>
              </a:lnSpc>
              <a:spcAft>
                <a:spcPts val="0"/>
              </a:spcAft>
            </a:pPr>
            <a:r>
              <a:rPr sz="647" i="0">
                <a:solidFill>
                  <a:srgbClr val="5C6773"/>
                </a:solidFill>
                <a:latin typeface="Inconsolata"/>
              </a:rPr>
              <a:t>20  </a:t>
            </a:r>
            <a:r>
              <a:rPr sz="647" i="0">
                <a:solidFill>
                  <a:srgbClr val="FF8E6E"/>
                </a:solidFill>
                <a:latin typeface="Inconsolata"/>
              </a:rPr>
              <a:t>from</a:t>
            </a:r>
            <a:r>
              <a:rPr sz="647" i="0">
                <a:solidFill>
                  <a:srgbClr val="E6EDF3"/>
                </a:solidFill>
                <a:latin typeface="Inconsolata"/>
              </a:rPr>
              <a:t> starlette.responses </a:t>
            </a:r>
            <a:r>
              <a:rPr sz="647" i="0">
                <a:solidFill>
                  <a:srgbClr val="FF8E6E"/>
                </a:solidFill>
                <a:latin typeface="Inconsolata"/>
              </a:rPr>
              <a:t>import</a:t>
            </a:r>
            <a:r>
              <a:rPr sz="647" i="0">
                <a:solidFill>
                  <a:srgbClr val="E6EDF3"/>
                </a:solidFill>
                <a:latin typeface="Inconsolata"/>
              </a:rPr>
              <a:t> </a:t>
            </a:r>
            <a:r>
              <a:rPr sz="647" i="0">
                <a:solidFill>
                  <a:srgbClr val="7FDBCA"/>
                </a:solidFill>
                <a:latin typeface="Inconsolata"/>
              </a:rPr>
              <a:t>Response</a:t>
            </a:r>
          </a:p>
          <a:p>
            <a:pPr>
              <a:lnSpc>
                <a:spcPct val="102960"/>
              </a:lnSpc>
              <a:spcAft>
                <a:spcPts val="0"/>
              </a:spcAft>
            </a:pPr>
            <a:r>
              <a:rPr sz="647" i="0">
                <a:solidFill>
                  <a:srgbClr val="5C6773"/>
                </a:solidFill>
                <a:latin typeface="Inconsolata"/>
              </a:rPr>
              <a:t>21  </a:t>
            </a:r>
            <a:r>
              <a:rPr sz="647" i="0">
                <a:solidFill>
                  <a:srgbClr val="E6EDF3"/>
                </a:solidFill>
                <a:latin typeface="Inconsolata"/>
              </a:rPr>
              <a:t> </a:t>
            </a:r>
          </a:p>
          <a:p>
            <a:pPr>
              <a:lnSpc>
                <a:spcPct val="102960"/>
              </a:lnSpc>
              <a:spcAft>
                <a:spcPts val="0"/>
              </a:spcAft>
            </a:pPr>
            <a:r>
              <a:rPr sz="647" i="0">
                <a:solidFill>
                  <a:srgbClr val="5C6773"/>
                </a:solidFill>
                <a:latin typeface="Inconsolata"/>
              </a:rPr>
              <a:t>22  </a:t>
            </a:r>
            <a:r>
              <a:rPr sz="647" i="0">
                <a:solidFill>
                  <a:srgbClr val="7FDBCA"/>
                </a:solidFill>
                <a:latin typeface="Inconsolata"/>
              </a:rPr>
              <a:t>REQUESTS</a:t>
            </a:r>
            <a:r>
              <a:rPr sz="647" i="0">
                <a:solidFill>
                  <a:srgbClr val="E6EDF3"/>
                </a:solidFill>
                <a:latin typeface="Inconsolata"/>
              </a:rPr>
              <a:t> = </a:t>
            </a:r>
            <a:r>
              <a:rPr sz="647" i="0">
                <a:solidFill>
                  <a:srgbClr val="7FDBCA"/>
                </a:solidFill>
                <a:latin typeface="Inconsolata"/>
              </a:rPr>
              <a:t>Counter</a:t>
            </a:r>
            <a:r>
              <a:rPr sz="647" i="0">
                <a:solidFill>
                  <a:srgbClr val="E6EDF3"/>
                </a:solidFill>
                <a:latin typeface="Inconsolata"/>
              </a:rPr>
              <a:t>(</a:t>
            </a:r>
            <a:r>
              <a:rPr sz="647" i="0">
                <a:solidFill>
                  <a:srgbClr val="A5D6A7"/>
                </a:solidFill>
                <a:latin typeface="Inconsolata"/>
              </a:rPr>
              <a:t>"http_requests_total"</a:t>
            </a:r>
            <a:r>
              <a:rPr sz="647" i="0">
                <a:solidFill>
                  <a:srgbClr val="E6EDF3"/>
                </a:solidFill>
                <a:latin typeface="Inconsolata"/>
              </a:rPr>
              <a:t>, </a:t>
            </a:r>
            <a:r>
              <a:rPr sz="647" i="0">
                <a:solidFill>
                  <a:srgbClr val="A5D6A7"/>
                </a:solidFill>
                <a:latin typeface="Inconsolata"/>
              </a:rPr>
              <a:t>"Jumlah request"</a:t>
            </a:r>
            <a:r>
              <a:rPr sz="647" i="0">
                <a:solidFill>
                  <a:srgbClr val="E6EDF3"/>
                </a:solidFill>
                <a:latin typeface="Inconsolata"/>
              </a:rPr>
              <a:t>,</a:t>
            </a:r>
          </a:p>
          <a:p>
            <a:pPr>
              <a:lnSpc>
                <a:spcPct val="102960"/>
              </a:lnSpc>
              <a:spcAft>
                <a:spcPts val="0"/>
              </a:spcAft>
            </a:pPr>
            <a:r>
              <a:rPr sz="647" i="0">
                <a:solidFill>
                  <a:srgbClr val="5C6773"/>
                </a:solidFill>
                <a:latin typeface="Inconsolata"/>
              </a:rPr>
              <a:t>23  </a:t>
            </a:r>
            <a:r>
              <a:rPr sz="647" i="0">
                <a:solidFill>
                  <a:srgbClr val="E6EDF3"/>
                </a:solidFill>
                <a:latin typeface="Inconsolata"/>
              </a:rPr>
              <a:t>                   [</a:t>
            </a:r>
            <a:r>
              <a:rPr sz="647" i="0">
                <a:solidFill>
                  <a:srgbClr val="A5D6A7"/>
                </a:solidFill>
                <a:latin typeface="Inconsolata"/>
              </a:rPr>
              <a:t>"method"</a:t>
            </a:r>
            <a:r>
              <a:rPr sz="647" i="0">
                <a:solidFill>
                  <a:srgbClr val="E6EDF3"/>
                </a:solidFill>
                <a:latin typeface="Inconsolata"/>
              </a:rPr>
              <a:t>, </a:t>
            </a:r>
            <a:r>
              <a:rPr sz="647" i="0">
                <a:solidFill>
                  <a:srgbClr val="A5D6A7"/>
                </a:solidFill>
                <a:latin typeface="Inconsolata"/>
              </a:rPr>
              <a:t>"route"</a:t>
            </a:r>
            <a:r>
              <a:rPr sz="647" i="0">
                <a:solidFill>
                  <a:srgbClr val="E6EDF3"/>
                </a:solidFill>
                <a:latin typeface="Inconsolata"/>
              </a:rPr>
              <a:t>, </a:t>
            </a:r>
            <a:r>
              <a:rPr sz="647" i="0">
                <a:solidFill>
                  <a:srgbClr val="A5D6A7"/>
                </a:solidFill>
                <a:latin typeface="Inconsolata"/>
              </a:rPr>
              <a:t>"status"</a:t>
            </a:r>
            <a:r>
              <a:rPr sz="647" i="0">
                <a:solidFill>
                  <a:srgbClr val="E6EDF3"/>
                </a:solidFill>
                <a:latin typeface="Inconsolata"/>
              </a:rPr>
              <a:t>])</a:t>
            </a:r>
          </a:p>
          <a:p>
            <a:pPr>
              <a:lnSpc>
                <a:spcPct val="102960"/>
              </a:lnSpc>
              <a:spcAft>
                <a:spcPts val="0"/>
              </a:spcAft>
            </a:pPr>
            <a:r>
              <a:rPr sz="647" i="0">
                <a:solidFill>
                  <a:srgbClr val="5C6773"/>
                </a:solidFill>
                <a:latin typeface="Inconsolata"/>
              </a:rPr>
              <a:t>24  </a:t>
            </a:r>
            <a:r>
              <a:rPr sz="647" i="0">
                <a:solidFill>
                  <a:srgbClr val="7FDBCA"/>
                </a:solidFill>
                <a:latin typeface="Inconsolata"/>
              </a:rPr>
              <a:t>LATENCY</a:t>
            </a:r>
            <a:r>
              <a:rPr sz="647" i="0">
                <a:solidFill>
                  <a:srgbClr val="E6EDF3"/>
                </a:solidFill>
                <a:latin typeface="Inconsolata"/>
              </a:rPr>
              <a:t> = </a:t>
            </a:r>
            <a:r>
              <a:rPr sz="647" i="0">
                <a:solidFill>
                  <a:srgbClr val="7FDBCA"/>
                </a:solidFill>
                <a:latin typeface="Inconsolata"/>
              </a:rPr>
              <a:t>Histogram</a:t>
            </a:r>
            <a:r>
              <a:rPr sz="647" i="0">
                <a:solidFill>
                  <a:srgbClr val="E6EDF3"/>
                </a:solidFill>
                <a:latin typeface="Inconsolata"/>
              </a:rPr>
              <a:t>(</a:t>
            </a:r>
            <a:r>
              <a:rPr sz="647" i="0">
                <a:solidFill>
                  <a:srgbClr val="A5D6A7"/>
                </a:solidFill>
                <a:latin typeface="Inconsolata"/>
              </a:rPr>
              <a:t>"http_request_duration_seconds"</a:t>
            </a:r>
            <a:r>
              <a:rPr sz="647" i="0">
                <a:solidFill>
                  <a:srgbClr val="E6EDF3"/>
                </a:solidFill>
                <a:latin typeface="Inconsolata"/>
              </a:rPr>
              <a:t>,</a:t>
            </a:r>
          </a:p>
          <a:p>
            <a:pPr>
              <a:lnSpc>
                <a:spcPct val="102960"/>
              </a:lnSpc>
              <a:spcAft>
                <a:spcPts val="0"/>
              </a:spcAft>
            </a:pPr>
            <a:r>
              <a:rPr sz="647" i="0">
                <a:solidFill>
                  <a:srgbClr val="5C6773"/>
                </a:solidFill>
                <a:latin typeface="Inconsolata"/>
              </a:rPr>
              <a:t>25  </a:t>
            </a:r>
            <a:r>
              <a:rPr sz="647" i="0">
                <a:solidFill>
                  <a:srgbClr val="E6EDF3"/>
                </a:solidFill>
                <a:latin typeface="Inconsolata"/>
              </a:rPr>
              <a:t>                    </a:t>
            </a:r>
            <a:r>
              <a:rPr sz="647" i="0">
                <a:solidFill>
                  <a:srgbClr val="A5D6A7"/>
                </a:solidFill>
                <a:latin typeface="Inconsolata"/>
              </a:rPr>
              <a:t>"Waktu response"</a:t>
            </a:r>
            <a:r>
              <a:rPr sz="647" i="0">
                <a:solidFill>
                  <a:srgbClr val="E6EDF3"/>
                </a:solidFill>
                <a:latin typeface="Inconsolata"/>
              </a:rPr>
              <a:t>, [</a:t>
            </a:r>
            <a:r>
              <a:rPr sz="647" i="0">
                <a:solidFill>
                  <a:srgbClr val="A5D6A7"/>
                </a:solidFill>
                <a:latin typeface="Inconsolata"/>
              </a:rPr>
              <a:t>"route"</a:t>
            </a:r>
            <a:r>
              <a:rPr sz="647" i="0">
                <a:solidFill>
                  <a:srgbClr val="E6EDF3"/>
                </a:solidFill>
                <a:latin typeface="Inconsolata"/>
              </a:rPr>
              <a:t>],</a:t>
            </a:r>
          </a:p>
          <a:p>
            <a:pPr>
              <a:lnSpc>
                <a:spcPct val="102960"/>
              </a:lnSpc>
              <a:spcAft>
                <a:spcPts val="0"/>
              </a:spcAft>
            </a:pPr>
            <a:r>
              <a:rPr sz="647" i="0">
                <a:solidFill>
                  <a:srgbClr val="5C6773"/>
                </a:solidFill>
                <a:latin typeface="Inconsolata"/>
              </a:rPr>
              <a:t>26  </a:t>
            </a:r>
            <a:r>
              <a:rPr sz="647" i="0">
                <a:solidFill>
                  <a:srgbClr val="E6EDF3"/>
                </a:solidFill>
                <a:latin typeface="Inconsolata"/>
              </a:rPr>
              <a:t>                    buckets=[</a:t>
            </a:r>
            <a:r>
              <a:rPr sz="647" i="0">
                <a:solidFill>
                  <a:srgbClr val="F9C97A"/>
                </a:solidFill>
                <a:latin typeface="Inconsolata"/>
              </a:rPr>
              <a:t>0</a:t>
            </a:r>
            <a:r>
              <a:rPr sz="647" i="0">
                <a:solidFill>
                  <a:srgbClr val="E6EDF3"/>
                </a:solidFill>
                <a:latin typeface="Inconsolata"/>
              </a:rPr>
              <a:t>.</a:t>
            </a:r>
            <a:r>
              <a:rPr sz="647" i="0">
                <a:solidFill>
                  <a:srgbClr val="F9C97A"/>
                </a:solidFill>
                <a:latin typeface="Inconsolata"/>
              </a:rPr>
              <a:t>05</a:t>
            </a:r>
            <a:r>
              <a:rPr sz="647" i="0">
                <a:solidFill>
                  <a:srgbClr val="E6EDF3"/>
                </a:solidFill>
                <a:latin typeface="Inconsolata"/>
              </a:rPr>
              <a:t>, </a:t>
            </a:r>
            <a:r>
              <a:rPr sz="647" i="0">
                <a:solidFill>
                  <a:srgbClr val="F9C97A"/>
                </a:solidFill>
                <a:latin typeface="Inconsolata"/>
              </a:rPr>
              <a:t>0</a:t>
            </a:r>
            <a:r>
              <a:rPr sz="647" i="0">
                <a:solidFill>
                  <a:srgbClr val="E6EDF3"/>
                </a:solidFill>
                <a:latin typeface="Inconsolata"/>
              </a:rPr>
              <a:t>.</a:t>
            </a:r>
            <a:r>
              <a:rPr sz="647" i="0">
                <a:solidFill>
                  <a:srgbClr val="F9C97A"/>
                </a:solidFill>
                <a:latin typeface="Inconsolata"/>
              </a:rPr>
              <a:t>1</a:t>
            </a:r>
            <a:r>
              <a:rPr sz="647" i="0">
                <a:solidFill>
                  <a:srgbClr val="E6EDF3"/>
                </a:solidFill>
                <a:latin typeface="Inconsolata"/>
              </a:rPr>
              <a:t>, </a:t>
            </a:r>
            <a:r>
              <a:rPr sz="647" i="0">
                <a:solidFill>
                  <a:srgbClr val="F9C97A"/>
                </a:solidFill>
                <a:latin typeface="Inconsolata"/>
              </a:rPr>
              <a:t>0</a:t>
            </a:r>
            <a:r>
              <a:rPr sz="647" i="0">
                <a:solidFill>
                  <a:srgbClr val="E6EDF3"/>
                </a:solidFill>
                <a:latin typeface="Inconsolata"/>
              </a:rPr>
              <a:t>.</a:t>
            </a:r>
            <a:r>
              <a:rPr sz="647" i="0">
                <a:solidFill>
                  <a:srgbClr val="F9C97A"/>
                </a:solidFill>
                <a:latin typeface="Inconsolata"/>
              </a:rPr>
              <a:t>25</a:t>
            </a:r>
            <a:r>
              <a:rPr sz="647" i="0">
                <a:solidFill>
                  <a:srgbClr val="E6EDF3"/>
                </a:solidFill>
                <a:latin typeface="Inconsolata"/>
              </a:rPr>
              <a:t>, </a:t>
            </a:r>
            <a:r>
              <a:rPr sz="647" i="0">
                <a:solidFill>
                  <a:srgbClr val="F9C97A"/>
                </a:solidFill>
                <a:latin typeface="Inconsolata"/>
              </a:rPr>
              <a:t>0</a:t>
            </a:r>
            <a:r>
              <a:rPr sz="647" i="0">
                <a:solidFill>
                  <a:srgbClr val="E6EDF3"/>
                </a:solidFill>
                <a:latin typeface="Inconsolata"/>
              </a:rPr>
              <a:t>.</a:t>
            </a:r>
            <a:r>
              <a:rPr sz="647" i="0">
                <a:solidFill>
                  <a:srgbClr val="F9C97A"/>
                </a:solidFill>
                <a:latin typeface="Inconsolata"/>
              </a:rPr>
              <a:t>5</a:t>
            </a:r>
            <a:r>
              <a:rPr sz="647" i="0">
                <a:solidFill>
                  <a:srgbClr val="E6EDF3"/>
                </a:solidFill>
                <a:latin typeface="Inconsolata"/>
              </a:rPr>
              <a:t>, </a:t>
            </a:r>
            <a:r>
              <a:rPr sz="647" i="0">
                <a:solidFill>
                  <a:srgbClr val="F9C97A"/>
                </a:solidFill>
                <a:latin typeface="Inconsolata"/>
              </a:rPr>
              <a:t>1</a:t>
            </a:r>
            <a:r>
              <a:rPr sz="647" i="0">
                <a:solidFill>
                  <a:srgbClr val="E6EDF3"/>
                </a:solidFill>
                <a:latin typeface="Inconsolata"/>
              </a:rPr>
              <a:t>])</a:t>
            </a:r>
          </a:p>
          <a:p>
            <a:pPr>
              <a:lnSpc>
                <a:spcPct val="102960"/>
              </a:lnSpc>
              <a:spcAft>
                <a:spcPts val="0"/>
              </a:spcAft>
            </a:pPr>
            <a:r>
              <a:rPr sz="647" i="0">
                <a:solidFill>
                  <a:srgbClr val="5C6773"/>
                </a:solidFill>
                <a:latin typeface="Inconsolata"/>
              </a:rPr>
              <a:t>27  </a:t>
            </a:r>
            <a:r>
              <a:rPr sz="647" i="0">
                <a:solidFill>
                  <a:srgbClr val="E6EDF3"/>
                </a:solidFill>
                <a:latin typeface="Inconsolata"/>
              </a:rPr>
              <a:t>app = </a:t>
            </a:r>
            <a:r>
              <a:rPr sz="647" i="0">
                <a:solidFill>
                  <a:srgbClr val="7FDBCA"/>
                </a:solidFill>
                <a:latin typeface="Inconsolata"/>
              </a:rPr>
              <a:t>FastAPI</a:t>
            </a:r>
            <a:r>
              <a:rPr sz="647" i="0">
                <a:solidFill>
                  <a:srgbClr val="E6EDF3"/>
                </a:solidFill>
                <a:latin typeface="Inconsolata"/>
              </a:rPr>
              <a:t>()</a:t>
            </a:r>
          </a:p>
          <a:p>
            <a:pPr>
              <a:lnSpc>
                <a:spcPct val="102960"/>
              </a:lnSpc>
              <a:spcAft>
                <a:spcPts val="0"/>
              </a:spcAft>
            </a:pPr>
            <a:r>
              <a:rPr sz="647" i="0">
                <a:solidFill>
                  <a:srgbClr val="5C6773"/>
                </a:solidFill>
                <a:latin typeface="Inconsolata"/>
              </a:rPr>
              <a:t>28  </a:t>
            </a:r>
            <a:r>
              <a:rPr sz="647" i="0">
                <a:solidFill>
                  <a:srgbClr val="E6EDF3"/>
                </a:solidFill>
                <a:latin typeface="Inconsolata"/>
              </a:rPr>
              <a:t> </a:t>
            </a:r>
          </a:p>
          <a:p>
            <a:pPr>
              <a:lnSpc>
                <a:spcPct val="102960"/>
              </a:lnSpc>
              <a:spcAft>
                <a:spcPts val="0"/>
              </a:spcAft>
            </a:pPr>
            <a:r>
              <a:rPr sz="647" i="0">
                <a:solidFill>
                  <a:srgbClr val="5C6773"/>
                </a:solidFill>
                <a:latin typeface="Inconsolata"/>
              </a:rPr>
              <a:t>29  </a:t>
            </a:r>
            <a:r>
              <a:rPr sz="647" i="0">
                <a:solidFill>
                  <a:srgbClr val="E6EDF3"/>
                </a:solidFill>
                <a:latin typeface="Inconsolata"/>
              </a:rPr>
              <a:t> </a:t>
            </a:r>
          </a:p>
          <a:p>
            <a:pPr>
              <a:lnSpc>
                <a:spcPct val="102960"/>
              </a:lnSpc>
              <a:spcAft>
                <a:spcPts val="0"/>
              </a:spcAft>
            </a:pPr>
            <a:r>
              <a:rPr sz="647" i="0">
                <a:solidFill>
                  <a:srgbClr val="5C6773"/>
                </a:solidFill>
                <a:latin typeface="Inconsolata"/>
              </a:rPr>
              <a:t>30  </a:t>
            </a:r>
            <a:r>
              <a:rPr sz="647" i="0">
                <a:solidFill>
                  <a:srgbClr val="F9C97A"/>
                </a:solidFill>
                <a:latin typeface="Inconsolata"/>
              </a:rPr>
              <a:t>@app.middleware</a:t>
            </a:r>
            <a:r>
              <a:rPr sz="647" i="0">
                <a:solidFill>
                  <a:srgbClr val="E6EDF3"/>
                </a:solidFill>
                <a:latin typeface="Inconsolata"/>
              </a:rPr>
              <a:t>(</a:t>
            </a:r>
            <a:r>
              <a:rPr sz="647" i="0">
                <a:solidFill>
                  <a:srgbClr val="A5D6A7"/>
                </a:solidFill>
                <a:latin typeface="Inconsolata"/>
              </a:rPr>
              <a:t>"http"</a:t>
            </a:r>
            <a:r>
              <a:rPr sz="647" i="0">
                <a:solidFill>
                  <a:srgbClr val="E6EDF3"/>
                </a:solidFill>
                <a:latin typeface="Inconsolata"/>
              </a:rPr>
              <a:t>)</a:t>
            </a:r>
          </a:p>
          <a:p>
            <a:pPr>
              <a:lnSpc>
                <a:spcPct val="102960"/>
              </a:lnSpc>
              <a:spcAft>
                <a:spcPts val="0"/>
              </a:spcAft>
            </a:pPr>
            <a:r>
              <a:rPr sz="647" i="0">
                <a:solidFill>
                  <a:srgbClr val="5C6773"/>
                </a:solidFill>
                <a:latin typeface="Inconsolata"/>
              </a:rPr>
              <a:t>31  </a:t>
            </a:r>
            <a:r>
              <a:rPr sz="647" i="0">
                <a:solidFill>
                  <a:srgbClr val="FF8E6E"/>
                </a:solidFill>
                <a:latin typeface="Inconsolata"/>
              </a:rPr>
              <a:t>async</a:t>
            </a:r>
            <a:r>
              <a:rPr sz="647" i="0">
                <a:solidFill>
                  <a:srgbClr val="E6EDF3"/>
                </a:solidFill>
                <a:latin typeface="Inconsolata"/>
              </a:rPr>
              <a:t> </a:t>
            </a:r>
            <a:r>
              <a:rPr sz="647" i="0">
                <a:solidFill>
                  <a:srgbClr val="FF8E6E"/>
                </a:solidFill>
                <a:latin typeface="Inconsolata"/>
              </a:rPr>
              <a:t>def</a:t>
            </a:r>
            <a:r>
              <a:rPr sz="647" i="0">
                <a:solidFill>
                  <a:srgbClr val="E6EDF3"/>
                </a:solidFill>
                <a:latin typeface="Inconsolata"/>
              </a:rPr>
              <a:t> </a:t>
            </a:r>
            <a:r>
              <a:rPr sz="647" i="0">
                <a:solidFill>
                  <a:srgbClr val="82B1FF"/>
                </a:solidFill>
                <a:latin typeface="Inconsolata"/>
              </a:rPr>
              <a:t>measure</a:t>
            </a:r>
            <a:r>
              <a:rPr sz="647" i="0">
                <a:solidFill>
                  <a:srgbClr val="E6EDF3"/>
                </a:solidFill>
                <a:latin typeface="Inconsolata"/>
              </a:rPr>
              <a:t>(request: </a:t>
            </a:r>
            <a:r>
              <a:rPr sz="647" i="0">
                <a:solidFill>
                  <a:srgbClr val="7FDBCA"/>
                </a:solidFill>
                <a:latin typeface="Inconsolata"/>
              </a:rPr>
              <a:t>Request</a:t>
            </a:r>
            <a:r>
              <a:rPr sz="647" i="0">
                <a:solidFill>
                  <a:srgbClr val="E6EDF3"/>
                </a:solidFill>
                <a:latin typeface="Inconsolata"/>
              </a:rPr>
              <a:t>, call_next):</a:t>
            </a:r>
          </a:p>
          <a:p>
            <a:pPr>
              <a:lnSpc>
                <a:spcPct val="102960"/>
              </a:lnSpc>
              <a:spcAft>
                <a:spcPts val="0"/>
              </a:spcAft>
            </a:pPr>
            <a:r>
              <a:rPr sz="647" i="0">
                <a:solidFill>
                  <a:srgbClr val="5C6773"/>
                </a:solidFill>
                <a:latin typeface="Inconsolata"/>
              </a:rPr>
              <a:t>32  </a:t>
            </a:r>
            <a:r>
              <a:rPr sz="647" i="0">
                <a:solidFill>
                  <a:srgbClr val="E6EDF3"/>
                </a:solidFill>
                <a:latin typeface="Inconsolata"/>
              </a:rPr>
              <a:t>    start = time.perf_counter()</a:t>
            </a:r>
          </a:p>
          <a:p>
            <a:pPr>
              <a:lnSpc>
                <a:spcPct val="102960"/>
              </a:lnSpc>
              <a:spcAft>
                <a:spcPts val="0"/>
              </a:spcAft>
            </a:pPr>
            <a:r>
              <a:rPr sz="647" i="0">
                <a:solidFill>
                  <a:srgbClr val="5C6773"/>
                </a:solidFill>
                <a:latin typeface="Inconsolata"/>
              </a:rPr>
              <a:t>33  </a:t>
            </a:r>
            <a:r>
              <a:rPr sz="647" i="0">
                <a:solidFill>
                  <a:srgbClr val="E6EDF3"/>
                </a:solidFill>
                <a:latin typeface="Inconsolata"/>
              </a:rPr>
              <a:t>    response = </a:t>
            </a:r>
            <a:r>
              <a:rPr sz="647" i="0">
                <a:solidFill>
                  <a:srgbClr val="FF8E6E"/>
                </a:solidFill>
                <a:latin typeface="Inconsolata"/>
              </a:rPr>
              <a:t>await</a:t>
            </a:r>
            <a:r>
              <a:rPr sz="647" i="0">
                <a:solidFill>
                  <a:srgbClr val="E6EDF3"/>
                </a:solidFill>
                <a:latin typeface="Inconsolata"/>
              </a:rPr>
              <a:t> call_next(request)</a:t>
            </a:r>
          </a:p>
          <a:p>
            <a:pPr>
              <a:lnSpc>
                <a:spcPct val="102960"/>
              </a:lnSpc>
              <a:spcAft>
                <a:spcPts val="0"/>
              </a:spcAft>
            </a:pPr>
            <a:r>
              <a:rPr sz="647" i="0">
                <a:solidFill>
                  <a:srgbClr val="5C6773"/>
                </a:solidFill>
                <a:latin typeface="Inconsolata"/>
              </a:rPr>
              <a:t>34  </a:t>
            </a:r>
            <a:r>
              <a:rPr sz="647" i="0">
                <a:solidFill>
                  <a:srgbClr val="E6EDF3"/>
                </a:solidFill>
                <a:latin typeface="Inconsolata"/>
              </a:rPr>
              <a:t>    route = request.scope.get(</a:t>
            </a:r>
            <a:r>
              <a:rPr sz="647" i="0">
                <a:solidFill>
                  <a:srgbClr val="A5D6A7"/>
                </a:solidFill>
                <a:latin typeface="Inconsolata"/>
              </a:rPr>
              <a:t>"route"</a:t>
            </a:r>
            <a:r>
              <a:rPr sz="647" i="0">
                <a:solidFill>
                  <a:srgbClr val="E6EDF3"/>
                </a:solidFill>
                <a:latin typeface="Inconsolata"/>
              </a:rPr>
              <a:t>)</a:t>
            </a:r>
          </a:p>
          <a:p>
            <a:pPr>
              <a:lnSpc>
                <a:spcPct val="102960"/>
              </a:lnSpc>
              <a:spcAft>
                <a:spcPts val="0"/>
              </a:spcAft>
            </a:pPr>
            <a:r>
              <a:rPr sz="647" i="0">
                <a:solidFill>
                  <a:srgbClr val="5C6773"/>
                </a:solidFill>
                <a:latin typeface="Inconsolata"/>
              </a:rPr>
              <a:t>35  </a:t>
            </a:r>
            <a:r>
              <a:rPr sz="647" i="0">
                <a:solidFill>
                  <a:srgbClr val="E6EDF3"/>
                </a:solidFill>
                <a:latin typeface="Inconsolata"/>
              </a:rPr>
              <a:t>    path = route.path </a:t>
            </a:r>
            <a:r>
              <a:rPr sz="647" i="0">
                <a:solidFill>
                  <a:srgbClr val="FF8E6E"/>
                </a:solidFill>
                <a:latin typeface="Inconsolata"/>
              </a:rPr>
              <a:t>if</a:t>
            </a:r>
            <a:r>
              <a:rPr sz="647" i="0">
                <a:solidFill>
                  <a:srgbClr val="E6EDF3"/>
                </a:solidFill>
                <a:latin typeface="Inconsolata"/>
              </a:rPr>
              <a:t> route </a:t>
            </a:r>
            <a:r>
              <a:rPr sz="647" i="0">
                <a:solidFill>
                  <a:srgbClr val="FF8E6E"/>
                </a:solidFill>
                <a:latin typeface="Inconsolata"/>
              </a:rPr>
              <a:t>else</a:t>
            </a:r>
            <a:r>
              <a:rPr sz="647" i="0">
                <a:solidFill>
                  <a:srgbClr val="E6EDF3"/>
                </a:solidFill>
                <a:latin typeface="Inconsolata"/>
              </a:rPr>
              <a:t> </a:t>
            </a:r>
            <a:r>
              <a:rPr sz="647" i="0">
                <a:solidFill>
                  <a:srgbClr val="A5D6A7"/>
                </a:solidFill>
                <a:latin typeface="Inconsolata"/>
              </a:rPr>
              <a:t>"unknown"</a:t>
            </a:r>
            <a:r>
              <a:rPr sz="647" i="0">
                <a:solidFill>
                  <a:srgbClr val="E6EDF3"/>
                </a:solidFill>
                <a:latin typeface="Inconsolata"/>
              </a:rPr>
              <a:t>   </a:t>
            </a:r>
            <a:r>
              <a:rPr sz="647" i="1">
                <a:solidFill>
                  <a:srgbClr val="8B98A8"/>
                </a:solidFill>
                <a:latin typeface="Inconsolata"/>
              </a:rPr>
              <a:t># pola, bukan path asli</a:t>
            </a:r>
          </a:p>
          <a:p>
            <a:pPr>
              <a:lnSpc>
                <a:spcPct val="102960"/>
              </a:lnSpc>
              <a:spcAft>
                <a:spcPts val="0"/>
              </a:spcAft>
            </a:pPr>
            <a:r>
              <a:rPr sz="647" i="0">
                <a:solidFill>
                  <a:srgbClr val="5C6773"/>
                </a:solidFill>
                <a:latin typeface="Inconsolata"/>
              </a:rPr>
              <a:t>36  </a:t>
            </a:r>
            <a:r>
              <a:rPr sz="647" i="0">
                <a:solidFill>
                  <a:srgbClr val="E6EDF3"/>
                </a:solidFill>
                <a:latin typeface="Inconsolata"/>
              </a:rPr>
              <a:t>    </a:t>
            </a:r>
            <a:r>
              <a:rPr sz="647" i="0">
                <a:solidFill>
                  <a:srgbClr val="7FDBCA"/>
                </a:solidFill>
                <a:latin typeface="Inconsolata"/>
              </a:rPr>
              <a:t>REQUESTS</a:t>
            </a:r>
            <a:r>
              <a:rPr sz="647" i="0">
                <a:solidFill>
                  <a:srgbClr val="E6EDF3"/>
                </a:solidFill>
                <a:latin typeface="Inconsolata"/>
              </a:rPr>
              <a:t>.labels(request.method, path, response.status_code).inc()</a:t>
            </a:r>
          </a:p>
          <a:p>
            <a:pPr>
              <a:lnSpc>
                <a:spcPct val="102960"/>
              </a:lnSpc>
              <a:spcAft>
                <a:spcPts val="0"/>
              </a:spcAft>
            </a:pPr>
            <a:r>
              <a:rPr sz="647" i="0">
                <a:solidFill>
                  <a:srgbClr val="5C6773"/>
                </a:solidFill>
                <a:latin typeface="Inconsolata"/>
              </a:rPr>
              <a:t>37  </a:t>
            </a:r>
            <a:r>
              <a:rPr sz="647" i="0">
                <a:solidFill>
                  <a:srgbClr val="E6EDF3"/>
                </a:solidFill>
                <a:latin typeface="Inconsolata"/>
              </a:rPr>
              <a:t>    </a:t>
            </a:r>
            <a:r>
              <a:rPr sz="647" i="0">
                <a:solidFill>
                  <a:srgbClr val="7FDBCA"/>
                </a:solidFill>
                <a:latin typeface="Inconsolata"/>
              </a:rPr>
              <a:t>LATENCY</a:t>
            </a:r>
            <a:r>
              <a:rPr sz="647" i="0">
                <a:solidFill>
                  <a:srgbClr val="E6EDF3"/>
                </a:solidFill>
                <a:latin typeface="Inconsolata"/>
              </a:rPr>
              <a:t>.labels(path).observe(time.perf_counter() - start)</a:t>
            </a:r>
          </a:p>
          <a:p>
            <a:pPr>
              <a:lnSpc>
                <a:spcPct val="102960"/>
              </a:lnSpc>
              <a:spcAft>
                <a:spcPts val="0"/>
              </a:spcAft>
            </a:pPr>
            <a:r>
              <a:rPr sz="647" i="0">
                <a:solidFill>
                  <a:srgbClr val="5C6773"/>
                </a:solidFill>
                <a:latin typeface="Inconsolata"/>
              </a:rPr>
              <a:t>38  </a:t>
            </a:r>
            <a:r>
              <a:rPr sz="647" i="0">
                <a:solidFill>
                  <a:srgbClr val="E6EDF3"/>
                </a:solidFill>
                <a:latin typeface="Inconsolata"/>
              </a:rPr>
              <a:t>    </a:t>
            </a:r>
            <a:r>
              <a:rPr sz="647" i="0">
                <a:solidFill>
                  <a:srgbClr val="FF8E6E"/>
                </a:solidFill>
                <a:latin typeface="Inconsolata"/>
              </a:rPr>
              <a:t>return</a:t>
            </a:r>
            <a:r>
              <a:rPr sz="647" i="0">
                <a:solidFill>
                  <a:srgbClr val="E6EDF3"/>
                </a:solidFill>
                <a:latin typeface="Inconsolata"/>
              </a:rPr>
              <a:t> response</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04-metrics/after.py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2960"/>
              </a:lnSpc>
              <a:spcAft>
                <a:spcPts val="0"/>
              </a:spcAft>
            </a:pPr>
            <a:r>
              <a:rPr sz="647" i="0">
                <a:solidFill>
                  <a:srgbClr val="5C6773"/>
                </a:solidFill>
                <a:latin typeface="Inconsolata"/>
              </a:rPr>
              <a:t>41  </a:t>
            </a:r>
            <a:r>
              <a:rPr sz="647" i="0">
                <a:solidFill>
                  <a:srgbClr val="F9C97A"/>
                </a:solidFill>
                <a:latin typeface="Inconsolata"/>
              </a:rPr>
              <a:t>@app.get</a:t>
            </a:r>
            <a:r>
              <a:rPr sz="647" i="0">
                <a:solidFill>
                  <a:srgbClr val="E6EDF3"/>
                </a:solidFill>
                <a:latin typeface="Inconsolata"/>
              </a:rPr>
              <a:t>(</a:t>
            </a:r>
            <a:r>
              <a:rPr sz="647" i="0">
                <a:solidFill>
                  <a:srgbClr val="A5D6A7"/>
                </a:solidFill>
                <a:latin typeface="Inconsolata"/>
              </a:rPr>
              <a:t>"/metrics"</a:t>
            </a:r>
            <a:r>
              <a:rPr sz="647" i="0">
                <a:solidFill>
                  <a:srgbClr val="E6EDF3"/>
                </a:solidFill>
                <a:latin typeface="Inconsolata"/>
              </a:rPr>
              <a:t>)</a:t>
            </a:r>
          </a:p>
          <a:p>
            <a:pPr>
              <a:lnSpc>
                <a:spcPct val="102960"/>
              </a:lnSpc>
              <a:spcAft>
                <a:spcPts val="0"/>
              </a:spcAft>
            </a:pPr>
            <a:r>
              <a:rPr sz="647" i="0">
                <a:solidFill>
                  <a:srgbClr val="5C6773"/>
                </a:solidFill>
                <a:latin typeface="Inconsolata"/>
              </a:rPr>
              <a:t>42  </a:t>
            </a:r>
            <a:r>
              <a:rPr sz="647" i="0">
                <a:solidFill>
                  <a:srgbClr val="FF8E6E"/>
                </a:solidFill>
                <a:latin typeface="Inconsolata"/>
              </a:rPr>
              <a:t>def</a:t>
            </a:r>
            <a:r>
              <a:rPr sz="647" i="0">
                <a:solidFill>
                  <a:srgbClr val="E6EDF3"/>
                </a:solidFill>
                <a:latin typeface="Inconsolata"/>
              </a:rPr>
              <a:t> </a:t>
            </a:r>
            <a:r>
              <a:rPr sz="647" i="0">
                <a:solidFill>
                  <a:srgbClr val="82B1FF"/>
                </a:solidFill>
                <a:latin typeface="Inconsolata"/>
              </a:rPr>
              <a:t>metrics</a:t>
            </a:r>
            <a:r>
              <a:rPr sz="647" i="0">
                <a:solidFill>
                  <a:srgbClr val="E6EDF3"/>
                </a:solidFill>
                <a:latin typeface="Inconsolata"/>
              </a:rPr>
              <a:t>():</a:t>
            </a:r>
          </a:p>
          <a:p>
            <a:pPr>
              <a:lnSpc>
                <a:spcPct val="102960"/>
              </a:lnSpc>
              <a:spcAft>
                <a:spcPts val="0"/>
              </a:spcAft>
            </a:pPr>
            <a:r>
              <a:rPr sz="647" i="0">
                <a:solidFill>
                  <a:srgbClr val="5C6773"/>
                </a:solidFill>
                <a:latin typeface="Inconsolata"/>
              </a:rPr>
              <a:t>43  </a:t>
            </a:r>
            <a:r>
              <a:rPr sz="647" i="0">
                <a:solidFill>
                  <a:srgbClr val="E6EDF3"/>
                </a:solidFill>
                <a:latin typeface="Inconsolata"/>
              </a:rPr>
              <a:t>    </a:t>
            </a:r>
            <a:r>
              <a:rPr sz="647" i="0">
                <a:solidFill>
                  <a:srgbClr val="FF8E6E"/>
                </a:solidFill>
                <a:latin typeface="Inconsolata"/>
              </a:rPr>
              <a:t>return</a:t>
            </a:r>
            <a:r>
              <a:rPr sz="647" i="0">
                <a:solidFill>
                  <a:srgbClr val="E6EDF3"/>
                </a:solidFill>
                <a:latin typeface="Inconsolata"/>
              </a:rPr>
              <a:t> </a:t>
            </a:r>
            <a:r>
              <a:rPr sz="647" i="0">
                <a:solidFill>
                  <a:srgbClr val="7FDBCA"/>
                </a:solidFill>
                <a:latin typeface="Inconsolata"/>
              </a:rPr>
              <a:t>Response</a:t>
            </a:r>
            <a:r>
              <a:rPr sz="647" i="0">
                <a:solidFill>
                  <a:srgbClr val="E6EDF3"/>
                </a:solidFill>
                <a:latin typeface="Inconsolata"/>
              </a:rPr>
              <a:t>(generate_latest(), media_type=</a:t>
            </a:r>
            <a:r>
              <a:rPr sz="647" i="0">
                <a:solidFill>
                  <a:srgbClr val="7FDBCA"/>
                </a:solidFill>
                <a:latin typeface="Inconsolata"/>
              </a:rPr>
              <a:t>CONTENT_TYPE_LATEST</a:t>
            </a:r>
            <a:r>
              <a:rPr sz="647" i="0">
                <a:solidFill>
                  <a:srgbClr val="E6EDF3"/>
                </a:solidFill>
                <a:latin typeface="Inconsolata"/>
              </a:rPr>
              <a:t>)</a:t>
            </a:r>
          </a:p>
          <a:p>
            <a:pPr>
              <a:lnSpc>
                <a:spcPct val="102960"/>
              </a:lnSpc>
              <a:spcAft>
                <a:spcPts val="0"/>
              </a:spcAft>
            </a:pPr>
            <a:r>
              <a:rPr sz="647" i="0">
                <a:solidFill>
                  <a:srgbClr val="5C6773"/>
                </a:solidFill>
                <a:latin typeface="Inconsolata"/>
              </a:rPr>
              <a:t>44  </a:t>
            </a:r>
            <a:r>
              <a:rPr sz="647" i="0">
                <a:solidFill>
                  <a:srgbClr val="E6EDF3"/>
                </a:solidFill>
                <a:latin typeface="Inconsolata"/>
              </a:rPr>
              <a:t> </a:t>
            </a:r>
          </a:p>
          <a:p>
            <a:pPr>
              <a:lnSpc>
                <a:spcPct val="102960"/>
              </a:lnSpc>
              <a:spcAft>
                <a:spcPts val="0"/>
              </a:spcAft>
            </a:pPr>
            <a:r>
              <a:rPr sz="647" i="0">
                <a:solidFill>
                  <a:srgbClr val="5C6773"/>
                </a:solidFill>
                <a:latin typeface="Inconsolata"/>
              </a:rPr>
              <a:t>45  </a:t>
            </a:r>
            <a:r>
              <a:rPr sz="647" i="0">
                <a:solidFill>
                  <a:srgbClr val="E6EDF3"/>
                </a:solidFill>
                <a:latin typeface="Inconsolata"/>
              </a:rPr>
              <a:t> </a:t>
            </a:r>
          </a:p>
          <a:p>
            <a:pPr>
              <a:lnSpc>
                <a:spcPct val="102960"/>
              </a:lnSpc>
              <a:spcAft>
                <a:spcPts val="0"/>
              </a:spcAft>
            </a:pPr>
            <a:r>
              <a:rPr sz="647" i="0">
                <a:solidFill>
                  <a:srgbClr val="5C6773"/>
                </a:solidFill>
                <a:latin typeface="Inconsolata"/>
              </a:rPr>
              <a:t>46  </a:t>
            </a:r>
            <a:r>
              <a:rPr sz="647" i="0">
                <a:solidFill>
                  <a:srgbClr val="F9C97A"/>
                </a:solidFill>
                <a:latin typeface="Inconsolata"/>
              </a:rPr>
              <a:t>@app.get</a:t>
            </a:r>
            <a:r>
              <a:rPr sz="647" i="0">
                <a:solidFill>
                  <a:srgbClr val="E6EDF3"/>
                </a:solidFill>
                <a:latin typeface="Inconsolata"/>
              </a:rPr>
              <a:t>(</a:t>
            </a:r>
            <a:r>
              <a:rPr sz="647" i="0">
                <a:solidFill>
                  <a:srgbClr val="A5D6A7"/>
                </a:solidFill>
                <a:latin typeface="Inconsolata"/>
              </a:rPr>
              <a:t>"/orders/{order_id}"</a:t>
            </a:r>
            <a:r>
              <a:rPr sz="647" i="0">
                <a:solidFill>
                  <a:srgbClr val="E6EDF3"/>
                </a:solidFill>
                <a:latin typeface="Inconsolata"/>
              </a:rPr>
              <a:t>)</a:t>
            </a:r>
          </a:p>
          <a:p>
            <a:pPr>
              <a:lnSpc>
                <a:spcPct val="102960"/>
              </a:lnSpc>
              <a:spcAft>
                <a:spcPts val="0"/>
              </a:spcAft>
            </a:pPr>
            <a:r>
              <a:rPr sz="647" i="0">
                <a:solidFill>
                  <a:srgbClr val="5C6773"/>
                </a:solidFill>
                <a:latin typeface="Inconsolata"/>
              </a:rPr>
              <a:t>47  </a:t>
            </a:r>
            <a:r>
              <a:rPr sz="647" i="0">
                <a:solidFill>
                  <a:srgbClr val="FF8E6E"/>
                </a:solidFill>
                <a:latin typeface="Inconsolata"/>
              </a:rPr>
              <a:t>def</a:t>
            </a:r>
            <a:r>
              <a:rPr sz="647" i="0">
                <a:solidFill>
                  <a:srgbClr val="E6EDF3"/>
                </a:solidFill>
                <a:latin typeface="Inconsolata"/>
              </a:rPr>
              <a:t> </a:t>
            </a:r>
            <a:r>
              <a:rPr sz="647" i="0">
                <a:solidFill>
                  <a:srgbClr val="82B1FF"/>
                </a:solidFill>
                <a:latin typeface="Inconsolata"/>
              </a:rPr>
              <a:t>get_order</a:t>
            </a:r>
            <a:r>
              <a:rPr sz="647" i="0">
                <a:solidFill>
                  <a:srgbClr val="E6EDF3"/>
                </a:solidFill>
                <a:latin typeface="Inconsolata"/>
              </a:rPr>
              <a:t>(order_id: </a:t>
            </a:r>
            <a:r>
              <a:rPr sz="647" i="0">
                <a:solidFill>
                  <a:srgbClr val="C3A6FF"/>
                </a:solidFill>
                <a:latin typeface="Inconsolata"/>
              </a:rPr>
              <a:t>int</a:t>
            </a:r>
            <a:r>
              <a:rPr sz="647" i="0">
                <a:solidFill>
                  <a:srgbClr val="E6EDF3"/>
                </a:solidFill>
                <a:latin typeface="Inconsolata"/>
              </a:rPr>
              <a:t>):</a:t>
            </a:r>
          </a:p>
          <a:p>
            <a:pPr>
              <a:lnSpc>
                <a:spcPct val="102960"/>
              </a:lnSpc>
              <a:spcAft>
                <a:spcPts val="0"/>
              </a:spcAft>
            </a:pPr>
            <a:r>
              <a:rPr sz="647" i="0">
                <a:solidFill>
                  <a:srgbClr val="5C6773"/>
                </a:solidFill>
                <a:latin typeface="Inconsolata"/>
              </a:rPr>
              <a:t>48  </a:t>
            </a:r>
            <a:r>
              <a:rPr sz="647" i="0">
                <a:solidFill>
                  <a:srgbClr val="E6EDF3"/>
                </a:solidFill>
                <a:latin typeface="Inconsolata"/>
              </a:rPr>
              <a:t>    </a:t>
            </a:r>
            <a:r>
              <a:rPr sz="647" i="0">
                <a:solidFill>
                  <a:srgbClr val="FF8E6E"/>
                </a:solidFill>
                <a:latin typeface="Inconsolata"/>
              </a:rPr>
              <a:t>if</a:t>
            </a:r>
            <a:r>
              <a:rPr sz="647" i="0">
                <a:solidFill>
                  <a:srgbClr val="E6EDF3"/>
                </a:solidFill>
                <a:latin typeface="Inconsolata"/>
              </a:rPr>
              <a:t> order_id % </a:t>
            </a:r>
            <a:r>
              <a:rPr sz="647" i="0">
                <a:solidFill>
                  <a:srgbClr val="F9C97A"/>
                </a:solidFill>
                <a:latin typeface="Inconsolata"/>
              </a:rPr>
              <a:t>20</a:t>
            </a:r>
            <a:r>
              <a:rPr sz="647" i="0">
                <a:solidFill>
                  <a:srgbClr val="E6EDF3"/>
                </a:solidFill>
                <a:latin typeface="Inconsolata"/>
              </a:rPr>
              <a:t> == </a:t>
            </a:r>
            <a:r>
              <a:rPr sz="647" i="0">
                <a:solidFill>
                  <a:srgbClr val="F9C97A"/>
                </a:solidFill>
                <a:latin typeface="Inconsolata"/>
              </a:rPr>
              <a:t>0</a:t>
            </a:r>
            <a:r>
              <a:rPr sz="647" i="0">
                <a:solidFill>
                  <a:srgbClr val="E6EDF3"/>
                </a:solidFill>
                <a:latin typeface="Inconsolata"/>
              </a:rPr>
              <a:t>:</a:t>
            </a:r>
          </a:p>
          <a:p>
            <a:pPr>
              <a:lnSpc>
                <a:spcPct val="102960"/>
              </a:lnSpc>
              <a:spcAft>
                <a:spcPts val="0"/>
              </a:spcAft>
            </a:pPr>
            <a:r>
              <a:rPr sz="647" i="0">
                <a:solidFill>
                  <a:srgbClr val="5C6773"/>
                </a:solidFill>
                <a:latin typeface="Inconsolata"/>
              </a:rPr>
              <a:t>49  </a:t>
            </a:r>
            <a:r>
              <a:rPr sz="647" i="0">
                <a:solidFill>
                  <a:srgbClr val="E6EDF3"/>
                </a:solidFill>
                <a:latin typeface="Inconsolata"/>
              </a:rPr>
              <a:t>        time.sleep(</a:t>
            </a:r>
            <a:r>
              <a:rPr sz="647" i="0">
                <a:solidFill>
                  <a:srgbClr val="F9C97A"/>
                </a:solidFill>
                <a:latin typeface="Inconsolata"/>
              </a:rPr>
              <a:t>0</a:t>
            </a:r>
            <a:r>
              <a:rPr sz="647" i="0">
                <a:solidFill>
                  <a:srgbClr val="E6EDF3"/>
                </a:solidFill>
                <a:latin typeface="Inconsolata"/>
              </a:rPr>
              <a:t>.</a:t>
            </a:r>
            <a:r>
              <a:rPr sz="647" i="0">
                <a:solidFill>
                  <a:srgbClr val="F9C97A"/>
                </a:solidFill>
                <a:latin typeface="Inconsolata"/>
              </a:rPr>
              <a:t>3</a:t>
            </a:r>
            <a:r>
              <a:rPr sz="647" i="0">
                <a:solidFill>
                  <a:srgbClr val="E6EDF3"/>
                </a:solidFill>
                <a:latin typeface="Inconsolata"/>
              </a:rPr>
              <a:t>)              </a:t>
            </a:r>
            <a:r>
              <a:rPr sz="647" i="1">
                <a:solidFill>
                  <a:srgbClr val="8B98A8"/>
                </a:solidFill>
                <a:latin typeface="Inconsolata"/>
              </a:rPr>
              <a:t># anggap: query lambat</a:t>
            </a:r>
          </a:p>
          <a:p>
            <a:pPr>
              <a:lnSpc>
                <a:spcPct val="102960"/>
              </a:lnSpc>
              <a:spcAft>
                <a:spcPts val="0"/>
              </a:spcAft>
            </a:pPr>
            <a:r>
              <a:rPr sz="647" i="0">
                <a:solidFill>
                  <a:srgbClr val="5C6773"/>
                </a:solidFill>
                <a:latin typeface="Inconsolata"/>
              </a:rPr>
              <a:t>50  </a:t>
            </a:r>
            <a:r>
              <a:rPr sz="647" i="0">
                <a:solidFill>
                  <a:srgbClr val="E6EDF3"/>
                </a:solidFill>
                <a:latin typeface="Inconsolata"/>
              </a:rPr>
              <a:t>    </a:t>
            </a:r>
            <a:r>
              <a:rPr sz="647" i="0">
                <a:solidFill>
                  <a:srgbClr val="FF8E6E"/>
                </a:solidFill>
                <a:latin typeface="Inconsolata"/>
              </a:rPr>
              <a:t>if</a:t>
            </a:r>
            <a:r>
              <a:rPr sz="647" i="0">
                <a:solidFill>
                  <a:srgbClr val="E6EDF3"/>
                </a:solidFill>
                <a:latin typeface="Inconsolata"/>
              </a:rPr>
              <a:t> order_id % </a:t>
            </a:r>
            <a:r>
              <a:rPr sz="647" i="0">
                <a:solidFill>
                  <a:srgbClr val="F9C97A"/>
                </a:solidFill>
                <a:latin typeface="Inconsolata"/>
              </a:rPr>
              <a:t>25</a:t>
            </a:r>
            <a:r>
              <a:rPr sz="647" i="0">
                <a:solidFill>
                  <a:srgbClr val="E6EDF3"/>
                </a:solidFill>
                <a:latin typeface="Inconsolata"/>
              </a:rPr>
              <a:t> == </a:t>
            </a:r>
            <a:r>
              <a:rPr sz="647" i="0">
                <a:solidFill>
                  <a:srgbClr val="F9C97A"/>
                </a:solidFill>
                <a:latin typeface="Inconsolata"/>
              </a:rPr>
              <a:t>0</a:t>
            </a:r>
            <a:r>
              <a:rPr sz="647" i="0">
                <a:solidFill>
                  <a:srgbClr val="E6EDF3"/>
                </a:solidFill>
                <a:latin typeface="Inconsolata"/>
              </a:rPr>
              <a:t>:</a:t>
            </a:r>
          </a:p>
          <a:p>
            <a:pPr>
              <a:lnSpc>
                <a:spcPct val="102960"/>
              </a:lnSpc>
              <a:spcAft>
                <a:spcPts val="0"/>
              </a:spcAft>
            </a:pPr>
            <a:r>
              <a:rPr sz="647" i="0">
                <a:solidFill>
                  <a:srgbClr val="5C6773"/>
                </a:solidFill>
                <a:latin typeface="Inconsolata"/>
              </a:rPr>
              <a:t>51  </a:t>
            </a:r>
            <a:r>
              <a:rPr sz="647" i="0">
                <a:solidFill>
                  <a:srgbClr val="E6EDF3"/>
                </a:solidFill>
                <a:latin typeface="Inconsolata"/>
              </a:rPr>
              <a:t>        </a:t>
            </a:r>
            <a:r>
              <a:rPr sz="647" i="0">
                <a:solidFill>
                  <a:srgbClr val="FF8E6E"/>
                </a:solidFill>
                <a:latin typeface="Inconsolata"/>
              </a:rPr>
              <a:t>raise</a:t>
            </a:r>
            <a:r>
              <a:rPr sz="647" i="0">
                <a:solidFill>
                  <a:srgbClr val="E6EDF3"/>
                </a:solidFill>
                <a:latin typeface="Inconsolata"/>
              </a:rPr>
              <a:t> </a:t>
            </a:r>
            <a:r>
              <a:rPr sz="647" i="0">
                <a:solidFill>
                  <a:srgbClr val="7FDBCA"/>
                </a:solidFill>
                <a:latin typeface="Inconsolata"/>
              </a:rPr>
              <a:t>HTTPException</a:t>
            </a:r>
            <a:r>
              <a:rPr sz="647" i="0">
                <a:solidFill>
                  <a:srgbClr val="E6EDF3"/>
                </a:solidFill>
                <a:latin typeface="Inconsolata"/>
              </a:rPr>
              <a:t>(</a:t>
            </a:r>
            <a:r>
              <a:rPr sz="647" i="0">
                <a:solidFill>
                  <a:srgbClr val="F9C97A"/>
                </a:solidFill>
                <a:latin typeface="Inconsolata"/>
              </a:rPr>
              <a:t>500</a:t>
            </a:r>
            <a:r>
              <a:rPr sz="647" i="0">
                <a:solidFill>
                  <a:srgbClr val="E6EDF3"/>
                </a:solidFill>
                <a:latin typeface="Inconsolata"/>
              </a:rPr>
              <a:t>, </a:t>
            </a:r>
            <a:r>
              <a:rPr sz="647" i="0">
                <a:solidFill>
                  <a:srgbClr val="A5D6A7"/>
                </a:solidFill>
                <a:latin typeface="Inconsolata"/>
              </a:rPr>
              <a:t>"database error"</a:t>
            </a:r>
            <a:r>
              <a:rPr sz="647" i="0">
                <a:solidFill>
                  <a:srgbClr val="E6EDF3"/>
                </a:solidFill>
                <a:latin typeface="Inconsolata"/>
              </a:rPr>
              <a:t>)</a:t>
            </a:r>
          </a:p>
          <a:p>
            <a:pPr>
              <a:lnSpc>
                <a:spcPct val="102960"/>
              </a:lnSpc>
              <a:spcAft>
                <a:spcPts val="0"/>
              </a:spcAft>
            </a:pPr>
            <a:r>
              <a:rPr sz="647" i="0">
                <a:solidFill>
                  <a:srgbClr val="5C6773"/>
                </a:solidFill>
                <a:latin typeface="Inconsolata"/>
              </a:rPr>
              <a:t>52  </a:t>
            </a:r>
            <a:r>
              <a:rPr sz="647" i="0">
                <a:solidFill>
                  <a:srgbClr val="E6EDF3"/>
                </a:solidFill>
                <a:latin typeface="Inconsolata"/>
              </a:rPr>
              <a:t>    </a:t>
            </a:r>
            <a:r>
              <a:rPr sz="647" i="0">
                <a:solidFill>
                  <a:srgbClr val="FF8E6E"/>
                </a:solidFill>
                <a:latin typeface="Inconsolata"/>
              </a:rPr>
              <a:t>return</a:t>
            </a:r>
            <a:r>
              <a:rPr sz="647" i="0">
                <a:solidFill>
                  <a:srgbClr val="E6EDF3"/>
                </a:solidFill>
                <a:latin typeface="Inconsolata"/>
              </a:rPr>
              <a:t> {</a:t>
            </a:r>
            <a:r>
              <a:rPr sz="647" i="0">
                <a:solidFill>
                  <a:srgbClr val="A5D6A7"/>
                </a:solidFill>
                <a:latin typeface="Inconsolata"/>
              </a:rPr>
              <a:t>"id"</a:t>
            </a:r>
            <a:r>
              <a:rPr sz="647" i="0">
                <a:solidFill>
                  <a:srgbClr val="E6EDF3"/>
                </a:solidFill>
                <a:latin typeface="Inconsolata"/>
              </a:rPr>
              <a:t>: order_id}</a:t>
            </a:r>
          </a:p>
          <a:p>
            <a:pPr>
              <a:lnSpc>
                <a:spcPct val="102960"/>
              </a:lnSpc>
              <a:spcAft>
                <a:spcPts val="0"/>
              </a:spcAft>
            </a:pPr>
            <a:r>
              <a:rPr sz="647" i="0">
                <a:solidFill>
                  <a:srgbClr val="5C6773"/>
                </a:solidFill>
                <a:latin typeface="Inconsolata"/>
              </a:rPr>
              <a:t>53  </a:t>
            </a:r>
            <a:r>
              <a:rPr sz="647" i="0">
                <a:solidFill>
                  <a:srgbClr val="E6EDF3"/>
                </a:solidFill>
                <a:latin typeface="Inconsolata"/>
              </a:rPr>
              <a:t> </a:t>
            </a:r>
          </a:p>
          <a:p>
            <a:pPr>
              <a:lnSpc>
                <a:spcPct val="102960"/>
              </a:lnSpc>
              <a:spcAft>
                <a:spcPts val="0"/>
              </a:spcAft>
            </a:pPr>
            <a:r>
              <a:rPr sz="647" i="0">
                <a:solidFill>
                  <a:srgbClr val="5C6773"/>
                </a:solidFill>
                <a:latin typeface="Inconsolata"/>
              </a:rPr>
              <a:t>54  </a:t>
            </a:r>
            <a:r>
              <a:rPr sz="647" i="0">
                <a:solidFill>
                  <a:srgbClr val="E6EDF3"/>
                </a:solidFill>
                <a:latin typeface="Inconsolata"/>
              </a:rPr>
              <a:t> </a:t>
            </a:r>
          </a:p>
          <a:p>
            <a:pPr>
              <a:lnSpc>
                <a:spcPct val="102960"/>
              </a:lnSpc>
              <a:spcAft>
                <a:spcPts val="0"/>
              </a:spcAft>
            </a:pPr>
            <a:r>
              <a:rPr sz="647" i="0">
                <a:solidFill>
                  <a:srgbClr val="5C6773"/>
                </a:solidFill>
                <a:latin typeface="Inconsolata"/>
              </a:rPr>
              <a:t>55  </a:t>
            </a:r>
            <a:r>
              <a:rPr sz="647" i="0">
                <a:solidFill>
                  <a:srgbClr val="FF8E6E"/>
                </a:solidFill>
                <a:latin typeface="Inconsolata"/>
              </a:rPr>
              <a:t>if</a:t>
            </a:r>
            <a:r>
              <a:rPr sz="647" i="0">
                <a:solidFill>
                  <a:srgbClr val="E6EDF3"/>
                </a:solidFill>
                <a:latin typeface="Inconsolata"/>
              </a:rPr>
              <a:t> __name__ == </a:t>
            </a:r>
            <a:r>
              <a:rPr sz="647" i="0">
                <a:solidFill>
                  <a:srgbClr val="A5D6A7"/>
                </a:solidFill>
                <a:latin typeface="Inconsolata"/>
              </a:rPr>
              <a:t>"__main__"</a:t>
            </a:r>
            <a:r>
              <a:rPr sz="647" i="0">
                <a:solidFill>
                  <a:srgbClr val="E6EDF3"/>
                </a:solidFill>
                <a:latin typeface="Inconsolata"/>
              </a:rPr>
              <a:t>:</a:t>
            </a:r>
          </a:p>
          <a:p>
            <a:pPr>
              <a:lnSpc>
                <a:spcPct val="102960"/>
              </a:lnSpc>
              <a:spcAft>
                <a:spcPts val="0"/>
              </a:spcAft>
            </a:pPr>
            <a:r>
              <a:rPr sz="647" i="0">
                <a:solidFill>
                  <a:srgbClr val="5C6773"/>
                </a:solidFill>
                <a:latin typeface="Inconsolata"/>
              </a:rPr>
              <a:t>56  </a:t>
            </a:r>
            <a:r>
              <a:rPr sz="647" i="0">
                <a:solidFill>
                  <a:srgbClr val="E6EDF3"/>
                </a:solidFill>
                <a:latin typeface="Inconsolata"/>
              </a:rPr>
              <a:t>    client = </a:t>
            </a:r>
            <a:r>
              <a:rPr sz="647" i="0">
                <a:solidFill>
                  <a:srgbClr val="7FDBCA"/>
                </a:solidFill>
                <a:latin typeface="Inconsolata"/>
              </a:rPr>
              <a:t>TestClient</a:t>
            </a:r>
            <a:r>
              <a:rPr sz="647" i="0">
                <a:solidFill>
                  <a:srgbClr val="E6EDF3"/>
                </a:solidFill>
                <a:latin typeface="Inconsolata"/>
              </a:rPr>
              <a:t>(app, raise_server_exceptions=</a:t>
            </a:r>
            <a:r>
              <a:rPr sz="647" i="0">
                <a:solidFill>
                  <a:srgbClr val="FF8E6E"/>
                </a:solidFill>
                <a:latin typeface="Inconsolata"/>
              </a:rPr>
              <a:t>False</a:t>
            </a:r>
            <a:r>
              <a:rPr sz="647" i="0">
                <a:solidFill>
                  <a:srgbClr val="E6EDF3"/>
                </a:solidFill>
                <a:latin typeface="Inconsolata"/>
              </a:rPr>
              <a:t>)</a:t>
            </a:r>
          </a:p>
          <a:p>
            <a:pPr>
              <a:lnSpc>
                <a:spcPct val="102960"/>
              </a:lnSpc>
              <a:spcAft>
                <a:spcPts val="0"/>
              </a:spcAft>
            </a:pPr>
            <a:r>
              <a:rPr sz="647" i="0">
                <a:solidFill>
                  <a:srgbClr val="5C6773"/>
                </a:solidFill>
                <a:latin typeface="Inconsolata"/>
              </a:rPr>
              <a:t>57  </a:t>
            </a:r>
            <a:r>
              <a:rPr sz="647" i="0">
                <a:solidFill>
                  <a:srgbClr val="E6EDF3"/>
                </a:solidFill>
                <a:latin typeface="Inconsolata"/>
              </a:rPr>
              <a:t>    </a:t>
            </a:r>
            <a:r>
              <a:rPr sz="647" i="0">
                <a:solidFill>
                  <a:srgbClr val="FF8E6E"/>
                </a:solidFill>
                <a:latin typeface="Inconsolata"/>
              </a:rPr>
              <a:t>for</a:t>
            </a:r>
            <a:r>
              <a:rPr sz="647" i="0">
                <a:solidFill>
                  <a:srgbClr val="E6EDF3"/>
                </a:solidFill>
                <a:latin typeface="Inconsolata"/>
              </a:rPr>
              <a:t> order_id </a:t>
            </a:r>
            <a:r>
              <a:rPr sz="647" i="0">
                <a:solidFill>
                  <a:srgbClr val="FF8E6E"/>
                </a:solidFill>
                <a:latin typeface="Inconsolata"/>
              </a:rPr>
              <a:t>in</a:t>
            </a:r>
            <a:r>
              <a:rPr sz="647" i="0">
                <a:solidFill>
                  <a:srgbClr val="E6EDF3"/>
                </a:solidFill>
                <a:latin typeface="Inconsolata"/>
              </a:rPr>
              <a:t> </a:t>
            </a:r>
            <a:r>
              <a:rPr sz="647" i="0">
                <a:solidFill>
                  <a:srgbClr val="C3A6FF"/>
                </a:solidFill>
                <a:latin typeface="Inconsolata"/>
              </a:rPr>
              <a:t>range</a:t>
            </a:r>
            <a:r>
              <a:rPr sz="647" i="0">
                <a:solidFill>
                  <a:srgbClr val="E6EDF3"/>
                </a:solidFill>
                <a:latin typeface="Inconsolata"/>
              </a:rPr>
              <a:t>(</a:t>
            </a:r>
            <a:r>
              <a:rPr sz="647" i="0">
                <a:solidFill>
                  <a:srgbClr val="F9C97A"/>
                </a:solidFill>
                <a:latin typeface="Inconsolata"/>
              </a:rPr>
              <a:t>1</a:t>
            </a:r>
            <a:r>
              <a:rPr sz="647" i="0">
                <a:solidFill>
                  <a:srgbClr val="E6EDF3"/>
                </a:solidFill>
                <a:latin typeface="Inconsolata"/>
              </a:rPr>
              <a:t>, </a:t>
            </a:r>
            <a:r>
              <a:rPr sz="647" i="0">
                <a:solidFill>
                  <a:srgbClr val="F9C97A"/>
                </a:solidFill>
                <a:latin typeface="Inconsolata"/>
              </a:rPr>
              <a:t>101</a:t>
            </a:r>
            <a:r>
              <a:rPr sz="647" i="0">
                <a:solidFill>
                  <a:srgbClr val="E6EDF3"/>
                </a:solidFill>
                <a:latin typeface="Inconsolata"/>
              </a:rPr>
              <a:t>):</a:t>
            </a:r>
          </a:p>
          <a:p>
            <a:pPr>
              <a:lnSpc>
                <a:spcPct val="102960"/>
              </a:lnSpc>
              <a:spcAft>
                <a:spcPts val="0"/>
              </a:spcAft>
            </a:pPr>
            <a:r>
              <a:rPr sz="647" i="0">
                <a:solidFill>
                  <a:srgbClr val="5C6773"/>
                </a:solidFill>
                <a:latin typeface="Inconsolata"/>
              </a:rPr>
              <a:t>58  </a:t>
            </a:r>
            <a:r>
              <a:rPr sz="647" i="0">
                <a:solidFill>
                  <a:srgbClr val="E6EDF3"/>
                </a:solidFill>
                <a:latin typeface="Inconsolata"/>
              </a:rPr>
              <a:t>        client.get(</a:t>
            </a:r>
            <a:r>
              <a:rPr sz="647" i="0">
                <a:solidFill>
                  <a:srgbClr val="A5D6A7"/>
                </a:solidFill>
                <a:latin typeface="Inconsolata"/>
              </a:rPr>
              <a:t>f"/orders/{order_id}"</a:t>
            </a:r>
            <a:r>
              <a:rPr sz="647" i="0">
                <a:solidFill>
                  <a:srgbClr val="E6EDF3"/>
                </a:solidFill>
                <a:latin typeface="Inconsolata"/>
              </a:rPr>
              <a:t>)</a:t>
            </a:r>
          </a:p>
          <a:p>
            <a:pPr>
              <a:lnSpc>
                <a:spcPct val="102960"/>
              </a:lnSpc>
              <a:spcAft>
                <a:spcPts val="0"/>
              </a:spcAft>
            </a:pPr>
            <a:r>
              <a:rPr sz="647" i="0">
                <a:solidFill>
                  <a:srgbClr val="5C6773"/>
                </a:solidFill>
                <a:latin typeface="Inconsolata"/>
              </a:rPr>
              <a:t>59  </a:t>
            </a:r>
            <a:r>
              <a:rPr sz="647" i="0">
                <a:solidFill>
                  <a:srgbClr val="E6EDF3"/>
                </a:solidFill>
                <a:latin typeface="Inconsolata"/>
              </a:rPr>
              <a:t>    </a:t>
            </a:r>
            <a:r>
              <a:rPr sz="647" i="0">
                <a:solidFill>
                  <a:srgbClr val="C3A6FF"/>
                </a:solidFill>
                <a:latin typeface="Inconsolata"/>
              </a:rPr>
              <a:t>print</a:t>
            </a:r>
            <a:r>
              <a:rPr sz="647" i="0">
                <a:solidFill>
                  <a:srgbClr val="E6EDF3"/>
                </a:solidFill>
                <a:latin typeface="Inconsolata"/>
              </a:rPr>
              <a:t>(</a:t>
            </a:r>
            <a:r>
              <a:rPr sz="647" i="0">
                <a:solidFill>
                  <a:srgbClr val="A5D6A7"/>
                </a:solidFill>
                <a:latin typeface="Inconsolata"/>
              </a:rPr>
              <a:t>"GET /metrics (potongan):"</a:t>
            </a:r>
            <a:r>
              <a:rPr sz="647" i="0">
                <a:solidFill>
                  <a:srgbClr val="E6EDF3"/>
                </a:solidFill>
                <a:latin typeface="Inconsolata"/>
              </a:rPr>
              <a:t>)</a:t>
            </a:r>
          </a:p>
          <a:p>
            <a:pPr>
              <a:lnSpc>
                <a:spcPct val="102960"/>
              </a:lnSpc>
              <a:spcAft>
                <a:spcPts val="0"/>
              </a:spcAft>
            </a:pPr>
            <a:r>
              <a:rPr sz="647" i="0">
                <a:solidFill>
                  <a:srgbClr val="5C6773"/>
                </a:solidFill>
                <a:latin typeface="Inconsolata"/>
              </a:rPr>
              <a:t>60  </a:t>
            </a:r>
            <a:r>
              <a:rPr sz="647" i="0">
                <a:solidFill>
                  <a:srgbClr val="E6EDF3"/>
                </a:solidFill>
                <a:latin typeface="Inconsolata"/>
              </a:rPr>
              <a:t>    </a:t>
            </a:r>
            <a:r>
              <a:rPr sz="647" i="0">
                <a:solidFill>
                  <a:srgbClr val="FF8E6E"/>
                </a:solidFill>
                <a:latin typeface="Inconsolata"/>
              </a:rPr>
              <a:t>for</a:t>
            </a:r>
            <a:r>
              <a:rPr sz="647" i="0">
                <a:solidFill>
                  <a:srgbClr val="E6EDF3"/>
                </a:solidFill>
                <a:latin typeface="Inconsolata"/>
              </a:rPr>
              <a:t> line </a:t>
            </a:r>
            <a:r>
              <a:rPr sz="647" i="0">
                <a:solidFill>
                  <a:srgbClr val="FF8E6E"/>
                </a:solidFill>
                <a:latin typeface="Inconsolata"/>
              </a:rPr>
              <a:t>in</a:t>
            </a:r>
            <a:r>
              <a:rPr sz="647" i="0">
                <a:solidFill>
                  <a:srgbClr val="E6EDF3"/>
                </a:solidFill>
                <a:latin typeface="Inconsolata"/>
              </a:rPr>
              <a:t> client.get(</a:t>
            </a:r>
            <a:r>
              <a:rPr sz="647" i="0">
                <a:solidFill>
                  <a:srgbClr val="A5D6A7"/>
                </a:solidFill>
                <a:latin typeface="Inconsolata"/>
              </a:rPr>
              <a:t>"/metrics"</a:t>
            </a:r>
            <a:r>
              <a:rPr sz="647" i="0">
                <a:solidFill>
                  <a:srgbClr val="E6EDF3"/>
                </a:solidFill>
                <a:latin typeface="Inconsolata"/>
              </a:rPr>
              <a:t>).text.splitlines():</a:t>
            </a:r>
          </a:p>
          <a:p>
            <a:pPr>
              <a:lnSpc>
                <a:spcPct val="102960"/>
              </a:lnSpc>
              <a:spcAft>
                <a:spcPts val="0"/>
              </a:spcAft>
            </a:pPr>
            <a:r>
              <a:rPr sz="647" i="0">
                <a:solidFill>
                  <a:srgbClr val="5C6773"/>
                </a:solidFill>
                <a:latin typeface="Inconsolata"/>
              </a:rPr>
              <a:t>61  </a:t>
            </a:r>
            <a:r>
              <a:rPr sz="647" i="0">
                <a:solidFill>
                  <a:srgbClr val="E6EDF3"/>
                </a:solidFill>
                <a:latin typeface="Inconsolata"/>
              </a:rPr>
              <a:t>        </a:t>
            </a:r>
            <a:r>
              <a:rPr sz="647" i="0">
                <a:solidFill>
                  <a:srgbClr val="FF8E6E"/>
                </a:solidFill>
                <a:latin typeface="Inconsolata"/>
              </a:rPr>
              <a:t>if</a:t>
            </a:r>
            <a:r>
              <a:rPr sz="647" i="0">
                <a:solidFill>
                  <a:srgbClr val="E6EDF3"/>
                </a:solidFill>
                <a:latin typeface="Inconsolata"/>
              </a:rPr>
              <a:t> line.startswith((</a:t>
            </a:r>
            <a:r>
              <a:rPr sz="647" i="0">
                <a:solidFill>
                  <a:srgbClr val="A5D6A7"/>
                </a:solidFill>
                <a:latin typeface="Inconsolata"/>
              </a:rPr>
              <a:t>"http_requests_total{"</a:t>
            </a:r>
            <a:r>
              <a:rPr sz="647" i="0">
                <a:solidFill>
                  <a:srgbClr val="E6EDF3"/>
                </a:solidFill>
                <a:latin typeface="Inconsolata"/>
              </a:rPr>
              <a:t>,</a:t>
            </a:r>
          </a:p>
          <a:p>
            <a:pPr>
              <a:lnSpc>
                <a:spcPct val="102960"/>
              </a:lnSpc>
              <a:spcAft>
                <a:spcPts val="0"/>
              </a:spcAft>
            </a:pPr>
            <a:r>
              <a:rPr sz="647" i="0">
                <a:solidFill>
                  <a:srgbClr val="5C6773"/>
                </a:solidFill>
                <a:latin typeface="Inconsolata"/>
              </a:rPr>
              <a:t>62  </a:t>
            </a:r>
            <a:r>
              <a:rPr sz="647" i="0">
                <a:solidFill>
                  <a:srgbClr val="E6EDF3"/>
                </a:solidFill>
                <a:latin typeface="Inconsolata"/>
              </a:rPr>
              <a:t>                            </a:t>
            </a:r>
            <a:r>
              <a:rPr sz="647" i="0">
                <a:solidFill>
                  <a:srgbClr val="A5D6A7"/>
                </a:solidFill>
                <a:latin typeface="Inconsolata"/>
              </a:rPr>
              <a:t>"http_request_duration_seconds_bucket"</a:t>
            </a:r>
            <a:r>
              <a:rPr sz="647" i="0">
                <a:solidFill>
                  <a:srgbClr val="E6EDF3"/>
                </a:solidFill>
                <a:latin typeface="Inconsolata"/>
              </a:rPr>
              <a:t>)):</a:t>
            </a:r>
          </a:p>
          <a:p>
            <a:pPr>
              <a:lnSpc>
                <a:spcPct val="102960"/>
              </a:lnSpc>
              <a:spcAft>
                <a:spcPts val="0"/>
              </a:spcAft>
            </a:pPr>
            <a:r>
              <a:rPr sz="647" i="0">
                <a:solidFill>
                  <a:srgbClr val="5C6773"/>
                </a:solidFill>
                <a:latin typeface="Inconsolata"/>
              </a:rPr>
              <a:t>63  </a:t>
            </a:r>
            <a:r>
              <a:rPr sz="647" i="0">
                <a:solidFill>
                  <a:srgbClr val="E6EDF3"/>
                </a:solidFill>
                <a:latin typeface="Inconsolata"/>
              </a:rPr>
              <a:t>            </a:t>
            </a:r>
            <a:r>
              <a:rPr sz="647" i="0">
                <a:solidFill>
                  <a:srgbClr val="FF8E6E"/>
                </a:solidFill>
                <a:latin typeface="Inconsolata"/>
              </a:rPr>
              <a:t>if</a:t>
            </a:r>
            <a:r>
              <a:rPr sz="647" i="0">
                <a:solidFill>
                  <a:srgbClr val="E6EDF3"/>
                </a:solidFill>
                <a:latin typeface="Inconsolata"/>
              </a:rPr>
              <a:t> </a:t>
            </a:r>
            <a:r>
              <a:rPr sz="647" i="0">
                <a:solidFill>
                  <a:srgbClr val="A5D6A7"/>
                </a:solidFill>
                <a:latin typeface="Inconsolata"/>
              </a:rPr>
              <a:t>"/orders/"</a:t>
            </a:r>
            <a:r>
              <a:rPr sz="647" i="0">
                <a:solidFill>
                  <a:srgbClr val="E6EDF3"/>
                </a:solidFill>
                <a:latin typeface="Inconsolata"/>
              </a:rPr>
              <a:t> </a:t>
            </a:r>
            <a:r>
              <a:rPr sz="647" i="0">
                <a:solidFill>
                  <a:srgbClr val="FF8E6E"/>
                </a:solidFill>
                <a:latin typeface="Inconsolata"/>
              </a:rPr>
              <a:t>in</a:t>
            </a:r>
            <a:r>
              <a:rPr sz="647" i="0">
                <a:solidFill>
                  <a:srgbClr val="E6EDF3"/>
                </a:solidFill>
                <a:latin typeface="Inconsolata"/>
              </a:rPr>
              <a:t> line:</a:t>
            </a:r>
          </a:p>
          <a:p>
            <a:pPr>
              <a:lnSpc>
                <a:spcPct val="102960"/>
              </a:lnSpc>
              <a:spcAft>
                <a:spcPts val="0"/>
              </a:spcAft>
            </a:pPr>
            <a:r>
              <a:rPr sz="647" i="0">
                <a:solidFill>
                  <a:srgbClr val="5C6773"/>
                </a:solidFill>
                <a:latin typeface="Inconsolata"/>
              </a:rPr>
              <a:t>64  </a:t>
            </a:r>
            <a:r>
              <a:rPr sz="647" i="0">
                <a:solidFill>
                  <a:srgbClr val="E6EDF3"/>
                </a:solidFill>
                <a:latin typeface="Inconsolata"/>
              </a:rPr>
              <a:t>                </a:t>
            </a:r>
            <a:r>
              <a:rPr sz="647" i="0">
                <a:solidFill>
                  <a:srgbClr val="C3A6FF"/>
                </a:solidFill>
                <a:latin typeface="Inconsolata"/>
              </a:rPr>
              <a:t>print</a:t>
            </a:r>
            <a:r>
              <a:rPr sz="647" i="0">
                <a:solidFill>
                  <a:srgbClr val="E6EDF3"/>
                </a:solidFill>
                <a:latin typeface="Inconsolata"/>
              </a:rPr>
              <a:t>(</a:t>
            </a:r>
            <a:r>
              <a:rPr sz="647" i="0">
                <a:solidFill>
                  <a:srgbClr val="A5D6A7"/>
                </a:solidFill>
                <a:latin typeface="Inconsolata"/>
              </a:rPr>
              <a:t>" "</a:t>
            </a:r>
            <a:r>
              <a:rPr sz="647" i="0">
                <a:solidFill>
                  <a:srgbClr val="E6EDF3"/>
                </a:solidFill>
                <a:latin typeface="Inconsolata"/>
              </a:rPr>
              <a:t>, line)</a:t>
            </a:r>
          </a:p>
        </p:txBody>
      </p:sp>
      <p:sp>
        <p:nvSpPr>
          <p:cNvPr id="36" name="Box 21"/>
          <p:cNvSpPr/>
          <p:nvPr/>
        </p:nvSpPr>
        <p:spPr>
          <a:xfrm>
            <a:off x="704088" y="2636520"/>
            <a:ext cx="3694176" cy="501904"/>
          </a:xfrm>
          <a:prstGeom prst="roundRect">
            <a:avLst>
              <a:gd name="adj" fmla="val 9109"/>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276860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704088" y="3855720"/>
            <a:ext cx="3694176" cy="400304"/>
          </a:xfrm>
          <a:prstGeom prst="roundRect">
            <a:avLst>
              <a:gd name="adj" fmla="val 11421"/>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279392" y="393700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40" name="Box 25"/>
          <p:cNvSpPr/>
          <p:nvPr/>
        </p:nvSpPr>
        <p:spPr>
          <a:xfrm>
            <a:off x="4709159" y="1823720"/>
            <a:ext cx="3694176" cy="298704"/>
          </a:xfrm>
          <a:prstGeom prst="roundRect">
            <a:avLst>
              <a:gd name="adj" fmla="val 1530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8284463" y="185420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Metrics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04-metrics/after.py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sesi-09-observability/04-metrics</a:t>
            </a:r>
          </a:p>
          <a:p>
            <a:pPr>
              <a:lnSpc>
                <a:spcPct val="111111"/>
              </a:lnSpc>
              <a:spcAft>
                <a:spcPts val="0"/>
              </a:spcAft>
            </a:pPr>
            <a:r>
              <a:rPr sz="900" i="0">
                <a:solidFill>
                  <a:srgbClr val="82B1FF"/>
                </a:solidFill>
                <a:latin typeface="Inconsolata"/>
              </a:rPr>
              <a:t>$ python after.py</a:t>
            </a:r>
          </a:p>
        </p:txBody>
      </p:sp>
      <p:pic>
        <p:nvPicPr>
          <p:cNvPr id="29" name="Image 12" descr="s09-04-metrics-after.png"/>
          <p:cNvPicPr>
            <a:picLocks noChangeAspect="1"/>
          </p:cNvPicPr>
          <p:nvPr/>
        </p:nvPicPr>
        <p:blipFill>
          <a:blip r:embed="rId2"/>
          <a:stretch>
            <a:fillRect/>
          </a:stretch>
        </p:blipFill>
        <p:spPr>
          <a:xfrm>
            <a:off x="621792" y="2322576"/>
            <a:ext cx="4297680" cy="1557909"/>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Counter jumlah request dan Histogram waktu response, dengan label (baris 22-26)</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Label route memakai pola path, bukan path asli (baris 34-37)</a:t>
            </a:r>
          </a:p>
          <a:p>
            <a:pPr marL="182880" indent="-182880" algn="l">
              <a:lnSpc>
                <a:spcPct val="115000"/>
              </a:lnSpc>
              <a:spcAft>
                <a:spcPts val="400"/>
              </a:spcAft>
              <a:buClr>
                <a:srgbClr val="E0764F"/>
              </a:buClr>
              <a:buSzPct val="100000"/>
              <a:buFont typeface="+mj-lt"/>
              <a:buAutoNum type="arabicPeriod"/>
            </a:pPr>
            <a:r>
              <a:rPr sz="950" b="0" i="0">
                <a:solidFill>
                  <a:srgbClr val="B5482A"/>
                </a:solidFill>
                <a:latin typeface="Inconsolata"/>
              </a:rPr>
              <a:t>GET /metrics</a:t>
            </a:r>
            <a:r>
              <a:rPr sz="950" b="0" i="0">
                <a:solidFill>
                  <a:srgbClr val="434343"/>
                </a:solidFill>
                <a:latin typeface="Inter"/>
              </a:rPr>
              <a:t> menampilkan semua angka (baris 41-43)</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95 request di bawah 50 ms, 5 request di atas 250 ms, dan 4 request status 500.</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Health Check</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Health Check?</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Health check adalah</a:t>
            </a:r>
          </a:p>
          <a:p>
            <a:pPr algn="l">
              <a:lnSpc>
                <a:spcPct val="115000"/>
              </a:lnSpc>
              <a:spcAft>
                <a:spcPts val="400"/>
              </a:spcAft>
            </a:pPr>
            <a:r>
              <a:rPr sz="900" b="0" i="0">
                <a:solidFill>
                  <a:srgbClr val="434343"/>
                </a:solidFill>
                <a:latin typeface="Inter"/>
              </a:rPr>
              <a:t>Design pattern berupa endpoint yang dipanggil berkala oleh load balancer atau Kubernetes untuk menanyakan kondisi aplikasi. Biasanya dipisah menjadi </a:t>
            </a:r>
            <a:r>
              <a:rPr sz="900" b="1" i="0">
                <a:solidFill>
                  <a:srgbClr val="434343"/>
                </a:solidFill>
                <a:latin typeface="Inter"/>
              </a:rPr>
              <a:t>liveness</a:t>
            </a:r>
            <a:r>
              <a:rPr sz="900" b="0" i="0">
                <a:solidFill>
                  <a:srgbClr val="434343"/>
                </a:solidFill>
                <a:latin typeface="Inter"/>
              </a:rPr>
              <a:t> (proses masih berjalan) dan </a:t>
            </a:r>
            <a:r>
              <a:rPr sz="900" b="1" i="0">
                <a:solidFill>
                  <a:srgbClr val="434343"/>
                </a:solidFill>
                <a:latin typeface="Inter"/>
              </a:rPr>
              <a:t>readiness</a:t>
            </a:r>
            <a:r>
              <a:rPr sz="900" b="0" i="0">
                <a:solidFill>
                  <a:srgbClr val="434343"/>
                </a:solidFill>
                <a:latin typeface="Inter"/>
              </a:rPr>
              <a:t> (dependency siap, boleh menerima traffic).</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Menghentikan traffic ke instance yang dependency-nya mati</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Me-restart container yang macet</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Mengetahui dependency mana yang bermasalah</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selalu ok: 05-health-checks/before.py</a:t>
            </a:r>
          </a:p>
        </p:txBody>
      </p:sp>
      <p:sp>
        <p:nvSpPr>
          <p:cNvPr id="28" name="CodeBg 11"/>
          <p:cNvSpPr/>
          <p:nvPr/>
        </p:nvSpPr>
        <p:spPr>
          <a:xfrm>
            <a:off x="4297680" y="1719072"/>
            <a:ext cx="4187951" cy="777240"/>
          </a:xfrm>
          <a:prstGeom prst="roundRect">
            <a:avLst>
              <a:gd name="adj" fmla="val 2352"/>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777240"/>
          </a:xfrm>
          <a:prstGeom prst="rect">
            <a:avLst/>
          </a:prstGeom>
          <a:noFill/>
        </p:spPr>
        <p:txBody>
          <a:bodyPr wrap="none" lIns="146304" tIns="91440" rIns="146304" bIns="54864">
            <a:spAutoFit/>
          </a:bodyPr>
          <a:lstStyle/>
          <a:p>
            <a:pPr>
              <a:lnSpc>
                <a:spcPct val="107843"/>
              </a:lnSpc>
              <a:spcAft>
                <a:spcPts val="0"/>
              </a:spcAft>
            </a:pPr>
            <a:r>
              <a:rPr sz="850" i="0">
                <a:solidFill>
                  <a:srgbClr val="F9C97A"/>
                </a:solidFill>
                <a:latin typeface="Inconsolata"/>
              </a:rPr>
              <a:t>@app.get</a:t>
            </a:r>
            <a:r>
              <a:rPr sz="850" i="0">
                <a:solidFill>
                  <a:srgbClr val="E6EDF3"/>
                </a:solidFill>
                <a:latin typeface="Inconsolata"/>
              </a:rPr>
              <a:t>(</a:t>
            </a:r>
            <a:r>
              <a:rPr sz="850" i="0">
                <a:solidFill>
                  <a:srgbClr val="A5D6A7"/>
                </a:solidFill>
                <a:latin typeface="Inconsolata"/>
              </a:rPr>
              <a:t>"/health"</a:t>
            </a:r>
            <a:r>
              <a:rPr sz="850" i="0">
                <a:solidFill>
                  <a:srgbClr val="E6EDF3"/>
                </a:solidFill>
                <a:latin typeface="Inconsolata"/>
              </a:rPr>
              <a:t>)</a:t>
            </a:r>
          </a:p>
          <a:p>
            <a:pPr>
              <a:lnSpc>
                <a:spcPct val="107843"/>
              </a:lnSpc>
              <a:spcAft>
                <a:spcPts val="0"/>
              </a:spcAft>
            </a:pPr>
            <a:r>
              <a:rPr sz="850" i="0">
                <a:solidFill>
                  <a:srgbClr val="FF8E6E"/>
                </a:solidFill>
                <a:latin typeface="Inconsolata"/>
              </a:rPr>
              <a:t>def</a:t>
            </a:r>
            <a:r>
              <a:rPr sz="850" i="0">
                <a:solidFill>
                  <a:srgbClr val="E6EDF3"/>
                </a:solidFill>
                <a:latin typeface="Inconsolata"/>
              </a:rPr>
              <a:t> </a:t>
            </a:r>
            <a:r>
              <a:rPr sz="850" i="0">
                <a:solidFill>
                  <a:srgbClr val="82B1FF"/>
                </a:solidFill>
                <a:latin typeface="Inconsolata"/>
              </a:rPr>
              <a:t>health</a:t>
            </a:r>
            <a:r>
              <a:rPr sz="850" i="0">
                <a:solidFill>
                  <a:srgbClr val="E6EDF3"/>
                </a:solidFill>
                <a:latin typeface="Inconsolata"/>
              </a:rPr>
              <a:t>():</a:t>
            </a:r>
          </a:p>
          <a:p>
            <a:pPr>
              <a:lnSpc>
                <a:spcPct val="107843"/>
              </a:lnSpc>
              <a:spcAft>
                <a:spcPts val="0"/>
              </a:spcAft>
            </a:pPr>
            <a:r>
              <a:rPr sz="850" i="0">
                <a:solidFill>
                  <a:srgbClr val="E6EDF3"/>
                </a:solidFill>
                <a:latin typeface="Inconsolata"/>
              </a:rPr>
              <a:t>    </a:t>
            </a:r>
            <a:r>
              <a:rPr sz="850" i="0">
                <a:solidFill>
                  <a:srgbClr val="FF8E6E"/>
                </a:solidFill>
                <a:latin typeface="Inconsolata"/>
              </a:rPr>
              <a:t>return</a:t>
            </a:r>
            <a:r>
              <a:rPr sz="850" i="0">
                <a:solidFill>
                  <a:srgbClr val="E6EDF3"/>
                </a:solidFill>
                <a:latin typeface="Inconsolata"/>
              </a:rPr>
              <a:t> {</a:t>
            </a:r>
            <a:r>
              <a:rPr sz="850" i="0">
                <a:solidFill>
                  <a:srgbClr val="A5D6A7"/>
                </a:solidFill>
                <a:latin typeface="Inconsolata"/>
              </a:rPr>
              <a:t>"status"</a:t>
            </a:r>
            <a:r>
              <a:rPr sz="850" i="0">
                <a:solidFill>
                  <a:srgbClr val="E6EDF3"/>
                </a:solidFill>
                <a:latin typeface="Inconsolata"/>
              </a:rPr>
              <a:t>: </a:t>
            </a:r>
            <a:r>
              <a:rPr sz="850" i="0">
                <a:solidFill>
                  <a:srgbClr val="A5D6A7"/>
                </a:solidFill>
                <a:latin typeface="Inconsolata"/>
              </a:rPr>
              <a:t>"ok"</a:t>
            </a:r>
            <a:r>
              <a:rPr sz="850" i="0">
                <a:solidFill>
                  <a:srgbClr val="E6EDF3"/>
                </a:solidFill>
                <a:latin typeface="Inconsolata"/>
              </a:rPr>
              <a:t>}</a:t>
            </a:r>
          </a:p>
        </p:txBody>
      </p:sp>
      <p:sp>
        <p:nvSpPr>
          <p:cNvPr id="30" name="Box 13"/>
          <p:cNvSpPr/>
          <p:nvPr/>
        </p:nvSpPr>
        <p:spPr>
          <a:xfrm>
            <a:off x="4379976" y="1828673"/>
            <a:ext cx="4023359" cy="410718"/>
          </a:xfrm>
          <a:prstGeom prst="roundRect">
            <a:avLst>
              <a:gd name="adj" fmla="val 11131"/>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2587752"/>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2665476"/>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2665476"/>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2665476"/>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2596896"/>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liveness dan readiness: 05-health-checks/after.py</a:t>
            </a:r>
          </a:p>
        </p:txBody>
      </p:sp>
      <p:sp>
        <p:nvSpPr>
          <p:cNvPr id="36" name="CodeBg 21"/>
          <p:cNvSpPr/>
          <p:nvPr/>
        </p:nvSpPr>
        <p:spPr>
          <a:xfrm>
            <a:off x="4297680" y="2825496"/>
            <a:ext cx="4187951" cy="1874519"/>
          </a:xfrm>
          <a:prstGeom prst="roundRect">
            <a:avLst>
              <a:gd name="adj" fmla="val 97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2825496"/>
            <a:ext cx="4187951" cy="1874519"/>
          </a:xfrm>
          <a:prstGeom prst="rect">
            <a:avLst/>
          </a:prstGeom>
          <a:noFill/>
        </p:spPr>
        <p:txBody>
          <a:bodyPr wrap="none" lIns="146304" tIns="91440" rIns="146304" bIns="54864">
            <a:spAutoFit/>
          </a:bodyPr>
          <a:lstStyle/>
          <a:p>
            <a:pPr>
              <a:lnSpc>
                <a:spcPct val="107843"/>
              </a:lnSpc>
              <a:spcAft>
                <a:spcPts val="0"/>
              </a:spcAft>
            </a:pPr>
            <a:r>
              <a:rPr sz="850" i="0">
                <a:solidFill>
                  <a:srgbClr val="F9C97A"/>
                </a:solidFill>
                <a:latin typeface="Inconsolata"/>
              </a:rPr>
              <a:t>@app.get</a:t>
            </a:r>
            <a:r>
              <a:rPr sz="850" i="0">
                <a:solidFill>
                  <a:srgbClr val="E6EDF3"/>
                </a:solidFill>
                <a:latin typeface="Inconsolata"/>
              </a:rPr>
              <a:t>(</a:t>
            </a:r>
            <a:r>
              <a:rPr sz="850" i="0">
                <a:solidFill>
                  <a:srgbClr val="A5D6A7"/>
                </a:solidFill>
                <a:latin typeface="Inconsolata"/>
              </a:rPr>
              <a:t>"/health/ready"</a:t>
            </a:r>
            <a:r>
              <a:rPr sz="850" i="0">
                <a:solidFill>
                  <a:srgbClr val="E6EDF3"/>
                </a:solidFill>
                <a:latin typeface="Inconsolata"/>
              </a:rPr>
              <a:t>)</a:t>
            </a:r>
          </a:p>
          <a:p>
            <a:pPr>
              <a:lnSpc>
                <a:spcPct val="107843"/>
              </a:lnSpc>
              <a:spcAft>
                <a:spcPts val="0"/>
              </a:spcAft>
            </a:pPr>
            <a:r>
              <a:rPr sz="850" i="0">
                <a:solidFill>
                  <a:srgbClr val="FF8E6E"/>
                </a:solidFill>
                <a:latin typeface="Inconsolata"/>
              </a:rPr>
              <a:t>def</a:t>
            </a:r>
            <a:r>
              <a:rPr sz="850" i="0">
                <a:solidFill>
                  <a:srgbClr val="E6EDF3"/>
                </a:solidFill>
                <a:latin typeface="Inconsolata"/>
              </a:rPr>
              <a:t> </a:t>
            </a:r>
            <a:r>
              <a:rPr sz="850" i="0">
                <a:solidFill>
                  <a:srgbClr val="82B1FF"/>
                </a:solidFill>
                <a:latin typeface="Inconsolata"/>
              </a:rPr>
              <a:t>ready</a:t>
            </a:r>
            <a:r>
              <a:rPr sz="850" i="0">
                <a:solidFill>
                  <a:srgbClr val="E6EDF3"/>
                </a:solidFill>
                <a:latin typeface="Inconsolata"/>
              </a:rPr>
              <a:t>():</a:t>
            </a:r>
          </a:p>
          <a:p>
            <a:pPr>
              <a:lnSpc>
                <a:spcPct val="107843"/>
              </a:lnSpc>
              <a:spcAft>
                <a:spcPts val="0"/>
              </a:spcAft>
            </a:pPr>
            <a:r>
              <a:rPr sz="850" i="0">
                <a:solidFill>
                  <a:srgbClr val="E6EDF3"/>
                </a:solidFill>
                <a:latin typeface="Inconsolata"/>
              </a:rPr>
              <a:t>    results = {}</a:t>
            </a:r>
          </a:p>
          <a:p>
            <a:pPr>
              <a:lnSpc>
                <a:spcPct val="107843"/>
              </a:lnSpc>
              <a:spcAft>
                <a:spcPts val="0"/>
              </a:spcAft>
            </a:pPr>
            <a:r>
              <a:rPr sz="850" i="0">
                <a:solidFill>
                  <a:srgbClr val="E6EDF3"/>
                </a:solidFill>
                <a:latin typeface="Inconsolata"/>
              </a:rPr>
              <a:t>    </a:t>
            </a:r>
            <a:r>
              <a:rPr sz="850" i="0">
                <a:solidFill>
                  <a:srgbClr val="FF8E6E"/>
                </a:solidFill>
                <a:latin typeface="Inconsolata"/>
              </a:rPr>
              <a:t>for</a:t>
            </a:r>
            <a:r>
              <a:rPr sz="850" i="0">
                <a:solidFill>
                  <a:srgbClr val="E6EDF3"/>
                </a:solidFill>
                <a:latin typeface="Inconsolata"/>
              </a:rPr>
              <a:t> name, check </a:t>
            </a:r>
            <a:r>
              <a:rPr sz="850" i="0">
                <a:solidFill>
                  <a:srgbClr val="FF8E6E"/>
                </a:solidFill>
                <a:latin typeface="Inconsolata"/>
              </a:rPr>
              <a:t>in</a:t>
            </a:r>
            <a:r>
              <a:rPr sz="850" i="0">
                <a:solidFill>
                  <a:srgbClr val="E6EDF3"/>
                </a:solidFill>
                <a:latin typeface="Inconsolata"/>
              </a:rPr>
              <a:t> </a:t>
            </a:r>
            <a:r>
              <a:rPr sz="850" i="0">
                <a:solidFill>
                  <a:srgbClr val="7FDBCA"/>
                </a:solidFill>
                <a:latin typeface="Inconsolata"/>
              </a:rPr>
              <a:t>CHECKS</a:t>
            </a:r>
            <a:r>
              <a:rPr sz="850" i="0">
                <a:solidFill>
                  <a:srgbClr val="E6EDF3"/>
                </a:solidFill>
                <a:latin typeface="Inconsolata"/>
              </a:rPr>
              <a:t>.items():</a:t>
            </a:r>
          </a:p>
          <a:p>
            <a:pPr>
              <a:lnSpc>
                <a:spcPct val="107843"/>
              </a:lnSpc>
              <a:spcAft>
                <a:spcPts val="0"/>
              </a:spcAft>
            </a:pPr>
            <a:r>
              <a:rPr sz="850" i="0">
                <a:solidFill>
                  <a:srgbClr val="E6EDF3"/>
                </a:solidFill>
                <a:latin typeface="Inconsolata"/>
              </a:rPr>
              <a:t>        </a:t>
            </a:r>
            <a:r>
              <a:rPr sz="850" i="0">
                <a:solidFill>
                  <a:srgbClr val="FF8E6E"/>
                </a:solidFill>
                <a:latin typeface="Inconsolata"/>
              </a:rPr>
              <a:t>try</a:t>
            </a:r>
            <a:r>
              <a:rPr sz="850" i="0">
                <a:solidFill>
                  <a:srgbClr val="E6EDF3"/>
                </a:solidFill>
                <a:latin typeface="Inconsolata"/>
              </a:rPr>
              <a:t>:</a:t>
            </a:r>
          </a:p>
          <a:p>
            <a:pPr>
              <a:lnSpc>
                <a:spcPct val="107843"/>
              </a:lnSpc>
              <a:spcAft>
                <a:spcPts val="0"/>
              </a:spcAft>
            </a:pPr>
            <a:r>
              <a:rPr sz="850" i="0">
                <a:solidFill>
                  <a:srgbClr val="E6EDF3"/>
                </a:solidFill>
                <a:latin typeface="Inconsolata"/>
              </a:rPr>
              <a:t>            check()</a:t>
            </a:r>
          </a:p>
          <a:p>
            <a:pPr>
              <a:lnSpc>
                <a:spcPct val="107843"/>
              </a:lnSpc>
              <a:spcAft>
                <a:spcPts val="0"/>
              </a:spcAft>
            </a:pPr>
            <a:r>
              <a:rPr sz="850" i="0">
                <a:solidFill>
                  <a:srgbClr val="E6EDF3"/>
                </a:solidFill>
                <a:latin typeface="Inconsolata"/>
              </a:rPr>
              <a:t>            results[name] = </a:t>
            </a:r>
            <a:r>
              <a:rPr sz="850" i="0">
                <a:solidFill>
                  <a:srgbClr val="A5D6A7"/>
                </a:solidFill>
                <a:latin typeface="Inconsolata"/>
              </a:rPr>
              <a:t>"ok"</a:t>
            </a:r>
          </a:p>
        </p:txBody>
      </p:sp>
      <p:sp>
        <p:nvSpPr>
          <p:cNvPr id="38" name="Box 23"/>
          <p:cNvSpPr/>
          <p:nvPr/>
        </p:nvSpPr>
        <p:spPr>
          <a:xfrm>
            <a:off x="4379976" y="3354196"/>
            <a:ext cx="4023359" cy="550418"/>
          </a:xfrm>
          <a:prstGeom prst="roundRect">
            <a:avLst>
              <a:gd name="adj" fmla="val 830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Health Check</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menggunakan Readiness Check?</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Tanpa readiness check</a:t>
            </a:r>
          </a:p>
          <a:p>
            <a:pPr algn="l">
              <a:lnSpc>
                <a:spcPct val="115000"/>
              </a:lnSpc>
              <a:spcAft>
                <a:spcPts val="400"/>
              </a:spcAft>
            </a:pPr>
            <a:r>
              <a:rPr sz="950" b="0" i="0">
                <a:solidFill>
                  <a:srgbClr val="B5482A"/>
                </a:solidFill>
                <a:latin typeface="Inconsolata"/>
              </a:rPr>
              <a:t>/health</a:t>
            </a:r>
            <a:r>
              <a:rPr sz="950" b="0" i="0">
                <a:solidFill>
                  <a:srgbClr val="434343"/>
                </a:solidFill>
                <a:latin typeface="Inter"/>
              </a:rPr>
              <a:t> selalu menjawab "ok". Redis mati, endpoint produk error, tetapi load balancer tetap mengirim traffic.</a:t>
            </a:r>
          </a:p>
          <a:p>
            <a:pPr algn="l">
              <a:lnSpc>
                <a:spcPct val="115000"/>
              </a:lnSpc>
              <a:spcAft>
                <a:spcPts val="400"/>
              </a:spcAft>
            </a:pPr>
            <a:r>
              <a:rPr sz="1050" b="1" i="0">
                <a:solidFill>
                  <a:srgbClr val="1C4587"/>
                </a:solidFill>
                <a:latin typeface="Inter"/>
              </a:rPr>
              <a:t>Jika instance makin banyak</a:t>
            </a:r>
          </a:p>
          <a:p>
            <a:pPr algn="l">
              <a:lnSpc>
                <a:spcPct val="115000"/>
              </a:lnSpc>
              <a:spcAft>
                <a:spcPts val="400"/>
              </a:spcAft>
            </a:pPr>
            <a:r>
              <a:rPr sz="950" b="0" i="0">
                <a:solidFill>
                  <a:srgbClr val="434343"/>
                </a:solidFill>
                <a:latin typeface="Inter"/>
              </a:rPr>
              <a:t>Satu instance yang bermasalah terus menerima request dan mengembalikan error.</a:t>
            </a:r>
          </a:p>
          <a:p>
            <a:pPr algn="l">
              <a:lnSpc>
                <a:spcPct val="115000"/>
              </a:lnSpc>
              <a:spcAft>
                <a:spcPts val="400"/>
              </a:spcAft>
            </a:pPr>
            <a:r>
              <a:rPr sz="950" b="0" i="0">
                <a:solidFill>
                  <a:srgbClr val="434343"/>
                </a:solidFill>
                <a:latin typeface="Inter"/>
              </a:rPr>
              <a:t>Hal ini membuat sebagian customer gagal, padahal instance lain sehat.</a:t>
            </a:r>
          </a:p>
          <a:p>
            <a:pPr algn="l">
              <a:lnSpc>
                <a:spcPct val="115000"/>
              </a:lnSpc>
              <a:spcAft>
                <a:spcPts val="400"/>
              </a:spcAft>
            </a:pPr>
            <a:r>
              <a:rPr sz="1050" b="1" i="0">
                <a:solidFill>
                  <a:srgbClr val="1C4587"/>
                </a:solidFill>
                <a:latin typeface="Inter"/>
              </a:rPr>
              <a:t>Yang perlu diperhatikan</a:t>
            </a:r>
          </a:p>
          <a:p>
            <a:pPr algn="l">
              <a:lnSpc>
                <a:spcPct val="115000"/>
              </a:lnSpc>
              <a:spcAft>
                <a:spcPts val="400"/>
              </a:spcAft>
            </a:pPr>
            <a:r>
              <a:rPr sz="950" b="0" i="0">
                <a:solidFill>
                  <a:srgbClr val="434343"/>
                </a:solidFill>
                <a:latin typeface="Inter"/>
              </a:rPr>
              <a:t>Liveness tidak mengecek dependency. Jika Redis mati, me-restart API tidak memperbaiki apa pun.</a:t>
            </a:r>
          </a:p>
        </p:txBody>
      </p:sp>
      <p:graphicFrame>
        <p:nvGraphicFramePr>
          <p:cNvPr id="23" name="Table 4"/>
          <p:cNvGraphicFramePr>
            <a:graphicFrameLocks noGrp="1"/>
          </p:cNvGraphicFramePr>
          <p:nvPr/>
        </p:nvGraphicFramePr>
        <p:xfrm>
          <a:off x="4800600" y="1481328"/>
          <a:ext cx="3685032" cy="1828800"/>
        </p:xfrm>
        <a:graphic>
          <a:graphicData uri="http://schemas.openxmlformats.org/drawingml/2006/table">
            <a:tbl>
              <a:tblPr firstRow="1" bandRow="1"/>
              <a:tblGrid>
                <a:gridCol w="1307592">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tblGrid>
              <a:tr h="457200">
                <a:tc>
                  <a:txBody>
                    <a:bodyPr/>
                    <a:lstStyle/>
                    <a:p>
                      <a:pPr algn="l">
                        <a:lnSpc>
                          <a:spcPct val="100000"/>
                        </a:lnSpc>
                        <a:spcAft>
                          <a:spcPts val="0"/>
                        </a:spcAft>
                      </a:pPr>
                      <a:r>
                        <a:rPr sz="850" b="1" i="0">
                          <a:solidFill>
                            <a:srgbClr val="FFFFFF"/>
                          </a:solidFill>
                          <a:latin typeface="Inter"/>
                        </a:rPr>
                        <a:t>Endpoint</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Jika gagal</a:t>
                      </a:r>
                    </a:p>
                  </a:txBody>
                  <a:tcPr marL="73152" marR="73152" marT="36576" marB="36576" anchor="ctr">
                    <a:solidFill>
                      <a:srgbClr val="1C4587"/>
                    </a:solidFill>
                  </a:tcPr>
                </a:tc>
                <a:extLst>
                  <a:ext uri="{0D108BD9-81ED-4DB2-BD59-A6C34878D82A}">
                    <a16:rowId xmlns:a16="http://schemas.microsoft.com/office/drawing/2014/main" val="10000"/>
                  </a:ext>
                </a:extLst>
              </a:tr>
              <a:tr h="457200">
                <a:tc>
                  <a:txBody>
                    <a:bodyPr/>
                    <a:lstStyle/>
                    <a:p>
                      <a:pPr algn="l">
                        <a:lnSpc>
                          <a:spcPct val="100000"/>
                        </a:lnSpc>
                        <a:spcAft>
                          <a:spcPts val="0"/>
                        </a:spcAft>
                      </a:pPr>
                      <a:r>
                        <a:rPr sz="850" b="1" i="0">
                          <a:solidFill>
                            <a:srgbClr val="1C4587"/>
                          </a:solidFill>
                          <a:latin typeface="Inter"/>
                        </a:rPr>
                        <a:t>/health/live</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Container di-restart</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pPr algn="l">
                        <a:lnSpc>
                          <a:spcPct val="100000"/>
                        </a:lnSpc>
                        <a:spcAft>
                          <a:spcPts val="0"/>
                        </a:spcAft>
                      </a:pPr>
                      <a:r>
                        <a:rPr sz="850" b="1" i="0">
                          <a:solidFill>
                            <a:srgbClr val="1C4587"/>
                          </a:solidFill>
                          <a:latin typeface="Inter"/>
                        </a:rPr>
                        <a:t>/health/ready</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Traffic dihentikan sementara, tanpa restart</a:t>
                      </a:r>
                    </a:p>
                  </a:txBody>
                  <a:tcPr marL="73152" marR="73152" marT="36576" marB="36576" anchor="ctr">
                    <a:solidFill>
                      <a:srgbClr val="F3F4F6"/>
                    </a:solidFill>
                  </a:tcPr>
                </a:tc>
                <a:extLst>
                  <a:ext uri="{0D108BD9-81ED-4DB2-BD59-A6C34878D82A}">
                    <a16:rowId xmlns:a16="http://schemas.microsoft.com/office/drawing/2014/main" val="10002"/>
                  </a:ext>
                </a:extLst>
              </a:tr>
              <a:tr h="457200">
                <a:tc>
                  <a:txBody>
                    <a:bodyPr/>
                    <a:lstStyle/>
                    <a:p>
                      <a:pPr algn="l">
                        <a:lnSpc>
                          <a:spcPct val="100000"/>
                        </a:lnSpc>
                        <a:spcAft>
                          <a:spcPts val="0"/>
                        </a:spcAft>
                      </a:pPr>
                      <a:r>
                        <a:rPr sz="850" b="1" i="0">
                          <a:solidFill>
                            <a:srgbClr val="1C4587"/>
                          </a:solidFill>
                          <a:latin typeface="Inter"/>
                        </a:rPr>
                        <a:t>status 503</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Tanda readiness gagal</a:t>
                      </a:r>
                    </a:p>
                  </a:txBody>
                  <a:tcPr marL="73152" marR="73152" marT="36576" marB="36576"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Health Check</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/health selalu ok</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05-health-checks/before.py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7095"/>
              </a:lnSpc>
              <a:spcAft>
                <a:spcPts val="0"/>
              </a:spcAft>
            </a:pPr>
            <a:r>
              <a:rPr sz="700" i="0">
                <a:solidFill>
                  <a:srgbClr val="5C6773"/>
                </a:solidFill>
                <a:latin typeface="Inconsolata"/>
              </a:rPr>
              <a:t> 9  </a:t>
            </a:r>
            <a:r>
              <a:rPr sz="700" i="0">
                <a:solidFill>
                  <a:srgbClr val="FF8E6E"/>
                </a:solidFill>
                <a:latin typeface="Inconsolata"/>
              </a:rPr>
              <a:t>from</a:t>
            </a:r>
            <a:r>
              <a:rPr sz="700" i="0">
                <a:solidFill>
                  <a:srgbClr val="E6EDF3"/>
                </a:solidFill>
                <a:latin typeface="Inconsolata"/>
              </a:rPr>
              <a:t> fastapi </a:t>
            </a:r>
            <a:r>
              <a:rPr sz="700" i="0">
                <a:solidFill>
                  <a:srgbClr val="FF8E6E"/>
                </a:solidFill>
                <a:latin typeface="Inconsolata"/>
              </a:rPr>
              <a:t>import</a:t>
            </a:r>
            <a:r>
              <a:rPr sz="700" i="0">
                <a:solidFill>
                  <a:srgbClr val="E6EDF3"/>
                </a:solidFill>
                <a:latin typeface="Inconsolata"/>
              </a:rPr>
              <a:t> </a:t>
            </a:r>
            <a:r>
              <a:rPr sz="700" i="0">
                <a:solidFill>
                  <a:srgbClr val="7FDBCA"/>
                </a:solidFill>
                <a:latin typeface="Inconsolata"/>
              </a:rPr>
              <a:t>FastAPI</a:t>
            </a:r>
          </a:p>
          <a:p>
            <a:pPr>
              <a:lnSpc>
                <a:spcPct val="107095"/>
              </a:lnSpc>
              <a:spcAft>
                <a:spcPts val="0"/>
              </a:spcAft>
            </a:pPr>
            <a:r>
              <a:rPr sz="700" i="0">
                <a:solidFill>
                  <a:srgbClr val="5C6773"/>
                </a:solidFill>
                <a:latin typeface="Inconsolata"/>
              </a:rPr>
              <a:t>10  </a:t>
            </a:r>
            <a:r>
              <a:rPr sz="700" i="0">
                <a:solidFill>
                  <a:srgbClr val="FF8E6E"/>
                </a:solidFill>
                <a:latin typeface="Inconsolata"/>
              </a:rPr>
              <a:t>from</a:t>
            </a:r>
            <a:r>
              <a:rPr sz="700" i="0">
                <a:solidFill>
                  <a:srgbClr val="E6EDF3"/>
                </a:solidFill>
                <a:latin typeface="Inconsolata"/>
              </a:rPr>
              <a:t> fastapi.testclient </a:t>
            </a:r>
            <a:r>
              <a:rPr sz="700" i="0">
                <a:solidFill>
                  <a:srgbClr val="FF8E6E"/>
                </a:solidFill>
                <a:latin typeface="Inconsolata"/>
              </a:rPr>
              <a:t>import</a:t>
            </a:r>
            <a:r>
              <a:rPr sz="700" i="0">
                <a:solidFill>
                  <a:srgbClr val="E6EDF3"/>
                </a:solidFill>
                <a:latin typeface="Inconsolata"/>
              </a:rPr>
              <a:t> </a:t>
            </a:r>
            <a:r>
              <a:rPr sz="700" i="0">
                <a:solidFill>
                  <a:srgbClr val="7FDBCA"/>
                </a:solidFill>
                <a:latin typeface="Inconsolata"/>
              </a:rPr>
              <a:t>TestClient</a:t>
            </a:r>
          </a:p>
          <a:p>
            <a:pPr>
              <a:lnSpc>
                <a:spcPct val="107095"/>
              </a:lnSpc>
              <a:spcAft>
                <a:spcPts val="0"/>
              </a:spcAft>
            </a:pPr>
            <a:r>
              <a:rPr sz="700" i="0">
                <a:solidFill>
                  <a:srgbClr val="5C6773"/>
                </a:solidFill>
                <a:latin typeface="Inconsolata"/>
              </a:rPr>
              <a:t>11  </a:t>
            </a:r>
            <a:r>
              <a:rPr sz="700" i="0">
                <a:solidFill>
                  <a:srgbClr val="FF8E6E"/>
                </a:solidFill>
                <a:latin typeface="Inconsolata"/>
              </a:rPr>
              <a:t>from</a:t>
            </a:r>
            <a:r>
              <a:rPr sz="700" i="0">
                <a:solidFill>
                  <a:srgbClr val="E6EDF3"/>
                </a:solidFill>
                <a:latin typeface="Inconsolata"/>
              </a:rPr>
              <a:t> redis </a:t>
            </a:r>
            <a:r>
              <a:rPr sz="700" i="0">
                <a:solidFill>
                  <a:srgbClr val="FF8E6E"/>
                </a:solidFill>
                <a:latin typeface="Inconsolata"/>
              </a:rPr>
              <a:t>import</a:t>
            </a:r>
            <a:r>
              <a:rPr sz="700" i="0">
                <a:solidFill>
                  <a:srgbClr val="E6EDF3"/>
                </a:solidFill>
                <a:latin typeface="Inconsolata"/>
              </a:rPr>
              <a:t> </a:t>
            </a:r>
            <a:r>
              <a:rPr sz="700" i="0">
                <a:solidFill>
                  <a:srgbClr val="7FDBCA"/>
                </a:solidFill>
                <a:latin typeface="Inconsolata"/>
              </a:rPr>
              <a:t>Redis</a:t>
            </a:r>
          </a:p>
          <a:p>
            <a:pPr>
              <a:lnSpc>
                <a:spcPct val="107095"/>
              </a:lnSpc>
              <a:spcAft>
                <a:spcPts val="0"/>
              </a:spcAft>
            </a:pPr>
            <a:r>
              <a:rPr sz="700" i="0">
                <a:solidFill>
                  <a:srgbClr val="5C6773"/>
                </a:solidFill>
                <a:latin typeface="Inconsolata"/>
              </a:rPr>
              <a:t>12  </a:t>
            </a:r>
            <a:r>
              <a:rPr sz="700" i="0">
                <a:solidFill>
                  <a:srgbClr val="FF8E6E"/>
                </a:solidFill>
                <a:latin typeface="Inconsolata"/>
              </a:rPr>
              <a:t>from</a:t>
            </a:r>
            <a:r>
              <a:rPr sz="700" i="0">
                <a:solidFill>
                  <a:srgbClr val="E6EDF3"/>
                </a:solidFill>
                <a:latin typeface="Inconsolata"/>
              </a:rPr>
              <a:t> sqlalchemy </a:t>
            </a:r>
            <a:r>
              <a:rPr sz="700" i="0">
                <a:solidFill>
                  <a:srgbClr val="FF8E6E"/>
                </a:solidFill>
                <a:latin typeface="Inconsolata"/>
              </a:rPr>
              <a:t>import</a:t>
            </a:r>
            <a:r>
              <a:rPr sz="700" i="0">
                <a:solidFill>
                  <a:srgbClr val="E6EDF3"/>
                </a:solidFill>
                <a:latin typeface="Inconsolata"/>
              </a:rPr>
              <a:t> create_engine, text</a:t>
            </a:r>
          </a:p>
          <a:p>
            <a:pPr>
              <a:lnSpc>
                <a:spcPct val="107095"/>
              </a:lnSpc>
              <a:spcAft>
                <a:spcPts val="0"/>
              </a:spcAft>
            </a:pPr>
            <a:r>
              <a:rPr sz="700" i="0">
                <a:solidFill>
                  <a:srgbClr val="5C6773"/>
                </a:solidFill>
                <a:latin typeface="Inconsolata"/>
              </a:rPr>
              <a:t>13  </a:t>
            </a:r>
            <a:r>
              <a:rPr sz="700" i="0">
                <a:solidFill>
                  <a:srgbClr val="E6EDF3"/>
                </a:solidFill>
                <a:latin typeface="Inconsolata"/>
              </a:rPr>
              <a:t> </a:t>
            </a:r>
          </a:p>
          <a:p>
            <a:pPr>
              <a:lnSpc>
                <a:spcPct val="107095"/>
              </a:lnSpc>
              <a:spcAft>
                <a:spcPts val="0"/>
              </a:spcAft>
            </a:pPr>
            <a:r>
              <a:rPr sz="700" i="0">
                <a:solidFill>
                  <a:srgbClr val="5C6773"/>
                </a:solidFill>
                <a:latin typeface="Inconsolata"/>
              </a:rPr>
              <a:t>14  </a:t>
            </a:r>
            <a:r>
              <a:rPr sz="700" i="0">
                <a:solidFill>
                  <a:srgbClr val="E6EDF3"/>
                </a:solidFill>
                <a:latin typeface="Inconsolata"/>
              </a:rPr>
              <a:t>engine = create_engine(</a:t>
            </a:r>
            <a:r>
              <a:rPr sz="700" i="0">
                <a:solidFill>
                  <a:srgbClr val="A5D6A7"/>
                </a:solidFill>
                <a:latin typeface="Inconsolata"/>
              </a:rPr>
              <a:t>"sqlite://"</a:t>
            </a:r>
            <a:r>
              <a:rPr sz="700" i="0">
                <a:solidFill>
                  <a:srgbClr val="E6EDF3"/>
                </a:solidFill>
                <a:latin typeface="Inconsolata"/>
              </a:rPr>
              <a:t>)                    </a:t>
            </a:r>
            <a:r>
              <a:rPr sz="700" i="1">
                <a:solidFill>
                  <a:srgbClr val="8B98A8"/>
                </a:solidFill>
                <a:latin typeface="Inconsolata"/>
              </a:rPr>
              <a:t># hidup</a:t>
            </a:r>
          </a:p>
          <a:p>
            <a:pPr>
              <a:lnSpc>
                <a:spcPct val="107095"/>
              </a:lnSpc>
              <a:spcAft>
                <a:spcPts val="0"/>
              </a:spcAft>
            </a:pPr>
            <a:r>
              <a:rPr sz="700" i="0">
                <a:solidFill>
                  <a:srgbClr val="5C6773"/>
                </a:solidFill>
                <a:latin typeface="Inconsolata"/>
              </a:rPr>
              <a:t>15  </a:t>
            </a:r>
            <a:r>
              <a:rPr sz="700" i="0">
                <a:solidFill>
                  <a:srgbClr val="E6EDF3"/>
                </a:solidFill>
                <a:latin typeface="Inconsolata"/>
              </a:rPr>
              <a:t>redis = </a:t>
            </a:r>
            <a:r>
              <a:rPr sz="700" i="0">
                <a:solidFill>
                  <a:srgbClr val="7FDBCA"/>
                </a:solidFill>
                <a:latin typeface="Inconsolata"/>
              </a:rPr>
              <a:t>Redis</a:t>
            </a:r>
            <a:r>
              <a:rPr sz="700" i="0">
                <a:solidFill>
                  <a:srgbClr val="E6EDF3"/>
                </a:solidFill>
                <a:latin typeface="Inconsolata"/>
              </a:rPr>
              <a:t>(port=</a:t>
            </a:r>
            <a:r>
              <a:rPr sz="700" i="0">
                <a:solidFill>
                  <a:srgbClr val="F9C97A"/>
                </a:solidFill>
                <a:latin typeface="Inconsolata"/>
              </a:rPr>
              <a:t>6399</a:t>
            </a:r>
            <a:r>
              <a:rPr sz="700" i="0">
                <a:solidFill>
                  <a:srgbClr val="E6EDF3"/>
                </a:solidFill>
                <a:latin typeface="Inconsolata"/>
              </a:rPr>
              <a:t>, socket_connect_timeout=</a:t>
            </a:r>
            <a:r>
              <a:rPr sz="700" i="0">
                <a:solidFill>
                  <a:srgbClr val="F9C97A"/>
                </a:solidFill>
                <a:latin typeface="Inconsolata"/>
              </a:rPr>
              <a:t>0</a:t>
            </a:r>
            <a:r>
              <a:rPr sz="700" i="0">
                <a:solidFill>
                  <a:srgbClr val="E6EDF3"/>
                </a:solidFill>
                <a:latin typeface="Inconsolata"/>
              </a:rPr>
              <a:t>.</a:t>
            </a:r>
            <a:r>
              <a:rPr sz="700" i="0">
                <a:solidFill>
                  <a:srgbClr val="F9C97A"/>
                </a:solidFill>
                <a:latin typeface="Inconsolata"/>
              </a:rPr>
              <a:t>5</a:t>
            </a:r>
            <a:r>
              <a:rPr sz="700" i="0">
                <a:solidFill>
                  <a:srgbClr val="E6EDF3"/>
                </a:solidFill>
                <a:latin typeface="Inconsolata"/>
              </a:rPr>
              <a:t>,   </a:t>
            </a:r>
            <a:r>
              <a:rPr sz="700" i="1">
                <a:solidFill>
                  <a:srgbClr val="8B98A8"/>
                </a:solidFill>
                <a:latin typeface="Inconsolata"/>
              </a:rPr>
              <a:t># mati</a:t>
            </a:r>
          </a:p>
          <a:p>
            <a:pPr>
              <a:lnSpc>
                <a:spcPct val="107095"/>
              </a:lnSpc>
              <a:spcAft>
                <a:spcPts val="0"/>
              </a:spcAft>
            </a:pPr>
            <a:r>
              <a:rPr sz="700" i="0">
                <a:solidFill>
                  <a:srgbClr val="5C6773"/>
                </a:solidFill>
                <a:latin typeface="Inconsolata"/>
              </a:rPr>
              <a:t>16  </a:t>
            </a:r>
            <a:r>
              <a:rPr sz="700" i="0">
                <a:solidFill>
                  <a:srgbClr val="E6EDF3"/>
                </a:solidFill>
                <a:latin typeface="Inconsolata"/>
              </a:rPr>
              <a:t>              retry=</a:t>
            </a:r>
            <a:r>
              <a:rPr sz="700" i="0">
                <a:solidFill>
                  <a:srgbClr val="FF8E6E"/>
                </a:solidFill>
                <a:latin typeface="Inconsolata"/>
              </a:rPr>
              <a:t>None</a:t>
            </a:r>
            <a:r>
              <a:rPr sz="700" i="0">
                <a:solidFill>
                  <a:srgbClr val="E6EDF3"/>
                </a:solidFill>
                <a:latin typeface="Inconsolata"/>
              </a:rPr>
              <a:t>)</a:t>
            </a:r>
          </a:p>
          <a:p>
            <a:pPr>
              <a:lnSpc>
                <a:spcPct val="107095"/>
              </a:lnSpc>
              <a:spcAft>
                <a:spcPts val="0"/>
              </a:spcAft>
            </a:pPr>
            <a:r>
              <a:rPr sz="700" i="0">
                <a:solidFill>
                  <a:srgbClr val="5C6773"/>
                </a:solidFill>
                <a:latin typeface="Inconsolata"/>
              </a:rPr>
              <a:t>17  </a:t>
            </a:r>
            <a:r>
              <a:rPr sz="700" i="0">
                <a:solidFill>
                  <a:srgbClr val="E6EDF3"/>
                </a:solidFill>
                <a:latin typeface="Inconsolata"/>
              </a:rPr>
              <a:t>app = </a:t>
            </a:r>
            <a:r>
              <a:rPr sz="700" i="0">
                <a:solidFill>
                  <a:srgbClr val="7FDBCA"/>
                </a:solidFill>
                <a:latin typeface="Inconsolata"/>
              </a:rPr>
              <a:t>FastAPI</a:t>
            </a:r>
            <a:r>
              <a:rPr sz="700" i="0">
                <a:solidFill>
                  <a:srgbClr val="E6EDF3"/>
                </a:solidFill>
                <a:latin typeface="Inconsolata"/>
              </a:rPr>
              <a:t>()</a:t>
            </a:r>
          </a:p>
          <a:p>
            <a:pPr>
              <a:lnSpc>
                <a:spcPct val="107095"/>
              </a:lnSpc>
              <a:spcAft>
                <a:spcPts val="0"/>
              </a:spcAft>
            </a:pPr>
            <a:r>
              <a:rPr sz="700" i="0">
                <a:solidFill>
                  <a:srgbClr val="5C6773"/>
                </a:solidFill>
                <a:latin typeface="Inconsolata"/>
              </a:rPr>
              <a:t>18  </a:t>
            </a:r>
            <a:r>
              <a:rPr sz="700" i="0">
                <a:solidFill>
                  <a:srgbClr val="E6EDF3"/>
                </a:solidFill>
                <a:latin typeface="Inconsolata"/>
              </a:rPr>
              <a:t> </a:t>
            </a:r>
          </a:p>
          <a:p>
            <a:pPr>
              <a:lnSpc>
                <a:spcPct val="107095"/>
              </a:lnSpc>
              <a:spcAft>
                <a:spcPts val="0"/>
              </a:spcAft>
            </a:pPr>
            <a:r>
              <a:rPr sz="700" i="0">
                <a:solidFill>
                  <a:srgbClr val="5C6773"/>
                </a:solidFill>
                <a:latin typeface="Inconsolata"/>
              </a:rPr>
              <a:t>19  </a:t>
            </a:r>
            <a:r>
              <a:rPr sz="700" i="0">
                <a:solidFill>
                  <a:srgbClr val="E6EDF3"/>
                </a:solidFill>
                <a:latin typeface="Inconsolata"/>
              </a:rPr>
              <a:t> </a:t>
            </a:r>
          </a:p>
          <a:p>
            <a:pPr>
              <a:lnSpc>
                <a:spcPct val="107095"/>
              </a:lnSpc>
              <a:spcAft>
                <a:spcPts val="0"/>
              </a:spcAft>
            </a:pPr>
            <a:r>
              <a:rPr sz="700" i="0">
                <a:solidFill>
                  <a:srgbClr val="5C6773"/>
                </a:solidFill>
                <a:latin typeface="Inconsolata"/>
              </a:rPr>
              <a:t>20  </a:t>
            </a:r>
            <a:r>
              <a:rPr sz="700" i="0">
                <a:solidFill>
                  <a:srgbClr val="F9C97A"/>
                </a:solidFill>
                <a:latin typeface="Inconsolata"/>
              </a:rPr>
              <a:t>@app.get</a:t>
            </a:r>
            <a:r>
              <a:rPr sz="700" i="0">
                <a:solidFill>
                  <a:srgbClr val="E6EDF3"/>
                </a:solidFill>
                <a:latin typeface="Inconsolata"/>
              </a:rPr>
              <a:t>(</a:t>
            </a:r>
            <a:r>
              <a:rPr sz="700" i="0">
                <a:solidFill>
                  <a:srgbClr val="A5D6A7"/>
                </a:solidFill>
                <a:latin typeface="Inconsolata"/>
              </a:rPr>
              <a:t>"/health"</a:t>
            </a:r>
            <a:r>
              <a:rPr sz="700" i="0">
                <a:solidFill>
                  <a:srgbClr val="E6EDF3"/>
                </a:solidFill>
                <a:latin typeface="Inconsolata"/>
              </a:rPr>
              <a:t>)</a:t>
            </a:r>
          </a:p>
          <a:p>
            <a:pPr>
              <a:lnSpc>
                <a:spcPct val="107095"/>
              </a:lnSpc>
              <a:spcAft>
                <a:spcPts val="0"/>
              </a:spcAft>
            </a:pPr>
            <a:r>
              <a:rPr sz="700" i="0">
                <a:solidFill>
                  <a:srgbClr val="5C6773"/>
                </a:solidFill>
                <a:latin typeface="Inconsolata"/>
              </a:rPr>
              <a:t>21  </a:t>
            </a: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health</a:t>
            </a:r>
            <a:r>
              <a:rPr sz="700" i="0">
                <a:solidFill>
                  <a:srgbClr val="E6EDF3"/>
                </a:solidFill>
                <a:latin typeface="Inconsolata"/>
              </a:rPr>
              <a:t>():</a:t>
            </a:r>
          </a:p>
          <a:p>
            <a:pPr>
              <a:lnSpc>
                <a:spcPct val="107095"/>
              </a:lnSpc>
              <a:spcAft>
                <a:spcPts val="0"/>
              </a:spcAft>
            </a:pPr>
            <a:r>
              <a:rPr sz="700" i="0">
                <a:solidFill>
                  <a:srgbClr val="5C6773"/>
                </a:solidFill>
                <a:latin typeface="Inconsolata"/>
              </a:rPr>
              <a:t>22  </a:t>
            </a:r>
            <a:r>
              <a:rPr sz="700" i="0">
                <a:solidFill>
                  <a:srgbClr val="E6EDF3"/>
                </a:solidFill>
                <a:latin typeface="Inconsolata"/>
              </a:rPr>
              <a:t>    </a:t>
            </a:r>
            <a:r>
              <a:rPr sz="700" i="0">
                <a:solidFill>
                  <a:srgbClr val="FF8E6E"/>
                </a:solidFill>
                <a:latin typeface="Inconsolata"/>
              </a:rPr>
              <a:t>return</a:t>
            </a:r>
            <a:r>
              <a:rPr sz="700" i="0">
                <a:solidFill>
                  <a:srgbClr val="E6EDF3"/>
                </a:solidFill>
                <a:latin typeface="Inconsolata"/>
              </a:rPr>
              <a:t> {</a:t>
            </a:r>
            <a:r>
              <a:rPr sz="700" i="0">
                <a:solidFill>
                  <a:srgbClr val="A5D6A7"/>
                </a:solidFill>
                <a:latin typeface="Inconsolata"/>
              </a:rPr>
              <a:t>"status"</a:t>
            </a:r>
            <a:r>
              <a:rPr sz="700" i="0">
                <a:solidFill>
                  <a:srgbClr val="E6EDF3"/>
                </a:solidFill>
                <a:latin typeface="Inconsolata"/>
              </a:rPr>
              <a:t>: </a:t>
            </a:r>
            <a:r>
              <a:rPr sz="700" i="0">
                <a:solidFill>
                  <a:srgbClr val="A5D6A7"/>
                </a:solidFill>
                <a:latin typeface="Inconsolata"/>
              </a:rPr>
              <a:t>"ok"</a:t>
            </a:r>
            <a:r>
              <a:rPr sz="700" i="0">
                <a:solidFill>
                  <a:srgbClr val="E6EDF3"/>
                </a:solidFill>
                <a:latin typeface="Inconsolata"/>
              </a:rPr>
              <a: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05-health-checks/before.py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7095"/>
              </a:lnSpc>
              <a:spcAft>
                <a:spcPts val="0"/>
              </a:spcAft>
            </a:pPr>
            <a:r>
              <a:rPr sz="700" i="0">
                <a:solidFill>
                  <a:srgbClr val="5C6773"/>
                </a:solidFill>
                <a:latin typeface="Inconsolata"/>
              </a:rPr>
              <a:t>25  </a:t>
            </a:r>
            <a:r>
              <a:rPr sz="700" i="0">
                <a:solidFill>
                  <a:srgbClr val="F9C97A"/>
                </a:solidFill>
                <a:latin typeface="Inconsolata"/>
              </a:rPr>
              <a:t>@app.get</a:t>
            </a:r>
            <a:r>
              <a:rPr sz="700" i="0">
                <a:solidFill>
                  <a:srgbClr val="E6EDF3"/>
                </a:solidFill>
                <a:latin typeface="Inconsolata"/>
              </a:rPr>
              <a:t>(</a:t>
            </a:r>
            <a:r>
              <a:rPr sz="700" i="0">
                <a:solidFill>
                  <a:srgbClr val="A5D6A7"/>
                </a:solidFill>
                <a:latin typeface="Inconsolata"/>
              </a:rPr>
              <a:t>"/products"</a:t>
            </a:r>
            <a:r>
              <a:rPr sz="700" i="0">
                <a:solidFill>
                  <a:srgbClr val="E6EDF3"/>
                </a:solidFill>
                <a:latin typeface="Inconsolata"/>
              </a:rPr>
              <a:t>)</a:t>
            </a:r>
          </a:p>
          <a:p>
            <a:pPr>
              <a:lnSpc>
                <a:spcPct val="107095"/>
              </a:lnSpc>
              <a:spcAft>
                <a:spcPts val="0"/>
              </a:spcAft>
            </a:pPr>
            <a:r>
              <a:rPr sz="700" i="0">
                <a:solidFill>
                  <a:srgbClr val="5C6773"/>
                </a:solidFill>
                <a:latin typeface="Inconsolata"/>
              </a:rPr>
              <a:t>26  </a:t>
            </a: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list_products</a:t>
            </a:r>
            <a:r>
              <a:rPr sz="700" i="0">
                <a:solidFill>
                  <a:srgbClr val="E6EDF3"/>
                </a:solidFill>
                <a:latin typeface="Inconsolata"/>
              </a:rPr>
              <a:t>():</a:t>
            </a:r>
          </a:p>
          <a:p>
            <a:pPr>
              <a:lnSpc>
                <a:spcPct val="107095"/>
              </a:lnSpc>
              <a:spcAft>
                <a:spcPts val="0"/>
              </a:spcAft>
            </a:pPr>
            <a:r>
              <a:rPr sz="700" i="0">
                <a:solidFill>
                  <a:srgbClr val="5C6773"/>
                </a:solidFill>
                <a:latin typeface="Inconsolata"/>
              </a:rPr>
              <a:t>27  </a:t>
            </a:r>
            <a:r>
              <a:rPr sz="700" i="0">
                <a:solidFill>
                  <a:srgbClr val="E6EDF3"/>
                </a:solidFill>
                <a:latin typeface="Inconsolata"/>
              </a:rPr>
              <a:t>    cached = redis.get(</a:t>
            </a:r>
            <a:r>
              <a:rPr sz="700" i="0">
                <a:solidFill>
                  <a:srgbClr val="A5D6A7"/>
                </a:solidFill>
                <a:latin typeface="Inconsolata"/>
              </a:rPr>
              <a:t>"products"</a:t>
            </a:r>
            <a:r>
              <a:rPr sz="700" i="0">
                <a:solidFill>
                  <a:srgbClr val="E6EDF3"/>
                </a:solidFill>
                <a:latin typeface="Inconsolata"/>
              </a:rPr>
              <a:t>)             </a:t>
            </a:r>
            <a:r>
              <a:rPr sz="700" i="1">
                <a:solidFill>
                  <a:srgbClr val="8B98A8"/>
                </a:solidFill>
                <a:latin typeface="Inconsolata"/>
              </a:rPr>
              <a:t># cek cache dulu</a:t>
            </a:r>
          </a:p>
          <a:p>
            <a:pPr>
              <a:lnSpc>
                <a:spcPct val="107095"/>
              </a:lnSpc>
              <a:spcAft>
                <a:spcPts val="0"/>
              </a:spcAft>
            </a:pPr>
            <a:r>
              <a:rPr sz="700" i="0">
                <a:solidFill>
                  <a:srgbClr val="5C6773"/>
                </a:solidFill>
                <a:latin typeface="Inconsolata"/>
              </a:rPr>
              <a:t>28  </a:t>
            </a:r>
            <a:r>
              <a:rPr sz="700" i="0">
                <a:solidFill>
                  <a:srgbClr val="E6EDF3"/>
                </a:solidFill>
                <a:latin typeface="Inconsolata"/>
              </a:rPr>
              <a:t>    </a:t>
            </a:r>
            <a:r>
              <a:rPr sz="700" i="0">
                <a:solidFill>
                  <a:srgbClr val="FF8E6E"/>
                </a:solidFill>
                <a:latin typeface="Inconsolata"/>
              </a:rPr>
              <a:t>if</a:t>
            </a:r>
            <a:r>
              <a:rPr sz="700" i="0">
                <a:solidFill>
                  <a:srgbClr val="E6EDF3"/>
                </a:solidFill>
                <a:latin typeface="Inconsolata"/>
              </a:rPr>
              <a:t> cached </a:t>
            </a:r>
            <a:r>
              <a:rPr sz="700" i="0">
                <a:solidFill>
                  <a:srgbClr val="FF8E6E"/>
                </a:solidFill>
                <a:latin typeface="Inconsolata"/>
              </a:rPr>
              <a:t>is</a:t>
            </a:r>
            <a:r>
              <a:rPr sz="700" i="0">
                <a:solidFill>
                  <a:srgbClr val="E6EDF3"/>
                </a:solidFill>
                <a:latin typeface="Inconsolata"/>
              </a:rPr>
              <a:t> </a:t>
            </a:r>
            <a:r>
              <a:rPr sz="700" i="0">
                <a:solidFill>
                  <a:srgbClr val="FF8E6E"/>
                </a:solidFill>
                <a:latin typeface="Inconsolata"/>
              </a:rPr>
              <a:t>None</a:t>
            </a:r>
            <a:r>
              <a:rPr sz="700" i="0">
                <a:solidFill>
                  <a:srgbClr val="E6EDF3"/>
                </a:solidFill>
                <a:latin typeface="Inconsolata"/>
              </a:rPr>
              <a:t>:</a:t>
            </a:r>
          </a:p>
          <a:p>
            <a:pPr>
              <a:lnSpc>
                <a:spcPct val="107095"/>
              </a:lnSpc>
              <a:spcAft>
                <a:spcPts val="0"/>
              </a:spcAft>
            </a:pPr>
            <a:r>
              <a:rPr sz="700" i="0">
                <a:solidFill>
                  <a:srgbClr val="5C6773"/>
                </a:solidFill>
                <a:latin typeface="Inconsolata"/>
              </a:rPr>
              <a:t>29  </a:t>
            </a:r>
            <a:r>
              <a:rPr sz="700" i="0">
                <a:solidFill>
                  <a:srgbClr val="E6EDF3"/>
                </a:solidFill>
                <a:latin typeface="Inconsolata"/>
              </a:rPr>
              <a:t>        </a:t>
            </a:r>
            <a:r>
              <a:rPr sz="700" i="0">
                <a:solidFill>
                  <a:srgbClr val="FF8E6E"/>
                </a:solidFill>
                <a:latin typeface="Inconsolata"/>
              </a:rPr>
              <a:t>with</a:t>
            </a:r>
            <a:r>
              <a:rPr sz="700" i="0">
                <a:solidFill>
                  <a:srgbClr val="E6EDF3"/>
                </a:solidFill>
                <a:latin typeface="Inconsolata"/>
              </a:rPr>
              <a:t> engine.connect() </a:t>
            </a:r>
            <a:r>
              <a:rPr sz="700" i="0">
                <a:solidFill>
                  <a:srgbClr val="FF8E6E"/>
                </a:solidFill>
                <a:latin typeface="Inconsolata"/>
              </a:rPr>
              <a:t>as</a:t>
            </a:r>
            <a:r>
              <a:rPr sz="700" i="0">
                <a:solidFill>
                  <a:srgbClr val="E6EDF3"/>
                </a:solidFill>
                <a:latin typeface="Inconsolata"/>
              </a:rPr>
              <a:t> conn:</a:t>
            </a:r>
          </a:p>
          <a:p>
            <a:pPr>
              <a:lnSpc>
                <a:spcPct val="107095"/>
              </a:lnSpc>
              <a:spcAft>
                <a:spcPts val="0"/>
              </a:spcAft>
            </a:pPr>
            <a:r>
              <a:rPr sz="700" i="0">
                <a:solidFill>
                  <a:srgbClr val="5C6773"/>
                </a:solidFill>
                <a:latin typeface="Inconsolata"/>
              </a:rPr>
              <a:t>30  </a:t>
            </a:r>
            <a:r>
              <a:rPr sz="700" i="0">
                <a:solidFill>
                  <a:srgbClr val="E6EDF3"/>
                </a:solidFill>
                <a:latin typeface="Inconsolata"/>
              </a:rPr>
              <a:t>            conn.execute(text(</a:t>
            </a:r>
            <a:r>
              <a:rPr sz="700" i="0">
                <a:solidFill>
                  <a:srgbClr val="A5D6A7"/>
                </a:solidFill>
                <a:latin typeface="Inconsolata"/>
              </a:rPr>
              <a:t>"SELECT 1"</a:t>
            </a:r>
            <a:r>
              <a:rPr sz="700" i="0">
                <a:solidFill>
                  <a:srgbClr val="E6EDF3"/>
                </a:solidFill>
                <a:latin typeface="Inconsolata"/>
              </a:rPr>
              <a:t>))     </a:t>
            </a:r>
            <a:r>
              <a:rPr sz="700" i="1">
                <a:solidFill>
                  <a:srgbClr val="8B98A8"/>
                </a:solidFill>
                <a:latin typeface="Inconsolata"/>
              </a:rPr>
              <a:t># anggap: query produk</a:t>
            </a:r>
          </a:p>
          <a:p>
            <a:pPr>
              <a:lnSpc>
                <a:spcPct val="107095"/>
              </a:lnSpc>
              <a:spcAft>
                <a:spcPts val="0"/>
              </a:spcAft>
            </a:pPr>
            <a:r>
              <a:rPr sz="700" i="0">
                <a:solidFill>
                  <a:srgbClr val="5C6773"/>
                </a:solidFill>
                <a:latin typeface="Inconsolata"/>
              </a:rPr>
              <a:t>31  </a:t>
            </a:r>
            <a:r>
              <a:rPr sz="700" i="0">
                <a:solidFill>
                  <a:srgbClr val="E6EDF3"/>
                </a:solidFill>
                <a:latin typeface="Inconsolata"/>
              </a:rPr>
              <a:t>    </a:t>
            </a:r>
            <a:r>
              <a:rPr sz="700" i="0">
                <a:solidFill>
                  <a:srgbClr val="FF8E6E"/>
                </a:solidFill>
                <a:latin typeface="Inconsolata"/>
              </a:rPr>
              <a:t>return</a:t>
            </a:r>
            <a:r>
              <a:rPr sz="700" i="0">
                <a:solidFill>
                  <a:srgbClr val="E6EDF3"/>
                </a:solidFill>
                <a:latin typeface="Inconsolata"/>
              </a:rPr>
              <a:t> {</a:t>
            </a:r>
            <a:r>
              <a:rPr sz="700" i="0">
                <a:solidFill>
                  <a:srgbClr val="A5D6A7"/>
                </a:solidFill>
                <a:latin typeface="Inconsolata"/>
              </a:rPr>
              <a:t>"products"</a:t>
            </a:r>
            <a:r>
              <a:rPr sz="700" i="0">
                <a:solidFill>
                  <a:srgbClr val="E6EDF3"/>
                </a:solidFill>
                <a:latin typeface="Inconsolata"/>
              </a:rPr>
              <a:t>: []}</a:t>
            </a:r>
          </a:p>
          <a:p>
            <a:pPr>
              <a:lnSpc>
                <a:spcPct val="107095"/>
              </a:lnSpc>
              <a:spcAft>
                <a:spcPts val="0"/>
              </a:spcAft>
            </a:pPr>
            <a:r>
              <a:rPr sz="700" i="0">
                <a:solidFill>
                  <a:srgbClr val="5C6773"/>
                </a:solidFill>
                <a:latin typeface="Inconsolata"/>
              </a:rPr>
              <a:t>32  </a:t>
            </a:r>
            <a:r>
              <a:rPr sz="700" i="0">
                <a:solidFill>
                  <a:srgbClr val="E6EDF3"/>
                </a:solidFill>
                <a:latin typeface="Inconsolata"/>
              </a:rPr>
              <a:t> </a:t>
            </a:r>
          </a:p>
          <a:p>
            <a:pPr>
              <a:lnSpc>
                <a:spcPct val="107095"/>
              </a:lnSpc>
              <a:spcAft>
                <a:spcPts val="0"/>
              </a:spcAft>
            </a:pPr>
            <a:r>
              <a:rPr sz="700" i="0">
                <a:solidFill>
                  <a:srgbClr val="5C6773"/>
                </a:solidFill>
                <a:latin typeface="Inconsolata"/>
              </a:rPr>
              <a:t>33  </a:t>
            </a:r>
            <a:r>
              <a:rPr sz="700" i="0">
                <a:solidFill>
                  <a:srgbClr val="E6EDF3"/>
                </a:solidFill>
                <a:latin typeface="Inconsolata"/>
              </a:rPr>
              <a:t> </a:t>
            </a:r>
          </a:p>
          <a:p>
            <a:pPr>
              <a:lnSpc>
                <a:spcPct val="107095"/>
              </a:lnSpc>
              <a:spcAft>
                <a:spcPts val="0"/>
              </a:spcAft>
            </a:pPr>
            <a:r>
              <a:rPr sz="700" i="0">
                <a:solidFill>
                  <a:srgbClr val="5C6773"/>
                </a:solidFill>
                <a:latin typeface="Inconsolata"/>
              </a:rPr>
              <a:t>34  </a:t>
            </a:r>
            <a:r>
              <a:rPr sz="700" i="0">
                <a:solidFill>
                  <a:srgbClr val="FF8E6E"/>
                </a:solidFill>
                <a:latin typeface="Inconsolata"/>
              </a:rPr>
              <a:t>if</a:t>
            </a:r>
            <a:r>
              <a:rPr sz="700" i="0">
                <a:solidFill>
                  <a:srgbClr val="E6EDF3"/>
                </a:solidFill>
                <a:latin typeface="Inconsolata"/>
              </a:rPr>
              <a:t> __name__ == </a:t>
            </a:r>
            <a:r>
              <a:rPr sz="700" i="0">
                <a:solidFill>
                  <a:srgbClr val="A5D6A7"/>
                </a:solidFill>
                <a:latin typeface="Inconsolata"/>
              </a:rPr>
              <a:t>"__main__"</a:t>
            </a:r>
            <a:r>
              <a:rPr sz="700" i="0">
                <a:solidFill>
                  <a:srgbClr val="E6EDF3"/>
                </a:solidFill>
                <a:latin typeface="Inconsolata"/>
              </a:rPr>
              <a:t>:</a:t>
            </a:r>
          </a:p>
          <a:p>
            <a:pPr>
              <a:lnSpc>
                <a:spcPct val="107095"/>
              </a:lnSpc>
              <a:spcAft>
                <a:spcPts val="0"/>
              </a:spcAft>
            </a:pPr>
            <a:r>
              <a:rPr sz="700" i="0">
                <a:solidFill>
                  <a:srgbClr val="5C6773"/>
                </a:solidFill>
                <a:latin typeface="Inconsolata"/>
              </a:rPr>
              <a:t>35  </a:t>
            </a:r>
            <a:r>
              <a:rPr sz="700" i="0">
                <a:solidFill>
                  <a:srgbClr val="E6EDF3"/>
                </a:solidFill>
                <a:latin typeface="Inconsolata"/>
              </a:rPr>
              <a:t>    client = </a:t>
            </a:r>
            <a:r>
              <a:rPr sz="700" i="0">
                <a:solidFill>
                  <a:srgbClr val="7FDBCA"/>
                </a:solidFill>
                <a:latin typeface="Inconsolata"/>
              </a:rPr>
              <a:t>TestClient</a:t>
            </a:r>
            <a:r>
              <a:rPr sz="700" i="0">
                <a:solidFill>
                  <a:srgbClr val="E6EDF3"/>
                </a:solidFill>
                <a:latin typeface="Inconsolata"/>
              </a:rPr>
              <a:t>(app, raise_server_exceptions=</a:t>
            </a:r>
            <a:r>
              <a:rPr sz="700" i="0">
                <a:solidFill>
                  <a:srgbClr val="FF8E6E"/>
                </a:solidFill>
                <a:latin typeface="Inconsolata"/>
              </a:rPr>
              <a:t>False</a:t>
            </a:r>
            <a:r>
              <a:rPr sz="700" i="0">
                <a:solidFill>
                  <a:srgbClr val="E6EDF3"/>
                </a:solidFill>
                <a:latin typeface="Inconsolata"/>
              </a:rPr>
              <a:t>)</a:t>
            </a:r>
          </a:p>
          <a:p>
            <a:pPr>
              <a:lnSpc>
                <a:spcPct val="107095"/>
              </a:lnSpc>
              <a:spcAft>
                <a:spcPts val="0"/>
              </a:spcAft>
            </a:pPr>
            <a:r>
              <a:rPr sz="700" i="0">
                <a:solidFill>
                  <a:srgbClr val="5C6773"/>
                </a:solidFill>
                <a:latin typeface="Inconsolata"/>
              </a:rPr>
              <a:t>36  </a:t>
            </a:r>
            <a:r>
              <a:rPr sz="700" i="0">
                <a:solidFill>
                  <a:srgbClr val="E6EDF3"/>
                </a:solidFill>
                <a:latin typeface="Inconsolata"/>
              </a:rPr>
              <a:t>    </a:t>
            </a:r>
            <a:r>
              <a:rPr sz="700" i="0">
                <a:solidFill>
                  <a:srgbClr val="FF8E6E"/>
                </a:solidFill>
                <a:latin typeface="Inconsolata"/>
              </a:rPr>
              <a:t>for</a:t>
            </a:r>
            <a:r>
              <a:rPr sz="700" i="0">
                <a:solidFill>
                  <a:srgbClr val="E6EDF3"/>
                </a:solidFill>
                <a:latin typeface="Inconsolata"/>
              </a:rPr>
              <a:t> path </a:t>
            </a:r>
            <a:r>
              <a:rPr sz="700" i="0">
                <a:solidFill>
                  <a:srgbClr val="FF8E6E"/>
                </a:solidFill>
                <a:latin typeface="Inconsolata"/>
              </a:rPr>
              <a:t>in</a:t>
            </a:r>
            <a:r>
              <a:rPr sz="700" i="0">
                <a:solidFill>
                  <a:srgbClr val="E6EDF3"/>
                </a:solidFill>
                <a:latin typeface="Inconsolata"/>
              </a:rPr>
              <a:t> [</a:t>
            </a:r>
            <a:r>
              <a:rPr sz="700" i="0">
                <a:solidFill>
                  <a:srgbClr val="A5D6A7"/>
                </a:solidFill>
                <a:latin typeface="Inconsolata"/>
              </a:rPr>
              <a:t>"/health"</a:t>
            </a:r>
            <a:r>
              <a:rPr sz="700" i="0">
                <a:solidFill>
                  <a:srgbClr val="E6EDF3"/>
                </a:solidFill>
                <a:latin typeface="Inconsolata"/>
              </a:rPr>
              <a:t>, </a:t>
            </a:r>
            <a:r>
              <a:rPr sz="700" i="0">
                <a:solidFill>
                  <a:srgbClr val="A5D6A7"/>
                </a:solidFill>
                <a:latin typeface="Inconsolata"/>
              </a:rPr>
              <a:t>"/products"</a:t>
            </a:r>
            <a:r>
              <a:rPr sz="700" i="0">
                <a:solidFill>
                  <a:srgbClr val="E6EDF3"/>
                </a:solidFill>
                <a:latin typeface="Inconsolata"/>
              </a:rPr>
              <a:t>]:</a:t>
            </a:r>
          </a:p>
          <a:p>
            <a:pPr>
              <a:lnSpc>
                <a:spcPct val="107095"/>
              </a:lnSpc>
              <a:spcAft>
                <a:spcPts val="0"/>
              </a:spcAft>
            </a:pPr>
            <a:r>
              <a:rPr sz="700" i="0">
                <a:solidFill>
                  <a:srgbClr val="5C6773"/>
                </a:solidFill>
                <a:latin typeface="Inconsolata"/>
              </a:rPr>
              <a:t>37  </a:t>
            </a:r>
            <a:r>
              <a:rPr sz="700" i="0">
                <a:solidFill>
                  <a:srgbClr val="E6EDF3"/>
                </a:solidFill>
                <a:latin typeface="Inconsolata"/>
              </a:rPr>
              <a:t>        response = client.get(path)</a:t>
            </a:r>
          </a:p>
          <a:p>
            <a:pPr>
              <a:lnSpc>
                <a:spcPct val="107095"/>
              </a:lnSpc>
              <a:spcAft>
                <a:spcPts val="0"/>
              </a:spcAft>
            </a:pPr>
            <a:r>
              <a:rPr sz="700" i="0">
                <a:solidFill>
                  <a:srgbClr val="5C6773"/>
                </a:solidFill>
                <a:latin typeface="Inconsolata"/>
              </a:rPr>
              <a:t>38  </a:t>
            </a:r>
            <a:r>
              <a:rPr sz="700" i="0">
                <a:solidFill>
                  <a:srgbClr val="E6EDF3"/>
                </a:solidFill>
                <a:latin typeface="Inconsolata"/>
              </a:rPr>
              <a:t>        </a:t>
            </a:r>
            <a:r>
              <a:rPr sz="700" i="0">
                <a:solidFill>
                  <a:srgbClr val="C3A6FF"/>
                </a:solidFill>
                <a:latin typeface="Inconsolata"/>
              </a:rPr>
              <a:t>print</a:t>
            </a:r>
            <a:r>
              <a:rPr sz="700" i="0">
                <a:solidFill>
                  <a:srgbClr val="E6EDF3"/>
                </a:solidFill>
                <a:latin typeface="Inconsolata"/>
              </a:rPr>
              <a:t>(</a:t>
            </a:r>
            <a:r>
              <a:rPr sz="700" i="0">
                <a:solidFill>
                  <a:srgbClr val="A5D6A7"/>
                </a:solidFill>
                <a:latin typeface="Inconsolata"/>
              </a:rPr>
              <a:t>f"GET {path:9} -&gt; {response.status_code} {response.text}"</a:t>
            </a:r>
            <a:r>
              <a:rPr sz="700" i="0">
                <a:solidFill>
                  <a:srgbClr val="E6EDF3"/>
                </a:solidFill>
                <a:latin typeface="Inconsolata"/>
              </a:rPr>
              <a:t>)</a:t>
            </a:r>
          </a:p>
        </p:txBody>
      </p:sp>
      <p:sp>
        <p:nvSpPr>
          <p:cNvPr id="36" name="Box 21"/>
          <p:cNvSpPr/>
          <p:nvPr/>
        </p:nvSpPr>
        <p:spPr>
          <a:xfrm>
            <a:off x="704088" y="2511171"/>
            <a:ext cx="3694176" cy="221742"/>
          </a:xfrm>
          <a:prstGeom prst="roundRect">
            <a:avLst>
              <a:gd name="adj" fmla="val 20618"/>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250317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704088" y="3082671"/>
            <a:ext cx="3694176" cy="336042"/>
          </a:xfrm>
          <a:prstGeom prst="roundRect">
            <a:avLst>
              <a:gd name="adj" fmla="val 13605"/>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279392" y="31318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Health Check</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05-health-checks/before.py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sesi-09-observability/05-health-checks</a:t>
            </a:r>
          </a:p>
          <a:p>
            <a:pPr>
              <a:lnSpc>
                <a:spcPct val="111111"/>
              </a:lnSpc>
              <a:spcAft>
                <a:spcPts val="0"/>
              </a:spcAft>
            </a:pPr>
            <a:r>
              <a:rPr sz="900" i="0">
                <a:solidFill>
                  <a:srgbClr val="82B1FF"/>
                </a:solidFill>
                <a:latin typeface="Inconsolata"/>
              </a:rPr>
              <a:t>$ python before.py</a:t>
            </a:r>
          </a:p>
        </p:txBody>
      </p:sp>
      <p:pic>
        <p:nvPicPr>
          <p:cNvPr id="29" name="Image 12" descr="s09-05-health-checks-before.png"/>
          <p:cNvPicPr>
            <a:picLocks noChangeAspect="1"/>
          </p:cNvPicPr>
          <p:nvPr/>
        </p:nvPicPr>
        <p:blipFill>
          <a:blip r:embed="rId2"/>
          <a:stretch>
            <a:fillRect/>
          </a:stretch>
        </p:blipFill>
        <p:spPr>
          <a:xfrm>
            <a:off x="621792" y="2322576"/>
            <a:ext cx="4297680" cy="799100"/>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Redis mati (baris 15)</a:t>
            </a:r>
          </a:p>
          <a:p>
            <a:pPr marL="182880" indent="-182880" algn="l">
              <a:lnSpc>
                <a:spcPct val="115000"/>
              </a:lnSpc>
              <a:spcAft>
                <a:spcPts val="400"/>
              </a:spcAft>
              <a:buClr>
                <a:srgbClr val="E0764F"/>
              </a:buClr>
              <a:buSzPct val="100000"/>
              <a:buFont typeface="+mj-lt"/>
              <a:buAutoNum type="arabicPeriod"/>
            </a:pPr>
            <a:r>
              <a:rPr sz="950" b="0" i="0">
                <a:solidFill>
                  <a:srgbClr val="B5482A"/>
                </a:solidFill>
                <a:latin typeface="Inconsolata"/>
              </a:rPr>
              <a:t>/health</a:t>
            </a:r>
            <a:r>
              <a:rPr sz="950" b="0" i="0">
                <a:solidFill>
                  <a:srgbClr val="434343"/>
                </a:solidFill>
                <a:latin typeface="Inter"/>
              </a:rPr>
              <a:t> tidak mengecek apa pun (baris 20-22)</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B5482A"/>
                </a:solidFill>
                <a:latin typeface="Inconsolata"/>
              </a:rPr>
              <a:t>/health</a:t>
            </a:r>
            <a:r>
              <a:rPr sz="950" b="0" i="0">
                <a:solidFill>
                  <a:srgbClr val="434343"/>
                </a:solidFill>
                <a:latin typeface="Inter"/>
              </a:rPr>
              <a:t> 200, padahal </a:t>
            </a:r>
            <a:r>
              <a:rPr sz="950" b="0" i="0">
                <a:solidFill>
                  <a:srgbClr val="B5482A"/>
                </a:solidFill>
                <a:latin typeface="Inconsolata"/>
              </a:rPr>
              <a:t>/products</a:t>
            </a:r>
            <a:r>
              <a:rPr sz="950" b="0" i="0">
                <a:solidFill>
                  <a:srgbClr val="434343"/>
                </a:solidFill>
                <a:latin typeface="Inter"/>
              </a:rPr>
              <a:t> 500.</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Health Check</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liveness dan readiness</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05-health-checks/after.py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3226"/>
              </a:lnSpc>
              <a:spcAft>
                <a:spcPts val="0"/>
              </a:spcAft>
            </a:pPr>
            <a:r>
              <a:rPr sz="645" i="0">
                <a:solidFill>
                  <a:srgbClr val="5C6773"/>
                </a:solidFill>
                <a:latin typeface="Inconsolata"/>
              </a:rPr>
              <a:t>12  </a:t>
            </a:r>
            <a:r>
              <a:rPr sz="645" i="0">
                <a:solidFill>
                  <a:srgbClr val="FF8E6E"/>
                </a:solidFill>
                <a:latin typeface="Inconsolata"/>
              </a:rPr>
              <a:t>from</a:t>
            </a:r>
            <a:r>
              <a:rPr sz="645" i="0">
                <a:solidFill>
                  <a:srgbClr val="E6EDF3"/>
                </a:solidFill>
                <a:latin typeface="Inconsolata"/>
              </a:rPr>
              <a:t> fastapi </a:t>
            </a:r>
            <a:r>
              <a:rPr sz="645" i="0">
                <a:solidFill>
                  <a:srgbClr val="FF8E6E"/>
                </a:solidFill>
                <a:latin typeface="Inconsolata"/>
              </a:rPr>
              <a:t>import</a:t>
            </a:r>
            <a:r>
              <a:rPr sz="645" i="0">
                <a:solidFill>
                  <a:srgbClr val="E6EDF3"/>
                </a:solidFill>
                <a:latin typeface="Inconsolata"/>
              </a:rPr>
              <a:t> </a:t>
            </a:r>
            <a:r>
              <a:rPr sz="645" i="0">
                <a:solidFill>
                  <a:srgbClr val="7FDBCA"/>
                </a:solidFill>
                <a:latin typeface="Inconsolata"/>
              </a:rPr>
              <a:t>FastAPI</a:t>
            </a:r>
          </a:p>
          <a:p>
            <a:pPr>
              <a:lnSpc>
                <a:spcPct val="103226"/>
              </a:lnSpc>
              <a:spcAft>
                <a:spcPts val="0"/>
              </a:spcAft>
            </a:pPr>
            <a:r>
              <a:rPr sz="645" i="0">
                <a:solidFill>
                  <a:srgbClr val="5C6773"/>
                </a:solidFill>
                <a:latin typeface="Inconsolata"/>
              </a:rPr>
              <a:t>13  </a:t>
            </a:r>
            <a:r>
              <a:rPr sz="645" i="0">
                <a:solidFill>
                  <a:srgbClr val="FF8E6E"/>
                </a:solidFill>
                <a:latin typeface="Inconsolata"/>
              </a:rPr>
              <a:t>from</a:t>
            </a:r>
            <a:r>
              <a:rPr sz="645" i="0">
                <a:solidFill>
                  <a:srgbClr val="E6EDF3"/>
                </a:solidFill>
                <a:latin typeface="Inconsolata"/>
              </a:rPr>
              <a:t> fastapi.responses </a:t>
            </a:r>
            <a:r>
              <a:rPr sz="645" i="0">
                <a:solidFill>
                  <a:srgbClr val="FF8E6E"/>
                </a:solidFill>
                <a:latin typeface="Inconsolata"/>
              </a:rPr>
              <a:t>import</a:t>
            </a:r>
            <a:r>
              <a:rPr sz="645" i="0">
                <a:solidFill>
                  <a:srgbClr val="E6EDF3"/>
                </a:solidFill>
                <a:latin typeface="Inconsolata"/>
              </a:rPr>
              <a:t> </a:t>
            </a:r>
            <a:r>
              <a:rPr sz="645" i="0">
                <a:solidFill>
                  <a:srgbClr val="7FDBCA"/>
                </a:solidFill>
                <a:latin typeface="Inconsolata"/>
              </a:rPr>
              <a:t>JSONResponse</a:t>
            </a:r>
          </a:p>
          <a:p>
            <a:pPr>
              <a:lnSpc>
                <a:spcPct val="103226"/>
              </a:lnSpc>
              <a:spcAft>
                <a:spcPts val="0"/>
              </a:spcAft>
            </a:pPr>
            <a:r>
              <a:rPr sz="645" i="0">
                <a:solidFill>
                  <a:srgbClr val="5C6773"/>
                </a:solidFill>
                <a:latin typeface="Inconsolata"/>
              </a:rPr>
              <a:t>14  </a:t>
            </a:r>
            <a:r>
              <a:rPr sz="645" i="0">
                <a:solidFill>
                  <a:srgbClr val="FF8E6E"/>
                </a:solidFill>
                <a:latin typeface="Inconsolata"/>
              </a:rPr>
              <a:t>from</a:t>
            </a:r>
            <a:r>
              <a:rPr sz="645" i="0">
                <a:solidFill>
                  <a:srgbClr val="E6EDF3"/>
                </a:solidFill>
                <a:latin typeface="Inconsolata"/>
              </a:rPr>
              <a:t> fastapi.testclient </a:t>
            </a:r>
            <a:r>
              <a:rPr sz="645" i="0">
                <a:solidFill>
                  <a:srgbClr val="FF8E6E"/>
                </a:solidFill>
                <a:latin typeface="Inconsolata"/>
              </a:rPr>
              <a:t>import</a:t>
            </a:r>
            <a:r>
              <a:rPr sz="645" i="0">
                <a:solidFill>
                  <a:srgbClr val="E6EDF3"/>
                </a:solidFill>
                <a:latin typeface="Inconsolata"/>
              </a:rPr>
              <a:t> </a:t>
            </a:r>
            <a:r>
              <a:rPr sz="645" i="0">
                <a:solidFill>
                  <a:srgbClr val="7FDBCA"/>
                </a:solidFill>
                <a:latin typeface="Inconsolata"/>
              </a:rPr>
              <a:t>TestClient</a:t>
            </a:r>
          </a:p>
          <a:p>
            <a:pPr>
              <a:lnSpc>
                <a:spcPct val="103226"/>
              </a:lnSpc>
              <a:spcAft>
                <a:spcPts val="0"/>
              </a:spcAft>
            </a:pPr>
            <a:r>
              <a:rPr sz="645" i="0">
                <a:solidFill>
                  <a:srgbClr val="5C6773"/>
                </a:solidFill>
                <a:latin typeface="Inconsolata"/>
              </a:rPr>
              <a:t>15  </a:t>
            </a:r>
            <a:r>
              <a:rPr sz="645" i="0">
                <a:solidFill>
                  <a:srgbClr val="FF8E6E"/>
                </a:solidFill>
                <a:latin typeface="Inconsolata"/>
              </a:rPr>
              <a:t>from</a:t>
            </a:r>
            <a:r>
              <a:rPr sz="645" i="0">
                <a:solidFill>
                  <a:srgbClr val="E6EDF3"/>
                </a:solidFill>
                <a:latin typeface="Inconsolata"/>
              </a:rPr>
              <a:t> redis </a:t>
            </a:r>
            <a:r>
              <a:rPr sz="645" i="0">
                <a:solidFill>
                  <a:srgbClr val="FF8E6E"/>
                </a:solidFill>
                <a:latin typeface="Inconsolata"/>
              </a:rPr>
              <a:t>import</a:t>
            </a:r>
            <a:r>
              <a:rPr sz="645" i="0">
                <a:solidFill>
                  <a:srgbClr val="E6EDF3"/>
                </a:solidFill>
                <a:latin typeface="Inconsolata"/>
              </a:rPr>
              <a:t> </a:t>
            </a:r>
            <a:r>
              <a:rPr sz="645" i="0">
                <a:solidFill>
                  <a:srgbClr val="7FDBCA"/>
                </a:solidFill>
                <a:latin typeface="Inconsolata"/>
              </a:rPr>
              <a:t>Redis</a:t>
            </a:r>
          </a:p>
          <a:p>
            <a:pPr>
              <a:lnSpc>
                <a:spcPct val="103226"/>
              </a:lnSpc>
              <a:spcAft>
                <a:spcPts val="0"/>
              </a:spcAft>
            </a:pPr>
            <a:r>
              <a:rPr sz="645" i="0">
                <a:solidFill>
                  <a:srgbClr val="5C6773"/>
                </a:solidFill>
                <a:latin typeface="Inconsolata"/>
              </a:rPr>
              <a:t>16  </a:t>
            </a:r>
            <a:r>
              <a:rPr sz="645" i="0">
                <a:solidFill>
                  <a:srgbClr val="FF8E6E"/>
                </a:solidFill>
                <a:latin typeface="Inconsolata"/>
              </a:rPr>
              <a:t>from</a:t>
            </a:r>
            <a:r>
              <a:rPr sz="645" i="0">
                <a:solidFill>
                  <a:srgbClr val="E6EDF3"/>
                </a:solidFill>
                <a:latin typeface="Inconsolata"/>
              </a:rPr>
              <a:t> sqlalchemy </a:t>
            </a:r>
            <a:r>
              <a:rPr sz="645" i="0">
                <a:solidFill>
                  <a:srgbClr val="FF8E6E"/>
                </a:solidFill>
                <a:latin typeface="Inconsolata"/>
              </a:rPr>
              <a:t>import</a:t>
            </a:r>
            <a:r>
              <a:rPr sz="645" i="0">
                <a:solidFill>
                  <a:srgbClr val="E6EDF3"/>
                </a:solidFill>
                <a:latin typeface="Inconsolata"/>
              </a:rPr>
              <a:t> create_engine, text</a:t>
            </a:r>
          </a:p>
          <a:p>
            <a:pPr>
              <a:lnSpc>
                <a:spcPct val="103226"/>
              </a:lnSpc>
              <a:spcAft>
                <a:spcPts val="0"/>
              </a:spcAft>
            </a:pPr>
            <a:r>
              <a:rPr sz="645" i="0">
                <a:solidFill>
                  <a:srgbClr val="5C6773"/>
                </a:solidFill>
                <a:latin typeface="Inconsolata"/>
              </a:rPr>
              <a:t>17  </a:t>
            </a:r>
            <a:r>
              <a:rPr sz="645" i="0">
                <a:solidFill>
                  <a:srgbClr val="E6EDF3"/>
                </a:solidFill>
                <a:latin typeface="Inconsolata"/>
              </a:rPr>
              <a:t> </a:t>
            </a:r>
          </a:p>
          <a:p>
            <a:pPr>
              <a:lnSpc>
                <a:spcPct val="103226"/>
              </a:lnSpc>
              <a:spcAft>
                <a:spcPts val="0"/>
              </a:spcAft>
            </a:pPr>
            <a:r>
              <a:rPr sz="645" i="0">
                <a:solidFill>
                  <a:srgbClr val="5C6773"/>
                </a:solidFill>
                <a:latin typeface="Inconsolata"/>
              </a:rPr>
              <a:t>18  </a:t>
            </a:r>
            <a:r>
              <a:rPr sz="645" i="0">
                <a:solidFill>
                  <a:srgbClr val="E6EDF3"/>
                </a:solidFill>
                <a:latin typeface="Inconsolata"/>
              </a:rPr>
              <a:t>engine = create_engine(</a:t>
            </a:r>
            <a:r>
              <a:rPr sz="645" i="0">
                <a:solidFill>
                  <a:srgbClr val="A5D6A7"/>
                </a:solidFill>
                <a:latin typeface="Inconsolata"/>
              </a:rPr>
              <a:t>"sqlite://"</a:t>
            </a:r>
            <a:r>
              <a:rPr sz="645" i="0">
                <a:solidFill>
                  <a:srgbClr val="E6EDF3"/>
                </a:solidFill>
                <a:latin typeface="Inconsolata"/>
              </a:rPr>
              <a:t>)                    </a:t>
            </a:r>
            <a:r>
              <a:rPr sz="645" i="1">
                <a:solidFill>
                  <a:srgbClr val="8B98A8"/>
                </a:solidFill>
                <a:latin typeface="Inconsolata"/>
              </a:rPr>
              <a:t># hidup</a:t>
            </a:r>
          </a:p>
          <a:p>
            <a:pPr>
              <a:lnSpc>
                <a:spcPct val="103226"/>
              </a:lnSpc>
              <a:spcAft>
                <a:spcPts val="0"/>
              </a:spcAft>
            </a:pPr>
            <a:r>
              <a:rPr sz="645" i="0">
                <a:solidFill>
                  <a:srgbClr val="5C6773"/>
                </a:solidFill>
                <a:latin typeface="Inconsolata"/>
              </a:rPr>
              <a:t>19  </a:t>
            </a:r>
            <a:r>
              <a:rPr sz="645" i="0">
                <a:solidFill>
                  <a:srgbClr val="E6EDF3"/>
                </a:solidFill>
                <a:latin typeface="Inconsolata"/>
              </a:rPr>
              <a:t>redis = </a:t>
            </a:r>
            <a:r>
              <a:rPr sz="645" i="0">
                <a:solidFill>
                  <a:srgbClr val="7FDBCA"/>
                </a:solidFill>
                <a:latin typeface="Inconsolata"/>
              </a:rPr>
              <a:t>Redis</a:t>
            </a:r>
            <a:r>
              <a:rPr sz="645" i="0">
                <a:solidFill>
                  <a:srgbClr val="E6EDF3"/>
                </a:solidFill>
                <a:latin typeface="Inconsolata"/>
              </a:rPr>
              <a:t>(port=</a:t>
            </a:r>
            <a:r>
              <a:rPr sz="645" i="0">
                <a:solidFill>
                  <a:srgbClr val="F9C97A"/>
                </a:solidFill>
                <a:latin typeface="Inconsolata"/>
              </a:rPr>
              <a:t>6399</a:t>
            </a:r>
            <a:r>
              <a:rPr sz="645" i="0">
                <a:solidFill>
                  <a:srgbClr val="E6EDF3"/>
                </a:solidFill>
                <a:latin typeface="Inconsolata"/>
              </a:rPr>
              <a:t>, socket_connect_timeout=</a:t>
            </a:r>
            <a:r>
              <a:rPr sz="645" i="0">
                <a:solidFill>
                  <a:srgbClr val="F9C97A"/>
                </a:solidFill>
                <a:latin typeface="Inconsolata"/>
              </a:rPr>
              <a:t>0</a:t>
            </a:r>
            <a:r>
              <a:rPr sz="645" i="0">
                <a:solidFill>
                  <a:srgbClr val="E6EDF3"/>
                </a:solidFill>
                <a:latin typeface="Inconsolata"/>
              </a:rPr>
              <a:t>.</a:t>
            </a:r>
            <a:r>
              <a:rPr sz="645" i="0">
                <a:solidFill>
                  <a:srgbClr val="F9C97A"/>
                </a:solidFill>
                <a:latin typeface="Inconsolata"/>
              </a:rPr>
              <a:t>5</a:t>
            </a:r>
            <a:r>
              <a:rPr sz="645" i="0">
                <a:solidFill>
                  <a:srgbClr val="E6EDF3"/>
                </a:solidFill>
                <a:latin typeface="Inconsolata"/>
              </a:rPr>
              <a:t>,   </a:t>
            </a:r>
            <a:r>
              <a:rPr sz="645" i="1">
                <a:solidFill>
                  <a:srgbClr val="8B98A8"/>
                </a:solidFill>
                <a:latin typeface="Inconsolata"/>
              </a:rPr>
              <a:t># mati</a:t>
            </a:r>
          </a:p>
          <a:p>
            <a:pPr>
              <a:lnSpc>
                <a:spcPct val="103226"/>
              </a:lnSpc>
              <a:spcAft>
                <a:spcPts val="0"/>
              </a:spcAft>
            </a:pPr>
            <a:r>
              <a:rPr sz="645" i="0">
                <a:solidFill>
                  <a:srgbClr val="5C6773"/>
                </a:solidFill>
                <a:latin typeface="Inconsolata"/>
              </a:rPr>
              <a:t>20  </a:t>
            </a:r>
            <a:r>
              <a:rPr sz="645" i="0">
                <a:solidFill>
                  <a:srgbClr val="E6EDF3"/>
                </a:solidFill>
                <a:latin typeface="Inconsolata"/>
              </a:rPr>
              <a:t>              retry=</a:t>
            </a:r>
            <a:r>
              <a:rPr sz="645" i="0">
                <a:solidFill>
                  <a:srgbClr val="FF8E6E"/>
                </a:solidFill>
                <a:latin typeface="Inconsolata"/>
              </a:rPr>
              <a:t>None</a:t>
            </a:r>
            <a:r>
              <a:rPr sz="645" i="0">
                <a:solidFill>
                  <a:srgbClr val="E6EDF3"/>
                </a:solidFill>
                <a:latin typeface="Inconsolata"/>
              </a:rPr>
              <a:t>)</a:t>
            </a:r>
          </a:p>
          <a:p>
            <a:pPr>
              <a:lnSpc>
                <a:spcPct val="103226"/>
              </a:lnSpc>
              <a:spcAft>
                <a:spcPts val="0"/>
              </a:spcAft>
            </a:pPr>
            <a:r>
              <a:rPr sz="645" i="0">
                <a:solidFill>
                  <a:srgbClr val="5C6773"/>
                </a:solidFill>
                <a:latin typeface="Inconsolata"/>
              </a:rPr>
              <a:t>21  </a:t>
            </a:r>
            <a:r>
              <a:rPr sz="645" i="0">
                <a:solidFill>
                  <a:srgbClr val="E6EDF3"/>
                </a:solidFill>
                <a:latin typeface="Inconsolata"/>
              </a:rPr>
              <a:t>app = </a:t>
            </a:r>
            <a:r>
              <a:rPr sz="645" i="0">
                <a:solidFill>
                  <a:srgbClr val="7FDBCA"/>
                </a:solidFill>
                <a:latin typeface="Inconsolata"/>
              </a:rPr>
              <a:t>FastAPI</a:t>
            </a:r>
            <a:r>
              <a:rPr sz="645" i="0">
                <a:solidFill>
                  <a:srgbClr val="E6EDF3"/>
                </a:solidFill>
                <a:latin typeface="Inconsolata"/>
              </a:rPr>
              <a:t>()</a:t>
            </a:r>
          </a:p>
          <a:p>
            <a:pPr>
              <a:lnSpc>
                <a:spcPct val="103226"/>
              </a:lnSpc>
              <a:spcAft>
                <a:spcPts val="0"/>
              </a:spcAft>
            </a:pPr>
            <a:r>
              <a:rPr sz="645" i="0">
                <a:solidFill>
                  <a:srgbClr val="5C6773"/>
                </a:solidFill>
                <a:latin typeface="Inconsolata"/>
              </a:rPr>
              <a:t>22  </a:t>
            </a:r>
            <a:r>
              <a:rPr sz="645" i="0">
                <a:solidFill>
                  <a:srgbClr val="E6EDF3"/>
                </a:solidFill>
                <a:latin typeface="Inconsolata"/>
              </a:rPr>
              <a:t> </a:t>
            </a:r>
          </a:p>
          <a:p>
            <a:pPr>
              <a:lnSpc>
                <a:spcPct val="103226"/>
              </a:lnSpc>
              <a:spcAft>
                <a:spcPts val="0"/>
              </a:spcAft>
            </a:pPr>
            <a:r>
              <a:rPr sz="645" i="0">
                <a:solidFill>
                  <a:srgbClr val="5C6773"/>
                </a:solidFill>
                <a:latin typeface="Inconsolata"/>
              </a:rPr>
              <a:t>23  </a:t>
            </a:r>
            <a:r>
              <a:rPr sz="645" i="0">
                <a:solidFill>
                  <a:srgbClr val="E6EDF3"/>
                </a:solidFill>
                <a:latin typeface="Inconsolata"/>
              </a:rPr>
              <a:t> </a:t>
            </a:r>
          </a:p>
          <a:p>
            <a:pPr>
              <a:lnSpc>
                <a:spcPct val="103226"/>
              </a:lnSpc>
              <a:spcAft>
                <a:spcPts val="0"/>
              </a:spcAft>
            </a:pPr>
            <a:r>
              <a:rPr sz="645" i="0">
                <a:solidFill>
                  <a:srgbClr val="5C6773"/>
                </a:solidFill>
                <a:latin typeface="Inconsolata"/>
              </a:rPr>
              <a:t>24  </a:t>
            </a:r>
            <a:r>
              <a:rPr sz="645" i="0">
                <a:solidFill>
                  <a:srgbClr val="FF8E6E"/>
                </a:solidFill>
                <a:latin typeface="Inconsolata"/>
              </a:rPr>
              <a:t>def</a:t>
            </a:r>
            <a:r>
              <a:rPr sz="645" i="0">
                <a:solidFill>
                  <a:srgbClr val="E6EDF3"/>
                </a:solidFill>
                <a:latin typeface="Inconsolata"/>
              </a:rPr>
              <a:t> </a:t>
            </a:r>
            <a:r>
              <a:rPr sz="645" i="0">
                <a:solidFill>
                  <a:srgbClr val="82B1FF"/>
                </a:solidFill>
                <a:latin typeface="Inconsolata"/>
              </a:rPr>
              <a:t>check_database</a:t>
            </a:r>
            <a:r>
              <a:rPr sz="645" i="0">
                <a:solidFill>
                  <a:srgbClr val="E6EDF3"/>
                </a:solidFill>
                <a:latin typeface="Inconsolata"/>
              </a:rPr>
              <a:t>() -&gt; </a:t>
            </a:r>
            <a:r>
              <a:rPr sz="645" i="0">
                <a:solidFill>
                  <a:srgbClr val="FF8E6E"/>
                </a:solidFill>
                <a:latin typeface="Inconsolata"/>
              </a:rPr>
              <a:t>None</a:t>
            </a:r>
            <a:r>
              <a:rPr sz="645" i="0">
                <a:solidFill>
                  <a:srgbClr val="E6EDF3"/>
                </a:solidFill>
                <a:latin typeface="Inconsolata"/>
              </a:rPr>
              <a:t>:</a:t>
            </a:r>
          </a:p>
          <a:p>
            <a:pPr>
              <a:lnSpc>
                <a:spcPct val="103226"/>
              </a:lnSpc>
              <a:spcAft>
                <a:spcPts val="0"/>
              </a:spcAft>
            </a:pPr>
            <a:r>
              <a:rPr sz="645" i="0">
                <a:solidFill>
                  <a:srgbClr val="5C6773"/>
                </a:solidFill>
                <a:latin typeface="Inconsolata"/>
              </a:rPr>
              <a:t>25  </a:t>
            </a:r>
            <a:r>
              <a:rPr sz="645" i="0">
                <a:solidFill>
                  <a:srgbClr val="E6EDF3"/>
                </a:solidFill>
                <a:latin typeface="Inconsolata"/>
              </a:rPr>
              <a:t>    </a:t>
            </a:r>
            <a:r>
              <a:rPr sz="645" i="0">
                <a:solidFill>
                  <a:srgbClr val="FF8E6E"/>
                </a:solidFill>
                <a:latin typeface="Inconsolata"/>
              </a:rPr>
              <a:t>with</a:t>
            </a:r>
            <a:r>
              <a:rPr sz="645" i="0">
                <a:solidFill>
                  <a:srgbClr val="E6EDF3"/>
                </a:solidFill>
                <a:latin typeface="Inconsolata"/>
              </a:rPr>
              <a:t> engine.connect() </a:t>
            </a:r>
            <a:r>
              <a:rPr sz="645" i="0">
                <a:solidFill>
                  <a:srgbClr val="FF8E6E"/>
                </a:solidFill>
                <a:latin typeface="Inconsolata"/>
              </a:rPr>
              <a:t>as</a:t>
            </a:r>
            <a:r>
              <a:rPr sz="645" i="0">
                <a:solidFill>
                  <a:srgbClr val="E6EDF3"/>
                </a:solidFill>
                <a:latin typeface="Inconsolata"/>
              </a:rPr>
              <a:t> conn:</a:t>
            </a:r>
          </a:p>
          <a:p>
            <a:pPr>
              <a:lnSpc>
                <a:spcPct val="103226"/>
              </a:lnSpc>
              <a:spcAft>
                <a:spcPts val="0"/>
              </a:spcAft>
            </a:pPr>
            <a:r>
              <a:rPr sz="645" i="0">
                <a:solidFill>
                  <a:srgbClr val="5C6773"/>
                </a:solidFill>
                <a:latin typeface="Inconsolata"/>
              </a:rPr>
              <a:t>26  </a:t>
            </a:r>
            <a:r>
              <a:rPr sz="645" i="0">
                <a:solidFill>
                  <a:srgbClr val="E6EDF3"/>
                </a:solidFill>
                <a:latin typeface="Inconsolata"/>
              </a:rPr>
              <a:t>        conn.execute(text(</a:t>
            </a:r>
            <a:r>
              <a:rPr sz="645" i="0">
                <a:solidFill>
                  <a:srgbClr val="A5D6A7"/>
                </a:solidFill>
                <a:latin typeface="Inconsolata"/>
              </a:rPr>
              <a:t>"SELECT 1"</a:t>
            </a:r>
            <a:r>
              <a:rPr sz="645" i="0">
                <a:solidFill>
                  <a:srgbClr val="E6EDF3"/>
                </a:solidFill>
                <a:latin typeface="Inconsolata"/>
              </a:rPr>
              <a:t>))</a:t>
            </a:r>
          </a:p>
          <a:p>
            <a:pPr>
              <a:lnSpc>
                <a:spcPct val="103226"/>
              </a:lnSpc>
              <a:spcAft>
                <a:spcPts val="0"/>
              </a:spcAft>
            </a:pPr>
            <a:r>
              <a:rPr sz="645" i="0">
                <a:solidFill>
                  <a:srgbClr val="5C6773"/>
                </a:solidFill>
                <a:latin typeface="Inconsolata"/>
              </a:rPr>
              <a:t>27  </a:t>
            </a:r>
            <a:r>
              <a:rPr sz="645" i="0">
                <a:solidFill>
                  <a:srgbClr val="E6EDF3"/>
                </a:solidFill>
                <a:latin typeface="Inconsolata"/>
              </a:rPr>
              <a:t> </a:t>
            </a:r>
          </a:p>
          <a:p>
            <a:pPr>
              <a:lnSpc>
                <a:spcPct val="103226"/>
              </a:lnSpc>
              <a:spcAft>
                <a:spcPts val="0"/>
              </a:spcAft>
            </a:pPr>
            <a:r>
              <a:rPr sz="645" i="0">
                <a:solidFill>
                  <a:srgbClr val="5C6773"/>
                </a:solidFill>
                <a:latin typeface="Inconsolata"/>
              </a:rPr>
              <a:t>28  </a:t>
            </a:r>
            <a:r>
              <a:rPr sz="645" i="0">
                <a:solidFill>
                  <a:srgbClr val="E6EDF3"/>
                </a:solidFill>
                <a:latin typeface="Inconsolata"/>
              </a:rPr>
              <a:t> </a:t>
            </a:r>
          </a:p>
          <a:p>
            <a:pPr>
              <a:lnSpc>
                <a:spcPct val="103226"/>
              </a:lnSpc>
              <a:spcAft>
                <a:spcPts val="0"/>
              </a:spcAft>
            </a:pPr>
            <a:r>
              <a:rPr sz="645" i="0">
                <a:solidFill>
                  <a:srgbClr val="5C6773"/>
                </a:solidFill>
                <a:latin typeface="Inconsolata"/>
              </a:rPr>
              <a:t>29  </a:t>
            </a:r>
            <a:r>
              <a:rPr sz="645" i="0">
                <a:solidFill>
                  <a:srgbClr val="FF8E6E"/>
                </a:solidFill>
                <a:latin typeface="Inconsolata"/>
              </a:rPr>
              <a:t>def</a:t>
            </a:r>
            <a:r>
              <a:rPr sz="645" i="0">
                <a:solidFill>
                  <a:srgbClr val="E6EDF3"/>
                </a:solidFill>
                <a:latin typeface="Inconsolata"/>
              </a:rPr>
              <a:t> </a:t>
            </a:r>
            <a:r>
              <a:rPr sz="645" i="0">
                <a:solidFill>
                  <a:srgbClr val="82B1FF"/>
                </a:solidFill>
                <a:latin typeface="Inconsolata"/>
              </a:rPr>
              <a:t>check_redis</a:t>
            </a:r>
            <a:r>
              <a:rPr sz="645" i="0">
                <a:solidFill>
                  <a:srgbClr val="E6EDF3"/>
                </a:solidFill>
                <a:latin typeface="Inconsolata"/>
              </a:rPr>
              <a:t>() -&gt; </a:t>
            </a:r>
            <a:r>
              <a:rPr sz="645" i="0">
                <a:solidFill>
                  <a:srgbClr val="FF8E6E"/>
                </a:solidFill>
                <a:latin typeface="Inconsolata"/>
              </a:rPr>
              <a:t>None</a:t>
            </a:r>
            <a:r>
              <a:rPr sz="645" i="0">
                <a:solidFill>
                  <a:srgbClr val="E6EDF3"/>
                </a:solidFill>
                <a:latin typeface="Inconsolata"/>
              </a:rPr>
              <a:t>:</a:t>
            </a:r>
          </a:p>
          <a:p>
            <a:pPr>
              <a:lnSpc>
                <a:spcPct val="103226"/>
              </a:lnSpc>
              <a:spcAft>
                <a:spcPts val="0"/>
              </a:spcAft>
            </a:pPr>
            <a:r>
              <a:rPr sz="645" i="0">
                <a:solidFill>
                  <a:srgbClr val="5C6773"/>
                </a:solidFill>
                <a:latin typeface="Inconsolata"/>
              </a:rPr>
              <a:t>30  </a:t>
            </a:r>
            <a:r>
              <a:rPr sz="645" i="0">
                <a:solidFill>
                  <a:srgbClr val="E6EDF3"/>
                </a:solidFill>
                <a:latin typeface="Inconsolata"/>
              </a:rPr>
              <a:t>    redis.ping()</a:t>
            </a:r>
          </a:p>
          <a:p>
            <a:pPr>
              <a:lnSpc>
                <a:spcPct val="103226"/>
              </a:lnSpc>
              <a:spcAft>
                <a:spcPts val="0"/>
              </a:spcAft>
            </a:pPr>
            <a:r>
              <a:rPr sz="645" i="0">
                <a:solidFill>
                  <a:srgbClr val="5C6773"/>
                </a:solidFill>
                <a:latin typeface="Inconsolata"/>
              </a:rPr>
              <a:t>31  </a:t>
            </a:r>
            <a:r>
              <a:rPr sz="645" i="0">
                <a:solidFill>
                  <a:srgbClr val="E6EDF3"/>
                </a:solidFill>
                <a:latin typeface="Inconsolata"/>
              </a:rPr>
              <a:t> </a:t>
            </a:r>
          </a:p>
          <a:p>
            <a:pPr>
              <a:lnSpc>
                <a:spcPct val="103226"/>
              </a:lnSpc>
              <a:spcAft>
                <a:spcPts val="0"/>
              </a:spcAft>
            </a:pPr>
            <a:r>
              <a:rPr sz="645" i="0">
                <a:solidFill>
                  <a:srgbClr val="5C6773"/>
                </a:solidFill>
                <a:latin typeface="Inconsolata"/>
              </a:rPr>
              <a:t>32  </a:t>
            </a:r>
            <a:r>
              <a:rPr sz="645" i="0">
                <a:solidFill>
                  <a:srgbClr val="E6EDF3"/>
                </a:solidFill>
                <a:latin typeface="Inconsolata"/>
              </a:rPr>
              <a:t> </a:t>
            </a:r>
          </a:p>
          <a:p>
            <a:pPr>
              <a:lnSpc>
                <a:spcPct val="103226"/>
              </a:lnSpc>
              <a:spcAft>
                <a:spcPts val="0"/>
              </a:spcAft>
            </a:pPr>
            <a:r>
              <a:rPr sz="645" i="0">
                <a:solidFill>
                  <a:srgbClr val="5C6773"/>
                </a:solidFill>
                <a:latin typeface="Inconsolata"/>
              </a:rPr>
              <a:t>33  </a:t>
            </a:r>
            <a:r>
              <a:rPr sz="645" i="0">
                <a:solidFill>
                  <a:srgbClr val="7FDBCA"/>
                </a:solidFill>
                <a:latin typeface="Inconsolata"/>
              </a:rPr>
              <a:t>CHECKS</a:t>
            </a:r>
            <a:r>
              <a:rPr sz="645" i="0">
                <a:solidFill>
                  <a:srgbClr val="E6EDF3"/>
                </a:solidFill>
                <a:latin typeface="Inconsolata"/>
              </a:rPr>
              <a:t> = {</a:t>
            </a:r>
            <a:r>
              <a:rPr sz="645" i="0">
                <a:solidFill>
                  <a:srgbClr val="A5D6A7"/>
                </a:solidFill>
                <a:latin typeface="Inconsolata"/>
              </a:rPr>
              <a:t>"database"</a:t>
            </a:r>
            <a:r>
              <a:rPr sz="645" i="0">
                <a:solidFill>
                  <a:srgbClr val="E6EDF3"/>
                </a:solidFill>
                <a:latin typeface="Inconsolata"/>
              </a:rPr>
              <a:t>: check_database, </a:t>
            </a:r>
            <a:r>
              <a:rPr sz="645" i="0">
                <a:solidFill>
                  <a:srgbClr val="A5D6A7"/>
                </a:solidFill>
                <a:latin typeface="Inconsolata"/>
              </a:rPr>
              <a:t>"redis"</a:t>
            </a:r>
            <a:r>
              <a:rPr sz="645" i="0">
                <a:solidFill>
                  <a:srgbClr val="E6EDF3"/>
                </a:solidFill>
                <a:latin typeface="Inconsolata"/>
              </a:rPr>
              <a:t>: check_redis}</a:t>
            </a:r>
          </a:p>
          <a:p>
            <a:pPr>
              <a:lnSpc>
                <a:spcPct val="103226"/>
              </a:lnSpc>
              <a:spcAft>
                <a:spcPts val="0"/>
              </a:spcAft>
            </a:pPr>
            <a:r>
              <a:rPr sz="645" i="0">
                <a:solidFill>
                  <a:srgbClr val="5C6773"/>
                </a:solidFill>
                <a:latin typeface="Inconsolata"/>
              </a:rPr>
              <a:t>34  </a:t>
            </a:r>
            <a:r>
              <a:rPr sz="645" i="0">
                <a:solidFill>
                  <a:srgbClr val="E6EDF3"/>
                </a:solidFill>
                <a:latin typeface="Inconsolata"/>
              </a:rPr>
              <a:t> </a:t>
            </a:r>
          </a:p>
          <a:p>
            <a:pPr>
              <a:lnSpc>
                <a:spcPct val="103226"/>
              </a:lnSpc>
              <a:spcAft>
                <a:spcPts val="0"/>
              </a:spcAft>
            </a:pPr>
            <a:r>
              <a:rPr sz="645" i="0">
                <a:solidFill>
                  <a:srgbClr val="5C6773"/>
                </a:solidFill>
                <a:latin typeface="Inconsolata"/>
              </a:rPr>
              <a:t>35  </a:t>
            </a:r>
            <a:r>
              <a:rPr sz="645" i="0">
                <a:solidFill>
                  <a:srgbClr val="E6EDF3"/>
                </a:solidFill>
                <a:latin typeface="Inconsolata"/>
              </a:rPr>
              <a:t> </a:t>
            </a:r>
          </a:p>
          <a:p>
            <a:pPr>
              <a:lnSpc>
                <a:spcPct val="103226"/>
              </a:lnSpc>
              <a:spcAft>
                <a:spcPts val="0"/>
              </a:spcAft>
            </a:pPr>
            <a:r>
              <a:rPr sz="645" i="0">
                <a:solidFill>
                  <a:srgbClr val="5C6773"/>
                </a:solidFill>
                <a:latin typeface="Inconsolata"/>
              </a:rPr>
              <a:t>36  </a:t>
            </a:r>
            <a:r>
              <a:rPr sz="645" i="0">
                <a:solidFill>
                  <a:srgbClr val="F9C97A"/>
                </a:solidFill>
                <a:latin typeface="Inconsolata"/>
              </a:rPr>
              <a:t>@app.get</a:t>
            </a:r>
            <a:r>
              <a:rPr sz="645" i="0">
                <a:solidFill>
                  <a:srgbClr val="E6EDF3"/>
                </a:solidFill>
                <a:latin typeface="Inconsolata"/>
              </a:rPr>
              <a:t>(</a:t>
            </a:r>
            <a:r>
              <a:rPr sz="645" i="0">
                <a:solidFill>
                  <a:srgbClr val="A5D6A7"/>
                </a:solidFill>
                <a:latin typeface="Inconsolata"/>
              </a:rPr>
              <a:t>"/health/live"</a:t>
            </a:r>
            <a:r>
              <a:rPr sz="645" i="0">
                <a:solidFill>
                  <a:srgbClr val="E6EDF3"/>
                </a:solidFill>
                <a:latin typeface="Inconsolata"/>
              </a:rPr>
              <a:t>)</a:t>
            </a:r>
          </a:p>
          <a:p>
            <a:pPr>
              <a:lnSpc>
                <a:spcPct val="103226"/>
              </a:lnSpc>
              <a:spcAft>
                <a:spcPts val="0"/>
              </a:spcAft>
            </a:pPr>
            <a:r>
              <a:rPr sz="645" i="0">
                <a:solidFill>
                  <a:srgbClr val="5C6773"/>
                </a:solidFill>
                <a:latin typeface="Inconsolata"/>
              </a:rPr>
              <a:t>37  </a:t>
            </a:r>
            <a:r>
              <a:rPr sz="645" i="0">
                <a:solidFill>
                  <a:srgbClr val="FF8E6E"/>
                </a:solidFill>
                <a:latin typeface="Inconsolata"/>
              </a:rPr>
              <a:t>def</a:t>
            </a:r>
            <a:r>
              <a:rPr sz="645" i="0">
                <a:solidFill>
                  <a:srgbClr val="E6EDF3"/>
                </a:solidFill>
                <a:latin typeface="Inconsolata"/>
              </a:rPr>
              <a:t> </a:t>
            </a:r>
            <a:r>
              <a:rPr sz="645" i="0">
                <a:solidFill>
                  <a:srgbClr val="82B1FF"/>
                </a:solidFill>
                <a:latin typeface="Inconsolata"/>
              </a:rPr>
              <a:t>live</a:t>
            </a:r>
            <a:r>
              <a:rPr sz="645" i="0">
                <a:solidFill>
                  <a:srgbClr val="E6EDF3"/>
                </a:solidFill>
                <a:latin typeface="Inconsolata"/>
              </a:rPr>
              <a:t>():</a:t>
            </a:r>
          </a:p>
          <a:p>
            <a:pPr>
              <a:lnSpc>
                <a:spcPct val="103226"/>
              </a:lnSpc>
              <a:spcAft>
                <a:spcPts val="0"/>
              </a:spcAft>
            </a:pPr>
            <a:r>
              <a:rPr sz="645" i="0">
                <a:solidFill>
                  <a:srgbClr val="5C6773"/>
                </a:solidFill>
                <a:latin typeface="Inconsolata"/>
              </a:rPr>
              <a:t>38  </a:t>
            </a:r>
            <a:r>
              <a:rPr sz="645" i="0">
                <a:solidFill>
                  <a:srgbClr val="E6EDF3"/>
                </a:solidFill>
                <a:latin typeface="Inconsolata"/>
              </a:rPr>
              <a:t>    </a:t>
            </a:r>
            <a:r>
              <a:rPr sz="645" i="0">
                <a:solidFill>
                  <a:srgbClr val="FF8E6E"/>
                </a:solidFill>
                <a:latin typeface="Inconsolata"/>
              </a:rPr>
              <a:t>return</a:t>
            </a:r>
            <a:r>
              <a:rPr sz="645" i="0">
                <a:solidFill>
                  <a:srgbClr val="E6EDF3"/>
                </a:solidFill>
                <a:latin typeface="Inconsolata"/>
              </a:rPr>
              <a:t> {</a:t>
            </a:r>
            <a:r>
              <a:rPr sz="645" i="0">
                <a:solidFill>
                  <a:srgbClr val="A5D6A7"/>
                </a:solidFill>
                <a:latin typeface="Inconsolata"/>
              </a:rPr>
              <a:t>"status"</a:t>
            </a:r>
            <a:r>
              <a:rPr sz="645" i="0">
                <a:solidFill>
                  <a:srgbClr val="E6EDF3"/>
                </a:solidFill>
                <a:latin typeface="Inconsolata"/>
              </a:rPr>
              <a:t>: </a:t>
            </a:r>
            <a:r>
              <a:rPr sz="645" i="0">
                <a:solidFill>
                  <a:srgbClr val="A5D6A7"/>
                </a:solidFill>
                <a:latin typeface="Inconsolata"/>
              </a:rPr>
              <a:t>"ok"</a:t>
            </a:r>
            <a:r>
              <a:rPr sz="645" i="0">
                <a:solidFill>
                  <a:srgbClr val="E6EDF3"/>
                </a:solidFill>
                <a:latin typeface="Inconsolata"/>
              </a:rPr>
              <a: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05-health-checks/after.py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3226"/>
              </a:lnSpc>
              <a:spcAft>
                <a:spcPts val="0"/>
              </a:spcAft>
            </a:pPr>
            <a:r>
              <a:rPr sz="645" i="0">
                <a:solidFill>
                  <a:srgbClr val="5C6773"/>
                </a:solidFill>
                <a:latin typeface="Inconsolata"/>
              </a:rPr>
              <a:t>41  </a:t>
            </a:r>
            <a:r>
              <a:rPr sz="645" i="0">
                <a:solidFill>
                  <a:srgbClr val="F9C97A"/>
                </a:solidFill>
                <a:latin typeface="Inconsolata"/>
              </a:rPr>
              <a:t>@app.get</a:t>
            </a:r>
            <a:r>
              <a:rPr sz="645" i="0">
                <a:solidFill>
                  <a:srgbClr val="E6EDF3"/>
                </a:solidFill>
                <a:latin typeface="Inconsolata"/>
              </a:rPr>
              <a:t>(</a:t>
            </a:r>
            <a:r>
              <a:rPr sz="645" i="0">
                <a:solidFill>
                  <a:srgbClr val="A5D6A7"/>
                </a:solidFill>
                <a:latin typeface="Inconsolata"/>
              </a:rPr>
              <a:t>"/health/ready"</a:t>
            </a:r>
            <a:r>
              <a:rPr sz="645" i="0">
                <a:solidFill>
                  <a:srgbClr val="E6EDF3"/>
                </a:solidFill>
                <a:latin typeface="Inconsolata"/>
              </a:rPr>
              <a:t>)</a:t>
            </a:r>
          </a:p>
          <a:p>
            <a:pPr>
              <a:lnSpc>
                <a:spcPct val="103226"/>
              </a:lnSpc>
              <a:spcAft>
                <a:spcPts val="0"/>
              </a:spcAft>
            </a:pPr>
            <a:r>
              <a:rPr sz="645" i="0">
                <a:solidFill>
                  <a:srgbClr val="5C6773"/>
                </a:solidFill>
                <a:latin typeface="Inconsolata"/>
              </a:rPr>
              <a:t>42  </a:t>
            </a:r>
            <a:r>
              <a:rPr sz="645" i="0">
                <a:solidFill>
                  <a:srgbClr val="FF8E6E"/>
                </a:solidFill>
                <a:latin typeface="Inconsolata"/>
              </a:rPr>
              <a:t>def</a:t>
            </a:r>
            <a:r>
              <a:rPr sz="645" i="0">
                <a:solidFill>
                  <a:srgbClr val="E6EDF3"/>
                </a:solidFill>
                <a:latin typeface="Inconsolata"/>
              </a:rPr>
              <a:t> </a:t>
            </a:r>
            <a:r>
              <a:rPr sz="645" i="0">
                <a:solidFill>
                  <a:srgbClr val="82B1FF"/>
                </a:solidFill>
                <a:latin typeface="Inconsolata"/>
              </a:rPr>
              <a:t>ready</a:t>
            </a:r>
            <a:r>
              <a:rPr sz="645" i="0">
                <a:solidFill>
                  <a:srgbClr val="E6EDF3"/>
                </a:solidFill>
                <a:latin typeface="Inconsolata"/>
              </a:rPr>
              <a:t>():</a:t>
            </a:r>
          </a:p>
          <a:p>
            <a:pPr>
              <a:lnSpc>
                <a:spcPct val="103226"/>
              </a:lnSpc>
              <a:spcAft>
                <a:spcPts val="0"/>
              </a:spcAft>
            </a:pPr>
            <a:r>
              <a:rPr sz="645" i="0">
                <a:solidFill>
                  <a:srgbClr val="5C6773"/>
                </a:solidFill>
                <a:latin typeface="Inconsolata"/>
              </a:rPr>
              <a:t>43  </a:t>
            </a:r>
            <a:r>
              <a:rPr sz="645" i="0">
                <a:solidFill>
                  <a:srgbClr val="E6EDF3"/>
                </a:solidFill>
                <a:latin typeface="Inconsolata"/>
              </a:rPr>
              <a:t>    results = {}</a:t>
            </a:r>
          </a:p>
          <a:p>
            <a:pPr>
              <a:lnSpc>
                <a:spcPct val="103226"/>
              </a:lnSpc>
              <a:spcAft>
                <a:spcPts val="0"/>
              </a:spcAft>
            </a:pPr>
            <a:r>
              <a:rPr sz="645" i="0">
                <a:solidFill>
                  <a:srgbClr val="5C6773"/>
                </a:solidFill>
                <a:latin typeface="Inconsolata"/>
              </a:rPr>
              <a:t>44  </a:t>
            </a:r>
            <a:r>
              <a:rPr sz="645" i="0">
                <a:solidFill>
                  <a:srgbClr val="E6EDF3"/>
                </a:solidFill>
                <a:latin typeface="Inconsolata"/>
              </a:rPr>
              <a:t>    </a:t>
            </a:r>
            <a:r>
              <a:rPr sz="645" i="0">
                <a:solidFill>
                  <a:srgbClr val="FF8E6E"/>
                </a:solidFill>
                <a:latin typeface="Inconsolata"/>
              </a:rPr>
              <a:t>for</a:t>
            </a:r>
            <a:r>
              <a:rPr sz="645" i="0">
                <a:solidFill>
                  <a:srgbClr val="E6EDF3"/>
                </a:solidFill>
                <a:latin typeface="Inconsolata"/>
              </a:rPr>
              <a:t> name, check </a:t>
            </a:r>
            <a:r>
              <a:rPr sz="645" i="0">
                <a:solidFill>
                  <a:srgbClr val="FF8E6E"/>
                </a:solidFill>
                <a:latin typeface="Inconsolata"/>
              </a:rPr>
              <a:t>in</a:t>
            </a:r>
            <a:r>
              <a:rPr sz="645" i="0">
                <a:solidFill>
                  <a:srgbClr val="E6EDF3"/>
                </a:solidFill>
                <a:latin typeface="Inconsolata"/>
              </a:rPr>
              <a:t> </a:t>
            </a:r>
            <a:r>
              <a:rPr sz="645" i="0">
                <a:solidFill>
                  <a:srgbClr val="7FDBCA"/>
                </a:solidFill>
                <a:latin typeface="Inconsolata"/>
              </a:rPr>
              <a:t>CHECKS</a:t>
            </a:r>
            <a:r>
              <a:rPr sz="645" i="0">
                <a:solidFill>
                  <a:srgbClr val="E6EDF3"/>
                </a:solidFill>
                <a:latin typeface="Inconsolata"/>
              </a:rPr>
              <a:t>.items():</a:t>
            </a:r>
          </a:p>
          <a:p>
            <a:pPr>
              <a:lnSpc>
                <a:spcPct val="103226"/>
              </a:lnSpc>
              <a:spcAft>
                <a:spcPts val="0"/>
              </a:spcAft>
            </a:pPr>
            <a:r>
              <a:rPr sz="645" i="0">
                <a:solidFill>
                  <a:srgbClr val="5C6773"/>
                </a:solidFill>
                <a:latin typeface="Inconsolata"/>
              </a:rPr>
              <a:t>45  </a:t>
            </a:r>
            <a:r>
              <a:rPr sz="645" i="0">
                <a:solidFill>
                  <a:srgbClr val="E6EDF3"/>
                </a:solidFill>
                <a:latin typeface="Inconsolata"/>
              </a:rPr>
              <a:t>        </a:t>
            </a:r>
            <a:r>
              <a:rPr sz="645" i="0">
                <a:solidFill>
                  <a:srgbClr val="FF8E6E"/>
                </a:solidFill>
                <a:latin typeface="Inconsolata"/>
              </a:rPr>
              <a:t>try</a:t>
            </a:r>
            <a:r>
              <a:rPr sz="645" i="0">
                <a:solidFill>
                  <a:srgbClr val="E6EDF3"/>
                </a:solidFill>
                <a:latin typeface="Inconsolata"/>
              </a:rPr>
              <a:t>:</a:t>
            </a:r>
          </a:p>
          <a:p>
            <a:pPr>
              <a:lnSpc>
                <a:spcPct val="103226"/>
              </a:lnSpc>
              <a:spcAft>
                <a:spcPts val="0"/>
              </a:spcAft>
            </a:pPr>
            <a:r>
              <a:rPr sz="645" i="0">
                <a:solidFill>
                  <a:srgbClr val="5C6773"/>
                </a:solidFill>
                <a:latin typeface="Inconsolata"/>
              </a:rPr>
              <a:t>46  </a:t>
            </a:r>
            <a:r>
              <a:rPr sz="645" i="0">
                <a:solidFill>
                  <a:srgbClr val="E6EDF3"/>
                </a:solidFill>
                <a:latin typeface="Inconsolata"/>
              </a:rPr>
              <a:t>            check()</a:t>
            </a:r>
          </a:p>
          <a:p>
            <a:pPr>
              <a:lnSpc>
                <a:spcPct val="103226"/>
              </a:lnSpc>
              <a:spcAft>
                <a:spcPts val="0"/>
              </a:spcAft>
            </a:pPr>
            <a:r>
              <a:rPr sz="645" i="0">
                <a:solidFill>
                  <a:srgbClr val="5C6773"/>
                </a:solidFill>
                <a:latin typeface="Inconsolata"/>
              </a:rPr>
              <a:t>47  </a:t>
            </a:r>
            <a:r>
              <a:rPr sz="645" i="0">
                <a:solidFill>
                  <a:srgbClr val="E6EDF3"/>
                </a:solidFill>
                <a:latin typeface="Inconsolata"/>
              </a:rPr>
              <a:t>            results[name] = </a:t>
            </a:r>
            <a:r>
              <a:rPr sz="645" i="0">
                <a:solidFill>
                  <a:srgbClr val="A5D6A7"/>
                </a:solidFill>
                <a:latin typeface="Inconsolata"/>
              </a:rPr>
              <a:t>"ok"</a:t>
            </a:r>
          </a:p>
          <a:p>
            <a:pPr>
              <a:lnSpc>
                <a:spcPct val="103226"/>
              </a:lnSpc>
              <a:spcAft>
                <a:spcPts val="0"/>
              </a:spcAft>
            </a:pPr>
            <a:r>
              <a:rPr sz="645" i="0">
                <a:solidFill>
                  <a:srgbClr val="5C6773"/>
                </a:solidFill>
                <a:latin typeface="Inconsolata"/>
              </a:rPr>
              <a:t>48  </a:t>
            </a:r>
            <a:r>
              <a:rPr sz="645" i="0">
                <a:solidFill>
                  <a:srgbClr val="E6EDF3"/>
                </a:solidFill>
                <a:latin typeface="Inconsolata"/>
              </a:rPr>
              <a:t>        </a:t>
            </a:r>
            <a:r>
              <a:rPr sz="645" i="0">
                <a:solidFill>
                  <a:srgbClr val="FF8E6E"/>
                </a:solidFill>
                <a:latin typeface="Inconsolata"/>
              </a:rPr>
              <a:t>except</a:t>
            </a:r>
            <a:r>
              <a:rPr sz="645" i="0">
                <a:solidFill>
                  <a:srgbClr val="E6EDF3"/>
                </a:solidFill>
                <a:latin typeface="Inconsolata"/>
              </a:rPr>
              <a:t> </a:t>
            </a:r>
            <a:r>
              <a:rPr sz="645" i="0">
                <a:solidFill>
                  <a:srgbClr val="7FDBCA"/>
                </a:solidFill>
                <a:latin typeface="Inconsolata"/>
              </a:rPr>
              <a:t>Exception</a:t>
            </a:r>
            <a:r>
              <a:rPr sz="645" i="0">
                <a:solidFill>
                  <a:srgbClr val="E6EDF3"/>
                </a:solidFill>
                <a:latin typeface="Inconsolata"/>
              </a:rPr>
              <a:t> </a:t>
            </a:r>
            <a:r>
              <a:rPr sz="645" i="0">
                <a:solidFill>
                  <a:srgbClr val="FF8E6E"/>
                </a:solidFill>
                <a:latin typeface="Inconsolata"/>
              </a:rPr>
              <a:t>as</a:t>
            </a:r>
            <a:r>
              <a:rPr sz="645" i="0">
                <a:solidFill>
                  <a:srgbClr val="E6EDF3"/>
                </a:solidFill>
                <a:latin typeface="Inconsolata"/>
              </a:rPr>
              <a:t> exc:</a:t>
            </a:r>
          </a:p>
          <a:p>
            <a:pPr>
              <a:lnSpc>
                <a:spcPct val="103226"/>
              </a:lnSpc>
              <a:spcAft>
                <a:spcPts val="0"/>
              </a:spcAft>
            </a:pPr>
            <a:r>
              <a:rPr sz="645" i="0">
                <a:solidFill>
                  <a:srgbClr val="5C6773"/>
                </a:solidFill>
                <a:latin typeface="Inconsolata"/>
              </a:rPr>
              <a:t>49  </a:t>
            </a:r>
            <a:r>
              <a:rPr sz="645" i="0">
                <a:solidFill>
                  <a:srgbClr val="E6EDF3"/>
                </a:solidFill>
                <a:latin typeface="Inconsolata"/>
              </a:rPr>
              <a:t>            results[name] = </a:t>
            </a:r>
            <a:r>
              <a:rPr sz="645" i="0">
                <a:solidFill>
                  <a:srgbClr val="A5D6A7"/>
                </a:solidFill>
                <a:latin typeface="Inconsolata"/>
              </a:rPr>
              <a:t>f"down: {type(exc).__name__}"</a:t>
            </a:r>
          </a:p>
          <a:p>
            <a:pPr>
              <a:lnSpc>
                <a:spcPct val="103226"/>
              </a:lnSpc>
              <a:spcAft>
                <a:spcPts val="0"/>
              </a:spcAft>
            </a:pPr>
            <a:r>
              <a:rPr sz="645" i="0">
                <a:solidFill>
                  <a:srgbClr val="5C6773"/>
                </a:solidFill>
                <a:latin typeface="Inconsolata"/>
              </a:rPr>
              <a:t>50  </a:t>
            </a:r>
            <a:r>
              <a:rPr sz="645" i="0">
                <a:solidFill>
                  <a:srgbClr val="E6EDF3"/>
                </a:solidFill>
                <a:latin typeface="Inconsolata"/>
              </a:rPr>
              <a:t>    healthy = all(r == </a:t>
            </a:r>
            <a:r>
              <a:rPr sz="645" i="0">
                <a:solidFill>
                  <a:srgbClr val="A5D6A7"/>
                </a:solidFill>
                <a:latin typeface="Inconsolata"/>
              </a:rPr>
              <a:t>"ok"</a:t>
            </a:r>
            <a:r>
              <a:rPr sz="645" i="0">
                <a:solidFill>
                  <a:srgbClr val="E6EDF3"/>
                </a:solidFill>
                <a:latin typeface="Inconsolata"/>
              </a:rPr>
              <a:t> </a:t>
            </a:r>
            <a:r>
              <a:rPr sz="645" i="0">
                <a:solidFill>
                  <a:srgbClr val="FF8E6E"/>
                </a:solidFill>
                <a:latin typeface="Inconsolata"/>
              </a:rPr>
              <a:t>for</a:t>
            </a:r>
            <a:r>
              <a:rPr sz="645" i="0">
                <a:solidFill>
                  <a:srgbClr val="E6EDF3"/>
                </a:solidFill>
                <a:latin typeface="Inconsolata"/>
              </a:rPr>
              <a:t> r </a:t>
            </a:r>
            <a:r>
              <a:rPr sz="645" i="0">
                <a:solidFill>
                  <a:srgbClr val="FF8E6E"/>
                </a:solidFill>
                <a:latin typeface="Inconsolata"/>
              </a:rPr>
              <a:t>in</a:t>
            </a:r>
            <a:r>
              <a:rPr sz="645" i="0">
                <a:solidFill>
                  <a:srgbClr val="E6EDF3"/>
                </a:solidFill>
                <a:latin typeface="Inconsolata"/>
              </a:rPr>
              <a:t> results.values())</a:t>
            </a:r>
          </a:p>
          <a:p>
            <a:pPr>
              <a:lnSpc>
                <a:spcPct val="103226"/>
              </a:lnSpc>
              <a:spcAft>
                <a:spcPts val="0"/>
              </a:spcAft>
            </a:pPr>
            <a:r>
              <a:rPr sz="645" i="0">
                <a:solidFill>
                  <a:srgbClr val="5C6773"/>
                </a:solidFill>
                <a:latin typeface="Inconsolata"/>
              </a:rPr>
              <a:t>51  </a:t>
            </a:r>
            <a:r>
              <a:rPr sz="645" i="0">
                <a:solidFill>
                  <a:srgbClr val="E6EDF3"/>
                </a:solidFill>
                <a:latin typeface="Inconsolata"/>
              </a:rPr>
              <a:t>    </a:t>
            </a:r>
            <a:r>
              <a:rPr sz="645" i="0">
                <a:solidFill>
                  <a:srgbClr val="FF8E6E"/>
                </a:solidFill>
                <a:latin typeface="Inconsolata"/>
              </a:rPr>
              <a:t>return</a:t>
            </a:r>
            <a:r>
              <a:rPr sz="645" i="0">
                <a:solidFill>
                  <a:srgbClr val="E6EDF3"/>
                </a:solidFill>
                <a:latin typeface="Inconsolata"/>
              </a:rPr>
              <a:t> </a:t>
            </a:r>
            <a:r>
              <a:rPr sz="645" i="0">
                <a:solidFill>
                  <a:srgbClr val="7FDBCA"/>
                </a:solidFill>
                <a:latin typeface="Inconsolata"/>
              </a:rPr>
              <a:t>JSONResponse</a:t>
            </a:r>
            <a:r>
              <a:rPr sz="645" i="0">
                <a:solidFill>
                  <a:srgbClr val="E6EDF3"/>
                </a:solidFill>
                <a:latin typeface="Inconsolata"/>
              </a:rPr>
              <a:t>(</a:t>
            </a:r>
          </a:p>
          <a:p>
            <a:pPr>
              <a:lnSpc>
                <a:spcPct val="103226"/>
              </a:lnSpc>
              <a:spcAft>
                <a:spcPts val="0"/>
              </a:spcAft>
            </a:pPr>
            <a:r>
              <a:rPr sz="645" i="0">
                <a:solidFill>
                  <a:srgbClr val="5C6773"/>
                </a:solidFill>
                <a:latin typeface="Inconsolata"/>
              </a:rPr>
              <a:t>52  </a:t>
            </a:r>
            <a:r>
              <a:rPr sz="645" i="0">
                <a:solidFill>
                  <a:srgbClr val="E6EDF3"/>
                </a:solidFill>
                <a:latin typeface="Inconsolata"/>
              </a:rPr>
              <a:t>        status_code=</a:t>
            </a:r>
            <a:r>
              <a:rPr sz="645" i="0">
                <a:solidFill>
                  <a:srgbClr val="F9C97A"/>
                </a:solidFill>
                <a:latin typeface="Inconsolata"/>
              </a:rPr>
              <a:t>200</a:t>
            </a:r>
            <a:r>
              <a:rPr sz="645" i="0">
                <a:solidFill>
                  <a:srgbClr val="E6EDF3"/>
                </a:solidFill>
                <a:latin typeface="Inconsolata"/>
              </a:rPr>
              <a:t> </a:t>
            </a:r>
            <a:r>
              <a:rPr sz="645" i="0">
                <a:solidFill>
                  <a:srgbClr val="FF8E6E"/>
                </a:solidFill>
                <a:latin typeface="Inconsolata"/>
              </a:rPr>
              <a:t>if</a:t>
            </a:r>
            <a:r>
              <a:rPr sz="645" i="0">
                <a:solidFill>
                  <a:srgbClr val="E6EDF3"/>
                </a:solidFill>
                <a:latin typeface="Inconsolata"/>
              </a:rPr>
              <a:t> healthy </a:t>
            </a:r>
            <a:r>
              <a:rPr sz="645" i="0">
                <a:solidFill>
                  <a:srgbClr val="FF8E6E"/>
                </a:solidFill>
                <a:latin typeface="Inconsolata"/>
              </a:rPr>
              <a:t>else</a:t>
            </a:r>
            <a:r>
              <a:rPr sz="645" i="0">
                <a:solidFill>
                  <a:srgbClr val="E6EDF3"/>
                </a:solidFill>
                <a:latin typeface="Inconsolata"/>
              </a:rPr>
              <a:t> </a:t>
            </a:r>
            <a:r>
              <a:rPr sz="645" i="0">
                <a:solidFill>
                  <a:srgbClr val="F9C97A"/>
                </a:solidFill>
                <a:latin typeface="Inconsolata"/>
              </a:rPr>
              <a:t>503</a:t>
            </a:r>
            <a:r>
              <a:rPr sz="645" i="0">
                <a:solidFill>
                  <a:srgbClr val="E6EDF3"/>
                </a:solidFill>
                <a:latin typeface="Inconsolata"/>
              </a:rPr>
              <a:t>,</a:t>
            </a:r>
          </a:p>
          <a:p>
            <a:pPr>
              <a:lnSpc>
                <a:spcPct val="103226"/>
              </a:lnSpc>
              <a:spcAft>
                <a:spcPts val="0"/>
              </a:spcAft>
            </a:pPr>
            <a:r>
              <a:rPr sz="645" i="0">
                <a:solidFill>
                  <a:srgbClr val="5C6773"/>
                </a:solidFill>
                <a:latin typeface="Inconsolata"/>
              </a:rPr>
              <a:t>53  </a:t>
            </a:r>
            <a:r>
              <a:rPr sz="645" i="0">
                <a:solidFill>
                  <a:srgbClr val="E6EDF3"/>
                </a:solidFill>
                <a:latin typeface="Inconsolata"/>
              </a:rPr>
              <a:t>        content={</a:t>
            </a:r>
            <a:r>
              <a:rPr sz="645" i="0">
                <a:solidFill>
                  <a:srgbClr val="A5D6A7"/>
                </a:solidFill>
                <a:latin typeface="Inconsolata"/>
              </a:rPr>
              <a:t>"status"</a:t>
            </a:r>
            <a:r>
              <a:rPr sz="645" i="0">
                <a:solidFill>
                  <a:srgbClr val="E6EDF3"/>
                </a:solidFill>
                <a:latin typeface="Inconsolata"/>
              </a:rPr>
              <a:t>: </a:t>
            </a:r>
            <a:r>
              <a:rPr sz="645" i="0">
                <a:solidFill>
                  <a:srgbClr val="A5D6A7"/>
                </a:solidFill>
                <a:latin typeface="Inconsolata"/>
              </a:rPr>
              <a:t>"ready"</a:t>
            </a:r>
            <a:r>
              <a:rPr sz="645" i="0">
                <a:solidFill>
                  <a:srgbClr val="E6EDF3"/>
                </a:solidFill>
                <a:latin typeface="Inconsolata"/>
              </a:rPr>
              <a:t> </a:t>
            </a:r>
            <a:r>
              <a:rPr sz="645" i="0">
                <a:solidFill>
                  <a:srgbClr val="FF8E6E"/>
                </a:solidFill>
                <a:latin typeface="Inconsolata"/>
              </a:rPr>
              <a:t>if</a:t>
            </a:r>
            <a:r>
              <a:rPr sz="645" i="0">
                <a:solidFill>
                  <a:srgbClr val="E6EDF3"/>
                </a:solidFill>
                <a:latin typeface="Inconsolata"/>
              </a:rPr>
              <a:t> healthy </a:t>
            </a:r>
            <a:r>
              <a:rPr sz="645" i="0">
                <a:solidFill>
                  <a:srgbClr val="FF8E6E"/>
                </a:solidFill>
                <a:latin typeface="Inconsolata"/>
              </a:rPr>
              <a:t>else</a:t>
            </a:r>
            <a:r>
              <a:rPr sz="645" i="0">
                <a:solidFill>
                  <a:srgbClr val="E6EDF3"/>
                </a:solidFill>
                <a:latin typeface="Inconsolata"/>
              </a:rPr>
              <a:t> </a:t>
            </a:r>
            <a:r>
              <a:rPr sz="645" i="0">
                <a:solidFill>
                  <a:srgbClr val="A5D6A7"/>
                </a:solidFill>
                <a:latin typeface="Inconsolata"/>
              </a:rPr>
              <a:t>"not_ready"</a:t>
            </a:r>
            <a:r>
              <a:rPr sz="645" i="0">
                <a:solidFill>
                  <a:srgbClr val="E6EDF3"/>
                </a:solidFill>
                <a:latin typeface="Inconsolata"/>
              </a:rPr>
              <a:t>,</a:t>
            </a:r>
          </a:p>
          <a:p>
            <a:pPr>
              <a:lnSpc>
                <a:spcPct val="103226"/>
              </a:lnSpc>
              <a:spcAft>
                <a:spcPts val="0"/>
              </a:spcAft>
            </a:pPr>
            <a:r>
              <a:rPr sz="645" i="0">
                <a:solidFill>
                  <a:srgbClr val="5C6773"/>
                </a:solidFill>
                <a:latin typeface="Inconsolata"/>
              </a:rPr>
              <a:t>54  </a:t>
            </a:r>
            <a:r>
              <a:rPr sz="645" i="0">
                <a:solidFill>
                  <a:srgbClr val="E6EDF3"/>
                </a:solidFill>
                <a:latin typeface="Inconsolata"/>
              </a:rPr>
              <a:t>                 </a:t>
            </a:r>
            <a:r>
              <a:rPr sz="645" i="0">
                <a:solidFill>
                  <a:srgbClr val="A5D6A7"/>
                </a:solidFill>
                <a:latin typeface="Inconsolata"/>
              </a:rPr>
              <a:t>"checks"</a:t>
            </a:r>
            <a:r>
              <a:rPr sz="645" i="0">
                <a:solidFill>
                  <a:srgbClr val="E6EDF3"/>
                </a:solidFill>
                <a:latin typeface="Inconsolata"/>
              </a:rPr>
              <a:t>: results})</a:t>
            </a:r>
          </a:p>
          <a:p>
            <a:pPr>
              <a:lnSpc>
                <a:spcPct val="103226"/>
              </a:lnSpc>
              <a:spcAft>
                <a:spcPts val="0"/>
              </a:spcAft>
            </a:pPr>
            <a:r>
              <a:rPr sz="645" i="0">
                <a:solidFill>
                  <a:srgbClr val="5C6773"/>
                </a:solidFill>
                <a:latin typeface="Inconsolata"/>
              </a:rPr>
              <a:t>55  </a:t>
            </a:r>
            <a:r>
              <a:rPr sz="645" i="0">
                <a:solidFill>
                  <a:srgbClr val="E6EDF3"/>
                </a:solidFill>
                <a:latin typeface="Inconsolata"/>
              </a:rPr>
              <a:t> </a:t>
            </a:r>
          </a:p>
          <a:p>
            <a:pPr>
              <a:lnSpc>
                <a:spcPct val="103226"/>
              </a:lnSpc>
              <a:spcAft>
                <a:spcPts val="0"/>
              </a:spcAft>
            </a:pPr>
            <a:r>
              <a:rPr sz="645" i="0">
                <a:solidFill>
                  <a:srgbClr val="5C6773"/>
                </a:solidFill>
                <a:latin typeface="Inconsolata"/>
              </a:rPr>
              <a:t>56  </a:t>
            </a:r>
            <a:r>
              <a:rPr sz="645" i="0">
                <a:solidFill>
                  <a:srgbClr val="E6EDF3"/>
                </a:solidFill>
                <a:latin typeface="Inconsolata"/>
              </a:rPr>
              <a:t> </a:t>
            </a:r>
          </a:p>
          <a:p>
            <a:pPr>
              <a:lnSpc>
                <a:spcPct val="103226"/>
              </a:lnSpc>
              <a:spcAft>
                <a:spcPts val="0"/>
              </a:spcAft>
            </a:pPr>
            <a:r>
              <a:rPr sz="645" i="0">
                <a:solidFill>
                  <a:srgbClr val="5C6773"/>
                </a:solidFill>
                <a:latin typeface="Inconsolata"/>
              </a:rPr>
              <a:t>57  </a:t>
            </a:r>
            <a:r>
              <a:rPr sz="645" i="0">
                <a:solidFill>
                  <a:srgbClr val="FF8E6E"/>
                </a:solidFill>
                <a:latin typeface="Inconsolata"/>
              </a:rPr>
              <a:t>if</a:t>
            </a:r>
            <a:r>
              <a:rPr sz="645" i="0">
                <a:solidFill>
                  <a:srgbClr val="E6EDF3"/>
                </a:solidFill>
                <a:latin typeface="Inconsolata"/>
              </a:rPr>
              <a:t> __name__ == </a:t>
            </a:r>
            <a:r>
              <a:rPr sz="645" i="0">
                <a:solidFill>
                  <a:srgbClr val="A5D6A7"/>
                </a:solidFill>
                <a:latin typeface="Inconsolata"/>
              </a:rPr>
              <a:t>"__main__"</a:t>
            </a:r>
            <a:r>
              <a:rPr sz="645" i="0">
                <a:solidFill>
                  <a:srgbClr val="E6EDF3"/>
                </a:solidFill>
                <a:latin typeface="Inconsolata"/>
              </a:rPr>
              <a:t>:</a:t>
            </a:r>
          </a:p>
          <a:p>
            <a:pPr>
              <a:lnSpc>
                <a:spcPct val="103226"/>
              </a:lnSpc>
              <a:spcAft>
                <a:spcPts val="0"/>
              </a:spcAft>
            </a:pPr>
            <a:r>
              <a:rPr sz="645" i="0">
                <a:solidFill>
                  <a:srgbClr val="5C6773"/>
                </a:solidFill>
                <a:latin typeface="Inconsolata"/>
              </a:rPr>
              <a:t>58  </a:t>
            </a:r>
            <a:r>
              <a:rPr sz="645" i="0">
                <a:solidFill>
                  <a:srgbClr val="E6EDF3"/>
                </a:solidFill>
                <a:latin typeface="Inconsolata"/>
              </a:rPr>
              <a:t>    client = </a:t>
            </a:r>
            <a:r>
              <a:rPr sz="645" i="0">
                <a:solidFill>
                  <a:srgbClr val="7FDBCA"/>
                </a:solidFill>
                <a:latin typeface="Inconsolata"/>
              </a:rPr>
              <a:t>TestClient</a:t>
            </a:r>
            <a:r>
              <a:rPr sz="645" i="0">
                <a:solidFill>
                  <a:srgbClr val="E6EDF3"/>
                </a:solidFill>
                <a:latin typeface="Inconsolata"/>
              </a:rPr>
              <a:t>(app, raise_server_exceptions=</a:t>
            </a:r>
            <a:r>
              <a:rPr sz="645" i="0">
                <a:solidFill>
                  <a:srgbClr val="FF8E6E"/>
                </a:solidFill>
                <a:latin typeface="Inconsolata"/>
              </a:rPr>
              <a:t>False</a:t>
            </a:r>
            <a:r>
              <a:rPr sz="645" i="0">
                <a:solidFill>
                  <a:srgbClr val="E6EDF3"/>
                </a:solidFill>
                <a:latin typeface="Inconsolata"/>
              </a:rPr>
              <a:t>)</a:t>
            </a:r>
          </a:p>
          <a:p>
            <a:pPr>
              <a:lnSpc>
                <a:spcPct val="103226"/>
              </a:lnSpc>
              <a:spcAft>
                <a:spcPts val="0"/>
              </a:spcAft>
            </a:pPr>
            <a:r>
              <a:rPr sz="645" i="0">
                <a:solidFill>
                  <a:srgbClr val="5C6773"/>
                </a:solidFill>
                <a:latin typeface="Inconsolata"/>
              </a:rPr>
              <a:t>59  </a:t>
            </a:r>
            <a:r>
              <a:rPr sz="645" i="0">
                <a:solidFill>
                  <a:srgbClr val="E6EDF3"/>
                </a:solidFill>
                <a:latin typeface="Inconsolata"/>
              </a:rPr>
              <a:t>    </a:t>
            </a:r>
            <a:r>
              <a:rPr sz="645" i="0">
                <a:solidFill>
                  <a:srgbClr val="FF8E6E"/>
                </a:solidFill>
                <a:latin typeface="Inconsolata"/>
              </a:rPr>
              <a:t>for</a:t>
            </a:r>
            <a:r>
              <a:rPr sz="645" i="0">
                <a:solidFill>
                  <a:srgbClr val="E6EDF3"/>
                </a:solidFill>
                <a:latin typeface="Inconsolata"/>
              </a:rPr>
              <a:t> path </a:t>
            </a:r>
            <a:r>
              <a:rPr sz="645" i="0">
                <a:solidFill>
                  <a:srgbClr val="FF8E6E"/>
                </a:solidFill>
                <a:latin typeface="Inconsolata"/>
              </a:rPr>
              <a:t>in</a:t>
            </a:r>
            <a:r>
              <a:rPr sz="645" i="0">
                <a:solidFill>
                  <a:srgbClr val="E6EDF3"/>
                </a:solidFill>
                <a:latin typeface="Inconsolata"/>
              </a:rPr>
              <a:t> [</a:t>
            </a:r>
            <a:r>
              <a:rPr sz="645" i="0">
                <a:solidFill>
                  <a:srgbClr val="A5D6A7"/>
                </a:solidFill>
                <a:latin typeface="Inconsolata"/>
              </a:rPr>
              <a:t>"/health/live"</a:t>
            </a:r>
            <a:r>
              <a:rPr sz="645" i="0">
                <a:solidFill>
                  <a:srgbClr val="E6EDF3"/>
                </a:solidFill>
                <a:latin typeface="Inconsolata"/>
              </a:rPr>
              <a:t>, </a:t>
            </a:r>
            <a:r>
              <a:rPr sz="645" i="0">
                <a:solidFill>
                  <a:srgbClr val="A5D6A7"/>
                </a:solidFill>
                <a:latin typeface="Inconsolata"/>
              </a:rPr>
              <a:t>"/health/ready"</a:t>
            </a:r>
            <a:r>
              <a:rPr sz="645" i="0">
                <a:solidFill>
                  <a:srgbClr val="E6EDF3"/>
                </a:solidFill>
                <a:latin typeface="Inconsolata"/>
              </a:rPr>
              <a:t>]:</a:t>
            </a:r>
          </a:p>
          <a:p>
            <a:pPr>
              <a:lnSpc>
                <a:spcPct val="103226"/>
              </a:lnSpc>
              <a:spcAft>
                <a:spcPts val="0"/>
              </a:spcAft>
            </a:pPr>
            <a:r>
              <a:rPr sz="645" i="0">
                <a:solidFill>
                  <a:srgbClr val="5C6773"/>
                </a:solidFill>
                <a:latin typeface="Inconsolata"/>
              </a:rPr>
              <a:t>60  </a:t>
            </a:r>
            <a:r>
              <a:rPr sz="645" i="0">
                <a:solidFill>
                  <a:srgbClr val="E6EDF3"/>
                </a:solidFill>
                <a:latin typeface="Inconsolata"/>
              </a:rPr>
              <a:t>        response = client.get(path)</a:t>
            </a:r>
          </a:p>
          <a:p>
            <a:pPr>
              <a:lnSpc>
                <a:spcPct val="103226"/>
              </a:lnSpc>
              <a:spcAft>
                <a:spcPts val="0"/>
              </a:spcAft>
            </a:pPr>
            <a:r>
              <a:rPr sz="645" i="0">
                <a:solidFill>
                  <a:srgbClr val="5C6773"/>
                </a:solidFill>
                <a:latin typeface="Inconsolata"/>
              </a:rPr>
              <a:t>61  </a:t>
            </a:r>
            <a:r>
              <a:rPr sz="645" i="0">
                <a:solidFill>
                  <a:srgbClr val="E6EDF3"/>
                </a:solidFill>
                <a:latin typeface="Inconsolata"/>
              </a:rPr>
              <a:t>        </a:t>
            </a:r>
            <a:r>
              <a:rPr sz="645" i="0">
                <a:solidFill>
                  <a:srgbClr val="C3A6FF"/>
                </a:solidFill>
                <a:latin typeface="Inconsolata"/>
              </a:rPr>
              <a:t>print</a:t>
            </a:r>
            <a:r>
              <a:rPr sz="645" i="0">
                <a:solidFill>
                  <a:srgbClr val="E6EDF3"/>
                </a:solidFill>
                <a:latin typeface="Inconsolata"/>
              </a:rPr>
              <a:t>(</a:t>
            </a:r>
            <a:r>
              <a:rPr sz="645" i="0">
                <a:solidFill>
                  <a:srgbClr val="A5D6A7"/>
                </a:solidFill>
                <a:latin typeface="Inconsolata"/>
              </a:rPr>
              <a:t>f"GET {path:13} -&gt; {response.status_code} "</a:t>
            </a:r>
          </a:p>
          <a:p>
            <a:pPr>
              <a:lnSpc>
                <a:spcPct val="103226"/>
              </a:lnSpc>
              <a:spcAft>
                <a:spcPts val="0"/>
              </a:spcAft>
            </a:pPr>
            <a:r>
              <a:rPr sz="645" i="0">
                <a:solidFill>
                  <a:srgbClr val="5C6773"/>
                </a:solidFill>
                <a:latin typeface="Inconsolata"/>
              </a:rPr>
              <a:t>62  </a:t>
            </a:r>
            <a:r>
              <a:rPr sz="645" i="0">
                <a:solidFill>
                  <a:srgbClr val="E6EDF3"/>
                </a:solidFill>
                <a:latin typeface="Inconsolata"/>
              </a:rPr>
              <a:t>              </a:t>
            </a:r>
            <a:r>
              <a:rPr sz="645" i="0">
                <a:solidFill>
                  <a:srgbClr val="A5D6A7"/>
                </a:solidFill>
                <a:latin typeface="Inconsolata"/>
              </a:rPr>
              <a:t>f"{response.text}"</a:t>
            </a:r>
            <a:r>
              <a:rPr sz="645" i="0">
                <a:solidFill>
                  <a:srgbClr val="E6EDF3"/>
                </a:solidFill>
                <a:latin typeface="Inconsolata"/>
              </a:rPr>
              <a:t>)</a:t>
            </a:r>
          </a:p>
        </p:txBody>
      </p:sp>
      <p:sp>
        <p:nvSpPr>
          <p:cNvPr id="36" name="Box 21"/>
          <p:cNvSpPr/>
          <p:nvPr/>
        </p:nvSpPr>
        <p:spPr>
          <a:xfrm>
            <a:off x="704088" y="3042920"/>
            <a:ext cx="3694176" cy="1009904"/>
          </a:xfrm>
          <a:prstGeom prst="roundRect">
            <a:avLst>
              <a:gd name="adj" fmla="val 452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342900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704088" y="4262119"/>
            <a:ext cx="3694176" cy="95504"/>
          </a:xfrm>
          <a:prstGeom prst="roundRect">
            <a:avLst>
              <a:gd name="adj" fmla="val 47872"/>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279392" y="4190999"/>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40" name="Box 25"/>
          <p:cNvSpPr/>
          <p:nvPr/>
        </p:nvSpPr>
        <p:spPr>
          <a:xfrm>
            <a:off x="4709159" y="1823720"/>
            <a:ext cx="3694176" cy="1213104"/>
          </a:xfrm>
          <a:prstGeom prst="roundRect">
            <a:avLst>
              <a:gd name="adj" fmla="val 3768"/>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8284463" y="231140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Health Check</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05-health-checks/after.py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sesi-09-observability/05-health-checks</a:t>
            </a:r>
          </a:p>
          <a:p>
            <a:pPr>
              <a:lnSpc>
                <a:spcPct val="111111"/>
              </a:lnSpc>
              <a:spcAft>
                <a:spcPts val="0"/>
              </a:spcAft>
            </a:pPr>
            <a:r>
              <a:rPr sz="900" i="0">
                <a:solidFill>
                  <a:srgbClr val="82B1FF"/>
                </a:solidFill>
                <a:latin typeface="Inconsolata"/>
              </a:rPr>
              <a:t>$ python after.py</a:t>
            </a:r>
          </a:p>
        </p:txBody>
      </p:sp>
      <p:pic>
        <p:nvPicPr>
          <p:cNvPr id="29" name="Image 12" descr="s09-05-health-checks-after.png"/>
          <p:cNvPicPr>
            <a:picLocks noChangeAspect="1"/>
          </p:cNvPicPr>
          <p:nvPr/>
        </p:nvPicPr>
        <p:blipFill>
          <a:blip r:embed="rId2"/>
          <a:stretch>
            <a:fillRect/>
          </a:stretch>
        </p:blipFill>
        <p:spPr>
          <a:xfrm>
            <a:off x="621792" y="2322576"/>
            <a:ext cx="4297680" cy="940118"/>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Satu function cek untuk setiap dependency (baris 24-33)</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Liveness tidak mengecek dependency (baris 36)</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Readiness menjalankan semua cek, 503 jika ada yang gagal (baris 41-52)</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B5482A"/>
                </a:solidFill>
                <a:latin typeface="Inconsolata"/>
              </a:rPr>
              <a:t>/health/live</a:t>
            </a:r>
            <a:r>
              <a:rPr sz="950" b="0" i="0">
                <a:solidFill>
                  <a:srgbClr val="434343"/>
                </a:solidFill>
                <a:latin typeface="Inter"/>
              </a:rPr>
              <a:t> 200, </a:t>
            </a:r>
            <a:r>
              <a:rPr sz="950" b="0" i="0">
                <a:solidFill>
                  <a:srgbClr val="B5482A"/>
                </a:solidFill>
                <a:latin typeface="Inconsolata"/>
              </a:rPr>
              <a:t>/health/ready</a:t>
            </a:r>
            <a:r>
              <a:rPr sz="950" b="0" i="0">
                <a:solidFill>
                  <a:srgbClr val="434343"/>
                </a:solidFill>
                <a:latin typeface="Inter"/>
              </a:rPr>
              <a:t> 503 dengan keterangan Redis down.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SLI &amp; Alerting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SLI dan SLO?</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SLI adalah</a:t>
            </a:r>
          </a:p>
          <a:p>
            <a:pPr algn="l">
              <a:lnSpc>
                <a:spcPct val="115000"/>
              </a:lnSpc>
              <a:spcAft>
                <a:spcPts val="400"/>
              </a:spcAft>
            </a:pPr>
            <a:r>
              <a:rPr sz="900" b="1" i="0">
                <a:solidFill>
                  <a:srgbClr val="434343"/>
                </a:solidFill>
                <a:latin typeface="Inter"/>
              </a:rPr>
              <a:t>Service Level Indicator</a:t>
            </a:r>
            <a:r>
              <a:rPr sz="900" b="0" i="0">
                <a:solidFill>
                  <a:srgbClr val="434343"/>
                </a:solidFill>
                <a:latin typeface="Inter"/>
              </a:rPr>
              <a:t>, angka yang mengukur pengalaman user, dihitung dari metrics. Misalnya persentase request yang tidak error, atau yang selesai di bawah 300 ms.</a:t>
            </a:r>
          </a:p>
          <a:p>
            <a:pPr algn="l">
              <a:lnSpc>
                <a:spcPct val="115000"/>
              </a:lnSpc>
              <a:spcAft>
                <a:spcPts val="400"/>
              </a:spcAft>
            </a:pPr>
            <a:r>
              <a:rPr sz="1000" b="1" i="0">
                <a:solidFill>
                  <a:srgbClr val="1C4587"/>
                </a:solidFill>
                <a:latin typeface="Inter"/>
              </a:rPr>
              <a:t>SLO adalah</a:t>
            </a:r>
          </a:p>
          <a:p>
            <a:pPr algn="l">
              <a:lnSpc>
                <a:spcPct val="115000"/>
              </a:lnSpc>
              <a:spcAft>
                <a:spcPts val="400"/>
              </a:spcAft>
            </a:pPr>
            <a:r>
              <a:rPr sz="900" b="1" i="0">
                <a:solidFill>
                  <a:srgbClr val="434343"/>
                </a:solidFill>
                <a:latin typeface="Inter"/>
              </a:rPr>
              <a:t>Service Level Objective</a:t>
            </a:r>
            <a:r>
              <a:rPr sz="900" b="0" i="0">
                <a:solidFill>
                  <a:srgbClr val="434343"/>
                </a:solidFill>
                <a:latin typeface="Inter"/>
              </a:rPr>
              <a:t>, target untuk SLI, misalnya availability minimal 99.5%. Alert dikirim saat SLI berada di bawah SLO.</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Membuat alert hanya untuk masalah yang dirasakan user</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Menyepakati target kualitas antara tim developer dan bisnis</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alert per error: 06-sli-alerting/before.py</a:t>
            </a:r>
          </a:p>
        </p:txBody>
      </p:sp>
      <p:sp>
        <p:nvSpPr>
          <p:cNvPr id="28" name="CodeBg 11"/>
          <p:cNvSpPr/>
          <p:nvPr/>
        </p:nvSpPr>
        <p:spPr>
          <a:xfrm>
            <a:off x="4297680" y="1719072"/>
            <a:ext cx="4187951" cy="868680"/>
          </a:xfrm>
          <a:prstGeom prst="roundRect">
            <a:avLst>
              <a:gd name="adj" fmla="val 210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868680"/>
          </a:xfrm>
          <a:prstGeom prst="rect">
            <a:avLst/>
          </a:prstGeom>
          <a:noFill/>
        </p:spPr>
        <p:txBody>
          <a:bodyPr wrap="none" lIns="146304" tIns="91440" rIns="146304" bIns="54864">
            <a:spAutoFit/>
          </a:bodyPr>
          <a:lstStyle/>
          <a:p>
            <a:pPr>
              <a:lnSpc>
                <a:spcPct val="107843"/>
              </a:lnSpc>
              <a:spcAft>
                <a:spcPts val="0"/>
              </a:spcAft>
            </a:pPr>
            <a:r>
              <a:rPr sz="850" i="0">
                <a:solidFill>
                  <a:srgbClr val="E6EDF3"/>
                </a:solidFill>
                <a:latin typeface="Inconsolata"/>
              </a:rPr>
              <a:t>        errors = </a:t>
            </a:r>
            <a:r>
              <a:rPr sz="850" i="0">
                <a:solidFill>
                  <a:srgbClr val="C3A6FF"/>
                </a:solidFill>
                <a:latin typeface="Inconsolata"/>
              </a:rPr>
              <a:t>sum</a:t>
            </a:r>
            <a:r>
              <a:rPr sz="850" i="0">
                <a:solidFill>
                  <a:srgbClr val="E6EDF3"/>
                </a:solidFill>
                <a:latin typeface="Inconsolata"/>
              </a:rPr>
              <a:t>(r[</a:t>
            </a:r>
            <a:r>
              <a:rPr sz="850" i="0">
                <a:solidFill>
                  <a:srgbClr val="A5D6A7"/>
                </a:solidFill>
                <a:latin typeface="Inconsolata"/>
              </a:rPr>
              <a:t>"status"</a:t>
            </a:r>
            <a:r>
              <a:rPr sz="850" i="0">
                <a:solidFill>
                  <a:srgbClr val="E6EDF3"/>
                </a:solidFill>
                <a:latin typeface="Inconsolata"/>
              </a:rPr>
              <a:t>] &gt;= </a:t>
            </a:r>
            <a:r>
              <a:rPr sz="850" i="0">
                <a:solidFill>
                  <a:srgbClr val="F9C97A"/>
                </a:solidFill>
                <a:latin typeface="Inconsolata"/>
              </a:rPr>
              <a:t>500</a:t>
            </a:r>
            <a:r>
              <a:rPr sz="850" i="0">
                <a:solidFill>
                  <a:srgbClr val="E6EDF3"/>
                </a:solidFill>
                <a:latin typeface="Inconsolata"/>
              </a:rPr>
              <a:t> </a:t>
            </a:r>
            <a:r>
              <a:rPr sz="850" i="0">
                <a:solidFill>
                  <a:srgbClr val="FF8E6E"/>
                </a:solidFill>
                <a:latin typeface="Inconsolata"/>
              </a:rPr>
              <a:t>for</a:t>
            </a:r>
            <a:r>
              <a:rPr sz="850" i="0">
                <a:solidFill>
                  <a:srgbClr val="E6EDF3"/>
                </a:solidFill>
                <a:latin typeface="Inconsolata"/>
              </a:rPr>
              <a:t> r </a:t>
            </a:r>
            <a:r>
              <a:rPr sz="850" i="0">
                <a:solidFill>
                  <a:srgbClr val="FF8E6E"/>
                </a:solidFill>
                <a:latin typeface="Inconsolata"/>
              </a:rPr>
              <a:t>in</a:t>
            </a:r>
            <a:r>
              <a:rPr sz="850" i="0">
                <a:solidFill>
                  <a:srgbClr val="E6EDF3"/>
                </a:solidFill>
                <a:latin typeface="Inconsolata"/>
              </a:rPr>
              <a:t> requests)</a:t>
            </a:r>
          </a:p>
          <a:p>
            <a:pPr>
              <a:lnSpc>
                <a:spcPct val="107843"/>
              </a:lnSpc>
              <a:spcAft>
                <a:spcPts val="0"/>
              </a:spcAft>
            </a:pPr>
            <a:r>
              <a:rPr sz="850" i="0">
                <a:solidFill>
                  <a:srgbClr val="E6EDF3"/>
                </a:solidFill>
                <a:latin typeface="Inconsolata"/>
              </a:rPr>
              <a:t>        alerts += errors                       </a:t>
            </a:r>
            <a:r>
              <a:rPr sz="850" i="1">
                <a:solidFill>
                  <a:srgbClr val="8B98A8"/>
                </a:solidFill>
                <a:latin typeface="Inconsolata"/>
              </a:rPr>
              <a:t># 1 error = 1 alert</a:t>
            </a:r>
          </a:p>
        </p:txBody>
      </p:sp>
      <p:sp>
        <p:nvSpPr>
          <p:cNvPr id="30" name="Box 13"/>
          <p:cNvSpPr/>
          <p:nvPr/>
        </p:nvSpPr>
        <p:spPr>
          <a:xfrm>
            <a:off x="4379976" y="1968373"/>
            <a:ext cx="4023359" cy="131318"/>
          </a:xfrm>
          <a:prstGeom prst="roundRect">
            <a:avLst>
              <a:gd name="adj" fmla="val 3481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2679192"/>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2756916"/>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2756916"/>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2756916"/>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2688336"/>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alert dari SLO: 06-sli-alerting/after.py</a:t>
            </a:r>
          </a:p>
        </p:txBody>
      </p:sp>
      <p:sp>
        <p:nvSpPr>
          <p:cNvPr id="36" name="CodeBg 21"/>
          <p:cNvSpPr/>
          <p:nvPr/>
        </p:nvSpPr>
        <p:spPr>
          <a:xfrm>
            <a:off x="4297680" y="2916936"/>
            <a:ext cx="4187951" cy="1783079"/>
          </a:xfrm>
          <a:prstGeom prst="roundRect">
            <a:avLst>
              <a:gd name="adj" fmla="val 102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2916936"/>
            <a:ext cx="4187951" cy="1783079"/>
          </a:xfrm>
          <a:prstGeom prst="rect">
            <a:avLst/>
          </a:prstGeom>
          <a:noFill/>
        </p:spPr>
        <p:txBody>
          <a:bodyPr wrap="none" lIns="146304" tIns="91440" rIns="146304" bIns="54864">
            <a:spAutoFit/>
          </a:bodyPr>
          <a:lstStyle/>
          <a:p>
            <a:pPr>
              <a:lnSpc>
                <a:spcPct val="107843"/>
              </a:lnSpc>
              <a:spcAft>
                <a:spcPts val="0"/>
              </a:spcAft>
            </a:pPr>
            <a:r>
              <a:rPr sz="850" i="0">
                <a:solidFill>
                  <a:srgbClr val="7FDBCA"/>
                </a:solidFill>
                <a:latin typeface="Inconsolata"/>
              </a:rPr>
              <a:t>SLO</a:t>
            </a:r>
            <a:r>
              <a:rPr sz="850" i="0">
                <a:solidFill>
                  <a:srgbClr val="E6EDF3"/>
                </a:solidFill>
                <a:latin typeface="Inconsolata"/>
              </a:rPr>
              <a:t> = {</a:t>
            </a:r>
            <a:r>
              <a:rPr sz="850" i="0">
                <a:solidFill>
                  <a:srgbClr val="A5D6A7"/>
                </a:solidFill>
                <a:latin typeface="Inconsolata"/>
              </a:rPr>
              <a:t>"availability"</a:t>
            </a:r>
            <a:r>
              <a:rPr sz="850" i="0">
                <a:solidFill>
                  <a:srgbClr val="E6EDF3"/>
                </a:solidFill>
                <a:latin typeface="Inconsolata"/>
              </a:rPr>
              <a:t>: </a:t>
            </a:r>
            <a:r>
              <a:rPr sz="850" i="0">
                <a:solidFill>
                  <a:srgbClr val="F9C97A"/>
                </a:solidFill>
                <a:latin typeface="Inconsolata"/>
              </a:rPr>
              <a:t>99</a:t>
            </a:r>
            <a:r>
              <a:rPr sz="850" i="0">
                <a:solidFill>
                  <a:srgbClr val="E6EDF3"/>
                </a:solidFill>
                <a:latin typeface="Inconsolata"/>
              </a:rPr>
              <a:t>.</a:t>
            </a:r>
            <a:r>
              <a:rPr sz="850" i="0">
                <a:solidFill>
                  <a:srgbClr val="F9C97A"/>
                </a:solidFill>
                <a:latin typeface="Inconsolata"/>
              </a:rPr>
              <a:t>5</a:t>
            </a:r>
            <a:r>
              <a:rPr sz="850" i="0">
                <a:solidFill>
                  <a:srgbClr val="E6EDF3"/>
                </a:solidFill>
                <a:latin typeface="Inconsolata"/>
              </a:rPr>
              <a:t>, </a:t>
            </a:r>
            <a:r>
              <a:rPr sz="850" i="0">
                <a:solidFill>
                  <a:srgbClr val="A5D6A7"/>
                </a:solidFill>
                <a:latin typeface="Inconsolata"/>
              </a:rPr>
              <a:t>"latency"</a:t>
            </a:r>
            <a:r>
              <a:rPr sz="850" i="0">
                <a:solidFill>
                  <a:srgbClr val="E6EDF3"/>
                </a:solidFill>
                <a:latin typeface="Inconsolata"/>
              </a:rPr>
              <a:t>: </a:t>
            </a:r>
            <a:r>
              <a:rPr sz="850" i="0">
                <a:solidFill>
                  <a:srgbClr val="F9C97A"/>
                </a:solidFill>
                <a:latin typeface="Inconsolata"/>
              </a:rPr>
              <a:t>95</a:t>
            </a:r>
            <a:r>
              <a:rPr sz="850" i="0">
                <a:solidFill>
                  <a:srgbClr val="E6EDF3"/>
                </a:solidFill>
                <a:latin typeface="Inconsolata"/>
              </a:rPr>
              <a:t>.</a:t>
            </a:r>
            <a:r>
              <a:rPr sz="850" i="0">
                <a:solidFill>
                  <a:srgbClr val="F9C97A"/>
                </a:solidFill>
                <a:latin typeface="Inconsolata"/>
              </a:rPr>
              <a:t>0</a:t>
            </a:r>
            <a:r>
              <a:rPr sz="850" i="0">
                <a:solidFill>
                  <a:srgbClr val="E6EDF3"/>
                </a:solidFill>
                <a:latin typeface="Inconsolata"/>
              </a:rPr>
              <a:t>}      </a:t>
            </a:r>
            <a:r>
              <a:rPr sz="850" i="1">
                <a:solidFill>
                  <a:srgbClr val="8B98A8"/>
                </a:solidFill>
                <a:latin typeface="Inconsolata"/>
              </a:rPr>
              <a:t># persen</a:t>
            </a:r>
          </a:p>
          <a:p>
            <a:pPr>
              <a:lnSpc>
                <a:spcPct val="107843"/>
              </a:lnSpc>
              <a:spcAft>
                <a:spcPts val="0"/>
              </a:spcAft>
            </a:pPr>
            <a:r>
              <a:rPr sz="850" i="0">
                <a:solidFill>
                  <a:srgbClr val="E6EDF3"/>
                </a:solidFill>
                <a:latin typeface="Inconsolata"/>
              </a:rPr>
              <a:t>...</a:t>
            </a:r>
          </a:p>
          <a:p>
            <a:pPr>
              <a:lnSpc>
                <a:spcPct val="107843"/>
              </a:lnSpc>
              <a:spcAft>
                <a:spcPts val="0"/>
              </a:spcAft>
            </a:pPr>
            <a:r>
              <a:rPr sz="850" i="0">
                <a:solidFill>
                  <a:srgbClr val="E6EDF3"/>
                </a:solidFill>
                <a:latin typeface="Inconsolata"/>
              </a:rPr>
              <a:t>        broken = [k </a:t>
            </a:r>
            <a:r>
              <a:rPr sz="850" i="0">
                <a:solidFill>
                  <a:srgbClr val="FF8E6E"/>
                </a:solidFill>
                <a:latin typeface="Inconsolata"/>
              </a:rPr>
              <a:t>for</a:t>
            </a:r>
            <a:r>
              <a:rPr sz="850" i="0">
                <a:solidFill>
                  <a:srgbClr val="E6EDF3"/>
                </a:solidFill>
                <a:latin typeface="Inconsolata"/>
              </a:rPr>
              <a:t> k, v </a:t>
            </a:r>
            <a:r>
              <a:rPr sz="850" i="0">
                <a:solidFill>
                  <a:srgbClr val="FF8E6E"/>
                </a:solidFill>
                <a:latin typeface="Inconsolata"/>
              </a:rPr>
              <a:t>in</a:t>
            </a:r>
            <a:r>
              <a:rPr sz="850" i="0">
                <a:solidFill>
                  <a:srgbClr val="E6EDF3"/>
                </a:solidFill>
                <a:latin typeface="Inconsolata"/>
              </a:rPr>
              <a:t> values.items() </a:t>
            </a:r>
            <a:r>
              <a:rPr sz="850" i="0">
                <a:solidFill>
                  <a:srgbClr val="FF8E6E"/>
                </a:solidFill>
                <a:latin typeface="Inconsolata"/>
              </a:rPr>
              <a:t>if</a:t>
            </a:r>
            <a:r>
              <a:rPr sz="850" i="0">
                <a:solidFill>
                  <a:srgbClr val="E6EDF3"/>
                </a:solidFill>
                <a:latin typeface="Inconsolata"/>
              </a:rPr>
              <a:t> v &lt; </a:t>
            </a:r>
            <a:r>
              <a:rPr sz="850" i="0">
                <a:solidFill>
                  <a:srgbClr val="7FDBCA"/>
                </a:solidFill>
                <a:latin typeface="Inconsolata"/>
              </a:rPr>
              <a:t>SLO</a:t>
            </a:r>
            <a:r>
              <a:rPr sz="850" i="0">
                <a:solidFill>
                  <a:srgbClr val="E6EDF3"/>
                </a:solidFill>
                <a:latin typeface="Inconsolata"/>
              </a:rPr>
              <a:t>[k]]</a:t>
            </a:r>
          </a:p>
          <a:p>
            <a:pPr>
              <a:lnSpc>
                <a:spcPct val="107843"/>
              </a:lnSpc>
              <a:spcAft>
                <a:spcPts val="0"/>
              </a:spcAft>
            </a:pPr>
            <a:r>
              <a:rPr sz="850" i="0">
                <a:solidFill>
                  <a:srgbClr val="E6EDF3"/>
                </a:solidFill>
                <a:latin typeface="Inconsolata"/>
              </a:rPr>
              <a:t>        alerts += </a:t>
            </a:r>
            <a:r>
              <a:rPr sz="850" i="0">
                <a:solidFill>
                  <a:srgbClr val="F9C97A"/>
                </a:solidFill>
                <a:latin typeface="Inconsolata"/>
              </a:rPr>
              <a:t>1</a:t>
            </a:r>
            <a:r>
              <a:rPr sz="850" i="0">
                <a:solidFill>
                  <a:srgbClr val="E6EDF3"/>
                </a:solidFill>
                <a:latin typeface="Inconsolata"/>
              </a:rPr>
              <a:t> </a:t>
            </a:r>
            <a:r>
              <a:rPr sz="850" i="0">
                <a:solidFill>
                  <a:srgbClr val="FF8E6E"/>
                </a:solidFill>
                <a:latin typeface="Inconsolata"/>
              </a:rPr>
              <a:t>if</a:t>
            </a:r>
            <a:r>
              <a:rPr sz="850" i="0">
                <a:solidFill>
                  <a:srgbClr val="E6EDF3"/>
                </a:solidFill>
                <a:latin typeface="Inconsolata"/>
              </a:rPr>
              <a:t> broken </a:t>
            </a:r>
            <a:r>
              <a:rPr sz="850" i="0">
                <a:solidFill>
                  <a:srgbClr val="FF8E6E"/>
                </a:solidFill>
                <a:latin typeface="Inconsolata"/>
              </a:rPr>
              <a:t>else</a:t>
            </a:r>
            <a:r>
              <a:rPr sz="850" i="0">
                <a:solidFill>
                  <a:srgbClr val="E6EDF3"/>
                </a:solidFill>
                <a:latin typeface="Inconsolata"/>
              </a:rPr>
              <a:t> </a:t>
            </a:r>
            <a:r>
              <a:rPr sz="850" i="0">
                <a:solidFill>
                  <a:srgbClr val="F9C97A"/>
                </a:solidFill>
                <a:latin typeface="Inconsolata"/>
              </a:rPr>
              <a:t>0</a:t>
            </a:r>
          </a:p>
        </p:txBody>
      </p:sp>
      <p:sp>
        <p:nvSpPr>
          <p:cNvPr id="38" name="Box 23"/>
          <p:cNvSpPr/>
          <p:nvPr/>
        </p:nvSpPr>
        <p:spPr>
          <a:xfrm>
            <a:off x="4379976" y="3026537"/>
            <a:ext cx="4023359" cy="131318"/>
          </a:xfrm>
          <a:prstGeom prst="roundRect">
            <a:avLst>
              <a:gd name="adj" fmla="val 3481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379976" y="3305937"/>
            <a:ext cx="4023359" cy="271018"/>
          </a:xfrm>
          <a:prstGeom prst="roundRect">
            <a:avLst>
              <a:gd name="adj" fmla="val 16869"/>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SLI &amp; Alerting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menggunakan Alert berbasis SLO?</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Tanpa SLO</a:t>
            </a:r>
          </a:p>
          <a:p>
            <a:pPr algn="l">
              <a:lnSpc>
                <a:spcPct val="115000"/>
              </a:lnSpc>
              <a:spcAft>
                <a:spcPts val="400"/>
              </a:spcAft>
            </a:pPr>
            <a:r>
              <a:rPr sz="950" b="0" i="0">
                <a:solidFill>
                  <a:srgbClr val="434343"/>
                </a:solidFill>
                <a:latin typeface="Inter"/>
              </a:rPr>
              <a:t>Alert dikirim setiap ada 1 error. Error sesekali di jam normal pun membuat alert berbunyi.</a:t>
            </a:r>
          </a:p>
          <a:p>
            <a:pPr algn="l">
              <a:lnSpc>
                <a:spcPct val="115000"/>
              </a:lnSpc>
              <a:spcAft>
                <a:spcPts val="400"/>
              </a:spcAft>
            </a:pPr>
            <a:r>
              <a:rPr sz="1050" b="1" i="0">
                <a:solidFill>
                  <a:srgbClr val="1C4587"/>
                </a:solidFill>
                <a:latin typeface="Inter"/>
              </a:rPr>
              <a:t>Jika traffic makin banyak</a:t>
            </a:r>
          </a:p>
          <a:p>
            <a:pPr algn="l">
              <a:lnSpc>
                <a:spcPct val="115000"/>
              </a:lnSpc>
              <a:spcAft>
                <a:spcPts val="400"/>
              </a:spcAft>
            </a:pPr>
            <a:r>
              <a:rPr sz="950" b="0" i="0">
                <a:solidFill>
                  <a:srgbClr val="434343"/>
                </a:solidFill>
                <a:latin typeface="Inter"/>
              </a:rPr>
              <a:t>Jumlah alert ikut naik, padahal sebagian besar tidak dirasakan user.</a:t>
            </a:r>
          </a:p>
          <a:p>
            <a:pPr algn="l">
              <a:lnSpc>
                <a:spcPct val="115000"/>
              </a:lnSpc>
              <a:spcAft>
                <a:spcPts val="400"/>
              </a:spcAft>
            </a:pPr>
            <a:r>
              <a:rPr sz="950" b="0" i="0">
                <a:solidFill>
                  <a:srgbClr val="434343"/>
                </a:solidFill>
                <a:latin typeface="Inter"/>
              </a:rPr>
              <a:t>Hal ini membuat alert penting tenggelam di antara alert yang tidak perlu ditindaklanjuti.</a:t>
            </a:r>
          </a:p>
          <a:p>
            <a:pPr algn="l">
              <a:lnSpc>
                <a:spcPct val="115000"/>
              </a:lnSpc>
              <a:spcAft>
                <a:spcPts val="400"/>
              </a:spcAft>
            </a:pPr>
            <a:r>
              <a:rPr sz="1050" b="1" i="0">
                <a:solidFill>
                  <a:srgbClr val="1C4587"/>
                </a:solidFill>
                <a:latin typeface="Inter"/>
              </a:rPr>
              <a:t>Yang dipakai dari Prometheus: alert rule</a:t>
            </a:r>
          </a:p>
          <a:p>
            <a:pPr algn="l">
              <a:lnSpc>
                <a:spcPct val="115000"/>
              </a:lnSpc>
              <a:spcAft>
                <a:spcPts val="400"/>
              </a:spcAft>
            </a:pPr>
            <a:r>
              <a:rPr sz="950" b="0" i="0">
                <a:solidFill>
                  <a:srgbClr val="434343"/>
                </a:solidFill>
                <a:latin typeface="Inter"/>
              </a:rPr>
              <a:t>Rumus SLI ditulis dengan PromQL. </a:t>
            </a:r>
            <a:r>
              <a:rPr sz="950" b="0" i="0">
                <a:solidFill>
                  <a:srgbClr val="B5482A"/>
                </a:solidFill>
                <a:latin typeface="Inconsolata"/>
              </a:rPr>
              <a:t>for: 5m</a:t>
            </a:r>
            <a:r>
              <a:rPr sz="950" b="0" i="0">
                <a:solidFill>
                  <a:srgbClr val="434343"/>
                </a:solidFill>
                <a:latin typeface="Inter"/>
              </a:rPr>
              <a:t> berarti kondisinya harus bertahan 5 menit dulu.</a:t>
            </a:r>
          </a:p>
        </p:txBody>
      </p:sp>
      <p:graphicFrame>
        <p:nvGraphicFramePr>
          <p:cNvPr id="23" name="Table 4"/>
          <p:cNvGraphicFramePr>
            <a:graphicFrameLocks noGrp="1"/>
          </p:cNvGraphicFramePr>
          <p:nvPr/>
        </p:nvGraphicFramePr>
        <p:xfrm>
          <a:off x="4800600" y="1481328"/>
          <a:ext cx="3685032" cy="1828800"/>
        </p:xfrm>
        <a:graphic>
          <a:graphicData uri="http://schemas.openxmlformats.org/drawingml/2006/table">
            <a:tbl>
              <a:tblPr firstRow="1" bandRow="1"/>
              <a:tblGrid>
                <a:gridCol w="1581912">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457200">
                <a:tc>
                  <a:txBody>
                    <a:bodyPr/>
                    <a:lstStyle/>
                    <a:p>
                      <a:pPr algn="l">
                        <a:lnSpc>
                          <a:spcPct val="100000"/>
                        </a:lnSpc>
                        <a:spcAft>
                          <a:spcPts val="0"/>
                        </a:spcAft>
                      </a:pPr>
                      <a:r>
                        <a:rPr sz="850" b="1" i="0">
                          <a:solidFill>
                            <a:srgbClr val="FFFFFF"/>
                          </a:solidFill>
                          <a:latin typeface="Inter"/>
                        </a:rPr>
                        <a:t>SLI</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SLO Order API</a:t>
                      </a:r>
                    </a:p>
                  </a:txBody>
                  <a:tcPr marL="73152" marR="73152" marT="36576" marB="36576" anchor="ctr">
                    <a:solidFill>
                      <a:srgbClr val="1C4587"/>
                    </a:solidFill>
                  </a:tcPr>
                </a:tc>
                <a:extLst>
                  <a:ext uri="{0D108BD9-81ED-4DB2-BD59-A6C34878D82A}">
                    <a16:rowId xmlns:a16="http://schemas.microsoft.com/office/drawing/2014/main" val="10000"/>
                  </a:ext>
                </a:extLst>
              </a:tr>
              <a:tr h="457200">
                <a:tc>
                  <a:txBody>
                    <a:bodyPr/>
                    <a:lstStyle/>
                    <a:p>
                      <a:pPr algn="l">
                        <a:lnSpc>
                          <a:spcPct val="100000"/>
                        </a:lnSpc>
                        <a:spcAft>
                          <a:spcPts val="0"/>
                        </a:spcAft>
                      </a:pPr>
                      <a:r>
                        <a:rPr sz="850" b="1" i="0">
                          <a:solidFill>
                            <a:srgbClr val="1C4587"/>
                          </a:solidFill>
                          <a:latin typeface="Inter"/>
                        </a:rPr>
                        <a:t>Availability (non-5xx)</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&gt;= 99.5% request</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pPr algn="l">
                        <a:lnSpc>
                          <a:spcPct val="100000"/>
                        </a:lnSpc>
                        <a:spcAft>
                          <a:spcPts val="0"/>
                        </a:spcAft>
                      </a:pPr>
                      <a:r>
                        <a:rPr sz="850" b="1" i="0">
                          <a:solidFill>
                            <a:srgbClr val="1C4587"/>
                          </a:solidFill>
                          <a:latin typeface="Inter"/>
                        </a:rPr>
                        <a:t>Latency</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&gt;= 95% request di bawah 300 ms</a:t>
                      </a:r>
                    </a:p>
                  </a:txBody>
                  <a:tcPr marL="73152" marR="73152" marT="36576" marB="36576" anchor="ctr">
                    <a:solidFill>
                      <a:srgbClr val="F3F4F6"/>
                    </a:solidFill>
                  </a:tcPr>
                </a:tc>
                <a:extLst>
                  <a:ext uri="{0D108BD9-81ED-4DB2-BD59-A6C34878D82A}">
                    <a16:rowId xmlns:a16="http://schemas.microsoft.com/office/drawing/2014/main" val="10002"/>
                  </a:ext>
                </a:extLst>
              </a:tr>
              <a:tr h="457200">
                <a:tc>
                  <a:txBody>
                    <a:bodyPr/>
                    <a:lstStyle/>
                    <a:p>
                      <a:pPr algn="l">
                        <a:lnSpc>
                          <a:spcPct val="100000"/>
                        </a:lnSpc>
                        <a:spcAft>
                          <a:spcPts val="0"/>
                        </a:spcAft>
                      </a:pPr>
                      <a:r>
                        <a:rPr sz="850" b="1" i="0">
                          <a:solidFill>
                            <a:srgbClr val="1C4587"/>
                          </a:solidFill>
                          <a:latin typeface="Inter"/>
                        </a:rPr>
                        <a:t>Window</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5 menit</a:t>
                      </a:r>
                    </a:p>
                  </a:txBody>
                  <a:tcPr marL="73152" marR="73152" marT="36576" marB="36576"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SLI &amp; Alerting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alert untuk setiap error</a:t>
            </a:r>
          </a:p>
        </p:txBody>
      </p:sp>
      <p:sp>
        <p:nvSpPr>
          <p:cNvPr id="22" name="CodeTab 4"/>
          <p:cNvSpPr/>
          <p:nvPr/>
        </p:nvSpPr>
        <p:spPr>
          <a:xfrm>
            <a:off x="621792" y="1481328"/>
            <a:ext cx="4507992"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86791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06-sli-alerting/before.py</a:t>
            </a:r>
          </a:p>
        </p:txBody>
      </p:sp>
      <p:sp>
        <p:nvSpPr>
          <p:cNvPr id="27" name="CodeBg 10"/>
          <p:cNvSpPr/>
          <p:nvPr/>
        </p:nvSpPr>
        <p:spPr>
          <a:xfrm>
            <a:off x="621792" y="1719072"/>
            <a:ext cx="4507992"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507992" cy="2980944"/>
          </a:xfrm>
          <a:prstGeom prst="rect">
            <a:avLst/>
          </a:prstGeom>
          <a:noFill/>
        </p:spPr>
        <p:txBody>
          <a:bodyPr wrap="none" lIns="146304" tIns="91440" rIns="146304" bIns="54864">
            <a:spAutoFit/>
          </a:bodyPr>
          <a:lstStyle/>
          <a:p>
            <a:pPr>
              <a:lnSpc>
                <a:spcPct val="107527"/>
              </a:lnSpc>
              <a:spcAft>
                <a:spcPts val="0"/>
              </a:spcAft>
            </a:pPr>
            <a:r>
              <a:rPr sz="775" i="0">
                <a:solidFill>
                  <a:srgbClr val="5C6773"/>
                </a:solidFill>
                <a:latin typeface="Inconsolata"/>
              </a:rPr>
              <a:t>13  </a:t>
            </a:r>
            <a:r>
              <a:rPr sz="775" i="0">
                <a:solidFill>
                  <a:srgbClr val="FF8E6E"/>
                </a:solidFill>
                <a:latin typeface="Inconsolata"/>
              </a:rPr>
              <a:t>def</a:t>
            </a:r>
            <a:r>
              <a:rPr sz="775" i="0">
                <a:solidFill>
                  <a:srgbClr val="E6EDF3"/>
                </a:solidFill>
                <a:latin typeface="Inconsolata"/>
              </a:rPr>
              <a:t> </a:t>
            </a:r>
            <a:r>
              <a:rPr sz="775" i="0">
                <a:solidFill>
                  <a:srgbClr val="82B1FF"/>
                </a:solidFill>
                <a:latin typeface="Inconsolata"/>
              </a:rPr>
              <a:t>window</a:t>
            </a:r>
            <a:r>
              <a:rPr sz="775" i="0">
                <a:solidFill>
                  <a:srgbClr val="E6EDF3"/>
                </a:solidFill>
                <a:latin typeface="Inconsolata"/>
              </a:rPr>
              <a:t>(errors: </a:t>
            </a:r>
            <a:r>
              <a:rPr sz="775" i="0">
                <a:solidFill>
                  <a:srgbClr val="C3A6FF"/>
                </a:solidFill>
                <a:latin typeface="Inconsolata"/>
              </a:rPr>
              <a:t>int</a:t>
            </a:r>
            <a:r>
              <a:rPr sz="775" i="0">
                <a:solidFill>
                  <a:srgbClr val="E6EDF3"/>
                </a:solidFill>
                <a:latin typeface="Inconsolata"/>
              </a:rPr>
              <a:t>, slow: </a:t>
            </a:r>
            <a:r>
              <a:rPr sz="775" i="0">
                <a:solidFill>
                  <a:srgbClr val="C3A6FF"/>
                </a:solidFill>
                <a:latin typeface="Inconsolata"/>
              </a:rPr>
              <a:t>int</a:t>
            </a:r>
            <a:r>
              <a:rPr sz="775" i="0">
                <a:solidFill>
                  <a:srgbClr val="E6EDF3"/>
                </a:solidFill>
                <a:latin typeface="Inconsolata"/>
              </a:rPr>
              <a:t>, total: </a:t>
            </a:r>
            <a:r>
              <a:rPr sz="775" i="0">
                <a:solidFill>
                  <a:srgbClr val="C3A6FF"/>
                </a:solidFill>
                <a:latin typeface="Inconsolata"/>
              </a:rPr>
              <a:t>int</a:t>
            </a:r>
            <a:r>
              <a:rPr sz="775" i="0">
                <a:solidFill>
                  <a:srgbClr val="E6EDF3"/>
                </a:solidFill>
                <a:latin typeface="Inconsolata"/>
              </a:rPr>
              <a:t> = </a:t>
            </a:r>
            <a:r>
              <a:rPr sz="775" i="0">
                <a:solidFill>
                  <a:srgbClr val="F9C97A"/>
                </a:solidFill>
                <a:latin typeface="Inconsolata"/>
              </a:rPr>
              <a:t>1000</a:t>
            </a:r>
            <a:r>
              <a:rPr sz="775" i="0">
                <a:solidFill>
                  <a:srgbClr val="E6EDF3"/>
                </a:solidFill>
                <a:latin typeface="Inconsolata"/>
              </a:rPr>
              <a:t>) -&gt; </a:t>
            </a:r>
            <a:r>
              <a:rPr sz="775" i="0">
                <a:solidFill>
                  <a:srgbClr val="C3A6FF"/>
                </a:solidFill>
                <a:latin typeface="Inconsolata"/>
              </a:rPr>
              <a:t>list</a:t>
            </a:r>
            <a:r>
              <a:rPr sz="775" i="0">
                <a:solidFill>
                  <a:srgbClr val="E6EDF3"/>
                </a:solidFill>
                <a:latin typeface="Inconsolata"/>
              </a:rPr>
              <a:t>[</a:t>
            </a:r>
            <a:r>
              <a:rPr sz="775" i="0">
                <a:solidFill>
                  <a:srgbClr val="C3A6FF"/>
                </a:solidFill>
                <a:latin typeface="Inconsolata"/>
              </a:rPr>
              <a:t>dict</a:t>
            </a:r>
            <a:r>
              <a:rPr sz="775" i="0">
                <a:solidFill>
                  <a:srgbClr val="E6EDF3"/>
                </a:solidFill>
                <a:latin typeface="Inconsolata"/>
              </a:rPr>
              <a:t>]:</a:t>
            </a:r>
          </a:p>
          <a:p>
            <a:pPr>
              <a:lnSpc>
                <a:spcPct val="107527"/>
              </a:lnSpc>
              <a:spcAft>
                <a:spcPts val="0"/>
              </a:spcAft>
            </a:pPr>
            <a:r>
              <a:rPr sz="775" i="0">
                <a:solidFill>
                  <a:srgbClr val="5C6773"/>
                </a:solidFill>
                <a:latin typeface="Inconsolata"/>
              </a:rPr>
              <a:t>14  </a:t>
            </a:r>
            <a:r>
              <a:rPr sz="775" i="0">
                <a:solidFill>
                  <a:srgbClr val="E6EDF3"/>
                </a:solidFill>
                <a:latin typeface="Inconsolata"/>
              </a:rPr>
              <a:t>    </a:t>
            </a:r>
            <a:r>
              <a:rPr sz="775" i="0">
                <a:solidFill>
                  <a:srgbClr val="A5D6A7"/>
                </a:solidFill>
                <a:latin typeface="Inconsolata"/>
              </a:rPr>
              <a:t>"""Request simulasi: sebagian error, sebagian lambat (1.5 s)."""</a:t>
            </a:r>
          </a:p>
          <a:p>
            <a:pPr>
              <a:lnSpc>
                <a:spcPct val="107527"/>
              </a:lnSpc>
              <a:spcAft>
                <a:spcPts val="0"/>
              </a:spcAft>
            </a:pPr>
            <a:r>
              <a:rPr sz="775" i="0">
                <a:solidFill>
                  <a:srgbClr val="5C6773"/>
                </a:solidFill>
                <a:latin typeface="Inconsolata"/>
              </a:rPr>
              <a:t>15  </a:t>
            </a:r>
            <a:r>
              <a:rPr sz="775" i="0">
                <a:solidFill>
                  <a:srgbClr val="E6EDF3"/>
                </a:solidFill>
                <a:latin typeface="Inconsolata"/>
              </a:rPr>
              <a:t>    requests = []</a:t>
            </a:r>
          </a:p>
          <a:p>
            <a:pPr>
              <a:lnSpc>
                <a:spcPct val="107527"/>
              </a:lnSpc>
              <a:spcAft>
                <a:spcPts val="0"/>
              </a:spcAft>
            </a:pPr>
            <a:r>
              <a:rPr sz="775" i="0">
                <a:solidFill>
                  <a:srgbClr val="5C6773"/>
                </a:solidFill>
                <a:latin typeface="Inconsolata"/>
              </a:rPr>
              <a:t>16  </a:t>
            </a:r>
            <a:r>
              <a:rPr sz="775" i="0">
                <a:solidFill>
                  <a:srgbClr val="E6EDF3"/>
                </a:solidFill>
                <a:latin typeface="Inconsolata"/>
              </a:rPr>
              <a:t>    </a:t>
            </a:r>
            <a:r>
              <a:rPr sz="775" i="0">
                <a:solidFill>
                  <a:srgbClr val="FF8E6E"/>
                </a:solidFill>
                <a:latin typeface="Inconsolata"/>
              </a:rPr>
              <a:t>for</a:t>
            </a:r>
            <a:r>
              <a:rPr sz="775" i="0">
                <a:solidFill>
                  <a:srgbClr val="E6EDF3"/>
                </a:solidFill>
                <a:latin typeface="Inconsolata"/>
              </a:rPr>
              <a:t> i </a:t>
            </a:r>
            <a:r>
              <a:rPr sz="775" i="0">
                <a:solidFill>
                  <a:srgbClr val="FF8E6E"/>
                </a:solidFill>
                <a:latin typeface="Inconsolata"/>
              </a:rPr>
              <a:t>in</a:t>
            </a:r>
            <a:r>
              <a:rPr sz="775" i="0">
                <a:solidFill>
                  <a:srgbClr val="E6EDF3"/>
                </a:solidFill>
                <a:latin typeface="Inconsolata"/>
              </a:rPr>
              <a:t> </a:t>
            </a:r>
            <a:r>
              <a:rPr sz="775" i="0">
                <a:solidFill>
                  <a:srgbClr val="C3A6FF"/>
                </a:solidFill>
                <a:latin typeface="Inconsolata"/>
              </a:rPr>
              <a:t>range</a:t>
            </a:r>
            <a:r>
              <a:rPr sz="775" i="0">
                <a:solidFill>
                  <a:srgbClr val="E6EDF3"/>
                </a:solidFill>
                <a:latin typeface="Inconsolata"/>
              </a:rPr>
              <a:t>(total):</a:t>
            </a:r>
          </a:p>
          <a:p>
            <a:pPr>
              <a:lnSpc>
                <a:spcPct val="107527"/>
              </a:lnSpc>
              <a:spcAft>
                <a:spcPts val="0"/>
              </a:spcAft>
            </a:pPr>
            <a:r>
              <a:rPr sz="775" i="0">
                <a:solidFill>
                  <a:srgbClr val="5C6773"/>
                </a:solidFill>
                <a:latin typeface="Inconsolata"/>
              </a:rPr>
              <a:t>17  </a:t>
            </a:r>
            <a:r>
              <a:rPr sz="775" i="0">
                <a:solidFill>
                  <a:srgbClr val="E6EDF3"/>
                </a:solidFill>
                <a:latin typeface="Inconsolata"/>
              </a:rPr>
              <a:t>        requests.append({</a:t>
            </a:r>
            <a:r>
              <a:rPr sz="775" i="0">
                <a:solidFill>
                  <a:srgbClr val="A5D6A7"/>
                </a:solidFill>
                <a:latin typeface="Inconsolata"/>
              </a:rPr>
              <a:t>"status"</a:t>
            </a:r>
            <a:r>
              <a:rPr sz="775" i="0">
                <a:solidFill>
                  <a:srgbClr val="E6EDF3"/>
                </a:solidFill>
                <a:latin typeface="Inconsolata"/>
              </a:rPr>
              <a:t>: </a:t>
            </a:r>
            <a:r>
              <a:rPr sz="775" i="0">
                <a:solidFill>
                  <a:srgbClr val="F9C97A"/>
                </a:solidFill>
                <a:latin typeface="Inconsolata"/>
              </a:rPr>
              <a:t>500</a:t>
            </a:r>
            <a:r>
              <a:rPr sz="775" i="0">
                <a:solidFill>
                  <a:srgbClr val="E6EDF3"/>
                </a:solidFill>
                <a:latin typeface="Inconsolata"/>
              </a:rPr>
              <a:t> </a:t>
            </a:r>
            <a:r>
              <a:rPr sz="775" i="0">
                <a:solidFill>
                  <a:srgbClr val="FF8E6E"/>
                </a:solidFill>
                <a:latin typeface="Inconsolata"/>
              </a:rPr>
              <a:t>if</a:t>
            </a:r>
            <a:r>
              <a:rPr sz="775" i="0">
                <a:solidFill>
                  <a:srgbClr val="E6EDF3"/>
                </a:solidFill>
                <a:latin typeface="Inconsolata"/>
              </a:rPr>
              <a:t> i &lt; errors </a:t>
            </a:r>
            <a:r>
              <a:rPr sz="775" i="0">
                <a:solidFill>
                  <a:srgbClr val="FF8E6E"/>
                </a:solidFill>
                <a:latin typeface="Inconsolata"/>
              </a:rPr>
              <a:t>else</a:t>
            </a:r>
            <a:r>
              <a:rPr sz="775" i="0">
                <a:solidFill>
                  <a:srgbClr val="E6EDF3"/>
                </a:solidFill>
                <a:latin typeface="Inconsolata"/>
              </a:rPr>
              <a:t> </a:t>
            </a:r>
            <a:r>
              <a:rPr sz="775" i="0">
                <a:solidFill>
                  <a:srgbClr val="F9C97A"/>
                </a:solidFill>
                <a:latin typeface="Inconsolata"/>
              </a:rPr>
              <a:t>200</a:t>
            </a:r>
            <a:r>
              <a:rPr sz="775" i="0">
                <a:solidFill>
                  <a:srgbClr val="E6EDF3"/>
                </a:solidFill>
                <a:latin typeface="Inconsolata"/>
              </a:rPr>
              <a:t>,</a:t>
            </a:r>
          </a:p>
          <a:p>
            <a:pPr>
              <a:lnSpc>
                <a:spcPct val="107527"/>
              </a:lnSpc>
              <a:spcAft>
                <a:spcPts val="0"/>
              </a:spcAft>
            </a:pPr>
            <a:r>
              <a:rPr sz="775" i="0">
                <a:solidFill>
                  <a:srgbClr val="5C6773"/>
                </a:solidFill>
                <a:latin typeface="Inconsolata"/>
              </a:rPr>
              <a:t>18  </a:t>
            </a:r>
            <a:r>
              <a:rPr sz="775" i="0">
                <a:solidFill>
                  <a:srgbClr val="E6EDF3"/>
                </a:solidFill>
                <a:latin typeface="Inconsolata"/>
              </a:rPr>
              <a:t>                         </a:t>
            </a:r>
            <a:r>
              <a:rPr sz="775" i="0">
                <a:solidFill>
                  <a:srgbClr val="A5D6A7"/>
                </a:solidFill>
                <a:latin typeface="Inconsolata"/>
              </a:rPr>
              <a:t>"seconds"</a:t>
            </a:r>
            <a:r>
              <a:rPr sz="775" i="0">
                <a:solidFill>
                  <a:srgbClr val="E6EDF3"/>
                </a:solidFill>
                <a:latin typeface="Inconsolata"/>
              </a:rPr>
              <a:t>: </a:t>
            </a:r>
            <a:r>
              <a:rPr sz="775" i="0">
                <a:solidFill>
                  <a:srgbClr val="F9C97A"/>
                </a:solidFill>
                <a:latin typeface="Inconsolata"/>
              </a:rPr>
              <a:t>1</a:t>
            </a:r>
            <a:r>
              <a:rPr sz="775" i="0">
                <a:solidFill>
                  <a:srgbClr val="E6EDF3"/>
                </a:solidFill>
                <a:latin typeface="Inconsolata"/>
              </a:rPr>
              <a:t>.</a:t>
            </a:r>
            <a:r>
              <a:rPr sz="775" i="0">
                <a:solidFill>
                  <a:srgbClr val="F9C97A"/>
                </a:solidFill>
                <a:latin typeface="Inconsolata"/>
              </a:rPr>
              <a:t>5</a:t>
            </a:r>
            <a:r>
              <a:rPr sz="775" i="0">
                <a:solidFill>
                  <a:srgbClr val="E6EDF3"/>
                </a:solidFill>
                <a:latin typeface="Inconsolata"/>
              </a:rPr>
              <a:t> </a:t>
            </a:r>
            <a:r>
              <a:rPr sz="775" i="0">
                <a:solidFill>
                  <a:srgbClr val="FF8E6E"/>
                </a:solidFill>
                <a:latin typeface="Inconsolata"/>
              </a:rPr>
              <a:t>if</a:t>
            </a:r>
            <a:r>
              <a:rPr sz="775" i="0">
                <a:solidFill>
                  <a:srgbClr val="E6EDF3"/>
                </a:solidFill>
                <a:latin typeface="Inconsolata"/>
              </a:rPr>
              <a:t> i &gt;= total - slow </a:t>
            </a:r>
            <a:r>
              <a:rPr sz="775" i="0">
                <a:solidFill>
                  <a:srgbClr val="FF8E6E"/>
                </a:solidFill>
                <a:latin typeface="Inconsolata"/>
              </a:rPr>
              <a:t>else</a:t>
            </a:r>
            <a:r>
              <a:rPr sz="775" i="0">
                <a:solidFill>
                  <a:srgbClr val="E6EDF3"/>
                </a:solidFill>
                <a:latin typeface="Inconsolata"/>
              </a:rPr>
              <a:t> </a:t>
            </a:r>
            <a:r>
              <a:rPr sz="775" i="0">
                <a:solidFill>
                  <a:srgbClr val="F9C97A"/>
                </a:solidFill>
                <a:latin typeface="Inconsolata"/>
              </a:rPr>
              <a:t>0</a:t>
            </a:r>
            <a:r>
              <a:rPr sz="775" i="0">
                <a:solidFill>
                  <a:srgbClr val="E6EDF3"/>
                </a:solidFill>
                <a:latin typeface="Inconsolata"/>
              </a:rPr>
              <a:t>.</a:t>
            </a:r>
            <a:r>
              <a:rPr sz="775" i="0">
                <a:solidFill>
                  <a:srgbClr val="F9C97A"/>
                </a:solidFill>
                <a:latin typeface="Inconsolata"/>
              </a:rPr>
              <a:t>08</a:t>
            </a:r>
            <a:r>
              <a:rPr sz="775" i="0">
                <a:solidFill>
                  <a:srgbClr val="E6EDF3"/>
                </a:solidFill>
                <a:latin typeface="Inconsolata"/>
              </a:rPr>
              <a:t>})</a:t>
            </a:r>
          </a:p>
          <a:p>
            <a:pPr>
              <a:lnSpc>
                <a:spcPct val="107527"/>
              </a:lnSpc>
              <a:spcAft>
                <a:spcPts val="0"/>
              </a:spcAft>
            </a:pPr>
            <a:r>
              <a:rPr sz="775" i="0">
                <a:solidFill>
                  <a:srgbClr val="5C6773"/>
                </a:solidFill>
                <a:latin typeface="Inconsolata"/>
              </a:rPr>
              <a:t>19  </a:t>
            </a:r>
            <a:r>
              <a:rPr sz="775" i="0">
                <a:solidFill>
                  <a:srgbClr val="E6EDF3"/>
                </a:solidFill>
                <a:latin typeface="Inconsolata"/>
              </a:rPr>
              <a:t>    </a:t>
            </a:r>
            <a:r>
              <a:rPr sz="775" i="0">
                <a:solidFill>
                  <a:srgbClr val="FF8E6E"/>
                </a:solidFill>
                <a:latin typeface="Inconsolata"/>
              </a:rPr>
              <a:t>return</a:t>
            </a:r>
            <a:r>
              <a:rPr sz="775" i="0">
                <a:solidFill>
                  <a:srgbClr val="E6EDF3"/>
                </a:solidFill>
                <a:latin typeface="Inconsolata"/>
              </a:rPr>
              <a:t> requests</a:t>
            </a:r>
          </a:p>
          <a:p>
            <a:pPr>
              <a:lnSpc>
                <a:spcPct val="107527"/>
              </a:lnSpc>
              <a:spcAft>
                <a:spcPts val="0"/>
              </a:spcAft>
            </a:pPr>
            <a:r>
              <a:rPr sz="775" i="0">
                <a:solidFill>
                  <a:srgbClr val="5C6773"/>
                </a:solidFill>
                <a:latin typeface="Inconsolata"/>
              </a:rPr>
              <a:t>20  </a:t>
            </a:r>
            <a:r>
              <a:rPr sz="775" i="0">
                <a:solidFill>
                  <a:srgbClr val="E6EDF3"/>
                </a:solidFill>
                <a:latin typeface="Inconsolata"/>
              </a:rPr>
              <a:t> </a:t>
            </a:r>
          </a:p>
          <a:p>
            <a:pPr>
              <a:lnSpc>
                <a:spcPct val="107527"/>
              </a:lnSpc>
              <a:spcAft>
                <a:spcPts val="0"/>
              </a:spcAft>
            </a:pPr>
            <a:r>
              <a:rPr sz="775" i="0">
                <a:solidFill>
                  <a:srgbClr val="5C6773"/>
                </a:solidFill>
                <a:latin typeface="Inconsolata"/>
              </a:rPr>
              <a:t>21  </a:t>
            </a:r>
            <a:r>
              <a:rPr sz="775" i="0">
                <a:solidFill>
                  <a:srgbClr val="E6EDF3"/>
                </a:solidFill>
                <a:latin typeface="Inconsolata"/>
              </a:rPr>
              <a:t> </a:t>
            </a:r>
          </a:p>
          <a:p>
            <a:pPr>
              <a:lnSpc>
                <a:spcPct val="107527"/>
              </a:lnSpc>
              <a:spcAft>
                <a:spcPts val="0"/>
              </a:spcAft>
            </a:pPr>
            <a:r>
              <a:rPr sz="775" i="0">
                <a:solidFill>
                  <a:srgbClr val="5C6773"/>
                </a:solidFill>
                <a:latin typeface="Inconsolata"/>
              </a:rPr>
              <a:t>22  </a:t>
            </a:r>
            <a:r>
              <a:rPr sz="775" i="0">
                <a:solidFill>
                  <a:srgbClr val="7FDBCA"/>
                </a:solidFill>
                <a:latin typeface="Inconsolata"/>
              </a:rPr>
              <a:t>WINDOWS</a:t>
            </a:r>
            <a:r>
              <a:rPr sz="775" i="0">
                <a:solidFill>
                  <a:srgbClr val="E6EDF3"/>
                </a:solidFill>
                <a:latin typeface="Inconsolata"/>
              </a:rPr>
              <a:t> = {</a:t>
            </a:r>
            <a:r>
              <a:rPr sz="775" i="0">
                <a:solidFill>
                  <a:srgbClr val="A5D6A7"/>
                </a:solidFill>
                <a:latin typeface="Inconsolata"/>
              </a:rPr>
              <a:t>"10:00"</a:t>
            </a:r>
            <a:r>
              <a:rPr sz="775" i="0">
                <a:solidFill>
                  <a:srgbClr val="E6EDF3"/>
                </a:solidFill>
                <a:latin typeface="Inconsolata"/>
              </a:rPr>
              <a:t>: window(errors=</a:t>
            </a:r>
            <a:r>
              <a:rPr sz="775" i="0">
                <a:solidFill>
                  <a:srgbClr val="F9C97A"/>
                </a:solidFill>
                <a:latin typeface="Inconsolata"/>
              </a:rPr>
              <a:t>3</a:t>
            </a:r>
            <a:r>
              <a:rPr sz="775" i="0">
                <a:solidFill>
                  <a:srgbClr val="E6EDF3"/>
                </a:solidFill>
                <a:latin typeface="Inconsolata"/>
              </a:rPr>
              <a:t>, slow=</a:t>
            </a:r>
            <a:r>
              <a:rPr sz="775" i="0">
                <a:solidFill>
                  <a:srgbClr val="F9C97A"/>
                </a:solidFill>
                <a:latin typeface="Inconsolata"/>
              </a:rPr>
              <a:t>20</a:t>
            </a:r>
            <a:r>
              <a:rPr sz="775" i="0">
                <a:solidFill>
                  <a:srgbClr val="E6EDF3"/>
                </a:solidFill>
                <a:latin typeface="Inconsolata"/>
              </a:rPr>
              <a:t>),</a:t>
            </a:r>
          </a:p>
          <a:p>
            <a:pPr>
              <a:lnSpc>
                <a:spcPct val="107527"/>
              </a:lnSpc>
              <a:spcAft>
                <a:spcPts val="0"/>
              </a:spcAft>
            </a:pPr>
            <a:r>
              <a:rPr sz="775" i="0">
                <a:solidFill>
                  <a:srgbClr val="5C6773"/>
                </a:solidFill>
                <a:latin typeface="Inconsolata"/>
              </a:rPr>
              <a:t>23  </a:t>
            </a:r>
            <a:r>
              <a:rPr sz="775" i="0">
                <a:solidFill>
                  <a:srgbClr val="E6EDF3"/>
                </a:solidFill>
                <a:latin typeface="Inconsolata"/>
              </a:rPr>
              <a:t>           </a:t>
            </a:r>
            <a:r>
              <a:rPr sz="775" i="0">
                <a:solidFill>
                  <a:srgbClr val="A5D6A7"/>
                </a:solidFill>
                <a:latin typeface="Inconsolata"/>
              </a:rPr>
              <a:t>"10:05"</a:t>
            </a:r>
            <a:r>
              <a:rPr sz="775" i="0">
                <a:solidFill>
                  <a:srgbClr val="E6EDF3"/>
                </a:solidFill>
                <a:latin typeface="Inconsolata"/>
              </a:rPr>
              <a:t>: window(errors=</a:t>
            </a:r>
            <a:r>
              <a:rPr sz="775" i="0">
                <a:solidFill>
                  <a:srgbClr val="F9C97A"/>
                </a:solidFill>
                <a:latin typeface="Inconsolata"/>
              </a:rPr>
              <a:t>2</a:t>
            </a:r>
            <a:r>
              <a:rPr sz="775" i="0">
                <a:solidFill>
                  <a:srgbClr val="E6EDF3"/>
                </a:solidFill>
                <a:latin typeface="Inconsolata"/>
              </a:rPr>
              <a:t>, slow=</a:t>
            </a:r>
            <a:r>
              <a:rPr sz="775" i="0">
                <a:solidFill>
                  <a:srgbClr val="F9C97A"/>
                </a:solidFill>
                <a:latin typeface="Inconsolata"/>
              </a:rPr>
              <a:t>15</a:t>
            </a:r>
            <a:r>
              <a:rPr sz="775" i="0">
                <a:solidFill>
                  <a:srgbClr val="E6EDF3"/>
                </a:solidFill>
                <a:latin typeface="Inconsolata"/>
              </a:rPr>
              <a:t>),</a:t>
            </a:r>
          </a:p>
          <a:p>
            <a:pPr>
              <a:lnSpc>
                <a:spcPct val="107527"/>
              </a:lnSpc>
              <a:spcAft>
                <a:spcPts val="0"/>
              </a:spcAft>
            </a:pPr>
            <a:r>
              <a:rPr sz="775" i="0">
                <a:solidFill>
                  <a:srgbClr val="5C6773"/>
                </a:solidFill>
                <a:latin typeface="Inconsolata"/>
              </a:rPr>
              <a:t>24  </a:t>
            </a:r>
            <a:r>
              <a:rPr sz="775" i="0">
                <a:solidFill>
                  <a:srgbClr val="E6EDF3"/>
                </a:solidFill>
                <a:latin typeface="Inconsolata"/>
              </a:rPr>
              <a:t>           </a:t>
            </a:r>
            <a:r>
              <a:rPr sz="775" i="0">
                <a:solidFill>
                  <a:srgbClr val="A5D6A7"/>
                </a:solidFill>
                <a:latin typeface="Inconsolata"/>
              </a:rPr>
              <a:t>"10:10"</a:t>
            </a:r>
            <a:r>
              <a:rPr sz="775" i="0">
                <a:solidFill>
                  <a:srgbClr val="E6EDF3"/>
                </a:solidFill>
                <a:latin typeface="Inconsolata"/>
              </a:rPr>
              <a:t>: window(errors=</a:t>
            </a:r>
            <a:r>
              <a:rPr sz="775" i="0">
                <a:solidFill>
                  <a:srgbClr val="F9C97A"/>
                </a:solidFill>
                <a:latin typeface="Inconsolata"/>
              </a:rPr>
              <a:t>4</a:t>
            </a:r>
            <a:r>
              <a:rPr sz="775" i="0">
                <a:solidFill>
                  <a:srgbClr val="E6EDF3"/>
                </a:solidFill>
                <a:latin typeface="Inconsolata"/>
              </a:rPr>
              <a:t>, slow=</a:t>
            </a:r>
            <a:r>
              <a:rPr sz="775" i="0">
                <a:solidFill>
                  <a:srgbClr val="F9C97A"/>
                </a:solidFill>
                <a:latin typeface="Inconsolata"/>
              </a:rPr>
              <a:t>150</a:t>
            </a:r>
            <a:r>
              <a:rPr sz="775" i="0">
                <a:solidFill>
                  <a:srgbClr val="E6EDF3"/>
                </a:solidFill>
                <a:latin typeface="Inconsolata"/>
              </a:rPr>
              <a:t>)}    </a:t>
            </a:r>
            <a:r>
              <a:rPr sz="775" i="1">
                <a:solidFill>
                  <a:srgbClr val="8B98A8"/>
                </a:solidFill>
                <a:latin typeface="Inconsolata"/>
              </a:rPr>
              <a:t># masalah</a:t>
            </a:r>
          </a:p>
          <a:p>
            <a:pPr>
              <a:lnSpc>
                <a:spcPct val="107527"/>
              </a:lnSpc>
              <a:spcAft>
                <a:spcPts val="0"/>
              </a:spcAft>
            </a:pPr>
            <a:r>
              <a:rPr sz="775" i="0">
                <a:solidFill>
                  <a:srgbClr val="5C6773"/>
                </a:solidFill>
                <a:latin typeface="Inconsolata"/>
              </a:rPr>
              <a:t>25  </a:t>
            </a:r>
            <a:r>
              <a:rPr sz="775" i="0">
                <a:solidFill>
                  <a:srgbClr val="E6EDF3"/>
                </a:solidFill>
                <a:latin typeface="Inconsolata"/>
              </a:rPr>
              <a:t> </a:t>
            </a:r>
          </a:p>
          <a:p>
            <a:pPr>
              <a:lnSpc>
                <a:spcPct val="107527"/>
              </a:lnSpc>
              <a:spcAft>
                <a:spcPts val="0"/>
              </a:spcAft>
            </a:pPr>
            <a:r>
              <a:rPr sz="775" i="0">
                <a:solidFill>
                  <a:srgbClr val="5C6773"/>
                </a:solidFill>
                <a:latin typeface="Inconsolata"/>
              </a:rPr>
              <a:t>26  </a:t>
            </a:r>
            <a:r>
              <a:rPr sz="775" i="0">
                <a:solidFill>
                  <a:srgbClr val="FF8E6E"/>
                </a:solidFill>
                <a:latin typeface="Inconsolata"/>
              </a:rPr>
              <a:t>if</a:t>
            </a:r>
            <a:r>
              <a:rPr sz="775" i="0">
                <a:solidFill>
                  <a:srgbClr val="E6EDF3"/>
                </a:solidFill>
                <a:latin typeface="Inconsolata"/>
              </a:rPr>
              <a:t> __name__ == </a:t>
            </a:r>
            <a:r>
              <a:rPr sz="775" i="0">
                <a:solidFill>
                  <a:srgbClr val="A5D6A7"/>
                </a:solidFill>
                <a:latin typeface="Inconsolata"/>
              </a:rPr>
              <a:t>"__main__"</a:t>
            </a:r>
            <a:r>
              <a:rPr sz="775" i="0">
                <a:solidFill>
                  <a:srgbClr val="E6EDF3"/>
                </a:solidFill>
                <a:latin typeface="Inconsolata"/>
              </a:rPr>
              <a:t>:</a:t>
            </a:r>
          </a:p>
          <a:p>
            <a:pPr>
              <a:lnSpc>
                <a:spcPct val="107527"/>
              </a:lnSpc>
              <a:spcAft>
                <a:spcPts val="0"/>
              </a:spcAft>
            </a:pPr>
            <a:r>
              <a:rPr sz="775" i="0">
                <a:solidFill>
                  <a:srgbClr val="5C6773"/>
                </a:solidFill>
                <a:latin typeface="Inconsolata"/>
              </a:rPr>
              <a:t>27  </a:t>
            </a:r>
            <a:r>
              <a:rPr sz="775" i="0">
                <a:solidFill>
                  <a:srgbClr val="E6EDF3"/>
                </a:solidFill>
                <a:latin typeface="Inconsolata"/>
              </a:rPr>
              <a:t>    alerts = </a:t>
            </a:r>
            <a:r>
              <a:rPr sz="775" i="0">
                <a:solidFill>
                  <a:srgbClr val="F9C97A"/>
                </a:solidFill>
                <a:latin typeface="Inconsolata"/>
              </a:rPr>
              <a:t>0</a:t>
            </a:r>
          </a:p>
          <a:p>
            <a:pPr>
              <a:lnSpc>
                <a:spcPct val="107527"/>
              </a:lnSpc>
              <a:spcAft>
                <a:spcPts val="0"/>
              </a:spcAft>
            </a:pPr>
            <a:r>
              <a:rPr sz="775" i="0">
                <a:solidFill>
                  <a:srgbClr val="5C6773"/>
                </a:solidFill>
                <a:latin typeface="Inconsolata"/>
              </a:rPr>
              <a:t>28  </a:t>
            </a:r>
            <a:r>
              <a:rPr sz="775" i="0">
                <a:solidFill>
                  <a:srgbClr val="E6EDF3"/>
                </a:solidFill>
                <a:latin typeface="Inconsolata"/>
              </a:rPr>
              <a:t>    </a:t>
            </a:r>
            <a:r>
              <a:rPr sz="775" i="0">
                <a:solidFill>
                  <a:srgbClr val="FF8E6E"/>
                </a:solidFill>
                <a:latin typeface="Inconsolata"/>
              </a:rPr>
              <a:t>for</a:t>
            </a:r>
            <a:r>
              <a:rPr sz="775" i="0">
                <a:solidFill>
                  <a:srgbClr val="E6EDF3"/>
                </a:solidFill>
                <a:latin typeface="Inconsolata"/>
              </a:rPr>
              <a:t> name, requests </a:t>
            </a:r>
            <a:r>
              <a:rPr sz="775" i="0">
                <a:solidFill>
                  <a:srgbClr val="FF8E6E"/>
                </a:solidFill>
                <a:latin typeface="Inconsolata"/>
              </a:rPr>
              <a:t>in</a:t>
            </a:r>
            <a:r>
              <a:rPr sz="775" i="0">
                <a:solidFill>
                  <a:srgbClr val="E6EDF3"/>
                </a:solidFill>
                <a:latin typeface="Inconsolata"/>
              </a:rPr>
              <a:t> </a:t>
            </a:r>
            <a:r>
              <a:rPr sz="775" i="0">
                <a:solidFill>
                  <a:srgbClr val="7FDBCA"/>
                </a:solidFill>
                <a:latin typeface="Inconsolata"/>
              </a:rPr>
              <a:t>WINDOWS</a:t>
            </a:r>
            <a:r>
              <a:rPr sz="775" i="0">
                <a:solidFill>
                  <a:srgbClr val="E6EDF3"/>
                </a:solidFill>
                <a:latin typeface="Inconsolata"/>
              </a:rPr>
              <a:t>.items():</a:t>
            </a:r>
          </a:p>
          <a:p>
            <a:pPr>
              <a:lnSpc>
                <a:spcPct val="107527"/>
              </a:lnSpc>
              <a:spcAft>
                <a:spcPts val="0"/>
              </a:spcAft>
            </a:pPr>
            <a:r>
              <a:rPr sz="775" i="0">
                <a:solidFill>
                  <a:srgbClr val="5C6773"/>
                </a:solidFill>
                <a:latin typeface="Inconsolata"/>
              </a:rPr>
              <a:t>29  </a:t>
            </a:r>
            <a:r>
              <a:rPr sz="775" i="0">
                <a:solidFill>
                  <a:srgbClr val="E6EDF3"/>
                </a:solidFill>
                <a:latin typeface="Inconsolata"/>
              </a:rPr>
              <a:t>        errors = </a:t>
            </a:r>
            <a:r>
              <a:rPr sz="775" i="0">
                <a:solidFill>
                  <a:srgbClr val="C3A6FF"/>
                </a:solidFill>
                <a:latin typeface="Inconsolata"/>
              </a:rPr>
              <a:t>sum</a:t>
            </a:r>
            <a:r>
              <a:rPr sz="775" i="0">
                <a:solidFill>
                  <a:srgbClr val="E6EDF3"/>
                </a:solidFill>
                <a:latin typeface="Inconsolata"/>
              </a:rPr>
              <a:t>(r[</a:t>
            </a:r>
            <a:r>
              <a:rPr sz="775" i="0">
                <a:solidFill>
                  <a:srgbClr val="A5D6A7"/>
                </a:solidFill>
                <a:latin typeface="Inconsolata"/>
              </a:rPr>
              <a:t>"status"</a:t>
            </a:r>
            <a:r>
              <a:rPr sz="775" i="0">
                <a:solidFill>
                  <a:srgbClr val="E6EDF3"/>
                </a:solidFill>
                <a:latin typeface="Inconsolata"/>
              </a:rPr>
              <a:t>] &gt;= </a:t>
            </a:r>
            <a:r>
              <a:rPr sz="775" i="0">
                <a:solidFill>
                  <a:srgbClr val="F9C97A"/>
                </a:solidFill>
                <a:latin typeface="Inconsolata"/>
              </a:rPr>
              <a:t>500</a:t>
            </a:r>
            <a:r>
              <a:rPr sz="775" i="0">
                <a:solidFill>
                  <a:srgbClr val="E6EDF3"/>
                </a:solidFill>
                <a:latin typeface="Inconsolata"/>
              </a:rPr>
              <a:t> </a:t>
            </a:r>
            <a:r>
              <a:rPr sz="775" i="0">
                <a:solidFill>
                  <a:srgbClr val="FF8E6E"/>
                </a:solidFill>
                <a:latin typeface="Inconsolata"/>
              </a:rPr>
              <a:t>for</a:t>
            </a:r>
            <a:r>
              <a:rPr sz="775" i="0">
                <a:solidFill>
                  <a:srgbClr val="E6EDF3"/>
                </a:solidFill>
                <a:latin typeface="Inconsolata"/>
              </a:rPr>
              <a:t> r </a:t>
            </a:r>
            <a:r>
              <a:rPr sz="775" i="0">
                <a:solidFill>
                  <a:srgbClr val="FF8E6E"/>
                </a:solidFill>
                <a:latin typeface="Inconsolata"/>
              </a:rPr>
              <a:t>in</a:t>
            </a:r>
            <a:r>
              <a:rPr sz="775" i="0">
                <a:solidFill>
                  <a:srgbClr val="E6EDF3"/>
                </a:solidFill>
                <a:latin typeface="Inconsolata"/>
              </a:rPr>
              <a:t> requests)</a:t>
            </a:r>
          </a:p>
          <a:p>
            <a:pPr>
              <a:lnSpc>
                <a:spcPct val="107527"/>
              </a:lnSpc>
              <a:spcAft>
                <a:spcPts val="0"/>
              </a:spcAft>
            </a:pPr>
            <a:r>
              <a:rPr sz="775" i="0">
                <a:solidFill>
                  <a:srgbClr val="5C6773"/>
                </a:solidFill>
                <a:latin typeface="Inconsolata"/>
              </a:rPr>
              <a:t>30  </a:t>
            </a:r>
            <a:r>
              <a:rPr sz="775" i="0">
                <a:solidFill>
                  <a:srgbClr val="E6EDF3"/>
                </a:solidFill>
                <a:latin typeface="Inconsolata"/>
              </a:rPr>
              <a:t>        alerts += errors                       </a:t>
            </a:r>
            <a:r>
              <a:rPr sz="775" i="1">
                <a:solidFill>
                  <a:srgbClr val="8B98A8"/>
                </a:solidFill>
                <a:latin typeface="Inconsolata"/>
              </a:rPr>
              <a:t># 1 error = 1 alert</a:t>
            </a:r>
          </a:p>
          <a:p>
            <a:pPr>
              <a:lnSpc>
                <a:spcPct val="107527"/>
              </a:lnSpc>
              <a:spcAft>
                <a:spcPts val="0"/>
              </a:spcAft>
            </a:pPr>
            <a:r>
              <a:rPr sz="775" i="0">
                <a:solidFill>
                  <a:srgbClr val="5C6773"/>
                </a:solidFill>
                <a:latin typeface="Inconsolata"/>
              </a:rPr>
              <a:t>31  </a:t>
            </a:r>
            <a:r>
              <a:rPr sz="775" i="0">
                <a:solidFill>
                  <a:srgbClr val="E6EDF3"/>
                </a:solidFill>
                <a:latin typeface="Inconsolata"/>
              </a:rPr>
              <a:t>        avg = </a:t>
            </a:r>
            <a:r>
              <a:rPr sz="775" i="0">
                <a:solidFill>
                  <a:srgbClr val="C3A6FF"/>
                </a:solidFill>
                <a:latin typeface="Inconsolata"/>
              </a:rPr>
              <a:t>sum</a:t>
            </a:r>
            <a:r>
              <a:rPr sz="775" i="0">
                <a:solidFill>
                  <a:srgbClr val="E6EDF3"/>
                </a:solidFill>
                <a:latin typeface="Inconsolata"/>
              </a:rPr>
              <a:t>(r[</a:t>
            </a:r>
            <a:r>
              <a:rPr sz="775" i="0">
                <a:solidFill>
                  <a:srgbClr val="A5D6A7"/>
                </a:solidFill>
                <a:latin typeface="Inconsolata"/>
              </a:rPr>
              <a:t>"seconds"</a:t>
            </a:r>
            <a:r>
              <a:rPr sz="775" i="0">
                <a:solidFill>
                  <a:srgbClr val="E6EDF3"/>
                </a:solidFill>
                <a:latin typeface="Inconsolata"/>
              </a:rPr>
              <a:t>] </a:t>
            </a:r>
            <a:r>
              <a:rPr sz="775" i="0">
                <a:solidFill>
                  <a:srgbClr val="FF8E6E"/>
                </a:solidFill>
                <a:latin typeface="Inconsolata"/>
              </a:rPr>
              <a:t>for</a:t>
            </a:r>
            <a:r>
              <a:rPr sz="775" i="0">
                <a:solidFill>
                  <a:srgbClr val="E6EDF3"/>
                </a:solidFill>
                <a:latin typeface="Inconsolata"/>
              </a:rPr>
              <a:t> r </a:t>
            </a:r>
            <a:r>
              <a:rPr sz="775" i="0">
                <a:solidFill>
                  <a:srgbClr val="FF8E6E"/>
                </a:solidFill>
                <a:latin typeface="Inconsolata"/>
              </a:rPr>
              <a:t>in</a:t>
            </a:r>
            <a:r>
              <a:rPr sz="775" i="0">
                <a:solidFill>
                  <a:srgbClr val="E6EDF3"/>
                </a:solidFill>
                <a:latin typeface="Inconsolata"/>
              </a:rPr>
              <a:t> requests) / </a:t>
            </a:r>
            <a:r>
              <a:rPr sz="775" i="0">
                <a:solidFill>
                  <a:srgbClr val="C3A6FF"/>
                </a:solidFill>
                <a:latin typeface="Inconsolata"/>
              </a:rPr>
              <a:t>len</a:t>
            </a:r>
            <a:r>
              <a:rPr sz="775" i="0">
                <a:solidFill>
                  <a:srgbClr val="E6EDF3"/>
                </a:solidFill>
                <a:latin typeface="Inconsolata"/>
              </a:rPr>
              <a:t>(requests)</a:t>
            </a:r>
          </a:p>
          <a:p>
            <a:pPr>
              <a:lnSpc>
                <a:spcPct val="107527"/>
              </a:lnSpc>
              <a:spcAft>
                <a:spcPts val="0"/>
              </a:spcAft>
            </a:pPr>
            <a:r>
              <a:rPr sz="775" i="0">
                <a:solidFill>
                  <a:srgbClr val="5C6773"/>
                </a:solidFill>
                <a:latin typeface="Inconsolata"/>
              </a:rPr>
              <a:t>32  </a:t>
            </a:r>
            <a:r>
              <a:rPr sz="775" i="0">
                <a:solidFill>
                  <a:srgbClr val="E6EDF3"/>
                </a:solidFill>
                <a:latin typeface="Inconsolata"/>
              </a:rPr>
              <a:t>        </a:t>
            </a:r>
            <a:r>
              <a:rPr sz="775" i="0">
                <a:solidFill>
                  <a:srgbClr val="C3A6FF"/>
                </a:solidFill>
                <a:latin typeface="Inconsolata"/>
              </a:rPr>
              <a:t>print</a:t>
            </a:r>
            <a:r>
              <a:rPr sz="775" i="0">
                <a:solidFill>
                  <a:srgbClr val="E6EDF3"/>
                </a:solidFill>
                <a:latin typeface="Inconsolata"/>
              </a:rPr>
              <a:t>(</a:t>
            </a:r>
            <a:r>
              <a:rPr sz="775" i="0">
                <a:solidFill>
                  <a:srgbClr val="A5D6A7"/>
                </a:solidFill>
                <a:latin typeface="Inconsolata"/>
              </a:rPr>
              <a:t>f"{name}  error={errors}  rata-rata={avg * 1000:.0f} ms"</a:t>
            </a:r>
          </a:p>
          <a:p>
            <a:pPr>
              <a:lnSpc>
                <a:spcPct val="107527"/>
              </a:lnSpc>
              <a:spcAft>
                <a:spcPts val="0"/>
              </a:spcAft>
            </a:pPr>
            <a:r>
              <a:rPr sz="775" i="0">
                <a:solidFill>
                  <a:srgbClr val="5C6773"/>
                </a:solidFill>
                <a:latin typeface="Inconsolata"/>
              </a:rPr>
              <a:t>33  </a:t>
            </a:r>
            <a:r>
              <a:rPr sz="775" i="0">
                <a:solidFill>
                  <a:srgbClr val="E6EDF3"/>
                </a:solidFill>
                <a:latin typeface="Inconsolata"/>
              </a:rPr>
              <a:t>              </a:t>
            </a:r>
            <a:r>
              <a:rPr sz="775" i="0">
                <a:solidFill>
                  <a:srgbClr val="A5D6A7"/>
                </a:solidFill>
                <a:latin typeface="Inconsolata"/>
              </a:rPr>
              <a:t>f"  -&gt; {errors} alert"</a:t>
            </a:r>
            <a:r>
              <a:rPr sz="775" i="0">
                <a:solidFill>
                  <a:srgbClr val="E6EDF3"/>
                </a:solidFill>
                <a:latin typeface="Inconsolata"/>
              </a:rPr>
              <a:t>)</a:t>
            </a:r>
          </a:p>
          <a:p>
            <a:pPr>
              <a:lnSpc>
                <a:spcPct val="107527"/>
              </a:lnSpc>
              <a:spcAft>
                <a:spcPts val="0"/>
              </a:spcAft>
            </a:pPr>
            <a:r>
              <a:rPr sz="775" i="0">
                <a:solidFill>
                  <a:srgbClr val="5C6773"/>
                </a:solidFill>
                <a:latin typeface="Inconsolata"/>
              </a:rPr>
              <a:t>34  </a:t>
            </a:r>
            <a:r>
              <a:rPr sz="775" i="0">
                <a:solidFill>
                  <a:srgbClr val="E6EDF3"/>
                </a:solidFill>
                <a:latin typeface="Inconsolata"/>
              </a:rPr>
              <a:t>    </a:t>
            </a:r>
            <a:r>
              <a:rPr sz="775" i="0">
                <a:solidFill>
                  <a:srgbClr val="C3A6FF"/>
                </a:solidFill>
                <a:latin typeface="Inconsolata"/>
              </a:rPr>
              <a:t>print</a:t>
            </a:r>
            <a:r>
              <a:rPr sz="775" i="0">
                <a:solidFill>
                  <a:srgbClr val="E6EDF3"/>
                </a:solidFill>
                <a:latin typeface="Inconsolata"/>
              </a:rPr>
              <a:t>(</a:t>
            </a:r>
            <a:r>
              <a:rPr sz="775" i="0">
                <a:solidFill>
                  <a:srgbClr val="A5D6A7"/>
                </a:solidFill>
                <a:latin typeface="Inconsolata"/>
              </a:rPr>
              <a:t>f"Total alert ke tim on-call: {alerts}"</a:t>
            </a:r>
            <a:r>
              <a:rPr sz="775" i="0">
                <a:solidFill>
                  <a:srgbClr val="E6EDF3"/>
                </a:solidFill>
                <a:latin typeface="Inconsolata"/>
              </a:rPr>
              <a:t>)</a:t>
            </a:r>
          </a:p>
        </p:txBody>
      </p:sp>
      <p:sp>
        <p:nvSpPr>
          <p:cNvPr id="29" name="Box 12"/>
          <p:cNvSpPr/>
          <p:nvPr/>
        </p:nvSpPr>
        <p:spPr>
          <a:xfrm>
            <a:off x="704088" y="2970022"/>
            <a:ext cx="4343400" cy="373380"/>
          </a:xfrm>
          <a:prstGeom prst="roundRect">
            <a:avLst>
              <a:gd name="adj" fmla="val 12244"/>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4928616" y="303784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3986022"/>
            <a:ext cx="4343400" cy="246380"/>
          </a:xfrm>
          <a:prstGeom prst="roundRect">
            <a:avLst>
              <a:gd name="adj" fmla="val 1855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4928616" y="399034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CodeTab 17"/>
          <p:cNvSpPr/>
          <p:nvPr/>
        </p:nvSpPr>
        <p:spPr>
          <a:xfrm>
            <a:off x="5285231" y="1481328"/>
            <a:ext cx="320040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Dot 18"/>
          <p:cNvSpPr/>
          <p:nvPr/>
        </p:nvSpPr>
        <p:spPr>
          <a:xfrm>
            <a:off x="5394959"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Dot 19"/>
          <p:cNvSpPr/>
          <p:nvPr/>
        </p:nvSpPr>
        <p:spPr>
          <a:xfrm>
            <a:off x="553212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Dot 20"/>
          <p:cNvSpPr/>
          <p:nvPr/>
        </p:nvSpPr>
        <p:spPr>
          <a:xfrm>
            <a:off x="5669279"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 21"/>
          <p:cNvSpPr txBox="1"/>
          <p:nvPr/>
        </p:nvSpPr>
        <p:spPr>
          <a:xfrm>
            <a:off x="5833871" y="1490472"/>
            <a:ext cx="256032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38" name="CodeBg 23"/>
          <p:cNvSpPr/>
          <p:nvPr/>
        </p:nvSpPr>
        <p:spPr>
          <a:xfrm>
            <a:off x="5285231" y="1719072"/>
            <a:ext cx="3200400" cy="457200"/>
          </a:xfrm>
          <a:prstGeom prst="roundRect">
            <a:avLst>
              <a:gd name="adj" fmla="val 4000"/>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Code 24"/>
          <p:cNvSpPr txBox="1"/>
          <p:nvPr/>
        </p:nvSpPr>
        <p:spPr>
          <a:xfrm>
            <a:off x="5285231" y="1719072"/>
            <a:ext cx="3200400" cy="457200"/>
          </a:xfrm>
          <a:prstGeom prst="rect">
            <a:avLst/>
          </a:prstGeom>
          <a:noFill/>
        </p:spPr>
        <p:txBody>
          <a:bodyPr wrap="none" lIns="146304" tIns="91440" rIns="146304" bIns="54864">
            <a:spAutoFit/>
          </a:bodyPr>
          <a:lstStyle/>
          <a:p>
            <a:pPr>
              <a:lnSpc>
                <a:spcPct val="104167"/>
              </a:lnSpc>
              <a:spcAft>
                <a:spcPts val="0"/>
              </a:spcAft>
            </a:pPr>
            <a:r>
              <a:rPr sz="800" i="0">
                <a:solidFill>
                  <a:srgbClr val="82B1FF"/>
                </a:solidFill>
                <a:latin typeface="Inconsolata"/>
              </a:rPr>
              <a:t>$ cd sesi-09-observability/06-sli-alerting</a:t>
            </a:r>
          </a:p>
          <a:p>
            <a:pPr>
              <a:lnSpc>
                <a:spcPct val="104167"/>
              </a:lnSpc>
              <a:spcAft>
                <a:spcPts val="0"/>
              </a:spcAft>
            </a:pPr>
            <a:r>
              <a:rPr sz="800" i="0">
                <a:solidFill>
                  <a:srgbClr val="82B1FF"/>
                </a:solidFill>
                <a:latin typeface="Inconsolata"/>
              </a:rPr>
              <a:t>$ python before.py</a:t>
            </a:r>
          </a:p>
        </p:txBody>
      </p:sp>
      <p:pic>
        <p:nvPicPr>
          <p:cNvPr id="40" name="Image 25" descr="s09-06-sli-alerting-before.png"/>
          <p:cNvPicPr>
            <a:picLocks noChangeAspect="1"/>
          </p:cNvPicPr>
          <p:nvPr/>
        </p:nvPicPr>
        <p:blipFill>
          <a:blip r:embed="rId2"/>
          <a:stretch>
            <a:fillRect/>
          </a:stretch>
        </p:blipFill>
        <p:spPr>
          <a:xfrm>
            <a:off x="5285231" y="2249424"/>
            <a:ext cx="3200400" cy="800100"/>
          </a:xfrm>
          <a:prstGeom prst="rect">
            <a:avLst/>
          </a:prstGeom>
        </p:spPr>
      </p:pic>
      <p:sp>
        <p:nvSpPr>
          <p:cNvPr id="41" name="Box 26"/>
          <p:cNvSpPr/>
          <p:nvPr/>
        </p:nvSpPr>
        <p:spPr>
          <a:xfrm>
            <a:off x="5285231" y="3140964"/>
            <a:ext cx="3200400" cy="1559051"/>
          </a:xfrm>
          <a:prstGeom prst="roundRect">
            <a:avLst>
              <a:gd name="adj" fmla="val 7038"/>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2" name="Text 27"/>
          <p:cNvSpPr txBox="1"/>
          <p:nvPr/>
        </p:nvSpPr>
        <p:spPr>
          <a:xfrm>
            <a:off x="5422392" y="3232404"/>
            <a:ext cx="2926080" cy="310896"/>
          </a:xfrm>
          <a:prstGeom prst="rect">
            <a:avLst/>
          </a:prstGeom>
          <a:noFill/>
        </p:spPr>
        <p:txBody>
          <a:bodyPr wrap="square" lIns="45720" rIns="45720" anchor="t">
            <a:spAutoFit/>
          </a:bodyPr>
          <a:lstStyle/>
          <a:p>
            <a:pPr algn="l">
              <a:lnSpc>
                <a:spcPct val="115000"/>
              </a:lnSpc>
              <a:spcAft>
                <a:spcPts val="400"/>
              </a:spcAft>
            </a:pPr>
            <a:r>
              <a:rPr sz="1000" b="1" i="0">
                <a:solidFill>
                  <a:srgbClr val="C0392B"/>
                </a:solidFill>
                <a:latin typeface="Inter"/>
              </a:rPr>
              <a:t>Masalahnya</a:t>
            </a:r>
          </a:p>
        </p:txBody>
      </p:sp>
      <p:sp>
        <p:nvSpPr>
          <p:cNvPr id="43" name="Text 28"/>
          <p:cNvSpPr txBox="1"/>
          <p:nvPr/>
        </p:nvSpPr>
        <p:spPr>
          <a:xfrm>
            <a:off x="5422392" y="3552444"/>
            <a:ext cx="2926080" cy="1056131"/>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850" b="0" i="0">
                <a:solidFill>
                  <a:srgbClr val="434343"/>
                </a:solidFill>
                <a:latin typeface="Inter"/>
              </a:rPr>
              <a:t>Tiga window 5 menit, window 10:10 banyak request lambat (baris 22-24)</a:t>
            </a:r>
          </a:p>
          <a:p>
            <a:pPr marL="182880" indent="-182880" algn="l">
              <a:lnSpc>
                <a:spcPct val="115000"/>
              </a:lnSpc>
              <a:spcAft>
                <a:spcPts val="400"/>
              </a:spcAft>
              <a:buClr>
                <a:srgbClr val="E0764F"/>
              </a:buClr>
              <a:buSzPct val="100000"/>
              <a:buFont typeface="+mj-lt"/>
              <a:buAutoNum type="arabicPeriod"/>
            </a:pPr>
            <a:r>
              <a:rPr sz="850" b="0" i="0">
                <a:solidFill>
                  <a:srgbClr val="434343"/>
                </a:solidFill>
                <a:latin typeface="Inter"/>
              </a:rPr>
              <a:t>Setiap error menjadi 1 alert, dan dashboard hanya menampilkan rata-rata (baris 30-31)</a:t>
            </a:r>
          </a:p>
          <a:p>
            <a:pPr algn="l">
              <a:lnSpc>
                <a:spcPct val="115000"/>
              </a:lnSpc>
              <a:spcAft>
                <a:spcPts val="0"/>
              </a:spcAft>
            </a:pPr>
            <a:endParaRPr sz="850" b="0" i="0">
              <a:solidFill>
                <a:srgbClr val="434343"/>
              </a:solidFill>
              <a:latin typeface="Inter"/>
            </a:endParaRPr>
          </a:p>
          <a:p>
            <a:pPr algn="l">
              <a:lnSpc>
                <a:spcPct val="115000"/>
              </a:lnSpc>
              <a:spcAft>
                <a:spcPts val="400"/>
              </a:spcAft>
            </a:pPr>
            <a:r>
              <a:rPr sz="850" b="0" i="0">
                <a:solidFill>
                  <a:srgbClr val="434343"/>
                </a:solidFill>
                <a:latin typeface="Inter"/>
              </a:rPr>
              <a:t>9 alert, padahal hanya window 10:10 yang bermasalah.</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SLI &amp; Alerting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alert saat SLI di bawah SLO</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06-sli-alerting/after.py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7095"/>
              </a:lnSpc>
              <a:spcAft>
                <a:spcPts val="0"/>
              </a:spcAft>
            </a:pPr>
            <a:r>
              <a:rPr sz="700" i="0">
                <a:solidFill>
                  <a:srgbClr val="5C6773"/>
                </a:solidFill>
                <a:latin typeface="Inconsolata"/>
              </a:rPr>
              <a:t>14  </a:t>
            </a:r>
            <a:r>
              <a:rPr sz="700" i="0">
                <a:solidFill>
                  <a:srgbClr val="7FDBCA"/>
                </a:solidFill>
                <a:latin typeface="Inconsolata"/>
              </a:rPr>
              <a:t>SLO</a:t>
            </a:r>
            <a:r>
              <a:rPr sz="700" i="0">
                <a:solidFill>
                  <a:srgbClr val="E6EDF3"/>
                </a:solidFill>
                <a:latin typeface="Inconsolata"/>
              </a:rPr>
              <a:t> = {</a:t>
            </a:r>
            <a:r>
              <a:rPr sz="700" i="0">
                <a:solidFill>
                  <a:srgbClr val="A5D6A7"/>
                </a:solidFill>
                <a:latin typeface="Inconsolata"/>
              </a:rPr>
              <a:t>"availability"</a:t>
            </a:r>
            <a:r>
              <a:rPr sz="700" i="0">
                <a:solidFill>
                  <a:srgbClr val="E6EDF3"/>
                </a:solidFill>
                <a:latin typeface="Inconsolata"/>
              </a:rPr>
              <a:t>: </a:t>
            </a:r>
            <a:r>
              <a:rPr sz="700" i="0">
                <a:solidFill>
                  <a:srgbClr val="F9C97A"/>
                </a:solidFill>
                <a:latin typeface="Inconsolata"/>
              </a:rPr>
              <a:t>99</a:t>
            </a:r>
            <a:r>
              <a:rPr sz="700" i="0">
                <a:solidFill>
                  <a:srgbClr val="E6EDF3"/>
                </a:solidFill>
                <a:latin typeface="Inconsolata"/>
              </a:rPr>
              <a:t>.</a:t>
            </a:r>
            <a:r>
              <a:rPr sz="700" i="0">
                <a:solidFill>
                  <a:srgbClr val="F9C97A"/>
                </a:solidFill>
                <a:latin typeface="Inconsolata"/>
              </a:rPr>
              <a:t>5</a:t>
            </a:r>
            <a:r>
              <a:rPr sz="700" i="0">
                <a:solidFill>
                  <a:srgbClr val="E6EDF3"/>
                </a:solidFill>
                <a:latin typeface="Inconsolata"/>
              </a:rPr>
              <a:t>, </a:t>
            </a:r>
            <a:r>
              <a:rPr sz="700" i="0">
                <a:solidFill>
                  <a:srgbClr val="A5D6A7"/>
                </a:solidFill>
                <a:latin typeface="Inconsolata"/>
              </a:rPr>
              <a:t>"latency"</a:t>
            </a:r>
            <a:r>
              <a:rPr sz="700" i="0">
                <a:solidFill>
                  <a:srgbClr val="E6EDF3"/>
                </a:solidFill>
                <a:latin typeface="Inconsolata"/>
              </a:rPr>
              <a:t>: </a:t>
            </a:r>
            <a:r>
              <a:rPr sz="700" i="0">
                <a:solidFill>
                  <a:srgbClr val="F9C97A"/>
                </a:solidFill>
                <a:latin typeface="Inconsolata"/>
              </a:rPr>
              <a:t>95</a:t>
            </a:r>
            <a:r>
              <a:rPr sz="700" i="0">
                <a:solidFill>
                  <a:srgbClr val="E6EDF3"/>
                </a:solidFill>
                <a:latin typeface="Inconsolata"/>
              </a:rPr>
              <a:t>.</a:t>
            </a:r>
            <a:r>
              <a:rPr sz="700" i="0">
                <a:solidFill>
                  <a:srgbClr val="F9C97A"/>
                </a:solidFill>
                <a:latin typeface="Inconsolata"/>
              </a:rPr>
              <a:t>0</a:t>
            </a:r>
            <a:r>
              <a:rPr sz="700" i="0">
                <a:solidFill>
                  <a:srgbClr val="E6EDF3"/>
                </a:solidFill>
                <a:latin typeface="Inconsolata"/>
              </a:rPr>
              <a:t>}      </a:t>
            </a:r>
            <a:r>
              <a:rPr sz="700" i="1">
                <a:solidFill>
                  <a:srgbClr val="8B98A8"/>
                </a:solidFill>
                <a:latin typeface="Inconsolata"/>
              </a:rPr>
              <a:t># persen</a:t>
            </a:r>
          </a:p>
          <a:p>
            <a:pPr>
              <a:lnSpc>
                <a:spcPct val="107095"/>
              </a:lnSpc>
              <a:spcAft>
                <a:spcPts val="0"/>
              </a:spcAft>
            </a:pPr>
            <a:r>
              <a:rPr sz="700" i="0">
                <a:solidFill>
                  <a:srgbClr val="5C6773"/>
                </a:solidFill>
                <a:latin typeface="Inconsolata"/>
              </a:rPr>
              <a:t>15  </a:t>
            </a:r>
            <a:r>
              <a:rPr sz="700" i="0">
                <a:solidFill>
                  <a:srgbClr val="E6EDF3"/>
                </a:solidFill>
                <a:latin typeface="Inconsolata"/>
              </a:rPr>
              <a:t> </a:t>
            </a:r>
          </a:p>
          <a:p>
            <a:pPr>
              <a:lnSpc>
                <a:spcPct val="107095"/>
              </a:lnSpc>
              <a:spcAft>
                <a:spcPts val="0"/>
              </a:spcAft>
            </a:pPr>
            <a:r>
              <a:rPr sz="700" i="0">
                <a:solidFill>
                  <a:srgbClr val="5C6773"/>
                </a:solidFill>
                <a:latin typeface="Inconsolata"/>
              </a:rPr>
              <a:t>16  </a:t>
            </a:r>
            <a:r>
              <a:rPr sz="700" i="0">
                <a:solidFill>
                  <a:srgbClr val="E6EDF3"/>
                </a:solidFill>
                <a:latin typeface="Inconsolata"/>
              </a:rPr>
              <a:t> </a:t>
            </a:r>
          </a:p>
          <a:p>
            <a:pPr>
              <a:lnSpc>
                <a:spcPct val="107095"/>
              </a:lnSpc>
              <a:spcAft>
                <a:spcPts val="0"/>
              </a:spcAft>
            </a:pPr>
            <a:r>
              <a:rPr sz="700" i="0">
                <a:solidFill>
                  <a:srgbClr val="5C6773"/>
                </a:solidFill>
                <a:latin typeface="Inconsolata"/>
              </a:rPr>
              <a:t>17  </a:t>
            </a: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window</a:t>
            </a:r>
            <a:r>
              <a:rPr sz="700" i="0">
                <a:solidFill>
                  <a:srgbClr val="E6EDF3"/>
                </a:solidFill>
                <a:latin typeface="Inconsolata"/>
              </a:rPr>
              <a:t>(errors: </a:t>
            </a:r>
            <a:r>
              <a:rPr sz="700" i="0">
                <a:solidFill>
                  <a:srgbClr val="C3A6FF"/>
                </a:solidFill>
                <a:latin typeface="Inconsolata"/>
              </a:rPr>
              <a:t>int</a:t>
            </a:r>
            <a:r>
              <a:rPr sz="700" i="0">
                <a:solidFill>
                  <a:srgbClr val="E6EDF3"/>
                </a:solidFill>
                <a:latin typeface="Inconsolata"/>
              </a:rPr>
              <a:t>, slow: </a:t>
            </a:r>
            <a:r>
              <a:rPr sz="700" i="0">
                <a:solidFill>
                  <a:srgbClr val="C3A6FF"/>
                </a:solidFill>
                <a:latin typeface="Inconsolata"/>
              </a:rPr>
              <a:t>int</a:t>
            </a:r>
            <a:r>
              <a:rPr sz="700" i="0">
                <a:solidFill>
                  <a:srgbClr val="E6EDF3"/>
                </a:solidFill>
                <a:latin typeface="Inconsolata"/>
              </a:rPr>
              <a:t>, total: </a:t>
            </a:r>
            <a:r>
              <a:rPr sz="700" i="0">
                <a:solidFill>
                  <a:srgbClr val="C3A6FF"/>
                </a:solidFill>
                <a:latin typeface="Inconsolata"/>
              </a:rPr>
              <a:t>int</a:t>
            </a:r>
            <a:r>
              <a:rPr sz="700" i="0">
                <a:solidFill>
                  <a:srgbClr val="E6EDF3"/>
                </a:solidFill>
                <a:latin typeface="Inconsolata"/>
              </a:rPr>
              <a:t> = </a:t>
            </a:r>
            <a:r>
              <a:rPr sz="700" i="0">
                <a:solidFill>
                  <a:srgbClr val="F9C97A"/>
                </a:solidFill>
                <a:latin typeface="Inconsolata"/>
              </a:rPr>
              <a:t>1000</a:t>
            </a:r>
            <a:r>
              <a:rPr sz="700" i="0">
                <a:solidFill>
                  <a:srgbClr val="E6EDF3"/>
                </a:solidFill>
                <a:latin typeface="Inconsolata"/>
              </a:rPr>
              <a:t>) -&gt; </a:t>
            </a:r>
            <a:r>
              <a:rPr sz="700" i="0">
                <a:solidFill>
                  <a:srgbClr val="C3A6FF"/>
                </a:solidFill>
                <a:latin typeface="Inconsolata"/>
              </a:rPr>
              <a:t>list</a:t>
            </a:r>
            <a:r>
              <a:rPr sz="700" i="0">
                <a:solidFill>
                  <a:srgbClr val="E6EDF3"/>
                </a:solidFill>
                <a:latin typeface="Inconsolata"/>
              </a:rPr>
              <a:t>[</a:t>
            </a:r>
            <a:r>
              <a:rPr sz="700" i="0">
                <a:solidFill>
                  <a:srgbClr val="C3A6FF"/>
                </a:solidFill>
                <a:latin typeface="Inconsolata"/>
              </a:rPr>
              <a:t>dict</a:t>
            </a:r>
            <a:r>
              <a:rPr sz="700" i="0">
                <a:solidFill>
                  <a:srgbClr val="E6EDF3"/>
                </a:solidFill>
                <a:latin typeface="Inconsolata"/>
              </a:rPr>
              <a:t>]:</a:t>
            </a:r>
          </a:p>
          <a:p>
            <a:pPr>
              <a:lnSpc>
                <a:spcPct val="107095"/>
              </a:lnSpc>
              <a:spcAft>
                <a:spcPts val="0"/>
              </a:spcAft>
            </a:pPr>
            <a:r>
              <a:rPr sz="700" i="0">
                <a:solidFill>
                  <a:srgbClr val="5C6773"/>
                </a:solidFill>
                <a:latin typeface="Inconsolata"/>
              </a:rPr>
              <a:t>18  </a:t>
            </a:r>
            <a:r>
              <a:rPr sz="700" i="0">
                <a:solidFill>
                  <a:srgbClr val="E6EDF3"/>
                </a:solidFill>
                <a:latin typeface="Inconsolata"/>
              </a:rPr>
              <a:t>    </a:t>
            </a:r>
            <a:r>
              <a:rPr sz="700" i="0">
                <a:solidFill>
                  <a:srgbClr val="A5D6A7"/>
                </a:solidFill>
                <a:latin typeface="Inconsolata"/>
              </a:rPr>
              <a:t>"""Request simulasi: sebagian error, sebagian lambat (1.5 s)."""</a:t>
            </a:r>
          </a:p>
          <a:p>
            <a:pPr>
              <a:lnSpc>
                <a:spcPct val="107095"/>
              </a:lnSpc>
              <a:spcAft>
                <a:spcPts val="0"/>
              </a:spcAft>
            </a:pPr>
            <a:r>
              <a:rPr sz="700" i="0">
                <a:solidFill>
                  <a:srgbClr val="5C6773"/>
                </a:solidFill>
                <a:latin typeface="Inconsolata"/>
              </a:rPr>
              <a:t>19  </a:t>
            </a:r>
            <a:r>
              <a:rPr sz="700" i="0">
                <a:solidFill>
                  <a:srgbClr val="E6EDF3"/>
                </a:solidFill>
                <a:latin typeface="Inconsolata"/>
              </a:rPr>
              <a:t>    requests = []</a:t>
            </a:r>
          </a:p>
          <a:p>
            <a:pPr>
              <a:lnSpc>
                <a:spcPct val="107095"/>
              </a:lnSpc>
              <a:spcAft>
                <a:spcPts val="0"/>
              </a:spcAft>
            </a:pPr>
            <a:r>
              <a:rPr sz="700" i="0">
                <a:solidFill>
                  <a:srgbClr val="5C6773"/>
                </a:solidFill>
                <a:latin typeface="Inconsolata"/>
              </a:rPr>
              <a:t>20  </a:t>
            </a:r>
            <a:r>
              <a:rPr sz="700" i="0">
                <a:solidFill>
                  <a:srgbClr val="E6EDF3"/>
                </a:solidFill>
                <a:latin typeface="Inconsolata"/>
              </a:rPr>
              <a:t>    </a:t>
            </a:r>
            <a:r>
              <a:rPr sz="700" i="0">
                <a:solidFill>
                  <a:srgbClr val="FF8E6E"/>
                </a:solidFill>
                <a:latin typeface="Inconsolata"/>
              </a:rPr>
              <a:t>for</a:t>
            </a:r>
            <a:r>
              <a:rPr sz="700" i="0">
                <a:solidFill>
                  <a:srgbClr val="E6EDF3"/>
                </a:solidFill>
                <a:latin typeface="Inconsolata"/>
              </a:rPr>
              <a:t> i </a:t>
            </a:r>
            <a:r>
              <a:rPr sz="700" i="0">
                <a:solidFill>
                  <a:srgbClr val="FF8E6E"/>
                </a:solidFill>
                <a:latin typeface="Inconsolata"/>
              </a:rPr>
              <a:t>in</a:t>
            </a:r>
            <a:r>
              <a:rPr sz="700" i="0">
                <a:solidFill>
                  <a:srgbClr val="E6EDF3"/>
                </a:solidFill>
                <a:latin typeface="Inconsolata"/>
              </a:rPr>
              <a:t> </a:t>
            </a:r>
            <a:r>
              <a:rPr sz="700" i="0">
                <a:solidFill>
                  <a:srgbClr val="C3A6FF"/>
                </a:solidFill>
                <a:latin typeface="Inconsolata"/>
              </a:rPr>
              <a:t>range</a:t>
            </a:r>
            <a:r>
              <a:rPr sz="700" i="0">
                <a:solidFill>
                  <a:srgbClr val="E6EDF3"/>
                </a:solidFill>
                <a:latin typeface="Inconsolata"/>
              </a:rPr>
              <a:t>(total):</a:t>
            </a:r>
          </a:p>
          <a:p>
            <a:pPr>
              <a:lnSpc>
                <a:spcPct val="107095"/>
              </a:lnSpc>
              <a:spcAft>
                <a:spcPts val="0"/>
              </a:spcAft>
            </a:pPr>
            <a:r>
              <a:rPr sz="700" i="0">
                <a:solidFill>
                  <a:srgbClr val="5C6773"/>
                </a:solidFill>
                <a:latin typeface="Inconsolata"/>
              </a:rPr>
              <a:t>21  </a:t>
            </a:r>
            <a:r>
              <a:rPr sz="700" i="0">
                <a:solidFill>
                  <a:srgbClr val="E6EDF3"/>
                </a:solidFill>
                <a:latin typeface="Inconsolata"/>
              </a:rPr>
              <a:t>        requests.append({</a:t>
            </a:r>
            <a:r>
              <a:rPr sz="700" i="0">
                <a:solidFill>
                  <a:srgbClr val="A5D6A7"/>
                </a:solidFill>
                <a:latin typeface="Inconsolata"/>
              </a:rPr>
              <a:t>"status"</a:t>
            </a:r>
            <a:r>
              <a:rPr sz="700" i="0">
                <a:solidFill>
                  <a:srgbClr val="E6EDF3"/>
                </a:solidFill>
                <a:latin typeface="Inconsolata"/>
              </a:rPr>
              <a:t>: </a:t>
            </a:r>
            <a:r>
              <a:rPr sz="700" i="0">
                <a:solidFill>
                  <a:srgbClr val="F9C97A"/>
                </a:solidFill>
                <a:latin typeface="Inconsolata"/>
              </a:rPr>
              <a:t>500</a:t>
            </a:r>
            <a:r>
              <a:rPr sz="700" i="0">
                <a:solidFill>
                  <a:srgbClr val="E6EDF3"/>
                </a:solidFill>
                <a:latin typeface="Inconsolata"/>
              </a:rPr>
              <a:t> </a:t>
            </a:r>
            <a:r>
              <a:rPr sz="700" i="0">
                <a:solidFill>
                  <a:srgbClr val="FF8E6E"/>
                </a:solidFill>
                <a:latin typeface="Inconsolata"/>
              </a:rPr>
              <a:t>if</a:t>
            </a:r>
            <a:r>
              <a:rPr sz="700" i="0">
                <a:solidFill>
                  <a:srgbClr val="E6EDF3"/>
                </a:solidFill>
                <a:latin typeface="Inconsolata"/>
              </a:rPr>
              <a:t> i &lt; errors </a:t>
            </a:r>
            <a:r>
              <a:rPr sz="700" i="0">
                <a:solidFill>
                  <a:srgbClr val="FF8E6E"/>
                </a:solidFill>
                <a:latin typeface="Inconsolata"/>
              </a:rPr>
              <a:t>else</a:t>
            </a:r>
            <a:r>
              <a:rPr sz="700" i="0">
                <a:solidFill>
                  <a:srgbClr val="E6EDF3"/>
                </a:solidFill>
                <a:latin typeface="Inconsolata"/>
              </a:rPr>
              <a:t> </a:t>
            </a:r>
            <a:r>
              <a:rPr sz="700" i="0">
                <a:solidFill>
                  <a:srgbClr val="F9C97A"/>
                </a:solidFill>
                <a:latin typeface="Inconsolata"/>
              </a:rPr>
              <a:t>200</a:t>
            </a:r>
            <a:r>
              <a:rPr sz="700" i="0">
                <a:solidFill>
                  <a:srgbClr val="E6EDF3"/>
                </a:solidFill>
                <a:latin typeface="Inconsolata"/>
              </a:rPr>
              <a:t>,</a:t>
            </a:r>
          </a:p>
          <a:p>
            <a:pPr>
              <a:lnSpc>
                <a:spcPct val="107095"/>
              </a:lnSpc>
              <a:spcAft>
                <a:spcPts val="0"/>
              </a:spcAft>
            </a:pPr>
            <a:r>
              <a:rPr sz="700" i="0">
                <a:solidFill>
                  <a:srgbClr val="5C6773"/>
                </a:solidFill>
                <a:latin typeface="Inconsolata"/>
              </a:rPr>
              <a:t>22  </a:t>
            </a:r>
            <a:r>
              <a:rPr sz="700" i="0">
                <a:solidFill>
                  <a:srgbClr val="E6EDF3"/>
                </a:solidFill>
                <a:latin typeface="Inconsolata"/>
              </a:rPr>
              <a:t>                         </a:t>
            </a:r>
            <a:r>
              <a:rPr sz="700" i="0">
                <a:solidFill>
                  <a:srgbClr val="A5D6A7"/>
                </a:solidFill>
                <a:latin typeface="Inconsolata"/>
              </a:rPr>
              <a:t>"seconds"</a:t>
            </a:r>
            <a:r>
              <a:rPr sz="700" i="0">
                <a:solidFill>
                  <a:srgbClr val="E6EDF3"/>
                </a:solidFill>
                <a:latin typeface="Inconsolata"/>
              </a:rPr>
              <a:t>: </a:t>
            </a:r>
            <a:r>
              <a:rPr sz="700" i="0">
                <a:solidFill>
                  <a:srgbClr val="F9C97A"/>
                </a:solidFill>
                <a:latin typeface="Inconsolata"/>
              </a:rPr>
              <a:t>1</a:t>
            </a:r>
            <a:r>
              <a:rPr sz="700" i="0">
                <a:solidFill>
                  <a:srgbClr val="E6EDF3"/>
                </a:solidFill>
                <a:latin typeface="Inconsolata"/>
              </a:rPr>
              <a:t>.</a:t>
            </a:r>
            <a:r>
              <a:rPr sz="700" i="0">
                <a:solidFill>
                  <a:srgbClr val="F9C97A"/>
                </a:solidFill>
                <a:latin typeface="Inconsolata"/>
              </a:rPr>
              <a:t>5</a:t>
            </a:r>
            <a:r>
              <a:rPr sz="700" i="0">
                <a:solidFill>
                  <a:srgbClr val="E6EDF3"/>
                </a:solidFill>
                <a:latin typeface="Inconsolata"/>
              </a:rPr>
              <a:t> </a:t>
            </a:r>
            <a:r>
              <a:rPr sz="700" i="0">
                <a:solidFill>
                  <a:srgbClr val="FF8E6E"/>
                </a:solidFill>
                <a:latin typeface="Inconsolata"/>
              </a:rPr>
              <a:t>if</a:t>
            </a:r>
            <a:r>
              <a:rPr sz="700" i="0">
                <a:solidFill>
                  <a:srgbClr val="E6EDF3"/>
                </a:solidFill>
                <a:latin typeface="Inconsolata"/>
              </a:rPr>
              <a:t> i &gt;= total - slow </a:t>
            </a:r>
            <a:r>
              <a:rPr sz="700" i="0">
                <a:solidFill>
                  <a:srgbClr val="FF8E6E"/>
                </a:solidFill>
                <a:latin typeface="Inconsolata"/>
              </a:rPr>
              <a:t>else</a:t>
            </a:r>
            <a:r>
              <a:rPr sz="700" i="0">
                <a:solidFill>
                  <a:srgbClr val="E6EDF3"/>
                </a:solidFill>
                <a:latin typeface="Inconsolata"/>
              </a:rPr>
              <a:t> </a:t>
            </a:r>
            <a:r>
              <a:rPr sz="700" i="0">
                <a:solidFill>
                  <a:srgbClr val="F9C97A"/>
                </a:solidFill>
                <a:latin typeface="Inconsolata"/>
              </a:rPr>
              <a:t>0</a:t>
            </a:r>
            <a:r>
              <a:rPr sz="700" i="0">
                <a:solidFill>
                  <a:srgbClr val="E6EDF3"/>
                </a:solidFill>
                <a:latin typeface="Inconsolata"/>
              </a:rPr>
              <a:t>.</a:t>
            </a:r>
            <a:r>
              <a:rPr sz="700" i="0">
                <a:solidFill>
                  <a:srgbClr val="F9C97A"/>
                </a:solidFill>
                <a:latin typeface="Inconsolata"/>
              </a:rPr>
              <a:t>08</a:t>
            </a:r>
            <a:r>
              <a:rPr sz="700" i="0">
                <a:solidFill>
                  <a:srgbClr val="E6EDF3"/>
                </a:solidFill>
                <a:latin typeface="Inconsolata"/>
              </a:rPr>
              <a:t>})</a:t>
            </a:r>
          </a:p>
          <a:p>
            <a:pPr>
              <a:lnSpc>
                <a:spcPct val="107095"/>
              </a:lnSpc>
              <a:spcAft>
                <a:spcPts val="0"/>
              </a:spcAft>
            </a:pPr>
            <a:r>
              <a:rPr sz="700" i="0">
                <a:solidFill>
                  <a:srgbClr val="5C6773"/>
                </a:solidFill>
                <a:latin typeface="Inconsolata"/>
              </a:rPr>
              <a:t>23  </a:t>
            </a:r>
            <a:r>
              <a:rPr sz="700" i="0">
                <a:solidFill>
                  <a:srgbClr val="E6EDF3"/>
                </a:solidFill>
                <a:latin typeface="Inconsolata"/>
              </a:rPr>
              <a:t>    </a:t>
            </a:r>
            <a:r>
              <a:rPr sz="700" i="0">
                <a:solidFill>
                  <a:srgbClr val="FF8E6E"/>
                </a:solidFill>
                <a:latin typeface="Inconsolata"/>
              </a:rPr>
              <a:t>return</a:t>
            </a:r>
            <a:r>
              <a:rPr sz="700" i="0">
                <a:solidFill>
                  <a:srgbClr val="E6EDF3"/>
                </a:solidFill>
                <a:latin typeface="Inconsolata"/>
              </a:rPr>
              <a:t> requests</a:t>
            </a:r>
          </a:p>
          <a:p>
            <a:pPr>
              <a:lnSpc>
                <a:spcPct val="107095"/>
              </a:lnSpc>
              <a:spcAft>
                <a:spcPts val="0"/>
              </a:spcAft>
            </a:pPr>
            <a:r>
              <a:rPr sz="700" i="0">
                <a:solidFill>
                  <a:srgbClr val="5C6773"/>
                </a:solidFill>
                <a:latin typeface="Inconsolata"/>
              </a:rPr>
              <a:t>24  </a:t>
            </a:r>
            <a:r>
              <a:rPr sz="700" i="0">
                <a:solidFill>
                  <a:srgbClr val="E6EDF3"/>
                </a:solidFill>
                <a:latin typeface="Inconsolata"/>
              </a:rPr>
              <a:t> </a:t>
            </a:r>
          </a:p>
          <a:p>
            <a:pPr>
              <a:lnSpc>
                <a:spcPct val="107095"/>
              </a:lnSpc>
              <a:spcAft>
                <a:spcPts val="0"/>
              </a:spcAft>
            </a:pPr>
            <a:r>
              <a:rPr sz="700" i="0">
                <a:solidFill>
                  <a:srgbClr val="5C6773"/>
                </a:solidFill>
                <a:latin typeface="Inconsolata"/>
              </a:rPr>
              <a:t>25  </a:t>
            </a:r>
            <a:r>
              <a:rPr sz="700" i="0">
                <a:solidFill>
                  <a:srgbClr val="E6EDF3"/>
                </a:solidFill>
                <a:latin typeface="Inconsolata"/>
              </a:rPr>
              <a:t> </a:t>
            </a:r>
          </a:p>
          <a:p>
            <a:pPr>
              <a:lnSpc>
                <a:spcPct val="107095"/>
              </a:lnSpc>
              <a:spcAft>
                <a:spcPts val="0"/>
              </a:spcAft>
            </a:pPr>
            <a:r>
              <a:rPr sz="700" i="0">
                <a:solidFill>
                  <a:srgbClr val="5C6773"/>
                </a:solidFill>
                <a:latin typeface="Inconsolata"/>
              </a:rPr>
              <a:t>26  </a:t>
            </a:r>
            <a:r>
              <a:rPr sz="700" i="0">
                <a:solidFill>
                  <a:srgbClr val="7FDBCA"/>
                </a:solidFill>
                <a:latin typeface="Inconsolata"/>
              </a:rPr>
              <a:t>WINDOWS</a:t>
            </a:r>
            <a:r>
              <a:rPr sz="700" i="0">
                <a:solidFill>
                  <a:srgbClr val="E6EDF3"/>
                </a:solidFill>
                <a:latin typeface="Inconsolata"/>
              </a:rPr>
              <a:t> = {</a:t>
            </a:r>
            <a:r>
              <a:rPr sz="700" i="0">
                <a:solidFill>
                  <a:srgbClr val="A5D6A7"/>
                </a:solidFill>
                <a:latin typeface="Inconsolata"/>
              </a:rPr>
              <a:t>"10:00"</a:t>
            </a:r>
            <a:r>
              <a:rPr sz="700" i="0">
                <a:solidFill>
                  <a:srgbClr val="E6EDF3"/>
                </a:solidFill>
                <a:latin typeface="Inconsolata"/>
              </a:rPr>
              <a:t>: window(errors=</a:t>
            </a:r>
            <a:r>
              <a:rPr sz="700" i="0">
                <a:solidFill>
                  <a:srgbClr val="F9C97A"/>
                </a:solidFill>
                <a:latin typeface="Inconsolata"/>
              </a:rPr>
              <a:t>3</a:t>
            </a:r>
            <a:r>
              <a:rPr sz="700" i="0">
                <a:solidFill>
                  <a:srgbClr val="E6EDF3"/>
                </a:solidFill>
                <a:latin typeface="Inconsolata"/>
              </a:rPr>
              <a:t>, slow=</a:t>
            </a:r>
            <a:r>
              <a:rPr sz="700" i="0">
                <a:solidFill>
                  <a:srgbClr val="F9C97A"/>
                </a:solidFill>
                <a:latin typeface="Inconsolata"/>
              </a:rPr>
              <a:t>20</a:t>
            </a:r>
            <a:r>
              <a:rPr sz="700" i="0">
                <a:solidFill>
                  <a:srgbClr val="E6EDF3"/>
                </a:solidFill>
                <a:latin typeface="Inconsolata"/>
              </a:rPr>
              <a:t>),</a:t>
            </a:r>
          </a:p>
          <a:p>
            <a:pPr>
              <a:lnSpc>
                <a:spcPct val="107095"/>
              </a:lnSpc>
              <a:spcAft>
                <a:spcPts val="0"/>
              </a:spcAft>
            </a:pPr>
            <a:r>
              <a:rPr sz="700" i="0">
                <a:solidFill>
                  <a:srgbClr val="5C6773"/>
                </a:solidFill>
                <a:latin typeface="Inconsolata"/>
              </a:rPr>
              <a:t>27  </a:t>
            </a:r>
            <a:r>
              <a:rPr sz="700" i="0">
                <a:solidFill>
                  <a:srgbClr val="E6EDF3"/>
                </a:solidFill>
                <a:latin typeface="Inconsolata"/>
              </a:rPr>
              <a:t>           </a:t>
            </a:r>
            <a:r>
              <a:rPr sz="700" i="0">
                <a:solidFill>
                  <a:srgbClr val="A5D6A7"/>
                </a:solidFill>
                <a:latin typeface="Inconsolata"/>
              </a:rPr>
              <a:t>"10:05"</a:t>
            </a:r>
            <a:r>
              <a:rPr sz="700" i="0">
                <a:solidFill>
                  <a:srgbClr val="E6EDF3"/>
                </a:solidFill>
                <a:latin typeface="Inconsolata"/>
              </a:rPr>
              <a:t>: window(errors=</a:t>
            </a:r>
            <a:r>
              <a:rPr sz="700" i="0">
                <a:solidFill>
                  <a:srgbClr val="F9C97A"/>
                </a:solidFill>
                <a:latin typeface="Inconsolata"/>
              </a:rPr>
              <a:t>2</a:t>
            </a:r>
            <a:r>
              <a:rPr sz="700" i="0">
                <a:solidFill>
                  <a:srgbClr val="E6EDF3"/>
                </a:solidFill>
                <a:latin typeface="Inconsolata"/>
              </a:rPr>
              <a:t>, slow=</a:t>
            </a:r>
            <a:r>
              <a:rPr sz="700" i="0">
                <a:solidFill>
                  <a:srgbClr val="F9C97A"/>
                </a:solidFill>
                <a:latin typeface="Inconsolata"/>
              </a:rPr>
              <a:t>15</a:t>
            </a:r>
            <a:r>
              <a:rPr sz="700" i="0">
                <a:solidFill>
                  <a:srgbClr val="E6EDF3"/>
                </a:solidFill>
                <a:latin typeface="Inconsolata"/>
              </a:rPr>
              <a:t>),</a:t>
            </a:r>
          </a:p>
          <a:p>
            <a:pPr>
              <a:lnSpc>
                <a:spcPct val="107095"/>
              </a:lnSpc>
              <a:spcAft>
                <a:spcPts val="0"/>
              </a:spcAft>
            </a:pPr>
            <a:r>
              <a:rPr sz="700" i="0">
                <a:solidFill>
                  <a:srgbClr val="5C6773"/>
                </a:solidFill>
                <a:latin typeface="Inconsolata"/>
              </a:rPr>
              <a:t>28  </a:t>
            </a:r>
            <a:r>
              <a:rPr sz="700" i="0">
                <a:solidFill>
                  <a:srgbClr val="E6EDF3"/>
                </a:solidFill>
                <a:latin typeface="Inconsolata"/>
              </a:rPr>
              <a:t>           </a:t>
            </a:r>
            <a:r>
              <a:rPr sz="700" i="0">
                <a:solidFill>
                  <a:srgbClr val="A5D6A7"/>
                </a:solidFill>
                <a:latin typeface="Inconsolata"/>
              </a:rPr>
              <a:t>"10:10"</a:t>
            </a:r>
            <a:r>
              <a:rPr sz="700" i="0">
                <a:solidFill>
                  <a:srgbClr val="E6EDF3"/>
                </a:solidFill>
                <a:latin typeface="Inconsolata"/>
              </a:rPr>
              <a:t>: window(errors=</a:t>
            </a:r>
            <a:r>
              <a:rPr sz="700" i="0">
                <a:solidFill>
                  <a:srgbClr val="F9C97A"/>
                </a:solidFill>
                <a:latin typeface="Inconsolata"/>
              </a:rPr>
              <a:t>4</a:t>
            </a:r>
            <a:r>
              <a:rPr sz="700" i="0">
                <a:solidFill>
                  <a:srgbClr val="E6EDF3"/>
                </a:solidFill>
                <a:latin typeface="Inconsolata"/>
              </a:rPr>
              <a:t>, slow=</a:t>
            </a:r>
            <a:r>
              <a:rPr sz="700" i="0">
                <a:solidFill>
                  <a:srgbClr val="F9C97A"/>
                </a:solidFill>
                <a:latin typeface="Inconsolata"/>
              </a:rPr>
              <a:t>150</a:t>
            </a:r>
            <a:r>
              <a:rPr sz="700" i="0">
                <a:solidFill>
                  <a:srgbClr val="E6EDF3"/>
                </a:solidFill>
                <a:latin typeface="Inconsolata"/>
              </a:rPr>
              <a:t>)}    </a:t>
            </a:r>
            <a:r>
              <a:rPr sz="700" i="1">
                <a:solidFill>
                  <a:srgbClr val="8B98A8"/>
                </a:solidFill>
                <a:latin typeface="Inconsolata"/>
              </a:rPr>
              <a:t># masalah</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06-sli-alerting/after.py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7095"/>
              </a:lnSpc>
              <a:spcAft>
                <a:spcPts val="0"/>
              </a:spcAft>
            </a:pPr>
            <a:r>
              <a:rPr sz="700" i="0">
                <a:solidFill>
                  <a:srgbClr val="5C6773"/>
                </a:solidFill>
                <a:latin typeface="Inconsolata"/>
              </a:rPr>
              <a:t>31  </a:t>
            </a: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sli</a:t>
            </a:r>
            <a:r>
              <a:rPr sz="700" i="0">
                <a:solidFill>
                  <a:srgbClr val="E6EDF3"/>
                </a:solidFill>
                <a:latin typeface="Inconsolata"/>
              </a:rPr>
              <a:t>(requests: </a:t>
            </a:r>
            <a:r>
              <a:rPr sz="700" i="0">
                <a:solidFill>
                  <a:srgbClr val="C3A6FF"/>
                </a:solidFill>
                <a:latin typeface="Inconsolata"/>
              </a:rPr>
              <a:t>list</a:t>
            </a:r>
            <a:r>
              <a:rPr sz="700" i="0">
                <a:solidFill>
                  <a:srgbClr val="E6EDF3"/>
                </a:solidFill>
                <a:latin typeface="Inconsolata"/>
              </a:rPr>
              <a:t>[</a:t>
            </a:r>
            <a:r>
              <a:rPr sz="700" i="0">
                <a:solidFill>
                  <a:srgbClr val="C3A6FF"/>
                </a:solidFill>
                <a:latin typeface="Inconsolata"/>
              </a:rPr>
              <a:t>dict</a:t>
            </a:r>
            <a:r>
              <a:rPr sz="700" i="0">
                <a:solidFill>
                  <a:srgbClr val="E6EDF3"/>
                </a:solidFill>
                <a:latin typeface="Inconsolata"/>
              </a:rPr>
              <a:t>]) -&gt; </a:t>
            </a:r>
            <a:r>
              <a:rPr sz="700" i="0">
                <a:solidFill>
                  <a:srgbClr val="C3A6FF"/>
                </a:solidFill>
                <a:latin typeface="Inconsolata"/>
              </a:rPr>
              <a:t>dict</a:t>
            </a:r>
            <a:r>
              <a:rPr sz="700" i="0">
                <a:solidFill>
                  <a:srgbClr val="E6EDF3"/>
                </a:solidFill>
                <a:latin typeface="Inconsolata"/>
              </a:rPr>
              <a:t>:</a:t>
            </a:r>
          </a:p>
          <a:p>
            <a:pPr>
              <a:lnSpc>
                <a:spcPct val="107095"/>
              </a:lnSpc>
              <a:spcAft>
                <a:spcPts val="0"/>
              </a:spcAft>
            </a:pPr>
            <a:r>
              <a:rPr sz="700" i="0">
                <a:solidFill>
                  <a:srgbClr val="5C6773"/>
                </a:solidFill>
                <a:latin typeface="Inconsolata"/>
              </a:rPr>
              <a:t>32  </a:t>
            </a:r>
            <a:r>
              <a:rPr sz="700" i="0">
                <a:solidFill>
                  <a:srgbClr val="E6EDF3"/>
                </a:solidFill>
                <a:latin typeface="Inconsolata"/>
              </a:rPr>
              <a:t>    total = </a:t>
            </a:r>
            <a:r>
              <a:rPr sz="700" i="0">
                <a:solidFill>
                  <a:srgbClr val="C3A6FF"/>
                </a:solidFill>
                <a:latin typeface="Inconsolata"/>
              </a:rPr>
              <a:t>len</a:t>
            </a:r>
            <a:r>
              <a:rPr sz="700" i="0">
                <a:solidFill>
                  <a:srgbClr val="E6EDF3"/>
                </a:solidFill>
                <a:latin typeface="Inconsolata"/>
              </a:rPr>
              <a:t>(requests)</a:t>
            </a:r>
          </a:p>
          <a:p>
            <a:pPr>
              <a:lnSpc>
                <a:spcPct val="107095"/>
              </a:lnSpc>
              <a:spcAft>
                <a:spcPts val="0"/>
              </a:spcAft>
            </a:pPr>
            <a:r>
              <a:rPr sz="700" i="0">
                <a:solidFill>
                  <a:srgbClr val="5C6773"/>
                </a:solidFill>
                <a:latin typeface="Inconsolata"/>
              </a:rPr>
              <a:t>33  </a:t>
            </a:r>
            <a:r>
              <a:rPr sz="700" i="0">
                <a:solidFill>
                  <a:srgbClr val="E6EDF3"/>
                </a:solidFill>
                <a:latin typeface="Inconsolata"/>
              </a:rPr>
              <a:t>    ok = </a:t>
            </a:r>
            <a:r>
              <a:rPr sz="700" i="0">
                <a:solidFill>
                  <a:srgbClr val="C3A6FF"/>
                </a:solidFill>
                <a:latin typeface="Inconsolata"/>
              </a:rPr>
              <a:t>sum</a:t>
            </a:r>
            <a:r>
              <a:rPr sz="700" i="0">
                <a:solidFill>
                  <a:srgbClr val="E6EDF3"/>
                </a:solidFill>
                <a:latin typeface="Inconsolata"/>
              </a:rPr>
              <a:t>(r[</a:t>
            </a:r>
            <a:r>
              <a:rPr sz="700" i="0">
                <a:solidFill>
                  <a:srgbClr val="A5D6A7"/>
                </a:solidFill>
                <a:latin typeface="Inconsolata"/>
              </a:rPr>
              <a:t>"status"</a:t>
            </a:r>
            <a:r>
              <a:rPr sz="700" i="0">
                <a:solidFill>
                  <a:srgbClr val="E6EDF3"/>
                </a:solidFill>
                <a:latin typeface="Inconsolata"/>
              </a:rPr>
              <a:t>] &lt; </a:t>
            </a:r>
            <a:r>
              <a:rPr sz="700" i="0">
                <a:solidFill>
                  <a:srgbClr val="F9C97A"/>
                </a:solidFill>
                <a:latin typeface="Inconsolata"/>
              </a:rPr>
              <a:t>500</a:t>
            </a:r>
            <a:r>
              <a:rPr sz="700" i="0">
                <a:solidFill>
                  <a:srgbClr val="E6EDF3"/>
                </a:solidFill>
                <a:latin typeface="Inconsolata"/>
              </a:rPr>
              <a:t> </a:t>
            </a:r>
            <a:r>
              <a:rPr sz="700" i="0">
                <a:solidFill>
                  <a:srgbClr val="FF8E6E"/>
                </a:solidFill>
                <a:latin typeface="Inconsolata"/>
              </a:rPr>
              <a:t>for</a:t>
            </a:r>
            <a:r>
              <a:rPr sz="700" i="0">
                <a:solidFill>
                  <a:srgbClr val="E6EDF3"/>
                </a:solidFill>
                <a:latin typeface="Inconsolata"/>
              </a:rPr>
              <a:t> r </a:t>
            </a:r>
            <a:r>
              <a:rPr sz="700" i="0">
                <a:solidFill>
                  <a:srgbClr val="FF8E6E"/>
                </a:solidFill>
                <a:latin typeface="Inconsolata"/>
              </a:rPr>
              <a:t>in</a:t>
            </a:r>
            <a:r>
              <a:rPr sz="700" i="0">
                <a:solidFill>
                  <a:srgbClr val="E6EDF3"/>
                </a:solidFill>
                <a:latin typeface="Inconsolata"/>
              </a:rPr>
              <a:t> requests)</a:t>
            </a:r>
          </a:p>
          <a:p>
            <a:pPr>
              <a:lnSpc>
                <a:spcPct val="107095"/>
              </a:lnSpc>
              <a:spcAft>
                <a:spcPts val="0"/>
              </a:spcAft>
            </a:pPr>
            <a:r>
              <a:rPr sz="700" i="0">
                <a:solidFill>
                  <a:srgbClr val="5C6773"/>
                </a:solidFill>
                <a:latin typeface="Inconsolata"/>
              </a:rPr>
              <a:t>34  </a:t>
            </a:r>
            <a:r>
              <a:rPr sz="700" i="0">
                <a:solidFill>
                  <a:srgbClr val="E6EDF3"/>
                </a:solidFill>
                <a:latin typeface="Inconsolata"/>
              </a:rPr>
              <a:t>    fast = </a:t>
            </a:r>
            <a:r>
              <a:rPr sz="700" i="0">
                <a:solidFill>
                  <a:srgbClr val="C3A6FF"/>
                </a:solidFill>
                <a:latin typeface="Inconsolata"/>
              </a:rPr>
              <a:t>sum</a:t>
            </a:r>
            <a:r>
              <a:rPr sz="700" i="0">
                <a:solidFill>
                  <a:srgbClr val="E6EDF3"/>
                </a:solidFill>
                <a:latin typeface="Inconsolata"/>
              </a:rPr>
              <a:t>(r[</a:t>
            </a:r>
            <a:r>
              <a:rPr sz="700" i="0">
                <a:solidFill>
                  <a:srgbClr val="A5D6A7"/>
                </a:solidFill>
                <a:latin typeface="Inconsolata"/>
              </a:rPr>
              <a:t>"seconds"</a:t>
            </a:r>
            <a:r>
              <a:rPr sz="700" i="0">
                <a:solidFill>
                  <a:srgbClr val="E6EDF3"/>
                </a:solidFill>
                <a:latin typeface="Inconsolata"/>
              </a:rPr>
              <a:t>] &lt; </a:t>
            </a:r>
            <a:r>
              <a:rPr sz="700" i="0">
                <a:solidFill>
                  <a:srgbClr val="F9C97A"/>
                </a:solidFill>
                <a:latin typeface="Inconsolata"/>
              </a:rPr>
              <a:t>0</a:t>
            </a:r>
            <a:r>
              <a:rPr sz="700" i="0">
                <a:solidFill>
                  <a:srgbClr val="E6EDF3"/>
                </a:solidFill>
                <a:latin typeface="Inconsolata"/>
              </a:rPr>
              <a:t>.</a:t>
            </a:r>
            <a:r>
              <a:rPr sz="700" i="0">
                <a:solidFill>
                  <a:srgbClr val="F9C97A"/>
                </a:solidFill>
                <a:latin typeface="Inconsolata"/>
              </a:rPr>
              <a:t>3</a:t>
            </a:r>
            <a:r>
              <a:rPr sz="700" i="0">
                <a:solidFill>
                  <a:srgbClr val="E6EDF3"/>
                </a:solidFill>
                <a:latin typeface="Inconsolata"/>
              </a:rPr>
              <a:t> </a:t>
            </a:r>
            <a:r>
              <a:rPr sz="700" i="0">
                <a:solidFill>
                  <a:srgbClr val="FF8E6E"/>
                </a:solidFill>
                <a:latin typeface="Inconsolata"/>
              </a:rPr>
              <a:t>for</a:t>
            </a:r>
            <a:r>
              <a:rPr sz="700" i="0">
                <a:solidFill>
                  <a:srgbClr val="E6EDF3"/>
                </a:solidFill>
                <a:latin typeface="Inconsolata"/>
              </a:rPr>
              <a:t> r </a:t>
            </a:r>
            <a:r>
              <a:rPr sz="700" i="0">
                <a:solidFill>
                  <a:srgbClr val="FF8E6E"/>
                </a:solidFill>
                <a:latin typeface="Inconsolata"/>
              </a:rPr>
              <a:t>in</a:t>
            </a:r>
            <a:r>
              <a:rPr sz="700" i="0">
                <a:solidFill>
                  <a:srgbClr val="E6EDF3"/>
                </a:solidFill>
                <a:latin typeface="Inconsolata"/>
              </a:rPr>
              <a:t> requests)</a:t>
            </a:r>
          </a:p>
          <a:p>
            <a:pPr>
              <a:lnSpc>
                <a:spcPct val="107095"/>
              </a:lnSpc>
              <a:spcAft>
                <a:spcPts val="0"/>
              </a:spcAft>
            </a:pPr>
            <a:r>
              <a:rPr sz="700" i="0">
                <a:solidFill>
                  <a:srgbClr val="5C6773"/>
                </a:solidFill>
                <a:latin typeface="Inconsolata"/>
              </a:rPr>
              <a:t>35  </a:t>
            </a:r>
            <a:r>
              <a:rPr sz="700" i="0">
                <a:solidFill>
                  <a:srgbClr val="E6EDF3"/>
                </a:solidFill>
                <a:latin typeface="Inconsolata"/>
              </a:rPr>
              <a:t>    </a:t>
            </a:r>
            <a:r>
              <a:rPr sz="700" i="0">
                <a:solidFill>
                  <a:srgbClr val="FF8E6E"/>
                </a:solidFill>
                <a:latin typeface="Inconsolata"/>
              </a:rPr>
              <a:t>return</a:t>
            </a:r>
            <a:r>
              <a:rPr sz="700" i="0">
                <a:solidFill>
                  <a:srgbClr val="E6EDF3"/>
                </a:solidFill>
                <a:latin typeface="Inconsolata"/>
              </a:rPr>
              <a:t> {</a:t>
            </a:r>
            <a:r>
              <a:rPr sz="700" i="0">
                <a:solidFill>
                  <a:srgbClr val="A5D6A7"/>
                </a:solidFill>
                <a:latin typeface="Inconsolata"/>
              </a:rPr>
              <a:t>"availability"</a:t>
            </a:r>
            <a:r>
              <a:rPr sz="700" i="0">
                <a:solidFill>
                  <a:srgbClr val="E6EDF3"/>
                </a:solidFill>
                <a:latin typeface="Inconsolata"/>
              </a:rPr>
              <a:t>: ok / total * </a:t>
            </a:r>
            <a:r>
              <a:rPr sz="700" i="0">
                <a:solidFill>
                  <a:srgbClr val="F9C97A"/>
                </a:solidFill>
                <a:latin typeface="Inconsolata"/>
              </a:rPr>
              <a:t>100</a:t>
            </a:r>
            <a:r>
              <a:rPr sz="700" i="0">
                <a:solidFill>
                  <a:srgbClr val="E6EDF3"/>
                </a:solidFill>
                <a:latin typeface="Inconsolata"/>
              </a:rPr>
              <a:t>,</a:t>
            </a:r>
          </a:p>
          <a:p>
            <a:pPr>
              <a:lnSpc>
                <a:spcPct val="107095"/>
              </a:lnSpc>
              <a:spcAft>
                <a:spcPts val="0"/>
              </a:spcAft>
            </a:pPr>
            <a:r>
              <a:rPr sz="700" i="0">
                <a:solidFill>
                  <a:srgbClr val="5C6773"/>
                </a:solidFill>
                <a:latin typeface="Inconsolata"/>
              </a:rPr>
              <a:t>36  </a:t>
            </a:r>
            <a:r>
              <a:rPr sz="700" i="0">
                <a:solidFill>
                  <a:srgbClr val="E6EDF3"/>
                </a:solidFill>
                <a:latin typeface="Inconsolata"/>
              </a:rPr>
              <a:t>            </a:t>
            </a:r>
            <a:r>
              <a:rPr sz="700" i="0">
                <a:solidFill>
                  <a:srgbClr val="A5D6A7"/>
                </a:solidFill>
                <a:latin typeface="Inconsolata"/>
              </a:rPr>
              <a:t>"latency"</a:t>
            </a:r>
            <a:r>
              <a:rPr sz="700" i="0">
                <a:solidFill>
                  <a:srgbClr val="E6EDF3"/>
                </a:solidFill>
                <a:latin typeface="Inconsolata"/>
              </a:rPr>
              <a:t>: fast / total * </a:t>
            </a:r>
            <a:r>
              <a:rPr sz="700" i="0">
                <a:solidFill>
                  <a:srgbClr val="F9C97A"/>
                </a:solidFill>
                <a:latin typeface="Inconsolata"/>
              </a:rPr>
              <a:t>100</a:t>
            </a:r>
            <a:r>
              <a:rPr sz="700" i="0">
                <a:solidFill>
                  <a:srgbClr val="E6EDF3"/>
                </a:solidFill>
                <a:latin typeface="Inconsolata"/>
              </a:rPr>
              <a:t>}</a:t>
            </a:r>
          </a:p>
          <a:p>
            <a:pPr>
              <a:lnSpc>
                <a:spcPct val="107095"/>
              </a:lnSpc>
              <a:spcAft>
                <a:spcPts val="0"/>
              </a:spcAft>
            </a:pPr>
            <a:r>
              <a:rPr sz="700" i="0">
                <a:solidFill>
                  <a:srgbClr val="5C6773"/>
                </a:solidFill>
                <a:latin typeface="Inconsolata"/>
              </a:rPr>
              <a:t>37  </a:t>
            </a:r>
            <a:r>
              <a:rPr sz="700" i="0">
                <a:solidFill>
                  <a:srgbClr val="E6EDF3"/>
                </a:solidFill>
                <a:latin typeface="Inconsolata"/>
              </a:rPr>
              <a:t> </a:t>
            </a:r>
          </a:p>
          <a:p>
            <a:pPr>
              <a:lnSpc>
                <a:spcPct val="107095"/>
              </a:lnSpc>
              <a:spcAft>
                <a:spcPts val="0"/>
              </a:spcAft>
            </a:pPr>
            <a:r>
              <a:rPr sz="700" i="0">
                <a:solidFill>
                  <a:srgbClr val="5C6773"/>
                </a:solidFill>
                <a:latin typeface="Inconsolata"/>
              </a:rPr>
              <a:t>38  </a:t>
            </a:r>
            <a:r>
              <a:rPr sz="700" i="0">
                <a:solidFill>
                  <a:srgbClr val="E6EDF3"/>
                </a:solidFill>
                <a:latin typeface="Inconsolata"/>
              </a:rPr>
              <a:t> </a:t>
            </a:r>
          </a:p>
          <a:p>
            <a:pPr>
              <a:lnSpc>
                <a:spcPct val="107095"/>
              </a:lnSpc>
              <a:spcAft>
                <a:spcPts val="0"/>
              </a:spcAft>
            </a:pPr>
            <a:r>
              <a:rPr sz="700" i="0">
                <a:solidFill>
                  <a:srgbClr val="5C6773"/>
                </a:solidFill>
                <a:latin typeface="Inconsolata"/>
              </a:rPr>
              <a:t>39  </a:t>
            </a:r>
            <a:r>
              <a:rPr sz="700" i="0">
                <a:solidFill>
                  <a:srgbClr val="FF8E6E"/>
                </a:solidFill>
                <a:latin typeface="Inconsolata"/>
              </a:rPr>
              <a:t>if</a:t>
            </a:r>
            <a:r>
              <a:rPr sz="700" i="0">
                <a:solidFill>
                  <a:srgbClr val="E6EDF3"/>
                </a:solidFill>
                <a:latin typeface="Inconsolata"/>
              </a:rPr>
              <a:t> __name__ == </a:t>
            </a:r>
            <a:r>
              <a:rPr sz="700" i="0">
                <a:solidFill>
                  <a:srgbClr val="A5D6A7"/>
                </a:solidFill>
                <a:latin typeface="Inconsolata"/>
              </a:rPr>
              <a:t>"__main__"</a:t>
            </a:r>
            <a:r>
              <a:rPr sz="700" i="0">
                <a:solidFill>
                  <a:srgbClr val="E6EDF3"/>
                </a:solidFill>
                <a:latin typeface="Inconsolata"/>
              </a:rPr>
              <a:t>:</a:t>
            </a:r>
          </a:p>
          <a:p>
            <a:pPr>
              <a:lnSpc>
                <a:spcPct val="107095"/>
              </a:lnSpc>
              <a:spcAft>
                <a:spcPts val="0"/>
              </a:spcAft>
            </a:pPr>
            <a:r>
              <a:rPr sz="700" i="0">
                <a:solidFill>
                  <a:srgbClr val="5C6773"/>
                </a:solidFill>
                <a:latin typeface="Inconsolata"/>
              </a:rPr>
              <a:t>40  </a:t>
            </a:r>
            <a:r>
              <a:rPr sz="700" i="0">
                <a:solidFill>
                  <a:srgbClr val="E6EDF3"/>
                </a:solidFill>
                <a:latin typeface="Inconsolata"/>
              </a:rPr>
              <a:t>    alerts = </a:t>
            </a:r>
            <a:r>
              <a:rPr sz="700" i="0">
                <a:solidFill>
                  <a:srgbClr val="F9C97A"/>
                </a:solidFill>
                <a:latin typeface="Inconsolata"/>
              </a:rPr>
              <a:t>0</a:t>
            </a:r>
          </a:p>
          <a:p>
            <a:pPr>
              <a:lnSpc>
                <a:spcPct val="107095"/>
              </a:lnSpc>
              <a:spcAft>
                <a:spcPts val="0"/>
              </a:spcAft>
            </a:pPr>
            <a:r>
              <a:rPr sz="700" i="0">
                <a:solidFill>
                  <a:srgbClr val="5C6773"/>
                </a:solidFill>
                <a:latin typeface="Inconsolata"/>
              </a:rPr>
              <a:t>41  </a:t>
            </a:r>
            <a:r>
              <a:rPr sz="700" i="0">
                <a:solidFill>
                  <a:srgbClr val="E6EDF3"/>
                </a:solidFill>
                <a:latin typeface="Inconsolata"/>
              </a:rPr>
              <a:t>    </a:t>
            </a:r>
            <a:r>
              <a:rPr sz="700" i="0">
                <a:solidFill>
                  <a:srgbClr val="FF8E6E"/>
                </a:solidFill>
                <a:latin typeface="Inconsolata"/>
              </a:rPr>
              <a:t>for</a:t>
            </a:r>
            <a:r>
              <a:rPr sz="700" i="0">
                <a:solidFill>
                  <a:srgbClr val="E6EDF3"/>
                </a:solidFill>
                <a:latin typeface="Inconsolata"/>
              </a:rPr>
              <a:t> name, requests </a:t>
            </a:r>
            <a:r>
              <a:rPr sz="700" i="0">
                <a:solidFill>
                  <a:srgbClr val="FF8E6E"/>
                </a:solidFill>
                <a:latin typeface="Inconsolata"/>
              </a:rPr>
              <a:t>in</a:t>
            </a:r>
            <a:r>
              <a:rPr sz="700" i="0">
                <a:solidFill>
                  <a:srgbClr val="E6EDF3"/>
                </a:solidFill>
                <a:latin typeface="Inconsolata"/>
              </a:rPr>
              <a:t> </a:t>
            </a:r>
            <a:r>
              <a:rPr sz="700" i="0">
                <a:solidFill>
                  <a:srgbClr val="7FDBCA"/>
                </a:solidFill>
                <a:latin typeface="Inconsolata"/>
              </a:rPr>
              <a:t>WINDOWS</a:t>
            </a:r>
            <a:r>
              <a:rPr sz="700" i="0">
                <a:solidFill>
                  <a:srgbClr val="E6EDF3"/>
                </a:solidFill>
                <a:latin typeface="Inconsolata"/>
              </a:rPr>
              <a:t>.items():</a:t>
            </a:r>
          </a:p>
          <a:p>
            <a:pPr>
              <a:lnSpc>
                <a:spcPct val="107095"/>
              </a:lnSpc>
              <a:spcAft>
                <a:spcPts val="0"/>
              </a:spcAft>
            </a:pPr>
            <a:r>
              <a:rPr sz="700" i="0">
                <a:solidFill>
                  <a:srgbClr val="5C6773"/>
                </a:solidFill>
                <a:latin typeface="Inconsolata"/>
              </a:rPr>
              <a:t>42  </a:t>
            </a:r>
            <a:r>
              <a:rPr sz="700" i="0">
                <a:solidFill>
                  <a:srgbClr val="E6EDF3"/>
                </a:solidFill>
                <a:latin typeface="Inconsolata"/>
              </a:rPr>
              <a:t>        values = sli(requests)</a:t>
            </a:r>
          </a:p>
          <a:p>
            <a:pPr>
              <a:lnSpc>
                <a:spcPct val="107095"/>
              </a:lnSpc>
              <a:spcAft>
                <a:spcPts val="0"/>
              </a:spcAft>
            </a:pPr>
            <a:r>
              <a:rPr sz="700" i="0">
                <a:solidFill>
                  <a:srgbClr val="5C6773"/>
                </a:solidFill>
                <a:latin typeface="Inconsolata"/>
              </a:rPr>
              <a:t>43  </a:t>
            </a:r>
            <a:r>
              <a:rPr sz="700" i="0">
                <a:solidFill>
                  <a:srgbClr val="E6EDF3"/>
                </a:solidFill>
                <a:latin typeface="Inconsolata"/>
              </a:rPr>
              <a:t>        broken = [k </a:t>
            </a:r>
            <a:r>
              <a:rPr sz="700" i="0">
                <a:solidFill>
                  <a:srgbClr val="FF8E6E"/>
                </a:solidFill>
                <a:latin typeface="Inconsolata"/>
              </a:rPr>
              <a:t>for</a:t>
            </a:r>
            <a:r>
              <a:rPr sz="700" i="0">
                <a:solidFill>
                  <a:srgbClr val="E6EDF3"/>
                </a:solidFill>
                <a:latin typeface="Inconsolata"/>
              </a:rPr>
              <a:t> k, v </a:t>
            </a:r>
            <a:r>
              <a:rPr sz="700" i="0">
                <a:solidFill>
                  <a:srgbClr val="FF8E6E"/>
                </a:solidFill>
                <a:latin typeface="Inconsolata"/>
              </a:rPr>
              <a:t>in</a:t>
            </a:r>
            <a:r>
              <a:rPr sz="700" i="0">
                <a:solidFill>
                  <a:srgbClr val="E6EDF3"/>
                </a:solidFill>
                <a:latin typeface="Inconsolata"/>
              </a:rPr>
              <a:t> values.items() </a:t>
            </a:r>
            <a:r>
              <a:rPr sz="700" i="0">
                <a:solidFill>
                  <a:srgbClr val="FF8E6E"/>
                </a:solidFill>
                <a:latin typeface="Inconsolata"/>
              </a:rPr>
              <a:t>if</a:t>
            </a:r>
            <a:r>
              <a:rPr sz="700" i="0">
                <a:solidFill>
                  <a:srgbClr val="E6EDF3"/>
                </a:solidFill>
                <a:latin typeface="Inconsolata"/>
              </a:rPr>
              <a:t> v &lt; </a:t>
            </a:r>
            <a:r>
              <a:rPr sz="700" i="0">
                <a:solidFill>
                  <a:srgbClr val="7FDBCA"/>
                </a:solidFill>
                <a:latin typeface="Inconsolata"/>
              </a:rPr>
              <a:t>SLO</a:t>
            </a:r>
            <a:r>
              <a:rPr sz="700" i="0">
                <a:solidFill>
                  <a:srgbClr val="E6EDF3"/>
                </a:solidFill>
                <a:latin typeface="Inconsolata"/>
              </a:rPr>
              <a:t>[k]]</a:t>
            </a:r>
          </a:p>
          <a:p>
            <a:pPr>
              <a:lnSpc>
                <a:spcPct val="107095"/>
              </a:lnSpc>
              <a:spcAft>
                <a:spcPts val="0"/>
              </a:spcAft>
            </a:pPr>
            <a:r>
              <a:rPr sz="700" i="0">
                <a:solidFill>
                  <a:srgbClr val="5C6773"/>
                </a:solidFill>
                <a:latin typeface="Inconsolata"/>
              </a:rPr>
              <a:t>44  </a:t>
            </a:r>
            <a:r>
              <a:rPr sz="700" i="0">
                <a:solidFill>
                  <a:srgbClr val="E6EDF3"/>
                </a:solidFill>
                <a:latin typeface="Inconsolata"/>
              </a:rPr>
              <a:t>        alerts += </a:t>
            </a:r>
            <a:r>
              <a:rPr sz="700" i="0">
                <a:solidFill>
                  <a:srgbClr val="F9C97A"/>
                </a:solidFill>
                <a:latin typeface="Inconsolata"/>
              </a:rPr>
              <a:t>1</a:t>
            </a:r>
            <a:r>
              <a:rPr sz="700" i="0">
                <a:solidFill>
                  <a:srgbClr val="E6EDF3"/>
                </a:solidFill>
                <a:latin typeface="Inconsolata"/>
              </a:rPr>
              <a:t> </a:t>
            </a:r>
            <a:r>
              <a:rPr sz="700" i="0">
                <a:solidFill>
                  <a:srgbClr val="FF8E6E"/>
                </a:solidFill>
                <a:latin typeface="Inconsolata"/>
              </a:rPr>
              <a:t>if</a:t>
            </a:r>
            <a:r>
              <a:rPr sz="700" i="0">
                <a:solidFill>
                  <a:srgbClr val="E6EDF3"/>
                </a:solidFill>
                <a:latin typeface="Inconsolata"/>
              </a:rPr>
              <a:t> broken </a:t>
            </a:r>
            <a:r>
              <a:rPr sz="700" i="0">
                <a:solidFill>
                  <a:srgbClr val="FF8E6E"/>
                </a:solidFill>
                <a:latin typeface="Inconsolata"/>
              </a:rPr>
              <a:t>else</a:t>
            </a:r>
            <a:r>
              <a:rPr sz="700" i="0">
                <a:solidFill>
                  <a:srgbClr val="E6EDF3"/>
                </a:solidFill>
                <a:latin typeface="Inconsolata"/>
              </a:rPr>
              <a:t> </a:t>
            </a:r>
            <a:r>
              <a:rPr sz="700" i="0">
                <a:solidFill>
                  <a:srgbClr val="F9C97A"/>
                </a:solidFill>
                <a:latin typeface="Inconsolata"/>
              </a:rPr>
              <a:t>0</a:t>
            </a:r>
          </a:p>
          <a:p>
            <a:pPr>
              <a:lnSpc>
                <a:spcPct val="107095"/>
              </a:lnSpc>
              <a:spcAft>
                <a:spcPts val="0"/>
              </a:spcAft>
            </a:pPr>
            <a:r>
              <a:rPr sz="700" i="0">
                <a:solidFill>
                  <a:srgbClr val="5C6773"/>
                </a:solidFill>
                <a:latin typeface="Inconsolata"/>
              </a:rPr>
              <a:t>45  </a:t>
            </a:r>
            <a:r>
              <a:rPr sz="700" i="0">
                <a:solidFill>
                  <a:srgbClr val="E6EDF3"/>
                </a:solidFill>
                <a:latin typeface="Inconsolata"/>
              </a:rPr>
              <a:t>        status = </a:t>
            </a:r>
            <a:r>
              <a:rPr sz="700" i="0">
                <a:solidFill>
                  <a:srgbClr val="A5D6A7"/>
                </a:solidFill>
                <a:latin typeface="Inconsolata"/>
              </a:rPr>
              <a:t>f"ALERT: {', '.join(broken)}"</a:t>
            </a:r>
            <a:r>
              <a:rPr sz="700" i="0">
                <a:solidFill>
                  <a:srgbClr val="E6EDF3"/>
                </a:solidFill>
                <a:latin typeface="Inconsolata"/>
              </a:rPr>
              <a:t> </a:t>
            </a:r>
            <a:r>
              <a:rPr sz="700" i="0">
                <a:solidFill>
                  <a:srgbClr val="FF8E6E"/>
                </a:solidFill>
                <a:latin typeface="Inconsolata"/>
              </a:rPr>
              <a:t>if</a:t>
            </a:r>
            <a:r>
              <a:rPr sz="700" i="0">
                <a:solidFill>
                  <a:srgbClr val="E6EDF3"/>
                </a:solidFill>
                <a:latin typeface="Inconsolata"/>
              </a:rPr>
              <a:t> broken </a:t>
            </a:r>
            <a:r>
              <a:rPr sz="700" i="0">
                <a:solidFill>
                  <a:srgbClr val="FF8E6E"/>
                </a:solidFill>
                <a:latin typeface="Inconsolata"/>
              </a:rPr>
              <a:t>else</a:t>
            </a:r>
            <a:r>
              <a:rPr sz="700" i="0">
                <a:solidFill>
                  <a:srgbClr val="E6EDF3"/>
                </a:solidFill>
                <a:latin typeface="Inconsolata"/>
              </a:rPr>
              <a:t> </a:t>
            </a:r>
            <a:r>
              <a:rPr sz="700" i="0">
                <a:solidFill>
                  <a:srgbClr val="A5D6A7"/>
                </a:solidFill>
                <a:latin typeface="Inconsolata"/>
              </a:rPr>
              <a:t>"ok"</a:t>
            </a:r>
          </a:p>
          <a:p>
            <a:pPr>
              <a:lnSpc>
                <a:spcPct val="107095"/>
              </a:lnSpc>
              <a:spcAft>
                <a:spcPts val="0"/>
              </a:spcAft>
            </a:pPr>
            <a:r>
              <a:rPr sz="700" i="0">
                <a:solidFill>
                  <a:srgbClr val="5C6773"/>
                </a:solidFill>
                <a:latin typeface="Inconsolata"/>
              </a:rPr>
              <a:t>46  </a:t>
            </a:r>
            <a:r>
              <a:rPr sz="700" i="0">
                <a:solidFill>
                  <a:srgbClr val="E6EDF3"/>
                </a:solidFill>
                <a:latin typeface="Inconsolata"/>
              </a:rPr>
              <a:t>        </a:t>
            </a:r>
            <a:r>
              <a:rPr sz="700" i="0">
                <a:solidFill>
                  <a:srgbClr val="C3A6FF"/>
                </a:solidFill>
                <a:latin typeface="Inconsolata"/>
              </a:rPr>
              <a:t>print</a:t>
            </a:r>
            <a:r>
              <a:rPr sz="700" i="0">
                <a:solidFill>
                  <a:srgbClr val="E6EDF3"/>
                </a:solidFill>
                <a:latin typeface="Inconsolata"/>
              </a:rPr>
              <a:t>(</a:t>
            </a:r>
            <a:r>
              <a:rPr sz="700" i="0">
                <a:solidFill>
                  <a:srgbClr val="A5D6A7"/>
                </a:solidFill>
                <a:latin typeface="Inconsolata"/>
              </a:rPr>
              <a:t>f"{name}  availability={values['availability']:.1f}%"</a:t>
            </a:r>
          </a:p>
          <a:p>
            <a:pPr>
              <a:lnSpc>
                <a:spcPct val="107095"/>
              </a:lnSpc>
              <a:spcAft>
                <a:spcPts val="0"/>
              </a:spcAft>
            </a:pPr>
            <a:r>
              <a:rPr sz="700" i="0">
                <a:solidFill>
                  <a:srgbClr val="5C6773"/>
                </a:solidFill>
                <a:latin typeface="Inconsolata"/>
              </a:rPr>
              <a:t>47  </a:t>
            </a:r>
            <a:r>
              <a:rPr sz="700" i="0">
                <a:solidFill>
                  <a:srgbClr val="E6EDF3"/>
                </a:solidFill>
                <a:latin typeface="Inconsolata"/>
              </a:rPr>
              <a:t>              </a:t>
            </a:r>
            <a:r>
              <a:rPr sz="700" i="0">
                <a:solidFill>
                  <a:srgbClr val="A5D6A7"/>
                </a:solidFill>
                <a:latin typeface="Inconsolata"/>
              </a:rPr>
              <a:t>f"  latency&lt;300ms={values['latency']:.1f}%  -&gt; {status}"</a:t>
            </a:r>
            <a:r>
              <a:rPr sz="700" i="0">
                <a:solidFill>
                  <a:srgbClr val="E6EDF3"/>
                </a:solidFill>
                <a:latin typeface="Inconsolata"/>
              </a:rPr>
              <a:t>)</a:t>
            </a:r>
          </a:p>
          <a:p>
            <a:pPr>
              <a:lnSpc>
                <a:spcPct val="107095"/>
              </a:lnSpc>
              <a:spcAft>
                <a:spcPts val="0"/>
              </a:spcAft>
            </a:pPr>
            <a:r>
              <a:rPr sz="700" i="0">
                <a:solidFill>
                  <a:srgbClr val="5C6773"/>
                </a:solidFill>
                <a:latin typeface="Inconsolata"/>
              </a:rPr>
              <a:t>48  </a:t>
            </a:r>
            <a:r>
              <a:rPr sz="700" i="0">
                <a:solidFill>
                  <a:srgbClr val="E6EDF3"/>
                </a:solidFill>
                <a:latin typeface="Inconsolata"/>
              </a:rPr>
              <a:t>    </a:t>
            </a:r>
            <a:r>
              <a:rPr sz="700" i="0">
                <a:solidFill>
                  <a:srgbClr val="C3A6FF"/>
                </a:solidFill>
                <a:latin typeface="Inconsolata"/>
              </a:rPr>
              <a:t>print</a:t>
            </a:r>
            <a:r>
              <a:rPr sz="700" i="0">
                <a:solidFill>
                  <a:srgbClr val="E6EDF3"/>
                </a:solidFill>
                <a:latin typeface="Inconsolata"/>
              </a:rPr>
              <a:t>(</a:t>
            </a:r>
            <a:r>
              <a:rPr sz="700" i="0">
                <a:solidFill>
                  <a:srgbClr val="A5D6A7"/>
                </a:solidFill>
                <a:latin typeface="Inconsolata"/>
              </a:rPr>
              <a:t>f"SLO: availability &gt;= {SLO['availability']}%, "</a:t>
            </a:r>
          </a:p>
          <a:p>
            <a:pPr>
              <a:lnSpc>
                <a:spcPct val="107095"/>
              </a:lnSpc>
              <a:spcAft>
                <a:spcPts val="0"/>
              </a:spcAft>
            </a:pPr>
            <a:r>
              <a:rPr sz="700" i="0">
                <a:solidFill>
                  <a:srgbClr val="5C6773"/>
                </a:solidFill>
                <a:latin typeface="Inconsolata"/>
              </a:rPr>
              <a:t>49  </a:t>
            </a:r>
            <a:r>
              <a:rPr sz="700" i="0">
                <a:solidFill>
                  <a:srgbClr val="E6EDF3"/>
                </a:solidFill>
                <a:latin typeface="Inconsolata"/>
              </a:rPr>
              <a:t>          </a:t>
            </a:r>
            <a:r>
              <a:rPr sz="700" i="0">
                <a:solidFill>
                  <a:srgbClr val="A5D6A7"/>
                </a:solidFill>
                <a:latin typeface="Inconsolata"/>
              </a:rPr>
              <a:t>f"latency&lt;300ms &gt;= {SLO['latency']}%"</a:t>
            </a:r>
            <a:r>
              <a:rPr sz="700" i="0">
                <a:solidFill>
                  <a:srgbClr val="E6EDF3"/>
                </a:solidFill>
                <a:latin typeface="Inconsolata"/>
              </a:rPr>
              <a:t>)</a:t>
            </a:r>
          </a:p>
          <a:p>
            <a:pPr>
              <a:lnSpc>
                <a:spcPct val="107095"/>
              </a:lnSpc>
              <a:spcAft>
                <a:spcPts val="0"/>
              </a:spcAft>
            </a:pPr>
            <a:r>
              <a:rPr sz="700" i="0">
                <a:solidFill>
                  <a:srgbClr val="5C6773"/>
                </a:solidFill>
                <a:latin typeface="Inconsolata"/>
              </a:rPr>
              <a:t>50  </a:t>
            </a:r>
            <a:r>
              <a:rPr sz="700" i="0">
                <a:solidFill>
                  <a:srgbClr val="E6EDF3"/>
                </a:solidFill>
                <a:latin typeface="Inconsolata"/>
              </a:rPr>
              <a:t>    </a:t>
            </a:r>
            <a:r>
              <a:rPr sz="700" i="0">
                <a:solidFill>
                  <a:srgbClr val="C3A6FF"/>
                </a:solidFill>
                <a:latin typeface="Inconsolata"/>
              </a:rPr>
              <a:t>print</a:t>
            </a:r>
            <a:r>
              <a:rPr sz="700" i="0">
                <a:solidFill>
                  <a:srgbClr val="E6EDF3"/>
                </a:solidFill>
                <a:latin typeface="Inconsolata"/>
              </a:rPr>
              <a:t>(</a:t>
            </a:r>
            <a:r>
              <a:rPr sz="700" i="0">
                <a:solidFill>
                  <a:srgbClr val="A5D6A7"/>
                </a:solidFill>
                <a:latin typeface="Inconsolata"/>
              </a:rPr>
              <a:t>f"Total alert ke tim on-call: {alerts}"</a:t>
            </a:r>
            <a:r>
              <a:rPr sz="700" i="0">
                <a:solidFill>
                  <a:srgbClr val="E6EDF3"/>
                </a:solidFill>
                <a:latin typeface="Inconsolata"/>
              </a:rPr>
              <a:t>)</a:t>
            </a:r>
          </a:p>
        </p:txBody>
      </p:sp>
      <p:sp>
        <p:nvSpPr>
          <p:cNvPr id="36" name="Box 21"/>
          <p:cNvSpPr/>
          <p:nvPr/>
        </p:nvSpPr>
        <p:spPr>
          <a:xfrm>
            <a:off x="704088" y="1825371"/>
            <a:ext cx="3694176" cy="107442"/>
          </a:xfrm>
          <a:prstGeom prst="roundRect">
            <a:avLst>
              <a:gd name="adj" fmla="val 42553"/>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17602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1825371"/>
            <a:ext cx="3694176" cy="564642"/>
          </a:xfrm>
          <a:prstGeom prst="roundRect">
            <a:avLst>
              <a:gd name="adj" fmla="val 80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19888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40" name="Box 25"/>
          <p:cNvSpPr/>
          <p:nvPr/>
        </p:nvSpPr>
        <p:spPr>
          <a:xfrm>
            <a:off x="4709159" y="3196971"/>
            <a:ext cx="3694176" cy="221742"/>
          </a:xfrm>
          <a:prstGeom prst="roundRect">
            <a:avLst>
              <a:gd name="adj" fmla="val 20618"/>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8284463" y="318897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SLI &amp; Alerting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06-sli-alerting/after.py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sesi-09-observability/06-sli-alerting</a:t>
            </a:r>
          </a:p>
          <a:p>
            <a:pPr>
              <a:lnSpc>
                <a:spcPct val="111111"/>
              </a:lnSpc>
              <a:spcAft>
                <a:spcPts val="0"/>
              </a:spcAft>
            </a:pPr>
            <a:r>
              <a:rPr sz="900" i="0">
                <a:solidFill>
                  <a:srgbClr val="82B1FF"/>
                </a:solidFill>
                <a:latin typeface="Inconsolata"/>
              </a:rPr>
              <a:t>$ python after.py</a:t>
            </a:r>
          </a:p>
        </p:txBody>
      </p:sp>
      <p:pic>
        <p:nvPicPr>
          <p:cNvPr id="29" name="Image 12" descr="s09-06-sli-alerting-after.png"/>
          <p:cNvPicPr>
            <a:picLocks noChangeAspect="1"/>
          </p:cNvPicPr>
          <p:nvPr/>
        </p:nvPicPr>
        <p:blipFill>
          <a:blip r:embed="rId2"/>
          <a:stretch>
            <a:fillRect/>
          </a:stretch>
        </p:blipFill>
        <p:spPr>
          <a:xfrm>
            <a:off x="621792" y="2322576"/>
            <a:ext cx="4297680" cy="1017872"/>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Target SLO untuk availability dan latency (baris 14)</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SLI dihitung dari request di window itu (baris 31-35)</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Alert hanya jika ada SLI di bawah SLO (baris 43-44)</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1 alert, tepat di window 10:10 karena latency 85%.</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49</a:t>
            </a:fld>
            <a:endParaRPr/>
          </a:p>
        </p:txBody>
      </p:sp>
      <p:sp>
        <p:nvSpPr>
          <p:cNvPr id="31" name="Text 1"/>
          <p:cNvSpPr txBox="1"/>
          <p:nvPr/>
        </p:nvSpPr>
        <p:spPr>
          <a:xfrm>
            <a:off x="822960" y="1600200"/>
            <a:ext cx="7315200" cy="365760"/>
          </a:xfrm>
          <a:prstGeom prst="rect">
            <a:avLst/>
          </a:prstGeom>
          <a:noFill/>
        </p:spPr>
        <p:txBody>
          <a:bodyPr wrap="square" lIns="45720" rIns="45720" anchor="t">
            <a:spAutoFit/>
          </a:bodyPr>
          <a:lstStyle/>
          <a:p>
            <a:pPr algn="l">
              <a:lnSpc>
                <a:spcPct val="115000"/>
              </a:lnSpc>
              <a:spcAft>
                <a:spcPts val="400"/>
              </a:spcAft>
            </a:pPr>
            <a:r>
              <a:rPr sz="1400" b="0" i="0">
                <a:solidFill>
                  <a:srgbClr val="CFE0FA"/>
                </a:solidFill>
                <a:latin typeface="Inter"/>
              </a:rPr>
              <a:t>Bagian 03</a:t>
            </a:r>
          </a:p>
        </p:txBody>
      </p:sp>
      <p:sp>
        <p:nvSpPr>
          <p:cNvPr id="32" name="Text 2"/>
          <p:cNvSpPr txBox="1"/>
          <p:nvPr/>
        </p:nvSpPr>
        <p:spPr>
          <a:xfrm>
            <a:off x="822960" y="1920240"/>
            <a:ext cx="7315200" cy="822960"/>
          </a:xfrm>
          <a:prstGeom prst="rect">
            <a:avLst/>
          </a:prstGeom>
          <a:noFill/>
        </p:spPr>
        <p:txBody>
          <a:bodyPr wrap="square" lIns="45720" rIns="45720" anchor="t">
            <a:spAutoFit/>
          </a:bodyPr>
          <a:lstStyle/>
          <a:p>
            <a:pPr algn="l">
              <a:lnSpc>
                <a:spcPct val="115000"/>
              </a:lnSpc>
              <a:spcAft>
                <a:spcPts val="400"/>
              </a:spcAft>
            </a:pPr>
            <a:r>
              <a:rPr sz="3000" b="0" i="0">
                <a:solidFill>
                  <a:srgbClr val="FFFFFF"/>
                </a:solidFill>
                <a:latin typeface="Work Sans ExtraBold"/>
              </a:rPr>
              <a:t>Distributed Tracing</a:t>
            </a:r>
          </a:p>
        </p:txBody>
      </p:sp>
      <p:sp>
        <p:nvSpPr>
          <p:cNvPr id="33" name="Text 3"/>
          <p:cNvSpPr txBox="1"/>
          <p:nvPr/>
        </p:nvSpPr>
        <p:spPr>
          <a:xfrm>
            <a:off x="822960" y="2743200"/>
            <a:ext cx="6583680" cy="731520"/>
          </a:xfrm>
          <a:prstGeom prst="rect">
            <a:avLst/>
          </a:prstGeom>
          <a:noFill/>
        </p:spPr>
        <p:txBody>
          <a:bodyPr wrap="square" lIns="45720" rIns="45720" anchor="t">
            <a:spAutoFit/>
          </a:bodyPr>
          <a:lstStyle/>
          <a:p>
            <a:pPr algn="l">
              <a:lnSpc>
                <a:spcPct val="115000"/>
              </a:lnSpc>
              <a:spcAft>
                <a:spcPts val="400"/>
              </a:spcAft>
            </a:pPr>
            <a:r>
              <a:rPr sz="1200" b="0" i="0">
                <a:solidFill>
                  <a:srgbClr val="E3ECFA"/>
                </a:solidFill>
                <a:latin typeface="Inter"/>
              </a:rPr>
              <a:t>Trace, span, dan OpenTelemetry.</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Tracing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Distributed Tracing?</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Distributed tracing adalah</a:t>
            </a:r>
          </a:p>
          <a:p>
            <a:pPr algn="l">
              <a:lnSpc>
                <a:spcPct val="115000"/>
              </a:lnSpc>
              <a:spcAft>
                <a:spcPts val="400"/>
              </a:spcAft>
            </a:pPr>
            <a:r>
              <a:rPr sz="900" b="0" i="0">
                <a:solidFill>
                  <a:srgbClr val="434343"/>
                </a:solidFill>
                <a:latin typeface="Inter"/>
              </a:rPr>
              <a:t>Cara mencatat perjalanan satu request melewati beberapa komponen. Satu perjalanan disebut </a:t>
            </a:r>
            <a:r>
              <a:rPr sz="900" b="1" i="0">
                <a:solidFill>
                  <a:srgbClr val="434343"/>
                </a:solidFill>
                <a:latin typeface="Inter"/>
              </a:rPr>
              <a:t>trace</a:t>
            </a:r>
            <a:r>
              <a:rPr sz="900" b="0" i="0">
                <a:solidFill>
                  <a:srgbClr val="434343"/>
                </a:solidFill>
                <a:latin typeface="Inter"/>
              </a:rPr>
              <a:t> (punya trace_id), dan setiap langkahnya disebut </a:t>
            </a:r>
            <a:r>
              <a:rPr sz="900" b="1" i="0">
                <a:solidFill>
                  <a:srgbClr val="434343"/>
                </a:solidFill>
                <a:latin typeface="Inter"/>
              </a:rPr>
              <a:t>span</a:t>
            </a:r>
            <a:r>
              <a:rPr sz="900" b="0" i="0">
                <a:solidFill>
                  <a:srgbClr val="434343"/>
                </a:solidFill>
                <a:latin typeface="Inter"/>
              </a:rPr>
              <a:t> (punya waktu mulai dan durasi). Sehingga terlihat langkah mana yang lambat atau gagal.</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Menemukan langkah yang membuat request lambat</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Menyambungkan request API dengan proses di consumer</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Melihat urutan query, publish, dan proses lain dalam satu tampilan</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hanya total waktu: 07-tracing/before.py</a:t>
            </a:r>
          </a:p>
        </p:txBody>
      </p:sp>
      <p:sp>
        <p:nvSpPr>
          <p:cNvPr id="28" name="CodeBg 11"/>
          <p:cNvSpPr/>
          <p:nvPr/>
        </p:nvSpPr>
        <p:spPr>
          <a:xfrm>
            <a:off x="4297680" y="1719072"/>
            <a:ext cx="4187951" cy="1325880"/>
          </a:xfrm>
          <a:prstGeom prst="roundRect">
            <a:avLst>
              <a:gd name="adj" fmla="val 1379"/>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1325880"/>
          </a:xfrm>
          <a:prstGeom prst="rect">
            <a:avLst/>
          </a:prstGeom>
          <a:noFill/>
        </p:spPr>
        <p:txBody>
          <a:bodyPr wrap="none" lIns="146304" tIns="91440" rIns="146304" bIns="54864">
            <a:spAutoFit/>
          </a:bodyPr>
          <a:lstStyle/>
          <a:p>
            <a:pPr>
              <a:lnSpc>
                <a:spcPct val="107843"/>
              </a:lnSpc>
              <a:spcAft>
                <a:spcPts val="0"/>
              </a:spcAft>
            </a:pPr>
            <a:r>
              <a:rPr sz="850" i="0">
                <a:solidFill>
                  <a:srgbClr val="FF8E6E"/>
                </a:solidFill>
                <a:latin typeface="Inconsolata"/>
              </a:rPr>
              <a:t>def</a:t>
            </a:r>
            <a:r>
              <a:rPr sz="850" i="0">
                <a:solidFill>
                  <a:srgbClr val="E6EDF3"/>
                </a:solidFill>
                <a:latin typeface="Inconsolata"/>
              </a:rPr>
              <a:t> </a:t>
            </a:r>
            <a:r>
              <a:rPr sz="850" i="0">
                <a:solidFill>
                  <a:srgbClr val="82B1FF"/>
                </a:solidFill>
                <a:latin typeface="Inconsolata"/>
              </a:rPr>
              <a:t>place_order</a:t>
            </a:r>
            <a:r>
              <a:rPr sz="850" i="0">
                <a:solidFill>
                  <a:srgbClr val="E6EDF3"/>
                </a:solidFill>
                <a:latin typeface="Inconsolata"/>
              </a:rPr>
              <a:t>():</a:t>
            </a:r>
          </a:p>
          <a:p>
            <a:pPr>
              <a:lnSpc>
                <a:spcPct val="107843"/>
              </a:lnSpc>
              <a:spcAft>
                <a:spcPts val="0"/>
              </a:spcAft>
            </a:pPr>
            <a:r>
              <a:rPr sz="850" i="0">
                <a:solidFill>
                  <a:srgbClr val="E6EDF3"/>
                </a:solidFill>
                <a:latin typeface="Inconsolata"/>
              </a:rPr>
              <a:t>    start = time.perf_counter()</a:t>
            </a:r>
          </a:p>
          <a:p>
            <a:pPr>
              <a:lnSpc>
                <a:spcPct val="107843"/>
              </a:lnSpc>
              <a:spcAft>
                <a:spcPts val="0"/>
              </a:spcAft>
            </a:pPr>
            <a:r>
              <a:rPr sz="850" i="0">
                <a:solidFill>
                  <a:srgbClr val="E6EDF3"/>
                </a:solidFill>
                <a:latin typeface="Inconsolata"/>
              </a:rPr>
              <a:t>    check_stock()</a:t>
            </a:r>
          </a:p>
          <a:p>
            <a:pPr>
              <a:lnSpc>
                <a:spcPct val="107843"/>
              </a:lnSpc>
              <a:spcAft>
                <a:spcPts val="0"/>
              </a:spcAft>
            </a:pPr>
            <a:r>
              <a:rPr sz="850" i="0">
                <a:solidFill>
                  <a:srgbClr val="E6EDF3"/>
                </a:solidFill>
                <a:latin typeface="Inconsolata"/>
              </a:rPr>
              <a:t>    save_order()</a:t>
            </a:r>
          </a:p>
        </p:txBody>
      </p:sp>
      <p:sp>
        <p:nvSpPr>
          <p:cNvPr id="30" name="Box 13"/>
          <p:cNvSpPr/>
          <p:nvPr/>
        </p:nvSpPr>
        <p:spPr>
          <a:xfrm>
            <a:off x="4379976" y="1968373"/>
            <a:ext cx="4023359" cy="131318"/>
          </a:xfrm>
          <a:prstGeom prst="roundRect">
            <a:avLst>
              <a:gd name="adj" fmla="val 3481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3136392"/>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3214116"/>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3214116"/>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3214116"/>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3145536"/>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span OpenTelemetry: 07-tracing/after.py</a:t>
            </a:r>
          </a:p>
        </p:txBody>
      </p:sp>
      <p:sp>
        <p:nvSpPr>
          <p:cNvPr id="36" name="CodeBg 21"/>
          <p:cNvSpPr/>
          <p:nvPr/>
        </p:nvSpPr>
        <p:spPr>
          <a:xfrm>
            <a:off x="4297680" y="3374136"/>
            <a:ext cx="4187951" cy="1325879"/>
          </a:xfrm>
          <a:prstGeom prst="roundRect">
            <a:avLst>
              <a:gd name="adj" fmla="val 1379"/>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3374136"/>
            <a:ext cx="4187951" cy="1325879"/>
          </a:xfrm>
          <a:prstGeom prst="rect">
            <a:avLst/>
          </a:prstGeom>
          <a:noFill/>
        </p:spPr>
        <p:txBody>
          <a:bodyPr wrap="none" lIns="146304" tIns="91440" rIns="146304" bIns="54864">
            <a:spAutoFit/>
          </a:bodyPr>
          <a:lstStyle/>
          <a:p>
            <a:pPr>
              <a:lnSpc>
                <a:spcPct val="107843"/>
              </a:lnSpc>
              <a:spcAft>
                <a:spcPts val="0"/>
              </a:spcAft>
            </a:pPr>
            <a:r>
              <a:rPr sz="850" i="0">
                <a:solidFill>
                  <a:srgbClr val="FF8E6E"/>
                </a:solidFill>
                <a:latin typeface="Inconsolata"/>
              </a:rPr>
              <a:t>def</a:t>
            </a:r>
            <a:r>
              <a:rPr sz="850" i="0">
                <a:solidFill>
                  <a:srgbClr val="E6EDF3"/>
                </a:solidFill>
                <a:latin typeface="Inconsolata"/>
              </a:rPr>
              <a:t> </a:t>
            </a:r>
            <a:r>
              <a:rPr sz="850" i="0">
                <a:solidFill>
                  <a:srgbClr val="82B1FF"/>
                </a:solidFill>
                <a:latin typeface="Inconsolata"/>
              </a:rPr>
              <a:t>place_order</a:t>
            </a:r>
            <a:r>
              <a:rPr sz="850" i="0">
                <a:solidFill>
                  <a:srgbClr val="E6EDF3"/>
                </a:solidFill>
                <a:latin typeface="Inconsolata"/>
              </a:rPr>
              <a:t>():</a:t>
            </a:r>
          </a:p>
          <a:p>
            <a:pPr>
              <a:lnSpc>
                <a:spcPct val="107843"/>
              </a:lnSpc>
              <a:spcAft>
                <a:spcPts val="0"/>
              </a:spcAft>
            </a:pPr>
            <a:r>
              <a:rPr sz="850" i="0">
                <a:solidFill>
                  <a:srgbClr val="E6EDF3"/>
                </a:solidFill>
                <a:latin typeface="Inconsolata"/>
              </a:rPr>
              <a:t>    </a:t>
            </a:r>
            <a:r>
              <a:rPr sz="850" i="0">
                <a:solidFill>
                  <a:srgbClr val="FF8E6E"/>
                </a:solidFill>
                <a:latin typeface="Inconsolata"/>
              </a:rPr>
              <a:t>with</a:t>
            </a:r>
            <a:r>
              <a:rPr sz="850" i="0">
                <a:solidFill>
                  <a:srgbClr val="E6EDF3"/>
                </a:solidFill>
                <a:latin typeface="Inconsolata"/>
              </a:rPr>
              <a:t> tracer.start_as_current_span(</a:t>
            </a:r>
            <a:r>
              <a:rPr sz="850" i="0">
                <a:solidFill>
                  <a:srgbClr val="A5D6A7"/>
                </a:solidFill>
                <a:latin typeface="Inconsolata"/>
              </a:rPr>
              <a:t>"POST /orders"</a:t>
            </a:r>
            <a:r>
              <a:rPr sz="850" i="0">
                <a:solidFill>
                  <a:srgbClr val="E6EDF3"/>
                </a:solidFill>
                <a:latin typeface="Inconsolata"/>
              </a:rPr>
              <a:t>):</a:t>
            </a:r>
          </a:p>
          <a:p>
            <a:pPr>
              <a:lnSpc>
                <a:spcPct val="107843"/>
              </a:lnSpc>
              <a:spcAft>
                <a:spcPts val="0"/>
              </a:spcAft>
            </a:pPr>
            <a:r>
              <a:rPr sz="850" i="0">
                <a:solidFill>
                  <a:srgbClr val="E6EDF3"/>
                </a:solidFill>
                <a:latin typeface="Inconsolata"/>
              </a:rPr>
              <a:t>        check_stock()</a:t>
            </a:r>
          </a:p>
          <a:p>
            <a:pPr>
              <a:lnSpc>
                <a:spcPct val="107843"/>
              </a:lnSpc>
              <a:spcAft>
                <a:spcPts val="0"/>
              </a:spcAft>
            </a:pPr>
            <a:r>
              <a:rPr sz="850" i="0">
                <a:solidFill>
                  <a:srgbClr val="E6EDF3"/>
                </a:solidFill>
                <a:latin typeface="Inconsolata"/>
              </a:rPr>
              <a:t>        save_order()</a:t>
            </a:r>
          </a:p>
        </p:txBody>
      </p:sp>
      <p:sp>
        <p:nvSpPr>
          <p:cNvPr id="38" name="Box 23"/>
          <p:cNvSpPr/>
          <p:nvPr/>
        </p:nvSpPr>
        <p:spPr>
          <a:xfrm>
            <a:off x="4379976" y="3623437"/>
            <a:ext cx="4023359" cy="131318"/>
          </a:xfrm>
          <a:prstGeom prst="roundRect">
            <a:avLst>
              <a:gd name="adj" fmla="val 3481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Tracing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menggunakan Distributed Tracing?</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Tanpa tracing</a:t>
            </a:r>
          </a:p>
          <a:p>
            <a:pPr algn="l">
              <a:lnSpc>
                <a:spcPct val="115000"/>
              </a:lnSpc>
              <a:spcAft>
                <a:spcPts val="400"/>
              </a:spcAft>
            </a:pPr>
            <a:r>
              <a:rPr sz="950" b="0" i="0">
                <a:solidFill>
                  <a:srgbClr val="434343"/>
                </a:solidFill>
                <a:latin typeface="Inter"/>
              </a:rPr>
              <a:t>Log hanya menulis "POST /orders selesai dalam 471 ms". Consumer menulis lognya sendiri, tanpa hubungan dengan request itu.</a:t>
            </a:r>
          </a:p>
          <a:p>
            <a:pPr algn="l">
              <a:lnSpc>
                <a:spcPct val="115000"/>
              </a:lnSpc>
              <a:spcAft>
                <a:spcPts val="400"/>
              </a:spcAft>
            </a:pPr>
            <a:r>
              <a:rPr sz="1050" b="1" i="0">
                <a:solidFill>
                  <a:srgbClr val="1C4587"/>
                </a:solidFill>
                <a:latin typeface="Inter"/>
              </a:rPr>
              <a:t>Jika komponennya makin banyak</a:t>
            </a:r>
          </a:p>
          <a:p>
            <a:pPr algn="l">
              <a:lnSpc>
                <a:spcPct val="115000"/>
              </a:lnSpc>
              <a:spcAft>
                <a:spcPts val="400"/>
              </a:spcAft>
            </a:pPr>
            <a:r>
              <a:rPr sz="950" b="0" i="0">
                <a:solidFill>
                  <a:srgbClr val="434343"/>
                </a:solidFill>
                <a:latin typeface="Inter"/>
              </a:rPr>
              <a:t>Satu request melewati API, database, RabbitMQ, dan consumer.</a:t>
            </a:r>
          </a:p>
          <a:p>
            <a:pPr algn="l">
              <a:lnSpc>
                <a:spcPct val="115000"/>
              </a:lnSpc>
              <a:spcAft>
                <a:spcPts val="400"/>
              </a:spcAft>
            </a:pPr>
            <a:r>
              <a:rPr sz="950" b="0" i="0">
                <a:solidFill>
                  <a:srgbClr val="434343"/>
                </a:solidFill>
                <a:latin typeface="Inter"/>
              </a:rPr>
              <a:t>Hal ini membuat penyebab lambat harus ditebak dari log beberapa proses yang terpisah.</a:t>
            </a:r>
          </a:p>
          <a:p>
            <a:pPr algn="l">
              <a:lnSpc>
                <a:spcPct val="115000"/>
              </a:lnSpc>
              <a:spcAft>
                <a:spcPts val="400"/>
              </a:spcAft>
            </a:pPr>
            <a:r>
              <a:rPr sz="1050" b="1" i="0">
                <a:solidFill>
                  <a:srgbClr val="1C4587"/>
                </a:solidFill>
                <a:latin typeface="Inter"/>
              </a:rPr>
              <a:t>Yang dipakai dari OpenTelemetry</a:t>
            </a:r>
          </a:p>
          <a:p>
            <a:pPr algn="l">
              <a:lnSpc>
                <a:spcPct val="115000"/>
              </a:lnSpc>
              <a:spcAft>
                <a:spcPts val="400"/>
              </a:spcAft>
            </a:pPr>
            <a:r>
              <a:rPr sz="950" b="0" i="0">
                <a:solidFill>
                  <a:srgbClr val="434343"/>
                </a:solidFill>
                <a:latin typeface="Inter"/>
              </a:rPr>
              <a:t>Standar terbuka untuk trace. Konteks trace dikirim antar proses lewat header </a:t>
            </a:r>
            <a:r>
              <a:rPr sz="950" b="1" i="0">
                <a:solidFill>
                  <a:srgbClr val="434343"/>
                </a:solidFill>
                <a:latin typeface="Inter"/>
              </a:rPr>
              <a:t>traceparent</a:t>
            </a:r>
            <a:r>
              <a:rPr sz="950" b="0" i="0">
                <a:solidFill>
                  <a:srgbClr val="434343"/>
                </a:solidFill>
                <a:latin typeface="Inter"/>
              </a:rPr>
              <a:t>.</a:t>
            </a:r>
          </a:p>
        </p:txBody>
      </p:sp>
      <p:graphicFrame>
        <p:nvGraphicFramePr>
          <p:cNvPr id="23" name="Table 4"/>
          <p:cNvGraphicFramePr>
            <a:graphicFrameLocks noGrp="1"/>
          </p:cNvGraphicFramePr>
          <p:nvPr/>
        </p:nvGraphicFramePr>
        <p:xfrm>
          <a:off x="4800600" y="1481328"/>
          <a:ext cx="3685031" cy="2057400"/>
        </p:xfrm>
        <a:graphic>
          <a:graphicData uri="http://schemas.openxmlformats.org/drawingml/2006/table">
            <a:tbl>
              <a:tblPr firstRow="1" bandRow="1"/>
              <a:tblGrid>
                <a:gridCol w="1856231">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411480">
                <a:tc>
                  <a:txBody>
                    <a:bodyPr/>
                    <a:lstStyle/>
                    <a:p>
                      <a:pPr algn="l">
                        <a:lnSpc>
                          <a:spcPct val="100000"/>
                        </a:lnSpc>
                        <a:spcAft>
                          <a:spcPts val="0"/>
                        </a:spcAft>
                      </a:pPr>
                      <a:r>
                        <a:rPr sz="850" b="1" i="0">
                          <a:solidFill>
                            <a:srgbClr val="FFFFFF"/>
                          </a:solidFill>
                          <a:latin typeface="Inter"/>
                        </a:rPr>
                        <a:t>Ditulis</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Artinya</a:t>
                      </a:r>
                    </a:p>
                  </a:txBody>
                  <a:tcPr marL="73152" marR="73152" marT="36576" marB="36576" anchor="ctr">
                    <a:solidFill>
                      <a:srgbClr val="1C4587"/>
                    </a:solidFill>
                  </a:tcPr>
                </a:tc>
                <a:extLst>
                  <a:ext uri="{0D108BD9-81ED-4DB2-BD59-A6C34878D82A}">
                    <a16:rowId xmlns:a16="http://schemas.microsoft.com/office/drawing/2014/main" val="10000"/>
                  </a:ext>
                </a:extLst>
              </a:tr>
              <a:tr h="411480">
                <a:tc>
                  <a:txBody>
                    <a:bodyPr/>
                    <a:lstStyle/>
                    <a:p>
                      <a:pPr algn="l">
                        <a:lnSpc>
                          <a:spcPct val="100000"/>
                        </a:lnSpc>
                        <a:spcAft>
                          <a:spcPts val="0"/>
                        </a:spcAft>
                      </a:pPr>
                      <a:r>
                        <a:rPr sz="850" b="1" i="0">
                          <a:solidFill>
                            <a:srgbClr val="1C4587"/>
                          </a:solidFill>
                          <a:latin typeface="Inter"/>
                        </a:rPr>
                        <a:t>start_as_current_span()</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Mulai span, span di dalamnya jadi anak</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pPr algn="l">
                        <a:lnSpc>
                          <a:spcPct val="100000"/>
                        </a:lnSpc>
                        <a:spcAft>
                          <a:spcPts val="0"/>
                        </a:spcAft>
                      </a:pPr>
                      <a:r>
                        <a:rPr sz="850" b="1" i="0">
                          <a:solidFill>
                            <a:srgbClr val="1C4587"/>
                          </a:solidFill>
                          <a:latin typeface="Inter"/>
                        </a:rPr>
                        <a:t>inject(headers)</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Tulis traceparent ke header pesan</a:t>
                      </a:r>
                    </a:p>
                  </a:txBody>
                  <a:tcPr marL="73152" marR="73152" marT="36576" marB="36576" anchor="ctr">
                    <a:solidFill>
                      <a:srgbClr val="F3F4F6"/>
                    </a:solidFill>
                  </a:tcPr>
                </a:tc>
                <a:extLst>
                  <a:ext uri="{0D108BD9-81ED-4DB2-BD59-A6C34878D82A}">
                    <a16:rowId xmlns:a16="http://schemas.microsoft.com/office/drawing/2014/main" val="10002"/>
                  </a:ext>
                </a:extLst>
              </a:tr>
              <a:tr h="411480">
                <a:tc>
                  <a:txBody>
                    <a:bodyPr/>
                    <a:lstStyle/>
                    <a:p>
                      <a:pPr algn="l">
                        <a:lnSpc>
                          <a:spcPct val="100000"/>
                        </a:lnSpc>
                        <a:spcAft>
                          <a:spcPts val="0"/>
                        </a:spcAft>
                      </a:pPr>
                      <a:r>
                        <a:rPr sz="850" b="1" i="0">
                          <a:solidFill>
                            <a:srgbClr val="1C4587"/>
                          </a:solidFill>
                          <a:latin typeface="Inter"/>
                        </a:rPr>
                        <a:t>extract(headers)</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Baca traceparent di consumer</a:t>
                      </a:r>
                    </a:p>
                  </a:txBody>
                  <a:tcPr marL="73152" marR="73152" marT="36576" marB="36576"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Aft>
                          <a:spcPts val="0"/>
                        </a:spcAft>
                      </a:pPr>
                      <a:r>
                        <a:rPr sz="850" b="1" i="0">
                          <a:solidFill>
                            <a:srgbClr val="1C4587"/>
                          </a:solidFill>
                          <a:latin typeface="Inter"/>
                        </a:rPr>
                        <a:t>Jaeger</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Tempat menyimpan dan melihat trace</a:t>
                      </a:r>
                    </a:p>
                  </a:txBody>
                  <a:tcPr marL="73152" marR="73152" marT="36576" marB="36576" anchor="ctr">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Tracing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hanya total waktu</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07-tracing/before.py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8035"/>
              </a:lnSpc>
              <a:spcAft>
                <a:spcPts val="0"/>
              </a:spcAft>
            </a:pPr>
            <a:r>
              <a:rPr sz="771" i="0">
                <a:solidFill>
                  <a:srgbClr val="5C6773"/>
                </a:solidFill>
                <a:latin typeface="Inconsolata"/>
              </a:rPr>
              <a:t>10  </a:t>
            </a:r>
            <a:r>
              <a:rPr sz="771" i="0">
                <a:solidFill>
                  <a:srgbClr val="FF8E6E"/>
                </a:solidFill>
                <a:latin typeface="Inconsolata"/>
              </a:rPr>
              <a:t>import</a:t>
            </a:r>
            <a:r>
              <a:rPr sz="771" i="0">
                <a:solidFill>
                  <a:srgbClr val="E6EDF3"/>
                </a:solidFill>
                <a:latin typeface="Inconsolata"/>
              </a:rPr>
              <a:t> json</a:t>
            </a:r>
          </a:p>
          <a:p>
            <a:pPr>
              <a:lnSpc>
                <a:spcPct val="108035"/>
              </a:lnSpc>
              <a:spcAft>
                <a:spcPts val="0"/>
              </a:spcAft>
            </a:pPr>
            <a:r>
              <a:rPr sz="771" i="0">
                <a:solidFill>
                  <a:srgbClr val="5C6773"/>
                </a:solidFill>
                <a:latin typeface="Inconsolata"/>
              </a:rPr>
              <a:t>11  </a:t>
            </a:r>
            <a:r>
              <a:rPr sz="771" i="0">
                <a:solidFill>
                  <a:srgbClr val="FF8E6E"/>
                </a:solidFill>
                <a:latin typeface="Inconsolata"/>
              </a:rPr>
              <a:t>import</a:t>
            </a:r>
            <a:r>
              <a:rPr sz="771" i="0">
                <a:solidFill>
                  <a:srgbClr val="E6EDF3"/>
                </a:solidFill>
                <a:latin typeface="Inconsolata"/>
              </a:rPr>
              <a:t> time</a:t>
            </a:r>
          </a:p>
          <a:p>
            <a:pPr>
              <a:lnSpc>
                <a:spcPct val="108035"/>
              </a:lnSpc>
              <a:spcAft>
                <a:spcPts val="0"/>
              </a:spcAft>
            </a:pPr>
            <a:r>
              <a:rPr sz="771" i="0">
                <a:solidFill>
                  <a:srgbClr val="5C6773"/>
                </a:solidFill>
                <a:latin typeface="Inconsolata"/>
              </a:rPr>
              <a:t>12  </a:t>
            </a:r>
            <a:r>
              <a:rPr sz="771" i="0">
                <a:solidFill>
                  <a:srgbClr val="E6EDF3"/>
                </a:solidFill>
                <a:latin typeface="Inconsolata"/>
              </a:rPr>
              <a:t> </a:t>
            </a:r>
          </a:p>
          <a:p>
            <a:pPr>
              <a:lnSpc>
                <a:spcPct val="108035"/>
              </a:lnSpc>
              <a:spcAft>
                <a:spcPts val="0"/>
              </a:spcAft>
            </a:pPr>
            <a:r>
              <a:rPr sz="771" i="0">
                <a:solidFill>
                  <a:srgbClr val="5C6773"/>
                </a:solidFill>
                <a:latin typeface="Inconsolata"/>
              </a:rPr>
              <a:t>13  </a:t>
            </a:r>
            <a:r>
              <a:rPr sz="771" i="0">
                <a:solidFill>
                  <a:srgbClr val="7FDBCA"/>
                </a:solidFill>
                <a:latin typeface="Inconsolata"/>
              </a:rPr>
              <a:t>QUEUE</a:t>
            </a:r>
            <a:r>
              <a:rPr sz="771" i="0">
                <a:solidFill>
                  <a:srgbClr val="E6EDF3"/>
                </a:solidFill>
                <a:latin typeface="Inconsolata"/>
              </a:rPr>
              <a:t> = []                           </a:t>
            </a:r>
            <a:r>
              <a:rPr sz="771" i="1">
                <a:solidFill>
                  <a:srgbClr val="8B98A8"/>
                </a:solidFill>
                <a:latin typeface="Inconsolata"/>
              </a:rPr>
              <a:t># anggap: queue RabbitMQ</a:t>
            </a:r>
          </a:p>
          <a:p>
            <a:pPr>
              <a:lnSpc>
                <a:spcPct val="108035"/>
              </a:lnSpc>
              <a:spcAft>
                <a:spcPts val="0"/>
              </a:spcAft>
            </a:pPr>
            <a:r>
              <a:rPr sz="771" i="0">
                <a:solidFill>
                  <a:srgbClr val="5C6773"/>
                </a:solidFill>
                <a:latin typeface="Inconsolata"/>
              </a:rPr>
              <a:t>14  </a:t>
            </a:r>
            <a:r>
              <a:rPr sz="771" i="0">
                <a:solidFill>
                  <a:srgbClr val="E6EDF3"/>
                </a:solidFill>
                <a:latin typeface="Inconsolata"/>
              </a:rPr>
              <a:t> </a:t>
            </a:r>
          </a:p>
          <a:p>
            <a:pPr>
              <a:lnSpc>
                <a:spcPct val="108035"/>
              </a:lnSpc>
              <a:spcAft>
                <a:spcPts val="0"/>
              </a:spcAft>
            </a:pPr>
            <a:r>
              <a:rPr sz="771" i="0">
                <a:solidFill>
                  <a:srgbClr val="5C6773"/>
                </a:solidFill>
                <a:latin typeface="Inconsolata"/>
              </a:rPr>
              <a:t>15  </a:t>
            </a:r>
            <a:r>
              <a:rPr sz="771" i="0">
                <a:solidFill>
                  <a:srgbClr val="E6EDF3"/>
                </a:solidFill>
                <a:latin typeface="Inconsolata"/>
              </a:rPr>
              <a:t> </a:t>
            </a:r>
          </a:p>
          <a:p>
            <a:pPr>
              <a:lnSpc>
                <a:spcPct val="108035"/>
              </a:lnSpc>
              <a:spcAft>
                <a:spcPts val="0"/>
              </a:spcAft>
            </a:pPr>
            <a:r>
              <a:rPr sz="771" i="0">
                <a:solidFill>
                  <a:srgbClr val="5C6773"/>
                </a:solidFill>
                <a:latin typeface="Inconsolata"/>
              </a:rPr>
              <a:t>16  </a:t>
            </a:r>
            <a:r>
              <a:rPr sz="771" i="0">
                <a:solidFill>
                  <a:srgbClr val="FF8E6E"/>
                </a:solidFill>
                <a:latin typeface="Inconsolata"/>
              </a:rPr>
              <a:t>def</a:t>
            </a:r>
            <a:r>
              <a:rPr sz="771" i="0">
                <a:solidFill>
                  <a:srgbClr val="E6EDF3"/>
                </a:solidFill>
                <a:latin typeface="Inconsolata"/>
              </a:rPr>
              <a:t> </a:t>
            </a:r>
            <a:r>
              <a:rPr sz="771" i="0">
                <a:solidFill>
                  <a:srgbClr val="82B1FF"/>
                </a:solidFill>
                <a:latin typeface="Inconsolata"/>
              </a:rPr>
              <a:t>check_stock</a:t>
            </a:r>
            <a:r>
              <a:rPr sz="771" i="0">
                <a:solidFill>
                  <a:srgbClr val="E6EDF3"/>
                </a:solidFill>
                <a:latin typeface="Inconsolata"/>
              </a:rPr>
              <a:t>():</a:t>
            </a:r>
          </a:p>
          <a:p>
            <a:pPr>
              <a:lnSpc>
                <a:spcPct val="108035"/>
              </a:lnSpc>
              <a:spcAft>
                <a:spcPts val="0"/>
              </a:spcAft>
            </a:pPr>
            <a:r>
              <a:rPr sz="771" i="0">
                <a:solidFill>
                  <a:srgbClr val="5C6773"/>
                </a:solidFill>
                <a:latin typeface="Inconsolata"/>
              </a:rPr>
              <a:t>17  </a:t>
            </a:r>
            <a:r>
              <a:rPr sz="771" i="0">
                <a:solidFill>
                  <a:srgbClr val="E6EDF3"/>
                </a:solidFill>
                <a:latin typeface="Inconsolata"/>
              </a:rPr>
              <a:t>    time.sleep(</a:t>
            </a:r>
            <a:r>
              <a:rPr sz="771" i="0">
                <a:solidFill>
                  <a:srgbClr val="F9C97A"/>
                </a:solidFill>
                <a:latin typeface="Inconsolata"/>
              </a:rPr>
              <a:t>0</a:t>
            </a:r>
            <a:r>
              <a:rPr sz="771" i="0">
                <a:solidFill>
                  <a:srgbClr val="E6EDF3"/>
                </a:solidFill>
                <a:latin typeface="Inconsolata"/>
              </a:rPr>
              <a:t>.</a:t>
            </a:r>
            <a:r>
              <a:rPr sz="771" i="0">
                <a:solidFill>
                  <a:srgbClr val="F9C97A"/>
                </a:solidFill>
                <a:latin typeface="Inconsolata"/>
              </a:rPr>
              <a:t>02</a:t>
            </a:r>
            <a:r>
              <a:rPr sz="771" i="0">
                <a:solidFill>
                  <a:srgbClr val="E6EDF3"/>
                </a:solidFill>
                <a:latin typeface="Inconsolata"/>
              </a:rPr>
              <a:t>)</a:t>
            </a:r>
          </a:p>
          <a:p>
            <a:pPr>
              <a:lnSpc>
                <a:spcPct val="108035"/>
              </a:lnSpc>
              <a:spcAft>
                <a:spcPts val="0"/>
              </a:spcAft>
            </a:pPr>
            <a:r>
              <a:rPr sz="771" i="0">
                <a:solidFill>
                  <a:srgbClr val="5C6773"/>
                </a:solidFill>
                <a:latin typeface="Inconsolata"/>
              </a:rPr>
              <a:t>18  </a:t>
            </a:r>
            <a:r>
              <a:rPr sz="771" i="0">
                <a:solidFill>
                  <a:srgbClr val="E6EDF3"/>
                </a:solidFill>
                <a:latin typeface="Inconsolata"/>
              </a:rPr>
              <a:t> </a:t>
            </a:r>
          </a:p>
          <a:p>
            <a:pPr>
              <a:lnSpc>
                <a:spcPct val="108035"/>
              </a:lnSpc>
              <a:spcAft>
                <a:spcPts val="0"/>
              </a:spcAft>
            </a:pPr>
            <a:r>
              <a:rPr sz="771" i="0">
                <a:solidFill>
                  <a:srgbClr val="5C6773"/>
                </a:solidFill>
                <a:latin typeface="Inconsolata"/>
              </a:rPr>
              <a:t>19  </a:t>
            </a:r>
            <a:r>
              <a:rPr sz="771" i="0">
                <a:solidFill>
                  <a:srgbClr val="E6EDF3"/>
                </a:solidFill>
                <a:latin typeface="Inconsolata"/>
              </a:rPr>
              <a:t> </a:t>
            </a:r>
          </a:p>
          <a:p>
            <a:pPr>
              <a:lnSpc>
                <a:spcPct val="108035"/>
              </a:lnSpc>
              <a:spcAft>
                <a:spcPts val="0"/>
              </a:spcAft>
            </a:pPr>
            <a:r>
              <a:rPr sz="771" i="0">
                <a:solidFill>
                  <a:srgbClr val="5C6773"/>
                </a:solidFill>
                <a:latin typeface="Inconsolata"/>
              </a:rPr>
              <a:t>20  </a:t>
            </a:r>
            <a:r>
              <a:rPr sz="771" i="0">
                <a:solidFill>
                  <a:srgbClr val="FF8E6E"/>
                </a:solidFill>
                <a:latin typeface="Inconsolata"/>
              </a:rPr>
              <a:t>def</a:t>
            </a:r>
            <a:r>
              <a:rPr sz="771" i="0">
                <a:solidFill>
                  <a:srgbClr val="E6EDF3"/>
                </a:solidFill>
                <a:latin typeface="Inconsolata"/>
              </a:rPr>
              <a:t> </a:t>
            </a:r>
            <a:r>
              <a:rPr sz="771" i="0">
                <a:solidFill>
                  <a:srgbClr val="82B1FF"/>
                </a:solidFill>
                <a:latin typeface="Inconsolata"/>
              </a:rPr>
              <a:t>save_order</a:t>
            </a:r>
            <a:r>
              <a:rPr sz="771" i="0">
                <a:solidFill>
                  <a:srgbClr val="E6EDF3"/>
                </a:solidFill>
                <a:latin typeface="Inconsolata"/>
              </a:rPr>
              <a:t>():</a:t>
            </a:r>
          </a:p>
          <a:p>
            <a:pPr>
              <a:lnSpc>
                <a:spcPct val="108035"/>
              </a:lnSpc>
              <a:spcAft>
                <a:spcPts val="0"/>
              </a:spcAft>
            </a:pPr>
            <a:r>
              <a:rPr sz="771" i="0">
                <a:solidFill>
                  <a:srgbClr val="5C6773"/>
                </a:solidFill>
                <a:latin typeface="Inconsolata"/>
              </a:rPr>
              <a:t>21  </a:t>
            </a:r>
            <a:r>
              <a:rPr sz="771" i="0">
                <a:solidFill>
                  <a:srgbClr val="E6EDF3"/>
                </a:solidFill>
                <a:latin typeface="Inconsolata"/>
              </a:rPr>
              <a:t>    time.sleep(</a:t>
            </a:r>
            <a:r>
              <a:rPr sz="771" i="0">
                <a:solidFill>
                  <a:srgbClr val="F9C97A"/>
                </a:solidFill>
                <a:latin typeface="Inconsolata"/>
              </a:rPr>
              <a:t>0</a:t>
            </a:r>
            <a:r>
              <a:rPr sz="771" i="0">
                <a:solidFill>
                  <a:srgbClr val="E6EDF3"/>
                </a:solidFill>
                <a:latin typeface="Inconsolata"/>
              </a:rPr>
              <a:t>.</a:t>
            </a:r>
            <a:r>
              <a:rPr sz="771" i="0">
                <a:solidFill>
                  <a:srgbClr val="F9C97A"/>
                </a:solidFill>
                <a:latin typeface="Inconsolata"/>
              </a:rPr>
              <a:t>05</a:t>
            </a:r>
            <a:r>
              <a:rPr sz="771" i="0">
                <a:solidFill>
                  <a:srgbClr val="E6EDF3"/>
                </a:solidFill>
                <a:latin typeface="Inconsolata"/>
              </a:rPr>
              <a:t>)</a:t>
            </a:r>
          </a:p>
          <a:p>
            <a:pPr>
              <a:lnSpc>
                <a:spcPct val="108035"/>
              </a:lnSpc>
              <a:spcAft>
                <a:spcPts val="0"/>
              </a:spcAft>
            </a:pPr>
            <a:r>
              <a:rPr sz="771" i="0">
                <a:solidFill>
                  <a:srgbClr val="5C6773"/>
                </a:solidFill>
                <a:latin typeface="Inconsolata"/>
              </a:rPr>
              <a:t>22  </a:t>
            </a:r>
            <a:r>
              <a:rPr sz="771" i="0">
                <a:solidFill>
                  <a:srgbClr val="E6EDF3"/>
                </a:solidFill>
                <a:latin typeface="Inconsolata"/>
              </a:rPr>
              <a:t> </a:t>
            </a:r>
          </a:p>
          <a:p>
            <a:pPr>
              <a:lnSpc>
                <a:spcPct val="108035"/>
              </a:lnSpc>
              <a:spcAft>
                <a:spcPts val="0"/>
              </a:spcAft>
            </a:pPr>
            <a:r>
              <a:rPr sz="771" i="0">
                <a:solidFill>
                  <a:srgbClr val="5C6773"/>
                </a:solidFill>
                <a:latin typeface="Inconsolata"/>
              </a:rPr>
              <a:t>23  </a:t>
            </a:r>
            <a:r>
              <a:rPr sz="771" i="0">
                <a:solidFill>
                  <a:srgbClr val="E6EDF3"/>
                </a:solidFill>
                <a:latin typeface="Inconsolata"/>
              </a:rPr>
              <a:t> </a:t>
            </a:r>
          </a:p>
          <a:p>
            <a:pPr>
              <a:lnSpc>
                <a:spcPct val="108035"/>
              </a:lnSpc>
              <a:spcAft>
                <a:spcPts val="0"/>
              </a:spcAft>
            </a:pPr>
            <a:r>
              <a:rPr sz="771" i="0">
                <a:solidFill>
                  <a:srgbClr val="5C6773"/>
                </a:solidFill>
                <a:latin typeface="Inconsolata"/>
              </a:rPr>
              <a:t>24  </a:t>
            </a:r>
            <a:r>
              <a:rPr sz="771" i="0">
                <a:solidFill>
                  <a:srgbClr val="FF8E6E"/>
                </a:solidFill>
                <a:latin typeface="Inconsolata"/>
              </a:rPr>
              <a:t>def</a:t>
            </a:r>
            <a:r>
              <a:rPr sz="771" i="0">
                <a:solidFill>
                  <a:srgbClr val="E6EDF3"/>
                </a:solidFill>
                <a:latin typeface="Inconsolata"/>
              </a:rPr>
              <a:t> </a:t>
            </a:r>
            <a:r>
              <a:rPr sz="771" i="0">
                <a:solidFill>
                  <a:srgbClr val="82B1FF"/>
                </a:solidFill>
                <a:latin typeface="Inconsolata"/>
              </a:rPr>
              <a:t>publish_event</a:t>
            </a:r>
            <a:r>
              <a:rPr sz="771" i="0">
                <a:solidFill>
                  <a:srgbClr val="E6EDF3"/>
                </a:solidFill>
                <a:latin typeface="Inconsolata"/>
              </a:rPr>
              <a:t>(event: </a:t>
            </a:r>
            <a:r>
              <a:rPr sz="771" i="0">
                <a:solidFill>
                  <a:srgbClr val="C3A6FF"/>
                </a:solidFill>
                <a:latin typeface="Inconsolata"/>
              </a:rPr>
              <a:t>dict</a:t>
            </a:r>
            <a:r>
              <a:rPr sz="771" i="0">
                <a:solidFill>
                  <a:srgbClr val="E6EDF3"/>
                </a:solidFill>
                <a:latin typeface="Inconsolata"/>
              </a:rPr>
              <a:t>):</a:t>
            </a:r>
          </a:p>
          <a:p>
            <a:pPr>
              <a:lnSpc>
                <a:spcPct val="108035"/>
              </a:lnSpc>
              <a:spcAft>
                <a:spcPts val="0"/>
              </a:spcAft>
            </a:pPr>
            <a:r>
              <a:rPr sz="771" i="0">
                <a:solidFill>
                  <a:srgbClr val="5C6773"/>
                </a:solidFill>
                <a:latin typeface="Inconsolata"/>
              </a:rPr>
              <a:t>25  </a:t>
            </a:r>
            <a:r>
              <a:rPr sz="771" i="0">
                <a:solidFill>
                  <a:srgbClr val="E6EDF3"/>
                </a:solidFill>
                <a:latin typeface="Inconsolata"/>
              </a:rPr>
              <a:t>    time.sleep(</a:t>
            </a:r>
            <a:r>
              <a:rPr sz="771" i="0">
                <a:solidFill>
                  <a:srgbClr val="F9C97A"/>
                </a:solidFill>
                <a:latin typeface="Inconsolata"/>
              </a:rPr>
              <a:t>0</a:t>
            </a:r>
            <a:r>
              <a:rPr sz="771" i="0">
                <a:solidFill>
                  <a:srgbClr val="E6EDF3"/>
                </a:solidFill>
                <a:latin typeface="Inconsolata"/>
              </a:rPr>
              <a:t>.</a:t>
            </a:r>
            <a:r>
              <a:rPr sz="771" i="0">
                <a:solidFill>
                  <a:srgbClr val="F9C97A"/>
                </a:solidFill>
                <a:latin typeface="Inconsolata"/>
              </a:rPr>
              <a:t>4</a:t>
            </a:r>
            <a:r>
              <a:rPr sz="771" i="0">
                <a:solidFill>
                  <a:srgbClr val="E6EDF3"/>
                </a:solidFill>
                <a:latin typeface="Inconsolata"/>
              </a:rPr>
              <a:t>)                  </a:t>
            </a:r>
            <a:r>
              <a:rPr sz="771" i="1">
                <a:solidFill>
                  <a:srgbClr val="8B98A8"/>
                </a:solidFill>
                <a:latin typeface="Inconsolata"/>
              </a:rPr>
              <a:t># broker sedang lambat</a:t>
            </a:r>
          </a:p>
          <a:p>
            <a:pPr>
              <a:lnSpc>
                <a:spcPct val="108035"/>
              </a:lnSpc>
              <a:spcAft>
                <a:spcPts val="0"/>
              </a:spcAft>
            </a:pPr>
            <a:r>
              <a:rPr sz="771" i="0">
                <a:solidFill>
                  <a:srgbClr val="5C6773"/>
                </a:solidFill>
                <a:latin typeface="Inconsolata"/>
              </a:rPr>
              <a:t>26  </a:t>
            </a:r>
            <a:r>
              <a:rPr sz="771" i="0">
                <a:solidFill>
                  <a:srgbClr val="E6EDF3"/>
                </a:solidFill>
                <a:latin typeface="Inconsolata"/>
              </a:rPr>
              <a:t>    </a:t>
            </a:r>
            <a:r>
              <a:rPr sz="771" i="0">
                <a:solidFill>
                  <a:srgbClr val="7FDBCA"/>
                </a:solidFill>
                <a:latin typeface="Inconsolata"/>
              </a:rPr>
              <a:t>QUEUE</a:t>
            </a:r>
            <a:r>
              <a:rPr sz="771" i="0">
                <a:solidFill>
                  <a:srgbClr val="E6EDF3"/>
                </a:solidFill>
                <a:latin typeface="Inconsolata"/>
              </a:rPr>
              <a:t>.append(json.dumps(event))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07-tracing/before.py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8035"/>
              </a:lnSpc>
              <a:spcAft>
                <a:spcPts val="0"/>
              </a:spcAft>
            </a:pPr>
            <a:r>
              <a:rPr sz="771" i="0">
                <a:solidFill>
                  <a:srgbClr val="5C6773"/>
                </a:solidFill>
                <a:latin typeface="Inconsolata"/>
              </a:rPr>
              <a:t>29  </a:t>
            </a:r>
            <a:r>
              <a:rPr sz="771" i="0">
                <a:solidFill>
                  <a:srgbClr val="FF8E6E"/>
                </a:solidFill>
                <a:latin typeface="Inconsolata"/>
              </a:rPr>
              <a:t>def</a:t>
            </a:r>
            <a:r>
              <a:rPr sz="771" i="0">
                <a:solidFill>
                  <a:srgbClr val="E6EDF3"/>
                </a:solidFill>
                <a:latin typeface="Inconsolata"/>
              </a:rPr>
              <a:t> </a:t>
            </a:r>
            <a:r>
              <a:rPr sz="771" i="0">
                <a:solidFill>
                  <a:srgbClr val="82B1FF"/>
                </a:solidFill>
                <a:latin typeface="Inconsolata"/>
              </a:rPr>
              <a:t>place_order</a:t>
            </a:r>
            <a:r>
              <a:rPr sz="771" i="0">
                <a:solidFill>
                  <a:srgbClr val="E6EDF3"/>
                </a:solidFill>
                <a:latin typeface="Inconsolata"/>
              </a:rPr>
              <a:t>():</a:t>
            </a:r>
          </a:p>
          <a:p>
            <a:pPr>
              <a:lnSpc>
                <a:spcPct val="108035"/>
              </a:lnSpc>
              <a:spcAft>
                <a:spcPts val="0"/>
              </a:spcAft>
            </a:pPr>
            <a:r>
              <a:rPr sz="771" i="0">
                <a:solidFill>
                  <a:srgbClr val="5C6773"/>
                </a:solidFill>
                <a:latin typeface="Inconsolata"/>
              </a:rPr>
              <a:t>30  </a:t>
            </a:r>
            <a:r>
              <a:rPr sz="771" i="0">
                <a:solidFill>
                  <a:srgbClr val="E6EDF3"/>
                </a:solidFill>
                <a:latin typeface="Inconsolata"/>
              </a:rPr>
              <a:t>    start = time.perf_counter()</a:t>
            </a:r>
          </a:p>
          <a:p>
            <a:pPr>
              <a:lnSpc>
                <a:spcPct val="108035"/>
              </a:lnSpc>
              <a:spcAft>
                <a:spcPts val="0"/>
              </a:spcAft>
            </a:pPr>
            <a:r>
              <a:rPr sz="771" i="0">
                <a:solidFill>
                  <a:srgbClr val="5C6773"/>
                </a:solidFill>
                <a:latin typeface="Inconsolata"/>
              </a:rPr>
              <a:t>31  </a:t>
            </a:r>
            <a:r>
              <a:rPr sz="771" i="0">
                <a:solidFill>
                  <a:srgbClr val="E6EDF3"/>
                </a:solidFill>
                <a:latin typeface="Inconsolata"/>
              </a:rPr>
              <a:t>    check_stock()</a:t>
            </a:r>
          </a:p>
          <a:p>
            <a:pPr>
              <a:lnSpc>
                <a:spcPct val="108035"/>
              </a:lnSpc>
              <a:spcAft>
                <a:spcPts val="0"/>
              </a:spcAft>
            </a:pPr>
            <a:r>
              <a:rPr sz="771" i="0">
                <a:solidFill>
                  <a:srgbClr val="5C6773"/>
                </a:solidFill>
                <a:latin typeface="Inconsolata"/>
              </a:rPr>
              <a:t>32  </a:t>
            </a:r>
            <a:r>
              <a:rPr sz="771" i="0">
                <a:solidFill>
                  <a:srgbClr val="E6EDF3"/>
                </a:solidFill>
                <a:latin typeface="Inconsolata"/>
              </a:rPr>
              <a:t>    save_order()</a:t>
            </a:r>
          </a:p>
          <a:p>
            <a:pPr>
              <a:lnSpc>
                <a:spcPct val="108035"/>
              </a:lnSpc>
              <a:spcAft>
                <a:spcPts val="0"/>
              </a:spcAft>
            </a:pPr>
            <a:r>
              <a:rPr sz="771" i="0">
                <a:solidFill>
                  <a:srgbClr val="5C6773"/>
                </a:solidFill>
                <a:latin typeface="Inconsolata"/>
              </a:rPr>
              <a:t>33  </a:t>
            </a:r>
            <a:r>
              <a:rPr sz="771" i="0">
                <a:solidFill>
                  <a:srgbClr val="E6EDF3"/>
                </a:solidFill>
                <a:latin typeface="Inconsolata"/>
              </a:rPr>
              <a:t>    publish_event({</a:t>
            </a:r>
            <a:r>
              <a:rPr sz="771" i="0">
                <a:solidFill>
                  <a:srgbClr val="A5D6A7"/>
                </a:solidFill>
                <a:latin typeface="Inconsolata"/>
              </a:rPr>
              <a:t>"type"</a:t>
            </a:r>
            <a:r>
              <a:rPr sz="771" i="0">
                <a:solidFill>
                  <a:srgbClr val="E6EDF3"/>
                </a:solidFill>
                <a:latin typeface="Inconsolata"/>
              </a:rPr>
              <a:t>: </a:t>
            </a:r>
            <a:r>
              <a:rPr sz="771" i="0">
                <a:solidFill>
                  <a:srgbClr val="A5D6A7"/>
                </a:solidFill>
                <a:latin typeface="Inconsolata"/>
              </a:rPr>
              <a:t>"order.placed"</a:t>
            </a:r>
            <a:r>
              <a:rPr sz="771" i="0">
                <a:solidFill>
                  <a:srgbClr val="E6EDF3"/>
                </a:solidFill>
                <a:latin typeface="Inconsolata"/>
              </a:rPr>
              <a:t>, </a:t>
            </a:r>
            <a:r>
              <a:rPr sz="771" i="0">
                <a:solidFill>
                  <a:srgbClr val="A5D6A7"/>
                </a:solidFill>
                <a:latin typeface="Inconsolata"/>
              </a:rPr>
              <a:t>"order_id"</a:t>
            </a:r>
            <a:r>
              <a:rPr sz="771" i="0">
                <a:solidFill>
                  <a:srgbClr val="E6EDF3"/>
                </a:solidFill>
                <a:latin typeface="Inconsolata"/>
              </a:rPr>
              <a:t>: </a:t>
            </a:r>
            <a:r>
              <a:rPr sz="771" i="0">
                <a:solidFill>
                  <a:srgbClr val="F9C97A"/>
                </a:solidFill>
                <a:latin typeface="Inconsolata"/>
              </a:rPr>
              <a:t>7</a:t>
            </a:r>
            <a:r>
              <a:rPr sz="771" i="0">
                <a:solidFill>
                  <a:srgbClr val="E6EDF3"/>
                </a:solidFill>
                <a:latin typeface="Inconsolata"/>
              </a:rPr>
              <a:t>})</a:t>
            </a:r>
          </a:p>
          <a:p>
            <a:pPr>
              <a:lnSpc>
                <a:spcPct val="108035"/>
              </a:lnSpc>
              <a:spcAft>
                <a:spcPts val="0"/>
              </a:spcAft>
            </a:pPr>
            <a:r>
              <a:rPr sz="771" i="0">
                <a:solidFill>
                  <a:srgbClr val="5C6773"/>
                </a:solidFill>
                <a:latin typeface="Inconsolata"/>
              </a:rPr>
              <a:t>34  </a:t>
            </a:r>
            <a:r>
              <a:rPr sz="771" i="0">
                <a:solidFill>
                  <a:srgbClr val="E6EDF3"/>
                </a:solidFill>
                <a:latin typeface="Inconsolata"/>
              </a:rPr>
              <a:t>    ms = (time.perf_counter() - start) * </a:t>
            </a:r>
            <a:r>
              <a:rPr sz="771" i="0">
                <a:solidFill>
                  <a:srgbClr val="F9C97A"/>
                </a:solidFill>
                <a:latin typeface="Inconsolata"/>
              </a:rPr>
              <a:t>1000</a:t>
            </a:r>
          </a:p>
          <a:p>
            <a:pPr>
              <a:lnSpc>
                <a:spcPct val="108035"/>
              </a:lnSpc>
              <a:spcAft>
                <a:spcPts val="0"/>
              </a:spcAft>
            </a:pPr>
            <a:r>
              <a:rPr sz="771" i="0">
                <a:solidFill>
                  <a:srgbClr val="5C6773"/>
                </a:solidFill>
                <a:latin typeface="Inconsolata"/>
              </a:rPr>
              <a:t>35  </a:t>
            </a:r>
            <a:r>
              <a:rPr sz="771" i="0">
                <a:solidFill>
                  <a:srgbClr val="E6EDF3"/>
                </a:solidFill>
                <a:latin typeface="Inconsolata"/>
              </a:rPr>
              <a:t>    </a:t>
            </a:r>
            <a:r>
              <a:rPr sz="771" i="0">
                <a:solidFill>
                  <a:srgbClr val="C3A6FF"/>
                </a:solidFill>
                <a:latin typeface="Inconsolata"/>
              </a:rPr>
              <a:t>print</a:t>
            </a:r>
            <a:r>
              <a:rPr sz="771" i="0">
                <a:solidFill>
                  <a:srgbClr val="E6EDF3"/>
                </a:solidFill>
                <a:latin typeface="Inconsolata"/>
              </a:rPr>
              <a:t>(</a:t>
            </a:r>
            <a:r>
              <a:rPr sz="771" i="0">
                <a:solidFill>
                  <a:srgbClr val="A5D6A7"/>
                </a:solidFill>
                <a:latin typeface="Inconsolata"/>
              </a:rPr>
              <a:t>f"[api]      POST /orders selesai dalam {ms:.0f} ms"</a:t>
            </a:r>
            <a:r>
              <a:rPr sz="771" i="0">
                <a:solidFill>
                  <a:srgbClr val="E6EDF3"/>
                </a:solidFill>
                <a:latin typeface="Inconsolata"/>
              </a:rPr>
              <a:t>)</a:t>
            </a:r>
          </a:p>
          <a:p>
            <a:pPr>
              <a:lnSpc>
                <a:spcPct val="108035"/>
              </a:lnSpc>
              <a:spcAft>
                <a:spcPts val="0"/>
              </a:spcAft>
            </a:pPr>
            <a:r>
              <a:rPr sz="771" i="0">
                <a:solidFill>
                  <a:srgbClr val="5C6773"/>
                </a:solidFill>
                <a:latin typeface="Inconsolata"/>
              </a:rPr>
              <a:t>36  </a:t>
            </a:r>
            <a:r>
              <a:rPr sz="771" i="0">
                <a:solidFill>
                  <a:srgbClr val="E6EDF3"/>
                </a:solidFill>
                <a:latin typeface="Inconsolata"/>
              </a:rPr>
              <a:t> </a:t>
            </a:r>
          </a:p>
          <a:p>
            <a:pPr>
              <a:lnSpc>
                <a:spcPct val="108035"/>
              </a:lnSpc>
              <a:spcAft>
                <a:spcPts val="0"/>
              </a:spcAft>
            </a:pPr>
            <a:r>
              <a:rPr sz="771" i="0">
                <a:solidFill>
                  <a:srgbClr val="5C6773"/>
                </a:solidFill>
                <a:latin typeface="Inconsolata"/>
              </a:rPr>
              <a:t>37  </a:t>
            </a:r>
            <a:r>
              <a:rPr sz="771" i="0">
                <a:solidFill>
                  <a:srgbClr val="E6EDF3"/>
                </a:solidFill>
                <a:latin typeface="Inconsolata"/>
              </a:rPr>
              <a:t> </a:t>
            </a:r>
          </a:p>
          <a:p>
            <a:pPr>
              <a:lnSpc>
                <a:spcPct val="108035"/>
              </a:lnSpc>
              <a:spcAft>
                <a:spcPts val="0"/>
              </a:spcAft>
            </a:pPr>
            <a:r>
              <a:rPr sz="771" i="0">
                <a:solidFill>
                  <a:srgbClr val="5C6773"/>
                </a:solidFill>
                <a:latin typeface="Inconsolata"/>
              </a:rPr>
              <a:t>38  </a:t>
            </a:r>
            <a:r>
              <a:rPr sz="771" i="0">
                <a:solidFill>
                  <a:srgbClr val="FF8E6E"/>
                </a:solidFill>
                <a:latin typeface="Inconsolata"/>
              </a:rPr>
              <a:t>def</a:t>
            </a:r>
            <a:r>
              <a:rPr sz="771" i="0">
                <a:solidFill>
                  <a:srgbClr val="E6EDF3"/>
                </a:solidFill>
                <a:latin typeface="Inconsolata"/>
              </a:rPr>
              <a:t> </a:t>
            </a:r>
            <a:r>
              <a:rPr sz="771" i="0">
                <a:solidFill>
                  <a:srgbClr val="82B1FF"/>
                </a:solidFill>
                <a:latin typeface="Inconsolata"/>
              </a:rPr>
              <a:t>consume</a:t>
            </a:r>
            <a:r>
              <a:rPr sz="771" i="0">
                <a:solidFill>
                  <a:srgbClr val="E6EDF3"/>
                </a:solidFill>
                <a:latin typeface="Inconsolata"/>
              </a:rPr>
              <a:t>():                       </a:t>
            </a:r>
            <a:r>
              <a:rPr sz="771" i="1">
                <a:solidFill>
                  <a:srgbClr val="8B98A8"/>
                </a:solidFill>
                <a:latin typeface="Inconsolata"/>
              </a:rPr>
              <a:t># anggap: proses consumer</a:t>
            </a:r>
          </a:p>
          <a:p>
            <a:pPr>
              <a:lnSpc>
                <a:spcPct val="108035"/>
              </a:lnSpc>
              <a:spcAft>
                <a:spcPts val="0"/>
              </a:spcAft>
            </a:pPr>
            <a:r>
              <a:rPr sz="771" i="0">
                <a:solidFill>
                  <a:srgbClr val="5C6773"/>
                </a:solidFill>
                <a:latin typeface="Inconsolata"/>
              </a:rPr>
              <a:t>39  </a:t>
            </a:r>
            <a:r>
              <a:rPr sz="771" i="0">
                <a:solidFill>
                  <a:srgbClr val="E6EDF3"/>
                </a:solidFill>
                <a:latin typeface="Inconsolata"/>
              </a:rPr>
              <a:t>    event = json.loads(</a:t>
            </a:r>
            <a:r>
              <a:rPr sz="771" i="0">
                <a:solidFill>
                  <a:srgbClr val="7FDBCA"/>
                </a:solidFill>
                <a:latin typeface="Inconsolata"/>
              </a:rPr>
              <a:t>QUEUE</a:t>
            </a:r>
            <a:r>
              <a:rPr sz="771" i="0">
                <a:solidFill>
                  <a:srgbClr val="E6EDF3"/>
                </a:solidFill>
                <a:latin typeface="Inconsolata"/>
              </a:rPr>
              <a:t>.pop(</a:t>
            </a:r>
            <a:r>
              <a:rPr sz="771" i="0">
                <a:solidFill>
                  <a:srgbClr val="F9C97A"/>
                </a:solidFill>
                <a:latin typeface="Inconsolata"/>
              </a:rPr>
              <a:t>0</a:t>
            </a:r>
            <a:r>
              <a:rPr sz="771" i="0">
                <a:solidFill>
                  <a:srgbClr val="E6EDF3"/>
                </a:solidFill>
                <a:latin typeface="Inconsolata"/>
              </a:rPr>
              <a:t>))</a:t>
            </a:r>
          </a:p>
          <a:p>
            <a:pPr>
              <a:lnSpc>
                <a:spcPct val="108035"/>
              </a:lnSpc>
              <a:spcAft>
                <a:spcPts val="0"/>
              </a:spcAft>
            </a:pPr>
            <a:r>
              <a:rPr sz="771" i="0">
                <a:solidFill>
                  <a:srgbClr val="5C6773"/>
                </a:solidFill>
                <a:latin typeface="Inconsolata"/>
              </a:rPr>
              <a:t>40  </a:t>
            </a:r>
            <a:r>
              <a:rPr sz="771" i="0">
                <a:solidFill>
                  <a:srgbClr val="E6EDF3"/>
                </a:solidFill>
                <a:latin typeface="Inconsolata"/>
              </a:rPr>
              <a:t>    time.sleep(</a:t>
            </a:r>
            <a:r>
              <a:rPr sz="771" i="0">
                <a:solidFill>
                  <a:srgbClr val="F9C97A"/>
                </a:solidFill>
                <a:latin typeface="Inconsolata"/>
              </a:rPr>
              <a:t>0</a:t>
            </a:r>
            <a:r>
              <a:rPr sz="771" i="0">
                <a:solidFill>
                  <a:srgbClr val="E6EDF3"/>
                </a:solidFill>
                <a:latin typeface="Inconsolata"/>
              </a:rPr>
              <a:t>.</a:t>
            </a:r>
            <a:r>
              <a:rPr sz="771" i="0">
                <a:solidFill>
                  <a:srgbClr val="F9C97A"/>
                </a:solidFill>
                <a:latin typeface="Inconsolata"/>
              </a:rPr>
              <a:t>1</a:t>
            </a:r>
            <a:r>
              <a:rPr sz="771" i="0">
                <a:solidFill>
                  <a:srgbClr val="E6EDF3"/>
                </a:solidFill>
                <a:latin typeface="Inconsolata"/>
              </a:rPr>
              <a:t>)</a:t>
            </a:r>
          </a:p>
          <a:p>
            <a:pPr>
              <a:lnSpc>
                <a:spcPct val="108035"/>
              </a:lnSpc>
              <a:spcAft>
                <a:spcPts val="0"/>
              </a:spcAft>
            </a:pPr>
            <a:r>
              <a:rPr sz="771" i="0">
                <a:solidFill>
                  <a:srgbClr val="5C6773"/>
                </a:solidFill>
                <a:latin typeface="Inconsolata"/>
              </a:rPr>
              <a:t>41  </a:t>
            </a:r>
            <a:r>
              <a:rPr sz="771" i="0">
                <a:solidFill>
                  <a:srgbClr val="E6EDF3"/>
                </a:solidFill>
                <a:latin typeface="Inconsolata"/>
              </a:rPr>
              <a:t>    </a:t>
            </a:r>
            <a:r>
              <a:rPr sz="771" i="0">
                <a:solidFill>
                  <a:srgbClr val="C3A6FF"/>
                </a:solidFill>
                <a:latin typeface="Inconsolata"/>
              </a:rPr>
              <a:t>print</a:t>
            </a:r>
            <a:r>
              <a:rPr sz="771" i="0">
                <a:solidFill>
                  <a:srgbClr val="E6EDF3"/>
                </a:solidFill>
                <a:latin typeface="Inconsolata"/>
              </a:rPr>
              <a:t>(</a:t>
            </a:r>
            <a:r>
              <a:rPr sz="771" i="0">
                <a:solidFill>
                  <a:srgbClr val="A5D6A7"/>
                </a:solidFill>
                <a:latin typeface="Inconsolata"/>
              </a:rPr>
              <a:t>f"[consumer] email order {event['order_id']} terkirim"</a:t>
            </a:r>
            <a:r>
              <a:rPr sz="771" i="0">
                <a:solidFill>
                  <a:srgbClr val="E6EDF3"/>
                </a:solidFill>
                <a:latin typeface="Inconsolata"/>
              </a:rPr>
              <a:t>)</a:t>
            </a:r>
          </a:p>
          <a:p>
            <a:pPr>
              <a:lnSpc>
                <a:spcPct val="108035"/>
              </a:lnSpc>
              <a:spcAft>
                <a:spcPts val="0"/>
              </a:spcAft>
            </a:pPr>
            <a:r>
              <a:rPr sz="771" i="0">
                <a:solidFill>
                  <a:srgbClr val="5C6773"/>
                </a:solidFill>
                <a:latin typeface="Inconsolata"/>
              </a:rPr>
              <a:t>42  </a:t>
            </a:r>
            <a:r>
              <a:rPr sz="771" i="0">
                <a:solidFill>
                  <a:srgbClr val="E6EDF3"/>
                </a:solidFill>
                <a:latin typeface="Inconsolata"/>
              </a:rPr>
              <a:t> </a:t>
            </a:r>
          </a:p>
          <a:p>
            <a:pPr>
              <a:lnSpc>
                <a:spcPct val="108035"/>
              </a:lnSpc>
              <a:spcAft>
                <a:spcPts val="0"/>
              </a:spcAft>
            </a:pPr>
            <a:r>
              <a:rPr sz="771" i="0">
                <a:solidFill>
                  <a:srgbClr val="5C6773"/>
                </a:solidFill>
                <a:latin typeface="Inconsolata"/>
              </a:rPr>
              <a:t>43  </a:t>
            </a:r>
            <a:r>
              <a:rPr sz="771" i="0">
                <a:solidFill>
                  <a:srgbClr val="E6EDF3"/>
                </a:solidFill>
                <a:latin typeface="Inconsolata"/>
              </a:rPr>
              <a:t> </a:t>
            </a:r>
          </a:p>
          <a:p>
            <a:pPr>
              <a:lnSpc>
                <a:spcPct val="108035"/>
              </a:lnSpc>
              <a:spcAft>
                <a:spcPts val="0"/>
              </a:spcAft>
            </a:pPr>
            <a:r>
              <a:rPr sz="771" i="0">
                <a:solidFill>
                  <a:srgbClr val="5C6773"/>
                </a:solidFill>
                <a:latin typeface="Inconsolata"/>
              </a:rPr>
              <a:t>44  </a:t>
            </a:r>
            <a:r>
              <a:rPr sz="771" i="0">
                <a:solidFill>
                  <a:srgbClr val="FF8E6E"/>
                </a:solidFill>
                <a:latin typeface="Inconsolata"/>
              </a:rPr>
              <a:t>if</a:t>
            </a:r>
            <a:r>
              <a:rPr sz="771" i="0">
                <a:solidFill>
                  <a:srgbClr val="E6EDF3"/>
                </a:solidFill>
                <a:latin typeface="Inconsolata"/>
              </a:rPr>
              <a:t> __name__ == </a:t>
            </a:r>
            <a:r>
              <a:rPr sz="771" i="0">
                <a:solidFill>
                  <a:srgbClr val="A5D6A7"/>
                </a:solidFill>
                <a:latin typeface="Inconsolata"/>
              </a:rPr>
              <a:t>"__main__"</a:t>
            </a:r>
            <a:r>
              <a:rPr sz="771" i="0">
                <a:solidFill>
                  <a:srgbClr val="E6EDF3"/>
                </a:solidFill>
                <a:latin typeface="Inconsolata"/>
              </a:rPr>
              <a:t>:</a:t>
            </a:r>
          </a:p>
          <a:p>
            <a:pPr>
              <a:lnSpc>
                <a:spcPct val="108035"/>
              </a:lnSpc>
              <a:spcAft>
                <a:spcPts val="0"/>
              </a:spcAft>
            </a:pPr>
            <a:r>
              <a:rPr sz="771" i="0">
                <a:solidFill>
                  <a:srgbClr val="5C6773"/>
                </a:solidFill>
                <a:latin typeface="Inconsolata"/>
              </a:rPr>
              <a:t>45  </a:t>
            </a:r>
            <a:r>
              <a:rPr sz="771" i="0">
                <a:solidFill>
                  <a:srgbClr val="E6EDF3"/>
                </a:solidFill>
                <a:latin typeface="Inconsolata"/>
              </a:rPr>
              <a:t>    place_order()</a:t>
            </a:r>
          </a:p>
          <a:p>
            <a:pPr>
              <a:lnSpc>
                <a:spcPct val="108035"/>
              </a:lnSpc>
              <a:spcAft>
                <a:spcPts val="0"/>
              </a:spcAft>
            </a:pPr>
            <a:r>
              <a:rPr sz="771" i="0">
                <a:solidFill>
                  <a:srgbClr val="5C6773"/>
                </a:solidFill>
                <a:latin typeface="Inconsolata"/>
              </a:rPr>
              <a:t>46  </a:t>
            </a:r>
            <a:r>
              <a:rPr sz="771" i="0">
                <a:solidFill>
                  <a:srgbClr val="E6EDF3"/>
                </a:solidFill>
                <a:latin typeface="Inconsolata"/>
              </a:rPr>
              <a:t>    consume()</a:t>
            </a:r>
          </a:p>
        </p:txBody>
      </p:sp>
      <p:sp>
        <p:nvSpPr>
          <p:cNvPr id="36" name="Box 21"/>
          <p:cNvSpPr/>
          <p:nvPr/>
        </p:nvSpPr>
        <p:spPr>
          <a:xfrm>
            <a:off x="704088" y="3732022"/>
            <a:ext cx="3694176" cy="119380"/>
          </a:xfrm>
          <a:prstGeom prst="roundRect">
            <a:avLst>
              <a:gd name="adj" fmla="val 382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367284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1954022"/>
            <a:ext cx="3694176" cy="754380"/>
          </a:xfrm>
          <a:prstGeom prst="roundRect">
            <a:avLst>
              <a:gd name="adj" fmla="val 6060"/>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221234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40" name="Box 25"/>
          <p:cNvSpPr/>
          <p:nvPr/>
        </p:nvSpPr>
        <p:spPr>
          <a:xfrm>
            <a:off x="4709159" y="3351022"/>
            <a:ext cx="3694176" cy="119380"/>
          </a:xfrm>
          <a:prstGeom prst="roundRect">
            <a:avLst>
              <a:gd name="adj" fmla="val 382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8284463" y="329184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Tracing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07-tracing/before.py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sesi-09-observability/07-tracing</a:t>
            </a:r>
          </a:p>
          <a:p>
            <a:pPr>
              <a:lnSpc>
                <a:spcPct val="111111"/>
              </a:lnSpc>
              <a:spcAft>
                <a:spcPts val="0"/>
              </a:spcAft>
            </a:pPr>
            <a:r>
              <a:rPr sz="900" i="0">
                <a:solidFill>
                  <a:srgbClr val="82B1FF"/>
                </a:solidFill>
                <a:latin typeface="Inconsolata"/>
              </a:rPr>
              <a:t>$ python before.py</a:t>
            </a:r>
          </a:p>
        </p:txBody>
      </p:sp>
      <p:pic>
        <p:nvPicPr>
          <p:cNvPr id="29" name="Image 12" descr="s09-07-tracing-before.png"/>
          <p:cNvPicPr>
            <a:picLocks noChangeAspect="1"/>
          </p:cNvPicPr>
          <p:nvPr/>
        </p:nvPicPr>
        <p:blipFill>
          <a:blip r:embed="rId2"/>
          <a:stretch>
            <a:fillRect/>
          </a:stretch>
        </p:blipFill>
        <p:spPr>
          <a:xfrm>
            <a:off x="621792" y="2322576"/>
            <a:ext cx="4297680" cy="799100"/>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Publish ke broker sedang lambat (baris 25)</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Yang diukur hanya total waktu (baris 30-35])</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Consumer mencatat log sendiri (baris 41])</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Total 471 ms, tanpa tahu langkah mana penyebabnya.</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Tracing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span OpenTelemetry sampai consumer (1/2)</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07-tracing/after.py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2868"/>
              </a:lnSpc>
              <a:spcAft>
                <a:spcPts val="0"/>
              </a:spcAft>
            </a:pPr>
            <a:r>
              <a:rPr sz="729" i="0">
                <a:solidFill>
                  <a:srgbClr val="5C6773"/>
                </a:solidFill>
                <a:latin typeface="Inconsolata"/>
              </a:rPr>
              <a:t>14  </a:t>
            </a:r>
            <a:r>
              <a:rPr sz="729" i="0">
                <a:solidFill>
                  <a:srgbClr val="FF8E6E"/>
                </a:solidFill>
                <a:latin typeface="Inconsolata"/>
              </a:rPr>
              <a:t>import</a:t>
            </a:r>
            <a:r>
              <a:rPr sz="729" i="0">
                <a:solidFill>
                  <a:srgbClr val="E6EDF3"/>
                </a:solidFill>
                <a:latin typeface="Inconsolata"/>
              </a:rPr>
              <a:t> json</a:t>
            </a:r>
          </a:p>
          <a:p>
            <a:pPr>
              <a:lnSpc>
                <a:spcPct val="102868"/>
              </a:lnSpc>
              <a:spcAft>
                <a:spcPts val="0"/>
              </a:spcAft>
            </a:pPr>
            <a:r>
              <a:rPr sz="729" i="0">
                <a:solidFill>
                  <a:srgbClr val="5C6773"/>
                </a:solidFill>
                <a:latin typeface="Inconsolata"/>
              </a:rPr>
              <a:t>15  </a:t>
            </a:r>
            <a:r>
              <a:rPr sz="729" i="0">
                <a:solidFill>
                  <a:srgbClr val="FF8E6E"/>
                </a:solidFill>
                <a:latin typeface="Inconsolata"/>
              </a:rPr>
              <a:t>import</a:t>
            </a:r>
            <a:r>
              <a:rPr sz="729" i="0">
                <a:solidFill>
                  <a:srgbClr val="E6EDF3"/>
                </a:solidFill>
                <a:latin typeface="Inconsolata"/>
              </a:rPr>
              <a:t> time</a:t>
            </a:r>
          </a:p>
          <a:p>
            <a:pPr>
              <a:lnSpc>
                <a:spcPct val="102868"/>
              </a:lnSpc>
              <a:spcAft>
                <a:spcPts val="0"/>
              </a:spcAft>
            </a:pPr>
            <a:r>
              <a:rPr sz="729" i="0">
                <a:solidFill>
                  <a:srgbClr val="5C6773"/>
                </a:solidFill>
                <a:latin typeface="Inconsolata"/>
              </a:rPr>
              <a:t>16  </a:t>
            </a:r>
            <a:r>
              <a:rPr sz="729" i="0">
                <a:solidFill>
                  <a:srgbClr val="E6EDF3"/>
                </a:solidFill>
                <a:latin typeface="Inconsolata"/>
              </a:rPr>
              <a:t> </a:t>
            </a:r>
          </a:p>
          <a:p>
            <a:pPr>
              <a:lnSpc>
                <a:spcPct val="102868"/>
              </a:lnSpc>
              <a:spcAft>
                <a:spcPts val="0"/>
              </a:spcAft>
            </a:pPr>
            <a:r>
              <a:rPr sz="729" i="0">
                <a:solidFill>
                  <a:srgbClr val="5C6773"/>
                </a:solidFill>
                <a:latin typeface="Inconsolata"/>
              </a:rPr>
              <a:t>17  </a:t>
            </a:r>
            <a:r>
              <a:rPr sz="729" i="0">
                <a:solidFill>
                  <a:srgbClr val="FF8E6E"/>
                </a:solidFill>
                <a:latin typeface="Inconsolata"/>
              </a:rPr>
              <a:t>from</a:t>
            </a:r>
            <a:r>
              <a:rPr sz="729" i="0">
                <a:solidFill>
                  <a:srgbClr val="E6EDF3"/>
                </a:solidFill>
                <a:latin typeface="Inconsolata"/>
              </a:rPr>
              <a:t> opentelemetry </a:t>
            </a:r>
            <a:r>
              <a:rPr sz="729" i="0">
                <a:solidFill>
                  <a:srgbClr val="FF8E6E"/>
                </a:solidFill>
                <a:latin typeface="Inconsolata"/>
              </a:rPr>
              <a:t>import</a:t>
            </a:r>
            <a:r>
              <a:rPr sz="729" i="0">
                <a:solidFill>
                  <a:srgbClr val="E6EDF3"/>
                </a:solidFill>
                <a:latin typeface="Inconsolata"/>
              </a:rPr>
              <a:t> trace</a:t>
            </a:r>
          </a:p>
          <a:p>
            <a:pPr>
              <a:lnSpc>
                <a:spcPct val="102868"/>
              </a:lnSpc>
              <a:spcAft>
                <a:spcPts val="0"/>
              </a:spcAft>
            </a:pPr>
            <a:r>
              <a:rPr sz="729" i="0">
                <a:solidFill>
                  <a:srgbClr val="5C6773"/>
                </a:solidFill>
                <a:latin typeface="Inconsolata"/>
              </a:rPr>
              <a:t>18  </a:t>
            </a:r>
            <a:r>
              <a:rPr sz="729" i="0">
                <a:solidFill>
                  <a:srgbClr val="FF8E6E"/>
                </a:solidFill>
                <a:latin typeface="Inconsolata"/>
              </a:rPr>
              <a:t>from</a:t>
            </a:r>
            <a:r>
              <a:rPr sz="729" i="0">
                <a:solidFill>
                  <a:srgbClr val="E6EDF3"/>
                </a:solidFill>
                <a:latin typeface="Inconsolata"/>
              </a:rPr>
              <a:t> opentelemetry.propagate </a:t>
            </a:r>
            <a:r>
              <a:rPr sz="729" i="0">
                <a:solidFill>
                  <a:srgbClr val="FF8E6E"/>
                </a:solidFill>
                <a:latin typeface="Inconsolata"/>
              </a:rPr>
              <a:t>import</a:t>
            </a:r>
            <a:r>
              <a:rPr sz="729" i="0">
                <a:solidFill>
                  <a:srgbClr val="E6EDF3"/>
                </a:solidFill>
                <a:latin typeface="Inconsolata"/>
              </a:rPr>
              <a:t> extract, inject</a:t>
            </a:r>
          </a:p>
          <a:p>
            <a:pPr>
              <a:lnSpc>
                <a:spcPct val="102868"/>
              </a:lnSpc>
              <a:spcAft>
                <a:spcPts val="0"/>
              </a:spcAft>
            </a:pPr>
            <a:r>
              <a:rPr sz="729" i="0">
                <a:solidFill>
                  <a:srgbClr val="5C6773"/>
                </a:solidFill>
                <a:latin typeface="Inconsolata"/>
              </a:rPr>
              <a:t>19  </a:t>
            </a:r>
            <a:r>
              <a:rPr sz="729" i="0">
                <a:solidFill>
                  <a:srgbClr val="FF8E6E"/>
                </a:solidFill>
                <a:latin typeface="Inconsolata"/>
              </a:rPr>
              <a:t>from</a:t>
            </a:r>
            <a:r>
              <a:rPr sz="729" i="0">
                <a:solidFill>
                  <a:srgbClr val="E6EDF3"/>
                </a:solidFill>
                <a:latin typeface="Inconsolata"/>
              </a:rPr>
              <a:t> opentelemetry.sdk.trace </a:t>
            </a:r>
            <a:r>
              <a:rPr sz="729" i="0">
                <a:solidFill>
                  <a:srgbClr val="FF8E6E"/>
                </a:solidFill>
                <a:latin typeface="Inconsolata"/>
              </a:rPr>
              <a:t>import</a:t>
            </a:r>
            <a:r>
              <a:rPr sz="729" i="0">
                <a:solidFill>
                  <a:srgbClr val="E6EDF3"/>
                </a:solidFill>
                <a:latin typeface="Inconsolata"/>
              </a:rPr>
              <a:t> </a:t>
            </a:r>
            <a:r>
              <a:rPr sz="729" i="0">
                <a:solidFill>
                  <a:srgbClr val="7FDBCA"/>
                </a:solidFill>
                <a:latin typeface="Inconsolata"/>
              </a:rPr>
              <a:t>TracerProvider</a:t>
            </a:r>
          </a:p>
          <a:p>
            <a:pPr>
              <a:lnSpc>
                <a:spcPct val="102868"/>
              </a:lnSpc>
              <a:spcAft>
                <a:spcPts val="0"/>
              </a:spcAft>
            </a:pPr>
            <a:r>
              <a:rPr sz="729" i="0">
                <a:solidFill>
                  <a:srgbClr val="5C6773"/>
                </a:solidFill>
                <a:latin typeface="Inconsolata"/>
              </a:rPr>
              <a:t>20  </a:t>
            </a:r>
            <a:r>
              <a:rPr sz="729" i="0">
                <a:solidFill>
                  <a:srgbClr val="FF8E6E"/>
                </a:solidFill>
                <a:latin typeface="Inconsolata"/>
              </a:rPr>
              <a:t>from</a:t>
            </a:r>
            <a:r>
              <a:rPr sz="729" i="0">
                <a:solidFill>
                  <a:srgbClr val="E6EDF3"/>
                </a:solidFill>
                <a:latin typeface="Inconsolata"/>
              </a:rPr>
              <a:t> opentelemetry.sdk.trace.export </a:t>
            </a:r>
            <a:r>
              <a:rPr sz="729" i="0">
                <a:solidFill>
                  <a:srgbClr val="FF8E6E"/>
                </a:solidFill>
                <a:latin typeface="Inconsolata"/>
              </a:rPr>
              <a:t>import</a:t>
            </a:r>
            <a:r>
              <a:rPr sz="729" i="0">
                <a:solidFill>
                  <a:srgbClr val="E6EDF3"/>
                </a:solidFill>
                <a:latin typeface="Inconsolata"/>
              </a:rPr>
              <a:t> </a:t>
            </a:r>
            <a:r>
              <a:rPr sz="729" i="0">
                <a:solidFill>
                  <a:srgbClr val="7FDBCA"/>
                </a:solidFill>
                <a:latin typeface="Inconsolata"/>
              </a:rPr>
              <a:t>SimpleSpanProcessor</a:t>
            </a:r>
          </a:p>
          <a:p>
            <a:pPr>
              <a:lnSpc>
                <a:spcPct val="102868"/>
              </a:lnSpc>
              <a:spcAft>
                <a:spcPts val="0"/>
              </a:spcAft>
            </a:pPr>
            <a:r>
              <a:rPr sz="729" i="0">
                <a:solidFill>
                  <a:srgbClr val="5C6773"/>
                </a:solidFill>
                <a:latin typeface="Inconsolata"/>
              </a:rPr>
              <a:t>21  </a:t>
            </a:r>
            <a:r>
              <a:rPr sz="729" i="0">
                <a:solidFill>
                  <a:srgbClr val="FF8E6E"/>
                </a:solidFill>
                <a:latin typeface="Inconsolata"/>
              </a:rPr>
              <a:t>from</a:t>
            </a:r>
            <a:r>
              <a:rPr sz="729" i="0">
                <a:solidFill>
                  <a:srgbClr val="E6EDF3"/>
                </a:solidFill>
                <a:latin typeface="Inconsolata"/>
              </a:rPr>
              <a:t> opentelemetry.sdk.trace.export.in_memory_span_exporter </a:t>
            </a:r>
            <a:r>
              <a:rPr sz="729" i="0">
                <a:solidFill>
                  <a:srgbClr val="FF8E6E"/>
                </a:solidFill>
                <a:latin typeface="Inconsolata"/>
              </a:rPr>
              <a:t>import</a:t>
            </a:r>
            <a:r>
              <a:rPr sz="729" i="0">
                <a:solidFill>
                  <a:srgbClr val="E6EDF3"/>
                </a:solidFill>
                <a:latin typeface="Inconsolata"/>
              </a:rPr>
              <a:t> (</a:t>
            </a:r>
          </a:p>
          <a:p>
            <a:pPr>
              <a:lnSpc>
                <a:spcPct val="102868"/>
              </a:lnSpc>
              <a:spcAft>
                <a:spcPts val="0"/>
              </a:spcAft>
            </a:pPr>
            <a:r>
              <a:rPr sz="729" i="0">
                <a:solidFill>
                  <a:srgbClr val="5C6773"/>
                </a:solidFill>
                <a:latin typeface="Inconsolata"/>
              </a:rPr>
              <a:t>22  </a:t>
            </a:r>
            <a:r>
              <a:rPr sz="729" i="0">
                <a:solidFill>
                  <a:srgbClr val="E6EDF3"/>
                </a:solidFill>
                <a:latin typeface="Inconsolata"/>
              </a:rPr>
              <a:t>    </a:t>
            </a:r>
            <a:r>
              <a:rPr sz="729" i="0">
                <a:solidFill>
                  <a:srgbClr val="7FDBCA"/>
                </a:solidFill>
                <a:latin typeface="Inconsolata"/>
              </a:rPr>
              <a:t>InMemorySpanExporter</a:t>
            </a:r>
            <a:r>
              <a:rPr sz="729" i="0">
                <a:solidFill>
                  <a:srgbClr val="E6EDF3"/>
                </a:solidFill>
                <a:latin typeface="Inconsolata"/>
              </a:rPr>
              <a:t>)</a:t>
            </a:r>
          </a:p>
          <a:p>
            <a:pPr>
              <a:lnSpc>
                <a:spcPct val="102868"/>
              </a:lnSpc>
              <a:spcAft>
                <a:spcPts val="0"/>
              </a:spcAft>
            </a:pPr>
            <a:r>
              <a:rPr sz="729" i="0">
                <a:solidFill>
                  <a:srgbClr val="5C6773"/>
                </a:solidFill>
                <a:latin typeface="Inconsolata"/>
              </a:rPr>
              <a:t>23  </a:t>
            </a:r>
            <a:r>
              <a:rPr sz="729" i="0">
                <a:solidFill>
                  <a:srgbClr val="E6EDF3"/>
                </a:solidFill>
                <a:latin typeface="Inconsolata"/>
              </a:rPr>
              <a:t> </a:t>
            </a:r>
          </a:p>
          <a:p>
            <a:pPr>
              <a:lnSpc>
                <a:spcPct val="102868"/>
              </a:lnSpc>
              <a:spcAft>
                <a:spcPts val="0"/>
              </a:spcAft>
            </a:pPr>
            <a:r>
              <a:rPr sz="729" i="0">
                <a:solidFill>
                  <a:srgbClr val="5C6773"/>
                </a:solidFill>
                <a:latin typeface="Inconsolata"/>
              </a:rPr>
              <a:t>24  </a:t>
            </a:r>
            <a:r>
              <a:rPr sz="729" i="0">
                <a:solidFill>
                  <a:srgbClr val="E6EDF3"/>
                </a:solidFill>
                <a:latin typeface="Inconsolata"/>
              </a:rPr>
              <a:t>exporter = </a:t>
            </a:r>
            <a:r>
              <a:rPr sz="729" i="0">
                <a:solidFill>
                  <a:srgbClr val="7FDBCA"/>
                </a:solidFill>
                <a:latin typeface="Inconsolata"/>
              </a:rPr>
              <a:t>InMemorySpanExporter</a:t>
            </a:r>
            <a:r>
              <a:rPr sz="729" i="0">
                <a:solidFill>
                  <a:srgbClr val="E6EDF3"/>
                </a:solidFill>
                <a:latin typeface="Inconsolata"/>
              </a:rPr>
              <a:t>()    </a:t>
            </a:r>
            <a:r>
              <a:rPr sz="729" i="1">
                <a:solidFill>
                  <a:srgbClr val="8B98A8"/>
                </a:solidFill>
                <a:latin typeface="Inconsolata"/>
              </a:rPr>
              <a:t># anggap: Jaeger</a:t>
            </a:r>
          </a:p>
          <a:p>
            <a:pPr>
              <a:lnSpc>
                <a:spcPct val="102868"/>
              </a:lnSpc>
              <a:spcAft>
                <a:spcPts val="0"/>
              </a:spcAft>
            </a:pPr>
            <a:r>
              <a:rPr sz="729" i="0">
                <a:solidFill>
                  <a:srgbClr val="5C6773"/>
                </a:solidFill>
                <a:latin typeface="Inconsolata"/>
              </a:rPr>
              <a:t>25  </a:t>
            </a:r>
            <a:r>
              <a:rPr sz="729" i="0">
                <a:solidFill>
                  <a:srgbClr val="E6EDF3"/>
                </a:solidFill>
                <a:latin typeface="Inconsolata"/>
              </a:rPr>
              <a:t>provider = </a:t>
            </a:r>
            <a:r>
              <a:rPr sz="729" i="0">
                <a:solidFill>
                  <a:srgbClr val="7FDBCA"/>
                </a:solidFill>
                <a:latin typeface="Inconsolata"/>
              </a:rPr>
              <a:t>TracerProvider</a:t>
            </a:r>
            <a:r>
              <a:rPr sz="729" i="0">
                <a:solidFill>
                  <a:srgbClr val="E6EDF3"/>
                </a:solidFill>
                <a:latin typeface="Inconsolata"/>
              </a:rPr>
              <a:t>()</a:t>
            </a:r>
          </a:p>
          <a:p>
            <a:pPr>
              <a:lnSpc>
                <a:spcPct val="102868"/>
              </a:lnSpc>
              <a:spcAft>
                <a:spcPts val="0"/>
              </a:spcAft>
            </a:pPr>
            <a:r>
              <a:rPr sz="729" i="0">
                <a:solidFill>
                  <a:srgbClr val="5C6773"/>
                </a:solidFill>
                <a:latin typeface="Inconsolata"/>
              </a:rPr>
              <a:t>26  </a:t>
            </a:r>
            <a:r>
              <a:rPr sz="729" i="0">
                <a:solidFill>
                  <a:srgbClr val="E6EDF3"/>
                </a:solidFill>
                <a:latin typeface="Inconsolata"/>
              </a:rPr>
              <a:t>provider.add_span_processor(</a:t>
            </a:r>
            <a:r>
              <a:rPr sz="729" i="0">
                <a:solidFill>
                  <a:srgbClr val="7FDBCA"/>
                </a:solidFill>
                <a:latin typeface="Inconsolata"/>
              </a:rPr>
              <a:t>SimpleSpanProcessor</a:t>
            </a:r>
            <a:r>
              <a:rPr sz="729" i="0">
                <a:solidFill>
                  <a:srgbClr val="E6EDF3"/>
                </a:solidFill>
                <a:latin typeface="Inconsolata"/>
              </a:rPr>
              <a:t>(exporter))</a:t>
            </a:r>
          </a:p>
          <a:p>
            <a:pPr>
              <a:lnSpc>
                <a:spcPct val="102868"/>
              </a:lnSpc>
              <a:spcAft>
                <a:spcPts val="0"/>
              </a:spcAft>
            </a:pPr>
            <a:r>
              <a:rPr sz="729" i="0">
                <a:solidFill>
                  <a:srgbClr val="5C6773"/>
                </a:solidFill>
                <a:latin typeface="Inconsolata"/>
              </a:rPr>
              <a:t>27  </a:t>
            </a:r>
            <a:r>
              <a:rPr sz="729" i="0">
                <a:solidFill>
                  <a:srgbClr val="E6EDF3"/>
                </a:solidFill>
                <a:latin typeface="Inconsolata"/>
              </a:rPr>
              <a:t>trace.set_tracer_provider(provider)</a:t>
            </a:r>
          </a:p>
          <a:p>
            <a:pPr>
              <a:lnSpc>
                <a:spcPct val="102868"/>
              </a:lnSpc>
              <a:spcAft>
                <a:spcPts val="0"/>
              </a:spcAft>
            </a:pPr>
            <a:r>
              <a:rPr sz="729" i="0">
                <a:solidFill>
                  <a:srgbClr val="5C6773"/>
                </a:solidFill>
                <a:latin typeface="Inconsolata"/>
              </a:rPr>
              <a:t>28  </a:t>
            </a:r>
            <a:r>
              <a:rPr sz="729" i="0">
                <a:solidFill>
                  <a:srgbClr val="E6EDF3"/>
                </a:solidFill>
                <a:latin typeface="Inconsolata"/>
              </a:rPr>
              <a:t>tracer = trace.get_tracer(</a:t>
            </a:r>
            <a:r>
              <a:rPr sz="729" i="0">
                <a:solidFill>
                  <a:srgbClr val="A5D6A7"/>
                </a:solidFill>
                <a:latin typeface="Inconsolata"/>
              </a:rPr>
              <a:t>"order-api"</a:t>
            </a:r>
            <a:r>
              <a:rPr sz="729" i="0">
                <a:solidFill>
                  <a:srgbClr val="E6EDF3"/>
                </a:solidFill>
                <a:latin typeface="Inconsolata"/>
              </a:rPr>
              <a:t>)</a:t>
            </a:r>
          </a:p>
          <a:p>
            <a:pPr>
              <a:lnSpc>
                <a:spcPct val="102868"/>
              </a:lnSpc>
              <a:spcAft>
                <a:spcPts val="0"/>
              </a:spcAft>
            </a:pPr>
            <a:r>
              <a:rPr sz="729" i="0">
                <a:solidFill>
                  <a:srgbClr val="5C6773"/>
                </a:solidFill>
                <a:latin typeface="Inconsolata"/>
              </a:rPr>
              <a:t>29  </a:t>
            </a:r>
            <a:r>
              <a:rPr sz="729" i="0">
                <a:solidFill>
                  <a:srgbClr val="E6EDF3"/>
                </a:solidFill>
                <a:latin typeface="Inconsolata"/>
              </a:rPr>
              <a:t> </a:t>
            </a:r>
          </a:p>
          <a:p>
            <a:pPr>
              <a:lnSpc>
                <a:spcPct val="102868"/>
              </a:lnSpc>
              <a:spcAft>
                <a:spcPts val="0"/>
              </a:spcAft>
            </a:pPr>
            <a:r>
              <a:rPr sz="729" i="0">
                <a:solidFill>
                  <a:srgbClr val="5C6773"/>
                </a:solidFill>
                <a:latin typeface="Inconsolata"/>
              </a:rPr>
              <a:t>30  </a:t>
            </a:r>
            <a:r>
              <a:rPr sz="729" i="0">
                <a:solidFill>
                  <a:srgbClr val="7FDBCA"/>
                </a:solidFill>
                <a:latin typeface="Inconsolata"/>
              </a:rPr>
              <a:t>QUEUE</a:t>
            </a:r>
            <a:r>
              <a:rPr sz="729" i="0">
                <a:solidFill>
                  <a:srgbClr val="E6EDF3"/>
                </a:solidFill>
                <a:latin typeface="Inconsolata"/>
              </a:rPr>
              <a:t> = []                           </a:t>
            </a:r>
            <a:r>
              <a:rPr sz="729" i="1">
                <a:solidFill>
                  <a:srgbClr val="8B98A8"/>
                </a:solidFill>
                <a:latin typeface="Inconsolata"/>
              </a:rPr>
              <a:t># anggap: queue RabbitMQ</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07-tracing/after.py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2868"/>
              </a:lnSpc>
              <a:spcAft>
                <a:spcPts val="0"/>
              </a:spcAft>
            </a:pPr>
            <a:r>
              <a:rPr sz="729" i="0">
                <a:solidFill>
                  <a:srgbClr val="5C6773"/>
                </a:solidFill>
                <a:latin typeface="Inconsolata"/>
              </a:rPr>
              <a:t>33  </a:t>
            </a:r>
            <a:r>
              <a:rPr sz="729" i="0">
                <a:solidFill>
                  <a:srgbClr val="FF8E6E"/>
                </a:solidFill>
                <a:latin typeface="Inconsolata"/>
              </a:rPr>
              <a:t>def</a:t>
            </a:r>
            <a:r>
              <a:rPr sz="729" i="0">
                <a:solidFill>
                  <a:srgbClr val="E6EDF3"/>
                </a:solidFill>
                <a:latin typeface="Inconsolata"/>
              </a:rPr>
              <a:t> </a:t>
            </a:r>
            <a:r>
              <a:rPr sz="729" i="0">
                <a:solidFill>
                  <a:srgbClr val="82B1FF"/>
                </a:solidFill>
                <a:latin typeface="Inconsolata"/>
              </a:rPr>
              <a:t>check_stock</a:t>
            </a:r>
            <a:r>
              <a:rPr sz="729" i="0">
                <a:solidFill>
                  <a:srgbClr val="E6EDF3"/>
                </a:solidFill>
                <a:latin typeface="Inconsolata"/>
              </a:rPr>
              <a:t>():</a:t>
            </a:r>
          </a:p>
          <a:p>
            <a:pPr>
              <a:lnSpc>
                <a:spcPct val="102868"/>
              </a:lnSpc>
              <a:spcAft>
                <a:spcPts val="0"/>
              </a:spcAft>
            </a:pPr>
            <a:r>
              <a:rPr sz="729" i="0">
                <a:solidFill>
                  <a:srgbClr val="5C6773"/>
                </a:solidFill>
                <a:latin typeface="Inconsolata"/>
              </a:rPr>
              <a:t>34  </a:t>
            </a:r>
            <a:r>
              <a:rPr sz="729" i="0">
                <a:solidFill>
                  <a:srgbClr val="E6EDF3"/>
                </a:solidFill>
                <a:latin typeface="Inconsolata"/>
              </a:rPr>
              <a:t>    </a:t>
            </a:r>
            <a:r>
              <a:rPr sz="729" i="0">
                <a:solidFill>
                  <a:srgbClr val="FF8E6E"/>
                </a:solidFill>
                <a:latin typeface="Inconsolata"/>
              </a:rPr>
              <a:t>with</a:t>
            </a:r>
            <a:r>
              <a:rPr sz="729" i="0">
                <a:solidFill>
                  <a:srgbClr val="E6EDF3"/>
                </a:solidFill>
                <a:latin typeface="Inconsolata"/>
              </a:rPr>
              <a:t> tracer.start_as_current_span(</a:t>
            </a:r>
            <a:r>
              <a:rPr sz="729" i="0">
                <a:solidFill>
                  <a:srgbClr val="A5D6A7"/>
                </a:solidFill>
                <a:latin typeface="Inconsolata"/>
              </a:rPr>
              <a:t>"check_stock"</a:t>
            </a:r>
            <a:r>
              <a:rPr sz="729" i="0">
                <a:solidFill>
                  <a:srgbClr val="E6EDF3"/>
                </a:solidFill>
                <a:latin typeface="Inconsolata"/>
              </a:rPr>
              <a:t>):</a:t>
            </a:r>
          </a:p>
          <a:p>
            <a:pPr>
              <a:lnSpc>
                <a:spcPct val="102868"/>
              </a:lnSpc>
              <a:spcAft>
                <a:spcPts val="0"/>
              </a:spcAft>
            </a:pPr>
            <a:r>
              <a:rPr sz="729" i="0">
                <a:solidFill>
                  <a:srgbClr val="5C6773"/>
                </a:solidFill>
                <a:latin typeface="Inconsolata"/>
              </a:rPr>
              <a:t>35  </a:t>
            </a:r>
            <a:r>
              <a:rPr sz="729" i="0">
                <a:solidFill>
                  <a:srgbClr val="E6EDF3"/>
                </a:solidFill>
                <a:latin typeface="Inconsolata"/>
              </a:rPr>
              <a:t>        time.sleep(</a:t>
            </a:r>
            <a:r>
              <a:rPr sz="729" i="0">
                <a:solidFill>
                  <a:srgbClr val="F9C97A"/>
                </a:solidFill>
                <a:latin typeface="Inconsolata"/>
              </a:rPr>
              <a:t>0</a:t>
            </a:r>
            <a:r>
              <a:rPr sz="729" i="0">
                <a:solidFill>
                  <a:srgbClr val="E6EDF3"/>
                </a:solidFill>
                <a:latin typeface="Inconsolata"/>
              </a:rPr>
              <a:t>.</a:t>
            </a:r>
            <a:r>
              <a:rPr sz="729" i="0">
                <a:solidFill>
                  <a:srgbClr val="F9C97A"/>
                </a:solidFill>
                <a:latin typeface="Inconsolata"/>
              </a:rPr>
              <a:t>02</a:t>
            </a:r>
            <a:r>
              <a:rPr sz="729" i="0">
                <a:solidFill>
                  <a:srgbClr val="E6EDF3"/>
                </a:solidFill>
                <a:latin typeface="Inconsolata"/>
              </a:rPr>
              <a:t>)</a:t>
            </a:r>
          </a:p>
          <a:p>
            <a:pPr>
              <a:lnSpc>
                <a:spcPct val="102868"/>
              </a:lnSpc>
              <a:spcAft>
                <a:spcPts val="0"/>
              </a:spcAft>
            </a:pPr>
            <a:r>
              <a:rPr sz="729" i="0">
                <a:solidFill>
                  <a:srgbClr val="5C6773"/>
                </a:solidFill>
                <a:latin typeface="Inconsolata"/>
              </a:rPr>
              <a:t>36  </a:t>
            </a:r>
            <a:r>
              <a:rPr sz="729" i="0">
                <a:solidFill>
                  <a:srgbClr val="E6EDF3"/>
                </a:solidFill>
                <a:latin typeface="Inconsolata"/>
              </a:rPr>
              <a:t> </a:t>
            </a:r>
          </a:p>
          <a:p>
            <a:pPr>
              <a:lnSpc>
                <a:spcPct val="102868"/>
              </a:lnSpc>
              <a:spcAft>
                <a:spcPts val="0"/>
              </a:spcAft>
            </a:pPr>
            <a:r>
              <a:rPr sz="729" i="0">
                <a:solidFill>
                  <a:srgbClr val="5C6773"/>
                </a:solidFill>
                <a:latin typeface="Inconsolata"/>
              </a:rPr>
              <a:t>37  </a:t>
            </a:r>
            <a:r>
              <a:rPr sz="729" i="0">
                <a:solidFill>
                  <a:srgbClr val="E6EDF3"/>
                </a:solidFill>
                <a:latin typeface="Inconsolata"/>
              </a:rPr>
              <a:t> </a:t>
            </a:r>
          </a:p>
          <a:p>
            <a:pPr>
              <a:lnSpc>
                <a:spcPct val="102868"/>
              </a:lnSpc>
              <a:spcAft>
                <a:spcPts val="0"/>
              </a:spcAft>
            </a:pPr>
            <a:r>
              <a:rPr sz="729" i="0">
                <a:solidFill>
                  <a:srgbClr val="5C6773"/>
                </a:solidFill>
                <a:latin typeface="Inconsolata"/>
              </a:rPr>
              <a:t>38  </a:t>
            </a:r>
            <a:r>
              <a:rPr sz="729" i="0">
                <a:solidFill>
                  <a:srgbClr val="FF8E6E"/>
                </a:solidFill>
                <a:latin typeface="Inconsolata"/>
              </a:rPr>
              <a:t>def</a:t>
            </a:r>
            <a:r>
              <a:rPr sz="729" i="0">
                <a:solidFill>
                  <a:srgbClr val="E6EDF3"/>
                </a:solidFill>
                <a:latin typeface="Inconsolata"/>
              </a:rPr>
              <a:t> </a:t>
            </a:r>
            <a:r>
              <a:rPr sz="729" i="0">
                <a:solidFill>
                  <a:srgbClr val="82B1FF"/>
                </a:solidFill>
                <a:latin typeface="Inconsolata"/>
              </a:rPr>
              <a:t>save_order</a:t>
            </a:r>
            <a:r>
              <a:rPr sz="729" i="0">
                <a:solidFill>
                  <a:srgbClr val="E6EDF3"/>
                </a:solidFill>
                <a:latin typeface="Inconsolata"/>
              </a:rPr>
              <a:t>():</a:t>
            </a:r>
          </a:p>
          <a:p>
            <a:pPr>
              <a:lnSpc>
                <a:spcPct val="102868"/>
              </a:lnSpc>
              <a:spcAft>
                <a:spcPts val="0"/>
              </a:spcAft>
            </a:pPr>
            <a:r>
              <a:rPr sz="729" i="0">
                <a:solidFill>
                  <a:srgbClr val="5C6773"/>
                </a:solidFill>
                <a:latin typeface="Inconsolata"/>
              </a:rPr>
              <a:t>39  </a:t>
            </a:r>
            <a:r>
              <a:rPr sz="729" i="0">
                <a:solidFill>
                  <a:srgbClr val="E6EDF3"/>
                </a:solidFill>
                <a:latin typeface="Inconsolata"/>
              </a:rPr>
              <a:t>    </a:t>
            </a:r>
            <a:r>
              <a:rPr sz="729" i="0">
                <a:solidFill>
                  <a:srgbClr val="FF8E6E"/>
                </a:solidFill>
                <a:latin typeface="Inconsolata"/>
              </a:rPr>
              <a:t>with</a:t>
            </a:r>
            <a:r>
              <a:rPr sz="729" i="0">
                <a:solidFill>
                  <a:srgbClr val="E6EDF3"/>
                </a:solidFill>
                <a:latin typeface="Inconsolata"/>
              </a:rPr>
              <a:t> tracer.start_as_current_span(</a:t>
            </a:r>
            <a:r>
              <a:rPr sz="729" i="0">
                <a:solidFill>
                  <a:srgbClr val="A5D6A7"/>
                </a:solidFill>
                <a:latin typeface="Inconsolata"/>
              </a:rPr>
              <a:t>"db.save_order"</a:t>
            </a:r>
            <a:r>
              <a:rPr sz="729" i="0">
                <a:solidFill>
                  <a:srgbClr val="E6EDF3"/>
                </a:solidFill>
                <a:latin typeface="Inconsolata"/>
              </a:rPr>
              <a:t>):</a:t>
            </a:r>
          </a:p>
          <a:p>
            <a:pPr>
              <a:lnSpc>
                <a:spcPct val="102868"/>
              </a:lnSpc>
              <a:spcAft>
                <a:spcPts val="0"/>
              </a:spcAft>
            </a:pPr>
            <a:r>
              <a:rPr sz="729" i="0">
                <a:solidFill>
                  <a:srgbClr val="5C6773"/>
                </a:solidFill>
                <a:latin typeface="Inconsolata"/>
              </a:rPr>
              <a:t>40  </a:t>
            </a:r>
            <a:r>
              <a:rPr sz="729" i="0">
                <a:solidFill>
                  <a:srgbClr val="E6EDF3"/>
                </a:solidFill>
                <a:latin typeface="Inconsolata"/>
              </a:rPr>
              <a:t>        time.sleep(</a:t>
            </a:r>
            <a:r>
              <a:rPr sz="729" i="0">
                <a:solidFill>
                  <a:srgbClr val="F9C97A"/>
                </a:solidFill>
                <a:latin typeface="Inconsolata"/>
              </a:rPr>
              <a:t>0</a:t>
            </a:r>
            <a:r>
              <a:rPr sz="729" i="0">
                <a:solidFill>
                  <a:srgbClr val="E6EDF3"/>
                </a:solidFill>
                <a:latin typeface="Inconsolata"/>
              </a:rPr>
              <a:t>.</a:t>
            </a:r>
            <a:r>
              <a:rPr sz="729" i="0">
                <a:solidFill>
                  <a:srgbClr val="F9C97A"/>
                </a:solidFill>
                <a:latin typeface="Inconsolata"/>
              </a:rPr>
              <a:t>05</a:t>
            </a:r>
            <a:r>
              <a:rPr sz="729" i="0">
                <a:solidFill>
                  <a:srgbClr val="E6EDF3"/>
                </a:solidFill>
                <a:latin typeface="Inconsolata"/>
              </a:rPr>
              <a:t>)</a:t>
            </a:r>
          </a:p>
          <a:p>
            <a:pPr>
              <a:lnSpc>
                <a:spcPct val="102868"/>
              </a:lnSpc>
              <a:spcAft>
                <a:spcPts val="0"/>
              </a:spcAft>
            </a:pPr>
            <a:r>
              <a:rPr sz="729" i="0">
                <a:solidFill>
                  <a:srgbClr val="5C6773"/>
                </a:solidFill>
                <a:latin typeface="Inconsolata"/>
              </a:rPr>
              <a:t>41  </a:t>
            </a:r>
            <a:r>
              <a:rPr sz="729" i="0">
                <a:solidFill>
                  <a:srgbClr val="E6EDF3"/>
                </a:solidFill>
                <a:latin typeface="Inconsolata"/>
              </a:rPr>
              <a:t> </a:t>
            </a:r>
          </a:p>
          <a:p>
            <a:pPr>
              <a:lnSpc>
                <a:spcPct val="102868"/>
              </a:lnSpc>
              <a:spcAft>
                <a:spcPts val="0"/>
              </a:spcAft>
            </a:pPr>
            <a:r>
              <a:rPr sz="729" i="0">
                <a:solidFill>
                  <a:srgbClr val="5C6773"/>
                </a:solidFill>
                <a:latin typeface="Inconsolata"/>
              </a:rPr>
              <a:t>42  </a:t>
            </a:r>
            <a:r>
              <a:rPr sz="729" i="0">
                <a:solidFill>
                  <a:srgbClr val="E6EDF3"/>
                </a:solidFill>
                <a:latin typeface="Inconsolata"/>
              </a:rPr>
              <a:t> </a:t>
            </a:r>
          </a:p>
          <a:p>
            <a:pPr>
              <a:lnSpc>
                <a:spcPct val="102868"/>
              </a:lnSpc>
              <a:spcAft>
                <a:spcPts val="0"/>
              </a:spcAft>
            </a:pPr>
            <a:r>
              <a:rPr sz="729" i="0">
                <a:solidFill>
                  <a:srgbClr val="5C6773"/>
                </a:solidFill>
                <a:latin typeface="Inconsolata"/>
              </a:rPr>
              <a:t>43  </a:t>
            </a:r>
            <a:r>
              <a:rPr sz="729" i="0">
                <a:solidFill>
                  <a:srgbClr val="FF8E6E"/>
                </a:solidFill>
                <a:latin typeface="Inconsolata"/>
              </a:rPr>
              <a:t>def</a:t>
            </a:r>
            <a:r>
              <a:rPr sz="729" i="0">
                <a:solidFill>
                  <a:srgbClr val="E6EDF3"/>
                </a:solidFill>
                <a:latin typeface="Inconsolata"/>
              </a:rPr>
              <a:t> </a:t>
            </a:r>
            <a:r>
              <a:rPr sz="729" i="0">
                <a:solidFill>
                  <a:srgbClr val="82B1FF"/>
                </a:solidFill>
                <a:latin typeface="Inconsolata"/>
              </a:rPr>
              <a:t>publish_event</a:t>
            </a:r>
            <a:r>
              <a:rPr sz="729" i="0">
                <a:solidFill>
                  <a:srgbClr val="E6EDF3"/>
                </a:solidFill>
                <a:latin typeface="Inconsolata"/>
              </a:rPr>
              <a:t>(event: </a:t>
            </a:r>
            <a:r>
              <a:rPr sz="729" i="0">
                <a:solidFill>
                  <a:srgbClr val="C3A6FF"/>
                </a:solidFill>
                <a:latin typeface="Inconsolata"/>
              </a:rPr>
              <a:t>dict</a:t>
            </a:r>
            <a:r>
              <a:rPr sz="729" i="0">
                <a:solidFill>
                  <a:srgbClr val="E6EDF3"/>
                </a:solidFill>
                <a:latin typeface="Inconsolata"/>
              </a:rPr>
              <a:t>):</a:t>
            </a:r>
          </a:p>
          <a:p>
            <a:pPr>
              <a:lnSpc>
                <a:spcPct val="102868"/>
              </a:lnSpc>
              <a:spcAft>
                <a:spcPts val="0"/>
              </a:spcAft>
            </a:pPr>
            <a:r>
              <a:rPr sz="729" i="0">
                <a:solidFill>
                  <a:srgbClr val="5C6773"/>
                </a:solidFill>
                <a:latin typeface="Inconsolata"/>
              </a:rPr>
              <a:t>44  </a:t>
            </a:r>
            <a:r>
              <a:rPr sz="729" i="0">
                <a:solidFill>
                  <a:srgbClr val="E6EDF3"/>
                </a:solidFill>
                <a:latin typeface="Inconsolata"/>
              </a:rPr>
              <a:t>    </a:t>
            </a:r>
            <a:r>
              <a:rPr sz="729" i="0">
                <a:solidFill>
                  <a:srgbClr val="FF8E6E"/>
                </a:solidFill>
                <a:latin typeface="Inconsolata"/>
              </a:rPr>
              <a:t>with</a:t>
            </a:r>
            <a:r>
              <a:rPr sz="729" i="0">
                <a:solidFill>
                  <a:srgbClr val="E6EDF3"/>
                </a:solidFill>
                <a:latin typeface="Inconsolata"/>
              </a:rPr>
              <a:t> tracer.start_as_current_span(</a:t>
            </a:r>
            <a:r>
              <a:rPr sz="729" i="0">
                <a:solidFill>
                  <a:srgbClr val="A5D6A7"/>
                </a:solidFill>
                <a:latin typeface="Inconsolata"/>
              </a:rPr>
              <a:t>"rabbitmq.publish"</a:t>
            </a:r>
            <a:r>
              <a:rPr sz="729" i="0">
                <a:solidFill>
                  <a:srgbClr val="E6EDF3"/>
                </a:solidFill>
                <a:latin typeface="Inconsolata"/>
              </a:rPr>
              <a:t>):</a:t>
            </a:r>
          </a:p>
          <a:p>
            <a:pPr>
              <a:lnSpc>
                <a:spcPct val="102868"/>
              </a:lnSpc>
              <a:spcAft>
                <a:spcPts val="0"/>
              </a:spcAft>
            </a:pPr>
            <a:r>
              <a:rPr sz="729" i="0">
                <a:solidFill>
                  <a:srgbClr val="5C6773"/>
                </a:solidFill>
                <a:latin typeface="Inconsolata"/>
              </a:rPr>
              <a:t>45  </a:t>
            </a:r>
            <a:r>
              <a:rPr sz="729" i="0">
                <a:solidFill>
                  <a:srgbClr val="E6EDF3"/>
                </a:solidFill>
                <a:latin typeface="Inconsolata"/>
              </a:rPr>
              <a:t>        headers = {}</a:t>
            </a:r>
          </a:p>
          <a:p>
            <a:pPr>
              <a:lnSpc>
                <a:spcPct val="102868"/>
              </a:lnSpc>
              <a:spcAft>
                <a:spcPts val="0"/>
              </a:spcAft>
            </a:pPr>
            <a:r>
              <a:rPr sz="729" i="0">
                <a:solidFill>
                  <a:srgbClr val="5C6773"/>
                </a:solidFill>
                <a:latin typeface="Inconsolata"/>
              </a:rPr>
              <a:t>46  </a:t>
            </a:r>
            <a:r>
              <a:rPr sz="729" i="0">
                <a:solidFill>
                  <a:srgbClr val="E6EDF3"/>
                </a:solidFill>
                <a:latin typeface="Inconsolata"/>
              </a:rPr>
              <a:t>        inject(headers)              </a:t>
            </a:r>
            <a:r>
              <a:rPr sz="729" i="1">
                <a:solidFill>
                  <a:srgbClr val="8B98A8"/>
                </a:solidFill>
                <a:latin typeface="Inconsolata"/>
              </a:rPr>
              <a:t># traceparent ikut di header</a:t>
            </a:r>
          </a:p>
          <a:p>
            <a:pPr>
              <a:lnSpc>
                <a:spcPct val="102868"/>
              </a:lnSpc>
              <a:spcAft>
                <a:spcPts val="0"/>
              </a:spcAft>
            </a:pPr>
            <a:r>
              <a:rPr sz="729" i="0">
                <a:solidFill>
                  <a:srgbClr val="5C6773"/>
                </a:solidFill>
                <a:latin typeface="Inconsolata"/>
              </a:rPr>
              <a:t>47  </a:t>
            </a:r>
            <a:r>
              <a:rPr sz="729" i="0">
                <a:solidFill>
                  <a:srgbClr val="E6EDF3"/>
                </a:solidFill>
                <a:latin typeface="Inconsolata"/>
              </a:rPr>
              <a:t>        time.sleep(</a:t>
            </a:r>
            <a:r>
              <a:rPr sz="729" i="0">
                <a:solidFill>
                  <a:srgbClr val="F9C97A"/>
                </a:solidFill>
                <a:latin typeface="Inconsolata"/>
              </a:rPr>
              <a:t>0</a:t>
            </a:r>
            <a:r>
              <a:rPr sz="729" i="0">
                <a:solidFill>
                  <a:srgbClr val="E6EDF3"/>
                </a:solidFill>
                <a:latin typeface="Inconsolata"/>
              </a:rPr>
              <a:t>.</a:t>
            </a:r>
            <a:r>
              <a:rPr sz="729" i="0">
                <a:solidFill>
                  <a:srgbClr val="F9C97A"/>
                </a:solidFill>
                <a:latin typeface="Inconsolata"/>
              </a:rPr>
              <a:t>4</a:t>
            </a:r>
            <a:r>
              <a:rPr sz="729" i="0">
                <a:solidFill>
                  <a:srgbClr val="E6EDF3"/>
                </a:solidFill>
                <a:latin typeface="Inconsolata"/>
              </a:rPr>
              <a:t>)              </a:t>
            </a:r>
            <a:r>
              <a:rPr sz="729" i="1">
                <a:solidFill>
                  <a:srgbClr val="8B98A8"/>
                </a:solidFill>
                <a:latin typeface="Inconsolata"/>
              </a:rPr>
              <a:t># broker sedang lambat</a:t>
            </a:r>
          </a:p>
          <a:p>
            <a:pPr>
              <a:lnSpc>
                <a:spcPct val="102868"/>
              </a:lnSpc>
              <a:spcAft>
                <a:spcPts val="0"/>
              </a:spcAft>
            </a:pPr>
            <a:r>
              <a:rPr sz="729" i="0">
                <a:solidFill>
                  <a:srgbClr val="5C6773"/>
                </a:solidFill>
                <a:latin typeface="Inconsolata"/>
              </a:rPr>
              <a:t>48  </a:t>
            </a:r>
            <a:r>
              <a:rPr sz="729" i="0">
                <a:solidFill>
                  <a:srgbClr val="E6EDF3"/>
                </a:solidFill>
                <a:latin typeface="Inconsolata"/>
              </a:rPr>
              <a:t>        </a:t>
            </a:r>
            <a:r>
              <a:rPr sz="729" i="0">
                <a:solidFill>
                  <a:srgbClr val="7FDBCA"/>
                </a:solidFill>
                <a:latin typeface="Inconsolata"/>
              </a:rPr>
              <a:t>QUEUE</a:t>
            </a:r>
            <a:r>
              <a:rPr sz="729" i="0">
                <a:solidFill>
                  <a:srgbClr val="E6EDF3"/>
                </a:solidFill>
                <a:latin typeface="Inconsolata"/>
              </a:rPr>
              <a:t>.append({</a:t>
            </a:r>
            <a:r>
              <a:rPr sz="729" i="0">
                <a:solidFill>
                  <a:srgbClr val="A5D6A7"/>
                </a:solidFill>
                <a:latin typeface="Inconsolata"/>
              </a:rPr>
              <a:t>"headers"</a:t>
            </a:r>
            <a:r>
              <a:rPr sz="729" i="0">
                <a:solidFill>
                  <a:srgbClr val="E6EDF3"/>
                </a:solidFill>
                <a:latin typeface="Inconsolata"/>
              </a:rPr>
              <a:t>: headers, </a:t>
            </a:r>
            <a:r>
              <a:rPr sz="729" i="0">
                <a:solidFill>
                  <a:srgbClr val="A5D6A7"/>
                </a:solidFill>
                <a:latin typeface="Inconsolata"/>
              </a:rPr>
              <a:t>"body"</a:t>
            </a:r>
            <a:r>
              <a:rPr sz="729" i="0">
                <a:solidFill>
                  <a:srgbClr val="E6EDF3"/>
                </a:solidFill>
                <a:latin typeface="Inconsolata"/>
              </a:rPr>
              <a:t>: json.dumps(event)})</a:t>
            </a:r>
          </a:p>
        </p:txBody>
      </p:sp>
      <p:sp>
        <p:nvSpPr>
          <p:cNvPr id="36" name="Box 21"/>
          <p:cNvSpPr/>
          <p:nvPr/>
        </p:nvSpPr>
        <p:spPr>
          <a:xfrm>
            <a:off x="704088" y="2968371"/>
            <a:ext cx="3694176" cy="564642"/>
          </a:xfrm>
          <a:prstGeom prst="roundRect">
            <a:avLst>
              <a:gd name="adj" fmla="val 80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31318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1825371"/>
            <a:ext cx="3694176" cy="1364742"/>
          </a:xfrm>
          <a:prstGeom prst="roundRect">
            <a:avLst>
              <a:gd name="adj" fmla="val 3350"/>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238887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40" name="Box 25"/>
          <p:cNvSpPr/>
          <p:nvPr/>
        </p:nvSpPr>
        <p:spPr>
          <a:xfrm>
            <a:off x="4709159" y="3311271"/>
            <a:ext cx="3694176" cy="107442"/>
          </a:xfrm>
          <a:prstGeom prst="roundRect">
            <a:avLst>
              <a:gd name="adj" fmla="val 42553"/>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8284463" y="32461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Tracing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span OpenTelemetry sampai consumer (2/2)</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07-tracing/after.py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2868"/>
              </a:lnSpc>
              <a:spcAft>
                <a:spcPts val="0"/>
              </a:spcAft>
            </a:pPr>
            <a:r>
              <a:rPr sz="729" i="0">
                <a:solidFill>
                  <a:srgbClr val="5C6773"/>
                </a:solidFill>
                <a:latin typeface="Inconsolata"/>
              </a:rPr>
              <a:t>51  </a:t>
            </a:r>
            <a:r>
              <a:rPr sz="729" i="0">
                <a:solidFill>
                  <a:srgbClr val="FF8E6E"/>
                </a:solidFill>
                <a:latin typeface="Inconsolata"/>
              </a:rPr>
              <a:t>def</a:t>
            </a:r>
            <a:r>
              <a:rPr sz="729" i="0">
                <a:solidFill>
                  <a:srgbClr val="E6EDF3"/>
                </a:solidFill>
                <a:latin typeface="Inconsolata"/>
              </a:rPr>
              <a:t> </a:t>
            </a:r>
            <a:r>
              <a:rPr sz="729" i="0">
                <a:solidFill>
                  <a:srgbClr val="82B1FF"/>
                </a:solidFill>
                <a:latin typeface="Inconsolata"/>
              </a:rPr>
              <a:t>place_order</a:t>
            </a:r>
            <a:r>
              <a:rPr sz="729" i="0">
                <a:solidFill>
                  <a:srgbClr val="E6EDF3"/>
                </a:solidFill>
                <a:latin typeface="Inconsolata"/>
              </a:rPr>
              <a:t>():</a:t>
            </a:r>
          </a:p>
          <a:p>
            <a:pPr>
              <a:lnSpc>
                <a:spcPct val="102868"/>
              </a:lnSpc>
              <a:spcAft>
                <a:spcPts val="0"/>
              </a:spcAft>
            </a:pPr>
            <a:r>
              <a:rPr sz="729" i="0">
                <a:solidFill>
                  <a:srgbClr val="5C6773"/>
                </a:solidFill>
                <a:latin typeface="Inconsolata"/>
              </a:rPr>
              <a:t>52  </a:t>
            </a:r>
            <a:r>
              <a:rPr sz="729" i="0">
                <a:solidFill>
                  <a:srgbClr val="E6EDF3"/>
                </a:solidFill>
                <a:latin typeface="Inconsolata"/>
              </a:rPr>
              <a:t>    </a:t>
            </a:r>
            <a:r>
              <a:rPr sz="729" i="0">
                <a:solidFill>
                  <a:srgbClr val="FF8E6E"/>
                </a:solidFill>
                <a:latin typeface="Inconsolata"/>
              </a:rPr>
              <a:t>with</a:t>
            </a:r>
            <a:r>
              <a:rPr sz="729" i="0">
                <a:solidFill>
                  <a:srgbClr val="E6EDF3"/>
                </a:solidFill>
                <a:latin typeface="Inconsolata"/>
              </a:rPr>
              <a:t> tracer.start_as_current_span(</a:t>
            </a:r>
            <a:r>
              <a:rPr sz="729" i="0">
                <a:solidFill>
                  <a:srgbClr val="A5D6A7"/>
                </a:solidFill>
                <a:latin typeface="Inconsolata"/>
              </a:rPr>
              <a:t>"POST /orders"</a:t>
            </a:r>
            <a:r>
              <a:rPr sz="729" i="0">
                <a:solidFill>
                  <a:srgbClr val="E6EDF3"/>
                </a:solidFill>
                <a:latin typeface="Inconsolata"/>
              </a:rPr>
              <a:t>):</a:t>
            </a:r>
          </a:p>
          <a:p>
            <a:pPr>
              <a:lnSpc>
                <a:spcPct val="102868"/>
              </a:lnSpc>
              <a:spcAft>
                <a:spcPts val="0"/>
              </a:spcAft>
            </a:pPr>
            <a:r>
              <a:rPr sz="729" i="0">
                <a:solidFill>
                  <a:srgbClr val="5C6773"/>
                </a:solidFill>
                <a:latin typeface="Inconsolata"/>
              </a:rPr>
              <a:t>53  </a:t>
            </a:r>
            <a:r>
              <a:rPr sz="729" i="0">
                <a:solidFill>
                  <a:srgbClr val="E6EDF3"/>
                </a:solidFill>
                <a:latin typeface="Inconsolata"/>
              </a:rPr>
              <a:t>        check_stock()</a:t>
            </a:r>
          </a:p>
          <a:p>
            <a:pPr>
              <a:lnSpc>
                <a:spcPct val="102868"/>
              </a:lnSpc>
              <a:spcAft>
                <a:spcPts val="0"/>
              </a:spcAft>
            </a:pPr>
            <a:r>
              <a:rPr sz="729" i="0">
                <a:solidFill>
                  <a:srgbClr val="5C6773"/>
                </a:solidFill>
                <a:latin typeface="Inconsolata"/>
              </a:rPr>
              <a:t>54  </a:t>
            </a:r>
            <a:r>
              <a:rPr sz="729" i="0">
                <a:solidFill>
                  <a:srgbClr val="E6EDF3"/>
                </a:solidFill>
                <a:latin typeface="Inconsolata"/>
              </a:rPr>
              <a:t>        save_order()</a:t>
            </a:r>
          </a:p>
          <a:p>
            <a:pPr>
              <a:lnSpc>
                <a:spcPct val="102868"/>
              </a:lnSpc>
              <a:spcAft>
                <a:spcPts val="0"/>
              </a:spcAft>
            </a:pPr>
            <a:r>
              <a:rPr sz="729" i="0">
                <a:solidFill>
                  <a:srgbClr val="5C6773"/>
                </a:solidFill>
                <a:latin typeface="Inconsolata"/>
              </a:rPr>
              <a:t>55  </a:t>
            </a:r>
            <a:r>
              <a:rPr sz="729" i="0">
                <a:solidFill>
                  <a:srgbClr val="E6EDF3"/>
                </a:solidFill>
                <a:latin typeface="Inconsolata"/>
              </a:rPr>
              <a:t>        publish_event({</a:t>
            </a:r>
            <a:r>
              <a:rPr sz="729" i="0">
                <a:solidFill>
                  <a:srgbClr val="A5D6A7"/>
                </a:solidFill>
                <a:latin typeface="Inconsolata"/>
              </a:rPr>
              <a:t>"type"</a:t>
            </a:r>
            <a:r>
              <a:rPr sz="729" i="0">
                <a:solidFill>
                  <a:srgbClr val="E6EDF3"/>
                </a:solidFill>
                <a:latin typeface="Inconsolata"/>
              </a:rPr>
              <a:t>: </a:t>
            </a:r>
            <a:r>
              <a:rPr sz="729" i="0">
                <a:solidFill>
                  <a:srgbClr val="A5D6A7"/>
                </a:solidFill>
                <a:latin typeface="Inconsolata"/>
              </a:rPr>
              <a:t>"order.placed"</a:t>
            </a:r>
            <a:r>
              <a:rPr sz="729" i="0">
                <a:solidFill>
                  <a:srgbClr val="E6EDF3"/>
                </a:solidFill>
                <a:latin typeface="Inconsolata"/>
              </a:rPr>
              <a:t>, </a:t>
            </a:r>
            <a:r>
              <a:rPr sz="729" i="0">
                <a:solidFill>
                  <a:srgbClr val="A5D6A7"/>
                </a:solidFill>
                <a:latin typeface="Inconsolata"/>
              </a:rPr>
              <a:t>"order_id"</a:t>
            </a:r>
            <a:r>
              <a:rPr sz="729" i="0">
                <a:solidFill>
                  <a:srgbClr val="E6EDF3"/>
                </a:solidFill>
                <a:latin typeface="Inconsolata"/>
              </a:rPr>
              <a:t>: </a:t>
            </a:r>
            <a:r>
              <a:rPr sz="729" i="0">
                <a:solidFill>
                  <a:srgbClr val="F9C97A"/>
                </a:solidFill>
                <a:latin typeface="Inconsolata"/>
              </a:rPr>
              <a:t>7</a:t>
            </a:r>
            <a:r>
              <a:rPr sz="729" i="0">
                <a:solidFill>
                  <a:srgbClr val="E6EDF3"/>
                </a:solidFill>
                <a:latin typeface="Inconsolata"/>
              </a:rPr>
              <a:t>})</a:t>
            </a:r>
          </a:p>
          <a:p>
            <a:pPr>
              <a:lnSpc>
                <a:spcPct val="102868"/>
              </a:lnSpc>
              <a:spcAft>
                <a:spcPts val="0"/>
              </a:spcAft>
            </a:pPr>
            <a:r>
              <a:rPr sz="729" i="0">
                <a:solidFill>
                  <a:srgbClr val="5C6773"/>
                </a:solidFill>
                <a:latin typeface="Inconsolata"/>
              </a:rPr>
              <a:t>56  </a:t>
            </a:r>
            <a:r>
              <a:rPr sz="729" i="0">
                <a:solidFill>
                  <a:srgbClr val="E6EDF3"/>
                </a:solidFill>
                <a:latin typeface="Inconsolata"/>
              </a:rPr>
              <a:t> </a:t>
            </a:r>
          </a:p>
          <a:p>
            <a:pPr>
              <a:lnSpc>
                <a:spcPct val="102868"/>
              </a:lnSpc>
              <a:spcAft>
                <a:spcPts val="0"/>
              </a:spcAft>
            </a:pPr>
            <a:r>
              <a:rPr sz="729" i="0">
                <a:solidFill>
                  <a:srgbClr val="5C6773"/>
                </a:solidFill>
                <a:latin typeface="Inconsolata"/>
              </a:rPr>
              <a:t>57  </a:t>
            </a:r>
            <a:r>
              <a:rPr sz="729" i="0">
                <a:solidFill>
                  <a:srgbClr val="E6EDF3"/>
                </a:solidFill>
                <a:latin typeface="Inconsolata"/>
              </a:rPr>
              <a:t> </a:t>
            </a:r>
          </a:p>
          <a:p>
            <a:pPr>
              <a:lnSpc>
                <a:spcPct val="102868"/>
              </a:lnSpc>
              <a:spcAft>
                <a:spcPts val="0"/>
              </a:spcAft>
            </a:pPr>
            <a:r>
              <a:rPr sz="729" i="0">
                <a:solidFill>
                  <a:srgbClr val="5C6773"/>
                </a:solidFill>
                <a:latin typeface="Inconsolata"/>
              </a:rPr>
              <a:t>58  </a:t>
            </a:r>
            <a:r>
              <a:rPr sz="729" i="0">
                <a:solidFill>
                  <a:srgbClr val="FF8E6E"/>
                </a:solidFill>
                <a:latin typeface="Inconsolata"/>
              </a:rPr>
              <a:t>def</a:t>
            </a:r>
            <a:r>
              <a:rPr sz="729" i="0">
                <a:solidFill>
                  <a:srgbClr val="E6EDF3"/>
                </a:solidFill>
                <a:latin typeface="Inconsolata"/>
              </a:rPr>
              <a:t> </a:t>
            </a:r>
            <a:r>
              <a:rPr sz="729" i="0">
                <a:solidFill>
                  <a:srgbClr val="82B1FF"/>
                </a:solidFill>
                <a:latin typeface="Inconsolata"/>
              </a:rPr>
              <a:t>consume</a:t>
            </a:r>
            <a:r>
              <a:rPr sz="729" i="0">
                <a:solidFill>
                  <a:srgbClr val="E6EDF3"/>
                </a:solidFill>
                <a:latin typeface="Inconsolata"/>
              </a:rPr>
              <a:t>():                       </a:t>
            </a:r>
            <a:r>
              <a:rPr sz="729" i="1">
                <a:solidFill>
                  <a:srgbClr val="8B98A8"/>
                </a:solidFill>
                <a:latin typeface="Inconsolata"/>
              </a:rPr>
              <a:t># anggap: proses consumer</a:t>
            </a:r>
          </a:p>
          <a:p>
            <a:pPr>
              <a:lnSpc>
                <a:spcPct val="102868"/>
              </a:lnSpc>
              <a:spcAft>
                <a:spcPts val="0"/>
              </a:spcAft>
            </a:pPr>
            <a:r>
              <a:rPr sz="729" i="0">
                <a:solidFill>
                  <a:srgbClr val="5C6773"/>
                </a:solidFill>
                <a:latin typeface="Inconsolata"/>
              </a:rPr>
              <a:t>59  </a:t>
            </a:r>
            <a:r>
              <a:rPr sz="729" i="0">
                <a:solidFill>
                  <a:srgbClr val="E6EDF3"/>
                </a:solidFill>
                <a:latin typeface="Inconsolata"/>
              </a:rPr>
              <a:t>    message = </a:t>
            </a:r>
            <a:r>
              <a:rPr sz="729" i="0">
                <a:solidFill>
                  <a:srgbClr val="7FDBCA"/>
                </a:solidFill>
                <a:latin typeface="Inconsolata"/>
              </a:rPr>
              <a:t>QUEUE</a:t>
            </a:r>
            <a:r>
              <a:rPr sz="729" i="0">
                <a:solidFill>
                  <a:srgbClr val="E6EDF3"/>
                </a:solidFill>
                <a:latin typeface="Inconsolata"/>
              </a:rPr>
              <a:t>.pop(</a:t>
            </a:r>
            <a:r>
              <a:rPr sz="729" i="0">
                <a:solidFill>
                  <a:srgbClr val="F9C97A"/>
                </a:solidFill>
                <a:latin typeface="Inconsolata"/>
              </a:rPr>
              <a:t>0</a:t>
            </a:r>
            <a:r>
              <a:rPr sz="729" i="0">
                <a:solidFill>
                  <a:srgbClr val="E6EDF3"/>
                </a:solidFill>
                <a:latin typeface="Inconsolata"/>
              </a:rPr>
              <a:t>)</a:t>
            </a:r>
          </a:p>
          <a:p>
            <a:pPr>
              <a:lnSpc>
                <a:spcPct val="102868"/>
              </a:lnSpc>
              <a:spcAft>
                <a:spcPts val="0"/>
              </a:spcAft>
            </a:pPr>
            <a:r>
              <a:rPr sz="729" i="0">
                <a:solidFill>
                  <a:srgbClr val="5C6773"/>
                </a:solidFill>
                <a:latin typeface="Inconsolata"/>
              </a:rPr>
              <a:t>60  </a:t>
            </a:r>
            <a:r>
              <a:rPr sz="729" i="0">
                <a:solidFill>
                  <a:srgbClr val="E6EDF3"/>
                </a:solidFill>
                <a:latin typeface="Inconsolata"/>
              </a:rPr>
              <a:t>    context = extract(message[</a:t>
            </a:r>
            <a:r>
              <a:rPr sz="729" i="0">
                <a:solidFill>
                  <a:srgbClr val="A5D6A7"/>
                </a:solidFill>
                <a:latin typeface="Inconsolata"/>
              </a:rPr>
              <a:t>"headers"</a:t>
            </a:r>
            <a:r>
              <a:rPr sz="729" i="0">
                <a:solidFill>
                  <a:srgbClr val="E6EDF3"/>
                </a:solidFill>
                <a:latin typeface="Inconsolata"/>
              </a:rPr>
              <a:t>])   </a:t>
            </a:r>
            <a:r>
              <a:rPr sz="729" i="1">
                <a:solidFill>
                  <a:srgbClr val="8B98A8"/>
                </a:solidFill>
                <a:latin typeface="Inconsolata"/>
              </a:rPr>
              <a:t># sambung ke trace API</a:t>
            </a:r>
          </a:p>
          <a:p>
            <a:pPr>
              <a:lnSpc>
                <a:spcPct val="102868"/>
              </a:lnSpc>
              <a:spcAft>
                <a:spcPts val="0"/>
              </a:spcAft>
            </a:pPr>
            <a:r>
              <a:rPr sz="729" i="0">
                <a:solidFill>
                  <a:srgbClr val="5C6773"/>
                </a:solidFill>
                <a:latin typeface="Inconsolata"/>
              </a:rPr>
              <a:t>61  </a:t>
            </a:r>
            <a:r>
              <a:rPr sz="729" i="0">
                <a:solidFill>
                  <a:srgbClr val="E6EDF3"/>
                </a:solidFill>
                <a:latin typeface="Inconsolata"/>
              </a:rPr>
              <a:t>    </a:t>
            </a:r>
            <a:r>
              <a:rPr sz="729" i="0">
                <a:solidFill>
                  <a:srgbClr val="FF8E6E"/>
                </a:solidFill>
                <a:latin typeface="Inconsolata"/>
              </a:rPr>
              <a:t>with</a:t>
            </a:r>
            <a:r>
              <a:rPr sz="729" i="0">
                <a:solidFill>
                  <a:srgbClr val="E6EDF3"/>
                </a:solidFill>
                <a:latin typeface="Inconsolata"/>
              </a:rPr>
              <a:t> tracer.start_as_current_span(</a:t>
            </a:r>
            <a:r>
              <a:rPr sz="729" i="0">
                <a:solidFill>
                  <a:srgbClr val="A5D6A7"/>
                </a:solidFill>
                <a:latin typeface="Inconsolata"/>
              </a:rPr>
              <a:t>"consumer.send_email"</a:t>
            </a:r>
            <a:r>
              <a:rPr sz="729" i="0">
                <a:solidFill>
                  <a:srgbClr val="E6EDF3"/>
                </a:solidFill>
                <a:latin typeface="Inconsolata"/>
              </a:rPr>
              <a:t>,</a:t>
            </a:r>
          </a:p>
          <a:p>
            <a:pPr>
              <a:lnSpc>
                <a:spcPct val="102868"/>
              </a:lnSpc>
              <a:spcAft>
                <a:spcPts val="0"/>
              </a:spcAft>
            </a:pPr>
            <a:r>
              <a:rPr sz="729" i="0">
                <a:solidFill>
                  <a:srgbClr val="5C6773"/>
                </a:solidFill>
                <a:latin typeface="Inconsolata"/>
              </a:rPr>
              <a:t>62  </a:t>
            </a:r>
            <a:r>
              <a:rPr sz="729" i="0">
                <a:solidFill>
                  <a:srgbClr val="E6EDF3"/>
                </a:solidFill>
                <a:latin typeface="Inconsolata"/>
              </a:rPr>
              <a:t>                                      context=context):</a:t>
            </a:r>
          </a:p>
          <a:p>
            <a:pPr>
              <a:lnSpc>
                <a:spcPct val="102868"/>
              </a:lnSpc>
              <a:spcAft>
                <a:spcPts val="0"/>
              </a:spcAft>
            </a:pPr>
            <a:r>
              <a:rPr sz="729" i="0">
                <a:solidFill>
                  <a:srgbClr val="5C6773"/>
                </a:solidFill>
                <a:latin typeface="Inconsolata"/>
              </a:rPr>
              <a:t>63  </a:t>
            </a:r>
            <a:r>
              <a:rPr sz="729" i="0">
                <a:solidFill>
                  <a:srgbClr val="E6EDF3"/>
                </a:solidFill>
                <a:latin typeface="Inconsolata"/>
              </a:rPr>
              <a:t>        time.sleep(</a:t>
            </a:r>
            <a:r>
              <a:rPr sz="729" i="0">
                <a:solidFill>
                  <a:srgbClr val="F9C97A"/>
                </a:solidFill>
                <a:latin typeface="Inconsolata"/>
              </a:rPr>
              <a:t>0</a:t>
            </a:r>
            <a:r>
              <a:rPr sz="729" i="0">
                <a:solidFill>
                  <a:srgbClr val="E6EDF3"/>
                </a:solidFill>
                <a:latin typeface="Inconsolata"/>
              </a:rPr>
              <a:t>.</a:t>
            </a:r>
            <a:r>
              <a:rPr sz="729" i="0">
                <a:solidFill>
                  <a:srgbClr val="F9C97A"/>
                </a:solidFill>
                <a:latin typeface="Inconsolata"/>
              </a:rPr>
              <a:t>1</a:t>
            </a:r>
            <a:r>
              <a:rPr sz="729" i="0">
                <a:solidFill>
                  <a:srgbClr val="E6EDF3"/>
                </a:solidFill>
                <a:latin typeface="Inconsolata"/>
              </a:rPr>
              <a:t>)</a:t>
            </a:r>
          </a:p>
          <a:p>
            <a:pPr>
              <a:lnSpc>
                <a:spcPct val="102868"/>
              </a:lnSpc>
              <a:spcAft>
                <a:spcPts val="0"/>
              </a:spcAft>
            </a:pPr>
            <a:r>
              <a:rPr sz="729" i="0">
                <a:solidFill>
                  <a:srgbClr val="5C6773"/>
                </a:solidFill>
                <a:latin typeface="Inconsolata"/>
              </a:rPr>
              <a:t>64  </a:t>
            </a:r>
            <a:r>
              <a:rPr sz="729" i="0">
                <a:solidFill>
                  <a:srgbClr val="E6EDF3"/>
                </a:solidFill>
                <a:latin typeface="Inconsolata"/>
              </a:rPr>
              <a:t> </a:t>
            </a:r>
          </a:p>
          <a:p>
            <a:pPr>
              <a:lnSpc>
                <a:spcPct val="102868"/>
              </a:lnSpc>
              <a:spcAft>
                <a:spcPts val="0"/>
              </a:spcAft>
            </a:pPr>
            <a:r>
              <a:rPr sz="729" i="0">
                <a:solidFill>
                  <a:srgbClr val="5C6773"/>
                </a:solidFill>
                <a:latin typeface="Inconsolata"/>
              </a:rPr>
              <a:t>65  </a:t>
            </a:r>
            <a:r>
              <a:rPr sz="729" i="0">
                <a:solidFill>
                  <a:srgbClr val="E6EDF3"/>
                </a:solidFill>
                <a:latin typeface="Inconsolata"/>
              </a:rPr>
              <a:t> </a:t>
            </a:r>
          </a:p>
          <a:p>
            <a:pPr>
              <a:lnSpc>
                <a:spcPct val="102868"/>
              </a:lnSpc>
              <a:spcAft>
                <a:spcPts val="0"/>
              </a:spcAft>
            </a:pPr>
            <a:r>
              <a:rPr sz="729" i="0">
                <a:solidFill>
                  <a:srgbClr val="5C6773"/>
                </a:solidFill>
                <a:latin typeface="Inconsolata"/>
              </a:rPr>
              <a:t>66  </a:t>
            </a:r>
            <a:r>
              <a:rPr sz="729" i="0">
                <a:solidFill>
                  <a:srgbClr val="FF8E6E"/>
                </a:solidFill>
                <a:latin typeface="Inconsolata"/>
              </a:rPr>
              <a:t>def</a:t>
            </a:r>
            <a:r>
              <a:rPr sz="729" i="0">
                <a:solidFill>
                  <a:srgbClr val="E6EDF3"/>
                </a:solidFill>
                <a:latin typeface="Inconsolata"/>
              </a:rPr>
              <a:t> </a:t>
            </a:r>
            <a:r>
              <a:rPr sz="729" i="0">
                <a:solidFill>
                  <a:srgbClr val="82B1FF"/>
                </a:solidFill>
                <a:latin typeface="Inconsolata"/>
              </a:rPr>
              <a:t>print_trace</a:t>
            </a:r>
            <a:r>
              <a:rPr sz="729" i="0">
                <a:solidFill>
                  <a:srgbClr val="E6EDF3"/>
                </a:solidFill>
                <a:latin typeface="Inconsolata"/>
              </a:rPr>
              <a:t>():</a:t>
            </a:r>
          </a:p>
          <a:p>
            <a:pPr>
              <a:lnSpc>
                <a:spcPct val="102868"/>
              </a:lnSpc>
              <a:spcAft>
                <a:spcPts val="0"/>
              </a:spcAft>
            </a:pPr>
            <a:r>
              <a:rPr sz="729" i="0">
                <a:solidFill>
                  <a:srgbClr val="5C6773"/>
                </a:solidFill>
                <a:latin typeface="Inconsolata"/>
              </a:rPr>
              <a:t>67  </a:t>
            </a:r>
            <a:r>
              <a:rPr sz="729" i="0">
                <a:solidFill>
                  <a:srgbClr val="E6EDF3"/>
                </a:solidFill>
                <a:latin typeface="Inconsolata"/>
              </a:rPr>
              <a:t>    children = {}                    </a:t>
            </a:r>
            <a:r>
              <a:rPr sz="729" i="1">
                <a:solidFill>
                  <a:srgbClr val="8B98A8"/>
                </a:solidFill>
                <a:latin typeface="Inconsolata"/>
              </a:rPr>
              <a:t># span_id parent -&gt; span anak</a:t>
            </a:r>
          </a:p>
          <a:p>
            <a:pPr>
              <a:lnSpc>
                <a:spcPct val="102868"/>
              </a:lnSpc>
              <a:spcAft>
                <a:spcPts val="0"/>
              </a:spcAft>
            </a:pPr>
            <a:r>
              <a:rPr sz="729" i="0">
                <a:solidFill>
                  <a:srgbClr val="5C6773"/>
                </a:solidFill>
                <a:latin typeface="Inconsolata"/>
              </a:rPr>
              <a:t>68  </a:t>
            </a:r>
            <a:r>
              <a:rPr sz="729" i="0">
                <a:solidFill>
                  <a:srgbClr val="E6EDF3"/>
                </a:solidFill>
                <a:latin typeface="Inconsolata"/>
              </a:rPr>
              <a:t>    </a:t>
            </a:r>
            <a:r>
              <a:rPr sz="729" i="0">
                <a:solidFill>
                  <a:srgbClr val="FF8E6E"/>
                </a:solidFill>
                <a:latin typeface="Inconsolata"/>
              </a:rPr>
              <a:t>for</a:t>
            </a:r>
            <a:r>
              <a:rPr sz="729" i="0">
                <a:solidFill>
                  <a:srgbClr val="E6EDF3"/>
                </a:solidFill>
                <a:latin typeface="Inconsolata"/>
              </a:rPr>
              <a:t> span </a:t>
            </a:r>
            <a:r>
              <a:rPr sz="729" i="0">
                <a:solidFill>
                  <a:srgbClr val="FF8E6E"/>
                </a:solidFill>
                <a:latin typeface="Inconsolata"/>
              </a:rPr>
              <a:t>in</a:t>
            </a:r>
            <a:r>
              <a:rPr sz="729" i="0">
                <a:solidFill>
                  <a:srgbClr val="E6EDF3"/>
                </a:solidFill>
                <a:latin typeface="Inconsolata"/>
              </a:rPr>
              <a:t> exporter.get_finished_spans():</a:t>
            </a:r>
          </a:p>
          <a:p>
            <a:pPr>
              <a:lnSpc>
                <a:spcPct val="102868"/>
              </a:lnSpc>
              <a:spcAft>
                <a:spcPts val="0"/>
              </a:spcAft>
            </a:pPr>
            <a:r>
              <a:rPr sz="729" i="0">
                <a:solidFill>
                  <a:srgbClr val="5C6773"/>
                </a:solidFill>
                <a:latin typeface="Inconsolata"/>
              </a:rPr>
              <a:t>69  </a:t>
            </a:r>
            <a:r>
              <a:rPr sz="729" i="0">
                <a:solidFill>
                  <a:srgbClr val="E6EDF3"/>
                </a:solidFill>
                <a:latin typeface="Inconsolata"/>
              </a:rPr>
              <a:t>        parent = span.parent.span_id </a:t>
            </a:r>
            <a:r>
              <a:rPr sz="729" i="0">
                <a:solidFill>
                  <a:srgbClr val="FF8E6E"/>
                </a:solidFill>
                <a:latin typeface="Inconsolata"/>
              </a:rPr>
              <a:t>if</a:t>
            </a:r>
            <a:r>
              <a:rPr sz="729" i="0">
                <a:solidFill>
                  <a:srgbClr val="E6EDF3"/>
                </a:solidFill>
                <a:latin typeface="Inconsolata"/>
              </a:rPr>
              <a:t> span.parent </a:t>
            </a:r>
            <a:r>
              <a:rPr sz="729" i="0">
                <a:solidFill>
                  <a:srgbClr val="FF8E6E"/>
                </a:solidFill>
                <a:latin typeface="Inconsolata"/>
              </a:rPr>
              <a:t>else</a:t>
            </a:r>
            <a:r>
              <a:rPr sz="729" i="0">
                <a:solidFill>
                  <a:srgbClr val="E6EDF3"/>
                </a:solidFill>
                <a:latin typeface="Inconsolata"/>
              </a:rPr>
              <a:t> </a:t>
            </a:r>
            <a:r>
              <a:rPr sz="729" i="0">
                <a:solidFill>
                  <a:srgbClr val="FF8E6E"/>
                </a:solidFill>
                <a:latin typeface="Inconsolata"/>
              </a:rPr>
              <a:t>None</a:t>
            </a:r>
          </a:p>
          <a:p>
            <a:pPr>
              <a:lnSpc>
                <a:spcPct val="102868"/>
              </a:lnSpc>
              <a:spcAft>
                <a:spcPts val="0"/>
              </a:spcAft>
            </a:pPr>
            <a:r>
              <a:rPr sz="729" i="0">
                <a:solidFill>
                  <a:srgbClr val="5C6773"/>
                </a:solidFill>
                <a:latin typeface="Inconsolata"/>
              </a:rPr>
              <a:t>70  </a:t>
            </a:r>
            <a:r>
              <a:rPr sz="729" i="0">
                <a:solidFill>
                  <a:srgbClr val="E6EDF3"/>
                </a:solidFill>
                <a:latin typeface="Inconsolata"/>
              </a:rPr>
              <a:t>        children.setdefault(parent, []).append(span)</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07-tracing/after.py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2868"/>
              </a:lnSpc>
              <a:spcAft>
                <a:spcPts val="0"/>
              </a:spcAft>
            </a:pPr>
            <a:r>
              <a:rPr sz="729" i="0">
                <a:solidFill>
                  <a:srgbClr val="5C6773"/>
                </a:solidFill>
                <a:latin typeface="Inconsolata"/>
              </a:rPr>
              <a:t>72  </a:t>
            </a:r>
            <a:r>
              <a:rPr sz="729" i="0">
                <a:solidFill>
                  <a:srgbClr val="E6EDF3"/>
                </a:solidFill>
                <a:latin typeface="Inconsolata"/>
              </a:rPr>
              <a:t>    </a:t>
            </a:r>
            <a:r>
              <a:rPr sz="729" i="0">
                <a:solidFill>
                  <a:srgbClr val="FF8E6E"/>
                </a:solidFill>
                <a:latin typeface="Inconsolata"/>
              </a:rPr>
              <a:t>def</a:t>
            </a:r>
            <a:r>
              <a:rPr sz="729" i="0">
                <a:solidFill>
                  <a:srgbClr val="E6EDF3"/>
                </a:solidFill>
                <a:latin typeface="Inconsolata"/>
              </a:rPr>
              <a:t> </a:t>
            </a:r>
            <a:r>
              <a:rPr sz="729" i="0">
                <a:solidFill>
                  <a:srgbClr val="82B1FF"/>
                </a:solidFill>
                <a:latin typeface="Inconsolata"/>
              </a:rPr>
              <a:t>show</a:t>
            </a:r>
            <a:r>
              <a:rPr sz="729" i="0">
                <a:solidFill>
                  <a:srgbClr val="E6EDF3"/>
                </a:solidFill>
                <a:latin typeface="Inconsolata"/>
              </a:rPr>
              <a:t>(span, depth):</a:t>
            </a:r>
          </a:p>
          <a:p>
            <a:pPr>
              <a:lnSpc>
                <a:spcPct val="102868"/>
              </a:lnSpc>
              <a:spcAft>
                <a:spcPts val="0"/>
              </a:spcAft>
            </a:pPr>
            <a:r>
              <a:rPr sz="729" i="0">
                <a:solidFill>
                  <a:srgbClr val="5C6773"/>
                </a:solidFill>
                <a:latin typeface="Inconsolata"/>
              </a:rPr>
              <a:t>73  </a:t>
            </a:r>
            <a:r>
              <a:rPr sz="729" i="0">
                <a:solidFill>
                  <a:srgbClr val="E6EDF3"/>
                </a:solidFill>
                <a:latin typeface="Inconsolata"/>
              </a:rPr>
              <a:t>        ms = (span.end_time - span.start_time) / 1e6</a:t>
            </a:r>
          </a:p>
          <a:p>
            <a:pPr>
              <a:lnSpc>
                <a:spcPct val="102868"/>
              </a:lnSpc>
              <a:spcAft>
                <a:spcPts val="0"/>
              </a:spcAft>
            </a:pPr>
            <a:r>
              <a:rPr sz="729" i="0">
                <a:solidFill>
                  <a:srgbClr val="5C6773"/>
                </a:solidFill>
                <a:latin typeface="Inconsolata"/>
              </a:rPr>
              <a:t>74  </a:t>
            </a:r>
            <a:r>
              <a:rPr sz="729" i="0">
                <a:solidFill>
                  <a:srgbClr val="E6EDF3"/>
                </a:solidFill>
                <a:latin typeface="Inconsolata"/>
              </a:rPr>
              <a:t>        name = </a:t>
            </a:r>
            <a:r>
              <a:rPr sz="729" i="0">
                <a:solidFill>
                  <a:srgbClr val="A5D6A7"/>
                </a:solidFill>
                <a:latin typeface="Inconsolata"/>
              </a:rPr>
              <a:t>"  "</a:t>
            </a:r>
            <a:r>
              <a:rPr sz="729" i="0">
                <a:solidFill>
                  <a:srgbClr val="E6EDF3"/>
                </a:solidFill>
                <a:latin typeface="Inconsolata"/>
              </a:rPr>
              <a:t> * depth + span.name</a:t>
            </a:r>
          </a:p>
          <a:p>
            <a:pPr>
              <a:lnSpc>
                <a:spcPct val="102868"/>
              </a:lnSpc>
              <a:spcAft>
                <a:spcPts val="0"/>
              </a:spcAft>
            </a:pPr>
            <a:r>
              <a:rPr sz="729" i="0">
                <a:solidFill>
                  <a:srgbClr val="5C6773"/>
                </a:solidFill>
                <a:latin typeface="Inconsolata"/>
              </a:rPr>
              <a:t>75  </a:t>
            </a:r>
            <a:r>
              <a:rPr sz="729" i="0">
                <a:solidFill>
                  <a:srgbClr val="E6EDF3"/>
                </a:solidFill>
                <a:latin typeface="Inconsolata"/>
              </a:rPr>
              <a:t>        trace_id = </a:t>
            </a:r>
            <a:r>
              <a:rPr sz="729" i="0">
                <a:solidFill>
                  <a:srgbClr val="A5D6A7"/>
                </a:solidFill>
                <a:latin typeface="Inconsolata"/>
              </a:rPr>
              <a:t>f"{span.context.trace_id:032x}"</a:t>
            </a:r>
          </a:p>
          <a:p>
            <a:pPr>
              <a:lnSpc>
                <a:spcPct val="102868"/>
              </a:lnSpc>
              <a:spcAft>
                <a:spcPts val="0"/>
              </a:spcAft>
            </a:pPr>
            <a:r>
              <a:rPr sz="729" i="0">
                <a:solidFill>
                  <a:srgbClr val="5C6773"/>
                </a:solidFill>
                <a:latin typeface="Inconsolata"/>
              </a:rPr>
              <a:t>76  </a:t>
            </a:r>
            <a:r>
              <a:rPr sz="729" i="0">
                <a:solidFill>
                  <a:srgbClr val="E6EDF3"/>
                </a:solidFill>
                <a:latin typeface="Inconsolata"/>
              </a:rPr>
              <a:t>        </a:t>
            </a:r>
            <a:r>
              <a:rPr sz="729" i="0">
                <a:solidFill>
                  <a:srgbClr val="C3A6FF"/>
                </a:solidFill>
                <a:latin typeface="Inconsolata"/>
              </a:rPr>
              <a:t>print</a:t>
            </a:r>
            <a:r>
              <a:rPr sz="729" i="0">
                <a:solidFill>
                  <a:srgbClr val="E6EDF3"/>
                </a:solidFill>
                <a:latin typeface="Inconsolata"/>
              </a:rPr>
              <a:t>(</a:t>
            </a:r>
            <a:r>
              <a:rPr sz="729" i="0">
                <a:solidFill>
                  <a:srgbClr val="A5D6A7"/>
                </a:solidFill>
                <a:latin typeface="Inconsolata"/>
              </a:rPr>
              <a:t>f"  {name:&lt;26} {ms:4.0f} ms  trace_id {trace_id[:10]}"</a:t>
            </a:r>
            <a:r>
              <a:rPr sz="729" i="0">
                <a:solidFill>
                  <a:srgbClr val="E6EDF3"/>
                </a:solidFill>
                <a:latin typeface="Inconsolata"/>
              </a:rPr>
              <a:t>)</a:t>
            </a:r>
          </a:p>
          <a:p>
            <a:pPr>
              <a:lnSpc>
                <a:spcPct val="102868"/>
              </a:lnSpc>
              <a:spcAft>
                <a:spcPts val="0"/>
              </a:spcAft>
            </a:pPr>
            <a:r>
              <a:rPr sz="729" i="0">
                <a:solidFill>
                  <a:srgbClr val="5C6773"/>
                </a:solidFill>
                <a:latin typeface="Inconsolata"/>
              </a:rPr>
              <a:t>77  </a:t>
            </a:r>
            <a:r>
              <a:rPr sz="729" i="0">
                <a:solidFill>
                  <a:srgbClr val="E6EDF3"/>
                </a:solidFill>
                <a:latin typeface="Inconsolata"/>
              </a:rPr>
              <a:t>        </a:t>
            </a:r>
            <a:r>
              <a:rPr sz="729" i="0">
                <a:solidFill>
                  <a:srgbClr val="FF8E6E"/>
                </a:solidFill>
                <a:latin typeface="Inconsolata"/>
              </a:rPr>
              <a:t>for</a:t>
            </a:r>
            <a:r>
              <a:rPr sz="729" i="0">
                <a:solidFill>
                  <a:srgbClr val="E6EDF3"/>
                </a:solidFill>
                <a:latin typeface="Inconsolata"/>
              </a:rPr>
              <a:t> child </a:t>
            </a:r>
            <a:r>
              <a:rPr sz="729" i="0">
                <a:solidFill>
                  <a:srgbClr val="FF8E6E"/>
                </a:solidFill>
                <a:latin typeface="Inconsolata"/>
              </a:rPr>
              <a:t>in</a:t>
            </a:r>
            <a:r>
              <a:rPr sz="729" i="0">
                <a:solidFill>
                  <a:srgbClr val="E6EDF3"/>
                </a:solidFill>
                <a:latin typeface="Inconsolata"/>
              </a:rPr>
              <a:t> children.get(span.context.span_id, []):</a:t>
            </a:r>
          </a:p>
          <a:p>
            <a:pPr>
              <a:lnSpc>
                <a:spcPct val="102868"/>
              </a:lnSpc>
              <a:spcAft>
                <a:spcPts val="0"/>
              </a:spcAft>
            </a:pPr>
            <a:r>
              <a:rPr sz="729" i="0">
                <a:solidFill>
                  <a:srgbClr val="5C6773"/>
                </a:solidFill>
                <a:latin typeface="Inconsolata"/>
              </a:rPr>
              <a:t>78  </a:t>
            </a:r>
            <a:r>
              <a:rPr sz="729" i="0">
                <a:solidFill>
                  <a:srgbClr val="E6EDF3"/>
                </a:solidFill>
                <a:latin typeface="Inconsolata"/>
              </a:rPr>
              <a:t>            show(child, depth + </a:t>
            </a:r>
            <a:r>
              <a:rPr sz="729" i="0">
                <a:solidFill>
                  <a:srgbClr val="F9C97A"/>
                </a:solidFill>
                <a:latin typeface="Inconsolata"/>
              </a:rPr>
              <a:t>1</a:t>
            </a:r>
            <a:r>
              <a:rPr sz="729" i="0">
                <a:solidFill>
                  <a:srgbClr val="E6EDF3"/>
                </a:solidFill>
                <a:latin typeface="Inconsolata"/>
              </a:rPr>
              <a:t>)</a:t>
            </a:r>
          </a:p>
          <a:p>
            <a:pPr>
              <a:lnSpc>
                <a:spcPct val="102868"/>
              </a:lnSpc>
              <a:spcAft>
                <a:spcPts val="0"/>
              </a:spcAft>
            </a:pPr>
            <a:r>
              <a:rPr sz="729" i="0">
                <a:solidFill>
                  <a:srgbClr val="5C6773"/>
                </a:solidFill>
                <a:latin typeface="Inconsolata"/>
              </a:rPr>
              <a:t>79  </a:t>
            </a:r>
            <a:r>
              <a:rPr sz="729" i="0">
                <a:solidFill>
                  <a:srgbClr val="E6EDF3"/>
                </a:solidFill>
                <a:latin typeface="Inconsolata"/>
              </a:rPr>
              <a:t> </a:t>
            </a:r>
          </a:p>
          <a:p>
            <a:pPr>
              <a:lnSpc>
                <a:spcPct val="102868"/>
              </a:lnSpc>
              <a:spcAft>
                <a:spcPts val="0"/>
              </a:spcAft>
            </a:pPr>
            <a:r>
              <a:rPr sz="729" i="0">
                <a:solidFill>
                  <a:srgbClr val="5C6773"/>
                </a:solidFill>
                <a:latin typeface="Inconsolata"/>
              </a:rPr>
              <a:t>80  </a:t>
            </a:r>
            <a:r>
              <a:rPr sz="729" i="0">
                <a:solidFill>
                  <a:srgbClr val="E6EDF3"/>
                </a:solidFill>
                <a:latin typeface="Inconsolata"/>
              </a:rPr>
              <a:t>    show(children[</a:t>
            </a:r>
            <a:r>
              <a:rPr sz="729" i="0">
                <a:solidFill>
                  <a:srgbClr val="FF8E6E"/>
                </a:solidFill>
                <a:latin typeface="Inconsolata"/>
              </a:rPr>
              <a:t>None</a:t>
            </a:r>
            <a:r>
              <a:rPr sz="729" i="0">
                <a:solidFill>
                  <a:srgbClr val="E6EDF3"/>
                </a:solidFill>
                <a:latin typeface="Inconsolata"/>
              </a:rPr>
              <a:t>][</a:t>
            </a:r>
            <a:r>
              <a:rPr sz="729" i="0">
                <a:solidFill>
                  <a:srgbClr val="F9C97A"/>
                </a:solidFill>
                <a:latin typeface="Inconsolata"/>
              </a:rPr>
              <a:t>0</a:t>
            </a:r>
            <a:r>
              <a:rPr sz="729" i="0">
                <a:solidFill>
                  <a:srgbClr val="E6EDF3"/>
                </a:solidFill>
                <a:latin typeface="Inconsolata"/>
              </a:rPr>
              <a:t>], </a:t>
            </a:r>
            <a:r>
              <a:rPr sz="729" i="0">
                <a:solidFill>
                  <a:srgbClr val="F9C97A"/>
                </a:solidFill>
                <a:latin typeface="Inconsolata"/>
              </a:rPr>
              <a:t>0</a:t>
            </a:r>
            <a:r>
              <a:rPr sz="729" i="0">
                <a:solidFill>
                  <a:srgbClr val="E6EDF3"/>
                </a:solidFill>
                <a:latin typeface="Inconsolata"/>
              </a:rPr>
              <a:t>)       </a:t>
            </a:r>
            <a:r>
              <a:rPr sz="729" i="1">
                <a:solidFill>
                  <a:srgbClr val="8B98A8"/>
                </a:solidFill>
                <a:latin typeface="Inconsolata"/>
              </a:rPr>
              <a:t># mulai dari span tanpa parent</a:t>
            </a:r>
          </a:p>
          <a:p>
            <a:pPr>
              <a:lnSpc>
                <a:spcPct val="102868"/>
              </a:lnSpc>
              <a:spcAft>
                <a:spcPts val="0"/>
              </a:spcAft>
            </a:pPr>
            <a:r>
              <a:rPr sz="729" i="0">
                <a:solidFill>
                  <a:srgbClr val="5C6773"/>
                </a:solidFill>
                <a:latin typeface="Inconsolata"/>
              </a:rPr>
              <a:t>81  </a:t>
            </a:r>
            <a:r>
              <a:rPr sz="729" i="0">
                <a:solidFill>
                  <a:srgbClr val="E6EDF3"/>
                </a:solidFill>
                <a:latin typeface="Inconsolata"/>
              </a:rPr>
              <a:t> </a:t>
            </a:r>
          </a:p>
          <a:p>
            <a:pPr>
              <a:lnSpc>
                <a:spcPct val="102868"/>
              </a:lnSpc>
              <a:spcAft>
                <a:spcPts val="0"/>
              </a:spcAft>
            </a:pPr>
            <a:r>
              <a:rPr sz="729" i="0">
                <a:solidFill>
                  <a:srgbClr val="5C6773"/>
                </a:solidFill>
                <a:latin typeface="Inconsolata"/>
              </a:rPr>
              <a:t>82  </a:t>
            </a:r>
            <a:r>
              <a:rPr sz="729" i="0">
                <a:solidFill>
                  <a:srgbClr val="E6EDF3"/>
                </a:solidFill>
                <a:latin typeface="Inconsolata"/>
              </a:rPr>
              <a:t> </a:t>
            </a:r>
          </a:p>
          <a:p>
            <a:pPr>
              <a:lnSpc>
                <a:spcPct val="102868"/>
              </a:lnSpc>
              <a:spcAft>
                <a:spcPts val="0"/>
              </a:spcAft>
            </a:pPr>
            <a:r>
              <a:rPr sz="729" i="0">
                <a:solidFill>
                  <a:srgbClr val="5C6773"/>
                </a:solidFill>
                <a:latin typeface="Inconsolata"/>
              </a:rPr>
              <a:t>83  </a:t>
            </a:r>
            <a:r>
              <a:rPr sz="729" i="0">
                <a:solidFill>
                  <a:srgbClr val="FF8E6E"/>
                </a:solidFill>
                <a:latin typeface="Inconsolata"/>
              </a:rPr>
              <a:t>if</a:t>
            </a:r>
            <a:r>
              <a:rPr sz="729" i="0">
                <a:solidFill>
                  <a:srgbClr val="E6EDF3"/>
                </a:solidFill>
                <a:latin typeface="Inconsolata"/>
              </a:rPr>
              <a:t> __name__ == </a:t>
            </a:r>
            <a:r>
              <a:rPr sz="729" i="0">
                <a:solidFill>
                  <a:srgbClr val="A5D6A7"/>
                </a:solidFill>
                <a:latin typeface="Inconsolata"/>
              </a:rPr>
              <a:t>"__main__"</a:t>
            </a:r>
            <a:r>
              <a:rPr sz="729" i="0">
                <a:solidFill>
                  <a:srgbClr val="E6EDF3"/>
                </a:solidFill>
                <a:latin typeface="Inconsolata"/>
              </a:rPr>
              <a:t>:</a:t>
            </a:r>
          </a:p>
          <a:p>
            <a:pPr>
              <a:lnSpc>
                <a:spcPct val="102868"/>
              </a:lnSpc>
              <a:spcAft>
                <a:spcPts val="0"/>
              </a:spcAft>
            </a:pPr>
            <a:r>
              <a:rPr sz="729" i="0">
                <a:solidFill>
                  <a:srgbClr val="5C6773"/>
                </a:solidFill>
                <a:latin typeface="Inconsolata"/>
              </a:rPr>
              <a:t>84  </a:t>
            </a:r>
            <a:r>
              <a:rPr sz="729" i="0">
                <a:solidFill>
                  <a:srgbClr val="E6EDF3"/>
                </a:solidFill>
                <a:latin typeface="Inconsolata"/>
              </a:rPr>
              <a:t>    place_order()</a:t>
            </a:r>
          </a:p>
          <a:p>
            <a:pPr>
              <a:lnSpc>
                <a:spcPct val="102868"/>
              </a:lnSpc>
              <a:spcAft>
                <a:spcPts val="0"/>
              </a:spcAft>
            </a:pPr>
            <a:r>
              <a:rPr sz="729" i="0">
                <a:solidFill>
                  <a:srgbClr val="5C6773"/>
                </a:solidFill>
                <a:latin typeface="Inconsolata"/>
              </a:rPr>
              <a:t>85  </a:t>
            </a:r>
            <a:r>
              <a:rPr sz="729" i="0">
                <a:solidFill>
                  <a:srgbClr val="E6EDF3"/>
                </a:solidFill>
                <a:latin typeface="Inconsolata"/>
              </a:rPr>
              <a:t>    consume()</a:t>
            </a:r>
          </a:p>
          <a:p>
            <a:pPr>
              <a:lnSpc>
                <a:spcPct val="102868"/>
              </a:lnSpc>
              <a:spcAft>
                <a:spcPts val="0"/>
              </a:spcAft>
            </a:pPr>
            <a:r>
              <a:rPr sz="729" i="0">
                <a:solidFill>
                  <a:srgbClr val="5C6773"/>
                </a:solidFill>
                <a:latin typeface="Inconsolata"/>
              </a:rPr>
              <a:t>86  </a:t>
            </a:r>
            <a:r>
              <a:rPr sz="729" i="0">
                <a:solidFill>
                  <a:srgbClr val="E6EDF3"/>
                </a:solidFill>
                <a:latin typeface="Inconsolata"/>
              </a:rPr>
              <a:t>    print_trace()</a:t>
            </a:r>
          </a:p>
        </p:txBody>
      </p:sp>
      <p:sp>
        <p:nvSpPr>
          <p:cNvPr id="36" name="Box 21"/>
          <p:cNvSpPr/>
          <p:nvPr/>
        </p:nvSpPr>
        <p:spPr>
          <a:xfrm>
            <a:off x="704088" y="2854071"/>
            <a:ext cx="3694176" cy="107442"/>
          </a:xfrm>
          <a:prstGeom prst="roundRect">
            <a:avLst>
              <a:gd name="adj" fmla="val 42553"/>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Tracing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07-tracing/after.py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sesi-09-observability/07-tracing</a:t>
            </a:r>
          </a:p>
          <a:p>
            <a:pPr>
              <a:lnSpc>
                <a:spcPct val="111111"/>
              </a:lnSpc>
              <a:spcAft>
                <a:spcPts val="0"/>
              </a:spcAft>
            </a:pPr>
            <a:r>
              <a:rPr sz="900" i="0">
                <a:solidFill>
                  <a:srgbClr val="82B1FF"/>
                </a:solidFill>
                <a:latin typeface="Inconsolata"/>
              </a:rPr>
              <a:t>$ python after.py</a:t>
            </a:r>
          </a:p>
        </p:txBody>
      </p:sp>
      <p:pic>
        <p:nvPicPr>
          <p:cNvPr id="29" name="Image 12" descr="s09-07-tracing-after.png"/>
          <p:cNvPicPr>
            <a:picLocks noChangeAspect="1"/>
          </p:cNvPicPr>
          <p:nvPr/>
        </p:nvPicPr>
        <p:blipFill>
          <a:blip r:embed="rId2"/>
          <a:stretch>
            <a:fillRect/>
          </a:stretch>
        </p:blipFill>
        <p:spPr>
          <a:xfrm>
            <a:off x="621792" y="2322576"/>
            <a:ext cx="4297680" cy="1105118"/>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Tracer dibuat, span disimpan di memory sebagai pengganti Jaeger (baris 24-28)</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Setiap langkah dibungkus span (baris 33-51)</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Konteks trace dikirim di header pesan, lalu dibaca consumer (baris 46, 60)</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Terlihat </a:t>
            </a:r>
            <a:r>
              <a:rPr sz="950" b="0" i="0">
                <a:solidFill>
                  <a:srgbClr val="B5482A"/>
                </a:solidFill>
                <a:latin typeface="Inconsolata"/>
              </a:rPr>
              <a:t>rabbitmq.publish</a:t>
            </a:r>
            <a:r>
              <a:rPr sz="950" b="0" i="0">
                <a:solidFill>
                  <a:srgbClr val="434343"/>
                </a:solidFill>
                <a:latin typeface="Inter"/>
              </a:rPr>
              <a:t> 400 ms, dan span consumer punya trace_id yang sama.</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57</a:t>
            </a:fld>
            <a:endParaRPr/>
          </a:p>
        </p:txBody>
      </p:sp>
      <p:sp>
        <p:nvSpPr>
          <p:cNvPr id="31" name="Text 1"/>
          <p:cNvSpPr txBox="1"/>
          <p:nvPr/>
        </p:nvSpPr>
        <p:spPr>
          <a:xfrm>
            <a:off x="822960" y="1600200"/>
            <a:ext cx="7315200" cy="365760"/>
          </a:xfrm>
          <a:prstGeom prst="rect">
            <a:avLst/>
          </a:prstGeom>
          <a:noFill/>
        </p:spPr>
        <p:txBody>
          <a:bodyPr wrap="square" lIns="45720" rIns="45720" anchor="t">
            <a:spAutoFit/>
          </a:bodyPr>
          <a:lstStyle/>
          <a:p>
            <a:pPr algn="l">
              <a:lnSpc>
                <a:spcPct val="115000"/>
              </a:lnSpc>
              <a:spcAft>
                <a:spcPts val="400"/>
              </a:spcAft>
            </a:pPr>
            <a:r>
              <a:rPr sz="1400" b="0" i="0">
                <a:solidFill>
                  <a:srgbClr val="CFE0FA"/>
                </a:solidFill>
                <a:latin typeface="Inter"/>
              </a:rPr>
              <a:t>Bagian 04</a:t>
            </a:r>
          </a:p>
        </p:txBody>
      </p:sp>
      <p:sp>
        <p:nvSpPr>
          <p:cNvPr id="32" name="Text 2"/>
          <p:cNvSpPr txBox="1"/>
          <p:nvPr/>
        </p:nvSpPr>
        <p:spPr>
          <a:xfrm>
            <a:off x="822960" y="1920240"/>
            <a:ext cx="7315200" cy="822960"/>
          </a:xfrm>
          <a:prstGeom prst="rect">
            <a:avLst/>
          </a:prstGeom>
          <a:noFill/>
        </p:spPr>
        <p:txBody>
          <a:bodyPr wrap="square" lIns="45720" rIns="45720" anchor="t">
            <a:spAutoFit/>
          </a:bodyPr>
          <a:lstStyle/>
          <a:p>
            <a:pPr algn="l">
              <a:lnSpc>
                <a:spcPct val="115000"/>
              </a:lnSpc>
              <a:spcAft>
                <a:spcPts val="400"/>
              </a:spcAft>
            </a:pPr>
            <a:r>
              <a:rPr sz="3000" b="0" i="0">
                <a:solidFill>
                  <a:srgbClr val="FFFFFF"/>
                </a:solidFill>
                <a:latin typeface="Work Sans ExtraBold"/>
              </a:rPr>
              <a:t>Hands-on: Observability Order API</a:t>
            </a:r>
          </a:p>
        </p:txBody>
      </p:sp>
      <p:sp>
        <p:nvSpPr>
          <p:cNvPr id="33" name="Text 3"/>
          <p:cNvSpPr txBox="1"/>
          <p:nvPr/>
        </p:nvSpPr>
        <p:spPr>
          <a:xfrm>
            <a:off x="822960" y="3246120"/>
            <a:ext cx="6583680" cy="731520"/>
          </a:xfrm>
          <a:prstGeom prst="rect">
            <a:avLst/>
          </a:prstGeom>
          <a:noFill/>
        </p:spPr>
        <p:txBody>
          <a:bodyPr wrap="square" lIns="45720" rIns="45720" anchor="t">
            <a:spAutoFit/>
          </a:bodyPr>
          <a:lstStyle/>
          <a:p>
            <a:pPr algn="l">
              <a:lnSpc>
                <a:spcPct val="115000"/>
              </a:lnSpc>
              <a:spcAft>
                <a:spcPts val="400"/>
              </a:spcAft>
            </a:pPr>
            <a:r>
              <a:rPr sz="1200" b="0" i="0">
                <a:solidFill>
                  <a:srgbClr val="E3ECFA"/>
                </a:solidFill>
                <a:latin typeface="Inter"/>
              </a:rPr>
              <a:t>Dikerjakan bersama mentor, langkah demi langkah. Log JSON, metrics, health check, dan tracing.</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Kondisi Awal</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Hasil Sesi 8: Log Hanya Berupa print</a:t>
            </a:r>
          </a:p>
        </p:txBody>
      </p:sp>
      <p:sp>
        <p:nvSpPr>
          <p:cNvPr id="22" name="CodeTab 4"/>
          <p:cNvSpPr/>
          <p:nvPr/>
        </p:nvSpPr>
        <p:spPr>
          <a:xfrm>
            <a:off x="621792" y="1481328"/>
            <a:ext cx="51206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4805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08-observability/before/app</a:t>
            </a:r>
          </a:p>
        </p:txBody>
      </p:sp>
      <p:sp>
        <p:nvSpPr>
          <p:cNvPr id="27" name="CodeBg 10"/>
          <p:cNvSpPr/>
          <p:nvPr/>
        </p:nvSpPr>
        <p:spPr>
          <a:xfrm>
            <a:off x="621792" y="1719072"/>
            <a:ext cx="51206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120640" cy="2980944"/>
          </a:xfrm>
          <a:prstGeom prst="rect">
            <a:avLst/>
          </a:prstGeom>
          <a:noFill/>
        </p:spPr>
        <p:txBody>
          <a:bodyPr wrap="none" lIns="146304" tIns="91440" rIns="146304" bIns="54864">
            <a:spAutoFit/>
          </a:bodyPr>
          <a:lstStyle/>
          <a:p>
            <a:pPr>
              <a:lnSpc>
                <a:spcPct val="111111"/>
              </a:lnSpc>
              <a:spcAft>
                <a:spcPts val="0"/>
              </a:spcAft>
            </a:pPr>
            <a:r>
              <a:rPr sz="750" i="1">
                <a:solidFill>
                  <a:srgbClr val="8B98A8"/>
                </a:solidFill>
                <a:latin typeface="Inconsolata"/>
              </a:rPr>
              <a:t># api/middleware.py</a:t>
            </a:r>
          </a:p>
          <a:p>
            <a:pPr>
              <a:lnSpc>
                <a:spcPct val="111111"/>
              </a:lnSpc>
              <a:spcAft>
                <a:spcPts val="0"/>
              </a:spcAft>
            </a:pPr>
            <a:r>
              <a:rPr sz="750" i="0">
                <a:solidFill>
                  <a:srgbClr val="FF8E6E"/>
                </a:solidFill>
                <a:latin typeface="Inconsolata"/>
              </a:rPr>
              <a:t>async</a:t>
            </a:r>
            <a:r>
              <a:rPr sz="750" i="0">
                <a:solidFill>
                  <a:srgbClr val="E6EDF3"/>
                </a:solidFill>
                <a:latin typeface="Inconsolata"/>
              </a:rPr>
              <a:t> </a:t>
            </a:r>
            <a:r>
              <a:rPr sz="750" i="0">
                <a:solidFill>
                  <a:srgbClr val="FF8E6E"/>
                </a:solidFill>
                <a:latin typeface="Inconsolata"/>
              </a:rPr>
              <a:t>def</a:t>
            </a:r>
            <a:r>
              <a:rPr sz="750" i="0">
                <a:solidFill>
                  <a:srgbClr val="E6EDF3"/>
                </a:solidFill>
                <a:latin typeface="Inconsolata"/>
              </a:rPr>
              <a:t> </a:t>
            </a:r>
            <a:r>
              <a:rPr sz="750" i="0">
                <a:solidFill>
                  <a:srgbClr val="82B1FF"/>
                </a:solidFill>
                <a:latin typeface="Inconsolata"/>
              </a:rPr>
              <a:t>log_requests</a:t>
            </a:r>
            <a:r>
              <a:rPr sz="750" i="0">
                <a:solidFill>
                  <a:srgbClr val="E6EDF3"/>
                </a:solidFill>
                <a:latin typeface="Inconsolata"/>
              </a:rPr>
              <a:t>(request: </a:t>
            </a:r>
            <a:r>
              <a:rPr sz="750" i="0">
                <a:solidFill>
                  <a:srgbClr val="7FDBCA"/>
                </a:solidFill>
                <a:latin typeface="Inconsolata"/>
              </a:rPr>
              <a:t>Request</a:t>
            </a:r>
            <a:r>
              <a:rPr sz="750" i="0">
                <a:solidFill>
                  <a:srgbClr val="E6EDF3"/>
                </a:solidFill>
                <a:latin typeface="Inconsolata"/>
              </a:rPr>
              <a:t>, call_next):</a:t>
            </a:r>
          </a:p>
          <a:p>
            <a:pPr>
              <a:lnSpc>
                <a:spcPct val="111111"/>
              </a:lnSpc>
              <a:spcAft>
                <a:spcPts val="0"/>
              </a:spcAft>
            </a:pPr>
            <a:r>
              <a:rPr sz="750" i="0">
                <a:solidFill>
                  <a:srgbClr val="E6EDF3"/>
                </a:solidFill>
                <a:latin typeface="Inconsolata"/>
              </a:rPr>
              <a:t>    start = time.perf_counter()</a:t>
            </a:r>
          </a:p>
          <a:p>
            <a:pPr>
              <a:lnSpc>
                <a:spcPct val="111111"/>
              </a:lnSpc>
              <a:spcAft>
                <a:spcPts val="0"/>
              </a:spcAft>
            </a:pPr>
            <a:r>
              <a:rPr sz="750" i="0">
                <a:solidFill>
                  <a:srgbClr val="E6EDF3"/>
                </a:solidFill>
                <a:latin typeface="Inconsolata"/>
              </a:rPr>
              <a:t>    response = </a:t>
            </a:r>
            <a:r>
              <a:rPr sz="750" i="0">
                <a:solidFill>
                  <a:srgbClr val="FF8E6E"/>
                </a:solidFill>
                <a:latin typeface="Inconsolata"/>
              </a:rPr>
              <a:t>await</a:t>
            </a:r>
            <a:r>
              <a:rPr sz="750" i="0">
                <a:solidFill>
                  <a:srgbClr val="E6EDF3"/>
                </a:solidFill>
                <a:latin typeface="Inconsolata"/>
              </a:rPr>
              <a:t> call_next(request)</a:t>
            </a:r>
          </a:p>
          <a:p>
            <a:pPr>
              <a:lnSpc>
                <a:spcPct val="111111"/>
              </a:lnSpc>
              <a:spcAft>
                <a:spcPts val="0"/>
              </a:spcAft>
            </a:pPr>
            <a:r>
              <a:rPr sz="750" i="0">
                <a:solidFill>
                  <a:srgbClr val="E6EDF3"/>
                </a:solidFill>
                <a:latin typeface="Inconsolata"/>
              </a:rPr>
              <a:t>    ms = (time.perf_counter() - start) * </a:t>
            </a:r>
            <a:r>
              <a:rPr sz="750" i="0">
                <a:solidFill>
                  <a:srgbClr val="F9C97A"/>
                </a:solidFill>
                <a:latin typeface="Inconsolata"/>
              </a:rPr>
              <a:t>1000</a:t>
            </a:r>
          </a:p>
          <a:p>
            <a:pPr>
              <a:lnSpc>
                <a:spcPct val="111111"/>
              </a:lnSpc>
              <a:spcAft>
                <a:spcPts val="0"/>
              </a:spcAft>
            </a:pPr>
            <a:r>
              <a:rPr sz="750" i="0">
                <a:solidFill>
                  <a:srgbClr val="E6EDF3"/>
                </a:solidFill>
                <a:latin typeface="Inconsolata"/>
              </a:rPr>
              <a:t>    response.headers[</a:t>
            </a:r>
            <a:r>
              <a:rPr sz="750" i="0">
                <a:solidFill>
                  <a:srgbClr val="A5D6A7"/>
                </a:solidFill>
                <a:latin typeface="Inconsolata"/>
              </a:rPr>
              <a:t>"X-Process-Time"</a:t>
            </a:r>
            <a:r>
              <a:rPr sz="750" i="0">
                <a:solidFill>
                  <a:srgbClr val="E6EDF3"/>
                </a:solidFill>
                <a:latin typeface="Inconsolata"/>
              </a:rPr>
              <a:t>] = </a:t>
            </a:r>
            <a:r>
              <a:rPr sz="750" i="0">
                <a:solidFill>
                  <a:srgbClr val="A5D6A7"/>
                </a:solidFill>
                <a:latin typeface="Inconsolata"/>
              </a:rPr>
              <a:t>f"{ms:.1f}ms"</a:t>
            </a:r>
          </a:p>
          <a:p>
            <a:pPr>
              <a:lnSpc>
                <a:spcPct val="111111"/>
              </a:lnSpc>
              <a:spcAft>
                <a:spcPts val="0"/>
              </a:spcAft>
            </a:pPr>
            <a:r>
              <a:rPr sz="750" i="0">
                <a:solidFill>
                  <a:srgbClr val="E6EDF3"/>
                </a:solidFill>
                <a:latin typeface="Inconsolata"/>
              </a:rPr>
              <a:t>    </a:t>
            </a:r>
            <a:r>
              <a:rPr sz="750" i="0">
                <a:solidFill>
                  <a:srgbClr val="C3A6FF"/>
                </a:solidFill>
                <a:latin typeface="Inconsolata"/>
              </a:rPr>
              <a:t>print</a:t>
            </a:r>
            <a:r>
              <a:rPr sz="750" i="0">
                <a:solidFill>
                  <a:srgbClr val="E6EDF3"/>
                </a:solidFill>
                <a:latin typeface="Inconsolata"/>
              </a:rPr>
              <a:t>(</a:t>
            </a:r>
            <a:r>
              <a:rPr sz="750" i="0">
                <a:solidFill>
                  <a:srgbClr val="A5D6A7"/>
                </a:solidFill>
                <a:latin typeface="Inconsolata"/>
              </a:rPr>
              <a:t>f"{request.method} {request.url.path} {response.status_code} {ms:.1f}ms"</a:t>
            </a: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FF8E6E"/>
                </a:solidFill>
                <a:latin typeface="Inconsolata"/>
              </a:rPr>
              <a:t>return</a:t>
            </a:r>
            <a:r>
              <a:rPr sz="750" i="0">
                <a:solidFill>
                  <a:srgbClr val="E6EDF3"/>
                </a:solidFill>
                <a:latin typeface="Inconsolata"/>
              </a:rPr>
              <a:t> response</a:t>
            </a:r>
          </a:p>
        </p:txBody>
      </p:sp>
      <p:sp>
        <p:nvSpPr>
          <p:cNvPr id="29" name="Box 12"/>
          <p:cNvSpPr/>
          <p:nvPr/>
        </p:nvSpPr>
        <p:spPr>
          <a:xfrm>
            <a:off x="704088" y="2589022"/>
            <a:ext cx="4956048" cy="119380"/>
          </a:xfrm>
          <a:prstGeom prst="roundRect">
            <a:avLst>
              <a:gd name="adj" fmla="val 382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541264" y="252984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5897879" y="1481328"/>
            <a:ext cx="2587752" cy="3218688"/>
          </a:xfrm>
          <a:prstGeom prst="roundRect">
            <a:avLst>
              <a:gd name="adj" fmla="val 424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Text 15"/>
          <p:cNvSpPr txBox="1"/>
          <p:nvPr/>
        </p:nvSpPr>
        <p:spPr>
          <a:xfrm>
            <a:off x="6035040" y="1572768"/>
            <a:ext cx="231343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3" name="Text 16"/>
          <p:cNvSpPr txBox="1"/>
          <p:nvPr/>
        </p:nvSpPr>
        <p:spPr>
          <a:xfrm>
            <a:off x="6035040" y="1892808"/>
            <a:ext cx="231343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Log berupa teks dari </a:t>
            </a:r>
            <a:r>
              <a:rPr sz="950" b="0" i="0">
                <a:solidFill>
                  <a:srgbClr val="B5482A"/>
                </a:solidFill>
                <a:latin typeface="Inconsolata"/>
              </a:rPr>
              <a:t>print</a:t>
            </a:r>
            <a:r>
              <a:rPr sz="950" b="0" i="0">
                <a:solidFill>
                  <a:srgbClr val="434343"/>
                </a:solidFill>
                <a:latin typeface="Inter"/>
              </a:rPr>
              <a:t>, tanpa request_id</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Belum ada metrics, health check, dan trace</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Log API dan log consumer tidak tersambung</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Kode inilah yang kita kembangkan di hands-on.</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mulai dari 08-observability/before/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Tujuan &amp; Kriteria Selesai</a:t>
            </a:r>
          </a:p>
        </p:txBody>
      </p:sp>
      <p:sp>
        <p:nvSpPr>
          <p:cNvPr id="22" name="Box 3"/>
          <p:cNvSpPr/>
          <p:nvPr/>
        </p:nvSpPr>
        <p:spPr>
          <a:xfrm>
            <a:off x="621792" y="1481328"/>
            <a:ext cx="3840480" cy="3218688"/>
          </a:xfrm>
          <a:prstGeom prst="roundRect">
            <a:avLst>
              <a:gd name="adj" fmla="val 3409"/>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Text 4"/>
          <p:cNvSpPr txBox="1"/>
          <p:nvPr/>
        </p:nvSpPr>
        <p:spPr>
          <a:xfrm>
            <a:off x="758952" y="1572768"/>
            <a:ext cx="3566160" cy="310896"/>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Kriteria selesai</a:t>
            </a:r>
          </a:p>
        </p:txBody>
      </p:sp>
      <p:sp>
        <p:nvSpPr>
          <p:cNvPr id="24" name="Text 5"/>
          <p:cNvSpPr txBox="1"/>
          <p:nvPr/>
        </p:nvSpPr>
        <p:spPr>
          <a:xfrm>
            <a:off x="758952" y="1892808"/>
            <a:ext cx="3566160"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Log berupa JSON dan membawa </a:t>
            </a:r>
            <a:r>
              <a:rPr sz="900" b="0" i="0">
                <a:solidFill>
                  <a:srgbClr val="B5482A"/>
                </a:solidFill>
                <a:latin typeface="Inconsolata"/>
              </a:rPr>
              <a:t>request_id</a:t>
            </a:r>
            <a:r>
              <a:rPr sz="900" b="0" i="0">
                <a:solidFill>
                  <a:srgbClr val="434343"/>
                </a:solidFill>
                <a:latin typeface="Inter"/>
              </a:rPr>
              <a:t> dan </a:t>
            </a:r>
            <a:r>
              <a:rPr sz="900" b="0" i="0">
                <a:solidFill>
                  <a:srgbClr val="B5482A"/>
                </a:solidFill>
                <a:latin typeface="Inconsolata"/>
              </a:rPr>
              <a:t>trace_id</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Response dan body error membawa </a:t>
            </a:r>
            <a:r>
              <a:rPr sz="900" b="0" i="0">
                <a:solidFill>
                  <a:srgbClr val="B5482A"/>
                </a:solidFill>
                <a:latin typeface="Inconsolata"/>
              </a:rPr>
              <a:t>X-Request-ID</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Error dicatat dengan </a:t>
            </a:r>
            <a:r>
              <a:rPr sz="900" b="0" i="0">
                <a:solidFill>
                  <a:srgbClr val="B5482A"/>
                </a:solidFill>
                <a:latin typeface="Inconsolata"/>
              </a:rPr>
              <a:t>error_type</a:t>
            </a:r>
            <a:r>
              <a:rPr sz="900" b="0" i="0">
                <a:solidFill>
                  <a:srgbClr val="434343"/>
                </a:solidFill>
                <a:latin typeface="Inter"/>
              </a:rPr>
              <a:t>: client, dependency, bug</a:t>
            </a:r>
          </a:p>
          <a:p>
            <a:pPr marL="182880" indent="-182880" algn="l">
              <a:lnSpc>
                <a:spcPct val="115000"/>
              </a:lnSpc>
              <a:spcAft>
                <a:spcPts val="400"/>
              </a:spcAft>
              <a:buClr>
                <a:srgbClr val="E0764F"/>
              </a:buClr>
              <a:buSzPct val="100000"/>
              <a:buFont typeface="Arial"/>
              <a:buChar char="•"/>
            </a:pPr>
            <a:r>
              <a:rPr sz="900" b="0" i="0">
                <a:solidFill>
                  <a:srgbClr val="B5482A"/>
                </a:solidFill>
                <a:latin typeface="Inconsolata"/>
              </a:rPr>
              <a:t>GET /metrics</a:t>
            </a:r>
            <a:r>
              <a:rPr sz="900" b="0" i="0">
                <a:solidFill>
                  <a:srgbClr val="434343"/>
                </a:solidFill>
                <a:latin typeface="Inter"/>
              </a:rPr>
              <a:t> menampilkan request dan latency per route</a:t>
            </a:r>
          </a:p>
          <a:p>
            <a:pPr marL="182880" indent="-182880" algn="l">
              <a:lnSpc>
                <a:spcPct val="115000"/>
              </a:lnSpc>
              <a:spcAft>
                <a:spcPts val="400"/>
              </a:spcAft>
              <a:buClr>
                <a:srgbClr val="E0764F"/>
              </a:buClr>
              <a:buSzPct val="100000"/>
              <a:buFont typeface="Arial"/>
              <a:buChar char="•"/>
            </a:pPr>
            <a:r>
              <a:rPr sz="900" b="0" i="0">
                <a:solidFill>
                  <a:srgbClr val="B5482A"/>
                </a:solidFill>
                <a:latin typeface="Inconsolata"/>
              </a:rPr>
              <a:t>GET /health/ready</a:t>
            </a:r>
            <a:r>
              <a:rPr sz="900" b="0" i="0">
                <a:solidFill>
                  <a:srgbClr val="434343"/>
                </a:solidFill>
                <a:latin typeface="Inter"/>
              </a:rPr>
              <a:t> 503 jika dependency mati</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Satu trace di Jaeger dari API sampai consumer</a:t>
            </a:r>
          </a:p>
          <a:p>
            <a:pPr marL="182880" indent="-182880" algn="l">
              <a:lnSpc>
                <a:spcPct val="115000"/>
              </a:lnSpc>
              <a:spcAft>
                <a:spcPts val="400"/>
              </a:spcAft>
              <a:buClr>
                <a:srgbClr val="E0764F"/>
              </a:buClr>
              <a:buSzPct val="100000"/>
              <a:buFont typeface="Arial"/>
              <a:buChar char="•"/>
            </a:pPr>
            <a:r>
              <a:rPr sz="900" b="0" i="0">
                <a:solidFill>
                  <a:srgbClr val="B5482A"/>
                </a:solidFill>
                <a:latin typeface="Inconsolata"/>
              </a:rPr>
              <a:t>pytest</a:t>
            </a:r>
            <a:r>
              <a:rPr sz="900" b="0" i="0">
                <a:solidFill>
                  <a:srgbClr val="434343"/>
                </a:solidFill>
                <a:latin typeface="Inter"/>
              </a:rPr>
              <a:t> hijau tanpa Docker</a:t>
            </a:r>
          </a:p>
        </p:txBody>
      </p:sp>
      <p:sp>
        <p:nvSpPr>
          <p:cNvPr id="25" name="CodeTab 7"/>
          <p:cNvSpPr/>
          <p:nvPr/>
        </p:nvSpPr>
        <p:spPr>
          <a:xfrm>
            <a:off x="4617720" y="1481328"/>
            <a:ext cx="3867912"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6" name="Dot 8"/>
          <p:cNvSpPr/>
          <p:nvPr/>
        </p:nvSpPr>
        <p:spPr>
          <a:xfrm>
            <a:off x="472744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Dot 9"/>
          <p:cNvSpPr/>
          <p:nvPr/>
        </p:nvSpPr>
        <p:spPr>
          <a:xfrm>
            <a:off x="486460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Dot 10"/>
          <p:cNvSpPr/>
          <p:nvPr/>
        </p:nvSpPr>
        <p:spPr>
          <a:xfrm>
            <a:off x="500176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 11"/>
          <p:cNvSpPr txBox="1"/>
          <p:nvPr/>
        </p:nvSpPr>
        <p:spPr>
          <a:xfrm>
            <a:off x="5166359" y="1490472"/>
            <a:ext cx="3227832"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target struktur</a:t>
            </a:r>
          </a:p>
        </p:txBody>
      </p:sp>
      <p:sp>
        <p:nvSpPr>
          <p:cNvPr id="30" name="CodeBg 13"/>
          <p:cNvSpPr/>
          <p:nvPr/>
        </p:nvSpPr>
        <p:spPr>
          <a:xfrm>
            <a:off x="4617720" y="1719072"/>
            <a:ext cx="3867912"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 14"/>
          <p:cNvSpPr txBox="1"/>
          <p:nvPr/>
        </p:nvSpPr>
        <p:spPr>
          <a:xfrm>
            <a:off x="4617720" y="1719072"/>
            <a:ext cx="3867912" cy="2980944"/>
          </a:xfrm>
          <a:prstGeom prst="rect">
            <a:avLst/>
          </a:prstGeom>
          <a:noFill/>
        </p:spPr>
        <p:txBody>
          <a:bodyPr wrap="none" lIns="146304" tIns="91440" rIns="146304" bIns="54864">
            <a:spAutoFit/>
          </a:bodyPr>
          <a:lstStyle/>
          <a:p>
            <a:pPr>
              <a:lnSpc>
                <a:spcPct val="107143"/>
              </a:lnSpc>
              <a:spcAft>
                <a:spcPts val="0"/>
              </a:spcAft>
            </a:pPr>
            <a:r>
              <a:rPr sz="700" i="0">
                <a:solidFill>
                  <a:srgbClr val="E6EDF3"/>
                </a:solidFill>
                <a:latin typeface="Inconsolata"/>
              </a:rPr>
              <a:t>latihan/</a:t>
            </a:r>
          </a:p>
          <a:p>
            <a:pPr>
              <a:lnSpc>
                <a:spcPct val="107143"/>
              </a:lnSpc>
              <a:spcAft>
                <a:spcPts val="0"/>
              </a:spcAft>
            </a:pPr>
            <a:r>
              <a:rPr sz="700" i="0">
                <a:solidFill>
                  <a:srgbClr val="E6EDF3"/>
                </a:solidFill>
                <a:latin typeface="Inconsolata"/>
              </a:rPr>
              <a:t>  app/</a:t>
            </a:r>
          </a:p>
          <a:p>
            <a:pPr>
              <a:lnSpc>
                <a:spcPct val="107143"/>
              </a:lnSpc>
              <a:spcAft>
                <a:spcPts val="0"/>
              </a:spcAft>
            </a:pPr>
            <a:r>
              <a:rPr sz="700" i="0">
                <a:solidFill>
                  <a:srgbClr val="E6EDF3"/>
                </a:solidFill>
                <a:latin typeface="Inconsolata"/>
              </a:rPr>
              <a:t>    infrastructure/</a:t>
            </a:r>
          </a:p>
          <a:p>
            <a:pPr>
              <a:lnSpc>
                <a:spcPct val="107143"/>
              </a:lnSpc>
              <a:spcAft>
                <a:spcPts val="0"/>
              </a:spcAft>
            </a:pPr>
            <a:r>
              <a:rPr sz="700" i="0">
                <a:solidFill>
                  <a:srgbClr val="E6EDF3"/>
                </a:solidFill>
                <a:latin typeface="Inconsolata"/>
              </a:rPr>
              <a:t>      logs.py          # langkah 2</a:t>
            </a:r>
          </a:p>
          <a:p>
            <a:pPr>
              <a:lnSpc>
                <a:spcPct val="107143"/>
              </a:lnSpc>
              <a:spcAft>
                <a:spcPts val="0"/>
              </a:spcAft>
            </a:pPr>
            <a:r>
              <a:rPr sz="700" i="0">
                <a:solidFill>
                  <a:srgbClr val="E6EDF3"/>
                </a:solidFill>
                <a:latin typeface="Inconsolata"/>
              </a:rPr>
              <a:t>      metrics.py       # langkah 4</a:t>
            </a:r>
          </a:p>
          <a:p>
            <a:pPr>
              <a:lnSpc>
                <a:spcPct val="107143"/>
              </a:lnSpc>
              <a:spcAft>
                <a:spcPts val="0"/>
              </a:spcAft>
            </a:pPr>
            <a:r>
              <a:rPr sz="700" i="0">
                <a:solidFill>
                  <a:srgbClr val="E6EDF3"/>
                </a:solidFill>
                <a:latin typeface="Inconsolata"/>
              </a:rPr>
              <a:t>      health.py        # langkah 6</a:t>
            </a:r>
          </a:p>
          <a:p>
            <a:pPr>
              <a:lnSpc>
                <a:spcPct val="107143"/>
              </a:lnSpc>
              <a:spcAft>
                <a:spcPts val="0"/>
              </a:spcAft>
            </a:pPr>
            <a:r>
              <a:rPr sz="700" i="0">
                <a:solidFill>
                  <a:srgbClr val="E6EDF3"/>
                </a:solidFill>
                <a:latin typeface="Inconsolata"/>
              </a:rPr>
              <a:t>      tracing.py       # langkah 7</a:t>
            </a:r>
          </a:p>
          <a:p>
            <a:pPr>
              <a:lnSpc>
                <a:spcPct val="107143"/>
              </a:lnSpc>
              <a:spcAft>
                <a:spcPts val="0"/>
              </a:spcAft>
            </a:pPr>
            <a:r>
              <a:rPr sz="700" i="0">
                <a:solidFill>
                  <a:srgbClr val="E6EDF3"/>
                </a:solidFill>
                <a:latin typeface="Inconsolata"/>
              </a:rPr>
              <a:t>      rabbitmq.py      # langkah 8</a:t>
            </a:r>
          </a:p>
          <a:p>
            <a:pPr>
              <a:lnSpc>
                <a:spcPct val="107143"/>
              </a:lnSpc>
              <a:spcAft>
                <a:spcPts val="0"/>
              </a:spcAft>
            </a:pPr>
            <a:r>
              <a:rPr sz="700" i="0">
                <a:solidFill>
                  <a:srgbClr val="E6EDF3"/>
                </a:solidFill>
                <a:latin typeface="Inconsolata"/>
              </a:rPr>
              <a:t>    api/</a:t>
            </a:r>
          </a:p>
          <a:p>
            <a:pPr>
              <a:lnSpc>
                <a:spcPct val="107143"/>
              </a:lnSpc>
              <a:spcAft>
                <a:spcPts val="0"/>
              </a:spcAft>
            </a:pPr>
            <a:r>
              <a:rPr sz="700" i="0">
                <a:solidFill>
                  <a:srgbClr val="E6EDF3"/>
                </a:solidFill>
                <a:latin typeface="Inconsolata"/>
              </a:rPr>
              <a:t>      middleware.py    # langkah 3</a:t>
            </a:r>
          </a:p>
          <a:p>
            <a:pPr>
              <a:lnSpc>
                <a:spcPct val="107143"/>
              </a:lnSpc>
              <a:spcAft>
                <a:spcPts val="0"/>
              </a:spcAft>
            </a:pPr>
            <a:r>
              <a:rPr sz="700" i="0">
                <a:solidFill>
                  <a:srgbClr val="E6EDF3"/>
                </a:solidFill>
                <a:latin typeface="Inconsolata"/>
              </a:rPr>
              <a:t>      errors.py        # langkah 5</a:t>
            </a:r>
          </a:p>
          <a:p>
            <a:pPr>
              <a:lnSpc>
                <a:spcPct val="107143"/>
              </a:lnSpc>
              <a:spcAft>
                <a:spcPts val="0"/>
              </a:spcAft>
            </a:pPr>
            <a:r>
              <a:rPr sz="700" i="0">
                <a:solidFill>
                  <a:srgbClr val="E6EDF3"/>
                </a:solidFill>
                <a:latin typeface="Inconsolata"/>
              </a:rPr>
              <a:t>      routers/ops.py   # langkah 4, 6</a:t>
            </a:r>
          </a:p>
          <a:p>
            <a:pPr>
              <a:lnSpc>
                <a:spcPct val="107143"/>
              </a:lnSpc>
              <a:spcAft>
                <a:spcPts val="0"/>
              </a:spcAft>
            </a:pPr>
            <a:r>
              <a:rPr sz="700" i="0">
                <a:solidFill>
                  <a:srgbClr val="E6EDF3"/>
                </a:solidFill>
                <a:latin typeface="Inconsolata"/>
              </a:rPr>
              <a:t>    consumers/</a:t>
            </a:r>
          </a:p>
          <a:p>
            <a:pPr>
              <a:lnSpc>
                <a:spcPct val="107143"/>
              </a:lnSpc>
              <a:spcAft>
                <a:spcPts val="0"/>
              </a:spcAft>
            </a:pPr>
            <a:r>
              <a:rPr sz="700" i="0">
                <a:solidFill>
                  <a:srgbClr val="E6EDF3"/>
                </a:solidFill>
                <a:latin typeface="Inconsolata"/>
              </a:rPr>
              <a:t>      notification_consumer.py # 8</a:t>
            </a:r>
          </a:p>
          <a:p>
            <a:pPr>
              <a:lnSpc>
                <a:spcPct val="107143"/>
              </a:lnSpc>
              <a:spcAft>
                <a:spcPts val="0"/>
              </a:spcAft>
            </a:pPr>
            <a:r>
              <a:rPr sz="700" i="0">
                <a:solidFill>
                  <a:srgbClr val="E6EDF3"/>
                </a:solidFill>
                <a:latin typeface="Inconsolata"/>
              </a:rPr>
              <a:t>    main.py            # langkah 3, 7</a:t>
            </a:r>
          </a:p>
          <a:p>
            <a:pPr>
              <a:lnSpc>
                <a:spcPct val="107143"/>
              </a:lnSpc>
              <a:spcAft>
                <a:spcPts val="0"/>
              </a:spcAft>
            </a:pPr>
            <a:r>
              <a:rPr sz="700" i="0">
                <a:solidFill>
                  <a:srgbClr val="E6EDF3"/>
                </a:solidFill>
                <a:latin typeface="Inconsolata"/>
              </a:rPr>
              <a:t>  tests/               # langkah 9</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1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Siapkan folder latihan</a:t>
            </a:r>
          </a:p>
        </p:txBody>
      </p:sp>
      <p:sp>
        <p:nvSpPr>
          <p:cNvPr id="22" name="CodeTab 4"/>
          <p:cNvSpPr/>
          <p:nvPr/>
        </p:nvSpPr>
        <p:spPr>
          <a:xfrm>
            <a:off x="621792" y="1481328"/>
            <a:ext cx="48920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2519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terminal</a:t>
            </a:r>
          </a:p>
        </p:txBody>
      </p:sp>
      <p:sp>
        <p:nvSpPr>
          <p:cNvPr id="27" name="CodeBg 10"/>
          <p:cNvSpPr/>
          <p:nvPr/>
        </p:nvSpPr>
        <p:spPr>
          <a:xfrm>
            <a:off x="621792" y="1719072"/>
            <a:ext cx="48920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892040" cy="2980944"/>
          </a:xfrm>
          <a:prstGeom prst="rect">
            <a:avLst/>
          </a:prstGeom>
          <a:noFill/>
        </p:spPr>
        <p:txBody>
          <a:bodyPr wrap="none" lIns="146304" tIns="91440" rIns="146304" bIns="54864">
            <a:spAutoFit/>
          </a:bodyPr>
          <a:lstStyle/>
          <a:p>
            <a:pPr>
              <a:lnSpc>
                <a:spcPct val="107843"/>
              </a:lnSpc>
              <a:spcAft>
                <a:spcPts val="0"/>
              </a:spcAft>
            </a:pPr>
            <a:r>
              <a:rPr sz="850" i="0">
                <a:solidFill>
                  <a:srgbClr val="82B1FF"/>
                </a:solidFill>
                <a:latin typeface="Inconsolata"/>
              </a:rPr>
              <a:t>$ cd sesi-09-observability</a:t>
            </a:r>
          </a:p>
          <a:p>
            <a:pPr>
              <a:lnSpc>
                <a:spcPct val="107843"/>
              </a:lnSpc>
              <a:spcAft>
                <a:spcPts val="0"/>
              </a:spcAft>
            </a:pPr>
            <a:r>
              <a:rPr sz="850" i="0">
                <a:solidFill>
                  <a:srgbClr val="82B1FF"/>
                </a:solidFill>
                <a:latin typeface="Inconsolata"/>
              </a:rPr>
              <a:t>$ pip install -r requirements.txt</a:t>
            </a:r>
          </a:p>
          <a:p>
            <a:pPr>
              <a:lnSpc>
                <a:spcPct val="107843"/>
              </a:lnSpc>
              <a:spcAft>
                <a:spcPts val="0"/>
              </a:spcAft>
            </a:pPr>
            <a:r>
              <a:rPr sz="850" i="0">
                <a:solidFill>
                  <a:srgbClr val="82B1FF"/>
                </a:solidFill>
                <a:latin typeface="Inconsolata"/>
              </a:rPr>
              <a:t>$ docker compose up -d   # + Jaeger, Prometheus</a:t>
            </a:r>
          </a:p>
          <a:p>
            <a:pPr>
              <a:lnSpc>
                <a:spcPct val="107843"/>
              </a:lnSpc>
              <a:spcAft>
                <a:spcPts val="0"/>
              </a:spcAft>
            </a:pPr>
            <a:r>
              <a:rPr sz="850" i="0">
                <a:solidFill>
                  <a:srgbClr val="82B1FF"/>
                </a:solidFill>
                <a:latin typeface="Inconsolata"/>
              </a:rPr>
              <a:t>$ cd 08-observability</a:t>
            </a:r>
          </a:p>
          <a:p>
            <a:pPr>
              <a:lnSpc>
                <a:spcPct val="107843"/>
              </a:lnSpc>
              <a:spcAft>
                <a:spcPts val="0"/>
              </a:spcAft>
            </a:pPr>
            <a:r>
              <a:rPr sz="850" i="0">
                <a:solidFill>
                  <a:srgbClr val="82B1FF"/>
                </a:solidFill>
                <a:latin typeface="Inconsolata"/>
              </a:rPr>
              <a:t>$ cp -r before latihan</a:t>
            </a:r>
          </a:p>
          <a:p>
            <a:pPr>
              <a:lnSpc>
                <a:spcPct val="107843"/>
              </a:lnSpc>
              <a:spcAft>
                <a:spcPts val="0"/>
              </a:spcAft>
            </a:pPr>
            <a:r>
              <a:rPr sz="850" i="0">
                <a:solidFill>
                  <a:srgbClr val="82B1FF"/>
                </a:solidFill>
                <a:latin typeface="Inconsolata"/>
              </a:rPr>
              <a:t>$ cd latihan</a:t>
            </a:r>
          </a:p>
          <a:p>
            <a:pPr>
              <a:lnSpc>
                <a:spcPct val="107843"/>
              </a:lnSpc>
              <a:spcAft>
                <a:spcPts val="0"/>
              </a:spcAft>
            </a:pPr>
            <a:r>
              <a:rPr sz="850" i="0">
                <a:solidFill>
                  <a:srgbClr val="82B1FF"/>
                </a:solidFill>
                <a:latin typeface="Inconsolata"/>
              </a:rPr>
              <a:t>$ pytest -q</a:t>
            </a:r>
          </a:p>
          <a:p>
            <a:pPr>
              <a:lnSpc>
                <a:spcPct val="107843"/>
              </a:lnSpc>
              <a:spcAft>
                <a:spcPts val="0"/>
              </a:spcAft>
            </a:pPr>
            <a:endParaRPr sz="850" i="0">
              <a:solidFill>
                <a:srgbClr val="82B1FF"/>
              </a:solidFill>
              <a:latin typeface="Inconsolata"/>
            </a:endParaRPr>
          </a:p>
          <a:p>
            <a:pPr>
              <a:lnSpc>
                <a:spcPct val="107843"/>
              </a:lnSpc>
              <a:spcAft>
                <a:spcPts val="0"/>
              </a:spcAft>
            </a:pPr>
            <a:r>
              <a:rPr sz="850" i="1">
                <a:solidFill>
                  <a:srgbClr val="8B98A8"/>
                </a:solidFill>
                <a:latin typeface="Inconsolata"/>
              </a:rPr>
              <a:t># Jaeger    : http://localhost:16686</a:t>
            </a:r>
          </a:p>
          <a:p>
            <a:pPr>
              <a:lnSpc>
                <a:spcPct val="107843"/>
              </a:lnSpc>
              <a:spcAft>
                <a:spcPts val="0"/>
              </a:spcAft>
            </a:pPr>
            <a:r>
              <a:rPr sz="850" i="1">
                <a:solidFill>
                  <a:srgbClr val="8B98A8"/>
                </a:solidFill>
                <a:latin typeface="Inconsolata"/>
              </a:rPr>
              <a:t># Prometheus: http://localhost:9090</a:t>
            </a:r>
          </a:p>
        </p:txBody>
      </p:sp>
      <p:sp>
        <p:nvSpPr>
          <p:cNvPr id="29" name="Box 12"/>
          <p:cNvSpPr/>
          <p:nvPr/>
        </p:nvSpPr>
        <p:spPr>
          <a:xfrm>
            <a:off x="5669279" y="1481328"/>
            <a:ext cx="2816352"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Text 13"/>
          <p:cNvSpPr txBox="1"/>
          <p:nvPr/>
        </p:nvSpPr>
        <p:spPr>
          <a:xfrm>
            <a:off x="5806440" y="1572768"/>
            <a:ext cx="2542032"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1" name="Text 14"/>
          <p:cNvSpPr txBox="1"/>
          <p:nvPr/>
        </p:nvSpPr>
        <p:spPr>
          <a:xfrm>
            <a:off x="5806440" y="1892808"/>
            <a:ext cx="2542032"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Install dependency baru: </a:t>
            </a:r>
            <a:r>
              <a:rPr sz="900" b="0" i="0">
                <a:solidFill>
                  <a:srgbClr val="B5482A"/>
                </a:solidFill>
                <a:latin typeface="Inconsolata"/>
              </a:rPr>
              <a:t>prometheus-client</a:t>
            </a:r>
            <a:r>
              <a:rPr sz="900" b="0" i="0">
                <a:solidFill>
                  <a:srgbClr val="434343"/>
                </a:solidFill>
                <a:latin typeface="Inter"/>
              </a:rPr>
              <a:t> dan </a:t>
            </a:r>
            <a:r>
              <a:rPr sz="900" b="0" i="0">
                <a:solidFill>
                  <a:srgbClr val="B5482A"/>
                </a:solidFill>
                <a:latin typeface="Inconsolata"/>
              </a:rPr>
              <a:t>opentelemetry-*</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Jalankan semua service, termasuk Jaeger dan Prometheus</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Salin </a:t>
            </a:r>
            <a:r>
              <a:rPr sz="900" b="0" i="0">
                <a:solidFill>
                  <a:srgbClr val="B5482A"/>
                </a:solidFill>
                <a:latin typeface="Inconsolata"/>
              </a:rPr>
              <a:t>before/</a:t>
            </a:r>
            <a:r>
              <a:rPr sz="900" b="0" i="0">
                <a:solidFill>
                  <a:srgbClr val="434343"/>
                </a:solidFill>
                <a:latin typeface="Inter"/>
              </a:rPr>
              <a:t> jadi </a:t>
            </a:r>
            <a:r>
              <a:rPr sz="900" b="0" i="0">
                <a:solidFill>
                  <a:srgbClr val="B5482A"/>
                </a:solidFill>
                <a:latin typeface="Inconsolata"/>
              </a:rPr>
              <a:t>latihan/</a:t>
            </a:r>
            <a:r>
              <a:rPr sz="900" b="0" i="0">
                <a:solidFill>
                  <a:srgbClr val="434343"/>
                </a:solidFill>
                <a:latin typeface="Inter"/>
              </a:rPr>
              <a:t>, pastikan test awal hijau</a:t>
            </a:r>
          </a:p>
        </p:txBody>
      </p:sp>
      <p:sp>
        <p:nvSpPr>
          <p:cNvPr id="32" name="Box 15"/>
          <p:cNvSpPr/>
          <p:nvPr/>
        </p:nvSpPr>
        <p:spPr>
          <a:xfrm>
            <a:off x="5669279" y="3721608"/>
            <a:ext cx="2816352"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3" name="Text 16"/>
          <p:cNvSpPr txBox="1"/>
          <p:nvPr/>
        </p:nvSpPr>
        <p:spPr>
          <a:xfrm>
            <a:off x="5806440" y="3813048"/>
            <a:ext cx="2542032"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34" name="Text 17"/>
          <p:cNvSpPr txBox="1"/>
          <p:nvPr/>
        </p:nvSpPr>
        <p:spPr>
          <a:xfrm>
            <a:off x="5806440" y="4133088"/>
            <a:ext cx="2542032"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Test awal PASSED, Jaeger dan Prometheus bisa dibuka.</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2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infrastructure/logs.py: log JSON</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app/infrastructure/logs.py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2564"/>
              </a:lnSpc>
              <a:spcAft>
                <a:spcPts val="0"/>
              </a:spcAft>
            </a:pPr>
            <a:r>
              <a:rPr sz="650" i="0">
                <a:solidFill>
                  <a:srgbClr val="E6EDF3"/>
                </a:solidFill>
                <a:latin typeface="Inconsolata"/>
              </a:rPr>
              <a:t>request_id_var: </a:t>
            </a:r>
            <a:r>
              <a:rPr sz="650" i="0">
                <a:solidFill>
                  <a:srgbClr val="7FDBCA"/>
                </a:solidFill>
                <a:latin typeface="Inconsolata"/>
              </a:rPr>
              <a:t>ContextVar</a:t>
            </a:r>
            <a:r>
              <a:rPr sz="650" i="0">
                <a:solidFill>
                  <a:srgbClr val="E6EDF3"/>
                </a:solidFill>
                <a:latin typeface="Inconsolata"/>
              </a:rPr>
              <a:t>[</a:t>
            </a:r>
            <a:r>
              <a:rPr sz="650" i="0">
                <a:solidFill>
                  <a:srgbClr val="C3A6FF"/>
                </a:solidFill>
                <a:latin typeface="Inconsolata"/>
              </a:rPr>
              <a:t>str</a:t>
            </a:r>
            <a:r>
              <a:rPr sz="650" i="0">
                <a:solidFill>
                  <a:srgbClr val="E6EDF3"/>
                </a:solidFill>
                <a:latin typeface="Inconsolata"/>
              </a:rPr>
              <a:t> | </a:t>
            </a:r>
            <a:r>
              <a:rPr sz="650" i="0">
                <a:solidFill>
                  <a:srgbClr val="FF8E6E"/>
                </a:solidFill>
                <a:latin typeface="Inconsolata"/>
              </a:rPr>
              <a:t>None</a:t>
            </a:r>
            <a:r>
              <a:rPr sz="650" i="0">
                <a:solidFill>
                  <a:srgbClr val="E6EDF3"/>
                </a:solidFill>
                <a:latin typeface="Inconsolata"/>
              </a:rPr>
              <a:t>] = </a:t>
            </a:r>
            <a:r>
              <a:rPr sz="650" i="0">
                <a:solidFill>
                  <a:srgbClr val="7FDBCA"/>
                </a:solidFill>
                <a:latin typeface="Inconsolata"/>
              </a:rPr>
              <a:t>ContextVar</a:t>
            </a:r>
            <a:r>
              <a:rPr sz="650" i="0">
                <a:solidFill>
                  <a:srgbClr val="E6EDF3"/>
                </a:solidFill>
                <a:latin typeface="Inconsolata"/>
              </a:rPr>
              <a:t>(</a:t>
            </a:r>
            <a:r>
              <a:rPr sz="650" i="0">
                <a:solidFill>
                  <a:srgbClr val="A5D6A7"/>
                </a:solidFill>
                <a:latin typeface="Inconsolata"/>
              </a:rPr>
              <a:t>"request_id"</a:t>
            </a:r>
            <a:r>
              <a:rPr sz="650" i="0">
                <a:solidFill>
                  <a:srgbClr val="E6EDF3"/>
                </a:solidFill>
                <a:latin typeface="Inconsolata"/>
              </a:rPr>
              <a:t>, default=</a:t>
            </a:r>
            <a:r>
              <a:rPr sz="650" i="0">
                <a:solidFill>
                  <a:srgbClr val="FF8E6E"/>
                </a:solidFill>
                <a:latin typeface="Inconsolata"/>
              </a:rPr>
              <a:t>None</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p>
          <a:p>
            <a:pPr>
              <a:lnSpc>
                <a:spcPct val="102564"/>
              </a:lnSpc>
              <a:spcAft>
                <a:spcPts val="0"/>
              </a:spcAft>
            </a:pPr>
            <a:r>
              <a:rPr sz="650" i="0">
                <a:solidFill>
                  <a:srgbClr val="FF8E6E"/>
                </a:solidFill>
                <a:latin typeface="Inconsolata"/>
              </a:rPr>
              <a:t>class</a:t>
            </a:r>
            <a:r>
              <a:rPr sz="650" i="0">
                <a:solidFill>
                  <a:srgbClr val="E6EDF3"/>
                </a:solidFill>
                <a:latin typeface="Inconsolata"/>
              </a:rPr>
              <a:t> </a:t>
            </a:r>
            <a:r>
              <a:rPr sz="650" i="0">
                <a:solidFill>
                  <a:srgbClr val="7FDBCA"/>
                </a:solidFill>
                <a:latin typeface="Inconsolata"/>
              </a:rPr>
              <a:t>RequestContextFilter</a:t>
            </a:r>
            <a:r>
              <a:rPr sz="650" i="0">
                <a:solidFill>
                  <a:srgbClr val="E6EDF3"/>
                </a:solidFill>
                <a:latin typeface="Inconsolata"/>
              </a:rPr>
              <a:t>(logging.</a:t>
            </a:r>
            <a:r>
              <a:rPr sz="650" i="0">
                <a:solidFill>
                  <a:srgbClr val="7FDBCA"/>
                </a:solidFill>
                <a:latin typeface="Inconsolata"/>
              </a:rPr>
              <a:t>Filter</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filter</a:t>
            </a:r>
            <a:r>
              <a:rPr sz="650" i="0">
                <a:solidFill>
                  <a:srgbClr val="E6EDF3"/>
                </a:solidFill>
                <a:latin typeface="Inconsolata"/>
              </a:rPr>
              <a:t>(</a:t>
            </a:r>
            <a:r>
              <a:rPr sz="650" i="0">
                <a:solidFill>
                  <a:srgbClr val="C3A6FF"/>
                </a:solidFill>
                <a:latin typeface="Inconsolata"/>
              </a:rPr>
              <a:t>self</a:t>
            </a:r>
            <a:r>
              <a:rPr sz="650" i="0">
                <a:solidFill>
                  <a:srgbClr val="E6EDF3"/>
                </a:solidFill>
                <a:latin typeface="Inconsolata"/>
              </a:rPr>
              <a:t>, record: logging.</a:t>
            </a:r>
            <a:r>
              <a:rPr sz="650" i="0">
                <a:solidFill>
                  <a:srgbClr val="7FDBCA"/>
                </a:solidFill>
                <a:latin typeface="Inconsolata"/>
              </a:rPr>
              <a:t>LogRecord</a:t>
            </a:r>
            <a:r>
              <a:rPr sz="650" i="0">
                <a:solidFill>
                  <a:srgbClr val="E6EDF3"/>
                </a:solidFill>
                <a:latin typeface="Inconsolata"/>
              </a:rPr>
              <a:t>) -&gt; </a:t>
            </a:r>
            <a:r>
              <a:rPr sz="650" i="0">
                <a:solidFill>
                  <a:srgbClr val="C3A6FF"/>
                </a:solidFill>
                <a:latin typeface="Inconsolata"/>
              </a:rPr>
              <a:t>bool</a:t>
            </a:r>
            <a:r>
              <a:rPr sz="650" i="0">
                <a:solidFill>
                  <a:srgbClr val="E6EDF3"/>
                </a:solidFill>
                <a:latin typeface="Inconsolata"/>
              </a:rPr>
              <a:t>:</a:t>
            </a:r>
          </a:p>
          <a:p>
            <a:pPr>
              <a:lnSpc>
                <a:spcPct val="102564"/>
              </a:lnSpc>
              <a:spcAft>
                <a:spcPts val="0"/>
              </a:spcAft>
            </a:pPr>
            <a:r>
              <a:rPr sz="650" i="0">
                <a:solidFill>
                  <a:srgbClr val="E6EDF3"/>
                </a:solidFill>
                <a:latin typeface="Inconsolata"/>
              </a:rPr>
              <a:t>        record.request_id = request_id_var.get()</a:t>
            </a:r>
          </a:p>
          <a:p>
            <a:pPr>
              <a:lnSpc>
                <a:spcPct val="102564"/>
              </a:lnSpc>
              <a:spcAft>
                <a:spcPts val="0"/>
              </a:spcAft>
            </a:pPr>
            <a:r>
              <a:rPr sz="650" i="0">
                <a:solidFill>
                  <a:srgbClr val="E6EDF3"/>
                </a:solidFill>
                <a:latin typeface="Inconsolata"/>
              </a:rPr>
              <a:t>        span = trace.get_current_span().get_span_context()</a:t>
            </a:r>
          </a:p>
          <a:p>
            <a:pPr>
              <a:lnSpc>
                <a:spcPct val="102564"/>
              </a:lnSpc>
              <a:spcAft>
                <a:spcPts val="0"/>
              </a:spcAft>
            </a:pPr>
            <a:r>
              <a:rPr sz="650" i="0">
                <a:solidFill>
                  <a:srgbClr val="E6EDF3"/>
                </a:solidFill>
                <a:latin typeface="Inconsolata"/>
              </a:rPr>
              <a:t>        record.trace_id = </a:t>
            </a:r>
            <a:r>
              <a:rPr sz="650" i="0">
                <a:solidFill>
                  <a:srgbClr val="A5D6A7"/>
                </a:solidFill>
                <a:latin typeface="Inconsolata"/>
              </a:rPr>
              <a:t>f"{span.trace_id:032x}"</a:t>
            </a:r>
            <a:r>
              <a:rPr sz="650" i="0">
                <a:solidFill>
                  <a:srgbClr val="E6EDF3"/>
                </a:solidFill>
                <a:latin typeface="Inconsolata"/>
              </a:rPr>
              <a:t> </a:t>
            </a:r>
            <a:r>
              <a:rPr sz="650" i="0">
                <a:solidFill>
                  <a:srgbClr val="FF8E6E"/>
                </a:solidFill>
                <a:latin typeface="Inconsolata"/>
              </a:rPr>
              <a:t>if</a:t>
            </a:r>
            <a:r>
              <a:rPr sz="650" i="0">
                <a:solidFill>
                  <a:srgbClr val="E6EDF3"/>
                </a:solidFill>
                <a:latin typeface="Inconsolata"/>
              </a:rPr>
              <a:t> span.is_valid </a:t>
            </a:r>
            <a:r>
              <a:rPr sz="650" i="0">
                <a:solidFill>
                  <a:srgbClr val="FF8E6E"/>
                </a:solidFill>
                <a:latin typeface="Inconsolata"/>
              </a:rPr>
              <a:t>else</a:t>
            </a:r>
            <a:r>
              <a:rPr sz="650" i="0">
                <a:solidFill>
                  <a:srgbClr val="E6EDF3"/>
                </a:solidFill>
                <a:latin typeface="Inconsolata"/>
              </a:rPr>
              <a:t> </a:t>
            </a:r>
            <a:r>
              <a:rPr sz="650" i="0">
                <a:solidFill>
                  <a:srgbClr val="FF8E6E"/>
                </a:solidFill>
                <a:latin typeface="Inconsolata"/>
              </a:rPr>
              <a:t>None</a:t>
            </a:r>
          </a:p>
          <a:p>
            <a:pPr>
              <a:lnSpc>
                <a:spcPct val="102564"/>
              </a:lnSpc>
              <a:spcAft>
                <a:spcPts val="0"/>
              </a:spcAft>
            </a:pPr>
            <a:r>
              <a:rPr sz="650" i="0">
                <a:solidFill>
                  <a:srgbClr val="E6EDF3"/>
                </a:solidFill>
                <a:latin typeface="Inconsolata"/>
              </a:rPr>
              <a:t>        </a:t>
            </a:r>
            <a:r>
              <a:rPr sz="650" i="0">
                <a:solidFill>
                  <a:srgbClr val="FF8E6E"/>
                </a:solidFill>
                <a:latin typeface="Inconsolata"/>
              </a:rPr>
              <a:t>return</a:t>
            </a:r>
            <a:r>
              <a:rPr sz="650" i="0">
                <a:solidFill>
                  <a:srgbClr val="E6EDF3"/>
                </a:solidFill>
                <a:latin typeface="Inconsolata"/>
              </a:rPr>
              <a:t> </a:t>
            </a:r>
            <a:r>
              <a:rPr sz="650" i="0">
                <a:solidFill>
                  <a:srgbClr val="FF8E6E"/>
                </a:solidFill>
                <a:latin typeface="Inconsolata"/>
              </a:rPr>
              <a:t>True</a:t>
            </a:r>
          </a:p>
          <a:p>
            <a:pPr>
              <a:lnSpc>
                <a:spcPct val="102564"/>
              </a:lnSpc>
              <a:spcAft>
                <a:spcPts val="0"/>
              </a:spcAft>
            </a:pP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FF8E6E"/>
                </a:solidFill>
                <a:latin typeface="Inconsolata"/>
              </a:rPr>
              <a:t>for</a:t>
            </a:r>
            <a:r>
              <a:rPr sz="650" i="0">
                <a:solidFill>
                  <a:srgbClr val="E6EDF3"/>
                </a:solidFill>
                <a:latin typeface="Inconsolata"/>
              </a:rPr>
              <a:t> key, value </a:t>
            </a:r>
            <a:r>
              <a:rPr sz="650" i="0">
                <a:solidFill>
                  <a:srgbClr val="FF8E6E"/>
                </a:solidFill>
                <a:latin typeface="Inconsolata"/>
              </a:rPr>
              <a:t>in</a:t>
            </a:r>
            <a:r>
              <a:rPr sz="650" i="0">
                <a:solidFill>
                  <a:srgbClr val="E6EDF3"/>
                </a:solidFill>
                <a:latin typeface="Inconsolata"/>
              </a:rPr>
              <a:t> vars(record).items():</a:t>
            </a:r>
          </a:p>
          <a:p>
            <a:pPr>
              <a:lnSpc>
                <a:spcPct val="102564"/>
              </a:lnSpc>
              <a:spcAft>
                <a:spcPts val="0"/>
              </a:spcAft>
            </a:pPr>
            <a:r>
              <a:rPr sz="650" i="0">
                <a:solidFill>
                  <a:srgbClr val="E6EDF3"/>
                </a:solidFill>
                <a:latin typeface="Inconsolata"/>
              </a:rPr>
              <a:t>            </a:t>
            </a:r>
            <a:r>
              <a:rPr sz="650" i="0">
                <a:solidFill>
                  <a:srgbClr val="FF8E6E"/>
                </a:solidFill>
                <a:latin typeface="Inconsolata"/>
              </a:rPr>
              <a:t>if</a:t>
            </a:r>
            <a:r>
              <a:rPr sz="650" i="0">
                <a:solidFill>
                  <a:srgbClr val="E6EDF3"/>
                </a:solidFill>
                <a:latin typeface="Inconsolata"/>
              </a:rPr>
              <a:t> key </a:t>
            </a:r>
            <a:r>
              <a:rPr sz="650" i="0">
                <a:solidFill>
                  <a:srgbClr val="FF8E6E"/>
                </a:solidFill>
                <a:latin typeface="Inconsolata"/>
              </a:rPr>
              <a:t>not</a:t>
            </a:r>
            <a:r>
              <a:rPr sz="650" i="0">
                <a:solidFill>
                  <a:srgbClr val="E6EDF3"/>
                </a:solidFill>
                <a:latin typeface="Inconsolata"/>
              </a:rPr>
              <a:t> </a:t>
            </a:r>
            <a:r>
              <a:rPr sz="650" i="0">
                <a:solidFill>
                  <a:srgbClr val="FF8E6E"/>
                </a:solidFill>
                <a:latin typeface="Inconsolata"/>
              </a:rPr>
              <a:t>in</a:t>
            </a:r>
            <a:r>
              <a:rPr sz="650" i="0">
                <a:solidFill>
                  <a:srgbClr val="E6EDF3"/>
                </a:solidFill>
                <a:latin typeface="Inconsolata"/>
              </a:rPr>
              <a:t> </a:t>
            </a:r>
            <a:r>
              <a:rPr sz="650" i="0">
                <a:solidFill>
                  <a:srgbClr val="7FDBCA"/>
                </a:solidFill>
                <a:latin typeface="Inconsolata"/>
              </a:rPr>
              <a:t>STANDARD</a:t>
            </a:r>
            <a:r>
              <a:rPr sz="650" i="0">
                <a:solidFill>
                  <a:srgbClr val="E6EDF3"/>
                </a:solidFill>
                <a:latin typeface="Inconsolata"/>
              </a:rPr>
              <a:t> </a:t>
            </a:r>
            <a:r>
              <a:rPr sz="650" i="0">
                <a:solidFill>
                  <a:srgbClr val="FF8E6E"/>
                </a:solidFill>
                <a:latin typeface="Inconsolata"/>
              </a:rPr>
              <a:t>and</a:t>
            </a:r>
            <a:r>
              <a:rPr sz="650" i="0">
                <a:solidFill>
                  <a:srgbClr val="E6EDF3"/>
                </a:solidFill>
                <a:latin typeface="Inconsolata"/>
              </a:rPr>
              <a:t> value </a:t>
            </a:r>
            <a:r>
              <a:rPr sz="650" i="0">
                <a:solidFill>
                  <a:srgbClr val="FF8E6E"/>
                </a:solidFill>
                <a:latin typeface="Inconsolata"/>
              </a:rPr>
              <a:t>is</a:t>
            </a:r>
            <a:r>
              <a:rPr sz="650" i="0">
                <a:solidFill>
                  <a:srgbClr val="E6EDF3"/>
                </a:solidFill>
                <a:latin typeface="Inconsolata"/>
              </a:rPr>
              <a:t> </a:t>
            </a:r>
            <a:r>
              <a:rPr sz="650" i="0">
                <a:solidFill>
                  <a:srgbClr val="FF8E6E"/>
                </a:solidFill>
                <a:latin typeface="Inconsolata"/>
              </a:rPr>
              <a:t>not</a:t>
            </a:r>
            <a:r>
              <a:rPr sz="650" i="0">
                <a:solidFill>
                  <a:srgbClr val="E6EDF3"/>
                </a:solidFill>
                <a:latin typeface="Inconsolata"/>
              </a:rPr>
              <a:t> </a:t>
            </a:r>
            <a:r>
              <a:rPr sz="650" i="0">
                <a:solidFill>
                  <a:srgbClr val="FF8E6E"/>
                </a:solidFill>
                <a:latin typeface="Inconsolata"/>
              </a:rPr>
              <a:t>None</a:t>
            </a:r>
            <a:r>
              <a:rPr sz="650" i="0">
                <a:solidFill>
                  <a:srgbClr val="E6EDF3"/>
                </a:solidFill>
                <a:latin typeface="Inconsolata"/>
              </a:rPr>
              <a:t>:</a:t>
            </a:r>
          </a:p>
          <a:p>
            <a:pPr>
              <a:lnSpc>
                <a:spcPct val="102564"/>
              </a:lnSpc>
              <a:spcAft>
                <a:spcPts val="0"/>
              </a:spcAft>
            </a:pPr>
            <a:r>
              <a:rPr sz="650" i="0">
                <a:solidFill>
                  <a:srgbClr val="E6EDF3"/>
                </a:solidFill>
                <a:latin typeface="Inconsolata"/>
              </a:rPr>
              <a:t>                log[key] = value                         </a:t>
            </a:r>
            <a:r>
              <a:rPr sz="650" i="1">
                <a:solidFill>
                  <a:srgbClr val="8B98A8"/>
                </a:solidFill>
                <a:latin typeface="Inconsolata"/>
              </a:rPr>
              <a:t># request_id, trace_id, field dari extra</a:t>
            </a:r>
          </a:p>
          <a:p>
            <a:pPr>
              <a:lnSpc>
                <a:spcPct val="102564"/>
              </a:lnSpc>
              <a:spcAft>
                <a:spcPts val="0"/>
              </a:spcAft>
            </a:pPr>
            <a:r>
              <a:rPr sz="650" i="0">
                <a:solidFill>
                  <a:srgbClr val="E6EDF3"/>
                </a:solidFill>
                <a:latin typeface="Inconsolata"/>
              </a:rPr>
              <a:t>...</a:t>
            </a:r>
          </a:p>
          <a:p>
            <a:pPr>
              <a:lnSpc>
                <a:spcPct val="102564"/>
              </a:lnSpc>
              <a:spcAft>
                <a:spcPts val="0"/>
              </a:spcAft>
            </a:pP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setup_logging</a:t>
            </a:r>
            <a:r>
              <a:rPr sz="650" i="0">
                <a:solidFill>
                  <a:srgbClr val="E6EDF3"/>
                </a:solidFill>
                <a:latin typeface="Inconsolata"/>
              </a:rPr>
              <a:t>(level: </a:t>
            </a:r>
            <a:r>
              <a:rPr sz="650" i="0">
                <a:solidFill>
                  <a:srgbClr val="C3A6FF"/>
                </a:solidFill>
                <a:latin typeface="Inconsolata"/>
              </a:rPr>
              <a:t>str</a:t>
            </a:r>
            <a:r>
              <a:rPr sz="650" i="0">
                <a:solidFill>
                  <a:srgbClr val="E6EDF3"/>
                </a:solidFill>
                <a:latin typeface="Inconsolata"/>
              </a:rPr>
              <a:t> = </a:t>
            </a:r>
            <a:r>
              <a:rPr sz="650" i="0">
                <a:solidFill>
                  <a:srgbClr val="A5D6A7"/>
                </a:solidFill>
                <a:latin typeface="Inconsolata"/>
              </a:rPr>
              <a:t>"INFO"</a:t>
            </a:r>
            <a:r>
              <a:rPr sz="650" i="0">
                <a:solidFill>
                  <a:srgbClr val="E6EDF3"/>
                </a:solidFill>
                <a:latin typeface="Inconsolata"/>
              </a:rPr>
              <a:t>) -&gt; </a:t>
            </a:r>
            <a:r>
              <a:rPr sz="650" i="0">
                <a:solidFill>
                  <a:srgbClr val="FF8E6E"/>
                </a:solidFill>
                <a:latin typeface="Inconsolata"/>
              </a:rPr>
              <a:t>None</a:t>
            </a:r>
            <a:r>
              <a:rPr sz="650" i="0">
                <a:solidFill>
                  <a:srgbClr val="E6EDF3"/>
                </a:solidFill>
                <a:latin typeface="Inconsolata"/>
              </a:rPr>
              <a:t>:</a:t>
            </a:r>
          </a:p>
          <a:p>
            <a:pPr>
              <a:lnSpc>
                <a:spcPct val="102564"/>
              </a:lnSpc>
              <a:spcAft>
                <a:spcPts val="0"/>
              </a:spcAft>
            </a:pPr>
            <a:r>
              <a:rPr sz="650" i="0">
                <a:solidFill>
                  <a:srgbClr val="E6EDF3"/>
                </a:solidFill>
                <a:latin typeface="Inconsolata"/>
              </a:rPr>
              <a:t>    handler = logging.</a:t>
            </a:r>
            <a:r>
              <a:rPr sz="650" i="0">
                <a:solidFill>
                  <a:srgbClr val="7FDBCA"/>
                </a:solidFill>
                <a:latin typeface="Inconsolata"/>
              </a:rPr>
              <a:t>StreamHandler</a:t>
            </a:r>
            <a:r>
              <a:rPr sz="650" i="0">
                <a:solidFill>
                  <a:srgbClr val="E6EDF3"/>
                </a:solidFill>
                <a:latin typeface="Inconsolata"/>
              </a:rPr>
              <a:t>()</a:t>
            </a:r>
          </a:p>
          <a:p>
            <a:pPr>
              <a:lnSpc>
                <a:spcPct val="102564"/>
              </a:lnSpc>
              <a:spcAft>
                <a:spcPts val="0"/>
              </a:spcAft>
            </a:pPr>
            <a:r>
              <a:rPr sz="650" i="0">
                <a:solidFill>
                  <a:srgbClr val="E6EDF3"/>
                </a:solidFill>
                <a:latin typeface="Inconsolata"/>
              </a:rPr>
              <a:t>    handler.setFormatter(</a:t>
            </a:r>
            <a:r>
              <a:rPr sz="650" i="0">
                <a:solidFill>
                  <a:srgbClr val="7FDBCA"/>
                </a:solidFill>
                <a:latin typeface="Inconsolata"/>
              </a:rPr>
              <a:t>JsonFormatter</a:t>
            </a:r>
            <a:r>
              <a:rPr sz="650" i="0">
                <a:solidFill>
                  <a:srgbClr val="E6EDF3"/>
                </a:solidFill>
                <a:latin typeface="Inconsolata"/>
              </a:rPr>
              <a:t>())</a:t>
            </a:r>
          </a:p>
          <a:p>
            <a:pPr>
              <a:lnSpc>
                <a:spcPct val="102564"/>
              </a:lnSpc>
              <a:spcAft>
                <a:spcPts val="0"/>
              </a:spcAft>
            </a:pPr>
            <a:r>
              <a:rPr sz="650" i="0">
                <a:solidFill>
                  <a:srgbClr val="E6EDF3"/>
                </a:solidFill>
                <a:latin typeface="Inconsolata"/>
              </a:rPr>
              <a:t>    handler.addFilter(</a:t>
            </a:r>
            <a:r>
              <a:rPr sz="650" i="0">
                <a:solidFill>
                  <a:srgbClr val="7FDBCA"/>
                </a:solidFill>
                <a:latin typeface="Inconsolata"/>
              </a:rPr>
              <a:t>RequestContextFilter</a:t>
            </a:r>
            <a:r>
              <a:rPr sz="650" i="0">
                <a:solidFill>
                  <a:srgbClr val="E6EDF3"/>
                </a:solidFill>
                <a:latin typeface="Inconsolata"/>
              </a:rPr>
              <a:t>())</a:t>
            </a:r>
          </a:p>
          <a:p>
            <a:pPr>
              <a:lnSpc>
                <a:spcPct val="102564"/>
              </a:lnSpc>
              <a:spcAft>
                <a:spcPts val="0"/>
              </a:spcAft>
            </a:pPr>
            <a:r>
              <a:rPr sz="650" i="0">
                <a:solidFill>
                  <a:srgbClr val="E6EDF3"/>
                </a:solidFill>
                <a:latin typeface="Inconsolata"/>
              </a:rPr>
              <a:t>    logging.basicConfig(level=level, handlers=[handler], force=</a:t>
            </a:r>
            <a:r>
              <a:rPr sz="650" i="0">
                <a:solidFill>
                  <a:srgbClr val="FF8E6E"/>
                </a:solidFill>
                <a:latin typeface="Inconsolata"/>
              </a:rPr>
              <a:t>True</a:t>
            </a:r>
            <a:r>
              <a:rPr sz="650" i="0">
                <a:solidFill>
                  <a:srgbClr val="E6EDF3"/>
                </a:solidFill>
                <a:latin typeface="Inconsolata"/>
              </a:rPr>
              <a:t>)</a:t>
            </a:r>
          </a:p>
        </p:txBody>
      </p:sp>
      <p:sp>
        <p:nvSpPr>
          <p:cNvPr id="29" name="Box 12"/>
          <p:cNvSpPr/>
          <p:nvPr/>
        </p:nvSpPr>
        <p:spPr>
          <a:xfrm>
            <a:off x="704088" y="1823720"/>
            <a:ext cx="523036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17526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026920"/>
            <a:ext cx="5230368" cy="603503"/>
          </a:xfrm>
          <a:prstGeom prst="roundRect">
            <a:avLst>
              <a:gd name="adj" fmla="val 7575"/>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2098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2738120"/>
            <a:ext cx="5230368" cy="298704"/>
          </a:xfrm>
          <a:prstGeom prst="roundRect">
            <a:avLst>
              <a:gd name="adj" fmla="val 15306"/>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27686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704088" y="3144520"/>
            <a:ext cx="5230368" cy="501904"/>
          </a:xfrm>
          <a:prstGeom prst="roundRect">
            <a:avLst>
              <a:gd name="adj" fmla="val 9109"/>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Box 19"/>
          <p:cNvSpPr/>
          <p:nvPr/>
        </p:nvSpPr>
        <p:spPr>
          <a:xfrm>
            <a:off x="5815584" y="32766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4</a:t>
            </a:r>
          </a:p>
        </p:txBody>
      </p:sp>
      <p:sp>
        <p:nvSpPr>
          <p:cNvPr id="37" name="Box 20"/>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Text 21"/>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9" name="Text 22"/>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request_id_var</a:t>
            </a:r>
            <a:r>
              <a:rPr sz="900" b="0" i="0">
                <a:solidFill>
                  <a:srgbClr val="434343"/>
                </a:solidFill>
                <a:latin typeface="Inter"/>
              </a:rPr>
              <a:t> diisi middleware (contoh 02)</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Filter menempelkan </a:t>
            </a:r>
            <a:r>
              <a:rPr sz="900" b="0" i="0">
                <a:solidFill>
                  <a:srgbClr val="B5482A"/>
                </a:solidFill>
                <a:latin typeface="Inconsolata"/>
              </a:rPr>
              <a:t>request_id</a:t>
            </a:r>
            <a:r>
              <a:rPr sz="900" b="0" i="0">
                <a:solidFill>
                  <a:srgbClr val="434343"/>
                </a:solidFill>
                <a:latin typeface="Inter"/>
              </a:rPr>
              <a:t> dan </a:t>
            </a:r>
            <a:r>
              <a:rPr sz="900" b="0" i="0">
                <a:solidFill>
                  <a:srgbClr val="B5482A"/>
                </a:solidFill>
                <a:latin typeface="Inconsolata"/>
              </a:rPr>
              <a:t>trace_id</a:t>
            </a:r>
            <a:r>
              <a:rPr sz="900" b="0" i="0">
                <a:solidFill>
                  <a:srgbClr val="434343"/>
                </a:solidFill>
                <a:latin typeface="Inter"/>
              </a:rPr>
              <a:t> ke setiap log</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JsonFormatter</a:t>
            </a:r>
            <a:r>
              <a:rPr sz="900" b="0" i="0">
                <a:solidFill>
                  <a:srgbClr val="434343"/>
                </a:solidFill>
                <a:latin typeface="Inter"/>
              </a:rPr>
              <a:t> sama dengan contoh 01</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setup_logging</a:t>
            </a:r>
            <a:r>
              <a:rPr sz="900" b="0" i="0">
                <a:solidFill>
                  <a:srgbClr val="434343"/>
                </a:solidFill>
                <a:latin typeface="Inter"/>
              </a:rPr>
              <a:t> memasang formatter dan filter</a:t>
            </a:r>
          </a:p>
        </p:txBody>
      </p:sp>
      <p:sp>
        <p:nvSpPr>
          <p:cNvPr id="40" name="Box 23"/>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Text 24"/>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2" name="Text 25"/>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Satu log = satu baris JSON.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3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api/middleware.py: request_id, access log, metrics</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app/api/middleware.py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5820"/>
              </a:lnSpc>
              <a:spcAft>
                <a:spcPts val="0"/>
              </a:spcAft>
            </a:pPr>
            <a:r>
              <a:rPr sz="630" i="0">
                <a:solidFill>
                  <a:srgbClr val="FF8E6E"/>
                </a:solidFill>
                <a:latin typeface="Inconsolata"/>
              </a:rPr>
              <a:t>async</a:t>
            </a:r>
            <a:r>
              <a:rPr sz="630" i="0">
                <a:solidFill>
                  <a:srgbClr val="E6EDF3"/>
                </a:solidFill>
                <a:latin typeface="Inconsolata"/>
              </a:rPr>
              <a:t> </a:t>
            </a:r>
            <a:r>
              <a:rPr sz="630" i="0">
                <a:solidFill>
                  <a:srgbClr val="FF8E6E"/>
                </a:solidFill>
                <a:latin typeface="Inconsolata"/>
              </a:rPr>
              <a:t>def</a:t>
            </a:r>
            <a:r>
              <a:rPr sz="630" i="0">
                <a:solidFill>
                  <a:srgbClr val="E6EDF3"/>
                </a:solidFill>
                <a:latin typeface="Inconsolata"/>
              </a:rPr>
              <a:t> </a:t>
            </a:r>
            <a:r>
              <a:rPr sz="630" i="0">
                <a:solidFill>
                  <a:srgbClr val="82B1FF"/>
                </a:solidFill>
                <a:latin typeface="Inconsolata"/>
              </a:rPr>
              <a:t>observe_requests</a:t>
            </a:r>
            <a:r>
              <a:rPr sz="630" i="0">
                <a:solidFill>
                  <a:srgbClr val="E6EDF3"/>
                </a:solidFill>
                <a:latin typeface="Inconsolata"/>
              </a:rPr>
              <a:t>(request: </a:t>
            </a:r>
            <a:r>
              <a:rPr sz="630" i="0">
                <a:solidFill>
                  <a:srgbClr val="7FDBCA"/>
                </a:solidFill>
                <a:latin typeface="Inconsolata"/>
              </a:rPr>
              <a:t>Request</a:t>
            </a:r>
            <a:r>
              <a:rPr sz="630" i="0">
                <a:solidFill>
                  <a:srgbClr val="E6EDF3"/>
                </a:solidFill>
                <a:latin typeface="Inconsolata"/>
              </a:rPr>
              <a:t>, call_next):</a:t>
            </a:r>
          </a:p>
          <a:p>
            <a:pPr>
              <a:lnSpc>
                <a:spcPct val="105820"/>
              </a:lnSpc>
              <a:spcAft>
                <a:spcPts val="0"/>
              </a:spcAft>
            </a:pPr>
            <a:r>
              <a:rPr sz="630" i="0">
                <a:solidFill>
                  <a:srgbClr val="E6EDF3"/>
                </a:solidFill>
                <a:latin typeface="Inconsolata"/>
              </a:rPr>
              <a:t>    request_id = request.headers.get(</a:t>
            </a:r>
            <a:r>
              <a:rPr sz="630" i="0">
                <a:solidFill>
                  <a:srgbClr val="A5D6A7"/>
                </a:solidFill>
                <a:latin typeface="Inconsolata"/>
              </a:rPr>
              <a:t>"X-Request-ID"</a:t>
            </a:r>
            <a:r>
              <a:rPr sz="630" i="0">
                <a:solidFill>
                  <a:srgbClr val="E6EDF3"/>
                </a:solidFill>
                <a:latin typeface="Inconsolata"/>
              </a:rPr>
              <a:t>) </a:t>
            </a:r>
            <a:r>
              <a:rPr sz="630" i="0">
                <a:solidFill>
                  <a:srgbClr val="FF8E6E"/>
                </a:solidFill>
                <a:latin typeface="Inconsolata"/>
              </a:rPr>
              <a:t>or</a:t>
            </a:r>
            <a:r>
              <a:rPr sz="630" i="0">
                <a:solidFill>
                  <a:srgbClr val="E6EDF3"/>
                </a:solidFill>
                <a:latin typeface="Inconsolata"/>
              </a:rPr>
              <a:t> uuid.uuid4().hex</a:t>
            </a:r>
          </a:p>
          <a:p>
            <a:pPr>
              <a:lnSpc>
                <a:spcPct val="105820"/>
              </a:lnSpc>
              <a:spcAft>
                <a:spcPts val="0"/>
              </a:spcAft>
            </a:pPr>
            <a:r>
              <a:rPr sz="630" i="0">
                <a:solidFill>
                  <a:srgbClr val="E6EDF3"/>
                </a:solidFill>
                <a:latin typeface="Inconsolata"/>
              </a:rPr>
              <a:t>    request_id_var.</a:t>
            </a:r>
            <a:r>
              <a:rPr sz="630" i="0">
                <a:solidFill>
                  <a:srgbClr val="C3A6FF"/>
                </a:solidFill>
                <a:latin typeface="Inconsolata"/>
              </a:rPr>
              <a:t>set</a:t>
            </a:r>
            <a:r>
              <a:rPr sz="630" i="0">
                <a:solidFill>
                  <a:srgbClr val="E6EDF3"/>
                </a:solidFill>
                <a:latin typeface="Inconsolata"/>
              </a:rPr>
              <a:t>(request_id)</a:t>
            </a:r>
          </a:p>
          <a:p>
            <a:pPr>
              <a:lnSpc>
                <a:spcPct val="105820"/>
              </a:lnSpc>
              <a:spcAft>
                <a:spcPts val="0"/>
              </a:spcAft>
            </a:pPr>
            <a:r>
              <a:rPr sz="630" i="0">
                <a:solidFill>
                  <a:srgbClr val="E6EDF3"/>
                </a:solidFill>
                <a:latin typeface="Inconsolata"/>
              </a:rPr>
              <a:t>    start = time.perf_counter()</a:t>
            </a:r>
          </a:p>
          <a:p>
            <a:pPr>
              <a:lnSpc>
                <a:spcPct val="105820"/>
              </a:lnSpc>
              <a:spcAft>
                <a:spcPts val="0"/>
              </a:spcAft>
            </a:pPr>
            <a:r>
              <a:rPr sz="630" i="0">
                <a:solidFill>
                  <a:srgbClr val="E6EDF3"/>
                </a:solidFill>
                <a:latin typeface="Inconsolata"/>
              </a:rPr>
              <a:t>    status = </a:t>
            </a:r>
            <a:r>
              <a:rPr sz="630" i="0">
                <a:solidFill>
                  <a:srgbClr val="F9C97A"/>
                </a:solidFill>
                <a:latin typeface="Inconsolata"/>
              </a:rPr>
              <a:t>500</a:t>
            </a:r>
            <a:r>
              <a:rPr sz="630" i="0">
                <a:solidFill>
                  <a:srgbClr val="E6EDF3"/>
                </a:solidFill>
                <a:latin typeface="Inconsolata"/>
              </a:rPr>
              <a:t>                                         </a:t>
            </a:r>
            <a:r>
              <a:rPr sz="630" i="1">
                <a:solidFill>
                  <a:srgbClr val="8B98A8"/>
                </a:solidFill>
                <a:latin typeface="Inconsolata"/>
              </a:rPr>
              <a:t># jika terjadi error yang tidak tertangani</a:t>
            </a:r>
          </a:p>
          <a:p>
            <a:pPr>
              <a:lnSpc>
                <a:spcPct val="105820"/>
              </a:lnSpc>
              <a:spcAft>
                <a:spcPts val="0"/>
              </a:spcAft>
            </a:pPr>
            <a:r>
              <a:rPr sz="630" i="0">
                <a:solidFill>
                  <a:srgbClr val="E6EDF3"/>
                </a:solidFill>
                <a:latin typeface="Inconsolata"/>
              </a:rPr>
              <a:t>    </a:t>
            </a:r>
            <a:r>
              <a:rPr sz="630" i="0">
                <a:solidFill>
                  <a:srgbClr val="FF8E6E"/>
                </a:solidFill>
                <a:latin typeface="Inconsolata"/>
              </a:rPr>
              <a:t>try</a:t>
            </a:r>
            <a:r>
              <a:rPr sz="630" i="0">
                <a:solidFill>
                  <a:srgbClr val="E6EDF3"/>
                </a:solidFill>
                <a:latin typeface="Inconsolata"/>
              </a:rPr>
              <a:t>:</a:t>
            </a:r>
          </a:p>
          <a:p>
            <a:pPr>
              <a:lnSpc>
                <a:spcPct val="105820"/>
              </a:lnSpc>
              <a:spcAft>
                <a:spcPts val="0"/>
              </a:spcAft>
            </a:pPr>
            <a:r>
              <a:rPr sz="630" i="0">
                <a:solidFill>
                  <a:srgbClr val="E6EDF3"/>
                </a:solidFill>
                <a:latin typeface="Inconsolata"/>
              </a:rPr>
              <a:t>        response = </a:t>
            </a:r>
            <a:r>
              <a:rPr sz="630" i="0">
                <a:solidFill>
                  <a:srgbClr val="FF8E6E"/>
                </a:solidFill>
                <a:latin typeface="Inconsolata"/>
              </a:rPr>
              <a:t>await</a:t>
            </a:r>
            <a:r>
              <a:rPr sz="630" i="0">
                <a:solidFill>
                  <a:srgbClr val="E6EDF3"/>
                </a:solidFill>
                <a:latin typeface="Inconsolata"/>
              </a:rPr>
              <a:t> call_next(request)</a:t>
            </a:r>
          </a:p>
          <a:p>
            <a:pPr>
              <a:lnSpc>
                <a:spcPct val="105820"/>
              </a:lnSpc>
              <a:spcAft>
                <a:spcPts val="0"/>
              </a:spcAft>
            </a:pPr>
            <a:r>
              <a:rPr sz="630" i="0">
                <a:solidFill>
                  <a:srgbClr val="E6EDF3"/>
                </a:solidFill>
                <a:latin typeface="Inconsolata"/>
              </a:rPr>
              <a:t>        status = response.status_code</a:t>
            </a:r>
          </a:p>
          <a:p>
            <a:pPr>
              <a:lnSpc>
                <a:spcPct val="105820"/>
              </a:lnSpc>
              <a:spcAft>
                <a:spcPts val="0"/>
              </a:spcAft>
            </a:pPr>
            <a:r>
              <a:rPr sz="630" i="0">
                <a:solidFill>
                  <a:srgbClr val="E6EDF3"/>
                </a:solidFill>
                <a:latin typeface="Inconsolata"/>
              </a:rPr>
              <a:t>        response.headers[</a:t>
            </a:r>
            <a:r>
              <a:rPr sz="630" i="0">
                <a:solidFill>
                  <a:srgbClr val="A5D6A7"/>
                </a:solidFill>
                <a:latin typeface="Inconsolata"/>
              </a:rPr>
              <a:t>"X-Request-ID"</a:t>
            </a:r>
            <a:r>
              <a:rPr sz="630" i="0">
                <a:solidFill>
                  <a:srgbClr val="E6EDF3"/>
                </a:solidFill>
                <a:latin typeface="Inconsolata"/>
              </a:rPr>
              <a:t>] = request_id</a:t>
            </a:r>
          </a:p>
          <a:p>
            <a:pPr>
              <a:lnSpc>
                <a:spcPct val="105820"/>
              </a:lnSpc>
              <a:spcAft>
                <a:spcPts val="0"/>
              </a:spcAft>
            </a:pPr>
            <a:r>
              <a:rPr sz="630" i="0">
                <a:solidFill>
                  <a:srgbClr val="E6EDF3"/>
                </a:solidFill>
                <a:latin typeface="Inconsolata"/>
              </a:rPr>
              <a:t>...</a:t>
            </a:r>
          </a:p>
          <a:p>
            <a:pPr>
              <a:lnSpc>
                <a:spcPct val="105820"/>
              </a:lnSpc>
              <a:spcAft>
                <a:spcPts val="0"/>
              </a:spcAft>
            </a:pPr>
            <a:r>
              <a:rPr sz="630" i="0">
                <a:solidFill>
                  <a:srgbClr val="E6EDF3"/>
                </a:solidFill>
                <a:latin typeface="Inconsolata"/>
              </a:rPr>
              <a:t>    </a:t>
            </a:r>
            <a:r>
              <a:rPr sz="630" i="0">
                <a:solidFill>
                  <a:srgbClr val="FF8E6E"/>
                </a:solidFill>
                <a:latin typeface="Inconsolata"/>
              </a:rPr>
              <a:t>finally</a:t>
            </a:r>
            <a:r>
              <a:rPr sz="630" i="0">
                <a:solidFill>
                  <a:srgbClr val="E6EDF3"/>
                </a:solidFill>
                <a:latin typeface="Inconsolata"/>
              </a:rPr>
              <a:t>:</a:t>
            </a:r>
          </a:p>
          <a:p>
            <a:pPr>
              <a:lnSpc>
                <a:spcPct val="105820"/>
              </a:lnSpc>
              <a:spcAft>
                <a:spcPts val="0"/>
              </a:spcAft>
            </a:pPr>
            <a:r>
              <a:rPr sz="630" i="0">
                <a:solidFill>
                  <a:srgbClr val="E6EDF3"/>
                </a:solidFill>
                <a:latin typeface="Inconsolata"/>
              </a:rPr>
              <a:t>        seconds = time.perf_counter() - start</a:t>
            </a:r>
          </a:p>
          <a:p>
            <a:pPr>
              <a:lnSpc>
                <a:spcPct val="105820"/>
              </a:lnSpc>
              <a:spcAft>
                <a:spcPts val="0"/>
              </a:spcAft>
            </a:pPr>
            <a:r>
              <a:rPr sz="630" i="0">
                <a:solidFill>
                  <a:srgbClr val="E6EDF3"/>
                </a:solidFill>
                <a:latin typeface="Inconsolata"/>
              </a:rPr>
              <a:t>        route = request.scope.get(</a:t>
            </a:r>
            <a:r>
              <a:rPr sz="630" i="0">
                <a:solidFill>
                  <a:srgbClr val="A5D6A7"/>
                </a:solidFill>
                <a:latin typeface="Inconsolata"/>
              </a:rPr>
              <a:t>"route"</a:t>
            </a:r>
            <a:r>
              <a:rPr sz="630" i="0">
                <a:solidFill>
                  <a:srgbClr val="E6EDF3"/>
                </a:solidFill>
                <a:latin typeface="Inconsolata"/>
              </a:rPr>
              <a:t>)</a:t>
            </a:r>
          </a:p>
          <a:p>
            <a:pPr>
              <a:lnSpc>
                <a:spcPct val="105820"/>
              </a:lnSpc>
              <a:spcAft>
                <a:spcPts val="0"/>
              </a:spcAft>
            </a:pPr>
            <a:r>
              <a:rPr sz="630" i="0">
                <a:solidFill>
                  <a:srgbClr val="E6EDF3"/>
                </a:solidFill>
                <a:latin typeface="Inconsolata"/>
              </a:rPr>
              <a:t>        path = route.path </a:t>
            </a:r>
            <a:r>
              <a:rPr sz="630" i="0">
                <a:solidFill>
                  <a:srgbClr val="FF8E6E"/>
                </a:solidFill>
                <a:latin typeface="Inconsolata"/>
              </a:rPr>
              <a:t>if</a:t>
            </a:r>
            <a:r>
              <a:rPr sz="630" i="0">
                <a:solidFill>
                  <a:srgbClr val="E6EDF3"/>
                </a:solidFill>
                <a:latin typeface="Inconsolata"/>
              </a:rPr>
              <a:t> route </a:t>
            </a:r>
            <a:r>
              <a:rPr sz="630" i="0">
                <a:solidFill>
                  <a:srgbClr val="FF8E6E"/>
                </a:solidFill>
                <a:latin typeface="Inconsolata"/>
              </a:rPr>
              <a:t>else</a:t>
            </a:r>
            <a:r>
              <a:rPr sz="630" i="0">
                <a:solidFill>
                  <a:srgbClr val="E6EDF3"/>
                </a:solidFill>
                <a:latin typeface="Inconsolata"/>
              </a:rPr>
              <a:t> </a:t>
            </a:r>
            <a:r>
              <a:rPr sz="630" i="0">
                <a:solidFill>
                  <a:srgbClr val="A5D6A7"/>
                </a:solidFill>
                <a:latin typeface="Inconsolata"/>
              </a:rPr>
              <a:t>"unknown"</a:t>
            </a:r>
            <a:r>
              <a:rPr sz="630" i="0">
                <a:solidFill>
                  <a:srgbClr val="E6EDF3"/>
                </a:solidFill>
                <a:latin typeface="Inconsolata"/>
              </a:rPr>
              <a:t>         </a:t>
            </a:r>
            <a:r>
              <a:rPr sz="630" i="1">
                <a:solidFill>
                  <a:srgbClr val="8B98A8"/>
                </a:solidFill>
                <a:latin typeface="Inconsolata"/>
              </a:rPr>
              <a:t># "/orders/{order_id}", bukan "/orders/7"</a:t>
            </a:r>
          </a:p>
          <a:p>
            <a:pPr>
              <a:lnSpc>
                <a:spcPct val="105820"/>
              </a:lnSpc>
              <a:spcAft>
                <a:spcPts val="0"/>
              </a:spcAft>
            </a:pPr>
            <a:r>
              <a:rPr sz="630" i="0">
                <a:solidFill>
                  <a:srgbClr val="E6EDF3"/>
                </a:solidFill>
                <a:latin typeface="Inconsolata"/>
              </a:rPr>
              <a:t>        </a:t>
            </a:r>
            <a:r>
              <a:rPr sz="630" i="0">
                <a:solidFill>
                  <a:srgbClr val="7FDBCA"/>
                </a:solidFill>
                <a:latin typeface="Inconsolata"/>
              </a:rPr>
              <a:t>HTTP_REQUESTS</a:t>
            </a:r>
            <a:r>
              <a:rPr sz="630" i="0">
                <a:solidFill>
                  <a:srgbClr val="E6EDF3"/>
                </a:solidFill>
                <a:latin typeface="Inconsolata"/>
              </a:rPr>
              <a:t>.labels(request.method, path, status).inc()</a:t>
            </a:r>
          </a:p>
          <a:p>
            <a:pPr>
              <a:lnSpc>
                <a:spcPct val="105820"/>
              </a:lnSpc>
              <a:spcAft>
                <a:spcPts val="0"/>
              </a:spcAft>
            </a:pPr>
            <a:r>
              <a:rPr sz="630" i="0">
                <a:solidFill>
                  <a:srgbClr val="E6EDF3"/>
                </a:solidFill>
                <a:latin typeface="Inconsolata"/>
              </a:rPr>
              <a:t>        </a:t>
            </a:r>
            <a:r>
              <a:rPr sz="630" i="0">
                <a:solidFill>
                  <a:srgbClr val="7FDBCA"/>
                </a:solidFill>
                <a:latin typeface="Inconsolata"/>
              </a:rPr>
              <a:t>HTTP_LATENCY</a:t>
            </a:r>
            <a:r>
              <a:rPr sz="630" i="0">
                <a:solidFill>
                  <a:srgbClr val="E6EDF3"/>
                </a:solidFill>
                <a:latin typeface="Inconsolata"/>
              </a:rPr>
              <a:t>.labels(request.method, path).observe(seconds)</a:t>
            </a:r>
          </a:p>
          <a:p>
            <a:pPr>
              <a:lnSpc>
                <a:spcPct val="105820"/>
              </a:lnSpc>
              <a:spcAft>
                <a:spcPts val="0"/>
              </a:spcAft>
            </a:pPr>
            <a:r>
              <a:rPr sz="630" i="0">
                <a:solidFill>
                  <a:srgbClr val="E6EDF3"/>
                </a:solidFill>
                <a:latin typeface="Inconsolata"/>
              </a:rPr>
              <a:t>        </a:t>
            </a:r>
            <a:r>
              <a:rPr sz="630" i="0">
                <a:solidFill>
                  <a:srgbClr val="FF8E6E"/>
                </a:solidFill>
                <a:latin typeface="Inconsolata"/>
              </a:rPr>
              <a:t>if</a:t>
            </a:r>
            <a:r>
              <a:rPr sz="630" i="0">
                <a:solidFill>
                  <a:srgbClr val="E6EDF3"/>
                </a:solidFill>
                <a:latin typeface="Inconsolata"/>
              </a:rPr>
              <a:t> path </a:t>
            </a:r>
            <a:r>
              <a:rPr sz="630" i="0">
                <a:solidFill>
                  <a:srgbClr val="FF8E6E"/>
                </a:solidFill>
                <a:latin typeface="Inconsolata"/>
              </a:rPr>
              <a:t>not</a:t>
            </a:r>
            <a:r>
              <a:rPr sz="630" i="0">
                <a:solidFill>
                  <a:srgbClr val="E6EDF3"/>
                </a:solidFill>
                <a:latin typeface="Inconsolata"/>
              </a:rPr>
              <a:t> </a:t>
            </a:r>
            <a:r>
              <a:rPr sz="630" i="0">
                <a:solidFill>
                  <a:srgbClr val="FF8E6E"/>
                </a:solidFill>
                <a:latin typeface="Inconsolata"/>
              </a:rPr>
              <a:t>in</a:t>
            </a:r>
            <a:r>
              <a:rPr sz="630" i="0">
                <a:solidFill>
                  <a:srgbClr val="E6EDF3"/>
                </a:solidFill>
                <a:latin typeface="Inconsolata"/>
              </a:rPr>
              <a:t> (</a:t>
            </a:r>
            <a:r>
              <a:rPr sz="630" i="0">
                <a:solidFill>
                  <a:srgbClr val="A5D6A7"/>
                </a:solidFill>
                <a:latin typeface="Inconsolata"/>
              </a:rPr>
              <a:t>"/metrics"</a:t>
            </a:r>
            <a:r>
              <a:rPr sz="630" i="0">
                <a:solidFill>
                  <a:srgbClr val="E6EDF3"/>
                </a:solidFill>
                <a:latin typeface="Inconsolata"/>
              </a:rPr>
              <a:t>, </a:t>
            </a:r>
            <a:r>
              <a:rPr sz="630" i="0">
                <a:solidFill>
                  <a:srgbClr val="A5D6A7"/>
                </a:solidFill>
                <a:latin typeface="Inconsolata"/>
              </a:rPr>
              <a:t>"/health/live"</a:t>
            </a:r>
            <a:r>
              <a:rPr sz="630" i="0">
                <a:solidFill>
                  <a:srgbClr val="E6EDF3"/>
                </a:solidFill>
                <a:latin typeface="Inconsolata"/>
              </a:rPr>
              <a:t>, </a:t>
            </a:r>
            <a:r>
              <a:rPr sz="630" i="0">
                <a:solidFill>
                  <a:srgbClr val="A5D6A7"/>
                </a:solidFill>
                <a:latin typeface="Inconsolata"/>
              </a:rPr>
              <a:t>"/health/ready"</a:t>
            </a:r>
            <a:r>
              <a:rPr sz="630" i="0">
                <a:solidFill>
                  <a:srgbClr val="E6EDF3"/>
                </a:solidFill>
                <a:latin typeface="Inconsolata"/>
              </a:rPr>
              <a:t>):</a:t>
            </a:r>
          </a:p>
          <a:p>
            <a:pPr>
              <a:lnSpc>
                <a:spcPct val="105820"/>
              </a:lnSpc>
              <a:spcAft>
                <a:spcPts val="0"/>
              </a:spcAft>
            </a:pPr>
            <a:r>
              <a:rPr sz="630" i="0">
                <a:solidFill>
                  <a:srgbClr val="E6EDF3"/>
                </a:solidFill>
                <a:latin typeface="Inconsolata"/>
              </a:rPr>
              <a:t>            logger.info(</a:t>
            </a:r>
            <a:r>
              <a:rPr sz="630" i="0">
                <a:solidFill>
                  <a:srgbClr val="A5D6A7"/>
                </a:solidFill>
                <a:latin typeface="Inconsolata"/>
              </a:rPr>
              <a:t>"request selesai"</a:t>
            </a:r>
            <a:r>
              <a:rPr sz="630" i="0">
                <a:solidFill>
                  <a:srgbClr val="E6EDF3"/>
                </a:solidFill>
                <a:latin typeface="Inconsolata"/>
              </a:rPr>
              <a:t>, extra={</a:t>
            </a:r>
          </a:p>
          <a:p>
            <a:pPr>
              <a:lnSpc>
                <a:spcPct val="105820"/>
              </a:lnSpc>
              <a:spcAft>
                <a:spcPts val="0"/>
              </a:spcAft>
            </a:pPr>
            <a:r>
              <a:rPr sz="630" i="0">
                <a:solidFill>
                  <a:srgbClr val="E6EDF3"/>
                </a:solidFill>
                <a:latin typeface="Inconsolata"/>
              </a:rPr>
              <a:t>                </a:t>
            </a:r>
            <a:r>
              <a:rPr sz="630" i="0">
                <a:solidFill>
                  <a:srgbClr val="A5D6A7"/>
                </a:solidFill>
                <a:latin typeface="Inconsolata"/>
              </a:rPr>
              <a:t>"method"</a:t>
            </a:r>
            <a:r>
              <a:rPr sz="630" i="0">
                <a:solidFill>
                  <a:srgbClr val="E6EDF3"/>
                </a:solidFill>
                <a:latin typeface="Inconsolata"/>
              </a:rPr>
              <a:t>: request.method, </a:t>
            </a:r>
            <a:r>
              <a:rPr sz="630" i="0">
                <a:solidFill>
                  <a:srgbClr val="A5D6A7"/>
                </a:solidFill>
                <a:latin typeface="Inconsolata"/>
              </a:rPr>
              <a:t>"route"</a:t>
            </a:r>
            <a:r>
              <a:rPr sz="630" i="0">
                <a:solidFill>
                  <a:srgbClr val="E6EDF3"/>
                </a:solidFill>
                <a:latin typeface="Inconsolata"/>
              </a:rPr>
              <a:t>: path, </a:t>
            </a:r>
            <a:r>
              <a:rPr sz="630" i="0">
                <a:solidFill>
                  <a:srgbClr val="A5D6A7"/>
                </a:solidFill>
                <a:latin typeface="Inconsolata"/>
              </a:rPr>
              <a:t>"status"</a:t>
            </a:r>
            <a:r>
              <a:rPr sz="630" i="0">
                <a:solidFill>
                  <a:srgbClr val="E6EDF3"/>
                </a:solidFill>
                <a:latin typeface="Inconsolata"/>
              </a:rPr>
              <a:t>: status,</a:t>
            </a:r>
          </a:p>
          <a:p>
            <a:pPr>
              <a:lnSpc>
                <a:spcPct val="105820"/>
              </a:lnSpc>
              <a:spcAft>
                <a:spcPts val="0"/>
              </a:spcAft>
            </a:pPr>
            <a:r>
              <a:rPr sz="630" i="0">
                <a:solidFill>
                  <a:srgbClr val="E6EDF3"/>
                </a:solidFill>
                <a:latin typeface="Inconsolata"/>
              </a:rPr>
              <a:t>                </a:t>
            </a:r>
            <a:r>
              <a:rPr sz="630" i="0">
                <a:solidFill>
                  <a:srgbClr val="A5D6A7"/>
                </a:solidFill>
                <a:latin typeface="Inconsolata"/>
              </a:rPr>
              <a:t>"duration_ms"</a:t>
            </a:r>
            <a:r>
              <a:rPr sz="630" i="0">
                <a:solidFill>
                  <a:srgbClr val="E6EDF3"/>
                </a:solidFill>
                <a:latin typeface="Inconsolata"/>
              </a:rPr>
              <a:t>: round(seconds * </a:t>
            </a:r>
            <a:r>
              <a:rPr sz="630" i="0">
                <a:solidFill>
                  <a:srgbClr val="F9C97A"/>
                </a:solidFill>
                <a:latin typeface="Inconsolata"/>
              </a:rPr>
              <a:t>1000</a:t>
            </a:r>
            <a:r>
              <a:rPr sz="630" i="0">
                <a:solidFill>
                  <a:srgbClr val="E6EDF3"/>
                </a:solidFill>
                <a:latin typeface="Inconsolata"/>
              </a:rPr>
              <a:t>, </a:t>
            </a:r>
            <a:r>
              <a:rPr sz="630" i="0">
                <a:solidFill>
                  <a:srgbClr val="F9C97A"/>
                </a:solidFill>
                <a:latin typeface="Inconsolata"/>
              </a:rPr>
              <a:t>1</a:t>
            </a:r>
            <a:r>
              <a:rPr sz="630" i="0">
                <a:solidFill>
                  <a:srgbClr val="E6EDF3"/>
                </a:solidFill>
                <a:latin typeface="Inconsolata"/>
              </a:rPr>
              <a:t>)})</a:t>
            </a:r>
          </a:p>
        </p:txBody>
      </p:sp>
      <p:sp>
        <p:nvSpPr>
          <p:cNvPr id="29" name="Box 12"/>
          <p:cNvSpPr/>
          <p:nvPr/>
        </p:nvSpPr>
        <p:spPr>
          <a:xfrm>
            <a:off x="704088" y="1925320"/>
            <a:ext cx="5230368" cy="197104"/>
          </a:xfrm>
          <a:prstGeom prst="roundRect">
            <a:avLst>
              <a:gd name="adj" fmla="val 23195"/>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19050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636520"/>
            <a:ext cx="523036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704088" y="3246120"/>
            <a:ext cx="5230368" cy="197104"/>
          </a:xfrm>
          <a:prstGeom prst="roundRect">
            <a:avLst>
              <a:gd name="adj" fmla="val 23195"/>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3" name="Box 16"/>
          <p:cNvSpPr/>
          <p:nvPr/>
        </p:nvSpPr>
        <p:spPr>
          <a:xfrm>
            <a:off x="5815584" y="32258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4" name="Box 17"/>
          <p:cNvSpPr/>
          <p:nvPr/>
        </p:nvSpPr>
        <p:spPr>
          <a:xfrm>
            <a:off x="704088" y="3550920"/>
            <a:ext cx="5230368" cy="298704"/>
          </a:xfrm>
          <a:prstGeom prst="roundRect">
            <a:avLst>
              <a:gd name="adj" fmla="val 15306"/>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Box 18"/>
          <p:cNvSpPr/>
          <p:nvPr/>
        </p:nvSpPr>
        <p:spPr>
          <a:xfrm>
            <a:off x="5815584" y="35814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6" name="Box 19"/>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Text 20"/>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8" name="Text 21"/>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request_id dari header atau dibuat baru, dikirim balik di header response</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Metrics per route (contoh 04)</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Satu access log JSON per request</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main.py</a:t>
            </a:r>
            <a:r>
              <a:rPr sz="900" b="0" i="0">
                <a:solidFill>
                  <a:srgbClr val="434343"/>
                </a:solidFill>
                <a:latin typeface="Inter"/>
              </a:rPr>
              <a:t>: pakai </a:t>
            </a:r>
            <a:r>
              <a:rPr sz="900" b="0" i="0">
                <a:solidFill>
                  <a:srgbClr val="B5482A"/>
                </a:solidFill>
                <a:latin typeface="Inconsolata"/>
              </a:rPr>
              <a:t>observe_requests</a:t>
            </a:r>
            <a:r>
              <a:rPr sz="900" b="0" i="0">
                <a:solidFill>
                  <a:srgbClr val="434343"/>
                </a:solidFill>
                <a:latin typeface="Inter"/>
              </a:rPr>
              <a:t> dan </a:t>
            </a:r>
            <a:r>
              <a:rPr sz="900" b="0" i="0">
                <a:solidFill>
                  <a:srgbClr val="B5482A"/>
                </a:solidFill>
                <a:latin typeface="Inconsolata"/>
              </a:rPr>
              <a:t>setup_logging</a:t>
            </a:r>
          </a:p>
        </p:txBody>
      </p:sp>
      <p:sp>
        <p:nvSpPr>
          <p:cNvPr id="39" name="Box 22"/>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0" name="Text 23"/>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1" name="Text 24"/>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Pengganti print di Sesi 8.</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4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metrics.py dan GET /metrics</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metrics.py  +  routers/ops.py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10294"/>
              </a:lnSpc>
              <a:spcAft>
                <a:spcPts val="0"/>
              </a:spcAft>
            </a:pPr>
            <a:r>
              <a:rPr sz="680" i="1">
                <a:solidFill>
                  <a:srgbClr val="8B98A8"/>
                </a:solidFill>
                <a:latin typeface="Inconsolata"/>
              </a:rPr>
              <a:t># app/infrastructure/metrics.py</a:t>
            </a:r>
          </a:p>
          <a:p>
            <a:pPr>
              <a:lnSpc>
                <a:spcPct val="110294"/>
              </a:lnSpc>
              <a:spcAft>
                <a:spcPts val="0"/>
              </a:spcAft>
            </a:pPr>
            <a:r>
              <a:rPr sz="680" i="0">
                <a:solidFill>
                  <a:srgbClr val="7FDBCA"/>
                </a:solidFill>
                <a:latin typeface="Inconsolata"/>
              </a:rPr>
              <a:t>HTTP_REQUESTS</a:t>
            </a:r>
            <a:r>
              <a:rPr sz="680" i="0">
                <a:solidFill>
                  <a:srgbClr val="E6EDF3"/>
                </a:solidFill>
                <a:latin typeface="Inconsolata"/>
              </a:rPr>
              <a:t> = </a:t>
            </a:r>
            <a:r>
              <a:rPr sz="680" i="0">
                <a:solidFill>
                  <a:srgbClr val="7FDBCA"/>
                </a:solidFill>
                <a:latin typeface="Inconsolata"/>
              </a:rPr>
              <a:t>Counter</a:t>
            </a:r>
            <a:r>
              <a:rPr sz="680" i="0">
                <a:solidFill>
                  <a:srgbClr val="E6EDF3"/>
                </a:solidFill>
                <a:latin typeface="Inconsolata"/>
              </a:rPr>
              <a:t>(</a:t>
            </a:r>
          </a:p>
          <a:p>
            <a:pPr>
              <a:lnSpc>
                <a:spcPct val="110294"/>
              </a:lnSpc>
              <a:spcAft>
                <a:spcPts val="0"/>
              </a:spcAft>
            </a:pPr>
            <a:r>
              <a:rPr sz="680" i="0">
                <a:solidFill>
                  <a:srgbClr val="E6EDF3"/>
                </a:solidFill>
                <a:latin typeface="Inconsolata"/>
              </a:rPr>
              <a:t>    </a:t>
            </a:r>
            <a:r>
              <a:rPr sz="680" i="0">
                <a:solidFill>
                  <a:srgbClr val="A5D6A7"/>
                </a:solidFill>
                <a:latin typeface="Inconsolata"/>
              </a:rPr>
              <a:t>"http_requests_total"</a:t>
            </a:r>
            <a:r>
              <a:rPr sz="680" i="0">
                <a:solidFill>
                  <a:srgbClr val="E6EDF3"/>
                </a:solidFill>
                <a:latin typeface="Inconsolata"/>
              </a:rPr>
              <a:t>, </a:t>
            </a:r>
            <a:r>
              <a:rPr sz="680" i="0">
                <a:solidFill>
                  <a:srgbClr val="A5D6A7"/>
                </a:solidFill>
                <a:latin typeface="Inconsolata"/>
              </a:rPr>
              <a:t>"Jumlah request HTTP"</a:t>
            </a:r>
            <a:r>
              <a:rPr sz="680" i="0">
                <a:solidFill>
                  <a:srgbClr val="E6EDF3"/>
                </a:solidFill>
                <a:latin typeface="Inconsolata"/>
              </a:rPr>
              <a:t>,</a:t>
            </a:r>
          </a:p>
          <a:p>
            <a:pPr>
              <a:lnSpc>
                <a:spcPct val="110294"/>
              </a:lnSpc>
              <a:spcAft>
                <a:spcPts val="0"/>
              </a:spcAft>
            </a:pPr>
            <a:r>
              <a:rPr sz="680" i="0">
                <a:solidFill>
                  <a:srgbClr val="E6EDF3"/>
                </a:solidFill>
                <a:latin typeface="Inconsolata"/>
              </a:rPr>
              <a:t>    [</a:t>
            </a:r>
            <a:r>
              <a:rPr sz="680" i="0">
                <a:solidFill>
                  <a:srgbClr val="A5D6A7"/>
                </a:solidFill>
                <a:latin typeface="Inconsolata"/>
              </a:rPr>
              <a:t>"method"</a:t>
            </a:r>
            <a:r>
              <a:rPr sz="680" i="0">
                <a:solidFill>
                  <a:srgbClr val="E6EDF3"/>
                </a:solidFill>
                <a:latin typeface="Inconsolata"/>
              </a:rPr>
              <a:t>, </a:t>
            </a:r>
            <a:r>
              <a:rPr sz="680" i="0">
                <a:solidFill>
                  <a:srgbClr val="A5D6A7"/>
                </a:solidFill>
                <a:latin typeface="Inconsolata"/>
              </a:rPr>
              <a:t>"route"</a:t>
            </a:r>
            <a:r>
              <a:rPr sz="680" i="0">
                <a:solidFill>
                  <a:srgbClr val="E6EDF3"/>
                </a:solidFill>
                <a:latin typeface="Inconsolata"/>
              </a:rPr>
              <a:t>, </a:t>
            </a:r>
            <a:r>
              <a:rPr sz="680" i="0">
                <a:solidFill>
                  <a:srgbClr val="A5D6A7"/>
                </a:solidFill>
                <a:latin typeface="Inconsolata"/>
              </a:rPr>
              <a:t>"status"</a:t>
            </a:r>
            <a:r>
              <a:rPr sz="680" i="0">
                <a:solidFill>
                  <a:srgbClr val="E6EDF3"/>
                </a:solidFill>
                <a:latin typeface="Inconsolata"/>
              </a:rPr>
              <a:t>])</a:t>
            </a:r>
          </a:p>
          <a:p>
            <a:pPr>
              <a:lnSpc>
                <a:spcPct val="110294"/>
              </a:lnSpc>
              <a:spcAft>
                <a:spcPts val="0"/>
              </a:spcAft>
            </a:pPr>
            <a:r>
              <a:rPr sz="680" i="0">
                <a:solidFill>
                  <a:srgbClr val="E6EDF3"/>
                </a:solidFill>
                <a:latin typeface="Inconsolata"/>
              </a:rPr>
              <a:t> </a:t>
            </a:r>
          </a:p>
          <a:p>
            <a:pPr>
              <a:lnSpc>
                <a:spcPct val="110294"/>
              </a:lnSpc>
              <a:spcAft>
                <a:spcPts val="0"/>
              </a:spcAft>
            </a:pPr>
            <a:r>
              <a:rPr sz="680" i="0">
                <a:solidFill>
                  <a:srgbClr val="7FDBCA"/>
                </a:solidFill>
                <a:latin typeface="Inconsolata"/>
              </a:rPr>
              <a:t>HTTP_LATENCY</a:t>
            </a:r>
            <a:r>
              <a:rPr sz="680" i="0">
                <a:solidFill>
                  <a:srgbClr val="E6EDF3"/>
                </a:solidFill>
                <a:latin typeface="Inconsolata"/>
              </a:rPr>
              <a:t> = </a:t>
            </a:r>
            <a:r>
              <a:rPr sz="680" i="0">
                <a:solidFill>
                  <a:srgbClr val="7FDBCA"/>
                </a:solidFill>
                <a:latin typeface="Inconsolata"/>
              </a:rPr>
              <a:t>Histogram</a:t>
            </a:r>
            <a:r>
              <a:rPr sz="680" i="0">
                <a:solidFill>
                  <a:srgbClr val="E6EDF3"/>
                </a:solidFill>
                <a:latin typeface="Inconsolata"/>
              </a:rPr>
              <a:t>(</a:t>
            </a:r>
          </a:p>
          <a:p>
            <a:pPr>
              <a:lnSpc>
                <a:spcPct val="110294"/>
              </a:lnSpc>
              <a:spcAft>
                <a:spcPts val="0"/>
              </a:spcAft>
            </a:pPr>
            <a:r>
              <a:rPr sz="680" i="0">
                <a:solidFill>
                  <a:srgbClr val="E6EDF3"/>
                </a:solidFill>
                <a:latin typeface="Inconsolata"/>
              </a:rPr>
              <a:t>    </a:t>
            </a:r>
            <a:r>
              <a:rPr sz="680" i="0">
                <a:solidFill>
                  <a:srgbClr val="A5D6A7"/>
                </a:solidFill>
                <a:latin typeface="Inconsolata"/>
              </a:rPr>
              <a:t>"http_request_duration_seconds"</a:t>
            </a:r>
            <a:r>
              <a:rPr sz="680" i="0">
                <a:solidFill>
                  <a:srgbClr val="E6EDF3"/>
                </a:solidFill>
                <a:latin typeface="Inconsolata"/>
              </a:rPr>
              <a:t>, </a:t>
            </a:r>
            <a:r>
              <a:rPr sz="680" i="0">
                <a:solidFill>
                  <a:srgbClr val="A5D6A7"/>
                </a:solidFill>
                <a:latin typeface="Inconsolata"/>
              </a:rPr>
              <a:t>"Waktu response HTTP"</a:t>
            </a:r>
            <a:r>
              <a:rPr sz="680" i="0">
                <a:solidFill>
                  <a:srgbClr val="E6EDF3"/>
                </a:solidFill>
                <a:latin typeface="Inconsolata"/>
              </a:rPr>
              <a:t>,</a:t>
            </a:r>
          </a:p>
          <a:p>
            <a:pPr>
              <a:lnSpc>
                <a:spcPct val="110294"/>
              </a:lnSpc>
              <a:spcAft>
                <a:spcPts val="0"/>
              </a:spcAft>
            </a:pPr>
            <a:r>
              <a:rPr sz="680" i="0">
                <a:solidFill>
                  <a:srgbClr val="E6EDF3"/>
                </a:solidFill>
                <a:latin typeface="Inconsolata"/>
              </a:rPr>
              <a:t>    [</a:t>
            </a:r>
            <a:r>
              <a:rPr sz="680" i="0">
                <a:solidFill>
                  <a:srgbClr val="A5D6A7"/>
                </a:solidFill>
                <a:latin typeface="Inconsolata"/>
              </a:rPr>
              <a:t>"method"</a:t>
            </a:r>
            <a:r>
              <a:rPr sz="680" i="0">
                <a:solidFill>
                  <a:srgbClr val="E6EDF3"/>
                </a:solidFill>
                <a:latin typeface="Inconsolata"/>
              </a:rPr>
              <a:t>, </a:t>
            </a:r>
            <a:r>
              <a:rPr sz="680" i="0">
                <a:solidFill>
                  <a:srgbClr val="A5D6A7"/>
                </a:solidFill>
                <a:latin typeface="Inconsolata"/>
              </a:rPr>
              <a:t>"route"</a:t>
            </a:r>
            <a:r>
              <a:rPr sz="680" i="0">
                <a:solidFill>
                  <a:srgbClr val="E6EDF3"/>
                </a:solidFill>
                <a:latin typeface="Inconsolata"/>
              </a:rPr>
              <a:t>],</a:t>
            </a:r>
          </a:p>
          <a:p>
            <a:pPr>
              <a:lnSpc>
                <a:spcPct val="110294"/>
              </a:lnSpc>
              <a:spcAft>
                <a:spcPts val="0"/>
              </a:spcAft>
            </a:pPr>
            <a:r>
              <a:rPr sz="680" i="0">
                <a:solidFill>
                  <a:srgbClr val="E6EDF3"/>
                </a:solidFill>
                <a:latin typeface="Inconsolata"/>
              </a:rPr>
              <a:t>    buckets=[</a:t>
            </a:r>
            <a:r>
              <a:rPr sz="680" i="0">
                <a:solidFill>
                  <a:srgbClr val="F9C97A"/>
                </a:solidFill>
                <a:latin typeface="Inconsolata"/>
              </a:rPr>
              <a:t>0</a:t>
            </a:r>
            <a:r>
              <a:rPr sz="680" i="0">
                <a:solidFill>
                  <a:srgbClr val="E6EDF3"/>
                </a:solidFill>
                <a:latin typeface="Inconsolata"/>
              </a:rPr>
              <a:t>.</a:t>
            </a:r>
            <a:r>
              <a:rPr sz="680" i="0">
                <a:solidFill>
                  <a:srgbClr val="F9C97A"/>
                </a:solidFill>
                <a:latin typeface="Inconsolata"/>
              </a:rPr>
              <a:t>01</a:t>
            </a:r>
            <a:r>
              <a:rPr sz="680" i="0">
                <a:solidFill>
                  <a:srgbClr val="E6EDF3"/>
                </a:solidFill>
                <a:latin typeface="Inconsolata"/>
              </a:rPr>
              <a:t>, </a:t>
            </a:r>
            <a:r>
              <a:rPr sz="680" i="0">
                <a:solidFill>
                  <a:srgbClr val="F9C97A"/>
                </a:solidFill>
                <a:latin typeface="Inconsolata"/>
              </a:rPr>
              <a:t>0</a:t>
            </a:r>
            <a:r>
              <a:rPr sz="680" i="0">
                <a:solidFill>
                  <a:srgbClr val="E6EDF3"/>
                </a:solidFill>
                <a:latin typeface="Inconsolata"/>
              </a:rPr>
              <a:t>.</a:t>
            </a:r>
            <a:r>
              <a:rPr sz="680" i="0">
                <a:solidFill>
                  <a:srgbClr val="F9C97A"/>
                </a:solidFill>
                <a:latin typeface="Inconsolata"/>
              </a:rPr>
              <a:t>05</a:t>
            </a:r>
            <a:r>
              <a:rPr sz="680" i="0">
                <a:solidFill>
                  <a:srgbClr val="E6EDF3"/>
                </a:solidFill>
                <a:latin typeface="Inconsolata"/>
              </a:rPr>
              <a:t>, </a:t>
            </a:r>
            <a:r>
              <a:rPr sz="680" i="0">
                <a:solidFill>
                  <a:srgbClr val="F9C97A"/>
                </a:solidFill>
                <a:latin typeface="Inconsolata"/>
              </a:rPr>
              <a:t>0</a:t>
            </a:r>
            <a:r>
              <a:rPr sz="680" i="0">
                <a:solidFill>
                  <a:srgbClr val="E6EDF3"/>
                </a:solidFill>
                <a:latin typeface="Inconsolata"/>
              </a:rPr>
              <a:t>.</a:t>
            </a:r>
            <a:r>
              <a:rPr sz="680" i="0">
                <a:solidFill>
                  <a:srgbClr val="F9C97A"/>
                </a:solidFill>
                <a:latin typeface="Inconsolata"/>
              </a:rPr>
              <a:t>1</a:t>
            </a:r>
            <a:r>
              <a:rPr sz="680" i="0">
                <a:solidFill>
                  <a:srgbClr val="E6EDF3"/>
                </a:solidFill>
                <a:latin typeface="Inconsolata"/>
              </a:rPr>
              <a:t>, </a:t>
            </a:r>
            <a:r>
              <a:rPr sz="680" i="0">
                <a:solidFill>
                  <a:srgbClr val="F9C97A"/>
                </a:solidFill>
                <a:latin typeface="Inconsolata"/>
              </a:rPr>
              <a:t>0</a:t>
            </a:r>
            <a:r>
              <a:rPr sz="680" i="0">
                <a:solidFill>
                  <a:srgbClr val="E6EDF3"/>
                </a:solidFill>
                <a:latin typeface="Inconsolata"/>
              </a:rPr>
              <a:t>.</a:t>
            </a:r>
            <a:r>
              <a:rPr sz="680" i="0">
                <a:solidFill>
                  <a:srgbClr val="F9C97A"/>
                </a:solidFill>
                <a:latin typeface="Inconsolata"/>
              </a:rPr>
              <a:t>3</a:t>
            </a:r>
            <a:r>
              <a:rPr sz="680" i="0">
                <a:solidFill>
                  <a:srgbClr val="E6EDF3"/>
                </a:solidFill>
                <a:latin typeface="Inconsolata"/>
              </a:rPr>
              <a:t>, </a:t>
            </a:r>
            <a:r>
              <a:rPr sz="680" i="0">
                <a:solidFill>
                  <a:srgbClr val="F9C97A"/>
                </a:solidFill>
                <a:latin typeface="Inconsolata"/>
              </a:rPr>
              <a:t>0</a:t>
            </a:r>
            <a:r>
              <a:rPr sz="680" i="0">
                <a:solidFill>
                  <a:srgbClr val="E6EDF3"/>
                </a:solidFill>
                <a:latin typeface="Inconsolata"/>
              </a:rPr>
              <a:t>.</a:t>
            </a:r>
            <a:r>
              <a:rPr sz="680" i="0">
                <a:solidFill>
                  <a:srgbClr val="F9C97A"/>
                </a:solidFill>
                <a:latin typeface="Inconsolata"/>
              </a:rPr>
              <a:t>5</a:t>
            </a:r>
            <a:r>
              <a:rPr sz="680" i="0">
                <a:solidFill>
                  <a:srgbClr val="E6EDF3"/>
                </a:solidFill>
                <a:latin typeface="Inconsolata"/>
              </a:rPr>
              <a:t>, </a:t>
            </a:r>
            <a:r>
              <a:rPr sz="680" i="0">
                <a:solidFill>
                  <a:srgbClr val="F9C97A"/>
                </a:solidFill>
                <a:latin typeface="Inconsolata"/>
              </a:rPr>
              <a:t>1</a:t>
            </a:r>
            <a:r>
              <a:rPr sz="680" i="0">
                <a:solidFill>
                  <a:srgbClr val="E6EDF3"/>
                </a:solidFill>
                <a:latin typeface="Inconsolata"/>
              </a:rPr>
              <a:t>, </a:t>
            </a:r>
            <a:r>
              <a:rPr sz="680" i="0">
                <a:solidFill>
                  <a:srgbClr val="F9C97A"/>
                </a:solidFill>
                <a:latin typeface="Inconsolata"/>
              </a:rPr>
              <a:t>2</a:t>
            </a:r>
            <a:r>
              <a:rPr sz="680" i="0">
                <a:solidFill>
                  <a:srgbClr val="E6EDF3"/>
                </a:solidFill>
                <a:latin typeface="Inconsolata"/>
              </a:rPr>
              <a:t>.</a:t>
            </a:r>
            <a:r>
              <a:rPr sz="680" i="0">
                <a:solidFill>
                  <a:srgbClr val="F9C97A"/>
                </a:solidFill>
                <a:latin typeface="Inconsolata"/>
              </a:rPr>
              <a:t>5</a:t>
            </a:r>
            <a:r>
              <a:rPr sz="680" i="0">
                <a:solidFill>
                  <a:srgbClr val="E6EDF3"/>
                </a:solidFill>
                <a:latin typeface="Inconsolata"/>
              </a:rPr>
              <a:t>])         </a:t>
            </a:r>
            <a:r>
              <a:rPr sz="680" i="1">
                <a:solidFill>
                  <a:srgbClr val="8B98A8"/>
                </a:solidFill>
                <a:latin typeface="Inconsolata"/>
              </a:rPr>
              <a:t># 0.3 = batas SLO latency</a:t>
            </a:r>
          </a:p>
          <a:p>
            <a:pPr>
              <a:lnSpc>
                <a:spcPct val="110294"/>
              </a:lnSpc>
              <a:spcAft>
                <a:spcPts val="0"/>
              </a:spcAft>
            </a:pPr>
            <a:r>
              <a:rPr sz="680" i="0">
                <a:solidFill>
                  <a:srgbClr val="E6EDF3"/>
                </a:solidFill>
                <a:latin typeface="Inconsolata"/>
              </a:rPr>
              <a:t> </a:t>
            </a:r>
          </a:p>
          <a:p>
            <a:pPr>
              <a:lnSpc>
                <a:spcPct val="110294"/>
              </a:lnSpc>
              <a:spcAft>
                <a:spcPts val="0"/>
              </a:spcAft>
            </a:pPr>
            <a:r>
              <a:rPr sz="680" i="0">
                <a:solidFill>
                  <a:srgbClr val="7FDBCA"/>
                </a:solidFill>
                <a:latin typeface="Inconsolata"/>
              </a:rPr>
              <a:t>EVENTS_PUBLISHED</a:t>
            </a:r>
            <a:r>
              <a:rPr sz="680" i="0">
                <a:solidFill>
                  <a:srgbClr val="E6EDF3"/>
                </a:solidFill>
                <a:latin typeface="Inconsolata"/>
              </a:rPr>
              <a:t> = </a:t>
            </a:r>
            <a:r>
              <a:rPr sz="680" i="0">
                <a:solidFill>
                  <a:srgbClr val="7FDBCA"/>
                </a:solidFill>
                <a:latin typeface="Inconsolata"/>
              </a:rPr>
              <a:t>Counter</a:t>
            </a:r>
            <a:r>
              <a:rPr sz="680" i="0">
                <a:solidFill>
                  <a:srgbClr val="E6EDF3"/>
                </a:solidFill>
                <a:latin typeface="Inconsolata"/>
              </a:rPr>
              <a:t>(</a:t>
            </a:r>
          </a:p>
          <a:p>
            <a:pPr>
              <a:lnSpc>
                <a:spcPct val="110294"/>
              </a:lnSpc>
              <a:spcAft>
                <a:spcPts val="0"/>
              </a:spcAft>
            </a:pPr>
            <a:r>
              <a:rPr sz="680" i="0">
                <a:solidFill>
                  <a:srgbClr val="E6EDF3"/>
                </a:solidFill>
                <a:latin typeface="Inconsolata"/>
              </a:rPr>
              <a:t>    </a:t>
            </a:r>
            <a:r>
              <a:rPr sz="680" i="0">
                <a:solidFill>
                  <a:srgbClr val="A5D6A7"/>
                </a:solidFill>
                <a:latin typeface="Inconsolata"/>
              </a:rPr>
              <a:t>"events_published_total"</a:t>
            </a:r>
            <a:r>
              <a:rPr sz="680" i="0">
                <a:solidFill>
                  <a:srgbClr val="E6EDF3"/>
                </a:solidFill>
                <a:latin typeface="Inconsolata"/>
              </a:rPr>
              <a:t>, </a:t>
            </a:r>
            <a:r>
              <a:rPr sz="680" i="0">
                <a:solidFill>
                  <a:srgbClr val="A5D6A7"/>
                </a:solidFill>
                <a:latin typeface="Inconsolata"/>
              </a:rPr>
              <a:t>"Event yang dikirim ke RabbitMQ"</a:t>
            </a:r>
            <a:r>
              <a:rPr sz="680" i="0">
                <a:solidFill>
                  <a:srgbClr val="E6EDF3"/>
                </a:solidFill>
                <a:latin typeface="Inconsolata"/>
              </a:rPr>
              <a:t>,</a:t>
            </a:r>
          </a:p>
          <a:p>
            <a:pPr>
              <a:lnSpc>
                <a:spcPct val="110294"/>
              </a:lnSpc>
              <a:spcAft>
                <a:spcPts val="0"/>
              </a:spcAft>
            </a:pPr>
            <a:r>
              <a:rPr sz="680" i="0">
                <a:solidFill>
                  <a:srgbClr val="E6EDF3"/>
                </a:solidFill>
                <a:latin typeface="Inconsolata"/>
              </a:rPr>
              <a:t>    [</a:t>
            </a:r>
            <a:r>
              <a:rPr sz="680" i="0">
                <a:solidFill>
                  <a:srgbClr val="A5D6A7"/>
                </a:solidFill>
                <a:latin typeface="Inconsolata"/>
              </a:rPr>
              <a:t>"type"</a:t>
            </a:r>
            <a:r>
              <a:rPr sz="680" i="0">
                <a:solidFill>
                  <a:srgbClr val="E6EDF3"/>
                </a:solidFill>
                <a:latin typeface="Inconsolata"/>
              </a:rPr>
              <a:t>, </a:t>
            </a:r>
            <a:r>
              <a:rPr sz="680" i="0">
                <a:solidFill>
                  <a:srgbClr val="A5D6A7"/>
                </a:solidFill>
                <a:latin typeface="Inconsolata"/>
              </a:rPr>
              <a:t>"result"</a:t>
            </a:r>
            <a:r>
              <a:rPr sz="680" i="0">
                <a:solidFill>
                  <a:srgbClr val="E6EDF3"/>
                </a:solidFill>
                <a:latin typeface="Inconsolata"/>
              </a:rPr>
              <a:t>])                                  </a:t>
            </a:r>
            <a:r>
              <a:rPr sz="680" i="1">
                <a:solidFill>
                  <a:srgbClr val="8B98A8"/>
                </a:solidFill>
                <a:latin typeface="Inconsolata"/>
              </a:rPr>
              <a:t># result: ok / failed</a:t>
            </a:r>
          </a:p>
          <a:p>
            <a:pPr>
              <a:lnSpc>
                <a:spcPct val="110294"/>
              </a:lnSpc>
              <a:spcAft>
                <a:spcPts val="0"/>
              </a:spcAft>
            </a:pPr>
            <a:r>
              <a:rPr sz="680" i="0">
                <a:solidFill>
                  <a:srgbClr val="E6EDF3"/>
                </a:solidFill>
                <a:latin typeface="Inconsolata"/>
              </a:rPr>
              <a:t> </a:t>
            </a:r>
          </a:p>
          <a:p>
            <a:pPr>
              <a:lnSpc>
                <a:spcPct val="110294"/>
              </a:lnSpc>
              <a:spcAft>
                <a:spcPts val="0"/>
              </a:spcAft>
            </a:pPr>
            <a:r>
              <a:rPr sz="680" i="1">
                <a:solidFill>
                  <a:srgbClr val="8B98A8"/>
                </a:solidFill>
                <a:latin typeface="Inconsolata"/>
              </a:rPr>
              <a:t># app/api/routers/ops.py</a:t>
            </a:r>
          </a:p>
          <a:p>
            <a:pPr>
              <a:lnSpc>
                <a:spcPct val="110294"/>
              </a:lnSpc>
              <a:spcAft>
                <a:spcPts val="0"/>
              </a:spcAft>
            </a:pPr>
            <a:r>
              <a:rPr sz="680" i="0">
                <a:solidFill>
                  <a:srgbClr val="F9C97A"/>
                </a:solidFill>
                <a:latin typeface="Inconsolata"/>
              </a:rPr>
              <a:t>@router.get</a:t>
            </a:r>
            <a:r>
              <a:rPr sz="680" i="0">
                <a:solidFill>
                  <a:srgbClr val="E6EDF3"/>
                </a:solidFill>
                <a:latin typeface="Inconsolata"/>
              </a:rPr>
              <a:t>(</a:t>
            </a:r>
            <a:r>
              <a:rPr sz="680" i="0">
                <a:solidFill>
                  <a:srgbClr val="A5D6A7"/>
                </a:solidFill>
                <a:latin typeface="Inconsolata"/>
              </a:rPr>
              <a:t>"/metrics"</a:t>
            </a:r>
            <a:r>
              <a:rPr sz="680" i="0">
                <a:solidFill>
                  <a:srgbClr val="E6EDF3"/>
                </a:solidFill>
                <a:latin typeface="Inconsolata"/>
              </a:rPr>
              <a:t>, summary=</a:t>
            </a:r>
            <a:r>
              <a:rPr sz="680" i="0">
                <a:solidFill>
                  <a:srgbClr val="A5D6A7"/>
                </a:solidFill>
                <a:latin typeface="Inconsolata"/>
              </a:rPr>
              <a:t>"Metrics Prometheus"</a:t>
            </a:r>
            <a:r>
              <a:rPr sz="680" i="0">
                <a:solidFill>
                  <a:srgbClr val="E6EDF3"/>
                </a:solidFill>
                <a:latin typeface="Inconsolata"/>
              </a:rPr>
              <a:t>, include_in_schema=</a:t>
            </a:r>
            <a:r>
              <a:rPr sz="680" i="0">
                <a:solidFill>
                  <a:srgbClr val="FF8E6E"/>
                </a:solidFill>
                <a:latin typeface="Inconsolata"/>
              </a:rPr>
              <a:t>False</a:t>
            </a:r>
            <a:r>
              <a:rPr sz="680" i="0">
                <a:solidFill>
                  <a:srgbClr val="E6EDF3"/>
                </a:solidFill>
                <a:latin typeface="Inconsolata"/>
              </a:rPr>
              <a:t>)</a:t>
            </a:r>
          </a:p>
          <a:p>
            <a:pPr>
              <a:lnSpc>
                <a:spcPct val="110294"/>
              </a:lnSpc>
              <a:spcAft>
                <a:spcPts val="0"/>
              </a:spcAft>
            </a:pPr>
            <a:r>
              <a:rPr sz="680" i="0">
                <a:solidFill>
                  <a:srgbClr val="FF8E6E"/>
                </a:solidFill>
                <a:latin typeface="Inconsolata"/>
              </a:rPr>
              <a:t>def</a:t>
            </a:r>
            <a:r>
              <a:rPr sz="680" i="0">
                <a:solidFill>
                  <a:srgbClr val="E6EDF3"/>
                </a:solidFill>
                <a:latin typeface="Inconsolata"/>
              </a:rPr>
              <a:t> </a:t>
            </a:r>
            <a:r>
              <a:rPr sz="680" i="0">
                <a:solidFill>
                  <a:srgbClr val="82B1FF"/>
                </a:solidFill>
                <a:latin typeface="Inconsolata"/>
              </a:rPr>
              <a:t>metrics</a:t>
            </a:r>
            <a:r>
              <a:rPr sz="680" i="0">
                <a:solidFill>
                  <a:srgbClr val="E6EDF3"/>
                </a:solidFill>
                <a:latin typeface="Inconsolata"/>
              </a:rPr>
              <a:t>():</a:t>
            </a:r>
          </a:p>
          <a:p>
            <a:pPr>
              <a:lnSpc>
                <a:spcPct val="110294"/>
              </a:lnSpc>
              <a:spcAft>
                <a:spcPts val="0"/>
              </a:spcAft>
            </a:pPr>
            <a:r>
              <a:rPr sz="680" i="0">
                <a:solidFill>
                  <a:srgbClr val="E6EDF3"/>
                </a:solidFill>
                <a:latin typeface="Inconsolata"/>
              </a:rPr>
              <a:t>    </a:t>
            </a:r>
            <a:r>
              <a:rPr sz="680" i="0">
                <a:solidFill>
                  <a:srgbClr val="FF8E6E"/>
                </a:solidFill>
                <a:latin typeface="Inconsolata"/>
              </a:rPr>
              <a:t>return</a:t>
            </a:r>
            <a:r>
              <a:rPr sz="680" i="0">
                <a:solidFill>
                  <a:srgbClr val="E6EDF3"/>
                </a:solidFill>
                <a:latin typeface="Inconsolata"/>
              </a:rPr>
              <a:t> </a:t>
            </a:r>
            <a:r>
              <a:rPr sz="680" i="0">
                <a:solidFill>
                  <a:srgbClr val="7FDBCA"/>
                </a:solidFill>
                <a:latin typeface="Inconsolata"/>
              </a:rPr>
              <a:t>Response</a:t>
            </a:r>
            <a:r>
              <a:rPr sz="680" i="0">
                <a:solidFill>
                  <a:srgbClr val="E6EDF3"/>
                </a:solidFill>
                <a:latin typeface="Inconsolata"/>
              </a:rPr>
              <a:t>(generate_latest(), media_type=</a:t>
            </a:r>
            <a:r>
              <a:rPr sz="680" i="0">
                <a:solidFill>
                  <a:srgbClr val="7FDBCA"/>
                </a:solidFill>
                <a:latin typeface="Inconsolata"/>
              </a:rPr>
              <a:t>CONTENT_TYPE_LATEST</a:t>
            </a:r>
            <a:r>
              <a:rPr sz="680" i="0">
                <a:solidFill>
                  <a:srgbClr val="E6EDF3"/>
                </a:solidFill>
                <a:latin typeface="Inconsolata"/>
              </a:rPr>
              <a:t>)</a:t>
            </a:r>
          </a:p>
        </p:txBody>
      </p:sp>
      <p:sp>
        <p:nvSpPr>
          <p:cNvPr id="29" name="Box 12"/>
          <p:cNvSpPr/>
          <p:nvPr/>
        </p:nvSpPr>
        <p:spPr>
          <a:xfrm>
            <a:off x="704088" y="1939671"/>
            <a:ext cx="5230368" cy="336042"/>
          </a:xfrm>
          <a:prstGeom prst="roundRect">
            <a:avLst>
              <a:gd name="adj" fmla="val 13605"/>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19888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739771"/>
            <a:ext cx="5230368" cy="107442"/>
          </a:xfrm>
          <a:prstGeom prst="roundRect">
            <a:avLst>
              <a:gd name="adj" fmla="val 42553"/>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6746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2968371"/>
            <a:ext cx="5230368" cy="336042"/>
          </a:xfrm>
          <a:prstGeom prst="roundRect">
            <a:avLst>
              <a:gd name="adj" fmla="val 13605"/>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30175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704088" y="3539871"/>
            <a:ext cx="5230368" cy="336042"/>
          </a:xfrm>
          <a:prstGeom prst="roundRect">
            <a:avLst>
              <a:gd name="adj" fmla="val 13605"/>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Box 19"/>
          <p:cNvSpPr/>
          <p:nvPr/>
        </p:nvSpPr>
        <p:spPr>
          <a:xfrm>
            <a:off x="5815584" y="35890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4</a:t>
            </a:r>
          </a:p>
        </p:txBody>
      </p:sp>
      <p:sp>
        <p:nvSpPr>
          <p:cNvPr id="37" name="Box 20"/>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Text 21"/>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9" name="Text 22"/>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Metric RED: jumlah request dan waktu response</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Bucket 0.3 detik sesuai SLO latency</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Metric bisnis: event yang dikirim</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Router </a:t>
            </a:r>
            <a:r>
              <a:rPr sz="900" b="0" i="0">
                <a:solidFill>
                  <a:srgbClr val="B5482A"/>
                </a:solidFill>
                <a:latin typeface="Inconsolata"/>
              </a:rPr>
              <a:t>ops</a:t>
            </a:r>
            <a:r>
              <a:rPr sz="900" b="0" i="0">
                <a:solidFill>
                  <a:srgbClr val="434343"/>
                </a:solidFill>
                <a:latin typeface="Inter"/>
              </a:rPr>
              <a:t>, didaftarkan di </a:t>
            </a:r>
            <a:r>
              <a:rPr sz="900" b="0" i="0">
                <a:solidFill>
                  <a:srgbClr val="B5482A"/>
                </a:solidFill>
                <a:latin typeface="Inconsolata"/>
              </a:rPr>
              <a:t>main.py</a:t>
            </a:r>
          </a:p>
        </p:txBody>
      </p:sp>
      <p:sp>
        <p:nvSpPr>
          <p:cNvPr id="40" name="Box 23"/>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Text 24"/>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2" name="Text 25"/>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Prometheus mengambil /metrics berkala.</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5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api/errors.py: klasifikasi error</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app/api/errors.py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11111"/>
              </a:lnSpc>
              <a:spcAft>
                <a:spcPts val="0"/>
              </a:spcAft>
            </a:pPr>
            <a:r>
              <a:rPr sz="600" i="0">
                <a:solidFill>
                  <a:srgbClr val="7FDBCA"/>
                </a:solidFill>
                <a:latin typeface="Inconsolata"/>
              </a:rPr>
              <a:t>DEPENDENCY_ERRORS</a:t>
            </a:r>
            <a:r>
              <a:rPr sz="600" i="0">
                <a:solidFill>
                  <a:srgbClr val="E6EDF3"/>
                </a:solidFill>
                <a:latin typeface="Inconsolata"/>
              </a:rPr>
              <a:t> = (</a:t>
            </a:r>
            <a:r>
              <a:rPr sz="600" i="0">
                <a:solidFill>
                  <a:srgbClr val="7FDBCA"/>
                </a:solidFill>
                <a:latin typeface="Inconsolata"/>
              </a:rPr>
              <a:t>DatabaseError</a:t>
            </a:r>
            <a:r>
              <a:rPr sz="600" i="0">
                <a:solidFill>
                  <a:srgbClr val="E6EDF3"/>
                </a:solidFill>
                <a:latin typeface="Inconsolata"/>
              </a:rPr>
              <a:t>, </a:t>
            </a:r>
            <a:r>
              <a:rPr sz="600" i="0">
                <a:solidFill>
                  <a:srgbClr val="7FDBCA"/>
                </a:solidFill>
                <a:latin typeface="Inconsolata"/>
              </a:rPr>
              <a:t>RedisConnectionError</a:t>
            </a:r>
            <a:r>
              <a:rPr sz="600" i="0">
                <a:solidFill>
                  <a:srgbClr val="E6EDF3"/>
                </a:solidFill>
                <a:latin typeface="Inconsolata"/>
              </a:rPr>
              <a:t>, </a:t>
            </a:r>
            <a:r>
              <a:rPr sz="600" i="0">
                <a:solidFill>
                  <a:srgbClr val="7FDBCA"/>
                </a:solidFill>
                <a:latin typeface="Inconsolata"/>
              </a:rPr>
              <a:t>RedisTimeoutError</a:t>
            </a:r>
            <a:r>
              <a:rPr sz="600" i="0">
                <a:solidFill>
                  <a:srgbClr val="E6EDF3"/>
                </a:solidFill>
                <a:latin typeface="Inconsolata"/>
              </a:rPr>
              <a:t>, </a:t>
            </a:r>
            <a:r>
              <a:rPr sz="600" i="0">
                <a:solidFill>
                  <a:srgbClr val="7FDBCA"/>
                </a:solidFill>
                <a:latin typeface="Inconsolata"/>
              </a:rPr>
              <a:t>BrokerError</a:t>
            </a:r>
            <a:r>
              <a:rPr sz="600" i="0">
                <a:solidFill>
                  <a:srgbClr val="E6EDF3"/>
                </a:solidFill>
                <a:latin typeface="Inconsolata"/>
              </a:rPr>
              <a:t>)</a:t>
            </a:r>
          </a:p>
          <a:p>
            <a:pPr>
              <a:lnSpc>
                <a:spcPct val="111111"/>
              </a:lnSpc>
              <a:spcAft>
                <a:spcPts val="0"/>
              </a:spcAft>
            </a:pPr>
            <a:r>
              <a:rPr sz="600" i="0">
                <a:solidFill>
                  <a:srgbClr val="E6EDF3"/>
                </a:solidFill>
                <a:latin typeface="Inconsolata"/>
              </a:rPr>
              <a:t>...</a:t>
            </a:r>
          </a:p>
          <a:p>
            <a:pPr>
              <a:lnSpc>
                <a:spcPct val="111111"/>
              </a:lnSpc>
              <a:spcAft>
                <a:spcPts val="0"/>
              </a:spcAft>
            </a:pPr>
            <a:r>
              <a:rPr sz="600" i="0">
                <a:solidFill>
                  <a:srgbClr val="FF8E6E"/>
                </a:solidFill>
                <a:latin typeface="Inconsolata"/>
              </a:rPr>
              <a:t>def</a:t>
            </a:r>
            <a:r>
              <a:rPr sz="600" i="0">
                <a:solidFill>
                  <a:srgbClr val="E6EDF3"/>
                </a:solidFill>
                <a:latin typeface="Inconsolata"/>
              </a:rPr>
              <a:t> </a:t>
            </a:r>
            <a:r>
              <a:rPr sz="600" i="0">
                <a:solidFill>
                  <a:srgbClr val="82B1FF"/>
                </a:solidFill>
                <a:latin typeface="Inconsolata"/>
              </a:rPr>
              <a:t>client_error</a:t>
            </a:r>
            <a:r>
              <a:rPr sz="600" i="0">
                <a:solidFill>
                  <a:srgbClr val="E6EDF3"/>
                </a:solidFill>
                <a:latin typeface="Inconsolata"/>
              </a:rPr>
              <a:t>(request: </a:t>
            </a:r>
            <a:r>
              <a:rPr sz="600" i="0">
                <a:solidFill>
                  <a:srgbClr val="7FDBCA"/>
                </a:solidFill>
                <a:latin typeface="Inconsolata"/>
              </a:rPr>
              <a:t>Request</a:t>
            </a:r>
            <a:r>
              <a:rPr sz="600" i="0">
                <a:solidFill>
                  <a:srgbClr val="E6EDF3"/>
                </a:solidFill>
                <a:latin typeface="Inconsolata"/>
              </a:rPr>
              <a:t>, status_code: </a:t>
            </a:r>
            <a:r>
              <a:rPr sz="600" i="0">
                <a:solidFill>
                  <a:srgbClr val="C3A6FF"/>
                </a:solidFill>
                <a:latin typeface="Inconsolata"/>
              </a:rPr>
              <a:t>int</a:t>
            </a:r>
            <a:r>
              <a:rPr sz="600" i="0">
                <a:solidFill>
                  <a:srgbClr val="E6EDF3"/>
                </a:solidFill>
                <a:latin typeface="Inconsolata"/>
              </a:rPr>
              <a:t>, code: </a:t>
            </a:r>
            <a:r>
              <a:rPr sz="600" i="0">
                <a:solidFill>
                  <a:srgbClr val="C3A6FF"/>
                </a:solidFill>
                <a:latin typeface="Inconsolata"/>
              </a:rPr>
              <a:t>str</a:t>
            </a:r>
            <a:r>
              <a:rPr sz="600" i="0">
                <a:solidFill>
                  <a:srgbClr val="E6EDF3"/>
                </a:solidFill>
                <a:latin typeface="Inconsolata"/>
              </a:rPr>
              <a:t>, message: </a:t>
            </a:r>
            <a:r>
              <a:rPr sz="600" i="0">
                <a:solidFill>
                  <a:srgbClr val="C3A6FF"/>
                </a:solidFill>
                <a:latin typeface="Inconsolata"/>
              </a:rPr>
              <a:t>str</a:t>
            </a:r>
            <a:r>
              <a:rPr sz="600" i="0">
                <a:solidFill>
                  <a:srgbClr val="E6EDF3"/>
                </a:solidFill>
                <a:latin typeface="Inconsolata"/>
              </a:rPr>
              <a:t>,</a:t>
            </a:r>
          </a:p>
          <a:p>
            <a:pPr>
              <a:lnSpc>
                <a:spcPct val="111111"/>
              </a:lnSpc>
              <a:spcAft>
                <a:spcPts val="0"/>
              </a:spcAft>
            </a:pPr>
            <a:r>
              <a:rPr sz="600" i="0">
                <a:solidFill>
                  <a:srgbClr val="E6EDF3"/>
                </a:solidFill>
                <a:latin typeface="Inconsolata"/>
              </a:rPr>
              <a:t>                 details: </a:t>
            </a:r>
            <a:r>
              <a:rPr sz="600" i="0">
                <a:solidFill>
                  <a:srgbClr val="C3A6FF"/>
                </a:solidFill>
                <a:latin typeface="Inconsolata"/>
              </a:rPr>
              <a:t>list</a:t>
            </a:r>
            <a:r>
              <a:rPr sz="600" i="0">
                <a:solidFill>
                  <a:srgbClr val="E6EDF3"/>
                </a:solidFill>
                <a:latin typeface="Inconsolata"/>
              </a:rPr>
              <a:t> | </a:t>
            </a:r>
            <a:r>
              <a:rPr sz="600" i="0">
                <a:solidFill>
                  <a:srgbClr val="FF8E6E"/>
                </a:solidFill>
                <a:latin typeface="Inconsolata"/>
              </a:rPr>
              <a:t>None</a:t>
            </a:r>
            <a:r>
              <a:rPr sz="600" i="0">
                <a:solidFill>
                  <a:srgbClr val="E6EDF3"/>
                </a:solidFill>
                <a:latin typeface="Inconsolata"/>
              </a:rPr>
              <a:t> = </a:t>
            </a:r>
            <a:r>
              <a:rPr sz="600" i="0">
                <a:solidFill>
                  <a:srgbClr val="FF8E6E"/>
                </a:solidFill>
                <a:latin typeface="Inconsolata"/>
              </a:rPr>
              <a:t>None</a:t>
            </a:r>
            <a:r>
              <a:rPr sz="600" i="0">
                <a:solidFill>
                  <a:srgbClr val="E6EDF3"/>
                </a:solidFill>
                <a:latin typeface="Inconsolata"/>
              </a:rPr>
              <a:t>) -&gt; </a:t>
            </a:r>
            <a:r>
              <a:rPr sz="600" i="0">
                <a:solidFill>
                  <a:srgbClr val="7FDBCA"/>
                </a:solidFill>
                <a:latin typeface="Inconsolata"/>
              </a:rPr>
              <a:t>JSONResponse</a:t>
            </a:r>
            <a:r>
              <a:rPr sz="600" i="0">
                <a:solidFill>
                  <a:srgbClr val="E6EDF3"/>
                </a:solidFill>
                <a:latin typeface="Inconsolata"/>
              </a:rPr>
              <a:t>:</a:t>
            </a:r>
          </a:p>
          <a:p>
            <a:pPr>
              <a:lnSpc>
                <a:spcPct val="111111"/>
              </a:lnSpc>
              <a:spcAft>
                <a:spcPts val="0"/>
              </a:spcAft>
            </a:pPr>
            <a:r>
              <a:rPr sz="600" i="0">
                <a:solidFill>
                  <a:srgbClr val="E6EDF3"/>
                </a:solidFill>
                <a:latin typeface="Inconsolata"/>
              </a:rPr>
              <a:t>    logger.warning(</a:t>
            </a:r>
            <a:r>
              <a:rPr sz="600" i="0">
                <a:solidFill>
                  <a:srgbClr val="A5D6A7"/>
                </a:solidFill>
                <a:latin typeface="Inconsolata"/>
              </a:rPr>
              <a:t>"request ditolak: %s"</a:t>
            </a:r>
            <a:r>
              <a:rPr sz="600" i="0">
                <a:solidFill>
                  <a:srgbClr val="E6EDF3"/>
                </a:solidFill>
                <a:latin typeface="Inconsolata"/>
              </a:rPr>
              <a:t>, code, extra={</a:t>
            </a:r>
          </a:p>
          <a:p>
            <a:pPr>
              <a:lnSpc>
                <a:spcPct val="111111"/>
              </a:lnSpc>
              <a:spcAft>
                <a:spcPts val="0"/>
              </a:spcAft>
            </a:pPr>
            <a:r>
              <a:rPr sz="600" i="0">
                <a:solidFill>
                  <a:srgbClr val="E6EDF3"/>
                </a:solidFill>
                <a:latin typeface="Inconsolata"/>
              </a:rPr>
              <a:t>        </a:t>
            </a:r>
            <a:r>
              <a:rPr sz="600" i="0">
                <a:solidFill>
                  <a:srgbClr val="A5D6A7"/>
                </a:solidFill>
                <a:latin typeface="Inconsolata"/>
              </a:rPr>
              <a:t>"error_type"</a:t>
            </a:r>
            <a:r>
              <a:rPr sz="600" i="0">
                <a:solidFill>
                  <a:srgbClr val="E6EDF3"/>
                </a:solidFill>
                <a:latin typeface="Inconsolata"/>
              </a:rPr>
              <a:t>: </a:t>
            </a:r>
            <a:r>
              <a:rPr sz="600" i="0">
                <a:solidFill>
                  <a:srgbClr val="A5D6A7"/>
                </a:solidFill>
                <a:latin typeface="Inconsolata"/>
              </a:rPr>
              <a:t>"client"</a:t>
            </a:r>
            <a:r>
              <a:rPr sz="600" i="0">
                <a:solidFill>
                  <a:srgbClr val="E6EDF3"/>
                </a:solidFill>
                <a:latin typeface="Inconsolata"/>
              </a:rPr>
              <a:t>, </a:t>
            </a:r>
            <a:r>
              <a:rPr sz="600" i="0">
                <a:solidFill>
                  <a:srgbClr val="A5D6A7"/>
                </a:solidFill>
                <a:latin typeface="Inconsolata"/>
              </a:rPr>
              <a:t>"error_code"</a:t>
            </a:r>
            <a:r>
              <a:rPr sz="600" i="0">
                <a:solidFill>
                  <a:srgbClr val="E6EDF3"/>
                </a:solidFill>
                <a:latin typeface="Inconsolata"/>
              </a:rPr>
              <a:t>: code, </a:t>
            </a:r>
            <a:r>
              <a:rPr sz="600" i="0">
                <a:solidFill>
                  <a:srgbClr val="A5D6A7"/>
                </a:solidFill>
                <a:latin typeface="Inconsolata"/>
              </a:rPr>
              <a:t>"status"</a:t>
            </a:r>
            <a:r>
              <a:rPr sz="600" i="0">
                <a:solidFill>
                  <a:srgbClr val="E6EDF3"/>
                </a:solidFill>
                <a:latin typeface="Inconsolata"/>
              </a:rPr>
              <a:t>: status_code, </a:t>
            </a:r>
            <a:r>
              <a:rPr sz="600" i="0">
                <a:solidFill>
                  <a:srgbClr val="A5D6A7"/>
                </a:solidFill>
                <a:latin typeface="Inconsolata"/>
              </a:rPr>
              <a:t>"path"</a:t>
            </a:r>
            <a:r>
              <a:rPr sz="600" i="0">
                <a:solidFill>
                  <a:srgbClr val="E6EDF3"/>
                </a:solidFill>
                <a:latin typeface="Inconsolata"/>
              </a:rPr>
              <a:t>: request.url.path})</a:t>
            </a:r>
          </a:p>
          <a:p>
            <a:pPr>
              <a:lnSpc>
                <a:spcPct val="111111"/>
              </a:lnSpc>
              <a:spcAft>
                <a:spcPts val="0"/>
              </a:spcAft>
            </a:pPr>
            <a:r>
              <a:rPr sz="600" i="0">
                <a:solidFill>
                  <a:srgbClr val="E6EDF3"/>
                </a:solidFill>
                <a:latin typeface="Inconsolata"/>
              </a:rPr>
              <a:t>    </a:t>
            </a:r>
            <a:r>
              <a:rPr sz="600" i="0">
                <a:solidFill>
                  <a:srgbClr val="FF8E6E"/>
                </a:solidFill>
                <a:latin typeface="Inconsolata"/>
              </a:rPr>
              <a:t>return</a:t>
            </a:r>
            <a:r>
              <a:rPr sz="600" i="0">
                <a:solidFill>
                  <a:srgbClr val="E6EDF3"/>
                </a:solidFill>
                <a:latin typeface="Inconsolata"/>
              </a:rPr>
              <a:t> error_response(status_code, code, message, details)</a:t>
            </a:r>
          </a:p>
          <a:p>
            <a:pPr>
              <a:lnSpc>
                <a:spcPct val="111111"/>
              </a:lnSpc>
              <a:spcAft>
                <a:spcPts val="0"/>
              </a:spcAft>
            </a:pPr>
            <a:r>
              <a:rPr sz="600" i="0">
                <a:solidFill>
                  <a:srgbClr val="E6EDF3"/>
                </a:solidFill>
                <a:latin typeface="Inconsolata"/>
              </a:rPr>
              <a:t>...</a:t>
            </a:r>
          </a:p>
          <a:p>
            <a:pPr>
              <a:lnSpc>
                <a:spcPct val="111111"/>
              </a:lnSpc>
              <a:spcAft>
                <a:spcPts val="0"/>
              </a:spcAft>
            </a:pPr>
            <a:r>
              <a:rPr sz="600" i="0">
                <a:solidFill>
                  <a:srgbClr val="FF8E6E"/>
                </a:solidFill>
                <a:latin typeface="Inconsolata"/>
              </a:rPr>
              <a:t>async</a:t>
            </a:r>
            <a:r>
              <a:rPr sz="600" i="0">
                <a:solidFill>
                  <a:srgbClr val="E6EDF3"/>
                </a:solidFill>
                <a:latin typeface="Inconsolata"/>
              </a:rPr>
              <a:t> </a:t>
            </a:r>
            <a:r>
              <a:rPr sz="600" i="0">
                <a:solidFill>
                  <a:srgbClr val="FF8E6E"/>
                </a:solidFill>
                <a:latin typeface="Inconsolata"/>
              </a:rPr>
              <a:t>def</a:t>
            </a:r>
            <a:r>
              <a:rPr sz="600" i="0">
                <a:solidFill>
                  <a:srgbClr val="E6EDF3"/>
                </a:solidFill>
                <a:latin typeface="Inconsolata"/>
              </a:rPr>
              <a:t> </a:t>
            </a:r>
            <a:r>
              <a:rPr sz="600" i="0">
                <a:solidFill>
                  <a:srgbClr val="82B1FF"/>
                </a:solidFill>
                <a:latin typeface="Inconsolata"/>
              </a:rPr>
              <a:t>handle_dependency_error</a:t>
            </a:r>
            <a:r>
              <a:rPr sz="600" i="0">
                <a:solidFill>
                  <a:srgbClr val="E6EDF3"/>
                </a:solidFill>
                <a:latin typeface="Inconsolata"/>
              </a:rPr>
              <a:t>(request: </a:t>
            </a:r>
            <a:r>
              <a:rPr sz="600" i="0">
                <a:solidFill>
                  <a:srgbClr val="7FDBCA"/>
                </a:solidFill>
                <a:latin typeface="Inconsolata"/>
              </a:rPr>
              <a:t>Request</a:t>
            </a:r>
            <a:r>
              <a:rPr sz="600" i="0">
                <a:solidFill>
                  <a:srgbClr val="E6EDF3"/>
                </a:solidFill>
                <a:latin typeface="Inconsolata"/>
              </a:rPr>
              <a:t>, exc: </a:t>
            </a:r>
            <a:r>
              <a:rPr sz="600" i="0">
                <a:solidFill>
                  <a:srgbClr val="7FDBCA"/>
                </a:solidFill>
                <a:latin typeface="Inconsolata"/>
              </a:rPr>
              <a:t>Exception</a:t>
            </a:r>
            <a:r>
              <a:rPr sz="600" i="0">
                <a:solidFill>
                  <a:srgbClr val="E6EDF3"/>
                </a:solidFill>
                <a:latin typeface="Inconsolata"/>
              </a:rPr>
              <a:t>) -&gt; </a:t>
            </a:r>
            <a:r>
              <a:rPr sz="600" i="0">
                <a:solidFill>
                  <a:srgbClr val="7FDBCA"/>
                </a:solidFill>
                <a:latin typeface="Inconsolata"/>
              </a:rPr>
              <a:t>JSONResponse</a:t>
            </a:r>
            <a:r>
              <a:rPr sz="600" i="0">
                <a:solidFill>
                  <a:srgbClr val="E6EDF3"/>
                </a:solidFill>
                <a:latin typeface="Inconsolata"/>
              </a:rPr>
              <a:t>:</a:t>
            </a:r>
          </a:p>
          <a:p>
            <a:pPr>
              <a:lnSpc>
                <a:spcPct val="111111"/>
              </a:lnSpc>
              <a:spcAft>
                <a:spcPts val="0"/>
              </a:spcAft>
            </a:pPr>
            <a:r>
              <a:rPr sz="600" i="0">
                <a:solidFill>
                  <a:srgbClr val="E6EDF3"/>
                </a:solidFill>
                <a:latin typeface="Inconsolata"/>
              </a:rPr>
              <a:t>    logger.error(</a:t>
            </a:r>
            <a:r>
              <a:rPr sz="600" i="0">
                <a:solidFill>
                  <a:srgbClr val="A5D6A7"/>
                </a:solidFill>
                <a:latin typeface="Inconsolata"/>
              </a:rPr>
              <a:t>"dependency gangguan: %s"</a:t>
            </a:r>
            <a:r>
              <a:rPr sz="600" i="0">
                <a:solidFill>
                  <a:srgbClr val="E6EDF3"/>
                </a:solidFill>
                <a:latin typeface="Inconsolata"/>
              </a:rPr>
              <a:t>, </a:t>
            </a:r>
            <a:r>
              <a:rPr sz="600" i="0">
                <a:solidFill>
                  <a:srgbClr val="C3A6FF"/>
                </a:solidFill>
                <a:latin typeface="Inconsolata"/>
              </a:rPr>
              <a:t>type</a:t>
            </a:r>
            <a:r>
              <a:rPr sz="600" i="0">
                <a:solidFill>
                  <a:srgbClr val="E6EDF3"/>
                </a:solidFill>
                <a:latin typeface="Inconsolata"/>
              </a:rPr>
              <a:t>(exc).__name__, extra={</a:t>
            </a:r>
          </a:p>
          <a:p>
            <a:pPr>
              <a:lnSpc>
                <a:spcPct val="111111"/>
              </a:lnSpc>
              <a:spcAft>
                <a:spcPts val="0"/>
              </a:spcAft>
            </a:pPr>
            <a:r>
              <a:rPr sz="600" i="0">
                <a:solidFill>
                  <a:srgbClr val="E6EDF3"/>
                </a:solidFill>
                <a:latin typeface="Inconsolata"/>
              </a:rPr>
              <a:t>        </a:t>
            </a:r>
            <a:r>
              <a:rPr sz="600" i="0">
                <a:solidFill>
                  <a:srgbClr val="A5D6A7"/>
                </a:solidFill>
                <a:latin typeface="Inconsolata"/>
              </a:rPr>
              <a:t>"error_type"</a:t>
            </a:r>
            <a:r>
              <a:rPr sz="600" i="0">
                <a:solidFill>
                  <a:srgbClr val="E6EDF3"/>
                </a:solidFill>
                <a:latin typeface="Inconsolata"/>
              </a:rPr>
              <a:t>: </a:t>
            </a:r>
            <a:r>
              <a:rPr sz="600" i="0">
                <a:solidFill>
                  <a:srgbClr val="A5D6A7"/>
                </a:solidFill>
                <a:latin typeface="Inconsolata"/>
              </a:rPr>
              <a:t>"dependency"</a:t>
            </a:r>
            <a:r>
              <a:rPr sz="600" i="0">
                <a:solidFill>
                  <a:srgbClr val="E6EDF3"/>
                </a:solidFill>
                <a:latin typeface="Inconsolata"/>
              </a:rPr>
              <a:t>, </a:t>
            </a:r>
            <a:r>
              <a:rPr sz="600" i="0">
                <a:solidFill>
                  <a:srgbClr val="A5D6A7"/>
                </a:solidFill>
                <a:latin typeface="Inconsolata"/>
              </a:rPr>
              <a:t>"path"</a:t>
            </a:r>
            <a:r>
              <a:rPr sz="600" i="0">
                <a:solidFill>
                  <a:srgbClr val="E6EDF3"/>
                </a:solidFill>
                <a:latin typeface="Inconsolata"/>
              </a:rPr>
              <a:t>: request.url.path})</a:t>
            </a:r>
          </a:p>
          <a:p>
            <a:pPr>
              <a:lnSpc>
                <a:spcPct val="111111"/>
              </a:lnSpc>
              <a:spcAft>
                <a:spcPts val="0"/>
              </a:spcAft>
            </a:pPr>
            <a:r>
              <a:rPr sz="600" i="0">
                <a:solidFill>
                  <a:srgbClr val="E6EDF3"/>
                </a:solidFill>
                <a:latin typeface="Inconsolata"/>
              </a:rPr>
              <a:t>    </a:t>
            </a:r>
            <a:r>
              <a:rPr sz="600" i="0">
                <a:solidFill>
                  <a:srgbClr val="FF8E6E"/>
                </a:solidFill>
                <a:latin typeface="Inconsolata"/>
              </a:rPr>
              <a:t>return</a:t>
            </a:r>
            <a:r>
              <a:rPr sz="600" i="0">
                <a:solidFill>
                  <a:srgbClr val="E6EDF3"/>
                </a:solidFill>
                <a:latin typeface="Inconsolata"/>
              </a:rPr>
              <a:t> error_response(</a:t>
            </a:r>
            <a:r>
              <a:rPr sz="600" i="0">
                <a:solidFill>
                  <a:srgbClr val="F9C97A"/>
                </a:solidFill>
                <a:latin typeface="Inconsolata"/>
              </a:rPr>
              <a:t>503</a:t>
            </a:r>
            <a:r>
              <a:rPr sz="600" i="0">
                <a:solidFill>
                  <a:srgbClr val="E6EDF3"/>
                </a:solidFill>
                <a:latin typeface="Inconsolata"/>
              </a:rPr>
              <a:t>, </a:t>
            </a:r>
            <a:r>
              <a:rPr sz="600" i="0">
                <a:solidFill>
                  <a:srgbClr val="A5D6A7"/>
                </a:solidFill>
                <a:latin typeface="Inconsolata"/>
              </a:rPr>
              <a:t>"service_unavailable"</a:t>
            </a:r>
            <a:r>
              <a:rPr sz="600" i="0">
                <a:solidFill>
                  <a:srgbClr val="E6EDF3"/>
                </a:solidFill>
                <a:latin typeface="Inconsolata"/>
              </a:rPr>
              <a:t>, </a:t>
            </a:r>
            <a:r>
              <a:rPr sz="600" i="0">
                <a:solidFill>
                  <a:srgbClr val="A5D6A7"/>
                </a:solidFill>
                <a:latin typeface="Inconsolata"/>
              </a:rPr>
              <a:t>"Layanan sedang gangguan, coba lagi beberapa saat"</a:t>
            </a:r>
            <a:r>
              <a:rPr sz="600" i="0">
                <a:solidFill>
                  <a:srgbClr val="E6EDF3"/>
                </a:solidFill>
                <a:latin typeface="Inconsolata"/>
              </a:rPr>
              <a:t>)</a:t>
            </a:r>
          </a:p>
          <a:p>
            <a:pPr>
              <a:lnSpc>
                <a:spcPct val="111111"/>
              </a:lnSpc>
              <a:spcAft>
                <a:spcPts val="0"/>
              </a:spcAft>
            </a:pPr>
            <a:r>
              <a:rPr sz="600" i="0">
                <a:solidFill>
                  <a:srgbClr val="E6EDF3"/>
                </a:solidFill>
                <a:latin typeface="Inconsolata"/>
              </a:rPr>
              <a:t> </a:t>
            </a:r>
          </a:p>
          <a:p>
            <a:pPr>
              <a:lnSpc>
                <a:spcPct val="111111"/>
              </a:lnSpc>
              <a:spcAft>
                <a:spcPts val="0"/>
              </a:spcAft>
            </a:pPr>
            <a:r>
              <a:rPr sz="600" i="0">
                <a:solidFill>
                  <a:srgbClr val="FF8E6E"/>
                </a:solidFill>
                <a:latin typeface="Inconsolata"/>
              </a:rPr>
              <a:t>async</a:t>
            </a:r>
            <a:r>
              <a:rPr sz="600" i="0">
                <a:solidFill>
                  <a:srgbClr val="E6EDF3"/>
                </a:solidFill>
                <a:latin typeface="Inconsolata"/>
              </a:rPr>
              <a:t> </a:t>
            </a:r>
            <a:r>
              <a:rPr sz="600" i="0">
                <a:solidFill>
                  <a:srgbClr val="FF8E6E"/>
                </a:solidFill>
                <a:latin typeface="Inconsolata"/>
              </a:rPr>
              <a:t>def</a:t>
            </a:r>
            <a:r>
              <a:rPr sz="600" i="0">
                <a:solidFill>
                  <a:srgbClr val="E6EDF3"/>
                </a:solidFill>
                <a:latin typeface="Inconsolata"/>
              </a:rPr>
              <a:t> </a:t>
            </a:r>
            <a:r>
              <a:rPr sz="600" i="0">
                <a:solidFill>
                  <a:srgbClr val="82B1FF"/>
                </a:solidFill>
                <a:latin typeface="Inconsolata"/>
              </a:rPr>
              <a:t>handle_unexpected_error</a:t>
            </a:r>
            <a:r>
              <a:rPr sz="600" i="0">
                <a:solidFill>
                  <a:srgbClr val="E6EDF3"/>
                </a:solidFill>
                <a:latin typeface="Inconsolata"/>
              </a:rPr>
              <a:t>(request: </a:t>
            </a:r>
            <a:r>
              <a:rPr sz="600" i="0">
                <a:solidFill>
                  <a:srgbClr val="7FDBCA"/>
                </a:solidFill>
                <a:latin typeface="Inconsolata"/>
              </a:rPr>
              <a:t>Request</a:t>
            </a:r>
            <a:r>
              <a:rPr sz="600" i="0">
                <a:solidFill>
                  <a:srgbClr val="E6EDF3"/>
                </a:solidFill>
                <a:latin typeface="Inconsolata"/>
              </a:rPr>
              <a:t>, exc: </a:t>
            </a:r>
            <a:r>
              <a:rPr sz="600" i="0">
                <a:solidFill>
                  <a:srgbClr val="7FDBCA"/>
                </a:solidFill>
                <a:latin typeface="Inconsolata"/>
              </a:rPr>
              <a:t>Exception</a:t>
            </a:r>
            <a:r>
              <a:rPr sz="600" i="0">
                <a:solidFill>
                  <a:srgbClr val="E6EDF3"/>
                </a:solidFill>
                <a:latin typeface="Inconsolata"/>
              </a:rPr>
              <a:t>) -&gt; </a:t>
            </a:r>
            <a:r>
              <a:rPr sz="600" i="0">
                <a:solidFill>
                  <a:srgbClr val="7FDBCA"/>
                </a:solidFill>
                <a:latin typeface="Inconsolata"/>
              </a:rPr>
              <a:t>JSONResponse</a:t>
            </a:r>
            <a:r>
              <a:rPr sz="600" i="0">
                <a:solidFill>
                  <a:srgbClr val="E6EDF3"/>
                </a:solidFill>
                <a:latin typeface="Inconsolata"/>
              </a:rPr>
              <a:t>:</a:t>
            </a:r>
          </a:p>
          <a:p>
            <a:pPr>
              <a:lnSpc>
                <a:spcPct val="111111"/>
              </a:lnSpc>
              <a:spcAft>
                <a:spcPts val="0"/>
              </a:spcAft>
            </a:pPr>
            <a:r>
              <a:rPr sz="600" i="0">
                <a:solidFill>
                  <a:srgbClr val="E6EDF3"/>
                </a:solidFill>
                <a:latin typeface="Inconsolata"/>
              </a:rPr>
              <a:t>    logger.error(</a:t>
            </a:r>
            <a:r>
              <a:rPr sz="600" i="0">
                <a:solidFill>
                  <a:srgbClr val="A5D6A7"/>
                </a:solidFill>
                <a:latin typeface="Inconsolata"/>
              </a:rPr>
              <a:t>"error tidak terduga"</a:t>
            </a:r>
            <a:r>
              <a:rPr sz="600" i="0">
                <a:solidFill>
                  <a:srgbClr val="E6EDF3"/>
                </a:solidFill>
                <a:latin typeface="Inconsolata"/>
              </a:rPr>
              <a:t>, exc_info=exc, extra={</a:t>
            </a:r>
            <a:r>
              <a:rPr sz="600" i="0">
                <a:solidFill>
                  <a:srgbClr val="A5D6A7"/>
                </a:solidFill>
                <a:latin typeface="Inconsolata"/>
              </a:rPr>
              <a:t>"error_type"</a:t>
            </a:r>
            <a:r>
              <a:rPr sz="600" i="0">
                <a:solidFill>
                  <a:srgbClr val="E6EDF3"/>
                </a:solidFill>
                <a:latin typeface="Inconsolata"/>
              </a:rPr>
              <a:t>: </a:t>
            </a:r>
            <a:r>
              <a:rPr sz="600" i="0">
                <a:solidFill>
                  <a:srgbClr val="A5D6A7"/>
                </a:solidFill>
                <a:latin typeface="Inconsolata"/>
              </a:rPr>
              <a:t>"bug"</a:t>
            </a:r>
            <a:r>
              <a:rPr sz="600" i="0">
                <a:solidFill>
                  <a:srgbClr val="E6EDF3"/>
                </a:solidFill>
                <a:latin typeface="Inconsolata"/>
              </a:rPr>
              <a:t>, </a:t>
            </a:r>
            <a:r>
              <a:rPr sz="600" i="0">
                <a:solidFill>
                  <a:srgbClr val="A5D6A7"/>
                </a:solidFill>
                <a:latin typeface="Inconsolata"/>
              </a:rPr>
              <a:t>"path"</a:t>
            </a:r>
            <a:r>
              <a:rPr sz="600" i="0">
                <a:solidFill>
                  <a:srgbClr val="E6EDF3"/>
                </a:solidFill>
                <a:latin typeface="Inconsolata"/>
              </a:rPr>
              <a:t>: request.url.path})</a:t>
            </a:r>
          </a:p>
          <a:p>
            <a:pPr>
              <a:lnSpc>
                <a:spcPct val="111111"/>
              </a:lnSpc>
              <a:spcAft>
                <a:spcPts val="0"/>
              </a:spcAft>
            </a:pPr>
            <a:r>
              <a:rPr sz="600" i="0">
                <a:solidFill>
                  <a:srgbClr val="E6EDF3"/>
                </a:solidFill>
                <a:latin typeface="Inconsolata"/>
              </a:rPr>
              <a:t>    </a:t>
            </a:r>
            <a:r>
              <a:rPr sz="600" i="0">
                <a:solidFill>
                  <a:srgbClr val="FF8E6E"/>
                </a:solidFill>
                <a:latin typeface="Inconsolata"/>
              </a:rPr>
              <a:t>return</a:t>
            </a:r>
            <a:r>
              <a:rPr sz="600" i="0">
                <a:solidFill>
                  <a:srgbClr val="E6EDF3"/>
                </a:solidFill>
                <a:latin typeface="Inconsolata"/>
              </a:rPr>
              <a:t> error_response(</a:t>
            </a:r>
            <a:r>
              <a:rPr sz="600" i="0">
                <a:solidFill>
                  <a:srgbClr val="F9C97A"/>
                </a:solidFill>
                <a:latin typeface="Inconsolata"/>
              </a:rPr>
              <a:t>500</a:t>
            </a:r>
            <a:r>
              <a:rPr sz="600" i="0">
                <a:solidFill>
                  <a:srgbClr val="E6EDF3"/>
                </a:solidFill>
                <a:latin typeface="Inconsolata"/>
              </a:rPr>
              <a:t>, </a:t>
            </a:r>
            <a:r>
              <a:rPr sz="600" i="0">
                <a:solidFill>
                  <a:srgbClr val="A5D6A7"/>
                </a:solidFill>
                <a:latin typeface="Inconsolata"/>
              </a:rPr>
              <a:t>"internal_error"</a:t>
            </a:r>
            <a:r>
              <a:rPr sz="600" i="0">
                <a:solidFill>
                  <a:srgbClr val="E6EDF3"/>
                </a:solidFill>
                <a:latin typeface="Inconsolata"/>
              </a:rPr>
              <a:t>, </a:t>
            </a:r>
            <a:r>
              <a:rPr sz="600" i="0">
                <a:solidFill>
                  <a:srgbClr val="A5D6A7"/>
                </a:solidFill>
                <a:latin typeface="Inconsolata"/>
              </a:rPr>
              <a:t>"Terjadi kesalahan di server"</a:t>
            </a:r>
            <a:r>
              <a:rPr sz="600" i="0">
                <a:solidFill>
                  <a:srgbClr val="E6EDF3"/>
                </a:solidFill>
                <a:latin typeface="Inconsolata"/>
              </a:rPr>
              <a:t>)</a:t>
            </a:r>
          </a:p>
        </p:txBody>
      </p:sp>
      <p:sp>
        <p:nvSpPr>
          <p:cNvPr id="29" name="Box 12"/>
          <p:cNvSpPr/>
          <p:nvPr/>
        </p:nvSpPr>
        <p:spPr>
          <a:xfrm>
            <a:off x="704088" y="1823720"/>
            <a:ext cx="523036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17526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026920"/>
            <a:ext cx="5230368" cy="501904"/>
          </a:xfrm>
          <a:prstGeom prst="roundRect">
            <a:avLst>
              <a:gd name="adj" fmla="val 9109"/>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1590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2636520"/>
            <a:ext cx="5230368" cy="400304"/>
          </a:xfrm>
          <a:prstGeom prst="roundRect">
            <a:avLst>
              <a:gd name="adj" fmla="val 11421"/>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27178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704088" y="3144520"/>
            <a:ext cx="5230368" cy="298704"/>
          </a:xfrm>
          <a:prstGeom prst="roundRect">
            <a:avLst>
              <a:gd name="adj" fmla="val 15306"/>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Box 19"/>
          <p:cNvSpPr/>
          <p:nvPr/>
        </p:nvSpPr>
        <p:spPr>
          <a:xfrm>
            <a:off x="5815584" y="31750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4</a:t>
            </a:r>
          </a:p>
        </p:txBody>
      </p:sp>
      <p:sp>
        <p:nvSpPr>
          <p:cNvPr id="37" name="Box 20"/>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Text 21"/>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9" name="Text 22"/>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Error database, Redis, dan broker = dependency</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Handler 404, 409, 422, 429 memakai </a:t>
            </a:r>
            <a:r>
              <a:rPr sz="900" b="0" i="0">
                <a:solidFill>
                  <a:srgbClr val="B5482A"/>
                </a:solidFill>
                <a:latin typeface="Inconsolata"/>
              </a:rPr>
              <a:t>client_error</a:t>
            </a:r>
            <a:r>
              <a:rPr sz="900" b="0" i="0">
                <a:solidFill>
                  <a:srgbClr val="434343"/>
                </a:solidFill>
                <a:latin typeface="Inter"/>
              </a:rPr>
              <a:t> (WARNING)</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Dependency: 503</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Bug: 500 dan traceback di log</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error_response</a:t>
            </a:r>
            <a:r>
              <a:rPr sz="900" b="0" i="0">
                <a:solidFill>
                  <a:srgbClr val="434343"/>
                </a:solidFill>
                <a:latin typeface="Inter"/>
              </a:rPr>
              <a:t> menambah </a:t>
            </a:r>
            <a:r>
              <a:rPr sz="900" b="0" i="0">
                <a:solidFill>
                  <a:srgbClr val="B5482A"/>
                </a:solidFill>
                <a:latin typeface="Inconsolata"/>
              </a:rPr>
              <a:t>request_id</a:t>
            </a:r>
            <a:r>
              <a:rPr sz="900" b="0" i="0">
                <a:solidFill>
                  <a:srgbClr val="434343"/>
                </a:solidFill>
                <a:latin typeface="Inter"/>
              </a:rPr>
              <a:t> di body</a:t>
            </a:r>
          </a:p>
        </p:txBody>
      </p:sp>
      <p:sp>
        <p:nvSpPr>
          <p:cNvPr id="40" name="Box 23"/>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Text 24"/>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2" name="Text 25"/>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Sama dengan contoh 03.</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6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Health check: liveness dan readiness</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health.py  +  dependencies.py  +  ops.py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2564"/>
              </a:lnSpc>
              <a:spcAft>
                <a:spcPts val="0"/>
              </a:spcAft>
            </a:pPr>
            <a:r>
              <a:rPr sz="650" i="1">
                <a:solidFill>
                  <a:srgbClr val="8B98A8"/>
                </a:solidFill>
                <a:latin typeface="Inconsolata"/>
              </a:rPr>
              <a:t># app/infrastructure/health.py</a:t>
            </a:r>
          </a:p>
          <a:p>
            <a:pPr>
              <a:lnSpc>
                <a:spcPct val="102564"/>
              </a:lnSpc>
              <a:spcAft>
                <a:spcPts val="0"/>
              </a:spcAft>
            </a:pP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check_redis</a:t>
            </a:r>
            <a:r>
              <a:rPr sz="650" i="0">
                <a:solidFill>
                  <a:srgbClr val="E6EDF3"/>
                </a:solidFill>
                <a:latin typeface="Inconsolata"/>
              </a:rPr>
              <a:t>(url: </a:t>
            </a:r>
            <a:r>
              <a:rPr sz="650" i="0">
                <a:solidFill>
                  <a:srgbClr val="C3A6FF"/>
                </a:solidFill>
                <a:latin typeface="Inconsolata"/>
              </a:rPr>
              <a:t>str</a:t>
            </a:r>
            <a:r>
              <a:rPr sz="650" i="0">
                <a:solidFill>
                  <a:srgbClr val="E6EDF3"/>
                </a:solidFill>
                <a:latin typeface="Inconsolata"/>
              </a:rPr>
              <a:t>) -&gt; </a:t>
            </a:r>
            <a:r>
              <a:rPr sz="650" i="0">
                <a:solidFill>
                  <a:srgbClr val="FF8E6E"/>
                </a:solidFill>
                <a:latin typeface="Inconsolata"/>
              </a:rPr>
              <a:t>None</a:t>
            </a:r>
            <a:r>
              <a:rPr sz="650" i="0">
                <a:solidFill>
                  <a:srgbClr val="E6EDF3"/>
                </a:solidFill>
                <a:latin typeface="Inconsolata"/>
              </a:rPr>
              <a:t>:</a:t>
            </a:r>
          </a:p>
          <a:p>
            <a:pPr>
              <a:lnSpc>
                <a:spcPct val="102564"/>
              </a:lnSpc>
              <a:spcAft>
                <a:spcPts val="0"/>
              </a:spcAft>
            </a:pPr>
            <a:r>
              <a:rPr sz="650" i="0">
                <a:solidFill>
                  <a:srgbClr val="E6EDF3"/>
                </a:solidFill>
                <a:latin typeface="Inconsolata"/>
              </a:rPr>
              <a:t>    redis = </a:t>
            </a:r>
            <a:r>
              <a:rPr sz="650" i="0">
                <a:solidFill>
                  <a:srgbClr val="7FDBCA"/>
                </a:solidFill>
                <a:latin typeface="Inconsolata"/>
              </a:rPr>
              <a:t>Redis</a:t>
            </a:r>
            <a:r>
              <a:rPr sz="650" i="0">
                <a:solidFill>
                  <a:srgbClr val="E6EDF3"/>
                </a:solidFill>
                <a:latin typeface="Inconsolata"/>
              </a:rPr>
              <a:t>.from_url(url, socket_connect_timeout=</a:t>
            </a:r>
            <a:r>
              <a:rPr sz="650" i="0">
                <a:solidFill>
                  <a:srgbClr val="F9C97A"/>
                </a:solidFill>
                <a:latin typeface="Inconsolata"/>
              </a:rPr>
              <a:t>2</a:t>
            </a:r>
            <a:r>
              <a:rPr sz="650" i="0">
                <a:solidFill>
                  <a:srgbClr val="E6EDF3"/>
                </a:solidFill>
                <a:latin typeface="Inconsolata"/>
              </a:rPr>
              <a:t>, retry=</a:t>
            </a:r>
            <a:r>
              <a:rPr sz="650" i="0">
                <a:solidFill>
                  <a:srgbClr val="FF8E6E"/>
                </a:solidFill>
                <a:latin typeface="Inconsolata"/>
              </a:rPr>
              <a:t>None</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FF8E6E"/>
                </a:solidFill>
                <a:latin typeface="Inconsolata"/>
              </a:rPr>
              <a:t>try</a:t>
            </a:r>
            <a:r>
              <a:rPr sz="650" i="0">
                <a:solidFill>
                  <a:srgbClr val="E6EDF3"/>
                </a:solidFill>
                <a:latin typeface="Inconsolata"/>
              </a:rPr>
              <a:t>:</a:t>
            </a:r>
          </a:p>
          <a:p>
            <a:pPr>
              <a:lnSpc>
                <a:spcPct val="102564"/>
              </a:lnSpc>
              <a:spcAft>
                <a:spcPts val="0"/>
              </a:spcAft>
            </a:pPr>
            <a:r>
              <a:rPr sz="650" i="0">
                <a:solidFill>
                  <a:srgbClr val="E6EDF3"/>
                </a:solidFill>
                <a:latin typeface="Inconsolata"/>
              </a:rPr>
              <a:t>        redis.ping()</a:t>
            </a:r>
          </a:p>
          <a:p>
            <a:pPr>
              <a:lnSpc>
                <a:spcPct val="102564"/>
              </a:lnSpc>
              <a:spcAft>
                <a:spcPts val="0"/>
              </a:spcAft>
            </a:pPr>
            <a:r>
              <a:rPr sz="650" i="0">
                <a:solidFill>
                  <a:srgbClr val="E6EDF3"/>
                </a:solidFill>
                <a:latin typeface="Inconsolata"/>
              </a:rPr>
              <a:t>    </a:t>
            </a:r>
            <a:r>
              <a:rPr sz="650" i="0">
                <a:solidFill>
                  <a:srgbClr val="FF8E6E"/>
                </a:solidFill>
                <a:latin typeface="Inconsolata"/>
              </a:rPr>
              <a:t>finally</a:t>
            </a:r>
            <a:r>
              <a:rPr sz="650" i="0">
                <a:solidFill>
                  <a:srgbClr val="E6EDF3"/>
                </a:solidFill>
                <a:latin typeface="Inconsolata"/>
              </a:rPr>
              <a:t>:</a:t>
            </a:r>
          </a:p>
          <a:p>
            <a:pPr>
              <a:lnSpc>
                <a:spcPct val="102564"/>
              </a:lnSpc>
              <a:spcAft>
                <a:spcPts val="0"/>
              </a:spcAft>
            </a:pPr>
            <a:r>
              <a:rPr sz="650" i="0">
                <a:solidFill>
                  <a:srgbClr val="E6EDF3"/>
                </a:solidFill>
                <a:latin typeface="Inconsolata"/>
              </a:rPr>
              <a:t>        redis.close()</a:t>
            </a:r>
          </a:p>
          <a:p>
            <a:pPr>
              <a:lnSpc>
                <a:spcPct val="102564"/>
              </a:lnSpc>
              <a:spcAft>
                <a:spcPts val="0"/>
              </a:spcAft>
            </a:pPr>
            <a:r>
              <a:rPr sz="650" i="0">
                <a:solidFill>
                  <a:srgbClr val="E6EDF3"/>
                </a:solidFill>
                <a:latin typeface="Inconsolata"/>
              </a:rPr>
              <a:t> </a:t>
            </a:r>
          </a:p>
          <a:p>
            <a:pPr>
              <a:lnSpc>
                <a:spcPct val="102564"/>
              </a:lnSpc>
              <a:spcAft>
                <a:spcPts val="0"/>
              </a:spcAft>
            </a:pPr>
            <a:r>
              <a:rPr sz="650" i="1">
                <a:solidFill>
                  <a:srgbClr val="8B98A8"/>
                </a:solidFill>
                <a:latin typeface="Inconsolata"/>
              </a:rPr>
              <a:t># app/api/dependencies.py</a:t>
            </a:r>
          </a:p>
          <a:p>
            <a:pPr>
              <a:lnSpc>
                <a:spcPct val="102564"/>
              </a:lnSpc>
              <a:spcAft>
                <a:spcPts val="0"/>
              </a:spcAft>
            </a:pP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get_health_checks</a:t>
            </a:r>
            <a:r>
              <a:rPr sz="650" i="0">
                <a:solidFill>
                  <a:srgbClr val="E6EDF3"/>
                </a:solidFill>
                <a:latin typeface="Inconsolata"/>
              </a:rPr>
              <a:t>() -&gt; </a:t>
            </a:r>
            <a:r>
              <a:rPr sz="650" i="0">
                <a:solidFill>
                  <a:srgbClr val="C3A6FF"/>
                </a:solidFill>
                <a:latin typeface="Inconsolata"/>
              </a:rPr>
              <a:t>dict</a:t>
            </a:r>
            <a:r>
              <a:rPr sz="650" i="0">
                <a:solidFill>
                  <a:srgbClr val="E6EDF3"/>
                </a:solidFill>
                <a:latin typeface="Inconsolata"/>
              </a:rPr>
              <a:t>[</a:t>
            </a:r>
            <a:r>
              <a:rPr sz="650" i="0">
                <a:solidFill>
                  <a:srgbClr val="C3A6FF"/>
                </a:solidFill>
                <a:latin typeface="Inconsolata"/>
              </a:rPr>
              <a:t>str</a:t>
            </a:r>
            <a:r>
              <a:rPr sz="650" i="0">
                <a:solidFill>
                  <a:srgbClr val="E6EDF3"/>
                </a:solidFill>
                <a:latin typeface="Inconsolata"/>
              </a:rPr>
              <a:t>, </a:t>
            </a:r>
            <a:r>
              <a:rPr sz="650" i="0">
                <a:solidFill>
                  <a:srgbClr val="7FDBCA"/>
                </a:solidFill>
                <a:latin typeface="Inconsolata"/>
              </a:rPr>
              <a:t>Callable</a:t>
            </a:r>
            <a:r>
              <a:rPr sz="650" i="0">
                <a:solidFill>
                  <a:srgbClr val="E6EDF3"/>
                </a:solidFill>
                <a:latin typeface="Inconsolata"/>
              </a:rPr>
              <a:t>[[], </a:t>
            </a:r>
            <a:r>
              <a:rPr sz="650" i="0">
                <a:solidFill>
                  <a:srgbClr val="FF8E6E"/>
                </a:solidFill>
                <a:latin typeface="Inconsolata"/>
              </a:rPr>
              <a:t>None</a:t>
            </a:r>
            <a:r>
              <a:rPr sz="650" i="0">
                <a:solidFill>
                  <a:srgbClr val="E6EDF3"/>
                </a:solidFill>
                <a:latin typeface="Inconsolata"/>
              </a:rPr>
              <a:t>]]:</a:t>
            </a:r>
          </a:p>
          <a:p>
            <a:pPr>
              <a:lnSpc>
                <a:spcPct val="102564"/>
              </a:lnSpc>
              <a:spcAft>
                <a:spcPts val="0"/>
              </a:spcAft>
            </a:pPr>
            <a:r>
              <a:rPr sz="650" i="0">
                <a:solidFill>
                  <a:srgbClr val="E6EDF3"/>
                </a:solidFill>
                <a:latin typeface="Inconsolata"/>
              </a:rPr>
              <a:t>    settings = get_settings()</a:t>
            </a:r>
          </a:p>
          <a:p>
            <a:pPr>
              <a:lnSpc>
                <a:spcPct val="102564"/>
              </a:lnSpc>
              <a:spcAft>
                <a:spcPts val="0"/>
              </a:spcAft>
            </a:pPr>
            <a:r>
              <a:rPr sz="650" i="0">
                <a:solidFill>
                  <a:srgbClr val="E6EDF3"/>
                </a:solidFill>
                <a:latin typeface="Inconsolata"/>
              </a:rPr>
              <a:t>    </a:t>
            </a:r>
            <a:r>
              <a:rPr sz="650" i="0">
                <a:solidFill>
                  <a:srgbClr val="FF8E6E"/>
                </a:solidFill>
                <a:latin typeface="Inconsolata"/>
              </a:rPr>
              <a:t>return</a:t>
            </a:r>
            <a:r>
              <a:rPr sz="650" i="0">
                <a:solidFill>
                  <a:srgbClr val="E6EDF3"/>
                </a:solidFill>
                <a:latin typeface="Inconsolata"/>
              </a:rPr>
              <a:t> {</a:t>
            </a:r>
          </a:p>
          <a:p>
            <a:pPr>
              <a:lnSpc>
                <a:spcPct val="102564"/>
              </a:lnSpc>
              <a:spcAft>
                <a:spcPts val="0"/>
              </a:spcAft>
            </a:pPr>
            <a:r>
              <a:rPr sz="650" i="0">
                <a:solidFill>
                  <a:srgbClr val="E6EDF3"/>
                </a:solidFill>
                <a:latin typeface="Inconsolata"/>
              </a:rPr>
              <a:t>        </a:t>
            </a:r>
            <a:r>
              <a:rPr sz="650" i="0">
                <a:solidFill>
                  <a:srgbClr val="A5D6A7"/>
                </a:solidFill>
                <a:latin typeface="Inconsolata"/>
              </a:rPr>
              <a:t>"database"</a:t>
            </a:r>
            <a:r>
              <a:rPr sz="650" i="0">
                <a:solidFill>
                  <a:srgbClr val="E6EDF3"/>
                </a:solidFill>
                <a:latin typeface="Inconsolata"/>
              </a:rPr>
              <a:t>: </a:t>
            </a:r>
            <a:r>
              <a:rPr sz="650" i="0">
                <a:solidFill>
                  <a:srgbClr val="FF8E6E"/>
                </a:solidFill>
                <a:latin typeface="Inconsolata"/>
              </a:rPr>
              <a:t>lambda</a:t>
            </a:r>
            <a:r>
              <a:rPr sz="650" i="0">
                <a:solidFill>
                  <a:srgbClr val="E6EDF3"/>
                </a:solidFill>
                <a:latin typeface="Inconsolata"/>
              </a:rPr>
              <a:t>: check_database(get_session_factory()),</a:t>
            </a:r>
          </a:p>
          <a:p>
            <a:pPr>
              <a:lnSpc>
                <a:spcPct val="102564"/>
              </a:lnSpc>
              <a:spcAft>
                <a:spcPts val="0"/>
              </a:spcAft>
            </a:pPr>
            <a:r>
              <a:rPr sz="650" i="0">
                <a:solidFill>
                  <a:srgbClr val="E6EDF3"/>
                </a:solidFill>
                <a:latin typeface="Inconsolata"/>
              </a:rPr>
              <a:t>        </a:t>
            </a:r>
            <a:r>
              <a:rPr sz="650" i="0">
                <a:solidFill>
                  <a:srgbClr val="A5D6A7"/>
                </a:solidFill>
                <a:latin typeface="Inconsolata"/>
              </a:rPr>
              <a:t>"redis"</a:t>
            </a:r>
            <a:r>
              <a:rPr sz="650" i="0">
                <a:solidFill>
                  <a:srgbClr val="E6EDF3"/>
                </a:solidFill>
                <a:latin typeface="Inconsolata"/>
              </a:rPr>
              <a:t>: </a:t>
            </a:r>
            <a:r>
              <a:rPr sz="650" i="0">
                <a:solidFill>
                  <a:srgbClr val="FF8E6E"/>
                </a:solidFill>
                <a:latin typeface="Inconsolata"/>
              </a:rPr>
              <a:t>lambda</a:t>
            </a:r>
            <a:r>
              <a:rPr sz="650" i="0">
                <a:solidFill>
                  <a:srgbClr val="E6EDF3"/>
                </a:solidFill>
                <a:latin typeface="Inconsolata"/>
              </a:rPr>
              <a:t>: check_redis(settings.redis_url),</a:t>
            </a:r>
          </a:p>
          <a:p>
            <a:pPr>
              <a:lnSpc>
                <a:spcPct val="102564"/>
              </a:lnSpc>
              <a:spcAft>
                <a:spcPts val="0"/>
              </a:spcAft>
            </a:pPr>
            <a:r>
              <a:rPr sz="650" i="0">
                <a:solidFill>
                  <a:srgbClr val="E6EDF3"/>
                </a:solidFill>
                <a:latin typeface="Inconsolata"/>
              </a:rPr>
              <a:t>        </a:t>
            </a:r>
            <a:r>
              <a:rPr sz="650" i="0">
                <a:solidFill>
                  <a:srgbClr val="A5D6A7"/>
                </a:solidFill>
                <a:latin typeface="Inconsolata"/>
              </a:rPr>
              <a:t>"rabbitmq"</a:t>
            </a:r>
            <a:r>
              <a:rPr sz="650" i="0">
                <a:solidFill>
                  <a:srgbClr val="E6EDF3"/>
                </a:solidFill>
                <a:latin typeface="Inconsolata"/>
              </a:rPr>
              <a:t>: </a:t>
            </a:r>
            <a:r>
              <a:rPr sz="650" i="0">
                <a:solidFill>
                  <a:srgbClr val="FF8E6E"/>
                </a:solidFill>
                <a:latin typeface="Inconsolata"/>
              </a:rPr>
              <a:t>lambda</a:t>
            </a:r>
            <a:r>
              <a:rPr sz="650" i="0">
                <a:solidFill>
                  <a:srgbClr val="E6EDF3"/>
                </a:solidFill>
                <a:latin typeface="Inconsolata"/>
              </a:rPr>
              <a:t>: check_rabbitmq(settings.rabbitmq_url),</a:t>
            </a:r>
          </a:p>
          <a:p>
            <a:pPr>
              <a:lnSpc>
                <a:spcPct val="102564"/>
              </a:lnSpc>
              <a:spcAft>
                <a:spcPts val="0"/>
              </a:spcAft>
            </a:pPr>
            <a:r>
              <a:rPr sz="650" i="0">
                <a:solidFill>
                  <a:srgbClr val="E6EDF3"/>
                </a:solidFill>
                <a:latin typeface="Inconsolata"/>
              </a:rPr>
              <a:t>    }</a:t>
            </a:r>
          </a:p>
          <a:p>
            <a:pPr>
              <a:lnSpc>
                <a:spcPct val="102564"/>
              </a:lnSpc>
              <a:spcAft>
                <a:spcPts val="0"/>
              </a:spcAft>
            </a:pPr>
            <a:r>
              <a:rPr sz="650" i="0">
                <a:solidFill>
                  <a:srgbClr val="E6EDF3"/>
                </a:solidFill>
                <a:latin typeface="Inconsolata"/>
              </a:rPr>
              <a:t> </a:t>
            </a:r>
          </a:p>
          <a:p>
            <a:pPr>
              <a:lnSpc>
                <a:spcPct val="102564"/>
              </a:lnSpc>
              <a:spcAft>
                <a:spcPts val="0"/>
              </a:spcAft>
            </a:pPr>
            <a:r>
              <a:rPr sz="650" i="1">
                <a:solidFill>
                  <a:srgbClr val="8B98A8"/>
                </a:solidFill>
                <a:latin typeface="Inconsolata"/>
              </a:rPr>
              <a:t># app/api/routers/ops.py</a:t>
            </a:r>
          </a:p>
          <a:p>
            <a:pPr>
              <a:lnSpc>
                <a:spcPct val="102564"/>
              </a:lnSpc>
              <a:spcAft>
                <a:spcPts val="0"/>
              </a:spcAft>
            </a:pP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ready</a:t>
            </a:r>
            <a:r>
              <a:rPr sz="650" i="0">
                <a:solidFill>
                  <a:srgbClr val="E6EDF3"/>
                </a:solidFill>
                <a:latin typeface="Inconsolata"/>
              </a:rPr>
              <a:t>(checks: </a:t>
            </a:r>
            <a:r>
              <a:rPr sz="650" i="0">
                <a:solidFill>
                  <a:srgbClr val="C3A6FF"/>
                </a:solidFill>
                <a:latin typeface="Inconsolata"/>
              </a:rPr>
              <a:t>dict</a:t>
            </a:r>
            <a:r>
              <a:rPr sz="650" i="0">
                <a:solidFill>
                  <a:srgbClr val="E6EDF3"/>
                </a:solidFill>
                <a:latin typeface="Inconsolata"/>
              </a:rPr>
              <a:t>[</a:t>
            </a:r>
            <a:r>
              <a:rPr sz="650" i="0">
                <a:solidFill>
                  <a:srgbClr val="C3A6FF"/>
                </a:solidFill>
                <a:latin typeface="Inconsolata"/>
              </a:rPr>
              <a:t>str</a:t>
            </a:r>
            <a:r>
              <a:rPr sz="650" i="0">
                <a:solidFill>
                  <a:srgbClr val="E6EDF3"/>
                </a:solidFill>
                <a:latin typeface="Inconsolata"/>
              </a:rPr>
              <a:t>, </a:t>
            </a:r>
            <a:r>
              <a:rPr sz="650" i="0">
                <a:solidFill>
                  <a:srgbClr val="7FDBCA"/>
                </a:solidFill>
                <a:latin typeface="Inconsolata"/>
              </a:rPr>
              <a:t>Callable</a:t>
            </a:r>
            <a:r>
              <a:rPr sz="650" i="0">
                <a:solidFill>
                  <a:srgbClr val="E6EDF3"/>
                </a:solidFill>
                <a:latin typeface="Inconsolata"/>
              </a:rPr>
              <a:t>[[], </a:t>
            </a:r>
            <a:r>
              <a:rPr sz="650" i="0">
                <a:solidFill>
                  <a:srgbClr val="FF8E6E"/>
                </a:solidFill>
                <a:latin typeface="Inconsolata"/>
              </a:rPr>
              <a:t>None</a:t>
            </a:r>
            <a:r>
              <a:rPr sz="650" i="0">
                <a:solidFill>
                  <a:srgbClr val="E6EDF3"/>
                </a:solidFill>
                <a:latin typeface="Inconsolata"/>
              </a:rPr>
              <a:t>]] = </a:t>
            </a:r>
            <a:r>
              <a:rPr sz="650" i="0">
                <a:solidFill>
                  <a:srgbClr val="7FDBCA"/>
                </a:solidFill>
                <a:latin typeface="Inconsolata"/>
              </a:rPr>
              <a:t>Depends</a:t>
            </a:r>
            <a:r>
              <a:rPr sz="650" i="0">
                <a:solidFill>
                  <a:srgbClr val="E6EDF3"/>
                </a:solidFill>
                <a:latin typeface="Inconsolata"/>
              </a:rPr>
              <a:t>(get_health_checks)):</a:t>
            </a:r>
          </a:p>
          <a:p>
            <a:pPr>
              <a:lnSpc>
                <a:spcPct val="102564"/>
              </a:lnSpc>
              <a:spcAft>
                <a:spcPts val="0"/>
              </a:spcAft>
            </a:pPr>
            <a:r>
              <a:rPr sz="650" i="0">
                <a:solidFill>
                  <a:srgbClr val="E6EDF3"/>
                </a:solidFill>
                <a:latin typeface="Inconsolata"/>
              </a:rPr>
              <a:t>    results = {}</a:t>
            </a:r>
          </a:p>
          <a:p>
            <a:pPr>
              <a:lnSpc>
                <a:spcPct val="102564"/>
              </a:lnSpc>
              <a:spcAft>
                <a:spcPts val="0"/>
              </a:spcAft>
            </a:pPr>
            <a:r>
              <a:rPr sz="650" i="0">
                <a:solidFill>
                  <a:srgbClr val="E6EDF3"/>
                </a:solidFill>
                <a:latin typeface="Inconsolata"/>
              </a:rPr>
              <a:t>    </a:t>
            </a:r>
            <a:r>
              <a:rPr sz="650" i="0">
                <a:solidFill>
                  <a:srgbClr val="FF8E6E"/>
                </a:solidFill>
                <a:latin typeface="Inconsolata"/>
              </a:rPr>
              <a:t>for</a:t>
            </a:r>
            <a:r>
              <a:rPr sz="650" i="0">
                <a:solidFill>
                  <a:srgbClr val="E6EDF3"/>
                </a:solidFill>
                <a:latin typeface="Inconsolata"/>
              </a:rPr>
              <a:t> name, check </a:t>
            </a:r>
            <a:r>
              <a:rPr sz="650" i="0">
                <a:solidFill>
                  <a:srgbClr val="FF8E6E"/>
                </a:solidFill>
                <a:latin typeface="Inconsolata"/>
              </a:rPr>
              <a:t>in</a:t>
            </a:r>
            <a:r>
              <a:rPr sz="650" i="0">
                <a:solidFill>
                  <a:srgbClr val="E6EDF3"/>
                </a:solidFill>
                <a:latin typeface="Inconsolata"/>
              </a:rPr>
              <a:t> checks.items():</a:t>
            </a:r>
          </a:p>
        </p:txBody>
      </p:sp>
      <p:sp>
        <p:nvSpPr>
          <p:cNvPr id="29" name="Box 12"/>
          <p:cNvSpPr/>
          <p:nvPr/>
        </p:nvSpPr>
        <p:spPr>
          <a:xfrm>
            <a:off x="704088" y="1925320"/>
            <a:ext cx="5230368" cy="603503"/>
          </a:xfrm>
          <a:prstGeom prst="roundRect">
            <a:avLst>
              <a:gd name="adj" fmla="val 7575"/>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2108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738120"/>
            <a:ext cx="5230368" cy="603503"/>
          </a:xfrm>
          <a:prstGeom prst="roundRect">
            <a:avLst>
              <a:gd name="adj" fmla="val 7575"/>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9210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3652520"/>
            <a:ext cx="5230368" cy="298704"/>
          </a:xfrm>
          <a:prstGeom prst="roundRect">
            <a:avLst>
              <a:gd name="adj" fmla="val 15306"/>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36830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Text 19"/>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7" name="Text 20"/>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Satu cek per dependency, timeout pendek</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Daftar cek lewat </a:t>
            </a:r>
            <a:r>
              <a:rPr sz="900" b="0" i="0">
                <a:solidFill>
                  <a:srgbClr val="B5482A"/>
                </a:solidFill>
                <a:latin typeface="Inconsolata"/>
              </a:rPr>
              <a:t>Depends</a:t>
            </a:r>
            <a:r>
              <a:rPr sz="900" b="0" i="0">
                <a:solidFill>
                  <a:srgbClr val="434343"/>
                </a:solidFill>
                <a:latin typeface="Inter"/>
              </a:rPr>
              <a:t>, bisa diganti di test</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/health/ready</a:t>
            </a:r>
            <a:r>
              <a:rPr sz="900" b="0" i="0">
                <a:solidFill>
                  <a:srgbClr val="434343"/>
                </a:solidFill>
                <a:latin typeface="Inter"/>
              </a:rPr>
              <a:t> sama polanya dengan contoh 05, ditambah </a:t>
            </a:r>
            <a:r>
              <a:rPr sz="900" b="0" i="0">
                <a:solidFill>
                  <a:srgbClr val="B5482A"/>
                </a:solidFill>
                <a:latin typeface="Inconsolata"/>
              </a:rPr>
              <a:t>/health/live</a:t>
            </a:r>
          </a:p>
        </p:txBody>
      </p:sp>
      <p:sp>
        <p:nvSpPr>
          <p:cNvPr id="38" name="Box 21"/>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Text 22"/>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0" name="Text 23"/>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Dependency mati = 503.</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7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infrastructure/tracing.py: OpenTelemetry</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tracing.py  +  main.py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2564"/>
              </a:lnSpc>
              <a:spcAft>
                <a:spcPts val="0"/>
              </a:spcAft>
            </a:pPr>
            <a:r>
              <a:rPr sz="650" i="1">
                <a:solidFill>
                  <a:srgbClr val="8B98A8"/>
                </a:solidFill>
                <a:latin typeface="Inconsolata"/>
              </a:rPr>
              <a:t># app/infrastructure/tracing.py</a:t>
            </a:r>
          </a:p>
          <a:p>
            <a:pPr>
              <a:lnSpc>
                <a:spcPct val="102564"/>
              </a:lnSpc>
              <a:spcAft>
                <a:spcPts val="0"/>
              </a:spcAft>
            </a:pP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setup_tracing</a:t>
            </a:r>
            <a:r>
              <a:rPr sz="650" i="0">
                <a:solidFill>
                  <a:srgbClr val="E6EDF3"/>
                </a:solidFill>
                <a:latin typeface="Inconsolata"/>
              </a:rPr>
              <a:t>(service_name: </a:t>
            </a:r>
            <a:r>
              <a:rPr sz="650" i="0">
                <a:solidFill>
                  <a:srgbClr val="C3A6FF"/>
                </a:solidFill>
                <a:latin typeface="Inconsolata"/>
              </a:rPr>
              <a:t>str</a:t>
            </a:r>
            <a:r>
              <a:rPr sz="650" i="0">
                <a:solidFill>
                  <a:srgbClr val="E6EDF3"/>
                </a:solidFill>
                <a:latin typeface="Inconsolata"/>
              </a:rPr>
              <a:t>, app=</a:t>
            </a:r>
            <a:r>
              <a:rPr sz="650" i="0">
                <a:solidFill>
                  <a:srgbClr val="FF8E6E"/>
                </a:solidFill>
                <a:latin typeface="Inconsolata"/>
              </a:rPr>
              <a:t>None</a:t>
            </a:r>
            <a:r>
              <a:rPr sz="650" i="0">
                <a:solidFill>
                  <a:srgbClr val="E6EDF3"/>
                </a:solidFill>
                <a:latin typeface="Inconsolata"/>
              </a:rPr>
              <a:t>) -&gt; </a:t>
            </a:r>
            <a:r>
              <a:rPr sz="650" i="0">
                <a:solidFill>
                  <a:srgbClr val="FF8E6E"/>
                </a:solidFill>
                <a:latin typeface="Inconsolata"/>
              </a:rPr>
              <a:t>None</a:t>
            </a:r>
            <a:r>
              <a:rPr sz="650" i="0">
                <a:solidFill>
                  <a:srgbClr val="E6EDF3"/>
                </a:solidFill>
                <a:latin typeface="Inconsolata"/>
              </a:rPr>
              <a:t>:</a:t>
            </a:r>
          </a:p>
          <a:p>
            <a:pPr>
              <a:lnSpc>
                <a:spcPct val="102564"/>
              </a:lnSpc>
              <a:spcAft>
                <a:spcPts val="0"/>
              </a:spcAft>
            </a:pPr>
            <a:r>
              <a:rPr sz="650" i="0">
                <a:solidFill>
                  <a:srgbClr val="E6EDF3"/>
                </a:solidFill>
                <a:latin typeface="Inconsolata"/>
              </a:rPr>
              <a:t>    settings = get_settings()</a:t>
            </a:r>
          </a:p>
          <a:p>
            <a:pPr>
              <a:lnSpc>
                <a:spcPct val="102564"/>
              </a:lnSpc>
              <a:spcAft>
                <a:spcPts val="0"/>
              </a:spcAft>
            </a:pPr>
            <a:r>
              <a:rPr sz="650" i="0">
                <a:solidFill>
                  <a:srgbClr val="E6EDF3"/>
                </a:solidFill>
                <a:latin typeface="Inconsolata"/>
              </a:rPr>
              <a:t>    </a:t>
            </a:r>
            <a:r>
              <a:rPr sz="650" i="0">
                <a:solidFill>
                  <a:srgbClr val="FF8E6E"/>
                </a:solidFill>
                <a:latin typeface="Inconsolata"/>
              </a:rPr>
              <a:t>if</a:t>
            </a:r>
            <a:r>
              <a:rPr sz="650" i="0">
                <a:solidFill>
                  <a:srgbClr val="E6EDF3"/>
                </a:solidFill>
                <a:latin typeface="Inconsolata"/>
              </a:rPr>
              <a:t> </a:t>
            </a:r>
            <a:r>
              <a:rPr sz="650" i="0">
                <a:solidFill>
                  <a:srgbClr val="FF8E6E"/>
                </a:solidFill>
                <a:latin typeface="Inconsolata"/>
              </a:rPr>
              <a:t>not</a:t>
            </a:r>
            <a:r>
              <a:rPr sz="650" i="0">
                <a:solidFill>
                  <a:srgbClr val="E6EDF3"/>
                </a:solidFill>
                <a:latin typeface="Inconsolata"/>
              </a:rPr>
              <a:t> settings.tracing_enabled:</a:t>
            </a:r>
          </a:p>
          <a:p>
            <a:pPr>
              <a:lnSpc>
                <a:spcPct val="102564"/>
              </a:lnSpc>
              <a:spcAft>
                <a:spcPts val="0"/>
              </a:spcAft>
            </a:pPr>
            <a:r>
              <a:rPr sz="650" i="0">
                <a:solidFill>
                  <a:srgbClr val="E6EDF3"/>
                </a:solidFill>
                <a:latin typeface="Inconsolata"/>
              </a:rPr>
              <a:t>        </a:t>
            </a:r>
            <a:r>
              <a:rPr sz="650" i="0">
                <a:solidFill>
                  <a:srgbClr val="FF8E6E"/>
                </a:solidFill>
                <a:latin typeface="Inconsolata"/>
              </a:rPr>
              <a:t>return</a:t>
            </a:r>
          </a:p>
          <a:p>
            <a:pPr>
              <a:lnSpc>
                <a:spcPct val="102564"/>
              </a:lnSpc>
              <a:spcAft>
                <a:spcPts val="0"/>
              </a:spcAft>
            </a:pPr>
            <a:r>
              <a:rPr sz="650" i="0">
                <a:solidFill>
                  <a:srgbClr val="E6EDF3"/>
                </a:solidFill>
                <a:latin typeface="Inconsolata"/>
              </a:rPr>
              <a:t>    provider = </a:t>
            </a:r>
            <a:r>
              <a:rPr sz="650" i="0">
                <a:solidFill>
                  <a:srgbClr val="7FDBCA"/>
                </a:solidFill>
                <a:latin typeface="Inconsolata"/>
              </a:rPr>
              <a:t>TracerProvider</a:t>
            </a:r>
            <a:r>
              <a:rPr sz="650" i="0">
                <a:solidFill>
                  <a:srgbClr val="E6EDF3"/>
                </a:solidFill>
                <a:latin typeface="Inconsolata"/>
              </a:rPr>
              <a:t>(resource=</a:t>
            </a:r>
            <a:r>
              <a:rPr sz="650" i="0">
                <a:solidFill>
                  <a:srgbClr val="7FDBCA"/>
                </a:solidFill>
                <a:latin typeface="Inconsolata"/>
              </a:rPr>
              <a:t>Resource</a:t>
            </a:r>
            <a:r>
              <a:rPr sz="650" i="0">
                <a:solidFill>
                  <a:srgbClr val="E6EDF3"/>
                </a:solidFill>
                <a:latin typeface="Inconsolata"/>
              </a:rPr>
              <a:t>.create({</a:t>
            </a:r>
            <a:r>
              <a:rPr sz="650" i="0">
                <a:solidFill>
                  <a:srgbClr val="A5D6A7"/>
                </a:solidFill>
                <a:latin typeface="Inconsolata"/>
              </a:rPr>
              <a:t>"service.name"</a:t>
            </a:r>
            <a:r>
              <a:rPr sz="650" i="0">
                <a:solidFill>
                  <a:srgbClr val="E6EDF3"/>
                </a:solidFill>
                <a:latin typeface="Inconsolata"/>
              </a:rPr>
              <a:t>: service_name}))</a:t>
            </a:r>
          </a:p>
          <a:p>
            <a:pPr>
              <a:lnSpc>
                <a:spcPct val="102564"/>
              </a:lnSpc>
              <a:spcAft>
                <a:spcPts val="0"/>
              </a:spcAft>
            </a:pPr>
            <a:r>
              <a:rPr sz="650" i="0">
                <a:solidFill>
                  <a:srgbClr val="E6EDF3"/>
                </a:solidFill>
                <a:latin typeface="Inconsolata"/>
              </a:rPr>
              <a:t>    provider.add_span_processor(</a:t>
            </a:r>
            <a:r>
              <a:rPr sz="650" i="0">
                <a:solidFill>
                  <a:srgbClr val="7FDBCA"/>
                </a:solidFill>
                <a:latin typeface="Inconsolata"/>
              </a:rPr>
              <a:t>BatchSpanProcessor</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7FDBCA"/>
                </a:solidFill>
                <a:latin typeface="Inconsolata"/>
              </a:rPr>
              <a:t>OTLPSpanExporter</a:t>
            </a:r>
            <a:r>
              <a:rPr sz="650" i="0">
                <a:solidFill>
                  <a:srgbClr val="E6EDF3"/>
                </a:solidFill>
                <a:latin typeface="Inconsolata"/>
              </a:rPr>
              <a:t>(endpoint=</a:t>
            </a:r>
            <a:r>
              <a:rPr sz="650" i="0">
                <a:solidFill>
                  <a:srgbClr val="A5D6A7"/>
                </a:solidFill>
                <a:latin typeface="Inconsolata"/>
              </a:rPr>
              <a:t>f"{settings.otlp_endpoint}/v1/traces"</a:t>
            </a:r>
            <a:r>
              <a:rPr sz="650" i="0">
                <a:solidFill>
                  <a:srgbClr val="E6EDF3"/>
                </a:solidFill>
                <a:latin typeface="Inconsolata"/>
              </a:rPr>
              <a:t>)))</a:t>
            </a:r>
          </a:p>
          <a:p>
            <a:pPr>
              <a:lnSpc>
                <a:spcPct val="102564"/>
              </a:lnSpc>
              <a:spcAft>
                <a:spcPts val="0"/>
              </a:spcAft>
            </a:pPr>
            <a:r>
              <a:rPr sz="650" i="0">
                <a:solidFill>
                  <a:srgbClr val="E6EDF3"/>
                </a:solidFill>
                <a:latin typeface="Inconsolata"/>
              </a:rPr>
              <a:t>    trace.set_tracer_provider(provider)</a:t>
            </a:r>
          </a:p>
          <a:p>
            <a:pPr>
              <a:lnSpc>
                <a:spcPct val="102564"/>
              </a:lnSpc>
              <a:spcAft>
                <a:spcPts val="0"/>
              </a:spcAft>
            </a:pPr>
            <a:r>
              <a:rPr sz="650" i="0">
                <a:solidFill>
                  <a:srgbClr val="E6EDF3"/>
                </a:solidFill>
                <a:latin typeface="Inconsolata"/>
              </a:rPr>
              <a:t>...</a:t>
            </a:r>
          </a:p>
          <a:p>
            <a:pPr>
              <a:lnSpc>
                <a:spcPct val="102564"/>
              </a:lnSpc>
              <a:spcAft>
                <a:spcPts val="0"/>
              </a:spcAft>
            </a:pPr>
            <a:r>
              <a:rPr sz="650" i="0">
                <a:solidFill>
                  <a:srgbClr val="E6EDF3"/>
                </a:solidFill>
                <a:latin typeface="Inconsolata"/>
              </a:rPr>
              <a:t>    engine = get_session_factory().kw[</a:t>
            </a:r>
            <a:r>
              <a:rPr sz="650" i="0">
                <a:solidFill>
                  <a:srgbClr val="A5D6A7"/>
                </a:solidFill>
                <a:latin typeface="Inconsolata"/>
              </a:rPr>
              <a:t>"bind"</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7FDBCA"/>
                </a:solidFill>
                <a:latin typeface="Inconsolata"/>
              </a:rPr>
              <a:t>SQLAlchemyInstrumentor</a:t>
            </a:r>
            <a:r>
              <a:rPr sz="650" i="0">
                <a:solidFill>
                  <a:srgbClr val="E6EDF3"/>
                </a:solidFill>
                <a:latin typeface="Inconsolata"/>
              </a:rPr>
              <a:t>().instrument(engine=engine, skip_dep_check=</a:t>
            </a:r>
            <a:r>
              <a:rPr sz="650" i="0">
                <a:solidFill>
                  <a:srgbClr val="FF8E6E"/>
                </a:solidFill>
                <a:latin typeface="Inconsolata"/>
              </a:rPr>
              <a:t>True</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FF8E6E"/>
                </a:solidFill>
                <a:latin typeface="Inconsolata"/>
              </a:rPr>
              <a:t>if</a:t>
            </a:r>
            <a:r>
              <a:rPr sz="650" i="0">
                <a:solidFill>
                  <a:srgbClr val="E6EDF3"/>
                </a:solidFill>
                <a:latin typeface="Inconsolata"/>
              </a:rPr>
              <a:t> app </a:t>
            </a:r>
            <a:r>
              <a:rPr sz="650" i="0">
                <a:solidFill>
                  <a:srgbClr val="FF8E6E"/>
                </a:solidFill>
                <a:latin typeface="Inconsolata"/>
              </a:rPr>
              <a:t>is</a:t>
            </a:r>
            <a:r>
              <a:rPr sz="650" i="0">
                <a:solidFill>
                  <a:srgbClr val="E6EDF3"/>
                </a:solidFill>
                <a:latin typeface="Inconsolata"/>
              </a:rPr>
              <a:t> </a:t>
            </a:r>
            <a:r>
              <a:rPr sz="650" i="0">
                <a:solidFill>
                  <a:srgbClr val="FF8E6E"/>
                </a:solidFill>
                <a:latin typeface="Inconsolata"/>
              </a:rPr>
              <a:t>not</a:t>
            </a:r>
            <a:r>
              <a:rPr sz="650" i="0">
                <a:solidFill>
                  <a:srgbClr val="E6EDF3"/>
                </a:solidFill>
                <a:latin typeface="Inconsolata"/>
              </a:rPr>
              <a:t> </a:t>
            </a:r>
            <a:r>
              <a:rPr sz="650" i="0">
                <a:solidFill>
                  <a:srgbClr val="FF8E6E"/>
                </a:solidFill>
                <a:latin typeface="Inconsolata"/>
              </a:rPr>
              <a:t>None</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7FDBCA"/>
                </a:solidFill>
                <a:latin typeface="Inconsolata"/>
              </a:rPr>
              <a:t>FastAPIInstrumentor</a:t>
            </a:r>
            <a:r>
              <a:rPr sz="650" i="0">
                <a:solidFill>
                  <a:srgbClr val="E6EDF3"/>
                </a:solidFill>
                <a:latin typeface="Inconsolata"/>
              </a:rPr>
              <a:t>.instrument_app(app, excluded_urls=</a:t>
            </a:r>
            <a:r>
              <a:rPr sz="650" i="0">
                <a:solidFill>
                  <a:srgbClr val="A5D6A7"/>
                </a:solidFill>
                <a:latin typeface="Inconsolata"/>
              </a:rPr>
              <a:t>"health,metrics"</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p>
          <a:p>
            <a:pPr>
              <a:lnSpc>
                <a:spcPct val="102564"/>
              </a:lnSpc>
              <a:spcAft>
                <a:spcPts val="0"/>
              </a:spcAft>
            </a:pPr>
            <a:r>
              <a:rPr sz="650" i="1">
                <a:solidFill>
                  <a:srgbClr val="8B98A8"/>
                </a:solidFill>
                <a:latin typeface="Inconsolata"/>
              </a:rPr>
              <a:t># app/main.py</a:t>
            </a:r>
          </a:p>
          <a:p>
            <a:pPr>
              <a:lnSpc>
                <a:spcPct val="102564"/>
              </a:lnSpc>
              <a:spcAft>
                <a:spcPts val="0"/>
              </a:spcAft>
            </a:pPr>
            <a:r>
              <a:rPr sz="650" i="0">
                <a:solidFill>
                  <a:srgbClr val="E6EDF3"/>
                </a:solidFill>
                <a:latin typeface="Inconsolata"/>
              </a:rPr>
              <a:t>app.include_router(ops.router)</a:t>
            </a:r>
          </a:p>
          <a:p>
            <a:pPr>
              <a:lnSpc>
                <a:spcPct val="102564"/>
              </a:lnSpc>
              <a:spcAft>
                <a:spcPts val="0"/>
              </a:spcAft>
            </a:pPr>
            <a:r>
              <a:rPr sz="650" i="0">
                <a:solidFill>
                  <a:srgbClr val="E6EDF3"/>
                </a:solidFill>
                <a:latin typeface="Inconsolata"/>
              </a:rPr>
              <a:t>setup_tracing(</a:t>
            </a:r>
            <a:r>
              <a:rPr sz="650" i="0">
                <a:solidFill>
                  <a:srgbClr val="A5D6A7"/>
                </a:solidFill>
                <a:latin typeface="Inconsolata"/>
              </a:rPr>
              <a:t>"order-api"</a:t>
            </a:r>
            <a:r>
              <a:rPr sz="650" i="0">
                <a:solidFill>
                  <a:srgbClr val="E6EDF3"/>
                </a:solidFill>
                <a:latin typeface="Inconsolata"/>
              </a:rPr>
              <a:t>, app)</a:t>
            </a:r>
          </a:p>
        </p:txBody>
      </p:sp>
      <p:sp>
        <p:nvSpPr>
          <p:cNvPr id="29" name="Box 12"/>
          <p:cNvSpPr/>
          <p:nvPr/>
        </p:nvSpPr>
        <p:spPr>
          <a:xfrm>
            <a:off x="704088" y="2331720"/>
            <a:ext cx="5230368" cy="400304"/>
          </a:xfrm>
          <a:prstGeom prst="roundRect">
            <a:avLst>
              <a:gd name="adj" fmla="val 11421"/>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24130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839720"/>
            <a:ext cx="5230368" cy="197104"/>
          </a:xfrm>
          <a:prstGeom prst="roundRect">
            <a:avLst>
              <a:gd name="adj" fmla="val 23195"/>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8194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3144520"/>
            <a:ext cx="523036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30734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Text 19"/>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7" name="Text 20"/>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Span dikirim ke Jaeger lewat OTLP</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Span untuk setiap query, otomatis</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Span untuk setiap request HTTP, otomatis</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config.py</a:t>
            </a:r>
            <a:r>
              <a:rPr sz="900" b="0" i="0">
                <a:solidFill>
                  <a:srgbClr val="434343"/>
                </a:solidFill>
                <a:latin typeface="Inter"/>
              </a:rPr>
              <a:t>: tambah </a:t>
            </a:r>
            <a:r>
              <a:rPr sz="900" b="0" i="0">
                <a:solidFill>
                  <a:srgbClr val="B5482A"/>
                </a:solidFill>
                <a:latin typeface="Inconsolata"/>
              </a:rPr>
              <a:t>tracing_enabled</a:t>
            </a:r>
            <a:r>
              <a:rPr sz="900" b="0" i="0">
                <a:solidFill>
                  <a:srgbClr val="434343"/>
                </a:solidFill>
                <a:latin typeface="Inter"/>
              </a:rPr>
              <a:t>, </a:t>
            </a:r>
            <a:r>
              <a:rPr sz="900" b="0" i="0">
                <a:solidFill>
                  <a:srgbClr val="B5482A"/>
                </a:solidFill>
                <a:latin typeface="Inconsolata"/>
              </a:rPr>
              <a:t>otlp_endpoint</a:t>
            </a:r>
            <a:r>
              <a:rPr sz="900" b="0" i="0">
                <a:solidFill>
                  <a:srgbClr val="434343"/>
                </a:solidFill>
                <a:latin typeface="Inter"/>
              </a:rPr>
              <a:t>, </a:t>
            </a:r>
            <a:r>
              <a:rPr sz="900" b="0" i="0">
                <a:solidFill>
                  <a:srgbClr val="B5482A"/>
                </a:solidFill>
                <a:latin typeface="Inconsolata"/>
              </a:rPr>
              <a:t>log_level</a:t>
            </a:r>
          </a:p>
        </p:txBody>
      </p:sp>
      <p:sp>
        <p:nvSpPr>
          <p:cNvPr id="38" name="Box 21"/>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Text 22"/>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0" name="Text 23"/>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TRACING_ENABLED=0 di test.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8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Trace ikut dikirim lewat RabbitMQ</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rabbitmq.py  +  notification_consumer.py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11111"/>
              </a:lnSpc>
              <a:spcAft>
                <a:spcPts val="0"/>
              </a:spcAft>
            </a:pPr>
            <a:r>
              <a:rPr sz="600" i="1">
                <a:solidFill>
                  <a:srgbClr val="8B98A8"/>
                </a:solidFill>
                <a:latin typeface="Inconsolata"/>
              </a:rPr>
              <a:t># app/infrastructure/rabbitmq.py</a:t>
            </a:r>
          </a:p>
          <a:p>
            <a:pPr>
              <a:lnSpc>
                <a:spcPct val="111111"/>
              </a:lnSpc>
              <a:spcAft>
                <a:spcPts val="0"/>
              </a:spcAft>
            </a:pPr>
            <a:r>
              <a:rPr sz="600" i="0">
                <a:solidFill>
                  <a:srgbClr val="E6EDF3"/>
                </a:solidFill>
                <a:latin typeface="Inconsolata"/>
              </a:rPr>
              <a:t>        </a:t>
            </a:r>
            <a:r>
              <a:rPr sz="600" i="0">
                <a:solidFill>
                  <a:srgbClr val="FF8E6E"/>
                </a:solidFill>
                <a:latin typeface="Inconsolata"/>
              </a:rPr>
              <a:t>with</a:t>
            </a:r>
            <a:r>
              <a:rPr sz="600" i="0">
                <a:solidFill>
                  <a:srgbClr val="E6EDF3"/>
                </a:solidFill>
                <a:latin typeface="Inconsolata"/>
              </a:rPr>
              <a:t> tracer.start_as_current_span(</a:t>
            </a:r>
            <a:r>
              <a:rPr sz="600" i="0">
                <a:solidFill>
                  <a:srgbClr val="A5D6A7"/>
                </a:solidFill>
                <a:latin typeface="Inconsolata"/>
              </a:rPr>
              <a:t>f"publish {event['type']}"</a:t>
            </a:r>
            <a:r>
              <a:rPr sz="600" i="0">
                <a:solidFill>
                  <a:srgbClr val="E6EDF3"/>
                </a:solidFill>
                <a:latin typeface="Inconsolata"/>
              </a:rPr>
              <a:t>, kind=</a:t>
            </a:r>
            <a:r>
              <a:rPr sz="600" i="0">
                <a:solidFill>
                  <a:srgbClr val="7FDBCA"/>
                </a:solidFill>
                <a:latin typeface="Inconsolata"/>
              </a:rPr>
              <a:t>SpanKind</a:t>
            </a:r>
            <a:r>
              <a:rPr sz="600" i="0">
                <a:solidFill>
                  <a:srgbClr val="E6EDF3"/>
                </a:solidFill>
                <a:latin typeface="Inconsolata"/>
              </a:rPr>
              <a:t>.</a:t>
            </a:r>
            <a:r>
              <a:rPr sz="600" i="0">
                <a:solidFill>
                  <a:srgbClr val="7FDBCA"/>
                </a:solidFill>
                <a:latin typeface="Inconsolata"/>
              </a:rPr>
              <a:t>PRODUCER</a:t>
            </a:r>
            <a:r>
              <a:rPr sz="600" i="0">
                <a:solidFill>
                  <a:srgbClr val="E6EDF3"/>
                </a:solidFill>
                <a:latin typeface="Inconsolata"/>
              </a:rPr>
              <a:t>):</a:t>
            </a:r>
          </a:p>
          <a:p>
            <a:pPr>
              <a:lnSpc>
                <a:spcPct val="111111"/>
              </a:lnSpc>
              <a:spcAft>
                <a:spcPts val="0"/>
              </a:spcAft>
            </a:pPr>
            <a:r>
              <a:rPr sz="600" i="0">
                <a:solidFill>
                  <a:srgbClr val="E6EDF3"/>
                </a:solidFill>
                <a:latin typeface="Inconsolata"/>
              </a:rPr>
              <a:t>...</a:t>
            </a:r>
          </a:p>
          <a:p>
            <a:pPr>
              <a:lnSpc>
                <a:spcPct val="111111"/>
              </a:lnSpc>
              <a:spcAft>
                <a:spcPts val="0"/>
              </a:spcAft>
            </a:pPr>
            <a:r>
              <a:rPr sz="600" i="0">
                <a:solidFill>
                  <a:srgbClr val="FF8E6E"/>
                </a:solidFill>
                <a:latin typeface="Inconsolata"/>
              </a:rPr>
              <a:t>def</a:t>
            </a:r>
            <a:r>
              <a:rPr sz="600" i="0">
                <a:solidFill>
                  <a:srgbClr val="E6EDF3"/>
                </a:solidFill>
                <a:latin typeface="Inconsolata"/>
              </a:rPr>
              <a:t> </a:t>
            </a:r>
            <a:r>
              <a:rPr sz="600" i="0">
                <a:solidFill>
                  <a:srgbClr val="82B1FF"/>
                </a:solidFill>
                <a:latin typeface="Inconsolata"/>
              </a:rPr>
              <a:t>message_properties</a:t>
            </a:r>
            <a:r>
              <a:rPr sz="600" i="0">
                <a:solidFill>
                  <a:srgbClr val="E6EDF3"/>
                </a:solidFill>
                <a:latin typeface="Inconsolata"/>
              </a:rPr>
              <a:t>(event: </a:t>
            </a:r>
            <a:r>
              <a:rPr sz="600" i="0">
                <a:solidFill>
                  <a:srgbClr val="C3A6FF"/>
                </a:solidFill>
                <a:latin typeface="Inconsolata"/>
              </a:rPr>
              <a:t>dict</a:t>
            </a:r>
            <a:r>
              <a:rPr sz="600" i="0">
                <a:solidFill>
                  <a:srgbClr val="E6EDF3"/>
                </a:solidFill>
                <a:latin typeface="Inconsolata"/>
              </a:rPr>
              <a:t>) -&gt; pika.</a:t>
            </a:r>
            <a:r>
              <a:rPr sz="600" i="0">
                <a:solidFill>
                  <a:srgbClr val="7FDBCA"/>
                </a:solidFill>
                <a:latin typeface="Inconsolata"/>
              </a:rPr>
              <a:t>BasicProperties</a:t>
            </a:r>
            <a:r>
              <a:rPr sz="600" i="0">
                <a:solidFill>
                  <a:srgbClr val="E6EDF3"/>
                </a:solidFill>
                <a:latin typeface="Inconsolata"/>
              </a:rPr>
              <a:t>:</a:t>
            </a:r>
          </a:p>
          <a:p>
            <a:pPr>
              <a:lnSpc>
                <a:spcPct val="111111"/>
              </a:lnSpc>
              <a:spcAft>
                <a:spcPts val="0"/>
              </a:spcAft>
            </a:pPr>
            <a:r>
              <a:rPr sz="600" i="0">
                <a:solidFill>
                  <a:srgbClr val="E6EDF3"/>
                </a:solidFill>
                <a:latin typeface="Inconsolata"/>
              </a:rPr>
              <a:t>    headers = {}</a:t>
            </a:r>
          </a:p>
          <a:p>
            <a:pPr>
              <a:lnSpc>
                <a:spcPct val="111111"/>
              </a:lnSpc>
              <a:spcAft>
                <a:spcPts val="0"/>
              </a:spcAft>
            </a:pPr>
            <a:r>
              <a:rPr sz="600" i="0">
                <a:solidFill>
                  <a:srgbClr val="E6EDF3"/>
                </a:solidFill>
                <a:latin typeface="Inconsolata"/>
              </a:rPr>
              <a:t>    inject(headers)                                         </a:t>
            </a:r>
            <a:r>
              <a:rPr sz="600" i="1">
                <a:solidFill>
                  <a:srgbClr val="8B98A8"/>
                </a:solidFill>
                <a:latin typeface="Inconsolata"/>
              </a:rPr>
              <a:t># tulis traceparent dari span yang sedang aktif</a:t>
            </a:r>
          </a:p>
          <a:p>
            <a:pPr>
              <a:lnSpc>
                <a:spcPct val="111111"/>
              </a:lnSpc>
              <a:spcAft>
                <a:spcPts val="0"/>
              </a:spcAft>
            </a:pPr>
            <a:r>
              <a:rPr sz="600" i="0">
                <a:solidFill>
                  <a:srgbClr val="E6EDF3"/>
                </a:solidFill>
                <a:latin typeface="Inconsolata"/>
              </a:rPr>
              <a:t>    </a:t>
            </a:r>
            <a:r>
              <a:rPr sz="600" i="0">
                <a:solidFill>
                  <a:srgbClr val="FF8E6E"/>
                </a:solidFill>
                <a:latin typeface="Inconsolata"/>
              </a:rPr>
              <a:t>return</a:t>
            </a:r>
            <a:r>
              <a:rPr sz="600" i="0">
                <a:solidFill>
                  <a:srgbClr val="E6EDF3"/>
                </a:solidFill>
                <a:latin typeface="Inconsolata"/>
              </a:rPr>
              <a:t> pika.</a:t>
            </a:r>
            <a:r>
              <a:rPr sz="600" i="0">
                <a:solidFill>
                  <a:srgbClr val="7FDBCA"/>
                </a:solidFill>
                <a:latin typeface="Inconsolata"/>
              </a:rPr>
              <a:t>BasicProperties</a:t>
            </a:r>
            <a:r>
              <a:rPr sz="600" i="0">
                <a:solidFill>
                  <a:srgbClr val="E6EDF3"/>
                </a:solidFill>
                <a:latin typeface="Inconsolata"/>
              </a:rPr>
              <a:t>(</a:t>
            </a:r>
          </a:p>
          <a:p>
            <a:pPr>
              <a:lnSpc>
                <a:spcPct val="111111"/>
              </a:lnSpc>
              <a:spcAft>
                <a:spcPts val="0"/>
              </a:spcAft>
            </a:pPr>
            <a:r>
              <a:rPr sz="600" i="0">
                <a:solidFill>
                  <a:srgbClr val="E6EDF3"/>
                </a:solidFill>
                <a:latin typeface="Inconsolata"/>
              </a:rPr>
              <a:t>        content_type=</a:t>
            </a:r>
            <a:r>
              <a:rPr sz="600" i="0">
                <a:solidFill>
                  <a:srgbClr val="A5D6A7"/>
                </a:solidFill>
                <a:latin typeface="Inconsolata"/>
              </a:rPr>
              <a:t>"application/json"</a:t>
            </a:r>
            <a:r>
              <a:rPr sz="600" i="0">
                <a:solidFill>
                  <a:srgbClr val="E6EDF3"/>
                </a:solidFill>
                <a:latin typeface="Inconsolata"/>
              </a:rPr>
              <a:t>, message_id=event[</a:t>
            </a:r>
            <a:r>
              <a:rPr sz="600" i="0">
                <a:solidFill>
                  <a:srgbClr val="A5D6A7"/>
                </a:solidFill>
                <a:latin typeface="Inconsolata"/>
              </a:rPr>
              <a:t>"event_id"</a:t>
            </a:r>
            <a:r>
              <a:rPr sz="600" i="0">
                <a:solidFill>
                  <a:srgbClr val="E6EDF3"/>
                </a:solidFill>
                <a:latin typeface="Inconsolata"/>
              </a:rPr>
              <a:t>], headers=headers,</a:t>
            </a:r>
          </a:p>
          <a:p>
            <a:pPr>
              <a:lnSpc>
                <a:spcPct val="111111"/>
              </a:lnSpc>
              <a:spcAft>
                <a:spcPts val="0"/>
              </a:spcAft>
            </a:pPr>
            <a:r>
              <a:rPr sz="600" i="0">
                <a:solidFill>
                  <a:srgbClr val="E6EDF3"/>
                </a:solidFill>
                <a:latin typeface="Inconsolata"/>
              </a:rPr>
              <a:t> </a:t>
            </a:r>
          </a:p>
          <a:p>
            <a:pPr>
              <a:lnSpc>
                <a:spcPct val="111111"/>
              </a:lnSpc>
              <a:spcAft>
                <a:spcPts val="0"/>
              </a:spcAft>
            </a:pPr>
            <a:r>
              <a:rPr sz="600" i="1">
                <a:solidFill>
                  <a:srgbClr val="8B98A8"/>
                </a:solidFill>
                <a:latin typeface="Inconsolata"/>
              </a:rPr>
              <a:t># app/consumers/notification_consumer.py</a:t>
            </a:r>
          </a:p>
          <a:p>
            <a:pPr>
              <a:lnSpc>
                <a:spcPct val="111111"/>
              </a:lnSpc>
              <a:spcAft>
                <a:spcPts val="0"/>
              </a:spcAft>
            </a:pPr>
            <a:r>
              <a:rPr sz="600" i="0">
                <a:solidFill>
                  <a:srgbClr val="FF8E6E"/>
                </a:solidFill>
                <a:latin typeface="Inconsolata"/>
              </a:rPr>
              <a:t>def</a:t>
            </a:r>
            <a:r>
              <a:rPr sz="600" i="0">
                <a:solidFill>
                  <a:srgbClr val="E6EDF3"/>
                </a:solidFill>
                <a:latin typeface="Inconsolata"/>
              </a:rPr>
              <a:t> </a:t>
            </a:r>
            <a:r>
              <a:rPr sz="600" i="0">
                <a:solidFill>
                  <a:srgbClr val="82B1FF"/>
                </a:solidFill>
                <a:latin typeface="Inconsolata"/>
              </a:rPr>
              <a:t>process_message</a:t>
            </a:r>
            <a:r>
              <a:rPr sz="600" i="0">
                <a:solidFill>
                  <a:srgbClr val="E6EDF3"/>
                </a:solidFill>
                <a:latin typeface="Inconsolata"/>
              </a:rPr>
              <a:t>(channel, method, properties, body: bytes, service: </a:t>
            </a:r>
            <a:r>
              <a:rPr sz="600" i="0">
                <a:solidFill>
                  <a:srgbClr val="7FDBCA"/>
                </a:solidFill>
                <a:latin typeface="Inconsolata"/>
              </a:rPr>
              <a:t>NotificationService</a:t>
            </a:r>
            <a:r>
              <a:rPr sz="600" i="0">
                <a:solidFill>
                  <a:srgbClr val="E6EDF3"/>
                </a:solidFill>
                <a:latin typeface="Inconsolata"/>
              </a:rPr>
              <a:t>,</a:t>
            </a:r>
          </a:p>
          <a:p>
            <a:pPr>
              <a:lnSpc>
                <a:spcPct val="111111"/>
              </a:lnSpc>
              <a:spcAft>
                <a:spcPts val="0"/>
              </a:spcAft>
            </a:pPr>
            <a:r>
              <a:rPr sz="600" i="0">
                <a:solidFill>
                  <a:srgbClr val="E6EDF3"/>
                </a:solidFill>
                <a:latin typeface="Inconsolata"/>
              </a:rPr>
              <a:t>                    max_retries: </a:t>
            </a:r>
            <a:r>
              <a:rPr sz="600" i="0">
                <a:solidFill>
                  <a:srgbClr val="C3A6FF"/>
                </a:solidFill>
                <a:latin typeface="Inconsolata"/>
              </a:rPr>
              <a:t>int</a:t>
            </a:r>
            <a:r>
              <a:rPr sz="600" i="0">
                <a:solidFill>
                  <a:srgbClr val="E6EDF3"/>
                </a:solidFill>
                <a:latin typeface="Inconsolata"/>
              </a:rPr>
              <a:t>, retry_delay_ms: </a:t>
            </a:r>
            <a:r>
              <a:rPr sz="600" i="0">
                <a:solidFill>
                  <a:srgbClr val="C3A6FF"/>
                </a:solidFill>
                <a:latin typeface="Inconsolata"/>
              </a:rPr>
              <a:t>int</a:t>
            </a:r>
            <a:r>
              <a:rPr sz="600" i="0">
                <a:solidFill>
                  <a:srgbClr val="E6EDF3"/>
                </a:solidFill>
                <a:latin typeface="Inconsolata"/>
              </a:rPr>
              <a:t>) -&gt; </a:t>
            </a:r>
            <a:r>
              <a:rPr sz="600" i="0">
                <a:solidFill>
                  <a:srgbClr val="C3A6FF"/>
                </a:solidFill>
                <a:latin typeface="Inconsolata"/>
              </a:rPr>
              <a:t>str</a:t>
            </a:r>
            <a:r>
              <a:rPr sz="600" i="0">
                <a:solidFill>
                  <a:srgbClr val="E6EDF3"/>
                </a:solidFill>
                <a:latin typeface="Inconsolata"/>
              </a:rPr>
              <a:t>:</a:t>
            </a:r>
          </a:p>
          <a:p>
            <a:pPr>
              <a:lnSpc>
                <a:spcPct val="111111"/>
              </a:lnSpc>
              <a:spcAft>
                <a:spcPts val="0"/>
              </a:spcAft>
            </a:pPr>
            <a:r>
              <a:rPr sz="600" i="0">
                <a:solidFill>
                  <a:srgbClr val="E6EDF3"/>
                </a:solidFill>
                <a:latin typeface="Inconsolata"/>
              </a:rPr>
              <a:t>    headers = properties.headers </a:t>
            </a:r>
            <a:r>
              <a:rPr sz="600" i="0">
                <a:solidFill>
                  <a:srgbClr val="FF8E6E"/>
                </a:solidFill>
                <a:latin typeface="Inconsolata"/>
              </a:rPr>
              <a:t>or</a:t>
            </a:r>
            <a:r>
              <a:rPr sz="600" i="0">
                <a:solidFill>
                  <a:srgbClr val="E6EDF3"/>
                </a:solidFill>
                <a:latin typeface="Inconsolata"/>
              </a:rPr>
              <a:t> {}</a:t>
            </a:r>
          </a:p>
          <a:p>
            <a:pPr>
              <a:lnSpc>
                <a:spcPct val="111111"/>
              </a:lnSpc>
              <a:spcAft>
                <a:spcPts val="0"/>
              </a:spcAft>
            </a:pPr>
            <a:r>
              <a:rPr sz="600" i="0">
                <a:solidFill>
                  <a:srgbClr val="E6EDF3"/>
                </a:solidFill>
                <a:latin typeface="Inconsolata"/>
              </a:rPr>
              <a:t>    context = extract(headers)                               </a:t>
            </a:r>
            <a:r>
              <a:rPr sz="600" i="1">
                <a:solidFill>
                  <a:srgbClr val="8B98A8"/>
                </a:solidFill>
                <a:latin typeface="Inconsolata"/>
              </a:rPr>
              <a:t># sambung ke trace API yang mengirim event</a:t>
            </a:r>
          </a:p>
          <a:p>
            <a:pPr>
              <a:lnSpc>
                <a:spcPct val="111111"/>
              </a:lnSpc>
              <a:spcAft>
                <a:spcPts val="0"/>
              </a:spcAft>
            </a:pPr>
            <a:r>
              <a:rPr sz="600" i="0">
                <a:solidFill>
                  <a:srgbClr val="E6EDF3"/>
                </a:solidFill>
                <a:latin typeface="Inconsolata"/>
              </a:rPr>
              <a:t>    </a:t>
            </a:r>
            <a:r>
              <a:rPr sz="600" i="0">
                <a:solidFill>
                  <a:srgbClr val="FF8E6E"/>
                </a:solidFill>
                <a:latin typeface="Inconsolata"/>
              </a:rPr>
              <a:t>with</a:t>
            </a:r>
            <a:r>
              <a:rPr sz="600" i="0">
                <a:solidFill>
                  <a:srgbClr val="E6EDF3"/>
                </a:solidFill>
                <a:latin typeface="Inconsolata"/>
              </a:rPr>
              <a:t> tracer.start_as_current_span(</a:t>
            </a:r>
            <a:r>
              <a:rPr sz="600" i="0">
                <a:solidFill>
                  <a:srgbClr val="A5D6A7"/>
                </a:solidFill>
                <a:latin typeface="Inconsolata"/>
              </a:rPr>
              <a:t>"process notification"</a:t>
            </a:r>
            <a:r>
              <a:rPr sz="600" i="0">
                <a:solidFill>
                  <a:srgbClr val="E6EDF3"/>
                </a:solidFill>
                <a:latin typeface="Inconsolata"/>
              </a:rPr>
              <a:t>, context=context, kind=</a:t>
            </a:r>
            <a:r>
              <a:rPr sz="600" i="0">
                <a:solidFill>
                  <a:srgbClr val="7FDBCA"/>
                </a:solidFill>
                <a:latin typeface="Inconsolata"/>
              </a:rPr>
              <a:t>SpanKind</a:t>
            </a:r>
            <a:r>
              <a:rPr sz="600" i="0">
                <a:solidFill>
                  <a:srgbClr val="E6EDF3"/>
                </a:solidFill>
                <a:latin typeface="Inconsolata"/>
              </a:rPr>
              <a:t>.</a:t>
            </a:r>
            <a:r>
              <a:rPr sz="600" i="0">
                <a:solidFill>
                  <a:srgbClr val="7FDBCA"/>
                </a:solidFill>
                <a:latin typeface="Inconsolata"/>
              </a:rPr>
              <a:t>CONSUMER</a:t>
            </a:r>
            <a:r>
              <a:rPr sz="600" i="0">
                <a:solidFill>
                  <a:srgbClr val="E6EDF3"/>
                </a:solidFill>
                <a:latin typeface="Inconsolata"/>
              </a:rPr>
              <a:t>):</a:t>
            </a:r>
          </a:p>
          <a:p>
            <a:pPr>
              <a:lnSpc>
                <a:spcPct val="111111"/>
              </a:lnSpc>
              <a:spcAft>
                <a:spcPts val="0"/>
              </a:spcAft>
            </a:pPr>
            <a:r>
              <a:rPr sz="600" i="0">
                <a:solidFill>
                  <a:srgbClr val="E6EDF3"/>
                </a:solidFill>
                <a:latin typeface="Inconsolata"/>
              </a:rPr>
              <a:t>        result = handle(channel, method, properties, body, service, max_retries, retry_delay_ms)</a:t>
            </a:r>
          </a:p>
          <a:p>
            <a:pPr>
              <a:lnSpc>
                <a:spcPct val="111111"/>
              </a:lnSpc>
              <a:spcAft>
                <a:spcPts val="0"/>
              </a:spcAft>
            </a:pPr>
            <a:r>
              <a:rPr sz="600" i="0">
                <a:solidFill>
                  <a:srgbClr val="E6EDF3"/>
                </a:solidFill>
                <a:latin typeface="Inconsolata"/>
              </a:rPr>
              <a:t>        </a:t>
            </a:r>
            <a:r>
              <a:rPr sz="600" i="0">
                <a:solidFill>
                  <a:srgbClr val="7FDBCA"/>
                </a:solidFill>
                <a:latin typeface="Inconsolata"/>
              </a:rPr>
              <a:t>NOTIFICATIONS</a:t>
            </a:r>
            <a:r>
              <a:rPr sz="600" i="0">
                <a:solidFill>
                  <a:srgbClr val="E6EDF3"/>
                </a:solidFill>
                <a:latin typeface="Inconsolata"/>
              </a:rPr>
              <a:t>.labels(result).inc()</a:t>
            </a:r>
          </a:p>
        </p:txBody>
      </p:sp>
      <p:sp>
        <p:nvSpPr>
          <p:cNvPr id="29" name="Box 12"/>
          <p:cNvSpPr/>
          <p:nvPr/>
        </p:nvSpPr>
        <p:spPr>
          <a:xfrm>
            <a:off x="704088" y="1925320"/>
            <a:ext cx="523036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1854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331720"/>
            <a:ext cx="523036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2606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3144520"/>
            <a:ext cx="5230368" cy="197104"/>
          </a:xfrm>
          <a:prstGeom prst="roundRect">
            <a:avLst>
              <a:gd name="adj" fmla="val 23195"/>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3124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Text 19"/>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7" name="Text 20"/>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Span publish di sekitar </a:t>
            </a:r>
            <a:r>
              <a:rPr sz="900" b="0" i="0">
                <a:solidFill>
                  <a:srgbClr val="B5482A"/>
                </a:solidFill>
                <a:latin typeface="Inconsolata"/>
              </a:rPr>
              <a:t>basic_publish</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inject</a:t>
            </a:r>
            <a:r>
              <a:rPr sz="900" b="0" i="0">
                <a:solidFill>
                  <a:srgbClr val="434343"/>
                </a:solidFill>
                <a:latin typeface="Inter"/>
              </a:rPr>
              <a:t>: traceparent di header pesan (contoh 07)</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extract</a:t>
            </a:r>
            <a:r>
              <a:rPr sz="900" b="0" i="0">
                <a:solidFill>
                  <a:srgbClr val="434343"/>
                </a:solidFill>
                <a:latin typeface="Inter"/>
              </a:rPr>
              <a:t>: span consumer masuk trace yang sama</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main()</a:t>
            </a:r>
            <a:r>
              <a:rPr sz="900" b="0" i="0">
                <a:solidFill>
                  <a:srgbClr val="434343"/>
                </a:solidFill>
                <a:latin typeface="Inter"/>
              </a:rPr>
              <a:t> consumer: </a:t>
            </a:r>
            <a:r>
              <a:rPr sz="900" b="0" i="0">
                <a:solidFill>
                  <a:srgbClr val="B5482A"/>
                </a:solidFill>
                <a:latin typeface="Inconsolata"/>
              </a:rPr>
              <a:t>setup_logging</a:t>
            </a:r>
            <a:r>
              <a:rPr sz="900" b="0" i="0">
                <a:solidFill>
                  <a:srgbClr val="434343"/>
                </a:solidFill>
                <a:latin typeface="Inter"/>
              </a:rPr>
              <a:t>, </a:t>
            </a:r>
            <a:r>
              <a:rPr sz="900" b="0" i="0">
                <a:solidFill>
                  <a:srgbClr val="B5482A"/>
                </a:solidFill>
                <a:latin typeface="Inconsolata"/>
              </a:rPr>
              <a:t>setup_tracing</a:t>
            </a:r>
            <a:r>
              <a:rPr sz="900" b="0" i="0">
                <a:solidFill>
                  <a:srgbClr val="434343"/>
                </a:solidFill>
                <a:latin typeface="Inter"/>
              </a:rPr>
              <a:t>, </a:t>
            </a:r>
            <a:r>
              <a:rPr sz="900" b="0" i="0">
                <a:solidFill>
                  <a:srgbClr val="B5482A"/>
                </a:solidFill>
                <a:latin typeface="Inconsolata"/>
              </a:rPr>
              <a:t>start_http_server(8001)</a:t>
            </a:r>
          </a:p>
        </p:txBody>
      </p:sp>
      <p:sp>
        <p:nvSpPr>
          <p:cNvPr id="38" name="Box 21"/>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Text 22"/>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0" name="Text 23"/>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Pesan retry tetap membawa traceparent.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9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tests/test_observability.py</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tests/test_observability.py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2564"/>
              </a:lnSpc>
              <a:spcAft>
                <a:spcPts val="0"/>
              </a:spcAft>
            </a:pP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test_request_id_dari_client_dipakai_ulang</a:t>
            </a:r>
            <a:r>
              <a:rPr sz="650" i="0">
                <a:solidFill>
                  <a:srgbClr val="E6EDF3"/>
                </a:solidFill>
                <a:latin typeface="Inconsolata"/>
              </a:rPr>
              <a:t>(client):</a:t>
            </a:r>
          </a:p>
          <a:p>
            <a:pPr>
              <a:lnSpc>
                <a:spcPct val="102564"/>
              </a:lnSpc>
              <a:spcAft>
                <a:spcPts val="0"/>
              </a:spcAft>
            </a:pPr>
            <a:r>
              <a:rPr sz="650" i="0">
                <a:solidFill>
                  <a:srgbClr val="E6EDF3"/>
                </a:solidFill>
                <a:latin typeface="Inconsolata"/>
              </a:rPr>
              <a:t>    response = client.get(</a:t>
            </a:r>
            <a:r>
              <a:rPr sz="650" i="0">
                <a:solidFill>
                  <a:srgbClr val="A5D6A7"/>
                </a:solidFill>
                <a:latin typeface="Inconsolata"/>
              </a:rPr>
              <a:t>"/products"</a:t>
            </a:r>
            <a:r>
              <a:rPr sz="650" i="0">
                <a:solidFill>
                  <a:srgbClr val="E6EDF3"/>
                </a:solidFill>
                <a:latin typeface="Inconsolata"/>
              </a:rPr>
              <a:t>, headers={</a:t>
            </a:r>
            <a:r>
              <a:rPr sz="650" i="0">
                <a:solidFill>
                  <a:srgbClr val="A5D6A7"/>
                </a:solidFill>
                <a:latin typeface="Inconsolata"/>
              </a:rPr>
              <a:t>"X-Request-ID"</a:t>
            </a:r>
            <a:r>
              <a:rPr sz="650" i="0">
                <a:solidFill>
                  <a:srgbClr val="E6EDF3"/>
                </a:solidFill>
                <a:latin typeface="Inconsolata"/>
              </a:rPr>
              <a:t>: </a:t>
            </a:r>
            <a:r>
              <a:rPr sz="650" i="0">
                <a:solidFill>
                  <a:srgbClr val="A5D6A7"/>
                </a:solidFill>
                <a:latin typeface="Inconsolata"/>
              </a:rPr>
              <a:t>"req-123"</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FF8E6E"/>
                </a:solidFill>
                <a:latin typeface="Inconsolata"/>
              </a:rPr>
              <a:t>assert</a:t>
            </a:r>
            <a:r>
              <a:rPr sz="650" i="0">
                <a:solidFill>
                  <a:srgbClr val="E6EDF3"/>
                </a:solidFill>
                <a:latin typeface="Inconsolata"/>
              </a:rPr>
              <a:t> response.headers[</a:t>
            </a:r>
            <a:r>
              <a:rPr sz="650" i="0">
                <a:solidFill>
                  <a:srgbClr val="A5D6A7"/>
                </a:solidFill>
                <a:latin typeface="Inconsolata"/>
              </a:rPr>
              <a:t>"X-Request-ID"</a:t>
            </a:r>
            <a:r>
              <a:rPr sz="650" i="0">
                <a:solidFill>
                  <a:srgbClr val="E6EDF3"/>
                </a:solidFill>
                <a:latin typeface="Inconsolata"/>
              </a:rPr>
              <a:t>] == </a:t>
            </a:r>
            <a:r>
              <a:rPr sz="650" i="0">
                <a:solidFill>
                  <a:srgbClr val="A5D6A7"/>
                </a:solidFill>
                <a:latin typeface="Inconsolata"/>
              </a:rPr>
              <a:t>"req-123"</a:t>
            </a:r>
          </a:p>
          <a:p>
            <a:pPr>
              <a:lnSpc>
                <a:spcPct val="102564"/>
              </a:lnSpc>
              <a:spcAft>
                <a:spcPts val="0"/>
              </a:spcAft>
            </a:pPr>
            <a:r>
              <a:rPr sz="650" i="0">
                <a:solidFill>
                  <a:srgbClr val="E6EDF3"/>
                </a:solidFill>
                <a:latin typeface="Inconsolata"/>
              </a:rPr>
              <a:t>...</a:t>
            </a:r>
          </a:p>
          <a:p>
            <a:pPr>
              <a:lnSpc>
                <a:spcPct val="102564"/>
              </a:lnSpc>
              <a:spcAft>
                <a:spcPts val="0"/>
              </a:spcAft>
            </a:pP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test_readiness_503_jika_dependency_mati</a:t>
            </a:r>
            <a:r>
              <a:rPr sz="650" i="0">
                <a:solidFill>
                  <a:srgbClr val="E6EDF3"/>
                </a:solidFill>
                <a:latin typeface="Inconsolata"/>
              </a:rPr>
              <a:t>(client):</a:t>
            </a:r>
          </a:p>
          <a:p>
            <a:pPr>
              <a:lnSpc>
                <a:spcPct val="102564"/>
              </a:lnSpc>
              <a:spcAft>
                <a:spcPts val="0"/>
              </a:spcAft>
            </a:pPr>
            <a:r>
              <a:rPr sz="650" i="0">
                <a:solidFill>
                  <a:srgbClr val="E6EDF3"/>
                </a:solidFill>
                <a:latin typeface="Inconsolata"/>
              </a:rPr>
              <a:t>    </a:t>
            </a: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redis_down</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FF8E6E"/>
                </a:solidFill>
                <a:latin typeface="Inconsolata"/>
              </a:rPr>
              <a:t>raise</a:t>
            </a:r>
            <a:r>
              <a:rPr sz="650" i="0">
                <a:solidFill>
                  <a:srgbClr val="E6EDF3"/>
                </a:solidFill>
                <a:latin typeface="Inconsolata"/>
              </a:rPr>
              <a:t> </a:t>
            </a:r>
            <a:r>
              <a:rPr sz="650" i="0">
                <a:solidFill>
                  <a:srgbClr val="7FDBCA"/>
                </a:solidFill>
                <a:latin typeface="Inconsolata"/>
              </a:rPr>
              <a:t>ConnectionError</a:t>
            </a:r>
            <a:r>
              <a:rPr sz="650" i="0">
                <a:solidFill>
                  <a:srgbClr val="E6EDF3"/>
                </a:solidFill>
                <a:latin typeface="Inconsolata"/>
              </a:rPr>
              <a:t>(</a:t>
            </a:r>
            <a:r>
              <a:rPr sz="650" i="0">
                <a:solidFill>
                  <a:srgbClr val="A5D6A7"/>
                </a:solidFill>
                <a:latin typeface="Inconsolata"/>
              </a:rPr>
              <a:t>"Redis mati"</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p>
          <a:p>
            <a:pPr>
              <a:lnSpc>
                <a:spcPct val="102564"/>
              </a:lnSpc>
              <a:spcAft>
                <a:spcPts val="0"/>
              </a:spcAft>
            </a:pPr>
            <a:r>
              <a:rPr sz="650" i="0">
                <a:solidFill>
                  <a:srgbClr val="E6EDF3"/>
                </a:solidFill>
                <a:latin typeface="Inconsolata"/>
              </a:rPr>
              <a:t>    app.dependency_overrides[get_health_checks] = </a:t>
            </a:r>
            <a:r>
              <a:rPr sz="650" i="0">
                <a:solidFill>
                  <a:srgbClr val="FF8E6E"/>
                </a:solidFill>
                <a:latin typeface="Inconsolata"/>
              </a:rPr>
              <a:t>lambda</a:t>
            </a:r>
            <a:r>
              <a:rPr sz="650" i="0">
                <a:solidFill>
                  <a:srgbClr val="E6EDF3"/>
                </a:solidFill>
                <a:latin typeface="Inconsolata"/>
              </a:rPr>
              <a:t>: {</a:t>
            </a:r>
            <a:r>
              <a:rPr sz="650" i="0">
                <a:solidFill>
                  <a:srgbClr val="A5D6A7"/>
                </a:solidFill>
                <a:latin typeface="Inconsolata"/>
              </a:rPr>
              <a:t>"database"</a:t>
            </a:r>
            <a:r>
              <a:rPr sz="650" i="0">
                <a:solidFill>
                  <a:srgbClr val="E6EDF3"/>
                </a:solidFill>
                <a:latin typeface="Inconsolata"/>
              </a:rPr>
              <a:t>: </a:t>
            </a:r>
            <a:r>
              <a:rPr sz="650" i="0">
                <a:solidFill>
                  <a:srgbClr val="FF8E6E"/>
                </a:solidFill>
                <a:latin typeface="Inconsolata"/>
              </a:rPr>
              <a:t>lambda</a:t>
            </a:r>
            <a:r>
              <a:rPr sz="650" i="0">
                <a:solidFill>
                  <a:srgbClr val="E6EDF3"/>
                </a:solidFill>
                <a:latin typeface="Inconsolata"/>
              </a:rPr>
              <a:t>: </a:t>
            </a:r>
            <a:r>
              <a:rPr sz="650" i="0">
                <a:solidFill>
                  <a:srgbClr val="FF8E6E"/>
                </a:solidFill>
                <a:latin typeface="Inconsolata"/>
              </a:rPr>
              <a:t>None</a:t>
            </a:r>
            <a:r>
              <a:rPr sz="650" i="0">
                <a:solidFill>
                  <a:srgbClr val="E6EDF3"/>
                </a:solidFill>
                <a:latin typeface="Inconsolata"/>
              </a:rPr>
              <a:t>, </a:t>
            </a:r>
            <a:r>
              <a:rPr sz="650" i="0">
                <a:solidFill>
                  <a:srgbClr val="A5D6A7"/>
                </a:solidFill>
                <a:latin typeface="Inconsolata"/>
              </a:rPr>
              <a:t>"redis"</a:t>
            </a:r>
            <a:r>
              <a:rPr sz="650" i="0">
                <a:solidFill>
                  <a:srgbClr val="E6EDF3"/>
                </a:solidFill>
                <a:latin typeface="Inconsolata"/>
              </a:rPr>
              <a:t>: redis_down}</a:t>
            </a:r>
          </a:p>
          <a:p>
            <a:pPr>
              <a:lnSpc>
                <a:spcPct val="102564"/>
              </a:lnSpc>
              <a:spcAft>
                <a:spcPts val="0"/>
              </a:spcAft>
            </a:pPr>
            <a:r>
              <a:rPr sz="650" i="0">
                <a:solidFill>
                  <a:srgbClr val="E6EDF3"/>
                </a:solidFill>
                <a:latin typeface="Inconsolata"/>
              </a:rPr>
              <a:t>    response = client.get(</a:t>
            </a:r>
            <a:r>
              <a:rPr sz="650" i="0">
                <a:solidFill>
                  <a:srgbClr val="A5D6A7"/>
                </a:solidFill>
                <a:latin typeface="Inconsolata"/>
              </a:rPr>
              <a:t>"/health/ready"</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FF8E6E"/>
                </a:solidFill>
                <a:latin typeface="Inconsolata"/>
              </a:rPr>
              <a:t>assert</a:t>
            </a:r>
            <a:r>
              <a:rPr sz="650" i="0">
                <a:solidFill>
                  <a:srgbClr val="E6EDF3"/>
                </a:solidFill>
                <a:latin typeface="Inconsolata"/>
              </a:rPr>
              <a:t> response.status_code == </a:t>
            </a:r>
            <a:r>
              <a:rPr sz="650" i="0">
                <a:solidFill>
                  <a:srgbClr val="F9C97A"/>
                </a:solidFill>
                <a:latin typeface="Inconsolata"/>
              </a:rPr>
              <a:t>503</a:t>
            </a:r>
          </a:p>
          <a:p>
            <a:pPr>
              <a:lnSpc>
                <a:spcPct val="102564"/>
              </a:lnSpc>
              <a:spcAft>
                <a:spcPts val="0"/>
              </a:spcAft>
            </a:pPr>
            <a:r>
              <a:rPr sz="650" i="0">
                <a:solidFill>
                  <a:srgbClr val="E6EDF3"/>
                </a:solidFill>
                <a:latin typeface="Inconsolata"/>
              </a:rPr>
              <a:t>    </a:t>
            </a:r>
            <a:r>
              <a:rPr sz="650" i="0">
                <a:solidFill>
                  <a:srgbClr val="FF8E6E"/>
                </a:solidFill>
                <a:latin typeface="Inconsolata"/>
              </a:rPr>
              <a:t>assert</a:t>
            </a:r>
            <a:r>
              <a:rPr sz="650" i="0">
                <a:solidFill>
                  <a:srgbClr val="E6EDF3"/>
                </a:solidFill>
                <a:latin typeface="Inconsolata"/>
              </a:rPr>
              <a:t> response.json()[</a:t>
            </a:r>
            <a:r>
              <a:rPr sz="650" i="0">
                <a:solidFill>
                  <a:srgbClr val="A5D6A7"/>
                </a:solidFill>
                <a:latin typeface="Inconsolata"/>
              </a:rPr>
              <a:t>"checks"</a:t>
            </a:r>
            <a:r>
              <a:rPr sz="650" i="0">
                <a:solidFill>
                  <a:srgbClr val="E6EDF3"/>
                </a:solidFill>
                <a:latin typeface="Inconsolata"/>
              </a:rPr>
              <a:t>][</a:t>
            </a:r>
            <a:r>
              <a:rPr sz="650" i="0">
                <a:solidFill>
                  <a:srgbClr val="A5D6A7"/>
                </a:solidFill>
                <a:latin typeface="Inconsolata"/>
              </a:rPr>
              <a:t>"redis"</a:t>
            </a:r>
            <a:r>
              <a:rPr sz="650" i="0">
                <a:solidFill>
                  <a:srgbClr val="E6EDF3"/>
                </a:solidFill>
                <a:latin typeface="Inconsolata"/>
              </a:rPr>
              <a:t>] == </a:t>
            </a:r>
            <a:r>
              <a:rPr sz="650" i="0">
                <a:solidFill>
                  <a:srgbClr val="A5D6A7"/>
                </a:solidFill>
                <a:latin typeface="Inconsolata"/>
              </a:rPr>
              <a:t>"down: ConnectionError"</a:t>
            </a:r>
          </a:p>
          <a:p>
            <a:pPr>
              <a:lnSpc>
                <a:spcPct val="102564"/>
              </a:lnSpc>
              <a:spcAft>
                <a:spcPts val="0"/>
              </a:spcAft>
            </a:pPr>
            <a:r>
              <a:rPr sz="650" i="0">
                <a:solidFill>
                  <a:srgbClr val="E6EDF3"/>
                </a:solidFill>
                <a:latin typeface="Inconsolata"/>
              </a:rPr>
              <a:t>    </a:t>
            </a:r>
            <a:r>
              <a:rPr sz="650" i="0">
                <a:solidFill>
                  <a:srgbClr val="FF8E6E"/>
                </a:solidFill>
                <a:latin typeface="Inconsolata"/>
              </a:rPr>
              <a:t>assert</a:t>
            </a:r>
            <a:r>
              <a:rPr sz="650" i="0">
                <a:solidFill>
                  <a:srgbClr val="E6EDF3"/>
                </a:solidFill>
                <a:latin typeface="Inconsolata"/>
              </a:rPr>
              <a:t> client.get(</a:t>
            </a:r>
            <a:r>
              <a:rPr sz="650" i="0">
                <a:solidFill>
                  <a:srgbClr val="A5D6A7"/>
                </a:solidFill>
                <a:latin typeface="Inconsolata"/>
              </a:rPr>
              <a:t>"/health/live"</a:t>
            </a:r>
            <a:r>
              <a:rPr sz="650" i="0">
                <a:solidFill>
                  <a:srgbClr val="E6EDF3"/>
                </a:solidFill>
                <a:latin typeface="Inconsolata"/>
              </a:rPr>
              <a:t>).status_code == </a:t>
            </a:r>
            <a:r>
              <a:rPr sz="650" i="0">
                <a:solidFill>
                  <a:srgbClr val="F9C97A"/>
                </a:solidFill>
                <a:latin typeface="Inconsolata"/>
              </a:rPr>
              <a:t>200</a:t>
            </a:r>
            <a:r>
              <a:rPr sz="650" i="0">
                <a:solidFill>
                  <a:srgbClr val="E6EDF3"/>
                </a:solidFill>
                <a:latin typeface="Inconsolata"/>
              </a:rPr>
              <a:t>       </a:t>
            </a:r>
            <a:r>
              <a:rPr sz="650" i="1">
                <a:solidFill>
                  <a:srgbClr val="8B98A8"/>
                </a:solidFill>
                <a:latin typeface="Inconsolata"/>
              </a:rPr>
              <a:t># liveness tidak ikut gagal</a:t>
            </a:r>
          </a:p>
        </p:txBody>
      </p:sp>
      <p:sp>
        <p:nvSpPr>
          <p:cNvPr id="29" name="Box 12"/>
          <p:cNvSpPr/>
          <p:nvPr/>
        </p:nvSpPr>
        <p:spPr>
          <a:xfrm>
            <a:off x="704088" y="1823720"/>
            <a:ext cx="5230368" cy="298704"/>
          </a:xfrm>
          <a:prstGeom prst="roundRect">
            <a:avLst>
              <a:gd name="adj" fmla="val 15306"/>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1854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636520"/>
            <a:ext cx="5230368" cy="501904"/>
          </a:xfrm>
          <a:prstGeom prst="roundRect">
            <a:avLst>
              <a:gd name="adj" fmla="val 9109"/>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7686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Text 17"/>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5" name="Text 18"/>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request_id dari client dipakai ulang</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Cek readiness diganti lewat </a:t>
            </a:r>
            <a:r>
              <a:rPr sz="900" b="0" i="0">
                <a:solidFill>
                  <a:srgbClr val="B5482A"/>
                </a:solidFill>
                <a:latin typeface="Inconsolata"/>
              </a:rPr>
              <a:t>dependency_overrides</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Test lain: log, metrics, error, traceparent</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conftest.py</a:t>
            </a:r>
            <a:r>
              <a:rPr sz="900" b="0" i="0">
                <a:solidFill>
                  <a:srgbClr val="434343"/>
                </a:solidFill>
                <a:latin typeface="Inter"/>
              </a:rPr>
              <a:t>: </a:t>
            </a:r>
            <a:r>
              <a:rPr sz="900" b="0" i="0">
                <a:solidFill>
                  <a:srgbClr val="B5482A"/>
                </a:solidFill>
                <a:latin typeface="Inconsolata"/>
              </a:rPr>
              <a:t>TRACING_ENABLED="0"</a:t>
            </a:r>
          </a:p>
        </p:txBody>
      </p:sp>
      <p:sp>
        <p:nvSpPr>
          <p:cNvPr id="36" name="Box 19"/>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Text 20"/>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38" name="Text 21"/>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pytest tidak butuh Docker.</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10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Jalankan API dan Lihat Log JSON</a:t>
            </a:r>
          </a:p>
        </p:txBody>
      </p:sp>
      <p:pic>
        <p:nvPicPr>
          <p:cNvPr id="22" name="Image 3" descr="s09-api-log.png"/>
          <p:cNvPicPr>
            <a:picLocks noChangeAspect="1"/>
          </p:cNvPicPr>
          <p:nvPr/>
        </p:nvPicPr>
        <p:blipFill>
          <a:blip r:embed="rId2"/>
          <a:stretch>
            <a:fillRect/>
          </a:stretch>
        </p:blipFill>
        <p:spPr>
          <a:xfrm>
            <a:off x="621792" y="1481328"/>
            <a:ext cx="7863840" cy="1865875"/>
          </a:xfrm>
          <a:prstGeom prst="rect">
            <a:avLst/>
          </a:prstGeom>
          <a:ln w="9525">
            <a:solidFill>
              <a:srgbClr val="D0D5DD"/>
            </a:solidFill>
          </a:ln>
        </p:spPr>
      </p:pic>
      <p:sp>
        <p:nvSpPr>
          <p:cNvPr id="23" name="CodeTab 5"/>
          <p:cNvSpPr/>
          <p:nvPr/>
        </p:nvSpPr>
        <p:spPr>
          <a:xfrm>
            <a:off x="621792" y="3484362"/>
            <a:ext cx="3108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731520" y="3562086"/>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868680" y="3562086"/>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1005840" y="3562086"/>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1170432" y="3493506"/>
            <a:ext cx="2468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terminal, dari folder latihan/</a:t>
            </a:r>
          </a:p>
        </p:txBody>
      </p:sp>
      <p:sp>
        <p:nvSpPr>
          <p:cNvPr id="28" name="CodeBg 11"/>
          <p:cNvSpPr/>
          <p:nvPr/>
        </p:nvSpPr>
        <p:spPr>
          <a:xfrm>
            <a:off x="621792" y="3722106"/>
            <a:ext cx="3108960" cy="977909"/>
          </a:xfrm>
          <a:prstGeom prst="roundRect">
            <a:avLst>
              <a:gd name="adj" fmla="val 1870"/>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621792" y="3722106"/>
            <a:ext cx="3108960" cy="977909"/>
          </a:xfrm>
          <a:prstGeom prst="rect">
            <a:avLst/>
          </a:prstGeom>
          <a:noFill/>
        </p:spPr>
        <p:txBody>
          <a:bodyPr wrap="none" lIns="146304" tIns="91440" rIns="146304" bIns="54864">
            <a:spAutoFit/>
          </a:bodyPr>
          <a:lstStyle/>
          <a:p>
            <a:pPr>
              <a:lnSpc>
                <a:spcPct val="107143"/>
              </a:lnSpc>
              <a:spcAft>
                <a:spcPts val="0"/>
              </a:spcAft>
            </a:pPr>
            <a:r>
              <a:rPr sz="700" i="1">
                <a:solidFill>
                  <a:srgbClr val="8B98A8"/>
                </a:solidFill>
                <a:latin typeface="Inconsolata"/>
              </a:rPr>
              <a:t># terminal 1</a:t>
            </a:r>
          </a:p>
          <a:p>
            <a:pPr>
              <a:lnSpc>
                <a:spcPct val="107143"/>
              </a:lnSpc>
              <a:spcAft>
                <a:spcPts val="0"/>
              </a:spcAft>
            </a:pPr>
            <a:r>
              <a:rPr sz="700" i="0">
                <a:solidFill>
                  <a:srgbClr val="E6EDF3"/>
                </a:solidFill>
                <a:latin typeface="Inconsolata"/>
              </a:rPr>
              <a:t>python -m app.consumers.notification_consumer</a:t>
            </a:r>
          </a:p>
          <a:p>
            <a:pPr>
              <a:lnSpc>
                <a:spcPct val="107143"/>
              </a:lnSpc>
              <a:spcAft>
                <a:spcPts val="0"/>
              </a:spcAft>
            </a:pPr>
            <a:r>
              <a:rPr sz="700" i="1">
                <a:solidFill>
                  <a:srgbClr val="8B98A8"/>
                </a:solidFill>
                <a:latin typeface="Inconsolata"/>
              </a:rPr>
              <a:t># terminal 2</a:t>
            </a:r>
          </a:p>
          <a:p>
            <a:pPr>
              <a:lnSpc>
                <a:spcPct val="107143"/>
              </a:lnSpc>
              <a:spcAft>
                <a:spcPts val="0"/>
              </a:spcAft>
            </a:pPr>
            <a:r>
              <a:rPr sz="700" i="0">
                <a:solidFill>
                  <a:srgbClr val="E6EDF3"/>
                </a:solidFill>
                <a:latin typeface="Inconsolata"/>
              </a:rPr>
              <a:t>uvicorn app.main:app --reload --no-access-log</a:t>
            </a:r>
          </a:p>
        </p:txBody>
      </p:sp>
      <p:pic>
        <p:nvPicPr>
          <p:cNvPr id="30" name="Image 13" descr="s09-error-404.png"/>
          <p:cNvPicPr>
            <a:picLocks noChangeAspect="1"/>
          </p:cNvPicPr>
          <p:nvPr/>
        </p:nvPicPr>
        <p:blipFill>
          <a:blip r:embed="rId3"/>
          <a:stretch>
            <a:fillRect/>
          </a:stretch>
        </p:blipFill>
        <p:spPr>
          <a:xfrm>
            <a:off x="3886200" y="3484362"/>
            <a:ext cx="4599432" cy="919886"/>
          </a:xfrm>
          <a:prstGeom prst="rect">
            <a:avLst/>
          </a:prstGeom>
          <a:ln w="9525">
            <a:solidFill>
              <a:srgbClr val="D0D5DD"/>
            </a:solid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10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Cek Metrics</a:t>
            </a:r>
          </a:p>
        </p:txBody>
      </p:sp>
      <p:pic>
        <p:nvPicPr>
          <p:cNvPr id="22" name="Image 3" descr="s09-metrics.png"/>
          <p:cNvPicPr>
            <a:picLocks noChangeAspect="1"/>
          </p:cNvPicPr>
          <p:nvPr/>
        </p:nvPicPr>
        <p:blipFill>
          <a:blip r:embed="rId2"/>
          <a:stretch>
            <a:fillRect/>
          </a:stretch>
        </p:blipFill>
        <p:spPr>
          <a:xfrm>
            <a:off x="621792" y="1481328"/>
            <a:ext cx="5486400" cy="1591056"/>
          </a:xfrm>
          <a:prstGeom prst="rect">
            <a:avLst/>
          </a:prstGeom>
          <a:ln w="9525">
            <a:solidFill>
              <a:srgbClr val="D0D5DD"/>
            </a:solidFill>
          </a:ln>
        </p:spPr>
      </p:pic>
      <p:sp>
        <p:nvSpPr>
          <p:cNvPr id="23" name="Text 4"/>
          <p:cNvSpPr txBox="1"/>
          <p:nvPr/>
        </p:nvSpPr>
        <p:spPr>
          <a:xfrm>
            <a:off x="6291072" y="1481328"/>
            <a:ext cx="2194559" cy="320040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Yang terlihat</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Jumlah request per route dan status</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Route memakai pola </a:t>
            </a:r>
            <a:r>
              <a:rPr sz="900" b="0" i="0">
                <a:solidFill>
                  <a:srgbClr val="B5482A"/>
                </a:solidFill>
                <a:latin typeface="Inconsolata"/>
              </a:rPr>
              <a:t>/orders/{order_id}</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Event yang dikirim ke RabbitMQ</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Notifikasi di consumer (port 8001)</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10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Cek Health Check</a:t>
            </a:r>
          </a:p>
        </p:txBody>
      </p:sp>
      <p:pic>
        <p:nvPicPr>
          <p:cNvPr id="22" name="Image 3" descr="s09-ready.png"/>
          <p:cNvPicPr>
            <a:picLocks noChangeAspect="1"/>
          </p:cNvPicPr>
          <p:nvPr/>
        </p:nvPicPr>
        <p:blipFill>
          <a:blip r:embed="rId2"/>
          <a:stretch>
            <a:fillRect/>
          </a:stretch>
        </p:blipFill>
        <p:spPr>
          <a:xfrm>
            <a:off x="621792" y="1481328"/>
            <a:ext cx="5486400" cy="1591056"/>
          </a:xfrm>
          <a:prstGeom prst="rect">
            <a:avLst/>
          </a:prstGeom>
          <a:ln w="9525">
            <a:solidFill>
              <a:srgbClr val="D0D5DD"/>
            </a:solidFill>
          </a:ln>
        </p:spPr>
      </p:pic>
      <p:sp>
        <p:nvSpPr>
          <p:cNvPr id="23" name="Text 4"/>
          <p:cNvSpPr txBox="1"/>
          <p:nvPr/>
        </p:nvSpPr>
        <p:spPr>
          <a:xfrm>
            <a:off x="6291072" y="1481328"/>
            <a:ext cx="2194559" cy="320040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Yang terlihat</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Semua dependency hidup: </a:t>
            </a:r>
            <a:r>
              <a:rPr sz="900" b="0" i="0">
                <a:solidFill>
                  <a:srgbClr val="B5482A"/>
                </a:solidFill>
                <a:latin typeface="Inconsolata"/>
              </a:rPr>
              <a:t>ready</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Redis dimatikan: 503, Redis </a:t>
            </a:r>
            <a:r>
              <a:rPr sz="900" b="0" i="0">
                <a:solidFill>
                  <a:srgbClr val="B5482A"/>
                </a:solidFill>
                <a:latin typeface="Inconsolata"/>
              </a:rPr>
              <a:t>down</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Liveness tetap 200, container tidak perlu di-restart</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10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Lihat Trace di Jaeger</a:t>
            </a:r>
          </a:p>
        </p:txBody>
      </p:sp>
      <p:pic>
        <p:nvPicPr>
          <p:cNvPr id="22" name="Image 3" descr="s09-jaeger.png"/>
          <p:cNvPicPr>
            <a:picLocks noChangeAspect="1"/>
          </p:cNvPicPr>
          <p:nvPr/>
        </p:nvPicPr>
        <p:blipFill>
          <a:blip r:embed="rId2"/>
          <a:stretch>
            <a:fillRect/>
          </a:stretch>
        </p:blipFill>
        <p:spPr>
          <a:xfrm>
            <a:off x="621792" y="1481328"/>
            <a:ext cx="5390147" cy="2926080"/>
          </a:xfrm>
          <a:prstGeom prst="rect">
            <a:avLst/>
          </a:prstGeom>
          <a:ln w="9525">
            <a:solidFill>
              <a:srgbClr val="D0D5DD"/>
            </a:solidFill>
          </a:ln>
        </p:spPr>
      </p:pic>
      <p:sp>
        <p:nvSpPr>
          <p:cNvPr id="23" name="Text 4"/>
          <p:cNvSpPr txBox="1"/>
          <p:nvPr/>
        </p:nvSpPr>
        <p:spPr>
          <a:xfrm>
            <a:off x="6194819" y="1481328"/>
            <a:ext cx="2290812" cy="320040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Yang terlihat</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Satu trace </a:t>
            </a:r>
            <a:r>
              <a:rPr sz="900" b="0" i="0">
                <a:solidFill>
                  <a:srgbClr val="B5482A"/>
                </a:solidFill>
                <a:latin typeface="Inconsolata"/>
              </a:rPr>
              <a:t>POST /orders</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Query database: SELECT, INSERT, UPDATE</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publish order.placed</a:t>
            </a:r>
            <a:r>
              <a:rPr sz="900" b="0" i="0">
                <a:solidFill>
                  <a:srgbClr val="434343"/>
                </a:solidFill>
                <a:latin typeface="Inter"/>
              </a:rPr>
              <a:t> paling lama</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Consumer di service lain, trace yang sama</a:t>
            </a:r>
          </a:p>
        </p:txBody>
      </p:sp>
      <p:sp>
        <p:nvSpPr>
          <p:cNvPr id="24" name="Text 5"/>
          <p:cNvSpPr txBox="1"/>
          <p:nvPr/>
        </p:nvSpPr>
        <p:spPr>
          <a:xfrm>
            <a:off x="621792" y="4453128"/>
            <a:ext cx="5390147" cy="274320"/>
          </a:xfrm>
          <a:prstGeom prst="rect">
            <a:avLst/>
          </a:prstGeom>
          <a:noFill/>
        </p:spPr>
        <p:txBody>
          <a:bodyPr wrap="square" lIns="45720" rIns="45720" anchor="t">
            <a:spAutoFit/>
          </a:bodyPr>
          <a:lstStyle/>
          <a:p>
            <a:pPr algn="l">
              <a:lnSpc>
                <a:spcPct val="115000"/>
              </a:lnSpc>
              <a:spcAft>
                <a:spcPts val="400"/>
              </a:spcAft>
            </a:pPr>
            <a:r>
              <a:rPr sz="850" b="0" i="0">
                <a:solidFill>
                  <a:srgbClr val="7A7A7A"/>
                </a:solidFill>
                <a:latin typeface="Inter"/>
              </a:rPr>
              <a:t>Jaeger (localhost:16686): service order-api, klik trace POST /orders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10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Prometheus: Targets dan Alert Rule</a:t>
            </a:r>
          </a:p>
        </p:txBody>
      </p:sp>
      <p:pic>
        <p:nvPicPr>
          <p:cNvPr id="22" name="Image 3" descr="s09-prom-targets.png"/>
          <p:cNvPicPr>
            <a:picLocks noChangeAspect="1"/>
          </p:cNvPicPr>
          <p:nvPr/>
        </p:nvPicPr>
        <p:blipFill>
          <a:blip r:embed="rId2"/>
          <a:stretch>
            <a:fillRect/>
          </a:stretch>
        </p:blipFill>
        <p:spPr>
          <a:xfrm>
            <a:off x="621792" y="1481328"/>
            <a:ext cx="4680154" cy="1805202"/>
          </a:xfrm>
          <a:prstGeom prst="rect">
            <a:avLst/>
          </a:prstGeom>
          <a:ln w="9525">
            <a:solidFill>
              <a:srgbClr val="D0D5DD"/>
            </a:solidFill>
          </a:ln>
        </p:spPr>
      </p:pic>
      <p:pic>
        <p:nvPicPr>
          <p:cNvPr id="23" name="Image 4" descr="s09-prom-alerts.png"/>
          <p:cNvPicPr>
            <a:picLocks noChangeAspect="1"/>
          </p:cNvPicPr>
          <p:nvPr/>
        </p:nvPicPr>
        <p:blipFill>
          <a:blip r:embed="rId3"/>
          <a:stretch>
            <a:fillRect/>
          </a:stretch>
        </p:blipFill>
        <p:spPr>
          <a:xfrm>
            <a:off x="621792" y="3396258"/>
            <a:ext cx="4680154" cy="1303757"/>
          </a:xfrm>
          <a:prstGeom prst="rect">
            <a:avLst/>
          </a:prstGeom>
          <a:ln w="9525">
            <a:solidFill>
              <a:srgbClr val="D0D5DD"/>
            </a:solidFill>
          </a:ln>
        </p:spPr>
      </p:pic>
      <p:sp>
        <p:nvSpPr>
          <p:cNvPr id="24" name="Text 5"/>
          <p:cNvSpPr txBox="1"/>
          <p:nvPr/>
        </p:nvSpPr>
        <p:spPr>
          <a:xfrm>
            <a:off x="5484826" y="1481328"/>
            <a:ext cx="3000805" cy="320040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Yang terlihat</a:t>
            </a:r>
          </a:p>
          <a:p>
            <a:pPr marL="182880" indent="-182880" algn="l">
              <a:lnSpc>
                <a:spcPct val="115000"/>
              </a:lnSpc>
              <a:spcAft>
                <a:spcPts val="400"/>
              </a:spcAft>
              <a:buClr>
                <a:srgbClr val="E0764F"/>
              </a:buClr>
              <a:buSzPct val="100000"/>
              <a:buFont typeface="+mj-lt"/>
              <a:buAutoNum type="arabicPeriod"/>
            </a:pPr>
            <a:r>
              <a:rPr sz="900" b="1" i="0">
                <a:solidFill>
                  <a:srgbClr val="434343"/>
                </a:solidFill>
                <a:latin typeface="Inter"/>
              </a:rPr>
              <a:t>Status &gt; Targets</a:t>
            </a:r>
            <a:r>
              <a:rPr sz="900" b="0" i="0">
                <a:solidFill>
                  <a:srgbClr val="434343"/>
                </a:solidFill>
                <a:latin typeface="Inter"/>
              </a:rPr>
              <a:t>: API (8000) dan consumer (8001) UP, metrics diambil tiap 5 detik</a:t>
            </a:r>
          </a:p>
          <a:p>
            <a:pPr marL="182880" indent="-182880" algn="l">
              <a:lnSpc>
                <a:spcPct val="115000"/>
              </a:lnSpc>
              <a:spcAft>
                <a:spcPts val="400"/>
              </a:spcAft>
              <a:buClr>
                <a:srgbClr val="E0764F"/>
              </a:buClr>
              <a:buSzPct val="100000"/>
              <a:buFont typeface="+mj-lt"/>
              <a:buAutoNum type="arabicPeriod"/>
            </a:pPr>
            <a:r>
              <a:rPr sz="900" b="1" i="0">
                <a:solidFill>
                  <a:srgbClr val="434343"/>
                </a:solidFill>
                <a:latin typeface="Inter"/>
              </a:rPr>
              <a:t>Alerts</a:t>
            </a:r>
            <a:r>
              <a:rPr sz="900" b="0" i="0">
                <a:solidFill>
                  <a:srgbClr val="434343"/>
                </a:solidFill>
                <a:latin typeface="Inter"/>
              </a:rPr>
              <a:t>: 4 alert rule dari </a:t>
            </a:r>
            <a:r>
              <a:rPr sz="900" b="0" i="0">
                <a:solidFill>
                  <a:srgbClr val="B5482A"/>
                </a:solidFill>
                <a:latin typeface="Inconsolata"/>
              </a:rPr>
              <a:t>prometheus/alerts.yml</a:t>
            </a:r>
            <a:r>
              <a:rPr sz="900" b="0" i="0">
                <a:solidFill>
                  <a:srgbClr val="434343"/>
                </a:solidFill>
                <a:latin typeface="Inter"/>
              </a:rPr>
              <a:t>, semua inactive karena SLO terpenuhi</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10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Jalankan Test</a:t>
            </a:r>
          </a:p>
        </p:txBody>
      </p:sp>
      <p:pic>
        <p:nvPicPr>
          <p:cNvPr id="22" name="Image 3" descr="s09-pytest.png"/>
          <p:cNvPicPr>
            <a:picLocks noChangeAspect="1"/>
          </p:cNvPicPr>
          <p:nvPr/>
        </p:nvPicPr>
        <p:blipFill>
          <a:blip r:embed="rId2"/>
          <a:stretch>
            <a:fillRect/>
          </a:stretch>
        </p:blipFill>
        <p:spPr>
          <a:xfrm>
            <a:off x="621792" y="1481328"/>
            <a:ext cx="5212080" cy="2448465"/>
          </a:xfrm>
          <a:prstGeom prst="rect">
            <a:avLst/>
          </a:prstGeom>
          <a:ln w="9525">
            <a:solidFill>
              <a:srgbClr val="D0D5DD"/>
            </a:solidFill>
          </a:ln>
        </p:spPr>
      </p:pic>
      <p:sp>
        <p:nvSpPr>
          <p:cNvPr id="23" name="Box 4"/>
          <p:cNvSpPr/>
          <p:nvPr/>
        </p:nvSpPr>
        <p:spPr>
          <a:xfrm>
            <a:off x="6016752" y="1481328"/>
            <a:ext cx="2468879" cy="3218688"/>
          </a:xfrm>
          <a:prstGeom prst="roundRect">
            <a:avLst>
              <a:gd name="adj" fmla="val 4444"/>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Text 5"/>
          <p:cNvSpPr txBox="1"/>
          <p:nvPr/>
        </p:nvSpPr>
        <p:spPr>
          <a:xfrm>
            <a:off x="6153912" y="1572768"/>
            <a:ext cx="2194559" cy="310896"/>
          </a:xfrm>
          <a:prstGeom prst="rect">
            <a:avLst/>
          </a:prstGeom>
          <a:noFill/>
        </p:spPr>
        <p:txBody>
          <a:bodyPr wrap="square" lIns="45720" rIns="45720" anchor="t">
            <a:spAutoFit/>
          </a:bodyPr>
          <a:lstStyle/>
          <a:p>
            <a:pPr algn="l">
              <a:lnSpc>
                <a:spcPct val="115000"/>
              </a:lnSpc>
              <a:spcAft>
                <a:spcPts val="400"/>
              </a:spcAft>
            </a:pPr>
            <a:r>
              <a:rPr sz="1100" b="1" i="0">
                <a:solidFill>
                  <a:srgbClr val="E0764F"/>
                </a:solidFill>
                <a:latin typeface="Inter"/>
              </a:rPr>
              <a:t>Yang dikerjakan</a:t>
            </a:r>
          </a:p>
        </p:txBody>
      </p:sp>
      <p:sp>
        <p:nvSpPr>
          <p:cNvPr id="25" name="Text 6"/>
          <p:cNvSpPr txBox="1"/>
          <p:nvPr/>
        </p:nvSpPr>
        <p:spPr>
          <a:xfrm>
            <a:off x="6153912" y="1892808"/>
            <a:ext cx="2194559"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Masuk ke folder </a:t>
            </a:r>
            <a:r>
              <a:rPr sz="950" b="0" i="0">
                <a:solidFill>
                  <a:srgbClr val="B5482A"/>
                </a:solidFill>
                <a:latin typeface="Inconsolata"/>
              </a:rPr>
              <a:t>latihan/</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Jalankan </a:t>
            </a:r>
            <a:r>
              <a:rPr sz="950" b="0" i="0">
                <a:solidFill>
                  <a:srgbClr val="B5482A"/>
                </a:solidFill>
                <a:latin typeface="Inconsolata"/>
              </a:rPr>
              <a:t>pytest -v</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Semua test harus </a:t>
            </a:r>
            <a:r>
              <a:rPr sz="950" b="1" i="0">
                <a:solidFill>
                  <a:srgbClr val="434343"/>
                </a:solidFill>
                <a:latin typeface="Inter"/>
              </a:rPr>
              <a:t>PASSED</a:t>
            </a:r>
          </a:p>
          <a:p>
            <a:pPr algn="l">
              <a:lnSpc>
                <a:spcPct val="115000"/>
              </a:lnSpc>
              <a:spcAft>
                <a:spcPts val="0"/>
              </a:spcAft>
            </a:pPr>
            <a:endParaRPr sz="950" b="1" i="0">
              <a:solidFill>
                <a:srgbClr val="434343"/>
              </a:solidFill>
              <a:latin typeface="Inter"/>
            </a:endParaRPr>
          </a:p>
          <a:p>
            <a:pPr algn="l">
              <a:lnSpc>
                <a:spcPct val="115000"/>
              </a:lnSpc>
              <a:spcAft>
                <a:spcPts val="400"/>
              </a:spcAft>
            </a:pPr>
            <a:r>
              <a:rPr sz="950" b="0" i="0">
                <a:solidFill>
                  <a:srgbClr val="434343"/>
                </a:solidFill>
                <a:latin typeface="Inter"/>
              </a:rPr>
              <a:t>Test tidak butuh Jaeger, Prometheus, maupun RabbitMQ.</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Cek Kriteria Selesai</a:t>
            </a:r>
          </a:p>
        </p:txBody>
      </p:sp>
      <p:graphicFrame>
        <p:nvGraphicFramePr>
          <p:cNvPr id="22" name="Table 3"/>
          <p:cNvGraphicFramePr>
            <a:graphicFrameLocks noGrp="1"/>
          </p:cNvGraphicFramePr>
          <p:nvPr/>
        </p:nvGraphicFramePr>
        <p:xfrm>
          <a:off x="621792" y="1481328"/>
          <a:ext cx="7863840" cy="3072384"/>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384048">
                <a:tc>
                  <a:txBody>
                    <a:bodyPr/>
                    <a:lstStyle/>
                    <a:p>
                      <a:pPr algn="l">
                        <a:lnSpc>
                          <a:spcPct val="100000"/>
                        </a:lnSpc>
                        <a:spcAft>
                          <a:spcPts val="0"/>
                        </a:spcAft>
                      </a:pPr>
                      <a:r>
                        <a:rPr sz="900" b="1" i="0">
                          <a:solidFill>
                            <a:srgbClr val="FFFFFF"/>
                          </a:solidFill>
                          <a:latin typeface="Inter"/>
                        </a:rPr>
                        <a:t>Kriteria</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Cara mengecek</a:t>
                      </a:r>
                    </a:p>
                  </a:txBody>
                  <a:tcPr marL="73152" marR="73152" marT="36576" marB="36576" anchor="ctr">
                    <a:solidFill>
                      <a:srgbClr val="1C4587"/>
                    </a:solidFill>
                  </a:tcPr>
                </a:tc>
                <a:extLst>
                  <a:ext uri="{0D108BD9-81ED-4DB2-BD59-A6C34878D82A}">
                    <a16:rowId xmlns:a16="http://schemas.microsoft.com/office/drawing/2014/main" val="10000"/>
                  </a:ext>
                </a:extLst>
              </a:tr>
              <a:tr h="384048">
                <a:tc>
                  <a:txBody>
                    <a:bodyPr/>
                    <a:lstStyle/>
                    <a:p>
                      <a:pPr algn="l">
                        <a:lnSpc>
                          <a:spcPct val="100000"/>
                        </a:lnSpc>
                        <a:spcAft>
                          <a:spcPts val="0"/>
                        </a:spcAft>
                      </a:pPr>
                      <a:r>
                        <a:rPr sz="900" b="1" i="0">
                          <a:solidFill>
                            <a:srgbClr val="1C4587"/>
                          </a:solidFill>
                          <a:latin typeface="Inter"/>
                        </a:rPr>
                        <a:t>Log JSON dengan request_id dan trace_id</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Terminal uvicorn dan consumer</a:t>
                      </a:r>
                    </a:p>
                  </a:txBody>
                  <a:tcPr marL="73152" marR="73152" marT="36576" marB="36576" anchor="ctr">
                    <a:solidFill>
                      <a:srgbClr val="FFFFFF"/>
                    </a:solidFill>
                  </a:tcPr>
                </a:tc>
                <a:extLst>
                  <a:ext uri="{0D108BD9-81ED-4DB2-BD59-A6C34878D82A}">
                    <a16:rowId xmlns:a16="http://schemas.microsoft.com/office/drawing/2014/main" val="10001"/>
                  </a:ext>
                </a:extLst>
              </a:tr>
              <a:tr h="384048">
                <a:tc>
                  <a:txBody>
                    <a:bodyPr/>
                    <a:lstStyle/>
                    <a:p>
                      <a:pPr algn="l">
                        <a:lnSpc>
                          <a:spcPct val="100000"/>
                        </a:lnSpc>
                        <a:spcAft>
                          <a:spcPts val="0"/>
                        </a:spcAft>
                      </a:pPr>
                      <a:r>
                        <a:rPr sz="900" b="1" i="0">
                          <a:solidFill>
                            <a:srgbClr val="1C4587"/>
                          </a:solidFill>
                          <a:latin typeface="Inter"/>
                        </a:rPr>
                        <a:t>X-Request-ID di header dan body error</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test_request_id_*, test_error_client_dicatat_warning</a:t>
                      </a:r>
                    </a:p>
                  </a:txBody>
                  <a:tcPr marL="73152" marR="73152" marT="36576" marB="36576" anchor="ctr">
                    <a:solidFill>
                      <a:srgbClr val="F3F4F6"/>
                    </a:solidFill>
                  </a:tcPr>
                </a:tc>
                <a:extLst>
                  <a:ext uri="{0D108BD9-81ED-4DB2-BD59-A6C34878D82A}">
                    <a16:rowId xmlns:a16="http://schemas.microsoft.com/office/drawing/2014/main" val="10002"/>
                  </a:ext>
                </a:extLst>
              </a:tr>
              <a:tr h="384048">
                <a:tc>
                  <a:txBody>
                    <a:bodyPr/>
                    <a:lstStyle/>
                    <a:p>
                      <a:pPr algn="l">
                        <a:lnSpc>
                          <a:spcPct val="100000"/>
                        </a:lnSpc>
                        <a:spcAft>
                          <a:spcPts val="0"/>
                        </a:spcAft>
                      </a:pPr>
                      <a:r>
                        <a:rPr sz="900" b="1" i="0">
                          <a:solidFill>
                            <a:srgbClr val="1C4587"/>
                          </a:solidFill>
                          <a:latin typeface="Inter"/>
                        </a:rPr>
                        <a:t>Error dengan error_type</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test_database_mati_jadi_503_dependency, test_bug_jadi_500_*</a:t>
                      </a:r>
                    </a:p>
                  </a:txBody>
                  <a:tcPr marL="73152" marR="73152" marT="36576" marB="36576" anchor="ctr">
                    <a:solidFill>
                      <a:srgbClr val="FFFFFF"/>
                    </a:solidFill>
                  </a:tcPr>
                </a:tc>
                <a:extLst>
                  <a:ext uri="{0D108BD9-81ED-4DB2-BD59-A6C34878D82A}">
                    <a16:rowId xmlns:a16="http://schemas.microsoft.com/office/drawing/2014/main" val="10003"/>
                  </a:ext>
                </a:extLst>
              </a:tr>
              <a:tr h="384048">
                <a:tc>
                  <a:txBody>
                    <a:bodyPr/>
                    <a:lstStyle/>
                    <a:p>
                      <a:pPr algn="l">
                        <a:lnSpc>
                          <a:spcPct val="100000"/>
                        </a:lnSpc>
                        <a:spcAft>
                          <a:spcPts val="0"/>
                        </a:spcAft>
                      </a:pPr>
                      <a:r>
                        <a:rPr sz="900" b="1" i="0">
                          <a:solidFill>
                            <a:srgbClr val="1C4587"/>
                          </a:solidFill>
                          <a:latin typeface="Inter"/>
                        </a:rPr>
                        <a:t>Metrics per route</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localhost:8000/metrics, Prometheus Targets UP</a:t>
                      </a:r>
                    </a:p>
                  </a:txBody>
                  <a:tcPr marL="73152" marR="73152" marT="36576" marB="36576" anchor="ctr">
                    <a:solidFill>
                      <a:srgbClr val="F3F4F6"/>
                    </a:solidFill>
                  </a:tcPr>
                </a:tc>
                <a:extLst>
                  <a:ext uri="{0D108BD9-81ED-4DB2-BD59-A6C34878D82A}">
                    <a16:rowId xmlns:a16="http://schemas.microsoft.com/office/drawing/2014/main" val="10004"/>
                  </a:ext>
                </a:extLst>
              </a:tr>
              <a:tr h="384048">
                <a:tc>
                  <a:txBody>
                    <a:bodyPr/>
                    <a:lstStyle/>
                    <a:p>
                      <a:pPr algn="l">
                        <a:lnSpc>
                          <a:spcPct val="100000"/>
                        </a:lnSpc>
                        <a:spcAft>
                          <a:spcPts val="0"/>
                        </a:spcAft>
                      </a:pPr>
                      <a:r>
                        <a:rPr sz="900" b="1" i="0">
                          <a:solidFill>
                            <a:srgbClr val="1C4587"/>
                          </a:solidFill>
                          <a:latin typeface="Inter"/>
                        </a:rPr>
                        <a:t>Readiness 503 jika dependency mati</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docker compose stop redis, lalu /health/ready</a:t>
                      </a:r>
                    </a:p>
                  </a:txBody>
                  <a:tcPr marL="73152" marR="73152" marT="36576" marB="36576" anchor="ctr">
                    <a:solidFill>
                      <a:srgbClr val="FFFFFF"/>
                    </a:solidFill>
                  </a:tcPr>
                </a:tc>
                <a:extLst>
                  <a:ext uri="{0D108BD9-81ED-4DB2-BD59-A6C34878D82A}">
                    <a16:rowId xmlns:a16="http://schemas.microsoft.com/office/drawing/2014/main" val="10005"/>
                  </a:ext>
                </a:extLst>
              </a:tr>
              <a:tr h="384048">
                <a:tc>
                  <a:txBody>
                    <a:bodyPr/>
                    <a:lstStyle/>
                    <a:p>
                      <a:pPr algn="l">
                        <a:lnSpc>
                          <a:spcPct val="100000"/>
                        </a:lnSpc>
                        <a:spcAft>
                          <a:spcPts val="0"/>
                        </a:spcAft>
                      </a:pPr>
                      <a:r>
                        <a:rPr sz="900" b="1" i="0">
                          <a:solidFill>
                            <a:srgbClr val="1C4587"/>
                          </a:solidFill>
                          <a:latin typeface="Inter"/>
                        </a:rPr>
                        <a:t>Satu trace dari API sampai consumer</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Jaeger: trace POST /orders</a:t>
                      </a:r>
                    </a:p>
                  </a:txBody>
                  <a:tcPr marL="73152" marR="73152" marT="36576" marB="36576" anchor="ctr">
                    <a:solidFill>
                      <a:srgbClr val="F3F4F6"/>
                    </a:solidFill>
                  </a:tcPr>
                </a:tc>
                <a:extLst>
                  <a:ext uri="{0D108BD9-81ED-4DB2-BD59-A6C34878D82A}">
                    <a16:rowId xmlns:a16="http://schemas.microsoft.com/office/drawing/2014/main" val="10006"/>
                  </a:ext>
                </a:extLst>
              </a:tr>
              <a:tr h="384048">
                <a:tc>
                  <a:txBody>
                    <a:bodyPr/>
                    <a:lstStyle/>
                    <a:p>
                      <a:pPr algn="l">
                        <a:lnSpc>
                          <a:spcPct val="100000"/>
                        </a:lnSpc>
                        <a:spcAft>
                          <a:spcPts val="0"/>
                        </a:spcAft>
                      </a:pPr>
                      <a:r>
                        <a:rPr sz="900" b="1" i="0">
                          <a:solidFill>
                            <a:srgbClr val="1C4587"/>
                          </a:solidFill>
                          <a:latin typeface="Inter"/>
                        </a:rPr>
                        <a:t>pytest hijau tanpa Docker</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pytest -v: semua PASSED</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Request Flow: Log, Metrics, dan Trace</a:t>
            </a:r>
          </a:p>
        </p:txBody>
      </p:sp>
      <p:sp>
        <p:nvSpPr>
          <p:cNvPr id="22" name="CodeTab 4"/>
          <p:cNvSpPr/>
          <p:nvPr/>
        </p:nvSpPr>
        <p:spPr>
          <a:xfrm>
            <a:off x="621792" y="1481328"/>
            <a:ext cx="525780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61772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latihan/app: middleware.py → rabbitmq.py → notification_consumer.py</a:t>
            </a:r>
          </a:p>
        </p:txBody>
      </p:sp>
      <p:sp>
        <p:nvSpPr>
          <p:cNvPr id="27" name="CodeBg 10"/>
          <p:cNvSpPr/>
          <p:nvPr/>
        </p:nvSpPr>
        <p:spPr>
          <a:xfrm>
            <a:off x="621792" y="1719072"/>
            <a:ext cx="525780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257800" cy="2980944"/>
          </a:xfrm>
          <a:prstGeom prst="rect">
            <a:avLst/>
          </a:prstGeom>
          <a:noFill/>
        </p:spPr>
        <p:txBody>
          <a:bodyPr wrap="none" lIns="146304" tIns="91440" rIns="146304" bIns="54864">
            <a:spAutoFit/>
          </a:bodyPr>
          <a:lstStyle/>
          <a:p>
            <a:pPr>
              <a:lnSpc>
                <a:spcPct val="105820"/>
              </a:lnSpc>
              <a:spcAft>
                <a:spcPts val="0"/>
              </a:spcAft>
            </a:pPr>
            <a:r>
              <a:rPr sz="630" i="1">
                <a:solidFill>
                  <a:srgbClr val="8B98A8"/>
                </a:solidFill>
                <a:latin typeface="Inconsolata"/>
              </a:rPr>
              <a:t># api/middleware.py</a:t>
            </a:r>
          </a:p>
          <a:p>
            <a:pPr>
              <a:lnSpc>
                <a:spcPct val="105820"/>
              </a:lnSpc>
              <a:spcAft>
                <a:spcPts val="0"/>
              </a:spcAft>
            </a:pPr>
            <a:r>
              <a:rPr sz="630" i="0">
                <a:solidFill>
                  <a:srgbClr val="E6EDF3"/>
                </a:solidFill>
                <a:latin typeface="Inconsolata"/>
              </a:rPr>
              <a:t>    request_id = request.headers.get(</a:t>
            </a:r>
            <a:r>
              <a:rPr sz="630" i="0">
                <a:solidFill>
                  <a:srgbClr val="A5D6A7"/>
                </a:solidFill>
                <a:latin typeface="Inconsolata"/>
              </a:rPr>
              <a:t>"X-Request-ID"</a:t>
            </a:r>
            <a:r>
              <a:rPr sz="630" i="0">
                <a:solidFill>
                  <a:srgbClr val="E6EDF3"/>
                </a:solidFill>
                <a:latin typeface="Inconsolata"/>
              </a:rPr>
              <a:t>) </a:t>
            </a:r>
            <a:r>
              <a:rPr sz="630" i="0">
                <a:solidFill>
                  <a:srgbClr val="FF8E6E"/>
                </a:solidFill>
                <a:latin typeface="Inconsolata"/>
              </a:rPr>
              <a:t>or</a:t>
            </a:r>
            <a:r>
              <a:rPr sz="630" i="0">
                <a:solidFill>
                  <a:srgbClr val="E6EDF3"/>
                </a:solidFill>
                <a:latin typeface="Inconsolata"/>
              </a:rPr>
              <a:t> uuid.uuid4().hex</a:t>
            </a:r>
          </a:p>
          <a:p>
            <a:pPr>
              <a:lnSpc>
                <a:spcPct val="105820"/>
              </a:lnSpc>
              <a:spcAft>
                <a:spcPts val="0"/>
              </a:spcAft>
            </a:pPr>
            <a:r>
              <a:rPr sz="630" i="0">
                <a:solidFill>
                  <a:srgbClr val="E6EDF3"/>
                </a:solidFill>
                <a:latin typeface="Inconsolata"/>
              </a:rPr>
              <a:t>    request_id_var.</a:t>
            </a:r>
            <a:r>
              <a:rPr sz="630" i="0">
                <a:solidFill>
                  <a:srgbClr val="C3A6FF"/>
                </a:solidFill>
                <a:latin typeface="Inconsolata"/>
              </a:rPr>
              <a:t>set</a:t>
            </a:r>
            <a:r>
              <a:rPr sz="630" i="0">
                <a:solidFill>
                  <a:srgbClr val="E6EDF3"/>
                </a:solidFill>
                <a:latin typeface="Inconsolata"/>
              </a:rPr>
              <a:t>(request_id)</a:t>
            </a:r>
          </a:p>
          <a:p>
            <a:pPr>
              <a:lnSpc>
                <a:spcPct val="105820"/>
              </a:lnSpc>
              <a:spcAft>
                <a:spcPts val="0"/>
              </a:spcAft>
            </a:pPr>
            <a:r>
              <a:rPr sz="630" i="0">
                <a:solidFill>
                  <a:srgbClr val="E6EDF3"/>
                </a:solidFill>
                <a:latin typeface="Inconsolata"/>
              </a:rPr>
              <a:t> </a:t>
            </a:r>
          </a:p>
          <a:p>
            <a:pPr>
              <a:lnSpc>
                <a:spcPct val="105820"/>
              </a:lnSpc>
              <a:spcAft>
                <a:spcPts val="0"/>
              </a:spcAft>
            </a:pPr>
            <a:r>
              <a:rPr sz="630" i="1">
                <a:solidFill>
                  <a:srgbClr val="8B98A8"/>
                </a:solidFill>
                <a:latin typeface="Inconsolata"/>
              </a:rPr>
              <a:t># infrastructure/rabbitmq.py</a:t>
            </a:r>
          </a:p>
          <a:p>
            <a:pPr>
              <a:lnSpc>
                <a:spcPct val="105820"/>
              </a:lnSpc>
              <a:spcAft>
                <a:spcPts val="0"/>
              </a:spcAft>
            </a:pPr>
            <a:r>
              <a:rPr sz="630" i="0">
                <a:solidFill>
                  <a:srgbClr val="E6EDF3"/>
                </a:solidFill>
                <a:latin typeface="Inconsolata"/>
              </a:rPr>
              <a:t>        </a:t>
            </a:r>
            <a:r>
              <a:rPr sz="630" i="0">
                <a:solidFill>
                  <a:srgbClr val="FF8E6E"/>
                </a:solidFill>
                <a:latin typeface="Inconsolata"/>
              </a:rPr>
              <a:t>with</a:t>
            </a:r>
            <a:r>
              <a:rPr sz="630" i="0">
                <a:solidFill>
                  <a:srgbClr val="E6EDF3"/>
                </a:solidFill>
                <a:latin typeface="Inconsolata"/>
              </a:rPr>
              <a:t> tracer.start_as_current_span(</a:t>
            </a:r>
            <a:r>
              <a:rPr sz="630" i="0">
                <a:solidFill>
                  <a:srgbClr val="A5D6A7"/>
                </a:solidFill>
                <a:latin typeface="Inconsolata"/>
              </a:rPr>
              <a:t>f"publish {event['type']}"</a:t>
            </a:r>
            <a:r>
              <a:rPr sz="630" i="0">
                <a:solidFill>
                  <a:srgbClr val="E6EDF3"/>
                </a:solidFill>
                <a:latin typeface="Inconsolata"/>
              </a:rPr>
              <a:t>, kind=</a:t>
            </a:r>
            <a:r>
              <a:rPr sz="630" i="0">
                <a:solidFill>
                  <a:srgbClr val="7FDBCA"/>
                </a:solidFill>
                <a:latin typeface="Inconsolata"/>
              </a:rPr>
              <a:t>SpanKind</a:t>
            </a:r>
            <a:r>
              <a:rPr sz="630" i="0">
                <a:solidFill>
                  <a:srgbClr val="E6EDF3"/>
                </a:solidFill>
                <a:latin typeface="Inconsolata"/>
              </a:rPr>
              <a:t>.</a:t>
            </a:r>
            <a:r>
              <a:rPr sz="630" i="0">
                <a:solidFill>
                  <a:srgbClr val="7FDBCA"/>
                </a:solidFill>
                <a:latin typeface="Inconsolata"/>
              </a:rPr>
              <a:t>PRODUCER</a:t>
            </a:r>
            <a:r>
              <a:rPr sz="630" i="0">
                <a:solidFill>
                  <a:srgbClr val="E6EDF3"/>
                </a:solidFill>
                <a:latin typeface="Inconsolata"/>
              </a:rPr>
              <a:t>):</a:t>
            </a:r>
          </a:p>
          <a:p>
            <a:pPr>
              <a:lnSpc>
                <a:spcPct val="105820"/>
              </a:lnSpc>
              <a:spcAft>
                <a:spcPts val="0"/>
              </a:spcAft>
            </a:pPr>
            <a:r>
              <a:rPr sz="630" i="0">
                <a:solidFill>
                  <a:srgbClr val="E6EDF3"/>
                </a:solidFill>
                <a:latin typeface="Inconsolata"/>
              </a:rPr>
              <a:t>...</a:t>
            </a:r>
          </a:p>
          <a:p>
            <a:pPr>
              <a:lnSpc>
                <a:spcPct val="105820"/>
              </a:lnSpc>
              <a:spcAft>
                <a:spcPts val="0"/>
              </a:spcAft>
            </a:pPr>
            <a:r>
              <a:rPr sz="630" i="0">
                <a:solidFill>
                  <a:srgbClr val="E6EDF3"/>
                </a:solidFill>
                <a:latin typeface="Inconsolata"/>
              </a:rPr>
              <a:t>    inject(headers)                                         </a:t>
            </a:r>
            <a:r>
              <a:rPr sz="630" i="1">
                <a:solidFill>
                  <a:srgbClr val="8B98A8"/>
                </a:solidFill>
                <a:latin typeface="Inconsolata"/>
              </a:rPr>
              <a:t># tulis traceparent dari span yang sedang aktif</a:t>
            </a:r>
          </a:p>
          <a:p>
            <a:pPr>
              <a:lnSpc>
                <a:spcPct val="105820"/>
              </a:lnSpc>
              <a:spcAft>
                <a:spcPts val="0"/>
              </a:spcAft>
            </a:pPr>
            <a:r>
              <a:rPr sz="630" i="0">
                <a:solidFill>
                  <a:srgbClr val="E6EDF3"/>
                </a:solidFill>
                <a:latin typeface="Inconsolata"/>
              </a:rPr>
              <a:t> </a:t>
            </a:r>
          </a:p>
          <a:p>
            <a:pPr>
              <a:lnSpc>
                <a:spcPct val="105820"/>
              </a:lnSpc>
              <a:spcAft>
                <a:spcPts val="0"/>
              </a:spcAft>
            </a:pPr>
            <a:r>
              <a:rPr sz="630" i="1">
                <a:solidFill>
                  <a:srgbClr val="8B98A8"/>
                </a:solidFill>
                <a:latin typeface="Inconsolata"/>
              </a:rPr>
              <a:t># consumers/notification_consumer.py</a:t>
            </a:r>
          </a:p>
          <a:p>
            <a:pPr>
              <a:lnSpc>
                <a:spcPct val="105820"/>
              </a:lnSpc>
              <a:spcAft>
                <a:spcPts val="0"/>
              </a:spcAft>
            </a:pPr>
            <a:r>
              <a:rPr sz="630" i="0">
                <a:solidFill>
                  <a:srgbClr val="E6EDF3"/>
                </a:solidFill>
                <a:latin typeface="Inconsolata"/>
              </a:rPr>
              <a:t>    context = extract(headers)                               </a:t>
            </a:r>
            <a:r>
              <a:rPr sz="630" i="1">
                <a:solidFill>
                  <a:srgbClr val="8B98A8"/>
                </a:solidFill>
                <a:latin typeface="Inconsolata"/>
              </a:rPr>
              <a:t># sambung ke trace API yang mengirim event</a:t>
            </a:r>
          </a:p>
          <a:p>
            <a:pPr>
              <a:lnSpc>
                <a:spcPct val="105820"/>
              </a:lnSpc>
              <a:spcAft>
                <a:spcPts val="0"/>
              </a:spcAft>
            </a:pPr>
            <a:r>
              <a:rPr sz="630" i="0">
                <a:solidFill>
                  <a:srgbClr val="E6EDF3"/>
                </a:solidFill>
                <a:latin typeface="Inconsolata"/>
              </a:rPr>
              <a:t> </a:t>
            </a:r>
          </a:p>
          <a:p>
            <a:pPr>
              <a:lnSpc>
                <a:spcPct val="105820"/>
              </a:lnSpc>
              <a:spcAft>
                <a:spcPts val="0"/>
              </a:spcAft>
            </a:pPr>
            <a:r>
              <a:rPr sz="630" i="1">
                <a:solidFill>
                  <a:srgbClr val="8B98A8"/>
                </a:solidFill>
                <a:latin typeface="Inconsolata"/>
              </a:rPr>
              <a:t># infrastructure/logs.py</a:t>
            </a:r>
          </a:p>
          <a:p>
            <a:pPr>
              <a:lnSpc>
                <a:spcPct val="105820"/>
              </a:lnSpc>
              <a:spcAft>
                <a:spcPts val="0"/>
              </a:spcAft>
            </a:pPr>
            <a:r>
              <a:rPr sz="630" i="0">
                <a:solidFill>
                  <a:srgbClr val="E6EDF3"/>
                </a:solidFill>
                <a:latin typeface="Inconsolata"/>
              </a:rPr>
              <a:t>        record.request_id = request_id_var.get()</a:t>
            </a:r>
          </a:p>
          <a:p>
            <a:pPr>
              <a:lnSpc>
                <a:spcPct val="105820"/>
              </a:lnSpc>
              <a:spcAft>
                <a:spcPts val="0"/>
              </a:spcAft>
            </a:pPr>
            <a:r>
              <a:rPr sz="630" i="0">
                <a:solidFill>
                  <a:srgbClr val="E6EDF3"/>
                </a:solidFill>
                <a:latin typeface="Inconsolata"/>
              </a:rPr>
              <a:t>        record.trace_id = </a:t>
            </a:r>
            <a:r>
              <a:rPr sz="630" i="0">
                <a:solidFill>
                  <a:srgbClr val="A5D6A7"/>
                </a:solidFill>
                <a:latin typeface="Inconsolata"/>
              </a:rPr>
              <a:t>f"{span.trace_id:032x}"</a:t>
            </a:r>
            <a:r>
              <a:rPr sz="630" i="0">
                <a:solidFill>
                  <a:srgbClr val="E6EDF3"/>
                </a:solidFill>
                <a:latin typeface="Inconsolata"/>
              </a:rPr>
              <a:t> </a:t>
            </a:r>
            <a:r>
              <a:rPr sz="630" i="0">
                <a:solidFill>
                  <a:srgbClr val="FF8E6E"/>
                </a:solidFill>
                <a:latin typeface="Inconsolata"/>
              </a:rPr>
              <a:t>if</a:t>
            </a:r>
            <a:r>
              <a:rPr sz="630" i="0">
                <a:solidFill>
                  <a:srgbClr val="E6EDF3"/>
                </a:solidFill>
                <a:latin typeface="Inconsolata"/>
              </a:rPr>
              <a:t> span.is_valid </a:t>
            </a:r>
            <a:r>
              <a:rPr sz="630" i="0">
                <a:solidFill>
                  <a:srgbClr val="FF8E6E"/>
                </a:solidFill>
                <a:latin typeface="Inconsolata"/>
              </a:rPr>
              <a:t>else</a:t>
            </a:r>
            <a:r>
              <a:rPr sz="630" i="0">
                <a:solidFill>
                  <a:srgbClr val="E6EDF3"/>
                </a:solidFill>
                <a:latin typeface="Inconsolata"/>
              </a:rPr>
              <a:t> </a:t>
            </a:r>
            <a:r>
              <a:rPr sz="630" i="0">
                <a:solidFill>
                  <a:srgbClr val="FF8E6E"/>
                </a:solidFill>
                <a:latin typeface="Inconsolata"/>
              </a:rPr>
              <a:t>None</a:t>
            </a:r>
          </a:p>
          <a:p>
            <a:pPr>
              <a:lnSpc>
                <a:spcPct val="105820"/>
              </a:lnSpc>
              <a:spcAft>
                <a:spcPts val="0"/>
              </a:spcAft>
            </a:pPr>
            <a:r>
              <a:rPr sz="630" i="0">
                <a:solidFill>
                  <a:srgbClr val="E6EDF3"/>
                </a:solidFill>
                <a:latin typeface="Inconsolata"/>
              </a:rPr>
              <a:t> </a:t>
            </a:r>
          </a:p>
          <a:p>
            <a:pPr>
              <a:lnSpc>
                <a:spcPct val="105820"/>
              </a:lnSpc>
              <a:spcAft>
                <a:spcPts val="0"/>
              </a:spcAft>
            </a:pPr>
            <a:r>
              <a:rPr sz="630" i="1">
                <a:solidFill>
                  <a:srgbClr val="8B98A8"/>
                </a:solidFill>
                <a:latin typeface="Inconsolata"/>
              </a:rPr>
              <a:t># api/middleware.py</a:t>
            </a:r>
          </a:p>
          <a:p>
            <a:pPr>
              <a:lnSpc>
                <a:spcPct val="105820"/>
              </a:lnSpc>
              <a:spcAft>
                <a:spcPts val="0"/>
              </a:spcAft>
            </a:pPr>
            <a:r>
              <a:rPr sz="630" i="0">
                <a:solidFill>
                  <a:srgbClr val="E6EDF3"/>
                </a:solidFill>
                <a:latin typeface="Inconsolata"/>
              </a:rPr>
              <a:t>        </a:t>
            </a:r>
            <a:r>
              <a:rPr sz="630" i="0">
                <a:solidFill>
                  <a:srgbClr val="7FDBCA"/>
                </a:solidFill>
                <a:latin typeface="Inconsolata"/>
              </a:rPr>
              <a:t>HTTP_REQUESTS</a:t>
            </a:r>
            <a:r>
              <a:rPr sz="630" i="0">
                <a:solidFill>
                  <a:srgbClr val="E6EDF3"/>
                </a:solidFill>
                <a:latin typeface="Inconsolata"/>
              </a:rPr>
              <a:t>.labels(request.method, path, status).inc()</a:t>
            </a:r>
          </a:p>
        </p:txBody>
      </p:sp>
      <p:sp>
        <p:nvSpPr>
          <p:cNvPr id="29" name="Box 12"/>
          <p:cNvSpPr/>
          <p:nvPr/>
        </p:nvSpPr>
        <p:spPr>
          <a:xfrm>
            <a:off x="704088" y="1925320"/>
            <a:ext cx="509320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678424" y="1854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331720"/>
            <a:ext cx="509320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678424" y="22606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2534920"/>
            <a:ext cx="509320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678424" y="24638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704088" y="2839720"/>
            <a:ext cx="509320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Box 19"/>
          <p:cNvSpPr/>
          <p:nvPr/>
        </p:nvSpPr>
        <p:spPr>
          <a:xfrm>
            <a:off x="5678424" y="27686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4</a:t>
            </a:r>
          </a:p>
        </p:txBody>
      </p:sp>
      <p:sp>
        <p:nvSpPr>
          <p:cNvPr id="37" name="Box 20"/>
          <p:cNvSpPr/>
          <p:nvPr/>
        </p:nvSpPr>
        <p:spPr>
          <a:xfrm>
            <a:off x="704088" y="3144520"/>
            <a:ext cx="509320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Box 21"/>
          <p:cNvSpPr/>
          <p:nvPr/>
        </p:nvSpPr>
        <p:spPr>
          <a:xfrm>
            <a:off x="5678424" y="30734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5</a:t>
            </a:r>
          </a:p>
        </p:txBody>
      </p:sp>
      <p:sp>
        <p:nvSpPr>
          <p:cNvPr id="39" name="Box 22"/>
          <p:cNvSpPr/>
          <p:nvPr/>
        </p:nvSpPr>
        <p:spPr>
          <a:xfrm>
            <a:off x="704088" y="3550920"/>
            <a:ext cx="509320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0" name="Box 23"/>
          <p:cNvSpPr/>
          <p:nvPr/>
        </p:nvSpPr>
        <p:spPr>
          <a:xfrm>
            <a:off x="5678424" y="34798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6</a:t>
            </a:r>
          </a:p>
        </p:txBody>
      </p:sp>
      <p:sp>
        <p:nvSpPr>
          <p:cNvPr id="41" name="Box 24"/>
          <p:cNvSpPr/>
          <p:nvPr/>
        </p:nvSpPr>
        <p:spPr>
          <a:xfrm>
            <a:off x="6062472" y="1499616"/>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1</a:t>
            </a:r>
          </a:p>
        </p:txBody>
      </p:sp>
      <p:sp>
        <p:nvSpPr>
          <p:cNvPr id="42" name="Text 25"/>
          <p:cNvSpPr txBox="1"/>
          <p:nvPr/>
        </p:nvSpPr>
        <p:spPr>
          <a:xfrm>
            <a:off x="6391656" y="1463040"/>
            <a:ext cx="2093975" cy="536448"/>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Middleware memberi request_id. FastAPIInstrumentor membuka span request</a:t>
            </a:r>
          </a:p>
        </p:txBody>
      </p:sp>
      <p:sp>
        <p:nvSpPr>
          <p:cNvPr id="43" name="Box 26"/>
          <p:cNvSpPr/>
          <p:nvPr/>
        </p:nvSpPr>
        <p:spPr>
          <a:xfrm>
            <a:off x="6062472" y="2036064"/>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2</a:t>
            </a:r>
          </a:p>
        </p:txBody>
      </p:sp>
      <p:sp>
        <p:nvSpPr>
          <p:cNvPr id="44" name="Text 27"/>
          <p:cNvSpPr txBox="1"/>
          <p:nvPr/>
        </p:nvSpPr>
        <p:spPr>
          <a:xfrm>
            <a:off x="6391656" y="1999488"/>
            <a:ext cx="2093975" cy="536448"/>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OrderService menyimpan order (span query), lalu publish event dalam span</a:t>
            </a:r>
          </a:p>
        </p:txBody>
      </p:sp>
      <p:sp>
        <p:nvSpPr>
          <p:cNvPr id="45" name="Box 28"/>
          <p:cNvSpPr/>
          <p:nvPr/>
        </p:nvSpPr>
        <p:spPr>
          <a:xfrm>
            <a:off x="6062472" y="2572512"/>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3</a:t>
            </a:r>
          </a:p>
        </p:txBody>
      </p:sp>
      <p:sp>
        <p:nvSpPr>
          <p:cNvPr id="46" name="Text 29"/>
          <p:cNvSpPr txBox="1"/>
          <p:nvPr/>
        </p:nvSpPr>
        <p:spPr>
          <a:xfrm>
            <a:off x="6391656" y="2535936"/>
            <a:ext cx="2093975" cy="536448"/>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traceparent ditulis ke header pesan RabbitMQ</a:t>
            </a:r>
          </a:p>
        </p:txBody>
      </p:sp>
      <p:sp>
        <p:nvSpPr>
          <p:cNvPr id="47" name="Box 30"/>
          <p:cNvSpPr/>
          <p:nvPr/>
        </p:nvSpPr>
        <p:spPr>
          <a:xfrm>
            <a:off x="6062472" y="3108960"/>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4</a:t>
            </a:r>
          </a:p>
        </p:txBody>
      </p:sp>
      <p:sp>
        <p:nvSpPr>
          <p:cNvPr id="48" name="Text 31"/>
          <p:cNvSpPr txBox="1"/>
          <p:nvPr/>
        </p:nvSpPr>
        <p:spPr>
          <a:xfrm>
            <a:off x="6391656" y="3072384"/>
            <a:ext cx="2093975" cy="536448"/>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Consumer membaca traceparent, span-nya masuk trace yang sama</a:t>
            </a:r>
          </a:p>
        </p:txBody>
      </p:sp>
      <p:sp>
        <p:nvSpPr>
          <p:cNvPr id="49" name="Box 32"/>
          <p:cNvSpPr/>
          <p:nvPr/>
        </p:nvSpPr>
        <p:spPr>
          <a:xfrm>
            <a:off x="6062472" y="3645408"/>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5</a:t>
            </a:r>
          </a:p>
        </p:txBody>
      </p:sp>
      <p:sp>
        <p:nvSpPr>
          <p:cNvPr id="50" name="Text 33"/>
          <p:cNvSpPr txBox="1"/>
          <p:nvPr/>
        </p:nvSpPr>
        <p:spPr>
          <a:xfrm>
            <a:off x="6391656" y="3608832"/>
            <a:ext cx="2093975" cy="536448"/>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Setiap log membawa request_id dan trace_id</a:t>
            </a:r>
          </a:p>
        </p:txBody>
      </p:sp>
      <p:sp>
        <p:nvSpPr>
          <p:cNvPr id="51" name="Box 34"/>
          <p:cNvSpPr/>
          <p:nvPr/>
        </p:nvSpPr>
        <p:spPr>
          <a:xfrm>
            <a:off x="6062472" y="4181856"/>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6</a:t>
            </a:r>
          </a:p>
        </p:txBody>
      </p:sp>
      <p:sp>
        <p:nvSpPr>
          <p:cNvPr id="52" name="Text 35"/>
          <p:cNvSpPr txBox="1"/>
          <p:nvPr/>
        </p:nvSpPr>
        <p:spPr>
          <a:xfrm>
            <a:off x="6391656" y="4145280"/>
            <a:ext cx="2093975" cy="536448"/>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Request selesai: metrics dicatat, Prometheus mengambilnya lewat /metrics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Penutup</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Rangkuman</a:t>
            </a:r>
          </a:p>
        </p:txBody>
      </p:sp>
      <p:sp>
        <p:nvSpPr>
          <p:cNvPr id="22" name="Box 3"/>
          <p:cNvSpPr/>
          <p:nvPr/>
        </p:nvSpPr>
        <p:spPr>
          <a:xfrm>
            <a:off x="621792" y="155448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Text 4"/>
          <p:cNvSpPr txBox="1"/>
          <p:nvPr/>
        </p:nvSpPr>
        <p:spPr>
          <a:xfrm>
            <a:off x="758952" y="164592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Structured Logging</a:t>
            </a:r>
          </a:p>
        </p:txBody>
      </p:sp>
      <p:sp>
        <p:nvSpPr>
          <p:cNvPr id="24" name="Text 5"/>
          <p:cNvSpPr txBox="1"/>
          <p:nvPr/>
        </p:nvSpPr>
        <p:spPr>
          <a:xfrm>
            <a:off x="758952" y="196596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Satu log satu baris JSON, data penting sebagai field</a:t>
            </a:r>
          </a:p>
        </p:txBody>
      </p:sp>
      <p:sp>
        <p:nvSpPr>
          <p:cNvPr id="25" name="Box 6"/>
          <p:cNvSpPr/>
          <p:nvPr/>
        </p:nvSpPr>
        <p:spPr>
          <a:xfrm>
            <a:off x="3291840" y="155448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6" name="Text 7"/>
          <p:cNvSpPr txBox="1"/>
          <p:nvPr/>
        </p:nvSpPr>
        <p:spPr>
          <a:xfrm>
            <a:off x="3429000" y="164592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Correlation ID</a:t>
            </a:r>
          </a:p>
        </p:txBody>
      </p:sp>
      <p:sp>
        <p:nvSpPr>
          <p:cNvPr id="27" name="Text 8"/>
          <p:cNvSpPr txBox="1"/>
          <p:nvPr/>
        </p:nvSpPr>
        <p:spPr>
          <a:xfrm>
            <a:off x="3429000" y="196596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request_id di setiap log dan header X-Request-ID</a:t>
            </a:r>
          </a:p>
        </p:txBody>
      </p:sp>
      <p:sp>
        <p:nvSpPr>
          <p:cNvPr id="28" name="Box 9"/>
          <p:cNvSpPr/>
          <p:nvPr/>
        </p:nvSpPr>
        <p:spPr>
          <a:xfrm>
            <a:off x="5961888" y="155448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Text 10"/>
          <p:cNvSpPr txBox="1"/>
          <p:nvPr/>
        </p:nvSpPr>
        <p:spPr>
          <a:xfrm>
            <a:off x="6099048" y="164592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Klasifikasi Error</a:t>
            </a:r>
          </a:p>
        </p:txBody>
      </p:sp>
      <p:sp>
        <p:nvSpPr>
          <p:cNvPr id="30" name="Text 11"/>
          <p:cNvSpPr txBox="1"/>
          <p:nvPr/>
        </p:nvSpPr>
        <p:spPr>
          <a:xfrm>
            <a:off x="6099048" y="196596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Client, dependency, dan bug dicatat dan dijawab berbeda</a:t>
            </a:r>
          </a:p>
        </p:txBody>
      </p:sp>
      <p:sp>
        <p:nvSpPr>
          <p:cNvPr id="31" name="Box 12"/>
          <p:cNvSpPr/>
          <p:nvPr/>
        </p:nvSpPr>
        <p:spPr>
          <a:xfrm>
            <a:off x="621792" y="310896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Text 13"/>
          <p:cNvSpPr txBox="1"/>
          <p:nvPr/>
        </p:nvSpPr>
        <p:spPr>
          <a:xfrm>
            <a:off x="758952" y="320040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Metrics</a:t>
            </a:r>
          </a:p>
        </p:txBody>
      </p:sp>
      <p:sp>
        <p:nvSpPr>
          <p:cNvPr id="33" name="Text 14"/>
          <p:cNvSpPr txBox="1"/>
          <p:nvPr/>
        </p:nvSpPr>
        <p:spPr>
          <a:xfrm>
            <a:off x="758952" y="352044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Request, error, dan latency per route, dibaca Prometheus</a:t>
            </a:r>
          </a:p>
        </p:txBody>
      </p:sp>
      <p:sp>
        <p:nvSpPr>
          <p:cNvPr id="34" name="Box 15"/>
          <p:cNvSpPr/>
          <p:nvPr/>
        </p:nvSpPr>
        <p:spPr>
          <a:xfrm>
            <a:off x="3291840" y="310896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Text 16"/>
          <p:cNvSpPr txBox="1"/>
          <p:nvPr/>
        </p:nvSpPr>
        <p:spPr>
          <a:xfrm>
            <a:off x="3429000" y="320040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Health &amp; SLO</a:t>
            </a:r>
          </a:p>
        </p:txBody>
      </p:sp>
      <p:sp>
        <p:nvSpPr>
          <p:cNvPr id="36" name="Text 17"/>
          <p:cNvSpPr txBox="1"/>
          <p:nvPr/>
        </p:nvSpPr>
        <p:spPr>
          <a:xfrm>
            <a:off x="3429000" y="352044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Readiness untuk load balancer, alert dari SLI di bawah SLO</a:t>
            </a:r>
          </a:p>
        </p:txBody>
      </p:sp>
      <p:sp>
        <p:nvSpPr>
          <p:cNvPr id="37" name="Box 18"/>
          <p:cNvSpPr/>
          <p:nvPr/>
        </p:nvSpPr>
        <p:spPr>
          <a:xfrm>
            <a:off x="5961888" y="310896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Text 19"/>
          <p:cNvSpPr txBox="1"/>
          <p:nvPr/>
        </p:nvSpPr>
        <p:spPr>
          <a:xfrm>
            <a:off x="6099048" y="320040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Tracing</a:t>
            </a:r>
          </a:p>
        </p:txBody>
      </p:sp>
      <p:sp>
        <p:nvSpPr>
          <p:cNvPr id="39" name="Text 20"/>
          <p:cNvSpPr txBox="1"/>
          <p:nvPr/>
        </p:nvSpPr>
        <p:spPr>
          <a:xfrm>
            <a:off x="6099048" y="352044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Span dari API sampai consumer dalam satu trace_id</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Google Shape;253;g2907dbd8723_0_0"/>
          <p:cNvPicPr preferRelativeResize="0"/>
          <p:nvPr/>
        </p:nvPicPr>
        <p:blipFill rotWithShape="1">
          <a:blip r:embed="rId3">
            <a:alphaModFix/>
          </a:blip>
          <a:srcRect/>
          <a:stretch/>
        </p:blipFill>
        <p:spPr>
          <a:xfrm>
            <a:off x="2843401" y="4399825"/>
            <a:ext cx="244986" cy="201168"/>
          </a:xfrm>
          <a:prstGeom prst="rect">
            <a:avLst/>
          </a:prstGeom>
          <a:noFill/>
          <a:ln>
            <a:noFill/>
          </a:ln>
        </p:spPr>
      </p:pic>
      <p:sp>
        <p:nvSpPr>
          <p:cNvPr id="254" name="Google Shape;254;g2907dbd8723_0_0"/>
          <p:cNvSpPr txBox="1"/>
          <p:nvPr/>
        </p:nvSpPr>
        <p:spPr>
          <a:xfrm>
            <a:off x="843350" y="1097280"/>
            <a:ext cx="4977000" cy="6348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rgbClr val="000000"/>
              </a:buClr>
              <a:buSzPts val="7200"/>
              <a:buFont typeface="Arial"/>
              <a:buNone/>
            </a:pPr>
            <a:r>
              <a:rPr lang="en" sz="3000" b="0" i="0" u="none" strike="noStrike" cap="none">
                <a:solidFill>
                  <a:srgbClr val="FFFFFF"/>
                </a:solidFill>
                <a:latin typeface="Work Sans ExtraBold"/>
                <a:ea typeface="Work Sans ExtraBold"/>
                <a:cs typeface="Work Sans ExtraBold"/>
                <a:sym typeface="Work Sans ExtraBold"/>
              </a:rPr>
              <a:t>Source Code</a:t>
            </a:r>
            <a:endParaRPr sz="3000" b="0" i="0" u="none" strike="noStrike" cap="none">
              <a:solidFill>
                <a:srgbClr val="FFFFFF"/>
              </a:solidFill>
              <a:latin typeface="Work Sans ExtraBold"/>
              <a:ea typeface="Work Sans ExtraBold"/>
              <a:cs typeface="Work Sans ExtraBold"/>
              <a:sym typeface="Work Sans ExtraBold"/>
            </a:endParaRPr>
          </a:p>
        </p:txBody>
      </p:sp>
      <p:sp>
        <p:nvSpPr>
          <p:cNvPr id="255" name="Google Shape;255;g2907dbd8723_0_0"/>
          <p:cNvSpPr txBox="1"/>
          <p:nvPr/>
        </p:nvSpPr>
        <p:spPr>
          <a:xfrm>
            <a:off x="1230650" y="1934520"/>
            <a:ext cx="1920240" cy="451500"/>
          </a:xfrm>
          <a:prstGeom prst="rect">
            <a:avLst/>
          </a:prstGeom>
          <a:noFill/>
          <a:ln>
            <a:noFill/>
          </a:ln>
        </p:spPr>
        <p:txBody>
          <a:bodyPr spcFirstLastPara="1" wrap="non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1300" b="1" i="0" u="none" strike="noStrike" cap="none">
                <a:solidFill>
                  <a:srgbClr val="FFFFFF"/>
                </a:solidFill>
                <a:latin typeface="Inter"/>
                <a:ea typeface="Inter"/>
                <a:cs typeface="Inter"/>
                <a:sym typeface="Inter"/>
              </a:rPr>
              <a:t>Sesi 9</a:t>
            </a:r>
            <a:endParaRPr sz="1500" b="0" i="1" u="none" strike="noStrike" cap="none">
              <a:solidFill>
                <a:srgbClr val="000000"/>
              </a:solidFill>
              <a:latin typeface="Inter"/>
              <a:ea typeface="Inter"/>
              <a:cs typeface="Inter"/>
              <a:sym typeface="Inter"/>
            </a:endParaRPr>
          </a:p>
        </p:txBody>
      </p:sp>
      <p:sp>
        <p:nvSpPr>
          <p:cNvPr id="256" name="Google Shape;256;g2907dbd8723_0_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78</a:t>
            </a:fld>
            <a:endParaRPr/>
          </a:p>
        </p:txBody>
      </p:sp>
      <p:pic>
        <p:nvPicPr>
          <p:cNvPr id="257" name="Google Shape;257;g2907dbd8723_0_0"/>
          <p:cNvPicPr preferRelativeResize="0"/>
          <p:nvPr/>
        </p:nvPicPr>
        <p:blipFill rotWithShape="1">
          <a:blip r:embed="rId4">
            <a:alphaModFix/>
          </a:blip>
          <a:srcRect/>
          <a:stretch/>
        </p:blipFill>
        <p:spPr>
          <a:xfrm>
            <a:off x="4654775" y="4399825"/>
            <a:ext cx="284713" cy="201168"/>
          </a:xfrm>
          <a:prstGeom prst="rect">
            <a:avLst/>
          </a:prstGeom>
          <a:noFill/>
          <a:ln>
            <a:noFill/>
          </a:ln>
        </p:spPr>
      </p:pic>
      <p:pic>
        <p:nvPicPr>
          <p:cNvPr id="258" name="Google Shape;258;g2907dbd8723_0_0"/>
          <p:cNvPicPr preferRelativeResize="0"/>
          <p:nvPr/>
        </p:nvPicPr>
        <p:blipFill rotWithShape="1">
          <a:blip r:embed="rId5">
            <a:alphaModFix/>
          </a:blip>
          <a:srcRect/>
          <a:stretch/>
        </p:blipFill>
        <p:spPr>
          <a:xfrm>
            <a:off x="6505899" y="4399825"/>
            <a:ext cx="198637" cy="201168"/>
          </a:xfrm>
          <a:prstGeom prst="rect">
            <a:avLst/>
          </a:prstGeom>
          <a:noFill/>
          <a:ln>
            <a:noFill/>
          </a:ln>
        </p:spPr>
      </p:pic>
      <p:pic>
        <p:nvPicPr>
          <p:cNvPr id="259" name="Google Shape;259;g2907dbd8723_0_0"/>
          <p:cNvPicPr preferRelativeResize="0"/>
          <p:nvPr/>
        </p:nvPicPr>
        <p:blipFill rotWithShape="1">
          <a:blip r:embed="rId6">
            <a:alphaModFix/>
          </a:blip>
          <a:srcRect/>
          <a:stretch/>
        </p:blipFill>
        <p:spPr>
          <a:xfrm>
            <a:off x="1028695" y="4399825"/>
            <a:ext cx="201948" cy="201168"/>
          </a:xfrm>
          <a:prstGeom prst="rect">
            <a:avLst/>
          </a:prstGeom>
          <a:noFill/>
          <a:ln>
            <a:noFill/>
          </a:ln>
        </p:spPr>
      </p:pic>
      <p:sp>
        <p:nvSpPr>
          <p:cNvPr id="260" name="Google Shape;260;g2907dbd8723_0_0"/>
          <p:cNvSpPr txBox="1"/>
          <p:nvPr/>
        </p:nvSpPr>
        <p:spPr>
          <a:xfrm>
            <a:off x="1230650" y="4338863"/>
            <a:ext cx="8889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Inter"/>
                <a:ea typeface="Inter"/>
                <a:cs typeface="Inter"/>
                <a:sym typeface="Inter"/>
              </a:rPr>
              <a:t>Hacktiv8id</a:t>
            </a:r>
            <a:endParaRPr sz="900" b="0" i="0" u="none" strike="noStrike" cap="none">
              <a:solidFill>
                <a:srgbClr val="000000"/>
              </a:solidFill>
              <a:latin typeface="Arial"/>
              <a:ea typeface="Arial"/>
              <a:cs typeface="Arial"/>
              <a:sym typeface="Arial"/>
            </a:endParaRPr>
          </a:p>
        </p:txBody>
      </p:sp>
      <p:sp>
        <p:nvSpPr>
          <p:cNvPr id="261" name="Google Shape;261;g2907dbd8723_0_0"/>
          <p:cNvSpPr txBox="1"/>
          <p:nvPr/>
        </p:nvSpPr>
        <p:spPr>
          <a:xfrm>
            <a:off x="3088375" y="4338863"/>
            <a:ext cx="8889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Inter"/>
                <a:ea typeface="Inter"/>
                <a:cs typeface="Inter"/>
                <a:sym typeface="Inter"/>
              </a:rPr>
              <a:t>Hacktiv8id</a:t>
            </a:r>
            <a:endParaRPr sz="900" b="0" i="0" u="none" strike="noStrike" cap="none">
              <a:solidFill>
                <a:srgbClr val="000000"/>
              </a:solidFill>
              <a:latin typeface="Arial"/>
              <a:ea typeface="Arial"/>
              <a:cs typeface="Arial"/>
              <a:sym typeface="Arial"/>
            </a:endParaRPr>
          </a:p>
        </p:txBody>
      </p:sp>
      <p:sp>
        <p:nvSpPr>
          <p:cNvPr id="262" name="Google Shape;262;g2907dbd8723_0_0"/>
          <p:cNvSpPr txBox="1"/>
          <p:nvPr/>
        </p:nvSpPr>
        <p:spPr>
          <a:xfrm>
            <a:off x="4946100" y="4338863"/>
            <a:ext cx="8889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Inter"/>
                <a:ea typeface="Inter"/>
                <a:cs typeface="Inter"/>
                <a:sym typeface="Inter"/>
              </a:rPr>
              <a:t>Hacktiv8</a:t>
            </a:r>
            <a:endParaRPr sz="900" b="0" i="0" u="none" strike="noStrike" cap="none">
              <a:solidFill>
                <a:srgbClr val="000000"/>
              </a:solidFill>
              <a:latin typeface="Arial"/>
              <a:ea typeface="Arial"/>
              <a:cs typeface="Arial"/>
              <a:sym typeface="Arial"/>
            </a:endParaRPr>
          </a:p>
        </p:txBody>
      </p:sp>
      <p:sp>
        <p:nvSpPr>
          <p:cNvPr id="263" name="Google Shape;263;g2907dbd8723_0_0"/>
          <p:cNvSpPr txBox="1"/>
          <p:nvPr/>
        </p:nvSpPr>
        <p:spPr>
          <a:xfrm>
            <a:off x="6704525" y="4338875"/>
            <a:ext cx="14235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Inter"/>
                <a:ea typeface="Inter"/>
                <a:cs typeface="Inter"/>
                <a:sym typeface="Inter"/>
              </a:rPr>
              <a:t>Hacktiv8 Indonesia</a:t>
            </a:r>
            <a:endParaRPr sz="900" b="0" i="0" u="none" strike="noStrike" cap="none">
              <a:solidFill>
                <a:srgbClr val="000000"/>
              </a:solidFill>
              <a:latin typeface="Arial"/>
              <a:ea typeface="Arial"/>
              <a:cs typeface="Arial"/>
              <a:sym typeface="Arial"/>
            </a:endParaRPr>
          </a:p>
        </p:txBody>
      </p:sp>
      <p:cxnSp>
        <p:nvCxnSpPr>
          <p:cNvPr id="264" name="Google Shape;264;g2907dbd8723_0_0"/>
          <p:cNvCxnSpPr/>
          <p:nvPr/>
        </p:nvCxnSpPr>
        <p:spPr>
          <a:xfrm>
            <a:off x="3063240" y="2160270"/>
            <a:ext cx="914400" cy="9600"/>
          </a:xfrm>
          <a:prstGeom prst="straightConnector1">
            <a:avLst/>
          </a:prstGeom>
          <a:noFill/>
          <a:ln w="19050" cap="flat" cmpd="sng">
            <a:solidFill>
              <a:srgbClr val="FFF5D8"/>
            </a:solidFill>
            <a:prstDash val="solid"/>
            <a:round/>
            <a:headEnd type="none" w="sm" len="sm"/>
            <a:tailEnd type="none" w="sm" len="sm"/>
          </a:ln>
        </p:spPr>
      </p:cxnSp>
      <p:sp>
        <p:nvSpPr>
          <p:cNvPr id="265" name="Google Shape;265;g2907dbd8723_0_0">
            <a:hlinkClick r:id="rId7"/>
          </p:cNvPr>
          <p:cNvSpPr txBox="1"/>
          <p:nvPr/>
        </p:nvSpPr>
        <p:spPr>
          <a:xfrm>
            <a:off x="4206240" y="1934520"/>
            <a:ext cx="4023360" cy="451500"/>
          </a:xfrm>
          <a:prstGeom prst="rect">
            <a:avLst/>
          </a:prstGeom>
          <a:noFill/>
          <a:ln>
            <a:noFill/>
          </a:ln>
        </p:spPr>
        <p:txBody>
          <a:bodyPr spcFirstLastPara="1" wrap="non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1200" b="0" i="1" u="sng" strike="noStrike" cap="none">
                <a:solidFill>
                  <a:schemeClr val="hlink"/>
                </a:solidFill>
                <a:latin typeface="Inter"/>
                <a:ea typeface="Inter"/>
                <a:cs typeface="Inter"/>
                <a:sym typeface="Inter"/>
                <a:hlinkClick r:id="rId8"/>
              </a:rPr>
              <a:t>github.com/bagusedghar/fastapi-intermediate</a:t>
            </a:r>
            <a:endParaRPr sz="1500" b="0" i="1" u="sng" strike="noStrike" cap="none">
              <a:solidFill>
                <a:schemeClr val="lt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13148</Words>
  <Application>Microsoft Office PowerPoint</Application>
  <PresentationFormat>On-screen Show (16:9)</PresentationFormat>
  <Paragraphs>1818</Paragraphs>
  <Slides>78</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78</vt:i4>
      </vt:variant>
    </vt:vector>
  </HeadingPairs>
  <TitlesOfParts>
    <vt:vector size="84" baseType="lpstr">
      <vt:lpstr>Arial</vt:lpstr>
      <vt:lpstr>Work Sans ExtraBold</vt:lpstr>
      <vt:lpstr>Inconsolata</vt:lpstr>
      <vt:lpstr>Inter</vt:lpstr>
      <vt:lpstr>Work Sans Medium</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Bagus Edghar</cp:lastModifiedBy>
  <cp:revision>1</cp:revision>
  <dcterms:modified xsi:type="dcterms:W3CDTF">2026-10-28T20:40:26Z</dcterms:modified>
</cp:coreProperties>
</file>