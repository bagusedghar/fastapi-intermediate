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75"/>
  </p:notesMasterIdLst>
  <p:sldIdLst>
    <p:sldId id="256" r:id="rId2"/>
    <p:sldId id="257"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346" r:id="rId73"/>
    <p:sldId id="276" r:id="rId74"/>
  </p:sldIdLst>
  <p:sldSz cx="9144000" cy="5143500" type="screen16x9"/>
  <p:notesSz cx="6858000" cy="9144000"/>
  <p:embeddedFontLst>
    <p:embeddedFont>
      <p:font typeface="Inconsolata" pitchFamily="1" charset="0"/>
      <p:regular r:id="rId76"/>
      <p:bold r:id="rId77"/>
    </p:embeddedFont>
    <p:embeddedFont>
      <p:font typeface="Inter" panose="02000503000000020004" pitchFamily="2" charset="0"/>
      <p:regular r:id="rId78"/>
      <p:bold r:id="rId79"/>
      <p:italic r:id="rId80"/>
      <p:boldItalic r:id="rId81"/>
    </p:embeddedFont>
    <p:embeddedFont>
      <p:font typeface="Work Sans ExtraBold" pitchFamily="2" charset="0"/>
      <p:bold r:id="rId82"/>
    </p:embeddedFont>
    <p:embeddedFont>
      <p:font typeface="Work Sans Medium" pitchFamily="2" charset="0"/>
      <p:regular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4" roundtripDataSignature="AMtx7misuxx245f/qKiEmR3PX6YRe0tI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font" Target="fonts/font1.fntdata"/><Relationship Id="rId77" Type="http://schemas.openxmlformats.org/officeDocument/2006/relationships/font" Target="fonts/font2.fntdata"/><Relationship Id="rId78" Type="http://schemas.openxmlformats.org/officeDocument/2006/relationships/font" Target="fonts/font3.fntdata"/><Relationship Id="rId79" Type="http://schemas.openxmlformats.org/officeDocument/2006/relationships/font" Target="fonts/font4.fntdata"/><Relationship Id="rId80" Type="http://schemas.openxmlformats.org/officeDocument/2006/relationships/font" Target="fonts/font5.fntdata"/><Relationship Id="rId81" Type="http://schemas.openxmlformats.org/officeDocument/2006/relationships/font" Target="fonts/font6.fntdata"/><Relationship Id="rId82" Type="http://schemas.openxmlformats.org/officeDocument/2006/relationships/font" Target="fonts/font7.fntdata"/><Relationship Id="rId83" Type="http://schemas.openxmlformats.org/officeDocument/2006/relationships/font" Target="fonts/font8.fntdata"/><Relationship Id="rId84" Type="http://customschemas.google.com/relationships/presentationmetadata" Target="metadata"/><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42ffe4c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442ffe4c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Peserta mengerjakan hands-on bersama mentor.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07dbd87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907dbd87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a:stretch/>
        </p:blipFill>
        <p:spPr>
          <a:xfrm>
            <a:off x="-7200" y="-15150"/>
            <a:ext cx="9190446" cy="5169626"/>
          </a:xfrm>
          <a:prstGeom prst="rect">
            <a:avLst/>
          </a:prstGeom>
          <a:noFill/>
          <a:ln>
            <a:noFill/>
          </a:ln>
        </p:spPr>
      </p:pic>
      <p:sp>
        <p:nvSpPr>
          <p:cNvPr id="11" name="Google Shape;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a:stretch/>
        </p:blipFill>
        <p:spPr>
          <a:xfrm>
            <a:off x="0" y="-1"/>
            <a:ext cx="9144003" cy="5143504"/>
          </a:xfrm>
          <a:prstGeom prst="rect">
            <a:avLst/>
          </a:prstGeom>
          <a:noFill/>
          <a:ln>
            <a:noFill/>
          </a:ln>
        </p:spPr>
      </p:pic>
      <p:sp>
        <p:nvSpPr>
          <p:cNvPr id="15" name="Google Shape;1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a:stretch/>
        </p:blipFill>
        <p:spPr>
          <a:xfrm>
            <a:off x="0" y="-1"/>
            <a:ext cx="9206026" cy="5178401"/>
          </a:xfrm>
          <a:prstGeom prst="rect">
            <a:avLst/>
          </a:prstGeom>
          <a:noFill/>
          <a:ln>
            <a:noFill/>
          </a:ln>
        </p:spPr>
      </p:pic>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2 1 1">
  <p:cSld name="TITLE_2_1_1">
    <p:spTree>
      <p:nvGrpSpPr>
        <p:cNvPr id="1" name="Shape 21"/>
        <p:cNvGrpSpPr/>
        <p:nvPr/>
      </p:nvGrpSpPr>
      <p:grpSpPr>
        <a:xfrm>
          <a:off x="0" y="0"/>
          <a:ext cx="0" cy="0"/>
          <a:chOff x="0" y="0"/>
          <a:chExt cx="0" cy="0"/>
        </a:xfrm>
      </p:grpSpPr>
      <p:sp>
        <p:nvSpPr>
          <p:cNvPr id="22" name="Google Shape;2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l="-11869" r="-10498"/>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3">
  <p:cSld name="SECTION_HEADER_4">
    <p:spTree>
      <p:nvGrpSpPr>
        <p:cNvPr id="1"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a:stretch/>
        </p:blipFill>
        <p:spPr>
          <a:xfrm>
            <a:off x="0" y="-1"/>
            <a:ext cx="9143992" cy="5143501"/>
          </a:xfrm>
          <a:prstGeom prst="rect">
            <a:avLst/>
          </a:prstGeom>
          <a:noFill/>
          <a:ln>
            <a:noFill/>
          </a:ln>
        </p:spPr>
      </p:pic>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1">
  <p:cSld name="TITLE_2_1">
    <p:spTree>
      <p:nvGrpSpPr>
        <p:cNvPr id="1" name="Shape 29"/>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a:stretch/>
        </p:blipFill>
        <p:spPr>
          <a:xfrm>
            <a:off x="-14350" y="-6375"/>
            <a:ext cx="9160668" cy="5152876"/>
          </a:xfrm>
          <a:prstGeom prst="rect">
            <a:avLst/>
          </a:prstGeom>
          <a:noFill/>
          <a:ln>
            <a:noFill/>
          </a:ln>
        </p:spPr>
      </p:pic>
      <p:sp>
        <p:nvSpPr>
          <p:cNvPr id="35" name="Google Shape;3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5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1" name="Google Shape;51;p5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5" name="Google Shape;5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9" name="Google Shape;59;p5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0" name="Google Shape;60;p5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5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4" name="Google Shape;6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5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8" name="Google Shape;6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71"/>
        <p:cNvGrpSpPr/>
        <p:nvPr/>
      </p:nvGrpSpPr>
      <p:grpSpPr>
        <a:xfrm>
          <a:off x="0" y="0"/>
          <a:ext cx="0" cy="0"/>
          <a:chOff x="0" y="0"/>
          <a:chExt cx="0" cy="0"/>
        </a:xfrm>
      </p:grpSpPr>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74"/>
        <p:cNvGrpSpPr/>
        <p:nvPr/>
      </p:nvGrpSpPr>
      <p:grpSpPr>
        <a:xfrm>
          <a:off x="0" y="0"/>
          <a:ext cx="0" cy="0"/>
          <a:chOff x="0" y="0"/>
          <a:chExt cx="0" cy="0"/>
        </a:xfrm>
      </p:grpSpPr>
      <p:sp>
        <p:nvSpPr>
          <p:cNvPr id="75" name="Google Shape;7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pic>
        <p:nvPicPr>
          <p:cNvPr id="79" name="Google Shape;79;p61"/>
          <p:cNvPicPr preferRelativeResize="0"/>
          <p:nvPr/>
        </p:nvPicPr>
        <p:blipFill rotWithShape="1">
          <a:blip r:embed="rId2">
            <a:alphaModFix/>
          </a:blip>
          <a:srcRect t="31469" b="34000"/>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image" Target="../media/image2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hyperlink" Target="https://colab.research.google.com/github/FTDS-learning-materials/phase-2/blob/master/w2/P2W2D1PM%20-%20Data%20Ethics%20&amp;%20Data%20Validation.ipynb" TargetMode="External"/><Relationship Id="rId8" Type="http://schemas.openxmlformats.org/officeDocument/2006/relationships/hyperlink" Target="https://github.com/bagusedghar/fastapi-intermediate/tree/main/sesi-06-redis-caching-rate-limi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85" name="Google Shape;85;p5"/>
          <p:cNvSpPr txBox="1"/>
          <p:nvPr/>
        </p:nvSpPr>
        <p:spPr>
          <a:xfrm>
            <a:off x="763050" y="2010750"/>
            <a:ext cx="8258100" cy="1103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Redis Caching, Rate Limiting &amp; API Gateway</a:t>
            </a:r>
            <a:endParaRPr sz="3500" b="0" i="0" u="none" strike="noStrike" cap="non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1500"/>
              <a:buFont typeface="Arial"/>
              <a:buNone/>
            </a:pPr>
            <a:r>
              <a:rPr lang="en" sz="1500" b="0" i="0" u="none" strike="noStrike" cap="none">
                <a:solidFill>
                  <a:schemeClr val="dk2"/>
                </a:solidFill>
                <a:latin typeface="Work Sans Medium"/>
                <a:ea typeface="Work Sans Medium"/>
                <a:cs typeface="Work Sans Medium"/>
                <a:sym typeface="Work Sans Medium"/>
              </a:rPr>
              <a:t>Intermediate Backend Developer with FastAPI  -  Sesi 6</a:t>
            </a:r>
            <a:endParaRPr sz="1500" b="0" i="0" u="none" strike="noStrike" cap="non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2442ffe4c8e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
        <p:nvSpPr>
          <p:cNvPr id="92" name="Google Shape;92;g2442ffe4c8e_0_0"/>
          <p:cNvSpPr txBox="1"/>
          <p:nvPr/>
        </p:nvSpPr>
        <p:spPr>
          <a:xfrm>
            <a:off x="310675" y="249275"/>
            <a:ext cx="44568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0" i="0" u="none" strike="noStrike" cap="none">
                <a:solidFill>
                  <a:srgbClr val="1D3D70"/>
                </a:solidFill>
                <a:latin typeface="Work Sans ExtraBold"/>
                <a:ea typeface="Work Sans ExtraBold"/>
                <a:cs typeface="Work Sans ExtraBold"/>
                <a:sym typeface="Work Sans ExtraBold"/>
              </a:rPr>
              <a:t>Contents</a:t>
            </a:r>
            <a:endParaRPr sz="2300" b="0" i="0" u="none" strike="noStrike" cap="non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Caching Strategies with Redis</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08</a:t>
            </a:r>
          </a:p>
        </p:txBody>
      </p:sp>
      <p:sp>
        <p:nvSpPr>
          <p:cNvPr id="96" name="Text 4"/>
          <p:cNvSpPr txBox="1"/>
          <p:nvPr/>
        </p:nvSpPr>
        <p:spPr>
          <a:xfrm>
            <a:off x="548640" y="1527048"/>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Response Caching, Cache Key &amp; Stampede</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21</a:t>
            </a:r>
          </a:p>
        </p:txBody>
      </p:sp>
      <p:sp>
        <p:nvSpPr>
          <p:cNvPr id="99" name="Text 7"/>
          <p:cNvSpPr txBox="1"/>
          <p:nvPr/>
        </p:nvSpPr>
        <p:spPr>
          <a:xfrm>
            <a:off x="548640" y="1911095"/>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Rate Limiting &amp; API Gateway</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35</a:t>
            </a:r>
          </a:p>
        </p:txBody>
      </p:sp>
      <p:sp>
        <p:nvSpPr>
          <p:cNvPr id="102" name="Text 10"/>
          <p:cNvSpPr txBox="1"/>
          <p:nvPr/>
        </p:nvSpPr>
        <p:spPr>
          <a:xfrm>
            <a:off x="548640" y="2295144"/>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Hands-on: Cache Produk &amp; Rate Limit</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50</a:t>
            </a:r>
          </a:p>
        </p:txBody>
      </p:sp>
      <p:sp>
        <p:nvSpPr>
          <p:cNvPr id="105" name="Text 13"/>
          <p:cNvSpPr txBox="1"/>
          <p:nvPr/>
        </p:nvSpPr>
        <p:spPr>
          <a:xfrm>
            <a:off x="548640" y="2679191"/>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Studi Kasus: Produk Terlaris</a:t>
            </a:r>
          </a:p>
        </p:txBody>
      </p:sp>
      <p:cxnSp>
        <p:nvCxnSpPr>
          <p:cNvPr id="106" name="Arrow 14"/>
          <p:cNvCxnSpPr/>
          <p:nvPr/>
        </p:nvCxnSpPr>
        <p:spPr>
          <a:xfrm>
            <a:off x="6318504" y="2862072"/>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7" name="Text 15"/>
          <p:cNvSpPr txBox="1"/>
          <p:nvPr/>
        </p:nvSpPr>
        <p:spPr>
          <a:xfrm>
            <a:off x="8266175" y="2679191"/>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68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Sesi 6</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Caching</a:t>
            </a:r>
          </a:p>
        </p:txBody>
      </p:sp>
      <p:sp>
        <p:nvSpPr>
          <p:cNvPr id="25" name="Text 6"/>
          <p:cNvSpPr txBox="1"/>
          <p:nvPr/>
        </p:nvSpPr>
        <p:spPr>
          <a:xfrm>
            <a:off x="758952"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Memilih caching strategy dan mendesain cache key, TTL, dan invalidation untuk endpoint FastAPI.</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Rate limiting &amp; gateway</a:t>
            </a:r>
          </a:p>
        </p:txBody>
      </p:sp>
      <p:sp>
        <p:nvSpPr>
          <p:cNvPr id="29" name="Text 10"/>
          <p:cNvSpPr txBox="1"/>
          <p:nvPr/>
        </p:nvSpPr>
        <p:spPr>
          <a:xfrm>
            <a:off x="3429000"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Menerapkan rate limiting sederhana dan menjelaskan peran API gateway dalam kontrol traffic.</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Trade-off</a:t>
            </a:r>
          </a:p>
        </p:txBody>
      </p:sp>
      <p:sp>
        <p:nvSpPr>
          <p:cNvPr id="33" name="Text 14"/>
          <p:cNvSpPr txBox="1"/>
          <p:nvPr/>
        </p:nvSpPr>
        <p:spPr>
          <a:xfrm>
            <a:off x="6099048"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Mengevaluasi trade-off antara response latency, consistency, dan penggunaan resource.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Pada training ini, kita akan memakai satu tema yang sama dari awal sampai akhir, yaitu </a:t>
            </a:r>
            <a:r>
              <a:rPr sz="1000" b="1" i="0">
                <a:solidFill>
                  <a:srgbClr val="434343"/>
                </a:solidFill>
                <a:latin typeface="Inter"/>
              </a:rPr>
              <a:t>Order Management API</a:t>
            </a:r>
            <a:r>
              <a:rPr sz="1000" b="0" i="0">
                <a:solidFill>
                  <a:srgbClr val="434343"/>
                </a:solidFill>
                <a:latin typeface="Inter"/>
              </a:rPr>
              <a:t>: API sederhana untuk menerima order, menghitung diskon, menyimpan data order, dan mengirim notifikasi ke customer.</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Di Sesi 6 (Caching &amp; Rate Limiting): data produk di-cache di Redis, request dibatasi.</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lIns="45720" rIns="45720" anchor="t">
            <a:spAutoFit/>
          </a:bodyPr>
          <a:lstStyle/>
          <a:p>
            <a:pPr algn="l">
              <a:lnSpc>
                <a:spcPct val="115000"/>
              </a:lnSpc>
              <a:spcAft>
                <a:spcPts val="400"/>
              </a:spcAft>
            </a:pPr>
            <a:r>
              <a:rPr sz="900" b="1" i="0">
                <a:solidFill>
                  <a:srgbClr val="7A7A7A"/>
                </a:solidFill>
                <a:latin typeface="Inter"/>
              </a:rPr>
              <a:t>Aturan diskon</a:t>
            </a:r>
          </a:p>
          <a:p>
            <a:pPr algn="l">
              <a:lnSpc>
                <a:spcPct val="115000"/>
              </a:lnSpc>
              <a:spcAft>
                <a:spcPts val="400"/>
              </a:spcAft>
            </a:pPr>
            <a:r>
              <a:rPr sz="900" b="0" i="0">
                <a:solidFill>
                  <a:srgbClr val="7A7A7A"/>
                </a:solidFill>
                <a:latin typeface="Inter"/>
              </a:rPr>
              <a:t>regular: 0%</a:t>
            </a:r>
          </a:p>
          <a:p>
            <a:pPr algn="l">
              <a:lnSpc>
                <a:spcPct val="115000"/>
              </a:lnSpc>
              <a:spcAft>
                <a:spcPts val="400"/>
              </a:spcAft>
            </a:pPr>
            <a:r>
              <a:rPr sz="900" b="0" i="0">
                <a:solidFill>
                  <a:srgbClr val="7A7A7A"/>
                </a:solidFill>
                <a:latin typeface="Inter"/>
              </a:rPr>
              <a:t>member: 5%</a:t>
            </a:r>
          </a:p>
          <a:p>
            <a:pPr algn="l">
              <a:lnSpc>
                <a:spcPct val="115000"/>
              </a:lnSpc>
              <a:spcAft>
                <a:spcPts val="400"/>
              </a:spcAft>
            </a:pPr>
            <a:r>
              <a:rPr sz="900" b="0" i="0">
                <a:solidFill>
                  <a:srgbClr val="7A7A7A"/>
                </a:solidFill>
                <a:latin typeface="Inter"/>
              </a:rPr>
              <a:t>vip: 10%</a:t>
            </a:r>
          </a:p>
          <a:p>
            <a:pPr algn="l">
              <a:lnSpc>
                <a:spcPct val="115000"/>
              </a:lnSpc>
              <a:spcAft>
                <a:spcPts val="0"/>
              </a:spcAft>
            </a:pPr>
            <a:endParaRPr sz="900" b="0" i="0">
              <a:solidFill>
                <a:srgbClr val="7A7A7A"/>
              </a:solidFill>
              <a:latin typeface="Inter"/>
            </a:endParaRPr>
          </a:p>
          <a:p>
            <a:pPr algn="l">
              <a:lnSpc>
                <a:spcPct val="115000"/>
              </a:lnSpc>
              <a:spcAft>
                <a:spcPts val="400"/>
              </a:spcAft>
            </a:pPr>
            <a:r>
              <a:rPr sz="900" b="1" i="0">
                <a:solidFill>
                  <a:srgbClr val="7A7A7A"/>
                </a:solidFill>
                <a:latin typeface="Inter"/>
              </a:rPr>
              <a:t>Notifikasi</a:t>
            </a:r>
          </a:p>
          <a:p>
            <a:pPr algn="l">
              <a:lnSpc>
                <a:spcPct val="115000"/>
              </a:lnSpc>
              <a:spcAft>
                <a:spcPts val="400"/>
              </a:spcAft>
            </a:pPr>
            <a:r>
              <a:rPr sz="900" b="0" i="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33172">
                <a:tc>
                  <a:txBody>
                    <a:bodyPr/>
                    <a:lstStyle/>
                    <a:p>
                      <a:pPr algn="l">
                        <a:lnSpc>
                          <a:spcPct val="100000"/>
                        </a:lnSpc>
                        <a:spcAft>
                          <a:spcPts val="0"/>
                        </a:spcAft>
                      </a:pPr>
                      <a:r>
                        <a:rPr sz="80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Yang ditambahkan ke Order API</a:t>
                      </a:r>
                    </a:p>
                  </a:txBody>
                  <a:tcPr marL="73152" marR="73152" marT="36576" marB="36576" anchor="ctr">
                    <a:solidFill>
                      <a:srgbClr val="1C4587"/>
                    </a:solidFill>
                  </a:tcPr>
                </a:tc>
                <a:extLst>
                  <a:ext uri="{0D108BD9-81ED-4DB2-BD59-A6C34878D82A}">
                    <a16:rowId xmlns:a16="http://schemas.microsoft.com/office/drawing/2014/main" val="10000"/>
                  </a:ext>
                </a:extLst>
              </a:tr>
              <a:tr h="233172">
                <a:tc>
                  <a:txBody>
                    <a:bodyPr/>
                    <a:lstStyle/>
                    <a:p>
                      <a:pPr algn="l">
                        <a:lnSpc>
                          <a:spcPct val="100000"/>
                        </a:lnSpc>
                        <a:spcAft>
                          <a:spcPts val="0"/>
                        </a:spcAft>
                      </a:pPr>
                      <a:r>
                        <a:rPr sz="800" b="1" i="0">
                          <a:solidFill>
                            <a:srgbClr val="1C4587"/>
                          </a:solidFill>
                          <a:latin typeface="Inter"/>
                        </a:rPr>
                        <a:t>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Design Patterns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Kode didalam satu file diperbaiki: Factory, Singleton, Strategy, Repository, Service Layer</a:t>
                      </a:r>
                    </a:p>
                  </a:txBody>
                  <a:tcPr marL="73152" marR="73152" marT="36576" marB="36576" anchor="ctr">
                    <a:solidFill>
                      <a:srgbClr val="FFFFFF"/>
                    </a:solidFill>
                  </a:tcPr>
                </a:tc>
                <a:extLst>
                  <a:ext uri="{0D108BD9-81ED-4DB2-BD59-A6C34878D82A}">
                    <a16:rowId xmlns:a16="http://schemas.microsoft.com/office/drawing/2014/main" val="10001"/>
                  </a:ext>
                </a:extLst>
              </a:tr>
              <a:tr h="233172">
                <a:tc>
                  <a:txBody>
                    <a:bodyPr/>
                    <a:lstStyle/>
                    <a:p>
                      <a:pPr algn="l">
                        <a:lnSpc>
                          <a:spcPct val="100000"/>
                        </a:lnSpc>
                        <a:spcAft>
                          <a:spcPts val="0"/>
                        </a:spcAft>
                      </a:pPr>
                      <a:r>
                        <a:rPr sz="800" b="1" i="0">
                          <a:solidFill>
                            <a:srgbClr val="1C4587"/>
                          </a:solidFill>
                          <a:latin typeface="Inter"/>
                        </a:rPr>
                        <a:t>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SOLID &amp; Clean Architecture</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Dipisah per layer: domain, application, infrastructure, api</a:t>
                      </a:r>
                    </a:p>
                  </a:txBody>
                  <a:tcPr marL="73152" marR="73152" marT="36576" marB="36576" anchor="ctr">
                    <a:solidFill>
                      <a:srgbClr val="F3F4F6"/>
                    </a:solidFill>
                  </a:tcPr>
                </a:tc>
                <a:extLst>
                  <a:ext uri="{0D108BD9-81ED-4DB2-BD59-A6C34878D82A}">
                    <a16:rowId xmlns:a16="http://schemas.microsoft.com/office/drawing/2014/main" val="10002"/>
                  </a:ext>
                </a:extLst>
              </a:tr>
              <a:tr h="233172">
                <a:tc>
                  <a:txBody>
                    <a:bodyPr/>
                    <a:lstStyle/>
                    <a:p>
                      <a:pPr algn="l">
                        <a:lnSpc>
                          <a:spcPct val="100000"/>
                        </a:lnSpc>
                        <a:spcAft>
                          <a:spcPts val="0"/>
                        </a:spcAft>
                      </a:pPr>
                      <a:r>
                        <a:rPr sz="800" b="1" i="0">
                          <a:solidFill>
                            <a:srgbClr val="1C4587"/>
                          </a:solidFill>
                          <a:latin typeface="Inter"/>
                        </a:rPr>
                        <a:t>3</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Domain-Driven Design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Order jadi aggregate, Money value object, aturan bayar &amp; batal</a:t>
                      </a:r>
                    </a:p>
                  </a:txBody>
                  <a:tcPr marL="73152" marR="73152" marT="36576" marB="36576" anchor="ctr">
                    <a:solidFill>
                      <a:srgbClr val="FFFFFF"/>
                    </a:solidFill>
                  </a:tcPr>
                </a:tc>
                <a:extLst>
                  <a:ext uri="{0D108BD9-81ED-4DB2-BD59-A6C34878D82A}">
                    <a16:rowId xmlns:a16="http://schemas.microsoft.com/office/drawing/2014/main" val="10003"/>
                  </a:ext>
                </a:extLst>
              </a:tr>
              <a:tr h="233172">
                <a:tc>
                  <a:txBody>
                    <a:bodyPr/>
                    <a:lstStyle/>
                    <a:p>
                      <a:pPr algn="l">
                        <a:lnSpc>
                          <a:spcPct val="100000"/>
                        </a:lnSpc>
                        <a:spcAft>
                          <a:spcPts val="0"/>
                        </a:spcAft>
                      </a:pPr>
                      <a:r>
                        <a:rPr sz="800" b="1" i="0">
                          <a:solidFill>
                            <a:srgbClr val="1C4587"/>
                          </a:solidFill>
                          <a:latin typeface="Inter"/>
                        </a:rPr>
                        <a:t>4</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Modular FastAPI &amp; ORM</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Router per modul, SQLAlchemy, Unit of Work, format error</a:t>
                      </a:r>
                    </a:p>
                  </a:txBody>
                  <a:tcPr marL="73152" marR="73152" marT="36576" marB="36576" anchor="ctr">
                    <a:solidFill>
                      <a:srgbClr val="F3F4F6"/>
                    </a:solidFill>
                  </a:tcPr>
                </a:tc>
                <a:extLst>
                  <a:ext uri="{0D108BD9-81ED-4DB2-BD59-A6C34878D82A}">
                    <a16:rowId xmlns:a16="http://schemas.microsoft.com/office/drawing/2014/main" val="10004"/>
                  </a:ext>
                </a:extLst>
              </a:tr>
              <a:tr h="233172">
                <a:tc>
                  <a:txBody>
                    <a:bodyPr/>
                    <a:lstStyle/>
                    <a:p>
                      <a:pPr algn="l">
                        <a:lnSpc>
                          <a:spcPct val="100000"/>
                        </a:lnSpc>
                        <a:spcAft>
                          <a:spcPts val="0"/>
                        </a:spcAft>
                      </a:pPr>
                      <a:r>
                        <a:rPr sz="800" b="1" i="0">
                          <a:solidFill>
                            <a:srgbClr val="1C4587"/>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Celery &amp; Redis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Notifikasi dan report dikerjakan di background job</a:t>
                      </a:r>
                    </a:p>
                  </a:txBody>
                  <a:tcPr marL="73152" marR="73152" marT="36576" marB="36576" anchor="ctr">
                    <a:solidFill>
                      <a:srgbClr val="FFFFFF"/>
                    </a:solidFill>
                  </a:tcPr>
                </a:tc>
                <a:extLst>
                  <a:ext uri="{0D108BD9-81ED-4DB2-BD59-A6C34878D82A}">
                    <a16:rowId xmlns:a16="http://schemas.microsoft.com/office/drawing/2014/main" val="10005"/>
                  </a:ext>
                </a:extLst>
              </a:tr>
              <a:tr h="233172">
                <a:tc>
                  <a:txBody>
                    <a:bodyPr/>
                    <a:lstStyle/>
                    <a:p>
                      <a:pPr algn="l">
                        <a:lnSpc>
                          <a:spcPct val="100000"/>
                        </a:lnSpc>
                        <a:spcAft>
                          <a:spcPts val="0"/>
                        </a:spcAft>
                      </a:pPr>
                      <a:r>
                        <a:rPr sz="800" b="1" i="0">
                          <a:solidFill>
                            <a:srgbClr val="1C4587"/>
                          </a:solidFill>
                          <a:latin typeface="Inter"/>
                        </a:rPr>
                        <a:t>6  (sesi ini)</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Caching &amp; Rate Limiting</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Data produk di-cache di Redis, request dibatasi</a:t>
                      </a:r>
                    </a:p>
                  </a:txBody>
                  <a:tcPr marL="73152" marR="73152" marT="36576" marB="36576" anchor="ctr">
                    <a:solidFill>
                      <a:srgbClr val="F3F4F6"/>
                    </a:solidFill>
                  </a:tcPr>
                </a:tc>
                <a:extLst>
                  <a:ext uri="{0D108BD9-81ED-4DB2-BD59-A6C34878D82A}">
                    <a16:rowId xmlns:a16="http://schemas.microsoft.com/office/drawing/2014/main" val="10006"/>
                  </a:ext>
                </a:extLst>
              </a:tr>
              <a:tr h="233172">
                <a:tc>
                  <a:txBody>
                    <a:bodyPr/>
                    <a:lstStyle/>
                    <a:p>
                      <a:pPr algn="l">
                        <a:lnSpc>
                          <a:spcPct val="100000"/>
                        </a:lnSpc>
                        <a:spcAft>
                          <a:spcPts val="0"/>
                        </a:spcAft>
                      </a:pPr>
                      <a:r>
                        <a:rPr sz="800" b="1" i="0">
                          <a:solidFill>
                            <a:srgbClr val="1C4587"/>
                          </a:solidFill>
                          <a:latin typeface="Inter"/>
                        </a:rPr>
                        <a:t>7</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Database Optimization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PostgreSQL, index, tanpa N+1, pagination</a:t>
                      </a:r>
                    </a:p>
                  </a:txBody>
                  <a:tcPr marL="73152" marR="73152" marT="36576" marB="36576" anchor="ctr">
                    <a:solidFill>
                      <a:srgbClr val="FFFFFF"/>
                    </a:solidFill>
                  </a:tcPr>
                </a:tc>
                <a:extLst>
                  <a:ext uri="{0D108BD9-81ED-4DB2-BD59-A6C34878D82A}">
                    <a16:rowId xmlns:a16="http://schemas.microsoft.com/office/drawing/2014/main" val="10007"/>
                  </a:ext>
                </a:extLst>
              </a:tr>
              <a:tr h="233172">
                <a:tc>
                  <a:txBody>
                    <a:bodyPr/>
                    <a:lstStyle/>
                    <a:p>
                      <a:pPr algn="l">
                        <a:lnSpc>
                          <a:spcPct val="100000"/>
                        </a:lnSpc>
                        <a:spcAft>
                          <a:spcPts val="0"/>
                        </a:spcAft>
                      </a:pPr>
                      <a:r>
                        <a:rPr sz="800" b="1" i="0">
                          <a:solidFill>
                            <a:srgbClr val="1C4587"/>
                          </a:solidFill>
                          <a:latin typeface="Inter"/>
                        </a:rPr>
                        <a:t>8</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RabbitMQ &amp; Kafka</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Event order, consumer notifikasi yang retry-safe</a:t>
                      </a:r>
                    </a:p>
                  </a:txBody>
                  <a:tcPr marL="73152" marR="73152" marT="36576" marB="36576" anchor="ctr">
                    <a:solidFill>
                      <a:srgbClr val="F3F4F6"/>
                    </a:solidFill>
                  </a:tcPr>
                </a:tc>
                <a:extLst>
                  <a:ext uri="{0D108BD9-81ED-4DB2-BD59-A6C34878D82A}">
                    <a16:rowId xmlns:a16="http://schemas.microsoft.com/office/drawing/2014/main" val="10008"/>
                  </a:ext>
                </a:extLst>
              </a:tr>
              <a:tr h="233172">
                <a:tc>
                  <a:txBody>
                    <a:bodyPr/>
                    <a:lstStyle/>
                    <a:p>
                      <a:pPr algn="l">
                        <a:lnSpc>
                          <a:spcPct val="100000"/>
                        </a:lnSpc>
                        <a:spcAft>
                          <a:spcPts val="0"/>
                        </a:spcAft>
                      </a:pPr>
                      <a:r>
                        <a:rPr sz="800" b="1" i="0">
                          <a:solidFill>
                            <a:srgbClr val="1C4587"/>
                          </a:solidFill>
                          <a:latin typeface="Inter"/>
                        </a:rPr>
                        <a:t>9</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Observability</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Log terstruktur, metrics, dan tracing</a:t>
                      </a:r>
                    </a:p>
                  </a:txBody>
                  <a:tcPr marL="73152" marR="73152" marT="36576" marB="36576" anchor="ctr">
                    <a:solidFill>
                      <a:srgbClr val="FFFFFF"/>
                    </a:solidFill>
                  </a:tcPr>
                </a:tc>
                <a:extLst>
                  <a:ext uri="{0D108BD9-81ED-4DB2-BD59-A6C34878D82A}">
                    <a16:rowId xmlns:a16="http://schemas.microsoft.com/office/drawing/2014/main" val="10009"/>
                  </a:ext>
                </a:extLst>
              </a:tr>
              <a:tr h="233172">
                <a:tc>
                  <a:txBody>
                    <a:bodyPr/>
                    <a:lstStyle/>
                    <a:p>
                      <a:pPr algn="l">
                        <a:lnSpc>
                          <a:spcPct val="100000"/>
                        </a:lnSpc>
                        <a:spcAft>
                          <a:spcPts val="0"/>
                        </a:spcAft>
                      </a:pPr>
                      <a:r>
                        <a:rPr sz="800" b="1" i="0">
                          <a:solidFill>
                            <a:srgbClr val="1C4587"/>
                          </a:solidFill>
                          <a:latin typeface="Inter"/>
                        </a:rPr>
                        <a:t>10</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API Security</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Login OAuth2/JWT, hak akses per role</a:t>
                      </a:r>
                    </a:p>
                  </a:txBody>
                  <a:tcPr marL="73152" marR="73152" marT="36576" marB="36576" anchor="ctr">
                    <a:solidFill>
                      <a:srgbClr val="F3F4F6"/>
                    </a:solidFill>
                  </a:tcPr>
                </a:tc>
                <a:extLst>
                  <a:ext uri="{0D108BD9-81ED-4DB2-BD59-A6C34878D82A}">
                    <a16:rowId xmlns:a16="http://schemas.microsoft.com/office/drawing/2014/main" val="10010"/>
                  </a:ext>
                </a:extLst>
              </a:tr>
              <a:tr h="233172">
                <a:tc>
                  <a:txBody>
                    <a:bodyPr/>
                    <a:lstStyle/>
                    <a:p>
                      <a:pPr algn="l">
                        <a:lnSpc>
                          <a:spcPct val="100000"/>
                        </a:lnSpc>
                        <a:spcAft>
                          <a:spcPts val="0"/>
                        </a:spcAft>
                      </a:pPr>
                      <a:r>
                        <a:rPr sz="800" b="1" i="0">
                          <a:solidFill>
                            <a:srgbClr val="1C4587"/>
                          </a:solidFill>
                          <a:latin typeface="Inter"/>
                        </a:rPr>
                        <a:t>11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&amp; CI/CD</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image, Compose, dan pipeline otomatis</a:t>
                      </a:r>
                    </a:p>
                  </a:txBody>
                  <a:tcPr marL="73152" marR="73152" marT="36576" marB="36576" anchor="ctr">
                    <a:solidFill>
                      <a:srgbClr val="FFFFFF"/>
                    </a:solidFill>
                  </a:tcPr>
                </a:tc>
                <a:extLst>
                  <a:ext uri="{0D108BD9-81ED-4DB2-BD59-A6C34878D82A}">
                    <a16:rowId xmlns:a16="http://schemas.microsoft.com/office/drawing/2014/main" val="10011"/>
                  </a:ext>
                </a:extLst>
              </a:tr>
              <a:tr h="233172">
                <a:tc>
                  <a:txBody>
                    <a:bodyPr/>
                    <a:lstStyle/>
                    <a:p>
                      <a:pPr algn="l">
                        <a:lnSpc>
                          <a:spcPct val="100000"/>
                        </a:lnSpc>
                        <a:spcAft>
                          <a:spcPts val="0"/>
                        </a:spcAft>
                      </a:pPr>
                      <a:r>
                        <a:rPr sz="800" b="1" i="0">
                          <a:solidFill>
                            <a:srgbClr val="1C4587"/>
                          </a:solidFill>
                          <a:latin typeface="Inter"/>
                        </a:rPr>
                        <a:t>12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Final Project</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Order API yang siap production</a:t>
                      </a:r>
                    </a:p>
                  </a:txBody>
                  <a:tcPr marL="73152" marR="73152" marT="36576" marB="36576" anchor="ctr">
                    <a:solidFill>
                      <a:srgbClr val="F3F4F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Fitur Redis, Library, dan Pattern di Sesi Ini</a:t>
            </a:r>
          </a:p>
        </p:txBody>
      </p:sp>
      <p:graphicFrame>
        <p:nvGraphicFramePr>
          <p:cNvPr id="22" name="Table 3"/>
          <p:cNvGraphicFramePr>
            <a:graphicFrameLocks noGrp="1"/>
          </p:cNvGraphicFramePr>
          <p:nvPr/>
        </p:nvGraphicFramePr>
        <p:xfrm>
          <a:off x="621792" y="1481328"/>
          <a:ext cx="7863840" cy="2962656"/>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29184">
                <a:tc>
                  <a:txBody>
                    <a:bodyPr/>
                    <a:lstStyle/>
                    <a:p>
                      <a:pPr algn="l">
                        <a:lnSpc>
                          <a:spcPct val="100000"/>
                        </a:lnSpc>
                        <a:spcAft>
                          <a:spcPts val="0"/>
                        </a:spcAft>
                      </a:pPr>
                      <a:r>
                        <a:rPr sz="95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Jenisnya</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Disediakan oleh</a:t>
                      </a:r>
                    </a:p>
                  </a:txBody>
                  <a:tcPr marL="73152" marR="73152" marT="36576" marB="36576" anchor="ctr">
                    <a:solidFill>
                      <a:srgbClr val="1C4587"/>
                    </a:solidFill>
                  </a:tcPr>
                </a:tc>
                <a:extLst>
                  <a:ext uri="{0D108BD9-81ED-4DB2-BD59-A6C34878D82A}">
                    <a16:rowId xmlns:a16="http://schemas.microsoft.com/office/drawing/2014/main" val="10000"/>
                  </a:ext>
                </a:extLst>
              </a:tr>
              <a:tr h="329184">
                <a:tc>
                  <a:txBody>
                    <a:bodyPr/>
                    <a:lstStyle/>
                    <a:p>
                      <a:pPr algn="l">
                        <a:lnSpc>
                          <a:spcPct val="100000"/>
                        </a:lnSpc>
                        <a:spcAft>
                          <a:spcPts val="0"/>
                        </a:spcAft>
                      </a:pPr>
                      <a:r>
                        <a:rPr sz="950" b="1" i="0">
                          <a:solidFill>
                            <a:srgbClr val="1C4587"/>
                          </a:solidFill>
                          <a:latin typeface="Inter"/>
                        </a:rPr>
                        <a:t>Redis: GET, SET, DEL, EXPIRE, INCR</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Redis</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Redis, dipanggil dari Python lewat library redis-py</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pPr algn="l">
                        <a:lnSpc>
                          <a:spcPct val="100000"/>
                        </a:lnSpc>
                        <a:spcAft>
                          <a:spcPts val="0"/>
                        </a:spcAft>
                      </a:pPr>
                      <a:r>
                        <a:rPr sz="950" b="1" i="0">
                          <a:solidFill>
                            <a:srgbClr val="1C4587"/>
                          </a:solidFill>
                          <a:latin typeface="Inter"/>
                        </a:rPr>
                        <a:t>Cache-aside</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Caching strategy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Ditulis sendiri di aplikasi</a:t>
                      </a:r>
                    </a:p>
                  </a:txBody>
                  <a:tcPr marL="73152" marR="73152" marT="36576" marB="36576" anchor="ctr">
                    <a:solidFill>
                      <a:srgbClr val="F3F4F6"/>
                    </a:solidFill>
                  </a:tcPr>
                </a:tc>
                <a:extLst>
                  <a:ext uri="{0D108BD9-81ED-4DB2-BD59-A6C34878D82A}">
                    <a16:rowId xmlns:a16="http://schemas.microsoft.com/office/drawing/2014/main" val="10002"/>
                  </a:ext>
                </a:extLst>
              </a:tr>
              <a:tr h="329184">
                <a:tc>
                  <a:txBody>
                    <a:bodyPr/>
                    <a:lstStyle/>
                    <a:p>
                      <a:pPr algn="l">
                        <a:lnSpc>
                          <a:spcPct val="100000"/>
                        </a:lnSpc>
                        <a:spcAft>
                          <a:spcPts val="0"/>
                        </a:spcAft>
                      </a:pPr>
                      <a:r>
                        <a:rPr sz="950" b="1" i="0">
                          <a:solidFill>
                            <a:srgbClr val="1C4587"/>
                          </a:solidFill>
                          <a:latin typeface="Inter"/>
                        </a:rPr>
                        <a:t>Cache key</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Aturan penamaan</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Disepakati tim, ditulis di satu function</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pPr algn="l">
                        <a:lnSpc>
                          <a:spcPct val="100000"/>
                        </a:lnSpc>
                        <a:spcAft>
                          <a:spcPts val="0"/>
                        </a:spcAft>
                      </a:pPr>
                      <a:r>
                        <a:rPr sz="950" b="1" i="0">
                          <a:solidFill>
                            <a:srgbClr val="1C4587"/>
                          </a:solidFill>
                          <a:latin typeface="Inter"/>
                        </a:rPr>
                        <a:t>TTL dan invalidation</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Redis</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SET ... EX untuk TTL, DEL untuk invalidation</a:t>
                      </a:r>
                    </a:p>
                  </a:txBody>
                  <a:tcPr marL="73152" marR="73152" marT="36576" marB="36576" anchor="ctr">
                    <a:solidFill>
                      <a:srgbClr val="F3F4F6"/>
                    </a:solidFill>
                  </a:tcPr>
                </a:tc>
                <a:extLst>
                  <a:ext uri="{0D108BD9-81ED-4DB2-BD59-A6C34878D82A}">
                    <a16:rowId xmlns:a16="http://schemas.microsoft.com/office/drawing/2014/main" val="10004"/>
                  </a:ext>
                </a:extLst>
              </a:tr>
              <a:tr h="329184">
                <a:tc>
                  <a:txBody>
                    <a:bodyPr/>
                    <a:lstStyle/>
                    <a:p>
                      <a:pPr algn="l">
                        <a:lnSpc>
                          <a:spcPct val="100000"/>
                        </a:lnSpc>
                        <a:spcAft>
                          <a:spcPts val="0"/>
                        </a:spcAft>
                      </a:pPr>
                      <a:r>
                        <a:rPr sz="950" b="1" i="0">
                          <a:solidFill>
                            <a:srgbClr val="1C4587"/>
                          </a:solidFill>
                          <a:latin typeface="Inter"/>
                        </a:rPr>
                        <a:t>Lock untuk cache stampede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Design pattern</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Ditulis sendiri, memakai SET ... NX</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pPr algn="l">
                        <a:lnSpc>
                          <a:spcPct val="100000"/>
                        </a:lnSpc>
                        <a:spcAft>
                          <a:spcPts val="0"/>
                        </a:spcAft>
                      </a:pPr>
                      <a:r>
                        <a:rPr sz="950" b="1" i="0">
                          <a:solidFill>
                            <a:srgbClr val="1C4587"/>
                          </a:solidFill>
                          <a:latin typeface="Inter"/>
                        </a:rPr>
                        <a:t>Rate limiting: fixed &amp; sliding window</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Algoritma</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Ditulis sendiri, memakai INCR dan sorted set Redis</a:t>
                      </a:r>
                    </a:p>
                  </a:txBody>
                  <a:tcPr marL="73152" marR="73152" marT="36576" marB="36576" anchor="ctr">
                    <a:solidFill>
                      <a:srgbClr val="F3F4F6"/>
                    </a:solidFill>
                  </a:tcPr>
                </a:tc>
                <a:extLst>
                  <a:ext uri="{0D108BD9-81ED-4DB2-BD59-A6C34878D82A}">
                    <a16:rowId xmlns:a16="http://schemas.microsoft.com/office/drawing/2014/main" val="10006"/>
                  </a:ext>
                </a:extLst>
              </a:tr>
              <a:tr h="329184">
                <a:tc>
                  <a:txBody>
                    <a:bodyPr/>
                    <a:lstStyle/>
                    <a:p>
                      <a:pPr algn="l">
                        <a:lnSpc>
                          <a:spcPct val="100000"/>
                        </a:lnSpc>
                        <a:spcAft>
                          <a:spcPts val="0"/>
                        </a:spcAft>
                      </a:pPr>
                      <a:r>
                        <a:rPr sz="950" b="1" i="0">
                          <a:solidFill>
                            <a:srgbClr val="1C4587"/>
                          </a:solidFill>
                          <a:latin typeface="Inter"/>
                        </a:rPr>
                        <a:t>429 dan header Retry-After</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Standar HTTP</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Ditulis di dependency dan exception handler FastAPI</a:t>
                      </a:r>
                    </a:p>
                  </a:txBody>
                  <a:tcPr marL="73152" marR="73152" marT="36576" marB="36576" anchor="ctr">
                    <a:solidFill>
                      <a:srgbClr val="FFFFFF"/>
                    </a:solidFill>
                  </a:tcPr>
                </a:tc>
                <a:extLst>
                  <a:ext uri="{0D108BD9-81ED-4DB2-BD59-A6C34878D82A}">
                    <a16:rowId xmlns:a16="http://schemas.microsoft.com/office/drawing/2014/main" val="10007"/>
                  </a:ext>
                </a:extLst>
              </a:tr>
              <a:tr h="329184">
                <a:tc>
                  <a:txBody>
                    <a:bodyPr/>
                    <a:lstStyle/>
                    <a:p>
                      <a:pPr algn="l">
                        <a:lnSpc>
                          <a:spcPct val="100000"/>
                        </a:lnSpc>
                        <a:spcAft>
                          <a:spcPts val="0"/>
                        </a:spcAft>
                      </a:pPr>
                      <a:r>
                        <a:rPr sz="950" b="1" i="0">
                          <a:solidFill>
                            <a:srgbClr val="1C4587"/>
                          </a:solidFill>
                          <a:latin typeface="Inter"/>
                        </a:rPr>
                        <a:t>API gateway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Software terpisah</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Nginx, Kong, AWS API Gateway, dan lainnya</a:t>
                      </a:r>
                    </a:p>
                  </a:txBody>
                  <a:tcPr marL="73152" marR="73152" marT="36576" marB="36576" anchor="ctr">
                    <a:solidFill>
                      <a:srgbClr val="F3F4F6"/>
                    </a:solidFill>
                  </a:tcPr>
                </a:tc>
                <a:extLst>
                  <a:ext uri="{0D108BD9-81ED-4DB2-BD59-A6C34878D82A}">
                    <a16:rowId xmlns:a16="http://schemas.microsoft.com/office/drawing/2014/main" val="10008"/>
                  </a:ext>
                </a:extLst>
              </a:tr>
            </a:tbl>
          </a:graphicData>
        </a:graphic>
      </p:graphicFrame>
      <p:sp>
        <p:nvSpPr>
          <p:cNvPr id="23" name="Text 4"/>
          <p:cNvSpPr txBox="1"/>
          <p:nvPr/>
        </p:nvSpPr>
        <p:spPr>
          <a:xfrm>
            <a:off x="621792" y="4526280"/>
            <a:ext cx="7863840" cy="274320"/>
          </a:xfrm>
          <a:prstGeom prst="rect">
            <a:avLst/>
          </a:prstGeom>
          <a:noFill/>
        </p:spPr>
        <p:txBody>
          <a:bodyPr wrap="square" lIns="45720" rIns="45720" anchor="t">
            <a:spAutoFit/>
          </a:bodyPr>
          <a:lstStyle/>
          <a:p>
            <a:pPr algn="l">
              <a:lnSpc>
                <a:spcPct val="115000"/>
              </a:lnSpc>
              <a:spcAft>
                <a:spcPts val="400"/>
              </a:spcAft>
            </a:pPr>
            <a:r>
              <a:rPr sz="950" b="0" i="0">
                <a:solidFill>
                  <a:srgbClr val="1C4587"/>
                </a:solidFill>
                <a:latin typeface="Inter"/>
              </a:rPr>
              <a:t>Bagian 1 dan 2 membuat API lebih cepat dengan cache. Bagian 3 menjaga API dari request yang terlalu banyak.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Caching Strategies with Redis</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Cache-aside, TTL, dan invalidation.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Cache-Aside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Cache-Aside?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Cache adalah</a:t>
            </a:r>
          </a:p>
          <a:p>
            <a:pPr algn="l">
              <a:lnSpc>
                <a:spcPct val="115000"/>
              </a:lnSpc>
              <a:spcAft>
                <a:spcPts val="400"/>
              </a:spcAft>
            </a:pPr>
            <a:r>
              <a:rPr sz="850" b="0" i="0">
                <a:solidFill>
                  <a:srgbClr val="434343"/>
                </a:solidFill>
                <a:latin typeface="Inter"/>
              </a:rPr>
              <a:t>Tempat penyimpanan sementara yang jauh lebih cepat dibaca daripada database, misalnya Redis. Data yang sering dibaca disimpan di sana, sehingga database tidak perlu di-query berulang kali.</a:t>
            </a:r>
          </a:p>
          <a:p>
            <a:pPr algn="l">
              <a:lnSpc>
                <a:spcPct val="115000"/>
              </a:lnSpc>
              <a:spcAft>
                <a:spcPts val="400"/>
              </a:spcAft>
            </a:pPr>
            <a:r>
              <a:rPr sz="950" b="1" i="0">
                <a:solidFill>
                  <a:srgbClr val="1C4587"/>
                </a:solidFill>
                <a:latin typeface="Inter"/>
              </a:rPr>
              <a:t>Cache-aside adalah</a:t>
            </a:r>
          </a:p>
          <a:p>
            <a:pPr algn="l">
              <a:lnSpc>
                <a:spcPct val="115000"/>
              </a:lnSpc>
              <a:spcAft>
                <a:spcPts val="400"/>
              </a:spcAft>
            </a:pPr>
            <a:r>
              <a:rPr sz="850" b="0" i="0">
                <a:solidFill>
                  <a:srgbClr val="434343"/>
                </a:solidFill>
                <a:latin typeface="Inter"/>
              </a:rPr>
              <a:t>Caching strategy di mana </a:t>
            </a:r>
            <a:r>
              <a:rPr sz="850" b="1" i="0">
                <a:solidFill>
                  <a:srgbClr val="434343"/>
                </a:solidFill>
                <a:latin typeface="Inter"/>
              </a:rPr>
              <a:t>aplikasi</a:t>
            </a:r>
            <a:r>
              <a:rPr sz="850" b="0" i="0">
                <a:solidFill>
                  <a:srgbClr val="434343"/>
                </a:solidFill>
                <a:latin typeface="Inter"/>
              </a:rPr>
              <a:t> yang mengatur cache: cek cache dulu, jika tidak ada (</a:t>
            </a:r>
            <a:r>
              <a:rPr sz="850" b="1" i="0">
                <a:solidFill>
                  <a:srgbClr val="434343"/>
                </a:solidFill>
                <a:latin typeface="Inter"/>
              </a:rPr>
              <a:t>miss</a:t>
            </a:r>
            <a:r>
              <a:rPr sz="850" b="0" i="0">
                <a:solidFill>
                  <a:srgbClr val="434343"/>
                </a:solidFill>
                <a:latin typeface="Inter"/>
              </a:rPr>
              <a:t>) baru query database, lalu hasilnya disimpan ke cache.</a:t>
            </a:r>
          </a:p>
          <a:p>
            <a:pPr algn="l">
              <a:lnSpc>
                <a:spcPct val="115000"/>
              </a:lnSpc>
              <a:spcAft>
                <a:spcPts val="400"/>
              </a:spcAft>
            </a:pPr>
            <a:r>
              <a:rPr sz="9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Mempercepat response untuk data yang sering dibaca</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Mengurangi beban database</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cache: 01-cache-aside/before.py</a:t>
            </a:r>
          </a:p>
        </p:txBody>
      </p:sp>
      <p:sp>
        <p:nvSpPr>
          <p:cNvPr id="28" name="CodeBg 11"/>
          <p:cNvSpPr/>
          <p:nvPr/>
        </p:nvSpPr>
        <p:spPr>
          <a:xfrm>
            <a:off x="4297680" y="1719072"/>
            <a:ext cx="4187951"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457200"/>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get_product</a:t>
            </a:r>
            <a:r>
              <a:rPr sz="850" i="0">
                <a:solidFill>
                  <a:srgbClr val="E6EDF3"/>
                </a:solidFill>
                <a:latin typeface="Inconsolata"/>
              </a:rPr>
              <a:t>(product_id: </a:t>
            </a:r>
            <a:r>
              <a:rPr sz="850" i="0">
                <a:solidFill>
                  <a:srgbClr val="C3A6FF"/>
                </a:solidFill>
                <a:latin typeface="Inconsolata"/>
              </a:rPr>
              <a:t>int</a:t>
            </a:r>
            <a:r>
              <a:rPr sz="850" i="0">
                <a:solidFill>
                  <a:srgbClr val="E6EDF3"/>
                </a:solidFill>
                <a:latin typeface="Inconsolata"/>
              </a:rPr>
              <a:t>) -&gt; </a:t>
            </a:r>
            <a:r>
              <a:rPr sz="850" i="0">
                <a:solidFill>
                  <a:srgbClr val="C3A6FF"/>
                </a:solidFill>
                <a:latin typeface="Inconsolata"/>
              </a:rPr>
              <a:t>dict</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query_product(product_id)</a:t>
            </a:r>
          </a:p>
        </p:txBody>
      </p:sp>
      <p:sp>
        <p:nvSpPr>
          <p:cNvPr id="30" name="Box 13"/>
          <p:cNvSpPr/>
          <p:nvPr/>
        </p:nvSpPr>
        <p:spPr>
          <a:xfrm>
            <a:off x="4379976" y="19683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26771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34543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34543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34543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27685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cache-aside: 01-cache-aside/after.py</a:t>
            </a:r>
          </a:p>
        </p:txBody>
      </p:sp>
      <p:sp>
        <p:nvSpPr>
          <p:cNvPr id="36" name="CodeBg 21"/>
          <p:cNvSpPr/>
          <p:nvPr/>
        </p:nvSpPr>
        <p:spPr>
          <a:xfrm>
            <a:off x="4297680" y="2505456"/>
            <a:ext cx="4187951" cy="2194560"/>
          </a:xfrm>
          <a:prstGeom prst="roundRect">
            <a:avLst>
              <a:gd name="adj" fmla="val 83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505456"/>
            <a:ext cx="4187951" cy="2194560"/>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get_product</a:t>
            </a:r>
            <a:r>
              <a:rPr sz="850" i="0">
                <a:solidFill>
                  <a:srgbClr val="E6EDF3"/>
                </a:solidFill>
                <a:latin typeface="Inconsolata"/>
              </a:rPr>
              <a:t>(product_id: </a:t>
            </a:r>
            <a:r>
              <a:rPr sz="850" i="0">
                <a:solidFill>
                  <a:srgbClr val="C3A6FF"/>
                </a:solidFill>
                <a:latin typeface="Inconsolata"/>
              </a:rPr>
              <a:t>int</a:t>
            </a:r>
            <a:r>
              <a:rPr sz="850" i="0">
                <a:solidFill>
                  <a:srgbClr val="E6EDF3"/>
                </a:solidFill>
                <a:latin typeface="Inconsolata"/>
              </a:rPr>
              <a:t>) -&gt; </a:t>
            </a:r>
            <a:r>
              <a:rPr sz="850" i="0">
                <a:solidFill>
                  <a:srgbClr val="C3A6FF"/>
                </a:solidFill>
                <a:latin typeface="Inconsolata"/>
              </a:rPr>
              <a:t>dict</a:t>
            </a:r>
            <a:r>
              <a:rPr sz="850" i="0">
                <a:solidFill>
                  <a:srgbClr val="E6EDF3"/>
                </a:solidFill>
                <a:latin typeface="Inconsolata"/>
              </a:rPr>
              <a:t>:</a:t>
            </a:r>
          </a:p>
          <a:p>
            <a:pPr>
              <a:lnSpc>
                <a:spcPct val="107843"/>
              </a:lnSpc>
              <a:spcAft>
                <a:spcPts val="0"/>
              </a:spcAft>
            </a:pPr>
            <a:r>
              <a:rPr sz="850" i="0">
                <a:solidFill>
                  <a:srgbClr val="E6EDF3"/>
                </a:solidFill>
                <a:latin typeface="Inconsolata"/>
              </a:rPr>
              <a:t>    key = </a:t>
            </a:r>
            <a:r>
              <a:rPr sz="850" i="0">
                <a:solidFill>
                  <a:srgbClr val="A5D6A7"/>
                </a:solidFill>
                <a:latin typeface="Inconsolata"/>
              </a:rPr>
              <a:t>f"product:{product_id}"</a:t>
            </a:r>
          </a:p>
          <a:p>
            <a:pPr>
              <a:lnSpc>
                <a:spcPct val="107843"/>
              </a:lnSpc>
              <a:spcAft>
                <a:spcPts val="0"/>
              </a:spcAft>
            </a:pPr>
            <a:r>
              <a:rPr sz="850" i="0">
                <a:solidFill>
                  <a:srgbClr val="E6EDF3"/>
                </a:solidFill>
                <a:latin typeface="Inconsolata"/>
              </a:rPr>
              <a:t>    cached = cache.get(key)</a:t>
            </a:r>
          </a:p>
          <a:p>
            <a:pPr>
              <a:lnSpc>
                <a:spcPct val="107843"/>
              </a:lnSpc>
              <a:spcAft>
                <a:spcPts val="0"/>
              </a:spcAft>
            </a:pP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cached </a:t>
            </a:r>
            <a:r>
              <a:rPr sz="850" i="0">
                <a:solidFill>
                  <a:srgbClr val="FF8E6E"/>
                </a:solidFill>
                <a:latin typeface="Inconsolata"/>
              </a:rPr>
              <a:t>is</a:t>
            </a:r>
            <a:r>
              <a:rPr sz="850" i="0">
                <a:solidFill>
                  <a:srgbClr val="E6EDF3"/>
                </a:solidFill>
                <a:latin typeface="Inconsolata"/>
              </a:rPr>
              <a:t> </a:t>
            </a:r>
            <a:r>
              <a:rPr sz="850" i="0">
                <a:solidFill>
                  <a:srgbClr val="FF8E6E"/>
                </a:solidFill>
                <a:latin typeface="Inconsolata"/>
              </a:rPr>
              <a:t>not</a:t>
            </a:r>
            <a:r>
              <a:rPr sz="850" i="0">
                <a:solidFill>
                  <a:srgbClr val="E6EDF3"/>
                </a:solidFill>
                <a:latin typeface="Inconsolata"/>
              </a:rPr>
              <a:t> </a:t>
            </a:r>
            <a:r>
              <a:rPr sz="850" i="0">
                <a:solidFill>
                  <a:srgbClr val="FF8E6E"/>
                </a:solidFill>
                <a:latin typeface="Inconsolata"/>
              </a:rPr>
              <a:t>None</a:t>
            </a:r>
            <a:r>
              <a:rPr sz="850" i="0">
                <a:solidFill>
                  <a:srgbClr val="E6EDF3"/>
                </a:solidFill>
                <a:latin typeface="Inconsolata"/>
              </a:rPr>
              <a:t>:                  </a:t>
            </a:r>
            <a:r>
              <a:rPr sz="850" i="1">
                <a:solidFill>
                  <a:srgbClr val="8B98A8"/>
                </a:solidFill>
                <a:latin typeface="Inconsolata"/>
              </a:rPr>
              <a:t># cache hit</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json.loads(cached)</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E6EDF3"/>
                </a:solidFill>
                <a:latin typeface="Inconsolata"/>
              </a:rPr>
              <a:t>    product = query_product(product_id)     </a:t>
            </a:r>
            <a:r>
              <a:rPr sz="850" i="1">
                <a:solidFill>
                  <a:srgbClr val="8B98A8"/>
                </a:solidFill>
                <a:latin typeface="Inconsolata"/>
              </a:rPr>
              <a:t># cache miss</a:t>
            </a:r>
          </a:p>
          <a:p>
            <a:pPr>
              <a:lnSpc>
                <a:spcPct val="107843"/>
              </a:lnSpc>
              <a:spcAft>
                <a:spcPts val="0"/>
              </a:spcAft>
            </a:pPr>
            <a:r>
              <a:rPr sz="850" i="0">
                <a:solidFill>
                  <a:srgbClr val="E6EDF3"/>
                </a:solidFill>
                <a:latin typeface="Inconsolata"/>
              </a:rPr>
              <a:t>    cache.</a:t>
            </a:r>
            <a:r>
              <a:rPr sz="850" i="0">
                <a:solidFill>
                  <a:srgbClr val="C3A6FF"/>
                </a:solidFill>
                <a:latin typeface="Inconsolata"/>
              </a:rPr>
              <a:t>set</a:t>
            </a:r>
            <a:r>
              <a:rPr sz="850" i="0">
                <a:solidFill>
                  <a:srgbClr val="E6EDF3"/>
                </a:solidFill>
                <a:latin typeface="Inconsolata"/>
              </a:rPr>
              <a:t>(key, json.dumps(product), ex=</a:t>
            </a:r>
            <a:r>
              <a:rPr sz="850" i="0">
                <a:solidFill>
                  <a:srgbClr val="F9C97A"/>
                </a:solidFill>
                <a:latin typeface="Inconsolata"/>
              </a:rPr>
              <a:t>60</a:t>
            </a:r>
            <a:r>
              <a:rPr sz="850" i="0">
                <a:solidFill>
                  <a:srgbClr val="E6EDF3"/>
                </a:solidFill>
                <a:latin typeface="Inconsolata"/>
              </a:rPr>
              <a:t>)    </a:t>
            </a:r>
            <a:r>
              <a:rPr sz="850" i="1">
                <a:solidFill>
                  <a:srgbClr val="8B98A8"/>
                </a:solidFill>
                <a:latin typeface="Inconsolata"/>
              </a:rPr>
              <a:t># TTL 60 detik</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product</a:t>
            </a:r>
          </a:p>
        </p:txBody>
      </p:sp>
      <p:sp>
        <p:nvSpPr>
          <p:cNvPr id="38" name="Box 23"/>
          <p:cNvSpPr/>
          <p:nvPr/>
        </p:nvSpPr>
        <p:spPr>
          <a:xfrm>
            <a:off x="4379976" y="2894457"/>
            <a:ext cx="4023359"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53257"/>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Cache-Aside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Cache-Aside?</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cache</a:t>
            </a:r>
          </a:p>
          <a:p>
            <a:pPr algn="l">
              <a:lnSpc>
                <a:spcPct val="115000"/>
              </a:lnSpc>
              <a:spcAft>
                <a:spcPts val="400"/>
              </a:spcAft>
            </a:pPr>
            <a:r>
              <a:rPr sz="950" b="0" i="0">
                <a:solidFill>
                  <a:srgbClr val="434343"/>
                </a:solidFill>
                <a:latin typeface="Inter"/>
              </a:rPr>
              <a:t>Setiap request detail produk selalu query ke database. Produk yang sama dibuka 5 kali berarti 5 query dengan hasil yang sama persis.</a:t>
            </a:r>
          </a:p>
          <a:p>
            <a:pPr algn="l">
              <a:lnSpc>
                <a:spcPct val="115000"/>
              </a:lnSpc>
              <a:spcAft>
                <a:spcPts val="400"/>
              </a:spcAft>
            </a:pPr>
            <a:r>
              <a:rPr sz="1050" b="1" i="0">
                <a:solidFill>
                  <a:srgbClr val="1C4587"/>
                </a:solidFill>
                <a:latin typeface="Inter"/>
              </a:rPr>
              <a:t>Jika pengunjungnya makin banyak</a:t>
            </a:r>
          </a:p>
          <a:p>
            <a:pPr algn="l">
              <a:lnSpc>
                <a:spcPct val="115000"/>
              </a:lnSpc>
              <a:spcAft>
                <a:spcPts val="400"/>
              </a:spcAft>
            </a:pPr>
            <a:r>
              <a:rPr sz="950" b="0" i="0">
                <a:solidFill>
                  <a:srgbClr val="434343"/>
                </a:solidFill>
                <a:latin typeface="Inter"/>
              </a:rPr>
              <a:t>Produk yang populer dibuka ribuan kali per menit, dan setiap kali itu database menjalankan query yang sama.</a:t>
            </a:r>
          </a:p>
          <a:p>
            <a:pPr algn="l">
              <a:lnSpc>
                <a:spcPct val="115000"/>
              </a:lnSpc>
              <a:spcAft>
                <a:spcPts val="400"/>
              </a:spcAft>
            </a:pPr>
            <a:r>
              <a:rPr sz="950" b="0" i="0">
                <a:solidFill>
                  <a:srgbClr val="434343"/>
                </a:solidFill>
                <a:latin typeface="Inter"/>
              </a:rPr>
              <a:t>Hal ini membuat database sibuk dan semua endpoint ikut lambat.</a:t>
            </a:r>
          </a:p>
          <a:p>
            <a:pPr algn="l">
              <a:lnSpc>
                <a:spcPct val="115000"/>
              </a:lnSpc>
              <a:spcAft>
                <a:spcPts val="400"/>
              </a:spcAft>
            </a:pPr>
            <a:r>
              <a:rPr sz="1050" b="1" i="0">
                <a:solidFill>
                  <a:srgbClr val="1C4587"/>
                </a:solidFill>
                <a:latin typeface="Inter"/>
              </a:rPr>
              <a:t>Yang dipakai: Redis lewat library redis-py</a:t>
            </a:r>
          </a:p>
          <a:p>
            <a:pPr algn="l">
              <a:lnSpc>
                <a:spcPct val="115000"/>
              </a:lnSpc>
              <a:spcAft>
                <a:spcPts val="400"/>
              </a:spcAft>
            </a:pPr>
            <a:r>
              <a:rPr sz="950" b="0" i="0">
                <a:solidFill>
                  <a:srgbClr val="434343"/>
                </a:solidFill>
                <a:latin typeface="Inter"/>
              </a:rPr>
              <a:t>Redis menyimpan data berbentuk key-value di memory. Dari Python, Redis dipanggil lewat library </a:t>
            </a:r>
            <a:r>
              <a:rPr sz="950" b="0" i="0">
                <a:solidFill>
                  <a:srgbClr val="B5482A"/>
                </a:solidFill>
                <a:latin typeface="Inconsolata"/>
              </a:rPr>
              <a:t>redis</a:t>
            </a:r>
            <a:r>
              <a:rPr sz="950" b="0" i="0">
                <a:solidFill>
                  <a:srgbClr val="434343"/>
                </a:solidFill>
                <a:latin typeface="Inter"/>
              </a:rPr>
              <a:t>.</a:t>
            </a:r>
          </a:p>
        </p:txBody>
      </p:sp>
      <p:graphicFrame>
        <p:nvGraphicFramePr>
          <p:cNvPr id="23" name="Table 4"/>
          <p:cNvGraphicFramePr>
            <a:graphicFrameLocks noGrp="1"/>
          </p:cNvGraphicFramePr>
          <p:nvPr/>
        </p:nvGraphicFramePr>
        <p:xfrm>
          <a:off x="4800600" y="1481328"/>
          <a:ext cx="3685032" cy="2286000"/>
        </p:xfrm>
        <a:graphic>
          <a:graphicData uri="http://schemas.openxmlformats.org/drawingml/2006/table">
            <a:tbl>
              <a:tblPr firstRow="1" bandRow="1"/>
              <a:tblGrid>
                <a:gridCol w="1901952">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cache.get(key)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Ambil nilai, None jika tidak ada (miss)</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cache.set(key, value, ex=60)</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Simpan nilai, hapus otomatis setelah 60 detik</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cache.delete(key)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Hapus nilai</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Aft>
                          <a:spcPts val="0"/>
                        </a:spcAft>
                      </a:pPr>
                      <a:r>
                        <a:rPr sz="850" b="1" i="0">
                          <a:solidFill>
                            <a:srgbClr val="1C4587"/>
                          </a:solidFill>
                          <a:latin typeface="Inter"/>
                        </a:rPr>
                        <a:t>json.dumps / json.loads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Redis menyimpan teks, jadi dict diubah ke JSON</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Cache-Aside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Memilih Caching Strategy</a:t>
            </a:r>
          </a:p>
        </p:txBody>
      </p:sp>
      <p:graphicFrame>
        <p:nvGraphicFramePr>
          <p:cNvPr id="22" name="Table 3"/>
          <p:cNvGraphicFramePr>
            <a:graphicFrameLocks noGrp="1"/>
          </p:cNvGraphicFramePr>
          <p:nvPr/>
        </p:nvGraphicFramePr>
        <p:xfrm>
          <a:off x="621792" y="1481328"/>
          <a:ext cx="7863840" cy="2267712"/>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66928">
                <a:tc>
                  <a:txBody>
                    <a:bodyPr/>
                    <a:lstStyle/>
                    <a:p>
                      <a:pPr algn="l">
                        <a:lnSpc>
                          <a:spcPct val="100000"/>
                        </a:lnSpc>
                        <a:spcAft>
                          <a:spcPts val="0"/>
                        </a:spcAft>
                      </a:pPr>
                      <a:r>
                        <a:rPr sz="900" b="1" i="0">
                          <a:solidFill>
                            <a:srgbClr val="FFFFFF"/>
                          </a:solidFill>
                          <a:latin typeface="Inter"/>
                        </a:rPr>
                        <a:t>Strategi</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kerja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Cocok untuk</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Risiko</a:t>
                      </a:r>
                    </a:p>
                  </a:txBody>
                  <a:tcPr marL="73152" marR="73152" marT="36576" marB="36576" anchor="ctr">
                    <a:solidFill>
                      <a:srgbClr val="1C4587"/>
                    </a:solidFill>
                  </a:tcPr>
                </a:tc>
                <a:extLst>
                  <a:ext uri="{0D108BD9-81ED-4DB2-BD59-A6C34878D82A}">
                    <a16:rowId xmlns:a16="http://schemas.microsoft.com/office/drawing/2014/main" val="10000"/>
                  </a:ext>
                </a:extLst>
              </a:tr>
              <a:tr h="566928">
                <a:tc>
                  <a:txBody>
                    <a:bodyPr/>
                    <a:lstStyle/>
                    <a:p>
                      <a:pPr algn="l">
                        <a:lnSpc>
                          <a:spcPct val="100000"/>
                        </a:lnSpc>
                        <a:spcAft>
                          <a:spcPts val="0"/>
                        </a:spcAft>
                      </a:pPr>
                      <a:r>
                        <a:rPr sz="900" b="1" i="0">
                          <a:solidFill>
                            <a:srgbClr val="1C4587"/>
                          </a:solidFill>
                          <a:latin typeface="Inter"/>
                        </a:rPr>
                        <a:t>Cache-aside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Aplikasi baca cache dulu, isi saat miss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Data sering dibaca, jarang berubah (produk, kategori)</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Request pertama tetap lambat, data bisa basi</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Aft>
                          <a:spcPts val="0"/>
                        </a:spcAft>
                      </a:pPr>
                      <a:r>
                        <a:rPr sz="900" b="1" i="0">
                          <a:solidFill>
                            <a:srgbClr val="1C4587"/>
                          </a:solidFill>
                          <a:latin typeface="Inter"/>
                        </a:rPr>
                        <a:t>Write-through</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Setiap tulis ke database, cache ikut ditulis</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Data yang harus selalu terbaru di cache</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Tulis jadi lebih lambat, cache berisi data yang jarang dibaca</a:t>
                      </a:r>
                    </a:p>
                  </a:txBody>
                  <a:tcPr marL="73152" marR="73152" marT="36576" marB="36576" anchor="ctr">
                    <a:solidFill>
                      <a:srgbClr val="F3F4F6"/>
                    </a:solidFill>
                  </a:tcPr>
                </a:tc>
                <a:extLst>
                  <a:ext uri="{0D108BD9-81ED-4DB2-BD59-A6C34878D82A}">
                    <a16:rowId xmlns:a16="http://schemas.microsoft.com/office/drawing/2014/main" val="10002"/>
                  </a:ext>
                </a:extLst>
              </a:tr>
              <a:tr h="566928">
                <a:tc>
                  <a:txBody>
                    <a:bodyPr/>
                    <a:lstStyle/>
                    <a:p>
                      <a:pPr algn="l">
                        <a:lnSpc>
                          <a:spcPct val="100000"/>
                        </a:lnSpc>
                        <a:spcAft>
                          <a:spcPts val="0"/>
                        </a:spcAft>
                      </a:pPr>
                      <a:r>
                        <a:rPr sz="900" b="1" i="0">
                          <a:solidFill>
                            <a:srgbClr val="1C4587"/>
                          </a:solidFill>
                          <a:latin typeface="Inter"/>
                        </a:rPr>
                        <a:t>Write-behind</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Tulis ke cache dulu, database menyusul</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Tulis sangat sering (counter, view count)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Data hilang jika cache mati sebelum tersimpan</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23" name="Text 4"/>
          <p:cNvSpPr txBox="1"/>
          <p:nvPr/>
        </p:nvSpPr>
        <p:spPr>
          <a:xfrm>
            <a:off x="621792" y="4023360"/>
            <a:ext cx="7863840" cy="457200"/>
          </a:xfrm>
          <a:prstGeom prst="rect">
            <a:avLst/>
          </a:prstGeom>
          <a:noFill/>
        </p:spPr>
        <p:txBody>
          <a:bodyPr wrap="square" lIns="45720" rIns="45720" anchor="t">
            <a:spAutoFit/>
          </a:bodyPr>
          <a:lstStyle/>
          <a:p>
            <a:pPr algn="l">
              <a:lnSpc>
                <a:spcPct val="115000"/>
              </a:lnSpc>
              <a:spcAft>
                <a:spcPts val="400"/>
              </a:spcAft>
            </a:pPr>
            <a:r>
              <a:rPr sz="1000" b="0" i="0">
                <a:solidFill>
                  <a:srgbClr val="1C4587"/>
                </a:solidFill>
                <a:latin typeface="Inter"/>
              </a:rPr>
              <a:t>Di sesi ini kita memakai </a:t>
            </a:r>
            <a:r>
              <a:rPr sz="1000" b="1" i="0">
                <a:solidFill>
                  <a:srgbClr val="1C4587"/>
                </a:solidFill>
                <a:latin typeface="Inter"/>
              </a:rPr>
              <a:t>cache-aside</a:t>
            </a:r>
            <a:r>
              <a:rPr sz="1000" b="0" i="0">
                <a:solidFill>
                  <a:srgbClr val="1C4587"/>
                </a:solidFill>
                <a:latin typeface="Inter"/>
              </a:rPr>
              <a:t>, strategi yang paling umum untuk API.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Cache-Aside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selalu query ke database</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01-cache-aside/before.py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3448"/>
              </a:lnSpc>
              <a:spcAft>
                <a:spcPts val="0"/>
              </a:spcAft>
            </a:pPr>
            <a:r>
              <a:rPr sz="725" i="0">
                <a:solidFill>
                  <a:srgbClr val="5C6773"/>
                </a:solidFill>
                <a:latin typeface="Inconsolata"/>
              </a:rPr>
              <a:t> 9  </a:t>
            </a:r>
            <a:r>
              <a:rPr sz="725" i="0">
                <a:solidFill>
                  <a:srgbClr val="FF8E6E"/>
                </a:solidFill>
                <a:latin typeface="Inconsolata"/>
              </a:rPr>
              <a:t>import</a:t>
            </a:r>
            <a:r>
              <a:rPr sz="725" i="0">
                <a:solidFill>
                  <a:srgbClr val="E6EDF3"/>
                </a:solidFill>
                <a:latin typeface="Inconsolata"/>
              </a:rPr>
              <a:t> time</a:t>
            </a:r>
          </a:p>
          <a:p>
            <a:pPr>
              <a:lnSpc>
                <a:spcPct val="103448"/>
              </a:lnSpc>
              <a:spcAft>
                <a:spcPts val="0"/>
              </a:spcAft>
            </a:pPr>
            <a:r>
              <a:rPr sz="725" i="0">
                <a:solidFill>
                  <a:srgbClr val="5C6773"/>
                </a:solidFill>
                <a:latin typeface="Inconsolata"/>
              </a:rPr>
              <a:t>10  </a:t>
            </a:r>
            <a:r>
              <a:rPr sz="725" i="0">
                <a:solidFill>
                  <a:srgbClr val="E6EDF3"/>
                </a:solidFill>
                <a:latin typeface="Inconsolata"/>
              </a:rPr>
              <a:t> </a:t>
            </a:r>
          </a:p>
          <a:p>
            <a:pPr>
              <a:lnSpc>
                <a:spcPct val="103448"/>
              </a:lnSpc>
              <a:spcAft>
                <a:spcPts val="0"/>
              </a:spcAft>
            </a:pPr>
            <a:r>
              <a:rPr sz="725" i="0">
                <a:solidFill>
                  <a:srgbClr val="5C6773"/>
                </a:solidFill>
                <a:latin typeface="Inconsolata"/>
              </a:rPr>
              <a:t>11  </a:t>
            </a:r>
            <a:r>
              <a:rPr sz="725" i="0">
                <a:solidFill>
                  <a:srgbClr val="7FDBCA"/>
                </a:solidFill>
                <a:latin typeface="Inconsolata"/>
              </a:rPr>
              <a:t>PRODUCTS</a:t>
            </a:r>
            <a:r>
              <a:rPr sz="725" i="0">
                <a:solidFill>
                  <a:srgbClr val="E6EDF3"/>
                </a:solidFill>
                <a:latin typeface="Inconsolata"/>
              </a:rPr>
              <a:t> = {</a:t>
            </a:r>
            <a:r>
              <a:rPr sz="725" i="0">
                <a:solidFill>
                  <a:srgbClr val="F9C97A"/>
                </a:solidFill>
                <a:latin typeface="Inconsolata"/>
              </a:rPr>
              <a:t>1</a:t>
            </a:r>
            <a:r>
              <a:rPr sz="725" i="0">
                <a:solidFill>
                  <a:srgbClr val="E6EDF3"/>
                </a:solidFill>
                <a:latin typeface="Inconsolata"/>
              </a:rPr>
              <a:t>: {</a:t>
            </a:r>
            <a:r>
              <a:rPr sz="725" i="0">
                <a:solidFill>
                  <a:srgbClr val="A5D6A7"/>
                </a:solidFill>
                <a:latin typeface="Inconsolata"/>
              </a:rPr>
              <a:t>"id"</a:t>
            </a:r>
            <a:r>
              <a:rPr sz="725" i="0">
                <a:solidFill>
                  <a:srgbClr val="E6EDF3"/>
                </a:solidFill>
                <a:latin typeface="Inconsolata"/>
              </a:rPr>
              <a:t>: </a:t>
            </a:r>
            <a:r>
              <a:rPr sz="725" i="0">
                <a:solidFill>
                  <a:srgbClr val="F9C97A"/>
                </a:solidFill>
                <a:latin typeface="Inconsolata"/>
              </a:rPr>
              <a:t>1</a:t>
            </a:r>
            <a:r>
              <a:rPr sz="725" i="0">
                <a:solidFill>
                  <a:srgbClr val="E6EDF3"/>
                </a:solidFill>
                <a:latin typeface="Inconsolata"/>
              </a:rPr>
              <a:t>, </a:t>
            </a:r>
            <a:r>
              <a:rPr sz="725" i="0">
                <a:solidFill>
                  <a:srgbClr val="A5D6A7"/>
                </a:solidFill>
                <a:latin typeface="Inconsolata"/>
              </a:rPr>
              <a:t>"name"</a:t>
            </a:r>
            <a:r>
              <a:rPr sz="725" i="0">
                <a:solidFill>
                  <a:srgbClr val="E6EDF3"/>
                </a:solidFill>
                <a:latin typeface="Inconsolata"/>
              </a:rPr>
              <a:t>: </a:t>
            </a:r>
            <a:r>
              <a:rPr sz="725" i="0">
                <a:solidFill>
                  <a:srgbClr val="A5D6A7"/>
                </a:solidFill>
                <a:latin typeface="Inconsolata"/>
              </a:rPr>
              <a:t>"Keyboard"</a:t>
            </a:r>
            <a:r>
              <a:rPr sz="725" i="0">
                <a:solidFill>
                  <a:srgbClr val="E6EDF3"/>
                </a:solidFill>
                <a:latin typeface="Inconsolata"/>
              </a:rPr>
              <a:t>, </a:t>
            </a:r>
            <a:r>
              <a:rPr sz="725" i="0">
                <a:solidFill>
                  <a:srgbClr val="A5D6A7"/>
                </a:solidFill>
                <a:latin typeface="Inconsolata"/>
              </a:rPr>
              <a:t>"price"</a:t>
            </a:r>
            <a:r>
              <a:rPr sz="725" i="0">
                <a:solidFill>
                  <a:srgbClr val="E6EDF3"/>
                </a:solidFill>
                <a:latin typeface="Inconsolata"/>
              </a:rPr>
              <a:t>: </a:t>
            </a:r>
            <a:r>
              <a:rPr sz="725" i="0">
                <a:solidFill>
                  <a:srgbClr val="F9C97A"/>
                </a:solidFill>
                <a:latin typeface="Inconsolata"/>
              </a:rPr>
              <a:t>500_000</a:t>
            </a:r>
            <a:r>
              <a:rPr sz="725" i="0">
                <a:solidFill>
                  <a:srgbClr val="E6EDF3"/>
                </a:solidFill>
                <a:latin typeface="Inconsolata"/>
              </a:rPr>
              <a:t>}}</a:t>
            </a:r>
          </a:p>
          <a:p>
            <a:pPr>
              <a:lnSpc>
                <a:spcPct val="103448"/>
              </a:lnSpc>
              <a:spcAft>
                <a:spcPts val="0"/>
              </a:spcAft>
            </a:pPr>
            <a:r>
              <a:rPr sz="725" i="0">
                <a:solidFill>
                  <a:srgbClr val="5C6773"/>
                </a:solidFill>
                <a:latin typeface="Inconsolata"/>
              </a:rPr>
              <a:t>12  </a:t>
            </a:r>
            <a:r>
              <a:rPr sz="725" i="0">
                <a:solidFill>
                  <a:srgbClr val="E6EDF3"/>
                </a:solidFill>
                <a:latin typeface="Inconsolata"/>
              </a:rPr>
              <a:t>db_queries = </a:t>
            </a:r>
            <a:r>
              <a:rPr sz="725" i="0">
                <a:solidFill>
                  <a:srgbClr val="F9C97A"/>
                </a:solidFill>
                <a:latin typeface="Inconsolata"/>
              </a:rPr>
              <a:t>0</a:t>
            </a:r>
          </a:p>
          <a:p>
            <a:pPr>
              <a:lnSpc>
                <a:spcPct val="103448"/>
              </a:lnSpc>
              <a:spcAft>
                <a:spcPts val="0"/>
              </a:spcAft>
            </a:pPr>
            <a:r>
              <a:rPr sz="725" i="0">
                <a:solidFill>
                  <a:srgbClr val="5C6773"/>
                </a:solidFill>
                <a:latin typeface="Inconsolata"/>
              </a:rPr>
              <a:t>13  </a:t>
            </a:r>
            <a:r>
              <a:rPr sz="725" i="0">
                <a:solidFill>
                  <a:srgbClr val="E6EDF3"/>
                </a:solidFill>
                <a:latin typeface="Inconsolata"/>
              </a:rPr>
              <a:t> </a:t>
            </a:r>
          </a:p>
          <a:p>
            <a:pPr>
              <a:lnSpc>
                <a:spcPct val="103448"/>
              </a:lnSpc>
              <a:spcAft>
                <a:spcPts val="0"/>
              </a:spcAft>
            </a:pPr>
            <a:r>
              <a:rPr sz="725" i="0">
                <a:solidFill>
                  <a:srgbClr val="5C6773"/>
                </a:solidFill>
                <a:latin typeface="Inconsolata"/>
              </a:rPr>
              <a:t>14  </a:t>
            </a:r>
            <a:r>
              <a:rPr sz="725" i="0">
                <a:solidFill>
                  <a:srgbClr val="E6EDF3"/>
                </a:solidFill>
                <a:latin typeface="Inconsolata"/>
              </a:rPr>
              <a:t> </a:t>
            </a:r>
          </a:p>
          <a:p>
            <a:pPr>
              <a:lnSpc>
                <a:spcPct val="103448"/>
              </a:lnSpc>
              <a:spcAft>
                <a:spcPts val="0"/>
              </a:spcAft>
            </a:pPr>
            <a:r>
              <a:rPr sz="725" i="0">
                <a:solidFill>
                  <a:srgbClr val="5C6773"/>
                </a:solidFill>
                <a:latin typeface="Inconsolata"/>
              </a:rPr>
              <a:t>15  </a:t>
            </a:r>
            <a:r>
              <a:rPr sz="725" i="0">
                <a:solidFill>
                  <a:srgbClr val="FF8E6E"/>
                </a:solidFill>
                <a:latin typeface="Inconsolata"/>
              </a:rPr>
              <a:t>def</a:t>
            </a:r>
            <a:r>
              <a:rPr sz="725" i="0">
                <a:solidFill>
                  <a:srgbClr val="E6EDF3"/>
                </a:solidFill>
                <a:latin typeface="Inconsolata"/>
              </a:rPr>
              <a:t> </a:t>
            </a:r>
            <a:r>
              <a:rPr sz="725" i="0">
                <a:solidFill>
                  <a:srgbClr val="82B1FF"/>
                </a:solidFill>
                <a:latin typeface="Inconsolata"/>
              </a:rPr>
              <a:t>query_product</a:t>
            </a:r>
            <a:r>
              <a:rPr sz="725" i="0">
                <a:solidFill>
                  <a:srgbClr val="E6EDF3"/>
                </a:solidFill>
                <a:latin typeface="Inconsolata"/>
              </a:rPr>
              <a:t>(product_id: </a:t>
            </a:r>
            <a:r>
              <a:rPr sz="725" i="0">
                <a:solidFill>
                  <a:srgbClr val="C3A6FF"/>
                </a:solidFill>
                <a:latin typeface="Inconsolata"/>
              </a:rPr>
              <a:t>int</a:t>
            </a:r>
            <a:r>
              <a:rPr sz="725" i="0">
                <a:solidFill>
                  <a:srgbClr val="E6EDF3"/>
                </a:solidFill>
                <a:latin typeface="Inconsolata"/>
              </a:rPr>
              <a:t>) -&gt; </a:t>
            </a:r>
            <a:r>
              <a:rPr sz="725" i="0">
                <a:solidFill>
                  <a:srgbClr val="C3A6FF"/>
                </a:solidFill>
                <a:latin typeface="Inconsolata"/>
              </a:rPr>
              <a:t>dict</a:t>
            </a:r>
            <a:r>
              <a:rPr sz="725" i="0">
                <a:solidFill>
                  <a:srgbClr val="E6EDF3"/>
                </a:solidFill>
                <a:latin typeface="Inconsolata"/>
              </a:rPr>
              <a:t>:</a:t>
            </a:r>
          </a:p>
          <a:p>
            <a:pPr>
              <a:lnSpc>
                <a:spcPct val="103448"/>
              </a:lnSpc>
              <a:spcAft>
                <a:spcPts val="0"/>
              </a:spcAft>
            </a:pPr>
            <a:r>
              <a:rPr sz="725" i="0">
                <a:solidFill>
                  <a:srgbClr val="5C6773"/>
                </a:solidFill>
                <a:latin typeface="Inconsolata"/>
              </a:rPr>
              <a:t>16  </a:t>
            </a:r>
            <a:r>
              <a:rPr sz="725" i="0">
                <a:solidFill>
                  <a:srgbClr val="E6EDF3"/>
                </a:solidFill>
                <a:latin typeface="Inconsolata"/>
              </a:rPr>
              <a:t>    </a:t>
            </a:r>
            <a:r>
              <a:rPr sz="725" i="0">
                <a:solidFill>
                  <a:srgbClr val="FF8E6E"/>
                </a:solidFill>
                <a:latin typeface="Inconsolata"/>
              </a:rPr>
              <a:t>global</a:t>
            </a:r>
            <a:r>
              <a:rPr sz="725" i="0">
                <a:solidFill>
                  <a:srgbClr val="E6EDF3"/>
                </a:solidFill>
                <a:latin typeface="Inconsolata"/>
              </a:rPr>
              <a:t> db_queries</a:t>
            </a:r>
          </a:p>
          <a:p>
            <a:pPr>
              <a:lnSpc>
                <a:spcPct val="103448"/>
              </a:lnSpc>
              <a:spcAft>
                <a:spcPts val="0"/>
              </a:spcAft>
            </a:pPr>
            <a:r>
              <a:rPr sz="725" i="0">
                <a:solidFill>
                  <a:srgbClr val="5C6773"/>
                </a:solidFill>
                <a:latin typeface="Inconsolata"/>
              </a:rPr>
              <a:t>17  </a:t>
            </a:r>
            <a:r>
              <a:rPr sz="725" i="0">
                <a:solidFill>
                  <a:srgbClr val="E6EDF3"/>
                </a:solidFill>
                <a:latin typeface="Inconsolata"/>
              </a:rPr>
              <a:t>    db_queries += </a:t>
            </a:r>
            <a:r>
              <a:rPr sz="725" i="0">
                <a:solidFill>
                  <a:srgbClr val="F9C97A"/>
                </a:solidFill>
                <a:latin typeface="Inconsolata"/>
              </a:rPr>
              <a:t>1</a:t>
            </a:r>
          </a:p>
          <a:p>
            <a:pPr>
              <a:lnSpc>
                <a:spcPct val="103448"/>
              </a:lnSpc>
              <a:spcAft>
                <a:spcPts val="0"/>
              </a:spcAft>
            </a:pPr>
            <a:r>
              <a:rPr sz="725" i="0">
                <a:solidFill>
                  <a:srgbClr val="5C6773"/>
                </a:solidFill>
                <a:latin typeface="Inconsolata"/>
              </a:rPr>
              <a:t>18  </a:t>
            </a:r>
            <a:r>
              <a:rPr sz="725" i="0">
                <a:solidFill>
                  <a:srgbClr val="E6EDF3"/>
                </a:solidFill>
                <a:latin typeface="Inconsolata"/>
              </a:rPr>
              <a:t>    time.sleep(</a:t>
            </a:r>
            <a:r>
              <a:rPr sz="725" i="0">
                <a:solidFill>
                  <a:srgbClr val="F9C97A"/>
                </a:solidFill>
                <a:latin typeface="Inconsolata"/>
              </a:rPr>
              <a:t>0</a:t>
            </a:r>
            <a:r>
              <a:rPr sz="725" i="0">
                <a:solidFill>
                  <a:srgbClr val="E6EDF3"/>
                </a:solidFill>
                <a:latin typeface="Inconsolata"/>
              </a:rPr>
              <a:t>.</a:t>
            </a:r>
            <a:r>
              <a:rPr sz="725" i="0">
                <a:solidFill>
                  <a:srgbClr val="F9C97A"/>
                </a:solidFill>
                <a:latin typeface="Inconsolata"/>
              </a:rPr>
              <a:t>5</a:t>
            </a:r>
            <a:r>
              <a:rPr sz="725" i="0">
                <a:solidFill>
                  <a:srgbClr val="E6EDF3"/>
                </a:solidFill>
                <a:latin typeface="Inconsolata"/>
              </a:rPr>
              <a:t>)               </a:t>
            </a:r>
            <a:r>
              <a:rPr sz="725" i="1">
                <a:solidFill>
                  <a:srgbClr val="8B98A8"/>
                </a:solidFill>
                <a:latin typeface="Inconsolata"/>
              </a:rPr>
              <a:t># anggap: query berat</a:t>
            </a:r>
          </a:p>
          <a:p>
            <a:pPr>
              <a:lnSpc>
                <a:spcPct val="103448"/>
              </a:lnSpc>
              <a:spcAft>
                <a:spcPts val="0"/>
              </a:spcAft>
            </a:pPr>
            <a:r>
              <a:rPr sz="725" i="0">
                <a:solidFill>
                  <a:srgbClr val="5C6773"/>
                </a:solidFill>
                <a:latin typeface="Inconsolata"/>
              </a:rPr>
              <a:t>19  </a:t>
            </a:r>
            <a:r>
              <a:rPr sz="725" i="0">
                <a:solidFill>
                  <a:srgbClr val="E6EDF3"/>
                </a:solidFill>
                <a:latin typeface="Inconsolata"/>
              </a:rPr>
              <a:t>    </a:t>
            </a:r>
            <a:r>
              <a:rPr sz="725" i="0">
                <a:solidFill>
                  <a:srgbClr val="FF8E6E"/>
                </a:solidFill>
                <a:latin typeface="Inconsolata"/>
              </a:rPr>
              <a:t>return</a:t>
            </a:r>
            <a:r>
              <a:rPr sz="725" i="0">
                <a:solidFill>
                  <a:srgbClr val="E6EDF3"/>
                </a:solidFill>
                <a:latin typeface="Inconsolata"/>
              </a:rPr>
              <a:t> </a:t>
            </a:r>
            <a:r>
              <a:rPr sz="725" i="0">
                <a:solidFill>
                  <a:srgbClr val="C3A6FF"/>
                </a:solidFill>
                <a:latin typeface="Inconsolata"/>
              </a:rPr>
              <a:t>dict</a:t>
            </a:r>
            <a:r>
              <a:rPr sz="725" i="0">
                <a:solidFill>
                  <a:srgbClr val="E6EDF3"/>
                </a:solidFill>
                <a:latin typeface="Inconsolata"/>
              </a:rPr>
              <a:t>(</a:t>
            </a:r>
            <a:r>
              <a:rPr sz="725" i="0">
                <a:solidFill>
                  <a:srgbClr val="7FDBCA"/>
                </a:solidFill>
                <a:latin typeface="Inconsolata"/>
              </a:rPr>
              <a:t>PRODUCTS</a:t>
            </a:r>
            <a:r>
              <a:rPr sz="725" i="0">
                <a:solidFill>
                  <a:srgbClr val="E6EDF3"/>
                </a:solidFill>
                <a:latin typeface="Inconsolata"/>
              </a:rPr>
              <a:t>[product_id])</a:t>
            </a:r>
          </a:p>
          <a:p>
            <a:pPr>
              <a:lnSpc>
                <a:spcPct val="103448"/>
              </a:lnSpc>
              <a:spcAft>
                <a:spcPts val="0"/>
              </a:spcAft>
            </a:pPr>
            <a:r>
              <a:rPr sz="725" i="0">
                <a:solidFill>
                  <a:srgbClr val="5C6773"/>
                </a:solidFill>
                <a:latin typeface="Inconsolata"/>
              </a:rPr>
              <a:t>20  </a:t>
            </a:r>
            <a:r>
              <a:rPr sz="725" i="0">
                <a:solidFill>
                  <a:srgbClr val="E6EDF3"/>
                </a:solidFill>
                <a:latin typeface="Inconsolata"/>
              </a:rPr>
              <a:t> </a:t>
            </a:r>
          </a:p>
          <a:p>
            <a:pPr>
              <a:lnSpc>
                <a:spcPct val="103448"/>
              </a:lnSpc>
              <a:spcAft>
                <a:spcPts val="0"/>
              </a:spcAft>
            </a:pPr>
            <a:r>
              <a:rPr sz="725" i="0">
                <a:solidFill>
                  <a:srgbClr val="5C6773"/>
                </a:solidFill>
                <a:latin typeface="Inconsolata"/>
              </a:rPr>
              <a:t>21  </a:t>
            </a:r>
            <a:r>
              <a:rPr sz="725" i="0">
                <a:solidFill>
                  <a:srgbClr val="E6EDF3"/>
                </a:solidFill>
                <a:latin typeface="Inconsolata"/>
              </a:rPr>
              <a:t> </a:t>
            </a:r>
          </a:p>
          <a:p>
            <a:pPr>
              <a:lnSpc>
                <a:spcPct val="103448"/>
              </a:lnSpc>
              <a:spcAft>
                <a:spcPts val="0"/>
              </a:spcAft>
            </a:pPr>
            <a:r>
              <a:rPr sz="725" i="0">
                <a:solidFill>
                  <a:srgbClr val="5C6773"/>
                </a:solidFill>
                <a:latin typeface="Inconsolata"/>
              </a:rPr>
              <a:t>22  </a:t>
            </a:r>
            <a:r>
              <a:rPr sz="725" i="0">
                <a:solidFill>
                  <a:srgbClr val="FF8E6E"/>
                </a:solidFill>
                <a:latin typeface="Inconsolata"/>
              </a:rPr>
              <a:t>def</a:t>
            </a:r>
            <a:r>
              <a:rPr sz="725" i="0">
                <a:solidFill>
                  <a:srgbClr val="E6EDF3"/>
                </a:solidFill>
                <a:latin typeface="Inconsolata"/>
              </a:rPr>
              <a:t> </a:t>
            </a:r>
            <a:r>
              <a:rPr sz="725" i="0">
                <a:solidFill>
                  <a:srgbClr val="82B1FF"/>
                </a:solidFill>
                <a:latin typeface="Inconsolata"/>
              </a:rPr>
              <a:t>get_product</a:t>
            </a:r>
            <a:r>
              <a:rPr sz="725" i="0">
                <a:solidFill>
                  <a:srgbClr val="E6EDF3"/>
                </a:solidFill>
                <a:latin typeface="Inconsolata"/>
              </a:rPr>
              <a:t>(product_id: </a:t>
            </a:r>
            <a:r>
              <a:rPr sz="725" i="0">
                <a:solidFill>
                  <a:srgbClr val="C3A6FF"/>
                </a:solidFill>
                <a:latin typeface="Inconsolata"/>
              </a:rPr>
              <a:t>int</a:t>
            </a:r>
            <a:r>
              <a:rPr sz="725" i="0">
                <a:solidFill>
                  <a:srgbClr val="E6EDF3"/>
                </a:solidFill>
                <a:latin typeface="Inconsolata"/>
              </a:rPr>
              <a:t>) -&gt; </a:t>
            </a:r>
            <a:r>
              <a:rPr sz="725" i="0">
                <a:solidFill>
                  <a:srgbClr val="C3A6FF"/>
                </a:solidFill>
                <a:latin typeface="Inconsolata"/>
              </a:rPr>
              <a:t>dict</a:t>
            </a:r>
            <a:r>
              <a:rPr sz="725" i="0">
                <a:solidFill>
                  <a:srgbClr val="E6EDF3"/>
                </a:solidFill>
                <a:latin typeface="Inconsolata"/>
              </a:rPr>
              <a:t>:</a:t>
            </a:r>
          </a:p>
          <a:p>
            <a:pPr>
              <a:lnSpc>
                <a:spcPct val="103448"/>
              </a:lnSpc>
              <a:spcAft>
                <a:spcPts val="0"/>
              </a:spcAft>
            </a:pPr>
            <a:r>
              <a:rPr sz="725" i="0">
                <a:solidFill>
                  <a:srgbClr val="5C6773"/>
                </a:solidFill>
                <a:latin typeface="Inconsolata"/>
              </a:rPr>
              <a:t>23  </a:t>
            </a:r>
            <a:r>
              <a:rPr sz="725" i="0">
                <a:solidFill>
                  <a:srgbClr val="E6EDF3"/>
                </a:solidFill>
                <a:latin typeface="Inconsolata"/>
              </a:rPr>
              <a:t>    </a:t>
            </a:r>
            <a:r>
              <a:rPr sz="725" i="0">
                <a:solidFill>
                  <a:srgbClr val="FF8E6E"/>
                </a:solidFill>
                <a:latin typeface="Inconsolata"/>
              </a:rPr>
              <a:t>return</a:t>
            </a:r>
            <a:r>
              <a:rPr sz="725" i="0">
                <a:solidFill>
                  <a:srgbClr val="E6EDF3"/>
                </a:solidFill>
                <a:latin typeface="Inconsolata"/>
              </a:rPr>
              <a:t> query_product(product_id)</a:t>
            </a:r>
          </a:p>
          <a:p>
            <a:pPr>
              <a:lnSpc>
                <a:spcPct val="103448"/>
              </a:lnSpc>
              <a:spcAft>
                <a:spcPts val="0"/>
              </a:spcAft>
            </a:pPr>
            <a:r>
              <a:rPr sz="725" i="0">
                <a:solidFill>
                  <a:srgbClr val="5C6773"/>
                </a:solidFill>
                <a:latin typeface="Inconsolata"/>
              </a:rPr>
              <a:t>24  </a:t>
            </a:r>
            <a:r>
              <a:rPr sz="725" i="0">
                <a:solidFill>
                  <a:srgbClr val="E6EDF3"/>
                </a:solidFill>
                <a:latin typeface="Inconsolata"/>
              </a:rPr>
              <a:t> </a:t>
            </a:r>
          </a:p>
          <a:p>
            <a:pPr>
              <a:lnSpc>
                <a:spcPct val="103448"/>
              </a:lnSpc>
              <a:spcAft>
                <a:spcPts val="0"/>
              </a:spcAft>
            </a:pPr>
            <a:r>
              <a:rPr sz="725" i="0">
                <a:solidFill>
                  <a:srgbClr val="5C6773"/>
                </a:solidFill>
                <a:latin typeface="Inconsolata"/>
              </a:rPr>
              <a:t>25  </a:t>
            </a:r>
            <a:r>
              <a:rPr sz="725" i="0">
                <a:solidFill>
                  <a:srgbClr val="E6EDF3"/>
                </a:solidFill>
                <a:latin typeface="Inconsolata"/>
              </a:rPr>
              <a:t> </a:t>
            </a:r>
          </a:p>
          <a:p>
            <a:pPr>
              <a:lnSpc>
                <a:spcPct val="103448"/>
              </a:lnSpc>
              <a:spcAft>
                <a:spcPts val="0"/>
              </a:spcAft>
            </a:pPr>
            <a:r>
              <a:rPr sz="725" i="0">
                <a:solidFill>
                  <a:srgbClr val="5C6773"/>
                </a:solidFill>
                <a:latin typeface="Inconsolata"/>
              </a:rPr>
              <a:t>26  </a:t>
            </a:r>
            <a:r>
              <a:rPr sz="725" i="0">
                <a:solidFill>
                  <a:srgbClr val="FF8E6E"/>
                </a:solidFill>
                <a:latin typeface="Inconsolata"/>
              </a:rPr>
              <a:t>if</a:t>
            </a:r>
            <a:r>
              <a:rPr sz="725" i="0">
                <a:solidFill>
                  <a:srgbClr val="E6EDF3"/>
                </a:solidFill>
                <a:latin typeface="Inconsolata"/>
              </a:rPr>
              <a:t> __name__ == </a:t>
            </a:r>
            <a:r>
              <a:rPr sz="725" i="0">
                <a:solidFill>
                  <a:srgbClr val="A5D6A7"/>
                </a:solidFill>
                <a:latin typeface="Inconsolata"/>
              </a:rPr>
              <a:t>"__main__"</a:t>
            </a:r>
            <a:r>
              <a:rPr sz="725" i="0">
                <a:solidFill>
                  <a:srgbClr val="E6EDF3"/>
                </a:solidFill>
                <a:latin typeface="Inconsolata"/>
              </a:rPr>
              <a:t>:</a:t>
            </a:r>
          </a:p>
          <a:p>
            <a:pPr>
              <a:lnSpc>
                <a:spcPct val="103448"/>
              </a:lnSpc>
              <a:spcAft>
                <a:spcPts val="0"/>
              </a:spcAft>
            </a:pPr>
            <a:r>
              <a:rPr sz="725" i="0">
                <a:solidFill>
                  <a:srgbClr val="5C6773"/>
                </a:solidFill>
                <a:latin typeface="Inconsolata"/>
              </a:rPr>
              <a:t>27  </a:t>
            </a:r>
            <a:r>
              <a:rPr sz="725" i="0">
                <a:solidFill>
                  <a:srgbClr val="E6EDF3"/>
                </a:solidFill>
                <a:latin typeface="Inconsolata"/>
              </a:rPr>
              <a:t>    start = time.perf_counter()</a:t>
            </a:r>
          </a:p>
          <a:p>
            <a:pPr>
              <a:lnSpc>
                <a:spcPct val="103448"/>
              </a:lnSpc>
              <a:spcAft>
                <a:spcPts val="0"/>
              </a:spcAft>
            </a:pPr>
            <a:r>
              <a:rPr sz="725" i="0">
                <a:solidFill>
                  <a:srgbClr val="5C6773"/>
                </a:solidFill>
                <a:latin typeface="Inconsolata"/>
              </a:rPr>
              <a:t>28  </a:t>
            </a:r>
            <a:r>
              <a:rPr sz="725" i="0">
                <a:solidFill>
                  <a:srgbClr val="E6EDF3"/>
                </a:solidFill>
                <a:latin typeface="Inconsolata"/>
              </a:rPr>
              <a:t>    </a:t>
            </a:r>
            <a:r>
              <a:rPr sz="725" i="0">
                <a:solidFill>
                  <a:srgbClr val="FF8E6E"/>
                </a:solidFill>
                <a:latin typeface="Inconsolata"/>
              </a:rPr>
              <a:t>for</a:t>
            </a:r>
            <a:r>
              <a:rPr sz="725" i="0">
                <a:solidFill>
                  <a:srgbClr val="E6EDF3"/>
                </a:solidFill>
                <a:latin typeface="Inconsolata"/>
              </a:rPr>
              <a:t> _ </a:t>
            </a:r>
            <a:r>
              <a:rPr sz="725" i="0">
                <a:solidFill>
                  <a:srgbClr val="FF8E6E"/>
                </a:solidFill>
                <a:latin typeface="Inconsolata"/>
              </a:rPr>
              <a:t>in</a:t>
            </a:r>
            <a:r>
              <a:rPr sz="725" i="0">
                <a:solidFill>
                  <a:srgbClr val="E6EDF3"/>
                </a:solidFill>
                <a:latin typeface="Inconsolata"/>
              </a:rPr>
              <a:t> </a:t>
            </a:r>
            <a:r>
              <a:rPr sz="725" i="0">
                <a:solidFill>
                  <a:srgbClr val="C3A6FF"/>
                </a:solidFill>
                <a:latin typeface="Inconsolata"/>
              </a:rPr>
              <a:t>range</a:t>
            </a:r>
            <a:r>
              <a:rPr sz="725" i="0">
                <a:solidFill>
                  <a:srgbClr val="E6EDF3"/>
                </a:solidFill>
                <a:latin typeface="Inconsolata"/>
              </a:rPr>
              <a:t>(</a:t>
            </a:r>
            <a:r>
              <a:rPr sz="725" i="0">
                <a:solidFill>
                  <a:srgbClr val="F9C97A"/>
                </a:solidFill>
                <a:latin typeface="Inconsolata"/>
              </a:rPr>
              <a:t>5</a:t>
            </a:r>
            <a:r>
              <a:rPr sz="725" i="0">
                <a:solidFill>
                  <a:srgbClr val="E6EDF3"/>
                </a:solidFill>
                <a:latin typeface="Inconsolata"/>
              </a:rPr>
              <a:t>):</a:t>
            </a:r>
          </a:p>
          <a:p>
            <a:pPr>
              <a:lnSpc>
                <a:spcPct val="103448"/>
              </a:lnSpc>
              <a:spcAft>
                <a:spcPts val="0"/>
              </a:spcAft>
            </a:pPr>
            <a:r>
              <a:rPr sz="725" i="0">
                <a:solidFill>
                  <a:srgbClr val="5C6773"/>
                </a:solidFill>
                <a:latin typeface="Inconsolata"/>
              </a:rPr>
              <a:t>29  </a:t>
            </a:r>
            <a:r>
              <a:rPr sz="725" i="0">
                <a:solidFill>
                  <a:srgbClr val="E6EDF3"/>
                </a:solidFill>
                <a:latin typeface="Inconsolata"/>
              </a:rPr>
              <a:t>        get_product(</a:t>
            </a:r>
            <a:r>
              <a:rPr sz="725" i="0">
                <a:solidFill>
                  <a:srgbClr val="F9C97A"/>
                </a:solidFill>
                <a:latin typeface="Inconsolata"/>
              </a:rPr>
              <a:t>1</a:t>
            </a:r>
            <a:r>
              <a:rPr sz="725" i="0">
                <a:solidFill>
                  <a:srgbClr val="E6EDF3"/>
                </a:solidFill>
                <a:latin typeface="Inconsolata"/>
              </a:rPr>
              <a:t>)</a:t>
            </a:r>
          </a:p>
          <a:p>
            <a:pPr>
              <a:lnSpc>
                <a:spcPct val="103448"/>
              </a:lnSpc>
              <a:spcAft>
                <a:spcPts val="0"/>
              </a:spcAft>
            </a:pPr>
            <a:r>
              <a:rPr sz="725" i="0">
                <a:solidFill>
                  <a:srgbClr val="5C6773"/>
                </a:solidFill>
                <a:latin typeface="Inconsolata"/>
              </a:rPr>
              <a:t>30  </a:t>
            </a:r>
            <a:r>
              <a:rPr sz="725" i="0">
                <a:solidFill>
                  <a:srgbClr val="E6EDF3"/>
                </a:solidFill>
                <a:latin typeface="Inconsolata"/>
              </a:rPr>
              <a:t>    took = time.perf_counter() - start</a:t>
            </a:r>
          </a:p>
          <a:p>
            <a:pPr>
              <a:lnSpc>
                <a:spcPct val="103448"/>
              </a:lnSpc>
              <a:spcAft>
                <a:spcPts val="0"/>
              </a:spcAft>
            </a:pPr>
            <a:r>
              <a:rPr sz="725" i="0">
                <a:solidFill>
                  <a:srgbClr val="5C6773"/>
                </a:solidFill>
                <a:latin typeface="Inconsolata"/>
              </a:rPr>
              <a:t>31  </a:t>
            </a:r>
            <a:r>
              <a:rPr sz="725" i="0">
                <a:solidFill>
                  <a:srgbClr val="E6EDF3"/>
                </a:solidFill>
                <a:latin typeface="Inconsolata"/>
              </a:rPr>
              <a:t>    </a:t>
            </a:r>
            <a:r>
              <a:rPr sz="725" i="0">
                <a:solidFill>
                  <a:srgbClr val="C3A6FF"/>
                </a:solidFill>
                <a:latin typeface="Inconsolata"/>
              </a:rPr>
              <a:t>print</a:t>
            </a:r>
            <a:r>
              <a:rPr sz="725" i="0">
                <a:solidFill>
                  <a:srgbClr val="E6EDF3"/>
                </a:solidFill>
                <a:latin typeface="Inconsolata"/>
              </a:rPr>
              <a:t>(</a:t>
            </a:r>
            <a:r>
              <a:rPr sz="725" i="0">
                <a:solidFill>
                  <a:srgbClr val="A5D6A7"/>
                </a:solidFill>
                <a:latin typeface="Inconsolata"/>
              </a:rPr>
              <a:t>f"5 request: {took:.1f} detik, "</a:t>
            </a:r>
          </a:p>
          <a:p>
            <a:pPr>
              <a:lnSpc>
                <a:spcPct val="103448"/>
              </a:lnSpc>
              <a:spcAft>
                <a:spcPts val="0"/>
              </a:spcAft>
            </a:pPr>
            <a:r>
              <a:rPr sz="725" i="0">
                <a:solidFill>
                  <a:srgbClr val="5C6773"/>
                </a:solidFill>
                <a:latin typeface="Inconsolata"/>
              </a:rPr>
              <a:t>32  </a:t>
            </a:r>
            <a:r>
              <a:rPr sz="725" i="0">
                <a:solidFill>
                  <a:srgbClr val="E6EDF3"/>
                </a:solidFill>
                <a:latin typeface="Inconsolata"/>
              </a:rPr>
              <a:t>          </a:t>
            </a:r>
            <a:r>
              <a:rPr sz="725" i="0">
                <a:solidFill>
                  <a:srgbClr val="A5D6A7"/>
                </a:solidFill>
                <a:latin typeface="Inconsolata"/>
              </a:rPr>
              <a:t>f"query ke database: {db_queries}"</a:t>
            </a:r>
            <a:r>
              <a:rPr sz="725" i="0">
                <a:solidFill>
                  <a:srgbClr val="E6EDF3"/>
                </a:solidFill>
                <a:latin typeface="Inconsolata"/>
              </a:rPr>
              <a:t>)    </a:t>
            </a:r>
            <a:r>
              <a:rPr sz="725" i="1">
                <a:solidFill>
                  <a:srgbClr val="8B98A8"/>
                </a:solidFill>
                <a:latin typeface="Inconsolata"/>
              </a:rPr>
              <a:t># 2.5 detik, 5</a:t>
            </a:r>
          </a:p>
        </p:txBody>
      </p:sp>
      <p:sp>
        <p:nvSpPr>
          <p:cNvPr id="29" name="Box 12"/>
          <p:cNvSpPr/>
          <p:nvPr/>
        </p:nvSpPr>
        <p:spPr>
          <a:xfrm>
            <a:off x="704088" y="2854071"/>
            <a:ext cx="4343400"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7889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425571"/>
            <a:ext cx="4343400"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3360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997071"/>
            <a:ext cx="4343400"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4928616" y="39890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CodeTab 19"/>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Dot 20"/>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ot 21"/>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Dot 22"/>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23"/>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40" name="CodeBg 25"/>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Code 26"/>
          <p:cNvSpPr txBox="1"/>
          <p:nvPr/>
        </p:nvSpPr>
        <p:spPr>
          <a:xfrm>
            <a:off x="5285231" y="1719072"/>
            <a:ext cx="3200400" cy="457200"/>
          </a:xfrm>
          <a:prstGeom prst="rect">
            <a:avLst/>
          </a:prstGeom>
          <a:noFill/>
        </p:spPr>
        <p:txBody>
          <a:bodyPr wrap="none" lIns="146304" tIns="91440" rIns="146304" bIns="54864">
            <a:spAutoFit/>
          </a:bodyPr>
          <a:lstStyle/>
          <a:p>
            <a:pPr>
              <a:lnSpc>
                <a:spcPct val="107527"/>
              </a:lnSpc>
              <a:spcAft>
                <a:spcPts val="0"/>
              </a:spcAft>
            </a:pPr>
            <a:r>
              <a:rPr sz="775" i="0">
                <a:solidFill>
                  <a:srgbClr val="82B1FF"/>
                </a:solidFill>
                <a:latin typeface="Inconsolata"/>
              </a:rPr>
              <a:t>$ cd sesi-06-redis-caching-rate-limiting/01-cache-aside</a:t>
            </a:r>
          </a:p>
          <a:p>
            <a:pPr>
              <a:lnSpc>
                <a:spcPct val="107527"/>
              </a:lnSpc>
              <a:spcAft>
                <a:spcPts val="0"/>
              </a:spcAft>
            </a:pPr>
            <a:r>
              <a:rPr sz="775" i="0">
                <a:solidFill>
                  <a:srgbClr val="82B1FF"/>
                </a:solidFill>
                <a:latin typeface="Inconsolata"/>
              </a:rPr>
              <a:t>$ python before.py</a:t>
            </a:r>
          </a:p>
        </p:txBody>
      </p:sp>
      <p:pic>
        <p:nvPicPr>
          <p:cNvPr id="42" name="Image 27" descr="s06-01-cache-aside-before.png"/>
          <p:cNvPicPr>
            <a:picLocks noChangeAspect="1"/>
          </p:cNvPicPr>
          <p:nvPr/>
        </p:nvPicPr>
        <p:blipFill>
          <a:blip r:embed="rId2"/>
          <a:stretch>
            <a:fillRect/>
          </a:stretch>
        </p:blipFill>
        <p:spPr>
          <a:xfrm>
            <a:off x="5285231" y="2249424"/>
            <a:ext cx="3200400" cy="565785"/>
          </a:xfrm>
          <a:prstGeom prst="rect">
            <a:avLst/>
          </a:prstGeom>
        </p:spPr>
      </p:pic>
      <p:sp>
        <p:nvSpPr>
          <p:cNvPr id="43" name="Box 28"/>
          <p:cNvSpPr/>
          <p:nvPr/>
        </p:nvSpPr>
        <p:spPr>
          <a:xfrm>
            <a:off x="5285231" y="2906649"/>
            <a:ext cx="3200400" cy="1793367"/>
          </a:xfrm>
          <a:prstGeom prst="roundRect">
            <a:avLst>
              <a:gd name="adj" fmla="val 6118"/>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4" name="Text 29"/>
          <p:cNvSpPr txBox="1"/>
          <p:nvPr/>
        </p:nvSpPr>
        <p:spPr>
          <a:xfrm>
            <a:off x="5422392" y="2998089"/>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5" name="Text 30"/>
          <p:cNvSpPr txBox="1"/>
          <p:nvPr/>
        </p:nvSpPr>
        <p:spPr>
          <a:xfrm>
            <a:off x="5422392" y="3318129"/>
            <a:ext cx="2926080" cy="1290447"/>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Query produk butuh 0.5 detik (baris 18)</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Setiap request langsung query database (baris 23)</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Produk yang sama diminta 5 kali (baris 28-29)</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5 request butuh 2.5 detik dan 5 query.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Cache-Aside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cek cache dulu</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01-cache-aside/after.py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11  </a:t>
            </a:r>
            <a:r>
              <a:rPr sz="729" i="0">
                <a:solidFill>
                  <a:srgbClr val="FF8E6E"/>
                </a:solidFill>
                <a:latin typeface="Inconsolata"/>
              </a:rPr>
              <a:t>import</a:t>
            </a:r>
            <a:r>
              <a:rPr sz="729" i="0">
                <a:solidFill>
                  <a:srgbClr val="E6EDF3"/>
                </a:solidFill>
                <a:latin typeface="Inconsolata"/>
              </a:rPr>
              <a:t> json</a:t>
            </a:r>
          </a:p>
          <a:p>
            <a:pPr>
              <a:lnSpc>
                <a:spcPct val="102868"/>
              </a:lnSpc>
              <a:spcAft>
                <a:spcPts val="0"/>
              </a:spcAft>
            </a:pPr>
            <a:r>
              <a:rPr sz="729" i="0">
                <a:solidFill>
                  <a:srgbClr val="5C6773"/>
                </a:solidFill>
                <a:latin typeface="Inconsolata"/>
              </a:rPr>
              <a:t>12  </a:t>
            </a:r>
            <a:r>
              <a:rPr sz="729" i="0">
                <a:solidFill>
                  <a:srgbClr val="FF8E6E"/>
                </a:solidFill>
                <a:latin typeface="Inconsolata"/>
              </a:rPr>
              <a:t>import</a:t>
            </a:r>
            <a:r>
              <a:rPr sz="729" i="0">
                <a:solidFill>
                  <a:srgbClr val="E6EDF3"/>
                </a:solidFill>
                <a:latin typeface="Inconsolata"/>
              </a:rPr>
              <a:t> os</a:t>
            </a:r>
          </a:p>
          <a:p>
            <a:pPr>
              <a:lnSpc>
                <a:spcPct val="102868"/>
              </a:lnSpc>
              <a:spcAft>
                <a:spcPts val="0"/>
              </a:spcAft>
            </a:pPr>
            <a:r>
              <a:rPr sz="729" i="0">
                <a:solidFill>
                  <a:srgbClr val="5C6773"/>
                </a:solidFill>
                <a:latin typeface="Inconsolata"/>
              </a:rPr>
              <a:t>13  </a:t>
            </a:r>
            <a:r>
              <a:rPr sz="729" i="0">
                <a:solidFill>
                  <a:srgbClr val="FF8E6E"/>
                </a:solidFill>
                <a:latin typeface="Inconsolata"/>
              </a:rPr>
              <a:t>import</a:t>
            </a:r>
            <a:r>
              <a:rPr sz="729" i="0">
                <a:solidFill>
                  <a:srgbClr val="E6EDF3"/>
                </a:solidFill>
                <a:latin typeface="Inconsolata"/>
              </a:rPr>
              <a:t> time</a:t>
            </a:r>
          </a:p>
          <a:p>
            <a:pPr>
              <a:lnSpc>
                <a:spcPct val="102868"/>
              </a:lnSpc>
              <a:spcAft>
                <a:spcPts val="0"/>
              </a:spcAft>
            </a:pPr>
            <a:r>
              <a:rPr sz="729" i="0">
                <a:solidFill>
                  <a:srgbClr val="5C6773"/>
                </a:solidFill>
                <a:latin typeface="Inconsolata"/>
              </a:rPr>
              <a:t>14  </a:t>
            </a:r>
            <a:r>
              <a:rPr sz="729" i="0">
                <a:solidFill>
                  <a:srgbClr val="E6EDF3"/>
                </a:solidFill>
                <a:latin typeface="Inconsolata"/>
              </a:rPr>
              <a:t> </a:t>
            </a:r>
          </a:p>
          <a:p>
            <a:pPr>
              <a:lnSpc>
                <a:spcPct val="102868"/>
              </a:lnSpc>
              <a:spcAft>
                <a:spcPts val="0"/>
              </a:spcAft>
            </a:pPr>
            <a:r>
              <a:rPr sz="729" i="0">
                <a:solidFill>
                  <a:srgbClr val="5C6773"/>
                </a:solidFill>
                <a:latin typeface="Inconsolata"/>
              </a:rPr>
              <a:t>15  </a:t>
            </a:r>
            <a:r>
              <a:rPr sz="729" i="0">
                <a:solidFill>
                  <a:srgbClr val="FF8E6E"/>
                </a:solidFill>
                <a:latin typeface="Inconsolata"/>
              </a:rPr>
              <a:t>import</a:t>
            </a:r>
            <a:r>
              <a:rPr sz="729" i="0">
                <a:solidFill>
                  <a:srgbClr val="E6EDF3"/>
                </a:solidFill>
                <a:latin typeface="Inconsolata"/>
              </a:rPr>
              <a:t> redis</a:t>
            </a:r>
          </a:p>
          <a:p>
            <a:pPr>
              <a:lnSpc>
                <a:spcPct val="102868"/>
              </a:lnSpc>
              <a:spcAft>
                <a:spcPts val="0"/>
              </a:spcAft>
            </a:pPr>
            <a:r>
              <a:rPr sz="729" i="0">
                <a:solidFill>
                  <a:srgbClr val="5C6773"/>
                </a:solidFill>
                <a:latin typeface="Inconsolata"/>
              </a:rPr>
              <a:t>16  </a:t>
            </a:r>
            <a:r>
              <a:rPr sz="729" i="0">
                <a:solidFill>
                  <a:srgbClr val="E6EDF3"/>
                </a:solidFill>
                <a:latin typeface="Inconsolata"/>
              </a:rPr>
              <a:t> </a:t>
            </a:r>
          </a:p>
          <a:p>
            <a:pPr>
              <a:lnSpc>
                <a:spcPct val="102868"/>
              </a:lnSpc>
              <a:spcAft>
                <a:spcPts val="0"/>
              </a:spcAft>
            </a:pPr>
            <a:r>
              <a:rPr sz="729" i="0">
                <a:solidFill>
                  <a:srgbClr val="5C6773"/>
                </a:solidFill>
                <a:latin typeface="Inconsolata"/>
              </a:rPr>
              <a:t>17  </a:t>
            </a:r>
            <a:r>
              <a:rPr sz="729" i="0">
                <a:solidFill>
                  <a:srgbClr val="7FDBCA"/>
                </a:solidFill>
                <a:latin typeface="Inconsolata"/>
              </a:rPr>
              <a:t>REDIS_URL</a:t>
            </a:r>
            <a:r>
              <a:rPr sz="729" i="0">
                <a:solidFill>
                  <a:srgbClr val="E6EDF3"/>
                </a:solidFill>
                <a:latin typeface="Inconsolata"/>
              </a:rPr>
              <a:t> = os.getenv(</a:t>
            </a:r>
            <a:r>
              <a:rPr sz="729" i="0">
                <a:solidFill>
                  <a:srgbClr val="A5D6A7"/>
                </a:solidFill>
                <a:latin typeface="Inconsolata"/>
              </a:rPr>
              <a:t>"REDIS_URL"</a:t>
            </a:r>
            <a:r>
              <a:rPr sz="729" i="0">
                <a:solidFill>
                  <a:srgbClr val="E6EDF3"/>
                </a:solidFill>
                <a:latin typeface="Inconsolata"/>
              </a:rPr>
              <a:t>, </a:t>
            </a:r>
            <a:r>
              <a:rPr sz="729" i="0">
                <a:solidFill>
                  <a:srgbClr val="A5D6A7"/>
                </a:solidFill>
                <a:latin typeface="Inconsolata"/>
              </a:rPr>
              <a:t>"redis://localhost:6379/0"</a:t>
            </a:r>
            <a:r>
              <a:rPr sz="729" i="0">
                <a:solidFill>
                  <a:srgbClr val="E6EDF3"/>
                </a:solidFill>
                <a:latin typeface="Inconsolata"/>
              </a:rPr>
              <a:t>)</a:t>
            </a:r>
          </a:p>
          <a:p>
            <a:pPr>
              <a:lnSpc>
                <a:spcPct val="102868"/>
              </a:lnSpc>
              <a:spcAft>
                <a:spcPts val="0"/>
              </a:spcAft>
            </a:pPr>
            <a:r>
              <a:rPr sz="729" i="0">
                <a:solidFill>
                  <a:srgbClr val="5C6773"/>
                </a:solidFill>
                <a:latin typeface="Inconsolata"/>
              </a:rPr>
              <a:t>18  </a:t>
            </a:r>
            <a:r>
              <a:rPr sz="729" i="0">
                <a:solidFill>
                  <a:srgbClr val="E6EDF3"/>
                </a:solidFill>
                <a:latin typeface="Inconsolata"/>
              </a:rPr>
              <a:t>cache = redis.</a:t>
            </a:r>
            <a:r>
              <a:rPr sz="729" i="0">
                <a:solidFill>
                  <a:srgbClr val="7FDBCA"/>
                </a:solidFill>
                <a:latin typeface="Inconsolata"/>
              </a:rPr>
              <a:t>Redis</a:t>
            </a:r>
            <a:r>
              <a:rPr sz="729" i="0">
                <a:solidFill>
                  <a:srgbClr val="E6EDF3"/>
                </a:solidFill>
                <a:latin typeface="Inconsolata"/>
              </a:rPr>
              <a:t>.from_url(</a:t>
            </a:r>
            <a:r>
              <a:rPr sz="729" i="0">
                <a:solidFill>
                  <a:srgbClr val="7FDBCA"/>
                </a:solidFill>
                <a:latin typeface="Inconsolata"/>
              </a:rPr>
              <a:t>REDIS_URL</a:t>
            </a:r>
            <a:r>
              <a:rPr sz="729" i="0">
                <a:solidFill>
                  <a:srgbClr val="E6EDF3"/>
                </a:solidFill>
                <a:latin typeface="Inconsolata"/>
              </a:rPr>
              <a:t>, decode_responses=</a:t>
            </a:r>
            <a:r>
              <a:rPr sz="729" i="0">
                <a:solidFill>
                  <a:srgbClr val="FF8E6E"/>
                </a:solidFill>
                <a:latin typeface="Inconsolata"/>
              </a:rPr>
              <a:t>True</a:t>
            </a:r>
            <a:r>
              <a:rPr sz="729" i="0">
                <a:solidFill>
                  <a:srgbClr val="E6EDF3"/>
                </a:solidFill>
                <a:latin typeface="Inconsolata"/>
              </a:rPr>
              <a:t>)</a:t>
            </a:r>
          </a:p>
          <a:p>
            <a:pPr>
              <a:lnSpc>
                <a:spcPct val="102868"/>
              </a:lnSpc>
              <a:spcAft>
                <a:spcPts val="0"/>
              </a:spcAft>
            </a:pPr>
            <a:r>
              <a:rPr sz="729" i="0">
                <a:solidFill>
                  <a:srgbClr val="5C6773"/>
                </a:solidFill>
                <a:latin typeface="Inconsolata"/>
              </a:rPr>
              <a:t>19  </a:t>
            </a:r>
            <a:r>
              <a:rPr sz="729" i="0">
                <a:solidFill>
                  <a:srgbClr val="E6EDF3"/>
                </a:solidFill>
                <a:latin typeface="Inconsolata"/>
              </a:rPr>
              <a:t> </a:t>
            </a:r>
          </a:p>
          <a:p>
            <a:pPr>
              <a:lnSpc>
                <a:spcPct val="102868"/>
              </a:lnSpc>
              <a:spcAft>
                <a:spcPts val="0"/>
              </a:spcAft>
            </a:pPr>
            <a:r>
              <a:rPr sz="729" i="0">
                <a:solidFill>
                  <a:srgbClr val="5C6773"/>
                </a:solidFill>
                <a:latin typeface="Inconsolata"/>
              </a:rPr>
              <a:t>20  </a:t>
            </a:r>
            <a:r>
              <a:rPr sz="729" i="0">
                <a:solidFill>
                  <a:srgbClr val="7FDBCA"/>
                </a:solidFill>
                <a:latin typeface="Inconsolata"/>
              </a:rPr>
              <a:t>PRODUCTS</a:t>
            </a:r>
            <a:r>
              <a:rPr sz="729" i="0">
                <a:solidFill>
                  <a:srgbClr val="E6EDF3"/>
                </a:solidFill>
                <a:latin typeface="Inconsolata"/>
              </a:rPr>
              <a:t> = {</a:t>
            </a:r>
            <a:r>
              <a:rPr sz="729" i="0">
                <a:solidFill>
                  <a:srgbClr val="F9C97A"/>
                </a:solidFill>
                <a:latin typeface="Inconsolata"/>
              </a:rPr>
              <a:t>1</a:t>
            </a:r>
            <a:r>
              <a:rPr sz="729" i="0">
                <a:solidFill>
                  <a:srgbClr val="E6EDF3"/>
                </a:solidFill>
                <a:latin typeface="Inconsolata"/>
              </a:rPr>
              <a:t>: {</a:t>
            </a:r>
            <a:r>
              <a:rPr sz="729" i="0">
                <a:solidFill>
                  <a:srgbClr val="A5D6A7"/>
                </a:solidFill>
                <a:latin typeface="Inconsolata"/>
              </a:rPr>
              <a:t>"id"</a:t>
            </a:r>
            <a:r>
              <a:rPr sz="729" i="0">
                <a:solidFill>
                  <a:srgbClr val="E6EDF3"/>
                </a:solidFill>
                <a:latin typeface="Inconsolata"/>
              </a:rPr>
              <a:t>: </a:t>
            </a:r>
            <a:r>
              <a:rPr sz="729" i="0">
                <a:solidFill>
                  <a:srgbClr val="F9C97A"/>
                </a:solidFill>
                <a:latin typeface="Inconsolata"/>
              </a:rPr>
              <a:t>1</a:t>
            </a:r>
            <a:r>
              <a:rPr sz="729" i="0">
                <a:solidFill>
                  <a:srgbClr val="E6EDF3"/>
                </a:solidFill>
                <a:latin typeface="Inconsolata"/>
              </a:rPr>
              <a:t>, </a:t>
            </a:r>
            <a:r>
              <a:rPr sz="729" i="0">
                <a:solidFill>
                  <a:srgbClr val="A5D6A7"/>
                </a:solidFill>
                <a:latin typeface="Inconsolata"/>
              </a:rPr>
              <a:t>"name"</a:t>
            </a:r>
            <a:r>
              <a:rPr sz="729" i="0">
                <a:solidFill>
                  <a:srgbClr val="E6EDF3"/>
                </a:solidFill>
                <a:latin typeface="Inconsolata"/>
              </a:rPr>
              <a:t>: </a:t>
            </a:r>
            <a:r>
              <a:rPr sz="729" i="0">
                <a:solidFill>
                  <a:srgbClr val="A5D6A7"/>
                </a:solidFill>
                <a:latin typeface="Inconsolata"/>
              </a:rPr>
              <a:t>"Keyboard"</a:t>
            </a:r>
            <a:r>
              <a:rPr sz="729" i="0">
                <a:solidFill>
                  <a:srgbClr val="E6EDF3"/>
                </a:solidFill>
                <a:latin typeface="Inconsolata"/>
              </a:rPr>
              <a:t>, </a:t>
            </a:r>
            <a:r>
              <a:rPr sz="729" i="0">
                <a:solidFill>
                  <a:srgbClr val="A5D6A7"/>
                </a:solidFill>
                <a:latin typeface="Inconsolata"/>
              </a:rPr>
              <a:t>"price"</a:t>
            </a:r>
            <a:r>
              <a:rPr sz="729" i="0">
                <a:solidFill>
                  <a:srgbClr val="E6EDF3"/>
                </a:solidFill>
                <a:latin typeface="Inconsolata"/>
              </a:rPr>
              <a:t>: </a:t>
            </a:r>
            <a:r>
              <a:rPr sz="729" i="0">
                <a:solidFill>
                  <a:srgbClr val="F9C97A"/>
                </a:solidFill>
                <a:latin typeface="Inconsolata"/>
              </a:rPr>
              <a:t>500_000</a:t>
            </a:r>
            <a:r>
              <a:rPr sz="729" i="0">
                <a:solidFill>
                  <a:srgbClr val="E6EDF3"/>
                </a:solidFill>
                <a:latin typeface="Inconsolata"/>
              </a:rPr>
              <a:t>}}</a:t>
            </a:r>
          </a:p>
          <a:p>
            <a:pPr>
              <a:lnSpc>
                <a:spcPct val="102868"/>
              </a:lnSpc>
              <a:spcAft>
                <a:spcPts val="0"/>
              </a:spcAft>
            </a:pPr>
            <a:r>
              <a:rPr sz="729" i="0">
                <a:solidFill>
                  <a:srgbClr val="5C6773"/>
                </a:solidFill>
                <a:latin typeface="Inconsolata"/>
              </a:rPr>
              <a:t>21  </a:t>
            </a:r>
            <a:r>
              <a:rPr sz="729" i="0">
                <a:solidFill>
                  <a:srgbClr val="E6EDF3"/>
                </a:solidFill>
                <a:latin typeface="Inconsolata"/>
              </a:rPr>
              <a:t>db_queries = </a:t>
            </a:r>
            <a:r>
              <a:rPr sz="729" i="0">
                <a:solidFill>
                  <a:srgbClr val="F9C97A"/>
                </a:solidFill>
                <a:latin typeface="Inconsolata"/>
              </a:rPr>
              <a:t>0</a:t>
            </a:r>
          </a:p>
          <a:p>
            <a:pPr>
              <a:lnSpc>
                <a:spcPct val="102868"/>
              </a:lnSpc>
              <a:spcAft>
                <a:spcPts val="0"/>
              </a:spcAft>
            </a:pPr>
            <a:r>
              <a:rPr sz="729" i="0">
                <a:solidFill>
                  <a:srgbClr val="5C6773"/>
                </a:solidFill>
                <a:latin typeface="Inconsolata"/>
              </a:rPr>
              <a:t>22  </a:t>
            </a:r>
            <a:r>
              <a:rPr sz="729" i="0">
                <a:solidFill>
                  <a:srgbClr val="E6EDF3"/>
                </a:solidFill>
                <a:latin typeface="Inconsolata"/>
              </a:rPr>
              <a:t> </a:t>
            </a:r>
          </a:p>
          <a:p>
            <a:pPr>
              <a:lnSpc>
                <a:spcPct val="102868"/>
              </a:lnSpc>
              <a:spcAft>
                <a:spcPts val="0"/>
              </a:spcAft>
            </a:pPr>
            <a:r>
              <a:rPr sz="729" i="0">
                <a:solidFill>
                  <a:srgbClr val="5C6773"/>
                </a:solidFill>
                <a:latin typeface="Inconsolata"/>
              </a:rPr>
              <a:t>23  </a:t>
            </a:r>
            <a:r>
              <a:rPr sz="729" i="0">
                <a:solidFill>
                  <a:srgbClr val="E6EDF3"/>
                </a:solidFill>
                <a:latin typeface="Inconsolata"/>
              </a:rPr>
              <a:t> </a:t>
            </a:r>
          </a:p>
          <a:p>
            <a:pPr>
              <a:lnSpc>
                <a:spcPct val="102868"/>
              </a:lnSpc>
              <a:spcAft>
                <a:spcPts val="0"/>
              </a:spcAft>
            </a:pPr>
            <a:r>
              <a:rPr sz="729" i="0">
                <a:solidFill>
                  <a:srgbClr val="5C6773"/>
                </a:solidFill>
                <a:latin typeface="Inconsolata"/>
              </a:rPr>
              <a:t>24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query_product</a:t>
            </a:r>
            <a:r>
              <a:rPr sz="729" i="0">
                <a:solidFill>
                  <a:srgbClr val="E6EDF3"/>
                </a:solidFill>
                <a:latin typeface="Inconsolata"/>
              </a:rPr>
              <a:t>(product_id: </a:t>
            </a:r>
            <a:r>
              <a:rPr sz="729" i="0">
                <a:solidFill>
                  <a:srgbClr val="C3A6FF"/>
                </a:solidFill>
                <a:latin typeface="Inconsolata"/>
              </a:rPr>
              <a:t>int</a:t>
            </a:r>
            <a:r>
              <a:rPr sz="729" i="0">
                <a:solidFill>
                  <a:srgbClr val="E6EDF3"/>
                </a:solidFill>
                <a:latin typeface="Inconsolata"/>
              </a:rPr>
              <a:t>) -&gt; </a:t>
            </a:r>
            <a:r>
              <a:rPr sz="729" i="0">
                <a:solidFill>
                  <a:srgbClr val="C3A6FF"/>
                </a:solidFill>
                <a:latin typeface="Inconsolata"/>
              </a:rPr>
              <a:t>dict</a:t>
            </a:r>
            <a:r>
              <a:rPr sz="729" i="0">
                <a:solidFill>
                  <a:srgbClr val="E6EDF3"/>
                </a:solidFill>
                <a:latin typeface="Inconsolata"/>
              </a:rPr>
              <a:t>:</a:t>
            </a:r>
          </a:p>
          <a:p>
            <a:pPr>
              <a:lnSpc>
                <a:spcPct val="102868"/>
              </a:lnSpc>
              <a:spcAft>
                <a:spcPts val="0"/>
              </a:spcAft>
            </a:pPr>
            <a:r>
              <a:rPr sz="729" i="0">
                <a:solidFill>
                  <a:srgbClr val="5C6773"/>
                </a:solidFill>
                <a:latin typeface="Inconsolata"/>
              </a:rPr>
              <a:t>25  </a:t>
            </a:r>
            <a:r>
              <a:rPr sz="729" i="0">
                <a:solidFill>
                  <a:srgbClr val="E6EDF3"/>
                </a:solidFill>
                <a:latin typeface="Inconsolata"/>
              </a:rPr>
              <a:t>    </a:t>
            </a:r>
            <a:r>
              <a:rPr sz="729" i="0">
                <a:solidFill>
                  <a:srgbClr val="FF8E6E"/>
                </a:solidFill>
                <a:latin typeface="Inconsolata"/>
              </a:rPr>
              <a:t>global</a:t>
            </a:r>
            <a:r>
              <a:rPr sz="729" i="0">
                <a:solidFill>
                  <a:srgbClr val="E6EDF3"/>
                </a:solidFill>
                <a:latin typeface="Inconsolata"/>
              </a:rPr>
              <a:t> db_queries</a:t>
            </a:r>
          </a:p>
          <a:p>
            <a:pPr>
              <a:lnSpc>
                <a:spcPct val="102868"/>
              </a:lnSpc>
              <a:spcAft>
                <a:spcPts val="0"/>
              </a:spcAft>
            </a:pPr>
            <a:r>
              <a:rPr sz="729" i="0">
                <a:solidFill>
                  <a:srgbClr val="5C6773"/>
                </a:solidFill>
                <a:latin typeface="Inconsolata"/>
              </a:rPr>
              <a:t>26  </a:t>
            </a:r>
            <a:r>
              <a:rPr sz="729" i="0">
                <a:solidFill>
                  <a:srgbClr val="E6EDF3"/>
                </a:solidFill>
                <a:latin typeface="Inconsolata"/>
              </a:rPr>
              <a:t>    db_queries += </a:t>
            </a:r>
            <a:r>
              <a:rPr sz="729" i="0">
                <a:solidFill>
                  <a:srgbClr val="F9C97A"/>
                </a:solidFill>
                <a:latin typeface="Inconsolata"/>
              </a:rPr>
              <a:t>1</a:t>
            </a:r>
          </a:p>
          <a:p>
            <a:pPr>
              <a:lnSpc>
                <a:spcPct val="102868"/>
              </a:lnSpc>
              <a:spcAft>
                <a:spcPts val="0"/>
              </a:spcAft>
            </a:pPr>
            <a:r>
              <a:rPr sz="729" i="0">
                <a:solidFill>
                  <a:srgbClr val="5C6773"/>
                </a:solidFill>
                <a:latin typeface="Inconsolata"/>
              </a:rPr>
              <a:t>27  </a:t>
            </a:r>
            <a:r>
              <a:rPr sz="729" i="0">
                <a:solidFill>
                  <a:srgbClr val="E6EDF3"/>
                </a:solidFill>
                <a:latin typeface="Inconsolata"/>
              </a:rPr>
              <a:t>    time.sleep(</a:t>
            </a:r>
            <a:r>
              <a:rPr sz="729" i="0">
                <a:solidFill>
                  <a:srgbClr val="F9C97A"/>
                </a:solidFill>
                <a:latin typeface="Inconsolata"/>
              </a:rPr>
              <a:t>0</a:t>
            </a:r>
            <a:r>
              <a:rPr sz="729" i="0">
                <a:solidFill>
                  <a:srgbClr val="E6EDF3"/>
                </a:solidFill>
                <a:latin typeface="Inconsolata"/>
              </a:rPr>
              <a:t>.</a:t>
            </a:r>
            <a:r>
              <a:rPr sz="729" i="0">
                <a:solidFill>
                  <a:srgbClr val="F9C97A"/>
                </a:solidFill>
                <a:latin typeface="Inconsolata"/>
              </a:rPr>
              <a:t>5</a:t>
            </a:r>
            <a:r>
              <a:rPr sz="729" i="0">
                <a:solidFill>
                  <a:srgbClr val="E6EDF3"/>
                </a:solidFill>
                <a:latin typeface="Inconsolata"/>
              </a:rPr>
              <a:t>)</a:t>
            </a:r>
          </a:p>
          <a:p>
            <a:pPr>
              <a:lnSpc>
                <a:spcPct val="102868"/>
              </a:lnSpc>
              <a:spcAft>
                <a:spcPts val="0"/>
              </a:spcAft>
            </a:pPr>
            <a:r>
              <a:rPr sz="729" i="0">
                <a:solidFill>
                  <a:srgbClr val="5C6773"/>
                </a:solidFill>
                <a:latin typeface="Inconsolata"/>
              </a:rPr>
              <a:t>28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a:t>
            </a:r>
            <a:r>
              <a:rPr sz="729" i="0">
                <a:solidFill>
                  <a:srgbClr val="C3A6FF"/>
                </a:solidFill>
                <a:latin typeface="Inconsolata"/>
              </a:rPr>
              <a:t>dict</a:t>
            </a:r>
            <a:r>
              <a:rPr sz="729" i="0">
                <a:solidFill>
                  <a:srgbClr val="E6EDF3"/>
                </a:solidFill>
                <a:latin typeface="Inconsolata"/>
              </a:rPr>
              <a:t>(</a:t>
            </a:r>
            <a:r>
              <a:rPr sz="729" i="0">
                <a:solidFill>
                  <a:srgbClr val="7FDBCA"/>
                </a:solidFill>
                <a:latin typeface="Inconsolata"/>
              </a:rPr>
              <a:t>PRODUCTS</a:t>
            </a:r>
            <a:r>
              <a:rPr sz="729" i="0">
                <a:solidFill>
                  <a:srgbClr val="E6EDF3"/>
                </a:solidFill>
                <a:latin typeface="Inconsolata"/>
              </a:rPr>
              <a:t>[product_id])</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01-cache-aside/after.py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31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get_product</a:t>
            </a:r>
            <a:r>
              <a:rPr sz="729" i="0">
                <a:solidFill>
                  <a:srgbClr val="E6EDF3"/>
                </a:solidFill>
                <a:latin typeface="Inconsolata"/>
              </a:rPr>
              <a:t>(product_id: </a:t>
            </a:r>
            <a:r>
              <a:rPr sz="729" i="0">
                <a:solidFill>
                  <a:srgbClr val="C3A6FF"/>
                </a:solidFill>
                <a:latin typeface="Inconsolata"/>
              </a:rPr>
              <a:t>int</a:t>
            </a:r>
            <a:r>
              <a:rPr sz="729" i="0">
                <a:solidFill>
                  <a:srgbClr val="E6EDF3"/>
                </a:solidFill>
                <a:latin typeface="Inconsolata"/>
              </a:rPr>
              <a:t>) -&gt; </a:t>
            </a:r>
            <a:r>
              <a:rPr sz="729" i="0">
                <a:solidFill>
                  <a:srgbClr val="C3A6FF"/>
                </a:solidFill>
                <a:latin typeface="Inconsolata"/>
              </a:rPr>
              <a:t>dict</a:t>
            </a:r>
            <a:r>
              <a:rPr sz="729" i="0">
                <a:solidFill>
                  <a:srgbClr val="E6EDF3"/>
                </a:solidFill>
                <a:latin typeface="Inconsolata"/>
              </a:rPr>
              <a:t>:</a:t>
            </a:r>
          </a:p>
          <a:p>
            <a:pPr>
              <a:lnSpc>
                <a:spcPct val="102868"/>
              </a:lnSpc>
              <a:spcAft>
                <a:spcPts val="0"/>
              </a:spcAft>
            </a:pPr>
            <a:r>
              <a:rPr sz="729" i="0">
                <a:solidFill>
                  <a:srgbClr val="5C6773"/>
                </a:solidFill>
                <a:latin typeface="Inconsolata"/>
              </a:rPr>
              <a:t>32  </a:t>
            </a:r>
            <a:r>
              <a:rPr sz="729" i="0">
                <a:solidFill>
                  <a:srgbClr val="E6EDF3"/>
                </a:solidFill>
                <a:latin typeface="Inconsolata"/>
              </a:rPr>
              <a:t>    key = </a:t>
            </a:r>
            <a:r>
              <a:rPr sz="729" i="0">
                <a:solidFill>
                  <a:srgbClr val="A5D6A7"/>
                </a:solidFill>
                <a:latin typeface="Inconsolata"/>
              </a:rPr>
              <a:t>f"product:{product_id}"</a:t>
            </a:r>
          </a:p>
          <a:p>
            <a:pPr>
              <a:lnSpc>
                <a:spcPct val="102868"/>
              </a:lnSpc>
              <a:spcAft>
                <a:spcPts val="0"/>
              </a:spcAft>
            </a:pPr>
            <a:r>
              <a:rPr sz="729" i="0">
                <a:solidFill>
                  <a:srgbClr val="5C6773"/>
                </a:solidFill>
                <a:latin typeface="Inconsolata"/>
              </a:rPr>
              <a:t>33  </a:t>
            </a:r>
            <a:r>
              <a:rPr sz="729" i="0">
                <a:solidFill>
                  <a:srgbClr val="E6EDF3"/>
                </a:solidFill>
                <a:latin typeface="Inconsolata"/>
              </a:rPr>
              <a:t>    cached = cache.get(key)</a:t>
            </a:r>
          </a:p>
          <a:p>
            <a:pPr>
              <a:lnSpc>
                <a:spcPct val="102868"/>
              </a:lnSpc>
              <a:spcAft>
                <a:spcPts val="0"/>
              </a:spcAft>
            </a:pPr>
            <a:r>
              <a:rPr sz="729" i="0">
                <a:solidFill>
                  <a:srgbClr val="5C6773"/>
                </a:solidFill>
                <a:latin typeface="Inconsolata"/>
              </a:rPr>
              <a:t>34  </a:t>
            </a:r>
            <a:r>
              <a:rPr sz="729" i="0">
                <a:solidFill>
                  <a:srgbClr val="E6EDF3"/>
                </a:solidFill>
                <a:latin typeface="Inconsolata"/>
              </a:rPr>
              <a:t>    </a:t>
            </a:r>
            <a:r>
              <a:rPr sz="729" i="0">
                <a:solidFill>
                  <a:srgbClr val="FF8E6E"/>
                </a:solidFill>
                <a:latin typeface="Inconsolata"/>
              </a:rPr>
              <a:t>if</a:t>
            </a:r>
            <a:r>
              <a:rPr sz="729" i="0">
                <a:solidFill>
                  <a:srgbClr val="E6EDF3"/>
                </a:solidFill>
                <a:latin typeface="Inconsolata"/>
              </a:rPr>
              <a:t> cached </a:t>
            </a:r>
            <a:r>
              <a:rPr sz="729" i="0">
                <a:solidFill>
                  <a:srgbClr val="FF8E6E"/>
                </a:solidFill>
                <a:latin typeface="Inconsolata"/>
              </a:rPr>
              <a:t>is</a:t>
            </a:r>
            <a:r>
              <a:rPr sz="729" i="0">
                <a:solidFill>
                  <a:srgbClr val="E6EDF3"/>
                </a:solidFill>
                <a:latin typeface="Inconsolata"/>
              </a:rPr>
              <a:t> </a:t>
            </a:r>
            <a:r>
              <a:rPr sz="729" i="0">
                <a:solidFill>
                  <a:srgbClr val="FF8E6E"/>
                </a:solidFill>
                <a:latin typeface="Inconsolata"/>
              </a:rPr>
              <a:t>not</a:t>
            </a:r>
            <a:r>
              <a:rPr sz="729" i="0">
                <a:solidFill>
                  <a:srgbClr val="E6EDF3"/>
                </a:solidFill>
                <a:latin typeface="Inconsolata"/>
              </a:rPr>
              <a:t> </a:t>
            </a:r>
            <a:r>
              <a:rPr sz="729" i="0">
                <a:solidFill>
                  <a:srgbClr val="FF8E6E"/>
                </a:solidFill>
                <a:latin typeface="Inconsolata"/>
              </a:rPr>
              <a:t>None</a:t>
            </a:r>
            <a:r>
              <a:rPr sz="729" i="0">
                <a:solidFill>
                  <a:srgbClr val="E6EDF3"/>
                </a:solidFill>
                <a:latin typeface="Inconsolata"/>
              </a:rPr>
              <a:t>:                  </a:t>
            </a:r>
            <a:r>
              <a:rPr sz="729" i="1">
                <a:solidFill>
                  <a:srgbClr val="8B98A8"/>
                </a:solidFill>
                <a:latin typeface="Inconsolata"/>
              </a:rPr>
              <a:t># cache hit</a:t>
            </a:r>
          </a:p>
          <a:p>
            <a:pPr>
              <a:lnSpc>
                <a:spcPct val="102868"/>
              </a:lnSpc>
              <a:spcAft>
                <a:spcPts val="0"/>
              </a:spcAft>
            </a:pPr>
            <a:r>
              <a:rPr sz="729" i="0">
                <a:solidFill>
                  <a:srgbClr val="5C6773"/>
                </a:solidFill>
                <a:latin typeface="Inconsolata"/>
              </a:rPr>
              <a:t>35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json.loads(cached)</a:t>
            </a:r>
          </a:p>
          <a:p>
            <a:pPr>
              <a:lnSpc>
                <a:spcPct val="102868"/>
              </a:lnSpc>
              <a:spcAft>
                <a:spcPts val="0"/>
              </a:spcAft>
            </a:pPr>
            <a:r>
              <a:rPr sz="729" i="0">
                <a:solidFill>
                  <a:srgbClr val="5C6773"/>
                </a:solidFill>
                <a:latin typeface="Inconsolata"/>
              </a:rPr>
              <a:t>36  </a:t>
            </a:r>
            <a:r>
              <a:rPr sz="729" i="0">
                <a:solidFill>
                  <a:srgbClr val="E6EDF3"/>
                </a:solidFill>
                <a:latin typeface="Inconsolata"/>
              </a:rPr>
              <a:t> </a:t>
            </a:r>
          </a:p>
          <a:p>
            <a:pPr>
              <a:lnSpc>
                <a:spcPct val="102868"/>
              </a:lnSpc>
              <a:spcAft>
                <a:spcPts val="0"/>
              </a:spcAft>
            </a:pPr>
            <a:r>
              <a:rPr sz="729" i="0">
                <a:solidFill>
                  <a:srgbClr val="5C6773"/>
                </a:solidFill>
                <a:latin typeface="Inconsolata"/>
              </a:rPr>
              <a:t>37  </a:t>
            </a:r>
            <a:r>
              <a:rPr sz="729" i="0">
                <a:solidFill>
                  <a:srgbClr val="E6EDF3"/>
                </a:solidFill>
                <a:latin typeface="Inconsolata"/>
              </a:rPr>
              <a:t>    product = query_product(product_id)     </a:t>
            </a:r>
            <a:r>
              <a:rPr sz="729" i="1">
                <a:solidFill>
                  <a:srgbClr val="8B98A8"/>
                </a:solidFill>
                <a:latin typeface="Inconsolata"/>
              </a:rPr>
              <a:t># cache miss</a:t>
            </a:r>
          </a:p>
          <a:p>
            <a:pPr>
              <a:lnSpc>
                <a:spcPct val="102868"/>
              </a:lnSpc>
              <a:spcAft>
                <a:spcPts val="0"/>
              </a:spcAft>
            </a:pPr>
            <a:r>
              <a:rPr sz="729" i="0">
                <a:solidFill>
                  <a:srgbClr val="5C6773"/>
                </a:solidFill>
                <a:latin typeface="Inconsolata"/>
              </a:rPr>
              <a:t>38  </a:t>
            </a:r>
            <a:r>
              <a:rPr sz="729" i="0">
                <a:solidFill>
                  <a:srgbClr val="E6EDF3"/>
                </a:solidFill>
                <a:latin typeface="Inconsolata"/>
              </a:rPr>
              <a:t>    cache.</a:t>
            </a:r>
            <a:r>
              <a:rPr sz="729" i="0">
                <a:solidFill>
                  <a:srgbClr val="C3A6FF"/>
                </a:solidFill>
                <a:latin typeface="Inconsolata"/>
              </a:rPr>
              <a:t>set</a:t>
            </a:r>
            <a:r>
              <a:rPr sz="729" i="0">
                <a:solidFill>
                  <a:srgbClr val="E6EDF3"/>
                </a:solidFill>
                <a:latin typeface="Inconsolata"/>
              </a:rPr>
              <a:t>(key, json.dumps(product), ex=</a:t>
            </a:r>
            <a:r>
              <a:rPr sz="729" i="0">
                <a:solidFill>
                  <a:srgbClr val="F9C97A"/>
                </a:solidFill>
                <a:latin typeface="Inconsolata"/>
              </a:rPr>
              <a:t>60</a:t>
            </a:r>
            <a:r>
              <a:rPr sz="729" i="0">
                <a:solidFill>
                  <a:srgbClr val="E6EDF3"/>
                </a:solidFill>
                <a:latin typeface="Inconsolata"/>
              </a:rPr>
              <a:t>)    </a:t>
            </a:r>
            <a:r>
              <a:rPr sz="729" i="1">
                <a:solidFill>
                  <a:srgbClr val="8B98A8"/>
                </a:solidFill>
                <a:latin typeface="Inconsolata"/>
              </a:rPr>
              <a:t># TTL 60 detik</a:t>
            </a:r>
          </a:p>
          <a:p>
            <a:pPr>
              <a:lnSpc>
                <a:spcPct val="102868"/>
              </a:lnSpc>
              <a:spcAft>
                <a:spcPts val="0"/>
              </a:spcAft>
            </a:pPr>
            <a:r>
              <a:rPr sz="729" i="0">
                <a:solidFill>
                  <a:srgbClr val="5C6773"/>
                </a:solidFill>
                <a:latin typeface="Inconsolata"/>
              </a:rPr>
              <a:t>39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product</a:t>
            </a:r>
          </a:p>
          <a:p>
            <a:pPr>
              <a:lnSpc>
                <a:spcPct val="102868"/>
              </a:lnSpc>
              <a:spcAft>
                <a:spcPts val="0"/>
              </a:spcAft>
            </a:pPr>
            <a:r>
              <a:rPr sz="729" i="0">
                <a:solidFill>
                  <a:srgbClr val="5C6773"/>
                </a:solidFill>
                <a:latin typeface="Inconsolata"/>
              </a:rPr>
              <a:t>40  </a:t>
            </a:r>
            <a:r>
              <a:rPr sz="729" i="0">
                <a:solidFill>
                  <a:srgbClr val="E6EDF3"/>
                </a:solidFill>
                <a:latin typeface="Inconsolata"/>
              </a:rPr>
              <a:t> </a:t>
            </a:r>
          </a:p>
          <a:p>
            <a:pPr>
              <a:lnSpc>
                <a:spcPct val="102868"/>
              </a:lnSpc>
              <a:spcAft>
                <a:spcPts val="0"/>
              </a:spcAft>
            </a:pPr>
            <a:r>
              <a:rPr sz="729" i="0">
                <a:solidFill>
                  <a:srgbClr val="5C6773"/>
                </a:solidFill>
                <a:latin typeface="Inconsolata"/>
              </a:rPr>
              <a:t>41  </a:t>
            </a:r>
            <a:r>
              <a:rPr sz="729" i="0">
                <a:solidFill>
                  <a:srgbClr val="E6EDF3"/>
                </a:solidFill>
                <a:latin typeface="Inconsolata"/>
              </a:rPr>
              <a:t> </a:t>
            </a:r>
          </a:p>
          <a:p>
            <a:pPr>
              <a:lnSpc>
                <a:spcPct val="102868"/>
              </a:lnSpc>
              <a:spcAft>
                <a:spcPts val="0"/>
              </a:spcAft>
            </a:pPr>
            <a:r>
              <a:rPr sz="729" i="0">
                <a:solidFill>
                  <a:srgbClr val="5C6773"/>
                </a:solidFill>
                <a:latin typeface="Inconsolata"/>
              </a:rPr>
              <a:t>42  </a:t>
            </a:r>
            <a:r>
              <a:rPr sz="729" i="0">
                <a:solidFill>
                  <a:srgbClr val="FF8E6E"/>
                </a:solidFill>
                <a:latin typeface="Inconsolata"/>
              </a:rPr>
              <a:t>if</a:t>
            </a:r>
            <a:r>
              <a:rPr sz="729" i="0">
                <a:solidFill>
                  <a:srgbClr val="E6EDF3"/>
                </a:solidFill>
                <a:latin typeface="Inconsolata"/>
              </a:rPr>
              <a:t> __name__ == </a:t>
            </a:r>
            <a:r>
              <a:rPr sz="729" i="0">
                <a:solidFill>
                  <a:srgbClr val="A5D6A7"/>
                </a:solidFill>
                <a:latin typeface="Inconsolata"/>
              </a:rPr>
              <a:t>"__main__"</a:t>
            </a:r>
            <a:r>
              <a:rPr sz="729" i="0">
                <a:solidFill>
                  <a:srgbClr val="E6EDF3"/>
                </a:solidFill>
                <a:latin typeface="Inconsolata"/>
              </a:rPr>
              <a:t>:</a:t>
            </a:r>
          </a:p>
          <a:p>
            <a:pPr>
              <a:lnSpc>
                <a:spcPct val="102868"/>
              </a:lnSpc>
              <a:spcAft>
                <a:spcPts val="0"/>
              </a:spcAft>
            </a:pPr>
            <a:r>
              <a:rPr sz="729" i="0">
                <a:solidFill>
                  <a:srgbClr val="5C6773"/>
                </a:solidFill>
                <a:latin typeface="Inconsolata"/>
              </a:rPr>
              <a:t>43  </a:t>
            </a:r>
            <a:r>
              <a:rPr sz="729" i="0">
                <a:solidFill>
                  <a:srgbClr val="E6EDF3"/>
                </a:solidFill>
                <a:latin typeface="Inconsolata"/>
              </a:rPr>
              <a:t>    cache.delete(</a:t>
            </a:r>
            <a:r>
              <a:rPr sz="729" i="0">
                <a:solidFill>
                  <a:srgbClr val="A5D6A7"/>
                </a:solidFill>
                <a:latin typeface="Inconsolata"/>
              </a:rPr>
              <a:t>"product:1"</a:t>
            </a:r>
            <a:r>
              <a:rPr sz="729" i="0">
                <a:solidFill>
                  <a:srgbClr val="E6EDF3"/>
                </a:solidFill>
                <a:latin typeface="Inconsolata"/>
              </a:rPr>
              <a:t>)               </a:t>
            </a:r>
            <a:r>
              <a:rPr sz="729" i="1">
                <a:solidFill>
                  <a:srgbClr val="8B98A8"/>
                </a:solidFill>
                <a:latin typeface="Inconsolata"/>
              </a:rPr>
              <a:t># mulai dari cache kosong</a:t>
            </a:r>
          </a:p>
          <a:p>
            <a:pPr>
              <a:lnSpc>
                <a:spcPct val="102868"/>
              </a:lnSpc>
              <a:spcAft>
                <a:spcPts val="0"/>
              </a:spcAft>
            </a:pPr>
            <a:r>
              <a:rPr sz="729" i="0">
                <a:solidFill>
                  <a:srgbClr val="5C6773"/>
                </a:solidFill>
                <a:latin typeface="Inconsolata"/>
              </a:rPr>
              <a:t>44  </a:t>
            </a:r>
            <a:r>
              <a:rPr sz="729" i="0">
                <a:solidFill>
                  <a:srgbClr val="E6EDF3"/>
                </a:solidFill>
                <a:latin typeface="Inconsolata"/>
              </a:rPr>
              <a:t>    start = time.perf_counter()</a:t>
            </a:r>
          </a:p>
          <a:p>
            <a:pPr>
              <a:lnSpc>
                <a:spcPct val="102868"/>
              </a:lnSpc>
              <a:spcAft>
                <a:spcPts val="0"/>
              </a:spcAft>
            </a:pPr>
            <a:r>
              <a:rPr sz="729" i="0">
                <a:solidFill>
                  <a:srgbClr val="5C6773"/>
                </a:solidFill>
                <a:latin typeface="Inconsolata"/>
              </a:rPr>
              <a:t>45  </a:t>
            </a:r>
            <a:r>
              <a:rPr sz="729" i="0">
                <a:solidFill>
                  <a:srgbClr val="E6EDF3"/>
                </a:solidFill>
                <a:latin typeface="Inconsolata"/>
              </a:rPr>
              <a:t>    </a:t>
            </a:r>
            <a:r>
              <a:rPr sz="729" i="0">
                <a:solidFill>
                  <a:srgbClr val="FF8E6E"/>
                </a:solidFill>
                <a:latin typeface="Inconsolata"/>
              </a:rPr>
              <a:t>for</a:t>
            </a:r>
            <a:r>
              <a:rPr sz="729" i="0">
                <a:solidFill>
                  <a:srgbClr val="E6EDF3"/>
                </a:solidFill>
                <a:latin typeface="Inconsolata"/>
              </a:rPr>
              <a:t> _ </a:t>
            </a:r>
            <a:r>
              <a:rPr sz="729" i="0">
                <a:solidFill>
                  <a:srgbClr val="FF8E6E"/>
                </a:solidFill>
                <a:latin typeface="Inconsolata"/>
              </a:rPr>
              <a:t>in</a:t>
            </a:r>
            <a:r>
              <a:rPr sz="729" i="0">
                <a:solidFill>
                  <a:srgbClr val="E6EDF3"/>
                </a:solidFill>
                <a:latin typeface="Inconsolata"/>
              </a:rPr>
              <a:t> </a:t>
            </a:r>
            <a:r>
              <a:rPr sz="729" i="0">
                <a:solidFill>
                  <a:srgbClr val="C3A6FF"/>
                </a:solidFill>
                <a:latin typeface="Inconsolata"/>
              </a:rPr>
              <a:t>range</a:t>
            </a:r>
            <a:r>
              <a:rPr sz="729" i="0">
                <a:solidFill>
                  <a:srgbClr val="E6EDF3"/>
                </a:solidFill>
                <a:latin typeface="Inconsolata"/>
              </a:rPr>
              <a:t>(</a:t>
            </a:r>
            <a:r>
              <a:rPr sz="729" i="0">
                <a:solidFill>
                  <a:srgbClr val="F9C97A"/>
                </a:solidFill>
                <a:latin typeface="Inconsolata"/>
              </a:rPr>
              <a:t>5</a:t>
            </a:r>
            <a:r>
              <a:rPr sz="729" i="0">
                <a:solidFill>
                  <a:srgbClr val="E6EDF3"/>
                </a:solidFill>
                <a:latin typeface="Inconsolata"/>
              </a:rPr>
              <a:t>):</a:t>
            </a:r>
          </a:p>
          <a:p>
            <a:pPr>
              <a:lnSpc>
                <a:spcPct val="102868"/>
              </a:lnSpc>
              <a:spcAft>
                <a:spcPts val="0"/>
              </a:spcAft>
            </a:pPr>
            <a:r>
              <a:rPr sz="729" i="0">
                <a:solidFill>
                  <a:srgbClr val="5C6773"/>
                </a:solidFill>
                <a:latin typeface="Inconsolata"/>
              </a:rPr>
              <a:t>46  </a:t>
            </a:r>
            <a:r>
              <a:rPr sz="729" i="0">
                <a:solidFill>
                  <a:srgbClr val="E6EDF3"/>
                </a:solidFill>
                <a:latin typeface="Inconsolata"/>
              </a:rPr>
              <a:t>        get_product(</a:t>
            </a:r>
            <a:r>
              <a:rPr sz="729" i="0">
                <a:solidFill>
                  <a:srgbClr val="F9C97A"/>
                </a:solidFill>
                <a:latin typeface="Inconsolata"/>
              </a:rPr>
              <a:t>1</a:t>
            </a:r>
            <a:r>
              <a:rPr sz="729" i="0">
                <a:solidFill>
                  <a:srgbClr val="E6EDF3"/>
                </a:solidFill>
                <a:latin typeface="Inconsolata"/>
              </a:rPr>
              <a:t>)</a:t>
            </a:r>
          </a:p>
          <a:p>
            <a:pPr>
              <a:lnSpc>
                <a:spcPct val="102868"/>
              </a:lnSpc>
              <a:spcAft>
                <a:spcPts val="0"/>
              </a:spcAft>
            </a:pPr>
            <a:r>
              <a:rPr sz="729" i="0">
                <a:solidFill>
                  <a:srgbClr val="5C6773"/>
                </a:solidFill>
                <a:latin typeface="Inconsolata"/>
              </a:rPr>
              <a:t>47  </a:t>
            </a:r>
            <a:r>
              <a:rPr sz="729" i="0">
                <a:solidFill>
                  <a:srgbClr val="E6EDF3"/>
                </a:solidFill>
                <a:latin typeface="Inconsolata"/>
              </a:rPr>
              <a:t>    took = time.perf_counter() - start</a:t>
            </a:r>
          </a:p>
          <a:p>
            <a:pPr>
              <a:lnSpc>
                <a:spcPct val="102868"/>
              </a:lnSpc>
              <a:spcAft>
                <a:spcPts val="0"/>
              </a:spcAft>
            </a:pPr>
            <a:r>
              <a:rPr sz="729" i="0">
                <a:solidFill>
                  <a:srgbClr val="5C6773"/>
                </a:solidFill>
                <a:latin typeface="Inconsolata"/>
              </a:rPr>
              <a:t>48  </a:t>
            </a:r>
            <a:r>
              <a:rPr sz="729" i="0">
                <a:solidFill>
                  <a:srgbClr val="E6EDF3"/>
                </a:solidFill>
                <a:latin typeface="Inconsolata"/>
              </a:rPr>
              <a:t>    </a:t>
            </a:r>
            <a:r>
              <a:rPr sz="729" i="0">
                <a:solidFill>
                  <a:srgbClr val="C3A6FF"/>
                </a:solidFill>
                <a:latin typeface="Inconsolata"/>
              </a:rPr>
              <a:t>print</a:t>
            </a:r>
            <a:r>
              <a:rPr sz="729" i="0">
                <a:solidFill>
                  <a:srgbClr val="E6EDF3"/>
                </a:solidFill>
                <a:latin typeface="Inconsolata"/>
              </a:rPr>
              <a:t>(</a:t>
            </a:r>
            <a:r>
              <a:rPr sz="729" i="0">
                <a:solidFill>
                  <a:srgbClr val="A5D6A7"/>
                </a:solidFill>
                <a:latin typeface="Inconsolata"/>
              </a:rPr>
              <a:t>f"5 request: {took:.1f} detik, "</a:t>
            </a:r>
          </a:p>
          <a:p>
            <a:pPr>
              <a:lnSpc>
                <a:spcPct val="102868"/>
              </a:lnSpc>
              <a:spcAft>
                <a:spcPts val="0"/>
              </a:spcAft>
            </a:pPr>
            <a:r>
              <a:rPr sz="729" i="0">
                <a:solidFill>
                  <a:srgbClr val="5C6773"/>
                </a:solidFill>
                <a:latin typeface="Inconsolata"/>
              </a:rPr>
              <a:t>49  </a:t>
            </a:r>
            <a:r>
              <a:rPr sz="729" i="0">
                <a:solidFill>
                  <a:srgbClr val="E6EDF3"/>
                </a:solidFill>
                <a:latin typeface="Inconsolata"/>
              </a:rPr>
              <a:t>          </a:t>
            </a:r>
            <a:r>
              <a:rPr sz="729" i="0">
                <a:solidFill>
                  <a:srgbClr val="A5D6A7"/>
                </a:solidFill>
                <a:latin typeface="Inconsolata"/>
              </a:rPr>
              <a:t>f"query ke database: {db_queries}"</a:t>
            </a:r>
            <a:r>
              <a:rPr sz="729" i="0">
                <a:solidFill>
                  <a:srgbClr val="E6EDF3"/>
                </a:solidFill>
                <a:latin typeface="Inconsolata"/>
              </a:rPr>
              <a:t>)    </a:t>
            </a:r>
            <a:r>
              <a:rPr sz="729" i="1">
                <a:solidFill>
                  <a:srgbClr val="8B98A8"/>
                </a:solidFill>
                <a:latin typeface="Inconsolata"/>
              </a:rPr>
              <a:t># 0.5 detik, 1</a:t>
            </a:r>
          </a:p>
        </p:txBody>
      </p:sp>
      <p:sp>
        <p:nvSpPr>
          <p:cNvPr id="36" name="Box 21"/>
          <p:cNvSpPr/>
          <p:nvPr/>
        </p:nvSpPr>
        <p:spPr>
          <a:xfrm>
            <a:off x="704088" y="25111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5031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53971"/>
            <a:ext cx="3694176"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103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5111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5031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Cache-Aside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01-cache-aside/after.py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621792"/>
          </a:xfrm>
          <a:prstGeom prst="roundRect">
            <a:avLst>
              <a:gd name="adj" fmla="val 294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62179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sesi-06-redis-caching-rate-limiting/01-cache-aside</a:t>
            </a:r>
          </a:p>
          <a:p>
            <a:pPr>
              <a:lnSpc>
                <a:spcPct val="107843"/>
              </a:lnSpc>
              <a:spcAft>
                <a:spcPts val="0"/>
              </a:spcAft>
            </a:pPr>
            <a:r>
              <a:rPr sz="850" i="0">
                <a:solidFill>
                  <a:srgbClr val="82B1FF"/>
                </a:solidFill>
                <a:latin typeface="Inconsolata"/>
              </a:rPr>
              <a:t>$ docker compose -f ../docker-compose.yml up -d</a:t>
            </a:r>
          </a:p>
          <a:p>
            <a:pPr>
              <a:lnSpc>
                <a:spcPct val="107843"/>
              </a:lnSpc>
              <a:spcAft>
                <a:spcPts val="0"/>
              </a:spcAft>
            </a:pPr>
            <a:r>
              <a:rPr sz="850" i="0">
                <a:solidFill>
                  <a:srgbClr val="82B1FF"/>
                </a:solidFill>
                <a:latin typeface="Inconsolata"/>
              </a:rPr>
              <a:t>$ python after.py</a:t>
            </a:r>
          </a:p>
        </p:txBody>
      </p:sp>
      <p:pic>
        <p:nvPicPr>
          <p:cNvPr id="29" name="Image 12" descr="s06-01-cache-aside-after.png"/>
          <p:cNvPicPr>
            <a:picLocks noChangeAspect="1"/>
          </p:cNvPicPr>
          <p:nvPr/>
        </p:nvPicPr>
        <p:blipFill>
          <a:blip r:embed="rId2"/>
          <a:stretch>
            <a:fillRect/>
          </a:stretch>
        </p:blipFill>
        <p:spPr>
          <a:xfrm>
            <a:off x="621792" y="2459736"/>
            <a:ext cx="4297680" cy="75976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Koneksi ke Redis (baris 17-18)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Cache hit: langsung dikembalikan, database tidak disentuh (baris 33-35)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Cache miss: query database, lalu simpan ke Redis dengan TTL (baris 37-38)</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5 request butuh 0.5 detik dan hanya 1 query.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TTL &amp; Invalidation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TTL dan Invalidation?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TTL adalah</a:t>
            </a:r>
          </a:p>
          <a:p>
            <a:pPr algn="l">
              <a:lnSpc>
                <a:spcPct val="115000"/>
              </a:lnSpc>
              <a:spcAft>
                <a:spcPts val="400"/>
              </a:spcAft>
            </a:pPr>
            <a:r>
              <a:rPr sz="850" b="1" i="0">
                <a:solidFill>
                  <a:srgbClr val="434343"/>
                </a:solidFill>
                <a:latin typeface="Inter"/>
              </a:rPr>
              <a:t>Time to live</a:t>
            </a:r>
            <a:r>
              <a:rPr sz="850" b="0" i="0">
                <a:solidFill>
                  <a:srgbClr val="434343"/>
                </a:solidFill>
                <a:latin typeface="Inter"/>
              </a:rPr>
              <a:t>, yaitu umur sebuah data di cache. Setelah TTL habis, Redis menghapus data itu otomatis, sehingga request berikutnya mengambil data terbaru dari database.</a:t>
            </a:r>
          </a:p>
          <a:p>
            <a:pPr algn="l">
              <a:lnSpc>
                <a:spcPct val="115000"/>
              </a:lnSpc>
              <a:spcAft>
                <a:spcPts val="400"/>
              </a:spcAft>
            </a:pPr>
            <a:r>
              <a:rPr sz="950" b="1" i="0">
                <a:solidFill>
                  <a:srgbClr val="1C4587"/>
                </a:solidFill>
                <a:latin typeface="Inter"/>
              </a:rPr>
              <a:t>Invalidation adalah</a:t>
            </a:r>
          </a:p>
          <a:p>
            <a:pPr algn="l">
              <a:lnSpc>
                <a:spcPct val="115000"/>
              </a:lnSpc>
              <a:spcAft>
                <a:spcPts val="400"/>
              </a:spcAft>
            </a:pPr>
            <a:r>
              <a:rPr sz="850" b="0" i="0">
                <a:solidFill>
                  <a:srgbClr val="434343"/>
                </a:solidFill>
                <a:latin typeface="Inter"/>
              </a:rPr>
              <a:t>Menghapus data di cache </a:t>
            </a:r>
            <a:r>
              <a:rPr sz="850" b="1" i="0">
                <a:solidFill>
                  <a:srgbClr val="434343"/>
                </a:solidFill>
                <a:latin typeface="Inter"/>
              </a:rPr>
              <a:t>saat data aslinya berubah</a:t>
            </a:r>
            <a:r>
              <a:rPr sz="850" b="0" i="0">
                <a:solidFill>
                  <a:srgbClr val="434343"/>
                </a:solidFill>
                <a:latin typeface="Inter"/>
              </a:rPr>
              <a:t>, misalnya harga produk diubah. Request berikutnya mengisi ulang cache dari database.</a:t>
            </a:r>
          </a:p>
          <a:p>
            <a:pPr algn="l">
              <a:lnSpc>
                <a:spcPct val="115000"/>
              </a:lnSpc>
              <a:spcAft>
                <a:spcPts val="400"/>
              </a:spcAft>
            </a:pPr>
            <a:r>
              <a:rPr sz="9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Mencegah client menerima data basi (stale)</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Menjaga cache tetap kecil, data lama terhapus sendiri</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ttl &amp; invalidation: 02-ttl-invalidation/before.py</a:t>
            </a:r>
          </a:p>
        </p:txBody>
      </p:sp>
      <p:sp>
        <p:nvSpPr>
          <p:cNvPr id="28" name="CodeBg 11"/>
          <p:cNvSpPr/>
          <p:nvPr/>
        </p:nvSpPr>
        <p:spPr>
          <a:xfrm>
            <a:off x="4297680" y="1719072"/>
            <a:ext cx="4187951" cy="1170432"/>
          </a:xfrm>
          <a:prstGeom prst="roundRect">
            <a:avLst>
              <a:gd name="adj" fmla="val 156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170432"/>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cache.</a:t>
            </a:r>
            <a:r>
              <a:rPr sz="850" i="0">
                <a:solidFill>
                  <a:srgbClr val="C3A6FF"/>
                </a:solidFill>
                <a:latin typeface="Inconsolata"/>
              </a:rPr>
              <a:t>set</a:t>
            </a:r>
            <a:r>
              <a:rPr sz="850" i="0">
                <a:solidFill>
                  <a:srgbClr val="E6EDF3"/>
                </a:solidFill>
                <a:latin typeface="Inconsolata"/>
              </a:rPr>
              <a:t>(key, json.dumps(product))         </a:t>
            </a:r>
            <a:r>
              <a:rPr sz="850" i="1">
                <a:solidFill>
                  <a:srgbClr val="8B98A8"/>
                </a:solidFill>
                <a:latin typeface="Inconsolata"/>
              </a:rPr>
              <a:t># tanpa TTL</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update_price</a:t>
            </a:r>
            <a:r>
              <a:rPr sz="850" i="0">
                <a:solidFill>
                  <a:srgbClr val="E6EDF3"/>
                </a:solidFill>
                <a:latin typeface="Inconsolata"/>
              </a:rPr>
              <a:t>(product_id: </a:t>
            </a:r>
            <a:r>
              <a:rPr sz="850" i="0">
                <a:solidFill>
                  <a:srgbClr val="C3A6FF"/>
                </a:solidFill>
                <a:latin typeface="Inconsolata"/>
              </a:rPr>
              <a:t>int</a:t>
            </a:r>
            <a:r>
              <a:rPr sz="850" i="0">
                <a:solidFill>
                  <a:srgbClr val="E6EDF3"/>
                </a:solidFill>
                <a:latin typeface="Inconsolata"/>
              </a:rPr>
              <a:t>, price: </a:t>
            </a:r>
            <a:r>
              <a:rPr sz="850" i="0">
                <a:solidFill>
                  <a:srgbClr val="C3A6FF"/>
                </a:solidFill>
                <a:latin typeface="Inconsolata"/>
              </a:rPr>
              <a:t>int</a:t>
            </a:r>
            <a:r>
              <a:rPr sz="850" i="0">
                <a:solidFill>
                  <a:srgbClr val="E6EDF3"/>
                </a:solidFill>
                <a:latin typeface="Inconsolata"/>
              </a:rPr>
              <a:t>) -&gt; </a:t>
            </a:r>
            <a:r>
              <a:rPr sz="850" i="0">
                <a:solidFill>
                  <a:srgbClr val="FF8E6E"/>
                </a:solidFill>
                <a:latin typeface="Inconsolata"/>
              </a:rPr>
              <a:t>None</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7FDBCA"/>
                </a:solidFill>
                <a:latin typeface="Inconsolata"/>
              </a:rPr>
              <a:t>PRODUCTS</a:t>
            </a:r>
            <a:r>
              <a:rPr sz="850" i="0">
                <a:solidFill>
                  <a:srgbClr val="E6EDF3"/>
                </a:solidFill>
                <a:latin typeface="Inconsolata"/>
              </a:rPr>
              <a:t>[product_id][</a:t>
            </a:r>
            <a:r>
              <a:rPr sz="850" i="0">
                <a:solidFill>
                  <a:srgbClr val="A5D6A7"/>
                </a:solidFill>
                <a:latin typeface="Inconsolata"/>
              </a:rPr>
              <a:t>"price"</a:t>
            </a:r>
            <a:r>
              <a:rPr sz="850" i="0">
                <a:solidFill>
                  <a:srgbClr val="E6EDF3"/>
                </a:solidFill>
                <a:latin typeface="Inconsolata"/>
              </a:rPr>
              <a:t>] = price       </a:t>
            </a:r>
            <a:r>
              <a:rPr sz="850" i="1">
                <a:solidFill>
                  <a:srgbClr val="8B98A8"/>
                </a:solidFill>
                <a:latin typeface="Inconsolata"/>
              </a:rPr>
              <a:t># cache tidak diubah</a:t>
            </a:r>
          </a:p>
        </p:txBody>
      </p:sp>
      <p:sp>
        <p:nvSpPr>
          <p:cNvPr id="30" name="Box 13"/>
          <p:cNvSpPr/>
          <p:nvPr/>
        </p:nvSpPr>
        <p:spPr>
          <a:xfrm>
            <a:off x="4379976" y="18286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4"/>
          <p:cNvSpPr/>
          <p:nvPr/>
        </p:nvSpPr>
        <p:spPr>
          <a:xfrm>
            <a:off x="4379976" y="22477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Tab 16"/>
          <p:cNvSpPr/>
          <p:nvPr/>
        </p:nvSpPr>
        <p:spPr>
          <a:xfrm>
            <a:off x="4297680" y="2980944"/>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Dot 17"/>
          <p:cNvSpPr/>
          <p:nvPr/>
        </p:nvSpPr>
        <p:spPr>
          <a:xfrm>
            <a:off x="4407408" y="3058668"/>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544568" y="3058668"/>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4681728" y="3058668"/>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20"/>
          <p:cNvSpPr txBox="1"/>
          <p:nvPr/>
        </p:nvSpPr>
        <p:spPr>
          <a:xfrm>
            <a:off x="4846320" y="2990088"/>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ttl &amp; invalidation: 02-ttl-invalidation/after.py</a:t>
            </a:r>
          </a:p>
        </p:txBody>
      </p:sp>
      <p:sp>
        <p:nvSpPr>
          <p:cNvPr id="37" name="CodeBg 22"/>
          <p:cNvSpPr/>
          <p:nvPr/>
        </p:nvSpPr>
        <p:spPr>
          <a:xfrm>
            <a:off x="4297680" y="3218688"/>
            <a:ext cx="4187951" cy="1481327"/>
          </a:xfrm>
          <a:prstGeom prst="roundRect">
            <a:avLst>
              <a:gd name="adj" fmla="val 1234"/>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Code 23"/>
          <p:cNvSpPr txBox="1"/>
          <p:nvPr/>
        </p:nvSpPr>
        <p:spPr>
          <a:xfrm>
            <a:off x="4297680" y="3218688"/>
            <a:ext cx="4187951" cy="1481327"/>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cache.</a:t>
            </a:r>
            <a:r>
              <a:rPr sz="850" i="0">
                <a:solidFill>
                  <a:srgbClr val="C3A6FF"/>
                </a:solidFill>
                <a:latin typeface="Inconsolata"/>
              </a:rPr>
              <a:t>set</a:t>
            </a:r>
            <a:r>
              <a:rPr sz="850" i="0">
                <a:solidFill>
                  <a:srgbClr val="E6EDF3"/>
                </a:solidFill>
                <a:latin typeface="Inconsolata"/>
              </a:rPr>
              <a:t>(key, json.dumps(product), ex=</a:t>
            </a:r>
            <a:r>
              <a:rPr sz="850" i="0">
                <a:solidFill>
                  <a:srgbClr val="7FDBCA"/>
                </a:solidFill>
                <a:latin typeface="Inconsolata"/>
              </a:rPr>
              <a:t>TTL</a:t>
            </a:r>
            <a:r>
              <a:rPr sz="850" i="0">
                <a:solidFill>
                  <a:srgbClr val="E6EDF3"/>
                </a:solidFill>
                <a:latin typeface="Inconsolata"/>
              </a:rPr>
              <a:t>)   </a:t>
            </a:r>
            <a:r>
              <a:rPr sz="850" i="1">
                <a:solidFill>
                  <a:srgbClr val="8B98A8"/>
                </a:solidFill>
                <a:latin typeface="Inconsolata"/>
              </a:rPr>
              <a:t># kedaluwarsa 60s</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update_price</a:t>
            </a:r>
            <a:r>
              <a:rPr sz="850" i="0">
                <a:solidFill>
                  <a:srgbClr val="E6EDF3"/>
                </a:solidFill>
                <a:latin typeface="Inconsolata"/>
              </a:rPr>
              <a:t>(product_id: </a:t>
            </a:r>
            <a:r>
              <a:rPr sz="850" i="0">
                <a:solidFill>
                  <a:srgbClr val="C3A6FF"/>
                </a:solidFill>
                <a:latin typeface="Inconsolata"/>
              </a:rPr>
              <a:t>int</a:t>
            </a:r>
            <a:r>
              <a:rPr sz="850" i="0">
                <a:solidFill>
                  <a:srgbClr val="E6EDF3"/>
                </a:solidFill>
                <a:latin typeface="Inconsolata"/>
              </a:rPr>
              <a:t>, price: </a:t>
            </a:r>
            <a:r>
              <a:rPr sz="850" i="0">
                <a:solidFill>
                  <a:srgbClr val="C3A6FF"/>
                </a:solidFill>
                <a:latin typeface="Inconsolata"/>
              </a:rPr>
              <a:t>int</a:t>
            </a:r>
            <a:r>
              <a:rPr sz="850" i="0">
                <a:solidFill>
                  <a:srgbClr val="E6EDF3"/>
                </a:solidFill>
                <a:latin typeface="Inconsolata"/>
              </a:rPr>
              <a:t>) -&gt; </a:t>
            </a:r>
            <a:r>
              <a:rPr sz="850" i="0">
                <a:solidFill>
                  <a:srgbClr val="FF8E6E"/>
                </a:solidFill>
                <a:latin typeface="Inconsolata"/>
              </a:rPr>
              <a:t>None</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7FDBCA"/>
                </a:solidFill>
                <a:latin typeface="Inconsolata"/>
              </a:rPr>
              <a:t>PRODUCTS</a:t>
            </a:r>
            <a:r>
              <a:rPr sz="850" i="0">
                <a:solidFill>
                  <a:srgbClr val="E6EDF3"/>
                </a:solidFill>
                <a:latin typeface="Inconsolata"/>
              </a:rPr>
              <a:t>[product_id][</a:t>
            </a:r>
            <a:r>
              <a:rPr sz="850" i="0">
                <a:solidFill>
                  <a:srgbClr val="A5D6A7"/>
                </a:solidFill>
                <a:latin typeface="Inconsolata"/>
              </a:rPr>
              <a:t>"price"</a:t>
            </a:r>
            <a:r>
              <a:rPr sz="850" i="0">
                <a:solidFill>
                  <a:srgbClr val="E6EDF3"/>
                </a:solidFill>
                <a:latin typeface="Inconsolata"/>
              </a:rPr>
              <a:t>] = price</a:t>
            </a:r>
          </a:p>
          <a:p>
            <a:pPr>
              <a:lnSpc>
                <a:spcPct val="107843"/>
              </a:lnSpc>
              <a:spcAft>
                <a:spcPts val="0"/>
              </a:spcAft>
            </a:pPr>
            <a:r>
              <a:rPr sz="850" i="0">
                <a:solidFill>
                  <a:srgbClr val="E6EDF3"/>
                </a:solidFill>
                <a:latin typeface="Inconsolata"/>
              </a:rPr>
              <a:t>    cache.delete(</a:t>
            </a:r>
            <a:r>
              <a:rPr sz="850" i="0">
                <a:solidFill>
                  <a:srgbClr val="A5D6A7"/>
                </a:solidFill>
                <a:latin typeface="Inconsolata"/>
              </a:rPr>
              <a:t>f"product:{product_id}"</a:t>
            </a:r>
            <a:r>
              <a:rPr sz="850" i="0">
                <a:solidFill>
                  <a:srgbClr val="E6EDF3"/>
                </a:solidFill>
                <a:latin typeface="Inconsolata"/>
              </a:rPr>
              <a:t>)       </a:t>
            </a:r>
            <a:r>
              <a:rPr sz="850" i="1">
                <a:solidFill>
                  <a:srgbClr val="8B98A8"/>
                </a:solidFill>
                <a:latin typeface="Inconsolata"/>
              </a:rPr>
              <a:t># invalidation</a:t>
            </a:r>
          </a:p>
        </p:txBody>
      </p:sp>
      <p:sp>
        <p:nvSpPr>
          <p:cNvPr id="39" name="Box 24"/>
          <p:cNvSpPr/>
          <p:nvPr/>
        </p:nvSpPr>
        <p:spPr>
          <a:xfrm>
            <a:off x="4379976" y="3328289"/>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5"/>
          <p:cNvSpPr/>
          <p:nvPr/>
        </p:nvSpPr>
        <p:spPr>
          <a:xfrm>
            <a:off x="4379976" y="3887089"/>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TTL &amp; Invalidation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TTL dan Invalidation?</a:t>
            </a:r>
          </a:p>
        </p:txBody>
      </p:sp>
      <p:sp>
        <p:nvSpPr>
          <p:cNvPr id="22" name="Text 3"/>
          <p:cNvSpPr txBox="1"/>
          <p:nvPr/>
        </p:nvSpPr>
        <p:spPr>
          <a:xfrm>
            <a:off x="621792" y="1481328"/>
            <a:ext cx="4023360" cy="2625912"/>
          </a:xfrm>
          <a:prstGeom prst="rect">
            <a:avLst/>
          </a:prstGeom>
          <a:noFill/>
        </p:spPr>
        <p:txBody>
          <a:bodyPr wrap="square" lIns="45720" rIns="45720" anchor="t">
            <a:spAutoFit/>
          </a:bodyPr>
          <a:lstStyle/>
          <a:p>
            <a:pPr algn="l">
              <a:lnSpc>
                <a:spcPct val="115000"/>
              </a:lnSpc>
              <a:spcAft>
                <a:spcPts val="400"/>
              </a:spcAft>
            </a:pPr>
            <a:r>
              <a:rPr sz="1050" b="1" i="0" dirty="0" err="1">
                <a:solidFill>
                  <a:srgbClr val="1C4587"/>
                </a:solidFill>
                <a:latin typeface="Inter"/>
              </a:rPr>
              <a:t>Tanpa</a:t>
            </a:r>
            <a:r>
              <a:rPr sz="1050" b="1" i="0" dirty="0">
                <a:solidFill>
                  <a:srgbClr val="1C4587"/>
                </a:solidFill>
                <a:latin typeface="Inter"/>
              </a:rPr>
              <a:t> TTL dan invalidation</a:t>
            </a:r>
          </a:p>
          <a:p>
            <a:pPr algn="l">
              <a:lnSpc>
                <a:spcPct val="115000"/>
              </a:lnSpc>
              <a:spcAft>
                <a:spcPts val="400"/>
              </a:spcAft>
            </a:pPr>
            <a:r>
              <a:rPr sz="950" b="0" i="0" dirty="0">
                <a:solidFill>
                  <a:srgbClr val="434343"/>
                </a:solidFill>
                <a:latin typeface="Inter"/>
              </a:rPr>
              <a:t>Cache </a:t>
            </a:r>
            <a:r>
              <a:rPr sz="950" b="0" i="0" dirty="0" err="1">
                <a:solidFill>
                  <a:srgbClr val="434343"/>
                </a:solidFill>
                <a:latin typeface="Inter"/>
              </a:rPr>
              <a:t>disimpan</a:t>
            </a:r>
            <a:r>
              <a:rPr sz="950" b="0" i="0" dirty="0">
                <a:solidFill>
                  <a:srgbClr val="434343"/>
                </a:solidFill>
                <a:latin typeface="Inter"/>
              </a:rPr>
              <a:t> </a:t>
            </a:r>
            <a:r>
              <a:rPr sz="950" b="0" i="0" dirty="0" err="1">
                <a:solidFill>
                  <a:srgbClr val="434343"/>
                </a:solidFill>
                <a:latin typeface="Inter"/>
              </a:rPr>
              <a:t>tanpa</a:t>
            </a:r>
            <a:r>
              <a:rPr sz="950" b="0" i="0" dirty="0">
                <a:solidFill>
                  <a:srgbClr val="434343"/>
                </a:solidFill>
                <a:latin typeface="Inter"/>
              </a:rPr>
              <a:t> batas </a:t>
            </a:r>
            <a:r>
              <a:rPr sz="950" b="0" i="0" dirty="0" err="1">
                <a:solidFill>
                  <a:srgbClr val="434343"/>
                </a:solidFill>
                <a:latin typeface="Inter"/>
              </a:rPr>
              <a:t>waktu</a:t>
            </a:r>
            <a:r>
              <a:rPr sz="950" b="0" i="0" dirty="0">
                <a:solidFill>
                  <a:srgbClr val="434343"/>
                </a:solidFill>
                <a:latin typeface="Inter"/>
              </a:rPr>
              <a:t> dan </a:t>
            </a:r>
            <a:r>
              <a:rPr sz="950" b="0" i="0" dirty="0" err="1">
                <a:solidFill>
                  <a:srgbClr val="434343"/>
                </a:solidFill>
                <a:latin typeface="Inter"/>
              </a:rPr>
              <a:t>tidak</a:t>
            </a:r>
            <a:r>
              <a:rPr sz="950" b="0" i="0" dirty="0">
                <a:solidFill>
                  <a:srgbClr val="434343"/>
                </a:solidFill>
                <a:latin typeface="Inter"/>
              </a:rPr>
              <a:t> </a:t>
            </a:r>
            <a:r>
              <a:rPr sz="950" b="0" i="0" dirty="0" err="1">
                <a:solidFill>
                  <a:srgbClr val="434343"/>
                </a:solidFill>
                <a:latin typeface="Inter"/>
              </a:rPr>
              <a:t>pernah</a:t>
            </a:r>
            <a:r>
              <a:rPr sz="950" b="0" i="0" dirty="0">
                <a:solidFill>
                  <a:srgbClr val="434343"/>
                </a:solidFill>
                <a:latin typeface="Inter"/>
              </a:rPr>
              <a:t> </a:t>
            </a:r>
            <a:r>
              <a:rPr sz="950" b="0" i="0" dirty="0" err="1">
                <a:solidFill>
                  <a:srgbClr val="434343"/>
                </a:solidFill>
                <a:latin typeface="Inter"/>
              </a:rPr>
              <a:t>dihapus</a:t>
            </a:r>
            <a:r>
              <a:rPr sz="950" b="0" i="0" dirty="0">
                <a:solidFill>
                  <a:srgbClr val="434343"/>
                </a:solidFill>
                <a:latin typeface="Inter"/>
              </a:rPr>
              <a:t>. </a:t>
            </a:r>
            <a:r>
              <a:rPr lang="en-US" sz="950" dirty="0" err="1">
                <a:solidFill>
                  <a:srgbClr val="434343"/>
                </a:solidFill>
                <a:latin typeface="Inter"/>
              </a:rPr>
              <a:t>Misalnya</a:t>
            </a:r>
            <a:r>
              <a:rPr lang="en-US" sz="950" dirty="0">
                <a:solidFill>
                  <a:srgbClr val="434343"/>
                </a:solidFill>
                <a:latin typeface="Inter"/>
              </a:rPr>
              <a:t> </a:t>
            </a:r>
            <a:r>
              <a:rPr lang="en-US" sz="950" dirty="0" err="1">
                <a:solidFill>
                  <a:srgbClr val="434343"/>
                </a:solidFill>
                <a:latin typeface="Inter"/>
              </a:rPr>
              <a:t>h</a:t>
            </a:r>
            <a:r>
              <a:rPr sz="950" b="0" i="0" dirty="0" err="1">
                <a:solidFill>
                  <a:srgbClr val="434343"/>
                </a:solidFill>
                <a:latin typeface="Inter"/>
              </a:rPr>
              <a:t>arga</a:t>
            </a:r>
            <a:r>
              <a:rPr sz="950" b="0" i="0" dirty="0">
                <a:solidFill>
                  <a:srgbClr val="434343"/>
                </a:solidFill>
                <a:latin typeface="Inter"/>
              </a:rPr>
              <a:t> di database </a:t>
            </a:r>
            <a:r>
              <a:rPr sz="950" b="0" i="0" dirty="0" err="1">
                <a:solidFill>
                  <a:srgbClr val="434343"/>
                </a:solidFill>
                <a:latin typeface="Inter"/>
              </a:rPr>
              <a:t>sudah</a:t>
            </a:r>
            <a:r>
              <a:rPr sz="950" b="0" i="0" dirty="0">
                <a:solidFill>
                  <a:srgbClr val="434343"/>
                </a:solidFill>
                <a:latin typeface="Inter"/>
              </a:rPr>
              <a:t> </a:t>
            </a:r>
            <a:r>
              <a:rPr sz="950" b="0" i="0" dirty="0" err="1">
                <a:solidFill>
                  <a:srgbClr val="434343"/>
                </a:solidFill>
                <a:latin typeface="Inter"/>
              </a:rPr>
              <a:t>diubah</a:t>
            </a:r>
            <a:r>
              <a:rPr sz="950" b="0" i="0" dirty="0">
                <a:solidFill>
                  <a:srgbClr val="434343"/>
                </a:solidFill>
                <a:latin typeface="Inter"/>
              </a:rPr>
              <a:t>, </a:t>
            </a:r>
            <a:r>
              <a:rPr sz="950" b="0" i="0" dirty="0" err="1">
                <a:solidFill>
                  <a:srgbClr val="434343"/>
                </a:solidFill>
                <a:latin typeface="Inter"/>
              </a:rPr>
              <a:t>tapi</a:t>
            </a:r>
            <a:r>
              <a:rPr sz="950" b="0" i="0" dirty="0">
                <a:solidFill>
                  <a:srgbClr val="434343"/>
                </a:solidFill>
                <a:latin typeface="Inter"/>
              </a:rPr>
              <a:t> API </a:t>
            </a:r>
            <a:r>
              <a:rPr sz="950" b="0" i="0" dirty="0" err="1">
                <a:solidFill>
                  <a:srgbClr val="434343"/>
                </a:solidFill>
                <a:latin typeface="Inter"/>
              </a:rPr>
              <a:t>tetap</a:t>
            </a:r>
            <a:r>
              <a:rPr sz="950" b="0" i="0" dirty="0">
                <a:solidFill>
                  <a:srgbClr val="434343"/>
                </a:solidFill>
                <a:latin typeface="Inter"/>
              </a:rPr>
              <a:t> </a:t>
            </a:r>
            <a:r>
              <a:rPr sz="950" b="0" i="0" dirty="0" err="1">
                <a:solidFill>
                  <a:srgbClr val="434343"/>
                </a:solidFill>
                <a:latin typeface="Inter"/>
              </a:rPr>
              <a:t>mengembalikan</a:t>
            </a:r>
            <a:r>
              <a:rPr sz="950" b="0" i="0" dirty="0">
                <a:solidFill>
                  <a:srgbClr val="434343"/>
                </a:solidFill>
                <a:latin typeface="Inter"/>
              </a:rPr>
              <a:t> </a:t>
            </a:r>
            <a:r>
              <a:rPr sz="950" b="0" i="0" dirty="0" err="1">
                <a:solidFill>
                  <a:srgbClr val="434343"/>
                </a:solidFill>
                <a:latin typeface="Inter"/>
              </a:rPr>
              <a:t>harga</a:t>
            </a:r>
            <a:r>
              <a:rPr sz="950" b="0" i="0" dirty="0">
                <a:solidFill>
                  <a:srgbClr val="434343"/>
                </a:solidFill>
                <a:latin typeface="Inter"/>
              </a:rPr>
              <a:t> lama </a:t>
            </a:r>
            <a:r>
              <a:rPr sz="950" b="0" i="0" dirty="0" err="1">
                <a:solidFill>
                  <a:srgbClr val="434343"/>
                </a:solidFill>
                <a:latin typeface="Inter"/>
              </a:rPr>
              <a:t>dari</a:t>
            </a:r>
            <a:r>
              <a:rPr sz="950" b="0" i="0" dirty="0">
                <a:solidFill>
                  <a:srgbClr val="434343"/>
                </a:solidFill>
                <a:latin typeface="Inter"/>
              </a:rPr>
              <a:t> cache.</a:t>
            </a:r>
          </a:p>
          <a:p>
            <a:pPr algn="l">
              <a:lnSpc>
                <a:spcPct val="115000"/>
              </a:lnSpc>
              <a:spcAft>
                <a:spcPts val="400"/>
              </a:spcAft>
            </a:pPr>
            <a:r>
              <a:rPr sz="1050" b="1" i="0" dirty="0">
                <a:solidFill>
                  <a:srgbClr val="1C4587"/>
                </a:solidFill>
                <a:latin typeface="Inter"/>
              </a:rPr>
              <a:t>Jika </a:t>
            </a:r>
            <a:r>
              <a:rPr sz="1050" b="1" i="0" dirty="0" err="1">
                <a:solidFill>
                  <a:srgbClr val="1C4587"/>
                </a:solidFill>
                <a:latin typeface="Inter"/>
              </a:rPr>
              <a:t>datanya</a:t>
            </a:r>
            <a:r>
              <a:rPr sz="1050" b="1" i="0" dirty="0">
                <a:solidFill>
                  <a:srgbClr val="1C4587"/>
                </a:solidFill>
                <a:latin typeface="Inter"/>
              </a:rPr>
              <a:t> </a:t>
            </a:r>
            <a:r>
              <a:rPr sz="1050" b="1" i="0" dirty="0" err="1">
                <a:solidFill>
                  <a:srgbClr val="1C4587"/>
                </a:solidFill>
                <a:latin typeface="Inter"/>
              </a:rPr>
              <a:t>makin</a:t>
            </a:r>
            <a:r>
              <a:rPr sz="1050" b="1" i="0" dirty="0">
                <a:solidFill>
                  <a:srgbClr val="1C4587"/>
                </a:solidFill>
                <a:latin typeface="Inter"/>
              </a:rPr>
              <a:t> </a:t>
            </a:r>
            <a:r>
              <a:rPr sz="1050" b="1" i="0" dirty="0" err="1">
                <a:solidFill>
                  <a:srgbClr val="1C4587"/>
                </a:solidFill>
                <a:latin typeface="Inter"/>
              </a:rPr>
              <a:t>sering</a:t>
            </a:r>
            <a:r>
              <a:rPr sz="1050" b="1" i="0" dirty="0">
                <a:solidFill>
                  <a:srgbClr val="1C4587"/>
                </a:solidFill>
                <a:latin typeface="Inter"/>
              </a:rPr>
              <a:t> </a:t>
            </a:r>
            <a:r>
              <a:rPr sz="1050" b="1" i="0" dirty="0" err="1">
                <a:solidFill>
                  <a:srgbClr val="1C4587"/>
                </a:solidFill>
                <a:latin typeface="Inter"/>
              </a:rPr>
              <a:t>berubah</a:t>
            </a:r>
            <a:endParaRPr sz="1050" b="1" i="0" dirty="0">
              <a:solidFill>
                <a:srgbClr val="1C4587"/>
              </a:solidFill>
              <a:latin typeface="Inter"/>
            </a:endParaRPr>
          </a:p>
          <a:p>
            <a:pPr algn="l">
              <a:lnSpc>
                <a:spcPct val="115000"/>
              </a:lnSpc>
              <a:spcAft>
                <a:spcPts val="400"/>
              </a:spcAft>
            </a:pPr>
            <a:r>
              <a:rPr sz="950" b="0" i="0" dirty="0" err="1">
                <a:solidFill>
                  <a:srgbClr val="434343"/>
                </a:solidFill>
                <a:latin typeface="Inter"/>
              </a:rPr>
              <a:t>Semakin</a:t>
            </a:r>
            <a:r>
              <a:rPr sz="950" b="0" i="0" dirty="0">
                <a:solidFill>
                  <a:srgbClr val="434343"/>
                </a:solidFill>
                <a:latin typeface="Inter"/>
              </a:rPr>
              <a:t> </a:t>
            </a:r>
            <a:r>
              <a:rPr sz="950" b="0" i="0" dirty="0" err="1">
                <a:solidFill>
                  <a:srgbClr val="434343"/>
                </a:solidFill>
                <a:latin typeface="Inter"/>
              </a:rPr>
              <a:t>banyak</a:t>
            </a:r>
            <a:r>
              <a:rPr sz="950" b="0" i="0" dirty="0">
                <a:solidFill>
                  <a:srgbClr val="434343"/>
                </a:solidFill>
                <a:latin typeface="Inter"/>
              </a:rPr>
              <a:t> data di cache yang </a:t>
            </a:r>
            <a:r>
              <a:rPr sz="950" b="0" i="0" dirty="0" err="1">
                <a:solidFill>
                  <a:srgbClr val="434343"/>
                </a:solidFill>
                <a:latin typeface="Inter"/>
              </a:rPr>
              <a:t>tidak</a:t>
            </a:r>
            <a:r>
              <a:rPr sz="950" b="0" i="0" dirty="0">
                <a:solidFill>
                  <a:srgbClr val="434343"/>
                </a:solidFill>
                <a:latin typeface="Inter"/>
              </a:rPr>
              <a:t> </a:t>
            </a:r>
            <a:r>
              <a:rPr sz="950" b="0" i="0" dirty="0" err="1">
                <a:solidFill>
                  <a:srgbClr val="434343"/>
                </a:solidFill>
                <a:latin typeface="Inter"/>
              </a:rPr>
              <a:t>lagi</a:t>
            </a:r>
            <a:r>
              <a:rPr sz="950" b="0" i="0" dirty="0">
                <a:solidFill>
                  <a:srgbClr val="434343"/>
                </a:solidFill>
                <a:latin typeface="Inter"/>
              </a:rPr>
              <a:t> </a:t>
            </a:r>
            <a:r>
              <a:rPr sz="950" b="0" i="0" dirty="0" err="1">
                <a:solidFill>
                  <a:srgbClr val="434343"/>
                </a:solidFill>
                <a:latin typeface="Inter"/>
              </a:rPr>
              <a:t>sama</a:t>
            </a:r>
            <a:r>
              <a:rPr sz="950" b="0" i="0" dirty="0">
                <a:solidFill>
                  <a:srgbClr val="434343"/>
                </a:solidFill>
                <a:latin typeface="Inter"/>
              </a:rPr>
              <a:t> </a:t>
            </a:r>
            <a:r>
              <a:rPr sz="950" b="0" i="0" dirty="0" err="1">
                <a:solidFill>
                  <a:srgbClr val="434343"/>
                </a:solidFill>
                <a:latin typeface="Inter"/>
              </a:rPr>
              <a:t>dengan</a:t>
            </a:r>
            <a:r>
              <a:rPr sz="950" b="0" i="0" dirty="0">
                <a:solidFill>
                  <a:srgbClr val="434343"/>
                </a:solidFill>
                <a:latin typeface="Inter"/>
              </a:rPr>
              <a:t> database.</a:t>
            </a:r>
          </a:p>
          <a:p>
            <a:pPr algn="l">
              <a:lnSpc>
                <a:spcPct val="115000"/>
              </a:lnSpc>
              <a:spcAft>
                <a:spcPts val="400"/>
              </a:spcAft>
            </a:pPr>
            <a:r>
              <a:rPr sz="950" b="0" i="0" dirty="0">
                <a:solidFill>
                  <a:srgbClr val="434343"/>
                </a:solidFill>
                <a:latin typeface="Inter"/>
              </a:rPr>
              <a:t>Hal </a:t>
            </a:r>
            <a:r>
              <a:rPr sz="950" b="0" i="0" dirty="0" err="1">
                <a:solidFill>
                  <a:srgbClr val="434343"/>
                </a:solidFill>
                <a:latin typeface="Inter"/>
              </a:rPr>
              <a:t>ini</a:t>
            </a:r>
            <a:r>
              <a:rPr sz="950" b="0" i="0" dirty="0">
                <a:solidFill>
                  <a:srgbClr val="434343"/>
                </a:solidFill>
                <a:latin typeface="Inter"/>
              </a:rPr>
              <a:t> </a:t>
            </a:r>
            <a:r>
              <a:rPr sz="950" b="0" i="0" dirty="0" err="1">
                <a:solidFill>
                  <a:srgbClr val="434343"/>
                </a:solidFill>
                <a:latin typeface="Inter"/>
              </a:rPr>
              <a:t>membuat</a:t>
            </a:r>
            <a:r>
              <a:rPr sz="950" b="0" i="0" dirty="0">
                <a:solidFill>
                  <a:srgbClr val="434343"/>
                </a:solidFill>
                <a:latin typeface="Inter"/>
              </a:rPr>
              <a:t> customer </a:t>
            </a:r>
            <a:r>
              <a:rPr sz="950" b="0" i="0" dirty="0" err="1">
                <a:solidFill>
                  <a:srgbClr val="434343"/>
                </a:solidFill>
                <a:latin typeface="Inter"/>
              </a:rPr>
              <a:t>melihat</a:t>
            </a:r>
            <a:r>
              <a:rPr sz="950" b="0" i="0" dirty="0">
                <a:solidFill>
                  <a:srgbClr val="434343"/>
                </a:solidFill>
                <a:latin typeface="Inter"/>
              </a:rPr>
              <a:t> </a:t>
            </a:r>
            <a:r>
              <a:rPr sz="950" b="0" i="0" dirty="0" err="1">
                <a:solidFill>
                  <a:srgbClr val="434343"/>
                </a:solidFill>
                <a:latin typeface="Inter"/>
              </a:rPr>
              <a:t>harga</a:t>
            </a:r>
            <a:r>
              <a:rPr sz="950" b="0" i="0" dirty="0">
                <a:solidFill>
                  <a:srgbClr val="434343"/>
                </a:solidFill>
                <a:latin typeface="Inter"/>
              </a:rPr>
              <a:t> </a:t>
            </a:r>
            <a:r>
              <a:rPr sz="950" b="0" i="0" dirty="0" err="1">
                <a:solidFill>
                  <a:srgbClr val="434343"/>
                </a:solidFill>
                <a:latin typeface="Inter"/>
              </a:rPr>
              <a:t>atau</a:t>
            </a:r>
            <a:r>
              <a:rPr sz="950" b="0" i="0" dirty="0">
                <a:solidFill>
                  <a:srgbClr val="434343"/>
                </a:solidFill>
                <a:latin typeface="Inter"/>
              </a:rPr>
              <a:t> </a:t>
            </a:r>
            <a:r>
              <a:rPr sz="950" b="0" i="0" dirty="0" err="1">
                <a:solidFill>
                  <a:srgbClr val="434343"/>
                </a:solidFill>
                <a:latin typeface="Inter"/>
              </a:rPr>
              <a:t>stok</a:t>
            </a:r>
            <a:r>
              <a:rPr sz="950" b="0" i="0" dirty="0">
                <a:solidFill>
                  <a:srgbClr val="434343"/>
                </a:solidFill>
                <a:latin typeface="Inter"/>
              </a:rPr>
              <a:t> yang salah, dan </a:t>
            </a:r>
            <a:r>
              <a:rPr sz="950" b="0" i="0" dirty="0" err="1">
                <a:solidFill>
                  <a:srgbClr val="434343"/>
                </a:solidFill>
                <a:latin typeface="Inter"/>
              </a:rPr>
              <a:t>baru</a:t>
            </a:r>
            <a:r>
              <a:rPr sz="950" b="0" i="0" dirty="0">
                <a:solidFill>
                  <a:srgbClr val="434343"/>
                </a:solidFill>
                <a:latin typeface="Inter"/>
              </a:rPr>
              <a:t> </a:t>
            </a:r>
            <a:r>
              <a:rPr sz="950" b="0" i="0" dirty="0" err="1">
                <a:solidFill>
                  <a:srgbClr val="434343"/>
                </a:solidFill>
                <a:latin typeface="Inter"/>
              </a:rPr>
              <a:t>benar</a:t>
            </a:r>
            <a:r>
              <a:rPr sz="950" b="0" i="0" dirty="0">
                <a:solidFill>
                  <a:srgbClr val="434343"/>
                </a:solidFill>
                <a:latin typeface="Inter"/>
              </a:rPr>
              <a:t> </a:t>
            </a:r>
            <a:r>
              <a:rPr sz="950" b="0" i="0" dirty="0" err="1">
                <a:solidFill>
                  <a:srgbClr val="434343"/>
                </a:solidFill>
                <a:latin typeface="Inter"/>
              </a:rPr>
              <a:t>setelah</a:t>
            </a:r>
            <a:r>
              <a:rPr sz="950" b="0" i="0" dirty="0">
                <a:solidFill>
                  <a:srgbClr val="434343"/>
                </a:solidFill>
                <a:latin typeface="Inter"/>
              </a:rPr>
              <a:t> Redis di-restart.</a:t>
            </a:r>
          </a:p>
          <a:p>
            <a:pPr algn="l">
              <a:lnSpc>
                <a:spcPct val="115000"/>
              </a:lnSpc>
              <a:spcAft>
                <a:spcPts val="400"/>
              </a:spcAft>
            </a:pPr>
            <a:r>
              <a:rPr sz="1050" b="1" i="0" dirty="0">
                <a:solidFill>
                  <a:srgbClr val="1C4587"/>
                </a:solidFill>
                <a:latin typeface="Inter"/>
              </a:rPr>
              <a:t>Yang </a:t>
            </a:r>
            <a:r>
              <a:rPr sz="1050" b="1" i="0" dirty="0" err="1">
                <a:solidFill>
                  <a:srgbClr val="1C4587"/>
                </a:solidFill>
                <a:latin typeface="Inter"/>
              </a:rPr>
              <a:t>dipakai</a:t>
            </a:r>
            <a:r>
              <a:rPr sz="1050" b="1" i="0" dirty="0">
                <a:solidFill>
                  <a:srgbClr val="1C4587"/>
                </a:solidFill>
                <a:latin typeface="Inter"/>
              </a:rPr>
              <a:t> </a:t>
            </a:r>
            <a:r>
              <a:rPr sz="1050" b="1" i="0" dirty="0" err="1">
                <a:solidFill>
                  <a:srgbClr val="1C4587"/>
                </a:solidFill>
                <a:latin typeface="Inter"/>
              </a:rPr>
              <a:t>dari</a:t>
            </a:r>
            <a:r>
              <a:rPr sz="1050" b="1" i="0" dirty="0">
                <a:solidFill>
                  <a:srgbClr val="1C4587"/>
                </a:solidFill>
                <a:latin typeface="Inter"/>
              </a:rPr>
              <a:t> Redis: EX dan DEL</a:t>
            </a:r>
          </a:p>
          <a:p>
            <a:pPr algn="l">
              <a:lnSpc>
                <a:spcPct val="115000"/>
              </a:lnSpc>
              <a:spcAft>
                <a:spcPts val="400"/>
              </a:spcAft>
            </a:pPr>
            <a:r>
              <a:rPr sz="950" b="0" i="0" dirty="0">
                <a:solidFill>
                  <a:srgbClr val="434343"/>
                </a:solidFill>
                <a:latin typeface="Inter"/>
              </a:rPr>
              <a:t>TTL </a:t>
            </a:r>
            <a:r>
              <a:rPr sz="950" b="0" i="0" dirty="0" err="1">
                <a:solidFill>
                  <a:srgbClr val="434343"/>
                </a:solidFill>
                <a:latin typeface="Inter"/>
              </a:rPr>
              <a:t>ditulis</a:t>
            </a:r>
            <a:r>
              <a:rPr sz="950" b="0" i="0" dirty="0">
                <a:solidFill>
                  <a:srgbClr val="434343"/>
                </a:solidFill>
                <a:latin typeface="Inter"/>
              </a:rPr>
              <a:t> </a:t>
            </a:r>
            <a:r>
              <a:rPr sz="950" b="0" i="0" dirty="0" err="1">
                <a:solidFill>
                  <a:srgbClr val="434343"/>
                </a:solidFill>
                <a:latin typeface="Inter"/>
              </a:rPr>
              <a:t>lewat</a:t>
            </a:r>
            <a:r>
              <a:rPr sz="950" b="0" i="0" dirty="0">
                <a:solidFill>
                  <a:srgbClr val="434343"/>
                </a:solidFill>
                <a:latin typeface="Inter"/>
              </a:rPr>
              <a:t> parameter </a:t>
            </a:r>
            <a:r>
              <a:rPr sz="950" b="0" i="0" dirty="0">
                <a:solidFill>
                  <a:srgbClr val="B5482A"/>
                </a:solidFill>
                <a:latin typeface="Inconsolata"/>
              </a:rPr>
              <a:t>ex</a:t>
            </a:r>
            <a:r>
              <a:rPr sz="950" b="0" i="0" dirty="0">
                <a:solidFill>
                  <a:srgbClr val="434343"/>
                </a:solidFill>
                <a:latin typeface="Inter"/>
              </a:rPr>
              <a:t> </a:t>
            </a:r>
            <a:r>
              <a:rPr sz="950" b="0" i="0" dirty="0" err="1">
                <a:solidFill>
                  <a:srgbClr val="434343"/>
                </a:solidFill>
                <a:latin typeface="Inter"/>
              </a:rPr>
              <a:t>saat</a:t>
            </a:r>
            <a:r>
              <a:rPr sz="950" b="0" i="0" dirty="0">
                <a:solidFill>
                  <a:srgbClr val="434343"/>
                </a:solidFill>
                <a:latin typeface="Inter"/>
              </a:rPr>
              <a:t> </a:t>
            </a:r>
            <a:r>
              <a:rPr sz="950" b="0" i="0" dirty="0" err="1">
                <a:solidFill>
                  <a:srgbClr val="434343"/>
                </a:solidFill>
                <a:latin typeface="Inter"/>
              </a:rPr>
              <a:t>menyimpan</a:t>
            </a:r>
            <a:r>
              <a:rPr sz="950" b="0" i="0" dirty="0">
                <a:solidFill>
                  <a:srgbClr val="434343"/>
                </a:solidFill>
                <a:latin typeface="Inter"/>
              </a:rPr>
              <a:t>. Invalidation </a:t>
            </a:r>
            <a:r>
              <a:rPr sz="950" b="0" i="0" dirty="0" err="1">
                <a:solidFill>
                  <a:srgbClr val="434343"/>
                </a:solidFill>
                <a:latin typeface="Inter"/>
              </a:rPr>
              <a:t>cukup</a:t>
            </a:r>
            <a:r>
              <a:rPr sz="950" b="0" i="0" dirty="0">
                <a:solidFill>
                  <a:srgbClr val="434343"/>
                </a:solidFill>
                <a:latin typeface="Inter"/>
              </a:rPr>
              <a:t> </a:t>
            </a:r>
            <a:r>
              <a:rPr sz="950" b="0" i="0" dirty="0" err="1">
                <a:solidFill>
                  <a:srgbClr val="434343"/>
                </a:solidFill>
                <a:latin typeface="Inter"/>
              </a:rPr>
              <a:t>menghapus</a:t>
            </a:r>
            <a:r>
              <a:rPr sz="950" b="0" i="0" dirty="0">
                <a:solidFill>
                  <a:srgbClr val="434343"/>
                </a:solidFill>
                <a:latin typeface="Inter"/>
              </a:rPr>
              <a:t> key, </a:t>
            </a:r>
            <a:r>
              <a:rPr sz="950" b="0" i="0" dirty="0" err="1">
                <a:solidFill>
                  <a:srgbClr val="434343"/>
                </a:solidFill>
                <a:latin typeface="Inter"/>
              </a:rPr>
              <a:t>karena</a:t>
            </a:r>
            <a:r>
              <a:rPr sz="950" b="0" i="0" dirty="0">
                <a:solidFill>
                  <a:srgbClr val="434343"/>
                </a:solidFill>
                <a:latin typeface="Inter"/>
              </a:rPr>
              <a:t> </a:t>
            </a:r>
            <a:r>
              <a:rPr sz="950" b="0" i="0" dirty="0" err="1">
                <a:solidFill>
                  <a:srgbClr val="434343"/>
                </a:solidFill>
                <a:latin typeface="Inter"/>
              </a:rPr>
              <a:t>isi</a:t>
            </a:r>
            <a:r>
              <a:rPr sz="950" b="0" i="0" dirty="0">
                <a:solidFill>
                  <a:srgbClr val="434343"/>
                </a:solidFill>
                <a:latin typeface="Inter"/>
              </a:rPr>
              <a:t> </a:t>
            </a:r>
            <a:r>
              <a:rPr sz="950" b="0" i="0" dirty="0" err="1">
                <a:solidFill>
                  <a:srgbClr val="434343"/>
                </a:solidFill>
                <a:latin typeface="Inter"/>
              </a:rPr>
              <a:t>barunya</a:t>
            </a:r>
            <a:r>
              <a:rPr sz="950" b="0" i="0" dirty="0">
                <a:solidFill>
                  <a:srgbClr val="434343"/>
                </a:solidFill>
                <a:latin typeface="Inter"/>
              </a:rPr>
              <a:t> </a:t>
            </a:r>
            <a:r>
              <a:rPr sz="950" b="0" i="0" dirty="0" err="1">
                <a:solidFill>
                  <a:srgbClr val="434343"/>
                </a:solidFill>
                <a:latin typeface="Inter"/>
              </a:rPr>
              <a:t>akan</a:t>
            </a:r>
            <a:r>
              <a:rPr sz="950" b="0" i="0" dirty="0">
                <a:solidFill>
                  <a:srgbClr val="434343"/>
                </a:solidFill>
                <a:latin typeface="Inter"/>
              </a:rPr>
              <a:t> </a:t>
            </a:r>
            <a:r>
              <a:rPr sz="950" b="0" i="0" dirty="0" err="1">
                <a:solidFill>
                  <a:srgbClr val="434343"/>
                </a:solidFill>
                <a:latin typeface="Inter"/>
              </a:rPr>
              <a:t>diambil</a:t>
            </a:r>
            <a:r>
              <a:rPr sz="950" b="0" i="0" dirty="0">
                <a:solidFill>
                  <a:srgbClr val="434343"/>
                </a:solidFill>
                <a:latin typeface="Inter"/>
              </a:rPr>
              <a:t> </a:t>
            </a:r>
            <a:r>
              <a:rPr sz="950" b="0" i="0" dirty="0" err="1">
                <a:solidFill>
                  <a:srgbClr val="434343"/>
                </a:solidFill>
                <a:latin typeface="Inter"/>
              </a:rPr>
              <a:t>dari</a:t>
            </a:r>
            <a:r>
              <a:rPr sz="950" b="0" i="0" dirty="0">
                <a:solidFill>
                  <a:srgbClr val="434343"/>
                </a:solidFill>
                <a:latin typeface="Inter"/>
              </a:rPr>
              <a:t> database pada request </a:t>
            </a:r>
            <a:r>
              <a:rPr sz="950" b="0" i="0" dirty="0" err="1">
                <a:solidFill>
                  <a:srgbClr val="434343"/>
                </a:solidFill>
                <a:latin typeface="Inter"/>
              </a:rPr>
              <a:t>berikutnya</a:t>
            </a:r>
            <a:r>
              <a:rPr sz="950" b="0" i="0" dirty="0">
                <a:solidFill>
                  <a:srgbClr val="434343"/>
                </a:solidFill>
                <a:latin typeface="Inter"/>
              </a:rPr>
              <a:t>.</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1901952">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cache.set(key, value, ex=60)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Simpan dengan TTL 60 detik</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cache.ttl(key)</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Sisa umur key, dalam detik</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cache.delete(key)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Invalidation: hapus key saat data berubah</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TTL &amp; Invalidation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cache tidak pernah diperbarui</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02-ttl-invalidation/before.py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1459"/>
              </a:lnSpc>
              <a:spcAft>
                <a:spcPts val="0"/>
              </a:spcAft>
            </a:pPr>
            <a:r>
              <a:rPr sz="739" i="0">
                <a:solidFill>
                  <a:srgbClr val="5C6773"/>
                </a:solidFill>
                <a:latin typeface="Inconsolata"/>
              </a:rPr>
              <a:t>10  </a:t>
            </a:r>
            <a:r>
              <a:rPr sz="739" i="0">
                <a:solidFill>
                  <a:srgbClr val="FF8E6E"/>
                </a:solidFill>
                <a:latin typeface="Inconsolata"/>
              </a:rPr>
              <a:t>import</a:t>
            </a:r>
            <a:r>
              <a:rPr sz="739" i="0">
                <a:solidFill>
                  <a:srgbClr val="E6EDF3"/>
                </a:solidFill>
                <a:latin typeface="Inconsolata"/>
              </a:rPr>
              <a:t> json</a:t>
            </a:r>
          </a:p>
          <a:p>
            <a:pPr>
              <a:lnSpc>
                <a:spcPct val="101459"/>
              </a:lnSpc>
              <a:spcAft>
                <a:spcPts val="0"/>
              </a:spcAft>
            </a:pPr>
            <a:r>
              <a:rPr sz="739" i="0">
                <a:solidFill>
                  <a:srgbClr val="5C6773"/>
                </a:solidFill>
                <a:latin typeface="Inconsolata"/>
              </a:rPr>
              <a:t>11  </a:t>
            </a:r>
            <a:r>
              <a:rPr sz="739" i="0">
                <a:solidFill>
                  <a:srgbClr val="FF8E6E"/>
                </a:solidFill>
                <a:latin typeface="Inconsolata"/>
              </a:rPr>
              <a:t>import</a:t>
            </a:r>
            <a:r>
              <a:rPr sz="739" i="0">
                <a:solidFill>
                  <a:srgbClr val="E6EDF3"/>
                </a:solidFill>
                <a:latin typeface="Inconsolata"/>
              </a:rPr>
              <a:t> os</a:t>
            </a:r>
          </a:p>
          <a:p>
            <a:pPr>
              <a:lnSpc>
                <a:spcPct val="101459"/>
              </a:lnSpc>
              <a:spcAft>
                <a:spcPts val="0"/>
              </a:spcAft>
            </a:pPr>
            <a:r>
              <a:rPr sz="739" i="0">
                <a:solidFill>
                  <a:srgbClr val="5C6773"/>
                </a:solidFill>
                <a:latin typeface="Inconsolata"/>
              </a:rPr>
              <a:t>12  </a:t>
            </a:r>
            <a:r>
              <a:rPr sz="739" i="0">
                <a:solidFill>
                  <a:srgbClr val="E6EDF3"/>
                </a:solidFill>
                <a:latin typeface="Inconsolata"/>
              </a:rPr>
              <a:t> </a:t>
            </a:r>
          </a:p>
          <a:p>
            <a:pPr>
              <a:lnSpc>
                <a:spcPct val="101459"/>
              </a:lnSpc>
              <a:spcAft>
                <a:spcPts val="0"/>
              </a:spcAft>
            </a:pPr>
            <a:r>
              <a:rPr sz="739" i="0">
                <a:solidFill>
                  <a:srgbClr val="5C6773"/>
                </a:solidFill>
                <a:latin typeface="Inconsolata"/>
              </a:rPr>
              <a:t>13  </a:t>
            </a:r>
            <a:r>
              <a:rPr sz="739" i="0">
                <a:solidFill>
                  <a:srgbClr val="FF8E6E"/>
                </a:solidFill>
                <a:latin typeface="Inconsolata"/>
              </a:rPr>
              <a:t>import</a:t>
            </a:r>
            <a:r>
              <a:rPr sz="739" i="0">
                <a:solidFill>
                  <a:srgbClr val="E6EDF3"/>
                </a:solidFill>
                <a:latin typeface="Inconsolata"/>
              </a:rPr>
              <a:t> redis</a:t>
            </a:r>
          </a:p>
          <a:p>
            <a:pPr>
              <a:lnSpc>
                <a:spcPct val="101459"/>
              </a:lnSpc>
              <a:spcAft>
                <a:spcPts val="0"/>
              </a:spcAft>
            </a:pPr>
            <a:r>
              <a:rPr sz="739" i="0">
                <a:solidFill>
                  <a:srgbClr val="5C6773"/>
                </a:solidFill>
                <a:latin typeface="Inconsolata"/>
              </a:rPr>
              <a:t>14  </a:t>
            </a:r>
            <a:r>
              <a:rPr sz="739" i="0">
                <a:solidFill>
                  <a:srgbClr val="E6EDF3"/>
                </a:solidFill>
                <a:latin typeface="Inconsolata"/>
              </a:rPr>
              <a:t> </a:t>
            </a:r>
          </a:p>
          <a:p>
            <a:pPr>
              <a:lnSpc>
                <a:spcPct val="101459"/>
              </a:lnSpc>
              <a:spcAft>
                <a:spcPts val="0"/>
              </a:spcAft>
            </a:pPr>
            <a:r>
              <a:rPr sz="739" i="0">
                <a:solidFill>
                  <a:srgbClr val="5C6773"/>
                </a:solidFill>
                <a:latin typeface="Inconsolata"/>
              </a:rPr>
              <a:t>15  </a:t>
            </a:r>
            <a:r>
              <a:rPr sz="739" i="0">
                <a:solidFill>
                  <a:srgbClr val="7FDBCA"/>
                </a:solidFill>
                <a:latin typeface="Inconsolata"/>
              </a:rPr>
              <a:t>REDIS_URL</a:t>
            </a:r>
            <a:r>
              <a:rPr sz="739" i="0">
                <a:solidFill>
                  <a:srgbClr val="E6EDF3"/>
                </a:solidFill>
                <a:latin typeface="Inconsolata"/>
              </a:rPr>
              <a:t> = os.getenv(</a:t>
            </a:r>
            <a:r>
              <a:rPr sz="739" i="0">
                <a:solidFill>
                  <a:srgbClr val="A5D6A7"/>
                </a:solidFill>
                <a:latin typeface="Inconsolata"/>
              </a:rPr>
              <a:t>"REDIS_URL"</a:t>
            </a:r>
            <a:r>
              <a:rPr sz="739" i="0">
                <a:solidFill>
                  <a:srgbClr val="E6EDF3"/>
                </a:solidFill>
                <a:latin typeface="Inconsolata"/>
              </a:rPr>
              <a:t>, </a:t>
            </a:r>
            <a:r>
              <a:rPr sz="739" i="0">
                <a:solidFill>
                  <a:srgbClr val="A5D6A7"/>
                </a:solidFill>
                <a:latin typeface="Inconsolata"/>
              </a:rPr>
              <a:t>"redis://localhost:6379/0"</a:t>
            </a:r>
            <a:r>
              <a:rPr sz="739" i="0">
                <a:solidFill>
                  <a:srgbClr val="E6EDF3"/>
                </a:solidFill>
                <a:latin typeface="Inconsolata"/>
              </a:rPr>
              <a:t>)</a:t>
            </a:r>
          </a:p>
          <a:p>
            <a:pPr>
              <a:lnSpc>
                <a:spcPct val="101459"/>
              </a:lnSpc>
              <a:spcAft>
                <a:spcPts val="0"/>
              </a:spcAft>
            </a:pPr>
            <a:r>
              <a:rPr sz="739" i="0">
                <a:solidFill>
                  <a:srgbClr val="5C6773"/>
                </a:solidFill>
                <a:latin typeface="Inconsolata"/>
              </a:rPr>
              <a:t>16  </a:t>
            </a:r>
            <a:r>
              <a:rPr sz="739" i="0">
                <a:solidFill>
                  <a:srgbClr val="E6EDF3"/>
                </a:solidFill>
                <a:latin typeface="Inconsolata"/>
              </a:rPr>
              <a:t>cache = redis.</a:t>
            </a:r>
            <a:r>
              <a:rPr sz="739" i="0">
                <a:solidFill>
                  <a:srgbClr val="7FDBCA"/>
                </a:solidFill>
                <a:latin typeface="Inconsolata"/>
              </a:rPr>
              <a:t>Redis</a:t>
            </a:r>
            <a:r>
              <a:rPr sz="739" i="0">
                <a:solidFill>
                  <a:srgbClr val="E6EDF3"/>
                </a:solidFill>
                <a:latin typeface="Inconsolata"/>
              </a:rPr>
              <a:t>.from_url(</a:t>
            </a:r>
            <a:r>
              <a:rPr sz="739" i="0">
                <a:solidFill>
                  <a:srgbClr val="7FDBCA"/>
                </a:solidFill>
                <a:latin typeface="Inconsolata"/>
              </a:rPr>
              <a:t>REDIS_URL</a:t>
            </a:r>
            <a:r>
              <a:rPr sz="739" i="0">
                <a:solidFill>
                  <a:srgbClr val="E6EDF3"/>
                </a:solidFill>
                <a:latin typeface="Inconsolata"/>
              </a:rPr>
              <a:t>, decode_responses=</a:t>
            </a:r>
            <a:r>
              <a:rPr sz="739" i="0">
                <a:solidFill>
                  <a:srgbClr val="FF8E6E"/>
                </a:solidFill>
                <a:latin typeface="Inconsolata"/>
              </a:rPr>
              <a:t>True</a:t>
            </a:r>
            <a:r>
              <a:rPr sz="739" i="0">
                <a:solidFill>
                  <a:srgbClr val="E6EDF3"/>
                </a:solidFill>
                <a:latin typeface="Inconsolata"/>
              </a:rPr>
              <a:t>)</a:t>
            </a:r>
          </a:p>
          <a:p>
            <a:pPr>
              <a:lnSpc>
                <a:spcPct val="101459"/>
              </a:lnSpc>
              <a:spcAft>
                <a:spcPts val="0"/>
              </a:spcAft>
            </a:pPr>
            <a:r>
              <a:rPr sz="739" i="0">
                <a:solidFill>
                  <a:srgbClr val="5C6773"/>
                </a:solidFill>
                <a:latin typeface="Inconsolata"/>
              </a:rPr>
              <a:t>17  </a:t>
            </a:r>
            <a:r>
              <a:rPr sz="739" i="0">
                <a:solidFill>
                  <a:srgbClr val="E6EDF3"/>
                </a:solidFill>
                <a:latin typeface="Inconsolata"/>
              </a:rPr>
              <a:t> </a:t>
            </a:r>
          </a:p>
          <a:p>
            <a:pPr>
              <a:lnSpc>
                <a:spcPct val="101459"/>
              </a:lnSpc>
              <a:spcAft>
                <a:spcPts val="0"/>
              </a:spcAft>
            </a:pPr>
            <a:r>
              <a:rPr sz="739" i="0">
                <a:solidFill>
                  <a:srgbClr val="5C6773"/>
                </a:solidFill>
                <a:latin typeface="Inconsolata"/>
              </a:rPr>
              <a:t>18  </a:t>
            </a:r>
            <a:r>
              <a:rPr sz="739" i="0">
                <a:solidFill>
                  <a:srgbClr val="7FDBCA"/>
                </a:solidFill>
                <a:latin typeface="Inconsolata"/>
              </a:rPr>
              <a:t>PRODUCTS</a:t>
            </a:r>
            <a:r>
              <a:rPr sz="739" i="0">
                <a:solidFill>
                  <a:srgbClr val="E6EDF3"/>
                </a:solidFill>
                <a:latin typeface="Inconsolata"/>
              </a:rPr>
              <a:t> = {</a:t>
            </a:r>
            <a:r>
              <a:rPr sz="739" i="0">
                <a:solidFill>
                  <a:srgbClr val="F9C97A"/>
                </a:solidFill>
                <a:latin typeface="Inconsolata"/>
              </a:rPr>
              <a:t>1</a:t>
            </a:r>
            <a:r>
              <a:rPr sz="739" i="0">
                <a:solidFill>
                  <a:srgbClr val="E6EDF3"/>
                </a:solidFill>
                <a:latin typeface="Inconsolata"/>
              </a:rPr>
              <a:t>: {</a:t>
            </a:r>
            <a:r>
              <a:rPr sz="739" i="0">
                <a:solidFill>
                  <a:srgbClr val="A5D6A7"/>
                </a:solidFill>
                <a:latin typeface="Inconsolata"/>
              </a:rPr>
              <a:t>"id"</a:t>
            </a:r>
            <a:r>
              <a:rPr sz="739" i="0">
                <a:solidFill>
                  <a:srgbClr val="E6EDF3"/>
                </a:solidFill>
                <a:latin typeface="Inconsolata"/>
              </a:rPr>
              <a:t>: </a:t>
            </a:r>
            <a:r>
              <a:rPr sz="739" i="0">
                <a:solidFill>
                  <a:srgbClr val="F9C97A"/>
                </a:solidFill>
                <a:latin typeface="Inconsolata"/>
              </a:rPr>
              <a:t>1</a:t>
            </a:r>
            <a:r>
              <a:rPr sz="739" i="0">
                <a:solidFill>
                  <a:srgbClr val="E6EDF3"/>
                </a:solidFill>
                <a:latin typeface="Inconsolata"/>
              </a:rPr>
              <a:t>, </a:t>
            </a:r>
            <a:r>
              <a:rPr sz="739" i="0">
                <a:solidFill>
                  <a:srgbClr val="A5D6A7"/>
                </a:solidFill>
                <a:latin typeface="Inconsolata"/>
              </a:rPr>
              <a:t>"name"</a:t>
            </a:r>
            <a:r>
              <a:rPr sz="739" i="0">
                <a:solidFill>
                  <a:srgbClr val="E6EDF3"/>
                </a:solidFill>
                <a:latin typeface="Inconsolata"/>
              </a:rPr>
              <a:t>: </a:t>
            </a:r>
            <a:r>
              <a:rPr sz="739" i="0">
                <a:solidFill>
                  <a:srgbClr val="A5D6A7"/>
                </a:solidFill>
                <a:latin typeface="Inconsolata"/>
              </a:rPr>
              <a:t>"Keyboard"</a:t>
            </a:r>
            <a:r>
              <a:rPr sz="739" i="0">
                <a:solidFill>
                  <a:srgbClr val="E6EDF3"/>
                </a:solidFill>
                <a:latin typeface="Inconsolata"/>
              </a:rPr>
              <a:t>, </a:t>
            </a:r>
            <a:r>
              <a:rPr sz="739" i="0">
                <a:solidFill>
                  <a:srgbClr val="A5D6A7"/>
                </a:solidFill>
                <a:latin typeface="Inconsolata"/>
              </a:rPr>
              <a:t>"price"</a:t>
            </a:r>
            <a:r>
              <a:rPr sz="739" i="0">
                <a:solidFill>
                  <a:srgbClr val="E6EDF3"/>
                </a:solidFill>
                <a:latin typeface="Inconsolata"/>
              </a:rPr>
              <a:t>: </a:t>
            </a:r>
            <a:r>
              <a:rPr sz="739" i="0">
                <a:solidFill>
                  <a:srgbClr val="F9C97A"/>
                </a:solidFill>
                <a:latin typeface="Inconsolata"/>
              </a:rPr>
              <a:t>500_000</a:t>
            </a:r>
            <a:r>
              <a:rPr sz="739" i="0">
                <a:solidFill>
                  <a:srgbClr val="E6EDF3"/>
                </a:solidFill>
                <a:latin typeface="Inconsolata"/>
              </a:rPr>
              <a:t>}}</a:t>
            </a:r>
          </a:p>
          <a:p>
            <a:pPr>
              <a:lnSpc>
                <a:spcPct val="101459"/>
              </a:lnSpc>
              <a:spcAft>
                <a:spcPts val="0"/>
              </a:spcAft>
            </a:pPr>
            <a:r>
              <a:rPr sz="739" i="0">
                <a:solidFill>
                  <a:srgbClr val="5C6773"/>
                </a:solidFill>
                <a:latin typeface="Inconsolata"/>
              </a:rPr>
              <a:t>19  </a:t>
            </a:r>
            <a:r>
              <a:rPr sz="739" i="0">
                <a:solidFill>
                  <a:srgbClr val="E6EDF3"/>
                </a:solidFill>
                <a:latin typeface="Inconsolata"/>
              </a:rPr>
              <a:t> </a:t>
            </a:r>
          </a:p>
          <a:p>
            <a:pPr>
              <a:lnSpc>
                <a:spcPct val="101459"/>
              </a:lnSpc>
              <a:spcAft>
                <a:spcPts val="0"/>
              </a:spcAft>
            </a:pPr>
            <a:r>
              <a:rPr sz="739" i="0">
                <a:solidFill>
                  <a:srgbClr val="5C6773"/>
                </a:solidFill>
                <a:latin typeface="Inconsolata"/>
              </a:rPr>
              <a:t>20  </a:t>
            </a:r>
            <a:r>
              <a:rPr sz="739" i="0">
                <a:solidFill>
                  <a:srgbClr val="E6EDF3"/>
                </a:solidFill>
                <a:latin typeface="Inconsolata"/>
              </a:rPr>
              <a:t> </a:t>
            </a:r>
          </a:p>
          <a:p>
            <a:pPr>
              <a:lnSpc>
                <a:spcPct val="101459"/>
              </a:lnSpc>
              <a:spcAft>
                <a:spcPts val="0"/>
              </a:spcAft>
            </a:pPr>
            <a:r>
              <a:rPr sz="739" i="0">
                <a:solidFill>
                  <a:srgbClr val="5C6773"/>
                </a:solidFill>
                <a:latin typeface="Inconsolata"/>
              </a:rPr>
              <a:t>21  </a:t>
            </a:r>
            <a:r>
              <a:rPr sz="739" i="0">
                <a:solidFill>
                  <a:srgbClr val="FF8E6E"/>
                </a:solidFill>
                <a:latin typeface="Inconsolata"/>
              </a:rPr>
              <a:t>def</a:t>
            </a:r>
            <a:r>
              <a:rPr sz="739" i="0">
                <a:solidFill>
                  <a:srgbClr val="E6EDF3"/>
                </a:solidFill>
                <a:latin typeface="Inconsolata"/>
              </a:rPr>
              <a:t> </a:t>
            </a:r>
            <a:r>
              <a:rPr sz="739" i="0">
                <a:solidFill>
                  <a:srgbClr val="82B1FF"/>
                </a:solidFill>
                <a:latin typeface="Inconsolata"/>
              </a:rPr>
              <a:t>get_product</a:t>
            </a:r>
            <a:r>
              <a:rPr sz="739" i="0">
                <a:solidFill>
                  <a:srgbClr val="E6EDF3"/>
                </a:solidFill>
                <a:latin typeface="Inconsolata"/>
              </a:rPr>
              <a:t>(product_id: </a:t>
            </a:r>
            <a:r>
              <a:rPr sz="739" i="0">
                <a:solidFill>
                  <a:srgbClr val="C3A6FF"/>
                </a:solidFill>
                <a:latin typeface="Inconsolata"/>
              </a:rPr>
              <a:t>int</a:t>
            </a:r>
            <a:r>
              <a:rPr sz="739" i="0">
                <a:solidFill>
                  <a:srgbClr val="E6EDF3"/>
                </a:solidFill>
                <a:latin typeface="Inconsolata"/>
              </a:rPr>
              <a:t>) -&gt; </a:t>
            </a:r>
            <a:r>
              <a:rPr sz="739" i="0">
                <a:solidFill>
                  <a:srgbClr val="C3A6FF"/>
                </a:solidFill>
                <a:latin typeface="Inconsolata"/>
              </a:rPr>
              <a:t>dict</a:t>
            </a:r>
            <a:r>
              <a:rPr sz="739" i="0">
                <a:solidFill>
                  <a:srgbClr val="E6EDF3"/>
                </a:solidFill>
                <a:latin typeface="Inconsolata"/>
              </a:rPr>
              <a:t>:</a:t>
            </a:r>
          </a:p>
          <a:p>
            <a:pPr>
              <a:lnSpc>
                <a:spcPct val="101459"/>
              </a:lnSpc>
              <a:spcAft>
                <a:spcPts val="0"/>
              </a:spcAft>
            </a:pPr>
            <a:r>
              <a:rPr sz="739" i="0">
                <a:solidFill>
                  <a:srgbClr val="5C6773"/>
                </a:solidFill>
                <a:latin typeface="Inconsolata"/>
              </a:rPr>
              <a:t>22  </a:t>
            </a:r>
            <a:r>
              <a:rPr sz="739" i="0">
                <a:solidFill>
                  <a:srgbClr val="E6EDF3"/>
                </a:solidFill>
                <a:latin typeface="Inconsolata"/>
              </a:rPr>
              <a:t>    key = </a:t>
            </a:r>
            <a:r>
              <a:rPr sz="739" i="0">
                <a:solidFill>
                  <a:srgbClr val="A5D6A7"/>
                </a:solidFill>
                <a:latin typeface="Inconsolata"/>
              </a:rPr>
              <a:t>f"product:{product_id}"</a:t>
            </a:r>
          </a:p>
          <a:p>
            <a:pPr>
              <a:lnSpc>
                <a:spcPct val="101459"/>
              </a:lnSpc>
              <a:spcAft>
                <a:spcPts val="0"/>
              </a:spcAft>
            </a:pPr>
            <a:r>
              <a:rPr sz="739" i="0">
                <a:solidFill>
                  <a:srgbClr val="5C6773"/>
                </a:solidFill>
                <a:latin typeface="Inconsolata"/>
              </a:rPr>
              <a:t>23  </a:t>
            </a:r>
            <a:r>
              <a:rPr sz="739" i="0">
                <a:solidFill>
                  <a:srgbClr val="E6EDF3"/>
                </a:solidFill>
                <a:latin typeface="Inconsolata"/>
              </a:rPr>
              <a:t>    cached = cache.get(key)</a:t>
            </a:r>
          </a:p>
          <a:p>
            <a:pPr>
              <a:lnSpc>
                <a:spcPct val="101459"/>
              </a:lnSpc>
              <a:spcAft>
                <a:spcPts val="0"/>
              </a:spcAft>
            </a:pPr>
            <a:r>
              <a:rPr sz="739" i="0">
                <a:solidFill>
                  <a:srgbClr val="5C6773"/>
                </a:solidFill>
                <a:latin typeface="Inconsolata"/>
              </a:rPr>
              <a:t>24  </a:t>
            </a:r>
            <a:r>
              <a:rPr sz="739" i="0">
                <a:solidFill>
                  <a:srgbClr val="E6EDF3"/>
                </a:solidFill>
                <a:latin typeface="Inconsolata"/>
              </a:rPr>
              <a:t>    </a:t>
            </a:r>
            <a:r>
              <a:rPr sz="739" i="0">
                <a:solidFill>
                  <a:srgbClr val="FF8E6E"/>
                </a:solidFill>
                <a:latin typeface="Inconsolata"/>
              </a:rPr>
              <a:t>if</a:t>
            </a:r>
            <a:r>
              <a:rPr sz="739" i="0">
                <a:solidFill>
                  <a:srgbClr val="E6EDF3"/>
                </a:solidFill>
                <a:latin typeface="Inconsolata"/>
              </a:rPr>
              <a:t> cached </a:t>
            </a:r>
            <a:r>
              <a:rPr sz="739" i="0">
                <a:solidFill>
                  <a:srgbClr val="FF8E6E"/>
                </a:solidFill>
                <a:latin typeface="Inconsolata"/>
              </a:rPr>
              <a:t>is</a:t>
            </a:r>
            <a:r>
              <a:rPr sz="739" i="0">
                <a:solidFill>
                  <a:srgbClr val="E6EDF3"/>
                </a:solidFill>
                <a:latin typeface="Inconsolata"/>
              </a:rPr>
              <a:t> </a:t>
            </a:r>
            <a:r>
              <a:rPr sz="739" i="0">
                <a:solidFill>
                  <a:srgbClr val="FF8E6E"/>
                </a:solidFill>
                <a:latin typeface="Inconsolata"/>
              </a:rPr>
              <a:t>not</a:t>
            </a:r>
            <a:r>
              <a:rPr sz="739" i="0">
                <a:solidFill>
                  <a:srgbClr val="E6EDF3"/>
                </a:solidFill>
                <a:latin typeface="Inconsolata"/>
              </a:rPr>
              <a:t> </a:t>
            </a:r>
            <a:r>
              <a:rPr sz="739" i="0">
                <a:solidFill>
                  <a:srgbClr val="FF8E6E"/>
                </a:solidFill>
                <a:latin typeface="Inconsolata"/>
              </a:rPr>
              <a:t>None</a:t>
            </a:r>
            <a:r>
              <a:rPr sz="739" i="0">
                <a:solidFill>
                  <a:srgbClr val="E6EDF3"/>
                </a:solidFill>
                <a:latin typeface="Inconsolata"/>
              </a:rPr>
              <a:t>:</a:t>
            </a:r>
          </a:p>
          <a:p>
            <a:pPr>
              <a:lnSpc>
                <a:spcPct val="101459"/>
              </a:lnSpc>
              <a:spcAft>
                <a:spcPts val="0"/>
              </a:spcAft>
            </a:pPr>
            <a:r>
              <a:rPr sz="739" i="0">
                <a:solidFill>
                  <a:srgbClr val="5C6773"/>
                </a:solidFill>
                <a:latin typeface="Inconsolata"/>
              </a:rPr>
              <a:t>25  </a:t>
            </a:r>
            <a:r>
              <a:rPr sz="739" i="0">
                <a:solidFill>
                  <a:srgbClr val="E6EDF3"/>
                </a:solidFill>
                <a:latin typeface="Inconsolata"/>
              </a:rPr>
              <a:t>        </a:t>
            </a:r>
            <a:r>
              <a:rPr sz="739" i="0">
                <a:solidFill>
                  <a:srgbClr val="FF8E6E"/>
                </a:solidFill>
                <a:latin typeface="Inconsolata"/>
              </a:rPr>
              <a:t>return</a:t>
            </a:r>
            <a:r>
              <a:rPr sz="739" i="0">
                <a:solidFill>
                  <a:srgbClr val="E6EDF3"/>
                </a:solidFill>
                <a:latin typeface="Inconsolata"/>
              </a:rPr>
              <a:t> json.loads(cached)</a:t>
            </a:r>
          </a:p>
          <a:p>
            <a:pPr>
              <a:lnSpc>
                <a:spcPct val="101459"/>
              </a:lnSpc>
              <a:spcAft>
                <a:spcPts val="0"/>
              </a:spcAft>
            </a:pPr>
            <a:r>
              <a:rPr sz="739" i="0">
                <a:solidFill>
                  <a:srgbClr val="5C6773"/>
                </a:solidFill>
                <a:latin typeface="Inconsolata"/>
              </a:rPr>
              <a:t>26  </a:t>
            </a:r>
            <a:r>
              <a:rPr sz="739" i="0">
                <a:solidFill>
                  <a:srgbClr val="E6EDF3"/>
                </a:solidFill>
                <a:latin typeface="Inconsolata"/>
              </a:rPr>
              <a:t>    product = </a:t>
            </a:r>
            <a:r>
              <a:rPr sz="739" i="0">
                <a:solidFill>
                  <a:srgbClr val="C3A6FF"/>
                </a:solidFill>
                <a:latin typeface="Inconsolata"/>
              </a:rPr>
              <a:t>dict</a:t>
            </a:r>
            <a:r>
              <a:rPr sz="739" i="0">
                <a:solidFill>
                  <a:srgbClr val="E6EDF3"/>
                </a:solidFill>
                <a:latin typeface="Inconsolata"/>
              </a:rPr>
              <a:t>(</a:t>
            </a:r>
            <a:r>
              <a:rPr sz="739" i="0">
                <a:solidFill>
                  <a:srgbClr val="7FDBCA"/>
                </a:solidFill>
                <a:latin typeface="Inconsolata"/>
              </a:rPr>
              <a:t>PRODUCTS</a:t>
            </a:r>
            <a:r>
              <a:rPr sz="739" i="0">
                <a:solidFill>
                  <a:srgbClr val="E6EDF3"/>
                </a:solidFill>
                <a:latin typeface="Inconsolata"/>
              </a:rPr>
              <a:t>[product_id])</a:t>
            </a:r>
          </a:p>
          <a:p>
            <a:pPr>
              <a:lnSpc>
                <a:spcPct val="101459"/>
              </a:lnSpc>
              <a:spcAft>
                <a:spcPts val="0"/>
              </a:spcAft>
            </a:pPr>
            <a:r>
              <a:rPr sz="739" i="0">
                <a:solidFill>
                  <a:srgbClr val="5C6773"/>
                </a:solidFill>
                <a:latin typeface="Inconsolata"/>
              </a:rPr>
              <a:t>27  </a:t>
            </a:r>
            <a:r>
              <a:rPr sz="739" i="0">
                <a:solidFill>
                  <a:srgbClr val="E6EDF3"/>
                </a:solidFill>
                <a:latin typeface="Inconsolata"/>
              </a:rPr>
              <a:t>    cache.</a:t>
            </a:r>
            <a:r>
              <a:rPr sz="739" i="0">
                <a:solidFill>
                  <a:srgbClr val="C3A6FF"/>
                </a:solidFill>
                <a:latin typeface="Inconsolata"/>
              </a:rPr>
              <a:t>set</a:t>
            </a:r>
            <a:r>
              <a:rPr sz="739" i="0">
                <a:solidFill>
                  <a:srgbClr val="E6EDF3"/>
                </a:solidFill>
                <a:latin typeface="Inconsolata"/>
              </a:rPr>
              <a:t>(key, json.dumps(product))         </a:t>
            </a:r>
            <a:r>
              <a:rPr sz="739" i="1">
                <a:solidFill>
                  <a:srgbClr val="8B98A8"/>
                </a:solidFill>
                <a:latin typeface="Inconsolata"/>
              </a:rPr>
              <a:t># tanpa TTL</a:t>
            </a:r>
          </a:p>
          <a:p>
            <a:pPr>
              <a:lnSpc>
                <a:spcPct val="101459"/>
              </a:lnSpc>
              <a:spcAft>
                <a:spcPts val="0"/>
              </a:spcAft>
            </a:pPr>
            <a:r>
              <a:rPr sz="739" i="0">
                <a:solidFill>
                  <a:srgbClr val="5C6773"/>
                </a:solidFill>
                <a:latin typeface="Inconsolata"/>
              </a:rPr>
              <a:t>28  </a:t>
            </a:r>
            <a:r>
              <a:rPr sz="739" i="0">
                <a:solidFill>
                  <a:srgbClr val="E6EDF3"/>
                </a:solidFill>
                <a:latin typeface="Inconsolata"/>
              </a:rPr>
              <a:t>    </a:t>
            </a:r>
            <a:r>
              <a:rPr sz="739" i="0">
                <a:solidFill>
                  <a:srgbClr val="FF8E6E"/>
                </a:solidFill>
                <a:latin typeface="Inconsolata"/>
              </a:rPr>
              <a:t>return</a:t>
            </a:r>
            <a:r>
              <a:rPr sz="739" i="0">
                <a:solidFill>
                  <a:srgbClr val="E6EDF3"/>
                </a:solidFill>
                <a:latin typeface="Inconsolata"/>
              </a:rPr>
              <a:t> product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02-ttl-invalidation/before.py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1459"/>
              </a:lnSpc>
              <a:spcAft>
                <a:spcPts val="0"/>
              </a:spcAft>
            </a:pPr>
            <a:r>
              <a:rPr sz="739" i="0">
                <a:solidFill>
                  <a:srgbClr val="5C6773"/>
                </a:solidFill>
                <a:latin typeface="Inconsolata"/>
              </a:rPr>
              <a:t>31  </a:t>
            </a:r>
            <a:r>
              <a:rPr sz="739" i="0">
                <a:solidFill>
                  <a:srgbClr val="FF8E6E"/>
                </a:solidFill>
                <a:latin typeface="Inconsolata"/>
              </a:rPr>
              <a:t>def</a:t>
            </a:r>
            <a:r>
              <a:rPr sz="739" i="0">
                <a:solidFill>
                  <a:srgbClr val="E6EDF3"/>
                </a:solidFill>
                <a:latin typeface="Inconsolata"/>
              </a:rPr>
              <a:t> </a:t>
            </a:r>
            <a:r>
              <a:rPr sz="739" i="0">
                <a:solidFill>
                  <a:srgbClr val="82B1FF"/>
                </a:solidFill>
                <a:latin typeface="Inconsolata"/>
              </a:rPr>
              <a:t>update_price</a:t>
            </a:r>
            <a:r>
              <a:rPr sz="739" i="0">
                <a:solidFill>
                  <a:srgbClr val="E6EDF3"/>
                </a:solidFill>
                <a:latin typeface="Inconsolata"/>
              </a:rPr>
              <a:t>(product_id: </a:t>
            </a:r>
            <a:r>
              <a:rPr sz="739" i="0">
                <a:solidFill>
                  <a:srgbClr val="C3A6FF"/>
                </a:solidFill>
                <a:latin typeface="Inconsolata"/>
              </a:rPr>
              <a:t>int</a:t>
            </a:r>
            <a:r>
              <a:rPr sz="739" i="0">
                <a:solidFill>
                  <a:srgbClr val="E6EDF3"/>
                </a:solidFill>
                <a:latin typeface="Inconsolata"/>
              </a:rPr>
              <a:t>, price: </a:t>
            </a:r>
            <a:r>
              <a:rPr sz="739" i="0">
                <a:solidFill>
                  <a:srgbClr val="C3A6FF"/>
                </a:solidFill>
                <a:latin typeface="Inconsolata"/>
              </a:rPr>
              <a:t>int</a:t>
            </a:r>
            <a:r>
              <a:rPr sz="739" i="0">
                <a:solidFill>
                  <a:srgbClr val="E6EDF3"/>
                </a:solidFill>
                <a:latin typeface="Inconsolata"/>
              </a:rPr>
              <a:t>) -&gt; </a:t>
            </a:r>
            <a:r>
              <a:rPr sz="739" i="0">
                <a:solidFill>
                  <a:srgbClr val="FF8E6E"/>
                </a:solidFill>
                <a:latin typeface="Inconsolata"/>
              </a:rPr>
              <a:t>None</a:t>
            </a:r>
            <a:r>
              <a:rPr sz="739" i="0">
                <a:solidFill>
                  <a:srgbClr val="E6EDF3"/>
                </a:solidFill>
                <a:latin typeface="Inconsolata"/>
              </a:rPr>
              <a:t>:</a:t>
            </a:r>
          </a:p>
          <a:p>
            <a:pPr>
              <a:lnSpc>
                <a:spcPct val="101459"/>
              </a:lnSpc>
              <a:spcAft>
                <a:spcPts val="0"/>
              </a:spcAft>
            </a:pPr>
            <a:r>
              <a:rPr sz="739" i="0">
                <a:solidFill>
                  <a:srgbClr val="5C6773"/>
                </a:solidFill>
                <a:latin typeface="Inconsolata"/>
              </a:rPr>
              <a:t>32  </a:t>
            </a:r>
            <a:r>
              <a:rPr sz="739" i="0">
                <a:solidFill>
                  <a:srgbClr val="E6EDF3"/>
                </a:solidFill>
                <a:latin typeface="Inconsolata"/>
              </a:rPr>
              <a:t>    </a:t>
            </a:r>
            <a:r>
              <a:rPr sz="739" i="0">
                <a:solidFill>
                  <a:srgbClr val="7FDBCA"/>
                </a:solidFill>
                <a:latin typeface="Inconsolata"/>
              </a:rPr>
              <a:t>PRODUCTS</a:t>
            </a:r>
            <a:r>
              <a:rPr sz="739" i="0">
                <a:solidFill>
                  <a:srgbClr val="E6EDF3"/>
                </a:solidFill>
                <a:latin typeface="Inconsolata"/>
              </a:rPr>
              <a:t>[product_id][</a:t>
            </a:r>
            <a:r>
              <a:rPr sz="739" i="0">
                <a:solidFill>
                  <a:srgbClr val="A5D6A7"/>
                </a:solidFill>
                <a:latin typeface="Inconsolata"/>
              </a:rPr>
              <a:t>"price"</a:t>
            </a:r>
            <a:r>
              <a:rPr sz="739" i="0">
                <a:solidFill>
                  <a:srgbClr val="E6EDF3"/>
                </a:solidFill>
                <a:latin typeface="Inconsolata"/>
              </a:rPr>
              <a:t>] = price       </a:t>
            </a:r>
            <a:r>
              <a:rPr sz="739" i="1">
                <a:solidFill>
                  <a:srgbClr val="8B98A8"/>
                </a:solidFill>
                <a:latin typeface="Inconsolata"/>
              </a:rPr>
              <a:t># cache tidak diubah</a:t>
            </a:r>
          </a:p>
          <a:p>
            <a:pPr>
              <a:lnSpc>
                <a:spcPct val="101459"/>
              </a:lnSpc>
              <a:spcAft>
                <a:spcPts val="0"/>
              </a:spcAft>
            </a:pPr>
            <a:r>
              <a:rPr sz="739" i="0">
                <a:solidFill>
                  <a:srgbClr val="5C6773"/>
                </a:solidFill>
                <a:latin typeface="Inconsolata"/>
              </a:rPr>
              <a:t>33  </a:t>
            </a:r>
            <a:r>
              <a:rPr sz="739" i="0">
                <a:solidFill>
                  <a:srgbClr val="E6EDF3"/>
                </a:solidFill>
                <a:latin typeface="Inconsolata"/>
              </a:rPr>
              <a:t> </a:t>
            </a:r>
          </a:p>
          <a:p>
            <a:pPr>
              <a:lnSpc>
                <a:spcPct val="101459"/>
              </a:lnSpc>
              <a:spcAft>
                <a:spcPts val="0"/>
              </a:spcAft>
            </a:pPr>
            <a:r>
              <a:rPr sz="739" i="0">
                <a:solidFill>
                  <a:srgbClr val="5C6773"/>
                </a:solidFill>
                <a:latin typeface="Inconsolata"/>
              </a:rPr>
              <a:t>34  </a:t>
            </a:r>
            <a:r>
              <a:rPr sz="739" i="0">
                <a:solidFill>
                  <a:srgbClr val="E6EDF3"/>
                </a:solidFill>
                <a:latin typeface="Inconsolata"/>
              </a:rPr>
              <a:t> </a:t>
            </a:r>
          </a:p>
          <a:p>
            <a:pPr>
              <a:lnSpc>
                <a:spcPct val="101459"/>
              </a:lnSpc>
              <a:spcAft>
                <a:spcPts val="0"/>
              </a:spcAft>
            </a:pPr>
            <a:r>
              <a:rPr sz="739" i="0">
                <a:solidFill>
                  <a:srgbClr val="5C6773"/>
                </a:solidFill>
                <a:latin typeface="Inconsolata"/>
              </a:rPr>
              <a:t>35  </a:t>
            </a:r>
            <a:r>
              <a:rPr sz="739" i="0">
                <a:solidFill>
                  <a:srgbClr val="FF8E6E"/>
                </a:solidFill>
                <a:latin typeface="Inconsolata"/>
              </a:rPr>
              <a:t>if</a:t>
            </a:r>
            <a:r>
              <a:rPr sz="739" i="0">
                <a:solidFill>
                  <a:srgbClr val="E6EDF3"/>
                </a:solidFill>
                <a:latin typeface="Inconsolata"/>
              </a:rPr>
              <a:t> __name__ == </a:t>
            </a:r>
            <a:r>
              <a:rPr sz="739" i="0">
                <a:solidFill>
                  <a:srgbClr val="A5D6A7"/>
                </a:solidFill>
                <a:latin typeface="Inconsolata"/>
              </a:rPr>
              <a:t>"__main__"</a:t>
            </a:r>
            <a:r>
              <a:rPr sz="739" i="0">
                <a:solidFill>
                  <a:srgbClr val="E6EDF3"/>
                </a:solidFill>
                <a:latin typeface="Inconsolata"/>
              </a:rPr>
              <a:t>:</a:t>
            </a:r>
          </a:p>
          <a:p>
            <a:pPr>
              <a:lnSpc>
                <a:spcPct val="101459"/>
              </a:lnSpc>
              <a:spcAft>
                <a:spcPts val="0"/>
              </a:spcAft>
            </a:pPr>
            <a:r>
              <a:rPr sz="739" i="0">
                <a:solidFill>
                  <a:srgbClr val="5C6773"/>
                </a:solidFill>
                <a:latin typeface="Inconsolata"/>
              </a:rPr>
              <a:t>36  </a:t>
            </a:r>
            <a:r>
              <a:rPr sz="739" i="0">
                <a:solidFill>
                  <a:srgbClr val="E6EDF3"/>
                </a:solidFill>
                <a:latin typeface="Inconsolata"/>
              </a:rPr>
              <a:t>    cache.delete(</a:t>
            </a:r>
            <a:r>
              <a:rPr sz="739" i="0">
                <a:solidFill>
                  <a:srgbClr val="A5D6A7"/>
                </a:solidFill>
                <a:latin typeface="Inconsolata"/>
              </a:rPr>
              <a:t>"product:1"</a:t>
            </a:r>
            <a:r>
              <a:rPr sz="739" i="0">
                <a:solidFill>
                  <a:srgbClr val="E6EDF3"/>
                </a:solidFill>
                <a:latin typeface="Inconsolata"/>
              </a:rPr>
              <a:t>)</a:t>
            </a:r>
          </a:p>
          <a:p>
            <a:pPr>
              <a:lnSpc>
                <a:spcPct val="101459"/>
              </a:lnSpc>
              <a:spcAft>
                <a:spcPts val="0"/>
              </a:spcAft>
            </a:pPr>
            <a:r>
              <a:rPr sz="739" i="0">
                <a:solidFill>
                  <a:srgbClr val="5C6773"/>
                </a:solidFill>
                <a:latin typeface="Inconsolata"/>
              </a:rPr>
              <a:t>37  </a:t>
            </a:r>
            <a:r>
              <a:rPr sz="739" i="0">
                <a:solidFill>
                  <a:srgbClr val="E6EDF3"/>
                </a:solidFill>
                <a:latin typeface="Inconsolata"/>
              </a:rPr>
              <a:t>    </a:t>
            </a:r>
            <a:r>
              <a:rPr sz="739" i="0">
                <a:solidFill>
                  <a:srgbClr val="C3A6FF"/>
                </a:solidFill>
                <a:latin typeface="Inconsolata"/>
              </a:rPr>
              <a:t>print</a:t>
            </a:r>
            <a:r>
              <a:rPr sz="739" i="0">
                <a:solidFill>
                  <a:srgbClr val="E6EDF3"/>
                </a:solidFill>
                <a:latin typeface="Inconsolata"/>
              </a:rPr>
              <a:t>(</a:t>
            </a:r>
            <a:r>
              <a:rPr sz="739" i="0">
                <a:solidFill>
                  <a:srgbClr val="A5D6A7"/>
                </a:solidFill>
                <a:latin typeface="Inconsolata"/>
              </a:rPr>
              <a:t>"Harga awal :"</a:t>
            </a:r>
            <a:r>
              <a:rPr sz="739" i="0">
                <a:solidFill>
                  <a:srgbClr val="E6EDF3"/>
                </a:solidFill>
                <a:latin typeface="Inconsolata"/>
              </a:rPr>
              <a:t>, get_product(</a:t>
            </a:r>
            <a:r>
              <a:rPr sz="739" i="0">
                <a:solidFill>
                  <a:srgbClr val="F9C97A"/>
                </a:solidFill>
                <a:latin typeface="Inconsolata"/>
              </a:rPr>
              <a:t>1</a:t>
            </a:r>
            <a:r>
              <a:rPr sz="739" i="0">
                <a:solidFill>
                  <a:srgbClr val="E6EDF3"/>
                </a:solidFill>
                <a:latin typeface="Inconsolata"/>
              </a:rPr>
              <a:t>)[</a:t>
            </a:r>
            <a:r>
              <a:rPr sz="739" i="0">
                <a:solidFill>
                  <a:srgbClr val="A5D6A7"/>
                </a:solidFill>
                <a:latin typeface="Inconsolata"/>
              </a:rPr>
              <a:t>"price"</a:t>
            </a:r>
            <a:r>
              <a:rPr sz="739" i="0">
                <a:solidFill>
                  <a:srgbClr val="E6EDF3"/>
                </a:solidFill>
                <a:latin typeface="Inconsolata"/>
              </a:rPr>
              <a:t>])</a:t>
            </a:r>
          </a:p>
          <a:p>
            <a:pPr>
              <a:lnSpc>
                <a:spcPct val="101459"/>
              </a:lnSpc>
              <a:spcAft>
                <a:spcPts val="0"/>
              </a:spcAft>
            </a:pPr>
            <a:r>
              <a:rPr sz="739" i="0">
                <a:solidFill>
                  <a:srgbClr val="5C6773"/>
                </a:solidFill>
                <a:latin typeface="Inconsolata"/>
              </a:rPr>
              <a:t>38  </a:t>
            </a:r>
            <a:r>
              <a:rPr sz="739" i="0">
                <a:solidFill>
                  <a:srgbClr val="E6EDF3"/>
                </a:solidFill>
                <a:latin typeface="Inconsolata"/>
              </a:rPr>
              <a:t>    update_price(</a:t>
            </a:r>
            <a:r>
              <a:rPr sz="739" i="0">
                <a:solidFill>
                  <a:srgbClr val="F9C97A"/>
                </a:solidFill>
                <a:latin typeface="Inconsolata"/>
              </a:rPr>
              <a:t>1</a:t>
            </a:r>
            <a:r>
              <a:rPr sz="739" i="0">
                <a:solidFill>
                  <a:srgbClr val="E6EDF3"/>
                </a:solidFill>
                <a:latin typeface="Inconsolata"/>
              </a:rPr>
              <a:t>, </a:t>
            </a:r>
            <a:r>
              <a:rPr sz="739" i="0">
                <a:solidFill>
                  <a:srgbClr val="F9C97A"/>
                </a:solidFill>
                <a:latin typeface="Inconsolata"/>
              </a:rPr>
              <a:t>450_000</a:t>
            </a:r>
            <a:r>
              <a:rPr sz="739" i="0">
                <a:solidFill>
                  <a:srgbClr val="E6EDF3"/>
                </a:solidFill>
                <a:latin typeface="Inconsolata"/>
              </a:rPr>
              <a:t>)</a:t>
            </a:r>
          </a:p>
          <a:p>
            <a:pPr>
              <a:lnSpc>
                <a:spcPct val="101459"/>
              </a:lnSpc>
              <a:spcAft>
                <a:spcPts val="0"/>
              </a:spcAft>
            </a:pPr>
            <a:r>
              <a:rPr sz="739" i="0">
                <a:solidFill>
                  <a:srgbClr val="5C6773"/>
                </a:solidFill>
                <a:latin typeface="Inconsolata"/>
              </a:rPr>
              <a:t>39  </a:t>
            </a:r>
            <a:r>
              <a:rPr sz="739" i="0">
                <a:solidFill>
                  <a:srgbClr val="E6EDF3"/>
                </a:solidFill>
                <a:latin typeface="Inconsolata"/>
              </a:rPr>
              <a:t>    </a:t>
            </a:r>
            <a:r>
              <a:rPr sz="739" i="0">
                <a:solidFill>
                  <a:srgbClr val="C3A6FF"/>
                </a:solidFill>
                <a:latin typeface="Inconsolata"/>
              </a:rPr>
              <a:t>print</a:t>
            </a:r>
            <a:r>
              <a:rPr sz="739" i="0">
                <a:solidFill>
                  <a:srgbClr val="E6EDF3"/>
                </a:solidFill>
                <a:latin typeface="Inconsolata"/>
              </a:rPr>
              <a:t>(</a:t>
            </a:r>
            <a:r>
              <a:rPr sz="739" i="0">
                <a:solidFill>
                  <a:srgbClr val="A5D6A7"/>
                </a:solidFill>
                <a:latin typeface="Inconsolata"/>
              </a:rPr>
              <a:t>"Harga baru :"</a:t>
            </a:r>
            <a:r>
              <a:rPr sz="739" i="0">
                <a:solidFill>
                  <a:srgbClr val="E6EDF3"/>
                </a:solidFill>
                <a:latin typeface="Inconsolata"/>
              </a:rPr>
              <a:t>, get_product(</a:t>
            </a:r>
            <a:r>
              <a:rPr sz="739" i="0">
                <a:solidFill>
                  <a:srgbClr val="F9C97A"/>
                </a:solidFill>
                <a:latin typeface="Inconsolata"/>
              </a:rPr>
              <a:t>1</a:t>
            </a:r>
            <a:r>
              <a:rPr sz="739" i="0">
                <a:solidFill>
                  <a:srgbClr val="E6EDF3"/>
                </a:solidFill>
                <a:latin typeface="Inconsolata"/>
              </a:rPr>
              <a:t>)[</a:t>
            </a:r>
            <a:r>
              <a:rPr sz="739" i="0">
                <a:solidFill>
                  <a:srgbClr val="A5D6A7"/>
                </a:solidFill>
                <a:latin typeface="Inconsolata"/>
              </a:rPr>
              <a:t>"price"</a:t>
            </a:r>
            <a:r>
              <a:rPr sz="739" i="0">
                <a:solidFill>
                  <a:srgbClr val="E6EDF3"/>
                </a:solidFill>
                <a:latin typeface="Inconsolata"/>
              </a:rPr>
              <a:t>])  </a:t>
            </a:r>
            <a:r>
              <a:rPr sz="739" i="1">
                <a:solidFill>
                  <a:srgbClr val="8B98A8"/>
                </a:solidFill>
                <a:latin typeface="Inconsolata"/>
              </a:rPr>
              <a:t># masih 500000</a:t>
            </a:r>
          </a:p>
        </p:txBody>
      </p:sp>
      <p:sp>
        <p:nvSpPr>
          <p:cNvPr id="36" name="Box 21"/>
          <p:cNvSpPr/>
          <p:nvPr/>
        </p:nvSpPr>
        <p:spPr>
          <a:xfrm>
            <a:off x="704088" y="37684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7033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8173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TTL &amp; Invalidation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02-ttl-invalidation/before.py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sesi-06-redis-caching-rate-limiting/02-ttl-invalidation</a:t>
            </a:r>
          </a:p>
          <a:p>
            <a:pPr>
              <a:lnSpc>
                <a:spcPct val="111111"/>
              </a:lnSpc>
              <a:spcAft>
                <a:spcPts val="0"/>
              </a:spcAft>
            </a:pPr>
            <a:r>
              <a:rPr sz="900" i="0">
                <a:solidFill>
                  <a:srgbClr val="82B1FF"/>
                </a:solidFill>
                <a:latin typeface="Inconsolata"/>
              </a:rPr>
              <a:t>$ python before.py</a:t>
            </a:r>
          </a:p>
        </p:txBody>
      </p:sp>
      <p:pic>
        <p:nvPicPr>
          <p:cNvPr id="29" name="Image 12" descr="s06-02-ttl-invalidation-before.png"/>
          <p:cNvPicPr>
            <a:picLocks noChangeAspect="1"/>
          </p:cNvPicPr>
          <p:nvPr/>
        </p:nvPicPr>
        <p:blipFill>
          <a:blip r:embed="rId2"/>
          <a:stretch>
            <a:fillRect/>
          </a:stretch>
        </p:blipFill>
        <p:spPr>
          <a:xfrm>
            <a:off x="621792" y="2322576"/>
            <a:ext cx="4297680" cy="913257"/>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Cache disimpan tanpa TTL (baris 27)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Harga diubah, tapi cache tidak ikut diubah (baris 31-32)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Harga baru tetap 500000 dari cache.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TTL &amp; Invalidation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TTL dan hapus key saat data berubah</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02-ttl-invalidation/after.py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11166"/>
              </a:lnSpc>
              <a:spcAft>
                <a:spcPts val="0"/>
              </a:spcAft>
            </a:pPr>
            <a:r>
              <a:rPr sz="749" i="0">
                <a:solidFill>
                  <a:srgbClr val="5C6773"/>
                </a:solidFill>
                <a:latin typeface="Inconsolata"/>
              </a:rPr>
              <a:t>12  </a:t>
            </a:r>
            <a:r>
              <a:rPr sz="749" i="0">
                <a:solidFill>
                  <a:srgbClr val="FF8E6E"/>
                </a:solidFill>
                <a:latin typeface="Inconsolata"/>
              </a:rPr>
              <a:t>import</a:t>
            </a:r>
            <a:r>
              <a:rPr sz="749" i="0">
                <a:solidFill>
                  <a:srgbClr val="E6EDF3"/>
                </a:solidFill>
                <a:latin typeface="Inconsolata"/>
              </a:rPr>
              <a:t> json</a:t>
            </a:r>
          </a:p>
          <a:p>
            <a:pPr>
              <a:lnSpc>
                <a:spcPct val="111166"/>
              </a:lnSpc>
              <a:spcAft>
                <a:spcPts val="0"/>
              </a:spcAft>
            </a:pPr>
            <a:r>
              <a:rPr sz="749" i="0">
                <a:solidFill>
                  <a:srgbClr val="5C6773"/>
                </a:solidFill>
                <a:latin typeface="Inconsolata"/>
              </a:rPr>
              <a:t>13  </a:t>
            </a:r>
            <a:r>
              <a:rPr sz="749" i="0">
                <a:solidFill>
                  <a:srgbClr val="FF8E6E"/>
                </a:solidFill>
                <a:latin typeface="Inconsolata"/>
              </a:rPr>
              <a:t>import</a:t>
            </a:r>
            <a:r>
              <a:rPr sz="749" i="0">
                <a:solidFill>
                  <a:srgbClr val="E6EDF3"/>
                </a:solidFill>
                <a:latin typeface="Inconsolata"/>
              </a:rPr>
              <a:t> os</a:t>
            </a:r>
          </a:p>
          <a:p>
            <a:pPr>
              <a:lnSpc>
                <a:spcPct val="111166"/>
              </a:lnSpc>
              <a:spcAft>
                <a:spcPts val="0"/>
              </a:spcAft>
            </a:pPr>
            <a:r>
              <a:rPr sz="749" i="0">
                <a:solidFill>
                  <a:srgbClr val="5C6773"/>
                </a:solidFill>
                <a:latin typeface="Inconsolata"/>
              </a:rPr>
              <a:t>14  </a:t>
            </a:r>
            <a:r>
              <a:rPr sz="749" i="0">
                <a:solidFill>
                  <a:srgbClr val="E6EDF3"/>
                </a:solidFill>
                <a:latin typeface="Inconsolata"/>
              </a:rPr>
              <a:t> </a:t>
            </a:r>
          </a:p>
          <a:p>
            <a:pPr>
              <a:lnSpc>
                <a:spcPct val="111166"/>
              </a:lnSpc>
              <a:spcAft>
                <a:spcPts val="0"/>
              </a:spcAft>
            </a:pPr>
            <a:r>
              <a:rPr sz="749" i="0">
                <a:solidFill>
                  <a:srgbClr val="5C6773"/>
                </a:solidFill>
                <a:latin typeface="Inconsolata"/>
              </a:rPr>
              <a:t>15  </a:t>
            </a:r>
            <a:r>
              <a:rPr sz="749" i="0">
                <a:solidFill>
                  <a:srgbClr val="FF8E6E"/>
                </a:solidFill>
                <a:latin typeface="Inconsolata"/>
              </a:rPr>
              <a:t>import</a:t>
            </a:r>
            <a:r>
              <a:rPr sz="749" i="0">
                <a:solidFill>
                  <a:srgbClr val="E6EDF3"/>
                </a:solidFill>
                <a:latin typeface="Inconsolata"/>
              </a:rPr>
              <a:t> redis</a:t>
            </a:r>
          </a:p>
          <a:p>
            <a:pPr>
              <a:lnSpc>
                <a:spcPct val="111166"/>
              </a:lnSpc>
              <a:spcAft>
                <a:spcPts val="0"/>
              </a:spcAft>
            </a:pPr>
            <a:r>
              <a:rPr sz="749" i="0">
                <a:solidFill>
                  <a:srgbClr val="5C6773"/>
                </a:solidFill>
                <a:latin typeface="Inconsolata"/>
              </a:rPr>
              <a:t>16  </a:t>
            </a:r>
            <a:r>
              <a:rPr sz="749" i="0">
                <a:solidFill>
                  <a:srgbClr val="E6EDF3"/>
                </a:solidFill>
                <a:latin typeface="Inconsolata"/>
              </a:rPr>
              <a:t> </a:t>
            </a:r>
          </a:p>
          <a:p>
            <a:pPr>
              <a:lnSpc>
                <a:spcPct val="111166"/>
              </a:lnSpc>
              <a:spcAft>
                <a:spcPts val="0"/>
              </a:spcAft>
            </a:pPr>
            <a:r>
              <a:rPr sz="749" i="0">
                <a:solidFill>
                  <a:srgbClr val="5C6773"/>
                </a:solidFill>
                <a:latin typeface="Inconsolata"/>
              </a:rPr>
              <a:t>17  </a:t>
            </a:r>
            <a:r>
              <a:rPr sz="749" i="0">
                <a:solidFill>
                  <a:srgbClr val="7FDBCA"/>
                </a:solidFill>
                <a:latin typeface="Inconsolata"/>
              </a:rPr>
              <a:t>REDIS_URL</a:t>
            </a:r>
            <a:r>
              <a:rPr sz="749" i="0">
                <a:solidFill>
                  <a:srgbClr val="E6EDF3"/>
                </a:solidFill>
                <a:latin typeface="Inconsolata"/>
              </a:rPr>
              <a:t> = os.getenv(</a:t>
            </a:r>
            <a:r>
              <a:rPr sz="749" i="0">
                <a:solidFill>
                  <a:srgbClr val="A5D6A7"/>
                </a:solidFill>
                <a:latin typeface="Inconsolata"/>
              </a:rPr>
              <a:t>"REDIS_URL"</a:t>
            </a:r>
            <a:r>
              <a:rPr sz="749" i="0">
                <a:solidFill>
                  <a:srgbClr val="E6EDF3"/>
                </a:solidFill>
                <a:latin typeface="Inconsolata"/>
              </a:rPr>
              <a:t>, </a:t>
            </a:r>
            <a:r>
              <a:rPr sz="749" i="0">
                <a:solidFill>
                  <a:srgbClr val="A5D6A7"/>
                </a:solidFill>
                <a:latin typeface="Inconsolata"/>
              </a:rPr>
              <a:t>"redis://localhost:6379/0"</a:t>
            </a:r>
            <a:r>
              <a:rPr sz="749" i="0">
                <a:solidFill>
                  <a:srgbClr val="E6EDF3"/>
                </a:solidFill>
                <a:latin typeface="Inconsolata"/>
              </a:rPr>
              <a:t>)</a:t>
            </a:r>
          </a:p>
          <a:p>
            <a:pPr>
              <a:lnSpc>
                <a:spcPct val="111166"/>
              </a:lnSpc>
              <a:spcAft>
                <a:spcPts val="0"/>
              </a:spcAft>
            </a:pPr>
            <a:r>
              <a:rPr sz="749" i="0">
                <a:solidFill>
                  <a:srgbClr val="5C6773"/>
                </a:solidFill>
                <a:latin typeface="Inconsolata"/>
              </a:rPr>
              <a:t>18  </a:t>
            </a:r>
            <a:r>
              <a:rPr sz="749" i="0">
                <a:solidFill>
                  <a:srgbClr val="E6EDF3"/>
                </a:solidFill>
                <a:latin typeface="Inconsolata"/>
              </a:rPr>
              <a:t>cache = redis.</a:t>
            </a:r>
            <a:r>
              <a:rPr sz="749" i="0">
                <a:solidFill>
                  <a:srgbClr val="7FDBCA"/>
                </a:solidFill>
                <a:latin typeface="Inconsolata"/>
              </a:rPr>
              <a:t>Redis</a:t>
            </a:r>
            <a:r>
              <a:rPr sz="749" i="0">
                <a:solidFill>
                  <a:srgbClr val="E6EDF3"/>
                </a:solidFill>
                <a:latin typeface="Inconsolata"/>
              </a:rPr>
              <a:t>.from_url(</a:t>
            </a:r>
            <a:r>
              <a:rPr sz="749" i="0">
                <a:solidFill>
                  <a:srgbClr val="7FDBCA"/>
                </a:solidFill>
                <a:latin typeface="Inconsolata"/>
              </a:rPr>
              <a:t>REDIS_URL</a:t>
            </a:r>
            <a:r>
              <a:rPr sz="749" i="0">
                <a:solidFill>
                  <a:srgbClr val="E6EDF3"/>
                </a:solidFill>
                <a:latin typeface="Inconsolata"/>
              </a:rPr>
              <a:t>, decode_responses=</a:t>
            </a:r>
            <a:r>
              <a:rPr sz="749" i="0">
                <a:solidFill>
                  <a:srgbClr val="FF8E6E"/>
                </a:solidFill>
                <a:latin typeface="Inconsolata"/>
              </a:rPr>
              <a:t>True</a:t>
            </a:r>
            <a:r>
              <a:rPr sz="749" i="0">
                <a:solidFill>
                  <a:srgbClr val="E6EDF3"/>
                </a:solidFill>
                <a:latin typeface="Inconsolata"/>
              </a:rPr>
              <a:t>)</a:t>
            </a:r>
          </a:p>
          <a:p>
            <a:pPr>
              <a:lnSpc>
                <a:spcPct val="111166"/>
              </a:lnSpc>
              <a:spcAft>
                <a:spcPts val="0"/>
              </a:spcAft>
            </a:pPr>
            <a:r>
              <a:rPr sz="749" i="0">
                <a:solidFill>
                  <a:srgbClr val="5C6773"/>
                </a:solidFill>
                <a:latin typeface="Inconsolata"/>
              </a:rPr>
              <a:t>19  </a:t>
            </a:r>
            <a:r>
              <a:rPr sz="749" i="0">
                <a:solidFill>
                  <a:srgbClr val="E6EDF3"/>
                </a:solidFill>
                <a:latin typeface="Inconsolata"/>
              </a:rPr>
              <a:t> </a:t>
            </a:r>
          </a:p>
          <a:p>
            <a:pPr>
              <a:lnSpc>
                <a:spcPct val="111166"/>
              </a:lnSpc>
              <a:spcAft>
                <a:spcPts val="0"/>
              </a:spcAft>
            </a:pPr>
            <a:r>
              <a:rPr sz="749" i="0">
                <a:solidFill>
                  <a:srgbClr val="5C6773"/>
                </a:solidFill>
                <a:latin typeface="Inconsolata"/>
              </a:rPr>
              <a:t>20  </a:t>
            </a:r>
            <a:r>
              <a:rPr sz="749" i="0">
                <a:solidFill>
                  <a:srgbClr val="7FDBCA"/>
                </a:solidFill>
                <a:latin typeface="Inconsolata"/>
              </a:rPr>
              <a:t>PRODUCTS</a:t>
            </a:r>
            <a:r>
              <a:rPr sz="749" i="0">
                <a:solidFill>
                  <a:srgbClr val="E6EDF3"/>
                </a:solidFill>
                <a:latin typeface="Inconsolata"/>
              </a:rPr>
              <a:t> = {</a:t>
            </a:r>
            <a:r>
              <a:rPr sz="749" i="0">
                <a:solidFill>
                  <a:srgbClr val="F9C97A"/>
                </a:solidFill>
                <a:latin typeface="Inconsolata"/>
              </a:rPr>
              <a:t>1</a:t>
            </a:r>
            <a:r>
              <a:rPr sz="749" i="0">
                <a:solidFill>
                  <a:srgbClr val="E6EDF3"/>
                </a:solidFill>
                <a:latin typeface="Inconsolata"/>
              </a:rPr>
              <a:t>: {</a:t>
            </a:r>
            <a:r>
              <a:rPr sz="749" i="0">
                <a:solidFill>
                  <a:srgbClr val="A5D6A7"/>
                </a:solidFill>
                <a:latin typeface="Inconsolata"/>
              </a:rPr>
              <a:t>"id"</a:t>
            </a:r>
            <a:r>
              <a:rPr sz="749" i="0">
                <a:solidFill>
                  <a:srgbClr val="E6EDF3"/>
                </a:solidFill>
                <a:latin typeface="Inconsolata"/>
              </a:rPr>
              <a:t>: </a:t>
            </a:r>
            <a:r>
              <a:rPr sz="749" i="0">
                <a:solidFill>
                  <a:srgbClr val="F9C97A"/>
                </a:solidFill>
                <a:latin typeface="Inconsolata"/>
              </a:rPr>
              <a:t>1</a:t>
            </a:r>
            <a:r>
              <a:rPr sz="749" i="0">
                <a:solidFill>
                  <a:srgbClr val="E6EDF3"/>
                </a:solidFill>
                <a:latin typeface="Inconsolata"/>
              </a:rPr>
              <a:t>, </a:t>
            </a:r>
            <a:r>
              <a:rPr sz="749" i="0">
                <a:solidFill>
                  <a:srgbClr val="A5D6A7"/>
                </a:solidFill>
                <a:latin typeface="Inconsolata"/>
              </a:rPr>
              <a:t>"name"</a:t>
            </a:r>
            <a:r>
              <a:rPr sz="749" i="0">
                <a:solidFill>
                  <a:srgbClr val="E6EDF3"/>
                </a:solidFill>
                <a:latin typeface="Inconsolata"/>
              </a:rPr>
              <a:t>: </a:t>
            </a:r>
            <a:r>
              <a:rPr sz="749" i="0">
                <a:solidFill>
                  <a:srgbClr val="A5D6A7"/>
                </a:solidFill>
                <a:latin typeface="Inconsolata"/>
              </a:rPr>
              <a:t>"Keyboard"</a:t>
            </a:r>
            <a:r>
              <a:rPr sz="749" i="0">
                <a:solidFill>
                  <a:srgbClr val="E6EDF3"/>
                </a:solidFill>
                <a:latin typeface="Inconsolata"/>
              </a:rPr>
              <a:t>, </a:t>
            </a:r>
            <a:r>
              <a:rPr sz="749" i="0">
                <a:solidFill>
                  <a:srgbClr val="A5D6A7"/>
                </a:solidFill>
                <a:latin typeface="Inconsolata"/>
              </a:rPr>
              <a:t>"price"</a:t>
            </a:r>
            <a:r>
              <a:rPr sz="749" i="0">
                <a:solidFill>
                  <a:srgbClr val="E6EDF3"/>
                </a:solidFill>
                <a:latin typeface="Inconsolata"/>
              </a:rPr>
              <a:t>: </a:t>
            </a:r>
            <a:r>
              <a:rPr sz="749" i="0">
                <a:solidFill>
                  <a:srgbClr val="F9C97A"/>
                </a:solidFill>
                <a:latin typeface="Inconsolata"/>
              </a:rPr>
              <a:t>500_000</a:t>
            </a:r>
            <a:r>
              <a:rPr sz="749" i="0">
                <a:solidFill>
                  <a:srgbClr val="E6EDF3"/>
                </a:solidFill>
                <a:latin typeface="Inconsolata"/>
              </a:rPr>
              <a:t>}}</a:t>
            </a:r>
          </a:p>
          <a:p>
            <a:pPr>
              <a:lnSpc>
                <a:spcPct val="111166"/>
              </a:lnSpc>
              <a:spcAft>
                <a:spcPts val="0"/>
              </a:spcAft>
            </a:pPr>
            <a:r>
              <a:rPr sz="749" i="0">
                <a:solidFill>
                  <a:srgbClr val="5C6773"/>
                </a:solidFill>
                <a:latin typeface="Inconsolata"/>
              </a:rPr>
              <a:t>21  </a:t>
            </a:r>
            <a:r>
              <a:rPr sz="749" i="0">
                <a:solidFill>
                  <a:srgbClr val="7FDBCA"/>
                </a:solidFill>
                <a:latin typeface="Inconsolata"/>
              </a:rPr>
              <a:t>TTL</a:t>
            </a:r>
            <a:r>
              <a:rPr sz="749" i="0">
                <a:solidFill>
                  <a:srgbClr val="E6EDF3"/>
                </a:solidFill>
                <a:latin typeface="Inconsolata"/>
              </a:rPr>
              <a:t> = </a:t>
            </a:r>
            <a:r>
              <a:rPr sz="749" i="0">
                <a:solidFill>
                  <a:srgbClr val="F9C97A"/>
                </a:solidFill>
                <a:latin typeface="Inconsolata"/>
              </a:rPr>
              <a:t>60</a:t>
            </a:r>
          </a:p>
          <a:p>
            <a:pPr>
              <a:lnSpc>
                <a:spcPct val="111166"/>
              </a:lnSpc>
              <a:spcAft>
                <a:spcPts val="0"/>
              </a:spcAft>
            </a:pPr>
            <a:r>
              <a:rPr sz="749" i="0">
                <a:solidFill>
                  <a:srgbClr val="5C6773"/>
                </a:solidFill>
                <a:latin typeface="Inconsolata"/>
              </a:rPr>
              <a:t>22  </a:t>
            </a:r>
            <a:r>
              <a:rPr sz="749" i="0">
                <a:solidFill>
                  <a:srgbClr val="E6EDF3"/>
                </a:solidFill>
                <a:latin typeface="Inconsolata"/>
              </a:rPr>
              <a:t> </a:t>
            </a:r>
          </a:p>
          <a:p>
            <a:pPr>
              <a:lnSpc>
                <a:spcPct val="111166"/>
              </a:lnSpc>
              <a:spcAft>
                <a:spcPts val="0"/>
              </a:spcAft>
            </a:pPr>
            <a:r>
              <a:rPr sz="749" i="0">
                <a:solidFill>
                  <a:srgbClr val="5C6773"/>
                </a:solidFill>
                <a:latin typeface="Inconsolata"/>
              </a:rPr>
              <a:t>23  </a:t>
            </a:r>
            <a:r>
              <a:rPr sz="749" i="0">
                <a:solidFill>
                  <a:srgbClr val="E6EDF3"/>
                </a:solidFill>
                <a:latin typeface="Inconsolata"/>
              </a:rPr>
              <a:t> </a:t>
            </a:r>
          </a:p>
          <a:p>
            <a:pPr>
              <a:lnSpc>
                <a:spcPct val="111166"/>
              </a:lnSpc>
              <a:spcAft>
                <a:spcPts val="0"/>
              </a:spcAft>
            </a:pPr>
            <a:r>
              <a:rPr sz="749" i="0">
                <a:solidFill>
                  <a:srgbClr val="5C6773"/>
                </a:solidFill>
                <a:latin typeface="Inconsolata"/>
              </a:rPr>
              <a:t>24  </a:t>
            </a:r>
            <a:r>
              <a:rPr sz="749" i="0">
                <a:solidFill>
                  <a:srgbClr val="FF8E6E"/>
                </a:solidFill>
                <a:latin typeface="Inconsolata"/>
              </a:rPr>
              <a:t>def</a:t>
            </a:r>
            <a:r>
              <a:rPr sz="749" i="0">
                <a:solidFill>
                  <a:srgbClr val="E6EDF3"/>
                </a:solidFill>
                <a:latin typeface="Inconsolata"/>
              </a:rPr>
              <a:t> </a:t>
            </a:r>
            <a:r>
              <a:rPr sz="749" i="0">
                <a:solidFill>
                  <a:srgbClr val="82B1FF"/>
                </a:solidFill>
                <a:latin typeface="Inconsolata"/>
              </a:rPr>
              <a:t>get_product</a:t>
            </a:r>
            <a:r>
              <a:rPr sz="749" i="0">
                <a:solidFill>
                  <a:srgbClr val="E6EDF3"/>
                </a:solidFill>
                <a:latin typeface="Inconsolata"/>
              </a:rPr>
              <a:t>(product_id: </a:t>
            </a:r>
            <a:r>
              <a:rPr sz="749" i="0">
                <a:solidFill>
                  <a:srgbClr val="C3A6FF"/>
                </a:solidFill>
                <a:latin typeface="Inconsolata"/>
              </a:rPr>
              <a:t>int</a:t>
            </a:r>
            <a:r>
              <a:rPr sz="749" i="0">
                <a:solidFill>
                  <a:srgbClr val="E6EDF3"/>
                </a:solidFill>
                <a:latin typeface="Inconsolata"/>
              </a:rPr>
              <a:t>) -&gt; </a:t>
            </a:r>
            <a:r>
              <a:rPr sz="749" i="0">
                <a:solidFill>
                  <a:srgbClr val="C3A6FF"/>
                </a:solidFill>
                <a:latin typeface="Inconsolata"/>
              </a:rPr>
              <a:t>dict</a:t>
            </a:r>
            <a:r>
              <a:rPr sz="749" i="0">
                <a:solidFill>
                  <a:srgbClr val="E6EDF3"/>
                </a:solidFill>
                <a:latin typeface="Inconsolata"/>
              </a:rPr>
              <a:t>:</a:t>
            </a:r>
          </a:p>
          <a:p>
            <a:pPr>
              <a:lnSpc>
                <a:spcPct val="111166"/>
              </a:lnSpc>
              <a:spcAft>
                <a:spcPts val="0"/>
              </a:spcAft>
            </a:pPr>
            <a:r>
              <a:rPr sz="749" i="0">
                <a:solidFill>
                  <a:srgbClr val="5C6773"/>
                </a:solidFill>
                <a:latin typeface="Inconsolata"/>
              </a:rPr>
              <a:t>25  </a:t>
            </a:r>
            <a:r>
              <a:rPr sz="749" i="0">
                <a:solidFill>
                  <a:srgbClr val="E6EDF3"/>
                </a:solidFill>
                <a:latin typeface="Inconsolata"/>
              </a:rPr>
              <a:t>    key = </a:t>
            </a:r>
            <a:r>
              <a:rPr sz="749" i="0">
                <a:solidFill>
                  <a:srgbClr val="A5D6A7"/>
                </a:solidFill>
                <a:latin typeface="Inconsolata"/>
              </a:rPr>
              <a:t>f"product:{product_id}"</a:t>
            </a:r>
          </a:p>
          <a:p>
            <a:pPr>
              <a:lnSpc>
                <a:spcPct val="111166"/>
              </a:lnSpc>
              <a:spcAft>
                <a:spcPts val="0"/>
              </a:spcAft>
            </a:pPr>
            <a:r>
              <a:rPr sz="749" i="0">
                <a:solidFill>
                  <a:srgbClr val="5C6773"/>
                </a:solidFill>
                <a:latin typeface="Inconsolata"/>
              </a:rPr>
              <a:t>26  </a:t>
            </a:r>
            <a:r>
              <a:rPr sz="749" i="0">
                <a:solidFill>
                  <a:srgbClr val="E6EDF3"/>
                </a:solidFill>
                <a:latin typeface="Inconsolata"/>
              </a:rPr>
              <a:t>    cached = cache.get(key)</a:t>
            </a:r>
          </a:p>
          <a:p>
            <a:pPr>
              <a:lnSpc>
                <a:spcPct val="111166"/>
              </a:lnSpc>
              <a:spcAft>
                <a:spcPts val="0"/>
              </a:spcAft>
            </a:pPr>
            <a:r>
              <a:rPr sz="749" i="0">
                <a:solidFill>
                  <a:srgbClr val="5C6773"/>
                </a:solidFill>
                <a:latin typeface="Inconsolata"/>
              </a:rPr>
              <a:t>27  </a:t>
            </a:r>
            <a:r>
              <a:rPr sz="749" i="0">
                <a:solidFill>
                  <a:srgbClr val="E6EDF3"/>
                </a:solidFill>
                <a:latin typeface="Inconsolata"/>
              </a:rPr>
              <a:t>    </a:t>
            </a:r>
            <a:r>
              <a:rPr sz="749" i="0">
                <a:solidFill>
                  <a:srgbClr val="FF8E6E"/>
                </a:solidFill>
                <a:latin typeface="Inconsolata"/>
              </a:rPr>
              <a:t>if</a:t>
            </a:r>
            <a:r>
              <a:rPr sz="749" i="0">
                <a:solidFill>
                  <a:srgbClr val="E6EDF3"/>
                </a:solidFill>
                <a:latin typeface="Inconsolata"/>
              </a:rPr>
              <a:t> cached </a:t>
            </a:r>
            <a:r>
              <a:rPr sz="749" i="0">
                <a:solidFill>
                  <a:srgbClr val="FF8E6E"/>
                </a:solidFill>
                <a:latin typeface="Inconsolata"/>
              </a:rPr>
              <a:t>is</a:t>
            </a:r>
            <a:r>
              <a:rPr sz="749" i="0">
                <a:solidFill>
                  <a:srgbClr val="E6EDF3"/>
                </a:solidFill>
                <a:latin typeface="Inconsolata"/>
              </a:rPr>
              <a:t> </a:t>
            </a:r>
            <a:r>
              <a:rPr sz="749" i="0">
                <a:solidFill>
                  <a:srgbClr val="FF8E6E"/>
                </a:solidFill>
                <a:latin typeface="Inconsolata"/>
              </a:rPr>
              <a:t>not</a:t>
            </a:r>
            <a:r>
              <a:rPr sz="749" i="0">
                <a:solidFill>
                  <a:srgbClr val="E6EDF3"/>
                </a:solidFill>
                <a:latin typeface="Inconsolata"/>
              </a:rPr>
              <a:t> </a:t>
            </a:r>
            <a:r>
              <a:rPr sz="749" i="0">
                <a:solidFill>
                  <a:srgbClr val="FF8E6E"/>
                </a:solidFill>
                <a:latin typeface="Inconsolata"/>
              </a:rPr>
              <a:t>None</a:t>
            </a:r>
            <a:r>
              <a:rPr sz="749" i="0">
                <a:solidFill>
                  <a:srgbClr val="E6EDF3"/>
                </a:solidFill>
                <a:latin typeface="Inconsolata"/>
              </a:rPr>
              <a:t>:</a:t>
            </a:r>
          </a:p>
          <a:p>
            <a:pPr>
              <a:lnSpc>
                <a:spcPct val="111166"/>
              </a:lnSpc>
              <a:spcAft>
                <a:spcPts val="0"/>
              </a:spcAft>
            </a:pPr>
            <a:r>
              <a:rPr sz="749" i="0">
                <a:solidFill>
                  <a:srgbClr val="5C6773"/>
                </a:solidFill>
                <a:latin typeface="Inconsolata"/>
              </a:rPr>
              <a:t>28  </a:t>
            </a:r>
            <a:r>
              <a:rPr sz="749" i="0">
                <a:solidFill>
                  <a:srgbClr val="E6EDF3"/>
                </a:solidFill>
                <a:latin typeface="Inconsolata"/>
              </a:rPr>
              <a:t>        </a:t>
            </a:r>
            <a:r>
              <a:rPr sz="749" i="0">
                <a:solidFill>
                  <a:srgbClr val="FF8E6E"/>
                </a:solidFill>
                <a:latin typeface="Inconsolata"/>
              </a:rPr>
              <a:t>return</a:t>
            </a:r>
            <a:r>
              <a:rPr sz="749" i="0">
                <a:solidFill>
                  <a:srgbClr val="E6EDF3"/>
                </a:solidFill>
                <a:latin typeface="Inconsolata"/>
              </a:rPr>
              <a:t> json.loads(cached)</a:t>
            </a:r>
          </a:p>
          <a:p>
            <a:pPr>
              <a:lnSpc>
                <a:spcPct val="111166"/>
              </a:lnSpc>
              <a:spcAft>
                <a:spcPts val="0"/>
              </a:spcAft>
            </a:pPr>
            <a:r>
              <a:rPr sz="749" i="0">
                <a:solidFill>
                  <a:srgbClr val="5C6773"/>
                </a:solidFill>
                <a:latin typeface="Inconsolata"/>
              </a:rPr>
              <a:t>29  </a:t>
            </a:r>
            <a:r>
              <a:rPr sz="749" i="0">
                <a:solidFill>
                  <a:srgbClr val="E6EDF3"/>
                </a:solidFill>
                <a:latin typeface="Inconsolata"/>
              </a:rPr>
              <a:t>    product = </a:t>
            </a:r>
            <a:r>
              <a:rPr sz="749" i="0">
                <a:solidFill>
                  <a:srgbClr val="C3A6FF"/>
                </a:solidFill>
                <a:latin typeface="Inconsolata"/>
              </a:rPr>
              <a:t>dict</a:t>
            </a:r>
            <a:r>
              <a:rPr sz="749" i="0">
                <a:solidFill>
                  <a:srgbClr val="E6EDF3"/>
                </a:solidFill>
                <a:latin typeface="Inconsolata"/>
              </a:rPr>
              <a:t>(</a:t>
            </a:r>
            <a:r>
              <a:rPr sz="749" i="0">
                <a:solidFill>
                  <a:srgbClr val="7FDBCA"/>
                </a:solidFill>
                <a:latin typeface="Inconsolata"/>
              </a:rPr>
              <a:t>PRODUCTS</a:t>
            </a:r>
            <a:r>
              <a:rPr sz="749" i="0">
                <a:solidFill>
                  <a:srgbClr val="E6EDF3"/>
                </a:solidFill>
                <a:latin typeface="Inconsolata"/>
              </a:rPr>
              <a:t>[product_id])</a:t>
            </a:r>
          </a:p>
          <a:p>
            <a:pPr>
              <a:lnSpc>
                <a:spcPct val="111166"/>
              </a:lnSpc>
              <a:spcAft>
                <a:spcPts val="0"/>
              </a:spcAft>
            </a:pPr>
            <a:r>
              <a:rPr sz="749" i="0">
                <a:solidFill>
                  <a:srgbClr val="5C6773"/>
                </a:solidFill>
                <a:latin typeface="Inconsolata"/>
              </a:rPr>
              <a:t>30  </a:t>
            </a:r>
            <a:r>
              <a:rPr sz="749" i="0">
                <a:solidFill>
                  <a:srgbClr val="E6EDF3"/>
                </a:solidFill>
                <a:latin typeface="Inconsolata"/>
              </a:rPr>
              <a:t>    cache.</a:t>
            </a:r>
            <a:r>
              <a:rPr sz="749" i="0">
                <a:solidFill>
                  <a:srgbClr val="C3A6FF"/>
                </a:solidFill>
                <a:latin typeface="Inconsolata"/>
              </a:rPr>
              <a:t>set</a:t>
            </a:r>
            <a:r>
              <a:rPr sz="749" i="0">
                <a:solidFill>
                  <a:srgbClr val="E6EDF3"/>
                </a:solidFill>
                <a:latin typeface="Inconsolata"/>
              </a:rPr>
              <a:t>(key, json.dumps(product), ex=</a:t>
            </a:r>
            <a:r>
              <a:rPr sz="749" i="0">
                <a:solidFill>
                  <a:srgbClr val="7FDBCA"/>
                </a:solidFill>
                <a:latin typeface="Inconsolata"/>
              </a:rPr>
              <a:t>TTL</a:t>
            </a:r>
            <a:r>
              <a:rPr sz="749" i="0">
                <a:solidFill>
                  <a:srgbClr val="E6EDF3"/>
                </a:solidFill>
                <a:latin typeface="Inconsolata"/>
              </a:rPr>
              <a:t>)   </a:t>
            </a:r>
            <a:r>
              <a:rPr sz="749" i="1">
                <a:solidFill>
                  <a:srgbClr val="8B98A8"/>
                </a:solidFill>
                <a:latin typeface="Inconsolata"/>
              </a:rPr>
              <a:t># kedaluwarsa 60s</a:t>
            </a:r>
          </a:p>
          <a:p>
            <a:pPr>
              <a:lnSpc>
                <a:spcPct val="111166"/>
              </a:lnSpc>
              <a:spcAft>
                <a:spcPts val="0"/>
              </a:spcAft>
            </a:pPr>
            <a:r>
              <a:rPr sz="749" i="0">
                <a:solidFill>
                  <a:srgbClr val="5C6773"/>
                </a:solidFill>
                <a:latin typeface="Inconsolata"/>
              </a:rPr>
              <a:t>31  </a:t>
            </a:r>
            <a:r>
              <a:rPr sz="749" i="0">
                <a:solidFill>
                  <a:srgbClr val="E6EDF3"/>
                </a:solidFill>
                <a:latin typeface="Inconsolata"/>
              </a:rPr>
              <a:t>    </a:t>
            </a:r>
            <a:r>
              <a:rPr sz="749" i="0">
                <a:solidFill>
                  <a:srgbClr val="FF8E6E"/>
                </a:solidFill>
                <a:latin typeface="Inconsolata"/>
              </a:rPr>
              <a:t>return</a:t>
            </a:r>
            <a:r>
              <a:rPr sz="749" i="0">
                <a:solidFill>
                  <a:srgbClr val="E6EDF3"/>
                </a:solidFill>
                <a:latin typeface="Inconsolata"/>
              </a:rPr>
              <a:t> product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02-ttl-invalidation/after.py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11166"/>
              </a:lnSpc>
              <a:spcAft>
                <a:spcPts val="0"/>
              </a:spcAft>
            </a:pPr>
            <a:r>
              <a:rPr sz="749" i="0">
                <a:solidFill>
                  <a:srgbClr val="5C6773"/>
                </a:solidFill>
                <a:latin typeface="Inconsolata"/>
              </a:rPr>
              <a:t>34  </a:t>
            </a:r>
            <a:r>
              <a:rPr sz="749" i="0">
                <a:solidFill>
                  <a:srgbClr val="FF8E6E"/>
                </a:solidFill>
                <a:latin typeface="Inconsolata"/>
              </a:rPr>
              <a:t>def</a:t>
            </a:r>
            <a:r>
              <a:rPr sz="749" i="0">
                <a:solidFill>
                  <a:srgbClr val="E6EDF3"/>
                </a:solidFill>
                <a:latin typeface="Inconsolata"/>
              </a:rPr>
              <a:t> </a:t>
            </a:r>
            <a:r>
              <a:rPr sz="749" i="0">
                <a:solidFill>
                  <a:srgbClr val="82B1FF"/>
                </a:solidFill>
                <a:latin typeface="Inconsolata"/>
              </a:rPr>
              <a:t>update_price</a:t>
            </a:r>
            <a:r>
              <a:rPr sz="749" i="0">
                <a:solidFill>
                  <a:srgbClr val="E6EDF3"/>
                </a:solidFill>
                <a:latin typeface="Inconsolata"/>
              </a:rPr>
              <a:t>(product_id: </a:t>
            </a:r>
            <a:r>
              <a:rPr sz="749" i="0">
                <a:solidFill>
                  <a:srgbClr val="C3A6FF"/>
                </a:solidFill>
                <a:latin typeface="Inconsolata"/>
              </a:rPr>
              <a:t>int</a:t>
            </a:r>
            <a:r>
              <a:rPr sz="749" i="0">
                <a:solidFill>
                  <a:srgbClr val="E6EDF3"/>
                </a:solidFill>
                <a:latin typeface="Inconsolata"/>
              </a:rPr>
              <a:t>, price: </a:t>
            </a:r>
            <a:r>
              <a:rPr sz="749" i="0">
                <a:solidFill>
                  <a:srgbClr val="C3A6FF"/>
                </a:solidFill>
                <a:latin typeface="Inconsolata"/>
              </a:rPr>
              <a:t>int</a:t>
            </a:r>
            <a:r>
              <a:rPr sz="749" i="0">
                <a:solidFill>
                  <a:srgbClr val="E6EDF3"/>
                </a:solidFill>
                <a:latin typeface="Inconsolata"/>
              </a:rPr>
              <a:t>) -&gt; </a:t>
            </a:r>
            <a:r>
              <a:rPr sz="749" i="0">
                <a:solidFill>
                  <a:srgbClr val="FF8E6E"/>
                </a:solidFill>
                <a:latin typeface="Inconsolata"/>
              </a:rPr>
              <a:t>None</a:t>
            </a:r>
            <a:r>
              <a:rPr sz="749" i="0">
                <a:solidFill>
                  <a:srgbClr val="E6EDF3"/>
                </a:solidFill>
                <a:latin typeface="Inconsolata"/>
              </a:rPr>
              <a:t>:</a:t>
            </a:r>
          </a:p>
          <a:p>
            <a:pPr>
              <a:lnSpc>
                <a:spcPct val="111166"/>
              </a:lnSpc>
              <a:spcAft>
                <a:spcPts val="0"/>
              </a:spcAft>
            </a:pPr>
            <a:r>
              <a:rPr sz="749" i="0">
                <a:solidFill>
                  <a:srgbClr val="5C6773"/>
                </a:solidFill>
                <a:latin typeface="Inconsolata"/>
              </a:rPr>
              <a:t>35  </a:t>
            </a:r>
            <a:r>
              <a:rPr sz="749" i="0">
                <a:solidFill>
                  <a:srgbClr val="E6EDF3"/>
                </a:solidFill>
                <a:latin typeface="Inconsolata"/>
              </a:rPr>
              <a:t>    </a:t>
            </a:r>
            <a:r>
              <a:rPr sz="749" i="0">
                <a:solidFill>
                  <a:srgbClr val="7FDBCA"/>
                </a:solidFill>
                <a:latin typeface="Inconsolata"/>
              </a:rPr>
              <a:t>PRODUCTS</a:t>
            </a:r>
            <a:r>
              <a:rPr sz="749" i="0">
                <a:solidFill>
                  <a:srgbClr val="E6EDF3"/>
                </a:solidFill>
                <a:latin typeface="Inconsolata"/>
              </a:rPr>
              <a:t>[product_id][</a:t>
            </a:r>
            <a:r>
              <a:rPr sz="749" i="0">
                <a:solidFill>
                  <a:srgbClr val="A5D6A7"/>
                </a:solidFill>
                <a:latin typeface="Inconsolata"/>
              </a:rPr>
              <a:t>"price"</a:t>
            </a:r>
            <a:r>
              <a:rPr sz="749" i="0">
                <a:solidFill>
                  <a:srgbClr val="E6EDF3"/>
                </a:solidFill>
                <a:latin typeface="Inconsolata"/>
              </a:rPr>
              <a:t>] = price</a:t>
            </a:r>
          </a:p>
          <a:p>
            <a:pPr>
              <a:lnSpc>
                <a:spcPct val="111166"/>
              </a:lnSpc>
              <a:spcAft>
                <a:spcPts val="0"/>
              </a:spcAft>
            </a:pPr>
            <a:r>
              <a:rPr sz="749" i="0">
                <a:solidFill>
                  <a:srgbClr val="5C6773"/>
                </a:solidFill>
                <a:latin typeface="Inconsolata"/>
              </a:rPr>
              <a:t>36  </a:t>
            </a:r>
            <a:r>
              <a:rPr sz="749" i="0">
                <a:solidFill>
                  <a:srgbClr val="E6EDF3"/>
                </a:solidFill>
                <a:latin typeface="Inconsolata"/>
              </a:rPr>
              <a:t>    cache.delete(</a:t>
            </a:r>
            <a:r>
              <a:rPr sz="749" i="0">
                <a:solidFill>
                  <a:srgbClr val="A5D6A7"/>
                </a:solidFill>
                <a:latin typeface="Inconsolata"/>
              </a:rPr>
              <a:t>f"product:{product_id}"</a:t>
            </a:r>
            <a:r>
              <a:rPr sz="749" i="0">
                <a:solidFill>
                  <a:srgbClr val="E6EDF3"/>
                </a:solidFill>
                <a:latin typeface="Inconsolata"/>
              </a:rPr>
              <a:t>)       </a:t>
            </a:r>
            <a:r>
              <a:rPr sz="749" i="1">
                <a:solidFill>
                  <a:srgbClr val="8B98A8"/>
                </a:solidFill>
                <a:latin typeface="Inconsolata"/>
              </a:rPr>
              <a:t># invalidation</a:t>
            </a:r>
          </a:p>
          <a:p>
            <a:pPr>
              <a:lnSpc>
                <a:spcPct val="111166"/>
              </a:lnSpc>
              <a:spcAft>
                <a:spcPts val="0"/>
              </a:spcAft>
            </a:pPr>
            <a:r>
              <a:rPr sz="749" i="0">
                <a:solidFill>
                  <a:srgbClr val="5C6773"/>
                </a:solidFill>
                <a:latin typeface="Inconsolata"/>
              </a:rPr>
              <a:t>37  </a:t>
            </a:r>
            <a:r>
              <a:rPr sz="749" i="0">
                <a:solidFill>
                  <a:srgbClr val="E6EDF3"/>
                </a:solidFill>
                <a:latin typeface="Inconsolata"/>
              </a:rPr>
              <a:t> </a:t>
            </a:r>
          </a:p>
          <a:p>
            <a:pPr>
              <a:lnSpc>
                <a:spcPct val="111166"/>
              </a:lnSpc>
              <a:spcAft>
                <a:spcPts val="0"/>
              </a:spcAft>
            </a:pPr>
            <a:r>
              <a:rPr sz="749" i="0">
                <a:solidFill>
                  <a:srgbClr val="5C6773"/>
                </a:solidFill>
                <a:latin typeface="Inconsolata"/>
              </a:rPr>
              <a:t>38  </a:t>
            </a:r>
            <a:r>
              <a:rPr sz="749" i="0">
                <a:solidFill>
                  <a:srgbClr val="E6EDF3"/>
                </a:solidFill>
                <a:latin typeface="Inconsolata"/>
              </a:rPr>
              <a:t> </a:t>
            </a:r>
          </a:p>
          <a:p>
            <a:pPr>
              <a:lnSpc>
                <a:spcPct val="111166"/>
              </a:lnSpc>
              <a:spcAft>
                <a:spcPts val="0"/>
              </a:spcAft>
            </a:pPr>
            <a:r>
              <a:rPr sz="749" i="0">
                <a:solidFill>
                  <a:srgbClr val="5C6773"/>
                </a:solidFill>
                <a:latin typeface="Inconsolata"/>
              </a:rPr>
              <a:t>39  </a:t>
            </a:r>
            <a:r>
              <a:rPr sz="749" i="0">
                <a:solidFill>
                  <a:srgbClr val="FF8E6E"/>
                </a:solidFill>
                <a:latin typeface="Inconsolata"/>
              </a:rPr>
              <a:t>if</a:t>
            </a:r>
            <a:r>
              <a:rPr sz="749" i="0">
                <a:solidFill>
                  <a:srgbClr val="E6EDF3"/>
                </a:solidFill>
                <a:latin typeface="Inconsolata"/>
              </a:rPr>
              <a:t> __name__ == </a:t>
            </a:r>
            <a:r>
              <a:rPr sz="749" i="0">
                <a:solidFill>
                  <a:srgbClr val="A5D6A7"/>
                </a:solidFill>
                <a:latin typeface="Inconsolata"/>
              </a:rPr>
              <a:t>"__main__"</a:t>
            </a:r>
            <a:r>
              <a:rPr sz="749" i="0">
                <a:solidFill>
                  <a:srgbClr val="E6EDF3"/>
                </a:solidFill>
                <a:latin typeface="Inconsolata"/>
              </a:rPr>
              <a:t>:</a:t>
            </a:r>
          </a:p>
          <a:p>
            <a:pPr>
              <a:lnSpc>
                <a:spcPct val="111166"/>
              </a:lnSpc>
              <a:spcAft>
                <a:spcPts val="0"/>
              </a:spcAft>
            </a:pPr>
            <a:r>
              <a:rPr sz="749" i="0">
                <a:solidFill>
                  <a:srgbClr val="5C6773"/>
                </a:solidFill>
                <a:latin typeface="Inconsolata"/>
              </a:rPr>
              <a:t>40  </a:t>
            </a:r>
            <a:r>
              <a:rPr sz="749" i="0">
                <a:solidFill>
                  <a:srgbClr val="E6EDF3"/>
                </a:solidFill>
                <a:latin typeface="Inconsolata"/>
              </a:rPr>
              <a:t>    cache.delete(</a:t>
            </a:r>
            <a:r>
              <a:rPr sz="749" i="0">
                <a:solidFill>
                  <a:srgbClr val="A5D6A7"/>
                </a:solidFill>
                <a:latin typeface="Inconsolata"/>
              </a:rPr>
              <a:t>"product:1"</a:t>
            </a:r>
            <a:r>
              <a:rPr sz="749" i="0">
                <a:solidFill>
                  <a:srgbClr val="E6EDF3"/>
                </a:solidFill>
                <a:latin typeface="Inconsolata"/>
              </a:rPr>
              <a:t>)</a:t>
            </a:r>
          </a:p>
          <a:p>
            <a:pPr>
              <a:lnSpc>
                <a:spcPct val="111166"/>
              </a:lnSpc>
              <a:spcAft>
                <a:spcPts val="0"/>
              </a:spcAft>
            </a:pPr>
            <a:r>
              <a:rPr sz="749" i="0">
                <a:solidFill>
                  <a:srgbClr val="5C6773"/>
                </a:solidFill>
                <a:latin typeface="Inconsolata"/>
              </a:rPr>
              <a:t>41  </a:t>
            </a:r>
            <a:r>
              <a:rPr sz="749" i="0">
                <a:solidFill>
                  <a:srgbClr val="E6EDF3"/>
                </a:solidFill>
                <a:latin typeface="Inconsolata"/>
              </a:rPr>
              <a:t>    </a:t>
            </a:r>
            <a:r>
              <a:rPr sz="749" i="0">
                <a:solidFill>
                  <a:srgbClr val="C3A6FF"/>
                </a:solidFill>
                <a:latin typeface="Inconsolata"/>
              </a:rPr>
              <a:t>print</a:t>
            </a:r>
            <a:r>
              <a:rPr sz="749" i="0">
                <a:solidFill>
                  <a:srgbClr val="E6EDF3"/>
                </a:solidFill>
                <a:latin typeface="Inconsolata"/>
              </a:rPr>
              <a:t>(</a:t>
            </a:r>
            <a:r>
              <a:rPr sz="749" i="0">
                <a:solidFill>
                  <a:srgbClr val="A5D6A7"/>
                </a:solidFill>
                <a:latin typeface="Inconsolata"/>
              </a:rPr>
              <a:t>"Harga awal :"</a:t>
            </a:r>
            <a:r>
              <a:rPr sz="749" i="0">
                <a:solidFill>
                  <a:srgbClr val="E6EDF3"/>
                </a:solidFill>
                <a:latin typeface="Inconsolata"/>
              </a:rPr>
              <a:t>, get_product(</a:t>
            </a:r>
            <a:r>
              <a:rPr sz="749" i="0">
                <a:solidFill>
                  <a:srgbClr val="F9C97A"/>
                </a:solidFill>
                <a:latin typeface="Inconsolata"/>
              </a:rPr>
              <a:t>1</a:t>
            </a:r>
            <a:r>
              <a:rPr sz="749" i="0">
                <a:solidFill>
                  <a:srgbClr val="E6EDF3"/>
                </a:solidFill>
                <a:latin typeface="Inconsolata"/>
              </a:rPr>
              <a:t>)[</a:t>
            </a:r>
            <a:r>
              <a:rPr sz="749" i="0">
                <a:solidFill>
                  <a:srgbClr val="A5D6A7"/>
                </a:solidFill>
                <a:latin typeface="Inconsolata"/>
              </a:rPr>
              <a:t>"price"</a:t>
            </a:r>
            <a:r>
              <a:rPr sz="749" i="0">
                <a:solidFill>
                  <a:srgbClr val="E6EDF3"/>
                </a:solidFill>
                <a:latin typeface="Inconsolata"/>
              </a:rPr>
              <a:t>])</a:t>
            </a:r>
          </a:p>
          <a:p>
            <a:pPr>
              <a:lnSpc>
                <a:spcPct val="111166"/>
              </a:lnSpc>
              <a:spcAft>
                <a:spcPts val="0"/>
              </a:spcAft>
            </a:pPr>
            <a:r>
              <a:rPr sz="749" i="0">
                <a:solidFill>
                  <a:srgbClr val="5C6773"/>
                </a:solidFill>
                <a:latin typeface="Inconsolata"/>
              </a:rPr>
              <a:t>42  </a:t>
            </a:r>
            <a:r>
              <a:rPr sz="749" i="0">
                <a:solidFill>
                  <a:srgbClr val="E6EDF3"/>
                </a:solidFill>
                <a:latin typeface="Inconsolata"/>
              </a:rPr>
              <a:t>    update_price(</a:t>
            </a:r>
            <a:r>
              <a:rPr sz="749" i="0">
                <a:solidFill>
                  <a:srgbClr val="F9C97A"/>
                </a:solidFill>
                <a:latin typeface="Inconsolata"/>
              </a:rPr>
              <a:t>1</a:t>
            </a:r>
            <a:r>
              <a:rPr sz="749" i="0">
                <a:solidFill>
                  <a:srgbClr val="E6EDF3"/>
                </a:solidFill>
                <a:latin typeface="Inconsolata"/>
              </a:rPr>
              <a:t>, </a:t>
            </a:r>
            <a:r>
              <a:rPr sz="749" i="0">
                <a:solidFill>
                  <a:srgbClr val="F9C97A"/>
                </a:solidFill>
                <a:latin typeface="Inconsolata"/>
              </a:rPr>
              <a:t>450_000</a:t>
            </a:r>
            <a:r>
              <a:rPr sz="749" i="0">
                <a:solidFill>
                  <a:srgbClr val="E6EDF3"/>
                </a:solidFill>
                <a:latin typeface="Inconsolata"/>
              </a:rPr>
              <a:t>)</a:t>
            </a:r>
          </a:p>
          <a:p>
            <a:pPr>
              <a:lnSpc>
                <a:spcPct val="111166"/>
              </a:lnSpc>
              <a:spcAft>
                <a:spcPts val="0"/>
              </a:spcAft>
            </a:pPr>
            <a:r>
              <a:rPr sz="749" i="0">
                <a:solidFill>
                  <a:srgbClr val="5C6773"/>
                </a:solidFill>
                <a:latin typeface="Inconsolata"/>
              </a:rPr>
              <a:t>43  </a:t>
            </a:r>
            <a:r>
              <a:rPr sz="749" i="0">
                <a:solidFill>
                  <a:srgbClr val="E6EDF3"/>
                </a:solidFill>
                <a:latin typeface="Inconsolata"/>
              </a:rPr>
              <a:t>    </a:t>
            </a:r>
            <a:r>
              <a:rPr sz="749" i="0">
                <a:solidFill>
                  <a:srgbClr val="C3A6FF"/>
                </a:solidFill>
                <a:latin typeface="Inconsolata"/>
              </a:rPr>
              <a:t>print</a:t>
            </a:r>
            <a:r>
              <a:rPr sz="749" i="0">
                <a:solidFill>
                  <a:srgbClr val="E6EDF3"/>
                </a:solidFill>
                <a:latin typeface="Inconsolata"/>
              </a:rPr>
              <a:t>(</a:t>
            </a:r>
            <a:r>
              <a:rPr sz="749" i="0">
                <a:solidFill>
                  <a:srgbClr val="A5D6A7"/>
                </a:solidFill>
                <a:latin typeface="Inconsolata"/>
              </a:rPr>
              <a:t>"Harga baru :"</a:t>
            </a:r>
            <a:r>
              <a:rPr sz="749" i="0">
                <a:solidFill>
                  <a:srgbClr val="E6EDF3"/>
                </a:solidFill>
                <a:latin typeface="Inconsolata"/>
              </a:rPr>
              <a:t>, get_product(</a:t>
            </a:r>
            <a:r>
              <a:rPr sz="749" i="0">
                <a:solidFill>
                  <a:srgbClr val="F9C97A"/>
                </a:solidFill>
                <a:latin typeface="Inconsolata"/>
              </a:rPr>
              <a:t>1</a:t>
            </a:r>
            <a:r>
              <a:rPr sz="749" i="0">
                <a:solidFill>
                  <a:srgbClr val="E6EDF3"/>
                </a:solidFill>
                <a:latin typeface="Inconsolata"/>
              </a:rPr>
              <a:t>)[</a:t>
            </a:r>
            <a:r>
              <a:rPr sz="749" i="0">
                <a:solidFill>
                  <a:srgbClr val="A5D6A7"/>
                </a:solidFill>
                <a:latin typeface="Inconsolata"/>
              </a:rPr>
              <a:t>"price"</a:t>
            </a:r>
            <a:r>
              <a:rPr sz="749" i="0">
                <a:solidFill>
                  <a:srgbClr val="E6EDF3"/>
                </a:solidFill>
                <a:latin typeface="Inconsolata"/>
              </a:rPr>
              <a:t>])  </a:t>
            </a:r>
            <a:r>
              <a:rPr sz="749" i="1">
                <a:solidFill>
                  <a:srgbClr val="8B98A8"/>
                </a:solidFill>
                <a:latin typeface="Inconsolata"/>
              </a:rPr>
              <a:t># 450000</a:t>
            </a:r>
          </a:p>
          <a:p>
            <a:pPr>
              <a:lnSpc>
                <a:spcPct val="111166"/>
              </a:lnSpc>
              <a:spcAft>
                <a:spcPts val="0"/>
              </a:spcAft>
            </a:pPr>
            <a:r>
              <a:rPr sz="749" i="0">
                <a:solidFill>
                  <a:srgbClr val="5C6773"/>
                </a:solidFill>
                <a:latin typeface="Inconsolata"/>
              </a:rPr>
              <a:t>44  </a:t>
            </a:r>
            <a:r>
              <a:rPr sz="749" i="0">
                <a:solidFill>
                  <a:srgbClr val="E6EDF3"/>
                </a:solidFill>
                <a:latin typeface="Inconsolata"/>
              </a:rPr>
              <a:t>    </a:t>
            </a:r>
            <a:r>
              <a:rPr sz="749" i="0">
                <a:solidFill>
                  <a:srgbClr val="C3A6FF"/>
                </a:solidFill>
                <a:latin typeface="Inconsolata"/>
              </a:rPr>
              <a:t>print</a:t>
            </a:r>
            <a:r>
              <a:rPr sz="749" i="0">
                <a:solidFill>
                  <a:srgbClr val="E6EDF3"/>
                </a:solidFill>
                <a:latin typeface="Inconsolata"/>
              </a:rPr>
              <a:t>(</a:t>
            </a:r>
            <a:r>
              <a:rPr sz="749" i="0">
                <a:solidFill>
                  <a:srgbClr val="A5D6A7"/>
                </a:solidFill>
                <a:latin typeface="Inconsolata"/>
              </a:rPr>
              <a:t>"Sisa TTL   :"</a:t>
            </a:r>
            <a:r>
              <a:rPr sz="749" i="0">
                <a:solidFill>
                  <a:srgbClr val="E6EDF3"/>
                </a:solidFill>
                <a:latin typeface="Inconsolata"/>
              </a:rPr>
              <a:t>, cache.ttl(</a:t>
            </a:r>
            <a:r>
              <a:rPr sz="749" i="0">
                <a:solidFill>
                  <a:srgbClr val="A5D6A7"/>
                </a:solidFill>
                <a:latin typeface="Inconsolata"/>
              </a:rPr>
              <a:t>"product:1"</a:t>
            </a:r>
            <a:r>
              <a:rPr sz="749" i="0">
                <a:solidFill>
                  <a:srgbClr val="E6EDF3"/>
                </a:solidFill>
                <a:latin typeface="Inconsolata"/>
              </a:rPr>
              <a:t>), </a:t>
            </a:r>
            <a:r>
              <a:rPr sz="749" i="0">
                <a:solidFill>
                  <a:srgbClr val="A5D6A7"/>
                </a:solidFill>
                <a:latin typeface="Inconsolata"/>
              </a:rPr>
              <a:t>"detik"</a:t>
            </a:r>
            <a:r>
              <a:rPr sz="749" i="0">
                <a:solidFill>
                  <a:srgbClr val="E6EDF3"/>
                </a:solidFill>
                <a:latin typeface="Inconsolata"/>
              </a:rPr>
              <a:t>)</a:t>
            </a:r>
          </a:p>
        </p:txBody>
      </p:sp>
      <p:sp>
        <p:nvSpPr>
          <p:cNvPr id="36" name="Box 21"/>
          <p:cNvSpPr/>
          <p:nvPr/>
        </p:nvSpPr>
        <p:spPr>
          <a:xfrm>
            <a:off x="704088" y="4113022"/>
            <a:ext cx="3694176"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4053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81022"/>
            <a:ext cx="3694176"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021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TTL &amp; Invalidation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02-ttl-invalidation/after.py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sesi-06-redis-caching-rate-limiting/02-ttl-invalidation</a:t>
            </a:r>
          </a:p>
          <a:p>
            <a:pPr>
              <a:lnSpc>
                <a:spcPct val="111111"/>
              </a:lnSpc>
              <a:spcAft>
                <a:spcPts val="0"/>
              </a:spcAft>
            </a:pPr>
            <a:r>
              <a:rPr sz="900" i="0">
                <a:solidFill>
                  <a:srgbClr val="82B1FF"/>
                </a:solidFill>
                <a:latin typeface="Inconsolata"/>
              </a:rPr>
              <a:t>$ python after.py</a:t>
            </a:r>
          </a:p>
        </p:txBody>
      </p:sp>
      <p:pic>
        <p:nvPicPr>
          <p:cNvPr id="29" name="Image 12" descr="s06-02-ttl-invalidation-after.png"/>
          <p:cNvPicPr>
            <a:picLocks noChangeAspect="1"/>
          </p:cNvPicPr>
          <p:nvPr/>
        </p:nvPicPr>
        <p:blipFill>
          <a:blip r:embed="rId2"/>
          <a:stretch>
            <a:fillRect/>
          </a:stretch>
        </p:blipFill>
        <p:spPr>
          <a:xfrm>
            <a:off x="621792" y="2322576"/>
            <a:ext cx="4297680" cy="1074420"/>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Cache disimpan dengan TTL 60 detik (baris 30)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Harga berubah = key cache dihapus (baris 36)</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Harga baru 450000, diambil ulang dari database dan disimpan lagi dengan TTL 60 detik.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20</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Response Caching, Cache Key &amp; Stampede</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Key yang tepat dan cache yang tidak kedaluwarsa bersamaan.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Key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Cache Key?</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Cache key adalah</a:t>
            </a:r>
          </a:p>
          <a:p>
            <a:pPr algn="l">
              <a:lnSpc>
                <a:spcPct val="115000"/>
              </a:lnSpc>
              <a:spcAft>
                <a:spcPts val="400"/>
              </a:spcAft>
            </a:pPr>
            <a:r>
              <a:rPr sz="850" b="0" i="0">
                <a:solidFill>
                  <a:srgbClr val="434343"/>
                </a:solidFill>
                <a:latin typeface="Inter"/>
              </a:rPr>
              <a:t>Nama yang dipakai untuk menyimpan dan mencari data di cache. Dua request yang hasilnya sama harus mendapat key yang sama, dan dua request yang hasilnya berbeda harus mendapat key yang berbeda.</a:t>
            </a:r>
          </a:p>
          <a:p>
            <a:pPr algn="l">
              <a:lnSpc>
                <a:spcPct val="115000"/>
              </a:lnSpc>
              <a:spcAft>
                <a:spcPts val="400"/>
              </a:spcAft>
            </a:pPr>
            <a:r>
              <a:rPr sz="950" b="1" i="0">
                <a:solidFill>
                  <a:srgbClr val="1C4587"/>
                </a:solidFill>
                <a:latin typeface="Inter"/>
              </a:rPr>
              <a:t>Cache key yang baik</a:t>
            </a:r>
          </a:p>
          <a:p>
            <a:pPr marL="182880" indent="-182880" algn="l">
              <a:lnSpc>
                <a:spcPct val="115000"/>
              </a:lnSpc>
              <a:spcAft>
                <a:spcPts val="400"/>
              </a:spcAft>
              <a:buClr>
                <a:srgbClr val="E0764F"/>
              </a:buClr>
              <a:buSzPct val="100000"/>
              <a:buFont typeface="Arial"/>
              <a:buChar char="•"/>
            </a:pPr>
            <a:r>
              <a:rPr sz="850" b="1" i="0">
                <a:solidFill>
                  <a:srgbClr val="434343"/>
                </a:solidFill>
                <a:latin typeface="Inter"/>
              </a:rPr>
              <a:t>Namespace</a:t>
            </a:r>
            <a:r>
              <a:rPr sz="850" b="0" i="0">
                <a:solidFill>
                  <a:srgbClr val="434343"/>
                </a:solidFill>
                <a:latin typeface="Inter"/>
              </a:rPr>
              <a:t>: </a:t>
            </a:r>
            <a:r>
              <a:rPr sz="850" b="0" i="0">
                <a:solidFill>
                  <a:srgbClr val="B5482A"/>
                </a:solidFill>
                <a:latin typeface="Inconsolata"/>
              </a:rPr>
              <a:t>products:list</a:t>
            </a:r>
            <a:r>
              <a:rPr sz="850" b="0" i="0">
                <a:solidFill>
                  <a:srgbClr val="434343"/>
                </a:solidFill>
                <a:latin typeface="Inter"/>
              </a:rPr>
              <a:t>, tidak bentrok dengan data lain</a:t>
            </a:r>
          </a:p>
          <a:p>
            <a:pPr marL="182880" indent="-182880" algn="l">
              <a:lnSpc>
                <a:spcPct val="115000"/>
              </a:lnSpc>
              <a:spcAft>
                <a:spcPts val="400"/>
              </a:spcAft>
              <a:buClr>
                <a:srgbClr val="E0764F"/>
              </a:buClr>
              <a:buSzPct val="100000"/>
              <a:buFont typeface="Arial"/>
              <a:buChar char="•"/>
            </a:pPr>
            <a:r>
              <a:rPr sz="850" b="1" i="0">
                <a:solidFill>
                  <a:srgbClr val="434343"/>
                </a:solidFill>
                <a:latin typeface="Inter"/>
              </a:rPr>
              <a:t>Versi</a:t>
            </a:r>
            <a:r>
              <a:rPr sz="850" b="0" i="0">
                <a:solidFill>
                  <a:srgbClr val="434343"/>
                </a:solidFill>
                <a:latin typeface="Inter"/>
              </a:rPr>
              <a:t>: </a:t>
            </a:r>
            <a:r>
              <a:rPr sz="850" b="0" i="0">
                <a:solidFill>
                  <a:srgbClr val="B5482A"/>
                </a:solidFill>
                <a:latin typeface="Inconsolata"/>
              </a:rPr>
              <a:t>v1</a:t>
            </a:r>
            <a:r>
              <a:rPr sz="850" b="0" i="0">
                <a:solidFill>
                  <a:srgbClr val="434343"/>
                </a:solidFill>
                <a:latin typeface="Inter"/>
              </a:rPr>
              <a:t>, cukup naikkan jika bentuk data berubah</a:t>
            </a:r>
          </a:p>
          <a:p>
            <a:pPr marL="182880" indent="-182880" algn="l">
              <a:lnSpc>
                <a:spcPct val="115000"/>
              </a:lnSpc>
              <a:spcAft>
                <a:spcPts val="400"/>
              </a:spcAft>
              <a:buClr>
                <a:srgbClr val="E0764F"/>
              </a:buClr>
              <a:buSzPct val="100000"/>
              <a:buFont typeface="Arial"/>
              <a:buChar char="•"/>
            </a:pPr>
            <a:r>
              <a:rPr sz="850" b="1" i="0">
                <a:solidFill>
                  <a:srgbClr val="434343"/>
                </a:solidFill>
                <a:latin typeface="Inter"/>
              </a:rPr>
              <a:t>Parameter</a:t>
            </a:r>
            <a:r>
              <a:rPr sz="850" b="0" i="0">
                <a:solidFill>
                  <a:srgbClr val="434343"/>
                </a:solidFill>
                <a:latin typeface="Inter"/>
              </a:rPr>
              <a:t>: semua yang memengaruhi hasil</a:t>
            </a:r>
          </a:p>
          <a:p>
            <a:pPr marL="182880" indent="-182880" algn="l">
              <a:lnSpc>
                <a:spcPct val="115000"/>
              </a:lnSpc>
              <a:spcAft>
                <a:spcPts val="400"/>
              </a:spcAft>
              <a:buClr>
                <a:srgbClr val="E0764F"/>
              </a:buClr>
              <a:buSzPct val="100000"/>
              <a:buFont typeface="Arial"/>
              <a:buChar char="•"/>
            </a:pPr>
            <a:r>
              <a:rPr sz="850" b="1" i="0">
                <a:solidFill>
                  <a:srgbClr val="434343"/>
                </a:solidFill>
                <a:latin typeface="Inter"/>
              </a:rPr>
              <a:t>Normalisasi</a:t>
            </a:r>
            <a:r>
              <a:rPr sz="850" b="0" i="0">
                <a:solidFill>
                  <a:srgbClr val="434343"/>
                </a:solidFill>
                <a:latin typeface="Inter"/>
              </a:rPr>
              <a:t>: nilai kosong dan default diseragamkan</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key yang salah: 03-response-cache-key/before.py</a:t>
            </a:r>
          </a:p>
        </p:txBody>
      </p:sp>
      <p:sp>
        <p:nvSpPr>
          <p:cNvPr id="28" name="CodeBg 11"/>
          <p:cNvSpPr/>
          <p:nvPr/>
        </p:nvSpPr>
        <p:spPr>
          <a:xfrm>
            <a:off x="4297680" y="1719072"/>
            <a:ext cx="4187951" cy="978408"/>
          </a:xfrm>
          <a:prstGeom prst="roundRect">
            <a:avLst>
              <a:gd name="adj" fmla="val 18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978408"/>
          </a:xfrm>
          <a:prstGeom prst="rect">
            <a:avLst/>
          </a:prstGeom>
          <a:noFill/>
        </p:spPr>
        <p:txBody>
          <a:bodyPr wrap="none" lIns="146304" tIns="91440" rIns="146304" bIns="54864">
            <a:spAutoFit/>
          </a:bodyPr>
          <a:lstStyle/>
          <a:p>
            <a:pPr>
              <a:lnSpc>
                <a:spcPct val="111111"/>
              </a:lnSpc>
              <a:spcAft>
                <a:spcPts val="0"/>
              </a:spcAft>
            </a:pPr>
            <a:r>
              <a:rPr sz="750" i="0">
                <a:solidFill>
                  <a:srgbClr val="F9C97A"/>
                </a:solidFill>
                <a:latin typeface="Inconsolata"/>
              </a:rPr>
              <a:t>@app.get</a:t>
            </a:r>
            <a:r>
              <a:rPr sz="750" i="0">
                <a:solidFill>
                  <a:srgbClr val="E6EDF3"/>
                </a:solidFill>
                <a:latin typeface="Inconsolata"/>
              </a:rPr>
              <a:t>(</a:t>
            </a:r>
            <a:r>
              <a:rPr sz="750" i="0">
                <a:solidFill>
                  <a:srgbClr val="A5D6A7"/>
                </a:solidFill>
                <a:latin typeface="Inconsolata"/>
              </a:rPr>
              <a:t>"/products"</a:t>
            </a:r>
            <a:r>
              <a:rPr sz="750" i="0">
                <a:solidFill>
                  <a:srgbClr val="E6EDF3"/>
                </a:solidFill>
                <a:latin typeface="Inconsolata"/>
              </a:rPr>
              <a:t>)</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list_products</a:t>
            </a:r>
            <a:r>
              <a:rPr sz="750" i="0">
                <a:solidFill>
                  <a:srgbClr val="E6EDF3"/>
                </a:solidFill>
                <a:latin typeface="Inconsolata"/>
              </a:rPr>
              <a:t>(category: </a:t>
            </a:r>
            <a:r>
              <a:rPr sz="750" i="0">
                <a:solidFill>
                  <a:srgbClr val="C3A6FF"/>
                </a:solidFill>
                <a:latin typeface="Inconsolata"/>
              </a:rPr>
              <a:t>str</a:t>
            </a:r>
            <a:r>
              <a:rPr sz="750" i="0">
                <a:solidFill>
                  <a:srgbClr val="E6EDF3"/>
                </a:solidFill>
                <a:latin typeface="Inconsolata"/>
              </a:rPr>
              <a:t> | </a:t>
            </a:r>
            <a:r>
              <a:rPr sz="750" i="0">
                <a:solidFill>
                  <a:srgbClr val="FF8E6E"/>
                </a:solidFill>
                <a:latin typeface="Inconsolata"/>
              </a:rPr>
              <a:t>None</a:t>
            </a:r>
            <a:r>
              <a:rPr sz="750" i="0">
                <a:solidFill>
                  <a:srgbClr val="E6EDF3"/>
                </a:solidFill>
                <a:latin typeface="Inconsolata"/>
              </a:rPr>
              <a:t> = </a:t>
            </a:r>
            <a:r>
              <a:rPr sz="750" i="0">
                <a:solidFill>
                  <a:srgbClr val="FF8E6E"/>
                </a:solidFill>
                <a:latin typeface="Inconsolata"/>
              </a:rPr>
              <a:t>None</a:t>
            </a:r>
            <a:r>
              <a:rPr sz="750" i="0">
                <a:solidFill>
                  <a:srgbClr val="E6EDF3"/>
                </a:solidFill>
                <a:latin typeface="Inconsolata"/>
              </a:rPr>
              <a:t>, page: </a:t>
            </a:r>
            <a:r>
              <a:rPr sz="750" i="0">
                <a:solidFill>
                  <a:srgbClr val="C3A6FF"/>
                </a:solidFill>
                <a:latin typeface="Inconsolata"/>
              </a:rPr>
              <a:t>int</a:t>
            </a:r>
            <a:r>
              <a:rPr sz="750" i="0">
                <a:solidFill>
                  <a:srgbClr val="E6EDF3"/>
                </a:solidFill>
                <a:latin typeface="Inconsolata"/>
              </a:rPr>
              <a:t> = </a:t>
            </a:r>
            <a:r>
              <a:rPr sz="750" i="0">
                <a:solidFill>
                  <a:srgbClr val="F9C97A"/>
                </a:solidFill>
                <a:latin typeface="Inconsolata"/>
              </a:rPr>
              <a:t>1</a:t>
            </a:r>
            <a:r>
              <a:rPr sz="750" i="0">
                <a:solidFill>
                  <a:srgbClr val="E6EDF3"/>
                </a:solidFill>
                <a:latin typeface="Inconsolata"/>
              </a:rPr>
              <a:t>):</a:t>
            </a:r>
          </a:p>
          <a:p>
            <a:pPr>
              <a:lnSpc>
                <a:spcPct val="111111"/>
              </a:lnSpc>
              <a:spcAft>
                <a:spcPts val="0"/>
              </a:spcAft>
            </a:pPr>
            <a:r>
              <a:rPr sz="750" i="0">
                <a:solidFill>
                  <a:srgbClr val="E6EDF3"/>
                </a:solidFill>
                <a:latin typeface="Inconsolata"/>
              </a:rPr>
              <a:t>    cached = cache.get(</a:t>
            </a:r>
            <a:r>
              <a:rPr sz="750" i="0">
                <a:solidFill>
                  <a:srgbClr val="A5D6A7"/>
                </a:solidFill>
                <a:latin typeface="Inconsolata"/>
              </a:rPr>
              <a:t>"products"</a:t>
            </a:r>
            <a:r>
              <a:rPr sz="750" i="0">
                <a:solidFill>
                  <a:srgbClr val="E6EDF3"/>
                </a:solidFill>
                <a:latin typeface="Inconsolata"/>
              </a:rPr>
              <a:t>)      </a:t>
            </a:r>
            <a:r>
              <a:rPr sz="750" i="1">
                <a:solidFill>
                  <a:srgbClr val="8B98A8"/>
                </a:solidFill>
                <a:latin typeface="Inconsolata"/>
              </a:rPr>
              <a:t># key sama untuk semua query</a:t>
            </a:r>
          </a:p>
        </p:txBody>
      </p:sp>
      <p:sp>
        <p:nvSpPr>
          <p:cNvPr id="30" name="Box 13"/>
          <p:cNvSpPr/>
          <p:nvPr/>
        </p:nvSpPr>
        <p:spPr>
          <a:xfrm>
            <a:off x="4379976" y="2081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78892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86664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86664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86664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79806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key yang tepat: 03-response-cache-key/after.py</a:t>
            </a:r>
          </a:p>
        </p:txBody>
      </p:sp>
      <p:sp>
        <p:nvSpPr>
          <p:cNvPr id="36" name="CodeBg 21"/>
          <p:cNvSpPr/>
          <p:nvPr/>
        </p:nvSpPr>
        <p:spPr>
          <a:xfrm>
            <a:off x="4297680" y="3026664"/>
            <a:ext cx="4187951" cy="1673351"/>
          </a:xfrm>
          <a:prstGeom prst="roundRect">
            <a:avLst>
              <a:gd name="adj" fmla="val 109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026664"/>
            <a:ext cx="4187951" cy="1673351"/>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products_key</a:t>
            </a:r>
            <a:r>
              <a:rPr sz="750" i="0">
                <a:solidFill>
                  <a:srgbClr val="E6EDF3"/>
                </a:solidFill>
                <a:latin typeface="Inconsolata"/>
              </a:rPr>
              <a:t>(category: </a:t>
            </a:r>
            <a:r>
              <a:rPr sz="750" i="0">
                <a:solidFill>
                  <a:srgbClr val="C3A6FF"/>
                </a:solidFill>
                <a:latin typeface="Inconsolata"/>
              </a:rPr>
              <a:t>str</a:t>
            </a:r>
            <a:r>
              <a:rPr sz="750" i="0">
                <a:solidFill>
                  <a:srgbClr val="E6EDF3"/>
                </a:solidFill>
                <a:latin typeface="Inconsolata"/>
              </a:rPr>
              <a:t> | </a:t>
            </a:r>
            <a:r>
              <a:rPr sz="750" i="0">
                <a:solidFill>
                  <a:srgbClr val="FF8E6E"/>
                </a:solidFill>
                <a:latin typeface="Inconsolata"/>
              </a:rPr>
              <a:t>None</a:t>
            </a:r>
            <a:r>
              <a:rPr sz="750" i="0">
                <a:solidFill>
                  <a:srgbClr val="E6EDF3"/>
                </a:solidFill>
                <a:latin typeface="Inconsolata"/>
              </a:rPr>
              <a:t>, page: </a:t>
            </a:r>
            <a:r>
              <a:rPr sz="750" i="0">
                <a:solidFill>
                  <a:srgbClr val="C3A6FF"/>
                </a:solidFill>
                <a:latin typeface="Inconsolata"/>
              </a:rPr>
              <a:t>int</a:t>
            </a:r>
            <a:r>
              <a:rPr sz="750" i="0">
                <a:solidFill>
                  <a:srgbClr val="E6EDF3"/>
                </a:solidFill>
                <a:latin typeface="Inconsolata"/>
              </a:rPr>
              <a:t>) -&gt; </a:t>
            </a:r>
            <a:r>
              <a:rPr sz="750" i="0">
                <a:solidFill>
                  <a:srgbClr val="C3A6FF"/>
                </a:solidFill>
                <a:latin typeface="Inconsolata"/>
              </a:rPr>
              <a:t>str</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A5D6A7"/>
                </a:solidFill>
                <a:latin typeface="Inconsolata"/>
              </a:rPr>
              <a:t>f"v1:products:list:category={category or 'all'}:page={page}"</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key = products_key(category, page)</a:t>
            </a:r>
          </a:p>
          <a:p>
            <a:pPr>
              <a:lnSpc>
                <a:spcPct val="111111"/>
              </a:lnSpc>
              <a:spcAft>
                <a:spcPts val="0"/>
              </a:spcAft>
            </a:pPr>
            <a:r>
              <a:rPr sz="750" i="0">
                <a:solidFill>
                  <a:srgbClr val="E6EDF3"/>
                </a:solidFill>
                <a:latin typeface="Inconsolata"/>
              </a:rPr>
              <a:t>    cached = cache.get(key)</a:t>
            </a:r>
          </a:p>
        </p:txBody>
      </p:sp>
      <p:sp>
        <p:nvSpPr>
          <p:cNvPr id="38" name="Box 23"/>
          <p:cNvSpPr/>
          <p:nvPr/>
        </p:nvSpPr>
        <p:spPr>
          <a:xfrm>
            <a:off x="4379976" y="3134614"/>
            <a:ext cx="4023359" cy="246380"/>
          </a:xfrm>
          <a:prstGeom prst="roundRect">
            <a:avLst>
              <a:gd name="adj" fmla="val 1855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515614"/>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Key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mendesain Cache Key dengan teliti?</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desain cache key</a:t>
            </a:r>
          </a:p>
          <a:p>
            <a:pPr algn="l">
              <a:lnSpc>
                <a:spcPct val="115000"/>
              </a:lnSpc>
              <a:spcAft>
                <a:spcPts val="400"/>
              </a:spcAft>
            </a:pPr>
            <a:r>
              <a:rPr sz="950" b="0" i="0">
                <a:solidFill>
                  <a:srgbClr val="434343"/>
                </a:solidFill>
                <a:latin typeface="Inter"/>
              </a:rPr>
              <a:t>Response </a:t>
            </a:r>
            <a:r>
              <a:rPr sz="950" b="0" i="0">
                <a:solidFill>
                  <a:srgbClr val="B5482A"/>
                </a:solidFill>
                <a:latin typeface="Inconsolata"/>
              </a:rPr>
              <a:t>GET /products</a:t>
            </a:r>
            <a:r>
              <a:rPr sz="950" b="0" i="0">
                <a:solidFill>
                  <a:srgbClr val="434343"/>
                </a:solidFill>
                <a:latin typeface="Inter"/>
              </a:rPr>
              <a:t> di-cache dengan key </a:t>
            </a:r>
            <a:r>
              <a:rPr sz="950" b="0" i="0">
                <a:solidFill>
                  <a:srgbClr val="B5482A"/>
                </a:solidFill>
                <a:latin typeface="Inconsolata"/>
              </a:rPr>
              <a:t>"products"</a:t>
            </a:r>
            <a:r>
              <a:rPr sz="950" b="0" i="0">
                <a:solidFill>
                  <a:srgbClr val="434343"/>
                </a:solidFill>
                <a:latin typeface="Inter"/>
              </a:rPr>
              <a:t> untuk semua request, padahal hasilnya bergantung pada </a:t>
            </a:r>
            <a:r>
              <a:rPr sz="950" b="0" i="0">
                <a:solidFill>
                  <a:srgbClr val="B5482A"/>
                </a:solidFill>
                <a:latin typeface="Inconsolata"/>
              </a:rPr>
              <a:t>category</a:t>
            </a:r>
            <a:r>
              <a:rPr sz="950" b="0" i="0">
                <a:solidFill>
                  <a:srgbClr val="434343"/>
                </a:solidFill>
                <a:latin typeface="Inter"/>
              </a:rPr>
              <a:t> dan </a:t>
            </a:r>
            <a:r>
              <a:rPr sz="950" b="0" i="0">
                <a:solidFill>
                  <a:srgbClr val="B5482A"/>
                </a:solidFill>
                <a:latin typeface="Inconsolata"/>
              </a:rPr>
              <a:t>page</a:t>
            </a:r>
            <a:r>
              <a:rPr sz="950" b="0" i="0">
                <a:solidFill>
                  <a:srgbClr val="434343"/>
                </a:solidFill>
                <a:latin typeface="Inter"/>
              </a:rPr>
              <a:t>.</a:t>
            </a:r>
          </a:p>
          <a:p>
            <a:pPr algn="l">
              <a:lnSpc>
                <a:spcPct val="115000"/>
              </a:lnSpc>
              <a:spcAft>
                <a:spcPts val="400"/>
              </a:spcAft>
            </a:pPr>
            <a:r>
              <a:rPr sz="1050" b="1" i="0">
                <a:solidFill>
                  <a:srgbClr val="1C4587"/>
                </a:solidFill>
                <a:latin typeface="Inter"/>
              </a:rPr>
              <a:t>Jika parameternya makin banyak</a:t>
            </a:r>
          </a:p>
          <a:p>
            <a:pPr algn="l">
              <a:lnSpc>
                <a:spcPct val="115000"/>
              </a:lnSpc>
              <a:spcAft>
                <a:spcPts val="400"/>
              </a:spcAft>
            </a:pPr>
            <a:r>
              <a:rPr sz="950" b="0" i="0">
                <a:solidFill>
                  <a:srgbClr val="434343"/>
                </a:solidFill>
                <a:latin typeface="Inter"/>
              </a:rPr>
              <a:t>Request kategori </a:t>
            </a:r>
            <a:r>
              <a:rPr sz="950" b="0" i="0">
                <a:solidFill>
                  <a:srgbClr val="B5482A"/>
                </a:solidFill>
                <a:latin typeface="Inconsolata"/>
              </a:rPr>
              <a:t>mouse</a:t>
            </a:r>
            <a:r>
              <a:rPr sz="950" b="0" i="0">
                <a:solidFill>
                  <a:srgbClr val="434343"/>
                </a:solidFill>
                <a:latin typeface="Inter"/>
              </a:rPr>
              <a:t> malah menerima response kategori </a:t>
            </a:r>
            <a:r>
              <a:rPr sz="950" b="0" i="0">
                <a:solidFill>
                  <a:srgbClr val="B5482A"/>
                </a:solidFill>
                <a:latin typeface="Inconsolata"/>
              </a:rPr>
              <a:t>keyboard</a:t>
            </a:r>
            <a:r>
              <a:rPr sz="950" b="0" i="0">
                <a:solidFill>
                  <a:srgbClr val="434343"/>
                </a:solidFill>
                <a:latin typeface="Inter"/>
              </a:rPr>
              <a:t> yang lebih dulu tersimpan.</a:t>
            </a:r>
          </a:p>
          <a:p>
            <a:pPr algn="l">
              <a:lnSpc>
                <a:spcPct val="115000"/>
              </a:lnSpc>
              <a:spcAft>
                <a:spcPts val="400"/>
              </a:spcAft>
            </a:pPr>
            <a:r>
              <a:rPr sz="950" b="0" i="0">
                <a:solidFill>
                  <a:srgbClr val="434343"/>
                </a:solidFill>
                <a:latin typeface="Inter"/>
              </a:rPr>
              <a:t>Hal ini membuat client menerima data yang salah, dan sulit dilacak karena hanya terjadi saat cache terisi.</a:t>
            </a:r>
          </a:p>
          <a:p>
            <a:pPr algn="l">
              <a:lnSpc>
                <a:spcPct val="115000"/>
              </a:lnSpc>
              <a:spcAft>
                <a:spcPts val="400"/>
              </a:spcAft>
            </a:pPr>
            <a:r>
              <a:rPr sz="1050" b="1" i="0">
                <a:solidFill>
                  <a:srgbClr val="1C4587"/>
                </a:solidFill>
                <a:latin typeface="Inter"/>
              </a:rPr>
              <a:t>Yang dipakai: konvensi penamaan key</a:t>
            </a:r>
          </a:p>
          <a:p>
            <a:pPr algn="l">
              <a:lnSpc>
                <a:spcPct val="115000"/>
              </a:lnSpc>
              <a:spcAft>
                <a:spcPts val="400"/>
              </a:spcAft>
            </a:pPr>
            <a:r>
              <a:rPr sz="950" b="0" i="0">
                <a:solidFill>
                  <a:srgbClr val="434343"/>
                </a:solidFill>
                <a:latin typeface="Inter"/>
              </a:rPr>
              <a:t>Redis tidak mengatur bentuk key. Formatnya disepakati tim, lalu ditulis di satu function supaya konsisten.</a:t>
            </a:r>
          </a:p>
        </p:txBody>
      </p:sp>
      <p:graphicFrame>
        <p:nvGraphicFramePr>
          <p:cNvPr id="23" name="Table 4"/>
          <p:cNvGraphicFramePr>
            <a:graphicFrameLocks noGrp="1"/>
          </p:cNvGraphicFramePr>
          <p:nvPr/>
        </p:nvGraphicFramePr>
        <p:xfrm>
          <a:off x="4800600" y="1481328"/>
          <a:ext cx="3685032" cy="2286000"/>
        </p:xfrm>
        <a:graphic>
          <a:graphicData uri="http://schemas.openxmlformats.org/drawingml/2006/table">
            <a:tbl>
              <a:tblPr firstRow="1" bandRow="1"/>
              <a:tblGrid>
                <a:gridCol w="231343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Contoh key</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v1:product:1</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Detail produk #1, versi 1</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v1:products:list:category=mouse:page=1</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Daftar produk dengan parameternya</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lock:v1:product:1</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Lock saat mengisi ulang cache</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Aft>
                          <a:spcPts val="0"/>
                        </a:spcAft>
                      </a:pPr>
                      <a:r>
                        <a:rPr sz="850" b="1" i="0">
                          <a:solidFill>
                            <a:srgbClr val="1C4587"/>
                          </a:solidFill>
                          <a:latin typeface="Inter"/>
                        </a:rPr>
                        <a:t>ratelimit:127.0.0.1</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Counter rate limit per client</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Key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satu key untuk semua query</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03-response-cache-key/before.py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11  </a:t>
            </a:r>
            <a:r>
              <a:rPr sz="729" i="0">
                <a:solidFill>
                  <a:srgbClr val="FF8E6E"/>
                </a:solidFill>
                <a:latin typeface="Inconsolata"/>
              </a:rPr>
              <a:t>import</a:t>
            </a:r>
            <a:r>
              <a:rPr sz="729" i="0">
                <a:solidFill>
                  <a:srgbClr val="E6EDF3"/>
                </a:solidFill>
                <a:latin typeface="Inconsolata"/>
              </a:rPr>
              <a:t> json</a:t>
            </a:r>
          </a:p>
          <a:p>
            <a:pPr>
              <a:lnSpc>
                <a:spcPct val="102868"/>
              </a:lnSpc>
              <a:spcAft>
                <a:spcPts val="0"/>
              </a:spcAft>
            </a:pPr>
            <a:r>
              <a:rPr sz="729" i="0">
                <a:solidFill>
                  <a:srgbClr val="5C6773"/>
                </a:solidFill>
                <a:latin typeface="Inconsolata"/>
              </a:rPr>
              <a:t>12  </a:t>
            </a:r>
            <a:r>
              <a:rPr sz="729" i="0">
                <a:solidFill>
                  <a:srgbClr val="FF8E6E"/>
                </a:solidFill>
                <a:latin typeface="Inconsolata"/>
              </a:rPr>
              <a:t>import</a:t>
            </a:r>
            <a:r>
              <a:rPr sz="729" i="0">
                <a:solidFill>
                  <a:srgbClr val="E6EDF3"/>
                </a:solidFill>
                <a:latin typeface="Inconsolata"/>
              </a:rPr>
              <a:t> os</a:t>
            </a:r>
          </a:p>
          <a:p>
            <a:pPr>
              <a:lnSpc>
                <a:spcPct val="102868"/>
              </a:lnSpc>
              <a:spcAft>
                <a:spcPts val="0"/>
              </a:spcAft>
            </a:pPr>
            <a:r>
              <a:rPr sz="729" i="0">
                <a:solidFill>
                  <a:srgbClr val="5C6773"/>
                </a:solidFill>
                <a:latin typeface="Inconsolata"/>
              </a:rPr>
              <a:t>13  </a:t>
            </a:r>
            <a:r>
              <a:rPr sz="729" i="0">
                <a:solidFill>
                  <a:srgbClr val="E6EDF3"/>
                </a:solidFill>
                <a:latin typeface="Inconsolata"/>
              </a:rPr>
              <a:t> </a:t>
            </a:r>
          </a:p>
          <a:p>
            <a:pPr>
              <a:lnSpc>
                <a:spcPct val="102868"/>
              </a:lnSpc>
              <a:spcAft>
                <a:spcPts val="0"/>
              </a:spcAft>
            </a:pPr>
            <a:r>
              <a:rPr sz="729" i="0">
                <a:solidFill>
                  <a:srgbClr val="5C6773"/>
                </a:solidFill>
                <a:latin typeface="Inconsolata"/>
              </a:rPr>
              <a:t>14  </a:t>
            </a:r>
            <a:r>
              <a:rPr sz="729" i="0">
                <a:solidFill>
                  <a:srgbClr val="FF8E6E"/>
                </a:solidFill>
                <a:latin typeface="Inconsolata"/>
              </a:rPr>
              <a:t>import</a:t>
            </a:r>
            <a:r>
              <a:rPr sz="729" i="0">
                <a:solidFill>
                  <a:srgbClr val="E6EDF3"/>
                </a:solidFill>
                <a:latin typeface="Inconsolata"/>
              </a:rPr>
              <a:t> redis</a:t>
            </a:r>
          </a:p>
          <a:p>
            <a:pPr>
              <a:lnSpc>
                <a:spcPct val="102868"/>
              </a:lnSpc>
              <a:spcAft>
                <a:spcPts val="0"/>
              </a:spcAft>
            </a:pPr>
            <a:r>
              <a:rPr sz="729" i="0">
                <a:solidFill>
                  <a:srgbClr val="5C6773"/>
                </a:solidFill>
                <a:latin typeface="Inconsolata"/>
              </a:rPr>
              <a:t>15  </a:t>
            </a:r>
            <a:r>
              <a:rPr sz="729" i="0">
                <a:solidFill>
                  <a:srgbClr val="FF8E6E"/>
                </a:solidFill>
                <a:latin typeface="Inconsolata"/>
              </a:rPr>
              <a:t>from</a:t>
            </a:r>
            <a:r>
              <a:rPr sz="729" i="0">
                <a:solidFill>
                  <a:srgbClr val="E6EDF3"/>
                </a:solidFill>
                <a:latin typeface="Inconsolata"/>
              </a:rPr>
              <a:t> fastapi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FastAPI</a:t>
            </a:r>
          </a:p>
          <a:p>
            <a:pPr>
              <a:lnSpc>
                <a:spcPct val="102868"/>
              </a:lnSpc>
              <a:spcAft>
                <a:spcPts val="0"/>
              </a:spcAft>
            </a:pPr>
            <a:r>
              <a:rPr sz="729" i="0">
                <a:solidFill>
                  <a:srgbClr val="5C6773"/>
                </a:solidFill>
                <a:latin typeface="Inconsolata"/>
              </a:rPr>
              <a:t>16  </a:t>
            </a:r>
            <a:r>
              <a:rPr sz="729" i="0">
                <a:solidFill>
                  <a:srgbClr val="FF8E6E"/>
                </a:solidFill>
                <a:latin typeface="Inconsolata"/>
              </a:rPr>
              <a:t>from</a:t>
            </a:r>
            <a:r>
              <a:rPr sz="729" i="0">
                <a:solidFill>
                  <a:srgbClr val="E6EDF3"/>
                </a:solidFill>
                <a:latin typeface="Inconsolata"/>
              </a:rPr>
              <a:t> fastapi.testclient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TestClient</a:t>
            </a:r>
          </a:p>
          <a:p>
            <a:pPr>
              <a:lnSpc>
                <a:spcPct val="102868"/>
              </a:lnSpc>
              <a:spcAft>
                <a:spcPts val="0"/>
              </a:spcAft>
            </a:pPr>
            <a:r>
              <a:rPr sz="729" i="0">
                <a:solidFill>
                  <a:srgbClr val="5C6773"/>
                </a:solidFill>
                <a:latin typeface="Inconsolata"/>
              </a:rPr>
              <a:t>17  </a:t>
            </a:r>
            <a:r>
              <a:rPr sz="729" i="0">
                <a:solidFill>
                  <a:srgbClr val="E6EDF3"/>
                </a:solidFill>
                <a:latin typeface="Inconsolata"/>
              </a:rPr>
              <a:t> </a:t>
            </a:r>
          </a:p>
          <a:p>
            <a:pPr>
              <a:lnSpc>
                <a:spcPct val="102868"/>
              </a:lnSpc>
              <a:spcAft>
                <a:spcPts val="0"/>
              </a:spcAft>
            </a:pPr>
            <a:r>
              <a:rPr sz="729" i="0">
                <a:solidFill>
                  <a:srgbClr val="5C6773"/>
                </a:solidFill>
                <a:latin typeface="Inconsolata"/>
              </a:rPr>
              <a:t>18  </a:t>
            </a:r>
            <a:r>
              <a:rPr sz="729" i="0">
                <a:solidFill>
                  <a:srgbClr val="7FDBCA"/>
                </a:solidFill>
                <a:latin typeface="Inconsolata"/>
              </a:rPr>
              <a:t>REDIS_URL</a:t>
            </a:r>
            <a:r>
              <a:rPr sz="729" i="0">
                <a:solidFill>
                  <a:srgbClr val="E6EDF3"/>
                </a:solidFill>
                <a:latin typeface="Inconsolata"/>
              </a:rPr>
              <a:t> = os.getenv(</a:t>
            </a:r>
            <a:r>
              <a:rPr sz="729" i="0">
                <a:solidFill>
                  <a:srgbClr val="A5D6A7"/>
                </a:solidFill>
                <a:latin typeface="Inconsolata"/>
              </a:rPr>
              <a:t>"REDIS_URL"</a:t>
            </a:r>
            <a:r>
              <a:rPr sz="729" i="0">
                <a:solidFill>
                  <a:srgbClr val="E6EDF3"/>
                </a:solidFill>
                <a:latin typeface="Inconsolata"/>
              </a:rPr>
              <a:t>, </a:t>
            </a:r>
            <a:r>
              <a:rPr sz="729" i="0">
                <a:solidFill>
                  <a:srgbClr val="A5D6A7"/>
                </a:solidFill>
                <a:latin typeface="Inconsolata"/>
              </a:rPr>
              <a:t>"redis://localhost:6379/0"</a:t>
            </a:r>
            <a:r>
              <a:rPr sz="729" i="0">
                <a:solidFill>
                  <a:srgbClr val="E6EDF3"/>
                </a:solidFill>
                <a:latin typeface="Inconsolata"/>
              </a:rPr>
              <a:t>)</a:t>
            </a:r>
          </a:p>
          <a:p>
            <a:pPr>
              <a:lnSpc>
                <a:spcPct val="102868"/>
              </a:lnSpc>
              <a:spcAft>
                <a:spcPts val="0"/>
              </a:spcAft>
            </a:pPr>
            <a:r>
              <a:rPr sz="729" i="0">
                <a:solidFill>
                  <a:srgbClr val="5C6773"/>
                </a:solidFill>
                <a:latin typeface="Inconsolata"/>
              </a:rPr>
              <a:t>19  </a:t>
            </a:r>
            <a:r>
              <a:rPr sz="729" i="0">
                <a:solidFill>
                  <a:srgbClr val="E6EDF3"/>
                </a:solidFill>
                <a:latin typeface="Inconsolata"/>
              </a:rPr>
              <a:t>cache = redis.</a:t>
            </a:r>
            <a:r>
              <a:rPr sz="729" i="0">
                <a:solidFill>
                  <a:srgbClr val="7FDBCA"/>
                </a:solidFill>
                <a:latin typeface="Inconsolata"/>
              </a:rPr>
              <a:t>Redis</a:t>
            </a:r>
            <a:r>
              <a:rPr sz="729" i="0">
                <a:solidFill>
                  <a:srgbClr val="E6EDF3"/>
                </a:solidFill>
                <a:latin typeface="Inconsolata"/>
              </a:rPr>
              <a:t>.from_url(</a:t>
            </a:r>
            <a:r>
              <a:rPr sz="729" i="0">
                <a:solidFill>
                  <a:srgbClr val="7FDBCA"/>
                </a:solidFill>
                <a:latin typeface="Inconsolata"/>
              </a:rPr>
              <a:t>REDIS_URL</a:t>
            </a:r>
            <a:r>
              <a:rPr sz="729" i="0">
                <a:solidFill>
                  <a:srgbClr val="E6EDF3"/>
                </a:solidFill>
                <a:latin typeface="Inconsolata"/>
              </a:rPr>
              <a:t>, decode_responses=</a:t>
            </a:r>
            <a:r>
              <a:rPr sz="729" i="0">
                <a:solidFill>
                  <a:srgbClr val="FF8E6E"/>
                </a:solidFill>
                <a:latin typeface="Inconsolata"/>
              </a:rPr>
              <a:t>True</a:t>
            </a:r>
            <a:r>
              <a:rPr sz="729" i="0">
                <a:solidFill>
                  <a:srgbClr val="E6EDF3"/>
                </a:solidFill>
                <a:latin typeface="Inconsolata"/>
              </a:rPr>
              <a:t>)</a:t>
            </a:r>
          </a:p>
          <a:p>
            <a:pPr>
              <a:lnSpc>
                <a:spcPct val="102868"/>
              </a:lnSpc>
              <a:spcAft>
                <a:spcPts val="0"/>
              </a:spcAft>
            </a:pPr>
            <a:r>
              <a:rPr sz="729" i="0">
                <a:solidFill>
                  <a:srgbClr val="5C6773"/>
                </a:solidFill>
                <a:latin typeface="Inconsolata"/>
              </a:rPr>
              <a:t>20  </a:t>
            </a:r>
            <a:r>
              <a:rPr sz="729" i="0">
                <a:solidFill>
                  <a:srgbClr val="E6EDF3"/>
                </a:solidFill>
                <a:latin typeface="Inconsolata"/>
              </a:rPr>
              <a:t>app = </a:t>
            </a:r>
            <a:r>
              <a:rPr sz="729" i="0">
                <a:solidFill>
                  <a:srgbClr val="7FDBCA"/>
                </a:solidFill>
                <a:latin typeface="Inconsolata"/>
              </a:rPr>
              <a:t>FastAPI</a:t>
            </a:r>
            <a:r>
              <a:rPr sz="729" i="0">
                <a:solidFill>
                  <a:srgbClr val="E6EDF3"/>
                </a:solidFill>
                <a:latin typeface="Inconsolata"/>
              </a:rPr>
              <a:t>()</a:t>
            </a:r>
          </a:p>
          <a:p>
            <a:pPr>
              <a:lnSpc>
                <a:spcPct val="102868"/>
              </a:lnSpc>
              <a:spcAft>
                <a:spcPts val="0"/>
              </a:spcAft>
            </a:pPr>
            <a:r>
              <a:rPr sz="729" i="0">
                <a:solidFill>
                  <a:srgbClr val="5C6773"/>
                </a:solidFill>
                <a:latin typeface="Inconsolata"/>
              </a:rPr>
              <a:t>21  </a:t>
            </a:r>
            <a:r>
              <a:rPr sz="729" i="0">
                <a:solidFill>
                  <a:srgbClr val="E6EDF3"/>
                </a:solidFill>
                <a:latin typeface="Inconsolata"/>
              </a:rPr>
              <a:t> </a:t>
            </a:r>
          </a:p>
          <a:p>
            <a:pPr>
              <a:lnSpc>
                <a:spcPct val="102868"/>
              </a:lnSpc>
              <a:spcAft>
                <a:spcPts val="0"/>
              </a:spcAft>
            </a:pPr>
            <a:r>
              <a:rPr sz="729" i="0">
                <a:solidFill>
                  <a:srgbClr val="5C6773"/>
                </a:solidFill>
                <a:latin typeface="Inconsolata"/>
              </a:rPr>
              <a:t>22  </a:t>
            </a:r>
            <a:r>
              <a:rPr sz="729" i="0">
                <a:solidFill>
                  <a:srgbClr val="7FDBCA"/>
                </a:solidFill>
                <a:latin typeface="Inconsolata"/>
              </a:rPr>
              <a:t>PRODUCTS</a:t>
            </a:r>
            <a:r>
              <a:rPr sz="729" i="0">
                <a:solidFill>
                  <a:srgbClr val="E6EDF3"/>
                </a:solidFill>
                <a:latin typeface="Inconsolata"/>
              </a:rPr>
              <a:t> = [</a:t>
            </a:r>
          </a:p>
          <a:p>
            <a:pPr>
              <a:lnSpc>
                <a:spcPct val="102868"/>
              </a:lnSpc>
              <a:spcAft>
                <a:spcPts val="0"/>
              </a:spcAft>
            </a:pPr>
            <a:r>
              <a:rPr sz="729" i="0">
                <a:solidFill>
                  <a:srgbClr val="5C6773"/>
                </a:solidFill>
                <a:latin typeface="Inconsolata"/>
              </a:rPr>
              <a:t>23  </a:t>
            </a:r>
            <a:r>
              <a:rPr sz="729" i="0">
                <a:solidFill>
                  <a:srgbClr val="E6EDF3"/>
                </a:solidFill>
                <a:latin typeface="Inconsolata"/>
              </a:rPr>
              <a:t>    {</a:t>
            </a:r>
            <a:r>
              <a:rPr sz="729" i="0">
                <a:solidFill>
                  <a:srgbClr val="A5D6A7"/>
                </a:solidFill>
                <a:latin typeface="Inconsolata"/>
              </a:rPr>
              <a:t>"id"</a:t>
            </a:r>
            <a:r>
              <a:rPr sz="729" i="0">
                <a:solidFill>
                  <a:srgbClr val="E6EDF3"/>
                </a:solidFill>
                <a:latin typeface="Inconsolata"/>
              </a:rPr>
              <a:t>: </a:t>
            </a:r>
            <a:r>
              <a:rPr sz="729" i="0">
                <a:solidFill>
                  <a:srgbClr val="F9C97A"/>
                </a:solidFill>
                <a:latin typeface="Inconsolata"/>
              </a:rPr>
              <a:t>1</a:t>
            </a:r>
            <a:r>
              <a:rPr sz="729" i="0">
                <a:solidFill>
                  <a:srgbClr val="E6EDF3"/>
                </a:solidFill>
                <a:latin typeface="Inconsolata"/>
              </a:rPr>
              <a:t>, </a:t>
            </a:r>
            <a:r>
              <a:rPr sz="729" i="0">
                <a:solidFill>
                  <a:srgbClr val="A5D6A7"/>
                </a:solidFill>
                <a:latin typeface="Inconsolata"/>
              </a:rPr>
              <a:t>"name"</a:t>
            </a:r>
            <a:r>
              <a:rPr sz="729" i="0">
                <a:solidFill>
                  <a:srgbClr val="E6EDF3"/>
                </a:solidFill>
                <a:latin typeface="Inconsolata"/>
              </a:rPr>
              <a:t>: </a:t>
            </a:r>
            <a:r>
              <a:rPr sz="729" i="0">
                <a:solidFill>
                  <a:srgbClr val="A5D6A7"/>
                </a:solidFill>
                <a:latin typeface="Inconsolata"/>
              </a:rPr>
              <a:t>"Keyboard Mekanik"</a:t>
            </a:r>
            <a:r>
              <a:rPr sz="729" i="0">
                <a:solidFill>
                  <a:srgbClr val="E6EDF3"/>
                </a:solidFill>
                <a:latin typeface="Inconsolata"/>
              </a:rPr>
              <a:t>, </a:t>
            </a:r>
            <a:r>
              <a:rPr sz="729" i="0">
                <a:solidFill>
                  <a:srgbClr val="A5D6A7"/>
                </a:solidFill>
                <a:latin typeface="Inconsolata"/>
              </a:rPr>
              <a:t>"category"</a:t>
            </a:r>
            <a:r>
              <a:rPr sz="729" i="0">
                <a:solidFill>
                  <a:srgbClr val="E6EDF3"/>
                </a:solidFill>
                <a:latin typeface="Inconsolata"/>
              </a:rPr>
              <a:t>: </a:t>
            </a:r>
            <a:r>
              <a:rPr sz="729" i="0">
                <a:solidFill>
                  <a:srgbClr val="A5D6A7"/>
                </a:solidFill>
                <a:latin typeface="Inconsolata"/>
              </a:rPr>
              <a:t>"keyboard"</a:t>
            </a:r>
            <a:r>
              <a:rPr sz="729" i="0">
                <a:solidFill>
                  <a:srgbClr val="E6EDF3"/>
                </a:solidFill>
                <a:latin typeface="Inconsolata"/>
              </a:rPr>
              <a:t>},</a:t>
            </a:r>
          </a:p>
          <a:p>
            <a:pPr>
              <a:lnSpc>
                <a:spcPct val="102868"/>
              </a:lnSpc>
              <a:spcAft>
                <a:spcPts val="0"/>
              </a:spcAft>
            </a:pPr>
            <a:r>
              <a:rPr sz="729" i="0">
                <a:solidFill>
                  <a:srgbClr val="5C6773"/>
                </a:solidFill>
                <a:latin typeface="Inconsolata"/>
              </a:rPr>
              <a:t>24  </a:t>
            </a:r>
            <a:r>
              <a:rPr sz="729" i="0">
                <a:solidFill>
                  <a:srgbClr val="E6EDF3"/>
                </a:solidFill>
                <a:latin typeface="Inconsolata"/>
              </a:rPr>
              <a:t>    {</a:t>
            </a:r>
            <a:r>
              <a:rPr sz="729" i="0">
                <a:solidFill>
                  <a:srgbClr val="A5D6A7"/>
                </a:solidFill>
                <a:latin typeface="Inconsolata"/>
              </a:rPr>
              <a:t>"id"</a:t>
            </a:r>
            <a:r>
              <a:rPr sz="729" i="0">
                <a:solidFill>
                  <a:srgbClr val="E6EDF3"/>
                </a:solidFill>
                <a:latin typeface="Inconsolata"/>
              </a:rPr>
              <a:t>: </a:t>
            </a:r>
            <a:r>
              <a:rPr sz="729" i="0">
                <a:solidFill>
                  <a:srgbClr val="F9C97A"/>
                </a:solidFill>
                <a:latin typeface="Inconsolata"/>
              </a:rPr>
              <a:t>2</a:t>
            </a:r>
            <a:r>
              <a:rPr sz="729" i="0">
                <a:solidFill>
                  <a:srgbClr val="E6EDF3"/>
                </a:solidFill>
                <a:latin typeface="Inconsolata"/>
              </a:rPr>
              <a:t>, </a:t>
            </a:r>
            <a:r>
              <a:rPr sz="729" i="0">
                <a:solidFill>
                  <a:srgbClr val="A5D6A7"/>
                </a:solidFill>
                <a:latin typeface="Inconsolata"/>
              </a:rPr>
              <a:t>"name"</a:t>
            </a:r>
            <a:r>
              <a:rPr sz="729" i="0">
                <a:solidFill>
                  <a:srgbClr val="E6EDF3"/>
                </a:solidFill>
                <a:latin typeface="Inconsolata"/>
              </a:rPr>
              <a:t>: </a:t>
            </a:r>
            <a:r>
              <a:rPr sz="729" i="0">
                <a:solidFill>
                  <a:srgbClr val="A5D6A7"/>
                </a:solidFill>
                <a:latin typeface="Inconsolata"/>
              </a:rPr>
              <a:t>"Keyboard Wireless"</a:t>
            </a:r>
            <a:r>
              <a:rPr sz="729" i="0">
                <a:solidFill>
                  <a:srgbClr val="E6EDF3"/>
                </a:solidFill>
                <a:latin typeface="Inconsolata"/>
              </a:rPr>
              <a:t>, </a:t>
            </a:r>
            <a:r>
              <a:rPr sz="729" i="0">
                <a:solidFill>
                  <a:srgbClr val="A5D6A7"/>
                </a:solidFill>
                <a:latin typeface="Inconsolata"/>
              </a:rPr>
              <a:t>"category"</a:t>
            </a:r>
            <a:r>
              <a:rPr sz="729" i="0">
                <a:solidFill>
                  <a:srgbClr val="E6EDF3"/>
                </a:solidFill>
                <a:latin typeface="Inconsolata"/>
              </a:rPr>
              <a:t>: </a:t>
            </a:r>
            <a:r>
              <a:rPr sz="729" i="0">
                <a:solidFill>
                  <a:srgbClr val="A5D6A7"/>
                </a:solidFill>
                <a:latin typeface="Inconsolata"/>
              </a:rPr>
              <a:t>"keyboard"</a:t>
            </a:r>
            <a:r>
              <a:rPr sz="729" i="0">
                <a:solidFill>
                  <a:srgbClr val="E6EDF3"/>
                </a:solidFill>
                <a:latin typeface="Inconsolata"/>
              </a:rPr>
              <a:t>},</a:t>
            </a:r>
          </a:p>
          <a:p>
            <a:pPr>
              <a:lnSpc>
                <a:spcPct val="102868"/>
              </a:lnSpc>
              <a:spcAft>
                <a:spcPts val="0"/>
              </a:spcAft>
            </a:pPr>
            <a:r>
              <a:rPr sz="729" i="0">
                <a:solidFill>
                  <a:srgbClr val="5C6773"/>
                </a:solidFill>
                <a:latin typeface="Inconsolata"/>
              </a:rPr>
              <a:t>25  </a:t>
            </a:r>
            <a:r>
              <a:rPr sz="729" i="0">
                <a:solidFill>
                  <a:srgbClr val="E6EDF3"/>
                </a:solidFill>
                <a:latin typeface="Inconsolata"/>
              </a:rPr>
              <a:t>    {</a:t>
            </a:r>
            <a:r>
              <a:rPr sz="729" i="0">
                <a:solidFill>
                  <a:srgbClr val="A5D6A7"/>
                </a:solidFill>
                <a:latin typeface="Inconsolata"/>
              </a:rPr>
              <a:t>"id"</a:t>
            </a:r>
            <a:r>
              <a:rPr sz="729" i="0">
                <a:solidFill>
                  <a:srgbClr val="E6EDF3"/>
                </a:solidFill>
                <a:latin typeface="Inconsolata"/>
              </a:rPr>
              <a:t>: </a:t>
            </a:r>
            <a:r>
              <a:rPr sz="729" i="0">
                <a:solidFill>
                  <a:srgbClr val="F9C97A"/>
                </a:solidFill>
                <a:latin typeface="Inconsolata"/>
              </a:rPr>
              <a:t>3</a:t>
            </a:r>
            <a:r>
              <a:rPr sz="729" i="0">
                <a:solidFill>
                  <a:srgbClr val="E6EDF3"/>
                </a:solidFill>
                <a:latin typeface="Inconsolata"/>
              </a:rPr>
              <a:t>, </a:t>
            </a:r>
            <a:r>
              <a:rPr sz="729" i="0">
                <a:solidFill>
                  <a:srgbClr val="A5D6A7"/>
                </a:solidFill>
                <a:latin typeface="Inconsolata"/>
              </a:rPr>
              <a:t>"name"</a:t>
            </a:r>
            <a:r>
              <a:rPr sz="729" i="0">
                <a:solidFill>
                  <a:srgbClr val="E6EDF3"/>
                </a:solidFill>
                <a:latin typeface="Inconsolata"/>
              </a:rPr>
              <a:t>: </a:t>
            </a:r>
            <a:r>
              <a:rPr sz="729" i="0">
                <a:solidFill>
                  <a:srgbClr val="A5D6A7"/>
                </a:solidFill>
                <a:latin typeface="Inconsolata"/>
              </a:rPr>
              <a:t>"Mouse Gaming"</a:t>
            </a:r>
            <a:r>
              <a:rPr sz="729" i="0">
                <a:solidFill>
                  <a:srgbClr val="E6EDF3"/>
                </a:solidFill>
                <a:latin typeface="Inconsolata"/>
              </a:rPr>
              <a:t>, </a:t>
            </a:r>
            <a:r>
              <a:rPr sz="729" i="0">
                <a:solidFill>
                  <a:srgbClr val="A5D6A7"/>
                </a:solidFill>
                <a:latin typeface="Inconsolata"/>
              </a:rPr>
              <a:t>"category"</a:t>
            </a:r>
            <a:r>
              <a:rPr sz="729" i="0">
                <a:solidFill>
                  <a:srgbClr val="E6EDF3"/>
                </a:solidFill>
                <a:latin typeface="Inconsolata"/>
              </a:rPr>
              <a:t>: </a:t>
            </a:r>
            <a:r>
              <a:rPr sz="729" i="0">
                <a:solidFill>
                  <a:srgbClr val="A5D6A7"/>
                </a:solidFill>
                <a:latin typeface="Inconsolata"/>
              </a:rPr>
              <a:t>"mouse"</a:t>
            </a:r>
            <a:r>
              <a:rPr sz="729" i="0">
                <a:solidFill>
                  <a:srgbClr val="E6EDF3"/>
                </a:solidFill>
                <a:latin typeface="Inconsolata"/>
              </a:rPr>
              <a:t>},</a:t>
            </a:r>
          </a:p>
          <a:p>
            <a:pPr>
              <a:lnSpc>
                <a:spcPct val="102868"/>
              </a:lnSpc>
              <a:spcAft>
                <a:spcPts val="0"/>
              </a:spcAft>
            </a:pPr>
            <a:r>
              <a:rPr sz="729" i="0">
                <a:solidFill>
                  <a:srgbClr val="5C6773"/>
                </a:solidFill>
                <a:latin typeface="Inconsolata"/>
              </a:rPr>
              <a:t>26  </a:t>
            </a:r>
            <a:r>
              <a:rPr sz="729" i="0">
                <a:solidFill>
                  <a:srgbClr val="E6EDF3"/>
                </a:solidFill>
                <a:latin typeface="Inconsolata"/>
              </a:rPr>
              <a:t>]</a:t>
            </a:r>
          </a:p>
          <a:p>
            <a:pPr>
              <a:lnSpc>
                <a:spcPct val="102868"/>
              </a:lnSpc>
              <a:spcAft>
                <a:spcPts val="0"/>
              </a:spcAft>
            </a:pPr>
            <a:r>
              <a:rPr sz="729" i="0">
                <a:solidFill>
                  <a:srgbClr val="5C6773"/>
                </a:solidFill>
                <a:latin typeface="Inconsolata"/>
              </a:rPr>
              <a:t>27  </a:t>
            </a:r>
            <a:r>
              <a:rPr sz="729" i="0">
                <a:solidFill>
                  <a:srgbClr val="E6EDF3"/>
                </a:solidFill>
                <a:latin typeface="Inconsolata"/>
              </a:rPr>
              <a:t> </a:t>
            </a:r>
          </a:p>
          <a:p>
            <a:pPr>
              <a:lnSpc>
                <a:spcPct val="102868"/>
              </a:lnSpc>
              <a:spcAft>
                <a:spcPts val="0"/>
              </a:spcAft>
            </a:pPr>
            <a:r>
              <a:rPr sz="729" i="0">
                <a:solidFill>
                  <a:srgbClr val="5C6773"/>
                </a:solidFill>
                <a:latin typeface="Inconsolata"/>
              </a:rPr>
              <a:t>28  </a:t>
            </a:r>
            <a:r>
              <a:rPr sz="729" i="0">
                <a:solidFill>
                  <a:srgbClr val="E6EDF3"/>
                </a:solidFill>
                <a:latin typeface="Inconsolata"/>
              </a:rPr>
              <a:t> </a:t>
            </a:r>
          </a:p>
          <a:p>
            <a:pPr>
              <a:lnSpc>
                <a:spcPct val="102868"/>
              </a:lnSpc>
              <a:spcAft>
                <a:spcPts val="0"/>
              </a:spcAft>
            </a:pPr>
            <a:r>
              <a:rPr sz="729" i="0">
                <a:solidFill>
                  <a:srgbClr val="5C6773"/>
                </a:solidFill>
                <a:latin typeface="Inconsolata"/>
              </a:rPr>
              <a:t>29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query_products</a:t>
            </a:r>
            <a:r>
              <a:rPr sz="729" i="0">
                <a:solidFill>
                  <a:srgbClr val="E6EDF3"/>
                </a:solidFill>
                <a:latin typeface="Inconsolata"/>
              </a:rPr>
              <a:t>(category: </a:t>
            </a:r>
            <a:r>
              <a:rPr sz="729" i="0">
                <a:solidFill>
                  <a:srgbClr val="C3A6FF"/>
                </a:solidFill>
                <a:latin typeface="Inconsolata"/>
              </a:rPr>
              <a:t>str</a:t>
            </a:r>
            <a:r>
              <a:rPr sz="729" i="0">
                <a:solidFill>
                  <a:srgbClr val="E6EDF3"/>
                </a:solidFill>
                <a:latin typeface="Inconsolata"/>
              </a:rPr>
              <a:t> | </a:t>
            </a:r>
            <a:r>
              <a:rPr sz="729" i="0">
                <a:solidFill>
                  <a:srgbClr val="FF8E6E"/>
                </a:solidFill>
                <a:latin typeface="Inconsolata"/>
              </a:rPr>
              <a:t>None</a:t>
            </a:r>
            <a:r>
              <a:rPr sz="729" i="0">
                <a:solidFill>
                  <a:srgbClr val="E6EDF3"/>
                </a:solidFill>
                <a:latin typeface="Inconsolata"/>
              </a:rPr>
              <a:t>, page: </a:t>
            </a:r>
            <a:r>
              <a:rPr sz="729" i="0">
                <a:solidFill>
                  <a:srgbClr val="C3A6FF"/>
                </a:solidFill>
                <a:latin typeface="Inconsolata"/>
              </a:rPr>
              <a:t>int</a:t>
            </a:r>
            <a:r>
              <a:rPr sz="729" i="0">
                <a:solidFill>
                  <a:srgbClr val="E6EDF3"/>
                </a:solidFill>
                <a:latin typeface="Inconsolata"/>
              </a:rPr>
              <a:t>) -&gt; </a:t>
            </a:r>
            <a:r>
              <a:rPr sz="729" i="0">
                <a:solidFill>
                  <a:srgbClr val="C3A6FF"/>
                </a:solidFill>
                <a:latin typeface="Inconsolata"/>
              </a:rPr>
              <a:t>list</a:t>
            </a:r>
            <a:r>
              <a:rPr sz="729" i="0">
                <a:solidFill>
                  <a:srgbClr val="E6EDF3"/>
                </a:solidFill>
                <a:latin typeface="Inconsolata"/>
              </a:rPr>
              <a:t>[</a:t>
            </a:r>
            <a:r>
              <a:rPr sz="729" i="0">
                <a:solidFill>
                  <a:srgbClr val="C3A6FF"/>
                </a:solidFill>
                <a:latin typeface="Inconsolata"/>
              </a:rPr>
              <a:t>dict</a:t>
            </a:r>
            <a:r>
              <a:rPr sz="729" i="0">
                <a:solidFill>
                  <a:srgbClr val="E6EDF3"/>
                </a:solidFill>
                <a:latin typeface="Inconsolata"/>
              </a:rPr>
              <a:t>]:</a:t>
            </a:r>
          </a:p>
          <a:p>
            <a:pPr>
              <a:lnSpc>
                <a:spcPct val="102868"/>
              </a:lnSpc>
              <a:spcAft>
                <a:spcPts val="0"/>
              </a:spcAft>
            </a:pPr>
            <a:r>
              <a:rPr sz="729" i="0">
                <a:solidFill>
                  <a:srgbClr val="5C6773"/>
                </a:solidFill>
                <a:latin typeface="Inconsolata"/>
              </a:rPr>
              <a:t>30  </a:t>
            </a:r>
            <a:r>
              <a:rPr sz="729" i="0">
                <a:solidFill>
                  <a:srgbClr val="E6EDF3"/>
                </a:solidFill>
                <a:latin typeface="Inconsolata"/>
              </a:rPr>
              <a:t>    rows = [p </a:t>
            </a:r>
            <a:r>
              <a:rPr sz="729" i="0">
                <a:solidFill>
                  <a:srgbClr val="FF8E6E"/>
                </a:solidFill>
                <a:latin typeface="Inconsolata"/>
              </a:rPr>
              <a:t>for</a:t>
            </a:r>
            <a:r>
              <a:rPr sz="729" i="0">
                <a:solidFill>
                  <a:srgbClr val="E6EDF3"/>
                </a:solidFill>
                <a:latin typeface="Inconsolata"/>
              </a:rPr>
              <a:t> p </a:t>
            </a:r>
            <a:r>
              <a:rPr sz="729" i="0">
                <a:solidFill>
                  <a:srgbClr val="FF8E6E"/>
                </a:solidFill>
                <a:latin typeface="Inconsolata"/>
              </a:rPr>
              <a:t>in</a:t>
            </a:r>
            <a:r>
              <a:rPr sz="729" i="0">
                <a:solidFill>
                  <a:srgbClr val="E6EDF3"/>
                </a:solidFill>
                <a:latin typeface="Inconsolata"/>
              </a:rPr>
              <a:t> </a:t>
            </a:r>
            <a:r>
              <a:rPr sz="729" i="0">
                <a:solidFill>
                  <a:srgbClr val="7FDBCA"/>
                </a:solidFill>
                <a:latin typeface="Inconsolata"/>
              </a:rPr>
              <a:t>PRODUCTS</a:t>
            </a:r>
            <a:r>
              <a:rPr sz="729" i="0">
                <a:solidFill>
                  <a:srgbClr val="E6EDF3"/>
                </a:solidFill>
                <a:latin typeface="Inconsolata"/>
              </a:rPr>
              <a:t> </a:t>
            </a:r>
            <a:r>
              <a:rPr sz="729" i="0">
                <a:solidFill>
                  <a:srgbClr val="FF8E6E"/>
                </a:solidFill>
                <a:latin typeface="Inconsolata"/>
              </a:rPr>
              <a:t>if</a:t>
            </a:r>
            <a:r>
              <a:rPr sz="729" i="0">
                <a:solidFill>
                  <a:srgbClr val="E6EDF3"/>
                </a:solidFill>
                <a:latin typeface="Inconsolata"/>
              </a:rPr>
              <a:t> category </a:t>
            </a:r>
            <a:r>
              <a:rPr sz="729" i="0">
                <a:solidFill>
                  <a:srgbClr val="FF8E6E"/>
                </a:solidFill>
                <a:latin typeface="Inconsolata"/>
              </a:rPr>
              <a:t>in</a:t>
            </a:r>
            <a:r>
              <a:rPr sz="729" i="0">
                <a:solidFill>
                  <a:srgbClr val="E6EDF3"/>
                </a:solidFill>
                <a:latin typeface="Inconsolata"/>
              </a:rPr>
              <a:t> (</a:t>
            </a:r>
            <a:r>
              <a:rPr sz="729" i="0">
                <a:solidFill>
                  <a:srgbClr val="FF8E6E"/>
                </a:solidFill>
                <a:latin typeface="Inconsolata"/>
              </a:rPr>
              <a:t>None</a:t>
            </a:r>
            <a:r>
              <a:rPr sz="729" i="0">
                <a:solidFill>
                  <a:srgbClr val="E6EDF3"/>
                </a:solidFill>
                <a:latin typeface="Inconsolata"/>
              </a:rPr>
              <a:t>, p[</a:t>
            </a:r>
            <a:r>
              <a:rPr sz="729" i="0">
                <a:solidFill>
                  <a:srgbClr val="A5D6A7"/>
                </a:solidFill>
                <a:latin typeface="Inconsolata"/>
              </a:rPr>
              <a:t>"category"</a:t>
            </a:r>
            <a:r>
              <a:rPr sz="729" i="0">
                <a:solidFill>
                  <a:srgbClr val="E6EDF3"/>
                </a:solidFill>
                <a:latin typeface="Inconsolata"/>
              </a:rPr>
              <a:t>])]</a:t>
            </a:r>
          </a:p>
          <a:p>
            <a:pPr>
              <a:lnSpc>
                <a:spcPct val="102868"/>
              </a:lnSpc>
              <a:spcAft>
                <a:spcPts val="0"/>
              </a:spcAft>
            </a:pPr>
            <a:r>
              <a:rPr sz="729" i="0">
                <a:solidFill>
                  <a:srgbClr val="5C6773"/>
                </a:solidFill>
                <a:latin typeface="Inconsolata"/>
              </a:rPr>
              <a:t>31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rows[(page - </a:t>
            </a:r>
            <a:r>
              <a:rPr sz="729" i="0">
                <a:solidFill>
                  <a:srgbClr val="F9C97A"/>
                </a:solidFill>
                <a:latin typeface="Inconsolata"/>
              </a:rPr>
              <a:t>1</a:t>
            </a:r>
            <a:r>
              <a:rPr sz="729" i="0">
                <a:solidFill>
                  <a:srgbClr val="E6EDF3"/>
                </a:solidFill>
                <a:latin typeface="Inconsolata"/>
              </a:rPr>
              <a:t>) * </a:t>
            </a:r>
            <a:r>
              <a:rPr sz="729" i="0">
                <a:solidFill>
                  <a:srgbClr val="F9C97A"/>
                </a:solidFill>
                <a:latin typeface="Inconsolata"/>
              </a:rPr>
              <a:t>2</a:t>
            </a:r>
            <a:r>
              <a:rPr sz="729" i="0">
                <a:solidFill>
                  <a:srgbClr val="E6EDF3"/>
                </a:solidFill>
                <a:latin typeface="Inconsolata"/>
              </a:rPr>
              <a:t>: page * </a:t>
            </a:r>
            <a:r>
              <a:rPr sz="729" i="0">
                <a:solidFill>
                  <a:srgbClr val="F9C97A"/>
                </a:solidFill>
                <a:latin typeface="Inconsolata"/>
              </a:rPr>
              <a:t>2</a:t>
            </a:r>
            <a:r>
              <a:rPr sz="729" i="0">
                <a:solidFill>
                  <a:srgbClr val="E6EDF3"/>
                </a:solidFill>
                <a:latin typeface="Inconsolata"/>
              </a:rPr>
              <a:t>]        </a:t>
            </a:r>
            <a:r>
              <a:rPr sz="729" i="1">
                <a:solidFill>
                  <a:srgbClr val="8B98A8"/>
                </a:solidFill>
                <a:latin typeface="Inconsolata"/>
              </a:rPr>
              <a:t># 2 produk per page</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03-response-cache-key/before.py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34  </a:t>
            </a:r>
            <a:r>
              <a:rPr sz="729" i="0">
                <a:solidFill>
                  <a:srgbClr val="F9C97A"/>
                </a:solidFill>
                <a:latin typeface="Inconsolata"/>
              </a:rPr>
              <a:t>@app.get</a:t>
            </a:r>
            <a:r>
              <a:rPr sz="729" i="0">
                <a:solidFill>
                  <a:srgbClr val="E6EDF3"/>
                </a:solidFill>
                <a:latin typeface="Inconsolata"/>
              </a:rPr>
              <a:t>(</a:t>
            </a:r>
            <a:r>
              <a:rPr sz="729" i="0">
                <a:solidFill>
                  <a:srgbClr val="A5D6A7"/>
                </a:solidFill>
                <a:latin typeface="Inconsolata"/>
              </a:rPr>
              <a:t>"/products"</a:t>
            </a:r>
            <a:r>
              <a:rPr sz="729" i="0">
                <a:solidFill>
                  <a:srgbClr val="E6EDF3"/>
                </a:solidFill>
                <a:latin typeface="Inconsolata"/>
              </a:rPr>
              <a:t>)</a:t>
            </a:r>
          </a:p>
          <a:p>
            <a:pPr>
              <a:lnSpc>
                <a:spcPct val="102868"/>
              </a:lnSpc>
              <a:spcAft>
                <a:spcPts val="0"/>
              </a:spcAft>
            </a:pPr>
            <a:r>
              <a:rPr sz="729" i="0">
                <a:solidFill>
                  <a:srgbClr val="5C6773"/>
                </a:solidFill>
                <a:latin typeface="Inconsolata"/>
              </a:rPr>
              <a:t>35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list_products</a:t>
            </a:r>
            <a:r>
              <a:rPr sz="729" i="0">
                <a:solidFill>
                  <a:srgbClr val="E6EDF3"/>
                </a:solidFill>
                <a:latin typeface="Inconsolata"/>
              </a:rPr>
              <a:t>(category: </a:t>
            </a:r>
            <a:r>
              <a:rPr sz="729" i="0">
                <a:solidFill>
                  <a:srgbClr val="C3A6FF"/>
                </a:solidFill>
                <a:latin typeface="Inconsolata"/>
              </a:rPr>
              <a:t>str</a:t>
            </a:r>
            <a:r>
              <a:rPr sz="729" i="0">
                <a:solidFill>
                  <a:srgbClr val="E6EDF3"/>
                </a:solidFill>
                <a:latin typeface="Inconsolata"/>
              </a:rPr>
              <a:t> | </a:t>
            </a:r>
            <a:r>
              <a:rPr sz="729" i="0">
                <a:solidFill>
                  <a:srgbClr val="FF8E6E"/>
                </a:solidFill>
                <a:latin typeface="Inconsolata"/>
              </a:rPr>
              <a:t>None</a:t>
            </a:r>
            <a:r>
              <a:rPr sz="729" i="0">
                <a:solidFill>
                  <a:srgbClr val="E6EDF3"/>
                </a:solidFill>
                <a:latin typeface="Inconsolata"/>
              </a:rPr>
              <a:t> = </a:t>
            </a:r>
            <a:r>
              <a:rPr sz="729" i="0">
                <a:solidFill>
                  <a:srgbClr val="FF8E6E"/>
                </a:solidFill>
                <a:latin typeface="Inconsolata"/>
              </a:rPr>
              <a:t>None</a:t>
            </a:r>
            <a:r>
              <a:rPr sz="729" i="0">
                <a:solidFill>
                  <a:srgbClr val="E6EDF3"/>
                </a:solidFill>
                <a:latin typeface="Inconsolata"/>
              </a:rPr>
              <a:t>, page: </a:t>
            </a:r>
            <a:r>
              <a:rPr sz="729" i="0">
                <a:solidFill>
                  <a:srgbClr val="C3A6FF"/>
                </a:solidFill>
                <a:latin typeface="Inconsolata"/>
              </a:rPr>
              <a:t>int</a:t>
            </a:r>
            <a:r>
              <a:rPr sz="729" i="0">
                <a:solidFill>
                  <a:srgbClr val="E6EDF3"/>
                </a:solidFill>
                <a:latin typeface="Inconsolata"/>
              </a:rPr>
              <a:t> = </a:t>
            </a:r>
            <a:r>
              <a:rPr sz="729" i="0">
                <a:solidFill>
                  <a:srgbClr val="F9C97A"/>
                </a:solidFill>
                <a:latin typeface="Inconsolata"/>
              </a:rPr>
              <a:t>1</a:t>
            </a:r>
            <a:r>
              <a:rPr sz="729" i="0">
                <a:solidFill>
                  <a:srgbClr val="E6EDF3"/>
                </a:solidFill>
                <a:latin typeface="Inconsolata"/>
              </a:rPr>
              <a:t>):</a:t>
            </a:r>
          </a:p>
          <a:p>
            <a:pPr>
              <a:lnSpc>
                <a:spcPct val="102868"/>
              </a:lnSpc>
              <a:spcAft>
                <a:spcPts val="0"/>
              </a:spcAft>
            </a:pPr>
            <a:r>
              <a:rPr sz="729" i="0">
                <a:solidFill>
                  <a:srgbClr val="5C6773"/>
                </a:solidFill>
                <a:latin typeface="Inconsolata"/>
              </a:rPr>
              <a:t>36  </a:t>
            </a:r>
            <a:r>
              <a:rPr sz="729" i="0">
                <a:solidFill>
                  <a:srgbClr val="E6EDF3"/>
                </a:solidFill>
                <a:latin typeface="Inconsolata"/>
              </a:rPr>
              <a:t>    cached = cache.get(</a:t>
            </a:r>
            <a:r>
              <a:rPr sz="729" i="0">
                <a:solidFill>
                  <a:srgbClr val="A5D6A7"/>
                </a:solidFill>
                <a:latin typeface="Inconsolata"/>
              </a:rPr>
              <a:t>"products"</a:t>
            </a:r>
            <a:r>
              <a:rPr sz="729" i="0">
                <a:solidFill>
                  <a:srgbClr val="E6EDF3"/>
                </a:solidFill>
                <a:latin typeface="Inconsolata"/>
              </a:rPr>
              <a:t>)      </a:t>
            </a:r>
            <a:r>
              <a:rPr sz="729" i="1">
                <a:solidFill>
                  <a:srgbClr val="8B98A8"/>
                </a:solidFill>
                <a:latin typeface="Inconsolata"/>
              </a:rPr>
              <a:t># key sama untuk semua query</a:t>
            </a:r>
          </a:p>
          <a:p>
            <a:pPr>
              <a:lnSpc>
                <a:spcPct val="102868"/>
              </a:lnSpc>
              <a:spcAft>
                <a:spcPts val="0"/>
              </a:spcAft>
            </a:pPr>
            <a:r>
              <a:rPr sz="729" i="0">
                <a:solidFill>
                  <a:srgbClr val="5C6773"/>
                </a:solidFill>
                <a:latin typeface="Inconsolata"/>
              </a:rPr>
              <a:t>37  </a:t>
            </a:r>
            <a:r>
              <a:rPr sz="729" i="0">
                <a:solidFill>
                  <a:srgbClr val="E6EDF3"/>
                </a:solidFill>
                <a:latin typeface="Inconsolata"/>
              </a:rPr>
              <a:t>    </a:t>
            </a:r>
            <a:r>
              <a:rPr sz="729" i="0">
                <a:solidFill>
                  <a:srgbClr val="FF8E6E"/>
                </a:solidFill>
                <a:latin typeface="Inconsolata"/>
              </a:rPr>
              <a:t>if</a:t>
            </a:r>
            <a:r>
              <a:rPr sz="729" i="0">
                <a:solidFill>
                  <a:srgbClr val="E6EDF3"/>
                </a:solidFill>
                <a:latin typeface="Inconsolata"/>
              </a:rPr>
              <a:t> cached </a:t>
            </a:r>
            <a:r>
              <a:rPr sz="729" i="0">
                <a:solidFill>
                  <a:srgbClr val="FF8E6E"/>
                </a:solidFill>
                <a:latin typeface="Inconsolata"/>
              </a:rPr>
              <a:t>is</a:t>
            </a:r>
            <a:r>
              <a:rPr sz="729" i="0">
                <a:solidFill>
                  <a:srgbClr val="E6EDF3"/>
                </a:solidFill>
                <a:latin typeface="Inconsolata"/>
              </a:rPr>
              <a:t> </a:t>
            </a:r>
            <a:r>
              <a:rPr sz="729" i="0">
                <a:solidFill>
                  <a:srgbClr val="FF8E6E"/>
                </a:solidFill>
                <a:latin typeface="Inconsolata"/>
              </a:rPr>
              <a:t>not</a:t>
            </a:r>
            <a:r>
              <a:rPr sz="729" i="0">
                <a:solidFill>
                  <a:srgbClr val="E6EDF3"/>
                </a:solidFill>
                <a:latin typeface="Inconsolata"/>
              </a:rPr>
              <a:t> </a:t>
            </a:r>
            <a:r>
              <a:rPr sz="729" i="0">
                <a:solidFill>
                  <a:srgbClr val="FF8E6E"/>
                </a:solidFill>
                <a:latin typeface="Inconsolata"/>
              </a:rPr>
              <a:t>None</a:t>
            </a:r>
            <a:r>
              <a:rPr sz="729" i="0">
                <a:solidFill>
                  <a:srgbClr val="E6EDF3"/>
                </a:solidFill>
                <a:latin typeface="Inconsolata"/>
              </a:rPr>
              <a:t>:</a:t>
            </a:r>
          </a:p>
          <a:p>
            <a:pPr>
              <a:lnSpc>
                <a:spcPct val="102868"/>
              </a:lnSpc>
              <a:spcAft>
                <a:spcPts val="0"/>
              </a:spcAft>
            </a:pPr>
            <a:r>
              <a:rPr sz="729" i="0">
                <a:solidFill>
                  <a:srgbClr val="5C6773"/>
                </a:solidFill>
                <a:latin typeface="Inconsolata"/>
              </a:rPr>
              <a:t>38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json.loads(cached)</a:t>
            </a:r>
          </a:p>
          <a:p>
            <a:pPr>
              <a:lnSpc>
                <a:spcPct val="102868"/>
              </a:lnSpc>
              <a:spcAft>
                <a:spcPts val="0"/>
              </a:spcAft>
            </a:pPr>
            <a:r>
              <a:rPr sz="729" i="0">
                <a:solidFill>
                  <a:srgbClr val="5C6773"/>
                </a:solidFill>
                <a:latin typeface="Inconsolata"/>
              </a:rPr>
              <a:t>39  </a:t>
            </a:r>
            <a:r>
              <a:rPr sz="729" i="0">
                <a:solidFill>
                  <a:srgbClr val="E6EDF3"/>
                </a:solidFill>
                <a:latin typeface="Inconsolata"/>
              </a:rPr>
              <a:t>    result = query_products(category, page)</a:t>
            </a:r>
          </a:p>
          <a:p>
            <a:pPr>
              <a:lnSpc>
                <a:spcPct val="102868"/>
              </a:lnSpc>
              <a:spcAft>
                <a:spcPts val="0"/>
              </a:spcAft>
            </a:pPr>
            <a:r>
              <a:rPr sz="729" i="0">
                <a:solidFill>
                  <a:srgbClr val="5C6773"/>
                </a:solidFill>
                <a:latin typeface="Inconsolata"/>
              </a:rPr>
              <a:t>40  </a:t>
            </a:r>
            <a:r>
              <a:rPr sz="729" i="0">
                <a:solidFill>
                  <a:srgbClr val="E6EDF3"/>
                </a:solidFill>
                <a:latin typeface="Inconsolata"/>
              </a:rPr>
              <a:t>    cache.</a:t>
            </a:r>
            <a:r>
              <a:rPr sz="729" i="0">
                <a:solidFill>
                  <a:srgbClr val="C3A6FF"/>
                </a:solidFill>
                <a:latin typeface="Inconsolata"/>
              </a:rPr>
              <a:t>set</a:t>
            </a:r>
            <a:r>
              <a:rPr sz="729" i="0">
                <a:solidFill>
                  <a:srgbClr val="E6EDF3"/>
                </a:solidFill>
                <a:latin typeface="Inconsolata"/>
              </a:rPr>
              <a:t>(</a:t>
            </a:r>
            <a:r>
              <a:rPr sz="729" i="0">
                <a:solidFill>
                  <a:srgbClr val="A5D6A7"/>
                </a:solidFill>
                <a:latin typeface="Inconsolata"/>
              </a:rPr>
              <a:t>"products"</a:t>
            </a:r>
            <a:r>
              <a:rPr sz="729" i="0">
                <a:solidFill>
                  <a:srgbClr val="E6EDF3"/>
                </a:solidFill>
                <a:latin typeface="Inconsolata"/>
              </a:rPr>
              <a:t>, json.dumps(result), ex=</a:t>
            </a:r>
            <a:r>
              <a:rPr sz="729" i="0">
                <a:solidFill>
                  <a:srgbClr val="F9C97A"/>
                </a:solidFill>
                <a:latin typeface="Inconsolata"/>
              </a:rPr>
              <a:t>60</a:t>
            </a:r>
            <a:r>
              <a:rPr sz="729" i="0">
                <a:solidFill>
                  <a:srgbClr val="E6EDF3"/>
                </a:solidFill>
                <a:latin typeface="Inconsolata"/>
              </a:rPr>
              <a:t>)</a:t>
            </a:r>
          </a:p>
          <a:p>
            <a:pPr>
              <a:lnSpc>
                <a:spcPct val="102868"/>
              </a:lnSpc>
              <a:spcAft>
                <a:spcPts val="0"/>
              </a:spcAft>
            </a:pPr>
            <a:r>
              <a:rPr sz="729" i="0">
                <a:solidFill>
                  <a:srgbClr val="5C6773"/>
                </a:solidFill>
                <a:latin typeface="Inconsolata"/>
              </a:rPr>
              <a:t>41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result</a:t>
            </a:r>
          </a:p>
          <a:p>
            <a:pPr>
              <a:lnSpc>
                <a:spcPct val="102868"/>
              </a:lnSpc>
              <a:spcAft>
                <a:spcPts val="0"/>
              </a:spcAft>
            </a:pPr>
            <a:r>
              <a:rPr sz="729" i="0">
                <a:solidFill>
                  <a:srgbClr val="5C6773"/>
                </a:solidFill>
                <a:latin typeface="Inconsolata"/>
              </a:rPr>
              <a:t>42  </a:t>
            </a:r>
            <a:r>
              <a:rPr sz="729" i="0">
                <a:solidFill>
                  <a:srgbClr val="E6EDF3"/>
                </a:solidFill>
                <a:latin typeface="Inconsolata"/>
              </a:rPr>
              <a:t> </a:t>
            </a:r>
          </a:p>
          <a:p>
            <a:pPr>
              <a:lnSpc>
                <a:spcPct val="102868"/>
              </a:lnSpc>
              <a:spcAft>
                <a:spcPts val="0"/>
              </a:spcAft>
            </a:pPr>
            <a:r>
              <a:rPr sz="729" i="0">
                <a:solidFill>
                  <a:srgbClr val="5C6773"/>
                </a:solidFill>
                <a:latin typeface="Inconsolata"/>
              </a:rPr>
              <a:t>43  </a:t>
            </a:r>
            <a:r>
              <a:rPr sz="729" i="0">
                <a:solidFill>
                  <a:srgbClr val="E6EDF3"/>
                </a:solidFill>
                <a:latin typeface="Inconsolata"/>
              </a:rPr>
              <a:t> </a:t>
            </a:r>
          </a:p>
          <a:p>
            <a:pPr>
              <a:lnSpc>
                <a:spcPct val="102868"/>
              </a:lnSpc>
              <a:spcAft>
                <a:spcPts val="0"/>
              </a:spcAft>
            </a:pPr>
            <a:r>
              <a:rPr sz="729" i="0">
                <a:solidFill>
                  <a:srgbClr val="5C6773"/>
                </a:solidFill>
                <a:latin typeface="Inconsolata"/>
              </a:rPr>
              <a:t>44  </a:t>
            </a:r>
            <a:r>
              <a:rPr sz="729" i="0">
                <a:solidFill>
                  <a:srgbClr val="FF8E6E"/>
                </a:solidFill>
                <a:latin typeface="Inconsolata"/>
              </a:rPr>
              <a:t>if</a:t>
            </a:r>
            <a:r>
              <a:rPr sz="729" i="0">
                <a:solidFill>
                  <a:srgbClr val="E6EDF3"/>
                </a:solidFill>
                <a:latin typeface="Inconsolata"/>
              </a:rPr>
              <a:t> __name__ == </a:t>
            </a:r>
            <a:r>
              <a:rPr sz="729" i="0">
                <a:solidFill>
                  <a:srgbClr val="A5D6A7"/>
                </a:solidFill>
                <a:latin typeface="Inconsolata"/>
              </a:rPr>
              <a:t>"__main__"</a:t>
            </a:r>
            <a:r>
              <a:rPr sz="729" i="0">
                <a:solidFill>
                  <a:srgbClr val="E6EDF3"/>
                </a:solidFill>
                <a:latin typeface="Inconsolata"/>
              </a:rPr>
              <a:t>:</a:t>
            </a:r>
          </a:p>
          <a:p>
            <a:pPr>
              <a:lnSpc>
                <a:spcPct val="102868"/>
              </a:lnSpc>
              <a:spcAft>
                <a:spcPts val="0"/>
              </a:spcAft>
            </a:pPr>
            <a:r>
              <a:rPr sz="729" i="0">
                <a:solidFill>
                  <a:srgbClr val="5C6773"/>
                </a:solidFill>
                <a:latin typeface="Inconsolata"/>
              </a:rPr>
              <a:t>45  </a:t>
            </a:r>
            <a:r>
              <a:rPr sz="729" i="0">
                <a:solidFill>
                  <a:srgbClr val="E6EDF3"/>
                </a:solidFill>
                <a:latin typeface="Inconsolata"/>
              </a:rPr>
              <a:t>    cache.delete(</a:t>
            </a:r>
            <a:r>
              <a:rPr sz="729" i="0">
                <a:solidFill>
                  <a:srgbClr val="A5D6A7"/>
                </a:solidFill>
                <a:latin typeface="Inconsolata"/>
              </a:rPr>
              <a:t>"products"</a:t>
            </a:r>
            <a:r>
              <a:rPr sz="729" i="0">
                <a:solidFill>
                  <a:srgbClr val="E6EDF3"/>
                </a:solidFill>
                <a:latin typeface="Inconsolata"/>
              </a:rPr>
              <a:t>)</a:t>
            </a:r>
          </a:p>
          <a:p>
            <a:pPr>
              <a:lnSpc>
                <a:spcPct val="102868"/>
              </a:lnSpc>
              <a:spcAft>
                <a:spcPts val="0"/>
              </a:spcAft>
            </a:pPr>
            <a:r>
              <a:rPr sz="729" i="0">
                <a:solidFill>
                  <a:srgbClr val="5C6773"/>
                </a:solidFill>
                <a:latin typeface="Inconsolata"/>
              </a:rPr>
              <a:t>46  </a:t>
            </a:r>
            <a:r>
              <a:rPr sz="729" i="0">
                <a:solidFill>
                  <a:srgbClr val="E6EDF3"/>
                </a:solidFill>
                <a:latin typeface="Inconsolata"/>
              </a:rPr>
              <a:t>    client = </a:t>
            </a:r>
            <a:r>
              <a:rPr sz="729" i="0">
                <a:solidFill>
                  <a:srgbClr val="7FDBCA"/>
                </a:solidFill>
                <a:latin typeface="Inconsolata"/>
              </a:rPr>
              <a:t>TestClient</a:t>
            </a:r>
            <a:r>
              <a:rPr sz="729" i="0">
                <a:solidFill>
                  <a:srgbClr val="E6EDF3"/>
                </a:solidFill>
                <a:latin typeface="Inconsolata"/>
              </a:rPr>
              <a:t>(app)</a:t>
            </a:r>
          </a:p>
          <a:p>
            <a:pPr>
              <a:lnSpc>
                <a:spcPct val="102868"/>
              </a:lnSpc>
              <a:spcAft>
                <a:spcPts val="0"/>
              </a:spcAft>
            </a:pPr>
            <a:r>
              <a:rPr sz="729" i="0">
                <a:solidFill>
                  <a:srgbClr val="5C6773"/>
                </a:solidFill>
                <a:latin typeface="Inconsolata"/>
              </a:rPr>
              <a:t>47  </a:t>
            </a:r>
            <a:r>
              <a:rPr sz="729" i="0">
                <a:solidFill>
                  <a:srgbClr val="E6EDF3"/>
                </a:solidFill>
                <a:latin typeface="Inconsolata"/>
              </a:rPr>
              <a:t>    </a:t>
            </a:r>
            <a:r>
              <a:rPr sz="729" i="0">
                <a:solidFill>
                  <a:srgbClr val="FF8E6E"/>
                </a:solidFill>
                <a:latin typeface="Inconsolata"/>
              </a:rPr>
              <a:t>for</a:t>
            </a:r>
            <a:r>
              <a:rPr sz="729" i="0">
                <a:solidFill>
                  <a:srgbClr val="E6EDF3"/>
                </a:solidFill>
                <a:latin typeface="Inconsolata"/>
              </a:rPr>
              <a:t> url </a:t>
            </a:r>
            <a:r>
              <a:rPr sz="729" i="0">
                <a:solidFill>
                  <a:srgbClr val="FF8E6E"/>
                </a:solidFill>
                <a:latin typeface="Inconsolata"/>
              </a:rPr>
              <a:t>in</a:t>
            </a:r>
            <a:r>
              <a:rPr sz="729" i="0">
                <a:solidFill>
                  <a:srgbClr val="E6EDF3"/>
                </a:solidFill>
                <a:latin typeface="Inconsolata"/>
              </a:rPr>
              <a:t> [</a:t>
            </a:r>
            <a:r>
              <a:rPr sz="729" i="0">
                <a:solidFill>
                  <a:srgbClr val="A5D6A7"/>
                </a:solidFill>
                <a:latin typeface="Inconsolata"/>
              </a:rPr>
              <a:t>"/products?category=keyboard"</a:t>
            </a:r>
            <a:r>
              <a:rPr sz="729" i="0">
                <a:solidFill>
                  <a:srgbClr val="E6EDF3"/>
                </a:solidFill>
                <a:latin typeface="Inconsolata"/>
              </a:rPr>
              <a:t>,</a:t>
            </a:r>
          </a:p>
          <a:p>
            <a:pPr>
              <a:lnSpc>
                <a:spcPct val="102868"/>
              </a:lnSpc>
              <a:spcAft>
                <a:spcPts val="0"/>
              </a:spcAft>
            </a:pPr>
            <a:r>
              <a:rPr sz="729" i="0">
                <a:solidFill>
                  <a:srgbClr val="5C6773"/>
                </a:solidFill>
                <a:latin typeface="Inconsolata"/>
              </a:rPr>
              <a:t>48  </a:t>
            </a:r>
            <a:r>
              <a:rPr sz="729" i="0">
                <a:solidFill>
                  <a:srgbClr val="E6EDF3"/>
                </a:solidFill>
                <a:latin typeface="Inconsolata"/>
              </a:rPr>
              <a:t>                </a:t>
            </a:r>
            <a:r>
              <a:rPr sz="729" i="0">
                <a:solidFill>
                  <a:srgbClr val="A5D6A7"/>
                </a:solidFill>
                <a:latin typeface="Inconsolata"/>
              </a:rPr>
              <a:t>"/products?category=mouse"</a:t>
            </a:r>
            <a:r>
              <a:rPr sz="729" i="0">
                <a:solidFill>
                  <a:srgbClr val="E6EDF3"/>
                </a:solidFill>
                <a:latin typeface="Inconsolata"/>
              </a:rPr>
              <a:t>]:</a:t>
            </a:r>
          </a:p>
          <a:p>
            <a:pPr>
              <a:lnSpc>
                <a:spcPct val="102868"/>
              </a:lnSpc>
              <a:spcAft>
                <a:spcPts val="0"/>
              </a:spcAft>
            </a:pPr>
            <a:r>
              <a:rPr sz="729" i="0">
                <a:solidFill>
                  <a:srgbClr val="5C6773"/>
                </a:solidFill>
                <a:latin typeface="Inconsolata"/>
              </a:rPr>
              <a:t>49  </a:t>
            </a:r>
            <a:r>
              <a:rPr sz="729" i="0">
                <a:solidFill>
                  <a:srgbClr val="E6EDF3"/>
                </a:solidFill>
                <a:latin typeface="Inconsolata"/>
              </a:rPr>
              <a:t>        names = [p[</a:t>
            </a:r>
            <a:r>
              <a:rPr sz="729" i="0">
                <a:solidFill>
                  <a:srgbClr val="A5D6A7"/>
                </a:solidFill>
                <a:latin typeface="Inconsolata"/>
              </a:rPr>
              <a:t>"name"</a:t>
            </a:r>
            <a:r>
              <a:rPr sz="729" i="0">
                <a:solidFill>
                  <a:srgbClr val="E6EDF3"/>
                </a:solidFill>
                <a:latin typeface="Inconsolata"/>
              </a:rPr>
              <a:t>] </a:t>
            </a:r>
            <a:r>
              <a:rPr sz="729" i="0">
                <a:solidFill>
                  <a:srgbClr val="FF8E6E"/>
                </a:solidFill>
                <a:latin typeface="Inconsolata"/>
              </a:rPr>
              <a:t>for</a:t>
            </a:r>
            <a:r>
              <a:rPr sz="729" i="0">
                <a:solidFill>
                  <a:srgbClr val="E6EDF3"/>
                </a:solidFill>
                <a:latin typeface="Inconsolata"/>
              </a:rPr>
              <a:t> p </a:t>
            </a:r>
            <a:r>
              <a:rPr sz="729" i="0">
                <a:solidFill>
                  <a:srgbClr val="FF8E6E"/>
                </a:solidFill>
                <a:latin typeface="Inconsolata"/>
              </a:rPr>
              <a:t>in</a:t>
            </a:r>
            <a:r>
              <a:rPr sz="729" i="0">
                <a:solidFill>
                  <a:srgbClr val="E6EDF3"/>
                </a:solidFill>
                <a:latin typeface="Inconsolata"/>
              </a:rPr>
              <a:t> client.get(url).json()]</a:t>
            </a:r>
          </a:p>
          <a:p>
            <a:pPr>
              <a:lnSpc>
                <a:spcPct val="102868"/>
              </a:lnSpc>
              <a:spcAft>
                <a:spcPts val="0"/>
              </a:spcAft>
            </a:pPr>
            <a:r>
              <a:rPr sz="729" i="0">
                <a:solidFill>
                  <a:srgbClr val="5C6773"/>
                </a:solidFill>
                <a:latin typeface="Inconsolata"/>
              </a:rPr>
              <a:t>50  </a:t>
            </a:r>
            <a:r>
              <a:rPr sz="729" i="0">
                <a:solidFill>
                  <a:srgbClr val="E6EDF3"/>
                </a:solidFill>
                <a:latin typeface="Inconsolata"/>
              </a:rPr>
              <a:t>        </a:t>
            </a:r>
            <a:r>
              <a:rPr sz="729" i="0">
                <a:solidFill>
                  <a:srgbClr val="C3A6FF"/>
                </a:solidFill>
                <a:latin typeface="Inconsolata"/>
              </a:rPr>
              <a:t>print</a:t>
            </a:r>
            <a:r>
              <a:rPr sz="729" i="0">
                <a:solidFill>
                  <a:srgbClr val="E6EDF3"/>
                </a:solidFill>
                <a:latin typeface="Inconsolata"/>
              </a:rPr>
              <a:t>(</a:t>
            </a:r>
            <a:r>
              <a:rPr sz="729" i="0">
                <a:solidFill>
                  <a:srgbClr val="A5D6A7"/>
                </a:solidFill>
                <a:latin typeface="Inconsolata"/>
              </a:rPr>
              <a:t>f"{url:28}"</a:t>
            </a:r>
            <a:r>
              <a:rPr sz="729" i="0">
                <a:solidFill>
                  <a:srgbClr val="E6EDF3"/>
                </a:solidFill>
                <a:latin typeface="Inconsolata"/>
              </a:rPr>
              <a:t>, names)       </a:t>
            </a:r>
            <a:r>
              <a:rPr sz="729" i="1">
                <a:solidFill>
                  <a:srgbClr val="8B98A8"/>
                </a:solidFill>
                <a:latin typeface="Inconsolata"/>
              </a:rPr>
              <a:t># mouse dapat keyboard</a:t>
            </a:r>
          </a:p>
        </p:txBody>
      </p:sp>
      <p:sp>
        <p:nvSpPr>
          <p:cNvPr id="36" name="Box 21"/>
          <p:cNvSpPr/>
          <p:nvPr/>
        </p:nvSpPr>
        <p:spPr>
          <a:xfrm>
            <a:off x="704088" y="3882771"/>
            <a:ext cx="3694176"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9319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539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88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5111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Key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03-response-cache-key/before.py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sesi-06-redis-caching-rate-limiting/03-response-cache-key</a:t>
            </a:r>
          </a:p>
          <a:p>
            <a:pPr>
              <a:lnSpc>
                <a:spcPct val="111111"/>
              </a:lnSpc>
              <a:spcAft>
                <a:spcPts val="0"/>
              </a:spcAft>
            </a:pPr>
            <a:r>
              <a:rPr sz="900" i="0">
                <a:solidFill>
                  <a:srgbClr val="82B1FF"/>
                </a:solidFill>
                <a:latin typeface="Inconsolata"/>
              </a:rPr>
              <a:t>$ python before.py</a:t>
            </a:r>
          </a:p>
        </p:txBody>
      </p:sp>
      <p:pic>
        <p:nvPicPr>
          <p:cNvPr id="29" name="Image 12" descr="s06-03-response-cache-key-before.png"/>
          <p:cNvPicPr>
            <a:picLocks noChangeAspect="1"/>
          </p:cNvPicPr>
          <p:nvPr/>
        </p:nvPicPr>
        <p:blipFill>
          <a:blip r:embed="rId2"/>
          <a:stretch>
            <a:fillRect/>
          </a:stretch>
        </p:blipFill>
        <p:spPr>
          <a:xfrm>
            <a:off x="621792" y="2322576"/>
            <a:ext cx="4297680" cy="1227909"/>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Hasil bergantung pada </a:t>
            </a:r>
            <a:r>
              <a:rPr sz="950" b="0" i="0">
                <a:solidFill>
                  <a:srgbClr val="B5482A"/>
                </a:solidFill>
                <a:latin typeface="Inconsolata"/>
              </a:rPr>
              <a:t>category</a:t>
            </a:r>
            <a:r>
              <a:rPr sz="950" b="0" i="0">
                <a:solidFill>
                  <a:srgbClr val="434343"/>
                </a:solidFill>
                <a:latin typeface="Inter"/>
              </a:rPr>
              <a:t> dan </a:t>
            </a:r>
            <a:r>
              <a:rPr sz="950" b="0" i="0">
                <a:solidFill>
                  <a:srgbClr val="B5482A"/>
                </a:solidFill>
                <a:latin typeface="Inconsolata"/>
              </a:rPr>
              <a:t>page</a:t>
            </a:r>
            <a:r>
              <a:rPr sz="950" b="0" i="0">
                <a:solidFill>
                  <a:srgbClr val="434343"/>
                </a:solidFill>
                <a:latin typeface="Inter"/>
              </a:rPr>
              <a:t> (baris 29-31)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Tapi key cache selalu </a:t>
            </a:r>
            <a:r>
              <a:rPr sz="950" b="0" i="0">
                <a:solidFill>
                  <a:srgbClr val="B5482A"/>
                </a:solidFill>
                <a:latin typeface="Inconsolata"/>
              </a:rPr>
              <a:t>"products"</a:t>
            </a:r>
            <a:r>
              <a:rPr sz="950" b="0" i="0">
                <a:solidFill>
                  <a:srgbClr val="434343"/>
                </a:solidFill>
                <a:latin typeface="Inter"/>
              </a:rPr>
              <a:t> (baris 36, 40)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Request </a:t>
            </a:r>
            <a:r>
              <a:rPr sz="950" b="0" i="0">
                <a:solidFill>
                  <a:srgbClr val="B5482A"/>
                </a:solidFill>
                <a:latin typeface="Inconsolata"/>
              </a:rPr>
              <a:t>mouse</a:t>
            </a:r>
            <a:r>
              <a:rPr sz="950" b="0" i="0">
                <a:solidFill>
                  <a:srgbClr val="434343"/>
                </a:solidFill>
                <a:latin typeface="Inter"/>
              </a:rPr>
              <a:t> mendapat daftar keyboard.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Key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key berisi semua parameter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03-response-cache-key/after.py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3251"/>
              </a:lnSpc>
              <a:spcAft>
                <a:spcPts val="0"/>
              </a:spcAft>
            </a:pPr>
            <a:r>
              <a:rPr sz="645" i="0">
                <a:solidFill>
                  <a:srgbClr val="5C6773"/>
                </a:solidFill>
                <a:latin typeface="Inconsolata"/>
              </a:rPr>
              <a:t>15  </a:t>
            </a:r>
            <a:r>
              <a:rPr sz="645" i="0">
                <a:solidFill>
                  <a:srgbClr val="FF8E6E"/>
                </a:solidFill>
                <a:latin typeface="Inconsolata"/>
              </a:rPr>
              <a:t>import</a:t>
            </a:r>
            <a:r>
              <a:rPr sz="645" i="0">
                <a:solidFill>
                  <a:srgbClr val="E6EDF3"/>
                </a:solidFill>
                <a:latin typeface="Inconsolata"/>
              </a:rPr>
              <a:t> json</a:t>
            </a:r>
          </a:p>
          <a:p>
            <a:pPr>
              <a:lnSpc>
                <a:spcPct val="103251"/>
              </a:lnSpc>
              <a:spcAft>
                <a:spcPts val="0"/>
              </a:spcAft>
            </a:pPr>
            <a:r>
              <a:rPr sz="645" i="0">
                <a:solidFill>
                  <a:srgbClr val="5C6773"/>
                </a:solidFill>
                <a:latin typeface="Inconsolata"/>
              </a:rPr>
              <a:t>16  </a:t>
            </a:r>
            <a:r>
              <a:rPr sz="645" i="0">
                <a:solidFill>
                  <a:srgbClr val="FF8E6E"/>
                </a:solidFill>
                <a:latin typeface="Inconsolata"/>
              </a:rPr>
              <a:t>import</a:t>
            </a:r>
            <a:r>
              <a:rPr sz="645" i="0">
                <a:solidFill>
                  <a:srgbClr val="E6EDF3"/>
                </a:solidFill>
                <a:latin typeface="Inconsolata"/>
              </a:rPr>
              <a:t> os</a:t>
            </a:r>
          </a:p>
          <a:p>
            <a:pPr>
              <a:lnSpc>
                <a:spcPct val="103251"/>
              </a:lnSpc>
              <a:spcAft>
                <a:spcPts val="0"/>
              </a:spcAft>
            </a:pPr>
            <a:r>
              <a:rPr sz="645" i="0">
                <a:solidFill>
                  <a:srgbClr val="5C6773"/>
                </a:solidFill>
                <a:latin typeface="Inconsolata"/>
              </a:rPr>
              <a:t>17  </a:t>
            </a:r>
            <a:r>
              <a:rPr sz="645" i="0">
                <a:solidFill>
                  <a:srgbClr val="E6EDF3"/>
                </a:solidFill>
                <a:latin typeface="Inconsolata"/>
              </a:rPr>
              <a:t> </a:t>
            </a:r>
          </a:p>
          <a:p>
            <a:pPr>
              <a:lnSpc>
                <a:spcPct val="103251"/>
              </a:lnSpc>
              <a:spcAft>
                <a:spcPts val="0"/>
              </a:spcAft>
            </a:pPr>
            <a:r>
              <a:rPr sz="645" i="0">
                <a:solidFill>
                  <a:srgbClr val="5C6773"/>
                </a:solidFill>
                <a:latin typeface="Inconsolata"/>
              </a:rPr>
              <a:t>18  </a:t>
            </a:r>
            <a:r>
              <a:rPr sz="645" i="0">
                <a:solidFill>
                  <a:srgbClr val="FF8E6E"/>
                </a:solidFill>
                <a:latin typeface="Inconsolata"/>
              </a:rPr>
              <a:t>import</a:t>
            </a:r>
            <a:r>
              <a:rPr sz="645" i="0">
                <a:solidFill>
                  <a:srgbClr val="E6EDF3"/>
                </a:solidFill>
                <a:latin typeface="Inconsolata"/>
              </a:rPr>
              <a:t> redis</a:t>
            </a:r>
          </a:p>
          <a:p>
            <a:pPr>
              <a:lnSpc>
                <a:spcPct val="103251"/>
              </a:lnSpc>
              <a:spcAft>
                <a:spcPts val="0"/>
              </a:spcAft>
            </a:pPr>
            <a:r>
              <a:rPr sz="645" i="0">
                <a:solidFill>
                  <a:srgbClr val="5C6773"/>
                </a:solidFill>
                <a:latin typeface="Inconsolata"/>
              </a:rPr>
              <a:t>19  </a:t>
            </a:r>
            <a:r>
              <a:rPr sz="645" i="0">
                <a:solidFill>
                  <a:srgbClr val="FF8E6E"/>
                </a:solidFill>
                <a:latin typeface="Inconsolata"/>
              </a:rPr>
              <a:t>from</a:t>
            </a:r>
            <a:r>
              <a:rPr sz="645" i="0">
                <a:solidFill>
                  <a:srgbClr val="E6EDF3"/>
                </a:solidFill>
                <a:latin typeface="Inconsolata"/>
              </a:rPr>
              <a:t> fastapi </a:t>
            </a:r>
            <a:r>
              <a:rPr sz="645" i="0">
                <a:solidFill>
                  <a:srgbClr val="FF8E6E"/>
                </a:solidFill>
                <a:latin typeface="Inconsolata"/>
              </a:rPr>
              <a:t>import</a:t>
            </a:r>
            <a:r>
              <a:rPr sz="645" i="0">
                <a:solidFill>
                  <a:srgbClr val="E6EDF3"/>
                </a:solidFill>
                <a:latin typeface="Inconsolata"/>
              </a:rPr>
              <a:t> </a:t>
            </a:r>
            <a:r>
              <a:rPr sz="645" i="0">
                <a:solidFill>
                  <a:srgbClr val="7FDBCA"/>
                </a:solidFill>
                <a:latin typeface="Inconsolata"/>
              </a:rPr>
              <a:t>FastAPI</a:t>
            </a:r>
            <a:r>
              <a:rPr sz="645" i="0">
                <a:solidFill>
                  <a:srgbClr val="E6EDF3"/>
                </a:solidFill>
                <a:latin typeface="Inconsolata"/>
              </a:rPr>
              <a:t>, </a:t>
            </a:r>
            <a:r>
              <a:rPr sz="645" i="0">
                <a:solidFill>
                  <a:srgbClr val="7FDBCA"/>
                </a:solidFill>
                <a:latin typeface="Inconsolata"/>
              </a:rPr>
              <a:t>Response</a:t>
            </a:r>
          </a:p>
          <a:p>
            <a:pPr>
              <a:lnSpc>
                <a:spcPct val="103251"/>
              </a:lnSpc>
              <a:spcAft>
                <a:spcPts val="0"/>
              </a:spcAft>
            </a:pPr>
            <a:r>
              <a:rPr sz="645" i="0">
                <a:solidFill>
                  <a:srgbClr val="5C6773"/>
                </a:solidFill>
                <a:latin typeface="Inconsolata"/>
              </a:rPr>
              <a:t>20  </a:t>
            </a:r>
            <a:r>
              <a:rPr sz="645" i="0">
                <a:solidFill>
                  <a:srgbClr val="FF8E6E"/>
                </a:solidFill>
                <a:latin typeface="Inconsolata"/>
              </a:rPr>
              <a:t>from</a:t>
            </a:r>
            <a:r>
              <a:rPr sz="645" i="0">
                <a:solidFill>
                  <a:srgbClr val="E6EDF3"/>
                </a:solidFill>
                <a:latin typeface="Inconsolata"/>
              </a:rPr>
              <a:t> fastapi.testclient </a:t>
            </a:r>
            <a:r>
              <a:rPr sz="645" i="0">
                <a:solidFill>
                  <a:srgbClr val="FF8E6E"/>
                </a:solidFill>
                <a:latin typeface="Inconsolata"/>
              </a:rPr>
              <a:t>import</a:t>
            </a:r>
            <a:r>
              <a:rPr sz="645" i="0">
                <a:solidFill>
                  <a:srgbClr val="E6EDF3"/>
                </a:solidFill>
                <a:latin typeface="Inconsolata"/>
              </a:rPr>
              <a:t> </a:t>
            </a:r>
            <a:r>
              <a:rPr sz="645" i="0">
                <a:solidFill>
                  <a:srgbClr val="7FDBCA"/>
                </a:solidFill>
                <a:latin typeface="Inconsolata"/>
              </a:rPr>
              <a:t>TestClient</a:t>
            </a:r>
          </a:p>
          <a:p>
            <a:pPr>
              <a:lnSpc>
                <a:spcPct val="103251"/>
              </a:lnSpc>
              <a:spcAft>
                <a:spcPts val="0"/>
              </a:spcAft>
            </a:pPr>
            <a:r>
              <a:rPr sz="645" i="0">
                <a:solidFill>
                  <a:srgbClr val="5C6773"/>
                </a:solidFill>
                <a:latin typeface="Inconsolata"/>
              </a:rPr>
              <a:t>21  </a:t>
            </a:r>
            <a:r>
              <a:rPr sz="645" i="0">
                <a:solidFill>
                  <a:srgbClr val="E6EDF3"/>
                </a:solidFill>
                <a:latin typeface="Inconsolata"/>
              </a:rPr>
              <a:t> </a:t>
            </a:r>
          </a:p>
          <a:p>
            <a:pPr>
              <a:lnSpc>
                <a:spcPct val="103251"/>
              </a:lnSpc>
              <a:spcAft>
                <a:spcPts val="0"/>
              </a:spcAft>
            </a:pPr>
            <a:r>
              <a:rPr sz="645" i="0">
                <a:solidFill>
                  <a:srgbClr val="5C6773"/>
                </a:solidFill>
                <a:latin typeface="Inconsolata"/>
              </a:rPr>
              <a:t>22  </a:t>
            </a:r>
            <a:r>
              <a:rPr sz="645" i="0">
                <a:solidFill>
                  <a:srgbClr val="7FDBCA"/>
                </a:solidFill>
                <a:latin typeface="Inconsolata"/>
              </a:rPr>
              <a:t>REDIS_URL</a:t>
            </a:r>
            <a:r>
              <a:rPr sz="645" i="0">
                <a:solidFill>
                  <a:srgbClr val="E6EDF3"/>
                </a:solidFill>
                <a:latin typeface="Inconsolata"/>
              </a:rPr>
              <a:t> = os.getenv(</a:t>
            </a:r>
            <a:r>
              <a:rPr sz="645" i="0">
                <a:solidFill>
                  <a:srgbClr val="A5D6A7"/>
                </a:solidFill>
                <a:latin typeface="Inconsolata"/>
              </a:rPr>
              <a:t>"REDIS_URL"</a:t>
            </a:r>
            <a:r>
              <a:rPr sz="645" i="0">
                <a:solidFill>
                  <a:srgbClr val="E6EDF3"/>
                </a:solidFill>
                <a:latin typeface="Inconsolata"/>
              </a:rPr>
              <a:t>, </a:t>
            </a:r>
            <a:r>
              <a:rPr sz="645" i="0">
                <a:solidFill>
                  <a:srgbClr val="A5D6A7"/>
                </a:solidFill>
                <a:latin typeface="Inconsolata"/>
              </a:rPr>
              <a:t>"redis://localhost:6379/0"</a:t>
            </a:r>
            <a:r>
              <a:rPr sz="645" i="0">
                <a:solidFill>
                  <a:srgbClr val="E6EDF3"/>
                </a:solidFill>
                <a:latin typeface="Inconsolata"/>
              </a:rPr>
              <a:t>)</a:t>
            </a:r>
          </a:p>
          <a:p>
            <a:pPr>
              <a:lnSpc>
                <a:spcPct val="103251"/>
              </a:lnSpc>
              <a:spcAft>
                <a:spcPts val="0"/>
              </a:spcAft>
            </a:pPr>
            <a:r>
              <a:rPr sz="645" i="0">
                <a:solidFill>
                  <a:srgbClr val="5C6773"/>
                </a:solidFill>
                <a:latin typeface="Inconsolata"/>
              </a:rPr>
              <a:t>23  </a:t>
            </a:r>
            <a:r>
              <a:rPr sz="645" i="0">
                <a:solidFill>
                  <a:srgbClr val="E6EDF3"/>
                </a:solidFill>
                <a:latin typeface="Inconsolata"/>
              </a:rPr>
              <a:t>cache = redis.</a:t>
            </a:r>
            <a:r>
              <a:rPr sz="645" i="0">
                <a:solidFill>
                  <a:srgbClr val="7FDBCA"/>
                </a:solidFill>
                <a:latin typeface="Inconsolata"/>
              </a:rPr>
              <a:t>Redis</a:t>
            </a:r>
            <a:r>
              <a:rPr sz="645" i="0">
                <a:solidFill>
                  <a:srgbClr val="E6EDF3"/>
                </a:solidFill>
                <a:latin typeface="Inconsolata"/>
              </a:rPr>
              <a:t>.from_url(</a:t>
            </a:r>
            <a:r>
              <a:rPr sz="645" i="0">
                <a:solidFill>
                  <a:srgbClr val="7FDBCA"/>
                </a:solidFill>
                <a:latin typeface="Inconsolata"/>
              </a:rPr>
              <a:t>REDIS_URL</a:t>
            </a:r>
            <a:r>
              <a:rPr sz="645" i="0">
                <a:solidFill>
                  <a:srgbClr val="E6EDF3"/>
                </a:solidFill>
                <a:latin typeface="Inconsolata"/>
              </a:rPr>
              <a:t>, decode_responses=</a:t>
            </a:r>
            <a:r>
              <a:rPr sz="645" i="0">
                <a:solidFill>
                  <a:srgbClr val="FF8E6E"/>
                </a:solidFill>
                <a:latin typeface="Inconsolata"/>
              </a:rPr>
              <a:t>True</a:t>
            </a:r>
            <a:r>
              <a:rPr sz="645" i="0">
                <a:solidFill>
                  <a:srgbClr val="E6EDF3"/>
                </a:solidFill>
                <a:latin typeface="Inconsolata"/>
              </a:rPr>
              <a:t>)</a:t>
            </a:r>
          </a:p>
          <a:p>
            <a:pPr>
              <a:lnSpc>
                <a:spcPct val="103251"/>
              </a:lnSpc>
              <a:spcAft>
                <a:spcPts val="0"/>
              </a:spcAft>
            </a:pPr>
            <a:r>
              <a:rPr sz="645" i="0">
                <a:solidFill>
                  <a:srgbClr val="5C6773"/>
                </a:solidFill>
                <a:latin typeface="Inconsolata"/>
              </a:rPr>
              <a:t>24  </a:t>
            </a:r>
            <a:r>
              <a:rPr sz="645" i="0">
                <a:solidFill>
                  <a:srgbClr val="E6EDF3"/>
                </a:solidFill>
                <a:latin typeface="Inconsolata"/>
              </a:rPr>
              <a:t>app = </a:t>
            </a:r>
            <a:r>
              <a:rPr sz="645" i="0">
                <a:solidFill>
                  <a:srgbClr val="7FDBCA"/>
                </a:solidFill>
                <a:latin typeface="Inconsolata"/>
              </a:rPr>
              <a:t>FastAPI</a:t>
            </a:r>
            <a:r>
              <a:rPr sz="645" i="0">
                <a:solidFill>
                  <a:srgbClr val="E6EDF3"/>
                </a:solidFill>
                <a:latin typeface="Inconsolata"/>
              </a:rPr>
              <a:t>()</a:t>
            </a:r>
          </a:p>
          <a:p>
            <a:pPr>
              <a:lnSpc>
                <a:spcPct val="103251"/>
              </a:lnSpc>
              <a:spcAft>
                <a:spcPts val="0"/>
              </a:spcAft>
            </a:pPr>
            <a:r>
              <a:rPr sz="645" i="0">
                <a:solidFill>
                  <a:srgbClr val="5C6773"/>
                </a:solidFill>
                <a:latin typeface="Inconsolata"/>
              </a:rPr>
              <a:t>25  </a:t>
            </a:r>
            <a:r>
              <a:rPr sz="645" i="0">
                <a:solidFill>
                  <a:srgbClr val="E6EDF3"/>
                </a:solidFill>
                <a:latin typeface="Inconsolata"/>
              </a:rPr>
              <a:t> </a:t>
            </a:r>
          </a:p>
          <a:p>
            <a:pPr>
              <a:lnSpc>
                <a:spcPct val="103251"/>
              </a:lnSpc>
              <a:spcAft>
                <a:spcPts val="0"/>
              </a:spcAft>
            </a:pPr>
            <a:r>
              <a:rPr sz="645" i="0">
                <a:solidFill>
                  <a:srgbClr val="5C6773"/>
                </a:solidFill>
                <a:latin typeface="Inconsolata"/>
              </a:rPr>
              <a:t>26  </a:t>
            </a:r>
            <a:r>
              <a:rPr sz="645" i="0">
                <a:solidFill>
                  <a:srgbClr val="7FDBCA"/>
                </a:solidFill>
                <a:latin typeface="Inconsolata"/>
              </a:rPr>
              <a:t>PRODUCTS</a:t>
            </a:r>
            <a:r>
              <a:rPr sz="645" i="0">
                <a:solidFill>
                  <a:srgbClr val="E6EDF3"/>
                </a:solidFill>
                <a:latin typeface="Inconsolata"/>
              </a:rPr>
              <a:t> = [</a:t>
            </a:r>
          </a:p>
          <a:p>
            <a:pPr>
              <a:lnSpc>
                <a:spcPct val="103251"/>
              </a:lnSpc>
              <a:spcAft>
                <a:spcPts val="0"/>
              </a:spcAft>
            </a:pPr>
            <a:r>
              <a:rPr sz="645" i="0">
                <a:solidFill>
                  <a:srgbClr val="5C6773"/>
                </a:solidFill>
                <a:latin typeface="Inconsolata"/>
              </a:rPr>
              <a:t>27  </a:t>
            </a:r>
            <a:r>
              <a:rPr sz="645" i="0">
                <a:solidFill>
                  <a:srgbClr val="E6EDF3"/>
                </a:solidFill>
                <a:latin typeface="Inconsolata"/>
              </a:rPr>
              <a:t>    {</a:t>
            </a:r>
            <a:r>
              <a:rPr sz="645" i="0">
                <a:solidFill>
                  <a:srgbClr val="A5D6A7"/>
                </a:solidFill>
                <a:latin typeface="Inconsolata"/>
              </a:rPr>
              <a:t>"id"</a:t>
            </a:r>
            <a:r>
              <a:rPr sz="645" i="0">
                <a:solidFill>
                  <a:srgbClr val="E6EDF3"/>
                </a:solidFill>
                <a:latin typeface="Inconsolata"/>
              </a:rPr>
              <a:t>: </a:t>
            </a:r>
            <a:r>
              <a:rPr sz="645" i="0">
                <a:solidFill>
                  <a:srgbClr val="F9C97A"/>
                </a:solidFill>
                <a:latin typeface="Inconsolata"/>
              </a:rPr>
              <a:t>1</a:t>
            </a:r>
            <a:r>
              <a:rPr sz="645" i="0">
                <a:solidFill>
                  <a:srgbClr val="E6EDF3"/>
                </a:solidFill>
                <a:latin typeface="Inconsolata"/>
              </a:rPr>
              <a:t>, </a:t>
            </a:r>
            <a:r>
              <a:rPr sz="645" i="0">
                <a:solidFill>
                  <a:srgbClr val="A5D6A7"/>
                </a:solidFill>
                <a:latin typeface="Inconsolata"/>
              </a:rPr>
              <a:t>"name"</a:t>
            </a:r>
            <a:r>
              <a:rPr sz="645" i="0">
                <a:solidFill>
                  <a:srgbClr val="E6EDF3"/>
                </a:solidFill>
                <a:latin typeface="Inconsolata"/>
              </a:rPr>
              <a:t>: </a:t>
            </a:r>
            <a:r>
              <a:rPr sz="645" i="0">
                <a:solidFill>
                  <a:srgbClr val="A5D6A7"/>
                </a:solidFill>
                <a:latin typeface="Inconsolata"/>
              </a:rPr>
              <a:t>"Keyboard Mekanik"</a:t>
            </a:r>
            <a:r>
              <a:rPr sz="645" i="0">
                <a:solidFill>
                  <a:srgbClr val="E6EDF3"/>
                </a:solidFill>
                <a:latin typeface="Inconsolata"/>
              </a:rPr>
              <a:t>, </a:t>
            </a:r>
            <a:r>
              <a:rPr sz="645" i="0">
                <a:solidFill>
                  <a:srgbClr val="A5D6A7"/>
                </a:solidFill>
                <a:latin typeface="Inconsolata"/>
              </a:rPr>
              <a:t>"category"</a:t>
            </a:r>
            <a:r>
              <a:rPr sz="645" i="0">
                <a:solidFill>
                  <a:srgbClr val="E6EDF3"/>
                </a:solidFill>
                <a:latin typeface="Inconsolata"/>
              </a:rPr>
              <a:t>: </a:t>
            </a:r>
            <a:r>
              <a:rPr sz="645" i="0">
                <a:solidFill>
                  <a:srgbClr val="A5D6A7"/>
                </a:solidFill>
                <a:latin typeface="Inconsolata"/>
              </a:rPr>
              <a:t>"keyboard"</a:t>
            </a:r>
            <a:r>
              <a:rPr sz="645" i="0">
                <a:solidFill>
                  <a:srgbClr val="E6EDF3"/>
                </a:solidFill>
                <a:latin typeface="Inconsolata"/>
              </a:rPr>
              <a:t>},</a:t>
            </a:r>
          </a:p>
          <a:p>
            <a:pPr>
              <a:lnSpc>
                <a:spcPct val="103251"/>
              </a:lnSpc>
              <a:spcAft>
                <a:spcPts val="0"/>
              </a:spcAft>
            </a:pPr>
            <a:r>
              <a:rPr sz="645" i="0">
                <a:solidFill>
                  <a:srgbClr val="5C6773"/>
                </a:solidFill>
                <a:latin typeface="Inconsolata"/>
              </a:rPr>
              <a:t>28  </a:t>
            </a:r>
            <a:r>
              <a:rPr sz="645" i="0">
                <a:solidFill>
                  <a:srgbClr val="E6EDF3"/>
                </a:solidFill>
                <a:latin typeface="Inconsolata"/>
              </a:rPr>
              <a:t>    {</a:t>
            </a:r>
            <a:r>
              <a:rPr sz="645" i="0">
                <a:solidFill>
                  <a:srgbClr val="A5D6A7"/>
                </a:solidFill>
                <a:latin typeface="Inconsolata"/>
              </a:rPr>
              <a:t>"id"</a:t>
            </a:r>
            <a:r>
              <a:rPr sz="645" i="0">
                <a:solidFill>
                  <a:srgbClr val="E6EDF3"/>
                </a:solidFill>
                <a:latin typeface="Inconsolata"/>
              </a:rPr>
              <a:t>: </a:t>
            </a:r>
            <a:r>
              <a:rPr sz="645" i="0">
                <a:solidFill>
                  <a:srgbClr val="F9C97A"/>
                </a:solidFill>
                <a:latin typeface="Inconsolata"/>
              </a:rPr>
              <a:t>2</a:t>
            </a:r>
            <a:r>
              <a:rPr sz="645" i="0">
                <a:solidFill>
                  <a:srgbClr val="E6EDF3"/>
                </a:solidFill>
                <a:latin typeface="Inconsolata"/>
              </a:rPr>
              <a:t>, </a:t>
            </a:r>
            <a:r>
              <a:rPr sz="645" i="0">
                <a:solidFill>
                  <a:srgbClr val="A5D6A7"/>
                </a:solidFill>
                <a:latin typeface="Inconsolata"/>
              </a:rPr>
              <a:t>"name"</a:t>
            </a:r>
            <a:r>
              <a:rPr sz="645" i="0">
                <a:solidFill>
                  <a:srgbClr val="E6EDF3"/>
                </a:solidFill>
                <a:latin typeface="Inconsolata"/>
              </a:rPr>
              <a:t>: </a:t>
            </a:r>
            <a:r>
              <a:rPr sz="645" i="0">
                <a:solidFill>
                  <a:srgbClr val="A5D6A7"/>
                </a:solidFill>
                <a:latin typeface="Inconsolata"/>
              </a:rPr>
              <a:t>"Keyboard Wireless"</a:t>
            </a:r>
            <a:r>
              <a:rPr sz="645" i="0">
                <a:solidFill>
                  <a:srgbClr val="E6EDF3"/>
                </a:solidFill>
                <a:latin typeface="Inconsolata"/>
              </a:rPr>
              <a:t>, </a:t>
            </a:r>
            <a:r>
              <a:rPr sz="645" i="0">
                <a:solidFill>
                  <a:srgbClr val="A5D6A7"/>
                </a:solidFill>
                <a:latin typeface="Inconsolata"/>
              </a:rPr>
              <a:t>"category"</a:t>
            </a:r>
            <a:r>
              <a:rPr sz="645" i="0">
                <a:solidFill>
                  <a:srgbClr val="E6EDF3"/>
                </a:solidFill>
                <a:latin typeface="Inconsolata"/>
              </a:rPr>
              <a:t>: </a:t>
            </a:r>
            <a:r>
              <a:rPr sz="645" i="0">
                <a:solidFill>
                  <a:srgbClr val="A5D6A7"/>
                </a:solidFill>
                <a:latin typeface="Inconsolata"/>
              </a:rPr>
              <a:t>"keyboard"</a:t>
            </a:r>
            <a:r>
              <a:rPr sz="645" i="0">
                <a:solidFill>
                  <a:srgbClr val="E6EDF3"/>
                </a:solidFill>
                <a:latin typeface="Inconsolata"/>
              </a:rPr>
              <a:t>},</a:t>
            </a:r>
          </a:p>
          <a:p>
            <a:pPr>
              <a:lnSpc>
                <a:spcPct val="103251"/>
              </a:lnSpc>
              <a:spcAft>
                <a:spcPts val="0"/>
              </a:spcAft>
            </a:pPr>
            <a:r>
              <a:rPr sz="645" i="0">
                <a:solidFill>
                  <a:srgbClr val="5C6773"/>
                </a:solidFill>
                <a:latin typeface="Inconsolata"/>
              </a:rPr>
              <a:t>29  </a:t>
            </a:r>
            <a:r>
              <a:rPr sz="645" i="0">
                <a:solidFill>
                  <a:srgbClr val="E6EDF3"/>
                </a:solidFill>
                <a:latin typeface="Inconsolata"/>
              </a:rPr>
              <a:t>    {</a:t>
            </a:r>
            <a:r>
              <a:rPr sz="645" i="0">
                <a:solidFill>
                  <a:srgbClr val="A5D6A7"/>
                </a:solidFill>
                <a:latin typeface="Inconsolata"/>
              </a:rPr>
              <a:t>"id"</a:t>
            </a:r>
            <a:r>
              <a:rPr sz="645" i="0">
                <a:solidFill>
                  <a:srgbClr val="E6EDF3"/>
                </a:solidFill>
                <a:latin typeface="Inconsolata"/>
              </a:rPr>
              <a:t>: </a:t>
            </a:r>
            <a:r>
              <a:rPr sz="645" i="0">
                <a:solidFill>
                  <a:srgbClr val="F9C97A"/>
                </a:solidFill>
                <a:latin typeface="Inconsolata"/>
              </a:rPr>
              <a:t>3</a:t>
            </a:r>
            <a:r>
              <a:rPr sz="645" i="0">
                <a:solidFill>
                  <a:srgbClr val="E6EDF3"/>
                </a:solidFill>
                <a:latin typeface="Inconsolata"/>
              </a:rPr>
              <a:t>, </a:t>
            </a:r>
            <a:r>
              <a:rPr sz="645" i="0">
                <a:solidFill>
                  <a:srgbClr val="A5D6A7"/>
                </a:solidFill>
                <a:latin typeface="Inconsolata"/>
              </a:rPr>
              <a:t>"name"</a:t>
            </a:r>
            <a:r>
              <a:rPr sz="645" i="0">
                <a:solidFill>
                  <a:srgbClr val="E6EDF3"/>
                </a:solidFill>
                <a:latin typeface="Inconsolata"/>
              </a:rPr>
              <a:t>: </a:t>
            </a:r>
            <a:r>
              <a:rPr sz="645" i="0">
                <a:solidFill>
                  <a:srgbClr val="A5D6A7"/>
                </a:solidFill>
                <a:latin typeface="Inconsolata"/>
              </a:rPr>
              <a:t>"Mouse Gaming"</a:t>
            </a:r>
            <a:r>
              <a:rPr sz="645" i="0">
                <a:solidFill>
                  <a:srgbClr val="E6EDF3"/>
                </a:solidFill>
                <a:latin typeface="Inconsolata"/>
              </a:rPr>
              <a:t>, </a:t>
            </a:r>
            <a:r>
              <a:rPr sz="645" i="0">
                <a:solidFill>
                  <a:srgbClr val="A5D6A7"/>
                </a:solidFill>
                <a:latin typeface="Inconsolata"/>
              </a:rPr>
              <a:t>"category"</a:t>
            </a:r>
            <a:r>
              <a:rPr sz="645" i="0">
                <a:solidFill>
                  <a:srgbClr val="E6EDF3"/>
                </a:solidFill>
                <a:latin typeface="Inconsolata"/>
              </a:rPr>
              <a:t>: </a:t>
            </a:r>
            <a:r>
              <a:rPr sz="645" i="0">
                <a:solidFill>
                  <a:srgbClr val="A5D6A7"/>
                </a:solidFill>
                <a:latin typeface="Inconsolata"/>
              </a:rPr>
              <a:t>"mouse"</a:t>
            </a:r>
            <a:r>
              <a:rPr sz="645" i="0">
                <a:solidFill>
                  <a:srgbClr val="E6EDF3"/>
                </a:solidFill>
                <a:latin typeface="Inconsolata"/>
              </a:rPr>
              <a:t>},</a:t>
            </a:r>
          </a:p>
          <a:p>
            <a:pPr>
              <a:lnSpc>
                <a:spcPct val="103251"/>
              </a:lnSpc>
              <a:spcAft>
                <a:spcPts val="0"/>
              </a:spcAft>
            </a:pPr>
            <a:r>
              <a:rPr sz="645" i="0">
                <a:solidFill>
                  <a:srgbClr val="5C6773"/>
                </a:solidFill>
                <a:latin typeface="Inconsolata"/>
              </a:rPr>
              <a:t>30  </a:t>
            </a:r>
            <a:r>
              <a:rPr sz="645" i="0">
                <a:solidFill>
                  <a:srgbClr val="E6EDF3"/>
                </a:solidFill>
                <a:latin typeface="Inconsolata"/>
              </a:rPr>
              <a:t>]</a:t>
            </a:r>
          </a:p>
          <a:p>
            <a:pPr>
              <a:lnSpc>
                <a:spcPct val="103251"/>
              </a:lnSpc>
              <a:spcAft>
                <a:spcPts val="0"/>
              </a:spcAft>
            </a:pPr>
            <a:r>
              <a:rPr sz="645" i="0">
                <a:solidFill>
                  <a:srgbClr val="5C6773"/>
                </a:solidFill>
                <a:latin typeface="Inconsolata"/>
              </a:rPr>
              <a:t>31  </a:t>
            </a:r>
            <a:r>
              <a:rPr sz="645" i="0">
                <a:solidFill>
                  <a:srgbClr val="E6EDF3"/>
                </a:solidFill>
                <a:latin typeface="Inconsolata"/>
              </a:rPr>
              <a:t> </a:t>
            </a:r>
          </a:p>
          <a:p>
            <a:pPr>
              <a:lnSpc>
                <a:spcPct val="103251"/>
              </a:lnSpc>
              <a:spcAft>
                <a:spcPts val="0"/>
              </a:spcAft>
            </a:pPr>
            <a:r>
              <a:rPr sz="645" i="0">
                <a:solidFill>
                  <a:srgbClr val="5C6773"/>
                </a:solidFill>
                <a:latin typeface="Inconsolata"/>
              </a:rPr>
              <a:t>32  </a:t>
            </a:r>
            <a:r>
              <a:rPr sz="645" i="0">
                <a:solidFill>
                  <a:srgbClr val="E6EDF3"/>
                </a:solidFill>
                <a:latin typeface="Inconsolata"/>
              </a:rPr>
              <a:t> </a:t>
            </a:r>
          </a:p>
          <a:p>
            <a:pPr>
              <a:lnSpc>
                <a:spcPct val="103251"/>
              </a:lnSpc>
              <a:spcAft>
                <a:spcPts val="0"/>
              </a:spcAft>
            </a:pPr>
            <a:r>
              <a:rPr sz="645" i="0">
                <a:solidFill>
                  <a:srgbClr val="5C6773"/>
                </a:solidFill>
                <a:latin typeface="Inconsolata"/>
              </a:rPr>
              <a:t>33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query_products</a:t>
            </a:r>
            <a:r>
              <a:rPr sz="645" i="0">
                <a:solidFill>
                  <a:srgbClr val="E6EDF3"/>
                </a:solidFill>
                <a:latin typeface="Inconsolata"/>
              </a:rPr>
              <a:t>(category: </a:t>
            </a:r>
            <a:r>
              <a:rPr sz="645" i="0">
                <a:solidFill>
                  <a:srgbClr val="C3A6FF"/>
                </a:solidFill>
                <a:latin typeface="Inconsolata"/>
              </a:rPr>
              <a:t>str</a:t>
            </a:r>
            <a:r>
              <a:rPr sz="645" i="0">
                <a:solidFill>
                  <a:srgbClr val="E6EDF3"/>
                </a:solidFill>
                <a:latin typeface="Inconsolata"/>
              </a:rPr>
              <a:t> | </a:t>
            </a:r>
            <a:r>
              <a:rPr sz="645" i="0">
                <a:solidFill>
                  <a:srgbClr val="FF8E6E"/>
                </a:solidFill>
                <a:latin typeface="Inconsolata"/>
              </a:rPr>
              <a:t>None</a:t>
            </a:r>
            <a:r>
              <a:rPr sz="645" i="0">
                <a:solidFill>
                  <a:srgbClr val="E6EDF3"/>
                </a:solidFill>
                <a:latin typeface="Inconsolata"/>
              </a:rPr>
              <a:t>, page: </a:t>
            </a:r>
            <a:r>
              <a:rPr sz="645" i="0">
                <a:solidFill>
                  <a:srgbClr val="C3A6FF"/>
                </a:solidFill>
                <a:latin typeface="Inconsolata"/>
              </a:rPr>
              <a:t>int</a:t>
            </a:r>
            <a:r>
              <a:rPr sz="645" i="0">
                <a:solidFill>
                  <a:srgbClr val="E6EDF3"/>
                </a:solidFill>
                <a:latin typeface="Inconsolata"/>
              </a:rPr>
              <a:t>) -&gt; </a:t>
            </a:r>
            <a:r>
              <a:rPr sz="645" i="0">
                <a:solidFill>
                  <a:srgbClr val="C3A6FF"/>
                </a:solidFill>
                <a:latin typeface="Inconsolata"/>
              </a:rPr>
              <a:t>list</a:t>
            </a:r>
            <a:r>
              <a:rPr sz="645" i="0">
                <a:solidFill>
                  <a:srgbClr val="E6EDF3"/>
                </a:solidFill>
                <a:latin typeface="Inconsolata"/>
              </a:rPr>
              <a:t>[</a:t>
            </a:r>
            <a:r>
              <a:rPr sz="645" i="0">
                <a:solidFill>
                  <a:srgbClr val="C3A6FF"/>
                </a:solidFill>
                <a:latin typeface="Inconsolata"/>
              </a:rPr>
              <a:t>dict</a:t>
            </a:r>
            <a:r>
              <a:rPr sz="645" i="0">
                <a:solidFill>
                  <a:srgbClr val="E6EDF3"/>
                </a:solidFill>
                <a:latin typeface="Inconsolata"/>
              </a:rPr>
              <a:t>]:</a:t>
            </a:r>
          </a:p>
          <a:p>
            <a:pPr>
              <a:lnSpc>
                <a:spcPct val="103251"/>
              </a:lnSpc>
              <a:spcAft>
                <a:spcPts val="0"/>
              </a:spcAft>
            </a:pPr>
            <a:r>
              <a:rPr sz="645" i="0">
                <a:solidFill>
                  <a:srgbClr val="5C6773"/>
                </a:solidFill>
                <a:latin typeface="Inconsolata"/>
              </a:rPr>
              <a:t>34  </a:t>
            </a:r>
            <a:r>
              <a:rPr sz="645" i="0">
                <a:solidFill>
                  <a:srgbClr val="E6EDF3"/>
                </a:solidFill>
                <a:latin typeface="Inconsolata"/>
              </a:rPr>
              <a:t>    rows = [p </a:t>
            </a:r>
            <a:r>
              <a:rPr sz="645" i="0">
                <a:solidFill>
                  <a:srgbClr val="FF8E6E"/>
                </a:solidFill>
                <a:latin typeface="Inconsolata"/>
              </a:rPr>
              <a:t>for</a:t>
            </a:r>
            <a:r>
              <a:rPr sz="645" i="0">
                <a:solidFill>
                  <a:srgbClr val="E6EDF3"/>
                </a:solidFill>
                <a:latin typeface="Inconsolata"/>
              </a:rPr>
              <a:t> p </a:t>
            </a:r>
            <a:r>
              <a:rPr sz="645" i="0">
                <a:solidFill>
                  <a:srgbClr val="FF8E6E"/>
                </a:solidFill>
                <a:latin typeface="Inconsolata"/>
              </a:rPr>
              <a:t>in</a:t>
            </a:r>
            <a:r>
              <a:rPr sz="645" i="0">
                <a:solidFill>
                  <a:srgbClr val="E6EDF3"/>
                </a:solidFill>
                <a:latin typeface="Inconsolata"/>
              </a:rPr>
              <a:t> </a:t>
            </a:r>
            <a:r>
              <a:rPr sz="645" i="0">
                <a:solidFill>
                  <a:srgbClr val="7FDBCA"/>
                </a:solidFill>
                <a:latin typeface="Inconsolata"/>
              </a:rPr>
              <a:t>PRODUCTS</a:t>
            </a:r>
            <a:r>
              <a:rPr sz="645" i="0">
                <a:solidFill>
                  <a:srgbClr val="E6EDF3"/>
                </a:solidFill>
                <a:latin typeface="Inconsolata"/>
              </a:rPr>
              <a:t> </a:t>
            </a:r>
            <a:r>
              <a:rPr sz="645" i="0">
                <a:solidFill>
                  <a:srgbClr val="FF8E6E"/>
                </a:solidFill>
                <a:latin typeface="Inconsolata"/>
              </a:rPr>
              <a:t>if</a:t>
            </a:r>
            <a:r>
              <a:rPr sz="645" i="0">
                <a:solidFill>
                  <a:srgbClr val="E6EDF3"/>
                </a:solidFill>
                <a:latin typeface="Inconsolata"/>
              </a:rPr>
              <a:t> category </a:t>
            </a:r>
            <a:r>
              <a:rPr sz="645" i="0">
                <a:solidFill>
                  <a:srgbClr val="FF8E6E"/>
                </a:solidFill>
                <a:latin typeface="Inconsolata"/>
              </a:rPr>
              <a:t>in</a:t>
            </a:r>
            <a:r>
              <a:rPr sz="645" i="0">
                <a:solidFill>
                  <a:srgbClr val="E6EDF3"/>
                </a:solidFill>
                <a:latin typeface="Inconsolata"/>
              </a:rPr>
              <a:t> (</a:t>
            </a:r>
            <a:r>
              <a:rPr sz="645" i="0">
                <a:solidFill>
                  <a:srgbClr val="FF8E6E"/>
                </a:solidFill>
                <a:latin typeface="Inconsolata"/>
              </a:rPr>
              <a:t>None</a:t>
            </a:r>
            <a:r>
              <a:rPr sz="645" i="0">
                <a:solidFill>
                  <a:srgbClr val="E6EDF3"/>
                </a:solidFill>
                <a:latin typeface="Inconsolata"/>
              </a:rPr>
              <a:t>, p[</a:t>
            </a:r>
            <a:r>
              <a:rPr sz="645" i="0">
                <a:solidFill>
                  <a:srgbClr val="A5D6A7"/>
                </a:solidFill>
                <a:latin typeface="Inconsolata"/>
              </a:rPr>
              <a:t>"category"</a:t>
            </a:r>
            <a:r>
              <a:rPr sz="645" i="0">
                <a:solidFill>
                  <a:srgbClr val="E6EDF3"/>
                </a:solidFill>
                <a:latin typeface="Inconsolata"/>
              </a:rPr>
              <a:t>])]</a:t>
            </a:r>
          </a:p>
          <a:p>
            <a:pPr>
              <a:lnSpc>
                <a:spcPct val="103251"/>
              </a:lnSpc>
              <a:spcAft>
                <a:spcPts val="0"/>
              </a:spcAft>
            </a:pPr>
            <a:r>
              <a:rPr sz="645" i="0">
                <a:solidFill>
                  <a:srgbClr val="5C6773"/>
                </a:solidFill>
                <a:latin typeface="Inconsolata"/>
              </a:rPr>
              <a:t>35  </a:t>
            </a:r>
            <a:r>
              <a:rPr sz="645" i="0">
                <a:solidFill>
                  <a:srgbClr val="E6EDF3"/>
                </a:solidFill>
                <a:latin typeface="Inconsolata"/>
              </a:rPr>
              <a:t>    </a:t>
            </a:r>
            <a:r>
              <a:rPr sz="645" i="0">
                <a:solidFill>
                  <a:srgbClr val="FF8E6E"/>
                </a:solidFill>
                <a:latin typeface="Inconsolata"/>
              </a:rPr>
              <a:t>return</a:t>
            </a:r>
            <a:r>
              <a:rPr sz="645" i="0">
                <a:solidFill>
                  <a:srgbClr val="E6EDF3"/>
                </a:solidFill>
                <a:latin typeface="Inconsolata"/>
              </a:rPr>
              <a:t> rows[(page - </a:t>
            </a:r>
            <a:r>
              <a:rPr sz="645" i="0">
                <a:solidFill>
                  <a:srgbClr val="F9C97A"/>
                </a:solidFill>
                <a:latin typeface="Inconsolata"/>
              </a:rPr>
              <a:t>1</a:t>
            </a:r>
            <a:r>
              <a:rPr sz="645" i="0">
                <a:solidFill>
                  <a:srgbClr val="E6EDF3"/>
                </a:solidFill>
                <a:latin typeface="Inconsolata"/>
              </a:rPr>
              <a:t>) * </a:t>
            </a:r>
            <a:r>
              <a:rPr sz="645" i="0">
                <a:solidFill>
                  <a:srgbClr val="F9C97A"/>
                </a:solidFill>
                <a:latin typeface="Inconsolata"/>
              </a:rPr>
              <a:t>2</a:t>
            </a:r>
            <a:r>
              <a:rPr sz="645" i="0">
                <a:solidFill>
                  <a:srgbClr val="E6EDF3"/>
                </a:solidFill>
                <a:latin typeface="Inconsolata"/>
              </a:rPr>
              <a:t>: page * </a:t>
            </a:r>
            <a:r>
              <a:rPr sz="645" i="0">
                <a:solidFill>
                  <a:srgbClr val="F9C97A"/>
                </a:solidFill>
                <a:latin typeface="Inconsolata"/>
              </a:rPr>
              <a:t>2</a:t>
            </a:r>
            <a:r>
              <a:rPr sz="645" i="0">
                <a:solidFill>
                  <a:srgbClr val="E6EDF3"/>
                </a:solidFill>
                <a:latin typeface="Inconsolata"/>
              </a:rPr>
              <a:t>]        </a:t>
            </a:r>
            <a:r>
              <a:rPr sz="645" i="1">
                <a:solidFill>
                  <a:srgbClr val="8B98A8"/>
                </a:solidFill>
                <a:latin typeface="Inconsolata"/>
              </a:rPr>
              <a:t># 2 produk per page</a:t>
            </a:r>
          </a:p>
          <a:p>
            <a:pPr>
              <a:lnSpc>
                <a:spcPct val="103251"/>
              </a:lnSpc>
              <a:spcAft>
                <a:spcPts val="0"/>
              </a:spcAft>
            </a:pPr>
            <a:r>
              <a:rPr sz="645" i="0">
                <a:solidFill>
                  <a:srgbClr val="5C6773"/>
                </a:solidFill>
                <a:latin typeface="Inconsolata"/>
              </a:rPr>
              <a:t>36  </a:t>
            </a:r>
            <a:r>
              <a:rPr sz="645" i="0">
                <a:solidFill>
                  <a:srgbClr val="E6EDF3"/>
                </a:solidFill>
                <a:latin typeface="Inconsolata"/>
              </a:rPr>
              <a:t> </a:t>
            </a:r>
          </a:p>
          <a:p>
            <a:pPr>
              <a:lnSpc>
                <a:spcPct val="103251"/>
              </a:lnSpc>
              <a:spcAft>
                <a:spcPts val="0"/>
              </a:spcAft>
            </a:pPr>
            <a:r>
              <a:rPr sz="645" i="0">
                <a:solidFill>
                  <a:srgbClr val="5C6773"/>
                </a:solidFill>
                <a:latin typeface="Inconsolata"/>
              </a:rPr>
              <a:t>37  </a:t>
            </a:r>
            <a:r>
              <a:rPr sz="645" i="0">
                <a:solidFill>
                  <a:srgbClr val="E6EDF3"/>
                </a:solidFill>
                <a:latin typeface="Inconsolata"/>
              </a:rPr>
              <a:t> </a:t>
            </a:r>
          </a:p>
          <a:p>
            <a:pPr>
              <a:lnSpc>
                <a:spcPct val="103251"/>
              </a:lnSpc>
              <a:spcAft>
                <a:spcPts val="0"/>
              </a:spcAft>
            </a:pPr>
            <a:r>
              <a:rPr sz="645" i="0">
                <a:solidFill>
                  <a:srgbClr val="5C6773"/>
                </a:solidFill>
                <a:latin typeface="Inconsolata"/>
              </a:rPr>
              <a:t>38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products_key</a:t>
            </a:r>
            <a:r>
              <a:rPr sz="645" i="0">
                <a:solidFill>
                  <a:srgbClr val="E6EDF3"/>
                </a:solidFill>
                <a:latin typeface="Inconsolata"/>
              </a:rPr>
              <a:t>(category: </a:t>
            </a:r>
            <a:r>
              <a:rPr sz="645" i="0">
                <a:solidFill>
                  <a:srgbClr val="C3A6FF"/>
                </a:solidFill>
                <a:latin typeface="Inconsolata"/>
              </a:rPr>
              <a:t>str</a:t>
            </a:r>
            <a:r>
              <a:rPr sz="645" i="0">
                <a:solidFill>
                  <a:srgbClr val="E6EDF3"/>
                </a:solidFill>
                <a:latin typeface="Inconsolata"/>
              </a:rPr>
              <a:t> | </a:t>
            </a:r>
            <a:r>
              <a:rPr sz="645" i="0">
                <a:solidFill>
                  <a:srgbClr val="FF8E6E"/>
                </a:solidFill>
                <a:latin typeface="Inconsolata"/>
              </a:rPr>
              <a:t>None</a:t>
            </a:r>
            <a:r>
              <a:rPr sz="645" i="0">
                <a:solidFill>
                  <a:srgbClr val="E6EDF3"/>
                </a:solidFill>
                <a:latin typeface="Inconsolata"/>
              </a:rPr>
              <a:t>, page: </a:t>
            </a:r>
            <a:r>
              <a:rPr sz="645" i="0">
                <a:solidFill>
                  <a:srgbClr val="C3A6FF"/>
                </a:solidFill>
                <a:latin typeface="Inconsolata"/>
              </a:rPr>
              <a:t>int</a:t>
            </a:r>
            <a:r>
              <a:rPr sz="645" i="0">
                <a:solidFill>
                  <a:srgbClr val="E6EDF3"/>
                </a:solidFill>
                <a:latin typeface="Inconsolata"/>
              </a:rPr>
              <a:t>) -&gt; </a:t>
            </a:r>
            <a:r>
              <a:rPr sz="645" i="0">
                <a:solidFill>
                  <a:srgbClr val="C3A6FF"/>
                </a:solidFill>
                <a:latin typeface="Inconsolata"/>
              </a:rPr>
              <a:t>str</a:t>
            </a:r>
            <a:r>
              <a:rPr sz="645" i="0">
                <a:solidFill>
                  <a:srgbClr val="E6EDF3"/>
                </a:solidFill>
                <a:latin typeface="Inconsolata"/>
              </a:rPr>
              <a:t>:</a:t>
            </a:r>
          </a:p>
          <a:p>
            <a:pPr>
              <a:lnSpc>
                <a:spcPct val="103251"/>
              </a:lnSpc>
              <a:spcAft>
                <a:spcPts val="0"/>
              </a:spcAft>
            </a:pPr>
            <a:r>
              <a:rPr sz="645" i="0">
                <a:solidFill>
                  <a:srgbClr val="5C6773"/>
                </a:solidFill>
                <a:latin typeface="Inconsolata"/>
              </a:rPr>
              <a:t>39  </a:t>
            </a:r>
            <a:r>
              <a:rPr sz="645" i="0">
                <a:solidFill>
                  <a:srgbClr val="E6EDF3"/>
                </a:solidFill>
                <a:latin typeface="Inconsolata"/>
              </a:rPr>
              <a:t>    </a:t>
            </a:r>
            <a:r>
              <a:rPr sz="645" i="0">
                <a:solidFill>
                  <a:srgbClr val="FF8E6E"/>
                </a:solidFill>
                <a:latin typeface="Inconsolata"/>
              </a:rPr>
              <a:t>return</a:t>
            </a:r>
            <a:r>
              <a:rPr sz="645" i="0">
                <a:solidFill>
                  <a:srgbClr val="E6EDF3"/>
                </a:solidFill>
                <a:latin typeface="Inconsolata"/>
              </a:rPr>
              <a:t> </a:t>
            </a:r>
            <a:r>
              <a:rPr sz="645" i="0">
                <a:solidFill>
                  <a:srgbClr val="A5D6A7"/>
                </a:solidFill>
                <a:latin typeface="Inconsolata"/>
              </a:rPr>
              <a:t>f"v1:products:list:category={category or 'all'}:page={page}"</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03-response-cache-key/after.py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3251"/>
              </a:lnSpc>
              <a:spcAft>
                <a:spcPts val="0"/>
              </a:spcAft>
            </a:pPr>
            <a:r>
              <a:rPr sz="645" i="0">
                <a:solidFill>
                  <a:srgbClr val="5C6773"/>
                </a:solidFill>
                <a:latin typeface="Inconsolata"/>
              </a:rPr>
              <a:t>42  </a:t>
            </a:r>
            <a:r>
              <a:rPr sz="645" i="0">
                <a:solidFill>
                  <a:srgbClr val="F9C97A"/>
                </a:solidFill>
                <a:latin typeface="Inconsolata"/>
              </a:rPr>
              <a:t>@app.get</a:t>
            </a:r>
            <a:r>
              <a:rPr sz="645" i="0">
                <a:solidFill>
                  <a:srgbClr val="E6EDF3"/>
                </a:solidFill>
                <a:latin typeface="Inconsolata"/>
              </a:rPr>
              <a:t>(</a:t>
            </a:r>
            <a:r>
              <a:rPr sz="645" i="0">
                <a:solidFill>
                  <a:srgbClr val="A5D6A7"/>
                </a:solidFill>
                <a:latin typeface="Inconsolata"/>
              </a:rPr>
              <a:t>"/products"</a:t>
            </a:r>
            <a:r>
              <a:rPr sz="645" i="0">
                <a:solidFill>
                  <a:srgbClr val="E6EDF3"/>
                </a:solidFill>
                <a:latin typeface="Inconsolata"/>
              </a:rPr>
              <a:t>)</a:t>
            </a:r>
          </a:p>
          <a:p>
            <a:pPr>
              <a:lnSpc>
                <a:spcPct val="103251"/>
              </a:lnSpc>
              <a:spcAft>
                <a:spcPts val="0"/>
              </a:spcAft>
            </a:pPr>
            <a:r>
              <a:rPr sz="645" i="0">
                <a:solidFill>
                  <a:srgbClr val="5C6773"/>
                </a:solidFill>
                <a:latin typeface="Inconsolata"/>
              </a:rPr>
              <a:t>43  </a:t>
            </a:r>
            <a:r>
              <a:rPr sz="645" i="0">
                <a:solidFill>
                  <a:srgbClr val="FF8E6E"/>
                </a:solidFill>
                <a:latin typeface="Inconsolata"/>
              </a:rPr>
              <a:t>def</a:t>
            </a:r>
            <a:r>
              <a:rPr sz="645" i="0">
                <a:solidFill>
                  <a:srgbClr val="E6EDF3"/>
                </a:solidFill>
                <a:latin typeface="Inconsolata"/>
              </a:rPr>
              <a:t> </a:t>
            </a:r>
            <a:r>
              <a:rPr sz="645" i="0">
                <a:solidFill>
                  <a:srgbClr val="82B1FF"/>
                </a:solidFill>
                <a:latin typeface="Inconsolata"/>
              </a:rPr>
              <a:t>list_products</a:t>
            </a:r>
            <a:r>
              <a:rPr sz="645" i="0">
                <a:solidFill>
                  <a:srgbClr val="E6EDF3"/>
                </a:solidFill>
                <a:latin typeface="Inconsolata"/>
              </a:rPr>
              <a:t>(response: </a:t>
            </a:r>
            <a:r>
              <a:rPr sz="645" i="0">
                <a:solidFill>
                  <a:srgbClr val="7FDBCA"/>
                </a:solidFill>
                <a:latin typeface="Inconsolata"/>
              </a:rPr>
              <a:t>Response</a:t>
            </a:r>
            <a:r>
              <a:rPr sz="645" i="0">
                <a:solidFill>
                  <a:srgbClr val="E6EDF3"/>
                </a:solidFill>
                <a:latin typeface="Inconsolata"/>
              </a:rPr>
              <a:t>,</a:t>
            </a:r>
          </a:p>
          <a:p>
            <a:pPr>
              <a:lnSpc>
                <a:spcPct val="103251"/>
              </a:lnSpc>
              <a:spcAft>
                <a:spcPts val="0"/>
              </a:spcAft>
            </a:pPr>
            <a:r>
              <a:rPr sz="645" i="0">
                <a:solidFill>
                  <a:srgbClr val="5C6773"/>
                </a:solidFill>
                <a:latin typeface="Inconsolata"/>
              </a:rPr>
              <a:t>44  </a:t>
            </a:r>
            <a:r>
              <a:rPr sz="645" i="0">
                <a:solidFill>
                  <a:srgbClr val="E6EDF3"/>
                </a:solidFill>
                <a:latin typeface="Inconsolata"/>
              </a:rPr>
              <a:t>                  category: </a:t>
            </a:r>
            <a:r>
              <a:rPr sz="645" i="0">
                <a:solidFill>
                  <a:srgbClr val="C3A6FF"/>
                </a:solidFill>
                <a:latin typeface="Inconsolata"/>
              </a:rPr>
              <a:t>str</a:t>
            </a:r>
            <a:r>
              <a:rPr sz="645" i="0">
                <a:solidFill>
                  <a:srgbClr val="E6EDF3"/>
                </a:solidFill>
                <a:latin typeface="Inconsolata"/>
              </a:rPr>
              <a:t> | </a:t>
            </a:r>
            <a:r>
              <a:rPr sz="645" i="0">
                <a:solidFill>
                  <a:srgbClr val="FF8E6E"/>
                </a:solidFill>
                <a:latin typeface="Inconsolata"/>
              </a:rPr>
              <a:t>None</a:t>
            </a:r>
            <a:r>
              <a:rPr sz="645" i="0">
                <a:solidFill>
                  <a:srgbClr val="E6EDF3"/>
                </a:solidFill>
                <a:latin typeface="Inconsolata"/>
              </a:rPr>
              <a:t> = </a:t>
            </a:r>
            <a:r>
              <a:rPr sz="645" i="0">
                <a:solidFill>
                  <a:srgbClr val="FF8E6E"/>
                </a:solidFill>
                <a:latin typeface="Inconsolata"/>
              </a:rPr>
              <a:t>None</a:t>
            </a:r>
            <a:r>
              <a:rPr sz="645" i="0">
                <a:solidFill>
                  <a:srgbClr val="E6EDF3"/>
                </a:solidFill>
                <a:latin typeface="Inconsolata"/>
              </a:rPr>
              <a:t>, page: </a:t>
            </a:r>
            <a:r>
              <a:rPr sz="645" i="0">
                <a:solidFill>
                  <a:srgbClr val="C3A6FF"/>
                </a:solidFill>
                <a:latin typeface="Inconsolata"/>
              </a:rPr>
              <a:t>int</a:t>
            </a:r>
            <a:r>
              <a:rPr sz="645" i="0">
                <a:solidFill>
                  <a:srgbClr val="E6EDF3"/>
                </a:solidFill>
                <a:latin typeface="Inconsolata"/>
              </a:rPr>
              <a:t> = </a:t>
            </a:r>
            <a:r>
              <a:rPr sz="645" i="0">
                <a:solidFill>
                  <a:srgbClr val="F9C97A"/>
                </a:solidFill>
                <a:latin typeface="Inconsolata"/>
              </a:rPr>
              <a:t>1</a:t>
            </a:r>
            <a:r>
              <a:rPr sz="645" i="0">
                <a:solidFill>
                  <a:srgbClr val="E6EDF3"/>
                </a:solidFill>
                <a:latin typeface="Inconsolata"/>
              </a:rPr>
              <a:t>):</a:t>
            </a:r>
          </a:p>
          <a:p>
            <a:pPr>
              <a:lnSpc>
                <a:spcPct val="103251"/>
              </a:lnSpc>
              <a:spcAft>
                <a:spcPts val="0"/>
              </a:spcAft>
            </a:pPr>
            <a:r>
              <a:rPr sz="645" i="0">
                <a:solidFill>
                  <a:srgbClr val="5C6773"/>
                </a:solidFill>
                <a:latin typeface="Inconsolata"/>
              </a:rPr>
              <a:t>45  </a:t>
            </a:r>
            <a:r>
              <a:rPr sz="645" i="0">
                <a:solidFill>
                  <a:srgbClr val="E6EDF3"/>
                </a:solidFill>
                <a:latin typeface="Inconsolata"/>
              </a:rPr>
              <a:t>    key = products_key(category, page)</a:t>
            </a:r>
          </a:p>
          <a:p>
            <a:pPr>
              <a:lnSpc>
                <a:spcPct val="103251"/>
              </a:lnSpc>
              <a:spcAft>
                <a:spcPts val="0"/>
              </a:spcAft>
            </a:pPr>
            <a:r>
              <a:rPr sz="645" i="0">
                <a:solidFill>
                  <a:srgbClr val="5C6773"/>
                </a:solidFill>
                <a:latin typeface="Inconsolata"/>
              </a:rPr>
              <a:t>46  </a:t>
            </a:r>
            <a:r>
              <a:rPr sz="645" i="0">
                <a:solidFill>
                  <a:srgbClr val="E6EDF3"/>
                </a:solidFill>
                <a:latin typeface="Inconsolata"/>
              </a:rPr>
              <a:t>    cached = cache.get(key)</a:t>
            </a:r>
          </a:p>
          <a:p>
            <a:pPr>
              <a:lnSpc>
                <a:spcPct val="103251"/>
              </a:lnSpc>
              <a:spcAft>
                <a:spcPts val="0"/>
              </a:spcAft>
            </a:pPr>
            <a:r>
              <a:rPr sz="645" i="0">
                <a:solidFill>
                  <a:srgbClr val="5C6773"/>
                </a:solidFill>
                <a:latin typeface="Inconsolata"/>
              </a:rPr>
              <a:t>47  </a:t>
            </a:r>
            <a:r>
              <a:rPr sz="645" i="0">
                <a:solidFill>
                  <a:srgbClr val="E6EDF3"/>
                </a:solidFill>
                <a:latin typeface="Inconsolata"/>
              </a:rPr>
              <a:t>    </a:t>
            </a:r>
            <a:r>
              <a:rPr sz="645" i="0">
                <a:solidFill>
                  <a:srgbClr val="FF8E6E"/>
                </a:solidFill>
                <a:latin typeface="Inconsolata"/>
              </a:rPr>
              <a:t>if</a:t>
            </a:r>
            <a:r>
              <a:rPr sz="645" i="0">
                <a:solidFill>
                  <a:srgbClr val="E6EDF3"/>
                </a:solidFill>
                <a:latin typeface="Inconsolata"/>
              </a:rPr>
              <a:t> cached </a:t>
            </a:r>
            <a:r>
              <a:rPr sz="645" i="0">
                <a:solidFill>
                  <a:srgbClr val="FF8E6E"/>
                </a:solidFill>
                <a:latin typeface="Inconsolata"/>
              </a:rPr>
              <a:t>is</a:t>
            </a:r>
            <a:r>
              <a:rPr sz="645" i="0">
                <a:solidFill>
                  <a:srgbClr val="E6EDF3"/>
                </a:solidFill>
                <a:latin typeface="Inconsolata"/>
              </a:rPr>
              <a:t> </a:t>
            </a:r>
            <a:r>
              <a:rPr sz="645" i="0">
                <a:solidFill>
                  <a:srgbClr val="FF8E6E"/>
                </a:solidFill>
                <a:latin typeface="Inconsolata"/>
              </a:rPr>
              <a:t>not</a:t>
            </a:r>
            <a:r>
              <a:rPr sz="645" i="0">
                <a:solidFill>
                  <a:srgbClr val="E6EDF3"/>
                </a:solidFill>
                <a:latin typeface="Inconsolata"/>
              </a:rPr>
              <a:t> </a:t>
            </a:r>
            <a:r>
              <a:rPr sz="645" i="0">
                <a:solidFill>
                  <a:srgbClr val="FF8E6E"/>
                </a:solidFill>
                <a:latin typeface="Inconsolata"/>
              </a:rPr>
              <a:t>None</a:t>
            </a:r>
            <a:r>
              <a:rPr sz="645" i="0">
                <a:solidFill>
                  <a:srgbClr val="E6EDF3"/>
                </a:solidFill>
                <a:latin typeface="Inconsolata"/>
              </a:rPr>
              <a:t>:</a:t>
            </a:r>
          </a:p>
          <a:p>
            <a:pPr>
              <a:lnSpc>
                <a:spcPct val="103251"/>
              </a:lnSpc>
              <a:spcAft>
                <a:spcPts val="0"/>
              </a:spcAft>
            </a:pPr>
            <a:r>
              <a:rPr sz="645" i="0">
                <a:solidFill>
                  <a:srgbClr val="5C6773"/>
                </a:solidFill>
                <a:latin typeface="Inconsolata"/>
              </a:rPr>
              <a:t>48  </a:t>
            </a:r>
            <a:r>
              <a:rPr sz="645" i="0">
                <a:solidFill>
                  <a:srgbClr val="E6EDF3"/>
                </a:solidFill>
                <a:latin typeface="Inconsolata"/>
              </a:rPr>
              <a:t>        response.headers[</a:t>
            </a:r>
            <a:r>
              <a:rPr sz="645" i="0">
                <a:solidFill>
                  <a:srgbClr val="A5D6A7"/>
                </a:solidFill>
                <a:latin typeface="Inconsolata"/>
              </a:rPr>
              <a:t>"X-Cache"</a:t>
            </a:r>
            <a:r>
              <a:rPr sz="645" i="0">
                <a:solidFill>
                  <a:srgbClr val="E6EDF3"/>
                </a:solidFill>
                <a:latin typeface="Inconsolata"/>
              </a:rPr>
              <a:t>] = </a:t>
            </a:r>
            <a:r>
              <a:rPr sz="645" i="0">
                <a:solidFill>
                  <a:srgbClr val="A5D6A7"/>
                </a:solidFill>
                <a:latin typeface="Inconsolata"/>
              </a:rPr>
              <a:t>"HIT"</a:t>
            </a:r>
          </a:p>
          <a:p>
            <a:pPr>
              <a:lnSpc>
                <a:spcPct val="103251"/>
              </a:lnSpc>
              <a:spcAft>
                <a:spcPts val="0"/>
              </a:spcAft>
            </a:pPr>
            <a:r>
              <a:rPr sz="645" i="0">
                <a:solidFill>
                  <a:srgbClr val="5C6773"/>
                </a:solidFill>
                <a:latin typeface="Inconsolata"/>
              </a:rPr>
              <a:t>49  </a:t>
            </a:r>
            <a:r>
              <a:rPr sz="645" i="0">
                <a:solidFill>
                  <a:srgbClr val="E6EDF3"/>
                </a:solidFill>
                <a:latin typeface="Inconsolata"/>
              </a:rPr>
              <a:t>        </a:t>
            </a:r>
            <a:r>
              <a:rPr sz="645" i="0">
                <a:solidFill>
                  <a:srgbClr val="FF8E6E"/>
                </a:solidFill>
                <a:latin typeface="Inconsolata"/>
              </a:rPr>
              <a:t>return</a:t>
            </a:r>
            <a:r>
              <a:rPr sz="645" i="0">
                <a:solidFill>
                  <a:srgbClr val="E6EDF3"/>
                </a:solidFill>
                <a:latin typeface="Inconsolata"/>
              </a:rPr>
              <a:t> json.loads(cached)</a:t>
            </a:r>
          </a:p>
          <a:p>
            <a:pPr>
              <a:lnSpc>
                <a:spcPct val="103251"/>
              </a:lnSpc>
              <a:spcAft>
                <a:spcPts val="0"/>
              </a:spcAft>
            </a:pPr>
            <a:r>
              <a:rPr sz="645" i="0">
                <a:solidFill>
                  <a:srgbClr val="5C6773"/>
                </a:solidFill>
                <a:latin typeface="Inconsolata"/>
              </a:rPr>
              <a:t>50  </a:t>
            </a:r>
            <a:r>
              <a:rPr sz="645" i="0">
                <a:solidFill>
                  <a:srgbClr val="E6EDF3"/>
                </a:solidFill>
                <a:latin typeface="Inconsolata"/>
              </a:rPr>
              <a:t> </a:t>
            </a:r>
          </a:p>
          <a:p>
            <a:pPr>
              <a:lnSpc>
                <a:spcPct val="103251"/>
              </a:lnSpc>
              <a:spcAft>
                <a:spcPts val="0"/>
              </a:spcAft>
            </a:pPr>
            <a:r>
              <a:rPr sz="645" i="0">
                <a:solidFill>
                  <a:srgbClr val="5C6773"/>
                </a:solidFill>
                <a:latin typeface="Inconsolata"/>
              </a:rPr>
              <a:t>51  </a:t>
            </a:r>
            <a:r>
              <a:rPr sz="645" i="0">
                <a:solidFill>
                  <a:srgbClr val="E6EDF3"/>
                </a:solidFill>
                <a:latin typeface="Inconsolata"/>
              </a:rPr>
              <a:t>    result = query_products(category, page)</a:t>
            </a:r>
          </a:p>
          <a:p>
            <a:pPr>
              <a:lnSpc>
                <a:spcPct val="103251"/>
              </a:lnSpc>
              <a:spcAft>
                <a:spcPts val="0"/>
              </a:spcAft>
            </a:pPr>
            <a:r>
              <a:rPr sz="645" i="0">
                <a:solidFill>
                  <a:srgbClr val="5C6773"/>
                </a:solidFill>
                <a:latin typeface="Inconsolata"/>
              </a:rPr>
              <a:t>52  </a:t>
            </a:r>
            <a:r>
              <a:rPr sz="645" i="0">
                <a:solidFill>
                  <a:srgbClr val="E6EDF3"/>
                </a:solidFill>
                <a:latin typeface="Inconsolata"/>
              </a:rPr>
              <a:t>    cache.</a:t>
            </a:r>
            <a:r>
              <a:rPr sz="645" i="0">
                <a:solidFill>
                  <a:srgbClr val="C3A6FF"/>
                </a:solidFill>
                <a:latin typeface="Inconsolata"/>
              </a:rPr>
              <a:t>set</a:t>
            </a:r>
            <a:r>
              <a:rPr sz="645" i="0">
                <a:solidFill>
                  <a:srgbClr val="E6EDF3"/>
                </a:solidFill>
                <a:latin typeface="Inconsolata"/>
              </a:rPr>
              <a:t>(key, json.dumps(result), ex=</a:t>
            </a:r>
            <a:r>
              <a:rPr sz="645" i="0">
                <a:solidFill>
                  <a:srgbClr val="F9C97A"/>
                </a:solidFill>
                <a:latin typeface="Inconsolata"/>
              </a:rPr>
              <a:t>60</a:t>
            </a:r>
            <a:r>
              <a:rPr sz="645" i="0">
                <a:solidFill>
                  <a:srgbClr val="E6EDF3"/>
                </a:solidFill>
                <a:latin typeface="Inconsolata"/>
              </a:rPr>
              <a:t>)</a:t>
            </a:r>
          </a:p>
          <a:p>
            <a:pPr>
              <a:lnSpc>
                <a:spcPct val="103251"/>
              </a:lnSpc>
              <a:spcAft>
                <a:spcPts val="0"/>
              </a:spcAft>
            </a:pPr>
            <a:r>
              <a:rPr sz="645" i="0">
                <a:solidFill>
                  <a:srgbClr val="5C6773"/>
                </a:solidFill>
                <a:latin typeface="Inconsolata"/>
              </a:rPr>
              <a:t>53  </a:t>
            </a:r>
            <a:r>
              <a:rPr sz="645" i="0">
                <a:solidFill>
                  <a:srgbClr val="E6EDF3"/>
                </a:solidFill>
                <a:latin typeface="Inconsolata"/>
              </a:rPr>
              <a:t>    response.headers[</a:t>
            </a:r>
            <a:r>
              <a:rPr sz="645" i="0">
                <a:solidFill>
                  <a:srgbClr val="A5D6A7"/>
                </a:solidFill>
                <a:latin typeface="Inconsolata"/>
              </a:rPr>
              <a:t>"X-Cache"</a:t>
            </a:r>
            <a:r>
              <a:rPr sz="645" i="0">
                <a:solidFill>
                  <a:srgbClr val="E6EDF3"/>
                </a:solidFill>
                <a:latin typeface="Inconsolata"/>
              </a:rPr>
              <a:t>] = </a:t>
            </a:r>
            <a:r>
              <a:rPr sz="645" i="0">
                <a:solidFill>
                  <a:srgbClr val="A5D6A7"/>
                </a:solidFill>
                <a:latin typeface="Inconsolata"/>
              </a:rPr>
              <a:t>"MISS"</a:t>
            </a:r>
          </a:p>
          <a:p>
            <a:pPr>
              <a:lnSpc>
                <a:spcPct val="103251"/>
              </a:lnSpc>
              <a:spcAft>
                <a:spcPts val="0"/>
              </a:spcAft>
            </a:pPr>
            <a:r>
              <a:rPr sz="645" i="0">
                <a:solidFill>
                  <a:srgbClr val="5C6773"/>
                </a:solidFill>
                <a:latin typeface="Inconsolata"/>
              </a:rPr>
              <a:t>54  </a:t>
            </a:r>
            <a:r>
              <a:rPr sz="645" i="0">
                <a:solidFill>
                  <a:srgbClr val="E6EDF3"/>
                </a:solidFill>
                <a:latin typeface="Inconsolata"/>
              </a:rPr>
              <a:t>    </a:t>
            </a:r>
            <a:r>
              <a:rPr sz="645" i="0">
                <a:solidFill>
                  <a:srgbClr val="FF8E6E"/>
                </a:solidFill>
                <a:latin typeface="Inconsolata"/>
              </a:rPr>
              <a:t>return</a:t>
            </a:r>
            <a:r>
              <a:rPr sz="645" i="0">
                <a:solidFill>
                  <a:srgbClr val="E6EDF3"/>
                </a:solidFill>
                <a:latin typeface="Inconsolata"/>
              </a:rPr>
              <a:t> result</a:t>
            </a:r>
          </a:p>
          <a:p>
            <a:pPr>
              <a:lnSpc>
                <a:spcPct val="103251"/>
              </a:lnSpc>
              <a:spcAft>
                <a:spcPts val="0"/>
              </a:spcAft>
            </a:pPr>
            <a:r>
              <a:rPr sz="645" i="0">
                <a:solidFill>
                  <a:srgbClr val="5C6773"/>
                </a:solidFill>
                <a:latin typeface="Inconsolata"/>
              </a:rPr>
              <a:t>55  </a:t>
            </a:r>
            <a:r>
              <a:rPr sz="645" i="0">
                <a:solidFill>
                  <a:srgbClr val="E6EDF3"/>
                </a:solidFill>
                <a:latin typeface="Inconsolata"/>
              </a:rPr>
              <a:t> </a:t>
            </a:r>
          </a:p>
          <a:p>
            <a:pPr>
              <a:lnSpc>
                <a:spcPct val="103251"/>
              </a:lnSpc>
              <a:spcAft>
                <a:spcPts val="0"/>
              </a:spcAft>
            </a:pPr>
            <a:r>
              <a:rPr sz="645" i="0">
                <a:solidFill>
                  <a:srgbClr val="5C6773"/>
                </a:solidFill>
                <a:latin typeface="Inconsolata"/>
              </a:rPr>
              <a:t>56  </a:t>
            </a:r>
            <a:r>
              <a:rPr sz="645" i="0">
                <a:solidFill>
                  <a:srgbClr val="E6EDF3"/>
                </a:solidFill>
                <a:latin typeface="Inconsolata"/>
              </a:rPr>
              <a:t> </a:t>
            </a:r>
          </a:p>
          <a:p>
            <a:pPr>
              <a:lnSpc>
                <a:spcPct val="103251"/>
              </a:lnSpc>
              <a:spcAft>
                <a:spcPts val="0"/>
              </a:spcAft>
            </a:pPr>
            <a:r>
              <a:rPr sz="645" i="0">
                <a:solidFill>
                  <a:srgbClr val="5C6773"/>
                </a:solidFill>
                <a:latin typeface="Inconsolata"/>
              </a:rPr>
              <a:t>57  </a:t>
            </a:r>
            <a:r>
              <a:rPr sz="645" i="0">
                <a:solidFill>
                  <a:srgbClr val="FF8E6E"/>
                </a:solidFill>
                <a:latin typeface="Inconsolata"/>
              </a:rPr>
              <a:t>if</a:t>
            </a:r>
            <a:r>
              <a:rPr sz="645" i="0">
                <a:solidFill>
                  <a:srgbClr val="E6EDF3"/>
                </a:solidFill>
                <a:latin typeface="Inconsolata"/>
              </a:rPr>
              <a:t> __name__ == </a:t>
            </a:r>
            <a:r>
              <a:rPr sz="645" i="0">
                <a:solidFill>
                  <a:srgbClr val="A5D6A7"/>
                </a:solidFill>
                <a:latin typeface="Inconsolata"/>
              </a:rPr>
              <a:t>"__main__"</a:t>
            </a:r>
            <a:r>
              <a:rPr sz="645" i="0">
                <a:solidFill>
                  <a:srgbClr val="E6EDF3"/>
                </a:solidFill>
                <a:latin typeface="Inconsolata"/>
              </a:rPr>
              <a:t>:</a:t>
            </a:r>
          </a:p>
          <a:p>
            <a:pPr>
              <a:lnSpc>
                <a:spcPct val="103251"/>
              </a:lnSpc>
              <a:spcAft>
                <a:spcPts val="0"/>
              </a:spcAft>
            </a:pPr>
            <a:r>
              <a:rPr sz="645" i="0">
                <a:solidFill>
                  <a:srgbClr val="5C6773"/>
                </a:solidFill>
                <a:latin typeface="Inconsolata"/>
              </a:rPr>
              <a:t>58  </a:t>
            </a:r>
            <a:r>
              <a:rPr sz="645" i="0">
                <a:solidFill>
                  <a:srgbClr val="E6EDF3"/>
                </a:solidFill>
                <a:latin typeface="Inconsolata"/>
              </a:rPr>
              <a:t>    </a:t>
            </a:r>
            <a:r>
              <a:rPr sz="645" i="0">
                <a:solidFill>
                  <a:srgbClr val="FF8E6E"/>
                </a:solidFill>
                <a:latin typeface="Inconsolata"/>
              </a:rPr>
              <a:t>for</a:t>
            </a:r>
            <a:r>
              <a:rPr sz="645" i="0">
                <a:solidFill>
                  <a:srgbClr val="E6EDF3"/>
                </a:solidFill>
                <a:latin typeface="Inconsolata"/>
              </a:rPr>
              <a:t> key </a:t>
            </a:r>
            <a:r>
              <a:rPr sz="645" i="0">
                <a:solidFill>
                  <a:srgbClr val="FF8E6E"/>
                </a:solidFill>
                <a:latin typeface="Inconsolata"/>
              </a:rPr>
              <a:t>in</a:t>
            </a:r>
            <a:r>
              <a:rPr sz="645" i="0">
                <a:solidFill>
                  <a:srgbClr val="E6EDF3"/>
                </a:solidFill>
                <a:latin typeface="Inconsolata"/>
              </a:rPr>
              <a:t> cache.scan_iter(</a:t>
            </a:r>
            <a:r>
              <a:rPr sz="645" i="0">
                <a:solidFill>
                  <a:srgbClr val="A5D6A7"/>
                </a:solidFill>
                <a:latin typeface="Inconsolata"/>
              </a:rPr>
              <a:t>"v1:products:list:*"</a:t>
            </a:r>
            <a:r>
              <a:rPr sz="645" i="0">
                <a:solidFill>
                  <a:srgbClr val="E6EDF3"/>
                </a:solidFill>
                <a:latin typeface="Inconsolata"/>
              </a:rPr>
              <a:t>):</a:t>
            </a:r>
          </a:p>
          <a:p>
            <a:pPr>
              <a:lnSpc>
                <a:spcPct val="103251"/>
              </a:lnSpc>
              <a:spcAft>
                <a:spcPts val="0"/>
              </a:spcAft>
            </a:pPr>
            <a:r>
              <a:rPr sz="645" i="0">
                <a:solidFill>
                  <a:srgbClr val="5C6773"/>
                </a:solidFill>
                <a:latin typeface="Inconsolata"/>
              </a:rPr>
              <a:t>59  </a:t>
            </a:r>
            <a:r>
              <a:rPr sz="645" i="0">
                <a:solidFill>
                  <a:srgbClr val="E6EDF3"/>
                </a:solidFill>
                <a:latin typeface="Inconsolata"/>
              </a:rPr>
              <a:t>        cache.delete(key)</a:t>
            </a:r>
          </a:p>
          <a:p>
            <a:pPr>
              <a:lnSpc>
                <a:spcPct val="103251"/>
              </a:lnSpc>
              <a:spcAft>
                <a:spcPts val="0"/>
              </a:spcAft>
            </a:pPr>
            <a:r>
              <a:rPr sz="645" i="0">
                <a:solidFill>
                  <a:srgbClr val="5C6773"/>
                </a:solidFill>
                <a:latin typeface="Inconsolata"/>
              </a:rPr>
              <a:t>60  </a:t>
            </a:r>
            <a:r>
              <a:rPr sz="645" i="0">
                <a:solidFill>
                  <a:srgbClr val="E6EDF3"/>
                </a:solidFill>
                <a:latin typeface="Inconsolata"/>
              </a:rPr>
              <a:t>    client = </a:t>
            </a:r>
            <a:r>
              <a:rPr sz="645" i="0">
                <a:solidFill>
                  <a:srgbClr val="7FDBCA"/>
                </a:solidFill>
                <a:latin typeface="Inconsolata"/>
              </a:rPr>
              <a:t>TestClient</a:t>
            </a:r>
            <a:r>
              <a:rPr sz="645" i="0">
                <a:solidFill>
                  <a:srgbClr val="E6EDF3"/>
                </a:solidFill>
                <a:latin typeface="Inconsolata"/>
              </a:rPr>
              <a:t>(app)</a:t>
            </a:r>
          </a:p>
          <a:p>
            <a:pPr>
              <a:lnSpc>
                <a:spcPct val="103251"/>
              </a:lnSpc>
              <a:spcAft>
                <a:spcPts val="0"/>
              </a:spcAft>
            </a:pPr>
            <a:r>
              <a:rPr sz="645" i="0">
                <a:solidFill>
                  <a:srgbClr val="5C6773"/>
                </a:solidFill>
                <a:latin typeface="Inconsolata"/>
              </a:rPr>
              <a:t>61  </a:t>
            </a:r>
            <a:r>
              <a:rPr sz="645" i="0">
                <a:solidFill>
                  <a:srgbClr val="E6EDF3"/>
                </a:solidFill>
                <a:latin typeface="Inconsolata"/>
              </a:rPr>
              <a:t>    </a:t>
            </a:r>
            <a:r>
              <a:rPr sz="645" i="0">
                <a:solidFill>
                  <a:srgbClr val="FF8E6E"/>
                </a:solidFill>
                <a:latin typeface="Inconsolata"/>
              </a:rPr>
              <a:t>for</a:t>
            </a:r>
            <a:r>
              <a:rPr sz="645" i="0">
                <a:solidFill>
                  <a:srgbClr val="E6EDF3"/>
                </a:solidFill>
                <a:latin typeface="Inconsolata"/>
              </a:rPr>
              <a:t> url </a:t>
            </a:r>
            <a:r>
              <a:rPr sz="645" i="0">
                <a:solidFill>
                  <a:srgbClr val="FF8E6E"/>
                </a:solidFill>
                <a:latin typeface="Inconsolata"/>
              </a:rPr>
              <a:t>in</a:t>
            </a:r>
            <a:r>
              <a:rPr sz="645" i="0">
                <a:solidFill>
                  <a:srgbClr val="E6EDF3"/>
                </a:solidFill>
                <a:latin typeface="Inconsolata"/>
              </a:rPr>
              <a:t> [</a:t>
            </a:r>
            <a:r>
              <a:rPr sz="645" i="0">
                <a:solidFill>
                  <a:srgbClr val="A5D6A7"/>
                </a:solidFill>
                <a:latin typeface="Inconsolata"/>
              </a:rPr>
              <a:t>"/products?category=keyboard"</a:t>
            </a:r>
            <a:r>
              <a:rPr sz="645" i="0">
                <a:solidFill>
                  <a:srgbClr val="E6EDF3"/>
                </a:solidFill>
                <a:latin typeface="Inconsolata"/>
              </a:rPr>
              <a:t>,</a:t>
            </a:r>
          </a:p>
          <a:p>
            <a:pPr>
              <a:lnSpc>
                <a:spcPct val="103251"/>
              </a:lnSpc>
              <a:spcAft>
                <a:spcPts val="0"/>
              </a:spcAft>
            </a:pPr>
            <a:r>
              <a:rPr sz="645" i="0">
                <a:solidFill>
                  <a:srgbClr val="5C6773"/>
                </a:solidFill>
                <a:latin typeface="Inconsolata"/>
              </a:rPr>
              <a:t>62  </a:t>
            </a:r>
            <a:r>
              <a:rPr sz="645" i="0">
                <a:solidFill>
                  <a:srgbClr val="E6EDF3"/>
                </a:solidFill>
                <a:latin typeface="Inconsolata"/>
              </a:rPr>
              <a:t>                </a:t>
            </a:r>
            <a:r>
              <a:rPr sz="645" i="0">
                <a:solidFill>
                  <a:srgbClr val="A5D6A7"/>
                </a:solidFill>
                <a:latin typeface="Inconsolata"/>
              </a:rPr>
              <a:t>"/products?category=mouse"</a:t>
            </a:r>
            <a:r>
              <a:rPr sz="645" i="0">
                <a:solidFill>
                  <a:srgbClr val="E6EDF3"/>
                </a:solidFill>
                <a:latin typeface="Inconsolata"/>
              </a:rPr>
              <a:t>,</a:t>
            </a:r>
          </a:p>
          <a:p>
            <a:pPr>
              <a:lnSpc>
                <a:spcPct val="103251"/>
              </a:lnSpc>
              <a:spcAft>
                <a:spcPts val="0"/>
              </a:spcAft>
            </a:pPr>
            <a:r>
              <a:rPr sz="645" i="0">
                <a:solidFill>
                  <a:srgbClr val="5C6773"/>
                </a:solidFill>
                <a:latin typeface="Inconsolata"/>
              </a:rPr>
              <a:t>63  </a:t>
            </a:r>
            <a:r>
              <a:rPr sz="645" i="0">
                <a:solidFill>
                  <a:srgbClr val="E6EDF3"/>
                </a:solidFill>
                <a:latin typeface="Inconsolata"/>
              </a:rPr>
              <a:t>                </a:t>
            </a:r>
            <a:r>
              <a:rPr sz="645" i="0">
                <a:solidFill>
                  <a:srgbClr val="A5D6A7"/>
                </a:solidFill>
                <a:latin typeface="Inconsolata"/>
              </a:rPr>
              <a:t>"/products?category=mouse"</a:t>
            </a:r>
            <a:r>
              <a:rPr sz="645" i="0">
                <a:solidFill>
                  <a:srgbClr val="E6EDF3"/>
                </a:solidFill>
                <a:latin typeface="Inconsolata"/>
              </a:rPr>
              <a:t>]:</a:t>
            </a:r>
          </a:p>
          <a:p>
            <a:pPr>
              <a:lnSpc>
                <a:spcPct val="103251"/>
              </a:lnSpc>
              <a:spcAft>
                <a:spcPts val="0"/>
              </a:spcAft>
            </a:pPr>
            <a:r>
              <a:rPr sz="645" i="0">
                <a:solidFill>
                  <a:srgbClr val="5C6773"/>
                </a:solidFill>
                <a:latin typeface="Inconsolata"/>
              </a:rPr>
              <a:t>64  </a:t>
            </a:r>
            <a:r>
              <a:rPr sz="645" i="0">
                <a:solidFill>
                  <a:srgbClr val="E6EDF3"/>
                </a:solidFill>
                <a:latin typeface="Inconsolata"/>
              </a:rPr>
              <a:t>        r = client.get(url)</a:t>
            </a:r>
          </a:p>
          <a:p>
            <a:pPr>
              <a:lnSpc>
                <a:spcPct val="103251"/>
              </a:lnSpc>
              <a:spcAft>
                <a:spcPts val="0"/>
              </a:spcAft>
            </a:pPr>
            <a:r>
              <a:rPr sz="645" i="0">
                <a:solidFill>
                  <a:srgbClr val="5C6773"/>
                </a:solidFill>
                <a:latin typeface="Inconsolata"/>
              </a:rPr>
              <a:t>65  </a:t>
            </a:r>
            <a:r>
              <a:rPr sz="645" i="0">
                <a:solidFill>
                  <a:srgbClr val="E6EDF3"/>
                </a:solidFill>
                <a:latin typeface="Inconsolata"/>
              </a:rPr>
              <a:t>        names = [p[</a:t>
            </a:r>
            <a:r>
              <a:rPr sz="645" i="0">
                <a:solidFill>
                  <a:srgbClr val="A5D6A7"/>
                </a:solidFill>
                <a:latin typeface="Inconsolata"/>
              </a:rPr>
              <a:t>"name"</a:t>
            </a:r>
            <a:r>
              <a:rPr sz="645" i="0">
                <a:solidFill>
                  <a:srgbClr val="E6EDF3"/>
                </a:solidFill>
                <a:latin typeface="Inconsolata"/>
              </a:rPr>
              <a:t>] </a:t>
            </a:r>
            <a:r>
              <a:rPr sz="645" i="0">
                <a:solidFill>
                  <a:srgbClr val="FF8E6E"/>
                </a:solidFill>
                <a:latin typeface="Inconsolata"/>
              </a:rPr>
              <a:t>for</a:t>
            </a:r>
            <a:r>
              <a:rPr sz="645" i="0">
                <a:solidFill>
                  <a:srgbClr val="E6EDF3"/>
                </a:solidFill>
                <a:latin typeface="Inconsolata"/>
              </a:rPr>
              <a:t> p </a:t>
            </a:r>
            <a:r>
              <a:rPr sz="645" i="0">
                <a:solidFill>
                  <a:srgbClr val="FF8E6E"/>
                </a:solidFill>
                <a:latin typeface="Inconsolata"/>
              </a:rPr>
              <a:t>in</a:t>
            </a:r>
            <a:r>
              <a:rPr sz="645" i="0">
                <a:solidFill>
                  <a:srgbClr val="E6EDF3"/>
                </a:solidFill>
                <a:latin typeface="Inconsolata"/>
              </a:rPr>
              <a:t> r.json()]</a:t>
            </a:r>
          </a:p>
          <a:p>
            <a:pPr>
              <a:lnSpc>
                <a:spcPct val="103251"/>
              </a:lnSpc>
              <a:spcAft>
                <a:spcPts val="0"/>
              </a:spcAft>
            </a:pPr>
            <a:r>
              <a:rPr sz="645" i="0">
                <a:solidFill>
                  <a:srgbClr val="5C6773"/>
                </a:solidFill>
                <a:latin typeface="Inconsolata"/>
              </a:rPr>
              <a:t>66  </a:t>
            </a:r>
            <a:r>
              <a:rPr sz="645" i="0">
                <a:solidFill>
                  <a:srgbClr val="E6EDF3"/>
                </a:solidFill>
                <a:latin typeface="Inconsolata"/>
              </a:rPr>
              <a:t>        </a:t>
            </a:r>
            <a:r>
              <a:rPr sz="645" i="0">
                <a:solidFill>
                  <a:srgbClr val="C3A6FF"/>
                </a:solidFill>
                <a:latin typeface="Inconsolata"/>
              </a:rPr>
              <a:t>print</a:t>
            </a:r>
            <a:r>
              <a:rPr sz="645" i="0">
                <a:solidFill>
                  <a:srgbClr val="E6EDF3"/>
                </a:solidFill>
                <a:latin typeface="Inconsolata"/>
              </a:rPr>
              <a:t>(</a:t>
            </a:r>
            <a:r>
              <a:rPr sz="645" i="0">
                <a:solidFill>
                  <a:srgbClr val="A5D6A7"/>
                </a:solidFill>
                <a:latin typeface="Inconsolata"/>
              </a:rPr>
              <a:t>f"{url:28} {r.headers['X-Cache']:4}"</a:t>
            </a:r>
            <a:r>
              <a:rPr sz="645" i="0">
                <a:solidFill>
                  <a:srgbClr val="E6EDF3"/>
                </a:solidFill>
                <a:latin typeface="Inconsolata"/>
              </a:rPr>
              <a:t>, names)</a:t>
            </a:r>
          </a:p>
        </p:txBody>
      </p:sp>
      <p:sp>
        <p:nvSpPr>
          <p:cNvPr id="36" name="Box 21"/>
          <p:cNvSpPr/>
          <p:nvPr/>
        </p:nvSpPr>
        <p:spPr>
          <a:xfrm>
            <a:off x="704088" y="4160520"/>
            <a:ext cx="3694176" cy="197104"/>
          </a:xfrm>
          <a:prstGeom prst="roundRect">
            <a:avLst>
              <a:gd name="adj" fmla="val 2319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41402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128520"/>
            <a:ext cx="3694176" cy="95504"/>
          </a:xfrm>
          <a:prstGeom prst="roundRect">
            <a:avLst>
              <a:gd name="adj" fmla="val 4787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0574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433320"/>
            <a:ext cx="3694176" cy="95504"/>
          </a:xfrm>
          <a:prstGeom prst="roundRect">
            <a:avLst>
              <a:gd name="adj" fmla="val 4787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3622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42" name="Box 27"/>
          <p:cNvSpPr/>
          <p:nvPr/>
        </p:nvSpPr>
        <p:spPr>
          <a:xfrm>
            <a:off x="4709159" y="2941320"/>
            <a:ext cx="3694176" cy="95504"/>
          </a:xfrm>
          <a:prstGeom prst="roundRect">
            <a:avLst>
              <a:gd name="adj" fmla="val 4787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Key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03-response-cache-key/after.py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sesi-06-redis-caching-rate-limiting/03-response-cache-key</a:t>
            </a:r>
          </a:p>
          <a:p>
            <a:pPr>
              <a:lnSpc>
                <a:spcPct val="111111"/>
              </a:lnSpc>
              <a:spcAft>
                <a:spcPts val="0"/>
              </a:spcAft>
            </a:pPr>
            <a:r>
              <a:rPr sz="900" i="0">
                <a:solidFill>
                  <a:srgbClr val="82B1FF"/>
                </a:solidFill>
                <a:latin typeface="Inconsolata"/>
              </a:rPr>
              <a:t>$ python after.py</a:t>
            </a:r>
          </a:p>
        </p:txBody>
      </p:sp>
      <p:pic>
        <p:nvPicPr>
          <p:cNvPr id="29" name="Image 12" descr="s06-03-response-cache-key-after.png"/>
          <p:cNvPicPr>
            <a:picLocks noChangeAspect="1"/>
          </p:cNvPicPr>
          <p:nvPr/>
        </p:nvPicPr>
        <p:blipFill>
          <a:blip r:embed="rId2"/>
          <a:stretch>
            <a:fillRect/>
          </a:stretch>
        </p:blipFill>
        <p:spPr>
          <a:xfrm>
            <a:off x="621792" y="2322576"/>
            <a:ext cx="4297680" cy="1227909"/>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Key punya versi, namespace, dan semua parameter (baris 38-39)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kombinasi parameter punya key sendiri (baris 45)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Header </a:t>
            </a:r>
            <a:r>
              <a:rPr sz="950" b="0" i="0">
                <a:solidFill>
                  <a:srgbClr val="B5482A"/>
                </a:solidFill>
                <a:latin typeface="Inconsolata"/>
              </a:rPr>
              <a:t>X-Cache</a:t>
            </a:r>
            <a:r>
              <a:rPr sz="950" b="0" i="0">
                <a:solidFill>
                  <a:srgbClr val="434343"/>
                </a:solidFill>
                <a:latin typeface="Inter"/>
              </a:rPr>
              <a:t> menunjukkan HIT atau MISS (baris 48, 53)</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Request </a:t>
            </a:r>
            <a:r>
              <a:rPr sz="950" b="0" i="0">
                <a:solidFill>
                  <a:srgbClr val="B5482A"/>
                </a:solidFill>
                <a:latin typeface="Inconsolata"/>
              </a:rPr>
              <a:t>mouse</a:t>
            </a:r>
            <a:r>
              <a:rPr sz="950" b="0" i="0">
                <a:solidFill>
                  <a:srgbClr val="434343"/>
                </a:solidFill>
                <a:latin typeface="Inter"/>
              </a:rPr>
              <a:t> kedua langsung HIT dengan data yang benar.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Cache Stampede?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Cache stampede adalah</a:t>
            </a:r>
          </a:p>
          <a:p>
            <a:pPr algn="l">
              <a:lnSpc>
                <a:spcPct val="115000"/>
              </a:lnSpc>
              <a:spcAft>
                <a:spcPts val="400"/>
              </a:spcAft>
            </a:pPr>
            <a:r>
              <a:rPr sz="850" b="0" i="0">
                <a:solidFill>
                  <a:srgbClr val="434343"/>
                </a:solidFill>
                <a:latin typeface="Inter"/>
              </a:rPr>
              <a:t>Lonjakan query ke database saat cache untuk data yang populer </a:t>
            </a:r>
            <a:r>
              <a:rPr sz="850" b="1" i="0">
                <a:solidFill>
                  <a:srgbClr val="434343"/>
                </a:solidFill>
                <a:latin typeface="Inter"/>
              </a:rPr>
              <a:t>kedaluwarsa</a:t>
            </a:r>
            <a:r>
              <a:rPr sz="850" b="0" i="0">
                <a:solidFill>
                  <a:srgbClr val="434343"/>
                </a:solidFill>
                <a:latin typeface="Inter"/>
              </a:rPr>
              <a:t>. Semua request yang datang bersamaan mendapat cache miss, lalu semuanya query ke database di waktu yang sama.</a:t>
            </a:r>
          </a:p>
          <a:p>
            <a:pPr algn="l">
              <a:lnSpc>
                <a:spcPct val="115000"/>
              </a:lnSpc>
              <a:spcAft>
                <a:spcPts val="400"/>
              </a:spcAft>
            </a:pPr>
            <a:r>
              <a:rPr sz="950" b="1" i="0">
                <a:solidFill>
                  <a:srgbClr val="1C4587"/>
                </a:solidFill>
                <a:latin typeface="Inter"/>
              </a:rPr>
              <a:t>Cara mencegahnya</a:t>
            </a:r>
          </a:p>
          <a:p>
            <a:pPr marL="182880" indent="-182880" algn="l">
              <a:lnSpc>
                <a:spcPct val="115000"/>
              </a:lnSpc>
              <a:spcAft>
                <a:spcPts val="400"/>
              </a:spcAft>
              <a:buClr>
                <a:srgbClr val="E0764F"/>
              </a:buClr>
              <a:buSzPct val="100000"/>
              <a:buFont typeface="Arial"/>
              <a:buChar char="•"/>
            </a:pPr>
            <a:r>
              <a:rPr sz="850" b="1" i="0">
                <a:solidFill>
                  <a:srgbClr val="434343"/>
                </a:solidFill>
                <a:latin typeface="Inter"/>
              </a:rPr>
              <a:t>Lock</a:t>
            </a:r>
            <a:r>
              <a:rPr sz="850" b="0" i="0">
                <a:solidFill>
                  <a:srgbClr val="434343"/>
                </a:solidFill>
                <a:latin typeface="Inter"/>
              </a:rPr>
              <a:t>: hanya satu request yang mengisi ulang cache, yang lain menunggu</a:t>
            </a:r>
          </a:p>
          <a:p>
            <a:pPr marL="182880" indent="-182880" algn="l">
              <a:lnSpc>
                <a:spcPct val="115000"/>
              </a:lnSpc>
              <a:spcAft>
                <a:spcPts val="400"/>
              </a:spcAft>
              <a:buClr>
                <a:srgbClr val="E0764F"/>
              </a:buClr>
              <a:buSzPct val="100000"/>
              <a:buFont typeface="Arial"/>
              <a:buChar char="•"/>
            </a:pPr>
            <a:r>
              <a:rPr sz="850" b="1" i="0">
                <a:solidFill>
                  <a:srgbClr val="434343"/>
                </a:solidFill>
                <a:latin typeface="Inter"/>
              </a:rPr>
              <a:t>Jitter</a:t>
            </a:r>
            <a:r>
              <a:rPr sz="850" b="0" i="0">
                <a:solidFill>
                  <a:srgbClr val="434343"/>
                </a:solidFill>
                <a:latin typeface="Inter"/>
              </a:rPr>
              <a:t>: TTL ditambah angka acak, supaya banyak key tidak kedaluwarsa bersamaan</a:t>
            </a:r>
          </a:p>
          <a:p>
            <a:pPr algn="l">
              <a:lnSpc>
                <a:spcPct val="115000"/>
              </a:lnSpc>
              <a:spcAft>
                <a:spcPts val="400"/>
              </a:spcAft>
            </a:pPr>
            <a:r>
              <a:rPr sz="9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Mencegah database kewalahan tepat saat traffic tinggi</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lock: 04-cache-stampede/before.py</a:t>
            </a:r>
          </a:p>
        </p:txBody>
      </p:sp>
      <p:sp>
        <p:nvSpPr>
          <p:cNvPr id="28" name="CodeBg 11"/>
          <p:cNvSpPr/>
          <p:nvPr/>
        </p:nvSpPr>
        <p:spPr>
          <a:xfrm>
            <a:off x="4297680" y="1719072"/>
            <a:ext cx="4187951" cy="685800"/>
          </a:xfrm>
          <a:prstGeom prst="roundRect">
            <a:avLst>
              <a:gd name="adj" fmla="val 266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685800"/>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    cached = cache.get(key)</a:t>
            </a:r>
          </a:p>
          <a:p>
            <a:pPr>
              <a:lnSpc>
                <a:spcPct val="104167"/>
              </a:lnSpc>
              <a:spcAft>
                <a:spcPts val="0"/>
              </a:spcAft>
            </a:pPr>
            <a:r>
              <a:rPr sz="800" i="0">
                <a:solidFill>
                  <a:srgbClr val="E6EDF3"/>
                </a:solidFill>
                <a:latin typeface="Inconsolata"/>
              </a:rPr>
              <a:t>    </a:t>
            </a:r>
            <a:r>
              <a:rPr sz="800" i="0">
                <a:solidFill>
                  <a:srgbClr val="FF8E6E"/>
                </a:solidFill>
                <a:latin typeface="Inconsolata"/>
              </a:rPr>
              <a:t>if</a:t>
            </a:r>
            <a:r>
              <a:rPr sz="800" i="0">
                <a:solidFill>
                  <a:srgbClr val="E6EDF3"/>
                </a:solidFill>
                <a:latin typeface="Inconsolata"/>
              </a:rPr>
              <a:t> cached </a:t>
            </a:r>
            <a:r>
              <a:rPr sz="800" i="0">
                <a:solidFill>
                  <a:srgbClr val="FF8E6E"/>
                </a:solidFill>
                <a:latin typeface="Inconsolata"/>
              </a:rPr>
              <a:t>is</a:t>
            </a:r>
            <a:r>
              <a:rPr sz="800" i="0">
                <a:solidFill>
                  <a:srgbClr val="E6EDF3"/>
                </a:solidFill>
                <a:latin typeface="Inconsolata"/>
              </a:rPr>
              <a:t> </a:t>
            </a:r>
            <a:r>
              <a:rPr sz="800" i="0">
                <a:solidFill>
                  <a:srgbClr val="FF8E6E"/>
                </a:solidFill>
                <a:latin typeface="Inconsolata"/>
              </a:rPr>
              <a:t>not</a:t>
            </a:r>
            <a:r>
              <a:rPr sz="800" i="0">
                <a:solidFill>
                  <a:srgbClr val="E6EDF3"/>
                </a:solidFill>
                <a:latin typeface="Inconsolata"/>
              </a:rPr>
              <a:t> </a:t>
            </a:r>
            <a:r>
              <a:rPr sz="800" i="0">
                <a:solidFill>
                  <a:srgbClr val="FF8E6E"/>
                </a:solidFill>
                <a:latin typeface="Inconsolata"/>
              </a:rPr>
              <a:t>None</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return</a:t>
            </a:r>
            <a:r>
              <a:rPr sz="800" i="0">
                <a:solidFill>
                  <a:srgbClr val="E6EDF3"/>
                </a:solidFill>
                <a:latin typeface="Inconsolata"/>
              </a:rPr>
              <a:t> json.loads(cached)</a:t>
            </a:r>
          </a:p>
          <a:p>
            <a:pPr>
              <a:lnSpc>
                <a:spcPct val="104167"/>
              </a:lnSpc>
              <a:spcAft>
                <a:spcPts val="0"/>
              </a:spcAft>
            </a:pPr>
            <a:r>
              <a:rPr sz="800" i="0">
                <a:solidFill>
                  <a:srgbClr val="E6EDF3"/>
                </a:solidFill>
                <a:latin typeface="Inconsolata"/>
              </a:rPr>
              <a:t>    product = query_product(product_id)</a:t>
            </a:r>
          </a:p>
        </p:txBody>
      </p:sp>
      <p:sp>
        <p:nvSpPr>
          <p:cNvPr id="30" name="Box 13"/>
          <p:cNvSpPr/>
          <p:nvPr/>
        </p:nvSpPr>
        <p:spPr>
          <a:xfrm>
            <a:off x="4379976" y="2208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49631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57403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57403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57403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50545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lock &amp; jitter: 04-cache-stampede/after.py</a:t>
            </a:r>
          </a:p>
        </p:txBody>
      </p:sp>
      <p:sp>
        <p:nvSpPr>
          <p:cNvPr id="36" name="CodeBg 21"/>
          <p:cNvSpPr/>
          <p:nvPr/>
        </p:nvSpPr>
        <p:spPr>
          <a:xfrm>
            <a:off x="4297680" y="2734056"/>
            <a:ext cx="4187951" cy="1965960"/>
          </a:xfrm>
          <a:prstGeom prst="roundRect">
            <a:avLst>
              <a:gd name="adj" fmla="val 93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734056"/>
            <a:ext cx="4187951" cy="1965960"/>
          </a:xfrm>
          <a:prstGeom prst="rect">
            <a:avLst/>
          </a:prstGeom>
          <a:noFill/>
        </p:spPr>
        <p:txBody>
          <a:bodyPr wrap="none" lIns="146304" tIns="91440" rIns="146304" bIns="54864">
            <a:spAutoFit/>
          </a:bodyPr>
          <a:lstStyle/>
          <a:p>
            <a:pPr>
              <a:lnSpc>
                <a:spcPct val="111111"/>
              </a:lnSpc>
              <a:spcAft>
                <a:spcPts val="0"/>
              </a:spcAft>
            </a:pPr>
            <a:r>
              <a:rPr sz="825" i="0">
                <a:solidFill>
                  <a:srgbClr val="E6EDF3"/>
                </a:solidFill>
                <a:latin typeface="Inconsolata"/>
              </a:rPr>
              <a:t>        </a:t>
            </a:r>
            <a:r>
              <a:rPr sz="825" i="1">
                <a:solidFill>
                  <a:srgbClr val="8B98A8"/>
                </a:solidFill>
                <a:latin typeface="Inconsolata"/>
              </a:rPr>
              <a:t># hanya satu request yang mendapat lock</a:t>
            </a:r>
          </a:p>
          <a:p>
            <a:pPr>
              <a:lnSpc>
                <a:spcPct val="111111"/>
              </a:lnSpc>
              <a:spcAft>
                <a:spcPts val="0"/>
              </a:spcAft>
            </a:pPr>
            <a:r>
              <a:rPr sz="825" i="0">
                <a:solidFill>
                  <a:srgbClr val="E6EDF3"/>
                </a:solidFill>
                <a:latin typeface="Inconsolata"/>
              </a:rPr>
              <a:t>        </a:t>
            </a:r>
            <a:r>
              <a:rPr sz="825" i="0">
                <a:solidFill>
                  <a:srgbClr val="FF8E6E"/>
                </a:solidFill>
                <a:latin typeface="Inconsolata"/>
              </a:rPr>
              <a:t>if</a:t>
            </a:r>
            <a:r>
              <a:rPr sz="825" i="0">
                <a:solidFill>
                  <a:srgbClr val="E6EDF3"/>
                </a:solidFill>
                <a:latin typeface="Inconsolata"/>
              </a:rPr>
              <a:t> cache.</a:t>
            </a:r>
            <a:r>
              <a:rPr sz="825" i="0">
                <a:solidFill>
                  <a:srgbClr val="C3A6FF"/>
                </a:solidFill>
                <a:latin typeface="Inconsolata"/>
              </a:rPr>
              <a:t>set</a:t>
            </a:r>
            <a:r>
              <a:rPr sz="825" i="0">
                <a:solidFill>
                  <a:srgbClr val="E6EDF3"/>
                </a:solidFill>
                <a:latin typeface="Inconsolata"/>
              </a:rPr>
              <a:t>(</a:t>
            </a:r>
            <a:r>
              <a:rPr sz="825" i="0">
                <a:solidFill>
                  <a:srgbClr val="A5D6A7"/>
                </a:solidFill>
                <a:latin typeface="Inconsolata"/>
              </a:rPr>
              <a:t>f"lock:{key}"</a:t>
            </a:r>
            <a:r>
              <a:rPr sz="825" i="0">
                <a:solidFill>
                  <a:srgbClr val="E6EDF3"/>
                </a:solidFill>
                <a:latin typeface="Inconsolata"/>
              </a:rPr>
              <a:t>, </a:t>
            </a:r>
            <a:r>
              <a:rPr sz="825" i="0">
                <a:solidFill>
                  <a:srgbClr val="A5D6A7"/>
                </a:solidFill>
                <a:latin typeface="Inconsolata"/>
              </a:rPr>
              <a:t>"1"</a:t>
            </a:r>
            <a:r>
              <a:rPr sz="825" i="0">
                <a:solidFill>
                  <a:srgbClr val="E6EDF3"/>
                </a:solidFill>
                <a:latin typeface="Inconsolata"/>
              </a:rPr>
              <a:t>, nx=</a:t>
            </a:r>
            <a:r>
              <a:rPr sz="825" i="0">
                <a:solidFill>
                  <a:srgbClr val="FF8E6E"/>
                </a:solidFill>
                <a:latin typeface="Inconsolata"/>
              </a:rPr>
              <a:t>True</a:t>
            </a:r>
            <a:r>
              <a:rPr sz="825" i="0">
                <a:solidFill>
                  <a:srgbClr val="E6EDF3"/>
                </a:solidFill>
                <a:latin typeface="Inconsolata"/>
              </a:rPr>
              <a:t>, ex=</a:t>
            </a:r>
            <a:r>
              <a:rPr sz="825" i="0">
                <a:solidFill>
                  <a:srgbClr val="F9C97A"/>
                </a:solidFill>
                <a:latin typeface="Inconsolata"/>
              </a:rPr>
              <a:t>5</a:t>
            </a:r>
            <a:r>
              <a:rPr sz="825" i="0">
                <a:solidFill>
                  <a:srgbClr val="E6EDF3"/>
                </a:solidFill>
                <a:latin typeface="Inconsolata"/>
              </a:rPr>
              <a:t>):</a:t>
            </a:r>
          </a:p>
          <a:p>
            <a:pPr>
              <a:lnSpc>
                <a:spcPct val="111111"/>
              </a:lnSpc>
              <a:spcAft>
                <a:spcPts val="0"/>
              </a:spcAft>
            </a:pPr>
            <a:r>
              <a:rPr sz="825" i="0">
                <a:solidFill>
                  <a:srgbClr val="E6EDF3"/>
                </a:solidFill>
                <a:latin typeface="Inconsolata"/>
              </a:rPr>
              <a:t>            </a:t>
            </a:r>
            <a:r>
              <a:rPr sz="825" i="0">
                <a:solidFill>
                  <a:srgbClr val="FF8E6E"/>
                </a:solidFill>
                <a:latin typeface="Inconsolata"/>
              </a:rPr>
              <a:t>try</a:t>
            </a:r>
            <a:r>
              <a:rPr sz="825" i="0">
                <a:solidFill>
                  <a:srgbClr val="E6EDF3"/>
                </a:solidFill>
                <a:latin typeface="Inconsolata"/>
              </a:rPr>
              <a:t>:</a:t>
            </a:r>
          </a:p>
          <a:p>
            <a:pPr>
              <a:lnSpc>
                <a:spcPct val="111111"/>
              </a:lnSpc>
              <a:spcAft>
                <a:spcPts val="0"/>
              </a:spcAft>
            </a:pPr>
            <a:r>
              <a:rPr sz="825" i="0">
                <a:solidFill>
                  <a:srgbClr val="E6EDF3"/>
                </a:solidFill>
                <a:latin typeface="Inconsolata"/>
              </a:rPr>
              <a:t>                product = query_product(product_id)</a:t>
            </a:r>
          </a:p>
          <a:p>
            <a:pPr>
              <a:lnSpc>
                <a:spcPct val="111111"/>
              </a:lnSpc>
              <a:spcAft>
                <a:spcPts val="0"/>
              </a:spcAft>
            </a:pPr>
            <a:r>
              <a:rPr sz="825" i="0">
                <a:solidFill>
                  <a:srgbClr val="E6EDF3"/>
                </a:solidFill>
                <a:latin typeface="Inconsolata"/>
              </a:rPr>
              <a:t>                ttl = </a:t>
            </a:r>
            <a:r>
              <a:rPr sz="825" i="0">
                <a:solidFill>
                  <a:srgbClr val="F9C97A"/>
                </a:solidFill>
                <a:latin typeface="Inconsolata"/>
              </a:rPr>
              <a:t>60</a:t>
            </a:r>
            <a:r>
              <a:rPr sz="825" i="0">
                <a:solidFill>
                  <a:srgbClr val="E6EDF3"/>
                </a:solidFill>
                <a:latin typeface="Inconsolata"/>
              </a:rPr>
              <a:t> + random.randint(</a:t>
            </a:r>
            <a:r>
              <a:rPr sz="825" i="0">
                <a:solidFill>
                  <a:srgbClr val="F9C97A"/>
                </a:solidFill>
                <a:latin typeface="Inconsolata"/>
              </a:rPr>
              <a:t>0</a:t>
            </a:r>
            <a:r>
              <a:rPr sz="825" i="0">
                <a:solidFill>
                  <a:srgbClr val="E6EDF3"/>
                </a:solidFill>
                <a:latin typeface="Inconsolata"/>
              </a:rPr>
              <a:t>, </a:t>
            </a:r>
            <a:r>
              <a:rPr sz="825" i="0">
                <a:solidFill>
                  <a:srgbClr val="F9C97A"/>
                </a:solidFill>
                <a:latin typeface="Inconsolata"/>
              </a:rPr>
              <a:t>10</a:t>
            </a:r>
            <a:r>
              <a:rPr sz="825" i="0">
                <a:solidFill>
                  <a:srgbClr val="E6EDF3"/>
                </a:solidFill>
                <a:latin typeface="Inconsolata"/>
              </a:rPr>
              <a:t>)     </a:t>
            </a:r>
            <a:r>
              <a:rPr sz="825" i="1">
                <a:solidFill>
                  <a:srgbClr val="8B98A8"/>
                </a:solidFill>
                <a:latin typeface="Inconsolata"/>
              </a:rPr>
              <a:t># TTL + jitter</a:t>
            </a:r>
          </a:p>
          <a:p>
            <a:pPr>
              <a:lnSpc>
                <a:spcPct val="111111"/>
              </a:lnSpc>
              <a:spcAft>
                <a:spcPts val="0"/>
              </a:spcAft>
            </a:pPr>
            <a:r>
              <a:rPr sz="825" i="0">
                <a:solidFill>
                  <a:srgbClr val="E6EDF3"/>
                </a:solidFill>
                <a:latin typeface="Inconsolata"/>
              </a:rPr>
              <a:t>                cache.</a:t>
            </a:r>
            <a:r>
              <a:rPr sz="825" i="0">
                <a:solidFill>
                  <a:srgbClr val="C3A6FF"/>
                </a:solidFill>
                <a:latin typeface="Inconsolata"/>
              </a:rPr>
              <a:t>set</a:t>
            </a:r>
            <a:r>
              <a:rPr sz="825" i="0">
                <a:solidFill>
                  <a:srgbClr val="E6EDF3"/>
                </a:solidFill>
                <a:latin typeface="Inconsolata"/>
              </a:rPr>
              <a:t>(key, json.dumps(product), ex=ttl)</a:t>
            </a:r>
          </a:p>
          <a:p>
            <a:pPr>
              <a:lnSpc>
                <a:spcPct val="111111"/>
              </a:lnSpc>
              <a:spcAft>
                <a:spcPts val="0"/>
              </a:spcAft>
            </a:pPr>
            <a:r>
              <a:rPr sz="825" i="0">
                <a:solidFill>
                  <a:srgbClr val="E6EDF3"/>
                </a:solidFill>
                <a:latin typeface="Inconsolata"/>
              </a:rPr>
              <a:t>                </a:t>
            </a:r>
            <a:r>
              <a:rPr sz="825" i="0">
                <a:solidFill>
                  <a:srgbClr val="FF8E6E"/>
                </a:solidFill>
                <a:latin typeface="Inconsolata"/>
              </a:rPr>
              <a:t>return</a:t>
            </a:r>
            <a:r>
              <a:rPr sz="825" i="0">
                <a:solidFill>
                  <a:srgbClr val="E6EDF3"/>
                </a:solidFill>
                <a:latin typeface="Inconsolata"/>
              </a:rPr>
              <a:t> product</a:t>
            </a:r>
          </a:p>
          <a:p>
            <a:pPr>
              <a:lnSpc>
                <a:spcPct val="111111"/>
              </a:lnSpc>
              <a:spcAft>
                <a:spcPts val="0"/>
              </a:spcAft>
            </a:pPr>
            <a:r>
              <a:rPr sz="825" i="0">
                <a:solidFill>
                  <a:srgbClr val="E6EDF3"/>
                </a:solidFill>
                <a:latin typeface="Inconsolata"/>
              </a:rPr>
              <a:t>            </a:t>
            </a:r>
            <a:r>
              <a:rPr sz="825" i="0">
                <a:solidFill>
                  <a:srgbClr val="FF8E6E"/>
                </a:solidFill>
                <a:latin typeface="Inconsolata"/>
              </a:rPr>
              <a:t>finally</a:t>
            </a:r>
            <a:r>
              <a:rPr sz="825" i="0">
                <a:solidFill>
                  <a:srgbClr val="E6EDF3"/>
                </a:solidFill>
                <a:latin typeface="Inconsolata"/>
              </a:rPr>
              <a:t>:</a:t>
            </a:r>
          </a:p>
          <a:p>
            <a:pPr>
              <a:lnSpc>
                <a:spcPct val="111111"/>
              </a:lnSpc>
              <a:spcAft>
                <a:spcPts val="0"/>
              </a:spcAft>
            </a:pPr>
            <a:r>
              <a:rPr sz="825" i="0">
                <a:solidFill>
                  <a:srgbClr val="E6EDF3"/>
                </a:solidFill>
                <a:latin typeface="Inconsolata"/>
              </a:rPr>
              <a:t>                cache.delete(</a:t>
            </a:r>
            <a:r>
              <a:rPr sz="825" i="0">
                <a:solidFill>
                  <a:srgbClr val="A5D6A7"/>
                </a:solidFill>
                <a:latin typeface="Inconsolata"/>
              </a:rPr>
              <a:t>f"lock:{key}"</a:t>
            </a:r>
            <a:r>
              <a:rPr sz="825" i="0">
                <a:solidFill>
                  <a:srgbClr val="E6EDF3"/>
                </a:solidFill>
                <a:latin typeface="Inconsolata"/>
              </a:rPr>
              <a:t>)</a:t>
            </a:r>
          </a:p>
          <a:p>
            <a:pPr>
              <a:lnSpc>
                <a:spcPct val="111111"/>
              </a:lnSpc>
              <a:spcAft>
                <a:spcPts val="0"/>
              </a:spcAft>
            </a:pPr>
            <a:r>
              <a:rPr sz="825" i="0">
                <a:solidFill>
                  <a:srgbClr val="E6EDF3"/>
                </a:solidFill>
                <a:latin typeface="Inconsolata"/>
              </a:rPr>
              <a:t> </a:t>
            </a:r>
          </a:p>
          <a:p>
            <a:pPr>
              <a:lnSpc>
                <a:spcPct val="111111"/>
              </a:lnSpc>
              <a:spcAft>
                <a:spcPts val="0"/>
              </a:spcAft>
            </a:pPr>
            <a:r>
              <a:rPr sz="825" i="0">
                <a:solidFill>
                  <a:srgbClr val="E6EDF3"/>
                </a:solidFill>
                <a:latin typeface="Inconsolata"/>
              </a:rPr>
              <a:t>        time.sleep(</a:t>
            </a:r>
            <a:r>
              <a:rPr sz="825" i="0">
                <a:solidFill>
                  <a:srgbClr val="F9C97A"/>
                </a:solidFill>
                <a:latin typeface="Inconsolata"/>
              </a:rPr>
              <a:t>0</a:t>
            </a:r>
            <a:r>
              <a:rPr sz="825" i="0">
                <a:solidFill>
                  <a:srgbClr val="E6EDF3"/>
                </a:solidFill>
                <a:latin typeface="Inconsolata"/>
              </a:rPr>
              <a:t>.</a:t>
            </a:r>
            <a:r>
              <a:rPr sz="825" i="0">
                <a:solidFill>
                  <a:srgbClr val="F9C97A"/>
                </a:solidFill>
                <a:latin typeface="Inconsolata"/>
              </a:rPr>
              <a:t>05</a:t>
            </a:r>
            <a:r>
              <a:rPr sz="825" i="0">
                <a:solidFill>
                  <a:srgbClr val="E6EDF3"/>
                </a:solidFill>
                <a:latin typeface="Inconsolata"/>
              </a:rPr>
              <a:t>)          </a:t>
            </a:r>
            <a:r>
              <a:rPr sz="825" i="1">
                <a:solidFill>
                  <a:srgbClr val="8B98A8"/>
                </a:solidFill>
                <a:latin typeface="Inconsolata"/>
              </a:rPr>
              <a:t># yang lain menunggu, lalu cek lagi</a:t>
            </a:r>
          </a:p>
        </p:txBody>
      </p:sp>
      <p:sp>
        <p:nvSpPr>
          <p:cNvPr id="38" name="Box 23"/>
          <p:cNvSpPr/>
          <p:nvPr/>
        </p:nvSpPr>
        <p:spPr>
          <a:xfrm>
            <a:off x="4379976" y="298335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0245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perlu mencegah Cache Stampede?</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pencegahan</a:t>
            </a:r>
          </a:p>
          <a:p>
            <a:pPr algn="l">
              <a:lnSpc>
                <a:spcPct val="115000"/>
              </a:lnSpc>
              <a:spcAft>
                <a:spcPts val="400"/>
              </a:spcAft>
            </a:pPr>
            <a:r>
              <a:rPr sz="950" b="0" i="0">
                <a:solidFill>
                  <a:srgbClr val="434343"/>
                </a:solidFill>
                <a:latin typeface="Inter"/>
              </a:rPr>
              <a:t>Produk yang sedang promo dibuka ribuan orang. Saat cachenya kedaluwarsa, 20 request bersamaan mendapat miss dan semuanya query ke database.</a:t>
            </a:r>
          </a:p>
          <a:p>
            <a:pPr algn="l">
              <a:lnSpc>
                <a:spcPct val="115000"/>
              </a:lnSpc>
              <a:spcAft>
                <a:spcPts val="400"/>
              </a:spcAft>
            </a:pPr>
            <a:r>
              <a:rPr sz="1050" b="1" i="0">
                <a:solidFill>
                  <a:srgbClr val="1C4587"/>
                </a:solidFill>
                <a:latin typeface="Inter"/>
              </a:rPr>
              <a:t>Jika trafficnya makin tinggi</a:t>
            </a:r>
          </a:p>
          <a:p>
            <a:pPr algn="l">
              <a:lnSpc>
                <a:spcPct val="115000"/>
              </a:lnSpc>
              <a:spcAft>
                <a:spcPts val="400"/>
              </a:spcAft>
            </a:pPr>
            <a:r>
              <a:rPr sz="950" b="0" i="0">
                <a:solidFill>
                  <a:srgbClr val="434343"/>
                </a:solidFill>
                <a:latin typeface="Inter"/>
              </a:rPr>
              <a:t>Jumlah query yang datang bersamaan ikut naik, tepat di saat database paling sibuk.</a:t>
            </a:r>
          </a:p>
          <a:p>
            <a:pPr algn="l">
              <a:lnSpc>
                <a:spcPct val="115000"/>
              </a:lnSpc>
              <a:spcAft>
                <a:spcPts val="400"/>
              </a:spcAft>
            </a:pPr>
            <a:r>
              <a:rPr sz="950" b="0" i="0">
                <a:solidFill>
                  <a:srgbClr val="434343"/>
                </a:solidFill>
                <a:latin typeface="Inter"/>
              </a:rPr>
              <a:t>Hal ini membuat database lambat atau bahkan down, dan semua endpoint ikut terdampak.</a:t>
            </a:r>
          </a:p>
          <a:p>
            <a:pPr algn="l">
              <a:lnSpc>
                <a:spcPct val="115000"/>
              </a:lnSpc>
              <a:spcAft>
                <a:spcPts val="400"/>
              </a:spcAft>
            </a:pPr>
            <a:r>
              <a:rPr sz="1050" b="1" i="0">
                <a:solidFill>
                  <a:srgbClr val="1C4587"/>
                </a:solidFill>
                <a:latin typeface="Inter"/>
              </a:rPr>
              <a:t>Yang dipakai dari Redis: SET ... NX</a:t>
            </a:r>
          </a:p>
          <a:p>
            <a:pPr algn="l">
              <a:lnSpc>
                <a:spcPct val="115000"/>
              </a:lnSpc>
              <a:spcAft>
                <a:spcPts val="400"/>
              </a:spcAft>
            </a:pPr>
            <a:r>
              <a:rPr sz="950" b="0" i="0">
                <a:solidFill>
                  <a:srgbClr val="B5482A"/>
                </a:solidFill>
                <a:latin typeface="Inconsolata"/>
              </a:rPr>
              <a:t>nx=True</a:t>
            </a:r>
            <a:r>
              <a:rPr sz="950" b="0" i="0">
                <a:solidFill>
                  <a:srgbClr val="434343"/>
                </a:solidFill>
                <a:latin typeface="Inter"/>
              </a:rPr>
              <a:t> artinya hanya disimpan jika key belum ada. Dari banyak request, hanya satu yang berhasil, dan itulah yang mendapat lock.</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2176272">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cache.set(lock, "1", nx=True, ex=5)</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Ambil lock, True hanya untuk satu request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ex=5</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Lock terhapus sendiri setelah 5 detik</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60 + random.randint(0, 10)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TTL dengan jitter: 60 sampai 70 detik</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semua miss, semua query</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04-cache-stampede/before.py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json</a:t>
            </a:r>
          </a:p>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12  </a:t>
            </a:r>
            <a:r>
              <a:rPr sz="719" i="0">
                <a:solidFill>
                  <a:srgbClr val="FF8E6E"/>
                </a:solidFill>
                <a:latin typeface="Inconsolata"/>
              </a:rPr>
              <a:t>import</a:t>
            </a:r>
            <a:r>
              <a:rPr sz="719" i="0">
                <a:solidFill>
                  <a:srgbClr val="E6EDF3"/>
                </a:solidFill>
                <a:latin typeface="Inconsolata"/>
              </a:rPr>
              <a:t> threading</a:t>
            </a:r>
          </a:p>
          <a:p>
            <a:pPr>
              <a:lnSpc>
                <a:spcPct val="104277"/>
              </a:lnSpc>
              <a:spcAft>
                <a:spcPts val="0"/>
              </a:spcAft>
            </a:pPr>
            <a:r>
              <a:rPr sz="719" i="0">
                <a:solidFill>
                  <a:srgbClr val="5C6773"/>
                </a:solidFill>
                <a:latin typeface="Inconsolata"/>
              </a:rPr>
              <a:t>13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concurrent.futures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ThreadPoolExecutor</a:t>
            </a:r>
          </a:p>
          <a:p>
            <a:pPr>
              <a:lnSpc>
                <a:spcPct val="104277"/>
              </a:lnSpc>
              <a:spcAft>
                <a:spcPts val="0"/>
              </a:spcAft>
            </a:pPr>
            <a:r>
              <a:rPr sz="719" i="0">
                <a:solidFill>
                  <a:srgbClr val="5C6773"/>
                </a:solidFill>
                <a:latin typeface="Inconsolata"/>
              </a:rPr>
              <a:t>15  </a:t>
            </a:r>
            <a:r>
              <a:rPr sz="719" i="0">
                <a:solidFill>
                  <a:srgbClr val="E6EDF3"/>
                </a:solidFill>
                <a:latin typeface="Inconsolata"/>
              </a:rPr>
              <a:t> </a:t>
            </a:r>
          </a:p>
          <a:p>
            <a:pPr>
              <a:lnSpc>
                <a:spcPct val="104277"/>
              </a:lnSpc>
              <a:spcAft>
                <a:spcPts val="0"/>
              </a:spcAft>
            </a:pPr>
            <a:r>
              <a:rPr sz="719" i="0">
                <a:solidFill>
                  <a:srgbClr val="5C6773"/>
                </a:solidFill>
                <a:latin typeface="Inconsolata"/>
              </a:rPr>
              <a:t>16  </a:t>
            </a:r>
            <a:r>
              <a:rPr sz="719" i="0">
                <a:solidFill>
                  <a:srgbClr val="FF8E6E"/>
                </a:solidFill>
                <a:latin typeface="Inconsolata"/>
              </a:rPr>
              <a:t>import</a:t>
            </a:r>
            <a:r>
              <a:rPr sz="719" i="0">
                <a:solidFill>
                  <a:srgbClr val="E6EDF3"/>
                </a:solidFill>
                <a:latin typeface="Inconsolata"/>
              </a:rPr>
              <a:t> redis</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p>
          <a:p>
            <a:pPr>
              <a:lnSpc>
                <a:spcPct val="104277"/>
              </a:lnSpc>
              <a:spcAft>
                <a:spcPts val="0"/>
              </a:spcAft>
            </a:pPr>
            <a:r>
              <a:rPr sz="719" i="0">
                <a:solidFill>
                  <a:srgbClr val="5C6773"/>
                </a:solidFill>
                <a:latin typeface="Inconsolata"/>
              </a:rPr>
              <a:t>18  </a:t>
            </a:r>
            <a:r>
              <a:rPr sz="719" i="0">
                <a:solidFill>
                  <a:srgbClr val="7FDBCA"/>
                </a:solidFill>
                <a:latin typeface="Inconsolata"/>
              </a:rPr>
              <a:t>REDIS_URL</a:t>
            </a:r>
            <a:r>
              <a:rPr sz="719" i="0">
                <a:solidFill>
                  <a:srgbClr val="E6EDF3"/>
                </a:solidFill>
                <a:latin typeface="Inconsolata"/>
              </a:rPr>
              <a:t> = os.getenv(</a:t>
            </a:r>
            <a:r>
              <a:rPr sz="719" i="0">
                <a:solidFill>
                  <a:srgbClr val="A5D6A7"/>
                </a:solidFill>
                <a:latin typeface="Inconsolata"/>
              </a:rPr>
              <a:t>"REDIS_URL"</a:t>
            </a:r>
            <a:r>
              <a:rPr sz="719" i="0">
                <a:solidFill>
                  <a:srgbClr val="E6EDF3"/>
                </a:solidFill>
                <a:latin typeface="Inconsolata"/>
              </a:rPr>
              <a:t>, </a:t>
            </a:r>
            <a:r>
              <a:rPr sz="719" i="0">
                <a:solidFill>
                  <a:srgbClr val="A5D6A7"/>
                </a:solidFill>
                <a:latin typeface="Inconsolata"/>
              </a:rPr>
              <a:t>"redis://localhost:6379/0"</a:t>
            </a:r>
            <a:r>
              <a:rPr sz="719" i="0">
                <a:solidFill>
                  <a:srgbClr val="E6EDF3"/>
                </a:solidFill>
                <a:latin typeface="Inconsolata"/>
              </a:rPr>
              <a:t>)</a:t>
            </a:r>
          </a:p>
          <a:p>
            <a:pPr>
              <a:lnSpc>
                <a:spcPct val="104277"/>
              </a:lnSpc>
              <a:spcAft>
                <a:spcPts val="0"/>
              </a:spcAft>
            </a:pPr>
            <a:r>
              <a:rPr sz="719" i="0">
                <a:solidFill>
                  <a:srgbClr val="5C6773"/>
                </a:solidFill>
                <a:latin typeface="Inconsolata"/>
              </a:rPr>
              <a:t>19  </a:t>
            </a:r>
            <a:r>
              <a:rPr sz="719" i="0">
                <a:solidFill>
                  <a:srgbClr val="E6EDF3"/>
                </a:solidFill>
                <a:latin typeface="Inconsolata"/>
              </a:rPr>
              <a:t>cache = redis.</a:t>
            </a:r>
            <a:r>
              <a:rPr sz="719" i="0">
                <a:solidFill>
                  <a:srgbClr val="7FDBCA"/>
                </a:solidFill>
                <a:latin typeface="Inconsolata"/>
              </a:rPr>
              <a:t>Redis</a:t>
            </a:r>
            <a:r>
              <a:rPr sz="719" i="0">
                <a:solidFill>
                  <a:srgbClr val="E6EDF3"/>
                </a:solidFill>
                <a:latin typeface="Inconsolata"/>
              </a:rPr>
              <a:t>.from_url(</a:t>
            </a:r>
            <a:r>
              <a:rPr sz="719" i="0">
                <a:solidFill>
                  <a:srgbClr val="7FDBCA"/>
                </a:solidFill>
                <a:latin typeface="Inconsolata"/>
              </a:rPr>
              <a:t>REDIS_URL</a:t>
            </a:r>
            <a:r>
              <a:rPr sz="719" i="0">
                <a:solidFill>
                  <a:srgbClr val="E6EDF3"/>
                </a:solidFill>
                <a:latin typeface="Inconsolata"/>
              </a:rPr>
              <a:t>, decode_responses=</a:t>
            </a:r>
            <a:r>
              <a:rPr sz="719" i="0">
                <a:solidFill>
                  <a:srgbClr val="FF8E6E"/>
                </a:solidFill>
                <a:latin typeface="Inconsolata"/>
              </a:rPr>
              <a:t>True</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p>
          <a:p>
            <a:pPr>
              <a:lnSpc>
                <a:spcPct val="104277"/>
              </a:lnSpc>
              <a:spcAft>
                <a:spcPts val="0"/>
              </a:spcAft>
            </a:pPr>
            <a:r>
              <a:rPr sz="719" i="0">
                <a:solidFill>
                  <a:srgbClr val="5C6773"/>
                </a:solidFill>
                <a:latin typeface="Inconsolata"/>
              </a:rPr>
              <a:t>21  </a:t>
            </a:r>
            <a:r>
              <a:rPr sz="719" i="0">
                <a:solidFill>
                  <a:srgbClr val="7FDBCA"/>
                </a:solidFill>
                <a:latin typeface="Inconsolata"/>
              </a:rPr>
              <a:t>PRODUCTS</a:t>
            </a:r>
            <a:r>
              <a:rPr sz="719" i="0">
                <a:solidFill>
                  <a:srgbClr val="E6EDF3"/>
                </a:solidFill>
                <a:latin typeface="Inconsolata"/>
              </a:rPr>
              <a:t> =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"id"</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"name"</a:t>
            </a:r>
            <a:r>
              <a:rPr sz="719" i="0">
                <a:solidFill>
                  <a:srgbClr val="E6EDF3"/>
                </a:solidFill>
                <a:latin typeface="Inconsolata"/>
              </a:rPr>
              <a:t>: </a:t>
            </a:r>
            <a:r>
              <a:rPr sz="719" i="0">
                <a:solidFill>
                  <a:srgbClr val="A5D6A7"/>
                </a:solidFill>
                <a:latin typeface="Inconsolata"/>
              </a:rPr>
              <a:t>"Keyboard"</a:t>
            </a:r>
            <a:r>
              <a:rPr sz="719" i="0">
                <a:solidFill>
                  <a:srgbClr val="E6EDF3"/>
                </a:solidFill>
                <a:latin typeface="Inconsolata"/>
              </a:rPr>
              <a:t>, </a:t>
            </a:r>
            <a:r>
              <a:rPr sz="719" i="0">
                <a:solidFill>
                  <a:srgbClr val="A5D6A7"/>
                </a:solidFill>
                <a:latin typeface="Inconsolata"/>
              </a:rPr>
              <a:t>"price"</a:t>
            </a:r>
            <a:r>
              <a:rPr sz="719" i="0">
                <a:solidFill>
                  <a:srgbClr val="E6EDF3"/>
                </a:solidFill>
                <a:latin typeface="Inconsolata"/>
              </a:rPr>
              <a:t>: </a:t>
            </a:r>
            <a:r>
              <a:rPr sz="719" i="0">
                <a:solidFill>
                  <a:srgbClr val="F9C97A"/>
                </a:solidFill>
                <a:latin typeface="Inconsolata"/>
              </a:rPr>
              <a:t>500_000</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db_queries = </a:t>
            </a:r>
            <a:r>
              <a:rPr sz="719" i="0">
                <a:solidFill>
                  <a:srgbClr val="F9C97A"/>
                </a:solidFill>
                <a:latin typeface="Inconsolata"/>
              </a:rPr>
              <a:t>0</a:t>
            </a:r>
          </a:p>
          <a:p>
            <a:pPr>
              <a:lnSpc>
                <a:spcPct val="104277"/>
              </a:lnSpc>
              <a:spcAft>
                <a:spcPts val="0"/>
              </a:spcAft>
            </a:pPr>
            <a:r>
              <a:rPr sz="719" i="0">
                <a:solidFill>
                  <a:srgbClr val="5C6773"/>
                </a:solidFill>
                <a:latin typeface="Inconsolata"/>
              </a:rPr>
              <a:t>23  </a:t>
            </a:r>
            <a:r>
              <a:rPr sz="719" i="0">
                <a:solidFill>
                  <a:srgbClr val="E6EDF3"/>
                </a:solidFill>
                <a:latin typeface="Inconsolata"/>
              </a:rPr>
              <a:t>counter_lock = threading.</a:t>
            </a:r>
            <a:r>
              <a:rPr sz="719" i="0">
                <a:solidFill>
                  <a:srgbClr val="7FDBCA"/>
                </a:solidFill>
                <a:latin typeface="Inconsolata"/>
              </a:rPr>
              <a:t>Lock</a:t>
            </a:r>
            <a:r>
              <a:rPr sz="719" i="0">
                <a:solidFill>
                  <a:srgbClr val="E6EDF3"/>
                </a:solidFill>
                <a:latin typeface="Inconsolata"/>
              </a:rPr>
              <a:t>()</a:t>
            </a:r>
          </a:p>
          <a:p>
            <a:pPr>
              <a:lnSpc>
                <a:spcPct val="104277"/>
              </a:lnSpc>
              <a:spcAft>
                <a:spcPts val="0"/>
              </a:spcAft>
            </a:pPr>
            <a:r>
              <a:rPr sz="719" i="0">
                <a:solidFill>
                  <a:srgbClr val="5C6773"/>
                </a:solidFill>
                <a:latin typeface="Inconsolata"/>
              </a:rPr>
              <a:t>24  </a:t>
            </a:r>
            <a:r>
              <a:rPr sz="719" i="0">
                <a:solidFill>
                  <a:srgbClr val="E6EDF3"/>
                </a:solidFill>
                <a:latin typeface="Inconsolata"/>
              </a:rPr>
              <a:t> </a:t>
            </a:r>
          </a:p>
          <a:p>
            <a:pPr>
              <a:lnSpc>
                <a:spcPct val="104277"/>
              </a:lnSpc>
              <a:spcAft>
                <a:spcPts val="0"/>
              </a:spcAft>
            </a:pPr>
            <a:r>
              <a:rPr sz="719" i="0">
                <a:solidFill>
                  <a:srgbClr val="5C6773"/>
                </a:solidFill>
                <a:latin typeface="Inconsolata"/>
              </a:rPr>
              <a:t>25  </a:t>
            </a:r>
            <a:r>
              <a:rPr sz="719" i="0">
                <a:solidFill>
                  <a:srgbClr val="E6EDF3"/>
                </a:solidFill>
                <a:latin typeface="Inconsolata"/>
              </a:rPr>
              <a:t> </a:t>
            </a:r>
          </a:p>
          <a:p>
            <a:pPr>
              <a:lnSpc>
                <a:spcPct val="104277"/>
              </a:lnSpc>
              <a:spcAft>
                <a:spcPts val="0"/>
              </a:spcAft>
            </a:pPr>
            <a:r>
              <a:rPr sz="719" i="0">
                <a:solidFill>
                  <a:srgbClr val="5C6773"/>
                </a:solidFill>
                <a:latin typeface="Inconsolata"/>
              </a:rPr>
              <a:t>26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query_product</a:t>
            </a:r>
            <a:r>
              <a:rPr sz="719" i="0">
                <a:solidFill>
                  <a:srgbClr val="E6EDF3"/>
                </a:solidFill>
                <a:latin typeface="Inconsolata"/>
              </a:rPr>
              <a:t>(product_id: </a:t>
            </a:r>
            <a:r>
              <a:rPr sz="719" i="0">
                <a:solidFill>
                  <a:srgbClr val="C3A6FF"/>
                </a:solidFill>
                <a:latin typeface="Inconsolata"/>
              </a:rPr>
              <a:t>int</a:t>
            </a:r>
            <a:r>
              <a:rPr sz="719" i="0">
                <a:solidFill>
                  <a:srgbClr val="E6EDF3"/>
                </a:solidFill>
                <a:latin typeface="Inconsolata"/>
              </a:rPr>
              <a:t>) -&gt; </a:t>
            </a:r>
            <a:r>
              <a:rPr sz="719" i="0">
                <a:solidFill>
                  <a:srgbClr val="C3A6FF"/>
                </a:solidFill>
                <a:latin typeface="Inconsolata"/>
              </a:rPr>
              <a:t>dict</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a:t>
            </a:r>
            <a:r>
              <a:rPr sz="719" i="0">
                <a:solidFill>
                  <a:srgbClr val="FF8E6E"/>
                </a:solidFill>
                <a:latin typeface="Inconsolata"/>
              </a:rPr>
              <a:t>global</a:t>
            </a:r>
            <a:r>
              <a:rPr sz="719" i="0">
                <a:solidFill>
                  <a:srgbClr val="E6EDF3"/>
                </a:solidFill>
                <a:latin typeface="Inconsolata"/>
              </a:rPr>
              <a:t> db_queries</a:t>
            </a:r>
          </a:p>
          <a:p>
            <a:pPr>
              <a:lnSpc>
                <a:spcPct val="104277"/>
              </a:lnSpc>
              <a:spcAft>
                <a:spcPts val="0"/>
              </a:spcAft>
            </a:pPr>
            <a:r>
              <a:rPr sz="719" i="0">
                <a:solidFill>
                  <a:srgbClr val="5C6773"/>
                </a:solidFill>
                <a:latin typeface="Inconsolata"/>
              </a:rPr>
              <a:t>28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counter_lock:</a:t>
            </a:r>
          </a:p>
          <a:p>
            <a:pPr>
              <a:lnSpc>
                <a:spcPct val="104277"/>
              </a:lnSpc>
              <a:spcAft>
                <a:spcPts val="0"/>
              </a:spcAft>
            </a:pPr>
            <a:r>
              <a:rPr sz="719" i="0">
                <a:solidFill>
                  <a:srgbClr val="5C6773"/>
                </a:solidFill>
                <a:latin typeface="Inconsolata"/>
              </a:rPr>
              <a:t>29  </a:t>
            </a:r>
            <a:r>
              <a:rPr sz="719" i="0">
                <a:solidFill>
                  <a:srgbClr val="E6EDF3"/>
                </a:solidFill>
                <a:latin typeface="Inconsolata"/>
              </a:rPr>
              <a:t>        db_queries += </a:t>
            </a:r>
            <a:r>
              <a:rPr sz="719" i="0">
                <a:solidFill>
                  <a:srgbClr val="F9C97A"/>
                </a:solidFill>
                <a:latin typeface="Inconsolata"/>
              </a:rPr>
              <a:t>1</a:t>
            </a:r>
          </a:p>
          <a:p>
            <a:pPr>
              <a:lnSpc>
                <a:spcPct val="104277"/>
              </a:lnSpc>
              <a:spcAft>
                <a:spcPts val="0"/>
              </a:spcAft>
            </a:pPr>
            <a:r>
              <a:rPr sz="719" i="0">
                <a:solidFill>
                  <a:srgbClr val="5C6773"/>
                </a:solidFill>
                <a:latin typeface="Inconsolata"/>
              </a:rPr>
              <a:t>30  </a:t>
            </a:r>
            <a:r>
              <a:rPr sz="719" i="0">
                <a:solidFill>
                  <a:srgbClr val="E6EDF3"/>
                </a:solidFill>
                <a:latin typeface="Inconsolata"/>
              </a:rPr>
              <a:t>    time.sleep(</a:t>
            </a:r>
            <a:r>
              <a:rPr sz="719" i="0">
                <a:solidFill>
                  <a:srgbClr val="F9C97A"/>
                </a:solidFill>
                <a:latin typeface="Inconsolata"/>
              </a:rPr>
              <a:t>0</a:t>
            </a:r>
            <a:r>
              <a:rPr sz="719" i="0">
                <a:solidFill>
                  <a:srgbClr val="E6EDF3"/>
                </a:solidFill>
                <a:latin typeface="Inconsolata"/>
              </a:rPr>
              <a:t>.</a:t>
            </a:r>
            <a:r>
              <a:rPr sz="719" i="0">
                <a:solidFill>
                  <a:srgbClr val="F9C97A"/>
                </a:solidFill>
                <a:latin typeface="Inconsolata"/>
              </a:rPr>
              <a:t>5</a:t>
            </a:r>
            <a:r>
              <a:rPr sz="719" i="0">
                <a:solidFill>
                  <a:srgbClr val="E6EDF3"/>
                </a:solidFill>
                <a:latin typeface="Inconsolata"/>
              </a:rPr>
              <a:t>)</a:t>
            </a:r>
          </a:p>
          <a:p>
            <a:pPr>
              <a:lnSpc>
                <a:spcPct val="104277"/>
              </a:lnSpc>
              <a:spcAft>
                <a:spcPts val="0"/>
              </a:spcAft>
            </a:pPr>
            <a:r>
              <a:rPr sz="719" i="0">
                <a:solidFill>
                  <a:srgbClr val="5C6773"/>
                </a:solidFill>
                <a:latin typeface="Inconsolata"/>
              </a:rPr>
              <a:t>31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C3A6FF"/>
                </a:solidFill>
                <a:latin typeface="Inconsolata"/>
              </a:rPr>
              <a:t>dict</a:t>
            </a:r>
            <a:r>
              <a:rPr sz="719" i="0">
                <a:solidFill>
                  <a:srgbClr val="E6EDF3"/>
                </a:solidFill>
                <a:latin typeface="Inconsolata"/>
              </a:rPr>
              <a:t>(</a:t>
            </a:r>
            <a:r>
              <a:rPr sz="719" i="0">
                <a:solidFill>
                  <a:srgbClr val="7FDBCA"/>
                </a:solidFill>
                <a:latin typeface="Inconsolata"/>
              </a:rPr>
              <a:t>PRODUCTS</a:t>
            </a:r>
            <a:r>
              <a:rPr sz="719" i="0">
                <a:solidFill>
                  <a:srgbClr val="E6EDF3"/>
                </a:solidFill>
                <a:latin typeface="Inconsolata"/>
              </a:rPr>
              <a:t>[product_id])</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04-cache-stampede/before.py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34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get_product</a:t>
            </a:r>
            <a:r>
              <a:rPr sz="719" i="0">
                <a:solidFill>
                  <a:srgbClr val="E6EDF3"/>
                </a:solidFill>
                <a:latin typeface="Inconsolata"/>
              </a:rPr>
              <a:t>(product_id: </a:t>
            </a:r>
            <a:r>
              <a:rPr sz="719" i="0">
                <a:solidFill>
                  <a:srgbClr val="C3A6FF"/>
                </a:solidFill>
                <a:latin typeface="Inconsolata"/>
              </a:rPr>
              <a:t>int</a:t>
            </a:r>
            <a:r>
              <a:rPr sz="719" i="0">
                <a:solidFill>
                  <a:srgbClr val="E6EDF3"/>
                </a:solidFill>
                <a:latin typeface="Inconsolata"/>
              </a:rPr>
              <a:t>) -&gt; </a:t>
            </a:r>
            <a:r>
              <a:rPr sz="719" i="0">
                <a:solidFill>
                  <a:srgbClr val="C3A6FF"/>
                </a:solidFill>
                <a:latin typeface="Inconsolata"/>
              </a:rPr>
              <a:t>dict</a:t>
            </a:r>
            <a:r>
              <a:rPr sz="719" i="0">
                <a:solidFill>
                  <a:srgbClr val="E6EDF3"/>
                </a:solidFill>
                <a:latin typeface="Inconsolata"/>
              </a:rPr>
              <a:t>:</a:t>
            </a:r>
          </a:p>
          <a:p>
            <a:pPr>
              <a:lnSpc>
                <a:spcPct val="104277"/>
              </a:lnSpc>
              <a:spcAft>
                <a:spcPts val="0"/>
              </a:spcAft>
            </a:pPr>
            <a:r>
              <a:rPr sz="719" i="0">
                <a:solidFill>
                  <a:srgbClr val="5C6773"/>
                </a:solidFill>
                <a:latin typeface="Inconsolata"/>
              </a:rPr>
              <a:t>35  </a:t>
            </a:r>
            <a:r>
              <a:rPr sz="719" i="0">
                <a:solidFill>
                  <a:srgbClr val="E6EDF3"/>
                </a:solidFill>
                <a:latin typeface="Inconsolata"/>
              </a:rPr>
              <a:t>    key = </a:t>
            </a:r>
            <a:r>
              <a:rPr sz="719" i="0">
                <a:solidFill>
                  <a:srgbClr val="A5D6A7"/>
                </a:solidFill>
                <a:latin typeface="Inconsolata"/>
              </a:rPr>
              <a:t>f"product:{product_id}"</a:t>
            </a:r>
          </a:p>
          <a:p>
            <a:pPr>
              <a:lnSpc>
                <a:spcPct val="104277"/>
              </a:lnSpc>
              <a:spcAft>
                <a:spcPts val="0"/>
              </a:spcAft>
            </a:pPr>
            <a:r>
              <a:rPr sz="719" i="0">
                <a:solidFill>
                  <a:srgbClr val="5C6773"/>
                </a:solidFill>
                <a:latin typeface="Inconsolata"/>
              </a:rPr>
              <a:t>36  </a:t>
            </a:r>
            <a:r>
              <a:rPr sz="719" i="0">
                <a:solidFill>
                  <a:srgbClr val="E6EDF3"/>
                </a:solidFill>
                <a:latin typeface="Inconsolata"/>
              </a:rPr>
              <a:t>    cached = cache.get(key)</a:t>
            </a:r>
          </a:p>
          <a:p>
            <a:pPr>
              <a:lnSpc>
                <a:spcPct val="104277"/>
              </a:lnSpc>
              <a:spcAft>
                <a:spcPts val="0"/>
              </a:spcAft>
            </a:pPr>
            <a:r>
              <a:rPr sz="719" i="0">
                <a:solidFill>
                  <a:srgbClr val="5C6773"/>
                </a:solidFill>
                <a:latin typeface="Inconsolata"/>
              </a:rPr>
              <a:t>37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cached </a:t>
            </a:r>
            <a:r>
              <a:rPr sz="719" i="0">
                <a:solidFill>
                  <a:srgbClr val="FF8E6E"/>
                </a:solidFill>
                <a:latin typeface="Inconsolata"/>
              </a:rPr>
              <a:t>is</a:t>
            </a:r>
            <a:r>
              <a:rPr sz="719" i="0">
                <a:solidFill>
                  <a:srgbClr val="E6EDF3"/>
                </a:solidFill>
                <a:latin typeface="Inconsolata"/>
              </a:rPr>
              <a:t> </a:t>
            </a:r>
            <a:r>
              <a:rPr sz="719" i="0">
                <a:solidFill>
                  <a:srgbClr val="FF8E6E"/>
                </a:solidFill>
                <a:latin typeface="Inconsolata"/>
              </a:rPr>
              <a:t>not</a:t>
            </a:r>
            <a:r>
              <a:rPr sz="719" i="0">
                <a:solidFill>
                  <a:srgbClr val="E6EDF3"/>
                </a:solidFill>
                <a:latin typeface="Inconsolata"/>
              </a:rPr>
              <a:t> </a:t>
            </a:r>
            <a:r>
              <a:rPr sz="719" i="0">
                <a:solidFill>
                  <a:srgbClr val="FF8E6E"/>
                </a:solidFill>
                <a:latin typeface="Inconsolata"/>
              </a:rPr>
              <a:t>None</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json.loads(cached)</a:t>
            </a:r>
          </a:p>
          <a:p>
            <a:pPr>
              <a:lnSpc>
                <a:spcPct val="104277"/>
              </a:lnSpc>
              <a:spcAft>
                <a:spcPts val="0"/>
              </a:spcAft>
            </a:pPr>
            <a:r>
              <a:rPr sz="719" i="0">
                <a:solidFill>
                  <a:srgbClr val="5C6773"/>
                </a:solidFill>
                <a:latin typeface="Inconsolata"/>
              </a:rPr>
              <a:t>39  </a:t>
            </a:r>
            <a:r>
              <a:rPr sz="719" i="0">
                <a:solidFill>
                  <a:srgbClr val="E6EDF3"/>
                </a:solidFill>
                <a:latin typeface="Inconsolata"/>
              </a:rPr>
              <a:t>    product = query_product(product_id)</a:t>
            </a:r>
          </a:p>
          <a:p>
            <a:pPr>
              <a:lnSpc>
                <a:spcPct val="104277"/>
              </a:lnSpc>
              <a:spcAft>
                <a:spcPts val="0"/>
              </a:spcAft>
            </a:pPr>
            <a:r>
              <a:rPr sz="719" i="0">
                <a:solidFill>
                  <a:srgbClr val="5C6773"/>
                </a:solidFill>
                <a:latin typeface="Inconsolata"/>
              </a:rPr>
              <a:t>40  </a:t>
            </a:r>
            <a:r>
              <a:rPr sz="719" i="0">
                <a:solidFill>
                  <a:srgbClr val="E6EDF3"/>
                </a:solidFill>
                <a:latin typeface="Inconsolata"/>
              </a:rPr>
              <a:t>    cache.</a:t>
            </a:r>
            <a:r>
              <a:rPr sz="719" i="0">
                <a:solidFill>
                  <a:srgbClr val="C3A6FF"/>
                </a:solidFill>
                <a:latin typeface="Inconsolata"/>
              </a:rPr>
              <a:t>set</a:t>
            </a:r>
            <a:r>
              <a:rPr sz="719" i="0">
                <a:solidFill>
                  <a:srgbClr val="E6EDF3"/>
                </a:solidFill>
                <a:latin typeface="Inconsolata"/>
              </a:rPr>
              <a:t>(key, json.dumps(product), ex=</a:t>
            </a:r>
            <a:r>
              <a:rPr sz="719" i="0">
                <a:solidFill>
                  <a:srgbClr val="F9C97A"/>
                </a:solidFill>
                <a:latin typeface="Inconsolata"/>
              </a:rPr>
              <a:t>60</a:t>
            </a:r>
            <a:r>
              <a:rPr sz="719" i="0">
                <a:solidFill>
                  <a:srgbClr val="E6EDF3"/>
                </a:solidFill>
                <a:latin typeface="Inconsolata"/>
              </a:rPr>
              <a:t>)</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product</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p>
          <a:p>
            <a:pPr>
              <a:lnSpc>
                <a:spcPct val="104277"/>
              </a:lnSpc>
              <a:spcAft>
                <a:spcPts val="0"/>
              </a:spcAft>
            </a:pPr>
            <a:r>
              <a:rPr sz="719" i="0">
                <a:solidFill>
                  <a:srgbClr val="5C6773"/>
                </a:solidFill>
                <a:latin typeface="Inconsolata"/>
              </a:rPr>
              <a:t>44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45  </a:t>
            </a:r>
            <a:r>
              <a:rPr sz="719" i="0">
                <a:solidFill>
                  <a:srgbClr val="E6EDF3"/>
                </a:solidFill>
                <a:latin typeface="Inconsolata"/>
              </a:rPr>
              <a:t>    cache.delete(</a:t>
            </a:r>
            <a:r>
              <a:rPr sz="719" i="0">
                <a:solidFill>
                  <a:srgbClr val="A5D6A7"/>
                </a:solidFill>
                <a:latin typeface="Inconsolata"/>
              </a:rPr>
              <a:t>"product:1"</a:t>
            </a:r>
            <a:r>
              <a:rPr sz="719" i="0">
                <a:solidFill>
                  <a:srgbClr val="E6EDF3"/>
                </a:solidFill>
                <a:latin typeface="Inconsolata"/>
              </a:rPr>
              <a:t>)     </a:t>
            </a:r>
            <a:r>
              <a:rPr sz="719" i="1">
                <a:solidFill>
                  <a:srgbClr val="8B98A8"/>
                </a:solidFill>
                <a:latin typeface="Inconsolata"/>
              </a:rPr>
              <a:t># anggap: cache baru kedaluwarsa</a:t>
            </a:r>
          </a:p>
          <a:p>
            <a:pPr>
              <a:lnSpc>
                <a:spcPct val="104277"/>
              </a:lnSpc>
              <a:spcAft>
                <a:spcPts val="0"/>
              </a:spcAft>
            </a:pPr>
            <a:r>
              <a:rPr sz="719" i="0">
                <a:solidFill>
                  <a:srgbClr val="5C6773"/>
                </a:solidFill>
                <a:latin typeface="Inconsolata"/>
              </a:rPr>
              <a:t>46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a:t>
            </a:r>
            <a:r>
              <a:rPr sz="719" i="0">
                <a:solidFill>
                  <a:srgbClr val="7FDBCA"/>
                </a:solidFill>
                <a:latin typeface="Inconsolata"/>
              </a:rPr>
              <a:t>ThreadPoolExecutor</a:t>
            </a:r>
            <a:r>
              <a:rPr sz="719" i="0">
                <a:solidFill>
                  <a:srgbClr val="E6EDF3"/>
                </a:solidFill>
                <a:latin typeface="Inconsolata"/>
              </a:rPr>
              <a:t>(max_workers=</a:t>
            </a:r>
            <a:r>
              <a:rPr sz="719" i="0">
                <a:solidFill>
                  <a:srgbClr val="F9C97A"/>
                </a:solidFill>
                <a:latin typeface="Inconsolata"/>
              </a:rPr>
              <a:t>20</a:t>
            </a:r>
            <a:r>
              <a:rPr sz="719" i="0">
                <a:solidFill>
                  <a:srgbClr val="E6EDF3"/>
                </a:solidFill>
                <a:latin typeface="Inconsolata"/>
              </a:rPr>
              <a:t>) </a:t>
            </a:r>
            <a:r>
              <a:rPr sz="719" i="0">
                <a:solidFill>
                  <a:srgbClr val="FF8E6E"/>
                </a:solidFill>
                <a:latin typeface="Inconsolata"/>
              </a:rPr>
              <a:t>as</a:t>
            </a:r>
            <a:r>
              <a:rPr sz="719" i="0">
                <a:solidFill>
                  <a:srgbClr val="E6EDF3"/>
                </a:solidFill>
                <a:latin typeface="Inconsolata"/>
              </a:rPr>
              <a:t> pool:</a:t>
            </a:r>
          </a:p>
          <a:p>
            <a:pPr>
              <a:lnSpc>
                <a:spcPct val="104277"/>
              </a:lnSpc>
              <a:spcAft>
                <a:spcPts val="0"/>
              </a:spcAft>
            </a:pPr>
            <a:r>
              <a:rPr sz="719" i="0">
                <a:solidFill>
                  <a:srgbClr val="5C6773"/>
                </a:solidFill>
                <a:latin typeface="Inconsolata"/>
              </a:rPr>
              <a:t>47  </a:t>
            </a:r>
            <a:r>
              <a:rPr sz="719" i="0">
                <a:solidFill>
                  <a:srgbClr val="E6EDF3"/>
                </a:solidFill>
                <a:latin typeface="Inconsolata"/>
              </a:rPr>
              <a:t>        </a:t>
            </a:r>
            <a:r>
              <a:rPr sz="719" i="0">
                <a:solidFill>
                  <a:srgbClr val="C3A6FF"/>
                </a:solidFill>
                <a:latin typeface="Inconsolata"/>
              </a:rPr>
              <a:t>list</a:t>
            </a:r>
            <a:r>
              <a:rPr sz="719" i="0">
                <a:solidFill>
                  <a:srgbClr val="E6EDF3"/>
                </a:solidFill>
                <a:latin typeface="Inconsolata"/>
              </a:rPr>
              <a:t>(pool.map(get_product, [</a:t>
            </a:r>
            <a:r>
              <a:rPr sz="719" i="0">
                <a:solidFill>
                  <a:srgbClr val="F9C97A"/>
                </a:solidFill>
                <a:latin typeface="Inconsolata"/>
              </a:rPr>
              <a:t>1</a:t>
            </a:r>
            <a:r>
              <a:rPr sz="719" i="0">
                <a:solidFill>
                  <a:srgbClr val="E6EDF3"/>
                </a:solidFill>
                <a:latin typeface="Inconsolata"/>
              </a:rPr>
              <a:t>] * </a:t>
            </a:r>
            <a:r>
              <a:rPr sz="719" i="0">
                <a:solidFill>
                  <a:srgbClr val="F9C97A"/>
                </a:solidFill>
                <a:latin typeface="Inconsolata"/>
              </a:rPr>
              <a:t>20</a:t>
            </a:r>
            <a:r>
              <a:rPr sz="719" i="0">
                <a:solidFill>
                  <a:srgbClr val="E6EDF3"/>
                </a:solidFill>
                <a:latin typeface="Inconsolata"/>
              </a:rPr>
              <a:t>))   </a:t>
            </a:r>
            <a:r>
              <a:rPr sz="719" i="1">
                <a:solidFill>
                  <a:srgbClr val="8B98A8"/>
                </a:solidFill>
                <a:latin typeface="Inconsolata"/>
              </a:rPr>
              <a:t># 20 request bersamaan</a:t>
            </a:r>
          </a:p>
          <a:p>
            <a:pPr>
              <a:lnSpc>
                <a:spcPct val="104277"/>
              </a:lnSpc>
              <a:spcAft>
                <a:spcPts val="0"/>
              </a:spcAft>
            </a:pPr>
            <a:r>
              <a:rPr sz="719" i="0">
                <a:solidFill>
                  <a:srgbClr val="5C6773"/>
                </a:solidFill>
                <a:latin typeface="Inconsolata"/>
              </a:rPr>
              <a:t>48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"Query ke database:"</a:t>
            </a:r>
            <a:r>
              <a:rPr sz="719" i="0">
                <a:solidFill>
                  <a:srgbClr val="E6EDF3"/>
                </a:solidFill>
                <a:latin typeface="Inconsolata"/>
              </a:rPr>
              <a:t>, db_queries)      </a:t>
            </a:r>
            <a:r>
              <a:rPr sz="719" i="1">
                <a:solidFill>
                  <a:srgbClr val="8B98A8"/>
                </a:solidFill>
                <a:latin typeface="Inconsolata"/>
              </a:rPr>
              <a:t># 20</a:t>
            </a:r>
          </a:p>
        </p:txBody>
      </p:sp>
      <p:sp>
        <p:nvSpPr>
          <p:cNvPr id="36" name="Box 21"/>
          <p:cNvSpPr/>
          <p:nvPr/>
        </p:nvSpPr>
        <p:spPr>
          <a:xfrm>
            <a:off x="4709159" y="23968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3317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30826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30175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1969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1889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04-cache-stampede/before.py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sesi-06-redis-caching-rate-limiting/04-cache-stampede</a:t>
            </a:r>
          </a:p>
          <a:p>
            <a:pPr>
              <a:lnSpc>
                <a:spcPct val="111111"/>
              </a:lnSpc>
              <a:spcAft>
                <a:spcPts val="0"/>
              </a:spcAft>
            </a:pPr>
            <a:r>
              <a:rPr sz="900" i="0">
                <a:solidFill>
                  <a:srgbClr val="82B1FF"/>
                </a:solidFill>
                <a:latin typeface="Inconsolata"/>
              </a:rPr>
              <a:t>$ python before.py</a:t>
            </a:r>
          </a:p>
        </p:txBody>
      </p:sp>
      <p:pic>
        <p:nvPicPr>
          <p:cNvPr id="29" name="Image 12" descr="s06-04-cache-stampede-before.png"/>
          <p:cNvPicPr>
            <a:picLocks noChangeAspect="1"/>
          </p:cNvPicPr>
          <p:nvPr/>
        </p:nvPicPr>
        <p:blipFill>
          <a:blip r:embed="rId2"/>
          <a:stretch>
            <a:fillRect/>
          </a:stretch>
        </p:blipFill>
        <p:spPr>
          <a:xfrm>
            <a:off x="621792" y="2322576"/>
            <a:ext cx="4297680" cy="759768"/>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Cache miss = langsung query database (baris 39)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Cache baru saja kedaluwarsa (baris 45)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20 request datang bersamaan (baris 46-47)</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Database menerima 20 query untuk data yang sama.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lock dan TTL jitter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04-cache-stampede/after.py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960"/>
              </a:lnSpc>
              <a:spcAft>
                <a:spcPts val="0"/>
              </a:spcAft>
            </a:pPr>
            <a:r>
              <a:rPr sz="647" i="0">
                <a:solidFill>
                  <a:srgbClr val="5C6773"/>
                </a:solidFill>
                <a:latin typeface="Inconsolata"/>
              </a:rPr>
              <a:t>10  </a:t>
            </a:r>
            <a:r>
              <a:rPr sz="647" i="0">
                <a:solidFill>
                  <a:srgbClr val="FF8E6E"/>
                </a:solidFill>
                <a:latin typeface="Inconsolata"/>
              </a:rPr>
              <a:t>import</a:t>
            </a:r>
            <a:r>
              <a:rPr sz="647" i="0">
                <a:solidFill>
                  <a:srgbClr val="E6EDF3"/>
                </a:solidFill>
                <a:latin typeface="Inconsolata"/>
              </a:rPr>
              <a:t> json</a:t>
            </a:r>
          </a:p>
          <a:p>
            <a:pPr>
              <a:lnSpc>
                <a:spcPct val="102960"/>
              </a:lnSpc>
              <a:spcAft>
                <a:spcPts val="0"/>
              </a:spcAft>
            </a:pPr>
            <a:r>
              <a:rPr sz="647" i="0">
                <a:solidFill>
                  <a:srgbClr val="5C6773"/>
                </a:solidFill>
                <a:latin typeface="Inconsolata"/>
              </a:rPr>
              <a:t>11  </a:t>
            </a:r>
            <a:r>
              <a:rPr sz="647" i="0">
                <a:solidFill>
                  <a:srgbClr val="FF8E6E"/>
                </a:solidFill>
                <a:latin typeface="Inconsolata"/>
              </a:rPr>
              <a:t>import</a:t>
            </a:r>
            <a:r>
              <a:rPr sz="647" i="0">
                <a:solidFill>
                  <a:srgbClr val="E6EDF3"/>
                </a:solidFill>
                <a:latin typeface="Inconsolata"/>
              </a:rPr>
              <a:t> os</a:t>
            </a:r>
          </a:p>
          <a:p>
            <a:pPr>
              <a:lnSpc>
                <a:spcPct val="102960"/>
              </a:lnSpc>
              <a:spcAft>
                <a:spcPts val="0"/>
              </a:spcAft>
            </a:pPr>
            <a:r>
              <a:rPr sz="647" i="0">
                <a:solidFill>
                  <a:srgbClr val="5C6773"/>
                </a:solidFill>
                <a:latin typeface="Inconsolata"/>
              </a:rPr>
              <a:t>12  </a:t>
            </a:r>
            <a:r>
              <a:rPr sz="647" i="0">
                <a:solidFill>
                  <a:srgbClr val="FF8E6E"/>
                </a:solidFill>
                <a:latin typeface="Inconsolata"/>
              </a:rPr>
              <a:t>import</a:t>
            </a:r>
            <a:r>
              <a:rPr sz="647" i="0">
                <a:solidFill>
                  <a:srgbClr val="E6EDF3"/>
                </a:solidFill>
                <a:latin typeface="Inconsolata"/>
              </a:rPr>
              <a:t> random</a:t>
            </a:r>
          </a:p>
          <a:p>
            <a:pPr>
              <a:lnSpc>
                <a:spcPct val="102960"/>
              </a:lnSpc>
              <a:spcAft>
                <a:spcPts val="0"/>
              </a:spcAft>
            </a:pPr>
            <a:r>
              <a:rPr sz="647" i="0">
                <a:solidFill>
                  <a:srgbClr val="5C6773"/>
                </a:solidFill>
                <a:latin typeface="Inconsolata"/>
              </a:rPr>
              <a:t>13  </a:t>
            </a:r>
            <a:r>
              <a:rPr sz="647" i="0">
                <a:solidFill>
                  <a:srgbClr val="FF8E6E"/>
                </a:solidFill>
                <a:latin typeface="Inconsolata"/>
              </a:rPr>
              <a:t>import</a:t>
            </a:r>
            <a:r>
              <a:rPr sz="647" i="0">
                <a:solidFill>
                  <a:srgbClr val="E6EDF3"/>
                </a:solidFill>
                <a:latin typeface="Inconsolata"/>
              </a:rPr>
              <a:t> threading</a:t>
            </a:r>
          </a:p>
          <a:p>
            <a:pPr>
              <a:lnSpc>
                <a:spcPct val="102960"/>
              </a:lnSpc>
              <a:spcAft>
                <a:spcPts val="0"/>
              </a:spcAft>
            </a:pPr>
            <a:r>
              <a:rPr sz="647" i="0">
                <a:solidFill>
                  <a:srgbClr val="5C6773"/>
                </a:solidFill>
                <a:latin typeface="Inconsolata"/>
              </a:rPr>
              <a:t>14  </a:t>
            </a:r>
            <a:r>
              <a:rPr sz="647" i="0">
                <a:solidFill>
                  <a:srgbClr val="FF8E6E"/>
                </a:solidFill>
                <a:latin typeface="Inconsolata"/>
              </a:rPr>
              <a:t>import</a:t>
            </a:r>
            <a:r>
              <a:rPr sz="647" i="0">
                <a:solidFill>
                  <a:srgbClr val="E6EDF3"/>
                </a:solidFill>
                <a:latin typeface="Inconsolata"/>
              </a:rPr>
              <a:t> time</a:t>
            </a:r>
          </a:p>
          <a:p>
            <a:pPr>
              <a:lnSpc>
                <a:spcPct val="102960"/>
              </a:lnSpc>
              <a:spcAft>
                <a:spcPts val="0"/>
              </a:spcAft>
            </a:pPr>
            <a:r>
              <a:rPr sz="647" i="0">
                <a:solidFill>
                  <a:srgbClr val="5C6773"/>
                </a:solidFill>
                <a:latin typeface="Inconsolata"/>
              </a:rPr>
              <a:t>15  </a:t>
            </a:r>
            <a:r>
              <a:rPr sz="647" i="0">
                <a:solidFill>
                  <a:srgbClr val="FF8E6E"/>
                </a:solidFill>
                <a:latin typeface="Inconsolata"/>
              </a:rPr>
              <a:t>from</a:t>
            </a:r>
            <a:r>
              <a:rPr sz="647" i="0">
                <a:solidFill>
                  <a:srgbClr val="E6EDF3"/>
                </a:solidFill>
                <a:latin typeface="Inconsolata"/>
              </a:rPr>
              <a:t> concurrent.futures </a:t>
            </a:r>
            <a:r>
              <a:rPr sz="647" i="0">
                <a:solidFill>
                  <a:srgbClr val="FF8E6E"/>
                </a:solidFill>
                <a:latin typeface="Inconsolata"/>
              </a:rPr>
              <a:t>import</a:t>
            </a:r>
            <a:r>
              <a:rPr sz="647" i="0">
                <a:solidFill>
                  <a:srgbClr val="E6EDF3"/>
                </a:solidFill>
                <a:latin typeface="Inconsolata"/>
              </a:rPr>
              <a:t> </a:t>
            </a:r>
            <a:r>
              <a:rPr sz="647" i="0">
                <a:solidFill>
                  <a:srgbClr val="7FDBCA"/>
                </a:solidFill>
                <a:latin typeface="Inconsolata"/>
              </a:rPr>
              <a:t>ThreadPoolExecutor</a:t>
            </a:r>
          </a:p>
          <a:p>
            <a:pPr>
              <a:lnSpc>
                <a:spcPct val="102960"/>
              </a:lnSpc>
              <a:spcAft>
                <a:spcPts val="0"/>
              </a:spcAft>
            </a:pPr>
            <a:r>
              <a:rPr sz="647" i="0">
                <a:solidFill>
                  <a:srgbClr val="5C6773"/>
                </a:solidFill>
                <a:latin typeface="Inconsolata"/>
              </a:rPr>
              <a:t>16  </a:t>
            </a:r>
            <a:r>
              <a:rPr sz="647" i="0">
                <a:solidFill>
                  <a:srgbClr val="E6EDF3"/>
                </a:solidFill>
                <a:latin typeface="Inconsolata"/>
              </a:rPr>
              <a:t> </a:t>
            </a:r>
          </a:p>
          <a:p>
            <a:pPr>
              <a:lnSpc>
                <a:spcPct val="102960"/>
              </a:lnSpc>
              <a:spcAft>
                <a:spcPts val="0"/>
              </a:spcAft>
            </a:pPr>
            <a:r>
              <a:rPr sz="647" i="0">
                <a:solidFill>
                  <a:srgbClr val="5C6773"/>
                </a:solidFill>
                <a:latin typeface="Inconsolata"/>
              </a:rPr>
              <a:t>17  </a:t>
            </a:r>
            <a:r>
              <a:rPr sz="647" i="0">
                <a:solidFill>
                  <a:srgbClr val="FF8E6E"/>
                </a:solidFill>
                <a:latin typeface="Inconsolata"/>
              </a:rPr>
              <a:t>import</a:t>
            </a:r>
            <a:r>
              <a:rPr sz="647" i="0">
                <a:solidFill>
                  <a:srgbClr val="E6EDF3"/>
                </a:solidFill>
                <a:latin typeface="Inconsolata"/>
              </a:rPr>
              <a:t> redis</a:t>
            </a:r>
          </a:p>
          <a:p>
            <a:pPr>
              <a:lnSpc>
                <a:spcPct val="102960"/>
              </a:lnSpc>
              <a:spcAft>
                <a:spcPts val="0"/>
              </a:spcAft>
            </a:pPr>
            <a:r>
              <a:rPr sz="647" i="0">
                <a:solidFill>
                  <a:srgbClr val="5C6773"/>
                </a:solidFill>
                <a:latin typeface="Inconsolata"/>
              </a:rPr>
              <a:t>18  </a:t>
            </a:r>
            <a:r>
              <a:rPr sz="647" i="0">
                <a:solidFill>
                  <a:srgbClr val="E6EDF3"/>
                </a:solidFill>
                <a:latin typeface="Inconsolata"/>
              </a:rPr>
              <a:t> </a:t>
            </a:r>
          </a:p>
          <a:p>
            <a:pPr>
              <a:lnSpc>
                <a:spcPct val="102960"/>
              </a:lnSpc>
              <a:spcAft>
                <a:spcPts val="0"/>
              </a:spcAft>
            </a:pPr>
            <a:r>
              <a:rPr sz="647" i="0">
                <a:solidFill>
                  <a:srgbClr val="5C6773"/>
                </a:solidFill>
                <a:latin typeface="Inconsolata"/>
              </a:rPr>
              <a:t>19  </a:t>
            </a:r>
            <a:r>
              <a:rPr sz="647" i="0">
                <a:solidFill>
                  <a:srgbClr val="7FDBCA"/>
                </a:solidFill>
                <a:latin typeface="Inconsolata"/>
              </a:rPr>
              <a:t>REDIS_URL</a:t>
            </a:r>
            <a:r>
              <a:rPr sz="647" i="0">
                <a:solidFill>
                  <a:srgbClr val="E6EDF3"/>
                </a:solidFill>
                <a:latin typeface="Inconsolata"/>
              </a:rPr>
              <a:t> = os.getenv(</a:t>
            </a:r>
            <a:r>
              <a:rPr sz="647" i="0">
                <a:solidFill>
                  <a:srgbClr val="A5D6A7"/>
                </a:solidFill>
                <a:latin typeface="Inconsolata"/>
              </a:rPr>
              <a:t>"REDIS_URL"</a:t>
            </a:r>
            <a:r>
              <a:rPr sz="647" i="0">
                <a:solidFill>
                  <a:srgbClr val="E6EDF3"/>
                </a:solidFill>
                <a:latin typeface="Inconsolata"/>
              </a:rPr>
              <a:t>, </a:t>
            </a:r>
            <a:r>
              <a:rPr sz="647" i="0">
                <a:solidFill>
                  <a:srgbClr val="A5D6A7"/>
                </a:solidFill>
                <a:latin typeface="Inconsolata"/>
              </a:rPr>
              <a:t>"redis://localhost:6379/0"</a:t>
            </a:r>
            <a:r>
              <a:rPr sz="647" i="0">
                <a:solidFill>
                  <a:srgbClr val="E6EDF3"/>
                </a:solidFill>
                <a:latin typeface="Inconsolata"/>
              </a:rPr>
              <a:t>)</a:t>
            </a:r>
          </a:p>
          <a:p>
            <a:pPr>
              <a:lnSpc>
                <a:spcPct val="102960"/>
              </a:lnSpc>
              <a:spcAft>
                <a:spcPts val="0"/>
              </a:spcAft>
            </a:pPr>
            <a:r>
              <a:rPr sz="647" i="0">
                <a:solidFill>
                  <a:srgbClr val="5C6773"/>
                </a:solidFill>
                <a:latin typeface="Inconsolata"/>
              </a:rPr>
              <a:t>20  </a:t>
            </a:r>
            <a:r>
              <a:rPr sz="647" i="0">
                <a:solidFill>
                  <a:srgbClr val="E6EDF3"/>
                </a:solidFill>
                <a:latin typeface="Inconsolata"/>
              </a:rPr>
              <a:t>cache = redis.</a:t>
            </a:r>
            <a:r>
              <a:rPr sz="647" i="0">
                <a:solidFill>
                  <a:srgbClr val="7FDBCA"/>
                </a:solidFill>
                <a:latin typeface="Inconsolata"/>
              </a:rPr>
              <a:t>Redis</a:t>
            </a:r>
            <a:r>
              <a:rPr sz="647" i="0">
                <a:solidFill>
                  <a:srgbClr val="E6EDF3"/>
                </a:solidFill>
                <a:latin typeface="Inconsolata"/>
              </a:rPr>
              <a:t>.from_url(</a:t>
            </a:r>
            <a:r>
              <a:rPr sz="647" i="0">
                <a:solidFill>
                  <a:srgbClr val="7FDBCA"/>
                </a:solidFill>
                <a:latin typeface="Inconsolata"/>
              </a:rPr>
              <a:t>REDIS_URL</a:t>
            </a:r>
            <a:r>
              <a:rPr sz="647" i="0">
                <a:solidFill>
                  <a:srgbClr val="E6EDF3"/>
                </a:solidFill>
                <a:latin typeface="Inconsolata"/>
              </a:rPr>
              <a:t>, decode_responses=</a:t>
            </a:r>
            <a:r>
              <a:rPr sz="647" i="0">
                <a:solidFill>
                  <a:srgbClr val="FF8E6E"/>
                </a:solidFill>
                <a:latin typeface="Inconsolata"/>
              </a:rPr>
              <a:t>True</a:t>
            </a:r>
            <a:r>
              <a:rPr sz="647" i="0">
                <a:solidFill>
                  <a:srgbClr val="E6EDF3"/>
                </a:solidFill>
                <a:latin typeface="Inconsolata"/>
              </a:rPr>
              <a:t>)</a:t>
            </a:r>
          </a:p>
          <a:p>
            <a:pPr>
              <a:lnSpc>
                <a:spcPct val="102960"/>
              </a:lnSpc>
              <a:spcAft>
                <a:spcPts val="0"/>
              </a:spcAft>
            </a:pPr>
            <a:r>
              <a:rPr sz="647" i="0">
                <a:solidFill>
                  <a:srgbClr val="5C6773"/>
                </a:solidFill>
                <a:latin typeface="Inconsolata"/>
              </a:rPr>
              <a:t>21  </a:t>
            </a:r>
            <a:r>
              <a:rPr sz="647" i="0">
                <a:solidFill>
                  <a:srgbClr val="E6EDF3"/>
                </a:solidFill>
                <a:latin typeface="Inconsolata"/>
              </a:rPr>
              <a:t> </a:t>
            </a:r>
          </a:p>
          <a:p>
            <a:pPr>
              <a:lnSpc>
                <a:spcPct val="102960"/>
              </a:lnSpc>
              <a:spcAft>
                <a:spcPts val="0"/>
              </a:spcAft>
            </a:pPr>
            <a:r>
              <a:rPr sz="647" i="0">
                <a:solidFill>
                  <a:srgbClr val="5C6773"/>
                </a:solidFill>
                <a:latin typeface="Inconsolata"/>
              </a:rPr>
              <a:t>22  </a:t>
            </a:r>
            <a:r>
              <a:rPr sz="647" i="0">
                <a:solidFill>
                  <a:srgbClr val="7FDBCA"/>
                </a:solidFill>
                <a:latin typeface="Inconsolata"/>
              </a:rPr>
              <a:t>PRODUCTS</a:t>
            </a:r>
            <a:r>
              <a:rPr sz="647" i="0">
                <a:solidFill>
                  <a:srgbClr val="E6EDF3"/>
                </a:solidFill>
                <a:latin typeface="Inconsolata"/>
              </a:rPr>
              <a:t> = {</a:t>
            </a:r>
            <a:r>
              <a:rPr sz="647" i="0">
                <a:solidFill>
                  <a:srgbClr val="F9C97A"/>
                </a:solidFill>
                <a:latin typeface="Inconsolata"/>
              </a:rPr>
              <a:t>1</a:t>
            </a:r>
            <a:r>
              <a:rPr sz="647" i="0">
                <a:solidFill>
                  <a:srgbClr val="E6EDF3"/>
                </a:solidFill>
                <a:latin typeface="Inconsolata"/>
              </a:rPr>
              <a:t>: {</a:t>
            </a:r>
            <a:r>
              <a:rPr sz="647" i="0">
                <a:solidFill>
                  <a:srgbClr val="A5D6A7"/>
                </a:solidFill>
                <a:latin typeface="Inconsolata"/>
              </a:rPr>
              <a:t>"id"</a:t>
            </a:r>
            <a:r>
              <a:rPr sz="647" i="0">
                <a:solidFill>
                  <a:srgbClr val="E6EDF3"/>
                </a:solidFill>
                <a:latin typeface="Inconsolata"/>
              </a:rPr>
              <a:t>: </a:t>
            </a:r>
            <a:r>
              <a:rPr sz="647" i="0">
                <a:solidFill>
                  <a:srgbClr val="F9C97A"/>
                </a:solidFill>
                <a:latin typeface="Inconsolata"/>
              </a:rPr>
              <a:t>1</a:t>
            </a:r>
            <a:r>
              <a:rPr sz="647" i="0">
                <a:solidFill>
                  <a:srgbClr val="E6EDF3"/>
                </a:solidFill>
                <a:latin typeface="Inconsolata"/>
              </a:rPr>
              <a:t>, </a:t>
            </a:r>
            <a:r>
              <a:rPr sz="647" i="0">
                <a:solidFill>
                  <a:srgbClr val="A5D6A7"/>
                </a:solidFill>
                <a:latin typeface="Inconsolata"/>
              </a:rPr>
              <a:t>"name"</a:t>
            </a:r>
            <a:r>
              <a:rPr sz="647" i="0">
                <a:solidFill>
                  <a:srgbClr val="E6EDF3"/>
                </a:solidFill>
                <a:latin typeface="Inconsolata"/>
              </a:rPr>
              <a:t>: </a:t>
            </a:r>
            <a:r>
              <a:rPr sz="647" i="0">
                <a:solidFill>
                  <a:srgbClr val="A5D6A7"/>
                </a:solidFill>
                <a:latin typeface="Inconsolata"/>
              </a:rPr>
              <a:t>"Keyboard"</a:t>
            </a:r>
            <a:r>
              <a:rPr sz="647" i="0">
                <a:solidFill>
                  <a:srgbClr val="E6EDF3"/>
                </a:solidFill>
                <a:latin typeface="Inconsolata"/>
              </a:rPr>
              <a:t>, </a:t>
            </a:r>
            <a:r>
              <a:rPr sz="647" i="0">
                <a:solidFill>
                  <a:srgbClr val="A5D6A7"/>
                </a:solidFill>
                <a:latin typeface="Inconsolata"/>
              </a:rPr>
              <a:t>"price"</a:t>
            </a:r>
            <a:r>
              <a:rPr sz="647" i="0">
                <a:solidFill>
                  <a:srgbClr val="E6EDF3"/>
                </a:solidFill>
                <a:latin typeface="Inconsolata"/>
              </a:rPr>
              <a:t>: </a:t>
            </a:r>
            <a:r>
              <a:rPr sz="647" i="0">
                <a:solidFill>
                  <a:srgbClr val="F9C97A"/>
                </a:solidFill>
                <a:latin typeface="Inconsolata"/>
              </a:rPr>
              <a:t>500_000</a:t>
            </a:r>
            <a:r>
              <a:rPr sz="647" i="0">
                <a:solidFill>
                  <a:srgbClr val="E6EDF3"/>
                </a:solidFill>
                <a:latin typeface="Inconsolata"/>
              </a:rPr>
              <a:t>}}</a:t>
            </a:r>
          </a:p>
          <a:p>
            <a:pPr>
              <a:lnSpc>
                <a:spcPct val="102960"/>
              </a:lnSpc>
              <a:spcAft>
                <a:spcPts val="0"/>
              </a:spcAft>
            </a:pPr>
            <a:r>
              <a:rPr sz="647" i="0">
                <a:solidFill>
                  <a:srgbClr val="5C6773"/>
                </a:solidFill>
                <a:latin typeface="Inconsolata"/>
              </a:rPr>
              <a:t>23  </a:t>
            </a:r>
            <a:r>
              <a:rPr sz="647" i="0">
                <a:solidFill>
                  <a:srgbClr val="E6EDF3"/>
                </a:solidFill>
                <a:latin typeface="Inconsolata"/>
              </a:rPr>
              <a:t>db_queries = </a:t>
            </a:r>
            <a:r>
              <a:rPr sz="647" i="0">
                <a:solidFill>
                  <a:srgbClr val="F9C97A"/>
                </a:solidFill>
                <a:latin typeface="Inconsolata"/>
              </a:rPr>
              <a:t>0</a:t>
            </a:r>
          </a:p>
          <a:p>
            <a:pPr>
              <a:lnSpc>
                <a:spcPct val="102960"/>
              </a:lnSpc>
              <a:spcAft>
                <a:spcPts val="0"/>
              </a:spcAft>
            </a:pPr>
            <a:r>
              <a:rPr sz="647" i="0">
                <a:solidFill>
                  <a:srgbClr val="5C6773"/>
                </a:solidFill>
                <a:latin typeface="Inconsolata"/>
              </a:rPr>
              <a:t>24  </a:t>
            </a:r>
            <a:r>
              <a:rPr sz="647" i="0">
                <a:solidFill>
                  <a:srgbClr val="E6EDF3"/>
                </a:solidFill>
                <a:latin typeface="Inconsolata"/>
              </a:rPr>
              <a:t>counter_lock = threading.</a:t>
            </a:r>
            <a:r>
              <a:rPr sz="647" i="0">
                <a:solidFill>
                  <a:srgbClr val="7FDBCA"/>
                </a:solidFill>
                <a:latin typeface="Inconsolata"/>
              </a:rPr>
              <a:t>Lock</a:t>
            </a:r>
            <a:r>
              <a:rPr sz="647" i="0">
                <a:solidFill>
                  <a:srgbClr val="E6EDF3"/>
                </a:solidFill>
                <a:latin typeface="Inconsolata"/>
              </a:rPr>
              <a:t>()</a:t>
            </a:r>
          </a:p>
          <a:p>
            <a:pPr>
              <a:lnSpc>
                <a:spcPct val="102960"/>
              </a:lnSpc>
              <a:spcAft>
                <a:spcPts val="0"/>
              </a:spcAft>
            </a:pPr>
            <a:r>
              <a:rPr sz="647" i="0">
                <a:solidFill>
                  <a:srgbClr val="5C6773"/>
                </a:solidFill>
                <a:latin typeface="Inconsolata"/>
              </a:rPr>
              <a:t>25  </a:t>
            </a:r>
            <a:r>
              <a:rPr sz="647" i="0">
                <a:solidFill>
                  <a:srgbClr val="E6EDF3"/>
                </a:solidFill>
                <a:latin typeface="Inconsolata"/>
              </a:rPr>
              <a:t> </a:t>
            </a:r>
          </a:p>
          <a:p>
            <a:pPr>
              <a:lnSpc>
                <a:spcPct val="102960"/>
              </a:lnSpc>
              <a:spcAft>
                <a:spcPts val="0"/>
              </a:spcAft>
            </a:pPr>
            <a:r>
              <a:rPr sz="647" i="0">
                <a:solidFill>
                  <a:srgbClr val="5C6773"/>
                </a:solidFill>
                <a:latin typeface="Inconsolata"/>
              </a:rPr>
              <a:t>26  </a:t>
            </a:r>
            <a:r>
              <a:rPr sz="647" i="0">
                <a:solidFill>
                  <a:srgbClr val="E6EDF3"/>
                </a:solidFill>
                <a:latin typeface="Inconsolata"/>
              </a:rPr>
              <a:t> </a:t>
            </a:r>
          </a:p>
          <a:p>
            <a:pPr>
              <a:lnSpc>
                <a:spcPct val="102960"/>
              </a:lnSpc>
              <a:spcAft>
                <a:spcPts val="0"/>
              </a:spcAft>
            </a:pPr>
            <a:r>
              <a:rPr sz="647" i="0">
                <a:solidFill>
                  <a:srgbClr val="5C6773"/>
                </a:solidFill>
                <a:latin typeface="Inconsolata"/>
              </a:rPr>
              <a:t>27  </a:t>
            </a:r>
            <a:r>
              <a:rPr sz="647" i="0">
                <a:solidFill>
                  <a:srgbClr val="FF8E6E"/>
                </a:solidFill>
                <a:latin typeface="Inconsolata"/>
              </a:rPr>
              <a:t>def</a:t>
            </a:r>
            <a:r>
              <a:rPr sz="647" i="0">
                <a:solidFill>
                  <a:srgbClr val="E6EDF3"/>
                </a:solidFill>
                <a:latin typeface="Inconsolata"/>
              </a:rPr>
              <a:t> </a:t>
            </a:r>
            <a:r>
              <a:rPr sz="647" i="0">
                <a:solidFill>
                  <a:srgbClr val="82B1FF"/>
                </a:solidFill>
                <a:latin typeface="Inconsolata"/>
              </a:rPr>
              <a:t>query_product</a:t>
            </a:r>
            <a:r>
              <a:rPr sz="647" i="0">
                <a:solidFill>
                  <a:srgbClr val="E6EDF3"/>
                </a:solidFill>
                <a:latin typeface="Inconsolata"/>
              </a:rPr>
              <a:t>(product_id: </a:t>
            </a:r>
            <a:r>
              <a:rPr sz="647" i="0">
                <a:solidFill>
                  <a:srgbClr val="C3A6FF"/>
                </a:solidFill>
                <a:latin typeface="Inconsolata"/>
              </a:rPr>
              <a:t>int</a:t>
            </a:r>
            <a:r>
              <a:rPr sz="647" i="0">
                <a:solidFill>
                  <a:srgbClr val="E6EDF3"/>
                </a:solidFill>
                <a:latin typeface="Inconsolata"/>
              </a:rPr>
              <a:t>) -&gt; </a:t>
            </a:r>
            <a:r>
              <a:rPr sz="647" i="0">
                <a:solidFill>
                  <a:srgbClr val="C3A6FF"/>
                </a:solidFill>
                <a:latin typeface="Inconsolata"/>
              </a:rPr>
              <a:t>dict</a:t>
            </a:r>
            <a:r>
              <a:rPr sz="647" i="0">
                <a:solidFill>
                  <a:srgbClr val="E6EDF3"/>
                </a:solidFill>
                <a:latin typeface="Inconsolata"/>
              </a:rPr>
              <a:t>:</a:t>
            </a:r>
          </a:p>
          <a:p>
            <a:pPr>
              <a:lnSpc>
                <a:spcPct val="102960"/>
              </a:lnSpc>
              <a:spcAft>
                <a:spcPts val="0"/>
              </a:spcAft>
            </a:pPr>
            <a:r>
              <a:rPr sz="647" i="0">
                <a:solidFill>
                  <a:srgbClr val="5C6773"/>
                </a:solidFill>
                <a:latin typeface="Inconsolata"/>
              </a:rPr>
              <a:t>28  </a:t>
            </a:r>
            <a:r>
              <a:rPr sz="647" i="0">
                <a:solidFill>
                  <a:srgbClr val="E6EDF3"/>
                </a:solidFill>
                <a:latin typeface="Inconsolata"/>
              </a:rPr>
              <a:t>    </a:t>
            </a:r>
            <a:r>
              <a:rPr sz="647" i="0">
                <a:solidFill>
                  <a:srgbClr val="FF8E6E"/>
                </a:solidFill>
                <a:latin typeface="Inconsolata"/>
              </a:rPr>
              <a:t>global</a:t>
            </a:r>
            <a:r>
              <a:rPr sz="647" i="0">
                <a:solidFill>
                  <a:srgbClr val="E6EDF3"/>
                </a:solidFill>
                <a:latin typeface="Inconsolata"/>
              </a:rPr>
              <a:t> db_queries</a:t>
            </a:r>
          </a:p>
          <a:p>
            <a:pPr>
              <a:lnSpc>
                <a:spcPct val="102960"/>
              </a:lnSpc>
              <a:spcAft>
                <a:spcPts val="0"/>
              </a:spcAft>
            </a:pPr>
            <a:r>
              <a:rPr sz="647" i="0">
                <a:solidFill>
                  <a:srgbClr val="5C6773"/>
                </a:solidFill>
                <a:latin typeface="Inconsolata"/>
              </a:rPr>
              <a:t>29  </a:t>
            </a:r>
            <a:r>
              <a:rPr sz="647" i="0">
                <a:solidFill>
                  <a:srgbClr val="E6EDF3"/>
                </a:solidFill>
                <a:latin typeface="Inconsolata"/>
              </a:rPr>
              <a:t>    </a:t>
            </a:r>
            <a:r>
              <a:rPr sz="647" i="0">
                <a:solidFill>
                  <a:srgbClr val="FF8E6E"/>
                </a:solidFill>
                <a:latin typeface="Inconsolata"/>
              </a:rPr>
              <a:t>with</a:t>
            </a:r>
            <a:r>
              <a:rPr sz="647" i="0">
                <a:solidFill>
                  <a:srgbClr val="E6EDF3"/>
                </a:solidFill>
                <a:latin typeface="Inconsolata"/>
              </a:rPr>
              <a:t> counter_lock:</a:t>
            </a:r>
          </a:p>
          <a:p>
            <a:pPr>
              <a:lnSpc>
                <a:spcPct val="102960"/>
              </a:lnSpc>
              <a:spcAft>
                <a:spcPts val="0"/>
              </a:spcAft>
            </a:pPr>
            <a:r>
              <a:rPr sz="647" i="0">
                <a:solidFill>
                  <a:srgbClr val="5C6773"/>
                </a:solidFill>
                <a:latin typeface="Inconsolata"/>
              </a:rPr>
              <a:t>30  </a:t>
            </a:r>
            <a:r>
              <a:rPr sz="647" i="0">
                <a:solidFill>
                  <a:srgbClr val="E6EDF3"/>
                </a:solidFill>
                <a:latin typeface="Inconsolata"/>
              </a:rPr>
              <a:t>        db_queries += </a:t>
            </a:r>
            <a:r>
              <a:rPr sz="647" i="0">
                <a:solidFill>
                  <a:srgbClr val="F9C97A"/>
                </a:solidFill>
                <a:latin typeface="Inconsolata"/>
              </a:rPr>
              <a:t>1</a:t>
            </a:r>
          </a:p>
          <a:p>
            <a:pPr>
              <a:lnSpc>
                <a:spcPct val="102960"/>
              </a:lnSpc>
              <a:spcAft>
                <a:spcPts val="0"/>
              </a:spcAft>
            </a:pPr>
            <a:r>
              <a:rPr sz="647" i="0">
                <a:solidFill>
                  <a:srgbClr val="5C6773"/>
                </a:solidFill>
                <a:latin typeface="Inconsolata"/>
              </a:rPr>
              <a:t>31  </a:t>
            </a:r>
            <a:r>
              <a:rPr sz="647" i="0">
                <a:solidFill>
                  <a:srgbClr val="E6EDF3"/>
                </a:solidFill>
                <a:latin typeface="Inconsolata"/>
              </a:rPr>
              <a:t>    time.sleep(</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5</a:t>
            </a:r>
            <a:r>
              <a:rPr sz="647" i="0">
                <a:solidFill>
                  <a:srgbClr val="E6EDF3"/>
                </a:solidFill>
                <a:latin typeface="Inconsolata"/>
              </a:rPr>
              <a:t>)</a:t>
            </a:r>
          </a:p>
          <a:p>
            <a:pPr>
              <a:lnSpc>
                <a:spcPct val="102960"/>
              </a:lnSpc>
              <a:spcAft>
                <a:spcPts val="0"/>
              </a:spcAft>
            </a:pPr>
            <a:r>
              <a:rPr sz="647" i="0">
                <a:solidFill>
                  <a:srgbClr val="5C6773"/>
                </a:solidFill>
                <a:latin typeface="Inconsolata"/>
              </a:rPr>
              <a:t>32  </a:t>
            </a:r>
            <a:r>
              <a:rPr sz="647" i="0">
                <a:solidFill>
                  <a:srgbClr val="E6EDF3"/>
                </a:solidFill>
                <a:latin typeface="Inconsolata"/>
              </a:rPr>
              <a:t>    </a:t>
            </a:r>
            <a:r>
              <a:rPr sz="647" i="0">
                <a:solidFill>
                  <a:srgbClr val="FF8E6E"/>
                </a:solidFill>
                <a:latin typeface="Inconsolata"/>
              </a:rPr>
              <a:t>return</a:t>
            </a:r>
            <a:r>
              <a:rPr sz="647" i="0">
                <a:solidFill>
                  <a:srgbClr val="E6EDF3"/>
                </a:solidFill>
                <a:latin typeface="Inconsolata"/>
              </a:rPr>
              <a:t> </a:t>
            </a:r>
            <a:r>
              <a:rPr sz="647" i="0">
                <a:solidFill>
                  <a:srgbClr val="C3A6FF"/>
                </a:solidFill>
                <a:latin typeface="Inconsolata"/>
              </a:rPr>
              <a:t>dict</a:t>
            </a:r>
            <a:r>
              <a:rPr sz="647" i="0">
                <a:solidFill>
                  <a:srgbClr val="E6EDF3"/>
                </a:solidFill>
                <a:latin typeface="Inconsolata"/>
              </a:rPr>
              <a:t>(</a:t>
            </a:r>
            <a:r>
              <a:rPr sz="647" i="0">
                <a:solidFill>
                  <a:srgbClr val="7FDBCA"/>
                </a:solidFill>
                <a:latin typeface="Inconsolata"/>
              </a:rPr>
              <a:t>PRODUCTS</a:t>
            </a:r>
            <a:r>
              <a:rPr sz="647" i="0">
                <a:solidFill>
                  <a:srgbClr val="E6EDF3"/>
                </a:solidFill>
                <a:latin typeface="Inconsolata"/>
              </a:rPr>
              <a:t>[product_id])</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04-cache-stampede/after.py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960"/>
              </a:lnSpc>
              <a:spcAft>
                <a:spcPts val="0"/>
              </a:spcAft>
            </a:pPr>
            <a:r>
              <a:rPr sz="647" i="0">
                <a:solidFill>
                  <a:srgbClr val="5C6773"/>
                </a:solidFill>
                <a:latin typeface="Inconsolata"/>
              </a:rPr>
              <a:t>35  </a:t>
            </a:r>
            <a:r>
              <a:rPr sz="647" i="0">
                <a:solidFill>
                  <a:srgbClr val="FF8E6E"/>
                </a:solidFill>
                <a:latin typeface="Inconsolata"/>
              </a:rPr>
              <a:t>def</a:t>
            </a:r>
            <a:r>
              <a:rPr sz="647" i="0">
                <a:solidFill>
                  <a:srgbClr val="E6EDF3"/>
                </a:solidFill>
                <a:latin typeface="Inconsolata"/>
              </a:rPr>
              <a:t> </a:t>
            </a:r>
            <a:r>
              <a:rPr sz="647" i="0">
                <a:solidFill>
                  <a:srgbClr val="82B1FF"/>
                </a:solidFill>
                <a:latin typeface="Inconsolata"/>
              </a:rPr>
              <a:t>get_product</a:t>
            </a:r>
            <a:r>
              <a:rPr sz="647" i="0">
                <a:solidFill>
                  <a:srgbClr val="E6EDF3"/>
                </a:solidFill>
                <a:latin typeface="Inconsolata"/>
              </a:rPr>
              <a:t>(product_id: </a:t>
            </a:r>
            <a:r>
              <a:rPr sz="647" i="0">
                <a:solidFill>
                  <a:srgbClr val="C3A6FF"/>
                </a:solidFill>
                <a:latin typeface="Inconsolata"/>
              </a:rPr>
              <a:t>int</a:t>
            </a:r>
            <a:r>
              <a:rPr sz="647" i="0">
                <a:solidFill>
                  <a:srgbClr val="E6EDF3"/>
                </a:solidFill>
                <a:latin typeface="Inconsolata"/>
              </a:rPr>
              <a:t>) -&gt; </a:t>
            </a:r>
            <a:r>
              <a:rPr sz="647" i="0">
                <a:solidFill>
                  <a:srgbClr val="C3A6FF"/>
                </a:solidFill>
                <a:latin typeface="Inconsolata"/>
              </a:rPr>
              <a:t>dict</a:t>
            </a:r>
            <a:r>
              <a:rPr sz="647" i="0">
                <a:solidFill>
                  <a:srgbClr val="E6EDF3"/>
                </a:solidFill>
                <a:latin typeface="Inconsolata"/>
              </a:rPr>
              <a:t>:</a:t>
            </a:r>
          </a:p>
          <a:p>
            <a:pPr>
              <a:lnSpc>
                <a:spcPct val="102960"/>
              </a:lnSpc>
              <a:spcAft>
                <a:spcPts val="0"/>
              </a:spcAft>
            </a:pPr>
            <a:r>
              <a:rPr sz="647" i="0">
                <a:solidFill>
                  <a:srgbClr val="5C6773"/>
                </a:solidFill>
                <a:latin typeface="Inconsolata"/>
              </a:rPr>
              <a:t>36  </a:t>
            </a:r>
            <a:r>
              <a:rPr sz="647" i="0">
                <a:solidFill>
                  <a:srgbClr val="E6EDF3"/>
                </a:solidFill>
                <a:latin typeface="Inconsolata"/>
              </a:rPr>
              <a:t>    key = </a:t>
            </a:r>
            <a:r>
              <a:rPr sz="647" i="0">
                <a:solidFill>
                  <a:srgbClr val="A5D6A7"/>
                </a:solidFill>
                <a:latin typeface="Inconsolata"/>
              </a:rPr>
              <a:t>f"product:{product_id}"</a:t>
            </a:r>
          </a:p>
          <a:p>
            <a:pPr>
              <a:lnSpc>
                <a:spcPct val="102960"/>
              </a:lnSpc>
              <a:spcAft>
                <a:spcPts val="0"/>
              </a:spcAft>
            </a:pPr>
            <a:r>
              <a:rPr sz="647" i="0">
                <a:solidFill>
                  <a:srgbClr val="5C6773"/>
                </a:solidFill>
                <a:latin typeface="Inconsolata"/>
              </a:rPr>
              <a:t>37  </a:t>
            </a:r>
            <a:r>
              <a:rPr sz="647" i="0">
                <a:solidFill>
                  <a:srgbClr val="E6EDF3"/>
                </a:solidFill>
                <a:latin typeface="Inconsolata"/>
              </a:rPr>
              <a:t>    </a:t>
            </a:r>
            <a:r>
              <a:rPr sz="647" i="0">
                <a:solidFill>
                  <a:srgbClr val="FF8E6E"/>
                </a:solidFill>
                <a:latin typeface="Inconsolata"/>
              </a:rPr>
              <a:t>while</a:t>
            </a:r>
            <a:r>
              <a:rPr sz="647" i="0">
                <a:solidFill>
                  <a:srgbClr val="E6EDF3"/>
                </a:solidFill>
                <a:latin typeface="Inconsolata"/>
              </a:rPr>
              <a:t> </a:t>
            </a:r>
            <a:r>
              <a:rPr sz="647" i="0">
                <a:solidFill>
                  <a:srgbClr val="FF8E6E"/>
                </a:solidFill>
                <a:latin typeface="Inconsolata"/>
              </a:rPr>
              <a:t>True</a:t>
            </a:r>
            <a:r>
              <a:rPr sz="647" i="0">
                <a:solidFill>
                  <a:srgbClr val="E6EDF3"/>
                </a:solidFill>
                <a:latin typeface="Inconsolata"/>
              </a:rPr>
              <a:t>:</a:t>
            </a:r>
          </a:p>
          <a:p>
            <a:pPr>
              <a:lnSpc>
                <a:spcPct val="102960"/>
              </a:lnSpc>
              <a:spcAft>
                <a:spcPts val="0"/>
              </a:spcAft>
            </a:pPr>
            <a:r>
              <a:rPr sz="647" i="0">
                <a:solidFill>
                  <a:srgbClr val="5C6773"/>
                </a:solidFill>
                <a:latin typeface="Inconsolata"/>
              </a:rPr>
              <a:t>38  </a:t>
            </a:r>
            <a:r>
              <a:rPr sz="647" i="0">
                <a:solidFill>
                  <a:srgbClr val="E6EDF3"/>
                </a:solidFill>
                <a:latin typeface="Inconsolata"/>
              </a:rPr>
              <a:t>        cached = cache.get(key)</a:t>
            </a:r>
          </a:p>
          <a:p>
            <a:pPr>
              <a:lnSpc>
                <a:spcPct val="102960"/>
              </a:lnSpc>
              <a:spcAft>
                <a:spcPts val="0"/>
              </a:spcAft>
            </a:pPr>
            <a:r>
              <a:rPr sz="647" i="0">
                <a:solidFill>
                  <a:srgbClr val="5C6773"/>
                </a:solidFill>
                <a:latin typeface="Inconsolata"/>
              </a:rPr>
              <a:t>39  </a:t>
            </a:r>
            <a:r>
              <a:rPr sz="647" i="0">
                <a:solidFill>
                  <a:srgbClr val="E6EDF3"/>
                </a:solidFill>
                <a:latin typeface="Inconsolata"/>
              </a:rPr>
              <a:t>        </a:t>
            </a:r>
            <a:r>
              <a:rPr sz="647" i="0">
                <a:solidFill>
                  <a:srgbClr val="FF8E6E"/>
                </a:solidFill>
                <a:latin typeface="Inconsolata"/>
              </a:rPr>
              <a:t>if</a:t>
            </a:r>
            <a:r>
              <a:rPr sz="647" i="0">
                <a:solidFill>
                  <a:srgbClr val="E6EDF3"/>
                </a:solidFill>
                <a:latin typeface="Inconsolata"/>
              </a:rPr>
              <a:t> cached </a:t>
            </a:r>
            <a:r>
              <a:rPr sz="647" i="0">
                <a:solidFill>
                  <a:srgbClr val="FF8E6E"/>
                </a:solidFill>
                <a:latin typeface="Inconsolata"/>
              </a:rPr>
              <a:t>is</a:t>
            </a:r>
            <a:r>
              <a:rPr sz="647" i="0">
                <a:solidFill>
                  <a:srgbClr val="E6EDF3"/>
                </a:solidFill>
                <a:latin typeface="Inconsolata"/>
              </a:rPr>
              <a:t> </a:t>
            </a:r>
            <a:r>
              <a:rPr sz="647" i="0">
                <a:solidFill>
                  <a:srgbClr val="FF8E6E"/>
                </a:solidFill>
                <a:latin typeface="Inconsolata"/>
              </a:rPr>
              <a:t>not</a:t>
            </a:r>
            <a:r>
              <a:rPr sz="647" i="0">
                <a:solidFill>
                  <a:srgbClr val="E6EDF3"/>
                </a:solidFill>
                <a:latin typeface="Inconsolata"/>
              </a:rPr>
              <a:t> </a:t>
            </a:r>
            <a:r>
              <a:rPr sz="647" i="0">
                <a:solidFill>
                  <a:srgbClr val="FF8E6E"/>
                </a:solidFill>
                <a:latin typeface="Inconsolata"/>
              </a:rPr>
              <a:t>None</a:t>
            </a:r>
            <a:r>
              <a:rPr sz="647" i="0">
                <a:solidFill>
                  <a:srgbClr val="E6EDF3"/>
                </a:solidFill>
                <a:latin typeface="Inconsolata"/>
              </a:rPr>
              <a:t>:</a:t>
            </a:r>
          </a:p>
          <a:p>
            <a:pPr>
              <a:lnSpc>
                <a:spcPct val="102960"/>
              </a:lnSpc>
              <a:spcAft>
                <a:spcPts val="0"/>
              </a:spcAft>
            </a:pPr>
            <a:r>
              <a:rPr sz="647" i="0">
                <a:solidFill>
                  <a:srgbClr val="5C6773"/>
                </a:solidFill>
                <a:latin typeface="Inconsolata"/>
              </a:rPr>
              <a:t>40  </a:t>
            </a:r>
            <a:r>
              <a:rPr sz="647" i="0">
                <a:solidFill>
                  <a:srgbClr val="E6EDF3"/>
                </a:solidFill>
                <a:latin typeface="Inconsolata"/>
              </a:rPr>
              <a:t>            </a:t>
            </a:r>
            <a:r>
              <a:rPr sz="647" i="0">
                <a:solidFill>
                  <a:srgbClr val="FF8E6E"/>
                </a:solidFill>
                <a:latin typeface="Inconsolata"/>
              </a:rPr>
              <a:t>return</a:t>
            </a:r>
            <a:r>
              <a:rPr sz="647" i="0">
                <a:solidFill>
                  <a:srgbClr val="E6EDF3"/>
                </a:solidFill>
                <a:latin typeface="Inconsolata"/>
              </a:rPr>
              <a:t> json.loads(cached)</a:t>
            </a:r>
          </a:p>
          <a:p>
            <a:pPr>
              <a:lnSpc>
                <a:spcPct val="102960"/>
              </a:lnSpc>
              <a:spcAft>
                <a:spcPts val="0"/>
              </a:spcAft>
            </a:pPr>
            <a:r>
              <a:rPr sz="647" i="0">
                <a:solidFill>
                  <a:srgbClr val="5C6773"/>
                </a:solidFill>
                <a:latin typeface="Inconsolata"/>
              </a:rPr>
              <a:t>41  </a:t>
            </a:r>
            <a:r>
              <a:rPr sz="647" i="0">
                <a:solidFill>
                  <a:srgbClr val="E6EDF3"/>
                </a:solidFill>
                <a:latin typeface="Inconsolata"/>
              </a:rPr>
              <a:t> </a:t>
            </a:r>
          </a:p>
          <a:p>
            <a:pPr>
              <a:lnSpc>
                <a:spcPct val="102960"/>
              </a:lnSpc>
              <a:spcAft>
                <a:spcPts val="0"/>
              </a:spcAft>
            </a:pPr>
            <a:r>
              <a:rPr sz="647" i="0">
                <a:solidFill>
                  <a:srgbClr val="5C6773"/>
                </a:solidFill>
                <a:latin typeface="Inconsolata"/>
              </a:rPr>
              <a:t>42  </a:t>
            </a:r>
            <a:r>
              <a:rPr sz="647" i="0">
                <a:solidFill>
                  <a:srgbClr val="E6EDF3"/>
                </a:solidFill>
                <a:latin typeface="Inconsolata"/>
              </a:rPr>
              <a:t>        </a:t>
            </a:r>
            <a:r>
              <a:rPr sz="647" i="1">
                <a:solidFill>
                  <a:srgbClr val="8B98A8"/>
                </a:solidFill>
                <a:latin typeface="Inconsolata"/>
              </a:rPr>
              <a:t># hanya satu request yang mendapat lock</a:t>
            </a:r>
          </a:p>
          <a:p>
            <a:pPr>
              <a:lnSpc>
                <a:spcPct val="102960"/>
              </a:lnSpc>
              <a:spcAft>
                <a:spcPts val="0"/>
              </a:spcAft>
            </a:pPr>
            <a:r>
              <a:rPr sz="647" i="0">
                <a:solidFill>
                  <a:srgbClr val="5C6773"/>
                </a:solidFill>
                <a:latin typeface="Inconsolata"/>
              </a:rPr>
              <a:t>43  </a:t>
            </a:r>
            <a:r>
              <a:rPr sz="647" i="0">
                <a:solidFill>
                  <a:srgbClr val="E6EDF3"/>
                </a:solidFill>
                <a:latin typeface="Inconsolata"/>
              </a:rPr>
              <a:t>        </a:t>
            </a:r>
            <a:r>
              <a:rPr sz="647" i="0">
                <a:solidFill>
                  <a:srgbClr val="FF8E6E"/>
                </a:solidFill>
                <a:latin typeface="Inconsolata"/>
              </a:rPr>
              <a:t>if</a:t>
            </a:r>
            <a:r>
              <a:rPr sz="647" i="0">
                <a:solidFill>
                  <a:srgbClr val="E6EDF3"/>
                </a:solidFill>
                <a:latin typeface="Inconsolata"/>
              </a:rPr>
              <a:t> cache.</a:t>
            </a:r>
            <a:r>
              <a:rPr sz="647" i="0">
                <a:solidFill>
                  <a:srgbClr val="C3A6FF"/>
                </a:solidFill>
                <a:latin typeface="Inconsolata"/>
              </a:rPr>
              <a:t>set</a:t>
            </a:r>
            <a:r>
              <a:rPr sz="647" i="0">
                <a:solidFill>
                  <a:srgbClr val="E6EDF3"/>
                </a:solidFill>
                <a:latin typeface="Inconsolata"/>
              </a:rPr>
              <a:t>(</a:t>
            </a:r>
            <a:r>
              <a:rPr sz="647" i="0">
                <a:solidFill>
                  <a:srgbClr val="A5D6A7"/>
                </a:solidFill>
                <a:latin typeface="Inconsolata"/>
              </a:rPr>
              <a:t>f"lock:{key}"</a:t>
            </a:r>
            <a:r>
              <a:rPr sz="647" i="0">
                <a:solidFill>
                  <a:srgbClr val="E6EDF3"/>
                </a:solidFill>
                <a:latin typeface="Inconsolata"/>
              </a:rPr>
              <a:t>, </a:t>
            </a:r>
            <a:r>
              <a:rPr sz="647" i="0">
                <a:solidFill>
                  <a:srgbClr val="A5D6A7"/>
                </a:solidFill>
                <a:latin typeface="Inconsolata"/>
              </a:rPr>
              <a:t>"1"</a:t>
            </a:r>
            <a:r>
              <a:rPr sz="647" i="0">
                <a:solidFill>
                  <a:srgbClr val="E6EDF3"/>
                </a:solidFill>
                <a:latin typeface="Inconsolata"/>
              </a:rPr>
              <a:t>, nx=</a:t>
            </a:r>
            <a:r>
              <a:rPr sz="647" i="0">
                <a:solidFill>
                  <a:srgbClr val="FF8E6E"/>
                </a:solidFill>
                <a:latin typeface="Inconsolata"/>
              </a:rPr>
              <a:t>True</a:t>
            </a:r>
            <a:r>
              <a:rPr sz="647" i="0">
                <a:solidFill>
                  <a:srgbClr val="E6EDF3"/>
                </a:solidFill>
                <a:latin typeface="Inconsolata"/>
              </a:rPr>
              <a:t>, ex=</a:t>
            </a:r>
            <a:r>
              <a:rPr sz="647" i="0">
                <a:solidFill>
                  <a:srgbClr val="F9C97A"/>
                </a:solidFill>
                <a:latin typeface="Inconsolata"/>
              </a:rPr>
              <a:t>5</a:t>
            </a:r>
            <a:r>
              <a:rPr sz="647" i="0">
                <a:solidFill>
                  <a:srgbClr val="E6EDF3"/>
                </a:solidFill>
                <a:latin typeface="Inconsolata"/>
              </a:rPr>
              <a:t>):</a:t>
            </a:r>
          </a:p>
          <a:p>
            <a:pPr>
              <a:lnSpc>
                <a:spcPct val="102960"/>
              </a:lnSpc>
              <a:spcAft>
                <a:spcPts val="0"/>
              </a:spcAft>
            </a:pPr>
            <a:r>
              <a:rPr sz="647" i="0">
                <a:solidFill>
                  <a:srgbClr val="5C6773"/>
                </a:solidFill>
                <a:latin typeface="Inconsolata"/>
              </a:rPr>
              <a:t>44  </a:t>
            </a:r>
            <a:r>
              <a:rPr sz="647" i="0">
                <a:solidFill>
                  <a:srgbClr val="E6EDF3"/>
                </a:solidFill>
                <a:latin typeface="Inconsolata"/>
              </a:rPr>
              <a:t>            </a:t>
            </a:r>
            <a:r>
              <a:rPr sz="647" i="0">
                <a:solidFill>
                  <a:srgbClr val="FF8E6E"/>
                </a:solidFill>
                <a:latin typeface="Inconsolata"/>
              </a:rPr>
              <a:t>try</a:t>
            </a:r>
            <a:r>
              <a:rPr sz="647" i="0">
                <a:solidFill>
                  <a:srgbClr val="E6EDF3"/>
                </a:solidFill>
                <a:latin typeface="Inconsolata"/>
              </a:rPr>
              <a:t>:</a:t>
            </a:r>
          </a:p>
          <a:p>
            <a:pPr>
              <a:lnSpc>
                <a:spcPct val="102960"/>
              </a:lnSpc>
              <a:spcAft>
                <a:spcPts val="0"/>
              </a:spcAft>
            </a:pPr>
            <a:r>
              <a:rPr sz="647" i="0">
                <a:solidFill>
                  <a:srgbClr val="5C6773"/>
                </a:solidFill>
                <a:latin typeface="Inconsolata"/>
              </a:rPr>
              <a:t>45  </a:t>
            </a:r>
            <a:r>
              <a:rPr sz="647" i="0">
                <a:solidFill>
                  <a:srgbClr val="E6EDF3"/>
                </a:solidFill>
                <a:latin typeface="Inconsolata"/>
              </a:rPr>
              <a:t>                product = query_product(product_id)</a:t>
            </a:r>
          </a:p>
          <a:p>
            <a:pPr>
              <a:lnSpc>
                <a:spcPct val="102960"/>
              </a:lnSpc>
              <a:spcAft>
                <a:spcPts val="0"/>
              </a:spcAft>
            </a:pPr>
            <a:r>
              <a:rPr sz="647" i="0">
                <a:solidFill>
                  <a:srgbClr val="5C6773"/>
                </a:solidFill>
                <a:latin typeface="Inconsolata"/>
              </a:rPr>
              <a:t>46  </a:t>
            </a:r>
            <a:r>
              <a:rPr sz="647" i="0">
                <a:solidFill>
                  <a:srgbClr val="E6EDF3"/>
                </a:solidFill>
                <a:latin typeface="Inconsolata"/>
              </a:rPr>
              <a:t>                ttl = </a:t>
            </a:r>
            <a:r>
              <a:rPr sz="647" i="0">
                <a:solidFill>
                  <a:srgbClr val="F9C97A"/>
                </a:solidFill>
                <a:latin typeface="Inconsolata"/>
              </a:rPr>
              <a:t>60</a:t>
            </a:r>
            <a:r>
              <a:rPr sz="647" i="0">
                <a:solidFill>
                  <a:srgbClr val="E6EDF3"/>
                </a:solidFill>
                <a:latin typeface="Inconsolata"/>
              </a:rPr>
              <a:t> + random.randint(</a:t>
            </a:r>
            <a:r>
              <a:rPr sz="647" i="0">
                <a:solidFill>
                  <a:srgbClr val="F9C97A"/>
                </a:solidFill>
                <a:latin typeface="Inconsolata"/>
              </a:rPr>
              <a:t>0</a:t>
            </a:r>
            <a:r>
              <a:rPr sz="647" i="0">
                <a:solidFill>
                  <a:srgbClr val="E6EDF3"/>
                </a:solidFill>
                <a:latin typeface="Inconsolata"/>
              </a:rPr>
              <a:t>, </a:t>
            </a:r>
            <a:r>
              <a:rPr sz="647" i="0">
                <a:solidFill>
                  <a:srgbClr val="F9C97A"/>
                </a:solidFill>
                <a:latin typeface="Inconsolata"/>
              </a:rPr>
              <a:t>10</a:t>
            </a:r>
            <a:r>
              <a:rPr sz="647" i="0">
                <a:solidFill>
                  <a:srgbClr val="E6EDF3"/>
                </a:solidFill>
                <a:latin typeface="Inconsolata"/>
              </a:rPr>
              <a:t>)     </a:t>
            </a:r>
            <a:r>
              <a:rPr sz="647" i="1">
                <a:solidFill>
                  <a:srgbClr val="8B98A8"/>
                </a:solidFill>
                <a:latin typeface="Inconsolata"/>
              </a:rPr>
              <a:t># TTL + jitter</a:t>
            </a:r>
          </a:p>
          <a:p>
            <a:pPr>
              <a:lnSpc>
                <a:spcPct val="102960"/>
              </a:lnSpc>
              <a:spcAft>
                <a:spcPts val="0"/>
              </a:spcAft>
            </a:pPr>
            <a:r>
              <a:rPr sz="647" i="0">
                <a:solidFill>
                  <a:srgbClr val="5C6773"/>
                </a:solidFill>
                <a:latin typeface="Inconsolata"/>
              </a:rPr>
              <a:t>47  </a:t>
            </a:r>
            <a:r>
              <a:rPr sz="647" i="0">
                <a:solidFill>
                  <a:srgbClr val="E6EDF3"/>
                </a:solidFill>
                <a:latin typeface="Inconsolata"/>
              </a:rPr>
              <a:t>                cache.</a:t>
            </a:r>
            <a:r>
              <a:rPr sz="647" i="0">
                <a:solidFill>
                  <a:srgbClr val="C3A6FF"/>
                </a:solidFill>
                <a:latin typeface="Inconsolata"/>
              </a:rPr>
              <a:t>set</a:t>
            </a:r>
            <a:r>
              <a:rPr sz="647" i="0">
                <a:solidFill>
                  <a:srgbClr val="E6EDF3"/>
                </a:solidFill>
                <a:latin typeface="Inconsolata"/>
              </a:rPr>
              <a:t>(key, json.dumps(product), ex=ttl)</a:t>
            </a:r>
          </a:p>
          <a:p>
            <a:pPr>
              <a:lnSpc>
                <a:spcPct val="102960"/>
              </a:lnSpc>
              <a:spcAft>
                <a:spcPts val="0"/>
              </a:spcAft>
            </a:pPr>
            <a:r>
              <a:rPr sz="647" i="0">
                <a:solidFill>
                  <a:srgbClr val="5C6773"/>
                </a:solidFill>
                <a:latin typeface="Inconsolata"/>
              </a:rPr>
              <a:t>48  </a:t>
            </a:r>
            <a:r>
              <a:rPr sz="647" i="0">
                <a:solidFill>
                  <a:srgbClr val="E6EDF3"/>
                </a:solidFill>
                <a:latin typeface="Inconsolata"/>
              </a:rPr>
              <a:t>                </a:t>
            </a:r>
            <a:r>
              <a:rPr sz="647" i="0">
                <a:solidFill>
                  <a:srgbClr val="FF8E6E"/>
                </a:solidFill>
                <a:latin typeface="Inconsolata"/>
              </a:rPr>
              <a:t>return</a:t>
            </a:r>
            <a:r>
              <a:rPr sz="647" i="0">
                <a:solidFill>
                  <a:srgbClr val="E6EDF3"/>
                </a:solidFill>
                <a:latin typeface="Inconsolata"/>
              </a:rPr>
              <a:t> product</a:t>
            </a:r>
          </a:p>
          <a:p>
            <a:pPr>
              <a:lnSpc>
                <a:spcPct val="102960"/>
              </a:lnSpc>
              <a:spcAft>
                <a:spcPts val="0"/>
              </a:spcAft>
            </a:pPr>
            <a:r>
              <a:rPr sz="647" i="0">
                <a:solidFill>
                  <a:srgbClr val="5C6773"/>
                </a:solidFill>
                <a:latin typeface="Inconsolata"/>
              </a:rPr>
              <a:t>49  </a:t>
            </a:r>
            <a:r>
              <a:rPr sz="647" i="0">
                <a:solidFill>
                  <a:srgbClr val="E6EDF3"/>
                </a:solidFill>
                <a:latin typeface="Inconsolata"/>
              </a:rPr>
              <a:t>            </a:t>
            </a:r>
            <a:r>
              <a:rPr sz="647" i="0">
                <a:solidFill>
                  <a:srgbClr val="FF8E6E"/>
                </a:solidFill>
                <a:latin typeface="Inconsolata"/>
              </a:rPr>
              <a:t>finally</a:t>
            </a:r>
            <a:r>
              <a:rPr sz="647" i="0">
                <a:solidFill>
                  <a:srgbClr val="E6EDF3"/>
                </a:solidFill>
                <a:latin typeface="Inconsolata"/>
              </a:rPr>
              <a:t>:</a:t>
            </a:r>
          </a:p>
          <a:p>
            <a:pPr>
              <a:lnSpc>
                <a:spcPct val="102960"/>
              </a:lnSpc>
              <a:spcAft>
                <a:spcPts val="0"/>
              </a:spcAft>
            </a:pPr>
            <a:r>
              <a:rPr sz="647" i="0">
                <a:solidFill>
                  <a:srgbClr val="5C6773"/>
                </a:solidFill>
                <a:latin typeface="Inconsolata"/>
              </a:rPr>
              <a:t>50  </a:t>
            </a:r>
            <a:r>
              <a:rPr sz="647" i="0">
                <a:solidFill>
                  <a:srgbClr val="E6EDF3"/>
                </a:solidFill>
                <a:latin typeface="Inconsolata"/>
              </a:rPr>
              <a:t>                cache.delete(</a:t>
            </a:r>
            <a:r>
              <a:rPr sz="647" i="0">
                <a:solidFill>
                  <a:srgbClr val="A5D6A7"/>
                </a:solidFill>
                <a:latin typeface="Inconsolata"/>
              </a:rPr>
              <a:t>f"lock:{key}"</a:t>
            </a:r>
            <a:r>
              <a:rPr sz="647" i="0">
                <a:solidFill>
                  <a:srgbClr val="E6EDF3"/>
                </a:solidFill>
                <a:latin typeface="Inconsolata"/>
              </a:rPr>
              <a:t>)</a:t>
            </a:r>
          </a:p>
          <a:p>
            <a:pPr>
              <a:lnSpc>
                <a:spcPct val="102960"/>
              </a:lnSpc>
              <a:spcAft>
                <a:spcPts val="0"/>
              </a:spcAft>
            </a:pPr>
            <a:r>
              <a:rPr sz="647" i="0">
                <a:solidFill>
                  <a:srgbClr val="5C6773"/>
                </a:solidFill>
                <a:latin typeface="Inconsolata"/>
              </a:rPr>
              <a:t>51  </a:t>
            </a:r>
            <a:r>
              <a:rPr sz="647" i="0">
                <a:solidFill>
                  <a:srgbClr val="E6EDF3"/>
                </a:solidFill>
                <a:latin typeface="Inconsolata"/>
              </a:rPr>
              <a:t> </a:t>
            </a:r>
          </a:p>
          <a:p>
            <a:pPr>
              <a:lnSpc>
                <a:spcPct val="102960"/>
              </a:lnSpc>
              <a:spcAft>
                <a:spcPts val="0"/>
              </a:spcAft>
            </a:pPr>
            <a:r>
              <a:rPr sz="647" i="0">
                <a:solidFill>
                  <a:srgbClr val="5C6773"/>
                </a:solidFill>
                <a:latin typeface="Inconsolata"/>
              </a:rPr>
              <a:t>52  </a:t>
            </a:r>
            <a:r>
              <a:rPr sz="647" i="0">
                <a:solidFill>
                  <a:srgbClr val="E6EDF3"/>
                </a:solidFill>
                <a:latin typeface="Inconsolata"/>
              </a:rPr>
              <a:t>        time.sleep(</a:t>
            </a:r>
            <a:r>
              <a:rPr sz="647" i="0">
                <a:solidFill>
                  <a:srgbClr val="F9C97A"/>
                </a:solidFill>
                <a:latin typeface="Inconsolata"/>
              </a:rPr>
              <a:t>0</a:t>
            </a:r>
            <a:r>
              <a:rPr sz="647" i="0">
                <a:solidFill>
                  <a:srgbClr val="E6EDF3"/>
                </a:solidFill>
                <a:latin typeface="Inconsolata"/>
              </a:rPr>
              <a:t>.</a:t>
            </a:r>
            <a:r>
              <a:rPr sz="647" i="0">
                <a:solidFill>
                  <a:srgbClr val="F9C97A"/>
                </a:solidFill>
                <a:latin typeface="Inconsolata"/>
              </a:rPr>
              <a:t>05</a:t>
            </a:r>
            <a:r>
              <a:rPr sz="647" i="0">
                <a:solidFill>
                  <a:srgbClr val="E6EDF3"/>
                </a:solidFill>
                <a:latin typeface="Inconsolata"/>
              </a:rPr>
              <a:t>)          </a:t>
            </a:r>
            <a:r>
              <a:rPr sz="647" i="1">
                <a:solidFill>
                  <a:srgbClr val="8B98A8"/>
                </a:solidFill>
                <a:latin typeface="Inconsolata"/>
              </a:rPr>
              <a:t># yang lain menunggu, lalu cek lagi</a:t>
            </a:r>
          </a:p>
          <a:p>
            <a:pPr>
              <a:lnSpc>
                <a:spcPct val="102960"/>
              </a:lnSpc>
              <a:spcAft>
                <a:spcPts val="0"/>
              </a:spcAft>
            </a:pPr>
            <a:r>
              <a:rPr sz="647" i="0">
                <a:solidFill>
                  <a:srgbClr val="5C6773"/>
                </a:solidFill>
                <a:latin typeface="Inconsolata"/>
              </a:rPr>
              <a:t>53  </a:t>
            </a:r>
            <a:r>
              <a:rPr sz="647" i="0">
                <a:solidFill>
                  <a:srgbClr val="E6EDF3"/>
                </a:solidFill>
                <a:latin typeface="Inconsolata"/>
              </a:rPr>
              <a:t> </a:t>
            </a:r>
          </a:p>
          <a:p>
            <a:pPr>
              <a:lnSpc>
                <a:spcPct val="102960"/>
              </a:lnSpc>
              <a:spcAft>
                <a:spcPts val="0"/>
              </a:spcAft>
            </a:pPr>
            <a:r>
              <a:rPr sz="647" i="0">
                <a:solidFill>
                  <a:srgbClr val="5C6773"/>
                </a:solidFill>
                <a:latin typeface="Inconsolata"/>
              </a:rPr>
              <a:t>54  </a:t>
            </a:r>
            <a:r>
              <a:rPr sz="647" i="0">
                <a:solidFill>
                  <a:srgbClr val="E6EDF3"/>
                </a:solidFill>
                <a:latin typeface="Inconsolata"/>
              </a:rPr>
              <a:t> </a:t>
            </a:r>
          </a:p>
          <a:p>
            <a:pPr>
              <a:lnSpc>
                <a:spcPct val="102960"/>
              </a:lnSpc>
              <a:spcAft>
                <a:spcPts val="0"/>
              </a:spcAft>
            </a:pPr>
            <a:r>
              <a:rPr sz="647" i="0">
                <a:solidFill>
                  <a:srgbClr val="5C6773"/>
                </a:solidFill>
                <a:latin typeface="Inconsolata"/>
              </a:rPr>
              <a:t>55  </a:t>
            </a:r>
            <a:r>
              <a:rPr sz="647" i="0">
                <a:solidFill>
                  <a:srgbClr val="FF8E6E"/>
                </a:solidFill>
                <a:latin typeface="Inconsolata"/>
              </a:rPr>
              <a:t>if</a:t>
            </a:r>
            <a:r>
              <a:rPr sz="647" i="0">
                <a:solidFill>
                  <a:srgbClr val="E6EDF3"/>
                </a:solidFill>
                <a:latin typeface="Inconsolata"/>
              </a:rPr>
              <a:t> __name__ == </a:t>
            </a:r>
            <a:r>
              <a:rPr sz="647" i="0">
                <a:solidFill>
                  <a:srgbClr val="A5D6A7"/>
                </a:solidFill>
                <a:latin typeface="Inconsolata"/>
              </a:rPr>
              <a:t>"__main__"</a:t>
            </a:r>
            <a:r>
              <a:rPr sz="647" i="0">
                <a:solidFill>
                  <a:srgbClr val="E6EDF3"/>
                </a:solidFill>
                <a:latin typeface="Inconsolata"/>
              </a:rPr>
              <a:t>:</a:t>
            </a:r>
          </a:p>
          <a:p>
            <a:pPr>
              <a:lnSpc>
                <a:spcPct val="102960"/>
              </a:lnSpc>
              <a:spcAft>
                <a:spcPts val="0"/>
              </a:spcAft>
            </a:pPr>
            <a:r>
              <a:rPr sz="647" i="0">
                <a:solidFill>
                  <a:srgbClr val="5C6773"/>
                </a:solidFill>
                <a:latin typeface="Inconsolata"/>
              </a:rPr>
              <a:t>56  </a:t>
            </a:r>
            <a:r>
              <a:rPr sz="647" i="0">
                <a:solidFill>
                  <a:srgbClr val="E6EDF3"/>
                </a:solidFill>
                <a:latin typeface="Inconsolata"/>
              </a:rPr>
              <a:t>    cache.delete(</a:t>
            </a:r>
            <a:r>
              <a:rPr sz="647" i="0">
                <a:solidFill>
                  <a:srgbClr val="A5D6A7"/>
                </a:solidFill>
                <a:latin typeface="Inconsolata"/>
              </a:rPr>
              <a:t>"product:1"</a:t>
            </a:r>
            <a:r>
              <a:rPr sz="647" i="0">
                <a:solidFill>
                  <a:srgbClr val="E6EDF3"/>
                </a:solidFill>
                <a:latin typeface="Inconsolata"/>
              </a:rPr>
              <a:t>)</a:t>
            </a:r>
          </a:p>
          <a:p>
            <a:pPr>
              <a:lnSpc>
                <a:spcPct val="102960"/>
              </a:lnSpc>
              <a:spcAft>
                <a:spcPts val="0"/>
              </a:spcAft>
            </a:pPr>
            <a:r>
              <a:rPr sz="647" i="0">
                <a:solidFill>
                  <a:srgbClr val="5C6773"/>
                </a:solidFill>
                <a:latin typeface="Inconsolata"/>
              </a:rPr>
              <a:t>57  </a:t>
            </a:r>
            <a:r>
              <a:rPr sz="647" i="0">
                <a:solidFill>
                  <a:srgbClr val="E6EDF3"/>
                </a:solidFill>
                <a:latin typeface="Inconsolata"/>
              </a:rPr>
              <a:t>    </a:t>
            </a:r>
            <a:r>
              <a:rPr sz="647" i="0">
                <a:solidFill>
                  <a:srgbClr val="FF8E6E"/>
                </a:solidFill>
                <a:latin typeface="Inconsolata"/>
              </a:rPr>
              <a:t>with</a:t>
            </a:r>
            <a:r>
              <a:rPr sz="647" i="0">
                <a:solidFill>
                  <a:srgbClr val="E6EDF3"/>
                </a:solidFill>
                <a:latin typeface="Inconsolata"/>
              </a:rPr>
              <a:t> </a:t>
            </a:r>
            <a:r>
              <a:rPr sz="647" i="0">
                <a:solidFill>
                  <a:srgbClr val="7FDBCA"/>
                </a:solidFill>
                <a:latin typeface="Inconsolata"/>
              </a:rPr>
              <a:t>ThreadPoolExecutor</a:t>
            </a:r>
            <a:r>
              <a:rPr sz="647" i="0">
                <a:solidFill>
                  <a:srgbClr val="E6EDF3"/>
                </a:solidFill>
                <a:latin typeface="Inconsolata"/>
              </a:rPr>
              <a:t>(max_workers=</a:t>
            </a:r>
            <a:r>
              <a:rPr sz="647" i="0">
                <a:solidFill>
                  <a:srgbClr val="F9C97A"/>
                </a:solidFill>
                <a:latin typeface="Inconsolata"/>
              </a:rPr>
              <a:t>20</a:t>
            </a:r>
            <a:r>
              <a:rPr sz="647" i="0">
                <a:solidFill>
                  <a:srgbClr val="E6EDF3"/>
                </a:solidFill>
                <a:latin typeface="Inconsolata"/>
              </a:rPr>
              <a:t>) </a:t>
            </a:r>
            <a:r>
              <a:rPr sz="647" i="0">
                <a:solidFill>
                  <a:srgbClr val="FF8E6E"/>
                </a:solidFill>
                <a:latin typeface="Inconsolata"/>
              </a:rPr>
              <a:t>as</a:t>
            </a:r>
            <a:r>
              <a:rPr sz="647" i="0">
                <a:solidFill>
                  <a:srgbClr val="E6EDF3"/>
                </a:solidFill>
                <a:latin typeface="Inconsolata"/>
              </a:rPr>
              <a:t> pool:</a:t>
            </a:r>
          </a:p>
          <a:p>
            <a:pPr>
              <a:lnSpc>
                <a:spcPct val="102960"/>
              </a:lnSpc>
              <a:spcAft>
                <a:spcPts val="0"/>
              </a:spcAft>
            </a:pPr>
            <a:r>
              <a:rPr sz="647" i="0">
                <a:solidFill>
                  <a:srgbClr val="5C6773"/>
                </a:solidFill>
                <a:latin typeface="Inconsolata"/>
              </a:rPr>
              <a:t>58  </a:t>
            </a:r>
            <a:r>
              <a:rPr sz="647" i="0">
                <a:solidFill>
                  <a:srgbClr val="E6EDF3"/>
                </a:solidFill>
                <a:latin typeface="Inconsolata"/>
              </a:rPr>
              <a:t>        </a:t>
            </a:r>
            <a:r>
              <a:rPr sz="647" i="0">
                <a:solidFill>
                  <a:srgbClr val="C3A6FF"/>
                </a:solidFill>
                <a:latin typeface="Inconsolata"/>
              </a:rPr>
              <a:t>list</a:t>
            </a:r>
            <a:r>
              <a:rPr sz="647" i="0">
                <a:solidFill>
                  <a:srgbClr val="E6EDF3"/>
                </a:solidFill>
                <a:latin typeface="Inconsolata"/>
              </a:rPr>
              <a:t>(pool.map(get_product, [</a:t>
            </a:r>
            <a:r>
              <a:rPr sz="647" i="0">
                <a:solidFill>
                  <a:srgbClr val="F9C97A"/>
                </a:solidFill>
                <a:latin typeface="Inconsolata"/>
              </a:rPr>
              <a:t>1</a:t>
            </a:r>
            <a:r>
              <a:rPr sz="647" i="0">
                <a:solidFill>
                  <a:srgbClr val="E6EDF3"/>
                </a:solidFill>
                <a:latin typeface="Inconsolata"/>
              </a:rPr>
              <a:t>] * </a:t>
            </a:r>
            <a:r>
              <a:rPr sz="647" i="0">
                <a:solidFill>
                  <a:srgbClr val="F9C97A"/>
                </a:solidFill>
                <a:latin typeface="Inconsolata"/>
              </a:rPr>
              <a:t>20</a:t>
            </a:r>
            <a:r>
              <a:rPr sz="647" i="0">
                <a:solidFill>
                  <a:srgbClr val="E6EDF3"/>
                </a:solidFill>
                <a:latin typeface="Inconsolata"/>
              </a:rPr>
              <a:t>))</a:t>
            </a:r>
          </a:p>
          <a:p>
            <a:pPr>
              <a:lnSpc>
                <a:spcPct val="102960"/>
              </a:lnSpc>
              <a:spcAft>
                <a:spcPts val="0"/>
              </a:spcAft>
            </a:pPr>
            <a:r>
              <a:rPr sz="647" i="0">
                <a:solidFill>
                  <a:srgbClr val="5C6773"/>
                </a:solidFill>
                <a:latin typeface="Inconsolata"/>
              </a:rPr>
              <a:t>59  </a:t>
            </a:r>
            <a:r>
              <a:rPr sz="647" i="0">
                <a:solidFill>
                  <a:srgbClr val="E6EDF3"/>
                </a:solidFill>
                <a:latin typeface="Inconsolata"/>
              </a:rPr>
              <a:t>    </a:t>
            </a:r>
            <a:r>
              <a:rPr sz="647" i="0">
                <a:solidFill>
                  <a:srgbClr val="C3A6FF"/>
                </a:solidFill>
                <a:latin typeface="Inconsolata"/>
              </a:rPr>
              <a:t>print</a:t>
            </a:r>
            <a:r>
              <a:rPr sz="647" i="0">
                <a:solidFill>
                  <a:srgbClr val="E6EDF3"/>
                </a:solidFill>
                <a:latin typeface="Inconsolata"/>
              </a:rPr>
              <a:t>(</a:t>
            </a:r>
            <a:r>
              <a:rPr sz="647" i="0">
                <a:solidFill>
                  <a:srgbClr val="A5D6A7"/>
                </a:solidFill>
                <a:latin typeface="Inconsolata"/>
              </a:rPr>
              <a:t>"Query ke database:"</a:t>
            </a:r>
            <a:r>
              <a:rPr sz="647" i="0">
                <a:solidFill>
                  <a:srgbClr val="E6EDF3"/>
                </a:solidFill>
                <a:latin typeface="Inconsolata"/>
              </a:rPr>
              <a:t>, db_queries)      </a:t>
            </a:r>
            <a:r>
              <a:rPr sz="647" i="1">
                <a:solidFill>
                  <a:srgbClr val="8B98A8"/>
                </a:solidFill>
                <a:latin typeface="Inconsolata"/>
              </a:rPr>
              <a:t># 1</a:t>
            </a:r>
          </a:p>
        </p:txBody>
      </p:sp>
      <p:sp>
        <p:nvSpPr>
          <p:cNvPr id="36" name="Box 21"/>
          <p:cNvSpPr/>
          <p:nvPr/>
        </p:nvSpPr>
        <p:spPr>
          <a:xfrm>
            <a:off x="4709159" y="2636520"/>
            <a:ext cx="3694176" cy="95504"/>
          </a:xfrm>
          <a:prstGeom prst="roundRect">
            <a:avLst>
              <a:gd name="adj" fmla="val 4787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5654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839720"/>
            <a:ext cx="3694176" cy="400304"/>
          </a:xfrm>
          <a:prstGeom prst="roundRect">
            <a:avLst>
              <a:gd name="adj" fmla="val 114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9210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246120"/>
            <a:ext cx="3694176" cy="197104"/>
          </a:xfrm>
          <a:prstGeom prst="roundRect">
            <a:avLst>
              <a:gd name="adj" fmla="val 2319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2258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42" name="Box 27"/>
          <p:cNvSpPr/>
          <p:nvPr/>
        </p:nvSpPr>
        <p:spPr>
          <a:xfrm>
            <a:off x="4709159" y="3550920"/>
            <a:ext cx="3694176" cy="95504"/>
          </a:xfrm>
          <a:prstGeom prst="roundRect">
            <a:avLst>
              <a:gd name="adj" fmla="val 4787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3" name="Box 28"/>
          <p:cNvSpPr/>
          <p:nvPr/>
        </p:nvSpPr>
        <p:spPr>
          <a:xfrm>
            <a:off x="8284463" y="34798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04-cache-stampede/after.py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sesi-06-redis-caching-rate-limiting/04-cache-stampede</a:t>
            </a:r>
          </a:p>
          <a:p>
            <a:pPr>
              <a:lnSpc>
                <a:spcPct val="111111"/>
              </a:lnSpc>
              <a:spcAft>
                <a:spcPts val="0"/>
              </a:spcAft>
            </a:pPr>
            <a:r>
              <a:rPr sz="900" i="0">
                <a:solidFill>
                  <a:srgbClr val="82B1FF"/>
                </a:solidFill>
                <a:latin typeface="Inconsolata"/>
              </a:rPr>
              <a:t>$ python after.py</a:t>
            </a:r>
          </a:p>
        </p:txBody>
      </p:sp>
      <p:pic>
        <p:nvPicPr>
          <p:cNvPr id="29" name="Image 12" descr="s06-04-cache-stampede-after.png"/>
          <p:cNvPicPr>
            <a:picLocks noChangeAspect="1"/>
          </p:cNvPicPr>
          <p:nvPr/>
        </p:nvPicPr>
        <p:blipFill>
          <a:blip r:embed="rId2"/>
          <a:stretch>
            <a:fillRect/>
          </a:stretch>
        </p:blipFill>
        <p:spPr>
          <a:xfrm>
            <a:off x="621792" y="2322576"/>
            <a:ext cx="4297680" cy="75976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Hanya satu request yang mendapat lock (</a:t>
            </a:r>
            <a:r>
              <a:rPr sz="950" b="0" i="0">
                <a:solidFill>
                  <a:srgbClr val="B5482A"/>
                </a:solidFill>
                <a:latin typeface="Inconsolata"/>
              </a:rPr>
              <a:t>SET NX</a:t>
            </a:r>
            <a:r>
              <a:rPr sz="950" b="0" i="0">
                <a:solidFill>
                  <a:srgbClr val="434343"/>
                </a:solidFill>
                <a:latin typeface="Inter"/>
              </a:rPr>
              <a:t>) (baris 43)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Yang mendapat lock query database dan mengisi cache dengan TTL + jitter (baris 45-48)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Lock selalu dilepas (baris 49-50)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Request lain menunggu, lalu membaca cache (baris 52)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Database hanya menerima 1 query.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Cache Stampede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Cara Membaca Flow</a:t>
            </a:r>
          </a:p>
        </p:txBody>
      </p:sp>
      <p:sp>
        <p:nvSpPr>
          <p:cNvPr id="22" name="CodeTab 4"/>
          <p:cNvSpPr/>
          <p:nvPr/>
        </p:nvSpPr>
        <p:spPr>
          <a:xfrm>
            <a:off x="621792" y="1481328"/>
            <a:ext cx="507492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3484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04-cache-stampede/after.py</a:t>
            </a:r>
          </a:p>
        </p:txBody>
      </p:sp>
      <p:sp>
        <p:nvSpPr>
          <p:cNvPr id="27" name="CodeBg 10"/>
          <p:cNvSpPr/>
          <p:nvPr/>
        </p:nvSpPr>
        <p:spPr>
          <a:xfrm>
            <a:off x="621792" y="1719072"/>
            <a:ext cx="507492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074920" cy="2980944"/>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get_product</a:t>
            </a:r>
            <a:r>
              <a:rPr sz="750" i="0">
                <a:solidFill>
                  <a:srgbClr val="E6EDF3"/>
                </a:solidFill>
                <a:latin typeface="Inconsolata"/>
              </a:rPr>
              <a:t>(product_id: </a:t>
            </a:r>
            <a:r>
              <a:rPr sz="750" i="0">
                <a:solidFill>
                  <a:srgbClr val="C3A6FF"/>
                </a:solidFill>
                <a:latin typeface="Inconsolata"/>
              </a:rPr>
              <a:t>int</a:t>
            </a:r>
            <a:r>
              <a:rPr sz="750" i="0">
                <a:solidFill>
                  <a:srgbClr val="E6EDF3"/>
                </a:solidFill>
                <a:latin typeface="Inconsolata"/>
              </a:rPr>
              <a:t>) -&gt; </a:t>
            </a:r>
            <a:r>
              <a:rPr sz="750" i="0">
                <a:solidFill>
                  <a:srgbClr val="C3A6FF"/>
                </a:solidFill>
                <a:latin typeface="Inconsolata"/>
              </a:rPr>
              <a:t>dict</a:t>
            </a:r>
            <a:r>
              <a:rPr sz="750" i="0">
                <a:solidFill>
                  <a:srgbClr val="E6EDF3"/>
                </a:solidFill>
                <a:latin typeface="Inconsolata"/>
              </a:rPr>
              <a:t>:</a:t>
            </a:r>
          </a:p>
          <a:p>
            <a:pPr>
              <a:lnSpc>
                <a:spcPct val="111111"/>
              </a:lnSpc>
              <a:spcAft>
                <a:spcPts val="0"/>
              </a:spcAft>
            </a:pPr>
            <a:r>
              <a:rPr sz="750" i="0">
                <a:solidFill>
                  <a:srgbClr val="E6EDF3"/>
                </a:solidFill>
                <a:latin typeface="Inconsolata"/>
              </a:rPr>
              <a:t>    key = </a:t>
            </a:r>
            <a:r>
              <a:rPr sz="750" i="0">
                <a:solidFill>
                  <a:srgbClr val="A5D6A7"/>
                </a:solidFill>
                <a:latin typeface="Inconsolata"/>
              </a:rPr>
              <a:t>f"product:{product_id}"</a:t>
            </a:r>
          </a:p>
          <a:p>
            <a:pPr>
              <a:lnSpc>
                <a:spcPct val="111111"/>
              </a:lnSpc>
              <a:spcAft>
                <a:spcPts val="0"/>
              </a:spcAft>
            </a:pPr>
            <a:r>
              <a:rPr sz="750" i="0">
                <a:solidFill>
                  <a:srgbClr val="E6EDF3"/>
                </a:solidFill>
                <a:latin typeface="Inconsolata"/>
              </a:rPr>
              <a:t>    </a:t>
            </a:r>
            <a:r>
              <a:rPr sz="750" i="0">
                <a:solidFill>
                  <a:srgbClr val="FF8E6E"/>
                </a:solidFill>
                <a:latin typeface="Inconsolata"/>
              </a:rPr>
              <a:t>while</a:t>
            </a:r>
            <a:r>
              <a:rPr sz="750" i="0">
                <a:solidFill>
                  <a:srgbClr val="E6EDF3"/>
                </a:solidFill>
                <a:latin typeface="Inconsolata"/>
              </a:rPr>
              <a:t> </a:t>
            </a:r>
            <a:r>
              <a:rPr sz="750" i="0">
                <a:solidFill>
                  <a:srgbClr val="FF8E6E"/>
                </a:solidFill>
                <a:latin typeface="Inconsolata"/>
              </a:rPr>
              <a:t>True</a:t>
            </a:r>
            <a:r>
              <a:rPr sz="750" i="0">
                <a:solidFill>
                  <a:srgbClr val="E6EDF3"/>
                </a:solidFill>
                <a:latin typeface="Inconsolata"/>
              </a:rPr>
              <a:t>:</a:t>
            </a:r>
          </a:p>
          <a:p>
            <a:pPr>
              <a:lnSpc>
                <a:spcPct val="111111"/>
              </a:lnSpc>
              <a:spcAft>
                <a:spcPts val="0"/>
              </a:spcAft>
            </a:pPr>
            <a:r>
              <a:rPr sz="750" i="0">
                <a:solidFill>
                  <a:srgbClr val="E6EDF3"/>
                </a:solidFill>
                <a:latin typeface="Inconsolata"/>
              </a:rPr>
              <a:t>        cached = cache.get(key)</a:t>
            </a:r>
          </a:p>
          <a:p>
            <a:pPr>
              <a:lnSpc>
                <a:spcPct val="111111"/>
              </a:lnSpc>
              <a:spcAft>
                <a:spcPts val="0"/>
              </a:spcAft>
            </a:pPr>
            <a:r>
              <a:rPr sz="750" i="0">
                <a:solidFill>
                  <a:srgbClr val="E6EDF3"/>
                </a:solidFill>
                <a:latin typeface="Inconsolata"/>
              </a:rPr>
              <a:t>        </a:t>
            </a:r>
            <a:r>
              <a:rPr sz="750" i="0">
                <a:solidFill>
                  <a:srgbClr val="FF8E6E"/>
                </a:solidFill>
                <a:latin typeface="Inconsolata"/>
              </a:rPr>
              <a:t>if</a:t>
            </a:r>
            <a:r>
              <a:rPr sz="750" i="0">
                <a:solidFill>
                  <a:srgbClr val="E6EDF3"/>
                </a:solidFill>
                <a:latin typeface="Inconsolata"/>
              </a:rPr>
              <a:t> cached </a:t>
            </a:r>
            <a:r>
              <a:rPr sz="750" i="0">
                <a:solidFill>
                  <a:srgbClr val="FF8E6E"/>
                </a:solidFill>
                <a:latin typeface="Inconsolata"/>
              </a:rPr>
              <a:t>is</a:t>
            </a:r>
            <a:r>
              <a:rPr sz="750" i="0">
                <a:solidFill>
                  <a:srgbClr val="E6EDF3"/>
                </a:solidFill>
                <a:latin typeface="Inconsolata"/>
              </a:rPr>
              <a:t> </a:t>
            </a:r>
            <a:r>
              <a:rPr sz="750" i="0">
                <a:solidFill>
                  <a:srgbClr val="FF8E6E"/>
                </a:solidFill>
                <a:latin typeface="Inconsolata"/>
              </a:rPr>
              <a:t>not</a:t>
            </a:r>
            <a:r>
              <a:rPr sz="750" i="0">
                <a:solidFill>
                  <a:srgbClr val="E6EDF3"/>
                </a:solidFill>
                <a:latin typeface="Inconsolata"/>
              </a:rPr>
              <a:t> </a:t>
            </a:r>
            <a:r>
              <a:rPr sz="750" i="0">
                <a:solidFill>
                  <a:srgbClr val="FF8E6E"/>
                </a:solidFill>
                <a:latin typeface="Inconsolata"/>
              </a:rPr>
              <a:t>None</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json.loads(cached)</a:t>
            </a:r>
          </a:p>
          <a:p>
            <a:pPr>
              <a:lnSpc>
                <a:spcPct val="111111"/>
              </a:lnSpc>
              <a:spcAft>
                <a:spcPts val="0"/>
              </a:spcAft>
            </a:pPr>
            <a:r>
              <a:rPr sz="750" i="0">
                <a:solidFill>
                  <a:srgbClr val="E6EDF3"/>
                </a:solidFill>
                <a:latin typeface="Inconsolata"/>
              </a:rPr>
              <a:t> </a:t>
            </a:r>
          </a:p>
          <a:p>
            <a:pPr>
              <a:lnSpc>
                <a:spcPct val="111111"/>
              </a:lnSpc>
              <a:spcAft>
                <a:spcPts val="0"/>
              </a:spcAft>
            </a:pPr>
            <a:r>
              <a:rPr sz="750" i="0">
                <a:solidFill>
                  <a:srgbClr val="E6EDF3"/>
                </a:solidFill>
                <a:latin typeface="Inconsolata"/>
              </a:rPr>
              <a:t>        </a:t>
            </a:r>
            <a:r>
              <a:rPr sz="750" i="1">
                <a:solidFill>
                  <a:srgbClr val="8B98A8"/>
                </a:solidFill>
                <a:latin typeface="Inconsolata"/>
              </a:rPr>
              <a:t># hanya satu request yang mendapat lock</a:t>
            </a:r>
          </a:p>
          <a:p>
            <a:pPr>
              <a:lnSpc>
                <a:spcPct val="111111"/>
              </a:lnSpc>
              <a:spcAft>
                <a:spcPts val="0"/>
              </a:spcAft>
            </a:pPr>
            <a:r>
              <a:rPr sz="750" i="0">
                <a:solidFill>
                  <a:srgbClr val="E6EDF3"/>
                </a:solidFill>
                <a:latin typeface="Inconsolata"/>
              </a:rPr>
              <a:t>        </a:t>
            </a:r>
            <a:r>
              <a:rPr sz="750" i="0">
                <a:solidFill>
                  <a:srgbClr val="FF8E6E"/>
                </a:solidFill>
                <a:latin typeface="Inconsolata"/>
              </a:rPr>
              <a:t>if</a:t>
            </a:r>
            <a:r>
              <a:rPr sz="750" i="0">
                <a:solidFill>
                  <a:srgbClr val="E6EDF3"/>
                </a:solidFill>
                <a:latin typeface="Inconsolata"/>
              </a:rPr>
              <a:t> cache.</a:t>
            </a:r>
            <a:r>
              <a:rPr sz="750" i="0">
                <a:solidFill>
                  <a:srgbClr val="C3A6FF"/>
                </a:solidFill>
                <a:latin typeface="Inconsolata"/>
              </a:rPr>
              <a:t>set</a:t>
            </a:r>
            <a:r>
              <a:rPr sz="750" i="0">
                <a:solidFill>
                  <a:srgbClr val="E6EDF3"/>
                </a:solidFill>
                <a:latin typeface="Inconsolata"/>
              </a:rPr>
              <a:t>(</a:t>
            </a:r>
            <a:r>
              <a:rPr sz="750" i="0">
                <a:solidFill>
                  <a:srgbClr val="A5D6A7"/>
                </a:solidFill>
                <a:latin typeface="Inconsolata"/>
              </a:rPr>
              <a:t>f"lock:{key}"</a:t>
            </a:r>
            <a:r>
              <a:rPr sz="750" i="0">
                <a:solidFill>
                  <a:srgbClr val="E6EDF3"/>
                </a:solidFill>
                <a:latin typeface="Inconsolata"/>
              </a:rPr>
              <a:t>, </a:t>
            </a:r>
            <a:r>
              <a:rPr sz="750" i="0">
                <a:solidFill>
                  <a:srgbClr val="A5D6A7"/>
                </a:solidFill>
                <a:latin typeface="Inconsolata"/>
              </a:rPr>
              <a:t>"1"</a:t>
            </a:r>
            <a:r>
              <a:rPr sz="750" i="0">
                <a:solidFill>
                  <a:srgbClr val="E6EDF3"/>
                </a:solidFill>
                <a:latin typeface="Inconsolata"/>
              </a:rPr>
              <a:t>, nx=</a:t>
            </a:r>
            <a:r>
              <a:rPr sz="750" i="0">
                <a:solidFill>
                  <a:srgbClr val="FF8E6E"/>
                </a:solidFill>
                <a:latin typeface="Inconsolata"/>
              </a:rPr>
              <a:t>True</a:t>
            </a:r>
            <a:r>
              <a:rPr sz="750" i="0">
                <a:solidFill>
                  <a:srgbClr val="E6EDF3"/>
                </a:solidFill>
                <a:latin typeface="Inconsolata"/>
              </a:rPr>
              <a:t>, ex=</a:t>
            </a:r>
            <a:r>
              <a:rPr sz="750" i="0">
                <a:solidFill>
                  <a:srgbClr val="F9C97A"/>
                </a:solidFill>
                <a:latin typeface="Inconsolata"/>
              </a:rPr>
              <a:t>5</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try</a:t>
            </a:r>
            <a:r>
              <a:rPr sz="750" i="0">
                <a:solidFill>
                  <a:srgbClr val="E6EDF3"/>
                </a:solidFill>
                <a:latin typeface="Inconsolata"/>
              </a:rPr>
              <a:t>:</a:t>
            </a:r>
          </a:p>
          <a:p>
            <a:pPr>
              <a:lnSpc>
                <a:spcPct val="111111"/>
              </a:lnSpc>
              <a:spcAft>
                <a:spcPts val="0"/>
              </a:spcAft>
            </a:pPr>
            <a:r>
              <a:rPr sz="750" i="0">
                <a:solidFill>
                  <a:srgbClr val="E6EDF3"/>
                </a:solidFill>
                <a:latin typeface="Inconsolata"/>
              </a:rPr>
              <a:t>                product = query_product(product_id)</a:t>
            </a:r>
          </a:p>
          <a:p>
            <a:pPr>
              <a:lnSpc>
                <a:spcPct val="111111"/>
              </a:lnSpc>
              <a:spcAft>
                <a:spcPts val="0"/>
              </a:spcAft>
            </a:pPr>
            <a:r>
              <a:rPr sz="750" i="0">
                <a:solidFill>
                  <a:srgbClr val="E6EDF3"/>
                </a:solidFill>
                <a:latin typeface="Inconsolata"/>
              </a:rPr>
              <a:t>                ttl = </a:t>
            </a:r>
            <a:r>
              <a:rPr sz="750" i="0">
                <a:solidFill>
                  <a:srgbClr val="F9C97A"/>
                </a:solidFill>
                <a:latin typeface="Inconsolata"/>
              </a:rPr>
              <a:t>60</a:t>
            </a:r>
            <a:r>
              <a:rPr sz="750" i="0">
                <a:solidFill>
                  <a:srgbClr val="E6EDF3"/>
                </a:solidFill>
                <a:latin typeface="Inconsolata"/>
              </a:rPr>
              <a:t> + random.randint(</a:t>
            </a:r>
            <a:r>
              <a:rPr sz="750" i="0">
                <a:solidFill>
                  <a:srgbClr val="F9C97A"/>
                </a:solidFill>
                <a:latin typeface="Inconsolata"/>
              </a:rPr>
              <a:t>0</a:t>
            </a:r>
            <a:r>
              <a:rPr sz="750" i="0">
                <a:solidFill>
                  <a:srgbClr val="E6EDF3"/>
                </a:solidFill>
                <a:latin typeface="Inconsolata"/>
              </a:rPr>
              <a:t>, </a:t>
            </a:r>
            <a:r>
              <a:rPr sz="750" i="0">
                <a:solidFill>
                  <a:srgbClr val="F9C97A"/>
                </a:solidFill>
                <a:latin typeface="Inconsolata"/>
              </a:rPr>
              <a:t>10</a:t>
            </a:r>
            <a:r>
              <a:rPr sz="750" i="0">
                <a:solidFill>
                  <a:srgbClr val="E6EDF3"/>
                </a:solidFill>
                <a:latin typeface="Inconsolata"/>
              </a:rPr>
              <a:t>)     </a:t>
            </a:r>
            <a:r>
              <a:rPr sz="750" i="1">
                <a:solidFill>
                  <a:srgbClr val="8B98A8"/>
                </a:solidFill>
                <a:latin typeface="Inconsolata"/>
              </a:rPr>
              <a:t># TTL + jitter</a:t>
            </a:r>
          </a:p>
          <a:p>
            <a:pPr>
              <a:lnSpc>
                <a:spcPct val="111111"/>
              </a:lnSpc>
              <a:spcAft>
                <a:spcPts val="0"/>
              </a:spcAft>
            </a:pPr>
            <a:r>
              <a:rPr sz="750" i="0">
                <a:solidFill>
                  <a:srgbClr val="E6EDF3"/>
                </a:solidFill>
                <a:latin typeface="Inconsolata"/>
              </a:rPr>
              <a:t>                cache.</a:t>
            </a:r>
            <a:r>
              <a:rPr sz="750" i="0">
                <a:solidFill>
                  <a:srgbClr val="C3A6FF"/>
                </a:solidFill>
                <a:latin typeface="Inconsolata"/>
              </a:rPr>
              <a:t>set</a:t>
            </a:r>
            <a:r>
              <a:rPr sz="750" i="0">
                <a:solidFill>
                  <a:srgbClr val="E6EDF3"/>
                </a:solidFill>
                <a:latin typeface="Inconsolata"/>
              </a:rPr>
              <a:t>(key, json.dumps(product), ex=ttl)</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product</a:t>
            </a:r>
          </a:p>
          <a:p>
            <a:pPr>
              <a:lnSpc>
                <a:spcPct val="111111"/>
              </a:lnSpc>
              <a:spcAft>
                <a:spcPts val="0"/>
              </a:spcAft>
            </a:pPr>
            <a:r>
              <a:rPr sz="750" i="0">
                <a:solidFill>
                  <a:srgbClr val="E6EDF3"/>
                </a:solidFill>
                <a:latin typeface="Inconsolata"/>
              </a:rPr>
              <a:t>            </a:t>
            </a:r>
            <a:r>
              <a:rPr sz="750" i="0">
                <a:solidFill>
                  <a:srgbClr val="FF8E6E"/>
                </a:solidFill>
                <a:latin typeface="Inconsolata"/>
              </a:rPr>
              <a:t>finally</a:t>
            </a:r>
            <a:r>
              <a:rPr sz="750" i="0">
                <a:solidFill>
                  <a:srgbClr val="E6EDF3"/>
                </a:solidFill>
                <a:latin typeface="Inconsolata"/>
              </a:rPr>
              <a:t>:</a:t>
            </a:r>
          </a:p>
          <a:p>
            <a:pPr>
              <a:lnSpc>
                <a:spcPct val="111111"/>
              </a:lnSpc>
              <a:spcAft>
                <a:spcPts val="0"/>
              </a:spcAft>
            </a:pPr>
            <a:r>
              <a:rPr sz="750" i="0">
                <a:solidFill>
                  <a:srgbClr val="E6EDF3"/>
                </a:solidFill>
                <a:latin typeface="Inconsolata"/>
              </a:rPr>
              <a:t>                cache.delete(</a:t>
            </a:r>
            <a:r>
              <a:rPr sz="750" i="0">
                <a:solidFill>
                  <a:srgbClr val="A5D6A7"/>
                </a:solidFill>
                <a:latin typeface="Inconsolata"/>
              </a:rPr>
              <a:t>f"lock:{key}"</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p>
          <a:p>
            <a:pPr>
              <a:lnSpc>
                <a:spcPct val="111111"/>
              </a:lnSpc>
              <a:spcAft>
                <a:spcPts val="0"/>
              </a:spcAft>
            </a:pPr>
            <a:r>
              <a:rPr sz="750" i="0">
                <a:solidFill>
                  <a:srgbClr val="E6EDF3"/>
                </a:solidFill>
                <a:latin typeface="Inconsolata"/>
              </a:rPr>
              <a:t>        time.sleep(</a:t>
            </a:r>
            <a:r>
              <a:rPr sz="750" i="0">
                <a:solidFill>
                  <a:srgbClr val="F9C97A"/>
                </a:solidFill>
                <a:latin typeface="Inconsolata"/>
              </a:rPr>
              <a:t>0</a:t>
            </a:r>
            <a:r>
              <a:rPr sz="750" i="0">
                <a:solidFill>
                  <a:srgbClr val="E6EDF3"/>
                </a:solidFill>
                <a:latin typeface="Inconsolata"/>
              </a:rPr>
              <a:t>.</a:t>
            </a:r>
            <a:r>
              <a:rPr sz="750" i="0">
                <a:solidFill>
                  <a:srgbClr val="F9C97A"/>
                </a:solidFill>
                <a:latin typeface="Inconsolata"/>
              </a:rPr>
              <a:t>05</a:t>
            </a:r>
            <a:r>
              <a:rPr sz="750" i="0">
                <a:solidFill>
                  <a:srgbClr val="E6EDF3"/>
                </a:solidFill>
                <a:latin typeface="Inconsolata"/>
              </a:rPr>
              <a:t>)          </a:t>
            </a:r>
            <a:r>
              <a:rPr sz="750" i="1">
                <a:solidFill>
                  <a:srgbClr val="8B98A8"/>
                </a:solidFill>
                <a:latin typeface="Inconsolata"/>
              </a:rPr>
              <a:t># yang lain menunggu, lalu cek lagi</a:t>
            </a:r>
          </a:p>
        </p:txBody>
      </p:sp>
      <p:sp>
        <p:nvSpPr>
          <p:cNvPr id="29" name="Box 12"/>
          <p:cNvSpPr/>
          <p:nvPr/>
        </p:nvSpPr>
        <p:spPr>
          <a:xfrm>
            <a:off x="704088" y="2208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495544" y="2148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843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495544" y="2783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097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495544" y="3037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986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495544" y="3926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2462022"/>
            <a:ext cx="491032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495544" y="2402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587959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0" name="Text 23"/>
          <p:cNvSpPr txBox="1"/>
          <p:nvPr/>
        </p:nvSpPr>
        <p:spPr>
          <a:xfrm>
            <a:off x="6208776" y="1463040"/>
            <a:ext cx="2276856"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20 request datang bersamaan. Semua cek cache: kosong (miss)</a:t>
            </a:r>
          </a:p>
        </p:txBody>
      </p:sp>
      <p:sp>
        <p:nvSpPr>
          <p:cNvPr id="41" name="Box 24"/>
          <p:cNvSpPr/>
          <p:nvPr/>
        </p:nvSpPr>
        <p:spPr>
          <a:xfrm>
            <a:off x="5879592" y="2143353"/>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2" name="Text 25"/>
          <p:cNvSpPr txBox="1"/>
          <p:nvPr/>
        </p:nvSpPr>
        <p:spPr>
          <a:xfrm>
            <a:off x="6208776" y="2106777"/>
            <a:ext cx="2276856"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Semua mencoba mengambil lock. Hanya satu yang berhasil (</a:t>
            </a:r>
            <a:r>
              <a:rPr sz="850" b="0" i="0">
                <a:solidFill>
                  <a:srgbClr val="B5482A"/>
                </a:solidFill>
                <a:latin typeface="Inconsolata"/>
              </a:rPr>
              <a:t>nx=True</a:t>
            </a:r>
            <a:r>
              <a:rPr sz="850" b="0" i="0">
                <a:solidFill>
                  <a:srgbClr val="434343"/>
                </a:solidFill>
                <a:latin typeface="Inter"/>
              </a:rPr>
              <a:t>)</a:t>
            </a:r>
          </a:p>
        </p:txBody>
      </p:sp>
      <p:sp>
        <p:nvSpPr>
          <p:cNvPr id="43" name="Box 26"/>
          <p:cNvSpPr/>
          <p:nvPr/>
        </p:nvSpPr>
        <p:spPr>
          <a:xfrm>
            <a:off x="5879592" y="2787091"/>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4" name="Text 27"/>
          <p:cNvSpPr txBox="1"/>
          <p:nvPr/>
        </p:nvSpPr>
        <p:spPr>
          <a:xfrm>
            <a:off x="6208776" y="2750515"/>
            <a:ext cx="2276856"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Request pemegang lock query database, lalu mengisi cache dengan TTL + jitter</a:t>
            </a:r>
          </a:p>
        </p:txBody>
      </p:sp>
      <p:sp>
        <p:nvSpPr>
          <p:cNvPr id="45" name="Box 28"/>
          <p:cNvSpPr/>
          <p:nvPr/>
        </p:nvSpPr>
        <p:spPr>
          <a:xfrm>
            <a:off x="5879592" y="343082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6" name="Text 29"/>
          <p:cNvSpPr txBox="1"/>
          <p:nvPr/>
        </p:nvSpPr>
        <p:spPr>
          <a:xfrm>
            <a:off x="6208776" y="3394252"/>
            <a:ext cx="2276856"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19 request lain menunggu 0.05 detik, lalu kembali ke awal loop</a:t>
            </a:r>
          </a:p>
        </p:txBody>
      </p:sp>
      <p:sp>
        <p:nvSpPr>
          <p:cNvPr id="47" name="Box 30"/>
          <p:cNvSpPr/>
          <p:nvPr/>
        </p:nvSpPr>
        <p:spPr>
          <a:xfrm>
            <a:off x="5879592" y="407456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48" name="Text 31"/>
          <p:cNvSpPr txBox="1"/>
          <p:nvPr/>
        </p:nvSpPr>
        <p:spPr>
          <a:xfrm>
            <a:off x="6208776" y="4037990"/>
            <a:ext cx="2276856"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Putaran berikutnya cache sudah terisi: semua langsung dapat data dari cache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34</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Rate Limiting &amp; API Gateway</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Membatasi jumlah request, di aplikasi maupun di API gateway.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Rate Limiting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Rate Limiting?</a:t>
            </a:r>
          </a:p>
        </p:txBody>
      </p:sp>
      <p:sp>
        <p:nvSpPr>
          <p:cNvPr id="22" name="Text 3"/>
          <p:cNvSpPr txBox="1"/>
          <p:nvPr/>
        </p:nvSpPr>
        <p:spPr>
          <a:xfrm>
            <a:off x="621792" y="1481328"/>
            <a:ext cx="3520440" cy="2027414"/>
          </a:xfrm>
          <a:prstGeom prst="rect">
            <a:avLst/>
          </a:prstGeom>
          <a:noFill/>
        </p:spPr>
        <p:txBody>
          <a:bodyPr wrap="square" lIns="45720" rIns="45720" anchor="t">
            <a:spAutoFit/>
          </a:bodyPr>
          <a:lstStyle/>
          <a:p>
            <a:pPr algn="l">
              <a:lnSpc>
                <a:spcPct val="115000"/>
              </a:lnSpc>
              <a:spcAft>
                <a:spcPts val="400"/>
              </a:spcAft>
            </a:pPr>
            <a:r>
              <a:rPr sz="950" b="1" i="0" dirty="0">
                <a:solidFill>
                  <a:srgbClr val="1C4587"/>
                </a:solidFill>
                <a:latin typeface="Inter"/>
              </a:rPr>
              <a:t>Rate limiting </a:t>
            </a:r>
            <a:r>
              <a:rPr sz="950" b="1" i="0" dirty="0" err="1">
                <a:solidFill>
                  <a:srgbClr val="1C4587"/>
                </a:solidFill>
                <a:latin typeface="Inter"/>
              </a:rPr>
              <a:t>adalah</a:t>
            </a:r>
            <a:endParaRPr sz="950" b="1" i="0" dirty="0">
              <a:solidFill>
                <a:srgbClr val="1C4587"/>
              </a:solidFill>
              <a:latin typeface="Inter"/>
            </a:endParaRPr>
          </a:p>
          <a:p>
            <a:pPr algn="l">
              <a:lnSpc>
                <a:spcPct val="115000"/>
              </a:lnSpc>
              <a:spcAft>
                <a:spcPts val="400"/>
              </a:spcAft>
            </a:pPr>
            <a:r>
              <a:rPr sz="850" b="0" i="0" dirty="0" err="1">
                <a:solidFill>
                  <a:srgbClr val="434343"/>
                </a:solidFill>
                <a:latin typeface="Inter"/>
              </a:rPr>
              <a:t>Membatasi</a:t>
            </a:r>
            <a:r>
              <a:rPr sz="850" b="0" i="0" dirty="0">
                <a:solidFill>
                  <a:srgbClr val="434343"/>
                </a:solidFill>
                <a:latin typeface="Inter"/>
              </a:rPr>
              <a:t> </a:t>
            </a:r>
            <a:r>
              <a:rPr sz="850" b="0" i="0" dirty="0" err="1">
                <a:solidFill>
                  <a:srgbClr val="434343"/>
                </a:solidFill>
                <a:latin typeface="Inter"/>
              </a:rPr>
              <a:t>jumlah</a:t>
            </a:r>
            <a:r>
              <a:rPr sz="850" b="0" i="0" dirty="0">
                <a:solidFill>
                  <a:srgbClr val="434343"/>
                </a:solidFill>
                <a:latin typeface="Inter"/>
              </a:rPr>
              <a:t> request </a:t>
            </a:r>
            <a:r>
              <a:rPr sz="850" b="0" i="0" dirty="0" err="1">
                <a:solidFill>
                  <a:srgbClr val="434343"/>
                </a:solidFill>
                <a:latin typeface="Inter"/>
              </a:rPr>
              <a:t>dari</a:t>
            </a:r>
            <a:r>
              <a:rPr sz="850" b="0" i="0" dirty="0">
                <a:solidFill>
                  <a:srgbClr val="434343"/>
                </a:solidFill>
                <a:latin typeface="Inter"/>
              </a:rPr>
              <a:t> </a:t>
            </a:r>
            <a:r>
              <a:rPr sz="850" b="0" i="0" dirty="0" err="1">
                <a:solidFill>
                  <a:srgbClr val="434343"/>
                </a:solidFill>
                <a:latin typeface="Inter"/>
              </a:rPr>
              <a:t>satu</a:t>
            </a:r>
            <a:r>
              <a:rPr sz="850" b="0" i="0" dirty="0">
                <a:solidFill>
                  <a:srgbClr val="434343"/>
                </a:solidFill>
                <a:latin typeface="Inter"/>
              </a:rPr>
              <a:t> client </a:t>
            </a:r>
            <a:r>
              <a:rPr sz="850" b="0" i="0" dirty="0" err="1">
                <a:solidFill>
                  <a:srgbClr val="434343"/>
                </a:solidFill>
                <a:latin typeface="Inter"/>
              </a:rPr>
              <a:t>dalam</a:t>
            </a:r>
            <a:r>
              <a:rPr sz="850" b="0" i="0" dirty="0">
                <a:solidFill>
                  <a:srgbClr val="434343"/>
                </a:solidFill>
                <a:latin typeface="Inter"/>
              </a:rPr>
              <a:t> </a:t>
            </a:r>
            <a:r>
              <a:rPr sz="850" b="0" i="0" dirty="0" err="1">
                <a:solidFill>
                  <a:srgbClr val="434343"/>
                </a:solidFill>
                <a:latin typeface="Inter"/>
              </a:rPr>
              <a:t>waktu</a:t>
            </a:r>
            <a:r>
              <a:rPr sz="850" b="0" i="0" dirty="0">
                <a:solidFill>
                  <a:srgbClr val="434343"/>
                </a:solidFill>
                <a:latin typeface="Inter"/>
              </a:rPr>
              <a:t> </a:t>
            </a:r>
            <a:r>
              <a:rPr sz="850" b="0" i="0" dirty="0" err="1">
                <a:solidFill>
                  <a:srgbClr val="434343"/>
                </a:solidFill>
                <a:latin typeface="Inter"/>
              </a:rPr>
              <a:t>tertentu</a:t>
            </a:r>
            <a:r>
              <a:rPr sz="850" b="0" i="0" dirty="0">
                <a:solidFill>
                  <a:srgbClr val="434343"/>
                </a:solidFill>
                <a:latin typeface="Inter"/>
              </a:rPr>
              <a:t>, </a:t>
            </a:r>
            <a:r>
              <a:rPr sz="850" b="0" i="0" dirty="0" err="1">
                <a:solidFill>
                  <a:srgbClr val="434343"/>
                </a:solidFill>
                <a:latin typeface="Inter"/>
              </a:rPr>
              <a:t>misalnya</a:t>
            </a:r>
            <a:r>
              <a:rPr sz="850" b="0" i="0" dirty="0">
                <a:solidFill>
                  <a:srgbClr val="434343"/>
                </a:solidFill>
                <a:latin typeface="Inter"/>
              </a:rPr>
              <a:t> 10 request per </a:t>
            </a:r>
            <a:r>
              <a:rPr sz="850" b="0" i="0" dirty="0" err="1">
                <a:solidFill>
                  <a:srgbClr val="434343"/>
                </a:solidFill>
                <a:latin typeface="Inter"/>
              </a:rPr>
              <a:t>menit</a:t>
            </a:r>
            <a:r>
              <a:rPr sz="850" b="0" i="0" dirty="0">
                <a:solidFill>
                  <a:srgbClr val="434343"/>
                </a:solidFill>
                <a:latin typeface="Inter"/>
              </a:rPr>
              <a:t>. </a:t>
            </a:r>
            <a:r>
              <a:rPr sz="850" b="0" i="0" dirty="0" err="1">
                <a:solidFill>
                  <a:srgbClr val="434343"/>
                </a:solidFill>
                <a:latin typeface="Inter"/>
              </a:rPr>
              <a:t>Lewat</a:t>
            </a:r>
            <a:r>
              <a:rPr sz="850" b="0" i="0" dirty="0">
                <a:solidFill>
                  <a:srgbClr val="434343"/>
                </a:solidFill>
                <a:latin typeface="Inter"/>
              </a:rPr>
              <a:t> batas, client </a:t>
            </a:r>
            <a:r>
              <a:rPr sz="850" b="0" i="0" dirty="0" err="1">
                <a:solidFill>
                  <a:srgbClr val="434343"/>
                </a:solidFill>
                <a:latin typeface="Inter"/>
              </a:rPr>
              <a:t>mendapat</a:t>
            </a:r>
            <a:r>
              <a:rPr sz="850" b="0" i="0" dirty="0">
                <a:solidFill>
                  <a:srgbClr val="434343"/>
                </a:solidFill>
                <a:latin typeface="Inter"/>
              </a:rPr>
              <a:t> </a:t>
            </a:r>
            <a:r>
              <a:rPr sz="850" b="1" i="0" dirty="0">
                <a:solidFill>
                  <a:srgbClr val="434343"/>
                </a:solidFill>
                <a:latin typeface="Inter"/>
              </a:rPr>
              <a:t>429 Too Many Requests</a:t>
            </a:r>
            <a:r>
              <a:rPr sz="850" b="0" i="0" dirty="0">
                <a:solidFill>
                  <a:srgbClr val="434343"/>
                </a:solidFill>
                <a:latin typeface="Inter"/>
              </a:rPr>
              <a:t> dan header </a:t>
            </a:r>
            <a:r>
              <a:rPr sz="850" b="1" i="0" dirty="0">
                <a:solidFill>
                  <a:srgbClr val="434343"/>
                </a:solidFill>
                <a:latin typeface="Inter"/>
              </a:rPr>
              <a:t>Retry-After</a:t>
            </a:r>
            <a:r>
              <a:rPr sz="850" b="0" i="0" dirty="0">
                <a:solidFill>
                  <a:srgbClr val="434343"/>
                </a:solidFill>
                <a:latin typeface="Inter"/>
              </a:rPr>
              <a:t> (</a:t>
            </a:r>
            <a:r>
              <a:rPr sz="850" b="0" i="0" dirty="0" err="1">
                <a:solidFill>
                  <a:srgbClr val="434343"/>
                </a:solidFill>
                <a:latin typeface="Inter"/>
              </a:rPr>
              <a:t>berapa</a:t>
            </a:r>
            <a:r>
              <a:rPr sz="850" b="0" i="0" dirty="0">
                <a:solidFill>
                  <a:srgbClr val="434343"/>
                </a:solidFill>
                <a:latin typeface="Inter"/>
              </a:rPr>
              <a:t> </a:t>
            </a:r>
            <a:r>
              <a:rPr sz="850" b="0" i="0" dirty="0" err="1">
                <a:solidFill>
                  <a:srgbClr val="434343"/>
                </a:solidFill>
                <a:latin typeface="Inter"/>
              </a:rPr>
              <a:t>detik</a:t>
            </a:r>
            <a:r>
              <a:rPr sz="850" b="0" i="0" dirty="0">
                <a:solidFill>
                  <a:srgbClr val="434343"/>
                </a:solidFill>
                <a:latin typeface="Inter"/>
              </a:rPr>
              <a:t> </a:t>
            </a:r>
            <a:r>
              <a:rPr sz="850" b="0" i="0" dirty="0" err="1">
                <a:solidFill>
                  <a:srgbClr val="434343"/>
                </a:solidFill>
                <a:latin typeface="Inter"/>
              </a:rPr>
              <a:t>lagi</a:t>
            </a:r>
            <a:r>
              <a:rPr sz="850" b="0" i="0" dirty="0">
                <a:solidFill>
                  <a:srgbClr val="434343"/>
                </a:solidFill>
                <a:latin typeface="Inter"/>
              </a:rPr>
              <a:t> </a:t>
            </a:r>
            <a:r>
              <a:rPr sz="850" b="0" i="0" dirty="0" err="1">
                <a:solidFill>
                  <a:srgbClr val="434343"/>
                </a:solidFill>
                <a:latin typeface="Inter"/>
              </a:rPr>
              <a:t>boleh</a:t>
            </a:r>
            <a:r>
              <a:rPr sz="850" b="0" i="0" dirty="0">
                <a:solidFill>
                  <a:srgbClr val="434343"/>
                </a:solidFill>
                <a:latin typeface="Inter"/>
              </a:rPr>
              <a:t> </a:t>
            </a:r>
            <a:r>
              <a:rPr sz="850" b="0" i="0" dirty="0" err="1">
                <a:solidFill>
                  <a:srgbClr val="434343"/>
                </a:solidFill>
                <a:latin typeface="Inter"/>
              </a:rPr>
              <a:t>mencoba</a:t>
            </a:r>
            <a:r>
              <a:rPr sz="850" b="0" i="0" dirty="0">
                <a:solidFill>
                  <a:srgbClr val="434343"/>
                </a:solidFill>
                <a:latin typeface="Inter"/>
              </a:rPr>
              <a:t>).</a:t>
            </a:r>
          </a:p>
          <a:p>
            <a:pPr algn="l">
              <a:lnSpc>
                <a:spcPct val="115000"/>
              </a:lnSpc>
              <a:spcAft>
                <a:spcPts val="400"/>
              </a:spcAft>
            </a:pPr>
            <a:r>
              <a:rPr sz="950" b="1" i="0" dirty="0" err="1">
                <a:solidFill>
                  <a:srgbClr val="1C4587"/>
                </a:solidFill>
                <a:latin typeface="Inter"/>
              </a:rPr>
              <a:t>Untuk</a:t>
            </a:r>
            <a:r>
              <a:rPr sz="950" b="1" i="0" dirty="0">
                <a:solidFill>
                  <a:srgbClr val="1C4587"/>
                </a:solidFill>
                <a:latin typeface="Inter"/>
              </a:rPr>
              <a:t> </a:t>
            </a:r>
            <a:r>
              <a:rPr sz="950" b="1" i="0" dirty="0" err="1">
                <a:solidFill>
                  <a:srgbClr val="1C4587"/>
                </a:solidFill>
                <a:latin typeface="Inter"/>
              </a:rPr>
              <a:t>apa</a:t>
            </a:r>
            <a:endParaRPr sz="950" b="1" i="0" dirty="0">
              <a:solidFill>
                <a:srgbClr val="1C4587"/>
              </a:solidFill>
              <a:latin typeface="Inter"/>
            </a:endParaRPr>
          </a:p>
          <a:p>
            <a:pPr marL="182880" indent="-182880" algn="l">
              <a:lnSpc>
                <a:spcPct val="115000"/>
              </a:lnSpc>
              <a:spcAft>
                <a:spcPts val="400"/>
              </a:spcAft>
              <a:buClr>
                <a:srgbClr val="E0764F"/>
              </a:buClr>
              <a:buSzPct val="100000"/>
              <a:buFont typeface="Arial"/>
              <a:buChar char="•"/>
            </a:pPr>
            <a:r>
              <a:rPr sz="850" b="0" i="0" dirty="0" err="1">
                <a:solidFill>
                  <a:srgbClr val="434343"/>
                </a:solidFill>
                <a:latin typeface="Inter"/>
              </a:rPr>
              <a:t>Melindungi</a:t>
            </a:r>
            <a:r>
              <a:rPr sz="850" b="0" i="0" dirty="0">
                <a:solidFill>
                  <a:srgbClr val="434343"/>
                </a:solidFill>
                <a:latin typeface="Inter"/>
              </a:rPr>
              <a:t> server </a:t>
            </a:r>
            <a:r>
              <a:rPr sz="850" b="0" i="0" dirty="0" err="1">
                <a:solidFill>
                  <a:srgbClr val="434343"/>
                </a:solidFill>
                <a:latin typeface="Inter"/>
              </a:rPr>
              <a:t>dari</a:t>
            </a:r>
            <a:r>
              <a:rPr sz="850" b="0" i="0" dirty="0">
                <a:solidFill>
                  <a:srgbClr val="434343"/>
                </a:solidFill>
                <a:latin typeface="Inter"/>
              </a:rPr>
              <a:t> spam, bot, dan client yang salah </a:t>
            </a:r>
            <a:r>
              <a:rPr sz="850" b="0" i="0" dirty="0" err="1">
                <a:solidFill>
                  <a:srgbClr val="434343"/>
                </a:solidFill>
                <a:latin typeface="Inter"/>
              </a:rPr>
              <a:t>konfigurasi</a:t>
            </a:r>
            <a:endParaRPr sz="850" b="0" i="0" dirty="0">
              <a:solidFill>
                <a:srgbClr val="434343"/>
              </a:solidFill>
              <a:latin typeface="Inter"/>
            </a:endParaRPr>
          </a:p>
          <a:p>
            <a:pPr marL="182880" indent="-182880" algn="l">
              <a:lnSpc>
                <a:spcPct val="115000"/>
              </a:lnSpc>
              <a:spcAft>
                <a:spcPts val="400"/>
              </a:spcAft>
              <a:buClr>
                <a:srgbClr val="E0764F"/>
              </a:buClr>
              <a:buSzPct val="100000"/>
              <a:buFont typeface="Arial"/>
              <a:buChar char="•"/>
            </a:pPr>
            <a:r>
              <a:rPr sz="850" b="0" i="0" dirty="0" err="1">
                <a:solidFill>
                  <a:srgbClr val="434343"/>
                </a:solidFill>
                <a:latin typeface="Inter"/>
              </a:rPr>
              <a:t>Menjaga</a:t>
            </a:r>
            <a:r>
              <a:rPr sz="850" b="0" i="0" dirty="0">
                <a:solidFill>
                  <a:srgbClr val="434343"/>
                </a:solidFill>
                <a:latin typeface="Inter"/>
              </a:rPr>
              <a:t> client lain </a:t>
            </a:r>
            <a:r>
              <a:rPr sz="850" b="0" i="0" dirty="0" err="1">
                <a:solidFill>
                  <a:srgbClr val="434343"/>
                </a:solidFill>
                <a:latin typeface="Inter"/>
              </a:rPr>
              <a:t>tetap</a:t>
            </a:r>
            <a:r>
              <a:rPr sz="850" b="0" i="0" dirty="0">
                <a:solidFill>
                  <a:srgbClr val="434343"/>
                </a:solidFill>
                <a:latin typeface="Inter"/>
              </a:rPr>
              <a:t> </a:t>
            </a:r>
            <a:r>
              <a:rPr sz="850" b="0" i="0" dirty="0" err="1">
                <a:solidFill>
                  <a:srgbClr val="434343"/>
                </a:solidFill>
                <a:latin typeface="Inter"/>
              </a:rPr>
              <a:t>dilayani</a:t>
            </a:r>
            <a:r>
              <a:rPr sz="850" b="0" i="0" dirty="0">
                <a:solidFill>
                  <a:srgbClr val="434343"/>
                </a:solidFill>
                <a:latin typeface="Inter"/>
              </a:rPr>
              <a:t> </a:t>
            </a:r>
            <a:r>
              <a:rPr sz="850" b="0" i="0" dirty="0" err="1">
                <a:solidFill>
                  <a:srgbClr val="434343"/>
                </a:solidFill>
                <a:latin typeface="Inter"/>
              </a:rPr>
              <a:t>dengan</a:t>
            </a:r>
            <a:r>
              <a:rPr sz="850" b="0" i="0" dirty="0">
                <a:solidFill>
                  <a:srgbClr val="434343"/>
                </a:solidFill>
                <a:latin typeface="Inter"/>
              </a:rPr>
              <a:t> </a:t>
            </a:r>
            <a:r>
              <a:rPr sz="850" b="0" i="0" dirty="0" err="1">
                <a:solidFill>
                  <a:srgbClr val="434343"/>
                </a:solidFill>
                <a:latin typeface="Inter"/>
              </a:rPr>
              <a:t>cepat</a:t>
            </a:r>
            <a:endParaRPr sz="850" b="0" i="0" dirty="0">
              <a:solidFill>
                <a:srgbClr val="434343"/>
              </a:solidFill>
              <a:latin typeface="Inter"/>
            </a:endParaRPr>
          </a:p>
          <a:p>
            <a:pPr marL="182880" indent="-182880" algn="l">
              <a:lnSpc>
                <a:spcPct val="115000"/>
              </a:lnSpc>
              <a:spcAft>
                <a:spcPts val="400"/>
              </a:spcAft>
              <a:buClr>
                <a:srgbClr val="E0764F"/>
              </a:buClr>
              <a:buSzPct val="100000"/>
              <a:buFont typeface="Arial"/>
              <a:buChar char="•"/>
            </a:pPr>
            <a:r>
              <a:rPr sz="850" b="0" i="0" dirty="0" err="1">
                <a:solidFill>
                  <a:srgbClr val="434343"/>
                </a:solidFill>
                <a:latin typeface="Inter"/>
              </a:rPr>
              <a:t>Membatasi</a:t>
            </a:r>
            <a:r>
              <a:rPr sz="850" b="0" i="0" dirty="0">
                <a:solidFill>
                  <a:srgbClr val="434343"/>
                </a:solidFill>
                <a:latin typeface="Inter"/>
              </a:rPr>
              <a:t> endpoint yang </a:t>
            </a:r>
            <a:r>
              <a:rPr lang="en-US" sz="850" b="0" i="0" dirty="0" err="1">
                <a:solidFill>
                  <a:srgbClr val="434343"/>
                </a:solidFill>
                <a:latin typeface="Inter"/>
              </a:rPr>
              <a:t>berat</a:t>
            </a:r>
            <a:r>
              <a:rPr sz="850" b="0" i="0" dirty="0">
                <a:solidFill>
                  <a:srgbClr val="434343"/>
                </a:solidFill>
                <a:latin typeface="Inter"/>
              </a:rPr>
              <a:t> </a:t>
            </a:r>
            <a:r>
              <a:rPr sz="850" b="0" i="0" dirty="0" err="1">
                <a:solidFill>
                  <a:srgbClr val="434343"/>
                </a:solidFill>
                <a:latin typeface="Inter"/>
              </a:rPr>
              <a:t>diproses</a:t>
            </a:r>
            <a:r>
              <a:rPr sz="850" b="0" i="0" dirty="0">
                <a:solidFill>
                  <a:srgbClr val="434343"/>
                </a:solidFill>
                <a:latin typeface="Inter"/>
              </a:rPr>
              <a:t>, </a:t>
            </a:r>
            <a:r>
              <a:rPr sz="850" b="0" i="0" dirty="0" err="1">
                <a:solidFill>
                  <a:srgbClr val="434343"/>
                </a:solidFill>
                <a:latin typeface="Inter"/>
              </a:rPr>
              <a:t>misalnya</a:t>
            </a:r>
            <a:r>
              <a:rPr sz="850" b="0" i="0" dirty="0">
                <a:solidFill>
                  <a:srgbClr val="434343"/>
                </a:solidFill>
                <a:latin typeface="Inter"/>
              </a:rPr>
              <a:t> </a:t>
            </a:r>
            <a:r>
              <a:rPr sz="850" b="0" i="0" dirty="0" err="1">
                <a:solidFill>
                  <a:srgbClr val="434343"/>
                </a:solidFill>
                <a:latin typeface="Inter"/>
              </a:rPr>
              <a:t>membuat</a:t>
            </a:r>
            <a:r>
              <a:rPr sz="850" b="0" i="0" dirty="0">
                <a:solidFill>
                  <a:srgbClr val="434343"/>
                </a:solidFill>
                <a:latin typeface="Inter"/>
              </a:rPr>
              <a:t> order dan report</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rate limit: 05-rate-limiting/before.py</a:t>
            </a:r>
          </a:p>
        </p:txBody>
      </p:sp>
      <p:sp>
        <p:nvSpPr>
          <p:cNvPr id="28" name="CodeBg 11"/>
          <p:cNvSpPr/>
          <p:nvPr/>
        </p:nvSpPr>
        <p:spPr>
          <a:xfrm>
            <a:off x="4297680" y="1719072"/>
            <a:ext cx="4187951" cy="640080"/>
          </a:xfrm>
          <a:prstGeom prst="roundRect">
            <a:avLst>
              <a:gd name="adj" fmla="val 285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640080"/>
          </a:xfrm>
          <a:prstGeom prst="rect">
            <a:avLst/>
          </a:prstGeom>
          <a:noFill/>
        </p:spPr>
        <p:txBody>
          <a:bodyPr wrap="none" lIns="146304" tIns="91440" rIns="146304" bIns="54864">
            <a:spAutoFit/>
          </a:bodyPr>
          <a:lstStyle/>
          <a:p>
            <a:pPr>
              <a:lnSpc>
                <a:spcPct val="104167"/>
              </a:lnSpc>
              <a:spcAft>
                <a:spcPts val="0"/>
              </a:spcAft>
            </a:pPr>
            <a:r>
              <a:rPr sz="800" i="0">
                <a:solidFill>
                  <a:srgbClr val="F9C97A"/>
                </a:solidFill>
                <a:latin typeface="Inconsolata"/>
              </a:rPr>
              <a:t>@app.post</a:t>
            </a:r>
            <a:r>
              <a:rPr sz="800" i="0">
                <a:solidFill>
                  <a:srgbClr val="E6EDF3"/>
                </a:solidFill>
                <a:latin typeface="Inconsolata"/>
              </a:rPr>
              <a:t>(</a:t>
            </a:r>
            <a:r>
              <a:rPr sz="800" i="0">
                <a:solidFill>
                  <a:srgbClr val="A5D6A7"/>
                </a:solidFill>
                <a:latin typeface="Inconsolata"/>
              </a:rPr>
              <a:t>"/orders"</a:t>
            </a:r>
            <a:r>
              <a:rPr sz="800" i="0">
                <a:solidFill>
                  <a:srgbClr val="E6EDF3"/>
                </a:solidFill>
                <a:latin typeface="Inconsolata"/>
              </a:rPr>
              <a:t>, status_code=</a:t>
            </a:r>
            <a:r>
              <a:rPr sz="800" i="0">
                <a:solidFill>
                  <a:srgbClr val="F9C97A"/>
                </a:solidFill>
                <a:latin typeface="Inconsolata"/>
              </a:rPr>
              <a:t>201</a:t>
            </a:r>
            <a:r>
              <a:rPr sz="800" i="0">
                <a:solidFill>
                  <a:srgbClr val="E6EDF3"/>
                </a:solidFill>
                <a:latin typeface="Inconsolata"/>
              </a:rPr>
              <a:t>)</a:t>
            </a:r>
          </a:p>
          <a:p>
            <a:pPr>
              <a:lnSpc>
                <a:spcPct val="104167"/>
              </a:lnSpc>
              <a:spcAft>
                <a:spcPts val="0"/>
              </a:spcAft>
            </a:pP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create_order</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return</a:t>
            </a:r>
            <a:r>
              <a:rPr sz="800" i="0">
                <a:solidFill>
                  <a:srgbClr val="E6EDF3"/>
                </a:solidFill>
                <a:latin typeface="Inconsolata"/>
              </a:rPr>
              <a:t> {</a:t>
            </a:r>
            <a:r>
              <a:rPr sz="800" i="0">
                <a:solidFill>
                  <a:srgbClr val="A5D6A7"/>
                </a:solidFill>
                <a:latin typeface="Inconsolata"/>
              </a:rPr>
              <a:t>"message"</a:t>
            </a:r>
            <a:r>
              <a:rPr sz="800" i="0">
                <a:solidFill>
                  <a:srgbClr val="E6EDF3"/>
                </a:solidFill>
                <a:latin typeface="Inconsolata"/>
              </a:rPr>
              <a:t>: </a:t>
            </a:r>
            <a:r>
              <a:rPr sz="800" i="0">
                <a:solidFill>
                  <a:srgbClr val="A5D6A7"/>
                </a:solidFill>
                <a:latin typeface="Inconsolata"/>
              </a:rPr>
              <a:t>"Order dibuat"</a:t>
            </a:r>
            <a:r>
              <a:rPr sz="800" i="0">
                <a:solidFill>
                  <a:srgbClr val="E6EDF3"/>
                </a:solidFill>
                <a:latin typeface="Inconsolata"/>
              </a:rPr>
              <a:t>}</a:t>
            </a:r>
          </a:p>
        </p:txBody>
      </p:sp>
      <p:sp>
        <p:nvSpPr>
          <p:cNvPr id="30" name="Box 13"/>
          <p:cNvSpPr/>
          <p:nvPr/>
        </p:nvSpPr>
        <p:spPr>
          <a:xfrm>
            <a:off x="4379976" y="1827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4505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5283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5283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5283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4597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rate limit: 05-rate-limiting/after.py</a:t>
            </a:r>
          </a:p>
        </p:txBody>
      </p:sp>
      <p:sp>
        <p:nvSpPr>
          <p:cNvPr id="36" name="CodeBg 21"/>
          <p:cNvSpPr/>
          <p:nvPr/>
        </p:nvSpPr>
        <p:spPr>
          <a:xfrm>
            <a:off x="4297680" y="2688336"/>
            <a:ext cx="4187951" cy="2011679"/>
          </a:xfrm>
          <a:prstGeom prst="roundRect">
            <a:avLst>
              <a:gd name="adj" fmla="val 90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688336"/>
            <a:ext cx="4187951" cy="2011679"/>
          </a:xfrm>
          <a:prstGeom prst="rect">
            <a:avLst/>
          </a:prstGeom>
          <a:noFill/>
        </p:spPr>
        <p:txBody>
          <a:bodyPr wrap="none" lIns="146304" tIns="91440" rIns="146304" bIns="54864">
            <a:spAutoFit/>
          </a:bodyPr>
          <a:lstStyle/>
          <a:p>
            <a:pPr>
              <a:lnSpc>
                <a:spcPct val="104167"/>
              </a:lnSpc>
              <a:spcAft>
                <a:spcPts val="0"/>
              </a:spcAft>
            </a:pP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rate_limit</a:t>
            </a:r>
            <a:r>
              <a:rPr sz="800" i="0">
                <a:solidFill>
                  <a:srgbClr val="E6EDF3"/>
                </a:solidFill>
                <a:latin typeface="Inconsolata"/>
              </a:rPr>
              <a:t>(request: </a:t>
            </a:r>
            <a:r>
              <a:rPr sz="800" i="0">
                <a:solidFill>
                  <a:srgbClr val="7FDBCA"/>
                </a:solidFill>
                <a:latin typeface="Inconsolata"/>
              </a:rPr>
              <a:t>Request</a:t>
            </a:r>
            <a:r>
              <a:rPr sz="800" i="0">
                <a:solidFill>
                  <a:srgbClr val="E6EDF3"/>
                </a:solidFill>
                <a:latin typeface="Inconsolata"/>
              </a:rPr>
              <a:t>) -&gt; </a:t>
            </a:r>
            <a:r>
              <a:rPr sz="800" i="0">
                <a:solidFill>
                  <a:srgbClr val="FF8E6E"/>
                </a:solidFill>
                <a:latin typeface="Inconsolata"/>
              </a:rPr>
              <a:t>None</a:t>
            </a:r>
            <a:r>
              <a:rPr sz="800" i="0">
                <a:solidFill>
                  <a:srgbClr val="E6EDF3"/>
                </a:solidFill>
                <a:latin typeface="Inconsolata"/>
              </a:rPr>
              <a:t>:</a:t>
            </a:r>
          </a:p>
          <a:p>
            <a:pPr>
              <a:lnSpc>
                <a:spcPct val="104167"/>
              </a:lnSpc>
              <a:spcAft>
                <a:spcPts val="0"/>
              </a:spcAft>
            </a:pPr>
            <a:r>
              <a:rPr sz="800" i="0">
                <a:solidFill>
                  <a:srgbClr val="E6EDF3"/>
                </a:solidFill>
                <a:latin typeface="Inconsolata"/>
              </a:rPr>
              <a:t>    now = </a:t>
            </a:r>
            <a:r>
              <a:rPr sz="800" i="0">
                <a:solidFill>
                  <a:srgbClr val="C3A6FF"/>
                </a:solidFill>
                <a:latin typeface="Inconsolata"/>
              </a:rPr>
              <a:t>int</a:t>
            </a:r>
            <a:r>
              <a:rPr sz="800" i="0">
                <a:solidFill>
                  <a:srgbClr val="E6EDF3"/>
                </a:solidFill>
                <a:latin typeface="Inconsolata"/>
              </a:rPr>
              <a:t>(time.time())</a:t>
            </a:r>
          </a:p>
          <a:p>
            <a:pPr>
              <a:lnSpc>
                <a:spcPct val="104167"/>
              </a:lnSpc>
              <a:spcAft>
                <a:spcPts val="0"/>
              </a:spcAft>
            </a:pPr>
            <a:r>
              <a:rPr sz="800" i="0">
                <a:solidFill>
                  <a:srgbClr val="E6EDF3"/>
                </a:solidFill>
                <a:latin typeface="Inconsolata"/>
              </a:rPr>
              <a:t>    key = </a:t>
            </a:r>
            <a:r>
              <a:rPr sz="800" i="0">
                <a:solidFill>
                  <a:srgbClr val="A5D6A7"/>
                </a:solidFill>
                <a:latin typeface="Inconsolata"/>
              </a:rPr>
              <a:t>f"ratelimit:{request.client.host}:{now // WINDOW}"</a:t>
            </a:r>
          </a:p>
          <a:p>
            <a:pPr>
              <a:lnSpc>
                <a:spcPct val="104167"/>
              </a:lnSpc>
              <a:spcAft>
                <a:spcPts val="0"/>
              </a:spcAft>
            </a:pPr>
            <a:r>
              <a:rPr sz="800" i="0">
                <a:solidFill>
                  <a:srgbClr val="E6EDF3"/>
                </a:solidFill>
                <a:latin typeface="Inconsolata"/>
              </a:rPr>
              <a:t>    count = cache.incr(key)</a:t>
            </a:r>
          </a:p>
          <a:p>
            <a:pPr>
              <a:lnSpc>
                <a:spcPct val="104167"/>
              </a:lnSpc>
              <a:spcAft>
                <a:spcPts val="0"/>
              </a:spcAft>
            </a:pPr>
            <a:r>
              <a:rPr sz="800" i="0">
                <a:solidFill>
                  <a:srgbClr val="E6EDF3"/>
                </a:solidFill>
                <a:latin typeface="Inconsolata"/>
              </a:rPr>
              <a:t>    ...</a:t>
            </a:r>
          </a:p>
          <a:p>
            <a:pPr>
              <a:lnSpc>
                <a:spcPct val="104167"/>
              </a:lnSpc>
              <a:spcAft>
                <a:spcPts val="0"/>
              </a:spcAft>
            </a:pPr>
            <a:r>
              <a:rPr sz="800" i="0">
                <a:solidFill>
                  <a:srgbClr val="E6EDF3"/>
                </a:solidFill>
                <a:latin typeface="Inconsolata"/>
              </a:rPr>
              <a:t>    </a:t>
            </a:r>
            <a:r>
              <a:rPr sz="800" i="0">
                <a:solidFill>
                  <a:srgbClr val="FF8E6E"/>
                </a:solidFill>
                <a:latin typeface="Inconsolata"/>
              </a:rPr>
              <a:t>if</a:t>
            </a:r>
            <a:r>
              <a:rPr sz="800" i="0">
                <a:solidFill>
                  <a:srgbClr val="E6EDF3"/>
                </a:solidFill>
                <a:latin typeface="Inconsolata"/>
              </a:rPr>
              <a:t> count &gt; </a:t>
            </a:r>
            <a:r>
              <a:rPr sz="800" i="0">
                <a:solidFill>
                  <a:srgbClr val="7FDBCA"/>
                </a:solidFill>
                <a:latin typeface="Inconsolata"/>
              </a:rPr>
              <a:t>LIMIT</a:t>
            </a:r>
            <a:r>
              <a:rPr sz="800" i="0">
                <a:solidFill>
                  <a:srgbClr val="E6EDF3"/>
                </a:solidFill>
                <a:latin typeface="Inconsolata"/>
              </a:rPr>
              <a:t>:</a:t>
            </a:r>
          </a:p>
          <a:p>
            <a:pPr>
              <a:lnSpc>
                <a:spcPct val="104167"/>
              </a:lnSpc>
              <a:spcAft>
                <a:spcPts val="0"/>
              </a:spcAft>
            </a:pPr>
            <a:r>
              <a:rPr sz="800" i="0">
                <a:solidFill>
                  <a:srgbClr val="E6EDF3"/>
                </a:solidFill>
                <a:latin typeface="Inconsolata"/>
              </a:rPr>
              <a:t>        retry_after = </a:t>
            </a:r>
            <a:r>
              <a:rPr sz="800" i="0">
                <a:solidFill>
                  <a:srgbClr val="C3A6FF"/>
                </a:solidFill>
                <a:latin typeface="Inconsolata"/>
              </a:rPr>
              <a:t>str</a:t>
            </a:r>
            <a:r>
              <a:rPr sz="800" i="0">
                <a:solidFill>
                  <a:srgbClr val="E6EDF3"/>
                </a:solidFill>
                <a:latin typeface="Inconsolata"/>
              </a:rPr>
              <a:t>(</a:t>
            </a:r>
            <a:r>
              <a:rPr sz="800" i="0">
                <a:solidFill>
                  <a:srgbClr val="7FDBCA"/>
                </a:solidFill>
                <a:latin typeface="Inconsolata"/>
              </a:rPr>
              <a:t>WINDOW</a:t>
            </a:r>
            <a:r>
              <a:rPr sz="800" i="0">
                <a:solidFill>
                  <a:srgbClr val="E6EDF3"/>
                </a:solidFill>
                <a:latin typeface="Inconsolata"/>
              </a:rPr>
              <a:t> - now % </a:t>
            </a:r>
            <a:r>
              <a:rPr sz="800" i="0">
                <a:solidFill>
                  <a:srgbClr val="7FDBCA"/>
                </a:solidFill>
                <a:latin typeface="Inconsolata"/>
              </a:rPr>
              <a:t>WINDOW</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raise</a:t>
            </a:r>
            <a:r>
              <a:rPr sz="800" i="0">
                <a:solidFill>
                  <a:srgbClr val="E6EDF3"/>
                </a:solidFill>
                <a:latin typeface="Inconsolata"/>
              </a:rPr>
              <a:t> </a:t>
            </a:r>
            <a:r>
              <a:rPr sz="800" i="0">
                <a:solidFill>
                  <a:srgbClr val="7FDBCA"/>
                </a:solidFill>
                <a:latin typeface="Inconsolata"/>
              </a:rPr>
              <a:t>HTTPException</a:t>
            </a:r>
            <a:r>
              <a:rPr sz="800" i="0">
                <a:solidFill>
                  <a:srgbClr val="E6EDF3"/>
                </a:solidFill>
                <a:latin typeface="Inconsolata"/>
              </a:rPr>
              <a:t>(</a:t>
            </a:r>
            <a:r>
              <a:rPr sz="800" i="0">
                <a:solidFill>
                  <a:srgbClr val="F9C97A"/>
                </a:solidFill>
                <a:latin typeface="Inconsolata"/>
              </a:rPr>
              <a:t>429</a:t>
            </a:r>
            <a:r>
              <a:rPr sz="800" i="0">
                <a:solidFill>
                  <a:srgbClr val="E6EDF3"/>
                </a:solidFill>
                <a:latin typeface="Inconsolata"/>
              </a:rPr>
              <a:t>, </a:t>
            </a:r>
            <a:r>
              <a:rPr sz="800" i="0">
                <a:solidFill>
                  <a:srgbClr val="A5D6A7"/>
                </a:solidFill>
                <a:latin typeface="Inconsolata"/>
              </a:rPr>
              <a:t>"Terlalu banyak request"</a:t>
            </a:r>
            <a:r>
              <a:rPr sz="800" i="0">
                <a:solidFill>
                  <a:srgbClr val="E6EDF3"/>
                </a:solidFill>
                <a:latin typeface="Inconsolata"/>
              </a:rPr>
              <a:t>,</a:t>
            </a:r>
          </a:p>
          <a:p>
            <a:pPr>
              <a:lnSpc>
                <a:spcPct val="104167"/>
              </a:lnSpc>
              <a:spcAft>
                <a:spcPts val="0"/>
              </a:spcAft>
            </a:pPr>
            <a:r>
              <a:rPr sz="800" i="0">
                <a:solidFill>
                  <a:srgbClr val="E6EDF3"/>
                </a:solidFill>
                <a:latin typeface="Inconsolata"/>
              </a:rPr>
              <a:t>                            headers={</a:t>
            </a:r>
            <a:r>
              <a:rPr sz="800" i="0">
                <a:solidFill>
                  <a:srgbClr val="A5D6A7"/>
                </a:solidFill>
                <a:latin typeface="Inconsolata"/>
              </a:rPr>
              <a:t>"Retry-After"</a:t>
            </a:r>
            <a:r>
              <a:rPr sz="800" i="0">
                <a:solidFill>
                  <a:srgbClr val="E6EDF3"/>
                </a:solidFill>
                <a:latin typeface="Inconsolata"/>
              </a:rPr>
              <a:t>: retry_after})</a:t>
            </a:r>
          </a:p>
        </p:txBody>
      </p:sp>
      <p:sp>
        <p:nvSpPr>
          <p:cNvPr id="38" name="Box 23"/>
          <p:cNvSpPr/>
          <p:nvPr/>
        </p:nvSpPr>
        <p:spPr>
          <a:xfrm>
            <a:off x="4379976" y="317728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31286"/>
            <a:ext cx="4023359" cy="500380"/>
          </a:xfrm>
          <a:prstGeom prst="roundRect">
            <a:avLst>
              <a:gd name="adj" fmla="val 913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Rate Limiting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Rate Limiting?</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rate limiting</a:t>
            </a:r>
          </a:p>
          <a:p>
            <a:pPr algn="l">
              <a:lnSpc>
                <a:spcPct val="115000"/>
              </a:lnSpc>
              <a:spcAft>
                <a:spcPts val="400"/>
              </a:spcAft>
            </a:pPr>
            <a:r>
              <a:rPr sz="950" b="0" i="0">
                <a:solidFill>
                  <a:srgbClr val="434343"/>
                </a:solidFill>
                <a:latin typeface="Inter"/>
              </a:rPr>
              <a:t>Satu client atau bot bisa mengirim ratusan request per detik ke </a:t>
            </a:r>
            <a:r>
              <a:rPr sz="950" b="0" i="0">
                <a:solidFill>
                  <a:srgbClr val="B5482A"/>
                </a:solidFill>
                <a:latin typeface="Inconsolata"/>
              </a:rPr>
              <a:t>POST /orders</a:t>
            </a:r>
            <a:r>
              <a:rPr sz="950" b="0" i="0">
                <a:solidFill>
                  <a:srgbClr val="434343"/>
                </a:solidFill>
                <a:latin typeface="Inter"/>
              </a:rPr>
              <a:t>, dan semuanya diterima.</a:t>
            </a:r>
          </a:p>
          <a:p>
            <a:pPr algn="l">
              <a:lnSpc>
                <a:spcPct val="115000"/>
              </a:lnSpc>
              <a:spcAft>
                <a:spcPts val="400"/>
              </a:spcAft>
            </a:pPr>
            <a:r>
              <a:rPr sz="1050" b="1" i="0">
                <a:solidFill>
                  <a:srgbClr val="1C4587"/>
                </a:solidFill>
                <a:latin typeface="Inter"/>
              </a:rPr>
              <a:t>Jika clientnya makin banyak</a:t>
            </a:r>
          </a:p>
          <a:p>
            <a:pPr algn="l">
              <a:lnSpc>
                <a:spcPct val="115000"/>
              </a:lnSpc>
              <a:spcAft>
                <a:spcPts val="400"/>
              </a:spcAft>
            </a:pPr>
            <a:r>
              <a:rPr sz="950" b="0" i="0">
                <a:solidFill>
                  <a:srgbClr val="434343"/>
                </a:solidFill>
                <a:latin typeface="Inter"/>
              </a:rPr>
              <a:t>Satu client yang mengirim terlalu banyak request menghabiskan CPU, koneksi database, dan queue worker.</a:t>
            </a:r>
          </a:p>
          <a:p>
            <a:pPr algn="l">
              <a:lnSpc>
                <a:spcPct val="115000"/>
              </a:lnSpc>
              <a:spcAft>
                <a:spcPts val="400"/>
              </a:spcAft>
            </a:pPr>
            <a:r>
              <a:rPr sz="950" b="0" i="0">
                <a:solidFill>
                  <a:srgbClr val="434343"/>
                </a:solidFill>
                <a:latin typeface="Inter"/>
              </a:rPr>
              <a:t>Hal ini membuat client lain ikut lambat, padahal mereka memakai API dengan wajar.</a:t>
            </a:r>
          </a:p>
          <a:p>
            <a:pPr algn="l">
              <a:lnSpc>
                <a:spcPct val="115000"/>
              </a:lnSpc>
              <a:spcAft>
                <a:spcPts val="400"/>
              </a:spcAft>
            </a:pPr>
            <a:r>
              <a:rPr sz="1050" b="1" i="0">
                <a:solidFill>
                  <a:srgbClr val="1C4587"/>
                </a:solidFill>
                <a:latin typeface="Inter"/>
              </a:rPr>
              <a:t>Yang dipakai: INCR dan EXPIRE di Redis, Depends di FastAPI</a:t>
            </a:r>
          </a:p>
          <a:p>
            <a:pPr algn="l">
              <a:lnSpc>
                <a:spcPct val="115000"/>
              </a:lnSpc>
              <a:spcAft>
                <a:spcPts val="400"/>
              </a:spcAft>
            </a:pPr>
            <a:r>
              <a:rPr sz="950" b="0" i="0">
                <a:solidFill>
                  <a:srgbClr val="434343"/>
                </a:solidFill>
                <a:latin typeface="Inter"/>
              </a:rPr>
              <a:t>Counter disimpan di Redis, bukan di memory, supaya limit tetap berlaku walaupun API dijalankan di beberapa server.</a:t>
            </a:r>
          </a:p>
        </p:txBody>
      </p:sp>
      <p:graphicFrame>
        <p:nvGraphicFramePr>
          <p:cNvPr id="23" name="Table 4"/>
          <p:cNvGraphicFramePr>
            <a:graphicFrameLocks noGrp="1"/>
          </p:cNvGraphicFramePr>
          <p:nvPr/>
        </p:nvGraphicFramePr>
        <p:xfrm>
          <a:off x="4800600" y="1481328"/>
          <a:ext cx="3685032" cy="2286000"/>
        </p:xfrm>
        <a:graphic>
          <a:graphicData uri="http://schemas.openxmlformats.org/drawingml/2006/table">
            <a:tbl>
              <a:tblPr firstRow="1" bandRow="1"/>
              <a:tblGrid>
                <a:gridCol w="2176272">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cache.incr(key)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Tambah counter 1, mulai dari 0 jika belum ada</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cache.expire(key, 60)</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Counter terhapus setelah window selesai</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dependencies=[Depends(rate_limit)]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Cek limit sebelum route dijalankan</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Aft>
                          <a:spcPts val="0"/>
                        </a:spcAft>
                      </a:pPr>
                      <a:r>
                        <a:rPr sz="850" b="1" i="0">
                          <a:solidFill>
                            <a:srgbClr val="1C4587"/>
                          </a:solidFill>
                          <a:latin typeface="Inter"/>
                        </a:rPr>
                        <a:t>HTTPException(429, headers=...)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Tolak dengan header Retry-After</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Rate Limiting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tanpa batas request</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05-rate-limiting/before.py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4762"/>
              </a:lnSpc>
              <a:spcAft>
                <a:spcPts val="0"/>
              </a:spcAft>
            </a:pPr>
            <a:r>
              <a:rPr sz="875" i="0">
                <a:solidFill>
                  <a:srgbClr val="5C6773"/>
                </a:solidFill>
                <a:latin typeface="Inconsolata"/>
              </a:rPr>
              <a:t> 9  </a:t>
            </a:r>
            <a:r>
              <a:rPr sz="875" i="0">
                <a:solidFill>
                  <a:srgbClr val="FF8E6E"/>
                </a:solidFill>
                <a:latin typeface="Inconsolata"/>
              </a:rPr>
              <a:t>from</a:t>
            </a:r>
            <a:r>
              <a:rPr sz="875" i="0">
                <a:solidFill>
                  <a:srgbClr val="E6EDF3"/>
                </a:solidFill>
                <a:latin typeface="Inconsolata"/>
              </a:rPr>
              <a:t> fastapi </a:t>
            </a:r>
            <a:r>
              <a:rPr sz="875" i="0">
                <a:solidFill>
                  <a:srgbClr val="FF8E6E"/>
                </a:solidFill>
                <a:latin typeface="Inconsolata"/>
              </a:rPr>
              <a:t>import</a:t>
            </a:r>
            <a:r>
              <a:rPr sz="875" i="0">
                <a:solidFill>
                  <a:srgbClr val="E6EDF3"/>
                </a:solidFill>
                <a:latin typeface="Inconsolata"/>
              </a:rPr>
              <a:t> </a:t>
            </a:r>
            <a:r>
              <a:rPr sz="875" i="0">
                <a:solidFill>
                  <a:srgbClr val="7FDBCA"/>
                </a:solidFill>
                <a:latin typeface="Inconsolata"/>
              </a:rPr>
              <a:t>FastAPI</a:t>
            </a:r>
          </a:p>
          <a:p>
            <a:pPr>
              <a:lnSpc>
                <a:spcPct val="104762"/>
              </a:lnSpc>
              <a:spcAft>
                <a:spcPts val="0"/>
              </a:spcAft>
            </a:pPr>
            <a:r>
              <a:rPr sz="875" i="0">
                <a:solidFill>
                  <a:srgbClr val="5C6773"/>
                </a:solidFill>
                <a:latin typeface="Inconsolata"/>
              </a:rPr>
              <a:t>10  </a:t>
            </a:r>
            <a:r>
              <a:rPr sz="875" i="0">
                <a:solidFill>
                  <a:srgbClr val="FF8E6E"/>
                </a:solidFill>
                <a:latin typeface="Inconsolata"/>
              </a:rPr>
              <a:t>from</a:t>
            </a:r>
            <a:r>
              <a:rPr sz="875" i="0">
                <a:solidFill>
                  <a:srgbClr val="E6EDF3"/>
                </a:solidFill>
                <a:latin typeface="Inconsolata"/>
              </a:rPr>
              <a:t> fastapi.testclient </a:t>
            </a:r>
            <a:r>
              <a:rPr sz="875" i="0">
                <a:solidFill>
                  <a:srgbClr val="FF8E6E"/>
                </a:solidFill>
                <a:latin typeface="Inconsolata"/>
              </a:rPr>
              <a:t>import</a:t>
            </a:r>
            <a:r>
              <a:rPr sz="875" i="0">
                <a:solidFill>
                  <a:srgbClr val="E6EDF3"/>
                </a:solidFill>
                <a:latin typeface="Inconsolata"/>
              </a:rPr>
              <a:t> </a:t>
            </a:r>
            <a:r>
              <a:rPr sz="875" i="0">
                <a:solidFill>
                  <a:srgbClr val="7FDBCA"/>
                </a:solidFill>
                <a:latin typeface="Inconsolata"/>
              </a:rPr>
              <a:t>TestClient</a:t>
            </a:r>
          </a:p>
          <a:p>
            <a:pPr>
              <a:lnSpc>
                <a:spcPct val="104762"/>
              </a:lnSpc>
              <a:spcAft>
                <a:spcPts val="0"/>
              </a:spcAft>
            </a:pPr>
            <a:r>
              <a:rPr sz="875" i="0">
                <a:solidFill>
                  <a:srgbClr val="5C6773"/>
                </a:solidFill>
                <a:latin typeface="Inconsolata"/>
              </a:rPr>
              <a:t>11  </a:t>
            </a:r>
            <a:r>
              <a:rPr sz="875" i="0">
                <a:solidFill>
                  <a:srgbClr val="E6EDF3"/>
                </a:solidFill>
                <a:latin typeface="Inconsolata"/>
              </a:rPr>
              <a:t> </a:t>
            </a:r>
          </a:p>
          <a:p>
            <a:pPr>
              <a:lnSpc>
                <a:spcPct val="104762"/>
              </a:lnSpc>
              <a:spcAft>
                <a:spcPts val="0"/>
              </a:spcAft>
            </a:pPr>
            <a:r>
              <a:rPr sz="875" i="0">
                <a:solidFill>
                  <a:srgbClr val="5C6773"/>
                </a:solidFill>
                <a:latin typeface="Inconsolata"/>
              </a:rPr>
              <a:t>12  </a:t>
            </a:r>
            <a:r>
              <a:rPr sz="875" i="0">
                <a:solidFill>
                  <a:srgbClr val="E6EDF3"/>
                </a:solidFill>
                <a:latin typeface="Inconsolata"/>
              </a:rPr>
              <a:t>app = </a:t>
            </a:r>
            <a:r>
              <a:rPr sz="875" i="0">
                <a:solidFill>
                  <a:srgbClr val="7FDBCA"/>
                </a:solidFill>
                <a:latin typeface="Inconsolata"/>
              </a:rPr>
              <a:t>FastAPI</a:t>
            </a:r>
            <a:r>
              <a:rPr sz="875" i="0">
                <a:solidFill>
                  <a:srgbClr val="E6EDF3"/>
                </a:solidFill>
                <a:latin typeface="Inconsolata"/>
              </a:rPr>
              <a:t>()</a:t>
            </a:r>
          </a:p>
          <a:p>
            <a:pPr>
              <a:lnSpc>
                <a:spcPct val="104762"/>
              </a:lnSpc>
              <a:spcAft>
                <a:spcPts val="0"/>
              </a:spcAft>
            </a:pPr>
            <a:r>
              <a:rPr sz="875" i="0">
                <a:solidFill>
                  <a:srgbClr val="5C6773"/>
                </a:solidFill>
                <a:latin typeface="Inconsolata"/>
              </a:rPr>
              <a:t>13  </a:t>
            </a:r>
            <a:r>
              <a:rPr sz="875" i="0">
                <a:solidFill>
                  <a:srgbClr val="E6EDF3"/>
                </a:solidFill>
                <a:latin typeface="Inconsolata"/>
              </a:rPr>
              <a:t> </a:t>
            </a:r>
          </a:p>
          <a:p>
            <a:pPr>
              <a:lnSpc>
                <a:spcPct val="104762"/>
              </a:lnSpc>
              <a:spcAft>
                <a:spcPts val="0"/>
              </a:spcAft>
            </a:pPr>
            <a:r>
              <a:rPr sz="875" i="0">
                <a:solidFill>
                  <a:srgbClr val="5C6773"/>
                </a:solidFill>
                <a:latin typeface="Inconsolata"/>
              </a:rPr>
              <a:t>14  </a:t>
            </a:r>
            <a:r>
              <a:rPr sz="875" i="0">
                <a:solidFill>
                  <a:srgbClr val="E6EDF3"/>
                </a:solidFill>
                <a:latin typeface="Inconsolata"/>
              </a:rPr>
              <a:t> </a:t>
            </a:r>
          </a:p>
          <a:p>
            <a:pPr>
              <a:lnSpc>
                <a:spcPct val="104762"/>
              </a:lnSpc>
              <a:spcAft>
                <a:spcPts val="0"/>
              </a:spcAft>
            </a:pPr>
            <a:r>
              <a:rPr sz="875" i="0">
                <a:solidFill>
                  <a:srgbClr val="5C6773"/>
                </a:solidFill>
                <a:latin typeface="Inconsolata"/>
              </a:rPr>
              <a:t>15  </a:t>
            </a:r>
            <a:r>
              <a:rPr sz="875" i="0">
                <a:solidFill>
                  <a:srgbClr val="F9C97A"/>
                </a:solidFill>
                <a:latin typeface="Inconsolata"/>
              </a:rPr>
              <a:t>@app.post</a:t>
            </a:r>
            <a:r>
              <a:rPr sz="875" i="0">
                <a:solidFill>
                  <a:srgbClr val="E6EDF3"/>
                </a:solidFill>
                <a:latin typeface="Inconsolata"/>
              </a:rPr>
              <a:t>(</a:t>
            </a:r>
            <a:r>
              <a:rPr sz="875" i="0">
                <a:solidFill>
                  <a:srgbClr val="A5D6A7"/>
                </a:solidFill>
                <a:latin typeface="Inconsolata"/>
              </a:rPr>
              <a:t>"/orders"</a:t>
            </a:r>
            <a:r>
              <a:rPr sz="875" i="0">
                <a:solidFill>
                  <a:srgbClr val="E6EDF3"/>
                </a:solidFill>
                <a:latin typeface="Inconsolata"/>
              </a:rPr>
              <a:t>, status_code=</a:t>
            </a:r>
            <a:r>
              <a:rPr sz="875" i="0">
                <a:solidFill>
                  <a:srgbClr val="F9C97A"/>
                </a:solidFill>
                <a:latin typeface="Inconsolata"/>
              </a:rPr>
              <a:t>201</a:t>
            </a:r>
            <a:r>
              <a:rPr sz="875" i="0">
                <a:solidFill>
                  <a:srgbClr val="E6EDF3"/>
                </a:solidFill>
                <a:latin typeface="Inconsolata"/>
              </a:rPr>
              <a:t>)</a:t>
            </a:r>
          </a:p>
          <a:p>
            <a:pPr>
              <a:lnSpc>
                <a:spcPct val="104762"/>
              </a:lnSpc>
              <a:spcAft>
                <a:spcPts val="0"/>
              </a:spcAft>
            </a:pPr>
            <a:r>
              <a:rPr sz="875" i="0">
                <a:solidFill>
                  <a:srgbClr val="5C6773"/>
                </a:solidFill>
                <a:latin typeface="Inconsolata"/>
              </a:rPr>
              <a:t>16  </a:t>
            </a:r>
            <a:r>
              <a:rPr sz="875" i="0">
                <a:solidFill>
                  <a:srgbClr val="FF8E6E"/>
                </a:solidFill>
                <a:latin typeface="Inconsolata"/>
              </a:rPr>
              <a:t>def</a:t>
            </a:r>
            <a:r>
              <a:rPr sz="875" i="0">
                <a:solidFill>
                  <a:srgbClr val="E6EDF3"/>
                </a:solidFill>
                <a:latin typeface="Inconsolata"/>
              </a:rPr>
              <a:t> </a:t>
            </a:r>
            <a:r>
              <a:rPr sz="875" i="0">
                <a:solidFill>
                  <a:srgbClr val="82B1FF"/>
                </a:solidFill>
                <a:latin typeface="Inconsolata"/>
              </a:rPr>
              <a:t>create_order</a:t>
            </a:r>
            <a:r>
              <a:rPr sz="875" i="0">
                <a:solidFill>
                  <a:srgbClr val="E6EDF3"/>
                </a:solidFill>
                <a:latin typeface="Inconsolata"/>
              </a:rPr>
              <a:t>():</a:t>
            </a:r>
          </a:p>
          <a:p>
            <a:pPr>
              <a:lnSpc>
                <a:spcPct val="104762"/>
              </a:lnSpc>
              <a:spcAft>
                <a:spcPts val="0"/>
              </a:spcAft>
            </a:pPr>
            <a:r>
              <a:rPr sz="875" i="0">
                <a:solidFill>
                  <a:srgbClr val="5C6773"/>
                </a:solidFill>
                <a:latin typeface="Inconsolata"/>
              </a:rPr>
              <a:t>17  </a:t>
            </a:r>
            <a:r>
              <a:rPr sz="875" i="0">
                <a:solidFill>
                  <a:srgbClr val="E6EDF3"/>
                </a:solidFill>
                <a:latin typeface="Inconsolata"/>
              </a:rPr>
              <a:t>    </a:t>
            </a:r>
            <a:r>
              <a:rPr sz="875" i="0">
                <a:solidFill>
                  <a:srgbClr val="FF8E6E"/>
                </a:solidFill>
                <a:latin typeface="Inconsolata"/>
              </a:rPr>
              <a:t>return</a:t>
            </a:r>
            <a:r>
              <a:rPr sz="875" i="0">
                <a:solidFill>
                  <a:srgbClr val="E6EDF3"/>
                </a:solidFill>
                <a:latin typeface="Inconsolata"/>
              </a:rPr>
              <a:t> {</a:t>
            </a:r>
            <a:r>
              <a:rPr sz="875" i="0">
                <a:solidFill>
                  <a:srgbClr val="A5D6A7"/>
                </a:solidFill>
                <a:latin typeface="Inconsolata"/>
              </a:rPr>
              <a:t>"message"</a:t>
            </a:r>
            <a:r>
              <a:rPr sz="875" i="0">
                <a:solidFill>
                  <a:srgbClr val="E6EDF3"/>
                </a:solidFill>
                <a:latin typeface="Inconsolata"/>
              </a:rPr>
              <a:t>: </a:t>
            </a:r>
            <a:r>
              <a:rPr sz="875" i="0">
                <a:solidFill>
                  <a:srgbClr val="A5D6A7"/>
                </a:solidFill>
                <a:latin typeface="Inconsolata"/>
              </a:rPr>
              <a:t>"Order dibuat"</a:t>
            </a:r>
            <a:r>
              <a:rPr sz="875" i="0">
                <a:solidFill>
                  <a:srgbClr val="E6EDF3"/>
                </a:solidFill>
                <a:latin typeface="Inconsolata"/>
              </a:rPr>
              <a:t>}</a:t>
            </a:r>
          </a:p>
          <a:p>
            <a:pPr>
              <a:lnSpc>
                <a:spcPct val="104762"/>
              </a:lnSpc>
              <a:spcAft>
                <a:spcPts val="0"/>
              </a:spcAft>
            </a:pPr>
            <a:r>
              <a:rPr sz="875" i="0">
                <a:solidFill>
                  <a:srgbClr val="5C6773"/>
                </a:solidFill>
                <a:latin typeface="Inconsolata"/>
              </a:rPr>
              <a:t>18  </a:t>
            </a:r>
            <a:r>
              <a:rPr sz="875" i="0">
                <a:solidFill>
                  <a:srgbClr val="E6EDF3"/>
                </a:solidFill>
                <a:latin typeface="Inconsolata"/>
              </a:rPr>
              <a:t> </a:t>
            </a:r>
          </a:p>
          <a:p>
            <a:pPr>
              <a:lnSpc>
                <a:spcPct val="104762"/>
              </a:lnSpc>
              <a:spcAft>
                <a:spcPts val="0"/>
              </a:spcAft>
            </a:pPr>
            <a:r>
              <a:rPr sz="875" i="0">
                <a:solidFill>
                  <a:srgbClr val="5C6773"/>
                </a:solidFill>
                <a:latin typeface="Inconsolata"/>
              </a:rPr>
              <a:t>19  </a:t>
            </a:r>
            <a:r>
              <a:rPr sz="875" i="0">
                <a:solidFill>
                  <a:srgbClr val="E6EDF3"/>
                </a:solidFill>
                <a:latin typeface="Inconsolata"/>
              </a:rPr>
              <a:t> </a:t>
            </a:r>
          </a:p>
          <a:p>
            <a:pPr>
              <a:lnSpc>
                <a:spcPct val="104762"/>
              </a:lnSpc>
              <a:spcAft>
                <a:spcPts val="0"/>
              </a:spcAft>
            </a:pPr>
            <a:r>
              <a:rPr sz="875" i="0">
                <a:solidFill>
                  <a:srgbClr val="5C6773"/>
                </a:solidFill>
                <a:latin typeface="Inconsolata"/>
              </a:rPr>
              <a:t>20  </a:t>
            </a:r>
            <a:r>
              <a:rPr sz="875" i="0">
                <a:solidFill>
                  <a:srgbClr val="FF8E6E"/>
                </a:solidFill>
                <a:latin typeface="Inconsolata"/>
              </a:rPr>
              <a:t>if</a:t>
            </a:r>
            <a:r>
              <a:rPr sz="875" i="0">
                <a:solidFill>
                  <a:srgbClr val="E6EDF3"/>
                </a:solidFill>
                <a:latin typeface="Inconsolata"/>
              </a:rPr>
              <a:t> __name__ == </a:t>
            </a:r>
            <a:r>
              <a:rPr sz="875" i="0">
                <a:solidFill>
                  <a:srgbClr val="A5D6A7"/>
                </a:solidFill>
                <a:latin typeface="Inconsolata"/>
              </a:rPr>
              <a:t>"__main__"</a:t>
            </a:r>
            <a:r>
              <a:rPr sz="875" i="0">
                <a:solidFill>
                  <a:srgbClr val="E6EDF3"/>
                </a:solidFill>
                <a:latin typeface="Inconsolata"/>
              </a:rPr>
              <a:t>:</a:t>
            </a:r>
          </a:p>
          <a:p>
            <a:pPr>
              <a:lnSpc>
                <a:spcPct val="104762"/>
              </a:lnSpc>
              <a:spcAft>
                <a:spcPts val="0"/>
              </a:spcAft>
            </a:pPr>
            <a:r>
              <a:rPr sz="875" i="0">
                <a:solidFill>
                  <a:srgbClr val="5C6773"/>
                </a:solidFill>
                <a:latin typeface="Inconsolata"/>
              </a:rPr>
              <a:t>21  </a:t>
            </a:r>
            <a:r>
              <a:rPr sz="875" i="0">
                <a:solidFill>
                  <a:srgbClr val="E6EDF3"/>
                </a:solidFill>
                <a:latin typeface="Inconsolata"/>
              </a:rPr>
              <a:t>    client = </a:t>
            </a:r>
            <a:r>
              <a:rPr sz="875" i="0">
                <a:solidFill>
                  <a:srgbClr val="7FDBCA"/>
                </a:solidFill>
                <a:latin typeface="Inconsolata"/>
              </a:rPr>
              <a:t>TestClient</a:t>
            </a:r>
            <a:r>
              <a:rPr sz="875" i="0">
                <a:solidFill>
                  <a:srgbClr val="E6EDF3"/>
                </a:solidFill>
                <a:latin typeface="Inconsolata"/>
              </a:rPr>
              <a:t>(app)</a:t>
            </a:r>
          </a:p>
          <a:p>
            <a:pPr>
              <a:lnSpc>
                <a:spcPct val="104762"/>
              </a:lnSpc>
              <a:spcAft>
                <a:spcPts val="0"/>
              </a:spcAft>
            </a:pPr>
            <a:r>
              <a:rPr sz="875" i="0">
                <a:solidFill>
                  <a:srgbClr val="5C6773"/>
                </a:solidFill>
                <a:latin typeface="Inconsolata"/>
              </a:rPr>
              <a:t>22  </a:t>
            </a:r>
            <a:r>
              <a:rPr sz="875" i="0">
                <a:solidFill>
                  <a:srgbClr val="E6EDF3"/>
                </a:solidFill>
                <a:latin typeface="Inconsolata"/>
              </a:rPr>
              <a:t>    codes = [client.post(</a:t>
            </a:r>
            <a:r>
              <a:rPr sz="875" i="0">
                <a:solidFill>
                  <a:srgbClr val="A5D6A7"/>
                </a:solidFill>
                <a:latin typeface="Inconsolata"/>
              </a:rPr>
              <a:t>"/orders"</a:t>
            </a:r>
            <a:r>
              <a:rPr sz="875" i="0">
                <a:solidFill>
                  <a:srgbClr val="E6EDF3"/>
                </a:solidFill>
                <a:latin typeface="Inconsolata"/>
              </a:rPr>
              <a:t>).status_code </a:t>
            </a:r>
            <a:r>
              <a:rPr sz="875" i="0">
                <a:solidFill>
                  <a:srgbClr val="FF8E6E"/>
                </a:solidFill>
                <a:latin typeface="Inconsolata"/>
              </a:rPr>
              <a:t>for</a:t>
            </a:r>
            <a:r>
              <a:rPr sz="875" i="0">
                <a:solidFill>
                  <a:srgbClr val="E6EDF3"/>
                </a:solidFill>
                <a:latin typeface="Inconsolata"/>
              </a:rPr>
              <a:t> _ </a:t>
            </a:r>
            <a:r>
              <a:rPr sz="875" i="0">
                <a:solidFill>
                  <a:srgbClr val="FF8E6E"/>
                </a:solidFill>
                <a:latin typeface="Inconsolata"/>
              </a:rPr>
              <a:t>in</a:t>
            </a:r>
            <a:r>
              <a:rPr sz="875" i="0">
                <a:solidFill>
                  <a:srgbClr val="E6EDF3"/>
                </a:solidFill>
                <a:latin typeface="Inconsolata"/>
              </a:rPr>
              <a:t> </a:t>
            </a:r>
            <a:r>
              <a:rPr sz="875" i="0">
                <a:solidFill>
                  <a:srgbClr val="C3A6FF"/>
                </a:solidFill>
                <a:latin typeface="Inconsolata"/>
              </a:rPr>
              <a:t>range</a:t>
            </a:r>
            <a:r>
              <a:rPr sz="875" i="0">
                <a:solidFill>
                  <a:srgbClr val="E6EDF3"/>
                </a:solidFill>
                <a:latin typeface="Inconsolata"/>
              </a:rPr>
              <a:t>(</a:t>
            </a:r>
            <a:r>
              <a:rPr sz="875" i="0">
                <a:solidFill>
                  <a:srgbClr val="F9C97A"/>
                </a:solidFill>
                <a:latin typeface="Inconsolata"/>
              </a:rPr>
              <a:t>15</a:t>
            </a:r>
            <a:r>
              <a:rPr sz="875" i="0">
                <a:solidFill>
                  <a:srgbClr val="E6EDF3"/>
                </a:solidFill>
                <a:latin typeface="Inconsolata"/>
              </a:rPr>
              <a:t>)]</a:t>
            </a:r>
          </a:p>
          <a:p>
            <a:pPr>
              <a:lnSpc>
                <a:spcPct val="104762"/>
              </a:lnSpc>
              <a:spcAft>
                <a:spcPts val="0"/>
              </a:spcAft>
            </a:pPr>
            <a:r>
              <a:rPr sz="875" i="0">
                <a:solidFill>
                  <a:srgbClr val="5C6773"/>
                </a:solidFill>
                <a:latin typeface="Inconsolata"/>
              </a:rPr>
              <a:t>23  </a:t>
            </a:r>
            <a:r>
              <a:rPr sz="875" i="0">
                <a:solidFill>
                  <a:srgbClr val="E6EDF3"/>
                </a:solidFill>
                <a:latin typeface="Inconsolata"/>
              </a:rPr>
              <a:t>    </a:t>
            </a:r>
            <a:r>
              <a:rPr sz="875" i="0">
                <a:solidFill>
                  <a:srgbClr val="C3A6FF"/>
                </a:solidFill>
                <a:latin typeface="Inconsolata"/>
              </a:rPr>
              <a:t>print</a:t>
            </a:r>
            <a:r>
              <a:rPr sz="875" i="0">
                <a:solidFill>
                  <a:srgbClr val="E6EDF3"/>
                </a:solidFill>
                <a:latin typeface="Inconsolata"/>
              </a:rPr>
              <a:t>(</a:t>
            </a:r>
            <a:r>
              <a:rPr sz="875" i="0">
                <a:solidFill>
                  <a:srgbClr val="A5D6A7"/>
                </a:solidFill>
                <a:latin typeface="Inconsolata"/>
              </a:rPr>
              <a:t>"Status code:"</a:t>
            </a:r>
            <a:r>
              <a:rPr sz="875" i="0">
                <a:solidFill>
                  <a:srgbClr val="E6EDF3"/>
                </a:solidFill>
                <a:latin typeface="Inconsolata"/>
              </a:rPr>
              <a:t>, codes)        </a:t>
            </a:r>
            <a:r>
              <a:rPr sz="875" i="1">
                <a:solidFill>
                  <a:srgbClr val="8B98A8"/>
                </a:solidFill>
                <a:latin typeface="Inconsolata"/>
              </a:rPr>
              <a:t># 15x 201, semua diterima</a:t>
            </a:r>
          </a:p>
        </p:txBody>
      </p:sp>
      <p:sp>
        <p:nvSpPr>
          <p:cNvPr id="29" name="Box 12"/>
          <p:cNvSpPr/>
          <p:nvPr/>
        </p:nvSpPr>
        <p:spPr>
          <a:xfrm>
            <a:off x="704088" y="2666873"/>
            <a:ext cx="4343400" cy="410718"/>
          </a:xfrm>
          <a:prstGeom prst="roundRect">
            <a:avLst>
              <a:gd name="adj" fmla="val 11131"/>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7533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644773"/>
            <a:ext cx="4343400"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35915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CodeTab 17"/>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Dot 18"/>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20"/>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21"/>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8" name="CodeBg 23"/>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Code 24"/>
          <p:cNvSpPr txBox="1"/>
          <p:nvPr/>
        </p:nvSpPr>
        <p:spPr>
          <a:xfrm>
            <a:off x="5285231" y="1719072"/>
            <a:ext cx="3200400" cy="457200"/>
          </a:xfrm>
          <a:prstGeom prst="rect">
            <a:avLst/>
          </a:prstGeom>
          <a:noFill/>
        </p:spPr>
        <p:txBody>
          <a:bodyPr wrap="none" lIns="146304" tIns="91440" rIns="146304" bIns="54864">
            <a:spAutoFit/>
          </a:bodyPr>
          <a:lstStyle/>
          <a:p>
            <a:pPr>
              <a:lnSpc>
                <a:spcPct val="111111"/>
              </a:lnSpc>
              <a:spcAft>
                <a:spcPts val="0"/>
              </a:spcAft>
            </a:pPr>
            <a:r>
              <a:rPr sz="750" i="0">
                <a:solidFill>
                  <a:srgbClr val="82B1FF"/>
                </a:solidFill>
                <a:latin typeface="Inconsolata"/>
              </a:rPr>
              <a:t>$ cd sesi-06-redis-caching-rate-limiting/05-rate-limiting</a:t>
            </a:r>
          </a:p>
          <a:p>
            <a:pPr>
              <a:lnSpc>
                <a:spcPct val="111111"/>
              </a:lnSpc>
              <a:spcAft>
                <a:spcPts val="0"/>
              </a:spcAft>
            </a:pPr>
            <a:r>
              <a:rPr sz="750" i="0">
                <a:solidFill>
                  <a:srgbClr val="82B1FF"/>
                </a:solidFill>
                <a:latin typeface="Inconsolata"/>
              </a:rPr>
              <a:t>$ python before.py</a:t>
            </a:r>
          </a:p>
        </p:txBody>
      </p:sp>
      <p:pic>
        <p:nvPicPr>
          <p:cNvPr id="40" name="Image 25" descr="s06-05-rate-limiting-before.png"/>
          <p:cNvPicPr>
            <a:picLocks noChangeAspect="1"/>
          </p:cNvPicPr>
          <p:nvPr/>
        </p:nvPicPr>
        <p:blipFill>
          <a:blip r:embed="rId2"/>
          <a:stretch>
            <a:fillRect/>
          </a:stretch>
        </p:blipFill>
        <p:spPr>
          <a:xfrm>
            <a:off x="5285231" y="2249424"/>
            <a:ext cx="3200400" cy="680085"/>
          </a:xfrm>
          <a:prstGeom prst="rect">
            <a:avLst/>
          </a:prstGeom>
        </p:spPr>
      </p:pic>
      <p:sp>
        <p:nvSpPr>
          <p:cNvPr id="41" name="Box 26"/>
          <p:cNvSpPr/>
          <p:nvPr/>
        </p:nvSpPr>
        <p:spPr>
          <a:xfrm>
            <a:off x="5285231" y="3020949"/>
            <a:ext cx="3200400" cy="1679067"/>
          </a:xfrm>
          <a:prstGeom prst="roundRect">
            <a:avLst>
              <a:gd name="adj" fmla="val 6535"/>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Text 27"/>
          <p:cNvSpPr txBox="1"/>
          <p:nvPr/>
        </p:nvSpPr>
        <p:spPr>
          <a:xfrm>
            <a:off x="5422392" y="3112389"/>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3" name="Text 28"/>
          <p:cNvSpPr txBox="1"/>
          <p:nvPr/>
        </p:nvSpPr>
        <p:spPr>
          <a:xfrm>
            <a:off x="5422392" y="3432429"/>
            <a:ext cx="2926080" cy="1176147"/>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Endpoint tanpa batas request (baris 15-17)</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Demo mengirim 15 request (baris 22)</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Semua 15 request diterima.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Rate Limiting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fixed window di Redis</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05-rate-limiting/after.py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3226"/>
              </a:lnSpc>
              <a:spcAft>
                <a:spcPts val="0"/>
              </a:spcAft>
            </a:pPr>
            <a:r>
              <a:rPr sz="726" i="0">
                <a:solidFill>
                  <a:srgbClr val="5C6773"/>
                </a:solidFill>
                <a:latin typeface="Inconsolata"/>
              </a:rPr>
              <a:t>13  </a:t>
            </a:r>
            <a:r>
              <a:rPr sz="726" i="0">
                <a:solidFill>
                  <a:srgbClr val="FF8E6E"/>
                </a:solidFill>
                <a:latin typeface="Inconsolata"/>
              </a:rPr>
              <a:t>import</a:t>
            </a:r>
            <a:r>
              <a:rPr sz="726" i="0">
                <a:solidFill>
                  <a:srgbClr val="E6EDF3"/>
                </a:solidFill>
                <a:latin typeface="Inconsolata"/>
              </a:rPr>
              <a:t> os</a:t>
            </a:r>
          </a:p>
          <a:p>
            <a:pPr>
              <a:lnSpc>
                <a:spcPct val="103226"/>
              </a:lnSpc>
              <a:spcAft>
                <a:spcPts val="0"/>
              </a:spcAft>
            </a:pPr>
            <a:r>
              <a:rPr sz="726" i="0">
                <a:solidFill>
                  <a:srgbClr val="5C6773"/>
                </a:solidFill>
                <a:latin typeface="Inconsolata"/>
              </a:rPr>
              <a:t>14  </a:t>
            </a:r>
            <a:r>
              <a:rPr sz="726" i="0">
                <a:solidFill>
                  <a:srgbClr val="FF8E6E"/>
                </a:solidFill>
                <a:latin typeface="Inconsolata"/>
              </a:rPr>
              <a:t>import</a:t>
            </a:r>
            <a:r>
              <a:rPr sz="726" i="0">
                <a:solidFill>
                  <a:srgbClr val="E6EDF3"/>
                </a:solidFill>
                <a:latin typeface="Inconsolata"/>
              </a:rPr>
              <a:t> time</a:t>
            </a:r>
          </a:p>
          <a:p>
            <a:pPr>
              <a:lnSpc>
                <a:spcPct val="103226"/>
              </a:lnSpc>
              <a:spcAft>
                <a:spcPts val="0"/>
              </a:spcAft>
            </a:pPr>
            <a:r>
              <a:rPr sz="726" i="0">
                <a:solidFill>
                  <a:srgbClr val="5C6773"/>
                </a:solidFill>
                <a:latin typeface="Inconsolata"/>
              </a:rPr>
              <a:t>15  </a:t>
            </a:r>
            <a:r>
              <a:rPr sz="726" i="0">
                <a:solidFill>
                  <a:srgbClr val="E6EDF3"/>
                </a:solidFill>
                <a:latin typeface="Inconsolata"/>
              </a:rPr>
              <a:t> </a:t>
            </a:r>
          </a:p>
          <a:p>
            <a:pPr>
              <a:lnSpc>
                <a:spcPct val="103226"/>
              </a:lnSpc>
              <a:spcAft>
                <a:spcPts val="0"/>
              </a:spcAft>
            </a:pPr>
            <a:r>
              <a:rPr sz="726" i="0">
                <a:solidFill>
                  <a:srgbClr val="5C6773"/>
                </a:solidFill>
                <a:latin typeface="Inconsolata"/>
              </a:rPr>
              <a:t>16  </a:t>
            </a:r>
            <a:r>
              <a:rPr sz="726" i="0">
                <a:solidFill>
                  <a:srgbClr val="FF8E6E"/>
                </a:solidFill>
                <a:latin typeface="Inconsolata"/>
              </a:rPr>
              <a:t>import</a:t>
            </a:r>
            <a:r>
              <a:rPr sz="726" i="0">
                <a:solidFill>
                  <a:srgbClr val="E6EDF3"/>
                </a:solidFill>
                <a:latin typeface="Inconsolata"/>
              </a:rPr>
              <a:t> redis</a:t>
            </a:r>
          </a:p>
          <a:p>
            <a:pPr>
              <a:lnSpc>
                <a:spcPct val="103226"/>
              </a:lnSpc>
              <a:spcAft>
                <a:spcPts val="0"/>
              </a:spcAft>
            </a:pPr>
            <a:r>
              <a:rPr sz="726" i="0">
                <a:solidFill>
                  <a:srgbClr val="5C6773"/>
                </a:solidFill>
                <a:latin typeface="Inconsolata"/>
              </a:rPr>
              <a:t>17  </a:t>
            </a:r>
            <a:r>
              <a:rPr sz="726" i="0">
                <a:solidFill>
                  <a:srgbClr val="FF8E6E"/>
                </a:solidFill>
                <a:latin typeface="Inconsolata"/>
              </a:rPr>
              <a:t>from</a:t>
            </a:r>
            <a:r>
              <a:rPr sz="726" i="0">
                <a:solidFill>
                  <a:srgbClr val="E6EDF3"/>
                </a:solidFill>
                <a:latin typeface="Inconsolata"/>
              </a:rPr>
              <a:t> fastapi </a:t>
            </a:r>
            <a:r>
              <a:rPr sz="726" i="0">
                <a:solidFill>
                  <a:srgbClr val="FF8E6E"/>
                </a:solidFill>
                <a:latin typeface="Inconsolata"/>
              </a:rPr>
              <a:t>import</a:t>
            </a:r>
            <a:r>
              <a:rPr sz="726" i="0">
                <a:solidFill>
                  <a:srgbClr val="E6EDF3"/>
                </a:solidFill>
                <a:latin typeface="Inconsolata"/>
              </a:rPr>
              <a:t> </a:t>
            </a:r>
            <a:r>
              <a:rPr sz="726" i="0">
                <a:solidFill>
                  <a:srgbClr val="7FDBCA"/>
                </a:solidFill>
                <a:latin typeface="Inconsolata"/>
              </a:rPr>
              <a:t>Depends</a:t>
            </a:r>
            <a:r>
              <a:rPr sz="726" i="0">
                <a:solidFill>
                  <a:srgbClr val="E6EDF3"/>
                </a:solidFill>
                <a:latin typeface="Inconsolata"/>
              </a:rPr>
              <a:t>, </a:t>
            </a:r>
            <a:r>
              <a:rPr sz="726" i="0">
                <a:solidFill>
                  <a:srgbClr val="7FDBCA"/>
                </a:solidFill>
                <a:latin typeface="Inconsolata"/>
              </a:rPr>
              <a:t>FastAPI</a:t>
            </a:r>
            <a:r>
              <a:rPr sz="726" i="0">
                <a:solidFill>
                  <a:srgbClr val="E6EDF3"/>
                </a:solidFill>
                <a:latin typeface="Inconsolata"/>
              </a:rPr>
              <a:t>, </a:t>
            </a:r>
            <a:r>
              <a:rPr sz="726" i="0">
                <a:solidFill>
                  <a:srgbClr val="7FDBCA"/>
                </a:solidFill>
                <a:latin typeface="Inconsolata"/>
              </a:rPr>
              <a:t>HTTPException</a:t>
            </a:r>
            <a:r>
              <a:rPr sz="726" i="0">
                <a:solidFill>
                  <a:srgbClr val="E6EDF3"/>
                </a:solidFill>
                <a:latin typeface="Inconsolata"/>
              </a:rPr>
              <a:t>, </a:t>
            </a:r>
            <a:r>
              <a:rPr sz="726" i="0">
                <a:solidFill>
                  <a:srgbClr val="7FDBCA"/>
                </a:solidFill>
                <a:latin typeface="Inconsolata"/>
              </a:rPr>
              <a:t>Request</a:t>
            </a:r>
          </a:p>
          <a:p>
            <a:pPr>
              <a:lnSpc>
                <a:spcPct val="103226"/>
              </a:lnSpc>
              <a:spcAft>
                <a:spcPts val="0"/>
              </a:spcAft>
            </a:pPr>
            <a:r>
              <a:rPr sz="726" i="0">
                <a:solidFill>
                  <a:srgbClr val="5C6773"/>
                </a:solidFill>
                <a:latin typeface="Inconsolata"/>
              </a:rPr>
              <a:t>18  </a:t>
            </a:r>
            <a:r>
              <a:rPr sz="726" i="0">
                <a:solidFill>
                  <a:srgbClr val="FF8E6E"/>
                </a:solidFill>
                <a:latin typeface="Inconsolata"/>
              </a:rPr>
              <a:t>from</a:t>
            </a:r>
            <a:r>
              <a:rPr sz="726" i="0">
                <a:solidFill>
                  <a:srgbClr val="E6EDF3"/>
                </a:solidFill>
                <a:latin typeface="Inconsolata"/>
              </a:rPr>
              <a:t> fastapi.testclient </a:t>
            </a:r>
            <a:r>
              <a:rPr sz="726" i="0">
                <a:solidFill>
                  <a:srgbClr val="FF8E6E"/>
                </a:solidFill>
                <a:latin typeface="Inconsolata"/>
              </a:rPr>
              <a:t>import</a:t>
            </a:r>
            <a:r>
              <a:rPr sz="726" i="0">
                <a:solidFill>
                  <a:srgbClr val="E6EDF3"/>
                </a:solidFill>
                <a:latin typeface="Inconsolata"/>
              </a:rPr>
              <a:t> </a:t>
            </a:r>
            <a:r>
              <a:rPr sz="726" i="0">
                <a:solidFill>
                  <a:srgbClr val="7FDBCA"/>
                </a:solidFill>
                <a:latin typeface="Inconsolata"/>
              </a:rPr>
              <a:t>TestClient</a:t>
            </a:r>
          </a:p>
          <a:p>
            <a:pPr>
              <a:lnSpc>
                <a:spcPct val="103226"/>
              </a:lnSpc>
              <a:spcAft>
                <a:spcPts val="0"/>
              </a:spcAft>
            </a:pPr>
            <a:r>
              <a:rPr sz="726" i="0">
                <a:solidFill>
                  <a:srgbClr val="5C6773"/>
                </a:solidFill>
                <a:latin typeface="Inconsolata"/>
              </a:rPr>
              <a:t>19  </a:t>
            </a:r>
            <a:r>
              <a:rPr sz="726" i="0">
                <a:solidFill>
                  <a:srgbClr val="E6EDF3"/>
                </a:solidFill>
                <a:latin typeface="Inconsolata"/>
              </a:rPr>
              <a:t> </a:t>
            </a:r>
          </a:p>
          <a:p>
            <a:pPr>
              <a:lnSpc>
                <a:spcPct val="103226"/>
              </a:lnSpc>
              <a:spcAft>
                <a:spcPts val="0"/>
              </a:spcAft>
            </a:pPr>
            <a:r>
              <a:rPr sz="726" i="0">
                <a:solidFill>
                  <a:srgbClr val="5C6773"/>
                </a:solidFill>
                <a:latin typeface="Inconsolata"/>
              </a:rPr>
              <a:t>20  </a:t>
            </a:r>
            <a:r>
              <a:rPr sz="726" i="0">
                <a:solidFill>
                  <a:srgbClr val="7FDBCA"/>
                </a:solidFill>
                <a:latin typeface="Inconsolata"/>
              </a:rPr>
              <a:t>REDIS_URL</a:t>
            </a:r>
            <a:r>
              <a:rPr sz="726" i="0">
                <a:solidFill>
                  <a:srgbClr val="E6EDF3"/>
                </a:solidFill>
                <a:latin typeface="Inconsolata"/>
              </a:rPr>
              <a:t> = os.getenv(</a:t>
            </a:r>
            <a:r>
              <a:rPr sz="726" i="0">
                <a:solidFill>
                  <a:srgbClr val="A5D6A7"/>
                </a:solidFill>
                <a:latin typeface="Inconsolata"/>
              </a:rPr>
              <a:t>"REDIS_URL"</a:t>
            </a:r>
            <a:r>
              <a:rPr sz="726" i="0">
                <a:solidFill>
                  <a:srgbClr val="E6EDF3"/>
                </a:solidFill>
                <a:latin typeface="Inconsolata"/>
              </a:rPr>
              <a:t>, </a:t>
            </a:r>
            <a:r>
              <a:rPr sz="726" i="0">
                <a:solidFill>
                  <a:srgbClr val="A5D6A7"/>
                </a:solidFill>
                <a:latin typeface="Inconsolata"/>
              </a:rPr>
              <a:t>"redis://localhost:6379/0"</a:t>
            </a:r>
            <a:r>
              <a:rPr sz="726" i="0">
                <a:solidFill>
                  <a:srgbClr val="E6EDF3"/>
                </a:solidFill>
                <a:latin typeface="Inconsolata"/>
              </a:rPr>
              <a:t>)</a:t>
            </a:r>
          </a:p>
          <a:p>
            <a:pPr>
              <a:lnSpc>
                <a:spcPct val="103226"/>
              </a:lnSpc>
              <a:spcAft>
                <a:spcPts val="0"/>
              </a:spcAft>
            </a:pPr>
            <a:r>
              <a:rPr sz="726" i="0">
                <a:solidFill>
                  <a:srgbClr val="5C6773"/>
                </a:solidFill>
                <a:latin typeface="Inconsolata"/>
              </a:rPr>
              <a:t>21  </a:t>
            </a:r>
            <a:r>
              <a:rPr sz="726" i="0">
                <a:solidFill>
                  <a:srgbClr val="E6EDF3"/>
                </a:solidFill>
                <a:latin typeface="Inconsolata"/>
              </a:rPr>
              <a:t>cache = redis.</a:t>
            </a:r>
            <a:r>
              <a:rPr sz="726" i="0">
                <a:solidFill>
                  <a:srgbClr val="7FDBCA"/>
                </a:solidFill>
                <a:latin typeface="Inconsolata"/>
              </a:rPr>
              <a:t>Redis</a:t>
            </a:r>
            <a:r>
              <a:rPr sz="726" i="0">
                <a:solidFill>
                  <a:srgbClr val="E6EDF3"/>
                </a:solidFill>
                <a:latin typeface="Inconsolata"/>
              </a:rPr>
              <a:t>.from_url(</a:t>
            </a:r>
            <a:r>
              <a:rPr sz="726" i="0">
                <a:solidFill>
                  <a:srgbClr val="7FDBCA"/>
                </a:solidFill>
                <a:latin typeface="Inconsolata"/>
              </a:rPr>
              <a:t>REDIS_URL</a:t>
            </a:r>
            <a:r>
              <a:rPr sz="726" i="0">
                <a:solidFill>
                  <a:srgbClr val="E6EDF3"/>
                </a:solidFill>
                <a:latin typeface="Inconsolata"/>
              </a:rPr>
              <a:t>, decode_responses=</a:t>
            </a:r>
            <a:r>
              <a:rPr sz="726" i="0">
                <a:solidFill>
                  <a:srgbClr val="FF8E6E"/>
                </a:solidFill>
                <a:latin typeface="Inconsolata"/>
              </a:rPr>
              <a:t>True</a:t>
            </a:r>
            <a:r>
              <a:rPr sz="726" i="0">
                <a:solidFill>
                  <a:srgbClr val="E6EDF3"/>
                </a:solidFill>
                <a:latin typeface="Inconsolata"/>
              </a:rPr>
              <a:t>)</a:t>
            </a:r>
          </a:p>
          <a:p>
            <a:pPr>
              <a:lnSpc>
                <a:spcPct val="103226"/>
              </a:lnSpc>
              <a:spcAft>
                <a:spcPts val="0"/>
              </a:spcAft>
            </a:pPr>
            <a:r>
              <a:rPr sz="726" i="0">
                <a:solidFill>
                  <a:srgbClr val="5C6773"/>
                </a:solidFill>
                <a:latin typeface="Inconsolata"/>
              </a:rPr>
              <a:t>22  </a:t>
            </a:r>
            <a:r>
              <a:rPr sz="726" i="0">
                <a:solidFill>
                  <a:srgbClr val="E6EDF3"/>
                </a:solidFill>
                <a:latin typeface="Inconsolata"/>
              </a:rPr>
              <a:t>app = </a:t>
            </a:r>
            <a:r>
              <a:rPr sz="726" i="0">
                <a:solidFill>
                  <a:srgbClr val="7FDBCA"/>
                </a:solidFill>
                <a:latin typeface="Inconsolata"/>
              </a:rPr>
              <a:t>FastAPI</a:t>
            </a:r>
            <a:r>
              <a:rPr sz="726" i="0">
                <a:solidFill>
                  <a:srgbClr val="E6EDF3"/>
                </a:solidFill>
                <a:latin typeface="Inconsolata"/>
              </a:rPr>
              <a:t>()</a:t>
            </a:r>
          </a:p>
          <a:p>
            <a:pPr>
              <a:lnSpc>
                <a:spcPct val="103226"/>
              </a:lnSpc>
              <a:spcAft>
                <a:spcPts val="0"/>
              </a:spcAft>
            </a:pPr>
            <a:r>
              <a:rPr sz="726" i="0">
                <a:solidFill>
                  <a:srgbClr val="5C6773"/>
                </a:solidFill>
                <a:latin typeface="Inconsolata"/>
              </a:rPr>
              <a:t>23  </a:t>
            </a:r>
            <a:r>
              <a:rPr sz="726" i="0">
                <a:solidFill>
                  <a:srgbClr val="E6EDF3"/>
                </a:solidFill>
                <a:latin typeface="Inconsolata"/>
              </a:rPr>
              <a:t> </a:t>
            </a:r>
          </a:p>
          <a:p>
            <a:pPr>
              <a:lnSpc>
                <a:spcPct val="103226"/>
              </a:lnSpc>
              <a:spcAft>
                <a:spcPts val="0"/>
              </a:spcAft>
            </a:pPr>
            <a:r>
              <a:rPr sz="726" i="0">
                <a:solidFill>
                  <a:srgbClr val="5C6773"/>
                </a:solidFill>
                <a:latin typeface="Inconsolata"/>
              </a:rPr>
              <a:t>24  </a:t>
            </a:r>
            <a:r>
              <a:rPr sz="726" i="0">
                <a:solidFill>
                  <a:srgbClr val="7FDBCA"/>
                </a:solidFill>
                <a:latin typeface="Inconsolata"/>
              </a:rPr>
              <a:t>LIMIT</a:t>
            </a:r>
            <a:r>
              <a:rPr sz="726" i="0">
                <a:solidFill>
                  <a:srgbClr val="E6EDF3"/>
                </a:solidFill>
                <a:latin typeface="Inconsolata"/>
              </a:rPr>
              <a:t>, </a:t>
            </a:r>
            <a:r>
              <a:rPr sz="726" i="0">
                <a:solidFill>
                  <a:srgbClr val="7FDBCA"/>
                </a:solidFill>
                <a:latin typeface="Inconsolata"/>
              </a:rPr>
              <a:t>WINDOW</a:t>
            </a:r>
            <a:r>
              <a:rPr sz="726" i="0">
                <a:solidFill>
                  <a:srgbClr val="E6EDF3"/>
                </a:solidFill>
                <a:latin typeface="Inconsolata"/>
              </a:rPr>
              <a:t> = </a:t>
            </a:r>
            <a:r>
              <a:rPr sz="726" i="0">
                <a:solidFill>
                  <a:srgbClr val="F9C97A"/>
                </a:solidFill>
                <a:latin typeface="Inconsolata"/>
              </a:rPr>
              <a:t>10</a:t>
            </a:r>
            <a:r>
              <a:rPr sz="726" i="0">
                <a:solidFill>
                  <a:srgbClr val="E6EDF3"/>
                </a:solidFill>
                <a:latin typeface="Inconsolata"/>
              </a:rPr>
              <a:t>, </a:t>
            </a:r>
            <a:r>
              <a:rPr sz="726" i="0">
                <a:solidFill>
                  <a:srgbClr val="F9C97A"/>
                </a:solidFill>
                <a:latin typeface="Inconsolata"/>
              </a:rPr>
              <a:t>60</a:t>
            </a:r>
            <a:r>
              <a:rPr sz="726" i="0">
                <a:solidFill>
                  <a:srgbClr val="E6EDF3"/>
                </a:solidFill>
                <a:latin typeface="Inconsolata"/>
              </a:rPr>
              <a:t>            </a:t>
            </a:r>
            <a:r>
              <a:rPr sz="726" i="1">
                <a:solidFill>
                  <a:srgbClr val="8B98A8"/>
                </a:solidFill>
                <a:latin typeface="Inconsolata"/>
              </a:rPr>
              <a:t># 10 request per 60 detik</a:t>
            </a:r>
          </a:p>
          <a:p>
            <a:pPr>
              <a:lnSpc>
                <a:spcPct val="103226"/>
              </a:lnSpc>
              <a:spcAft>
                <a:spcPts val="0"/>
              </a:spcAft>
            </a:pPr>
            <a:r>
              <a:rPr sz="726" i="0">
                <a:solidFill>
                  <a:srgbClr val="5C6773"/>
                </a:solidFill>
                <a:latin typeface="Inconsolata"/>
              </a:rPr>
              <a:t>25  </a:t>
            </a:r>
            <a:r>
              <a:rPr sz="726" i="0">
                <a:solidFill>
                  <a:srgbClr val="E6EDF3"/>
                </a:solidFill>
                <a:latin typeface="Inconsolata"/>
              </a:rPr>
              <a:t> </a:t>
            </a:r>
          </a:p>
          <a:p>
            <a:pPr>
              <a:lnSpc>
                <a:spcPct val="103226"/>
              </a:lnSpc>
              <a:spcAft>
                <a:spcPts val="0"/>
              </a:spcAft>
            </a:pPr>
            <a:r>
              <a:rPr sz="726" i="0">
                <a:solidFill>
                  <a:srgbClr val="5C6773"/>
                </a:solidFill>
                <a:latin typeface="Inconsolata"/>
              </a:rPr>
              <a:t>26  </a:t>
            </a:r>
            <a:r>
              <a:rPr sz="726" i="0">
                <a:solidFill>
                  <a:srgbClr val="E6EDF3"/>
                </a:solidFill>
                <a:latin typeface="Inconsolata"/>
              </a:rPr>
              <a:t> </a:t>
            </a:r>
          </a:p>
          <a:p>
            <a:pPr>
              <a:lnSpc>
                <a:spcPct val="103226"/>
              </a:lnSpc>
              <a:spcAft>
                <a:spcPts val="0"/>
              </a:spcAft>
            </a:pPr>
            <a:r>
              <a:rPr sz="726" i="0">
                <a:solidFill>
                  <a:srgbClr val="5C6773"/>
                </a:solidFill>
                <a:latin typeface="Inconsolata"/>
              </a:rPr>
              <a:t>27  </a:t>
            </a:r>
            <a:r>
              <a:rPr sz="726" i="0">
                <a:solidFill>
                  <a:srgbClr val="FF8E6E"/>
                </a:solidFill>
                <a:latin typeface="Inconsolata"/>
              </a:rPr>
              <a:t>def</a:t>
            </a:r>
            <a:r>
              <a:rPr sz="726" i="0">
                <a:solidFill>
                  <a:srgbClr val="E6EDF3"/>
                </a:solidFill>
                <a:latin typeface="Inconsolata"/>
              </a:rPr>
              <a:t> </a:t>
            </a:r>
            <a:r>
              <a:rPr sz="726" i="0">
                <a:solidFill>
                  <a:srgbClr val="82B1FF"/>
                </a:solidFill>
                <a:latin typeface="Inconsolata"/>
              </a:rPr>
              <a:t>rate_limit</a:t>
            </a:r>
            <a:r>
              <a:rPr sz="726" i="0">
                <a:solidFill>
                  <a:srgbClr val="E6EDF3"/>
                </a:solidFill>
                <a:latin typeface="Inconsolata"/>
              </a:rPr>
              <a:t>(request: </a:t>
            </a:r>
            <a:r>
              <a:rPr sz="726" i="0">
                <a:solidFill>
                  <a:srgbClr val="7FDBCA"/>
                </a:solidFill>
                <a:latin typeface="Inconsolata"/>
              </a:rPr>
              <a:t>Request</a:t>
            </a:r>
            <a:r>
              <a:rPr sz="726" i="0">
                <a:solidFill>
                  <a:srgbClr val="E6EDF3"/>
                </a:solidFill>
                <a:latin typeface="Inconsolata"/>
              </a:rPr>
              <a:t>) -&gt; </a:t>
            </a:r>
            <a:r>
              <a:rPr sz="726" i="0">
                <a:solidFill>
                  <a:srgbClr val="FF8E6E"/>
                </a:solidFill>
                <a:latin typeface="Inconsolata"/>
              </a:rPr>
              <a:t>None</a:t>
            </a:r>
            <a:r>
              <a:rPr sz="726" i="0">
                <a:solidFill>
                  <a:srgbClr val="E6EDF3"/>
                </a:solidFill>
                <a:latin typeface="Inconsolata"/>
              </a:rPr>
              <a:t>:</a:t>
            </a:r>
          </a:p>
          <a:p>
            <a:pPr>
              <a:lnSpc>
                <a:spcPct val="103226"/>
              </a:lnSpc>
              <a:spcAft>
                <a:spcPts val="0"/>
              </a:spcAft>
            </a:pPr>
            <a:r>
              <a:rPr sz="726" i="0">
                <a:solidFill>
                  <a:srgbClr val="5C6773"/>
                </a:solidFill>
                <a:latin typeface="Inconsolata"/>
              </a:rPr>
              <a:t>28  </a:t>
            </a:r>
            <a:r>
              <a:rPr sz="726" i="0">
                <a:solidFill>
                  <a:srgbClr val="E6EDF3"/>
                </a:solidFill>
                <a:latin typeface="Inconsolata"/>
              </a:rPr>
              <a:t>    now = </a:t>
            </a:r>
            <a:r>
              <a:rPr sz="726" i="0">
                <a:solidFill>
                  <a:srgbClr val="C3A6FF"/>
                </a:solidFill>
                <a:latin typeface="Inconsolata"/>
              </a:rPr>
              <a:t>int</a:t>
            </a:r>
            <a:r>
              <a:rPr sz="726" i="0">
                <a:solidFill>
                  <a:srgbClr val="E6EDF3"/>
                </a:solidFill>
                <a:latin typeface="Inconsolata"/>
              </a:rPr>
              <a:t>(time.time())</a:t>
            </a:r>
          </a:p>
          <a:p>
            <a:pPr>
              <a:lnSpc>
                <a:spcPct val="103226"/>
              </a:lnSpc>
              <a:spcAft>
                <a:spcPts val="0"/>
              </a:spcAft>
            </a:pPr>
            <a:r>
              <a:rPr sz="726" i="0">
                <a:solidFill>
                  <a:srgbClr val="5C6773"/>
                </a:solidFill>
                <a:latin typeface="Inconsolata"/>
              </a:rPr>
              <a:t>29  </a:t>
            </a:r>
            <a:r>
              <a:rPr sz="726" i="0">
                <a:solidFill>
                  <a:srgbClr val="E6EDF3"/>
                </a:solidFill>
                <a:latin typeface="Inconsolata"/>
              </a:rPr>
              <a:t>    key = </a:t>
            </a:r>
            <a:r>
              <a:rPr sz="726" i="0">
                <a:solidFill>
                  <a:srgbClr val="A5D6A7"/>
                </a:solidFill>
                <a:latin typeface="Inconsolata"/>
              </a:rPr>
              <a:t>f"ratelimit:{request.client.host}:{now // WINDOW}"</a:t>
            </a:r>
          </a:p>
          <a:p>
            <a:pPr>
              <a:lnSpc>
                <a:spcPct val="103226"/>
              </a:lnSpc>
              <a:spcAft>
                <a:spcPts val="0"/>
              </a:spcAft>
            </a:pPr>
            <a:r>
              <a:rPr sz="726" i="0">
                <a:solidFill>
                  <a:srgbClr val="5C6773"/>
                </a:solidFill>
                <a:latin typeface="Inconsolata"/>
              </a:rPr>
              <a:t>30  </a:t>
            </a:r>
            <a:r>
              <a:rPr sz="726" i="0">
                <a:solidFill>
                  <a:srgbClr val="E6EDF3"/>
                </a:solidFill>
                <a:latin typeface="Inconsolata"/>
              </a:rPr>
              <a:t>    count = cache.incr(key)</a:t>
            </a:r>
          </a:p>
          <a:p>
            <a:pPr>
              <a:lnSpc>
                <a:spcPct val="103226"/>
              </a:lnSpc>
              <a:spcAft>
                <a:spcPts val="0"/>
              </a:spcAft>
            </a:pPr>
            <a:r>
              <a:rPr sz="726" i="0">
                <a:solidFill>
                  <a:srgbClr val="5C6773"/>
                </a:solidFill>
                <a:latin typeface="Inconsolata"/>
              </a:rPr>
              <a:t>31  </a:t>
            </a:r>
            <a:r>
              <a:rPr sz="726" i="0">
                <a:solidFill>
                  <a:srgbClr val="E6EDF3"/>
                </a:solidFill>
                <a:latin typeface="Inconsolata"/>
              </a:rPr>
              <a:t>    </a:t>
            </a:r>
            <a:r>
              <a:rPr sz="726" i="0">
                <a:solidFill>
                  <a:srgbClr val="FF8E6E"/>
                </a:solidFill>
                <a:latin typeface="Inconsolata"/>
              </a:rPr>
              <a:t>if</a:t>
            </a:r>
            <a:r>
              <a:rPr sz="726" i="0">
                <a:solidFill>
                  <a:srgbClr val="E6EDF3"/>
                </a:solidFill>
                <a:latin typeface="Inconsolata"/>
              </a:rPr>
              <a:t> count == </a:t>
            </a:r>
            <a:r>
              <a:rPr sz="726" i="0">
                <a:solidFill>
                  <a:srgbClr val="F9C97A"/>
                </a:solidFill>
                <a:latin typeface="Inconsolata"/>
              </a:rPr>
              <a:t>1</a:t>
            </a:r>
            <a:r>
              <a:rPr sz="726" i="0">
                <a:solidFill>
                  <a:srgbClr val="E6EDF3"/>
                </a:solidFill>
                <a:latin typeface="Inconsolata"/>
              </a:rPr>
              <a:t>:</a:t>
            </a:r>
          </a:p>
          <a:p>
            <a:pPr>
              <a:lnSpc>
                <a:spcPct val="103226"/>
              </a:lnSpc>
              <a:spcAft>
                <a:spcPts val="0"/>
              </a:spcAft>
            </a:pPr>
            <a:r>
              <a:rPr sz="726" i="0">
                <a:solidFill>
                  <a:srgbClr val="5C6773"/>
                </a:solidFill>
                <a:latin typeface="Inconsolata"/>
              </a:rPr>
              <a:t>32  </a:t>
            </a:r>
            <a:r>
              <a:rPr sz="726" i="0">
                <a:solidFill>
                  <a:srgbClr val="E6EDF3"/>
                </a:solidFill>
                <a:latin typeface="Inconsolata"/>
              </a:rPr>
              <a:t>        cache.expire(key, </a:t>
            </a:r>
            <a:r>
              <a:rPr sz="726" i="0">
                <a:solidFill>
                  <a:srgbClr val="7FDBCA"/>
                </a:solidFill>
                <a:latin typeface="Inconsolata"/>
              </a:rPr>
              <a:t>WINDOW</a:t>
            </a:r>
            <a:r>
              <a:rPr sz="726" i="0">
                <a:solidFill>
                  <a:srgbClr val="E6EDF3"/>
                </a:solidFill>
                <a:latin typeface="Inconsolata"/>
              </a:rPr>
              <a:t>)</a:t>
            </a:r>
          </a:p>
          <a:p>
            <a:pPr>
              <a:lnSpc>
                <a:spcPct val="103226"/>
              </a:lnSpc>
              <a:spcAft>
                <a:spcPts val="0"/>
              </a:spcAft>
            </a:pPr>
            <a:r>
              <a:rPr sz="726" i="0">
                <a:solidFill>
                  <a:srgbClr val="5C6773"/>
                </a:solidFill>
                <a:latin typeface="Inconsolata"/>
              </a:rPr>
              <a:t>33  </a:t>
            </a:r>
            <a:r>
              <a:rPr sz="726" i="0">
                <a:solidFill>
                  <a:srgbClr val="E6EDF3"/>
                </a:solidFill>
                <a:latin typeface="Inconsolata"/>
              </a:rPr>
              <a:t>    </a:t>
            </a:r>
            <a:r>
              <a:rPr sz="726" i="0">
                <a:solidFill>
                  <a:srgbClr val="FF8E6E"/>
                </a:solidFill>
                <a:latin typeface="Inconsolata"/>
              </a:rPr>
              <a:t>if</a:t>
            </a:r>
            <a:r>
              <a:rPr sz="726" i="0">
                <a:solidFill>
                  <a:srgbClr val="E6EDF3"/>
                </a:solidFill>
                <a:latin typeface="Inconsolata"/>
              </a:rPr>
              <a:t> count &gt; </a:t>
            </a:r>
            <a:r>
              <a:rPr sz="726" i="0">
                <a:solidFill>
                  <a:srgbClr val="7FDBCA"/>
                </a:solidFill>
                <a:latin typeface="Inconsolata"/>
              </a:rPr>
              <a:t>LIMIT</a:t>
            </a:r>
            <a:r>
              <a:rPr sz="726" i="0">
                <a:solidFill>
                  <a:srgbClr val="E6EDF3"/>
                </a:solidFill>
                <a:latin typeface="Inconsolata"/>
              </a:rPr>
              <a:t>:</a:t>
            </a:r>
          </a:p>
          <a:p>
            <a:pPr>
              <a:lnSpc>
                <a:spcPct val="103226"/>
              </a:lnSpc>
              <a:spcAft>
                <a:spcPts val="0"/>
              </a:spcAft>
            </a:pPr>
            <a:r>
              <a:rPr sz="726" i="0">
                <a:solidFill>
                  <a:srgbClr val="5C6773"/>
                </a:solidFill>
                <a:latin typeface="Inconsolata"/>
              </a:rPr>
              <a:t>34  </a:t>
            </a:r>
            <a:r>
              <a:rPr sz="726" i="0">
                <a:solidFill>
                  <a:srgbClr val="E6EDF3"/>
                </a:solidFill>
                <a:latin typeface="Inconsolata"/>
              </a:rPr>
              <a:t>        retry_after = </a:t>
            </a:r>
            <a:r>
              <a:rPr sz="726" i="0">
                <a:solidFill>
                  <a:srgbClr val="C3A6FF"/>
                </a:solidFill>
                <a:latin typeface="Inconsolata"/>
              </a:rPr>
              <a:t>str</a:t>
            </a:r>
            <a:r>
              <a:rPr sz="726" i="0">
                <a:solidFill>
                  <a:srgbClr val="E6EDF3"/>
                </a:solidFill>
                <a:latin typeface="Inconsolata"/>
              </a:rPr>
              <a:t>(</a:t>
            </a:r>
            <a:r>
              <a:rPr sz="726" i="0">
                <a:solidFill>
                  <a:srgbClr val="7FDBCA"/>
                </a:solidFill>
                <a:latin typeface="Inconsolata"/>
              </a:rPr>
              <a:t>WINDOW</a:t>
            </a:r>
            <a:r>
              <a:rPr sz="726" i="0">
                <a:solidFill>
                  <a:srgbClr val="E6EDF3"/>
                </a:solidFill>
                <a:latin typeface="Inconsolata"/>
              </a:rPr>
              <a:t> - now % </a:t>
            </a:r>
            <a:r>
              <a:rPr sz="726" i="0">
                <a:solidFill>
                  <a:srgbClr val="7FDBCA"/>
                </a:solidFill>
                <a:latin typeface="Inconsolata"/>
              </a:rPr>
              <a:t>WINDOW</a:t>
            </a:r>
            <a:r>
              <a:rPr sz="726" i="0">
                <a:solidFill>
                  <a:srgbClr val="E6EDF3"/>
                </a:solidFill>
                <a:latin typeface="Inconsolata"/>
              </a:rPr>
              <a:t>)</a:t>
            </a:r>
          </a:p>
          <a:p>
            <a:pPr>
              <a:lnSpc>
                <a:spcPct val="103226"/>
              </a:lnSpc>
              <a:spcAft>
                <a:spcPts val="0"/>
              </a:spcAft>
            </a:pPr>
            <a:r>
              <a:rPr sz="726" i="0">
                <a:solidFill>
                  <a:srgbClr val="5C6773"/>
                </a:solidFill>
                <a:latin typeface="Inconsolata"/>
              </a:rPr>
              <a:t>35  </a:t>
            </a:r>
            <a:r>
              <a:rPr sz="726" i="0">
                <a:solidFill>
                  <a:srgbClr val="E6EDF3"/>
                </a:solidFill>
                <a:latin typeface="Inconsolata"/>
              </a:rPr>
              <a:t>        </a:t>
            </a:r>
            <a:r>
              <a:rPr sz="726" i="0">
                <a:solidFill>
                  <a:srgbClr val="FF8E6E"/>
                </a:solidFill>
                <a:latin typeface="Inconsolata"/>
              </a:rPr>
              <a:t>raise</a:t>
            </a:r>
            <a:r>
              <a:rPr sz="726" i="0">
                <a:solidFill>
                  <a:srgbClr val="E6EDF3"/>
                </a:solidFill>
                <a:latin typeface="Inconsolata"/>
              </a:rPr>
              <a:t> </a:t>
            </a:r>
            <a:r>
              <a:rPr sz="726" i="0">
                <a:solidFill>
                  <a:srgbClr val="7FDBCA"/>
                </a:solidFill>
                <a:latin typeface="Inconsolata"/>
              </a:rPr>
              <a:t>HTTPException</a:t>
            </a:r>
            <a:r>
              <a:rPr sz="726" i="0">
                <a:solidFill>
                  <a:srgbClr val="E6EDF3"/>
                </a:solidFill>
                <a:latin typeface="Inconsolata"/>
              </a:rPr>
              <a:t>(</a:t>
            </a:r>
            <a:r>
              <a:rPr sz="726" i="0">
                <a:solidFill>
                  <a:srgbClr val="F9C97A"/>
                </a:solidFill>
                <a:latin typeface="Inconsolata"/>
              </a:rPr>
              <a:t>429</a:t>
            </a:r>
            <a:r>
              <a:rPr sz="726" i="0">
                <a:solidFill>
                  <a:srgbClr val="E6EDF3"/>
                </a:solidFill>
                <a:latin typeface="Inconsolata"/>
              </a:rPr>
              <a:t>, </a:t>
            </a:r>
            <a:r>
              <a:rPr sz="726" i="0">
                <a:solidFill>
                  <a:srgbClr val="A5D6A7"/>
                </a:solidFill>
                <a:latin typeface="Inconsolata"/>
              </a:rPr>
              <a:t>"Terlalu banyak request"</a:t>
            </a:r>
            <a:r>
              <a:rPr sz="726" i="0">
                <a:solidFill>
                  <a:srgbClr val="E6EDF3"/>
                </a:solidFill>
                <a:latin typeface="Inconsolata"/>
              </a:rPr>
              <a:t>,</a:t>
            </a:r>
          </a:p>
          <a:p>
            <a:pPr>
              <a:lnSpc>
                <a:spcPct val="103226"/>
              </a:lnSpc>
              <a:spcAft>
                <a:spcPts val="0"/>
              </a:spcAft>
            </a:pPr>
            <a:r>
              <a:rPr sz="726" i="0">
                <a:solidFill>
                  <a:srgbClr val="5C6773"/>
                </a:solidFill>
                <a:latin typeface="Inconsolata"/>
              </a:rPr>
              <a:t>36  </a:t>
            </a:r>
            <a:r>
              <a:rPr sz="726" i="0">
                <a:solidFill>
                  <a:srgbClr val="E6EDF3"/>
                </a:solidFill>
                <a:latin typeface="Inconsolata"/>
              </a:rPr>
              <a:t>                            headers={</a:t>
            </a:r>
            <a:r>
              <a:rPr sz="726" i="0">
                <a:solidFill>
                  <a:srgbClr val="A5D6A7"/>
                </a:solidFill>
                <a:latin typeface="Inconsolata"/>
              </a:rPr>
              <a:t>"Retry-After"</a:t>
            </a:r>
            <a:r>
              <a:rPr sz="726" i="0">
                <a:solidFill>
                  <a:srgbClr val="E6EDF3"/>
                </a:solidFill>
                <a:latin typeface="Inconsolata"/>
              </a:rPr>
              <a:t>: retry_after})</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05-rate-limiting/after.py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3226"/>
              </a:lnSpc>
              <a:spcAft>
                <a:spcPts val="0"/>
              </a:spcAft>
            </a:pPr>
            <a:r>
              <a:rPr sz="726" i="0">
                <a:solidFill>
                  <a:srgbClr val="5C6773"/>
                </a:solidFill>
                <a:latin typeface="Inconsolata"/>
              </a:rPr>
              <a:t>39  </a:t>
            </a:r>
            <a:r>
              <a:rPr sz="726" i="0">
                <a:solidFill>
                  <a:srgbClr val="F9C97A"/>
                </a:solidFill>
                <a:latin typeface="Inconsolata"/>
              </a:rPr>
              <a:t>@app.post</a:t>
            </a:r>
            <a:r>
              <a:rPr sz="726" i="0">
                <a:solidFill>
                  <a:srgbClr val="E6EDF3"/>
                </a:solidFill>
                <a:latin typeface="Inconsolata"/>
              </a:rPr>
              <a:t>(</a:t>
            </a:r>
            <a:r>
              <a:rPr sz="726" i="0">
                <a:solidFill>
                  <a:srgbClr val="A5D6A7"/>
                </a:solidFill>
                <a:latin typeface="Inconsolata"/>
              </a:rPr>
              <a:t>"/orders"</a:t>
            </a:r>
            <a:r>
              <a:rPr sz="726" i="0">
                <a:solidFill>
                  <a:srgbClr val="E6EDF3"/>
                </a:solidFill>
                <a:latin typeface="Inconsolata"/>
              </a:rPr>
              <a:t>, status_code=</a:t>
            </a:r>
            <a:r>
              <a:rPr sz="726" i="0">
                <a:solidFill>
                  <a:srgbClr val="F9C97A"/>
                </a:solidFill>
                <a:latin typeface="Inconsolata"/>
              </a:rPr>
              <a:t>201</a:t>
            </a:r>
            <a:r>
              <a:rPr sz="726" i="0">
                <a:solidFill>
                  <a:srgbClr val="E6EDF3"/>
                </a:solidFill>
                <a:latin typeface="Inconsolata"/>
              </a:rPr>
              <a:t>,</a:t>
            </a:r>
          </a:p>
          <a:p>
            <a:pPr>
              <a:lnSpc>
                <a:spcPct val="103226"/>
              </a:lnSpc>
              <a:spcAft>
                <a:spcPts val="0"/>
              </a:spcAft>
            </a:pPr>
            <a:r>
              <a:rPr sz="726" i="0">
                <a:solidFill>
                  <a:srgbClr val="5C6773"/>
                </a:solidFill>
                <a:latin typeface="Inconsolata"/>
              </a:rPr>
              <a:t>40  </a:t>
            </a:r>
            <a:r>
              <a:rPr sz="726" i="0">
                <a:solidFill>
                  <a:srgbClr val="E6EDF3"/>
                </a:solidFill>
                <a:latin typeface="Inconsolata"/>
              </a:rPr>
              <a:t>          dependencies=[</a:t>
            </a:r>
            <a:r>
              <a:rPr sz="726" i="0">
                <a:solidFill>
                  <a:srgbClr val="7FDBCA"/>
                </a:solidFill>
                <a:latin typeface="Inconsolata"/>
              </a:rPr>
              <a:t>Depends</a:t>
            </a:r>
            <a:r>
              <a:rPr sz="726" i="0">
                <a:solidFill>
                  <a:srgbClr val="E6EDF3"/>
                </a:solidFill>
                <a:latin typeface="Inconsolata"/>
              </a:rPr>
              <a:t>(rate_limit)])</a:t>
            </a:r>
          </a:p>
          <a:p>
            <a:pPr>
              <a:lnSpc>
                <a:spcPct val="103226"/>
              </a:lnSpc>
              <a:spcAft>
                <a:spcPts val="0"/>
              </a:spcAft>
            </a:pPr>
            <a:r>
              <a:rPr sz="726" i="0">
                <a:solidFill>
                  <a:srgbClr val="5C6773"/>
                </a:solidFill>
                <a:latin typeface="Inconsolata"/>
              </a:rPr>
              <a:t>41  </a:t>
            </a:r>
            <a:r>
              <a:rPr sz="726" i="0">
                <a:solidFill>
                  <a:srgbClr val="FF8E6E"/>
                </a:solidFill>
                <a:latin typeface="Inconsolata"/>
              </a:rPr>
              <a:t>def</a:t>
            </a:r>
            <a:r>
              <a:rPr sz="726" i="0">
                <a:solidFill>
                  <a:srgbClr val="E6EDF3"/>
                </a:solidFill>
                <a:latin typeface="Inconsolata"/>
              </a:rPr>
              <a:t> </a:t>
            </a:r>
            <a:r>
              <a:rPr sz="726" i="0">
                <a:solidFill>
                  <a:srgbClr val="82B1FF"/>
                </a:solidFill>
                <a:latin typeface="Inconsolata"/>
              </a:rPr>
              <a:t>create_order</a:t>
            </a:r>
            <a:r>
              <a:rPr sz="726" i="0">
                <a:solidFill>
                  <a:srgbClr val="E6EDF3"/>
                </a:solidFill>
                <a:latin typeface="Inconsolata"/>
              </a:rPr>
              <a:t>():</a:t>
            </a:r>
          </a:p>
          <a:p>
            <a:pPr>
              <a:lnSpc>
                <a:spcPct val="103226"/>
              </a:lnSpc>
              <a:spcAft>
                <a:spcPts val="0"/>
              </a:spcAft>
            </a:pPr>
            <a:r>
              <a:rPr sz="726" i="0">
                <a:solidFill>
                  <a:srgbClr val="5C6773"/>
                </a:solidFill>
                <a:latin typeface="Inconsolata"/>
              </a:rPr>
              <a:t>42  </a:t>
            </a:r>
            <a:r>
              <a:rPr sz="726" i="0">
                <a:solidFill>
                  <a:srgbClr val="E6EDF3"/>
                </a:solidFill>
                <a:latin typeface="Inconsolata"/>
              </a:rPr>
              <a:t>    </a:t>
            </a:r>
            <a:r>
              <a:rPr sz="726" i="0">
                <a:solidFill>
                  <a:srgbClr val="FF8E6E"/>
                </a:solidFill>
                <a:latin typeface="Inconsolata"/>
              </a:rPr>
              <a:t>return</a:t>
            </a:r>
            <a:r>
              <a:rPr sz="726" i="0">
                <a:solidFill>
                  <a:srgbClr val="E6EDF3"/>
                </a:solidFill>
                <a:latin typeface="Inconsolata"/>
              </a:rPr>
              <a:t> {</a:t>
            </a:r>
            <a:r>
              <a:rPr sz="726" i="0">
                <a:solidFill>
                  <a:srgbClr val="A5D6A7"/>
                </a:solidFill>
                <a:latin typeface="Inconsolata"/>
              </a:rPr>
              <a:t>"message"</a:t>
            </a:r>
            <a:r>
              <a:rPr sz="726" i="0">
                <a:solidFill>
                  <a:srgbClr val="E6EDF3"/>
                </a:solidFill>
                <a:latin typeface="Inconsolata"/>
              </a:rPr>
              <a:t>: </a:t>
            </a:r>
            <a:r>
              <a:rPr sz="726" i="0">
                <a:solidFill>
                  <a:srgbClr val="A5D6A7"/>
                </a:solidFill>
                <a:latin typeface="Inconsolata"/>
              </a:rPr>
              <a:t>"Order dibuat"</a:t>
            </a:r>
            <a:r>
              <a:rPr sz="726" i="0">
                <a:solidFill>
                  <a:srgbClr val="E6EDF3"/>
                </a:solidFill>
                <a:latin typeface="Inconsolata"/>
              </a:rPr>
              <a:t>}</a:t>
            </a:r>
          </a:p>
          <a:p>
            <a:pPr>
              <a:lnSpc>
                <a:spcPct val="103226"/>
              </a:lnSpc>
              <a:spcAft>
                <a:spcPts val="0"/>
              </a:spcAft>
            </a:pPr>
            <a:r>
              <a:rPr sz="726" i="0">
                <a:solidFill>
                  <a:srgbClr val="5C6773"/>
                </a:solidFill>
                <a:latin typeface="Inconsolata"/>
              </a:rPr>
              <a:t>43  </a:t>
            </a:r>
            <a:r>
              <a:rPr sz="726" i="0">
                <a:solidFill>
                  <a:srgbClr val="E6EDF3"/>
                </a:solidFill>
                <a:latin typeface="Inconsolata"/>
              </a:rPr>
              <a:t> </a:t>
            </a:r>
          </a:p>
          <a:p>
            <a:pPr>
              <a:lnSpc>
                <a:spcPct val="103226"/>
              </a:lnSpc>
              <a:spcAft>
                <a:spcPts val="0"/>
              </a:spcAft>
            </a:pPr>
            <a:r>
              <a:rPr sz="726" i="0">
                <a:solidFill>
                  <a:srgbClr val="5C6773"/>
                </a:solidFill>
                <a:latin typeface="Inconsolata"/>
              </a:rPr>
              <a:t>44  </a:t>
            </a:r>
            <a:r>
              <a:rPr sz="726" i="0">
                <a:solidFill>
                  <a:srgbClr val="E6EDF3"/>
                </a:solidFill>
                <a:latin typeface="Inconsolata"/>
              </a:rPr>
              <a:t> </a:t>
            </a:r>
          </a:p>
          <a:p>
            <a:pPr>
              <a:lnSpc>
                <a:spcPct val="103226"/>
              </a:lnSpc>
              <a:spcAft>
                <a:spcPts val="0"/>
              </a:spcAft>
            </a:pPr>
            <a:r>
              <a:rPr sz="726" i="0">
                <a:solidFill>
                  <a:srgbClr val="5C6773"/>
                </a:solidFill>
                <a:latin typeface="Inconsolata"/>
              </a:rPr>
              <a:t>45  </a:t>
            </a:r>
            <a:r>
              <a:rPr sz="726" i="0">
                <a:solidFill>
                  <a:srgbClr val="FF8E6E"/>
                </a:solidFill>
                <a:latin typeface="Inconsolata"/>
              </a:rPr>
              <a:t>if</a:t>
            </a:r>
            <a:r>
              <a:rPr sz="726" i="0">
                <a:solidFill>
                  <a:srgbClr val="E6EDF3"/>
                </a:solidFill>
                <a:latin typeface="Inconsolata"/>
              </a:rPr>
              <a:t> __name__ == </a:t>
            </a:r>
            <a:r>
              <a:rPr sz="726" i="0">
                <a:solidFill>
                  <a:srgbClr val="A5D6A7"/>
                </a:solidFill>
                <a:latin typeface="Inconsolata"/>
              </a:rPr>
              <a:t>"__main__"</a:t>
            </a:r>
            <a:r>
              <a:rPr sz="726" i="0">
                <a:solidFill>
                  <a:srgbClr val="E6EDF3"/>
                </a:solidFill>
                <a:latin typeface="Inconsolata"/>
              </a:rPr>
              <a:t>:</a:t>
            </a:r>
          </a:p>
          <a:p>
            <a:pPr>
              <a:lnSpc>
                <a:spcPct val="103226"/>
              </a:lnSpc>
              <a:spcAft>
                <a:spcPts val="0"/>
              </a:spcAft>
            </a:pPr>
            <a:r>
              <a:rPr sz="726" i="0">
                <a:solidFill>
                  <a:srgbClr val="5C6773"/>
                </a:solidFill>
                <a:latin typeface="Inconsolata"/>
              </a:rPr>
              <a:t>46  </a:t>
            </a:r>
            <a:r>
              <a:rPr sz="726" i="0">
                <a:solidFill>
                  <a:srgbClr val="E6EDF3"/>
                </a:solidFill>
                <a:latin typeface="Inconsolata"/>
              </a:rPr>
              <a:t>    </a:t>
            </a:r>
            <a:r>
              <a:rPr sz="726" i="0">
                <a:solidFill>
                  <a:srgbClr val="FF8E6E"/>
                </a:solidFill>
                <a:latin typeface="Inconsolata"/>
              </a:rPr>
              <a:t>for</a:t>
            </a:r>
            <a:r>
              <a:rPr sz="726" i="0">
                <a:solidFill>
                  <a:srgbClr val="E6EDF3"/>
                </a:solidFill>
                <a:latin typeface="Inconsolata"/>
              </a:rPr>
              <a:t> key </a:t>
            </a:r>
            <a:r>
              <a:rPr sz="726" i="0">
                <a:solidFill>
                  <a:srgbClr val="FF8E6E"/>
                </a:solidFill>
                <a:latin typeface="Inconsolata"/>
              </a:rPr>
              <a:t>in</a:t>
            </a:r>
            <a:r>
              <a:rPr sz="726" i="0">
                <a:solidFill>
                  <a:srgbClr val="E6EDF3"/>
                </a:solidFill>
                <a:latin typeface="Inconsolata"/>
              </a:rPr>
              <a:t> cache.scan_iter(</a:t>
            </a:r>
            <a:r>
              <a:rPr sz="726" i="0">
                <a:solidFill>
                  <a:srgbClr val="A5D6A7"/>
                </a:solidFill>
                <a:latin typeface="Inconsolata"/>
              </a:rPr>
              <a:t>"ratelimit:*"</a:t>
            </a:r>
            <a:r>
              <a:rPr sz="726" i="0">
                <a:solidFill>
                  <a:srgbClr val="E6EDF3"/>
                </a:solidFill>
                <a:latin typeface="Inconsolata"/>
              </a:rPr>
              <a:t>):</a:t>
            </a:r>
          </a:p>
          <a:p>
            <a:pPr>
              <a:lnSpc>
                <a:spcPct val="103226"/>
              </a:lnSpc>
              <a:spcAft>
                <a:spcPts val="0"/>
              </a:spcAft>
            </a:pPr>
            <a:r>
              <a:rPr sz="726" i="0">
                <a:solidFill>
                  <a:srgbClr val="5C6773"/>
                </a:solidFill>
                <a:latin typeface="Inconsolata"/>
              </a:rPr>
              <a:t>47  </a:t>
            </a:r>
            <a:r>
              <a:rPr sz="726" i="0">
                <a:solidFill>
                  <a:srgbClr val="E6EDF3"/>
                </a:solidFill>
                <a:latin typeface="Inconsolata"/>
              </a:rPr>
              <a:t>        cache.delete(key)</a:t>
            </a:r>
          </a:p>
          <a:p>
            <a:pPr>
              <a:lnSpc>
                <a:spcPct val="103226"/>
              </a:lnSpc>
              <a:spcAft>
                <a:spcPts val="0"/>
              </a:spcAft>
            </a:pPr>
            <a:r>
              <a:rPr sz="726" i="0">
                <a:solidFill>
                  <a:srgbClr val="5C6773"/>
                </a:solidFill>
                <a:latin typeface="Inconsolata"/>
              </a:rPr>
              <a:t>48  </a:t>
            </a:r>
            <a:r>
              <a:rPr sz="726" i="0">
                <a:solidFill>
                  <a:srgbClr val="E6EDF3"/>
                </a:solidFill>
                <a:latin typeface="Inconsolata"/>
              </a:rPr>
              <a:t>    client = </a:t>
            </a:r>
            <a:r>
              <a:rPr sz="726" i="0">
                <a:solidFill>
                  <a:srgbClr val="7FDBCA"/>
                </a:solidFill>
                <a:latin typeface="Inconsolata"/>
              </a:rPr>
              <a:t>TestClient</a:t>
            </a:r>
            <a:r>
              <a:rPr sz="726" i="0">
                <a:solidFill>
                  <a:srgbClr val="E6EDF3"/>
                </a:solidFill>
                <a:latin typeface="Inconsolata"/>
              </a:rPr>
              <a:t>(app)</a:t>
            </a:r>
          </a:p>
          <a:p>
            <a:pPr>
              <a:lnSpc>
                <a:spcPct val="103226"/>
              </a:lnSpc>
              <a:spcAft>
                <a:spcPts val="0"/>
              </a:spcAft>
            </a:pPr>
            <a:r>
              <a:rPr sz="726" i="0">
                <a:solidFill>
                  <a:srgbClr val="5C6773"/>
                </a:solidFill>
                <a:latin typeface="Inconsolata"/>
              </a:rPr>
              <a:t>49  </a:t>
            </a:r>
            <a:r>
              <a:rPr sz="726" i="0">
                <a:solidFill>
                  <a:srgbClr val="E6EDF3"/>
                </a:solidFill>
                <a:latin typeface="Inconsolata"/>
              </a:rPr>
              <a:t>    codes = [client.post(</a:t>
            </a:r>
            <a:r>
              <a:rPr sz="726" i="0">
                <a:solidFill>
                  <a:srgbClr val="A5D6A7"/>
                </a:solidFill>
                <a:latin typeface="Inconsolata"/>
              </a:rPr>
              <a:t>"/orders"</a:t>
            </a:r>
            <a:r>
              <a:rPr sz="726" i="0">
                <a:solidFill>
                  <a:srgbClr val="E6EDF3"/>
                </a:solidFill>
                <a:latin typeface="Inconsolata"/>
              </a:rPr>
              <a:t>).status_code </a:t>
            </a:r>
            <a:r>
              <a:rPr sz="726" i="0">
                <a:solidFill>
                  <a:srgbClr val="FF8E6E"/>
                </a:solidFill>
                <a:latin typeface="Inconsolata"/>
              </a:rPr>
              <a:t>for</a:t>
            </a:r>
            <a:r>
              <a:rPr sz="726" i="0">
                <a:solidFill>
                  <a:srgbClr val="E6EDF3"/>
                </a:solidFill>
                <a:latin typeface="Inconsolata"/>
              </a:rPr>
              <a:t> _ </a:t>
            </a:r>
            <a:r>
              <a:rPr sz="726" i="0">
                <a:solidFill>
                  <a:srgbClr val="FF8E6E"/>
                </a:solidFill>
                <a:latin typeface="Inconsolata"/>
              </a:rPr>
              <a:t>in</a:t>
            </a:r>
            <a:r>
              <a:rPr sz="726" i="0">
                <a:solidFill>
                  <a:srgbClr val="E6EDF3"/>
                </a:solidFill>
                <a:latin typeface="Inconsolata"/>
              </a:rPr>
              <a:t> </a:t>
            </a:r>
            <a:r>
              <a:rPr sz="726" i="0">
                <a:solidFill>
                  <a:srgbClr val="C3A6FF"/>
                </a:solidFill>
                <a:latin typeface="Inconsolata"/>
              </a:rPr>
              <a:t>range</a:t>
            </a:r>
            <a:r>
              <a:rPr sz="726" i="0">
                <a:solidFill>
                  <a:srgbClr val="E6EDF3"/>
                </a:solidFill>
                <a:latin typeface="Inconsolata"/>
              </a:rPr>
              <a:t>(</a:t>
            </a:r>
            <a:r>
              <a:rPr sz="726" i="0">
                <a:solidFill>
                  <a:srgbClr val="F9C97A"/>
                </a:solidFill>
                <a:latin typeface="Inconsolata"/>
              </a:rPr>
              <a:t>15</a:t>
            </a:r>
            <a:r>
              <a:rPr sz="726" i="0">
                <a:solidFill>
                  <a:srgbClr val="E6EDF3"/>
                </a:solidFill>
                <a:latin typeface="Inconsolata"/>
              </a:rPr>
              <a:t>)]</a:t>
            </a:r>
          </a:p>
          <a:p>
            <a:pPr>
              <a:lnSpc>
                <a:spcPct val="103226"/>
              </a:lnSpc>
              <a:spcAft>
                <a:spcPts val="0"/>
              </a:spcAft>
            </a:pPr>
            <a:r>
              <a:rPr sz="726" i="0">
                <a:solidFill>
                  <a:srgbClr val="5C6773"/>
                </a:solidFill>
                <a:latin typeface="Inconsolata"/>
              </a:rPr>
              <a:t>50  </a:t>
            </a:r>
            <a:r>
              <a:rPr sz="726" i="0">
                <a:solidFill>
                  <a:srgbClr val="E6EDF3"/>
                </a:solidFill>
                <a:latin typeface="Inconsolata"/>
              </a:rPr>
              <a:t>    </a:t>
            </a:r>
            <a:r>
              <a:rPr sz="726" i="0">
                <a:solidFill>
                  <a:srgbClr val="C3A6FF"/>
                </a:solidFill>
                <a:latin typeface="Inconsolata"/>
              </a:rPr>
              <a:t>print</a:t>
            </a:r>
            <a:r>
              <a:rPr sz="726" i="0">
                <a:solidFill>
                  <a:srgbClr val="E6EDF3"/>
                </a:solidFill>
                <a:latin typeface="Inconsolata"/>
              </a:rPr>
              <a:t>(</a:t>
            </a:r>
            <a:r>
              <a:rPr sz="726" i="0">
                <a:solidFill>
                  <a:srgbClr val="A5D6A7"/>
                </a:solidFill>
                <a:latin typeface="Inconsolata"/>
              </a:rPr>
              <a:t>"Status code:"</a:t>
            </a:r>
            <a:r>
              <a:rPr sz="726" i="0">
                <a:solidFill>
                  <a:srgbClr val="E6EDF3"/>
                </a:solidFill>
                <a:latin typeface="Inconsolata"/>
              </a:rPr>
              <a:t>, codes)        </a:t>
            </a:r>
            <a:r>
              <a:rPr sz="726" i="1">
                <a:solidFill>
                  <a:srgbClr val="8B98A8"/>
                </a:solidFill>
                <a:latin typeface="Inconsolata"/>
              </a:rPr>
              <a:t># 10x 201, lalu 5x 429</a:t>
            </a:r>
          </a:p>
        </p:txBody>
      </p:sp>
      <p:sp>
        <p:nvSpPr>
          <p:cNvPr id="36" name="Box 21"/>
          <p:cNvSpPr/>
          <p:nvPr/>
        </p:nvSpPr>
        <p:spPr>
          <a:xfrm>
            <a:off x="704088" y="36541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5890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768471"/>
            <a:ext cx="3694176"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8176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704088" y="4111371"/>
            <a:ext cx="3694176" cy="450342"/>
          </a:xfrm>
          <a:prstGeom prst="roundRect">
            <a:avLst>
              <a:gd name="adj" fmla="val 1015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4279392" y="42176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42" name="Box 27"/>
          <p:cNvSpPr/>
          <p:nvPr/>
        </p:nvSpPr>
        <p:spPr>
          <a:xfrm>
            <a:off x="4709159" y="19396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3" name="Box 28"/>
          <p:cNvSpPr/>
          <p:nvPr/>
        </p:nvSpPr>
        <p:spPr>
          <a:xfrm>
            <a:off x="8284463" y="18745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Rate Limiting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05-rate-limiting/after.py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sesi-06-redis-caching-rate-limiting/05-rate-limiting</a:t>
            </a:r>
          </a:p>
          <a:p>
            <a:pPr>
              <a:lnSpc>
                <a:spcPct val="111111"/>
              </a:lnSpc>
              <a:spcAft>
                <a:spcPts val="0"/>
              </a:spcAft>
            </a:pPr>
            <a:r>
              <a:rPr sz="900" i="0">
                <a:solidFill>
                  <a:srgbClr val="82B1FF"/>
                </a:solidFill>
                <a:latin typeface="Inconsolata"/>
              </a:rPr>
              <a:t>$ python after.py</a:t>
            </a:r>
          </a:p>
        </p:txBody>
      </p:sp>
      <p:pic>
        <p:nvPicPr>
          <p:cNvPr id="29" name="Image 12" descr="s06-05-rate-limiting-after.png"/>
          <p:cNvPicPr>
            <a:picLocks noChangeAspect="1"/>
          </p:cNvPicPr>
          <p:nvPr/>
        </p:nvPicPr>
        <p:blipFill>
          <a:blip r:embed="rId2"/>
          <a:stretch>
            <a:fillRect/>
          </a:stretch>
        </p:blipFill>
        <p:spPr>
          <a:xfrm>
            <a:off x="621792" y="2322576"/>
            <a:ext cx="4297680" cy="913257"/>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Key counter per client per menit (baris 29)</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INCR</a:t>
            </a:r>
            <a:r>
              <a:rPr sz="950" b="0" i="0">
                <a:solidFill>
                  <a:srgbClr val="434343"/>
                </a:solidFill>
                <a:latin typeface="Inter"/>
              </a:rPr>
              <a:t> menambah counter, </a:t>
            </a:r>
            <a:r>
              <a:rPr sz="950" b="0" i="0">
                <a:solidFill>
                  <a:srgbClr val="B5482A"/>
                </a:solidFill>
                <a:latin typeface="Inconsolata"/>
              </a:rPr>
              <a:t>EXPIRE</a:t>
            </a:r>
            <a:r>
              <a:rPr sz="950" b="0" i="0">
                <a:solidFill>
                  <a:srgbClr val="434343"/>
                </a:solidFill>
                <a:latin typeface="Inter"/>
              </a:rPr>
              <a:t> menghapusnya setelah 60 detik (baris 30-32)</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Lewat batas = 429 dengan </a:t>
            </a:r>
            <a:r>
              <a:rPr sz="950" b="0" i="0">
                <a:solidFill>
                  <a:srgbClr val="B5482A"/>
                </a:solidFill>
                <a:latin typeface="Inconsolata"/>
              </a:rPr>
              <a:t>Retry-After</a:t>
            </a:r>
            <a:r>
              <a:rPr sz="950" b="0" i="0">
                <a:solidFill>
                  <a:srgbClr val="434343"/>
                </a:solidFill>
                <a:latin typeface="Inter"/>
              </a:rPr>
              <a:t> (baris 33-36)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Dipasang sebagai dependency route (baris 40)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10 request diterima, 5 sisanya ditolak 429.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Rate Limiting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Perbedaan Algoritma Rate Limiting</a:t>
            </a:r>
          </a:p>
        </p:txBody>
      </p:sp>
      <p:graphicFrame>
        <p:nvGraphicFramePr>
          <p:cNvPr id="22" name="Table 3"/>
          <p:cNvGraphicFramePr>
            <a:graphicFrameLocks noGrp="1"/>
          </p:cNvGraphicFramePr>
          <p:nvPr/>
        </p:nvGraphicFramePr>
        <p:xfrm>
          <a:off x="621792" y="1481328"/>
          <a:ext cx="7863840" cy="2267712"/>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66928">
                <a:tc>
                  <a:txBody>
                    <a:bodyPr/>
                    <a:lstStyle/>
                    <a:p>
                      <a:pPr algn="l">
                        <a:lnSpc>
                          <a:spcPct val="100000"/>
                        </a:lnSpc>
                        <a:spcAft>
                          <a:spcPts val="0"/>
                        </a:spcAft>
                      </a:pPr>
                      <a:r>
                        <a:rPr sz="900" b="1" i="0">
                          <a:solidFill>
                            <a:srgbClr val="FFFFFF"/>
                          </a:solidFill>
                          <a:latin typeface="Inter"/>
                        </a:rPr>
                        <a:t>Algoritma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kerja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Kelebihan</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Kekurangan</a:t>
                      </a:r>
                    </a:p>
                  </a:txBody>
                  <a:tcPr marL="73152" marR="73152" marT="36576" marB="36576" anchor="ctr">
                    <a:solidFill>
                      <a:srgbClr val="1C4587"/>
                    </a:solidFill>
                  </a:tcPr>
                </a:tc>
                <a:extLst>
                  <a:ext uri="{0D108BD9-81ED-4DB2-BD59-A6C34878D82A}">
                    <a16:rowId xmlns:a16="http://schemas.microsoft.com/office/drawing/2014/main" val="10000"/>
                  </a:ext>
                </a:extLst>
              </a:tr>
              <a:tr h="566928">
                <a:tc>
                  <a:txBody>
                    <a:bodyPr/>
                    <a:lstStyle/>
                    <a:p>
                      <a:pPr algn="l">
                        <a:lnSpc>
                          <a:spcPct val="100000"/>
                        </a:lnSpc>
                        <a:spcAft>
                          <a:spcPts val="0"/>
                        </a:spcAft>
                      </a:pPr>
                      <a:r>
                        <a:rPr sz="900" b="1" i="0">
                          <a:solidFill>
                            <a:srgbClr val="1C4587"/>
                          </a:solidFill>
                          <a:latin typeface="Inter"/>
                        </a:rPr>
                        <a:t>Fixed window</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Counter per menit (INCR + EXPIRE)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Paling sederhana, hemat memory</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Bisa lolos 2x limit di pergantian menit</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Aft>
                          <a:spcPts val="0"/>
                        </a:spcAft>
                      </a:pPr>
                      <a:r>
                        <a:rPr sz="900" b="1" i="0">
                          <a:solidFill>
                            <a:srgbClr val="1C4587"/>
                          </a:solidFill>
                          <a:latin typeface="Inter"/>
                        </a:rPr>
                        <a:t>Sliding window</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Catat waktu setiap request, hitung N detik terakhir</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Akurat, tanpa celah</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Memory sebanding jumlah request</a:t>
                      </a:r>
                    </a:p>
                  </a:txBody>
                  <a:tcPr marL="73152" marR="73152" marT="36576" marB="36576" anchor="ctr">
                    <a:solidFill>
                      <a:srgbClr val="F3F4F6"/>
                    </a:solidFill>
                  </a:tcPr>
                </a:tc>
                <a:extLst>
                  <a:ext uri="{0D108BD9-81ED-4DB2-BD59-A6C34878D82A}">
                    <a16:rowId xmlns:a16="http://schemas.microsoft.com/office/drawing/2014/main" val="10002"/>
                  </a:ext>
                </a:extLst>
              </a:tr>
              <a:tr h="566928">
                <a:tc>
                  <a:txBody>
                    <a:bodyPr/>
                    <a:lstStyle/>
                    <a:p>
                      <a:pPr algn="l">
                        <a:lnSpc>
                          <a:spcPct val="100000"/>
                        </a:lnSpc>
                        <a:spcAft>
                          <a:spcPts val="0"/>
                        </a:spcAft>
                      </a:pPr>
                      <a:r>
                        <a:rPr sz="900" b="1" i="0">
                          <a:solidFill>
                            <a:srgbClr val="1C4587"/>
                          </a:solidFill>
                          <a:latin typeface="Inter"/>
                        </a:rPr>
                        <a:t>Token bucket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Token terisi rutin, setiap request memakai 1 token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Mengizinkan burst singkat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Lebih rumit, biasanya ada di API gateway</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23" name="Text 4"/>
          <p:cNvSpPr txBox="1"/>
          <p:nvPr/>
        </p:nvSpPr>
        <p:spPr>
          <a:xfrm>
            <a:off x="621792" y="4023360"/>
            <a:ext cx="7863840" cy="457200"/>
          </a:xfrm>
          <a:prstGeom prst="rect">
            <a:avLst/>
          </a:prstGeom>
          <a:noFill/>
        </p:spPr>
        <p:txBody>
          <a:bodyPr wrap="square" lIns="45720" rIns="45720" anchor="t">
            <a:spAutoFit/>
          </a:bodyPr>
          <a:lstStyle/>
          <a:p>
            <a:pPr algn="l">
              <a:lnSpc>
                <a:spcPct val="115000"/>
              </a:lnSpc>
              <a:spcAft>
                <a:spcPts val="400"/>
              </a:spcAft>
            </a:pPr>
            <a:r>
              <a:rPr sz="1000" b="0" i="0">
                <a:solidFill>
                  <a:srgbClr val="1C4587"/>
                </a:solidFill>
                <a:latin typeface="Inter"/>
              </a:rPr>
              <a:t>Contoh 05 memakai fixed window. Contoh 06 dan hands-on memakai sliding window.</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Sliding Window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Sliding Window?</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Sliding window adalah</a:t>
            </a:r>
          </a:p>
          <a:p>
            <a:pPr algn="l">
              <a:lnSpc>
                <a:spcPct val="115000"/>
              </a:lnSpc>
              <a:spcAft>
                <a:spcPts val="400"/>
              </a:spcAft>
            </a:pPr>
            <a:r>
              <a:rPr sz="850" b="0" i="0">
                <a:solidFill>
                  <a:srgbClr val="434343"/>
                </a:solidFill>
                <a:latin typeface="Inter"/>
              </a:rPr>
              <a:t>Algoritma rate limiting yang selalu menghitung request dalam </a:t>
            </a:r>
            <a:r>
              <a:rPr sz="850" b="1" i="0">
                <a:solidFill>
                  <a:srgbClr val="434343"/>
                </a:solidFill>
                <a:latin typeface="Inter"/>
              </a:rPr>
              <a:t>N detik terakhir dari sekarang</a:t>
            </a:r>
            <a:r>
              <a:rPr sz="850" b="0" i="0">
                <a:solidFill>
                  <a:srgbClr val="434343"/>
                </a:solidFill>
                <a:latin typeface="Inter"/>
              </a:rPr>
              <a:t>, bukan per menit di jam dinding. Setiap request dicatat waktunya di Redis </a:t>
            </a:r>
            <a:r>
              <a:rPr sz="850" b="1" i="0">
                <a:solidFill>
                  <a:srgbClr val="434343"/>
                </a:solidFill>
                <a:latin typeface="Inter"/>
              </a:rPr>
              <a:t>sorted set</a:t>
            </a:r>
            <a:r>
              <a:rPr sz="850" b="0" i="0">
                <a:solidFill>
                  <a:srgbClr val="434343"/>
                </a:solidFill>
                <a:latin typeface="Inter"/>
              </a:rPr>
              <a:t>, lalu request yang sudah lewat window dibuang.</a:t>
            </a:r>
          </a:p>
          <a:p>
            <a:pPr algn="l">
              <a:lnSpc>
                <a:spcPct val="115000"/>
              </a:lnSpc>
              <a:spcAft>
                <a:spcPts val="400"/>
              </a:spcAft>
            </a:pPr>
            <a:r>
              <a:rPr sz="9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Menutup celah fixed window di pergantian menit</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Membuat limit benar-benar berlaku per 60 detik</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fixed window: 06-sliding-window/before.py</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04167"/>
              </a:lnSpc>
              <a:spcAft>
                <a:spcPts val="0"/>
              </a:spcAft>
            </a:pP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allow</a:t>
            </a:r>
            <a:r>
              <a:rPr sz="800" i="0">
                <a:solidFill>
                  <a:srgbClr val="E6EDF3"/>
                </a:solidFill>
                <a:latin typeface="Inconsolata"/>
              </a:rPr>
              <a:t>(client_id: </a:t>
            </a:r>
            <a:r>
              <a:rPr sz="800" i="0">
                <a:solidFill>
                  <a:srgbClr val="C3A6FF"/>
                </a:solidFill>
                <a:latin typeface="Inconsolata"/>
              </a:rPr>
              <a:t>str</a:t>
            </a:r>
            <a:r>
              <a:rPr sz="800" i="0">
                <a:solidFill>
                  <a:srgbClr val="E6EDF3"/>
                </a:solidFill>
                <a:latin typeface="Inconsolata"/>
              </a:rPr>
              <a:t>, now: </a:t>
            </a:r>
            <a:r>
              <a:rPr sz="800" i="0">
                <a:solidFill>
                  <a:srgbClr val="C3A6FF"/>
                </a:solidFill>
                <a:latin typeface="Inconsolata"/>
              </a:rPr>
              <a:t>float</a:t>
            </a:r>
            <a:r>
              <a:rPr sz="800" i="0">
                <a:solidFill>
                  <a:srgbClr val="E6EDF3"/>
                </a:solidFill>
                <a:latin typeface="Inconsolata"/>
              </a:rPr>
              <a:t>) -&gt; </a:t>
            </a:r>
            <a:r>
              <a:rPr sz="800" i="0">
                <a:solidFill>
                  <a:srgbClr val="C3A6FF"/>
                </a:solidFill>
                <a:latin typeface="Inconsolata"/>
              </a:rPr>
              <a:t>bool</a:t>
            </a:r>
            <a:r>
              <a:rPr sz="800" i="0">
                <a:solidFill>
                  <a:srgbClr val="E6EDF3"/>
                </a:solidFill>
                <a:latin typeface="Inconsolata"/>
              </a:rPr>
              <a:t>:</a:t>
            </a:r>
          </a:p>
          <a:p>
            <a:pPr>
              <a:lnSpc>
                <a:spcPct val="104167"/>
              </a:lnSpc>
              <a:spcAft>
                <a:spcPts val="0"/>
              </a:spcAft>
            </a:pPr>
            <a:r>
              <a:rPr sz="800" i="0">
                <a:solidFill>
                  <a:srgbClr val="E6EDF3"/>
                </a:solidFill>
                <a:latin typeface="Inconsolata"/>
              </a:rPr>
              <a:t>    key = </a:t>
            </a:r>
            <a:r>
              <a:rPr sz="800" i="0">
                <a:solidFill>
                  <a:srgbClr val="A5D6A7"/>
                </a:solidFill>
                <a:latin typeface="Inconsolata"/>
              </a:rPr>
              <a:t>f"fixed:{client_id}:{int(now // WINDOW)}"</a:t>
            </a:r>
          </a:p>
          <a:p>
            <a:pPr>
              <a:lnSpc>
                <a:spcPct val="104167"/>
              </a:lnSpc>
              <a:spcAft>
                <a:spcPts val="0"/>
              </a:spcAft>
            </a:pPr>
            <a:r>
              <a:rPr sz="800" i="0">
                <a:solidFill>
                  <a:srgbClr val="E6EDF3"/>
                </a:solidFill>
                <a:latin typeface="Inconsolata"/>
              </a:rPr>
              <a:t>    count = cache.incr(key)</a:t>
            </a:r>
          </a:p>
        </p:txBody>
      </p:sp>
      <p:sp>
        <p:nvSpPr>
          <p:cNvPr id="30" name="Box 13"/>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sliding window: 06-sliding-window/after.py</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04167"/>
              </a:lnSpc>
              <a:spcAft>
                <a:spcPts val="0"/>
              </a:spcAft>
            </a:pP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allow</a:t>
            </a:r>
            <a:r>
              <a:rPr sz="800" i="0">
                <a:solidFill>
                  <a:srgbClr val="E6EDF3"/>
                </a:solidFill>
                <a:latin typeface="Inconsolata"/>
              </a:rPr>
              <a:t>(client_id: </a:t>
            </a:r>
            <a:r>
              <a:rPr sz="800" i="0">
                <a:solidFill>
                  <a:srgbClr val="C3A6FF"/>
                </a:solidFill>
                <a:latin typeface="Inconsolata"/>
              </a:rPr>
              <a:t>str</a:t>
            </a:r>
            <a:r>
              <a:rPr sz="800" i="0">
                <a:solidFill>
                  <a:srgbClr val="E6EDF3"/>
                </a:solidFill>
                <a:latin typeface="Inconsolata"/>
              </a:rPr>
              <a:t>, now: </a:t>
            </a:r>
            <a:r>
              <a:rPr sz="800" i="0">
                <a:solidFill>
                  <a:srgbClr val="C3A6FF"/>
                </a:solidFill>
                <a:latin typeface="Inconsolata"/>
              </a:rPr>
              <a:t>float</a:t>
            </a:r>
            <a:r>
              <a:rPr sz="800" i="0">
                <a:solidFill>
                  <a:srgbClr val="E6EDF3"/>
                </a:solidFill>
                <a:latin typeface="Inconsolata"/>
              </a:rPr>
              <a:t>) -&gt; </a:t>
            </a:r>
            <a:r>
              <a:rPr sz="800" i="0">
                <a:solidFill>
                  <a:srgbClr val="C3A6FF"/>
                </a:solidFill>
                <a:latin typeface="Inconsolata"/>
              </a:rPr>
              <a:t>bool</a:t>
            </a:r>
            <a:r>
              <a:rPr sz="800" i="0">
                <a:solidFill>
                  <a:srgbClr val="E6EDF3"/>
                </a:solidFill>
                <a:latin typeface="Inconsolata"/>
              </a:rPr>
              <a:t>:</a:t>
            </a:r>
          </a:p>
          <a:p>
            <a:pPr>
              <a:lnSpc>
                <a:spcPct val="104167"/>
              </a:lnSpc>
              <a:spcAft>
                <a:spcPts val="0"/>
              </a:spcAft>
            </a:pPr>
            <a:r>
              <a:rPr sz="800" i="0">
                <a:solidFill>
                  <a:srgbClr val="E6EDF3"/>
                </a:solidFill>
                <a:latin typeface="Inconsolata"/>
              </a:rPr>
              <a:t>    key = </a:t>
            </a:r>
            <a:r>
              <a:rPr sz="800" i="0">
                <a:solidFill>
                  <a:srgbClr val="A5D6A7"/>
                </a:solidFill>
                <a:latin typeface="Inconsolata"/>
              </a:rPr>
              <a:t>f"sliding:{client_id}"</a:t>
            </a:r>
          </a:p>
          <a:p>
            <a:pPr>
              <a:lnSpc>
                <a:spcPct val="104167"/>
              </a:lnSpc>
              <a:spcAft>
                <a:spcPts val="0"/>
              </a:spcAft>
            </a:pPr>
            <a:r>
              <a:rPr sz="800" i="0">
                <a:solidFill>
                  <a:srgbClr val="E6EDF3"/>
                </a:solidFill>
                <a:latin typeface="Inconsolata"/>
              </a:rPr>
              <a:t>    cache.zremrangebyscore(key, </a:t>
            </a:r>
            <a:r>
              <a:rPr sz="800" i="0">
                <a:solidFill>
                  <a:srgbClr val="F9C97A"/>
                </a:solidFill>
                <a:latin typeface="Inconsolata"/>
              </a:rPr>
              <a:t>0</a:t>
            </a:r>
            <a:r>
              <a:rPr sz="800" i="0">
                <a:solidFill>
                  <a:srgbClr val="E6EDF3"/>
                </a:solidFill>
                <a:latin typeface="Inconsolata"/>
              </a:rPr>
              <a:t>, now - </a:t>
            </a:r>
            <a:r>
              <a:rPr sz="800" i="0">
                <a:solidFill>
                  <a:srgbClr val="7FDBCA"/>
                </a:solidFill>
                <a:latin typeface="Inconsolata"/>
              </a:rPr>
              <a:t>WINDOW</a:t>
            </a:r>
            <a:r>
              <a:rPr sz="800" i="0">
                <a:solidFill>
                  <a:srgbClr val="E6EDF3"/>
                </a:solidFill>
                <a:latin typeface="Inconsolata"/>
              </a:rPr>
              <a:t>)   </a:t>
            </a:r>
            <a:r>
              <a:rPr sz="800" i="1">
                <a:solidFill>
                  <a:srgbClr val="8B98A8"/>
                </a:solidFill>
                <a:latin typeface="Inconsolata"/>
              </a:rPr>
              <a:t># buang yang &gt; 60s</a:t>
            </a:r>
          </a:p>
          <a:p>
            <a:pPr>
              <a:lnSpc>
                <a:spcPct val="104167"/>
              </a:lnSpc>
              <a:spcAft>
                <a:spcPts val="0"/>
              </a:spcAft>
            </a:pPr>
            <a:r>
              <a:rPr sz="800" i="0">
                <a:solidFill>
                  <a:srgbClr val="E6EDF3"/>
                </a:solidFill>
                <a:latin typeface="Inconsolata"/>
              </a:rPr>
              <a:t>    </a:t>
            </a:r>
            <a:r>
              <a:rPr sz="800" i="0">
                <a:solidFill>
                  <a:srgbClr val="FF8E6E"/>
                </a:solidFill>
                <a:latin typeface="Inconsolata"/>
              </a:rPr>
              <a:t>if</a:t>
            </a:r>
            <a:r>
              <a:rPr sz="800" i="0">
                <a:solidFill>
                  <a:srgbClr val="E6EDF3"/>
                </a:solidFill>
                <a:latin typeface="Inconsolata"/>
              </a:rPr>
              <a:t> cache.zcard(key) &gt;= </a:t>
            </a:r>
            <a:r>
              <a:rPr sz="800" i="0">
                <a:solidFill>
                  <a:srgbClr val="7FDBCA"/>
                </a:solidFill>
                <a:latin typeface="Inconsolata"/>
              </a:rPr>
              <a:t>LIMIT</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return</a:t>
            </a:r>
            <a:r>
              <a:rPr sz="800" i="0">
                <a:solidFill>
                  <a:srgbClr val="E6EDF3"/>
                </a:solidFill>
                <a:latin typeface="Inconsolata"/>
              </a:rPr>
              <a:t> </a:t>
            </a:r>
            <a:r>
              <a:rPr sz="800" i="0">
                <a:solidFill>
                  <a:srgbClr val="FF8E6E"/>
                </a:solidFill>
                <a:latin typeface="Inconsolata"/>
              </a:rPr>
              <a:t>False</a:t>
            </a:r>
          </a:p>
          <a:p>
            <a:pPr>
              <a:lnSpc>
                <a:spcPct val="104167"/>
              </a:lnSpc>
              <a:spcAft>
                <a:spcPts val="0"/>
              </a:spcAft>
            </a:pPr>
            <a:r>
              <a:rPr sz="800" i="0">
                <a:solidFill>
                  <a:srgbClr val="E6EDF3"/>
                </a:solidFill>
                <a:latin typeface="Inconsolata"/>
              </a:rPr>
              <a:t>    cache.zadd(key, {uuid4().hex: now})            </a:t>
            </a:r>
            <a:r>
              <a:rPr sz="800" i="1">
                <a:solidFill>
                  <a:srgbClr val="8B98A8"/>
                </a:solidFill>
                <a:latin typeface="Inconsolata"/>
              </a:rPr>
              <a:t># catat request ini</a:t>
            </a:r>
          </a:p>
        </p:txBody>
      </p:sp>
      <p:sp>
        <p:nvSpPr>
          <p:cNvPr id="38" name="Box 23"/>
          <p:cNvSpPr/>
          <p:nvPr/>
        </p:nvSpPr>
        <p:spPr>
          <a:xfrm>
            <a:off x="4379976" y="3278886"/>
            <a:ext cx="4023359"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65988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Sliding Window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Sliding Window?</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fixed window</a:t>
            </a:r>
          </a:p>
          <a:p>
            <a:pPr algn="l">
              <a:lnSpc>
                <a:spcPct val="115000"/>
              </a:lnSpc>
              <a:spcAft>
                <a:spcPts val="400"/>
              </a:spcAft>
            </a:pPr>
            <a:r>
              <a:rPr sz="950" b="0" i="0">
                <a:solidFill>
                  <a:srgbClr val="434343"/>
                </a:solidFill>
                <a:latin typeface="Inter"/>
              </a:rPr>
              <a:t>Limit 10 request per menit. 10 request di detik ke-59 dan 10 request di detik ke-60 masuk ke dua window yang berbeda.</a:t>
            </a:r>
          </a:p>
          <a:p>
            <a:pPr algn="l">
              <a:lnSpc>
                <a:spcPct val="115000"/>
              </a:lnSpc>
              <a:spcAft>
                <a:spcPts val="400"/>
              </a:spcAft>
            </a:pPr>
            <a:r>
              <a:rPr sz="1050" b="1" i="0">
                <a:solidFill>
                  <a:srgbClr val="1C4587"/>
                </a:solidFill>
                <a:latin typeface="Inter"/>
              </a:rPr>
              <a:t>Jika ada client yang memanfaatkan celah ini</a:t>
            </a:r>
          </a:p>
          <a:p>
            <a:pPr algn="l">
              <a:lnSpc>
                <a:spcPct val="115000"/>
              </a:lnSpc>
              <a:spcAft>
                <a:spcPts val="400"/>
              </a:spcAft>
            </a:pPr>
            <a:r>
              <a:rPr sz="950" b="0" i="0">
                <a:solidFill>
                  <a:srgbClr val="434343"/>
                </a:solidFill>
                <a:latin typeface="Inter"/>
              </a:rPr>
              <a:t>20 request lolos dalam 2 detik, dua kali lipat dari limit.</a:t>
            </a:r>
          </a:p>
          <a:p>
            <a:pPr algn="l">
              <a:lnSpc>
                <a:spcPct val="115000"/>
              </a:lnSpc>
              <a:spcAft>
                <a:spcPts val="400"/>
              </a:spcAft>
            </a:pPr>
            <a:r>
              <a:rPr sz="950" b="0" i="0">
                <a:solidFill>
                  <a:srgbClr val="434343"/>
                </a:solidFill>
                <a:latin typeface="Inter"/>
              </a:rPr>
              <a:t>Hal ini membuat limit tidak benar-benar melindungi server dari lonjakan request.</a:t>
            </a:r>
          </a:p>
          <a:p>
            <a:pPr algn="l">
              <a:lnSpc>
                <a:spcPct val="115000"/>
              </a:lnSpc>
              <a:spcAft>
                <a:spcPts val="400"/>
              </a:spcAft>
            </a:pPr>
            <a:r>
              <a:rPr sz="1050" b="1" i="0">
                <a:solidFill>
                  <a:srgbClr val="1C4587"/>
                </a:solidFill>
                <a:latin typeface="Inter"/>
              </a:rPr>
              <a:t>Yang dipakai dari Redis: sorted set</a:t>
            </a:r>
          </a:p>
          <a:p>
            <a:pPr algn="l">
              <a:lnSpc>
                <a:spcPct val="115000"/>
              </a:lnSpc>
              <a:spcAft>
                <a:spcPts val="400"/>
              </a:spcAft>
            </a:pPr>
            <a:r>
              <a:rPr sz="950" b="0" i="0">
                <a:solidFill>
                  <a:srgbClr val="434343"/>
                </a:solidFill>
                <a:latin typeface="Inter"/>
              </a:rPr>
              <a:t>Sorted set menyimpan anggota beserta angka (score). Score diisi waktu request, sehingga mudah membuang dan menghitung request dalam rentang waktu tertentu.</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2176272">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zadd(key, {id: now})</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Catat request dengan score = waktu</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zremrangebyscore(key, 0, now - 60)</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Buang request yang lebih dari 60 detik</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zcard(key)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Jumlah request dalam 60 detik terakhir</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Sliding Window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celah di pergantian menit</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06-sliding-window/before.py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3448"/>
              </a:lnSpc>
              <a:spcAft>
                <a:spcPts val="0"/>
              </a:spcAft>
            </a:pPr>
            <a:r>
              <a:rPr sz="725" i="0">
                <a:solidFill>
                  <a:srgbClr val="5C6773"/>
                </a:solidFill>
                <a:latin typeface="Inconsolata"/>
              </a:rPr>
              <a:t>12  </a:t>
            </a:r>
            <a:r>
              <a:rPr sz="725" i="0">
                <a:solidFill>
                  <a:srgbClr val="FF8E6E"/>
                </a:solidFill>
                <a:latin typeface="Inconsolata"/>
              </a:rPr>
              <a:t>import</a:t>
            </a:r>
            <a:r>
              <a:rPr sz="725" i="0">
                <a:solidFill>
                  <a:srgbClr val="E6EDF3"/>
                </a:solidFill>
                <a:latin typeface="Inconsolata"/>
              </a:rPr>
              <a:t> os</a:t>
            </a:r>
          </a:p>
          <a:p>
            <a:pPr>
              <a:lnSpc>
                <a:spcPct val="103448"/>
              </a:lnSpc>
              <a:spcAft>
                <a:spcPts val="0"/>
              </a:spcAft>
            </a:pPr>
            <a:r>
              <a:rPr sz="725" i="0">
                <a:solidFill>
                  <a:srgbClr val="5C6773"/>
                </a:solidFill>
                <a:latin typeface="Inconsolata"/>
              </a:rPr>
              <a:t>13  </a:t>
            </a:r>
            <a:r>
              <a:rPr sz="725" i="0">
                <a:solidFill>
                  <a:srgbClr val="E6EDF3"/>
                </a:solidFill>
                <a:latin typeface="Inconsolata"/>
              </a:rPr>
              <a:t> </a:t>
            </a:r>
          </a:p>
          <a:p>
            <a:pPr>
              <a:lnSpc>
                <a:spcPct val="103448"/>
              </a:lnSpc>
              <a:spcAft>
                <a:spcPts val="0"/>
              </a:spcAft>
            </a:pPr>
            <a:r>
              <a:rPr sz="725" i="0">
                <a:solidFill>
                  <a:srgbClr val="5C6773"/>
                </a:solidFill>
                <a:latin typeface="Inconsolata"/>
              </a:rPr>
              <a:t>14  </a:t>
            </a:r>
            <a:r>
              <a:rPr sz="725" i="0">
                <a:solidFill>
                  <a:srgbClr val="FF8E6E"/>
                </a:solidFill>
                <a:latin typeface="Inconsolata"/>
              </a:rPr>
              <a:t>import</a:t>
            </a:r>
            <a:r>
              <a:rPr sz="725" i="0">
                <a:solidFill>
                  <a:srgbClr val="E6EDF3"/>
                </a:solidFill>
                <a:latin typeface="Inconsolata"/>
              </a:rPr>
              <a:t> redis</a:t>
            </a:r>
          </a:p>
          <a:p>
            <a:pPr>
              <a:lnSpc>
                <a:spcPct val="103448"/>
              </a:lnSpc>
              <a:spcAft>
                <a:spcPts val="0"/>
              </a:spcAft>
            </a:pPr>
            <a:r>
              <a:rPr sz="725" i="0">
                <a:solidFill>
                  <a:srgbClr val="5C6773"/>
                </a:solidFill>
                <a:latin typeface="Inconsolata"/>
              </a:rPr>
              <a:t>15  </a:t>
            </a:r>
            <a:r>
              <a:rPr sz="725" i="0">
                <a:solidFill>
                  <a:srgbClr val="E6EDF3"/>
                </a:solidFill>
                <a:latin typeface="Inconsolata"/>
              </a:rPr>
              <a:t> </a:t>
            </a:r>
          </a:p>
          <a:p>
            <a:pPr>
              <a:lnSpc>
                <a:spcPct val="103448"/>
              </a:lnSpc>
              <a:spcAft>
                <a:spcPts val="0"/>
              </a:spcAft>
            </a:pPr>
            <a:r>
              <a:rPr sz="725" i="0">
                <a:solidFill>
                  <a:srgbClr val="5C6773"/>
                </a:solidFill>
                <a:latin typeface="Inconsolata"/>
              </a:rPr>
              <a:t>16  </a:t>
            </a:r>
            <a:r>
              <a:rPr sz="725" i="0">
                <a:solidFill>
                  <a:srgbClr val="7FDBCA"/>
                </a:solidFill>
                <a:latin typeface="Inconsolata"/>
              </a:rPr>
              <a:t>REDIS_URL</a:t>
            </a:r>
            <a:r>
              <a:rPr sz="725" i="0">
                <a:solidFill>
                  <a:srgbClr val="E6EDF3"/>
                </a:solidFill>
                <a:latin typeface="Inconsolata"/>
              </a:rPr>
              <a:t> = os.getenv(</a:t>
            </a:r>
            <a:r>
              <a:rPr sz="725" i="0">
                <a:solidFill>
                  <a:srgbClr val="A5D6A7"/>
                </a:solidFill>
                <a:latin typeface="Inconsolata"/>
              </a:rPr>
              <a:t>"REDIS_URL"</a:t>
            </a:r>
            <a:r>
              <a:rPr sz="725" i="0">
                <a:solidFill>
                  <a:srgbClr val="E6EDF3"/>
                </a:solidFill>
                <a:latin typeface="Inconsolata"/>
              </a:rPr>
              <a:t>, </a:t>
            </a:r>
            <a:r>
              <a:rPr sz="725" i="0">
                <a:solidFill>
                  <a:srgbClr val="A5D6A7"/>
                </a:solidFill>
                <a:latin typeface="Inconsolata"/>
              </a:rPr>
              <a:t>"redis://localhost:6379/0"</a:t>
            </a:r>
            <a:r>
              <a:rPr sz="725" i="0">
                <a:solidFill>
                  <a:srgbClr val="E6EDF3"/>
                </a:solidFill>
                <a:latin typeface="Inconsolata"/>
              </a:rPr>
              <a:t>)</a:t>
            </a:r>
          </a:p>
          <a:p>
            <a:pPr>
              <a:lnSpc>
                <a:spcPct val="103448"/>
              </a:lnSpc>
              <a:spcAft>
                <a:spcPts val="0"/>
              </a:spcAft>
            </a:pPr>
            <a:r>
              <a:rPr sz="725" i="0">
                <a:solidFill>
                  <a:srgbClr val="5C6773"/>
                </a:solidFill>
                <a:latin typeface="Inconsolata"/>
              </a:rPr>
              <a:t>17  </a:t>
            </a:r>
            <a:r>
              <a:rPr sz="725" i="0">
                <a:solidFill>
                  <a:srgbClr val="E6EDF3"/>
                </a:solidFill>
                <a:latin typeface="Inconsolata"/>
              </a:rPr>
              <a:t>cache = redis.</a:t>
            </a:r>
            <a:r>
              <a:rPr sz="725" i="0">
                <a:solidFill>
                  <a:srgbClr val="7FDBCA"/>
                </a:solidFill>
                <a:latin typeface="Inconsolata"/>
              </a:rPr>
              <a:t>Redis</a:t>
            </a:r>
            <a:r>
              <a:rPr sz="725" i="0">
                <a:solidFill>
                  <a:srgbClr val="E6EDF3"/>
                </a:solidFill>
                <a:latin typeface="Inconsolata"/>
              </a:rPr>
              <a:t>.from_url(</a:t>
            </a:r>
            <a:r>
              <a:rPr sz="725" i="0">
                <a:solidFill>
                  <a:srgbClr val="7FDBCA"/>
                </a:solidFill>
                <a:latin typeface="Inconsolata"/>
              </a:rPr>
              <a:t>REDIS_URL</a:t>
            </a:r>
            <a:r>
              <a:rPr sz="725" i="0">
                <a:solidFill>
                  <a:srgbClr val="E6EDF3"/>
                </a:solidFill>
                <a:latin typeface="Inconsolata"/>
              </a:rPr>
              <a:t>, decode_responses=</a:t>
            </a:r>
            <a:r>
              <a:rPr sz="725" i="0">
                <a:solidFill>
                  <a:srgbClr val="FF8E6E"/>
                </a:solidFill>
                <a:latin typeface="Inconsolata"/>
              </a:rPr>
              <a:t>True</a:t>
            </a:r>
            <a:r>
              <a:rPr sz="725" i="0">
                <a:solidFill>
                  <a:srgbClr val="E6EDF3"/>
                </a:solidFill>
                <a:latin typeface="Inconsolata"/>
              </a:rPr>
              <a:t>)</a:t>
            </a:r>
          </a:p>
          <a:p>
            <a:pPr>
              <a:lnSpc>
                <a:spcPct val="103448"/>
              </a:lnSpc>
              <a:spcAft>
                <a:spcPts val="0"/>
              </a:spcAft>
            </a:pPr>
            <a:r>
              <a:rPr sz="725" i="0">
                <a:solidFill>
                  <a:srgbClr val="5C6773"/>
                </a:solidFill>
                <a:latin typeface="Inconsolata"/>
              </a:rPr>
              <a:t>18  </a:t>
            </a:r>
            <a:r>
              <a:rPr sz="725" i="0">
                <a:solidFill>
                  <a:srgbClr val="E6EDF3"/>
                </a:solidFill>
                <a:latin typeface="Inconsolata"/>
              </a:rPr>
              <a:t> </a:t>
            </a:r>
          </a:p>
          <a:p>
            <a:pPr>
              <a:lnSpc>
                <a:spcPct val="103448"/>
              </a:lnSpc>
              <a:spcAft>
                <a:spcPts val="0"/>
              </a:spcAft>
            </a:pPr>
            <a:r>
              <a:rPr sz="725" i="0">
                <a:solidFill>
                  <a:srgbClr val="5C6773"/>
                </a:solidFill>
                <a:latin typeface="Inconsolata"/>
              </a:rPr>
              <a:t>19  </a:t>
            </a:r>
            <a:r>
              <a:rPr sz="725" i="0">
                <a:solidFill>
                  <a:srgbClr val="7FDBCA"/>
                </a:solidFill>
                <a:latin typeface="Inconsolata"/>
              </a:rPr>
              <a:t>LIMIT</a:t>
            </a:r>
            <a:r>
              <a:rPr sz="725" i="0">
                <a:solidFill>
                  <a:srgbClr val="E6EDF3"/>
                </a:solidFill>
                <a:latin typeface="Inconsolata"/>
              </a:rPr>
              <a:t>, </a:t>
            </a:r>
            <a:r>
              <a:rPr sz="725" i="0">
                <a:solidFill>
                  <a:srgbClr val="7FDBCA"/>
                </a:solidFill>
                <a:latin typeface="Inconsolata"/>
              </a:rPr>
              <a:t>WINDOW</a:t>
            </a:r>
            <a:r>
              <a:rPr sz="725" i="0">
                <a:solidFill>
                  <a:srgbClr val="E6EDF3"/>
                </a:solidFill>
                <a:latin typeface="Inconsolata"/>
              </a:rPr>
              <a:t> = </a:t>
            </a:r>
            <a:r>
              <a:rPr sz="725" i="0">
                <a:solidFill>
                  <a:srgbClr val="F9C97A"/>
                </a:solidFill>
                <a:latin typeface="Inconsolata"/>
              </a:rPr>
              <a:t>10</a:t>
            </a:r>
            <a:r>
              <a:rPr sz="725" i="0">
                <a:solidFill>
                  <a:srgbClr val="E6EDF3"/>
                </a:solidFill>
                <a:latin typeface="Inconsolata"/>
              </a:rPr>
              <a:t>, </a:t>
            </a:r>
            <a:r>
              <a:rPr sz="725" i="0">
                <a:solidFill>
                  <a:srgbClr val="F9C97A"/>
                </a:solidFill>
                <a:latin typeface="Inconsolata"/>
              </a:rPr>
              <a:t>60</a:t>
            </a:r>
          </a:p>
          <a:p>
            <a:pPr>
              <a:lnSpc>
                <a:spcPct val="103448"/>
              </a:lnSpc>
              <a:spcAft>
                <a:spcPts val="0"/>
              </a:spcAft>
            </a:pPr>
            <a:r>
              <a:rPr sz="725" i="0">
                <a:solidFill>
                  <a:srgbClr val="5C6773"/>
                </a:solidFill>
                <a:latin typeface="Inconsolata"/>
              </a:rPr>
              <a:t>20  </a:t>
            </a:r>
            <a:r>
              <a:rPr sz="725" i="0">
                <a:solidFill>
                  <a:srgbClr val="E6EDF3"/>
                </a:solidFill>
                <a:latin typeface="Inconsolata"/>
              </a:rPr>
              <a:t> </a:t>
            </a:r>
          </a:p>
          <a:p>
            <a:pPr>
              <a:lnSpc>
                <a:spcPct val="103448"/>
              </a:lnSpc>
              <a:spcAft>
                <a:spcPts val="0"/>
              </a:spcAft>
            </a:pPr>
            <a:r>
              <a:rPr sz="725" i="0">
                <a:solidFill>
                  <a:srgbClr val="5C6773"/>
                </a:solidFill>
                <a:latin typeface="Inconsolata"/>
              </a:rPr>
              <a:t>21  </a:t>
            </a:r>
            <a:r>
              <a:rPr sz="725" i="0">
                <a:solidFill>
                  <a:srgbClr val="E6EDF3"/>
                </a:solidFill>
                <a:latin typeface="Inconsolata"/>
              </a:rPr>
              <a:t> </a:t>
            </a:r>
          </a:p>
          <a:p>
            <a:pPr>
              <a:lnSpc>
                <a:spcPct val="103448"/>
              </a:lnSpc>
              <a:spcAft>
                <a:spcPts val="0"/>
              </a:spcAft>
            </a:pPr>
            <a:r>
              <a:rPr sz="725" i="0">
                <a:solidFill>
                  <a:srgbClr val="5C6773"/>
                </a:solidFill>
                <a:latin typeface="Inconsolata"/>
              </a:rPr>
              <a:t>22  </a:t>
            </a:r>
            <a:r>
              <a:rPr sz="725" i="0">
                <a:solidFill>
                  <a:srgbClr val="FF8E6E"/>
                </a:solidFill>
                <a:latin typeface="Inconsolata"/>
              </a:rPr>
              <a:t>def</a:t>
            </a:r>
            <a:r>
              <a:rPr sz="725" i="0">
                <a:solidFill>
                  <a:srgbClr val="E6EDF3"/>
                </a:solidFill>
                <a:latin typeface="Inconsolata"/>
              </a:rPr>
              <a:t> </a:t>
            </a:r>
            <a:r>
              <a:rPr sz="725" i="0">
                <a:solidFill>
                  <a:srgbClr val="82B1FF"/>
                </a:solidFill>
                <a:latin typeface="Inconsolata"/>
              </a:rPr>
              <a:t>allow</a:t>
            </a:r>
            <a:r>
              <a:rPr sz="725" i="0">
                <a:solidFill>
                  <a:srgbClr val="E6EDF3"/>
                </a:solidFill>
                <a:latin typeface="Inconsolata"/>
              </a:rPr>
              <a:t>(client_id: </a:t>
            </a:r>
            <a:r>
              <a:rPr sz="725" i="0">
                <a:solidFill>
                  <a:srgbClr val="C3A6FF"/>
                </a:solidFill>
                <a:latin typeface="Inconsolata"/>
              </a:rPr>
              <a:t>str</a:t>
            </a:r>
            <a:r>
              <a:rPr sz="725" i="0">
                <a:solidFill>
                  <a:srgbClr val="E6EDF3"/>
                </a:solidFill>
                <a:latin typeface="Inconsolata"/>
              </a:rPr>
              <a:t>, now: </a:t>
            </a:r>
            <a:r>
              <a:rPr sz="725" i="0">
                <a:solidFill>
                  <a:srgbClr val="C3A6FF"/>
                </a:solidFill>
                <a:latin typeface="Inconsolata"/>
              </a:rPr>
              <a:t>float</a:t>
            </a:r>
            <a:r>
              <a:rPr sz="725" i="0">
                <a:solidFill>
                  <a:srgbClr val="E6EDF3"/>
                </a:solidFill>
                <a:latin typeface="Inconsolata"/>
              </a:rPr>
              <a:t>) -&gt; </a:t>
            </a:r>
            <a:r>
              <a:rPr sz="725" i="0">
                <a:solidFill>
                  <a:srgbClr val="C3A6FF"/>
                </a:solidFill>
                <a:latin typeface="Inconsolata"/>
              </a:rPr>
              <a:t>bool</a:t>
            </a:r>
            <a:r>
              <a:rPr sz="725" i="0">
                <a:solidFill>
                  <a:srgbClr val="E6EDF3"/>
                </a:solidFill>
                <a:latin typeface="Inconsolata"/>
              </a:rPr>
              <a:t>:</a:t>
            </a:r>
          </a:p>
          <a:p>
            <a:pPr>
              <a:lnSpc>
                <a:spcPct val="103448"/>
              </a:lnSpc>
              <a:spcAft>
                <a:spcPts val="0"/>
              </a:spcAft>
            </a:pPr>
            <a:r>
              <a:rPr sz="725" i="0">
                <a:solidFill>
                  <a:srgbClr val="5C6773"/>
                </a:solidFill>
                <a:latin typeface="Inconsolata"/>
              </a:rPr>
              <a:t>23  </a:t>
            </a:r>
            <a:r>
              <a:rPr sz="725" i="0">
                <a:solidFill>
                  <a:srgbClr val="E6EDF3"/>
                </a:solidFill>
                <a:latin typeface="Inconsolata"/>
              </a:rPr>
              <a:t>    key = </a:t>
            </a:r>
            <a:r>
              <a:rPr sz="725" i="0">
                <a:solidFill>
                  <a:srgbClr val="A5D6A7"/>
                </a:solidFill>
                <a:latin typeface="Inconsolata"/>
              </a:rPr>
              <a:t>f"fixed:{client_id}:{int(now // WINDOW)}"</a:t>
            </a:r>
          </a:p>
          <a:p>
            <a:pPr>
              <a:lnSpc>
                <a:spcPct val="103448"/>
              </a:lnSpc>
              <a:spcAft>
                <a:spcPts val="0"/>
              </a:spcAft>
            </a:pPr>
            <a:r>
              <a:rPr sz="725" i="0">
                <a:solidFill>
                  <a:srgbClr val="5C6773"/>
                </a:solidFill>
                <a:latin typeface="Inconsolata"/>
              </a:rPr>
              <a:t>24  </a:t>
            </a:r>
            <a:r>
              <a:rPr sz="725" i="0">
                <a:solidFill>
                  <a:srgbClr val="E6EDF3"/>
                </a:solidFill>
                <a:latin typeface="Inconsolata"/>
              </a:rPr>
              <a:t>    count = cache.incr(key)</a:t>
            </a:r>
          </a:p>
          <a:p>
            <a:pPr>
              <a:lnSpc>
                <a:spcPct val="103448"/>
              </a:lnSpc>
              <a:spcAft>
                <a:spcPts val="0"/>
              </a:spcAft>
            </a:pPr>
            <a:r>
              <a:rPr sz="725" i="0">
                <a:solidFill>
                  <a:srgbClr val="5C6773"/>
                </a:solidFill>
                <a:latin typeface="Inconsolata"/>
              </a:rPr>
              <a:t>25  </a:t>
            </a:r>
            <a:r>
              <a:rPr sz="725" i="0">
                <a:solidFill>
                  <a:srgbClr val="E6EDF3"/>
                </a:solidFill>
                <a:latin typeface="Inconsolata"/>
              </a:rPr>
              <a:t>    </a:t>
            </a:r>
            <a:r>
              <a:rPr sz="725" i="0">
                <a:solidFill>
                  <a:srgbClr val="FF8E6E"/>
                </a:solidFill>
                <a:latin typeface="Inconsolata"/>
              </a:rPr>
              <a:t>if</a:t>
            </a:r>
            <a:r>
              <a:rPr sz="725" i="0">
                <a:solidFill>
                  <a:srgbClr val="E6EDF3"/>
                </a:solidFill>
                <a:latin typeface="Inconsolata"/>
              </a:rPr>
              <a:t> count == </a:t>
            </a:r>
            <a:r>
              <a:rPr sz="725" i="0">
                <a:solidFill>
                  <a:srgbClr val="F9C97A"/>
                </a:solidFill>
                <a:latin typeface="Inconsolata"/>
              </a:rPr>
              <a:t>1</a:t>
            </a:r>
            <a:r>
              <a:rPr sz="725" i="0">
                <a:solidFill>
                  <a:srgbClr val="E6EDF3"/>
                </a:solidFill>
                <a:latin typeface="Inconsolata"/>
              </a:rPr>
              <a:t>:</a:t>
            </a:r>
          </a:p>
          <a:p>
            <a:pPr>
              <a:lnSpc>
                <a:spcPct val="103448"/>
              </a:lnSpc>
              <a:spcAft>
                <a:spcPts val="0"/>
              </a:spcAft>
            </a:pPr>
            <a:r>
              <a:rPr sz="725" i="0">
                <a:solidFill>
                  <a:srgbClr val="5C6773"/>
                </a:solidFill>
                <a:latin typeface="Inconsolata"/>
              </a:rPr>
              <a:t>26  </a:t>
            </a:r>
            <a:r>
              <a:rPr sz="725" i="0">
                <a:solidFill>
                  <a:srgbClr val="E6EDF3"/>
                </a:solidFill>
                <a:latin typeface="Inconsolata"/>
              </a:rPr>
              <a:t>        cache.expire(key, </a:t>
            </a:r>
            <a:r>
              <a:rPr sz="725" i="0">
                <a:solidFill>
                  <a:srgbClr val="7FDBCA"/>
                </a:solidFill>
                <a:latin typeface="Inconsolata"/>
              </a:rPr>
              <a:t>WINDOW</a:t>
            </a:r>
            <a:r>
              <a:rPr sz="725" i="0">
                <a:solidFill>
                  <a:srgbClr val="E6EDF3"/>
                </a:solidFill>
                <a:latin typeface="Inconsolata"/>
              </a:rPr>
              <a:t>)</a:t>
            </a:r>
          </a:p>
          <a:p>
            <a:pPr>
              <a:lnSpc>
                <a:spcPct val="103448"/>
              </a:lnSpc>
              <a:spcAft>
                <a:spcPts val="0"/>
              </a:spcAft>
            </a:pPr>
            <a:r>
              <a:rPr sz="725" i="0">
                <a:solidFill>
                  <a:srgbClr val="5C6773"/>
                </a:solidFill>
                <a:latin typeface="Inconsolata"/>
              </a:rPr>
              <a:t>27  </a:t>
            </a:r>
            <a:r>
              <a:rPr sz="725" i="0">
                <a:solidFill>
                  <a:srgbClr val="E6EDF3"/>
                </a:solidFill>
                <a:latin typeface="Inconsolata"/>
              </a:rPr>
              <a:t>    </a:t>
            </a:r>
            <a:r>
              <a:rPr sz="725" i="0">
                <a:solidFill>
                  <a:srgbClr val="FF8E6E"/>
                </a:solidFill>
                <a:latin typeface="Inconsolata"/>
              </a:rPr>
              <a:t>return</a:t>
            </a:r>
            <a:r>
              <a:rPr sz="725" i="0">
                <a:solidFill>
                  <a:srgbClr val="E6EDF3"/>
                </a:solidFill>
                <a:latin typeface="Inconsolata"/>
              </a:rPr>
              <a:t> count &lt;= </a:t>
            </a:r>
            <a:r>
              <a:rPr sz="725" i="0">
                <a:solidFill>
                  <a:srgbClr val="7FDBCA"/>
                </a:solidFill>
                <a:latin typeface="Inconsolata"/>
              </a:rPr>
              <a:t>LIMIT</a:t>
            </a:r>
          </a:p>
          <a:p>
            <a:pPr>
              <a:lnSpc>
                <a:spcPct val="103448"/>
              </a:lnSpc>
              <a:spcAft>
                <a:spcPts val="0"/>
              </a:spcAft>
            </a:pPr>
            <a:r>
              <a:rPr sz="725" i="0">
                <a:solidFill>
                  <a:srgbClr val="5C6773"/>
                </a:solidFill>
                <a:latin typeface="Inconsolata"/>
              </a:rPr>
              <a:t>28  </a:t>
            </a:r>
            <a:r>
              <a:rPr sz="725" i="0">
                <a:solidFill>
                  <a:srgbClr val="E6EDF3"/>
                </a:solidFill>
                <a:latin typeface="Inconsolata"/>
              </a:rPr>
              <a:t> </a:t>
            </a:r>
          </a:p>
          <a:p>
            <a:pPr>
              <a:lnSpc>
                <a:spcPct val="103448"/>
              </a:lnSpc>
              <a:spcAft>
                <a:spcPts val="0"/>
              </a:spcAft>
            </a:pPr>
            <a:r>
              <a:rPr sz="725" i="0">
                <a:solidFill>
                  <a:srgbClr val="5C6773"/>
                </a:solidFill>
                <a:latin typeface="Inconsolata"/>
              </a:rPr>
              <a:t>29  </a:t>
            </a:r>
            <a:r>
              <a:rPr sz="725" i="0">
                <a:solidFill>
                  <a:srgbClr val="E6EDF3"/>
                </a:solidFill>
                <a:latin typeface="Inconsolata"/>
              </a:rPr>
              <a:t> </a:t>
            </a:r>
          </a:p>
          <a:p>
            <a:pPr>
              <a:lnSpc>
                <a:spcPct val="103448"/>
              </a:lnSpc>
              <a:spcAft>
                <a:spcPts val="0"/>
              </a:spcAft>
            </a:pPr>
            <a:r>
              <a:rPr sz="725" i="0">
                <a:solidFill>
                  <a:srgbClr val="5C6773"/>
                </a:solidFill>
                <a:latin typeface="Inconsolata"/>
              </a:rPr>
              <a:t>30  </a:t>
            </a:r>
            <a:r>
              <a:rPr sz="725" i="0">
                <a:solidFill>
                  <a:srgbClr val="FF8E6E"/>
                </a:solidFill>
                <a:latin typeface="Inconsolata"/>
              </a:rPr>
              <a:t>if</a:t>
            </a:r>
            <a:r>
              <a:rPr sz="725" i="0">
                <a:solidFill>
                  <a:srgbClr val="E6EDF3"/>
                </a:solidFill>
                <a:latin typeface="Inconsolata"/>
              </a:rPr>
              <a:t> __name__ == </a:t>
            </a:r>
            <a:r>
              <a:rPr sz="725" i="0">
                <a:solidFill>
                  <a:srgbClr val="A5D6A7"/>
                </a:solidFill>
                <a:latin typeface="Inconsolata"/>
              </a:rPr>
              <a:t>"__main__"</a:t>
            </a:r>
            <a:r>
              <a:rPr sz="725" i="0">
                <a:solidFill>
                  <a:srgbClr val="E6EDF3"/>
                </a:solidFill>
                <a:latin typeface="Inconsolata"/>
              </a:rPr>
              <a:t>:</a:t>
            </a:r>
          </a:p>
          <a:p>
            <a:pPr>
              <a:lnSpc>
                <a:spcPct val="103448"/>
              </a:lnSpc>
              <a:spcAft>
                <a:spcPts val="0"/>
              </a:spcAft>
            </a:pPr>
            <a:r>
              <a:rPr sz="725" i="0">
                <a:solidFill>
                  <a:srgbClr val="5C6773"/>
                </a:solidFill>
                <a:latin typeface="Inconsolata"/>
              </a:rPr>
              <a:t>31  </a:t>
            </a:r>
            <a:r>
              <a:rPr sz="725" i="0">
                <a:solidFill>
                  <a:srgbClr val="E6EDF3"/>
                </a:solidFill>
                <a:latin typeface="Inconsolata"/>
              </a:rPr>
              <a:t>    </a:t>
            </a:r>
            <a:r>
              <a:rPr sz="725" i="0">
                <a:solidFill>
                  <a:srgbClr val="FF8E6E"/>
                </a:solidFill>
                <a:latin typeface="Inconsolata"/>
              </a:rPr>
              <a:t>for</a:t>
            </a:r>
            <a:r>
              <a:rPr sz="725" i="0">
                <a:solidFill>
                  <a:srgbClr val="E6EDF3"/>
                </a:solidFill>
                <a:latin typeface="Inconsolata"/>
              </a:rPr>
              <a:t> key </a:t>
            </a:r>
            <a:r>
              <a:rPr sz="725" i="0">
                <a:solidFill>
                  <a:srgbClr val="FF8E6E"/>
                </a:solidFill>
                <a:latin typeface="Inconsolata"/>
              </a:rPr>
              <a:t>in</a:t>
            </a:r>
            <a:r>
              <a:rPr sz="725" i="0">
                <a:solidFill>
                  <a:srgbClr val="E6EDF3"/>
                </a:solidFill>
                <a:latin typeface="Inconsolata"/>
              </a:rPr>
              <a:t> cache.scan_iter(</a:t>
            </a:r>
            <a:r>
              <a:rPr sz="725" i="0">
                <a:solidFill>
                  <a:srgbClr val="A5D6A7"/>
                </a:solidFill>
                <a:latin typeface="Inconsolata"/>
              </a:rPr>
              <a:t>"fixed:budi:*"</a:t>
            </a:r>
            <a:r>
              <a:rPr sz="725" i="0">
                <a:solidFill>
                  <a:srgbClr val="E6EDF3"/>
                </a:solidFill>
                <a:latin typeface="Inconsolata"/>
              </a:rPr>
              <a:t>):</a:t>
            </a:r>
          </a:p>
          <a:p>
            <a:pPr>
              <a:lnSpc>
                <a:spcPct val="103448"/>
              </a:lnSpc>
              <a:spcAft>
                <a:spcPts val="0"/>
              </a:spcAft>
            </a:pPr>
            <a:r>
              <a:rPr sz="725" i="0">
                <a:solidFill>
                  <a:srgbClr val="5C6773"/>
                </a:solidFill>
                <a:latin typeface="Inconsolata"/>
              </a:rPr>
              <a:t>32  </a:t>
            </a:r>
            <a:r>
              <a:rPr sz="725" i="0">
                <a:solidFill>
                  <a:srgbClr val="E6EDF3"/>
                </a:solidFill>
                <a:latin typeface="Inconsolata"/>
              </a:rPr>
              <a:t>        cache.delete(key)</a:t>
            </a:r>
          </a:p>
          <a:p>
            <a:pPr>
              <a:lnSpc>
                <a:spcPct val="103448"/>
              </a:lnSpc>
              <a:spcAft>
                <a:spcPts val="0"/>
              </a:spcAft>
            </a:pPr>
            <a:r>
              <a:rPr sz="725" i="0">
                <a:solidFill>
                  <a:srgbClr val="5C6773"/>
                </a:solidFill>
                <a:latin typeface="Inconsolata"/>
              </a:rPr>
              <a:t>33  </a:t>
            </a:r>
            <a:r>
              <a:rPr sz="725" i="0">
                <a:solidFill>
                  <a:srgbClr val="E6EDF3"/>
                </a:solidFill>
                <a:latin typeface="Inconsolata"/>
              </a:rPr>
              <a:t>    accepted = </a:t>
            </a:r>
            <a:r>
              <a:rPr sz="725" i="0">
                <a:solidFill>
                  <a:srgbClr val="C3A6FF"/>
                </a:solidFill>
                <a:latin typeface="Inconsolata"/>
              </a:rPr>
              <a:t>sum</a:t>
            </a:r>
            <a:r>
              <a:rPr sz="725" i="0">
                <a:solidFill>
                  <a:srgbClr val="E6EDF3"/>
                </a:solidFill>
                <a:latin typeface="Inconsolata"/>
              </a:rPr>
              <a:t>(allow(</a:t>
            </a:r>
            <a:r>
              <a:rPr sz="725" i="0">
                <a:solidFill>
                  <a:srgbClr val="A5D6A7"/>
                </a:solidFill>
                <a:latin typeface="Inconsolata"/>
              </a:rPr>
              <a:t>"budi"</a:t>
            </a:r>
            <a:r>
              <a:rPr sz="725" i="0">
                <a:solidFill>
                  <a:srgbClr val="E6EDF3"/>
                </a:solidFill>
                <a:latin typeface="Inconsolata"/>
              </a:rPr>
              <a:t>, now=</a:t>
            </a:r>
            <a:r>
              <a:rPr sz="725" i="0">
                <a:solidFill>
                  <a:srgbClr val="F9C97A"/>
                </a:solidFill>
                <a:latin typeface="Inconsolata"/>
              </a:rPr>
              <a:t>59</a:t>
            </a:r>
            <a:r>
              <a:rPr sz="725" i="0">
                <a:solidFill>
                  <a:srgbClr val="E6EDF3"/>
                </a:solidFill>
                <a:latin typeface="Inconsolata"/>
              </a:rPr>
              <a:t>.</a:t>
            </a:r>
            <a:r>
              <a:rPr sz="725" i="0">
                <a:solidFill>
                  <a:srgbClr val="F9C97A"/>
                </a:solidFill>
                <a:latin typeface="Inconsolata"/>
              </a:rPr>
              <a:t>0</a:t>
            </a:r>
            <a:r>
              <a:rPr sz="725" i="0">
                <a:solidFill>
                  <a:srgbClr val="E6EDF3"/>
                </a:solidFill>
                <a:latin typeface="Inconsolata"/>
              </a:rPr>
              <a:t>) </a:t>
            </a:r>
            <a:r>
              <a:rPr sz="725" i="0">
                <a:solidFill>
                  <a:srgbClr val="FF8E6E"/>
                </a:solidFill>
                <a:latin typeface="Inconsolata"/>
              </a:rPr>
              <a:t>for</a:t>
            </a:r>
            <a:r>
              <a:rPr sz="725" i="0">
                <a:solidFill>
                  <a:srgbClr val="E6EDF3"/>
                </a:solidFill>
                <a:latin typeface="Inconsolata"/>
              </a:rPr>
              <a:t> _ </a:t>
            </a:r>
            <a:r>
              <a:rPr sz="725" i="0">
                <a:solidFill>
                  <a:srgbClr val="FF8E6E"/>
                </a:solidFill>
                <a:latin typeface="Inconsolata"/>
              </a:rPr>
              <a:t>in</a:t>
            </a:r>
            <a:r>
              <a:rPr sz="725" i="0">
                <a:solidFill>
                  <a:srgbClr val="E6EDF3"/>
                </a:solidFill>
                <a:latin typeface="Inconsolata"/>
              </a:rPr>
              <a:t> </a:t>
            </a:r>
            <a:r>
              <a:rPr sz="725" i="0">
                <a:solidFill>
                  <a:srgbClr val="C3A6FF"/>
                </a:solidFill>
                <a:latin typeface="Inconsolata"/>
              </a:rPr>
              <a:t>range</a:t>
            </a:r>
            <a:r>
              <a:rPr sz="725" i="0">
                <a:solidFill>
                  <a:srgbClr val="E6EDF3"/>
                </a:solidFill>
                <a:latin typeface="Inconsolata"/>
              </a:rPr>
              <a:t>(</a:t>
            </a:r>
            <a:r>
              <a:rPr sz="725" i="0">
                <a:solidFill>
                  <a:srgbClr val="F9C97A"/>
                </a:solidFill>
                <a:latin typeface="Inconsolata"/>
              </a:rPr>
              <a:t>10</a:t>
            </a:r>
            <a:r>
              <a:rPr sz="725" i="0">
                <a:solidFill>
                  <a:srgbClr val="E6EDF3"/>
                </a:solidFill>
                <a:latin typeface="Inconsolata"/>
              </a:rPr>
              <a:t>))</a:t>
            </a:r>
          </a:p>
          <a:p>
            <a:pPr>
              <a:lnSpc>
                <a:spcPct val="103448"/>
              </a:lnSpc>
              <a:spcAft>
                <a:spcPts val="0"/>
              </a:spcAft>
            </a:pPr>
            <a:r>
              <a:rPr sz="725" i="0">
                <a:solidFill>
                  <a:srgbClr val="5C6773"/>
                </a:solidFill>
                <a:latin typeface="Inconsolata"/>
              </a:rPr>
              <a:t>34  </a:t>
            </a:r>
            <a:r>
              <a:rPr sz="725" i="0">
                <a:solidFill>
                  <a:srgbClr val="E6EDF3"/>
                </a:solidFill>
                <a:latin typeface="Inconsolata"/>
              </a:rPr>
              <a:t>    accepted += </a:t>
            </a:r>
            <a:r>
              <a:rPr sz="725" i="0">
                <a:solidFill>
                  <a:srgbClr val="C3A6FF"/>
                </a:solidFill>
                <a:latin typeface="Inconsolata"/>
              </a:rPr>
              <a:t>sum</a:t>
            </a:r>
            <a:r>
              <a:rPr sz="725" i="0">
                <a:solidFill>
                  <a:srgbClr val="E6EDF3"/>
                </a:solidFill>
                <a:latin typeface="Inconsolata"/>
              </a:rPr>
              <a:t>(allow(</a:t>
            </a:r>
            <a:r>
              <a:rPr sz="725" i="0">
                <a:solidFill>
                  <a:srgbClr val="A5D6A7"/>
                </a:solidFill>
                <a:latin typeface="Inconsolata"/>
              </a:rPr>
              <a:t>"budi"</a:t>
            </a:r>
            <a:r>
              <a:rPr sz="725" i="0">
                <a:solidFill>
                  <a:srgbClr val="E6EDF3"/>
                </a:solidFill>
                <a:latin typeface="Inconsolata"/>
              </a:rPr>
              <a:t>, now=</a:t>
            </a:r>
            <a:r>
              <a:rPr sz="725" i="0">
                <a:solidFill>
                  <a:srgbClr val="F9C97A"/>
                </a:solidFill>
                <a:latin typeface="Inconsolata"/>
              </a:rPr>
              <a:t>60</a:t>
            </a:r>
            <a:r>
              <a:rPr sz="725" i="0">
                <a:solidFill>
                  <a:srgbClr val="E6EDF3"/>
                </a:solidFill>
                <a:latin typeface="Inconsolata"/>
              </a:rPr>
              <a:t>.</a:t>
            </a:r>
            <a:r>
              <a:rPr sz="725" i="0">
                <a:solidFill>
                  <a:srgbClr val="F9C97A"/>
                </a:solidFill>
                <a:latin typeface="Inconsolata"/>
              </a:rPr>
              <a:t>5</a:t>
            </a:r>
            <a:r>
              <a:rPr sz="725" i="0">
                <a:solidFill>
                  <a:srgbClr val="E6EDF3"/>
                </a:solidFill>
                <a:latin typeface="Inconsolata"/>
              </a:rPr>
              <a:t>) </a:t>
            </a:r>
            <a:r>
              <a:rPr sz="725" i="0">
                <a:solidFill>
                  <a:srgbClr val="FF8E6E"/>
                </a:solidFill>
                <a:latin typeface="Inconsolata"/>
              </a:rPr>
              <a:t>for</a:t>
            </a:r>
            <a:r>
              <a:rPr sz="725" i="0">
                <a:solidFill>
                  <a:srgbClr val="E6EDF3"/>
                </a:solidFill>
                <a:latin typeface="Inconsolata"/>
              </a:rPr>
              <a:t> _ </a:t>
            </a:r>
            <a:r>
              <a:rPr sz="725" i="0">
                <a:solidFill>
                  <a:srgbClr val="FF8E6E"/>
                </a:solidFill>
                <a:latin typeface="Inconsolata"/>
              </a:rPr>
              <a:t>in</a:t>
            </a:r>
            <a:r>
              <a:rPr sz="725" i="0">
                <a:solidFill>
                  <a:srgbClr val="E6EDF3"/>
                </a:solidFill>
                <a:latin typeface="Inconsolata"/>
              </a:rPr>
              <a:t> </a:t>
            </a:r>
            <a:r>
              <a:rPr sz="725" i="0">
                <a:solidFill>
                  <a:srgbClr val="C3A6FF"/>
                </a:solidFill>
                <a:latin typeface="Inconsolata"/>
              </a:rPr>
              <a:t>range</a:t>
            </a:r>
            <a:r>
              <a:rPr sz="725" i="0">
                <a:solidFill>
                  <a:srgbClr val="E6EDF3"/>
                </a:solidFill>
                <a:latin typeface="Inconsolata"/>
              </a:rPr>
              <a:t>(</a:t>
            </a:r>
            <a:r>
              <a:rPr sz="725" i="0">
                <a:solidFill>
                  <a:srgbClr val="F9C97A"/>
                </a:solidFill>
                <a:latin typeface="Inconsolata"/>
              </a:rPr>
              <a:t>10</a:t>
            </a:r>
            <a:r>
              <a:rPr sz="725" i="0">
                <a:solidFill>
                  <a:srgbClr val="E6EDF3"/>
                </a:solidFill>
                <a:latin typeface="Inconsolata"/>
              </a:rPr>
              <a:t>))</a:t>
            </a:r>
          </a:p>
          <a:p>
            <a:pPr>
              <a:lnSpc>
                <a:spcPct val="103448"/>
              </a:lnSpc>
              <a:spcAft>
                <a:spcPts val="0"/>
              </a:spcAft>
            </a:pPr>
            <a:r>
              <a:rPr sz="725" i="0">
                <a:solidFill>
                  <a:srgbClr val="5C6773"/>
                </a:solidFill>
                <a:latin typeface="Inconsolata"/>
              </a:rPr>
              <a:t>35  </a:t>
            </a:r>
            <a:r>
              <a:rPr sz="725" i="0">
                <a:solidFill>
                  <a:srgbClr val="E6EDF3"/>
                </a:solidFill>
                <a:latin typeface="Inconsolata"/>
              </a:rPr>
              <a:t>    </a:t>
            </a:r>
            <a:r>
              <a:rPr sz="725" i="0">
                <a:solidFill>
                  <a:srgbClr val="C3A6FF"/>
                </a:solidFill>
                <a:latin typeface="Inconsolata"/>
              </a:rPr>
              <a:t>print</a:t>
            </a:r>
            <a:r>
              <a:rPr sz="725" i="0">
                <a:solidFill>
                  <a:srgbClr val="E6EDF3"/>
                </a:solidFill>
                <a:latin typeface="Inconsolata"/>
              </a:rPr>
              <a:t>(</a:t>
            </a:r>
            <a:r>
              <a:rPr sz="725" i="0">
                <a:solidFill>
                  <a:srgbClr val="A5D6A7"/>
                </a:solidFill>
                <a:latin typeface="Inconsolata"/>
              </a:rPr>
              <a:t>f"Diterima dalam 2 detik: {accepted} (limit 10/menit)"</a:t>
            </a:r>
            <a:r>
              <a:rPr sz="725" i="0">
                <a:solidFill>
                  <a:srgbClr val="E6EDF3"/>
                </a:solidFill>
                <a:latin typeface="Inconsolata"/>
              </a:rPr>
              <a:t>)  </a:t>
            </a:r>
            <a:r>
              <a:rPr sz="725" i="1">
                <a:solidFill>
                  <a:srgbClr val="8B98A8"/>
                </a:solidFill>
                <a:latin typeface="Inconsolata"/>
              </a:rPr>
              <a:t># 20</a:t>
            </a:r>
          </a:p>
        </p:txBody>
      </p:sp>
      <p:sp>
        <p:nvSpPr>
          <p:cNvPr id="29" name="Box 12"/>
          <p:cNvSpPr/>
          <p:nvPr/>
        </p:nvSpPr>
        <p:spPr>
          <a:xfrm>
            <a:off x="704088" y="3082671"/>
            <a:ext cx="4343400"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30175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4225671"/>
            <a:ext cx="4343400"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4217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CodeTab 17"/>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Dot 18"/>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20"/>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21"/>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8" name="CodeBg 23"/>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Code 24"/>
          <p:cNvSpPr txBox="1"/>
          <p:nvPr/>
        </p:nvSpPr>
        <p:spPr>
          <a:xfrm>
            <a:off x="5285231" y="1719072"/>
            <a:ext cx="3200400" cy="457200"/>
          </a:xfrm>
          <a:prstGeom prst="rect">
            <a:avLst/>
          </a:prstGeom>
          <a:noFill/>
        </p:spPr>
        <p:txBody>
          <a:bodyPr wrap="none" lIns="146304" tIns="91440" rIns="146304" bIns="54864">
            <a:spAutoFit/>
          </a:bodyPr>
          <a:lstStyle/>
          <a:p>
            <a:pPr>
              <a:lnSpc>
                <a:spcPct val="103448"/>
              </a:lnSpc>
              <a:spcAft>
                <a:spcPts val="0"/>
              </a:spcAft>
            </a:pPr>
            <a:r>
              <a:rPr sz="725" i="0">
                <a:solidFill>
                  <a:srgbClr val="82B1FF"/>
                </a:solidFill>
                <a:latin typeface="Inconsolata"/>
              </a:rPr>
              <a:t>$ cd sesi-06-redis-caching-rate-limiting/06-sliding-window</a:t>
            </a:r>
          </a:p>
          <a:p>
            <a:pPr>
              <a:lnSpc>
                <a:spcPct val="103448"/>
              </a:lnSpc>
              <a:spcAft>
                <a:spcPts val="0"/>
              </a:spcAft>
            </a:pPr>
            <a:r>
              <a:rPr sz="725" i="0">
                <a:solidFill>
                  <a:srgbClr val="82B1FF"/>
                </a:solidFill>
                <a:latin typeface="Inconsolata"/>
              </a:rPr>
              <a:t>$ python before.py</a:t>
            </a:r>
          </a:p>
        </p:txBody>
      </p:sp>
      <p:pic>
        <p:nvPicPr>
          <p:cNvPr id="40" name="Image 25" descr="s06-06-sliding-window-before.png"/>
          <p:cNvPicPr>
            <a:picLocks noChangeAspect="1"/>
          </p:cNvPicPr>
          <p:nvPr/>
        </p:nvPicPr>
        <p:blipFill>
          <a:blip r:embed="rId2"/>
          <a:stretch>
            <a:fillRect/>
          </a:stretch>
        </p:blipFill>
        <p:spPr>
          <a:xfrm>
            <a:off x="5285231" y="2249424"/>
            <a:ext cx="3200400" cy="565785"/>
          </a:xfrm>
          <a:prstGeom prst="rect">
            <a:avLst/>
          </a:prstGeom>
        </p:spPr>
      </p:pic>
      <p:sp>
        <p:nvSpPr>
          <p:cNvPr id="41" name="Box 26"/>
          <p:cNvSpPr/>
          <p:nvPr/>
        </p:nvSpPr>
        <p:spPr>
          <a:xfrm>
            <a:off x="5285231" y="2906649"/>
            <a:ext cx="3200400" cy="1793367"/>
          </a:xfrm>
          <a:prstGeom prst="roundRect">
            <a:avLst>
              <a:gd name="adj" fmla="val 6118"/>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Text 27"/>
          <p:cNvSpPr txBox="1"/>
          <p:nvPr/>
        </p:nvSpPr>
        <p:spPr>
          <a:xfrm>
            <a:off x="5422392" y="2998089"/>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3" name="Text 28"/>
          <p:cNvSpPr txBox="1"/>
          <p:nvPr/>
        </p:nvSpPr>
        <p:spPr>
          <a:xfrm>
            <a:off x="5422392" y="3318129"/>
            <a:ext cx="2926080" cy="1290447"/>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Key berganti setiap menit (baris 23)</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10 request di detik ke-59 dan 10 di detik ke-60.5 (baris 33-34)</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20 request diterima dalam 2 detik, padahal limitnya 10 per menit.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Sliding Window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hitung 60 detik terakhir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06-sliding-window/after.py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12  </a:t>
            </a:r>
            <a:r>
              <a:rPr sz="709" i="0">
                <a:solidFill>
                  <a:srgbClr val="FF8E6E"/>
                </a:solidFill>
                <a:latin typeface="Inconsolata"/>
              </a:rPr>
              <a:t>import</a:t>
            </a:r>
            <a:r>
              <a:rPr sz="709" i="0">
                <a:solidFill>
                  <a:srgbClr val="E6EDF3"/>
                </a:solidFill>
                <a:latin typeface="Inconsolata"/>
              </a:rPr>
              <a:t> os</a:t>
            </a:r>
          </a:p>
          <a:p>
            <a:pPr>
              <a:lnSpc>
                <a:spcPct val="105686"/>
              </a:lnSpc>
              <a:spcAft>
                <a:spcPts val="0"/>
              </a:spcAft>
            </a:pPr>
            <a:r>
              <a:rPr sz="709" i="0">
                <a:solidFill>
                  <a:srgbClr val="5C6773"/>
                </a:solidFill>
                <a:latin typeface="Inconsolata"/>
              </a:rPr>
              <a:t>13  </a:t>
            </a:r>
            <a:r>
              <a:rPr sz="709" i="0">
                <a:solidFill>
                  <a:srgbClr val="FF8E6E"/>
                </a:solidFill>
                <a:latin typeface="Inconsolata"/>
              </a:rPr>
              <a:t>from</a:t>
            </a:r>
            <a:r>
              <a:rPr sz="709" i="0">
                <a:solidFill>
                  <a:srgbClr val="E6EDF3"/>
                </a:solidFill>
                <a:latin typeface="Inconsolata"/>
              </a:rPr>
              <a:t> uuid </a:t>
            </a:r>
            <a:r>
              <a:rPr sz="709" i="0">
                <a:solidFill>
                  <a:srgbClr val="FF8E6E"/>
                </a:solidFill>
                <a:latin typeface="Inconsolata"/>
              </a:rPr>
              <a:t>import</a:t>
            </a:r>
            <a:r>
              <a:rPr sz="709" i="0">
                <a:solidFill>
                  <a:srgbClr val="E6EDF3"/>
                </a:solidFill>
                <a:latin typeface="Inconsolata"/>
              </a:rPr>
              <a:t> uuid4</a:t>
            </a:r>
          </a:p>
          <a:p>
            <a:pPr>
              <a:lnSpc>
                <a:spcPct val="105686"/>
              </a:lnSpc>
              <a:spcAft>
                <a:spcPts val="0"/>
              </a:spcAft>
            </a:pPr>
            <a:r>
              <a:rPr sz="709" i="0">
                <a:solidFill>
                  <a:srgbClr val="5C6773"/>
                </a:solidFill>
                <a:latin typeface="Inconsolata"/>
              </a:rPr>
              <a:t>14  </a:t>
            </a:r>
            <a:r>
              <a:rPr sz="709" i="0">
                <a:solidFill>
                  <a:srgbClr val="E6EDF3"/>
                </a:solidFill>
                <a:latin typeface="Inconsolata"/>
              </a:rPr>
              <a:t> </a:t>
            </a:r>
          </a:p>
          <a:p>
            <a:pPr>
              <a:lnSpc>
                <a:spcPct val="105686"/>
              </a:lnSpc>
              <a:spcAft>
                <a:spcPts val="0"/>
              </a:spcAft>
            </a:pPr>
            <a:r>
              <a:rPr sz="709" i="0">
                <a:solidFill>
                  <a:srgbClr val="5C6773"/>
                </a:solidFill>
                <a:latin typeface="Inconsolata"/>
              </a:rPr>
              <a:t>15  </a:t>
            </a:r>
            <a:r>
              <a:rPr sz="709" i="0">
                <a:solidFill>
                  <a:srgbClr val="FF8E6E"/>
                </a:solidFill>
                <a:latin typeface="Inconsolata"/>
              </a:rPr>
              <a:t>import</a:t>
            </a:r>
            <a:r>
              <a:rPr sz="709" i="0">
                <a:solidFill>
                  <a:srgbClr val="E6EDF3"/>
                </a:solidFill>
                <a:latin typeface="Inconsolata"/>
              </a:rPr>
              <a:t> redis</a:t>
            </a:r>
          </a:p>
          <a:p>
            <a:pPr>
              <a:lnSpc>
                <a:spcPct val="105686"/>
              </a:lnSpc>
              <a:spcAft>
                <a:spcPts val="0"/>
              </a:spcAft>
            </a:pPr>
            <a:r>
              <a:rPr sz="709" i="0">
                <a:solidFill>
                  <a:srgbClr val="5C6773"/>
                </a:solidFill>
                <a:latin typeface="Inconsolata"/>
              </a:rPr>
              <a:t>16  </a:t>
            </a:r>
            <a:r>
              <a:rPr sz="709" i="0">
                <a:solidFill>
                  <a:srgbClr val="E6EDF3"/>
                </a:solidFill>
                <a:latin typeface="Inconsolata"/>
              </a:rPr>
              <a:t> </a:t>
            </a:r>
          </a:p>
          <a:p>
            <a:pPr>
              <a:lnSpc>
                <a:spcPct val="105686"/>
              </a:lnSpc>
              <a:spcAft>
                <a:spcPts val="0"/>
              </a:spcAft>
            </a:pPr>
            <a:r>
              <a:rPr sz="709" i="0">
                <a:solidFill>
                  <a:srgbClr val="5C6773"/>
                </a:solidFill>
                <a:latin typeface="Inconsolata"/>
              </a:rPr>
              <a:t>17  </a:t>
            </a:r>
            <a:r>
              <a:rPr sz="709" i="0">
                <a:solidFill>
                  <a:srgbClr val="7FDBCA"/>
                </a:solidFill>
                <a:latin typeface="Inconsolata"/>
              </a:rPr>
              <a:t>REDIS_URL</a:t>
            </a:r>
            <a:r>
              <a:rPr sz="709" i="0">
                <a:solidFill>
                  <a:srgbClr val="E6EDF3"/>
                </a:solidFill>
                <a:latin typeface="Inconsolata"/>
              </a:rPr>
              <a:t> = os.getenv(</a:t>
            </a:r>
            <a:r>
              <a:rPr sz="709" i="0">
                <a:solidFill>
                  <a:srgbClr val="A5D6A7"/>
                </a:solidFill>
                <a:latin typeface="Inconsolata"/>
              </a:rPr>
              <a:t>"REDIS_URL"</a:t>
            </a:r>
            <a:r>
              <a:rPr sz="709" i="0">
                <a:solidFill>
                  <a:srgbClr val="E6EDF3"/>
                </a:solidFill>
                <a:latin typeface="Inconsolata"/>
              </a:rPr>
              <a:t>, </a:t>
            </a:r>
            <a:r>
              <a:rPr sz="709" i="0">
                <a:solidFill>
                  <a:srgbClr val="A5D6A7"/>
                </a:solidFill>
                <a:latin typeface="Inconsolata"/>
              </a:rPr>
              <a:t>"redis://localhost:6379/0"</a:t>
            </a:r>
            <a:r>
              <a:rPr sz="709" i="0">
                <a:solidFill>
                  <a:srgbClr val="E6EDF3"/>
                </a:solidFill>
                <a:latin typeface="Inconsolata"/>
              </a:rPr>
              <a:t>)</a:t>
            </a:r>
          </a:p>
          <a:p>
            <a:pPr>
              <a:lnSpc>
                <a:spcPct val="105686"/>
              </a:lnSpc>
              <a:spcAft>
                <a:spcPts val="0"/>
              </a:spcAft>
            </a:pPr>
            <a:r>
              <a:rPr sz="709" i="0">
                <a:solidFill>
                  <a:srgbClr val="5C6773"/>
                </a:solidFill>
                <a:latin typeface="Inconsolata"/>
              </a:rPr>
              <a:t>18  </a:t>
            </a:r>
            <a:r>
              <a:rPr sz="709" i="0">
                <a:solidFill>
                  <a:srgbClr val="E6EDF3"/>
                </a:solidFill>
                <a:latin typeface="Inconsolata"/>
              </a:rPr>
              <a:t>cache = redis.</a:t>
            </a:r>
            <a:r>
              <a:rPr sz="709" i="0">
                <a:solidFill>
                  <a:srgbClr val="7FDBCA"/>
                </a:solidFill>
                <a:latin typeface="Inconsolata"/>
              </a:rPr>
              <a:t>Redis</a:t>
            </a:r>
            <a:r>
              <a:rPr sz="709" i="0">
                <a:solidFill>
                  <a:srgbClr val="E6EDF3"/>
                </a:solidFill>
                <a:latin typeface="Inconsolata"/>
              </a:rPr>
              <a:t>.from_url(</a:t>
            </a:r>
            <a:r>
              <a:rPr sz="709" i="0">
                <a:solidFill>
                  <a:srgbClr val="7FDBCA"/>
                </a:solidFill>
                <a:latin typeface="Inconsolata"/>
              </a:rPr>
              <a:t>REDIS_URL</a:t>
            </a:r>
            <a:r>
              <a:rPr sz="709" i="0">
                <a:solidFill>
                  <a:srgbClr val="E6EDF3"/>
                </a:solidFill>
                <a:latin typeface="Inconsolata"/>
              </a:rPr>
              <a:t>, decode_responses=</a:t>
            </a:r>
            <a:r>
              <a:rPr sz="709" i="0">
                <a:solidFill>
                  <a:srgbClr val="FF8E6E"/>
                </a:solidFill>
                <a:latin typeface="Inconsolata"/>
              </a:rPr>
              <a:t>True</a:t>
            </a:r>
            <a:r>
              <a:rPr sz="709" i="0">
                <a:solidFill>
                  <a:srgbClr val="E6EDF3"/>
                </a:solidFill>
                <a:latin typeface="Inconsolata"/>
              </a:rPr>
              <a:t>)</a:t>
            </a:r>
          </a:p>
          <a:p>
            <a:pPr>
              <a:lnSpc>
                <a:spcPct val="105686"/>
              </a:lnSpc>
              <a:spcAft>
                <a:spcPts val="0"/>
              </a:spcAft>
            </a:pPr>
            <a:r>
              <a:rPr sz="709" i="0">
                <a:solidFill>
                  <a:srgbClr val="5C6773"/>
                </a:solidFill>
                <a:latin typeface="Inconsolata"/>
              </a:rPr>
              <a:t>19  </a:t>
            </a:r>
            <a:r>
              <a:rPr sz="709" i="0">
                <a:solidFill>
                  <a:srgbClr val="E6EDF3"/>
                </a:solidFill>
                <a:latin typeface="Inconsolata"/>
              </a:rPr>
              <a:t> </a:t>
            </a:r>
          </a:p>
          <a:p>
            <a:pPr>
              <a:lnSpc>
                <a:spcPct val="105686"/>
              </a:lnSpc>
              <a:spcAft>
                <a:spcPts val="0"/>
              </a:spcAft>
            </a:pPr>
            <a:r>
              <a:rPr sz="709" i="0">
                <a:solidFill>
                  <a:srgbClr val="5C6773"/>
                </a:solidFill>
                <a:latin typeface="Inconsolata"/>
              </a:rPr>
              <a:t>20  </a:t>
            </a:r>
            <a:r>
              <a:rPr sz="709" i="0">
                <a:solidFill>
                  <a:srgbClr val="7FDBCA"/>
                </a:solidFill>
                <a:latin typeface="Inconsolata"/>
              </a:rPr>
              <a:t>LIMIT</a:t>
            </a:r>
            <a:r>
              <a:rPr sz="709" i="0">
                <a:solidFill>
                  <a:srgbClr val="E6EDF3"/>
                </a:solidFill>
                <a:latin typeface="Inconsolata"/>
              </a:rPr>
              <a:t>, </a:t>
            </a:r>
            <a:r>
              <a:rPr sz="709" i="0">
                <a:solidFill>
                  <a:srgbClr val="7FDBCA"/>
                </a:solidFill>
                <a:latin typeface="Inconsolata"/>
              </a:rPr>
              <a:t>WINDOW</a:t>
            </a:r>
            <a:r>
              <a:rPr sz="709" i="0">
                <a:solidFill>
                  <a:srgbClr val="E6EDF3"/>
                </a:solidFill>
                <a:latin typeface="Inconsolata"/>
              </a:rPr>
              <a:t> = </a:t>
            </a:r>
            <a:r>
              <a:rPr sz="709" i="0">
                <a:solidFill>
                  <a:srgbClr val="F9C97A"/>
                </a:solidFill>
                <a:latin typeface="Inconsolata"/>
              </a:rPr>
              <a:t>10</a:t>
            </a:r>
            <a:r>
              <a:rPr sz="709" i="0">
                <a:solidFill>
                  <a:srgbClr val="E6EDF3"/>
                </a:solidFill>
                <a:latin typeface="Inconsolata"/>
              </a:rPr>
              <a:t>, </a:t>
            </a:r>
            <a:r>
              <a:rPr sz="709" i="0">
                <a:solidFill>
                  <a:srgbClr val="F9C97A"/>
                </a:solidFill>
                <a:latin typeface="Inconsolata"/>
              </a:rPr>
              <a:t>60</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06-sliding-window/after.py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23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allow</a:t>
            </a:r>
            <a:r>
              <a:rPr sz="709" i="0">
                <a:solidFill>
                  <a:srgbClr val="E6EDF3"/>
                </a:solidFill>
                <a:latin typeface="Inconsolata"/>
              </a:rPr>
              <a:t>(client_id: </a:t>
            </a:r>
            <a:r>
              <a:rPr sz="709" i="0">
                <a:solidFill>
                  <a:srgbClr val="C3A6FF"/>
                </a:solidFill>
                <a:latin typeface="Inconsolata"/>
              </a:rPr>
              <a:t>str</a:t>
            </a:r>
            <a:r>
              <a:rPr sz="709" i="0">
                <a:solidFill>
                  <a:srgbClr val="E6EDF3"/>
                </a:solidFill>
                <a:latin typeface="Inconsolata"/>
              </a:rPr>
              <a:t>, now: </a:t>
            </a:r>
            <a:r>
              <a:rPr sz="709" i="0">
                <a:solidFill>
                  <a:srgbClr val="C3A6FF"/>
                </a:solidFill>
                <a:latin typeface="Inconsolata"/>
              </a:rPr>
              <a:t>float</a:t>
            </a:r>
            <a:r>
              <a:rPr sz="709" i="0">
                <a:solidFill>
                  <a:srgbClr val="E6EDF3"/>
                </a:solidFill>
                <a:latin typeface="Inconsolata"/>
              </a:rPr>
              <a:t>) -&gt; </a:t>
            </a:r>
            <a:r>
              <a:rPr sz="709" i="0">
                <a:solidFill>
                  <a:srgbClr val="C3A6FF"/>
                </a:solidFill>
                <a:latin typeface="Inconsolata"/>
              </a:rPr>
              <a:t>bool</a:t>
            </a:r>
            <a:r>
              <a:rPr sz="709" i="0">
                <a:solidFill>
                  <a:srgbClr val="E6EDF3"/>
                </a:solidFill>
                <a:latin typeface="Inconsolata"/>
              </a:rPr>
              <a:t>:</a:t>
            </a:r>
          </a:p>
          <a:p>
            <a:pPr>
              <a:lnSpc>
                <a:spcPct val="105686"/>
              </a:lnSpc>
              <a:spcAft>
                <a:spcPts val="0"/>
              </a:spcAft>
            </a:pPr>
            <a:r>
              <a:rPr sz="709" i="0">
                <a:solidFill>
                  <a:srgbClr val="5C6773"/>
                </a:solidFill>
                <a:latin typeface="Inconsolata"/>
              </a:rPr>
              <a:t>24  </a:t>
            </a:r>
            <a:r>
              <a:rPr sz="709" i="0">
                <a:solidFill>
                  <a:srgbClr val="E6EDF3"/>
                </a:solidFill>
                <a:latin typeface="Inconsolata"/>
              </a:rPr>
              <a:t>    key = </a:t>
            </a:r>
            <a:r>
              <a:rPr sz="709" i="0">
                <a:solidFill>
                  <a:srgbClr val="A5D6A7"/>
                </a:solidFill>
                <a:latin typeface="Inconsolata"/>
              </a:rPr>
              <a:t>f"sliding:{client_id}"</a:t>
            </a:r>
          </a:p>
          <a:p>
            <a:pPr>
              <a:lnSpc>
                <a:spcPct val="105686"/>
              </a:lnSpc>
              <a:spcAft>
                <a:spcPts val="0"/>
              </a:spcAft>
            </a:pPr>
            <a:r>
              <a:rPr sz="709" i="0">
                <a:solidFill>
                  <a:srgbClr val="5C6773"/>
                </a:solidFill>
                <a:latin typeface="Inconsolata"/>
              </a:rPr>
              <a:t>25  </a:t>
            </a:r>
            <a:r>
              <a:rPr sz="709" i="0">
                <a:solidFill>
                  <a:srgbClr val="E6EDF3"/>
                </a:solidFill>
                <a:latin typeface="Inconsolata"/>
              </a:rPr>
              <a:t>    cache.zremrangebyscore(key, </a:t>
            </a:r>
            <a:r>
              <a:rPr sz="709" i="0">
                <a:solidFill>
                  <a:srgbClr val="F9C97A"/>
                </a:solidFill>
                <a:latin typeface="Inconsolata"/>
              </a:rPr>
              <a:t>0</a:t>
            </a:r>
            <a:r>
              <a:rPr sz="709" i="0">
                <a:solidFill>
                  <a:srgbClr val="E6EDF3"/>
                </a:solidFill>
                <a:latin typeface="Inconsolata"/>
              </a:rPr>
              <a:t>, now - </a:t>
            </a:r>
            <a:r>
              <a:rPr sz="709" i="0">
                <a:solidFill>
                  <a:srgbClr val="7FDBCA"/>
                </a:solidFill>
                <a:latin typeface="Inconsolata"/>
              </a:rPr>
              <a:t>WINDOW</a:t>
            </a:r>
            <a:r>
              <a:rPr sz="709" i="0">
                <a:solidFill>
                  <a:srgbClr val="E6EDF3"/>
                </a:solidFill>
                <a:latin typeface="Inconsolata"/>
              </a:rPr>
              <a:t>)   </a:t>
            </a:r>
            <a:r>
              <a:rPr sz="709" i="1">
                <a:solidFill>
                  <a:srgbClr val="8B98A8"/>
                </a:solidFill>
                <a:latin typeface="Inconsolata"/>
              </a:rPr>
              <a:t># buang yang &gt; 60s</a:t>
            </a:r>
          </a:p>
          <a:p>
            <a:pPr>
              <a:lnSpc>
                <a:spcPct val="105686"/>
              </a:lnSpc>
              <a:spcAft>
                <a:spcPts val="0"/>
              </a:spcAft>
            </a:pPr>
            <a:r>
              <a:rPr sz="709" i="0">
                <a:solidFill>
                  <a:srgbClr val="5C6773"/>
                </a:solidFill>
                <a:latin typeface="Inconsolata"/>
              </a:rPr>
              <a:t>26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cache.zcard(key) &gt;= </a:t>
            </a:r>
            <a:r>
              <a:rPr sz="709" i="0">
                <a:solidFill>
                  <a:srgbClr val="7FDBCA"/>
                </a:solidFill>
                <a:latin typeface="Inconsolata"/>
              </a:rPr>
              <a:t>LIMIT</a:t>
            </a:r>
            <a:r>
              <a:rPr sz="709" i="0">
                <a:solidFill>
                  <a:srgbClr val="E6EDF3"/>
                </a:solidFill>
                <a:latin typeface="Inconsolata"/>
              </a:rPr>
              <a:t>:</a:t>
            </a:r>
          </a:p>
          <a:p>
            <a:pPr>
              <a:lnSpc>
                <a:spcPct val="105686"/>
              </a:lnSpc>
              <a:spcAft>
                <a:spcPts val="0"/>
              </a:spcAft>
            </a:pPr>
            <a:r>
              <a:rPr sz="709" i="0">
                <a:solidFill>
                  <a:srgbClr val="5C6773"/>
                </a:solidFill>
                <a:latin typeface="Inconsolata"/>
              </a:rPr>
              <a:t>27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a:t>
            </a:r>
            <a:r>
              <a:rPr sz="709" i="0">
                <a:solidFill>
                  <a:srgbClr val="FF8E6E"/>
                </a:solidFill>
                <a:latin typeface="Inconsolata"/>
              </a:rPr>
              <a:t>False</a:t>
            </a:r>
          </a:p>
          <a:p>
            <a:pPr>
              <a:lnSpc>
                <a:spcPct val="105686"/>
              </a:lnSpc>
              <a:spcAft>
                <a:spcPts val="0"/>
              </a:spcAft>
            </a:pPr>
            <a:r>
              <a:rPr sz="709" i="0">
                <a:solidFill>
                  <a:srgbClr val="5C6773"/>
                </a:solidFill>
                <a:latin typeface="Inconsolata"/>
              </a:rPr>
              <a:t>28  </a:t>
            </a:r>
            <a:r>
              <a:rPr sz="709" i="0">
                <a:solidFill>
                  <a:srgbClr val="E6EDF3"/>
                </a:solidFill>
                <a:latin typeface="Inconsolata"/>
              </a:rPr>
              <a:t>    cache.zadd(key, {uuid4().hex: now})            </a:t>
            </a:r>
            <a:r>
              <a:rPr sz="709" i="1">
                <a:solidFill>
                  <a:srgbClr val="8B98A8"/>
                </a:solidFill>
                <a:latin typeface="Inconsolata"/>
              </a:rPr>
              <a:t># catat request ini</a:t>
            </a:r>
          </a:p>
          <a:p>
            <a:pPr>
              <a:lnSpc>
                <a:spcPct val="105686"/>
              </a:lnSpc>
              <a:spcAft>
                <a:spcPts val="0"/>
              </a:spcAft>
            </a:pPr>
            <a:r>
              <a:rPr sz="709" i="0">
                <a:solidFill>
                  <a:srgbClr val="5C6773"/>
                </a:solidFill>
                <a:latin typeface="Inconsolata"/>
              </a:rPr>
              <a:t>29  </a:t>
            </a:r>
            <a:r>
              <a:rPr sz="709" i="0">
                <a:solidFill>
                  <a:srgbClr val="E6EDF3"/>
                </a:solidFill>
                <a:latin typeface="Inconsolata"/>
              </a:rPr>
              <a:t>    cache.expire(key, </a:t>
            </a:r>
            <a:r>
              <a:rPr sz="709" i="0">
                <a:solidFill>
                  <a:srgbClr val="7FDBCA"/>
                </a:solidFill>
                <a:latin typeface="Inconsolata"/>
              </a:rPr>
              <a:t>WINDOW</a:t>
            </a:r>
            <a:r>
              <a:rPr sz="709" i="0">
                <a:solidFill>
                  <a:srgbClr val="E6EDF3"/>
                </a:solidFill>
                <a:latin typeface="Inconsolata"/>
              </a:rPr>
              <a:t>)</a:t>
            </a:r>
          </a:p>
          <a:p>
            <a:pPr>
              <a:lnSpc>
                <a:spcPct val="105686"/>
              </a:lnSpc>
              <a:spcAft>
                <a:spcPts val="0"/>
              </a:spcAft>
            </a:pPr>
            <a:r>
              <a:rPr sz="709" i="0">
                <a:solidFill>
                  <a:srgbClr val="5C6773"/>
                </a:solidFill>
                <a:latin typeface="Inconsolata"/>
              </a:rPr>
              <a:t>30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a:t>
            </a:r>
            <a:r>
              <a:rPr sz="709" i="0">
                <a:solidFill>
                  <a:srgbClr val="FF8E6E"/>
                </a:solidFill>
                <a:latin typeface="Inconsolata"/>
              </a:rPr>
              <a:t>True</a:t>
            </a:r>
          </a:p>
          <a:p>
            <a:pPr>
              <a:lnSpc>
                <a:spcPct val="105686"/>
              </a:lnSpc>
              <a:spcAft>
                <a:spcPts val="0"/>
              </a:spcAft>
            </a:pPr>
            <a:r>
              <a:rPr sz="709" i="0">
                <a:solidFill>
                  <a:srgbClr val="5C6773"/>
                </a:solidFill>
                <a:latin typeface="Inconsolata"/>
              </a:rPr>
              <a:t>31  </a:t>
            </a:r>
            <a:r>
              <a:rPr sz="709" i="0">
                <a:solidFill>
                  <a:srgbClr val="E6EDF3"/>
                </a:solidFill>
                <a:latin typeface="Inconsolata"/>
              </a:rPr>
              <a:t> </a:t>
            </a:r>
          </a:p>
          <a:p>
            <a:pPr>
              <a:lnSpc>
                <a:spcPct val="105686"/>
              </a:lnSpc>
              <a:spcAft>
                <a:spcPts val="0"/>
              </a:spcAft>
            </a:pPr>
            <a:r>
              <a:rPr sz="709" i="0">
                <a:solidFill>
                  <a:srgbClr val="5C6773"/>
                </a:solidFill>
                <a:latin typeface="Inconsolata"/>
              </a:rPr>
              <a:t>32  </a:t>
            </a:r>
            <a:r>
              <a:rPr sz="709" i="0">
                <a:solidFill>
                  <a:srgbClr val="E6EDF3"/>
                </a:solidFill>
                <a:latin typeface="Inconsolata"/>
              </a:rPr>
              <a:t> </a:t>
            </a:r>
          </a:p>
          <a:p>
            <a:pPr>
              <a:lnSpc>
                <a:spcPct val="105686"/>
              </a:lnSpc>
              <a:spcAft>
                <a:spcPts val="0"/>
              </a:spcAft>
            </a:pPr>
            <a:r>
              <a:rPr sz="709" i="0">
                <a:solidFill>
                  <a:srgbClr val="5C6773"/>
                </a:solidFill>
                <a:latin typeface="Inconsolata"/>
              </a:rPr>
              <a:t>33  </a:t>
            </a:r>
            <a:r>
              <a:rPr sz="709" i="0">
                <a:solidFill>
                  <a:srgbClr val="FF8E6E"/>
                </a:solidFill>
                <a:latin typeface="Inconsolata"/>
              </a:rPr>
              <a:t>if</a:t>
            </a:r>
            <a:r>
              <a:rPr sz="709" i="0">
                <a:solidFill>
                  <a:srgbClr val="E6EDF3"/>
                </a:solidFill>
                <a:latin typeface="Inconsolata"/>
              </a:rPr>
              <a:t> __name__ == </a:t>
            </a:r>
            <a:r>
              <a:rPr sz="709" i="0">
                <a:solidFill>
                  <a:srgbClr val="A5D6A7"/>
                </a:solidFill>
                <a:latin typeface="Inconsolata"/>
              </a:rPr>
              <a:t>"__main__"</a:t>
            </a:r>
            <a:r>
              <a:rPr sz="709" i="0">
                <a:solidFill>
                  <a:srgbClr val="E6EDF3"/>
                </a:solidFill>
                <a:latin typeface="Inconsolata"/>
              </a:rPr>
              <a:t>:</a:t>
            </a:r>
          </a:p>
          <a:p>
            <a:pPr>
              <a:lnSpc>
                <a:spcPct val="105686"/>
              </a:lnSpc>
              <a:spcAft>
                <a:spcPts val="0"/>
              </a:spcAft>
            </a:pPr>
            <a:r>
              <a:rPr sz="709" i="0">
                <a:solidFill>
                  <a:srgbClr val="5C6773"/>
                </a:solidFill>
                <a:latin typeface="Inconsolata"/>
              </a:rPr>
              <a:t>34  </a:t>
            </a:r>
            <a:r>
              <a:rPr sz="709" i="0">
                <a:solidFill>
                  <a:srgbClr val="E6EDF3"/>
                </a:solidFill>
                <a:latin typeface="Inconsolata"/>
              </a:rPr>
              <a:t>    cache.delete(</a:t>
            </a:r>
            <a:r>
              <a:rPr sz="709" i="0">
                <a:solidFill>
                  <a:srgbClr val="A5D6A7"/>
                </a:solidFill>
                <a:latin typeface="Inconsolata"/>
              </a:rPr>
              <a:t>"sliding:budi"</a:t>
            </a:r>
            <a:r>
              <a:rPr sz="709" i="0">
                <a:solidFill>
                  <a:srgbClr val="E6EDF3"/>
                </a:solidFill>
                <a:latin typeface="Inconsolata"/>
              </a:rPr>
              <a:t>)</a:t>
            </a:r>
          </a:p>
          <a:p>
            <a:pPr>
              <a:lnSpc>
                <a:spcPct val="105686"/>
              </a:lnSpc>
              <a:spcAft>
                <a:spcPts val="0"/>
              </a:spcAft>
            </a:pPr>
            <a:r>
              <a:rPr sz="709" i="0">
                <a:solidFill>
                  <a:srgbClr val="5C6773"/>
                </a:solidFill>
                <a:latin typeface="Inconsolata"/>
              </a:rPr>
              <a:t>35  </a:t>
            </a:r>
            <a:r>
              <a:rPr sz="709" i="0">
                <a:solidFill>
                  <a:srgbClr val="E6EDF3"/>
                </a:solidFill>
                <a:latin typeface="Inconsolata"/>
              </a:rPr>
              <a:t>    accepted = </a:t>
            </a:r>
            <a:r>
              <a:rPr sz="709" i="0">
                <a:solidFill>
                  <a:srgbClr val="C3A6FF"/>
                </a:solidFill>
                <a:latin typeface="Inconsolata"/>
              </a:rPr>
              <a:t>sum</a:t>
            </a:r>
            <a:r>
              <a:rPr sz="709" i="0">
                <a:solidFill>
                  <a:srgbClr val="E6EDF3"/>
                </a:solidFill>
                <a:latin typeface="Inconsolata"/>
              </a:rPr>
              <a:t>(allow(</a:t>
            </a:r>
            <a:r>
              <a:rPr sz="709" i="0">
                <a:solidFill>
                  <a:srgbClr val="A5D6A7"/>
                </a:solidFill>
                <a:latin typeface="Inconsolata"/>
              </a:rPr>
              <a:t>"budi"</a:t>
            </a:r>
            <a:r>
              <a:rPr sz="709" i="0">
                <a:solidFill>
                  <a:srgbClr val="E6EDF3"/>
                </a:solidFill>
                <a:latin typeface="Inconsolata"/>
              </a:rPr>
              <a:t>, now=</a:t>
            </a:r>
            <a:r>
              <a:rPr sz="709" i="0">
                <a:solidFill>
                  <a:srgbClr val="F9C97A"/>
                </a:solidFill>
                <a:latin typeface="Inconsolata"/>
              </a:rPr>
              <a:t>59</a:t>
            </a:r>
            <a:r>
              <a:rPr sz="709" i="0">
                <a:solidFill>
                  <a:srgbClr val="E6EDF3"/>
                </a:solidFill>
                <a:latin typeface="Inconsolata"/>
              </a:rPr>
              <a:t>.</a:t>
            </a:r>
            <a:r>
              <a:rPr sz="709" i="0">
                <a:solidFill>
                  <a:srgbClr val="F9C97A"/>
                </a:solidFill>
                <a:latin typeface="Inconsolata"/>
              </a:rPr>
              <a:t>0</a:t>
            </a:r>
            <a:r>
              <a:rPr sz="709" i="0">
                <a:solidFill>
                  <a:srgbClr val="E6EDF3"/>
                </a:solidFill>
                <a:latin typeface="Inconsolata"/>
              </a:rPr>
              <a:t>) </a:t>
            </a:r>
            <a:r>
              <a:rPr sz="709" i="0">
                <a:solidFill>
                  <a:srgbClr val="FF8E6E"/>
                </a:solidFill>
                <a:latin typeface="Inconsolata"/>
              </a:rPr>
              <a:t>for</a:t>
            </a:r>
            <a:r>
              <a:rPr sz="709" i="0">
                <a:solidFill>
                  <a:srgbClr val="E6EDF3"/>
                </a:solidFill>
                <a:latin typeface="Inconsolata"/>
              </a:rPr>
              <a:t> _ </a:t>
            </a:r>
            <a:r>
              <a:rPr sz="709" i="0">
                <a:solidFill>
                  <a:srgbClr val="FF8E6E"/>
                </a:solidFill>
                <a:latin typeface="Inconsolata"/>
              </a:rPr>
              <a:t>in</a:t>
            </a:r>
            <a:r>
              <a:rPr sz="709" i="0">
                <a:solidFill>
                  <a:srgbClr val="E6EDF3"/>
                </a:solidFill>
                <a:latin typeface="Inconsolata"/>
              </a:rPr>
              <a:t> </a:t>
            </a:r>
            <a:r>
              <a:rPr sz="709" i="0">
                <a:solidFill>
                  <a:srgbClr val="C3A6FF"/>
                </a:solidFill>
                <a:latin typeface="Inconsolata"/>
              </a:rPr>
              <a:t>range</a:t>
            </a:r>
            <a:r>
              <a:rPr sz="709" i="0">
                <a:solidFill>
                  <a:srgbClr val="E6EDF3"/>
                </a:solidFill>
                <a:latin typeface="Inconsolata"/>
              </a:rPr>
              <a:t>(</a:t>
            </a:r>
            <a:r>
              <a:rPr sz="709" i="0">
                <a:solidFill>
                  <a:srgbClr val="F9C97A"/>
                </a:solidFill>
                <a:latin typeface="Inconsolata"/>
              </a:rPr>
              <a:t>10</a:t>
            </a:r>
            <a:r>
              <a:rPr sz="709" i="0">
                <a:solidFill>
                  <a:srgbClr val="E6EDF3"/>
                </a:solidFill>
                <a:latin typeface="Inconsolata"/>
              </a:rPr>
              <a:t>))</a:t>
            </a:r>
          </a:p>
          <a:p>
            <a:pPr>
              <a:lnSpc>
                <a:spcPct val="105686"/>
              </a:lnSpc>
              <a:spcAft>
                <a:spcPts val="0"/>
              </a:spcAft>
            </a:pPr>
            <a:r>
              <a:rPr sz="709" i="0">
                <a:solidFill>
                  <a:srgbClr val="5C6773"/>
                </a:solidFill>
                <a:latin typeface="Inconsolata"/>
              </a:rPr>
              <a:t>36  </a:t>
            </a:r>
            <a:r>
              <a:rPr sz="709" i="0">
                <a:solidFill>
                  <a:srgbClr val="E6EDF3"/>
                </a:solidFill>
                <a:latin typeface="Inconsolata"/>
              </a:rPr>
              <a:t>    accepted += </a:t>
            </a:r>
            <a:r>
              <a:rPr sz="709" i="0">
                <a:solidFill>
                  <a:srgbClr val="C3A6FF"/>
                </a:solidFill>
                <a:latin typeface="Inconsolata"/>
              </a:rPr>
              <a:t>sum</a:t>
            </a:r>
            <a:r>
              <a:rPr sz="709" i="0">
                <a:solidFill>
                  <a:srgbClr val="E6EDF3"/>
                </a:solidFill>
                <a:latin typeface="Inconsolata"/>
              </a:rPr>
              <a:t>(allow(</a:t>
            </a:r>
            <a:r>
              <a:rPr sz="709" i="0">
                <a:solidFill>
                  <a:srgbClr val="A5D6A7"/>
                </a:solidFill>
                <a:latin typeface="Inconsolata"/>
              </a:rPr>
              <a:t>"budi"</a:t>
            </a:r>
            <a:r>
              <a:rPr sz="709" i="0">
                <a:solidFill>
                  <a:srgbClr val="E6EDF3"/>
                </a:solidFill>
                <a:latin typeface="Inconsolata"/>
              </a:rPr>
              <a:t>, now=</a:t>
            </a:r>
            <a:r>
              <a:rPr sz="709" i="0">
                <a:solidFill>
                  <a:srgbClr val="F9C97A"/>
                </a:solidFill>
                <a:latin typeface="Inconsolata"/>
              </a:rPr>
              <a:t>60</a:t>
            </a:r>
            <a:r>
              <a:rPr sz="709" i="0">
                <a:solidFill>
                  <a:srgbClr val="E6EDF3"/>
                </a:solidFill>
                <a:latin typeface="Inconsolata"/>
              </a:rPr>
              <a:t>.</a:t>
            </a:r>
            <a:r>
              <a:rPr sz="709" i="0">
                <a:solidFill>
                  <a:srgbClr val="F9C97A"/>
                </a:solidFill>
                <a:latin typeface="Inconsolata"/>
              </a:rPr>
              <a:t>5</a:t>
            </a:r>
            <a:r>
              <a:rPr sz="709" i="0">
                <a:solidFill>
                  <a:srgbClr val="E6EDF3"/>
                </a:solidFill>
                <a:latin typeface="Inconsolata"/>
              </a:rPr>
              <a:t>) </a:t>
            </a:r>
            <a:r>
              <a:rPr sz="709" i="0">
                <a:solidFill>
                  <a:srgbClr val="FF8E6E"/>
                </a:solidFill>
                <a:latin typeface="Inconsolata"/>
              </a:rPr>
              <a:t>for</a:t>
            </a:r>
            <a:r>
              <a:rPr sz="709" i="0">
                <a:solidFill>
                  <a:srgbClr val="E6EDF3"/>
                </a:solidFill>
                <a:latin typeface="Inconsolata"/>
              </a:rPr>
              <a:t> _ </a:t>
            </a:r>
            <a:r>
              <a:rPr sz="709" i="0">
                <a:solidFill>
                  <a:srgbClr val="FF8E6E"/>
                </a:solidFill>
                <a:latin typeface="Inconsolata"/>
              </a:rPr>
              <a:t>in</a:t>
            </a:r>
            <a:r>
              <a:rPr sz="709" i="0">
                <a:solidFill>
                  <a:srgbClr val="E6EDF3"/>
                </a:solidFill>
                <a:latin typeface="Inconsolata"/>
              </a:rPr>
              <a:t> </a:t>
            </a:r>
            <a:r>
              <a:rPr sz="709" i="0">
                <a:solidFill>
                  <a:srgbClr val="C3A6FF"/>
                </a:solidFill>
                <a:latin typeface="Inconsolata"/>
              </a:rPr>
              <a:t>range</a:t>
            </a:r>
            <a:r>
              <a:rPr sz="709" i="0">
                <a:solidFill>
                  <a:srgbClr val="E6EDF3"/>
                </a:solidFill>
                <a:latin typeface="Inconsolata"/>
              </a:rPr>
              <a:t>(</a:t>
            </a:r>
            <a:r>
              <a:rPr sz="709" i="0">
                <a:solidFill>
                  <a:srgbClr val="F9C97A"/>
                </a:solidFill>
                <a:latin typeface="Inconsolata"/>
              </a:rPr>
              <a:t>10</a:t>
            </a:r>
            <a:r>
              <a:rPr sz="709" i="0">
                <a:solidFill>
                  <a:srgbClr val="E6EDF3"/>
                </a:solidFill>
                <a:latin typeface="Inconsolata"/>
              </a:rPr>
              <a:t>))</a:t>
            </a:r>
          </a:p>
          <a:p>
            <a:pPr>
              <a:lnSpc>
                <a:spcPct val="105686"/>
              </a:lnSpc>
              <a:spcAft>
                <a:spcPts val="0"/>
              </a:spcAft>
            </a:pPr>
            <a:r>
              <a:rPr sz="709" i="0">
                <a:solidFill>
                  <a:srgbClr val="5C6773"/>
                </a:solidFill>
                <a:latin typeface="Inconsolata"/>
              </a:rPr>
              <a:t>37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f"Diterima dalam 2 detik: {accepted} (limit 10/menit)"</a:t>
            </a:r>
            <a:r>
              <a:rPr sz="709" i="0">
                <a:solidFill>
                  <a:srgbClr val="E6EDF3"/>
                </a:solidFill>
                <a:latin typeface="Inconsolata"/>
              </a:rPr>
              <a:t>)  </a:t>
            </a:r>
            <a:r>
              <a:rPr sz="709" i="1">
                <a:solidFill>
                  <a:srgbClr val="8B98A8"/>
                </a:solidFill>
                <a:latin typeface="Inconsolata"/>
              </a:rPr>
              <a:t># 10</a:t>
            </a:r>
          </a:p>
          <a:p>
            <a:pPr>
              <a:lnSpc>
                <a:spcPct val="105686"/>
              </a:lnSpc>
              <a:spcAft>
                <a:spcPts val="0"/>
              </a:spcAft>
            </a:pPr>
            <a:r>
              <a:rPr sz="709" i="0">
                <a:solidFill>
                  <a:srgbClr val="5C6773"/>
                </a:solidFill>
                <a:latin typeface="Inconsolata"/>
              </a:rPr>
              <a:t>38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"Detik ke-119:"</a:t>
            </a:r>
            <a:r>
              <a:rPr sz="709" i="0">
                <a:solidFill>
                  <a:srgbClr val="E6EDF3"/>
                </a:solidFill>
                <a:latin typeface="Inconsolata"/>
              </a:rPr>
              <a:t>, allow(</a:t>
            </a:r>
            <a:r>
              <a:rPr sz="709" i="0">
                <a:solidFill>
                  <a:srgbClr val="A5D6A7"/>
                </a:solidFill>
                <a:latin typeface="Inconsolata"/>
              </a:rPr>
              <a:t>"budi"</a:t>
            </a:r>
            <a:r>
              <a:rPr sz="709" i="0">
                <a:solidFill>
                  <a:srgbClr val="E6EDF3"/>
                </a:solidFill>
                <a:latin typeface="Inconsolata"/>
              </a:rPr>
              <a:t>, now=</a:t>
            </a:r>
            <a:r>
              <a:rPr sz="709" i="0">
                <a:solidFill>
                  <a:srgbClr val="F9C97A"/>
                </a:solidFill>
                <a:latin typeface="Inconsolata"/>
              </a:rPr>
              <a:t>119</a:t>
            </a:r>
            <a:r>
              <a:rPr sz="709" i="0">
                <a:solidFill>
                  <a:srgbClr val="E6EDF3"/>
                </a:solidFill>
                <a:latin typeface="Inconsolata"/>
              </a:rPr>
              <a:t>.</a:t>
            </a:r>
            <a:r>
              <a:rPr sz="709" i="0">
                <a:solidFill>
                  <a:srgbClr val="F9C97A"/>
                </a:solidFill>
                <a:latin typeface="Inconsolata"/>
              </a:rPr>
              <a:t>5</a:t>
            </a:r>
            <a:r>
              <a:rPr sz="709" i="0">
                <a:solidFill>
                  <a:srgbClr val="E6EDF3"/>
                </a:solidFill>
                <a:latin typeface="Inconsolata"/>
              </a:rPr>
              <a:t>))  </a:t>
            </a:r>
            <a:r>
              <a:rPr sz="709" i="1">
                <a:solidFill>
                  <a:srgbClr val="8B98A8"/>
                </a:solidFill>
                <a:latin typeface="Inconsolata"/>
              </a:rPr>
              <a:t># True</a:t>
            </a:r>
          </a:p>
        </p:txBody>
      </p:sp>
      <p:sp>
        <p:nvSpPr>
          <p:cNvPr id="36" name="Box 21"/>
          <p:cNvSpPr/>
          <p:nvPr/>
        </p:nvSpPr>
        <p:spPr>
          <a:xfrm>
            <a:off x="4709159" y="2053971"/>
            <a:ext cx="3694176"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103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3968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3888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Sliding Window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06-sliding-window/after.py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sesi-06-redis-caching-rate-limiting/06-sliding-window</a:t>
            </a:r>
          </a:p>
          <a:p>
            <a:pPr>
              <a:lnSpc>
                <a:spcPct val="111111"/>
              </a:lnSpc>
              <a:spcAft>
                <a:spcPts val="0"/>
              </a:spcAft>
            </a:pPr>
            <a:r>
              <a:rPr sz="900" i="0">
                <a:solidFill>
                  <a:srgbClr val="82B1FF"/>
                </a:solidFill>
                <a:latin typeface="Inconsolata"/>
              </a:rPr>
              <a:t>$ python after.py</a:t>
            </a:r>
          </a:p>
        </p:txBody>
      </p:sp>
      <p:pic>
        <p:nvPicPr>
          <p:cNvPr id="29" name="Image 12" descr="s06-06-sliding-window-after.png"/>
          <p:cNvPicPr>
            <a:picLocks noChangeAspect="1"/>
          </p:cNvPicPr>
          <p:nvPr/>
        </p:nvPicPr>
        <p:blipFill>
          <a:blip r:embed="rId2"/>
          <a:stretch>
            <a:fillRect/>
          </a:stretch>
        </p:blipFill>
        <p:spPr>
          <a:xfrm>
            <a:off x="621792" y="2322576"/>
            <a:ext cx="4297680" cy="913257"/>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Buang request yang sudah lewat 60 detik. Jika masih ada 10 request dalam 60 detik terakhir, tolak (baris 25-27)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Catat request ini dengan score = waktu (baris 28-29)</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Hanya 10 request diterima. Di detik ke-119.5, request detik ke-59 sudah lewat 60 detik, jadi diterima lagi.</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API Gateway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API Gateway?</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API gateway adalah</a:t>
            </a:r>
          </a:p>
          <a:p>
            <a:pPr algn="l">
              <a:lnSpc>
                <a:spcPct val="115000"/>
              </a:lnSpc>
              <a:spcAft>
                <a:spcPts val="400"/>
              </a:spcAft>
            </a:pPr>
            <a:r>
              <a:rPr sz="950" b="0" i="0">
                <a:solidFill>
                  <a:srgbClr val="434343"/>
                </a:solidFill>
                <a:latin typeface="Inter"/>
              </a:rPr>
              <a:t>Software yang menjadi </a:t>
            </a:r>
            <a:r>
              <a:rPr sz="950" b="1" i="0">
                <a:solidFill>
                  <a:srgbClr val="434343"/>
                </a:solidFill>
                <a:latin typeface="Inter"/>
              </a:rPr>
              <a:t>pintu masuk tunggal</a:t>
            </a:r>
            <a:r>
              <a:rPr sz="950" b="0" i="0">
                <a:solidFill>
                  <a:srgbClr val="434343"/>
                </a:solidFill>
                <a:latin typeface="Inter"/>
              </a:rPr>
              <a:t> di depan semua service. Semua request dari client melewati gateway dulu, sebelum diteruskan ke service yang tepat. Contohnya Nginx, Kong, dan AWS API Gateway.</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Mengatur rate limit, autentikasi, dan logging di satu tempat</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Menolak request berbahaya sebelum sampai ke aplikasi</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Menjaga service di belakangnya tetap simple</a:t>
            </a:r>
          </a:p>
        </p:txBody>
      </p:sp>
      <p:sp>
        <p:nvSpPr>
          <p:cNvPr id="23" name="Box 4"/>
          <p:cNvSpPr/>
          <p:nvPr/>
        </p:nvSpPr>
        <p:spPr>
          <a:xfrm>
            <a:off x="4892040" y="1554480"/>
            <a:ext cx="3593592" cy="365760"/>
          </a:xfrm>
          <a:prstGeom prst="roundRect">
            <a:avLst>
              <a:gd name="adj" fmla="val 30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1C4587"/>
                </a:solidFill>
                <a:latin typeface="Inter"/>
              </a:rPr>
              <a:t>Client (web, mobile, partner)</a:t>
            </a:r>
          </a:p>
        </p:txBody>
      </p:sp>
      <p:cxnSp>
        <p:nvCxnSpPr>
          <p:cNvPr id="24" name="Arrow 5"/>
          <p:cNvCxnSpPr/>
          <p:nvPr/>
        </p:nvCxnSpPr>
        <p:spPr>
          <a:xfrm>
            <a:off x="6684264" y="1920240"/>
            <a:ext cx="0" cy="22860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Box 6"/>
          <p:cNvSpPr/>
          <p:nvPr/>
        </p:nvSpPr>
        <p:spPr>
          <a:xfrm>
            <a:off x="4892040" y="2148840"/>
            <a:ext cx="3593592" cy="685800"/>
          </a:xfrm>
          <a:prstGeom prst="roundRect">
            <a:avLst>
              <a:gd name="adj" fmla="val 16000"/>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API Gateway</a:t>
            </a:r>
          </a:p>
          <a:p>
            <a:pPr algn="ctr">
              <a:lnSpc>
                <a:spcPct val="105000"/>
              </a:lnSpc>
              <a:spcAft>
                <a:spcPts val="200"/>
              </a:spcAft>
            </a:pPr>
            <a:r>
              <a:rPr sz="900" b="1" i="0">
                <a:solidFill>
                  <a:srgbClr val="FFFFFF"/>
                </a:solidFill>
                <a:latin typeface="Inter"/>
              </a:rPr>
              <a:t>auth  ·  rate limit  ·  routing  ·  cache  ·  logging</a:t>
            </a:r>
          </a:p>
        </p:txBody>
      </p:sp>
      <p:cxnSp>
        <p:nvCxnSpPr>
          <p:cNvPr id="26" name="Arrow 7"/>
          <p:cNvCxnSpPr/>
          <p:nvPr/>
        </p:nvCxnSpPr>
        <p:spPr>
          <a:xfrm flipH="1">
            <a:off x="5458968" y="2834640"/>
            <a:ext cx="1225296" cy="32004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Box 8"/>
          <p:cNvSpPr/>
          <p:nvPr/>
        </p:nvSpPr>
        <p:spPr>
          <a:xfrm>
            <a:off x="4892040" y="3154680"/>
            <a:ext cx="1143000" cy="411480"/>
          </a:xfrm>
          <a:prstGeom prst="roundRect">
            <a:avLst>
              <a:gd name="adj" fmla="val 26666"/>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Order API</a:t>
            </a:r>
          </a:p>
        </p:txBody>
      </p:sp>
      <p:cxnSp>
        <p:nvCxnSpPr>
          <p:cNvPr id="28" name="Arrow 9"/>
          <p:cNvCxnSpPr/>
          <p:nvPr/>
        </p:nvCxnSpPr>
        <p:spPr>
          <a:xfrm flipH="1">
            <a:off x="6675120" y="2834640"/>
            <a:ext cx="9144" cy="32004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Box 10"/>
          <p:cNvSpPr/>
          <p:nvPr/>
        </p:nvSpPr>
        <p:spPr>
          <a:xfrm>
            <a:off x="6108192" y="3154680"/>
            <a:ext cx="1143000" cy="411480"/>
          </a:xfrm>
          <a:prstGeom prst="roundRect">
            <a:avLst>
              <a:gd name="adj" fmla="val 26666"/>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Payment API</a:t>
            </a:r>
          </a:p>
        </p:txBody>
      </p:sp>
      <p:cxnSp>
        <p:nvCxnSpPr>
          <p:cNvPr id="30" name="Arrow 11"/>
          <p:cNvCxnSpPr/>
          <p:nvPr/>
        </p:nvCxnSpPr>
        <p:spPr>
          <a:xfrm>
            <a:off x="6684264" y="2834640"/>
            <a:ext cx="1207007" cy="32004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Box 12"/>
          <p:cNvSpPr/>
          <p:nvPr/>
        </p:nvSpPr>
        <p:spPr>
          <a:xfrm>
            <a:off x="7324344" y="3154680"/>
            <a:ext cx="1143000" cy="411480"/>
          </a:xfrm>
          <a:prstGeom prst="roundRect">
            <a:avLst>
              <a:gd name="adj" fmla="val 26666"/>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Report API</a:t>
            </a:r>
          </a:p>
        </p:txBody>
      </p:sp>
      <p:sp>
        <p:nvSpPr>
          <p:cNvPr id="32" name="Text 13"/>
          <p:cNvSpPr txBox="1"/>
          <p:nvPr/>
        </p:nvSpPr>
        <p:spPr>
          <a:xfrm>
            <a:off x="4892040" y="3749039"/>
            <a:ext cx="3593592" cy="73152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API gateway bukan bagian dari FastAPI. Gateway berjalan sebagai software terpisah di depan aplikasi.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API Gateway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API Gateway?</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API gateway</a:t>
            </a:r>
          </a:p>
          <a:p>
            <a:pPr algn="l">
              <a:lnSpc>
                <a:spcPct val="115000"/>
              </a:lnSpc>
              <a:spcAft>
                <a:spcPts val="400"/>
              </a:spcAft>
            </a:pPr>
            <a:r>
              <a:rPr sz="950" b="0" i="0">
                <a:solidFill>
                  <a:srgbClr val="434343"/>
                </a:solidFill>
                <a:latin typeface="Inter"/>
              </a:rPr>
              <a:t>Setiap service menulis sendiri rate limit, pengecekan token, dan logging. Client harus tahu alamat setiap service.</a:t>
            </a:r>
          </a:p>
          <a:p>
            <a:pPr algn="l">
              <a:lnSpc>
                <a:spcPct val="115000"/>
              </a:lnSpc>
              <a:spcAft>
                <a:spcPts val="400"/>
              </a:spcAft>
            </a:pPr>
            <a:r>
              <a:rPr sz="1050" b="1" i="0">
                <a:solidFill>
                  <a:srgbClr val="1C4587"/>
                </a:solidFill>
                <a:latin typeface="Inter"/>
              </a:rPr>
              <a:t>Jika servicenya makin banyak</a:t>
            </a:r>
          </a:p>
          <a:p>
            <a:pPr algn="l">
              <a:lnSpc>
                <a:spcPct val="115000"/>
              </a:lnSpc>
              <a:spcAft>
                <a:spcPts val="400"/>
              </a:spcAft>
            </a:pPr>
            <a:r>
              <a:rPr sz="950" b="0" i="0">
                <a:solidFill>
                  <a:srgbClr val="434343"/>
                </a:solidFill>
                <a:latin typeface="Inter"/>
              </a:rPr>
              <a:t>Aturan yang sama ditulis berulang di banyak service, dengan bahasa dan library yang berbeda-beda.</a:t>
            </a:r>
          </a:p>
          <a:p>
            <a:pPr algn="l">
              <a:lnSpc>
                <a:spcPct val="115000"/>
              </a:lnSpc>
              <a:spcAft>
                <a:spcPts val="400"/>
              </a:spcAft>
            </a:pPr>
            <a:r>
              <a:rPr sz="950" b="0" i="0">
                <a:solidFill>
                  <a:srgbClr val="434343"/>
                </a:solidFill>
                <a:latin typeface="Inter"/>
              </a:rPr>
              <a:t>Hal ini membuat aturan mudah tidak konsisten, dan perubahan harus dilakukan di semua service.</a:t>
            </a:r>
          </a:p>
          <a:p>
            <a:pPr algn="l">
              <a:lnSpc>
                <a:spcPct val="115000"/>
              </a:lnSpc>
              <a:spcAft>
                <a:spcPts val="400"/>
              </a:spcAft>
            </a:pPr>
            <a:r>
              <a:rPr sz="1050" b="1" i="0">
                <a:solidFill>
                  <a:srgbClr val="1C4587"/>
                </a:solidFill>
                <a:latin typeface="Inter"/>
              </a:rPr>
              <a:t>Pembagian tugasnya</a:t>
            </a:r>
          </a:p>
          <a:p>
            <a:pPr algn="l">
              <a:lnSpc>
                <a:spcPct val="115000"/>
              </a:lnSpc>
              <a:spcAft>
                <a:spcPts val="400"/>
              </a:spcAft>
            </a:pPr>
            <a:r>
              <a:rPr sz="950" b="0" i="0">
                <a:solidFill>
                  <a:srgbClr val="434343"/>
                </a:solidFill>
                <a:latin typeface="Inter"/>
              </a:rPr>
              <a:t>Aturan umum ditaruh di gateway. Aturan yang butuh business logic tetap di aplikasi.</a:t>
            </a:r>
          </a:p>
        </p:txBody>
      </p:sp>
      <p:graphicFrame>
        <p:nvGraphicFramePr>
          <p:cNvPr id="23" name="Table 4"/>
          <p:cNvGraphicFramePr>
            <a:graphicFrameLocks noGrp="1"/>
          </p:cNvGraphicFramePr>
          <p:nvPr/>
        </p:nvGraphicFramePr>
        <p:xfrm>
          <a:off x="4800600" y="1481328"/>
          <a:ext cx="3685032" cy="2514600"/>
        </p:xfrm>
        <a:graphic>
          <a:graphicData uri="http://schemas.openxmlformats.org/drawingml/2006/table">
            <a:tbl>
              <a:tblPr firstRow="1" bandRow="1"/>
              <a:tblGrid>
                <a:gridCol w="203911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502920">
                <a:tc>
                  <a:txBody>
                    <a:bodyPr/>
                    <a:lstStyle/>
                    <a:p>
                      <a:pPr algn="l">
                        <a:lnSpc>
                          <a:spcPct val="100000"/>
                        </a:lnSpc>
                        <a:spcAft>
                          <a:spcPts val="0"/>
                        </a:spcAft>
                      </a:pPr>
                      <a:r>
                        <a:rPr sz="850" b="1" i="0">
                          <a:solidFill>
                            <a:srgbClr val="FFFFFF"/>
                          </a:solidFill>
                          <a:latin typeface="Inter"/>
                        </a:rPr>
                        <a:t>Aturan</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Ditaruh di</a:t>
                      </a:r>
                    </a:p>
                  </a:txBody>
                  <a:tcPr marL="73152" marR="73152" marT="36576" marB="36576" anchor="ctr">
                    <a:solidFill>
                      <a:srgbClr val="1C4587"/>
                    </a:solidFill>
                  </a:tcPr>
                </a:tc>
                <a:extLst>
                  <a:ext uri="{0D108BD9-81ED-4DB2-BD59-A6C34878D82A}">
                    <a16:rowId xmlns:a16="http://schemas.microsoft.com/office/drawing/2014/main" val="10000"/>
                  </a:ext>
                </a:extLst>
              </a:tr>
              <a:tr h="502920">
                <a:tc>
                  <a:txBody>
                    <a:bodyPr/>
                    <a:lstStyle/>
                    <a:p>
                      <a:pPr algn="l">
                        <a:lnSpc>
                          <a:spcPct val="100000"/>
                        </a:lnSpc>
                        <a:spcAft>
                          <a:spcPts val="0"/>
                        </a:spcAft>
                      </a:pPr>
                      <a:r>
                        <a:rPr sz="850" b="1" i="0">
                          <a:solidFill>
                            <a:srgbClr val="1C4587"/>
                          </a:solidFill>
                          <a:latin typeface="Inter"/>
                        </a:rPr>
                        <a:t>Limit per IP untuk semua endpoint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API gateway</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pPr algn="l">
                        <a:lnSpc>
                          <a:spcPct val="100000"/>
                        </a:lnSpc>
                        <a:spcAft>
                          <a:spcPts val="0"/>
                        </a:spcAft>
                      </a:pPr>
                      <a:r>
                        <a:rPr sz="850" b="1" i="0">
                          <a:solidFill>
                            <a:srgbClr val="1C4587"/>
                          </a:solidFill>
                          <a:latin typeface="Inter"/>
                        </a:rPr>
                        <a:t>Cek token login (valid atau tidak)</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API gateway</a:t>
                      </a:r>
                    </a:p>
                  </a:txBody>
                  <a:tcPr marL="73152" marR="73152" marT="36576" marB="36576" anchor="ctr">
                    <a:solidFill>
                      <a:srgbClr val="F3F4F6"/>
                    </a:solidFill>
                  </a:tcPr>
                </a:tc>
                <a:extLst>
                  <a:ext uri="{0D108BD9-81ED-4DB2-BD59-A6C34878D82A}">
                    <a16:rowId xmlns:a16="http://schemas.microsoft.com/office/drawing/2014/main" val="10002"/>
                  </a:ext>
                </a:extLst>
              </a:tr>
              <a:tr h="502920">
                <a:tc>
                  <a:txBody>
                    <a:bodyPr/>
                    <a:lstStyle/>
                    <a:p>
                      <a:pPr algn="l">
                        <a:lnSpc>
                          <a:spcPct val="100000"/>
                        </a:lnSpc>
                        <a:spcAft>
                          <a:spcPts val="0"/>
                        </a:spcAft>
                      </a:pPr>
                      <a:r>
                        <a:rPr sz="850" b="1" i="0">
                          <a:solidFill>
                            <a:srgbClr val="1C4587"/>
                          </a:solidFill>
                          <a:latin typeface="Inter"/>
                        </a:rPr>
                        <a:t>Limit order per customer per hari</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Aplikasi (business logic)</a:t>
                      </a:r>
                    </a:p>
                  </a:txBody>
                  <a:tcPr marL="73152" marR="73152" marT="36576" marB="36576" anchor="ctr">
                    <a:solidFill>
                      <a:srgbClr val="FFFFFF"/>
                    </a:solidFill>
                  </a:tcPr>
                </a:tc>
                <a:extLst>
                  <a:ext uri="{0D108BD9-81ED-4DB2-BD59-A6C34878D82A}">
                    <a16:rowId xmlns:a16="http://schemas.microsoft.com/office/drawing/2014/main" val="10003"/>
                  </a:ext>
                </a:extLst>
              </a:tr>
              <a:tr h="502920">
                <a:tc>
                  <a:txBody>
                    <a:bodyPr/>
                    <a:lstStyle/>
                    <a:p>
                      <a:pPr algn="l">
                        <a:lnSpc>
                          <a:spcPct val="100000"/>
                        </a:lnSpc>
                        <a:spcAft>
                          <a:spcPts val="0"/>
                        </a:spcAft>
                      </a:pPr>
                      <a:r>
                        <a:rPr sz="850" b="1" i="0">
                          <a:solidFill>
                            <a:srgbClr val="1C4587"/>
                          </a:solidFill>
                          <a:latin typeface="Inter"/>
                        </a:rPr>
                        <a:t>Hanya admin yang boleh lihat report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Aplikasi (Sesi 10)</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Trade-off</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Latency, Consistency, dan Resource</a:t>
            </a:r>
          </a:p>
        </p:txBody>
      </p:sp>
      <p:graphicFrame>
        <p:nvGraphicFramePr>
          <p:cNvPr id="22" name="Table 3"/>
          <p:cNvGraphicFramePr>
            <a:graphicFrameLocks noGrp="1"/>
          </p:cNvGraphicFramePr>
          <p:nvPr/>
        </p:nvGraphicFramePr>
        <p:xfrm>
          <a:off x="621792" y="1481328"/>
          <a:ext cx="7863840" cy="27432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57200">
                <a:tc>
                  <a:txBody>
                    <a:bodyPr/>
                    <a:lstStyle/>
                    <a:p>
                      <a:pPr algn="l">
                        <a:lnSpc>
                          <a:spcPct val="100000"/>
                        </a:lnSpc>
                        <a:spcAft>
                          <a:spcPts val="0"/>
                        </a:spcAft>
                      </a:pPr>
                      <a:r>
                        <a:rPr sz="900" b="1" i="0">
                          <a:solidFill>
                            <a:srgbClr val="FFFFFF"/>
                          </a:solidFill>
                          <a:latin typeface="Inter"/>
                        </a:rPr>
                        <a:t>Keputusan</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Latency</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Consistency</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Resource</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900" b="1" i="0">
                          <a:solidFill>
                            <a:srgbClr val="1C4587"/>
                          </a:solidFill>
                          <a:latin typeface="Inter"/>
                        </a:rPr>
                        <a:t>Tanpa cache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Lambat, selalu ke database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Selalu data terbaru</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Beban database tinggi</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900" b="1" i="0">
                          <a:solidFill>
                            <a:srgbClr val="1C4587"/>
                          </a:solidFill>
                          <a:latin typeface="Inter"/>
                        </a:rPr>
                        <a:t>Cache, TTL panjang</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Sangat cepat</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Data bisa basi lebih lama</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Memory Redis lebih banyak</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900" b="1" i="0">
                          <a:solidFill>
                            <a:srgbClr val="1C4587"/>
                          </a:solidFill>
                          <a:latin typeface="Inter"/>
                        </a:rPr>
                        <a:t>Cache, TTL pendek</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Cepat, lebih sering miss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Basi sebentar</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Query lebih sering</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Aft>
                          <a:spcPts val="0"/>
                        </a:spcAft>
                      </a:pPr>
                      <a:r>
                        <a:rPr sz="900" b="1" i="0">
                          <a:solidFill>
                            <a:srgbClr val="1C4587"/>
                          </a:solidFill>
                          <a:latin typeface="Inter"/>
                        </a:rPr>
                        <a:t>Cache + invalidation</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Cepat</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Hampir selalu terbaru</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Kode lebih rumit</a:t>
                      </a:r>
                    </a:p>
                  </a:txBody>
                  <a:tcPr marL="73152" marR="73152" marT="36576" marB="36576" anchor="ctr">
                    <a:solidFill>
                      <a:srgbClr val="F3F4F6"/>
                    </a:solidFill>
                  </a:tcPr>
                </a:tc>
                <a:extLst>
                  <a:ext uri="{0D108BD9-81ED-4DB2-BD59-A6C34878D82A}">
                    <a16:rowId xmlns:a16="http://schemas.microsoft.com/office/drawing/2014/main" val="10004"/>
                  </a:ext>
                </a:extLst>
              </a:tr>
              <a:tr h="457200">
                <a:tc>
                  <a:txBody>
                    <a:bodyPr/>
                    <a:lstStyle/>
                    <a:p>
                      <a:pPr algn="l">
                        <a:lnSpc>
                          <a:spcPct val="100000"/>
                        </a:lnSpc>
                        <a:spcAft>
                          <a:spcPts val="0"/>
                        </a:spcAft>
                      </a:pPr>
                      <a:r>
                        <a:rPr sz="900" b="1" i="0">
                          <a:solidFill>
                            <a:srgbClr val="1C4587"/>
                          </a:solidFill>
                          <a:latin typeface="Inter"/>
                        </a:rPr>
                        <a:t>Rate limit sliding window</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Tambah 1 kali akses Redis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Limit akurat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Memory per request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23" name="Text 4"/>
          <p:cNvSpPr txBox="1"/>
          <p:nvPr/>
        </p:nvSpPr>
        <p:spPr>
          <a:xfrm>
            <a:off x="621792" y="4343400"/>
            <a:ext cx="7863840" cy="365760"/>
          </a:xfrm>
          <a:prstGeom prst="rect">
            <a:avLst/>
          </a:prstGeom>
          <a:noFill/>
        </p:spPr>
        <p:txBody>
          <a:bodyPr wrap="square" lIns="45720" rIns="45720" anchor="t">
            <a:spAutoFit/>
          </a:bodyPr>
          <a:lstStyle/>
          <a:p>
            <a:pPr algn="l">
              <a:lnSpc>
                <a:spcPct val="115000"/>
              </a:lnSpc>
              <a:spcAft>
                <a:spcPts val="400"/>
              </a:spcAft>
            </a:pPr>
            <a:r>
              <a:rPr sz="1000" b="0" i="0">
                <a:solidFill>
                  <a:srgbClr val="1C4587"/>
                </a:solidFill>
                <a:latin typeface="Inter"/>
              </a:rPr>
              <a:t>Pilihannya bergantung pada seberapa lama data di cache boleh berbeda dengan data di database.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49</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Hands-on: Cache Produk &amp; Rate Limit</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bersama mentor, langkah demi langkah. Ditambah perbandingan latency.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Sesi 5: Semua Request Langsung ke Database</a:t>
            </a:r>
          </a:p>
        </p:txBody>
      </p:sp>
      <p:sp>
        <p:nvSpPr>
          <p:cNvPr id="22" name="CodeTab 4"/>
          <p:cNvSpPr/>
          <p:nvPr/>
        </p:nvSpPr>
        <p:spPr>
          <a:xfrm>
            <a:off x="621792" y="1481328"/>
            <a:ext cx="51206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805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07-cache-rate-limit/before/app</a:t>
            </a:r>
          </a:p>
        </p:txBody>
      </p:sp>
      <p:sp>
        <p:nvSpPr>
          <p:cNvPr id="27" name="CodeBg 10"/>
          <p:cNvSpPr/>
          <p:nvPr/>
        </p:nvSpPr>
        <p:spPr>
          <a:xfrm>
            <a:off x="621792" y="1719072"/>
            <a:ext cx="51206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120640" cy="2980944"/>
          </a:xfrm>
          <a:prstGeom prst="rect">
            <a:avLst/>
          </a:prstGeom>
          <a:noFill/>
        </p:spPr>
        <p:txBody>
          <a:bodyPr wrap="none" lIns="146304" tIns="91440" rIns="146304" bIns="54864">
            <a:spAutoFit/>
          </a:bodyPr>
          <a:lstStyle/>
          <a:p>
            <a:pPr>
              <a:lnSpc>
                <a:spcPct val="104167"/>
              </a:lnSpc>
              <a:spcAft>
                <a:spcPts val="0"/>
              </a:spcAft>
            </a:pPr>
            <a:r>
              <a:rPr sz="800" i="1">
                <a:solidFill>
                  <a:srgbClr val="8B98A8"/>
                </a:solidFill>
                <a:latin typeface="Inconsolata"/>
              </a:rPr>
              <a:t># application/product_service.py</a:t>
            </a:r>
          </a:p>
          <a:p>
            <a:pPr>
              <a:lnSpc>
                <a:spcPct val="104167"/>
              </a:lnSpc>
              <a:spcAft>
                <a:spcPts val="0"/>
              </a:spcAft>
            </a:pPr>
            <a:r>
              <a:rPr sz="800" i="0">
                <a:solidFill>
                  <a:srgbClr val="E6EDF3"/>
                </a:solidFill>
                <a:latin typeface="Inconsolata"/>
              </a:rPr>
              <a:t>    </a:t>
            </a: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list_products</a:t>
            </a:r>
            <a:r>
              <a:rPr sz="800" i="0">
                <a:solidFill>
                  <a:srgbClr val="E6EDF3"/>
                </a:solidFill>
                <a:latin typeface="Inconsolata"/>
              </a:rPr>
              <a:t>(</a:t>
            </a:r>
            <a:r>
              <a:rPr sz="800" i="0">
                <a:solidFill>
                  <a:srgbClr val="C3A6FF"/>
                </a:solidFill>
                <a:latin typeface="Inconsolata"/>
              </a:rPr>
              <a:t>self</a:t>
            </a:r>
            <a:r>
              <a:rPr sz="800" i="0">
                <a:solidFill>
                  <a:srgbClr val="E6EDF3"/>
                </a:solidFill>
                <a:latin typeface="Inconsolata"/>
              </a:rPr>
              <a:t>) -&gt; </a:t>
            </a:r>
            <a:r>
              <a:rPr sz="800" i="0">
                <a:solidFill>
                  <a:srgbClr val="C3A6FF"/>
                </a:solidFill>
                <a:latin typeface="Inconsolata"/>
              </a:rPr>
              <a:t>list</a:t>
            </a:r>
            <a:r>
              <a:rPr sz="800" i="0">
                <a:solidFill>
                  <a:srgbClr val="E6EDF3"/>
                </a:solidFill>
                <a:latin typeface="Inconsolata"/>
              </a:rPr>
              <a:t>[</a:t>
            </a:r>
            <a:r>
              <a:rPr sz="800" i="0">
                <a:solidFill>
                  <a:srgbClr val="7FDBCA"/>
                </a:solidFill>
                <a:latin typeface="Inconsolata"/>
              </a:rPr>
              <a:t>Product</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with</a:t>
            </a:r>
            <a:r>
              <a:rPr sz="800" i="0">
                <a:solidFill>
                  <a:srgbClr val="E6EDF3"/>
                </a:solidFill>
                <a:latin typeface="Inconsolata"/>
              </a:rPr>
              <a:t> </a:t>
            </a:r>
            <a:r>
              <a:rPr sz="800" i="0">
                <a:solidFill>
                  <a:srgbClr val="C3A6FF"/>
                </a:solidFill>
                <a:latin typeface="Inconsolata"/>
              </a:rPr>
              <a:t>self</a:t>
            </a:r>
            <a:r>
              <a:rPr sz="800" i="0">
                <a:solidFill>
                  <a:srgbClr val="E6EDF3"/>
                </a:solidFill>
                <a:latin typeface="Inconsolata"/>
              </a:rPr>
              <a:t>.uow:</a:t>
            </a:r>
          </a:p>
          <a:p>
            <a:pPr>
              <a:lnSpc>
                <a:spcPct val="104167"/>
              </a:lnSpc>
              <a:spcAft>
                <a:spcPts val="0"/>
              </a:spcAft>
            </a:pPr>
            <a:r>
              <a:rPr sz="800" i="0">
                <a:solidFill>
                  <a:srgbClr val="E6EDF3"/>
                </a:solidFill>
                <a:latin typeface="Inconsolata"/>
              </a:rPr>
              <a:t>            </a:t>
            </a:r>
            <a:r>
              <a:rPr sz="800" i="0">
                <a:solidFill>
                  <a:srgbClr val="FF8E6E"/>
                </a:solidFill>
                <a:latin typeface="Inconsolata"/>
              </a:rPr>
              <a:t>return</a:t>
            </a:r>
            <a:r>
              <a:rPr sz="800" i="0">
                <a:solidFill>
                  <a:srgbClr val="E6EDF3"/>
                </a:solidFill>
                <a:latin typeface="Inconsolata"/>
              </a:rPr>
              <a:t> </a:t>
            </a:r>
            <a:r>
              <a:rPr sz="800" i="0">
                <a:solidFill>
                  <a:srgbClr val="C3A6FF"/>
                </a:solidFill>
                <a:latin typeface="Inconsolata"/>
              </a:rPr>
              <a:t>self</a:t>
            </a:r>
            <a:r>
              <a:rPr sz="800" i="0">
                <a:solidFill>
                  <a:srgbClr val="E6EDF3"/>
                </a:solidFill>
                <a:latin typeface="Inconsolata"/>
              </a:rPr>
              <a:t>.uow.products.</a:t>
            </a:r>
            <a:r>
              <a:rPr sz="800" i="0">
                <a:solidFill>
                  <a:srgbClr val="C3A6FF"/>
                </a:solidFill>
                <a:latin typeface="Inconsolata"/>
              </a:rPr>
              <a:t>list</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p>
          <a:p>
            <a:pPr>
              <a:lnSpc>
                <a:spcPct val="104167"/>
              </a:lnSpc>
              <a:spcAft>
                <a:spcPts val="0"/>
              </a:spcAft>
            </a:pPr>
            <a:r>
              <a:rPr sz="800" i="0">
                <a:solidFill>
                  <a:srgbClr val="E6EDF3"/>
                </a:solidFill>
                <a:latin typeface="Inconsolata"/>
              </a:rPr>
              <a:t>    </a:t>
            </a: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get_product</a:t>
            </a:r>
            <a:r>
              <a:rPr sz="800" i="0">
                <a:solidFill>
                  <a:srgbClr val="E6EDF3"/>
                </a:solidFill>
                <a:latin typeface="Inconsolata"/>
              </a:rPr>
              <a:t>(</a:t>
            </a:r>
            <a:r>
              <a:rPr sz="800" i="0">
                <a:solidFill>
                  <a:srgbClr val="C3A6FF"/>
                </a:solidFill>
                <a:latin typeface="Inconsolata"/>
              </a:rPr>
              <a:t>self</a:t>
            </a:r>
            <a:r>
              <a:rPr sz="800" i="0">
                <a:solidFill>
                  <a:srgbClr val="E6EDF3"/>
                </a:solidFill>
                <a:latin typeface="Inconsolata"/>
              </a:rPr>
              <a:t>, product_id: </a:t>
            </a:r>
            <a:r>
              <a:rPr sz="800" i="0">
                <a:solidFill>
                  <a:srgbClr val="C3A6FF"/>
                </a:solidFill>
                <a:latin typeface="Inconsolata"/>
              </a:rPr>
              <a:t>int</a:t>
            </a:r>
            <a:r>
              <a:rPr sz="800" i="0">
                <a:solidFill>
                  <a:srgbClr val="E6EDF3"/>
                </a:solidFill>
                <a:latin typeface="Inconsolata"/>
              </a:rPr>
              <a:t>) -&gt; </a:t>
            </a:r>
            <a:r>
              <a:rPr sz="800" i="0">
                <a:solidFill>
                  <a:srgbClr val="7FDBCA"/>
                </a:solidFill>
                <a:latin typeface="Inconsolata"/>
              </a:rPr>
              <a:t>Product</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with</a:t>
            </a:r>
            <a:r>
              <a:rPr sz="800" i="0">
                <a:solidFill>
                  <a:srgbClr val="E6EDF3"/>
                </a:solidFill>
                <a:latin typeface="Inconsolata"/>
              </a:rPr>
              <a:t> </a:t>
            </a:r>
            <a:r>
              <a:rPr sz="800" i="0">
                <a:solidFill>
                  <a:srgbClr val="C3A6FF"/>
                </a:solidFill>
                <a:latin typeface="Inconsolata"/>
              </a:rPr>
              <a:t>self</a:t>
            </a:r>
            <a:r>
              <a:rPr sz="800" i="0">
                <a:solidFill>
                  <a:srgbClr val="E6EDF3"/>
                </a:solidFill>
                <a:latin typeface="Inconsolata"/>
              </a:rPr>
              <a:t>.uow:</a:t>
            </a:r>
          </a:p>
          <a:p>
            <a:pPr>
              <a:lnSpc>
                <a:spcPct val="104167"/>
              </a:lnSpc>
              <a:spcAft>
                <a:spcPts val="0"/>
              </a:spcAft>
            </a:pPr>
            <a:r>
              <a:rPr sz="800" i="0">
                <a:solidFill>
                  <a:srgbClr val="E6EDF3"/>
                </a:solidFill>
                <a:latin typeface="Inconsolata"/>
              </a:rPr>
              <a:t>            product = </a:t>
            </a:r>
            <a:r>
              <a:rPr sz="800" i="0">
                <a:solidFill>
                  <a:srgbClr val="C3A6FF"/>
                </a:solidFill>
                <a:latin typeface="Inconsolata"/>
              </a:rPr>
              <a:t>self</a:t>
            </a:r>
            <a:r>
              <a:rPr sz="800" i="0">
                <a:solidFill>
                  <a:srgbClr val="E6EDF3"/>
                </a:solidFill>
                <a:latin typeface="Inconsolata"/>
              </a:rPr>
              <a:t>.uow.products.get(product_id)</a:t>
            </a:r>
          </a:p>
          <a:p>
            <a:pPr>
              <a:lnSpc>
                <a:spcPct val="104167"/>
              </a:lnSpc>
              <a:spcAft>
                <a:spcPts val="0"/>
              </a:spcAft>
            </a:pPr>
            <a:r>
              <a:rPr sz="800" i="0">
                <a:solidFill>
                  <a:srgbClr val="E6EDF3"/>
                </a:solidFill>
                <a:latin typeface="Inconsolata"/>
              </a:rPr>
              <a:t>        </a:t>
            </a:r>
            <a:r>
              <a:rPr sz="800" i="0">
                <a:solidFill>
                  <a:srgbClr val="FF8E6E"/>
                </a:solidFill>
                <a:latin typeface="Inconsolata"/>
              </a:rPr>
              <a:t>if</a:t>
            </a:r>
            <a:r>
              <a:rPr sz="800" i="0">
                <a:solidFill>
                  <a:srgbClr val="E6EDF3"/>
                </a:solidFill>
                <a:latin typeface="Inconsolata"/>
              </a:rPr>
              <a:t> product </a:t>
            </a:r>
            <a:r>
              <a:rPr sz="800" i="0">
                <a:solidFill>
                  <a:srgbClr val="FF8E6E"/>
                </a:solidFill>
                <a:latin typeface="Inconsolata"/>
              </a:rPr>
              <a:t>is</a:t>
            </a:r>
            <a:r>
              <a:rPr sz="800" i="0">
                <a:solidFill>
                  <a:srgbClr val="E6EDF3"/>
                </a:solidFill>
                <a:latin typeface="Inconsolata"/>
              </a:rPr>
              <a:t> </a:t>
            </a:r>
            <a:r>
              <a:rPr sz="800" i="0">
                <a:solidFill>
                  <a:srgbClr val="FF8E6E"/>
                </a:solidFill>
                <a:latin typeface="Inconsolata"/>
              </a:rPr>
              <a:t>None</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raise</a:t>
            </a:r>
            <a:r>
              <a:rPr sz="800" i="0">
                <a:solidFill>
                  <a:srgbClr val="E6EDF3"/>
                </a:solidFill>
                <a:latin typeface="Inconsolata"/>
              </a:rPr>
              <a:t> </a:t>
            </a:r>
            <a:r>
              <a:rPr sz="800" i="0">
                <a:solidFill>
                  <a:srgbClr val="7FDBCA"/>
                </a:solidFill>
                <a:latin typeface="Inconsolata"/>
              </a:rPr>
              <a:t>ProductNotFound</a:t>
            </a:r>
            <a:r>
              <a:rPr sz="800" i="0">
                <a:solidFill>
                  <a:srgbClr val="E6EDF3"/>
                </a:solidFill>
                <a:latin typeface="Inconsolata"/>
              </a:rPr>
              <a:t>(</a:t>
            </a:r>
            <a:r>
              <a:rPr sz="800" i="0">
                <a:solidFill>
                  <a:srgbClr val="A5D6A7"/>
                </a:solidFill>
                <a:latin typeface="Inconsolata"/>
              </a:rPr>
              <a:t>f"Product #{product_id} tidak ditemukan"</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FF8E6E"/>
                </a:solidFill>
                <a:latin typeface="Inconsolata"/>
              </a:rPr>
              <a:t>return</a:t>
            </a:r>
            <a:r>
              <a:rPr sz="800" i="0">
                <a:solidFill>
                  <a:srgbClr val="E6EDF3"/>
                </a:solidFill>
                <a:latin typeface="Inconsolata"/>
              </a:rPr>
              <a:t> product</a:t>
            </a:r>
          </a:p>
          <a:p>
            <a:pPr>
              <a:lnSpc>
                <a:spcPct val="104167"/>
              </a:lnSpc>
              <a:spcAft>
                <a:spcPts val="0"/>
              </a:spcAft>
            </a:pPr>
            <a:r>
              <a:rPr sz="800" i="0">
                <a:solidFill>
                  <a:srgbClr val="E6EDF3"/>
                </a:solidFill>
                <a:latin typeface="Inconsolata"/>
              </a:rPr>
              <a:t> </a:t>
            </a:r>
          </a:p>
          <a:p>
            <a:pPr>
              <a:lnSpc>
                <a:spcPct val="104167"/>
              </a:lnSpc>
              <a:spcAft>
                <a:spcPts val="0"/>
              </a:spcAft>
            </a:pPr>
            <a:r>
              <a:rPr sz="800" i="1">
                <a:solidFill>
                  <a:srgbClr val="8B98A8"/>
                </a:solidFill>
                <a:latin typeface="Inconsolata"/>
              </a:rPr>
              <a:t># api/routers/orders.py</a:t>
            </a:r>
          </a:p>
          <a:p>
            <a:pPr>
              <a:lnSpc>
                <a:spcPct val="104167"/>
              </a:lnSpc>
              <a:spcAft>
                <a:spcPts val="0"/>
              </a:spcAft>
            </a:pPr>
            <a:r>
              <a:rPr sz="800" i="0">
                <a:solidFill>
                  <a:srgbClr val="E6EDF3"/>
                </a:solidFill>
                <a:latin typeface="Inconsolata"/>
              </a:rPr>
              <a:t>router = </a:t>
            </a:r>
            <a:r>
              <a:rPr sz="800" i="0">
                <a:solidFill>
                  <a:srgbClr val="7FDBCA"/>
                </a:solidFill>
                <a:latin typeface="Inconsolata"/>
              </a:rPr>
              <a:t>APIRouter</a:t>
            </a:r>
            <a:r>
              <a:rPr sz="800" i="0">
                <a:solidFill>
                  <a:srgbClr val="E6EDF3"/>
                </a:solidFill>
                <a:latin typeface="Inconsolata"/>
              </a:rPr>
              <a:t>(prefix=</a:t>
            </a:r>
            <a:r>
              <a:rPr sz="800" i="0">
                <a:solidFill>
                  <a:srgbClr val="A5D6A7"/>
                </a:solidFill>
                <a:latin typeface="Inconsolata"/>
              </a:rPr>
              <a:t>"/orders"</a:t>
            </a:r>
            <a:r>
              <a:rPr sz="800" i="0">
                <a:solidFill>
                  <a:srgbClr val="E6EDF3"/>
                </a:solidFill>
                <a:latin typeface="Inconsolata"/>
              </a:rPr>
              <a:t>, tags=[</a:t>
            </a:r>
            <a:r>
              <a:rPr sz="800" i="0">
                <a:solidFill>
                  <a:srgbClr val="A5D6A7"/>
                </a:solidFill>
                <a:latin typeface="Inconsolata"/>
              </a:rPr>
              <a:t>"orders"</a:t>
            </a:r>
            <a:r>
              <a:rPr sz="800" i="0">
                <a:solidFill>
                  <a:srgbClr val="E6EDF3"/>
                </a:solidFill>
                <a:latin typeface="Inconsolata"/>
              </a:rPr>
              <a:t>])</a:t>
            </a:r>
          </a:p>
        </p:txBody>
      </p:sp>
      <p:sp>
        <p:nvSpPr>
          <p:cNvPr id="29" name="Box 12"/>
          <p:cNvSpPr/>
          <p:nvPr/>
        </p:nvSpPr>
        <p:spPr>
          <a:xfrm>
            <a:off x="704088" y="2081022"/>
            <a:ext cx="4956048"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541264" y="20853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478022"/>
            <a:ext cx="4956048"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541264" y="3418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5897879" y="1481328"/>
            <a:ext cx="2587752" cy="3218688"/>
          </a:xfrm>
          <a:prstGeom prst="roundRect">
            <a:avLst>
              <a:gd name="adj" fmla="val 424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035040" y="1572768"/>
            <a:ext cx="231343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5" name="Text 18"/>
          <p:cNvSpPr txBox="1"/>
          <p:nvPr/>
        </p:nvSpPr>
        <p:spPr>
          <a:xfrm>
            <a:off x="6035040" y="1892808"/>
            <a:ext cx="231343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request produk selalu query database, walaupun datanya sama</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Tidak ada batas request: satu client bisa mengirim ratusan request ke </a:t>
            </a:r>
            <a:r>
              <a:rPr sz="950" b="0" i="0">
                <a:solidFill>
                  <a:srgbClr val="B5482A"/>
                </a:solidFill>
                <a:latin typeface="Inconsolata"/>
              </a:rPr>
              <a:t>POST /orders</a:t>
            </a:r>
            <a:r>
              <a:rPr sz="950" b="0" i="0">
                <a:solidFill>
                  <a:srgbClr val="434343"/>
                </a:solidFill>
                <a:latin typeface="Inter"/>
              </a:rPr>
              <a:t> dan </a:t>
            </a:r>
            <a:r>
              <a:rPr sz="950" b="0" i="0">
                <a:solidFill>
                  <a:srgbClr val="B5482A"/>
                </a:solidFill>
                <a:latin typeface="Inconsolata"/>
              </a:rPr>
              <a:t>/reports</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Belum ada angka latency untuk dibandingkan</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Kode inilah yang kita kembangkan di hands-on.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mulai dari 07-cache-rate-limit/before/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100" b="1" i="0">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Detail dan daftar produk memakai cache-aside dengan TTL</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Cache key punya namespace dan versi, di satu tempat</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Order dan cancel menghapus cache produk, setelah commit</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Order yang gagal tidak menghapus cache</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Orders dan reports dibatasi rate limit, lewat batas 429</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Header </a:t>
            </a:r>
            <a:r>
              <a:rPr sz="950" b="0" i="0">
                <a:solidFill>
                  <a:srgbClr val="B5482A"/>
                </a:solidFill>
                <a:latin typeface="Inconsolata"/>
              </a:rPr>
              <a:t>X-RateLimit-Limit</a:t>
            </a:r>
            <a:r>
              <a:rPr sz="950" b="0" i="0">
                <a:solidFill>
                  <a:srgbClr val="434343"/>
                </a:solidFill>
                <a:latin typeface="Inter"/>
              </a:rPr>
              <a:t> dan </a:t>
            </a:r>
            <a:r>
              <a:rPr sz="950" b="0" i="0">
                <a:solidFill>
                  <a:srgbClr val="B5482A"/>
                </a:solidFill>
                <a:latin typeface="Inconsolata"/>
              </a:rPr>
              <a:t>X-RateLimit-Remaining</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benchmark.py</a:t>
            </a:r>
            <a:r>
              <a:rPr sz="950" b="0" i="0">
                <a:solidFill>
                  <a:srgbClr val="434343"/>
                </a:solidFill>
                <a:latin typeface="Inter"/>
              </a:rPr>
              <a:t> membandingkan latency, </a:t>
            </a:r>
            <a:r>
              <a:rPr sz="950" b="0" i="0">
                <a:solidFill>
                  <a:srgbClr val="B5482A"/>
                </a:solidFill>
                <a:latin typeface="Inconsolata"/>
              </a:rPr>
              <a:t>pytest</a:t>
            </a:r>
            <a:r>
              <a:rPr sz="950" b="0" i="0">
                <a:solidFill>
                  <a:srgbClr val="434343"/>
                </a:solidFill>
                <a:latin typeface="Inter"/>
              </a:rPr>
              <a:t> hijau</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11"/>
          <p:cNvSpPr txBox="1"/>
          <p:nvPr/>
        </p:nvSpPr>
        <p:spPr>
          <a:xfrm>
            <a:off x="5166359" y="1490472"/>
            <a:ext cx="322783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target struktur</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 14"/>
          <p:cNvSpPr txBox="1"/>
          <p:nvPr/>
        </p:nvSpPr>
        <p:spPr>
          <a:xfrm>
            <a:off x="4617720" y="1719072"/>
            <a:ext cx="3867912" cy="2980944"/>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latihan/</a:t>
            </a:r>
          </a:p>
          <a:p>
            <a:pPr>
              <a:lnSpc>
                <a:spcPct val="111111"/>
              </a:lnSpc>
              <a:spcAft>
                <a:spcPts val="0"/>
              </a:spcAft>
            </a:pPr>
            <a:r>
              <a:rPr sz="750" i="0">
                <a:solidFill>
                  <a:srgbClr val="E6EDF3"/>
                </a:solidFill>
                <a:latin typeface="Inconsolata"/>
              </a:rPr>
              <a:t>  app/</a:t>
            </a:r>
          </a:p>
          <a:p>
            <a:pPr>
              <a:lnSpc>
                <a:spcPct val="111111"/>
              </a:lnSpc>
              <a:spcAft>
                <a:spcPts val="0"/>
              </a:spcAft>
            </a:pPr>
            <a:r>
              <a:rPr sz="750" i="0">
                <a:solidFill>
                  <a:srgbClr val="E6EDF3"/>
                </a:solidFill>
                <a:latin typeface="Inconsolata"/>
              </a:rPr>
              <a:t>    infrastructure/</a:t>
            </a:r>
          </a:p>
          <a:p>
            <a:pPr>
              <a:lnSpc>
                <a:spcPct val="111111"/>
              </a:lnSpc>
              <a:spcAft>
                <a:spcPts val="0"/>
              </a:spcAft>
            </a:pPr>
            <a:r>
              <a:rPr sz="750" i="0">
                <a:solidFill>
                  <a:srgbClr val="E6EDF3"/>
                </a:solidFill>
                <a:latin typeface="Inconsolata"/>
              </a:rPr>
              <a:t>      config.py         # langkah 2</a:t>
            </a:r>
          </a:p>
          <a:p>
            <a:pPr>
              <a:lnSpc>
                <a:spcPct val="111111"/>
              </a:lnSpc>
              <a:spcAft>
                <a:spcPts val="0"/>
              </a:spcAft>
            </a:pPr>
            <a:r>
              <a:rPr sz="750" i="0">
                <a:solidFill>
                  <a:srgbClr val="E6EDF3"/>
                </a:solidFill>
                <a:latin typeface="Inconsolata"/>
              </a:rPr>
              <a:t>      redis_client.py   # langkah 2</a:t>
            </a:r>
          </a:p>
          <a:p>
            <a:pPr>
              <a:lnSpc>
                <a:spcPct val="111111"/>
              </a:lnSpc>
              <a:spcAft>
                <a:spcPts val="0"/>
              </a:spcAft>
            </a:pPr>
            <a:r>
              <a:rPr sz="750" i="0">
                <a:solidFill>
                  <a:srgbClr val="E6EDF3"/>
                </a:solidFill>
                <a:latin typeface="Inconsolata"/>
              </a:rPr>
              <a:t>      cache.py          # langkah 4</a:t>
            </a:r>
          </a:p>
          <a:p>
            <a:pPr>
              <a:lnSpc>
                <a:spcPct val="111111"/>
              </a:lnSpc>
              <a:spcAft>
                <a:spcPts val="0"/>
              </a:spcAft>
            </a:pPr>
            <a:r>
              <a:rPr sz="750" i="0">
                <a:solidFill>
                  <a:srgbClr val="E6EDF3"/>
                </a:solidFill>
                <a:latin typeface="Inconsolata"/>
              </a:rPr>
              <a:t>      repositories.py   # langkah 6</a:t>
            </a:r>
          </a:p>
          <a:p>
            <a:pPr>
              <a:lnSpc>
                <a:spcPct val="111111"/>
              </a:lnSpc>
              <a:spcAft>
                <a:spcPts val="0"/>
              </a:spcAft>
            </a:pPr>
            <a:r>
              <a:rPr sz="750" i="0">
                <a:solidFill>
                  <a:srgbClr val="E6EDF3"/>
                </a:solidFill>
                <a:latin typeface="Inconsolata"/>
              </a:rPr>
              <a:t>      unit_of_work.py   # langkah 6</a:t>
            </a:r>
          </a:p>
          <a:p>
            <a:pPr>
              <a:lnSpc>
                <a:spcPct val="111111"/>
              </a:lnSpc>
              <a:spcAft>
                <a:spcPts val="0"/>
              </a:spcAft>
            </a:pPr>
            <a:r>
              <a:rPr sz="750" i="0">
                <a:solidFill>
                  <a:srgbClr val="E6EDF3"/>
                </a:solidFill>
                <a:latin typeface="Inconsolata"/>
              </a:rPr>
              <a:t>      rate_limiter.py   # langkah 7</a:t>
            </a:r>
          </a:p>
          <a:p>
            <a:pPr>
              <a:lnSpc>
                <a:spcPct val="111111"/>
              </a:lnSpc>
              <a:spcAft>
                <a:spcPts val="0"/>
              </a:spcAft>
            </a:pPr>
            <a:r>
              <a:rPr sz="750" i="0">
                <a:solidFill>
                  <a:srgbClr val="E6EDF3"/>
                </a:solidFill>
                <a:latin typeface="Inconsolata"/>
              </a:rPr>
              <a:t>    application/</a:t>
            </a:r>
          </a:p>
          <a:p>
            <a:pPr>
              <a:lnSpc>
                <a:spcPct val="111111"/>
              </a:lnSpc>
              <a:spcAft>
                <a:spcPts val="0"/>
              </a:spcAft>
            </a:pPr>
            <a:r>
              <a:rPr sz="750" i="0">
                <a:solidFill>
                  <a:srgbClr val="E6EDF3"/>
                </a:solidFill>
                <a:latin typeface="Inconsolata"/>
              </a:rPr>
              <a:t>      ports.py          # langkah 3</a:t>
            </a:r>
          </a:p>
          <a:p>
            <a:pPr>
              <a:lnSpc>
                <a:spcPct val="111111"/>
              </a:lnSpc>
              <a:spcAft>
                <a:spcPts val="0"/>
              </a:spcAft>
            </a:pPr>
            <a:r>
              <a:rPr sz="750" i="0">
                <a:solidFill>
                  <a:srgbClr val="E6EDF3"/>
                </a:solidFill>
                <a:latin typeface="Inconsolata"/>
              </a:rPr>
              <a:t>      cache_keys.py     # langkah 3</a:t>
            </a:r>
          </a:p>
          <a:p>
            <a:pPr>
              <a:lnSpc>
                <a:spcPct val="111111"/>
              </a:lnSpc>
              <a:spcAft>
                <a:spcPts val="0"/>
              </a:spcAft>
            </a:pPr>
            <a:r>
              <a:rPr sz="750" i="0">
                <a:solidFill>
                  <a:srgbClr val="E6EDF3"/>
                </a:solidFill>
                <a:latin typeface="Inconsolata"/>
              </a:rPr>
              <a:t>      product_service.py # langkah 5</a:t>
            </a:r>
          </a:p>
          <a:p>
            <a:pPr>
              <a:lnSpc>
                <a:spcPct val="111111"/>
              </a:lnSpc>
              <a:spcAft>
                <a:spcPts val="0"/>
              </a:spcAft>
            </a:pPr>
            <a:r>
              <a:rPr sz="750" i="0">
                <a:solidFill>
                  <a:srgbClr val="E6EDF3"/>
                </a:solidFill>
                <a:latin typeface="Inconsolata"/>
              </a:rPr>
              <a:t>    api/</a:t>
            </a:r>
          </a:p>
          <a:p>
            <a:pPr>
              <a:lnSpc>
                <a:spcPct val="111111"/>
              </a:lnSpc>
              <a:spcAft>
                <a:spcPts val="0"/>
              </a:spcAft>
            </a:pPr>
            <a:r>
              <a:rPr sz="750" i="0">
                <a:solidFill>
                  <a:srgbClr val="E6EDF3"/>
                </a:solidFill>
                <a:latin typeface="Inconsolata"/>
              </a:rPr>
              <a:t>      errors.py         # langkah 8</a:t>
            </a:r>
          </a:p>
          <a:p>
            <a:pPr>
              <a:lnSpc>
                <a:spcPct val="111111"/>
              </a:lnSpc>
              <a:spcAft>
                <a:spcPts val="0"/>
              </a:spcAft>
            </a:pPr>
            <a:r>
              <a:rPr sz="750" i="0">
                <a:solidFill>
                  <a:srgbClr val="E6EDF3"/>
                </a:solidFill>
                <a:latin typeface="Inconsolata"/>
              </a:rPr>
              <a:t>      rate_limit.py     # langkah 8</a:t>
            </a:r>
          </a:p>
          <a:p>
            <a:pPr>
              <a:lnSpc>
                <a:spcPct val="111111"/>
              </a:lnSpc>
              <a:spcAft>
                <a:spcPts val="0"/>
              </a:spcAft>
            </a:pPr>
            <a:r>
              <a:rPr sz="750" i="0">
                <a:solidFill>
                  <a:srgbClr val="E6EDF3"/>
                </a:solidFill>
                <a:latin typeface="Inconsolata"/>
              </a:rPr>
              <a:t>  tests/                # langkah 10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Siapkan folder latihan dan jalankan kode awal</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519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892040" cy="2980944"/>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sesi-06-redis-caching-rate-limiting</a:t>
            </a:r>
          </a:p>
          <a:p>
            <a:pPr>
              <a:lnSpc>
                <a:spcPct val="107843"/>
              </a:lnSpc>
              <a:spcAft>
                <a:spcPts val="0"/>
              </a:spcAft>
            </a:pPr>
            <a:r>
              <a:rPr sz="850" i="0">
                <a:solidFill>
                  <a:srgbClr val="82B1FF"/>
                </a:solidFill>
                <a:latin typeface="Inconsolata"/>
              </a:rPr>
              <a:t>$ pip install -r requirements.txt</a:t>
            </a:r>
          </a:p>
          <a:p>
            <a:pPr>
              <a:lnSpc>
                <a:spcPct val="107843"/>
              </a:lnSpc>
              <a:spcAft>
                <a:spcPts val="0"/>
              </a:spcAft>
            </a:pPr>
            <a:r>
              <a:rPr sz="850" i="0">
                <a:solidFill>
                  <a:srgbClr val="82B1FF"/>
                </a:solidFill>
                <a:latin typeface="Inconsolata"/>
              </a:rPr>
              <a:t>$ docker compose up -d                # Redis</a:t>
            </a:r>
          </a:p>
          <a:p>
            <a:pPr>
              <a:lnSpc>
                <a:spcPct val="107843"/>
              </a:lnSpc>
              <a:spcAft>
                <a:spcPts val="0"/>
              </a:spcAft>
            </a:pPr>
            <a:r>
              <a:rPr sz="850" i="0">
                <a:solidFill>
                  <a:srgbClr val="82B1FF"/>
                </a:solidFill>
                <a:latin typeface="Inconsolata"/>
              </a:rPr>
              <a:t>$ cd 07-cache-rate-limit</a:t>
            </a:r>
          </a:p>
          <a:p>
            <a:pPr>
              <a:lnSpc>
                <a:spcPct val="107843"/>
              </a:lnSpc>
              <a:spcAft>
                <a:spcPts val="0"/>
              </a:spcAft>
            </a:pPr>
            <a:r>
              <a:rPr sz="850" i="0">
                <a:solidFill>
                  <a:srgbClr val="82B1FF"/>
                </a:solidFill>
                <a:latin typeface="Inconsolata"/>
              </a:rPr>
              <a:t>$ cp -r before latihan</a:t>
            </a:r>
          </a:p>
          <a:p>
            <a:pPr>
              <a:lnSpc>
                <a:spcPct val="107843"/>
              </a:lnSpc>
              <a:spcAft>
                <a:spcPts val="0"/>
              </a:spcAft>
            </a:pPr>
            <a:r>
              <a:rPr sz="850" i="0">
                <a:solidFill>
                  <a:srgbClr val="82B1FF"/>
                </a:solidFill>
                <a:latin typeface="Inconsolata"/>
              </a:rPr>
              <a:t>$ cd latihan</a:t>
            </a:r>
          </a:p>
          <a:p>
            <a:pPr>
              <a:lnSpc>
                <a:spcPct val="107843"/>
              </a:lnSpc>
              <a:spcAft>
                <a:spcPts val="0"/>
              </a:spcAft>
            </a:pPr>
            <a:r>
              <a:rPr sz="850" i="0">
                <a:solidFill>
                  <a:srgbClr val="82B1FF"/>
                </a:solidFill>
                <a:latin typeface="Inconsolata"/>
              </a:rPr>
              <a:t>$ uvicorn app.main:app --reload</a:t>
            </a:r>
          </a:p>
          <a:p>
            <a:pPr>
              <a:lnSpc>
                <a:spcPct val="107843"/>
              </a:lnSpc>
              <a:spcAft>
                <a:spcPts val="0"/>
              </a:spcAft>
            </a:pPr>
            <a:endParaRPr sz="850" i="0">
              <a:solidFill>
                <a:srgbClr val="82B1FF"/>
              </a:solidFill>
              <a:latin typeface="Inconsolata"/>
            </a:endParaRPr>
          </a:p>
          <a:p>
            <a:pPr>
              <a:lnSpc>
                <a:spcPct val="107843"/>
              </a:lnSpc>
              <a:spcAft>
                <a:spcPts val="0"/>
              </a:spcAft>
            </a:pPr>
            <a:r>
              <a:rPr sz="850" i="1">
                <a:solidFill>
                  <a:srgbClr val="8B98A8"/>
                </a:solidFill>
                <a:latin typeface="Inconsolata"/>
              </a:rPr>
              <a:t># buka http://127.0.0.1:8000/docs</a:t>
            </a:r>
          </a:p>
          <a:p>
            <a:pPr>
              <a:lnSpc>
                <a:spcPct val="107843"/>
              </a:lnSpc>
              <a:spcAft>
                <a:spcPts val="0"/>
              </a:spcAft>
            </a:pPr>
            <a:r>
              <a:rPr sz="850" i="1">
                <a:solidFill>
                  <a:srgbClr val="8B98A8"/>
                </a:solidFill>
                <a:latin typeface="Inconsolata"/>
              </a:rPr>
              <a:t># POST /products -&gt; Keyboard, price 500000, stock 5</a:t>
            </a:r>
          </a:p>
          <a:p>
            <a:pPr>
              <a:lnSpc>
                <a:spcPct val="107843"/>
              </a:lnSpc>
              <a:spcAft>
                <a:spcPts val="0"/>
              </a:spcAft>
            </a:pPr>
            <a:r>
              <a:rPr sz="850" i="1">
                <a:solidFill>
                  <a:srgbClr val="8B98A8"/>
                </a:solidFill>
                <a:latin typeface="Inconsolata"/>
              </a:rPr>
              <a:t># GET /products/1 beberapa kali</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Text 13"/>
          <p:cNvSpPr txBox="1"/>
          <p:nvPr/>
        </p:nvSpPr>
        <p:spPr>
          <a:xfrm>
            <a:off x="5806440" y="157276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Install dependency (</a:t>
            </a:r>
            <a:r>
              <a:rPr sz="900" b="0" i="0">
                <a:solidFill>
                  <a:srgbClr val="B5482A"/>
                </a:solidFill>
                <a:latin typeface="Inconsolata"/>
              </a:rPr>
              <a:t>redis</a:t>
            </a:r>
            <a:r>
              <a:rPr sz="900" b="0" i="0">
                <a:solidFill>
                  <a:srgbClr val="434343"/>
                </a:solidFill>
                <a:latin typeface="Inter"/>
              </a:rPr>
              <a:t> dan </a:t>
            </a:r>
            <a:r>
              <a:rPr sz="900" b="0" i="0">
                <a:solidFill>
                  <a:srgbClr val="B5482A"/>
                </a:solidFill>
                <a:latin typeface="Inconsolata"/>
              </a:rPr>
              <a:t>fakeredis</a:t>
            </a:r>
            <a:r>
              <a:rPr sz="900" b="0" i="0">
                <a:solidFill>
                  <a:srgbClr val="434343"/>
                </a:solidFill>
                <a:latin typeface="Inter"/>
              </a:rPr>
              <a:t> sudah ada di </a:t>
            </a:r>
            <a:r>
              <a:rPr sz="900" b="0" i="0">
                <a:solidFill>
                  <a:srgbClr val="B5482A"/>
                </a:solidFill>
                <a:latin typeface="Inconsolata"/>
              </a:rPr>
              <a:t>requirements.txt</a:t>
            </a:r>
            <a:r>
              <a:rPr sz="90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Jalankan Redis dengan Docker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Salin </a:t>
            </a:r>
            <a:r>
              <a:rPr sz="900" b="0" i="0">
                <a:solidFill>
                  <a:srgbClr val="B5482A"/>
                </a:solidFill>
                <a:latin typeface="Inconsolata"/>
              </a:rPr>
              <a:t>before/</a:t>
            </a:r>
            <a:r>
              <a:rPr sz="900" b="0" i="0">
                <a:solidFill>
                  <a:srgbClr val="434343"/>
                </a:solidFill>
                <a:latin typeface="Inter"/>
              </a:rPr>
              <a:t> jadi </a:t>
            </a:r>
            <a:r>
              <a:rPr sz="900" b="0" i="0">
                <a:solidFill>
                  <a:srgbClr val="B5482A"/>
                </a:solidFill>
                <a:latin typeface="Inconsolata"/>
              </a:rPr>
              <a:t>latihan/</a:t>
            </a:r>
            <a:r>
              <a:rPr sz="900" b="0" i="0">
                <a:solidFill>
                  <a:srgbClr val="434343"/>
                </a:solidFill>
                <a:latin typeface="Inter"/>
              </a:rPr>
              <a:t>, jalankan, lalu coba endpoint produk dan order</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06440" y="381304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Setiap </a:t>
            </a:r>
            <a:r>
              <a:rPr sz="900" b="0" i="0">
                <a:solidFill>
                  <a:srgbClr val="B5482A"/>
                </a:solidFill>
                <a:latin typeface="Inconsolata"/>
              </a:rPr>
              <a:t>GET /products/1</a:t>
            </a:r>
            <a:r>
              <a:rPr sz="900" b="0" i="0">
                <a:solidFill>
                  <a:srgbClr val="434343"/>
                </a:solidFill>
                <a:latin typeface="Inter"/>
              </a:rPr>
              <a:t> selalu query ke database.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2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Config Redis dan koneksinya</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infrastructure/config.py  +  redis_client.py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app/infrastructure/config.py</a:t>
            </a:r>
          </a:p>
          <a:p>
            <a:pPr>
              <a:lnSpc>
                <a:spcPct val="107143"/>
              </a:lnSpc>
              <a:spcAft>
                <a:spcPts val="0"/>
              </a:spcAft>
            </a:pPr>
            <a:r>
              <a:rPr sz="700" i="0">
                <a:solidFill>
                  <a:srgbClr val="F9C97A"/>
                </a:solidFill>
                <a:latin typeface="Inconsolata"/>
              </a:rPr>
              <a:t>@dataclass</a:t>
            </a:r>
            <a:r>
              <a:rPr sz="700" i="0">
                <a:solidFill>
                  <a:srgbClr val="E6EDF3"/>
                </a:solidFill>
                <a:latin typeface="Inconsolata"/>
              </a:rPr>
              <a:t>(frozen=</a:t>
            </a:r>
            <a:r>
              <a:rPr sz="700" i="0">
                <a:solidFill>
                  <a:srgbClr val="FF8E6E"/>
                </a:solidFill>
                <a:latin typeface="Inconsolata"/>
              </a:rPr>
              <a:t>True</a:t>
            </a:r>
            <a:r>
              <a:rPr sz="700" i="0">
                <a:solidFill>
                  <a:srgbClr val="E6EDF3"/>
                </a:solidFill>
                <a:latin typeface="Inconsolata"/>
              </a:rPr>
              <a:t>)</a:t>
            </a:r>
          </a:p>
          <a:p>
            <a:pPr>
              <a:lnSpc>
                <a:spcPct val="107143"/>
              </a:lnSpc>
              <a:spcAft>
                <a:spcPts val="0"/>
              </a:spcAft>
            </a:pP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Settings</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E6EDF3"/>
                </a:solidFill>
                <a:latin typeface="Inconsolata"/>
              </a:rPr>
              <a:t>    redis_url: </a:t>
            </a:r>
            <a:r>
              <a:rPr sz="700" i="0">
                <a:solidFill>
                  <a:srgbClr val="C3A6FF"/>
                </a:solidFill>
                <a:latin typeface="Inconsolata"/>
              </a:rPr>
              <a:t>str</a:t>
            </a:r>
            <a:r>
              <a:rPr sz="700" i="0">
                <a:solidFill>
                  <a:srgbClr val="E6EDF3"/>
                </a:solidFill>
                <a:latin typeface="Inconsolata"/>
              </a:rPr>
              <a:t>                    </a:t>
            </a:r>
            <a:r>
              <a:rPr sz="700" i="1">
                <a:solidFill>
                  <a:srgbClr val="8B98A8"/>
                </a:solidFill>
                <a:latin typeface="Inconsolata"/>
              </a:rPr>
              <a:t># Redis untuk cache dan rate limiter</a:t>
            </a:r>
          </a:p>
          <a:p>
            <a:pPr>
              <a:lnSpc>
                <a:spcPct val="107143"/>
              </a:lnSpc>
              <a:spcAft>
                <a:spcPts val="0"/>
              </a:spcAft>
            </a:pPr>
            <a:r>
              <a:rPr sz="700" i="0">
                <a:solidFill>
                  <a:srgbClr val="E6EDF3"/>
                </a:solidFill>
                <a:latin typeface="Inconsolata"/>
              </a:rPr>
              <a:t>    cache_ttl: </a:t>
            </a:r>
            <a:r>
              <a:rPr sz="700" i="0">
                <a:solidFill>
                  <a:srgbClr val="C3A6FF"/>
                </a:solidFill>
                <a:latin typeface="Inconsolata"/>
              </a:rPr>
              <a:t>int</a:t>
            </a:r>
            <a:r>
              <a:rPr sz="700" i="0">
                <a:solidFill>
                  <a:srgbClr val="E6EDF3"/>
                </a:solidFill>
                <a:latin typeface="Inconsolata"/>
              </a:rPr>
              <a:t>                    </a:t>
            </a:r>
            <a:r>
              <a:rPr sz="700" i="1">
                <a:solidFill>
                  <a:srgbClr val="8B98A8"/>
                </a:solidFill>
                <a:latin typeface="Inconsolata"/>
              </a:rPr>
              <a:t># detik</a:t>
            </a:r>
          </a:p>
          <a:p>
            <a:pPr>
              <a:lnSpc>
                <a:spcPct val="107143"/>
              </a:lnSpc>
              <a:spcAft>
                <a:spcPts val="0"/>
              </a:spcAft>
            </a:pPr>
            <a:r>
              <a:rPr sz="700" i="0">
                <a:solidFill>
                  <a:srgbClr val="E6EDF3"/>
                </a:solidFill>
                <a:latin typeface="Inconsolata"/>
              </a:rPr>
              <a:t>    rate_limit: </a:t>
            </a:r>
            <a:r>
              <a:rPr sz="700" i="0">
                <a:solidFill>
                  <a:srgbClr val="C3A6FF"/>
                </a:solidFill>
                <a:latin typeface="Inconsolata"/>
              </a:rPr>
              <a:t>int</a:t>
            </a:r>
            <a:r>
              <a:rPr sz="700" i="0">
                <a:solidFill>
                  <a:srgbClr val="E6EDF3"/>
                </a:solidFill>
                <a:latin typeface="Inconsolata"/>
              </a:rPr>
              <a:t>                   </a:t>
            </a:r>
            <a:r>
              <a:rPr sz="700" i="1">
                <a:solidFill>
                  <a:srgbClr val="8B98A8"/>
                </a:solidFill>
                <a:latin typeface="Inconsolata"/>
              </a:rPr>
              <a:t># jumlah request per window, per client</a:t>
            </a:r>
          </a:p>
          <a:p>
            <a:pPr>
              <a:lnSpc>
                <a:spcPct val="107143"/>
              </a:lnSpc>
              <a:spcAft>
                <a:spcPts val="0"/>
              </a:spcAft>
            </a:pPr>
            <a:r>
              <a:rPr sz="700" i="0">
                <a:solidFill>
                  <a:srgbClr val="E6EDF3"/>
                </a:solidFill>
                <a:latin typeface="Inconsolata"/>
              </a:rPr>
              <a:t>    rate_limit_window: </a:t>
            </a:r>
            <a:r>
              <a:rPr sz="700" i="0">
                <a:solidFill>
                  <a:srgbClr val="C3A6FF"/>
                </a:solidFill>
                <a:latin typeface="Inconsolata"/>
              </a:rPr>
              <a:t>int</a:t>
            </a:r>
            <a:r>
              <a:rPr sz="700" i="0">
                <a:solidFill>
                  <a:srgbClr val="E6EDF3"/>
                </a:solidFill>
                <a:latin typeface="Inconsolata"/>
              </a:rPr>
              <a:t>            </a:t>
            </a:r>
            <a:r>
              <a:rPr sz="700" i="1">
                <a:solidFill>
                  <a:srgbClr val="8B98A8"/>
                </a:solidFill>
                <a:latin typeface="Inconsolata"/>
              </a:rPr>
              <a:t># detik</a:t>
            </a:r>
          </a:p>
          <a:p>
            <a:pPr>
              <a:lnSpc>
                <a:spcPct val="107143"/>
              </a:lnSpc>
              <a:spcAft>
                <a:spcPts val="0"/>
              </a:spcAft>
            </a:pPr>
            <a:r>
              <a:rPr sz="700" i="0">
                <a:solidFill>
                  <a:srgbClr val="E6EDF3"/>
                </a:solidFill>
                <a:latin typeface="Inconsolata"/>
              </a:rPr>
              <a:t>    query_delay: </a:t>
            </a:r>
            <a:r>
              <a:rPr sz="700" i="0">
                <a:solidFill>
                  <a:srgbClr val="C3A6FF"/>
                </a:solidFill>
                <a:latin typeface="Inconsolata"/>
              </a:rPr>
              <a:t>float</a:t>
            </a:r>
            <a:r>
              <a:rPr sz="700" i="0">
                <a:solidFill>
                  <a:srgbClr val="E6EDF3"/>
                </a:solidFill>
                <a:latin typeface="Inconsolata"/>
              </a:rPr>
              <a:t>                </a:t>
            </a:r>
            <a:r>
              <a:rPr sz="700" i="1">
                <a:solidFill>
                  <a:srgbClr val="8B98A8"/>
                </a:solidFill>
                <a:latin typeface="Inconsolata"/>
              </a:rPr>
              <a:t># simulasi query produk yang berat, dalam detik</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        redis_url=os.getenv(</a:t>
            </a:r>
            <a:r>
              <a:rPr sz="700" i="0">
                <a:solidFill>
                  <a:srgbClr val="A5D6A7"/>
                </a:solidFill>
                <a:latin typeface="Inconsolata"/>
              </a:rPr>
              <a:t>"REDIS_URL"</a:t>
            </a:r>
            <a:r>
              <a:rPr sz="700" i="0">
                <a:solidFill>
                  <a:srgbClr val="E6EDF3"/>
                </a:solidFill>
                <a:latin typeface="Inconsolata"/>
              </a:rPr>
              <a:t>, </a:t>
            </a:r>
            <a:r>
              <a:rPr sz="700" i="0">
                <a:solidFill>
                  <a:srgbClr val="A5D6A7"/>
                </a:solidFill>
                <a:latin typeface="Inconsolata"/>
              </a:rPr>
              <a:t>"redis://localhost:6379/2"</a:t>
            </a:r>
            <a:r>
              <a:rPr sz="700" i="0">
                <a:solidFill>
                  <a:srgbClr val="E6EDF3"/>
                </a:solidFill>
                <a:latin typeface="Inconsolata"/>
              </a:rPr>
              <a:t>),</a:t>
            </a:r>
          </a:p>
          <a:p>
            <a:pPr>
              <a:lnSpc>
                <a:spcPct val="107143"/>
              </a:lnSpc>
              <a:spcAft>
                <a:spcPts val="0"/>
              </a:spcAft>
            </a:pPr>
            <a:r>
              <a:rPr sz="700" i="0">
                <a:solidFill>
                  <a:srgbClr val="E6EDF3"/>
                </a:solidFill>
                <a:latin typeface="Inconsolata"/>
              </a:rPr>
              <a:t>        cache_ttl=</a:t>
            </a:r>
            <a:r>
              <a:rPr sz="700" i="0">
                <a:solidFill>
                  <a:srgbClr val="C3A6FF"/>
                </a:solidFill>
                <a:latin typeface="Inconsolata"/>
              </a:rPr>
              <a:t>int</a:t>
            </a:r>
            <a:r>
              <a:rPr sz="700" i="0">
                <a:solidFill>
                  <a:srgbClr val="E6EDF3"/>
                </a:solidFill>
                <a:latin typeface="Inconsolata"/>
              </a:rPr>
              <a:t>(os.getenv(</a:t>
            </a:r>
            <a:r>
              <a:rPr sz="700" i="0">
                <a:solidFill>
                  <a:srgbClr val="A5D6A7"/>
                </a:solidFill>
                <a:latin typeface="Inconsolata"/>
              </a:rPr>
              <a:t>"CACHE_TTL"</a:t>
            </a:r>
            <a:r>
              <a:rPr sz="700" i="0">
                <a:solidFill>
                  <a:srgbClr val="E6EDF3"/>
                </a:solidFill>
                <a:latin typeface="Inconsolata"/>
              </a:rPr>
              <a:t>, </a:t>
            </a:r>
            <a:r>
              <a:rPr sz="700" i="0">
                <a:solidFill>
                  <a:srgbClr val="A5D6A7"/>
                </a:solidFill>
                <a:latin typeface="Inconsolata"/>
              </a:rPr>
              <a:t>"60"</a:t>
            </a:r>
            <a:r>
              <a:rPr sz="700" i="0">
                <a:solidFill>
                  <a:srgbClr val="E6EDF3"/>
                </a:solidFill>
                <a:latin typeface="Inconsolata"/>
              </a:rPr>
              <a:t>)),</a:t>
            </a:r>
          </a:p>
          <a:p>
            <a:pPr>
              <a:lnSpc>
                <a:spcPct val="107143"/>
              </a:lnSpc>
              <a:spcAft>
                <a:spcPts val="0"/>
              </a:spcAft>
            </a:pPr>
            <a:r>
              <a:rPr sz="700" i="0">
                <a:solidFill>
                  <a:srgbClr val="E6EDF3"/>
                </a:solidFill>
                <a:latin typeface="Inconsolata"/>
              </a:rPr>
              <a:t>        rate_limit=</a:t>
            </a:r>
            <a:r>
              <a:rPr sz="700" i="0">
                <a:solidFill>
                  <a:srgbClr val="C3A6FF"/>
                </a:solidFill>
                <a:latin typeface="Inconsolata"/>
              </a:rPr>
              <a:t>int</a:t>
            </a:r>
            <a:r>
              <a:rPr sz="700" i="0">
                <a:solidFill>
                  <a:srgbClr val="E6EDF3"/>
                </a:solidFill>
                <a:latin typeface="Inconsolata"/>
              </a:rPr>
              <a:t>(os.getenv(</a:t>
            </a:r>
            <a:r>
              <a:rPr sz="700" i="0">
                <a:solidFill>
                  <a:srgbClr val="A5D6A7"/>
                </a:solidFill>
                <a:latin typeface="Inconsolata"/>
              </a:rPr>
              <a:t>"RATE_LIMIT"</a:t>
            </a:r>
            <a:r>
              <a:rPr sz="700" i="0">
                <a:solidFill>
                  <a:srgbClr val="E6EDF3"/>
                </a:solidFill>
                <a:latin typeface="Inconsolata"/>
              </a:rPr>
              <a:t>, </a:t>
            </a:r>
            <a:r>
              <a:rPr sz="700" i="0">
                <a:solidFill>
                  <a:srgbClr val="A5D6A7"/>
                </a:solidFill>
                <a:latin typeface="Inconsolata"/>
              </a:rPr>
              <a:t>"20"</a:t>
            </a:r>
            <a:r>
              <a:rPr sz="700" i="0">
                <a:solidFill>
                  <a:srgbClr val="E6EDF3"/>
                </a:solidFill>
                <a:latin typeface="Inconsolata"/>
              </a:rPr>
              <a:t>)),</a:t>
            </a:r>
          </a:p>
          <a:p>
            <a:pPr>
              <a:lnSpc>
                <a:spcPct val="107143"/>
              </a:lnSpc>
              <a:spcAft>
                <a:spcPts val="0"/>
              </a:spcAft>
            </a:pPr>
            <a:r>
              <a:rPr sz="700" i="0">
                <a:solidFill>
                  <a:srgbClr val="E6EDF3"/>
                </a:solidFill>
                <a:latin typeface="Inconsolata"/>
              </a:rPr>
              <a:t>        rate_limit_window=</a:t>
            </a:r>
            <a:r>
              <a:rPr sz="700" i="0">
                <a:solidFill>
                  <a:srgbClr val="C3A6FF"/>
                </a:solidFill>
                <a:latin typeface="Inconsolata"/>
              </a:rPr>
              <a:t>int</a:t>
            </a:r>
            <a:r>
              <a:rPr sz="700" i="0">
                <a:solidFill>
                  <a:srgbClr val="E6EDF3"/>
                </a:solidFill>
                <a:latin typeface="Inconsolata"/>
              </a:rPr>
              <a:t>(os.getenv(</a:t>
            </a:r>
            <a:r>
              <a:rPr sz="700" i="0">
                <a:solidFill>
                  <a:srgbClr val="A5D6A7"/>
                </a:solidFill>
                <a:latin typeface="Inconsolata"/>
              </a:rPr>
              <a:t>"RATE_LIMIT_WINDOW"</a:t>
            </a:r>
            <a:r>
              <a:rPr sz="700" i="0">
                <a:solidFill>
                  <a:srgbClr val="E6EDF3"/>
                </a:solidFill>
                <a:latin typeface="Inconsolata"/>
              </a:rPr>
              <a:t>, </a:t>
            </a:r>
            <a:r>
              <a:rPr sz="700" i="0">
                <a:solidFill>
                  <a:srgbClr val="A5D6A7"/>
                </a:solidFill>
                <a:latin typeface="Inconsolata"/>
              </a:rPr>
              <a:t>"60"</a:t>
            </a:r>
            <a:r>
              <a:rPr sz="700" i="0">
                <a:solidFill>
                  <a:srgbClr val="E6EDF3"/>
                </a:solidFill>
                <a:latin typeface="Inconsolata"/>
              </a:rPr>
              <a:t>)),</a:t>
            </a:r>
          </a:p>
          <a:p>
            <a:pPr>
              <a:lnSpc>
                <a:spcPct val="107143"/>
              </a:lnSpc>
              <a:spcAft>
                <a:spcPts val="0"/>
              </a:spcAft>
            </a:pPr>
            <a:r>
              <a:rPr sz="700" i="0">
                <a:solidFill>
                  <a:srgbClr val="E6EDF3"/>
                </a:solidFill>
                <a:latin typeface="Inconsolata"/>
              </a:rPr>
              <a:t>        query_delay=</a:t>
            </a:r>
            <a:r>
              <a:rPr sz="700" i="0">
                <a:solidFill>
                  <a:srgbClr val="C3A6FF"/>
                </a:solidFill>
                <a:latin typeface="Inconsolata"/>
              </a:rPr>
              <a:t>float</a:t>
            </a:r>
            <a:r>
              <a:rPr sz="700" i="0">
                <a:solidFill>
                  <a:srgbClr val="E6EDF3"/>
                </a:solidFill>
                <a:latin typeface="Inconsolata"/>
              </a:rPr>
              <a:t>(os.getenv(</a:t>
            </a:r>
            <a:r>
              <a:rPr sz="700" i="0">
                <a:solidFill>
                  <a:srgbClr val="A5D6A7"/>
                </a:solidFill>
                <a:latin typeface="Inconsolata"/>
              </a:rPr>
              <a:t>"QUERY_DELAY"</a:t>
            </a:r>
            <a:r>
              <a:rPr sz="700" i="0">
                <a:solidFill>
                  <a:srgbClr val="E6EDF3"/>
                </a:solidFill>
                <a:latin typeface="Inconsolata"/>
              </a:rPr>
              <a:t>, </a:t>
            </a:r>
            <a:r>
              <a:rPr sz="700" i="0">
                <a:solidFill>
                  <a:srgbClr val="A5D6A7"/>
                </a:solidFill>
                <a:latin typeface="Inconsolata"/>
              </a:rPr>
              <a:t>"0.2"</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p>
          <a:p>
            <a:pPr>
              <a:lnSpc>
                <a:spcPct val="107143"/>
              </a:lnSpc>
              <a:spcAft>
                <a:spcPts val="0"/>
              </a:spcAft>
            </a:pPr>
            <a:r>
              <a:rPr sz="700" i="1">
                <a:solidFill>
                  <a:srgbClr val="8B98A8"/>
                </a:solidFill>
                <a:latin typeface="Inconsolata"/>
              </a:rPr>
              <a:t># app/infrastructure/redis_client.py</a:t>
            </a:r>
          </a:p>
          <a:p>
            <a:pPr>
              <a:lnSpc>
                <a:spcPct val="107143"/>
              </a:lnSpc>
              <a:spcAft>
                <a:spcPts val="0"/>
              </a:spcAft>
            </a:pPr>
            <a:r>
              <a:rPr sz="700" i="0">
                <a:solidFill>
                  <a:srgbClr val="F9C97A"/>
                </a:solidFill>
                <a:latin typeface="Inconsolata"/>
              </a:rPr>
              <a:t>@lru_cache</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get_redis</a:t>
            </a:r>
            <a:r>
              <a:rPr sz="700" i="0">
                <a:solidFill>
                  <a:srgbClr val="E6EDF3"/>
                </a:solidFill>
                <a:latin typeface="Inconsolata"/>
              </a:rPr>
              <a:t>() -&gt; </a:t>
            </a:r>
            <a:r>
              <a:rPr sz="700" i="0">
                <a:solidFill>
                  <a:srgbClr val="7FDBCA"/>
                </a:solidFill>
                <a:latin typeface="Inconsolata"/>
              </a:rPr>
              <a:t>Redis</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7FDBCA"/>
                </a:solidFill>
                <a:latin typeface="Inconsolata"/>
              </a:rPr>
              <a:t>Redis</a:t>
            </a:r>
            <a:r>
              <a:rPr sz="700" i="0">
                <a:solidFill>
                  <a:srgbClr val="E6EDF3"/>
                </a:solidFill>
                <a:latin typeface="Inconsolata"/>
              </a:rPr>
              <a:t>.from_url(get_settings().redis_url, decode_responses=</a:t>
            </a:r>
            <a:r>
              <a:rPr sz="700" i="0">
                <a:solidFill>
                  <a:srgbClr val="FF8E6E"/>
                </a:solidFill>
                <a:latin typeface="Inconsolata"/>
              </a:rPr>
              <a:t>True</a:t>
            </a:r>
            <a:r>
              <a:rPr sz="700" i="0">
                <a:solidFill>
                  <a:srgbClr val="E6EDF3"/>
                </a:solidFill>
                <a:latin typeface="Inconsolata"/>
              </a:rPr>
              <a:t>)</a:t>
            </a:r>
          </a:p>
        </p:txBody>
      </p:sp>
      <p:sp>
        <p:nvSpPr>
          <p:cNvPr id="29" name="Box 12"/>
          <p:cNvSpPr/>
          <p:nvPr/>
        </p:nvSpPr>
        <p:spPr>
          <a:xfrm>
            <a:off x="704088" y="2282571"/>
            <a:ext cx="5230368" cy="450342"/>
          </a:xfrm>
          <a:prstGeom prst="roundRect">
            <a:avLst>
              <a:gd name="adj" fmla="val 1015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3888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97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6746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882771"/>
            <a:ext cx="5230368" cy="221742"/>
          </a:xfrm>
          <a:prstGeom prst="roundRect">
            <a:avLst>
              <a:gd name="adj" fmla="val 20618"/>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8747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Setting baru: alamat Redis, TTL cache, limit, dan lama window</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query_delay</a:t>
            </a:r>
            <a:r>
              <a:rPr sz="900" b="0" i="0">
                <a:solidFill>
                  <a:srgbClr val="434343"/>
                </a:solidFill>
                <a:latin typeface="Inter"/>
              </a:rPr>
              <a:t>: dipakai di </a:t>
            </a:r>
            <a:r>
              <a:rPr sz="900" b="0" i="0">
                <a:solidFill>
                  <a:srgbClr val="B5482A"/>
                </a:solidFill>
                <a:latin typeface="Inconsolata"/>
              </a:rPr>
              <a:t>get</a:t>
            </a:r>
            <a:r>
              <a:rPr sz="900" b="0" i="0">
                <a:solidFill>
                  <a:srgbClr val="434343"/>
                </a:solidFill>
                <a:latin typeface="Inter"/>
              </a:rPr>
              <a:t> dan </a:t>
            </a:r>
            <a:r>
              <a:rPr sz="900" b="0" i="0">
                <a:solidFill>
                  <a:srgbClr val="B5482A"/>
                </a:solidFill>
                <a:latin typeface="Inconsolata"/>
              </a:rPr>
              <a:t>list</a:t>
            </a:r>
            <a:r>
              <a:rPr sz="900" b="0" i="0">
                <a:solidFill>
                  <a:srgbClr val="434343"/>
                </a:solidFill>
                <a:latin typeface="Inter"/>
              </a:rPr>
              <a:t> repository produk (</a:t>
            </a:r>
            <a:r>
              <a:rPr sz="900" b="0" i="0">
                <a:solidFill>
                  <a:srgbClr val="B5482A"/>
                </a:solidFill>
                <a:latin typeface="Inconsolata"/>
              </a:rPr>
              <a:t>time.sleep</a:t>
            </a:r>
            <a:r>
              <a:rPr sz="900" b="0" i="0">
                <a:solidFill>
                  <a:srgbClr val="434343"/>
                </a:solidFill>
                <a:latin typeface="Inter"/>
              </a:rPr>
              <a:t>) untuk mensimulasikan query yang berat</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get_redis()</a:t>
            </a:r>
            <a:r>
              <a:rPr sz="900" b="0" i="0">
                <a:solidFill>
                  <a:srgbClr val="434343"/>
                </a:solidFill>
                <a:latin typeface="Inter"/>
              </a:rPr>
              <a:t>: satu koneksi Redis untuk seluruh aplikasi (</a:t>
            </a:r>
            <a:r>
              <a:rPr sz="900" b="0" i="0">
                <a:solidFill>
                  <a:srgbClr val="B5482A"/>
                </a:solidFill>
                <a:latin typeface="Inconsolata"/>
              </a:rPr>
              <a:t>@lru_cache</a:t>
            </a:r>
            <a:r>
              <a:rPr sz="900" b="0" i="0">
                <a:solidFill>
                  <a:srgbClr val="434343"/>
                </a:solidFill>
                <a:latin typeface="Inter"/>
              </a:rPr>
              <a:t>)</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Cache memakai Redis database 2, terpisah dari Celery.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3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Port Cache dan nama cache key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application/ports.py  +  cache_keys.py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843"/>
              </a:lnSpc>
              <a:spcAft>
                <a:spcPts val="0"/>
              </a:spcAft>
            </a:pPr>
            <a:r>
              <a:rPr sz="850" i="1">
                <a:solidFill>
                  <a:srgbClr val="8B98A8"/>
                </a:solidFill>
                <a:latin typeface="Inconsolata"/>
              </a:rPr>
              <a:t># app/application/ports.py</a:t>
            </a:r>
          </a:p>
          <a:p>
            <a:pPr>
              <a:lnSpc>
                <a:spcPct val="107843"/>
              </a:lnSpc>
              <a:spcAft>
                <a:spcPts val="0"/>
              </a:spcAft>
            </a:pPr>
            <a:r>
              <a:rPr sz="850" i="0">
                <a:solidFill>
                  <a:srgbClr val="FF8E6E"/>
                </a:solidFill>
                <a:latin typeface="Inconsolata"/>
              </a:rPr>
              <a:t>class</a:t>
            </a:r>
            <a:r>
              <a:rPr sz="850" i="0">
                <a:solidFill>
                  <a:srgbClr val="E6EDF3"/>
                </a:solidFill>
                <a:latin typeface="Inconsolata"/>
              </a:rPr>
              <a:t> </a:t>
            </a:r>
            <a:r>
              <a:rPr sz="850" i="0">
                <a:solidFill>
                  <a:srgbClr val="7FDBCA"/>
                </a:solidFill>
                <a:latin typeface="Inconsolata"/>
              </a:rPr>
              <a:t>Cache</a:t>
            </a:r>
            <a:r>
              <a:rPr sz="850" i="0">
                <a:solidFill>
                  <a:srgbClr val="E6EDF3"/>
                </a:solidFill>
                <a:latin typeface="Inconsolata"/>
              </a:rPr>
              <a:t>(</a:t>
            </a:r>
            <a:r>
              <a:rPr sz="850" i="0">
                <a:solidFill>
                  <a:srgbClr val="7FDBCA"/>
                </a:solidFill>
                <a:latin typeface="Inconsolata"/>
              </a:rPr>
              <a:t>Protocol</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A5D6A7"/>
                </a:solidFill>
                <a:latin typeface="Inconsolata"/>
              </a:rPr>
              <a:t>"""Penyimpanan sementara berbentuk key-value, nilai otomatis kedaluwarsa (TTL)."""</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get</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key: </a:t>
            </a:r>
            <a:r>
              <a:rPr sz="850" i="0">
                <a:solidFill>
                  <a:srgbClr val="C3A6FF"/>
                </a:solidFill>
                <a:latin typeface="Inconsolata"/>
              </a:rPr>
              <a:t>str</a:t>
            </a:r>
            <a:r>
              <a:rPr sz="850" i="0">
                <a:solidFill>
                  <a:srgbClr val="E6EDF3"/>
                </a:solidFill>
                <a:latin typeface="Inconsolata"/>
              </a:rPr>
              <a:t>): ...</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set</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key: </a:t>
            </a:r>
            <a:r>
              <a:rPr sz="850" i="0">
                <a:solidFill>
                  <a:srgbClr val="C3A6FF"/>
                </a:solidFill>
                <a:latin typeface="Inconsolata"/>
              </a:rPr>
              <a:t>str</a:t>
            </a:r>
            <a:r>
              <a:rPr sz="850" i="0">
                <a:solidFill>
                  <a:srgbClr val="E6EDF3"/>
                </a:solidFill>
                <a:latin typeface="Inconsolata"/>
              </a:rPr>
              <a:t>, value) -&gt; </a:t>
            </a:r>
            <a:r>
              <a:rPr sz="850" i="0">
                <a:solidFill>
                  <a:srgbClr val="FF8E6E"/>
                </a:solidFill>
                <a:latin typeface="Inconsolata"/>
              </a:rPr>
              <a:t>None</a:t>
            </a:r>
            <a:r>
              <a:rPr sz="850" i="0">
                <a:solidFill>
                  <a:srgbClr val="E6EDF3"/>
                </a:solidFill>
                <a:latin typeface="Inconsolata"/>
              </a:rPr>
              <a:t>: ...</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delete</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*keys: </a:t>
            </a:r>
            <a:r>
              <a:rPr sz="850" i="0">
                <a:solidFill>
                  <a:srgbClr val="C3A6FF"/>
                </a:solidFill>
                <a:latin typeface="Inconsolata"/>
              </a:rPr>
              <a:t>str</a:t>
            </a:r>
            <a:r>
              <a:rPr sz="850" i="0">
                <a:solidFill>
                  <a:srgbClr val="E6EDF3"/>
                </a:solidFill>
                <a:latin typeface="Inconsolata"/>
              </a:rPr>
              <a:t>) -&gt; </a:t>
            </a:r>
            <a:r>
              <a:rPr sz="850" i="0">
                <a:solidFill>
                  <a:srgbClr val="FF8E6E"/>
                </a:solidFill>
                <a:latin typeface="Inconsolata"/>
              </a:rPr>
              <a:t>None</a:t>
            </a:r>
            <a:r>
              <a:rPr sz="850" i="0">
                <a:solidFill>
                  <a:srgbClr val="E6EDF3"/>
                </a:solidFill>
                <a:latin typeface="Inconsolata"/>
              </a:rPr>
              <a:t>: ...</a:t>
            </a:r>
          </a:p>
          <a:p>
            <a:pPr>
              <a:lnSpc>
                <a:spcPct val="107843"/>
              </a:lnSpc>
              <a:spcAft>
                <a:spcPts val="0"/>
              </a:spcAft>
            </a:pPr>
            <a:r>
              <a:rPr sz="850" i="0">
                <a:solidFill>
                  <a:srgbClr val="E6EDF3"/>
                </a:solidFill>
                <a:latin typeface="Inconsolata"/>
              </a:rPr>
              <a:t> </a:t>
            </a:r>
          </a:p>
          <a:p>
            <a:pPr>
              <a:lnSpc>
                <a:spcPct val="107843"/>
              </a:lnSpc>
              <a:spcAft>
                <a:spcPts val="0"/>
              </a:spcAft>
            </a:pPr>
            <a:r>
              <a:rPr sz="850" i="1">
                <a:solidFill>
                  <a:srgbClr val="8B98A8"/>
                </a:solidFill>
                <a:latin typeface="Inconsolata"/>
              </a:rPr>
              <a:t># app/application/cache_keys.py</a:t>
            </a:r>
          </a:p>
          <a:p>
            <a:pPr>
              <a:lnSpc>
                <a:spcPct val="107843"/>
              </a:lnSpc>
              <a:spcAft>
                <a:spcPts val="0"/>
              </a:spcAft>
            </a:pPr>
            <a:r>
              <a:rPr sz="850" i="0">
                <a:solidFill>
                  <a:srgbClr val="7FDBCA"/>
                </a:solidFill>
                <a:latin typeface="Inconsolata"/>
              </a:rPr>
              <a:t>PRODUCT_LIST_KEY</a:t>
            </a:r>
            <a:r>
              <a:rPr sz="850" i="0">
                <a:solidFill>
                  <a:srgbClr val="E6EDF3"/>
                </a:solidFill>
                <a:latin typeface="Inconsolata"/>
              </a:rPr>
              <a:t> = </a:t>
            </a:r>
            <a:r>
              <a:rPr sz="850" i="0">
                <a:solidFill>
                  <a:srgbClr val="A5D6A7"/>
                </a:solidFill>
                <a:latin typeface="Inconsolata"/>
              </a:rPr>
              <a:t>"v1:products:list"</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product_key</a:t>
            </a:r>
            <a:r>
              <a:rPr sz="850" i="0">
                <a:solidFill>
                  <a:srgbClr val="E6EDF3"/>
                </a:solidFill>
                <a:latin typeface="Inconsolata"/>
              </a:rPr>
              <a:t>(product_id: </a:t>
            </a:r>
            <a:r>
              <a:rPr sz="850" i="0">
                <a:solidFill>
                  <a:srgbClr val="C3A6FF"/>
                </a:solidFill>
                <a:latin typeface="Inconsolata"/>
              </a:rPr>
              <a:t>int</a:t>
            </a:r>
            <a:r>
              <a:rPr sz="850" i="0">
                <a:solidFill>
                  <a:srgbClr val="E6EDF3"/>
                </a:solidFill>
                <a:latin typeface="Inconsolata"/>
              </a:rPr>
              <a:t>) -&gt; </a:t>
            </a:r>
            <a:r>
              <a:rPr sz="850" i="0">
                <a:solidFill>
                  <a:srgbClr val="C3A6FF"/>
                </a:solidFill>
                <a:latin typeface="Inconsolata"/>
              </a:rPr>
              <a:t>str</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a:t>
            </a:r>
            <a:r>
              <a:rPr sz="850" i="0">
                <a:solidFill>
                  <a:srgbClr val="A5D6A7"/>
                </a:solidFill>
                <a:latin typeface="Inconsolata"/>
              </a:rPr>
              <a:t>f"v1:product:{product_id}"</a:t>
            </a:r>
          </a:p>
        </p:txBody>
      </p:sp>
      <p:sp>
        <p:nvSpPr>
          <p:cNvPr id="29" name="Box 12"/>
          <p:cNvSpPr/>
          <p:nvPr/>
        </p:nvSpPr>
        <p:spPr>
          <a:xfrm>
            <a:off x="704088" y="1968373"/>
            <a:ext cx="5230368" cy="690118"/>
          </a:xfrm>
          <a:prstGeom prst="roundRect">
            <a:avLst>
              <a:gd name="adj" fmla="val 662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9456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46273"/>
            <a:ext cx="5230368" cy="550418"/>
          </a:xfrm>
          <a:prstGeom prst="roundRect">
            <a:avLst>
              <a:gd name="adj" fmla="val 8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10261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Port </a:t>
            </a:r>
            <a:r>
              <a:rPr sz="900" b="0" i="0">
                <a:solidFill>
                  <a:srgbClr val="B5482A"/>
                </a:solidFill>
                <a:latin typeface="Inconsolata"/>
              </a:rPr>
              <a:t>Cache</a:t>
            </a:r>
            <a:r>
              <a:rPr sz="900" b="0" i="0">
                <a:solidFill>
                  <a:srgbClr val="434343"/>
                </a:solidFill>
                <a:latin typeface="Inter"/>
              </a:rPr>
              <a:t>: application hanya tahu </a:t>
            </a:r>
            <a:r>
              <a:rPr sz="900" b="0" i="0">
                <a:solidFill>
                  <a:srgbClr val="B5482A"/>
                </a:solidFill>
                <a:latin typeface="Inconsolata"/>
              </a:rPr>
              <a:t>get</a:t>
            </a:r>
            <a:r>
              <a:rPr sz="900" b="0" i="0">
                <a:solidFill>
                  <a:srgbClr val="434343"/>
                </a:solidFill>
                <a:latin typeface="Inter"/>
              </a:rPr>
              <a:t>, </a:t>
            </a:r>
            <a:r>
              <a:rPr sz="900" b="0" i="0">
                <a:solidFill>
                  <a:srgbClr val="B5482A"/>
                </a:solidFill>
                <a:latin typeface="Inconsolata"/>
              </a:rPr>
              <a:t>set</a:t>
            </a:r>
            <a:r>
              <a:rPr sz="900" b="0" i="0">
                <a:solidFill>
                  <a:srgbClr val="434343"/>
                </a:solidFill>
                <a:latin typeface="Inter"/>
              </a:rPr>
              <a:t>, dan </a:t>
            </a:r>
            <a:r>
              <a:rPr sz="900" b="0" i="0">
                <a:solidFill>
                  <a:srgbClr val="B5482A"/>
                </a:solidFill>
                <a:latin typeface="Inconsolata"/>
              </a:rPr>
              <a:t>delete</a:t>
            </a:r>
            <a:r>
              <a:rPr sz="900" b="0" i="0">
                <a:solidFill>
                  <a:srgbClr val="434343"/>
                </a:solidFill>
                <a:latin typeface="Inter"/>
              </a:rPr>
              <a:t>, tidak tahu Redis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Nama key ditulis di satu tempat, lengkap dengan versi dan namespace (contoh 03)</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Application tetap tanpa import redis.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infrastructure/cache.py: RedisCache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app/infrastructure/cache.py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class</a:t>
            </a:r>
            <a:r>
              <a:rPr sz="850" i="0">
                <a:solidFill>
                  <a:srgbClr val="E6EDF3"/>
                </a:solidFill>
                <a:latin typeface="Inconsolata"/>
              </a:rPr>
              <a:t> </a:t>
            </a:r>
            <a:r>
              <a:rPr sz="850" i="0">
                <a:solidFill>
                  <a:srgbClr val="7FDBCA"/>
                </a:solidFill>
                <a:latin typeface="Inconsolata"/>
              </a:rPr>
              <a:t>RedisCache</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__init__</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redis: </a:t>
            </a:r>
            <a:r>
              <a:rPr sz="850" i="0">
                <a:solidFill>
                  <a:srgbClr val="7FDBCA"/>
                </a:solidFill>
                <a:latin typeface="Inconsolata"/>
              </a:rPr>
              <a:t>Redis</a:t>
            </a:r>
            <a:r>
              <a:rPr sz="850" i="0">
                <a:solidFill>
                  <a:srgbClr val="E6EDF3"/>
                </a:solidFill>
                <a:latin typeface="Inconsolata"/>
              </a:rPr>
              <a:t>, ttl: </a:t>
            </a:r>
            <a:r>
              <a:rPr sz="850" i="0">
                <a:solidFill>
                  <a:srgbClr val="C3A6FF"/>
                </a:solidFill>
                <a:latin typeface="Inconsolata"/>
              </a:rPr>
              <a:t>int</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C3A6FF"/>
                </a:solidFill>
                <a:latin typeface="Inconsolata"/>
              </a:rPr>
              <a:t>self</a:t>
            </a:r>
            <a:r>
              <a:rPr sz="850" i="0">
                <a:solidFill>
                  <a:srgbClr val="E6EDF3"/>
                </a:solidFill>
                <a:latin typeface="Inconsolata"/>
              </a:rPr>
              <a:t>.redis = redis</a:t>
            </a:r>
          </a:p>
          <a:p>
            <a:pPr>
              <a:lnSpc>
                <a:spcPct val="107843"/>
              </a:lnSpc>
              <a:spcAft>
                <a:spcPts val="0"/>
              </a:spcAft>
            </a:pPr>
            <a:r>
              <a:rPr sz="850" i="0">
                <a:solidFill>
                  <a:srgbClr val="E6EDF3"/>
                </a:solidFill>
                <a:latin typeface="Inconsolata"/>
              </a:rPr>
              <a:t>        </a:t>
            </a:r>
            <a:r>
              <a:rPr sz="850" i="0">
                <a:solidFill>
                  <a:srgbClr val="C3A6FF"/>
                </a:solidFill>
                <a:latin typeface="Inconsolata"/>
              </a:rPr>
              <a:t>self</a:t>
            </a:r>
            <a:r>
              <a:rPr sz="850" i="0">
                <a:solidFill>
                  <a:srgbClr val="E6EDF3"/>
                </a:solidFill>
                <a:latin typeface="Inconsolata"/>
              </a:rPr>
              <a:t>.ttl = ttl</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get</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key: </a:t>
            </a:r>
            <a:r>
              <a:rPr sz="850" i="0">
                <a:solidFill>
                  <a:srgbClr val="C3A6FF"/>
                </a:solidFill>
                <a:latin typeface="Inconsolata"/>
              </a:rPr>
              <a:t>str</a:t>
            </a:r>
            <a:r>
              <a:rPr sz="850" i="0">
                <a:solidFill>
                  <a:srgbClr val="E6EDF3"/>
                </a:solidFill>
                <a:latin typeface="Inconsolata"/>
              </a:rPr>
              <a:t>):</a:t>
            </a:r>
          </a:p>
          <a:p>
            <a:pPr>
              <a:lnSpc>
                <a:spcPct val="107843"/>
              </a:lnSpc>
              <a:spcAft>
                <a:spcPts val="0"/>
              </a:spcAft>
            </a:pPr>
            <a:r>
              <a:rPr sz="850" i="0">
                <a:solidFill>
                  <a:srgbClr val="E6EDF3"/>
                </a:solidFill>
                <a:latin typeface="Inconsolata"/>
              </a:rPr>
              <a:t>        value = </a:t>
            </a:r>
            <a:r>
              <a:rPr sz="850" i="0">
                <a:solidFill>
                  <a:srgbClr val="C3A6FF"/>
                </a:solidFill>
                <a:latin typeface="Inconsolata"/>
              </a:rPr>
              <a:t>self</a:t>
            </a:r>
            <a:r>
              <a:rPr sz="850" i="0">
                <a:solidFill>
                  <a:srgbClr val="E6EDF3"/>
                </a:solidFill>
                <a:latin typeface="Inconsolata"/>
              </a:rPr>
              <a:t>.redis.get(key)</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a:t>
            </a:r>
            <a:r>
              <a:rPr sz="850" i="0">
                <a:solidFill>
                  <a:srgbClr val="FF8E6E"/>
                </a:solidFill>
                <a:latin typeface="Inconsolata"/>
              </a:rPr>
              <a:t>None</a:t>
            </a: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value </a:t>
            </a:r>
            <a:r>
              <a:rPr sz="850" i="0">
                <a:solidFill>
                  <a:srgbClr val="FF8E6E"/>
                </a:solidFill>
                <a:latin typeface="Inconsolata"/>
              </a:rPr>
              <a:t>is</a:t>
            </a:r>
            <a:r>
              <a:rPr sz="850" i="0">
                <a:solidFill>
                  <a:srgbClr val="E6EDF3"/>
                </a:solidFill>
                <a:latin typeface="Inconsolata"/>
              </a:rPr>
              <a:t> </a:t>
            </a:r>
            <a:r>
              <a:rPr sz="850" i="0">
                <a:solidFill>
                  <a:srgbClr val="FF8E6E"/>
                </a:solidFill>
                <a:latin typeface="Inconsolata"/>
              </a:rPr>
              <a:t>None</a:t>
            </a:r>
            <a:r>
              <a:rPr sz="850" i="0">
                <a:solidFill>
                  <a:srgbClr val="E6EDF3"/>
                </a:solidFill>
                <a:latin typeface="Inconsolata"/>
              </a:rPr>
              <a:t> </a:t>
            </a:r>
            <a:r>
              <a:rPr sz="850" i="0">
                <a:solidFill>
                  <a:srgbClr val="FF8E6E"/>
                </a:solidFill>
                <a:latin typeface="Inconsolata"/>
              </a:rPr>
              <a:t>else</a:t>
            </a:r>
            <a:r>
              <a:rPr sz="850" i="0">
                <a:solidFill>
                  <a:srgbClr val="E6EDF3"/>
                </a:solidFill>
                <a:latin typeface="Inconsolata"/>
              </a:rPr>
              <a:t> json.loads(value)</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set</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key: </a:t>
            </a:r>
            <a:r>
              <a:rPr sz="850" i="0">
                <a:solidFill>
                  <a:srgbClr val="C3A6FF"/>
                </a:solidFill>
                <a:latin typeface="Inconsolata"/>
              </a:rPr>
              <a:t>str</a:t>
            </a:r>
            <a:r>
              <a:rPr sz="850" i="0">
                <a:solidFill>
                  <a:srgbClr val="E6EDF3"/>
                </a:solidFill>
                <a:latin typeface="Inconsolata"/>
              </a:rPr>
              <a:t>, value) -&gt; </a:t>
            </a:r>
            <a:r>
              <a:rPr sz="850" i="0">
                <a:solidFill>
                  <a:srgbClr val="FF8E6E"/>
                </a:solidFill>
                <a:latin typeface="Inconsolata"/>
              </a:rPr>
              <a:t>None</a:t>
            </a:r>
            <a:r>
              <a:rPr sz="850" i="0">
                <a:solidFill>
                  <a:srgbClr val="E6EDF3"/>
                </a:solidFill>
                <a:latin typeface="Inconsolata"/>
              </a:rPr>
              <a:t>:</a:t>
            </a:r>
          </a:p>
          <a:p>
            <a:pPr>
              <a:lnSpc>
                <a:spcPct val="107843"/>
              </a:lnSpc>
              <a:spcAft>
                <a:spcPts val="0"/>
              </a:spcAft>
            </a:pPr>
            <a:r>
              <a:rPr sz="850" i="0">
                <a:solidFill>
                  <a:srgbClr val="E6EDF3"/>
                </a:solidFill>
                <a:latin typeface="Inconsolata"/>
              </a:rPr>
              <a:t>        jitter = random.randint(</a:t>
            </a:r>
            <a:r>
              <a:rPr sz="850" i="0">
                <a:solidFill>
                  <a:srgbClr val="F9C97A"/>
                </a:solidFill>
                <a:latin typeface="Inconsolata"/>
              </a:rPr>
              <a:t>0</a:t>
            </a:r>
            <a:r>
              <a:rPr sz="850" i="0">
                <a:solidFill>
                  <a:srgbClr val="E6EDF3"/>
                </a:solidFill>
                <a:latin typeface="Inconsolata"/>
              </a:rPr>
              <a:t>, </a:t>
            </a:r>
            <a:r>
              <a:rPr sz="850" i="0">
                <a:solidFill>
                  <a:srgbClr val="C3A6FF"/>
                </a:solidFill>
                <a:latin typeface="Inconsolata"/>
              </a:rPr>
              <a:t>max</a:t>
            </a:r>
            <a:r>
              <a:rPr sz="850" i="0">
                <a:solidFill>
                  <a:srgbClr val="E6EDF3"/>
                </a:solidFill>
                <a:latin typeface="Inconsolata"/>
              </a:rPr>
              <a:t>(</a:t>
            </a:r>
            <a:r>
              <a:rPr sz="850" i="0">
                <a:solidFill>
                  <a:srgbClr val="F9C97A"/>
                </a:solidFill>
                <a:latin typeface="Inconsolata"/>
              </a:rPr>
              <a:t>1</a:t>
            </a:r>
            <a:r>
              <a:rPr sz="850" i="0">
                <a:solidFill>
                  <a:srgbClr val="E6EDF3"/>
                </a:solidFill>
                <a:latin typeface="Inconsolata"/>
              </a:rPr>
              <a:t>, </a:t>
            </a:r>
            <a:r>
              <a:rPr sz="850" i="0">
                <a:solidFill>
                  <a:srgbClr val="C3A6FF"/>
                </a:solidFill>
                <a:latin typeface="Inconsolata"/>
              </a:rPr>
              <a:t>self</a:t>
            </a:r>
            <a:r>
              <a:rPr sz="850" i="0">
                <a:solidFill>
                  <a:srgbClr val="E6EDF3"/>
                </a:solidFill>
                <a:latin typeface="Inconsolata"/>
              </a:rPr>
              <a:t>.ttl // </a:t>
            </a:r>
            <a:r>
              <a:rPr sz="850" i="0">
                <a:solidFill>
                  <a:srgbClr val="F9C97A"/>
                </a:solidFill>
                <a:latin typeface="Inconsolata"/>
              </a:rPr>
              <a:t>10</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C3A6FF"/>
                </a:solidFill>
                <a:latin typeface="Inconsolata"/>
              </a:rPr>
              <a:t>self</a:t>
            </a:r>
            <a:r>
              <a:rPr sz="850" i="0">
                <a:solidFill>
                  <a:srgbClr val="E6EDF3"/>
                </a:solidFill>
                <a:latin typeface="Inconsolata"/>
              </a:rPr>
              <a:t>.redis.</a:t>
            </a:r>
            <a:r>
              <a:rPr sz="850" i="0">
                <a:solidFill>
                  <a:srgbClr val="C3A6FF"/>
                </a:solidFill>
                <a:latin typeface="Inconsolata"/>
              </a:rPr>
              <a:t>set</a:t>
            </a:r>
            <a:r>
              <a:rPr sz="850" i="0">
                <a:solidFill>
                  <a:srgbClr val="E6EDF3"/>
                </a:solidFill>
                <a:latin typeface="Inconsolata"/>
              </a:rPr>
              <a:t>(key, json.dumps(value), ex=</a:t>
            </a:r>
            <a:r>
              <a:rPr sz="850" i="0">
                <a:solidFill>
                  <a:srgbClr val="C3A6FF"/>
                </a:solidFill>
                <a:latin typeface="Inconsolata"/>
              </a:rPr>
              <a:t>self</a:t>
            </a:r>
            <a:r>
              <a:rPr sz="850" i="0">
                <a:solidFill>
                  <a:srgbClr val="E6EDF3"/>
                </a:solidFill>
                <a:latin typeface="Inconsolata"/>
              </a:rPr>
              <a:t>.ttl + jitter)</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delete</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*keys: </a:t>
            </a:r>
            <a:r>
              <a:rPr sz="850" i="0">
                <a:solidFill>
                  <a:srgbClr val="C3A6FF"/>
                </a:solidFill>
                <a:latin typeface="Inconsolata"/>
              </a:rPr>
              <a:t>str</a:t>
            </a:r>
            <a:r>
              <a:rPr sz="850" i="0">
                <a:solidFill>
                  <a:srgbClr val="E6EDF3"/>
                </a:solidFill>
                <a:latin typeface="Inconsolata"/>
              </a:rPr>
              <a:t>) -&gt; </a:t>
            </a:r>
            <a:r>
              <a:rPr sz="850" i="0">
                <a:solidFill>
                  <a:srgbClr val="FF8E6E"/>
                </a:solidFill>
                <a:latin typeface="Inconsolata"/>
              </a:rPr>
              <a:t>None</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keys:</a:t>
            </a:r>
          </a:p>
          <a:p>
            <a:pPr>
              <a:lnSpc>
                <a:spcPct val="107843"/>
              </a:lnSpc>
              <a:spcAft>
                <a:spcPts val="0"/>
              </a:spcAft>
            </a:pPr>
            <a:r>
              <a:rPr sz="850" i="0">
                <a:solidFill>
                  <a:srgbClr val="E6EDF3"/>
                </a:solidFill>
                <a:latin typeface="Inconsolata"/>
              </a:rPr>
              <a:t>            </a:t>
            </a:r>
            <a:r>
              <a:rPr sz="850" i="0">
                <a:solidFill>
                  <a:srgbClr val="C3A6FF"/>
                </a:solidFill>
                <a:latin typeface="Inconsolata"/>
              </a:rPr>
              <a:t>self</a:t>
            </a:r>
            <a:r>
              <a:rPr sz="850" i="0">
                <a:solidFill>
                  <a:srgbClr val="E6EDF3"/>
                </a:solidFill>
                <a:latin typeface="Inconsolata"/>
              </a:rPr>
              <a:t>.redis.delete(*keys)</a:t>
            </a:r>
          </a:p>
        </p:txBody>
      </p:sp>
      <p:sp>
        <p:nvSpPr>
          <p:cNvPr id="29" name="Box 12"/>
          <p:cNvSpPr/>
          <p:nvPr/>
        </p:nvSpPr>
        <p:spPr>
          <a:xfrm>
            <a:off x="704088" y="2527173"/>
            <a:ext cx="5230368" cy="410718"/>
          </a:xfrm>
          <a:prstGeom prst="roundRect">
            <a:avLst>
              <a:gd name="adj" fmla="val 1113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61366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225673"/>
            <a:ext cx="5230368" cy="271018"/>
          </a:xfrm>
          <a:prstGeom prst="roundRect">
            <a:avLst>
              <a:gd name="adj" fmla="val 1686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24231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644773"/>
            <a:ext cx="5230368" cy="410718"/>
          </a:xfrm>
          <a:prstGeom prst="roundRect">
            <a:avLst>
              <a:gd name="adj" fmla="val 1113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73126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Adapter untuk port </a:t>
            </a:r>
            <a:r>
              <a:rPr sz="900" b="0" i="0">
                <a:solidFill>
                  <a:srgbClr val="B5482A"/>
                </a:solidFill>
                <a:latin typeface="Inconsolata"/>
              </a:rPr>
              <a:t>Cache</a:t>
            </a:r>
            <a:r>
              <a:rPr sz="900" b="0" i="0">
                <a:solidFill>
                  <a:srgbClr val="434343"/>
                </a:solidFill>
                <a:latin typeface="Inter"/>
              </a:rPr>
              <a:t>, nilainya disimpan sebagai JSON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TTL ditambah jitter sampai 10%, supaya key tidak kedaluwarsa bersamaan (contoh 04)</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delete</a:t>
            </a:r>
            <a:r>
              <a:rPr sz="900" b="0" i="0">
                <a:solidFill>
                  <a:srgbClr val="434343"/>
                </a:solidFill>
                <a:latin typeface="Inter"/>
              </a:rPr>
              <a:t> bisa menghapus beberapa key sekaligus</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Semua urusan Redis ada di infrastructure.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product_service.py: cache-aside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app/application/product_service.py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ProductService</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__init__</a:t>
            </a:r>
            <a:r>
              <a:rPr sz="700" i="0">
                <a:solidFill>
                  <a:srgbClr val="E6EDF3"/>
                </a:solidFill>
                <a:latin typeface="Inconsolata"/>
              </a:rPr>
              <a:t>(</a:t>
            </a:r>
            <a:r>
              <a:rPr sz="700" i="0">
                <a:solidFill>
                  <a:srgbClr val="C3A6FF"/>
                </a:solidFill>
                <a:latin typeface="Inconsolata"/>
              </a:rPr>
              <a:t>self</a:t>
            </a:r>
            <a:r>
              <a:rPr sz="700" i="0">
                <a:solidFill>
                  <a:srgbClr val="E6EDF3"/>
                </a:solidFill>
                <a:latin typeface="Inconsolata"/>
              </a:rPr>
              <a:t>, uow: </a:t>
            </a:r>
            <a:r>
              <a:rPr sz="700" i="0">
                <a:solidFill>
                  <a:srgbClr val="7FDBCA"/>
                </a:solidFill>
                <a:latin typeface="Inconsolata"/>
              </a:rPr>
              <a:t>UnitOfWork</a:t>
            </a:r>
            <a:r>
              <a:rPr sz="700" i="0">
                <a:solidFill>
                  <a:srgbClr val="E6EDF3"/>
                </a:solidFill>
                <a:latin typeface="Inconsolata"/>
              </a:rPr>
              <a:t>, cache: </a:t>
            </a:r>
            <a:r>
              <a:rPr sz="700" i="0">
                <a:solidFill>
                  <a:srgbClr val="7FDBCA"/>
                </a:solidFill>
                <a:latin typeface="Inconsolata"/>
              </a:rPr>
              <a:t>Cache</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C3A6FF"/>
                </a:solidFill>
                <a:latin typeface="Inconsolata"/>
              </a:rPr>
              <a:t>self</a:t>
            </a:r>
            <a:r>
              <a:rPr sz="700" i="0">
                <a:solidFill>
                  <a:srgbClr val="E6EDF3"/>
                </a:solidFill>
                <a:latin typeface="Inconsolata"/>
              </a:rPr>
              <a:t>.uow = uow</a:t>
            </a:r>
          </a:p>
          <a:p>
            <a:pPr>
              <a:lnSpc>
                <a:spcPct val="107143"/>
              </a:lnSpc>
              <a:spcAft>
                <a:spcPts val="0"/>
              </a:spcAft>
            </a:pPr>
            <a:r>
              <a:rPr sz="700" i="0">
                <a:solidFill>
                  <a:srgbClr val="E6EDF3"/>
                </a:solidFill>
                <a:latin typeface="Inconsolata"/>
              </a:rPr>
              <a:t>        </a:t>
            </a:r>
            <a:r>
              <a:rPr sz="700" i="0">
                <a:solidFill>
                  <a:srgbClr val="C3A6FF"/>
                </a:solidFill>
                <a:latin typeface="Inconsolata"/>
              </a:rPr>
              <a:t>self</a:t>
            </a:r>
            <a:r>
              <a:rPr sz="700" i="0">
                <a:solidFill>
                  <a:srgbClr val="E6EDF3"/>
                </a:solidFill>
                <a:latin typeface="Inconsolata"/>
              </a:rPr>
              <a:t>.cache = cache</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get_product</a:t>
            </a:r>
            <a:r>
              <a:rPr sz="700" i="0">
                <a:solidFill>
                  <a:srgbClr val="E6EDF3"/>
                </a:solidFill>
                <a:latin typeface="Inconsolata"/>
              </a:rPr>
              <a:t>(</a:t>
            </a:r>
            <a:r>
              <a:rPr sz="700" i="0">
                <a:solidFill>
                  <a:srgbClr val="C3A6FF"/>
                </a:solidFill>
                <a:latin typeface="Inconsolata"/>
              </a:rPr>
              <a:t>self</a:t>
            </a:r>
            <a:r>
              <a:rPr sz="700" i="0">
                <a:solidFill>
                  <a:srgbClr val="E6EDF3"/>
                </a:solidFill>
                <a:latin typeface="Inconsolata"/>
              </a:rPr>
              <a:t>, product_id: </a:t>
            </a:r>
            <a:r>
              <a:rPr sz="700" i="0">
                <a:solidFill>
                  <a:srgbClr val="C3A6FF"/>
                </a:solidFill>
                <a:latin typeface="Inconsolata"/>
              </a:rPr>
              <a:t>int</a:t>
            </a:r>
            <a:r>
              <a:rPr sz="700" i="0">
                <a:solidFill>
                  <a:srgbClr val="E6EDF3"/>
                </a:solidFill>
                <a:latin typeface="Inconsolata"/>
              </a:rPr>
              <a:t>) -&gt; </a:t>
            </a:r>
            <a:r>
              <a:rPr sz="700" i="0">
                <a:solidFill>
                  <a:srgbClr val="7FDBCA"/>
                </a:solidFill>
                <a:latin typeface="Inconsolata"/>
              </a:rPr>
              <a:t>Product</a:t>
            </a:r>
            <a:r>
              <a:rPr sz="700" i="0">
                <a:solidFill>
                  <a:srgbClr val="E6EDF3"/>
                </a:solidFill>
                <a:latin typeface="Inconsolata"/>
              </a:rPr>
              <a:t>:</a:t>
            </a:r>
          </a:p>
          <a:p>
            <a:pPr>
              <a:lnSpc>
                <a:spcPct val="107143"/>
              </a:lnSpc>
              <a:spcAft>
                <a:spcPts val="0"/>
              </a:spcAft>
            </a:pPr>
            <a:r>
              <a:rPr sz="700" i="0">
                <a:solidFill>
                  <a:srgbClr val="E6EDF3"/>
                </a:solidFill>
                <a:latin typeface="Inconsolata"/>
              </a:rPr>
              <a:t>        cached = </a:t>
            </a:r>
            <a:r>
              <a:rPr sz="700" i="0">
                <a:solidFill>
                  <a:srgbClr val="C3A6FF"/>
                </a:solidFill>
                <a:latin typeface="Inconsolata"/>
              </a:rPr>
              <a:t>self</a:t>
            </a:r>
            <a:r>
              <a:rPr sz="700" i="0">
                <a:solidFill>
                  <a:srgbClr val="E6EDF3"/>
                </a:solidFill>
                <a:latin typeface="Inconsolata"/>
              </a:rPr>
              <a:t>.cache.get(product_key(product_id))</a:t>
            </a:r>
          </a:p>
          <a:p>
            <a:pPr>
              <a:lnSpc>
                <a:spcPct val="107143"/>
              </a:lnSpc>
              <a:spcAft>
                <a:spcPts val="0"/>
              </a:spcAft>
            </a:pP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cached </a:t>
            </a:r>
            <a:r>
              <a:rPr sz="700" i="0">
                <a:solidFill>
                  <a:srgbClr val="FF8E6E"/>
                </a:solidFill>
                <a:latin typeface="Inconsolata"/>
              </a:rPr>
              <a:t>is</a:t>
            </a:r>
            <a:r>
              <a:rPr sz="700" i="0">
                <a:solidFill>
                  <a:srgbClr val="E6EDF3"/>
                </a:solidFill>
                <a:latin typeface="Inconsolata"/>
              </a:rPr>
              <a:t> </a:t>
            </a:r>
            <a:r>
              <a:rPr sz="700" i="0">
                <a:solidFill>
                  <a:srgbClr val="FF8E6E"/>
                </a:solidFill>
                <a:latin typeface="Inconsolata"/>
              </a:rPr>
              <a:t>not</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_from_dict(cached)</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E6EDF3"/>
                </a:solidFill>
                <a:latin typeface="Inconsolata"/>
              </a:rPr>
              <a:t>        </a:t>
            </a:r>
            <a:r>
              <a:rPr sz="700" i="0">
                <a:solidFill>
                  <a:srgbClr val="FF8E6E"/>
                </a:solidFill>
                <a:latin typeface="Inconsolata"/>
              </a:rPr>
              <a:t>with</a:t>
            </a:r>
            <a:r>
              <a:rPr sz="700" i="0">
                <a:solidFill>
                  <a:srgbClr val="E6EDF3"/>
                </a:solidFill>
                <a:latin typeface="Inconsolata"/>
              </a:rPr>
              <a:t> </a:t>
            </a:r>
            <a:r>
              <a:rPr sz="700" i="0">
                <a:solidFill>
                  <a:srgbClr val="C3A6FF"/>
                </a:solidFill>
                <a:latin typeface="Inconsolata"/>
              </a:rPr>
              <a:t>self</a:t>
            </a:r>
            <a:r>
              <a:rPr sz="700" i="0">
                <a:solidFill>
                  <a:srgbClr val="E6EDF3"/>
                </a:solidFill>
                <a:latin typeface="Inconsolata"/>
              </a:rPr>
              <a:t>.uow:</a:t>
            </a:r>
          </a:p>
          <a:p>
            <a:pPr>
              <a:lnSpc>
                <a:spcPct val="107143"/>
              </a:lnSpc>
              <a:spcAft>
                <a:spcPts val="0"/>
              </a:spcAft>
            </a:pPr>
            <a:r>
              <a:rPr sz="700" i="0">
                <a:solidFill>
                  <a:srgbClr val="E6EDF3"/>
                </a:solidFill>
                <a:latin typeface="Inconsolata"/>
              </a:rPr>
              <a:t>            product = </a:t>
            </a:r>
            <a:r>
              <a:rPr sz="700" i="0">
                <a:solidFill>
                  <a:srgbClr val="C3A6FF"/>
                </a:solidFill>
                <a:latin typeface="Inconsolata"/>
              </a:rPr>
              <a:t>self</a:t>
            </a:r>
            <a:r>
              <a:rPr sz="700" i="0">
                <a:solidFill>
                  <a:srgbClr val="E6EDF3"/>
                </a:solidFill>
                <a:latin typeface="Inconsolata"/>
              </a:rPr>
              <a:t>.uow.products.get(product_id)</a:t>
            </a:r>
          </a:p>
          <a:p>
            <a:pPr>
              <a:lnSpc>
                <a:spcPct val="107143"/>
              </a:lnSpc>
              <a:spcAft>
                <a:spcPts val="0"/>
              </a:spcAft>
            </a:pP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product </a:t>
            </a:r>
            <a:r>
              <a:rPr sz="700" i="0">
                <a:solidFill>
                  <a:srgbClr val="FF8E6E"/>
                </a:solidFill>
                <a:latin typeface="Inconsolata"/>
              </a:rPr>
              <a:t>is</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raise</a:t>
            </a:r>
            <a:r>
              <a:rPr sz="700" i="0">
                <a:solidFill>
                  <a:srgbClr val="E6EDF3"/>
                </a:solidFill>
                <a:latin typeface="Inconsolata"/>
              </a:rPr>
              <a:t> </a:t>
            </a:r>
            <a:r>
              <a:rPr sz="700" i="0">
                <a:solidFill>
                  <a:srgbClr val="7FDBCA"/>
                </a:solidFill>
                <a:latin typeface="Inconsolata"/>
              </a:rPr>
              <a:t>ProductNotFound</a:t>
            </a:r>
            <a:r>
              <a:rPr sz="700" i="0">
                <a:solidFill>
                  <a:srgbClr val="E6EDF3"/>
                </a:solidFill>
                <a:latin typeface="Inconsolata"/>
              </a:rPr>
              <a:t>(</a:t>
            </a:r>
            <a:r>
              <a:rPr sz="700" i="0">
                <a:solidFill>
                  <a:srgbClr val="A5D6A7"/>
                </a:solidFill>
                <a:latin typeface="Inconsolata"/>
              </a:rPr>
              <a:t>f"Product #{product_id} tidak ditemukan"</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C3A6FF"/>
                </a:solidFill>
                <a:latin typeface="Inconsolata"/>
              </a:rPr>
              <a:t>self</a:t>
            </a:r>
            <a:r>
              <a:rPr sz="700" i="0">
                <a:solidFill>
                  <a:srgbClr val="E6EDF3"/>
                </a:solidFill>
                <a:latin typeface="Inconsolata"/>
              </a:rPr>
              <a:t>.cache.</a:t>
            </a:r>
            <a:r>
              <a:rPr sz="700" i="0">
                <a:solidFill>
                  <a:srgbClr val="C3A6FF"/>
                </a:solidFill>
                <a:latin typeface="Inconsolata"/>
              </a:rPr>
              <a:t>set</a:t>
            </a:r>
            <a:r>
              <a:rPr sz="700" i="0">
                <a:solidFill>
                  <a:srgbClr val="E6EDF3"/>
                </a:solidFill>
                <a:latin typeface="Inconsolata"/>
              </a:rPr>
              <a:t>(product_key(product_id), _to_dict(product))</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product</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_to_dict</a:t>
            </a:r>
            <a:r>
              <a:rPr sz="700" i="0">
                <a:solidFill>
                  <a:srgbClr val="E6EDF3"/>
                </a:solidFill>
                <a:latin typeface="Inconsolata"/>
              </a:rPr>
              <a:t>(product: </a:t>
            </a:r>
            <a:r>
              <a:rPr sz="700" i="0">
                <a:solidFill>
                  <a:srgbClr val="7FDBCA"/>
                </a:solidFill>
                <a:latin typeface="Inconsolata"/>
              </a:rPr>
              <a:t>Product</a:t>
            </a:r>
            <a:r>
              <a:rPr sz="700" i="0">
                <a:solidFill>
                  <a:srgbClr val="E6EDF3"/>
                </a:solidFill>
                <a:latin typeface="Inconsolata"/>
              </a:rPr>
              <a:t>) -&gt; </a:t>
            </a:r>
            <a:r>
              <a:rPr sz="700" i="0">
                <a:solidFill>
                  <a:srgbClr val="C3A6FF"/>
                </a:solidFill>
                <a:latin typeface="Inconsolata"/>
              </a:rPr>
              <a:t>dict</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"id"</a:t>
            </a:r>
            <a:r>
              <a:rPr sz="700" i="0">
                <a:solidFill>
                  <a:srgbClr val="E6EDF3"/>
                </a:solidFill>
                <a:latin typeface="Inconsolata"/>
              </a:rPr>
              <a:t>: product.id, </a:t>
            </a:r>
            <a:r>
              <a:rPr sz="700" i="0">
                <a:solidFill>
                  <a:srgbClr val="A5D6A7"/>
                </a:solidFill>
                <a:latin typeface="Inconsolata"/>
              </a:rPr>
              <a:t>"name"</a:t>
            </a:r>
            <a:r>
              <a:rPr sz="700" i="0">
                <a:solidFill>
                  <a:srgbClr val="E6EDF3"/>
                </a:solidFill>
                <a:latin typeface="Inconsolata"/>
              </a:rPr>
              <a:t>: product.name, </a:t>
            </a:r>
            <a:r>
              <a:rPr sz="700" i="0">
                <a:solidFill>
                  <a:srgbClr val="A5D6A7"/>
                </a:solidFill>
                <a:latin typeface="Inconsolata"/>
              </a:rPr>
              <a:t>"price"</a:t>
            </a:r>
            <a:r>
              <a:rPr sz="700" i="0">
                <a:solidFill>
                  <a:srgbClr val="E6EDF3"/>
                </a:solidFill>
                <a:latin typeface="Inconsolata"/>
              </a:rPr>
              <a:t>: product.price.amount, </a:t>
            </a:r>
            <a:r>
              <a:rPr sz="700" i="0">
                <a:solidFill>
                  <a:srgbClr val="A5D6A7"/>
                </a:solidFill>
                <a:latin typeface="Inconsolata"/>
              </a:rPr>
              <a:t>"stock"</a:t>
            </a:r>
            <a:r>
              <a:rPr sz="700" i="0">
                <a:solidFill>
                  <a:srgbClr val="E6EDF3"/>
                </a:solidFill>
                <a:latin typeface="Inconsolata"/>
              </a:rPr>
              <a:t>: product.stock}</a:t>
            </a:r>
          </a:p>
        </p:txBody>
      </p:sp>
      <p:sp>
        <p:nvSpPr>
          <p:cNvPr id="29" name="Box 12"/>
          <p:cNvSpPr/>
          <p:nvPr/>
        </p:nvSpPr>
        <p:spPr>
          <a:xfrm>
            <a:off x="704088" y="19396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745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511171"/>
            <a:ext cx="5230368" cy="336042"/>
          </a:xfrm>
          <a:prstGeom prst="roundRect">
            <a:avLst>
              <a:gd name="adj" fmla="val 1360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5603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968371"/>
            <a:ext cx="5230368" cy="564642"/>
          </a:xfrm>
          <a:prstGeom prst="roundRect">
            <a:avLst>
              <a:gd name="adj" fmla="val 80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131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ProductService</a:t>
            </a:r>
            <a:r>
              <a:rPr sz="900" b="0" i="0">
                <a:solidFill>
                  <a:srgbClr val="434343"/>
                </a:solidFill>
                <a:latin typeface="Inter"/>
              </a:rPr>
              <a:t> menerima </a:t>
            </a:r>
            <a:r>
              <a:rPr sz="900" b="0" i="0">
                <a:solidFill>
                  <a:srgbClr val="B5482A"/>
                </a:solidFill>
                <a:latin typeface="Inconsolata"/>
              </a:rPr>
              <a:t>cache</a:t>
            </a:r>
            <a:r>
              <a:rPr sz="900" b="0" i="0">
                <a:solidFill>
                  <a:srgbClr val="434343"/>
                </a:solidFill>
                <a:latin typeface="Inter"/>
              </a:rPr>
              <a:t> lewat constructor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Cache hit: langsung dikembalikan tanpa membuka Unit of Work</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Cache miss: ambil dari database, lalu simpan ke cache (</a:t>
            </a:r>
            <a:r>
              <a:rPr sz="900" b="0" i="0">
                <a:solidFill>
                  <a:srgbClr val="B5482A"/>
                </a:solidFill>
                <a:latin typeface="Inconsolata"/>
              </a:rPr>
              <a:t>list_products</a:t>
            </a:r>
            <a:r>
              <a:rPr sz="900" b="0" i="0">
                <a:solidFill>
                  <a:srgbClr val="434343"/>
                </a:solidFill>
                <a:latin typeface="Inter"/>
              </a:rPr>
              <a:t> sama polanya)</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Request kedua tidak lagi query database.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6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Invalidation setelah commit</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infrastructure/repositories.py  +  unit_of_work.py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app/infrastructure/repositories.py</a:t>
            </a:r>
          </a:p>
          <a:p>
            <a:pPr>
              <a:lnSpc>
                <a:spcPct val="102564"/>
              </a:lnSpc>
              <a:spcAft>
                <a:spcPts val="0"/>
              </a:spcAft>
            </a:pPr>
            <a:r>
              <a:rPr sz="650" i="0">
                <a:solidFill>
                  <a:srgbClr val="FF8E6E"/>
                </a:solidFill>
                <a:latin typeface="Inconsolata"/>
              </a:rPr>
              <a:t>class</a:t>
            </a:r>
            <a:r>
              <a:rPr sz="650" i="0">
                <a:solidFill>
                  <a:srgbClr val="E6EDF3"/>
                </a:solidFill>
                <a:latin typeface="Inconsolata"/>
              </a:rPr>
              <a:t> </a:t>
            </a:r>
            <a:r>
              <a:rPr sz="650" i="0">
                <a:solidFill>
                  <a:srgbClr val="7FDBCA"/>
                </a:solidFill>
                <a:latin typeface="Inconsolata"/>
              </a:rPr>
              <a:t>SqlAlchemyProductRepository</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__init__</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session: </a:t>
            </a:r>
            <a:r>
              <a:rPr sz="650" i="0">
                <a:solidFill>
                  <a:srgbClr val="7FDBCA"/>
                </a:solidFill>
                <a:latin typeface="Inconsolata"/>
              </a:rPr>
              <a:t>Session</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.session = session</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.changed_ids: </a:t>
            </a:r>
            <a:r>
              <a:rPr sz="650" i="0">
                <a:solidFill>
                  <a:srgbClr val="C3A6FF"/>
                </a:solidFill>
                <a:latin typeface="Inconsolata"/>
              </a:rPr>
              <a:t>set</a:t>
            </a:r>
            <a:r>
              <a:rPr sz="650" i="0">
                <a:solidFill>
                  <a:srgbClr val="E6EDF3"/>
                </a:solidFill>
                <a:latin typeface="Inconsolata"/>
              </a:rPr>
              <a:t>[</a:t>
            </a:r>
            <a:r>
              <a:rPr sz="650" i="0">
                <a:solidFill>
                  <a:srgbClr val="C3A6FF"/>
                </a:solidFill>
                <a:latin typeface="Inconsolata"/>
              </a:rPr>
              <a:t>int</a:t>
            </a:r>
            <a:r>
              <a:rPr sz="650" i="0">
                <a:solidFill>
                  <a:srgbClr val="E6EDF3"/>
                </a:solidFill>
                <a:latin typeface="Inconsolata"/>
              </a:rPr>
              <a:t>] = </a:t>
            </a:r>
            <a:r>
              <a:rPr sz="650" i="0">
                <a:solidFill>
                  <a:srgbClr val="C3A6FF"/>
                </a:solidFill>
                <a:latin typeface="Inconsolata"/>
              </a:rPr>
              <a:t>set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save</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product: </a:t>
            </a:r>
            <a:r>
              <a:rPr sz="650" i="0">
                <a:solidFill>
                  <a:srgbClr val="7FDBCA"/>
                </a:solidFill>
                <a:latin typeface="Inconsolata"/>
              </a:rPr>
              <a:t>Product</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.session.get(</a:t>
            </a:r>
            <a:r>
              <a:rPr sz="650" i="0">
                <a:solidFill>
                  <a:srgbClr val="7FDBCA"/>
                </a:solidFill>
                <a:latin typeface="Inconsolata"/>
              </a:rPr>
              <a:t>ProductRecord</a:t>
            </a:r>
            <a:r>
              <a:rPr sz="650" i="0">
                <a:solidFill>
                  <a:srgbClr val="E6EDF3"/>
                </a:solidFill>
                <a:latin typeface="Inconsolata"/>
              </a:rPr>
              <a:t>, product.id).stock = product.stock</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.changed_ids.add(product.id)</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app/infrastructure/unit_of_work.py</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commit</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.session.commit()</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.cache </a:t>
            </a:r>
            <a:r>
              <a:rPr sz="650" i="0">
                <a:solidFill>
                  <a:srgbClr val="FF8E6E"/>
                </a:solidFill>
                <a:latin typeface="Inconsolata"/>
              </a:rPr>
              <a:t>and</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.products.changed_ids:</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.cache.delete(</a:t>
            </a:r>
            <a:r>
              <a:rPr sz="650" i="0">
                <a:solidFill>
                  <a:srgbClr val="7FDBCA"/>
                </a:solidFill>
                <a:latin typeface="Inconsolata"/>
              </a:rPr>
              <a:t>PRODUCT_LIST_KEY</a:t>
            </a:r>
            <a:r>
              <a:rPr sz="650" i="0">
                <a:solidFill>
                  <a:srgbClr val="E6EDF3"/>
                </a:solidFill>
                <a:latin typeface="Inconsolata"/>
              </a:rPr>
              <a:t>, *(product_key(i) </a:t>
            </a:r>
            <a:r>
              <a:rPr sz="650" i="0">
                <a:solidFill>
                  <a:srgbClr val="FF8E6E"/>
                </a:solidFill>
                <a:latin typeface="Inconsolata"/>
              </a:rPr>
              <a:t>for</a:t>
            </a:r>
            <a:r>
              <a:rPr sz="650" i="0">
                <a:solidFill>
                  <a:srgbClr val="E6EDF3"/>
                </a:solidFill>
                <a:latin typeface="Inconsolata"/>
              </a:rPr>
              <a:t> i </a:t>
            </a:r>
            <a:r>
              <a:rPr sz="650" i="0">
                <a:solidFill>
                  <a:srgbClr val="FF8E6E"/>
                </a:solidFill>
                <a:latin typeface="Inconsolata"/>
              </a:rPr>
              <a:t>in</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.products.changed_ids))</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.products.changed_ids.clear()</a:t>
            </a:r>
          </a:p>
        </p:txBody>
      </p:sp>
      <p:sp>
        <p:nvSpPr>
          <p:cNvPr id="29" name="Box 12"/>
          <p:cNvSpPr/>
          <p:nvPr/>
        </p:nvSpPr>
        <p:spPr>
          <a:xfrm>
            <a:off x="704088" y="22301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59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365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704088" y="30429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Box 16"/>
          <p:cNvSpPr/>
          <p:nvPr/>
        </p:nvSpPr>
        <p:spPr>
          <a:xfrm>
            <a:off x="5815584" y="312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4" name="Box 17"/>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8"/>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6" name="Text 19"/>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Repository mencatat id produk yang berubah (</a:t>
            </a:r>
            <a:r>
              <a:rPr sz="900" b="0" i="0">
                <a:solidFill>
                  <a:srgbClr val="B5482A"/>
                </a:solidFill>
                <a:latin typeface="Inconsolata"/>
              </a:rPr>
              <a:t>add</a:t>
            </a:r>
            <a:r>
              <a:rPr sz="900" b="0" i="0">
                <a:solidFill>
                  <a:srgbClr val="434343"/>
                </a:solidFill>
                <a:latin typeface="Inter"/>
              </a:rPr>
              <a:t> dan </a:t>
            </a:r>
            <a:r>
              <a:rPr sz="900" b="0" i="0">
                <a:solidFill>
                  <a:srgbClr val="B5482A"/>
                </a:solidFill>
                <a:latin typeface="Inconsolata"/>
              </a:rPr>
              <a:t>save</a:t>
            </a:r>
            <a:r>
              <a:rPr sz="90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Unit of Work menghapus cache produk itu </a:t>
            </a:r>
            <a:r>
              <a:rPr sz="900" b="1" i="0">
                <a:solidFill>
                  <a:srgbClr val="434343"/>
                </a:solidFill>
                <a:latin typeface="Inter"/>
              </a:rPr>
              <a:t>setelah</a:t>
            </a:r>
            <a:r>
              <a:rPr sz="900" b="0" i="0">
                <a:solidFill>
                  <a:srgbClr val="434343"/>
                </a:solidFill>
                <a:latin typeface="Inter"/>
              </a:rPr>
              <a:t> commit berhasil</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Order gagal = tidak ada commit = cache tidak dihapus</a:t>
            </a:r>
          </a:p>
        </p:txBody>
      </p:sp>
      <p:sp>
        <p:nvSpPr>
          <p:cNvPr id="37" name="Box 20"/>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9" name="Text 22"/>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Stok di cache selalu sama dengan database.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7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rate_limiter.py: sliding window</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app/infrastructure/rate_limiter.py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hit</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client_id: </a:t>
            </a:r>
            <a:r>
              <a:rPr sz="650" i="0">
                <a:solidFill>
                  <a:srgbClr val="C3A6FF"/>
                </a:solidFill>
                <a:latin typeface="Inconsolata"/>
              </a:rPr>
              <a:t>str</a:t>
            </a:r>
            <a:r>
              <a:rPr sz="650" i="0">
                <a:solidFill>
                  <a:srgbClr val="E6EDF3"/>
                </a:solidFill>
                <a:latin typeface="Inconsolata"/>
              </a:rPr>
              <a:t>, now: </a:t>
            </a:r>
            <a:r>
              <a:rPr sz="650" i="0">
                <a:solidFill>
                  <a:srgbClr val="C3A6FF"/>
                </a:solidFill>
                <a:latin typeface="Inconsolata"/>
              </a:rPr>
              <a:t>float</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-&gt; </a:t>
            </a:r>
            <a:r>
              <a:rPr sz="650" i="0">
                <a:solidFill>
                  <a:srgbClr val="7FDBCA"/>
                </a:solidFill>
                <a:latin typeface="Inconsolata"/>
              </a:rPr>
              <a:t>RateLimitResult</a:t>
            </a:r>
            <a:r>
              <a:rPr sz="650" i="0">
                <a:solidFill>
                  <a:srgbClr val="E6EDF3"/>
                </a:solidFill>
                <a:latin typeface="Inconsolata"/>
              </a:rPr>
              <a:t>:</a:t>
            </a:r>
          </a:p>
          <a:p>
            <a:pPr>
              <a:lnSpc>
                <a:spcPct val="102564"/>
              </a:lnSpc>
              <a:spcAft>
                <a:spcPts val="0"/>
              </a:spcAft>
            </a:pPr>
            <a:r>
              <a:rPr sz="650" i="0">
                <a:solidFill>
                  <a:srgbClr val="E6EDF3"/>
                </a:solidFill>
                <a:latin typeface="Inconsolata"/>
              </a:rPr>
              <a:t>        now = time.time() </a:t>
            </a:r>
            <a:r>
              <a:rPr sz="650" i="0">
                <a:solidFill>
                  <a:srgbClr val="FF8E6E"/>
                </a:solidFill>
                <a:latin typeface="Inconsolata"/>
              </a:rPr>
              <a:t>if</a:t>
            </a:r>
            <a:r>
              <a:rPr sz="650" i="0">
                <a:solidFill>
                  <a:srgbClr val="E6EDF3"/>
                </a:solidFill>
                <a:latin typeface="Inconsolata"/>
              </a:rPr>
              <a:t> now </a:t>
            </a:r>
            <a:r>
              <a:rPr sz="650" i="0">
                <a:solidFill>
                  <a:srgbClr val="FF8E6E"/>
                </a:solidFill>
                <a:latin typeface="Inconsolata"/>
              </a:rPr>
              <a:t>is</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 </a:t>
            </a:r>
            <a:r>
              <a:rPr sz="650" i="0">
                <a:solidFill>
                  <a:srgbClr val="FF8E6E"/>
                </a:solidFill>
                <a:latin typeface="Inconsolata"/>
              </a:rPr>
              <a:t>else</a:t>
            </a:r>
            <a:r>
              <a:rPr sz="650" i="0">
                <a:solidFill>
                  <a:srgbClr val="E6EDF3"/>
                </a:solidFill>
                <a:latin typeface="Inconsolata"/>
              </a:rPr>
              <a:t> now</a:t>
            </a:r>
          </a:p>
          <a:p>
            <a:pPr>
              <a:lnSpc>
                <a:spcPct val="102564"/>
              </a:lnSpc>
              <a:spcAft>
                <a:spcPts val="0"/>
              </a:spcAft>
            </a:pPr>
            <a:r>
              <a:rPr sz="650" i="0">
                <a:solidFill>
                  <a:srgbClr val="E6EDF3"/>
                </a:solidFill>
                <a:latin typeface="Inconsolata"/>
              </a:rPr>
              <a:t>        key = </a:t>
            </a:r>
            <a:r>
              <a:rPr sz="650" i="0">
                <a:solidFill>
                  <a:srgbClr val="A5D6A7"/>
                </a:solidFill>
                <a:latin typeface="Inconsolata"/>
              </a:rPr>
              <a:t>f"ratelimit:{client_id}"</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pipe = </a:t>
            </a:r>
            <a:r>
              <a:rPr sz="650" i="0">
                <a:solidFill>
                  <a:srgbClr val="C3A6FF"/>
                </a:solidFill>
                <a:latin typeface="Inconsolata"/>
              </a:rPr>
              <a:t>self</a:t>
            </a:r>
            <a:r>
              <a:rPr sz="650" i="0">
                <a:solidFill>
                  <a:srgbClr val="E6EDF3"/>
                </a:solidFill>
                <a:latin typeface="Inconsolata"/>
              </a:rPr>
              <a:t>.redis.pipeline()</a:t>
            </a:r>
          </a:p>
          <a:p>
            <a:pPr>
              <a:lnSpc>
                <a:spcPct val="102564"/>
              </a:lnSpc>
              <a:spcAft>
                <a:spcPts val="0"/>
              </a:spcAft>
            </a:pPr>
            <a:r>
              <a:rPr sz="650" i="0">
                <a:solidFill>
                  <a:srgbClr val="E6EDF3"/>
                </a:solidFill>
                <a:latin typeface="Inconsolata"/>
              </a:rPr>
              <a:t>        pipe.zremrangebyscore(key, </a:t>
            </a:r>
            <a:r>
              <a:rPr sz="650" i="0">
                <a:solidFill>
                  <a:srgbClr val="F9C97A"/>
                </a:solidFill>
                <a:latin typeface="Inconsolata"/>
              </a:rPr>
              <a:t>0</a:t>
            </a:r>
            <a:r>
              <a:rPr sz="650" i="0">
                <a:solidFill>
                  <a:srgbClr val="E6EDF3"/>
                </a:solidFill>
                <a:latin typeface="Inconsolata"/>
              </a:rPr>
              <a:t>, now - </a:t>
            </a:r>
            <a:r>
              <a:rPr sz="650" i="0">
                <a:solidFill>
                  <a:srgbClr val="C3A6FF"/>
                </a:solidFill>
                <a:latin typeface="Inconsolata"/>
              </a:rPr>
              <a:t>self</a:t>
            </a:r>
            <a:r>
              <a:rPr sz="650" i="0">
                <a:solidFill>
                  <a:srgbClr val="E6EDF3"/>
                </a:solidFill>
                <a:latin typeface="Inconsolata"/>
              </a:rPr>
              <a:t>.window)     </a:t>
            </a:r>
            <a:r>
              <a:rPr sz="650" i="1">
                <a:solidFill>
                  <a:srgbClr val="8B98A8"/>
                </a:solidFill>
                <a:latin typeface="Inconsolata"/>
              </a:rPr>
              <a:t># buang request yang sudah lewat window</a:t>
            </a:r>
          </a:p>
          <a:p>
            <a:pPr>
              <a:lnSpc>
                <a:spcPct val="102564"/>
              </a:lnSpc>
              <a:spcAft>
                <a:spcPts val="0"/>
              </a:spcAft>
            </a:pPr>
            <a:r>
              <a:rPr sz="650" i="0">
                <a:solidFill>
                  <a:srgbClr val="E6EDF3"/>
                </a:solidFill>
                <a:latin typeface="Inconsolata"/>
              </a:rPr>
              <a:t>        pipe.zcard(key)</a:t>
            </a:r>
          </a:p>
          <a:p>
            <a:pPr>
              <a:lnSpc>
                <a:spcPct val="102564"/>
              </a:lnSpc>
              <a:spcAft>
                <a:spcPts val="0"/>
              </a:spcAft>
            </a:pPr>
            <a:r>
              <a:rPr sz="650" i="0">
                <a:solidFill>
                  <a:srgbClr val="E6EDF3"/>
                </a:solidFill>
                <a:latin typeface="Inconsolata"/>
              </a:rPr>
              <a:t>        _, count = pipe.execute()</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count &gt;= </a:t>
            </a:r>
            <a:r>
              <a:rPr sz="650" i="0">
                <a:solidFill>
                  <a:srgbClr val="C3A6FF"/>
                </a:solidFill>
                <a:latin typeface="Inconsolata"/>
              </a:rPr>
              <a:t>self</a:t>
            </a:r>
            <a:r>
              <a:rPr sz="650" i="0">
                <a:solidFill>
                  <a:srgbClr val="E6EDF3"/>
                </a:solidFill>
                <a:latin typeface="Inconsolata"/>
              </a:rPr>
              <a:t>.limit:</a:t>
            </a:r>
          </a:p>
          <a:p>
            <a:pPr>
              <a:lnSpc>
                <a:spcPct val="102564"/>
              </a:lnSpc>
              <a:spcAft>
                <a:spcPts val="0"/>
              </a:spcAft>
            </a:pPr>
            <a:r>
              <a:rPr sz="650" i="0">
                <a:solidFill>
                  <a:srgbClr val="E6EDF3"/>
                </a:solidFill>
                <a:latin typeface="Inconsolata"/>
              </a:rPr>
              <a:t>            oldest = </a:t>
            </a:r>
            <a:r>
              <a:rPr sz="650" i="0">
                <a:solidFill>
                  <a:srgbClr val="C3A6FF"/>
                </a:solidFill>
                <a:latin typeface="Inconsolata"/>
              </a:rPr>
              <a:t>self</a:t>
            </a:r>
            <a:r>
              <a:rPr sz="650" i="0">
                <a:solidFill>
                  <a:srgbClr val="E6EDF3"/>
                </a:solidFill>
                <a:latin typeface="Inconsolata"/>
              </a:rPr>
              <a:t>.redis.zrange(key, </a:t>
            </a:r>
            <a:r>
              <a:rPr sz="650" i="0">
                <a:solidFill>
                  <a:srgbClr val="F9C97A"/>
                </a:solidFill>
                <a:latin typeface="Inconsolata"/>
              </a:rPr>
              <a:t>0</a:t>
            </a:r>
            <a:r>
              <a:rPr sz="650" i="0">
                <a:solidFill>
                  <a:srgbClr val="E6EDF3"/>
                </a:solidFill>
                <a:latin typeface="Inconsolata"/>
              </a:rPr>
              <a:t>, </a:t>
            </a:r>
            <a:r>
              <a:rPr sz="650" i="0">
                <a:solidFill>
                  <a:srgbClr val="F9C97A"/>
                </a:solidFill>
                <a:latin typeface="Inconsolata"/>
              </a:rPr>
              <a:t>0</a:t>
            </a:r>
            <a:r>
              <a:rPr sz="650" i="0">
                <a:solidFill>
                  <a:srgbClr val="E6EDF3"/>
                </a:solidFill>
                <a:latin typeface="Inconsolata"/>
              </a:rPr>
              <a:t>, withscores=</a:t>
            </a:r>
            <a:r>
              <a:rPr sz="650" i="0">
                <a:solidFill>
                  <a:srgbClr val="FF8E6E"/>
                </a:solidFill>
                <a:latin typeface="Inconsolata"/>
              </a:rPr>
              <a:t>True</a:t>
            </a:r>
            <a:r>
              <a:rPr sz="650" i="0">
                <a:solidFill>
                  <a:srgbClr val="E6EDF3"/>
                </a:solidFill>
                <a:latin typeface="Inconsolata"/>
              </a:rPr>
              <a:t>)[</a:t>
            </a:r>
            <a:r>
              <a:rPr sz="650" i="0">
                <a:solidFill>
                  <a:srgbClr val="F9C97A"/>
                </a:solidFill>
                <a:latin typeface="Inconsolata"/>
              </a:rPr>
              <a:t>0</a:t>
            </a:r>
            <a:r>
              <a:rPr sz="650" i="0">
                <a:solidFill>
                  <a:srgbClr val="E6EDF3"/>
                </a:solidFill>
                <a:latin typeface="Inconsolata"/>
              </a:rPr>
              <a:t>][</a:t>
            </a:r>
            <a:r>
              <a:rPr sz="650" i="0">
                <a:solidFill>
                  <a:srgbClr val="F9C97A"/>
                </a:solidFill>
                <a:latin typeface="Inconsolata"/>
              </a:rPr>
              <a:t>1</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7FDBCA"/>
                </a:solidFill>
                <a:latin typeface="Inconsolata"/>
              </a:rPr>
              <a:t>RateLimitResult</a:t>
            </a:r>
            <a:r>
              <a:rPr sz="650" i="0">
                <a:solidFill>
                  <a:srgbClr val="E6EDF3"/>
                </a:solidFill>
                <a:latin typeface="Inconsolata"/>
              </a:rPr>
              <a:t>(</a:t>
            </a:r>
            <a:r>
              <a:rPr sz="650" i="0">
                <a:solidFill>
                  <a:srgbClr val="FF8E6E"/>
                </a:solidFill>
                <a:latin typeface="Inconsolata"/>
              </a:rPr>
              <a:t>False</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.limit, </a:t>
            </a:r>
            <a:r>
              <a:rPr sz="650" i="0">
                <a:solidFill>
                  <a:srgbClr val="F9C97A"/>
                </a:solidFill>
                <a:latin typeface="Inconsolata"/>
              </a:rPr>
              <a:t>0</a:t>
            </a:r>
            <a:r>
              <a:rPr sz="650" i="0">
                <a:solidFill>
                  <a:srgbClr val="E6EDF3"/>
                </a:solidFill>
                <a:latin typeface="Inconsolata"/>
              </a:rPr>
              <a:t>, </a:t>
            </a:r>
            <a:r>
              <a:rPr sz="650" i="0">
                <a:solidFill>
                  <a:srgbClr val="C3A6FF"/>
                </a:solidFill>
                <a:latin typeface="Inconsolata"/>
              </a:rPr>
              <a:t>max</a:t>
            </a:r>
            <a:r>
              <a:rPr sz="650" i="0">
                <a:solidFill>
                  <a:srgbClr val="E6EDF3"/>
                </a:solidFill>
                <a:latin typeface="Inconsolata"/>
              </a:rPr>
              <a:t>(</a:t>
            </a:r>
            <a:r>
              <a:rPr sz="650" i="0">
                <a:solidFill>
                  <a:srgbClr val="F9C97A"/>
                </a:solidFill>
                <a:latin typeface="Inconsolata"/>
              </a:rPr>
              <a:t>1</a:t>
            </a:r>
            <a:r>
              <a:rPr sz="650" i="0">
                <a:solidFill>
                  <a:srgbClr val="E6EDF3"/>
                </a:solidFill>
                <a:latin typeface="Inconsolata"/>
              </a:rPr>
              <a:t>, math.ceil(oldest + </a:t>
            </a:r>
            <a:r>
              <a:rPr sz="650" i="0">
                <a:solidFill>
                  <a:srgbClr val="C3A6FF"/>
                </a:solidFill>
                <a:latin typeface="Inconsolata"/>
              </a:rPr>
              <a:t>self</a:t>
            </a:r>
            <a:r>
              <a:rPr sz="650" i="0">
                <a:solidFill>
                  <a:srgbClr val="E6EDF3"/>
                </a:solidFill>
                <a:latin typeface="Inconsolata"/>
              </a:rPr>
              <a:t>.window - now)))</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pipe = </a:t>
            </a:r>
            <a:r>
              <a:rPr sz="650" i="0">
                <a:solidFill>
                  <a:srgbClr val="C3A6FF"/>
                </a:solidFill>
                <a:latin typeface="Inconsolata"/>
              </a:rPr>
              <a:t>self</a:t>
            </a:r>
            <a:r>
              <a:rPr sz="650" i="0">
                <a:solidFill>
                  <a:srgbClr val="E6EDF3"/>
                </a:solidFill>
                <a:latin typeface="Inconsolata"/>
              </a:rPr>
              <a:t>.redis.pipeline()</a:t>
            </a:r>
          </a:p>
          <a:p>
            <a:pPr>
              <a:lnSpc>
                <a:spcPct val="102564"/>
              </a:lnSpc>
              <a:spcAft>
                <a:spcPts val="0"/>
              </a:spcAft>
            </a:pPr>
            <a:r>
              <a:rPr sz="650" i="0">
                <a:solidFill>
                  <a:srgbClr val="E6EDF3"/>
                </a:solidFill>
                <a:latin typeface="Inconsolata"/>
              </a:rPr>
              <a:t>        pipe.zadd(key, {uuid4().hex: now})</a:t>
            </a:r>
          </a:p>
          <a:p>
            <a:pPr>
              <a:lnSpc>
                <a:spcPct val="102564"/>
              </a:lnSpc>
              <a:spcAft>
                <a:spcPts val="0"/>
              </a:spcAft>
            </a:pPr>
            <a:r>
              <a:rPr sz="650" i="0">
                <a:solidFill>
                  <a:srgbClr val="E6EDF3"/>
                </a:solidFill>
                <a:latin typeface="Inconsolata"/>
              </a:rPr>
              <a:t>        pipe.expire(key, </a:t>
            </a:r>
            <a:r>
              <a:rPr sz="650" i="0">
                <a:solidFill>
                  <a:srgbClr val="C3A6FF"/>
                </a:solidFill>
                <a:latin typeface="Inconsolata"/>
              </a:rPr>
              <a:t>self</a:t>
            </a:r>
            <a:r>
              <a:rPr sz="650" i="0">
                <a:solidFill>
                  <a:srgbClr val="E6EDF3"/>
                </a:solidFill>
                <a:latin typeface="Inconsolata"/>
              </a:rPr>
              <a:t>.window)</a:t>
            </a:r>
          </a:p>
          <a:p>
            <a:pPr>
              <a:lnSpc>
                <a:spcPct val="102564"/>
              </a:lnSpc>
              <a:spcAft>
                <a:spcPts val="0"/>
              </a:spcAft>
            </a:pPr>
            <a:r>
              <a:rPr sz="650" i="0">
                <a:solidFill>
                  <a:srgbClr val="E6EDF3"/>
                </a:solidFill>
                <a:latin typeface="Inconsolata"/>
              </a:rPr>
              <a:t>        pipe.execute()</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7FDBCA"/>
                </a:solidFill>
                <a:latin typeface="Inconsolata"/>
              </a:rPr>
              <a:t>RateLimitResult</a:t>
            </a:r>
            <a:r>
              <a:rPr sz="650" i="0">
                <a:solidFill>
                  <a:srgbClr val="E6EDF3"/>
                </a:solidFill>
                <a:latin typeface="Inconsolata"/>
              </a:rPr>
              <a:t>(</a:t>
            </a:r>
            <a:r>
              <a:rPr sz="650" i="0">
                <a:solidFill>
                  <a:srgbClr val="FF8E6E"/>
                </a:solidFill>
                <a:latin typeface="Inconsolata"/>
              </a:rPr>
              <a:t>True</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.limit, </a:t>
            </a:r>
            <a:r>
              <a:rPr sz="650" i="0">
                <a:solidFill>
                  <a:srgbClr val="C3A6FF"/>
                </a:solidFill>
                <a:latin typeface="Inconsolata"/>
              </a:rPr>
              <a:t>self</a:t>
            </a:r>
            <a:r>
              <a:rPr sz="650" i="0">
                <a:solidFill>
                  <a:srgbClr val="E6EDF3"/>
                </a:solidFill>
                <a:latin typeface="Inconsolata"/>
              </a:rPr>
              <a:t>.limit - count - </a:t>
            </a:r>
            <a:r>
              <a:rPr sz="650" i="0">
                <a:solidFill>
                  <a:srgbClr val="F9C97A"/>
                </a:solidFill>
                <a:latin typeface="Inconsolata"/>
              </a:rPr>
              <a:t>1</a:t>
            </a:r>
            <a:r>
              <a:rPr sz="650" i="0">
                <a:solidFill>
                  <a:srgbClr val="E6EDF3"/>
                </a:solidFill>
                <a:latin typeface="Inconsolata"/>
              </a:rPr>
              <a:t>, </a:t>
            </a:r>
            <a:r>
              <a:rPr sz="650" i="0">
                <a:solidFill>
                  <a:srgbClr val="F9C97A"/>
                </a:solidFill>
                <a:latin typeface="Inconsolata"/>
              </a:rPr>
              <a:t>0</a:t>
            </a:r>
            <a:r>
              <a:rPr sz="650" i="0">
                <a:solidFill>
                  <a:srgbClr val="E6EDF3"/>
                </a:solidFill>
                <a:latin typeface="Inconsolata"/>
              </a:rPr>
              <a:t>)</a:t>
            </a:r>
          </a:p>
        </p:txBody>
      </p:sp>
      <p:sp>
        <p:nvSpPr>
          <p:cNvPr id="29" name="Box 12"/>
          <p:cNvSpPr/>
          <p:nvPr/>
        </p:nvSpPr>
        <p:spPr>
          <a:xfrm>
            <a:off x="704088" y="2331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362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81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768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2461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327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Buang request lama lalu hitung, dalam satu kali kirim ke Redis (</a:t>
            </a:r>
            <a:r>
              <a:rPr sz="900" b="0" i="0">
                <a:solidFill>
                  <a:srgbClr val="B5482A"/>
                </a:solidFill>
                <a:latin typeface="Inconsolata"/>
              </a:rPr>
              <a:t>pipeline</a:t>
            </a:r>
            <a:r>
              <a:rPr sz="90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Lewat limit: </a:t>
            </a:r>
            <a:r>
              <a:rPr sz="900" b="0" i="0">
                <a:solidFill>
                  <a:srgbClr val="B5482A"/>
                </a:solidFill>
                <a:latin typeface="Inconsolata"/>
              </a:rPr>
              <a:t>retry_after</a:t>
            </a:r>
            <a:r>
              <a:rPr sz="900" b="0" i="0">
                <a:solidFill>
                  <a:srgbClr val="434343"/>
                </a:solidFill>
                <a:latin typeface="Inter"/>
              </a:rPr>
              <a:t> dihitung dari request tertua di window</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Masih boleh: catat request ini dan kembalikan sisa kuota</a:t>
            </a:r>
          </a:p>
          <a:p>
            <a:pPr algn="l">
              <a:lnSpc>
                <a:spcPct val="115000"/>
              </a:lnSpc>
              <a:spcAft>
                <a:spcPts val="0"/>
              </a:spcAft>
            </a:pPr>
            <a:endParaRPr sz="900" b="0" i="0">
              <a:solidFill>
                <a:srgbClr val="434343"/>
              </a:solidFill>
              <a:latin typeface="Inter"/>
            </a:endParaRPr>
          </a:p>
          <a:p>
            <a:pPr algn="l">
              <a:lnSpc>
                <a:spcPct val="115000"/>
              </a:lnSpc>
              <a:spcAft>
                <a:spcPts val="400"/>
              </a:spcAft>
            </a:pPr>
            <a:r>
              <a:rPr sz="900" b="0" i="0">
                <a:solidFill>
                  <a:srgbClr val="B5482A"/>
                </a:solidFill>
                <a:latin typeface="Inconsolata"/>
              </a:rPr>
              <a:t>RateLimitResult</a:t>
            </a:r>
            <a:r>
              <a:rPr sz="900" b="0" i="0">
                <a:solidFill>
                  <a:srgbClr val="434343"/>
                </a:solidFill>
                <a:latin typeface="Inter"/>
              </a:rPr>
              <a:t> berisi </a:t>
            </a:r>
            <a:r>
              <a:rPr sz="900" b="0" i="0">
                <a:solidFill>
                  <a:srgbClr val="B5482A"/>
                </a:solidFill>
                <a:latin typeface="Inconsolata"/>
              </a:rPr>
              <a:t>allowed</a:t>
            </a:r>
            <a:r>
              <a:rPr sz="900" b="0" i="0">
                <a:solidFill>
                  <a:srgbClr val="434343"/>
                </a:solidFill>
                <a:latin typeface="Inter"/>
              </a:rPr>
              <a:t>, </a:t>
            </a:r>
            <a:r>
              <a:rPr sz="900" b="0" i="0">
                <a:solidFill>
                  <a:srgbClr val="B5482A"/>
                </a:solidFill>
                <a:latin typeface="Inconsolata"/>
              </a:rPr>
              <a:t>limit</a:t>
            </a:r>
            <a:r>
              <a:rPr sz="900" b="0" i="0">
                <a:solidFill>
                  <a:srgbClr val="434343"/>
                </a:solidFill>
                <a:latin typeface="Inter"/>
              </a:rPr>
              <a:t>, </a:t>
            </a:r>
            <a:r>
              <a:rPr sz="900" b="0" i="0">
                <a:solidFill>
                  <a:srgbClr val="B5482A"/>
                </a:solidFill>
                <a:latin typeface="Inconsolata"/>
              </a:rPr>
              <a:t>remaining</a:t>
            </a:r>
            <a:r>
              <a:rPr sz="900" b="0" i="0">
                <a:solidFill>
                  <a:srgbClr val="434343"/>
                </a:solidFill>
                <a:latin typeface="Inter"/>
              </a:rPr>
              <a:t>, dan </a:t>
            </a:r>
            <a:r>
              <a:rPr sz="900" b="0" i="0">
                <a:solidFill>
                  <a:srgbClr val="B5482A"/>
                </a:solidFill>
                <a:latin typeface="Inconsolata"/>
              </a:rPr>
              <a:t>retry_after</a:t>
            </a:r>
            <a:r>
              <a:rPr sz="900" b="0" i="0">
                <a:solidFill>
                  <a:srgbClr val="434343"/>
                </a:solidFill>
                <a:latin typeface="Inter"/>
              </a:rPr>
              <a:t>.</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Logika yang sama dengan contoh 06.</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8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API: dependency rate limit dan error 429</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api/rate_limit.py  +  api/errors.py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app/api/rate_limit.py</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rate_limit</a:t>
            </a:r>
            <a:r>
              <a:rPr sz="700" i="0">
                <a:solidFill>
                  <a:srgbClr val="E6EDF3"/>
                </a:solidFill>
                <a:latin typeface="Inconsolata"/>
              </a:rPr>
              <a:t>(request: </a:t>
            </a:r>
            <a:r>
              <a:rPr sz="700" i="0">
                <a:solidFill>
                  <a:srgbClr val="7FDBCA"/>
                </a:solidFill>
                <a:latin typeface="Inconsolata"/>
              </a:rPr>
              <a:t>Request</a:t>
            </a:r>
            <a:r>
              <a:rPr sz="700" i="0">
                <a:solidFill>
                  <a:srgbClr val="E6EDF3"/>
                </a:solidFill>
                <a:latin typeface="Inconsolata"/>
              </a:rPr>
              <a:t>, response: </a:t>
            </a:r>
            <a:r>
              <a:rPr sz="700" i="0">
                <a:solidFill>
                  <a:srgbClr val="7FDBCA"/>
                </a:solidFill>
                <a:latin typeface="Inconsolata"/>
              </a:rPr>
              <a:t>Response</a:t>
            </a:r>
            <a:r>
              <a:rPr sz="700" i="0">
                <a:solidFill>
                  <a:srgbClr val="E6EDF3"/>
                </a:solidFill>
                <a:latin typeface="Inconsolata"/>
              </a:rPr>
              <a:t>,</a:t>
            </a:r>
          </a:p>
          <a:p>
            <a:pPr>
              <a:lnSpc>
                <a:spcPct val="107143"/>
              </a:lnSpc>
              <a:spcAft>
                <a:spcPts val="0"/>
              </a:spcAft>
            </a:pPr>
            <a:r>
              <a:rPr sz="700" i="0">
                <a:solidFill>
                  <a:srgbClr val="E6EDF3"/>
                </a:solidFill>
                <a:latin typeface="Inconsolata"/>
              </a:rPr>
              <a:t>               limiter: </a:t>
            </a:r>
            <a:r>
              <a:rPr sz="700" i="0">
                <a:solidFill>
                  <a:srgbClr val="7FDBCA"/>
                </a:solidFill>
                <a:latin typeface="Inconsolata"/>
              </a:rPr>
              <a:t>SlidingWindowRateLimiter</a:t>
            </a:r>
            <a:r>
              <a:rPr sz="700" i="0">
                <a:solidFill>
                  <a:srgbClr val="E6EDF3"/>
                </a:solidFill>
                <a:latin typeface="Inconsolata"/>
              </a:rPr>
              <a:t> = </a:t>
            </a:r>
            <a:r>
              <a:rPr sz="700" i="0">
                <a:solidFill>
                  <a:srgbClr val="7FDBCA"/>
                </a:solidFill>
                <a:latin typeface="Inconsolata"/>
              </a:rPr>
              <a:t>Depends</a:t>
            </a:r>
            <a:r>
              <a:rPr sz="700" i="0">
                <a:solidFill>
                  <a:srgbClr val="E6EDF3"/>
                </a:solidFill>
                <a:latin typeface="Inconsolata"/>
              </a:rPr>
              <a:t>(get_rate_limiter)) -&gt; </a:t>
            </a:r>
            <a:r>
              <a:rPr sz="700" i="0">
                <a:solidFill>
                  <a:srgbClr val="FF8E6E"/>
                </a:solidFill>
                <a:latin typeface="Inconsolata"/>
              </a:rPr>
              <a:t>None</a:t>
            </a:r>
            <a:r>
              <a:rPr sz="700" i="0">
                <a:solidFill>
                  <a:srgbClr val="E6EDF3"/>
                </a:solidFill>
                <a:latin typeface="Inconsolata"/>
              </a:rPr>
              <a:t>:</a:t>
            </a:r>
          </a:p>
          <a:p>
            <a:pPr>
              <a:lnSpc>
                <a:spcPct val="107143"/>
              </a:lnSpc>
              <a:spcAft>
                <a:spcPts val="0"/>
              </a:spcAft>
            </a:pPr>
            <a:r>
              <a:rPr sz="700" i="0">
                <a:solidFill>
                  <a:srgbClr val="E6EDF3"/>
                </a:solidFill>
                <a:latin typeface="Inconsolata"/>
              </a:rPr>
              <a:t>    result = limiter.hit(request.client.host)</a:t>
            </a:r>
          </a:p>
          <a:p>
            <a:pPr>
              <a:lnSpc>
                <a:spcPct val="107143"/>
              </a:lnSpc>
              <a:spcAft>
                <a:spcPts val="0"/>
              </a:spcAft>
            </a:pP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a:t>
            </a:r>
            <a:r>
              <a:rPr sz="700" i="0">
                <a:solidFill>
                  <a:srgbClr val="FF8E6E"/>
                </a:solidFill>
                <a:latin typeface="Inconsolata"/>
              </a:rPr>
              <a:t>not</a:t>
            </a:r>
            <a:r>
              <a:rPr sz="700" i="0">
                <a:solidFill>
                  <a:srgbClr val="E6EDF3"/>
                </a:solidFill>
                <a:latin typeface="Inconsolata"/>
              </a:rPr>
              <a:t> result.allowed:</a:t>
            </a:r>
          </a:p>
          <a:p>
            <a:pPr>
              <a:lnSpc>
                <a:spcPct val="107143"/>
              </a:lnSpc>
              <a:spcAft>
                <a:spcPts val="0"/>
              </a:spcAft>
            </a:pPr>
            <a:r>
              <a:rPr sz="700" i="0">
                <a:solidFill>
                  <a:srgbClr val="E6EDF3"/>
                </a:solidFill>
                <a:latin typeface="Inconsolata"/>
              </a:rPr>
              <a:t>        </a:t>
            </a:r>
            <a:r>
              <a:rPr sz="700" i="0">
                <a:solidFill>
                  <a:srgbClr val="FF8E6E"/>
                </a:solidFill>
                <a:latin typeface="Inconsolata"/>
              </a:rPr>
              <a:t>raise</a:t>
            </a:r>
            <a:r>
              <a:rPr sz="700" i="0">
                <a:solidFill>
                  <a:srgbClr val="E6EDF3"/>
                </a:solidFill>
                <a:latin typeface="Inconsolata"/>
              </a:rPr>
              <a:t> </a:t>
            </a:r>
            <a:r>
              <a:rPr sz="700" i="0">
                <a:solidFill>
                  <a:srgbClr val="7FDBCA"/>
                </a:solidFill>
                <a:latin typeface="Inconsolata"/>
              </a:rPr>
              <a:t>RateLimited</a:t>
            </a:r>
            <a:r>
              <a:rPr sz="700" i="0">
                <a:solidFill>
                  <a:srgbClr val="E6EDF3"/>
                </a:solidFill>
                <a:latin typeface="Inconsolata"/>
              </a:rPr>
              <a:t>(result.limit, result.retry_after)</a:t>
            </a:r>
          </a:p>
          <a:p>
            <a:pPr>
              <a:lnSpc>
                <a:spcPct val="107143"/>
              </a:lnSpc>
              <a:spcAft>
                <a:spcPts val="0"/>
              </a:spcAft>
            </a:pPr>
            <a:r>
              <a:rPr sz="700" i="0">
                <a:solidFill>
                  <a:srgbClr val="E6EDF3"/>
                </a:solidFill>
                <a:latin typeface="Inconsolata"/>
              </a:rPr>
              <a:t>    response.headers[</a:t>
            </a:r>
            <a:r>
              <a:rPr sz="700" i="0">
                <a:solidFill>
                  <a:srgbClr val="A5D6A7"/>
                </a:solidFill>
                <a:latin typeface="Inconsolata"/>
              </a:rPr>
              <a:t>"X-RateLimit-Limit"</a:t>
            </a:r>
            <a:r>
              <a:rPr sz="700" i="0">
                <a:solidFill>
                  <a:srgbClr val="E6EDF3"/>
                </a:solidFill>
                <a:latin typeface="Inconsolata"/>
              </a:rPr>
              <a:t>] = </a:t>
            </a:r>
            <a:r>
              <a:rPr sz="700" i="0">
                <a:solidFill>
                  <a:srgbClr val="C3A6FF"/>
                </a:solidFill>
                <a:latin typeface="Inconsolata"/>
              </a:rPr>
              <a:t>str</a:t>
            </a:r>
            <a:r>
              <a:rPr sz="700" i="0">
                <a:solidFill>
                  <a:srgbClr val="E6EDF3"/>
                </a:solidFill>
                <a:latin typeface="Inconsolata"/>
              </a:rPr>
              <a:t>(result.limit)</a:t>
            </a:r>
          </a:p>
          <a:p>
            <a:pPr>
              <a:lnSpc>
                <a:spcPct val="107143"/>
              </a:lnSpc>
              <a:spcAft>
                <a:spcPts val="0"/>
              </a:spcAft>
            </a:pPr>
            <a:r>
              <a:rPr sz="700" i="0">
                <a:solidFill>
                  <a:srgbClr val="E6EDF3"/>
                </a:solidFill>
                <a:latin typeface="Inconsolata"/>
              </a:rPr>
              <a:t>    response.headers[</a:t>
            </a:r>
            <a:r>
              <a:rPr sz="700" i="0">
                <a:solidFill>
                  <a:srgbClr val="A5D6A7"/>
                </a:solidFill>
                <a:latin typeface="Inconsolata"/>
              </a:rPr>
              <a:t>"X-RateLimit-Remaining"</a:t>
            </a:r>
            <a:r>
              <a:rPr sz="700" i="0">
                <a:solidFill>
                  <a:srgbClr val="E6EDF3"/>
                </a:solidFill>
                <a:latin typeface="Inconsolata"/>
              </a:rPr>
              <a:t>] = </a:t>
            </a:r>
            <a:r>
              <a:rPr sz="700" i="0">
                <a:solidFill>
                  <a:srgbClr val="C3A6FF"/>
                </a:solidFill>
                <a:latin typeface="Inconsolata"/>
              </a:rPr>
              <a:t>str</a:t>
            </a:r>
            <a:r>
              <a:rPr sz="700" i="0">
                <a:solidFill>
                  <a:srgbClr val="E6EDF3"/>
                </a:solidFill>
                <a:latin typeface="Inconsolata"/>
              </a:rPr>
              <a:t>(result.remaining)</a:t>
            </a:r>
          </a:p>
          <a:p>
            <a:pPr>
              <a:lnSpc>
                <a:spcPct val="107143"/>
              </a:lnSpc>
              <a:spcAft>
                <a:spcPts val="0"/>
              </a:spcAft>
            </a:pPr>
            <a:r>
              <a:rPr sz="700" i="0">
                <a:solidFill>
                  <a:srgbClr val="E6EDF3"/>
                </a:solidFill>
                <a:latin typeface="Inconsolata"/>
              </a:rPr>
              <a:t> </a:t>
            </a:r>
          </a:p>
          <a:p>
            <a:pPr>
              <a:lnSpc>
                <a:spcPct val="107143"/>
              </a:lnSpc>
              <a:spcAft>
                <a:spcPts val="0"/>
              </a:spcAft>
            </a:pPr>
            <a:r>
              <a:rPr sz="700" i="1">
                <a:solidFill>
                  <a:srgbClr val="8B98A8"/>
                </a:solidFill>
                <a:latin typeface="Inconsolata"/>
              </a:rPr>
              <a:t># app/api/errors.py</a:t>
            </a:r>
          </a:p>
          <a:p>
            <a:pPr>
              <a:lnSpc>
                <a:spcPct val="107143"/>
              </a:lnSpc>
              <a:spcAft>
                <a:spcPts val="0"/>
              </a:spcAft>
            </a:pPr>
            <a:r>
              <a:rPr sz="700" i="0">
                <a:solidFill>
                  <a:srgbClr val="FF8E6E"/>
                </a:solidFill>
                <a:latin typeface="Inconsolata"/>
              </a:rPr>
              <a:t>async</a:t>
            </a: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handle_rate_limited</a:t>
            </a:r>
            <a:r>
              <a:rPr sz="700" i="0">
                <a:solidFill>
                  <a:srgbClr val="E6EDF3"/>
                </a:solidFill>
                <a:latin typeface="Inconsolata"/>
              </a:rPr>
              <a:t>(request: </a:t>
            </a:r>
            <a:r>
              <a:rPr sz="700" i="0">
                <a:solidFill>
                  <a:srgbClr val="7FDBCA"/>
                </a:solidFill>
                <a:latin typeface="Inconsolata"/>
              </a:rPr>
              <a:t>Request</a:t>
            </a:r>
            <a:r>
              <a:rPr sz="700" i="0">
                <a:solidFill>
                  <a:srgbClr val="E6EDF3"/>
                </a:solidFill>
                <a:latin typeface="Inconsolata"/>
              </a:rPr>
              <a:t>, exc: </a:t>
            </a:r>
            <a:r>
              <a:rPr sz="700" i="0">
                <a:solidFill>
                  <a:srgbClr val="7FDBCA"/>
                </a:solidFill>
                <a:latin typeface="Inconsolata"/>
              </a:rPr>
              <a:t>RateLimited</a:t>
            </a:r>
            <a:r>
              <a:rPr sz="700" i="0">
                <a:solidFill>
                  <a:srgbClr val="E6EDF3"/>
                </a:solidFill>
                <a:latin typeface="Inconsolata"/>
              </a:rPr>
              <a:t>) -&gt; </a:t>
            </a:r>
            <a:r>
              <a:rPr sz="700" i="0">
                <a:solidFill>
                  <a:srgbClr val="7FDBCA"/>
                </a:solidFill>
                <a:latin typeface="Inconsolata"/>
              </a:rPr>
              <a:t>JSONResponse</a:t>
            </a:r>
            <a:r>
              <a:rPr sz="700" i="0">
                <a:solidFill>
                  <a:srgbClr val="E6EDF3"/>
                </a:solidFill>
                <a:latin typeface="Inconsolata"/>
              </a:rPr>
              <a:t>:</a:t>
            </a:r>
          </a:p>
          <a:p>
            <a:pPr>
              <a:lnSpc>
                <a:spcPct val="107143"/>
              </a:lnSpc>
              <a:spcAft>
                <a:spcPts val="0"/>
              </a:spcAft>
            </a:pPr>
            <a:r>
              <a:rPr sz="700" i="0">
                <a:solidFill>
                  <a:srgbClr val="E6EDF3"/>
                </a:solidFill>
                <a:latin typeface="Inconsolata"/>
              </a:rPr>
              <a:t>    response = error_response(</a:t>
            </a:r>
            <a:r>
              <a:rPr sz="700" i="0">
                <a:solidFill>
                  <a:srgbClr val="F9C97A"/>
                </a:solidFill>
                <a:latin typeface="Inconsolata"/>
              </a:rPr>
              <a:t>429</a:t>
            </a:r>
            <a:r>
              <a:rPr sz="700" i="0">
                <a:solidFill>
                  <a:srgbClr val="E6EDF3"/>
                </a:solidFill>
                <a:latin typeface="Inconsolata"/>
              </a:rPr>
              <a:t>, </a:t>
            </a:r>
            <a:r>
              <a:rPr sz="700" i="0">
                <a:solidFill>
                  <a:srgbClr val="A5D6A7"/>
                </a:solidFill>
                <a:latin typeface="Inconsolata"/>
              </a:rPr>
              <a:t>"rate_limited"</a:t>
            </a:r>
            <a:r>
              <a:rPr sz="700" i="0">
                <a:solidFill>
                  <a:srgbClr val="E6EDF3"/>
                </a:solidFill>
                <a:latin typeface="Inconsolata"/>
              </a:rPr>
              <a:t>, </a:t>
            </a:r>
            <a:r>
              <a:rPr sz="700" i="0">
                <a:solidFill>
                  <a:srgbClr val="C3A6FF"/>
                </a:solidFill>
                <a:latin typeface="Inconsolata"/>
              </a:rPr>
              <a:t>str</a:t>
            </a:r>
            <a:r>
              <a:rPr sz="700" i="0">
                <a:solidFill>
                  <a:srgbClr val="E6EDF3"/>
                </a:solidFill>
                <a:latin typeface="Inconsolata"/>
              </a:rPr>
              <a:t>(exc))</a:t>
            </a:r>
          </a:p>
          <a:p>
            <a:pPr>
              <a:lnSpc>
                <a:spcPct val="107143"/>
              </a:lnSpc>
              <a:spcAft>
                <a:spcPts val="0"/>
              </a:spcAft>
            </a:pPr>
            <a:r>
              <a:rPr sz="700" i="0">
                <a:solidFill>
                  <a:srgbClr val="E6EDF3"/>
                </a:solidFill>
                <a:latin typeface="Inconsolata"/>
              </a:rPr>
              <a:t>    response.headers[</a:t>
            </a:r>
            <a:r>
              <a:rPr sz="700" i="0">
                <a:solidFill>
                  <a:srgbClr val="A5D6A7"/>
                </a:solidFill>
                <a:latin typeface="Inconsolata"/>
              </a:rPr>
              <a:t>"Retry-After"</a:t>
            </a:r>
            <a:r>
              <a:rPr sz="700" i="0">
                <a:solidFill>
                  <a:srgbClr val="E6EDF3"/>
                </a:solidFill>
                <a:latin typeface="Inconsolata"/>
              </a:rPr>
              <a:t>] = </a:t>
            </a:r>
            <a:r>
              <a:rPr sz="700" i="0">
                <a:solidFill>
                  <a:srgbClr val="C3A6FF"/>
                </a:solidFill>
                <a:latin typeface="Inconsolata"/>
              </a:rPr>
              <a:t>str</a:t>
            </a:r>
            <a:r>
              <a:rPr sz="700" i="0">
                <a:solidFill>
                  <a:srgbClr val="E6EDF3"/>
                </a:solidFill>
                <a:latin typeface="Inconsolata"/>
              </a:rPr>
              <a:t>(exc.retry_after)</a:t>
            </a:r>
          </a:p>
          <a:p>
            <a:pPr>
              <a:lnSpc>
                <a:spcPct val="107143"/>
              </a:lnSpc>
              <a:spcAft>
                <a:spcPts val="0"/>
              </a:spcAft>
            </a:pPr>
            <a:r>
              <a:rPr sz="700" i="0">
                <a:solidFill>
                  <a:srgbClr val="E6EDF3"/>
                </a:solidFill>
                <a:latin typeface="Inconsolata"/>
              </a:rPr>
              <a:t>    response.headers[</a:t>
            </a:r>
            <a:r>
              <a:rPr sz="700" i="0">
                <a:solidFill>
                  <a:srgbClr val="A5D6A7"/>
                </a:solidFill>
                <a:latin typeface="Inconsolata"/>
              </a:rPr>
              <a:t>"X-RateLimit-Limit"</a:t>
            </a:r>
            <a:r>
              <a:rPr sz="700" i="0">
                <a:solidFill>
                  <a:srgbClr val="E6EDF3"/>
                </a:solidFill>
                <a:latin typeface="Inconsolata"/>
              </a:rPr>
              <a:t>] = </a:t>
            </a:r>
            <a:r>
              <a:rPr sz="700" i="0">
                <a:solidFill>
                  <a:srgbClr val="C3A6FF"/>
                </a:solidFill>
                <a:latin typeface="Inconsolata"/>
              </a:rPr>
              <a:t>str</a:t>
            </a:r>
            <a:r>
              <a:rPr sz="700" i="0">
                <a:solidFill>
                  <a:srgbClr val="E6EDF3"/>
                </a:solidFill>
                <a:latin typeface="Inconsolata"/>
              </a:rPr>
              <a:t>(exc.limit)</a:t>
            </a:r>
          </a:p>
          <a:p>
            <a:pPr>
              <a:lnSpc>
                <a:spcPct val="107143"/>
              </a:lnSpc>
              <a:spcAft>
                <a:spcPts val="0"/>
              </a:spcAft>
            </a:pPr>
            <a:r>
              <a:rPr sz="700" i="0">
                <a:solidFill>
                  <a:srgbClr val="E6EDF3"/>
                </a:solidFill>
                <a:latin typeface="Inconsolata"/>
              </a:rPr>
              <a:t>    response.headers[</a:t>
            </a:r>
            <a:r>
              <a:rPr sz="700" i="0">
                <a:solidFill>
                  <a:srgbClr val="A5D6A7"/>
                </a:solidFill>
                <a:latin typeface="Inconsolata"/>
              </a:rPr>
              <a:t>"X-RateLimit-Remaining"</a:t>
            </a:r>
            <a:r>
              <a:rPr sz="700" i="0">
                <a:solidFill>
                  <a:srgbClr val="E6EDF3"/>
                </a:solidFill>
                <a:latin typeface="Inconsolata"/>
              </a:rPr>
              <a:t>] = </a:t>
            </a:r>
            <a:r>
              <a:rPr sz="700" i="0">
                <a:solidFill>
                  <a:srgbClr val="A5D6A7"/>
                </a:solidFill>
                <a:latin typeface="Inconsolata"/>
              </a:rPr>
              <a:t>"0"</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response</a:t>
            </a:r>
          </a:p>
        </p:txBody>
      </p:sp>
      <p:sp>
        <p:nvSpPr>
          <p:cNvPr id="29" name="Box 12"/>
          <p:cNvSpPr/>
          <p:nvPr/>
        </p:nvSpPr>
        <p:spPr>
          <a:xfrm>
            <a:off x="704088" y="1939671"/>
            <a:ext cx="5230368" cy="793242"/>
          </a:xfrm>
          <a:prstGeom prst="roundRect">
            <a:avLst>
              <a:gd name="adj" fmla="val 576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2174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68371"/>
            <a:ext cx="5230368" cy="678942"/>
          </a:xfrm>
          <a:prstGeom prst="roundRect">
            <a:avLst>
              <a:gd name="adj" fmla="val 673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1889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Dependency </a:t>
            </a:r>
            <a:r>
              <a:rPr sz="900" b="0" i="0">
                <a:solidFill>
                  <a:srgbClr val="B5482A"/>
                </a:solidFill>
                <a:latin typeface="Inconsolata"/>
              </a:rPr>
              <a:t>rate_limit</a:t>
            </a:r>
            <a:r>
              <a:rPr sz="900" b="0" i="0">
                <a:solidFill>
                  <a:srgbClr val="434343"/>
                </a:solidFill>
                <a:latin typeface="Inter"/>
              </a:rPr>
              <a:t>: limit per IP client, header sisa kuota di setiap response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Lewat batas: </a:t>
            </a:r>
            <a:r>
              <a:rPr sz="900" b="0" i="0">
                <a:solidFill>
                  <a:srgbClr val="B5482A"/>
                </a:solidFill>
                <a:latin typeface="Inconsolata"/>
              </a:rPr>
              <a:t>RateLimited</a:t>
            </a:r>
            <a:r>
              <a:rPr sz="900" b="0" i="0">
                <a:solidFill>
                  <a:srgbClr val="434343"/>
                </a:solidFill>
                <a:latin typeface="Inter"/>
              </a:rPr>
              <a:t> diubah handler jadi 429 dengan format error yang sama</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Pasang di router: </a:t>
            </a:r>
            <a:r>
              <a:rPr sz="900" b="0" i="0">
                <a:solidFill>
                  <a:srgbClr val="B5482A"/>
                </a:solidFill>
                <a:latin typeface="Inconsolata"/>
              </a:rPr>
              <a:t>APIRouter(..., dependencies=[Depends(rate_limit)])</a:t>
            </a:r>
            <a:r>
              <a:rPr sz="900" b="0" i="0">
                <a:solidFill>
                  <a:srgbClr val="434343"/>
                </a:solidFill>
                <a:latin typeface="Inter"/>
              </a:rPr>
              <a:t> untuk </a:t>
            </a:r>
            <a:r>
              <a:rPr sz="900" b="0" i="0">
                <a:solidFill>
                  <a:srgbClr val="B5482A"/>
                </a:solidFill>
                <a:latin typeface="Inconsolata"/>
              </a:rPr>
              <a:t>orders</a:t>
            </a:r>
            <a:r>
              <a:rPr sz="900" b="0" i="0">
                <a:solidFill>
                  <a:srgbClr val="434343"/>
                </a:solidFill>
                <a:latin typeface="Inter"/>
              </a:rPr>
              <a:t> dan </a:t>
            </a:r>
            <a:r>
              <a:rPr sz="900" b="0" i="0">
                <a:solidFill>
                  <a:srgbClr val="B5482A"/>
                </a:solidFill>
                <a:latin typeface="Inconsolata"/>
              </a:rPr>
              <a:t>reports</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Endpoint produk tidak dibatasi.</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9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dependencies.py: cache dan rate limiter</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app/api/dependencies.py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get_cache</a:t>
            </a:r>
            <a:r>
              <a:rPr sz="750" i="0">
                <a:solidFill>
                  <a:srgbClr val="E6EDF3"/>
                </a:solidFill>
                <a:latin typeface="Inconsolata"/>
              </a:rPr>
              <a:t>() -&gt; </a:t>
            </a:r>
            <a:r>
              <a:rPr sz="750" i="0">
                <a:solidFill>
                  <a:srgbClr val="7FDBCA"/>
                </a:solidFill>
                <a:latin typeface="Inconsolata"/>
              </a:rPr>
              <a:t>Cache</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7FDBCA"/>
                </a:solidFill>
                <a:latin typeface="Inconsolata"/>
              </a:rPr>
              <a:t>RedisCache</a:t>
            </a:r>
            <a:r>
              <a:rPr sz="750" i="0">
                <a:solidFill>
                  <a:srgbClr val="E6EDF3"/>
                </a:solidFill>
                <a:latin typeface="Inconsolata"/>
              </a:rPr>
              <a:t>(get_redis(), get_settings().cache_ttl)</a:t>
            </a:r>
          </a:p>
          <a:p>
            <a:pPr>
              <a:lnSpc>
                <a:spcPct val="111111"/>
              </a:lnSpc>
              <a:spcAft>
                <a:spcPts val="0"/>
              </a:spcAft>
            </a:pPr>
            <a:r>
              <a:rPr sz="750" i="0">
                <a:solidFill>
                  <a:srgbClr val="E6EDF3"/>
                </a:solidFill>
                <a:latin typeface="Inconsolata"/>
              </a:rPr>
              <a:t> </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get_uow</a:t>
            </a:r>
            <a:r>
              <a:rPr sz="750" i="0">
                <a:solidFill>
                  <a:srgbClr val="E6EDF3"/>
                </a:solidFill>
                <a:latin typeface="Inconsolata"/>
              </a:rPr>
              <a:t>(session_factory: sessionmaker = </a:t>
            </a:r>
            <a:r>
              <a:rPr sz="750" i="0">
                <a:solidFill>
                  <a:srgbClr val="7FDBCA"/>
                </a:solidFill>
                <a:latin typeface="Inconsolata"/>
              </a:rPr>
              <a:t>Depends</a:t>
            </a:r>
            <a:r>
              <a:rPr sz="750" i="0">
                <a:solidFill>
                  <a:srgbClr val="E6EDF3"/>
                </a:solidFill>
                <a:latin typeface="Inconsolata"/>
              </a:rPr>
              <a:t>(get_session_factory),</a:t>
            </a:r>
          </a:p>
          <a:p>
            <a:pPr>
              <a:lnSpc>
                <a:spcPct val="111111"/>
              </a:lnSpc>
              <a:spcAft>
                <a:spcPts val="0"/>
              </a:spcAft>
            </a:pPr>
            <a:r>
              <a:rPr sz="750" i="0">
                <a:solidFill>
                  <a:srgbClr val="E6EDF3"/>
                </a:solidFill>
                <a:latin typeface="Inconsolata"/>
              </a:rPr>
              <a:t>            cache: </a:t>
            </a:r>
            <a:r>
              <a:rPr sz="750" i="0">
                <a:solidFill>
                  <a:srgbClr val="7FDBCA"/>
                </a:solidFill>
                <a:latin typeface="Inconsolata"/>
              </a:rPr>
              <a:t>Cache</a:t>
            </a:r>
            <a:r>
              <a:rPr sz="750" i="0">
                <a:solidFill>
                  <a:srgbClr val="E6EDF3"/>
                </a:solidFill>
                <a:latin typeface="Inconsolata"/>
              </a:rPr>
              <a:t> = </a:t>
            </a:r>
            <a:r>
              <a:rPr sz="750" i="0">
                <a:solidFill>
                  <a:srgbClr val="7FDBCA"/>
                </a:solidFill>
                <a:latin typeface="Inconsolata"/>
              </a:rPr>
              <a:t>Depends</a:t>
            </a:r>
            <a:r>
              <a:rPr sz="750" i="0">
                <a:solidFill>
                  <a:srgbClr val="E6EDF3"/>
                </a:solidFill>
                <a:latin typeface="Inconsolata"/>
              </a:rPr>
              <a:t>(get_cache)) -&gt; </a:t>
            </a:r>
            <a:r>
              <a:rPr sz="750" i="0">
                <a:solidFill>
                  <a:srgbClr val="7FDBCA"/>
                </a:solidFill>
                <a:latin typeface="Inconsolata"/>
              </a:rPr>
              <a:t>UnitOfWork</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7FDBCA"/>
                </a:solidFill>
                <a:latin typeface="Inconsolata"/>
              </a:rPr>
              <a:t>SqlAlchemyUnitOfWork</a:t>
            </a:r>
            <a:r>
              <a:rPr sz="750" i="0">
                <a:solidFill>
                  <a:srgbClr val="E6EDF3"/>
                </a:solidFill>
                <a:latin typeface="Inconsolata"/>
              </a:rPr>
              <a:t>(session_factory, cache)</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get_product_service</a:t>
            </a:r>
            <a:r>
              <a:rPr sz="750" i="0">
                <a:solidFill>
                  <a:srgbClr val="E6EDF3"/>
                </a:solidFill>
                <a:latin typeface="Inconsolata"/>
              </a:rPr>
              <a:t>(uow: </a:t>
            </a:r>
            <a:r>
              <a:rPr sz="750" i="0">
                <a:solidFill>
                  <a:srgbClr val="7FDBCA"/>
                </a:solidFill>
                <a:latin typeface="Inconsolata"/>
              </a:rPr>
              <a:t>UnitOfWork</a:t>
            </a:r>
            <a:r>
              <a:rPr sz="750" i="0">
                <a:solidFill>
                  <a:srgbClr val="E6EDF3"/>
                </a:solidFill>
                <a:latin typeface="Inconsolata"/>
              </a:rPr>
              <a:t> = </a:t>
            </a:r>
            <a:r>
              <a:rPr sz="750" i="0">
                <a:solidFill>
                  <a:srgbClr val="7FDBCA"/>
                </a:solidFill>
                <a:latin typeface="Inconsolata"/>
              </a:rPr>
              <a:t>Depends</a:t>
            </a:r>
            <a:r>
              <a:rPr sz="750" i="0">
                <a:solidFill>
                  <a:srgbClr val="E6EDF3"/>
                </a:solidFill>
                <a:latin typeface="Inconsolata"/>
              </a:rPr>
              <a:t>(get_uow),</a:t>
            </a:r>
          </a:p>
          <a:p>
            <a:pPr>
              <a:lnSpc>
                <a:spcPct val="111111"/>
              </a:lnSpc>
              <a:spcAft>
                <a:spcPts val="0"/>
              </a:spcAft>
            </a:pPr>
            <a:r>
              <a:rPr sz="750" i="0">
                <a:solidFill>
                  <a:srgbClr val="E6EDF3"/>
                </a:solidFill>
                <a:latin typeface="Inconsolata"/>
              </a:rPr>
              <a:t>                        cache: </a:t>
            </a:r>
            <a:r>
              <a:rPr sz="750" i="0">
                <a:solidFill>
                  <a:srgbClr val="7FDBCA"/>
                </a:solidFill>
                <a:latin typeface="Inconsolata"/>
              </a:rPr>
              <a:t>Cache</a:t>
            </a:r>
            <a:r>
              <a:rPr sz="750" i="0">
                <a:solidFill>
                  <a:srgbClr val="E6EDF3"/>
                </a:solidFill>
                <a:latin typeface="Inconsolata"/>
              </a:rPr>
              <a:t> = </a:t>
            </a:r>
            <a:r>
              <a:rPr sz="750" i="0">
                <a:solidFill>
                  <a:srgbClr val="7FDBCA"/>
                </a:solidFill>
                <a:latin typeface="Inconsolata"/>
              </a:rPr>
              <a:t>Depends</a:t>
            </a:r>
            <a:r>
              <a:rPr sz="750" i="0">
                <a:solidFill>
                  <a:srgbClr val="E6EDF3"/>
                </a:solidFill>
                <a:latin typeface="Inconsolata"/>
              </a:rPr>
              <a:t>(get_cache)) -&gt; </a:t>
            </a:r>
            <a:r>
              <a:rPr sz="750" i="0">
                <a:solidFill>
                  <a:srgbClr val="7FDBCA"/>
                </a:solidFill>
                <a:latin typeface="Inconsolata"/>
              </a:rPr>
              <a:t>ProductService</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7FDBCA"/>
                </a:solidFill>
                <a:latin typeface="Inconsolata"/>
              </a:rPr>
              <a:t>ProductService</a:t>
            </a:r>
            <a:r>
              <a:rPr sz="750" i="0">
                <a:solidFill>
                  <a:srgbClr val="E6EDF3"/>
                </a:solidFill>
                <a:latin typeface="Inconsolata"/>
              </a:rPr>
              <a:t>(uow, cache)</a:t>
            </a:r>
          </a:p>
          <a:p>
            <a:pPr>
              <a:lnSpc>
                <a:spcPct val="111111"/>
              </a:lnSpc>
              <a:spcAft>
                <a:spcPts val="0"/>
              </a:spcAft>
            </a:pPr>
            <a:r>
              <a:rPr sz="750" i="0">
                <a:solidFill>
                  <a:srgbClr val="E6EDF3"/>
                </a:solidFill>
                <a:latin typeface="Inconsolata"/>
              </a:rPr>
              <a:t> </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get_rate_limiter</a:t>
            </a:r>
            <a:r>
              <a:rPr sz="750" i="0">
                <a:solidFill>
                  <a:srgbClr val="E6EDF3"/>
                </a:solidFill>
                <a:latin typeface="Inconsolata"/>
              </a:rPr>
              <a:t>() -&gt; </a:t>
            </a:r>
            <a:r>
              <a:rPr sz="750" i="0">
                <a:solidFill>
                  <a:srgbClr val="7FDBCA"/>
                </a:solidFill>
                <a:latin typeface="Inconsolata"/>
              </a:rPr>
              <a:t>SlidingWindowRateLimiter</a:t>
            </a:r>
            <a:r>
              <a:rPr sz="750" i="0">
                <a:solidFill>
                  <a:srgbClr val="E6EDF3"/>
                </a:solidFill>
                <a:latin typeface="Inconsolata"/>
              </a:rPr>
              <a:t>:</a:t>
            </a:r>
          </a:p>
          <a:p>
            <a:pPr>
              <a:lnSpc>
                <a:spcPct val="111111"/>
              </a:lnSpc>
              <a:spcAft>
                <a:spcPts val="0"/>
              </a:spcAft>
            </a:pPr>
            <a:r>
              <a:rPr sz="750" i="0">
                <a:solidFill>
                  <a:srgbClr val="E6EDF3"/>
                </a:solidFill>
                <a:latin typeface="Inconsolata"/>
              </a:rPr>
              <a:t>    settings = get_settings()</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7FDBCA"/>
                </a:solidFill>
                <a:latin typeface="Inconsolata"/>
              </a:rPr>
              <a:t>SlidingWindowRateLimiter</a:t>
            </a:r>
            <a:r>
              <a:rPr sz="750" i="0">
                <a:solidFill>
                  <a:srgbClr val="E6EDF3"/>
                </a:solidFill>
                <a:latin typeface="Inconsolata"/>
              </a:rPr>
              <a:t>(get_redis(), settings.rate_limit, settings.rate_limit_window)</a:t>
            </a:r>
          </a:p>
        </p:txBody>
      </p:sp>
      <p:sp>
        <p:nvSpPr>
          <p:cNvPr id="29" name="Box 12"/>
          <p:cNvSpPr/>
          <p:nvPr/>
        </p:nvSpPr>
        <p:spPr>
          <a:xfrm>
            <a:off x="704088" y="1827022"/>
            <a:ext cx="5230368" cy="246380"/>
          </a:xfrm>
          <a:prstGeom prst="roundRect">
            <a:avLst>
              <a:gd name="adj" fmla="val 1855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313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08022"/>
            <a:ext cx="5230368" cy="373380"/>
          </a:xfrm>
          <a:prstGeom prst="roundRect">
            <a:avLst>
              <a:gd name="adj" fmla="val 1224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275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224022"/>
            <a:ext cx="5230368" cy="373380"/>
          </a:xfrm>
          <a:prstGeom prst="roundRect">
            <a:avLst>
              <a:gd name="adj" fmla="val 1224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291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get_cache</a:t>
            </a:r>
            <a:r>
              <a:rPr sz="900" b="0" i="0">
                <a:solidFill>
                  <a:srgbClr val="434343"/>
                </a:solidFill>
                <a:latin typeface="Inter"/>
              </a:rPr>
              <a:t> membuat </a:t>
            </a:r>
            <a:r>
              <a:rPr sz="900" b="0" i="0">
                <a:solidFill>
                  <a:srgbClr val="B5482A"/>
                </a:solidFill>
                <a:latin typeface="Inconsolata"/>
              </a:rPr>
              <a:t>RedisCache</a:t>
            </a:r>
            <a:r>
              <a:rPr sz="900" b="0" i="0">
                <a:solidFill>
                  <a:srgbClr val="434343"/>
                </a:solidFill>
                <a:latin typeface="Inter"/>
              </a:rPr>
              <a:t> dengan TTL dari config</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Unit of Work dan </a:t>
            </a:r>
            <a:r>
              <a:rPr sz="900" b="0" i="0">
                <a:solidFill>
                  <a:srgbClr val="B5482A"/>
                </a:solidFill>
                <a:latin typeface="Inconsolata"/>
              </a:rPr>
              <a:t>ProductService</a:t>
            </a:r>
            <a:r>
              <a:rPr sz="900" b="0" i="0">
                <a:solidFill>
                  <a:srgbClr val="434343"/>
                </a:solidFill>
                <a:latin typeface="Inter"/>
              </a:rPr>
              <a:t> menerima cache yang sama</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get_rate_limiter</a:t>
            </a:r>
            <a:r>
              <a:rPr sz="900" b="0" i="0">
                <a:solidFill>
                  <a:srgbClr val="434343"/>
                </a:solidFill>
                <a:latin typeface="Inter"/>
              </a:rPr>
              <a:t> memakai limit dan window dari config</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Dependency graph bertambah: cache → UoW → service.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tests/: Redis diganti fakeredis</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tests/conftest.py  +  test_cache.py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tests/conftest.py</a:t>
            </a:r>
          </a:p>
          <a:p>
            <a:pPr>
              <a:lnSpc>
                <a:spcPct val="107143"/>
              </a:lnSpc>
              <a:spcAft>
                <a:spcPts val="0"/>
              </a:spcAft>
            </a:pPr>
            <a:r>
              <a:rPr sz="700" i="0">
                <a:solidFill>
                  <a:srgbClr val="F9C97A"/>
                </a:solidFill>
                <a:latin typeface="Inconsolata"/>
              </a:rPr>
              <a:t>@pytest.fixture</a:t>
            </a:r>
            <a:r>
              <a:rPr sz="700" i="0">
                <a:solidFill>
                  <a:srgbClr val="E6EDF3"/>
                </a:solidFill>
                <a:latin typeface="Inconsolata"/>
              </a:rPr>
              <a:t>(autouse=</a:t>
            </a:r>
            <a:r>
              <a:rPr sz="700" i="0">
                <a:solidFill>
                  <a:srgbClr val="FF8E6E"/>
                </a:solidFill>
                <a:latin typeface="Inconsolata"/>
              </a:rPr>
              <a:t>True</a:t>
            </a:r>
            <a:r>
              <a:rPr sz="700" i="0">
                <a:solidFill>
                  <a:srgbClr val="E6EDF3"/>
                </a:solidFill>
                <a:latin typeface="Inconsolata"/>
              </a:rPr>
              <a:t>)</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fake_redis</a:t>
            </a:r>
            <a:r>
              <a:rPr sz="700" i="0">
                <a:solidFill>
                  <a:srgbClr val="E6EDF3"/>
                </a:solidFill>
                <a:latin typeface="Inconsolata"/>
              </a:rPr>
              <a:t>(monkeypatch):</a:t>
            </a:r>
          </a:p>
          <a:p>
            <a:pPr>
              <a:lnSpc>
                <a:spcPct val="107143"/>
              </a:lnSpc>
              <a:spcAft>
                <a:spcPts val="0"/>
              </a:spcAft>
            </a:pPr>
            <a:r>
              <a:rPr sz="700" i="0">
                <a:solidFill>
                  <a:srgbClr val="E6EDF3"/>
                </a:solidFill>
                <a:latin typeface="Inconsolata"/>
              </a:rPr>
              <a:t>    fake = fakeredis.</a:t>
            </a:r>
            <a:r>
              <a:rPr sz="700" i="0">
                <a:solidFill>
                  <a:srgbClr val="7FDBCA"/>
                </a:solidFill>
                <a:latin typeface="Inconsolata"/>
              </a:rPr>
              <a:t>FakeRedis</a:t>
            </a:r>
            <a:r>
              <a:rPr sz="700" i="0">
                <a:solidFill>
                  <a:srgbClr val="E6EDF3"/>
                </a:solidFill>
                <a:latin typeface="Inconsolata"/>
              </a:rPr>
              <a:t>(decode_responses=</a:t>
            </a:r>
            <a:r>
              <a:rPr sz="700" i="0">
                <a:solidFill>
                  <a:srgbClr val="FF8E6E"/>
                </a:solidFill>
                <a:latin typeface="Inconsolata"/>
              </a:rPr>
              <a:t>True</a:t>
            </a:r>
            <a:r>
              <a:rPr sz="700" i="0">
                <a:solidFill>
                  <a:srgbClr val="E6EDF3"/>
                </a:solidFill>
                <a:latin typeface="Inconsolata"/>
              </a:rPr>
              <a:t>)</a:t>
            </a:r>
          </a:p>
          <a:p>
            <a:pPr>
              <a:lnSpc>
                <a:spcPct val="107143"/>
              </a:lnSpc>
              <a:spcAft>
                <a:spcPts val="0"/>
              </a:spcAft>
            </a:pPr>
            <a:r>
              <a:rPr sz="700" i="0">
                <a:solidFill>
                  <a:srgbClr val="E6EDF3"/>
                </a:solidFill>
                <a:latin typeface="Inconsolata"/>
              </a:rPr>
              <a:t>    monkeypatch.setattr(redis_client.</a:t>
            </a:r>
            <a:r>
              <a:rPr sz="700" i="0">
                <a:solidFill>
                  <a:srgbClr val="7FDBCA"/>
                </a:solidFill>
                <a:latin typeface="Inconsolata"/>
              </a:rPr>
              <a:t>Redis</a:t>
            </a:r>
            <a:r>
              <a:rPr sz="700" i="0">
                <a:solidFill>
                  <a:srgbClr val="E6EDF3"/>
                </a:solidFill>
                <a:latin typeface="Inconsolata"/>
              </a:rPr>
              <a:t>, </a:t>
            </a:r>
            <a:r>
              <a:rPr sz="700" i="0">
                <a:solidFill>
                  <a:srgbClr val="A5D6A7"/>
                </a:solidFill>
                <a:latin typeface="Inconsolata"/>
              </a:rPr>
              <a:t>"from_url"</a:t>
            </a:r>
            <a:r>
              <a:rPr sz="700" i="0">
                <a:solidFill>
                  <a:srgbClr val="E6EDF3"/>
                </a:solidFill>
                <a:latin typeface="Inconsolata"/>
              </a:rPr>
              <a:t>, </a:t>
            </a:r>
            <a:r>
              <a:rPr sz="700" i="0">
                <a:solidFill>
                  <a:srgbClr val="FF8E6E"/>
                </a:solidFill>
                <a:latin typeface="Inconsolata"/>
              </a:rPr>
              <a:t>lambda</a:t>
            </a:r>
            <a:r>
              <a:rPr sz="700" i="0">
                <a:solidFill>
                  <a:srgbClr val="E6EDF3"/>
                </a:solidFill>
                <a:latin typeface="Inconsolata"/>
              </a:rPr>
              <a:t> *args, **kwargs: fake)</a:t>
            </a:r>
          </a:p>
          <a:p>
            <a:pPr>
              <a:lnSpc>
                <a:spcPct val="107143"/>
              </a:lnSpc>
              <a:spcAft>
                <a:spcPts val="0"/>
              </a:spcAft>
            </a:pPr>
            <a:r>
              <a:rPr sz="700" i="0">
                <a:solidFill>
                  <a:srgbClr val="E6EDF3"/>
                </a:solidFill>
                <a:latin typeface="Inconsolata"/>
              </a:rPr>
              <a:t>    redis_client.get_redis.cache_clear()       </a:t>
            </a:r>
            <a:r>
              <a:rPr sz="700" i="1">
                <a:solidFill>
                  <a:srgbClr val="8B98A8"/>
                </a:solidFill>
                <a:latin typeface="Inconsolata"/>
              </a:rPr>
              <a:t># setiap test dapat Redis baru yang kosong</a:t>
            </a:r>
          </a:p>
          <a:p>
            <a:pPr>
              <a:lnSpc>
                <a:spcPct val="107143"/>
              </a:lnSpc>
              <a:spcAft>
                <a:spcPts val="0"/>
              </a:spcAft>
            </a:pPr>
            <a:r>
              <a:rPr sz="700" i="0">
                <a:solidFill>
                  <a:srgbClr val="E6EDF3"/>
                </a:solidFill>
                <a:latin typeface="Inconsolata"/>
              </a:rPr>
              <a:t>    </a:t>
            </a:r>
            <a:r>
              <a:rPr sz="700" i="0">
                <a:solidFill>
                  <a:srgbClr val="FF8E6E"/>
                </a:solidFill>
                <a:latin typeface="Inconsolata"/>
              </a:rPr>
              <a:t>yield</a:t>
            </a:r>
            <a:r>
              <a:rPr sz="700" i="0">
                <a:solidFill>
                  <a:srgbClr val="E6EDF3"/>
                </a:solidFill>
                <a:latin typeface="Inconsolata"/>
              </a:rPr>
              <a:t> fake</a:t>
            </a:r>
          </a:p>
          <a:p>
            <a:pPr>
              <a:lnSpc>
                <a:spcPct val="107143"/>
              </a:lnSpc>
              <a:spcAft>
                <a:spcPts val="0"/>
              </a:spcAft>
            </a:pPr>
            <a:r>
              <a:rPr sz="700" i="0">
                <a:solidFill>
                  <a:srgbClr val="E6EDF3"/>
                </a:solidFill>
                <a:latin typeface="Inconsolata"/>
              </a:rPr>
              <a:t>    redis_client.get_redis.cache_clear()</a:t>
            </a:r>
          </a:p>
          <a:p>
            <a:pPr>
              <a:lnSpc>
                <a:spcPct val="107143"/>
              </a:lnSpc>
              <a:spcAft>
                <a:spcPts val="0"/>
              </a:spcAft>
            </a:pPr>
            <a:r>
              <a:rPr sz="700" i="0">
                <a:solidFill>
                  <a:srgbClr val="E6EDF3"/>
                </a:solidFill>
                <a:latin typeface="Inconsolata"/>
              </a:rPr>
              <a:t> </a:t>
            </a:r>
          </a:p>
          <a:p>
            <a:pPr>
              <a:lnSpc>
                <a:spcPct val="107143"/>
              </a:lnSpc>
              <a:spcAft>
                <a:spcPts val="0"/>
              </a:spcAft>
            </a:pPr>
            <a:r>
              <a:rPr sz="700" i="1">
                <a:solidFill>
                  <a:srgbClr val="8B98A8"/>
                </a:solidFill>
                <a:latin typeface="Inconsolata"/>
              </a:rPr>
              <a:t># tests/test_cache.py</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test_order_gagal_tidak_mengubah_cache</a:t>
            </a:r>
            <a:r>
              <a:rPr sz="700" i="0">
                <a:solidFill>
                  <a:srgbClr val="E6EDF3"/>
                </a:solidFill>
                <a:latin typeface="Inconsolata"/>
              </a:rPr>
              <a:t>(client, fake_redis):</a:t>
            </a:r>
          </a:p>
          <a:p>
            <a:pPr>
              <a:lnSpc>
                <a:spcPct val="107143"/>
              </a:lnSpc>
              <a:spcAft>
                <a:spcPts val="0"/>
              </a:spcAft>
            </a:pPr>
            <a:r>
              <a:rPr sz="700" i="0">
                <a:solidFill>
                  <a:srgbClr val="E6EDF3"/>
                </a:solidFill>
                <a:latin typeface="Inconsolata"/>
              </a:rPr>
              <a:t>    client.get(</a:t>
            </a:r>
            <a:r>
              <a:rPr sz="700" i="0">
                <a:solidFill>
                  <a:srgbClr val="A5D6A7"/>
                </a:solidFill>
                <a:latin typeface="Inconsolata"/>
              </a:rPr>
              <a:t>"/products/1"</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client.post(</a:t>
            </a:r>
            <a:r>
              <a:rPr sz="700" i="0">
                <a:solidFill>
                  <a:srgbClr val="A5D6A7"/>
                </a:solidFill>
                <a:latin typeface="Inconsolata"/>
              </a:rPr>
              <a:t>"/orders"</a:t>
            </a:r>
            <a:r>
              <a:rPr sz="700" i="0">
                <a:solidFill>
                  <a:srgbClr val="E6EDF3"/>
                </a:solidFill>
                <a:latin typeface="Inconsolata"/>
              </a:rPr>
              <a:t>, json=order((</a:t>
            </a:r>
            <a:r>
              <a:rPr sz="700" i="0">
                <a:solidFill>
                  <a:srgbClr val="F9C97A"/>
                </a:solidFill>
                <a:latin typeface="Inconsolata"/>
              </a:rPr>
              <a:t>1</a:t>
            </a:r>
            <a:r>
              <a:rPr sz="700" i="0">
                <a:solidFill>
                  <a:srgbClr val="E6EDF3"/>
                </a:solidFill>
                <a:latin typeface="Inconsolata"/>
              </a:rPr>
              <a:t>, </a:t>
            </a:r>
            <a:r>
              <a:rPr sz="700" i="0">
                <a:solidFill>
                  <a:srgbClr val="F9C97A"/>
                </a:solidFill>
                <a:latin typeface="Inconsolata"/>
              </a:rPr>
              <a:t>2</a:t>
            </a:r>
            <a:r>
              <a:rPr sz="700" i="0">
                <a:solidFill>
                  <a:srgbClr val="E6EDF3"/>
                </a:solidFill>
                <a:latin typeface="Inconsolata"/>
              </a:rPr>
              <a:t>), (</a:t>
            </a:r>
            <a:r>
              <a:rPr sz="700" i="0">
                <a:solidFill>
                  <a:srgbClr val="F9C97A"/>
                </a:solidFill>
                <a:latin typeface="Inconsolata"/>
              </a:rPr>
              <a:t>2</a:t>
            </a:r>
            <a:r>
              <a:rPr sz="700" i="0">
                <a:solidFill>
                  <a:srgbClr val="E6EDF3"/>
                </a:solidFill>
                <a:latin typeface="Inconsolata"/>
              </a:rPr>
              <a:t>, </a:t>
            </a:r>
            <a:r>
              <a:rPr sz="700" i="0">
                <a:solidFill>
                  <a:srgbClr val="F9C97A"/>
                </a:solidFill>
                <a:latin typeface="Inconsolata"/>
              </a:rPr>
              <a:t>3</a:t>
            </a:r>
            <a:r>
              <a:rPr sz="700" i="0">
                <a:solidFill>
                  <a:srgbClr val="E6EDF3"/>
                </a:solidFill>
                <a:latin typeface="Inconsolata"/>
              </a:rPr>
              <a:t>))).status_code == </a:t>
            </a:r>
            <a:r>
              <a:rPr sz="700" i="0">
                <a:solidFill>
                  <a:srgbClr val="F9C97A"/>
                </a:solidFill>
                <a:latin typeface="Inconsolata"/>
              </a:rPr>
              <a:t>409</a:t>
            </a:r>
            <a:r>
              <a:rPr sz="700" i="0">
                <a:solidFill>
                  <a:srgbClr val="E6EDF3"/>
                </a:solidFill>
                <a:latin typeface="Inconsolata"/>
              </a:rPr>
              <a:t>   </a:t>
            </a:r>
            <a:r>
              <a:rPr sz="700" i="1">
                <a:solidFill>
                  <a:srgbClr val="8B98A8"/>
                </a:solidFill>
                <a:latin typeface="Inconsolata"/>
              </a:rPr>
              <a:t># rollback</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fake_redis.exists(product_key(</a:t>
            </a:r>
            <a:r>
              <a:rPr sz="700" i="0">
                <a:solidFill>
                  <a:srgbClr val="F9C97A"/>
                </a:solidFill>
                <a:latin typeface="Inconsolata"/>
              </a:rPr>
              <a:t>1</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client.get(</a:t>
            </a:r>
            <a:r>
              <a:rPr sz="700" i="0">
                <a:solidFill>
                  <a:srgbClr val="A5D6A7"/>
                </a:solidFill>
                <a:latin typeface="Inconsolata"/>
              </a:rPr>
              <a:t>"/products/1"</a:t>
            </a:r>
            <a:r>
              <a:rPr sz="700" i="0">
                <a:solidFill>
                  <a:srgbClr val="E6EDF3"/>
                </a:solidFill>
                <a:latin typeface="Inconsolata"/>
              </a:rPr>
              <a:t>).json()[</a:t>
            </a:r>
            <a:r>
              <a:rPr sz="700" i="0">
                <a:solidFill>
                  <a:srgbClr val="A5D6A7"/>
                </a:solidFill>
                <a:latin typeface="Inconsolata"/>
              </a:rPr>
              <a:t>"stock"</a:t>
            </a:r>
            <a:r>
              <a:rPr sz="700" i="0">
                <a:solidFill>
                  <a:srgbClr val="E6EDF3"/>
                </a:solidFill>
                <a:latin typeface="Inconsolata"/>
              </a:rPr>
              <a:t>] == </a:t>
            </a:r>
            <a:r>
              <a:rPr sz="700" i="0">
                <a:solidFill>
                  <a:srgbClr val="F9C97A"/>
                </a:solidFill>
                <a:latin typeface="Inconsolata"/>
              </a:rPr>
              <a:t>5</a:t>
            </a:r>
          </a:p>
        </p:txBody>
      </p:sp>
      <p:sp>
        <p:nvSpPr>
          <p:cNvPr id="29" name="Box 12"/>
          <p:cNvSpPr/>
          <p:nvPr/>
        </p:nvSpPr>
        <p:spPr>
          <a:xfrm>
            <a:off x="704088" y="2053971"/>
            <a:ext cx="5230368" cy="564642"/>
          </a:xfrm>
          <a:prstGeom prst="roundRect">
            <a:avLst>
              <a:gd name="adj" fmla="val 80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2174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68371"/>
            <a:ext cx="5230368" cy="564642"/>
          </a:xfrm>
          <a:prstGeom prst="roundRect">
            <a:avLst>
              <a:gd name="adj" fmla="val 80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131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fakeredis</a:t>
            </a:r>
            <a:r>
              <a:rPr sz="900" b="0" i="0">
                <a:solidFill>
                  <a:srgbClr val="434343"/>
                </a:solidFill>
                <a:latin typeface="Inter"/>
              </a:rPr>
              <a:t>: Redis palsu di memory, perintahnya sama dengan Redis asli</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test_cache.py</a:t>
            </a:r>
            <a:r>
              <a:rPr sz="900" b="0" i="0">
                <a:solidFill>
                  <a:srgbClr val="434343"/>
                </a:solidFill>
                <a:latin typeface="Inter"/>
              </a:rPr>
              <a:t>: cache hit, TTL, invalidation setelah order, dan order gagal</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test_rate_limit.py</a:t>
            </a:r>
            <a:r>
              <a:rPr sz="900" b="0" i="0">
                <a:solidFill>
                  <a:srgbClr val="434343"/>
                </a:solidFill>
                <a:latin typeface="Inter"/>
              </a:rPr>
              <a:t>: sliding window, </a:t>
            </a:r>
            <a:r>
              <a:rPr sz="900" b="0" i="0">
                <a:solidFill>
                  <a:srgbClr val="B5482A"/>
                </a:solidFill>
                <a:latin typeface="Inconsolata"/>
              </a:rPr>
              <a:t>Retry-After</a:t>
            </a:r>
            <a:r>
              <a:rPr sz="900" b="0" i="0">
                <a:solidFill>
                  <a:srgbClr val="434343"/>
                </a:solidFill>
                <a:latin typeface="Inter"/>
              </a:rPr>
              <a:t>, dan 429 dari API</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Test tidak butuh Redis yang berjalan.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Jalankan Test</a:t>
            </a:r>
          </a:p>
        </p:txBody>
      </p:sp>
      <p:pic>
        <p:nvPicPr>
          <p:cNvPr id="22" name="Image 3" descr="s06-pytest.png"/>
          <p:cNvPicPr>
            <a:picLocks noChangeAspect="1"/>
          </p:cNvPicPr>
          <p:nvPr/>
        </p:nvPicPr>
        <p:blipFill>
          <a:blip r:embed="rId2"/>
          <a:stretch>
            <a:fillRect/>
          </a:stretch>
        </p:blipFill>
        <p:spPr>
          <a:xfrm>
            <a:off x="621792" y="1481328"/>
            <a:ext cx="4116927" cy="3218688"/>
          </a:xfrm>
          <a:prstGeom prst="rect">
            <a:avLst/>
          </a:prstGeom>
          <a:ln w="9525">
            <a:solidFill>
              <a:srgbClr val="D0D5DD"/>
            </a:solidFill>
          </a:ln>
        </p:spPr>
      </p:pic>
      <p:sp>
        <p:nvSpPr>
          <p:cNvPr id="23" name="Box 4"/>
          <p:cNvSpPr/>
          <p:nvPr/>
        </p:nvSpPr>
        <p:spPr>
          <a:xfrm>
            <a:off x="4921598" y="1481328"/>
            <a:ext cx="3564033"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Text 5"/>
          <p:cNvSpPr txBox="1"/>
          <p:nvPr/>
        </p:nvSpPr>
        <p:spPr>
          <a:xfrm>
            <a:off x="5058758" y="1572768"/>
            <a:ext cx="3289713" cy="310896"/>
          </a:xfrm>
          <a:prstGeom prst="rect">
            <a:avLst/>
          </a:prstGeom>
          <a:noFill/>
        </p:spPr>
        <p:txBody>
          <a:bodyPr wrap="square" lIns="45720" rIns="45720" anchor="t">
            <a:spAutoFit/>
          </a:bodyPr>
          <a:lstStyle/>
          <a:p>
            <a:pPr algn="l">
              <a:lnSpc>
                <a:spcPct val="115000"/>
              </a:lnSpc>
              <a:spcAft>
                <a:spcPts val="400"/>
              </a:spcAft>
            </a:pPr>
            <a:r>
              <a:rPr sz="1100" b="1" i="0">
                <a:solidFill>
                  <a:srgbClr val="E0764F"/>
                </a:solidFill>
                <a:latin typeface="Inter"/>
              </a:rPr>
              <a:t>Yang dikerjakan</a:t>
            </a:r>
          </a:p>
        </p:txBody>
      </p:sp>
      <p:sp>
        <p:nvSpPr>
          <p:cNvPr id="25" name="Text 6"/>
          <p:cNvSpPr txBox="1"/>
          <p:nvPr/>
        </p:nvSpPr>
        <p:spPr>
          <a:xfrm>
            <a:off x="5058758" y="1892808"/>
            <a:ext cx="3289713"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Hapus </a:t>
            </a:r>
            <a:r>
              <a:rPr sz="950" b="0" i="0">
                <a:solidFill>
                  <a:srgbClr val="B5482A"/>
                </a:solidFill>
                <a:latin typeface="Inconsolata"/>
              </a:rPr>
              <a:t>orders.db</a:t>
            </a:r>
            <a:r>
              <a:rPr sz="950" b="0" i="0">
                <a:solidFill>
                  <a:srgbClr val="434343"/>
                </a:solidFill>
                <a:latin typeface="Inter"/>
              </a:rPr>
              <a:t> lama</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Masuk ke folder </a:t>
            </a:r>
            <a:r>
              <a:rPr sz="950" b="0" i="0">
                <a:solidFill>
                  <a:srgbClr val="B5482A"/>
                </a:solidFill>
                <a:latin typeface="Inconsolata"/>
              </a:rPr>
              <a:t>latihan/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Jalankan </a:t>
            </a:r>
            <a:r>
              <a:rPr sz="950" b="0" i="0">
                <a:solidFill>
                  <a:srgbClr val="B5482A"/>
                </a:solidFill>
                <a:latin typeface="Inconsolata"/>
              </a:rPr>
              <a:t>pytest -v</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Semua test harus </a:t>
            </a:r>
            <a:r>
              <a:rPr sz="950" b="1" i="0">
                <a:solidFill>
                  <a:srgbClr val="434343"/>
                </a:solidFill>
                <a:latin typeface="Inter"/>
              </a:rPr>
              <a:t>PASSED</a:t>
            </a:r>
          </a:p>
          <a:p>
            <a:pPr algn="l">
              <a:lnSpc>
                <a:spcPct val="115000"/>
              </a:lnSpc>
              <a:spcAft>
                <a:spcPts val="0"/>
              </a:spcAft>
            </a:pPr>
            <a:endParaRPr sz="950" b="1" i="0">
              <a:solidFill>
                <a:srgbClr val="434343"/>
              </a:solidFill>
              <a:latin typeface="Inter"/>
            </a:endParaRPr>
          </a:p>
          <a:p>
            <a:pPr algn="l">
              <a:lnSpc>
                <a:spcPct val="115000"/>
              </a:lnSpc>
              <a:spcAft>
                <a:spcPts val="400"/>
              </a:spcAft>
            </a:pPr>
            <a:r>
              <a:rPr sz="950" b="0" i="0">
                <a:solidFill>
                  <a:srgbClr val="434343"/>
                </a:solidFill>
                <a:latin typeface="Inter"/>
              </a:rPr>
              <a:t>Test berjalan tanpa Redis, karena memakai fakeredis.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Bandingkan Latency dengan benchmark.py</a:t>
            </a:r>
          </a:p>
        </p:txBody>
      </p:sp>
      <p:sp>
        <p:nvSpPr>
          <p:cNvPr id="22" name="CodeTab 4"/>
          <p:cNvSpPr/>
          <p:nvPr/>
        </p:nvSpPr>
        <p:spPr>
          <a:xfrm>
            <a:off x="621792" y="1481328"/>
            <a:ext cx="38404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004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3840480" cy="859536"/>
          </a:xfrm>
          <a:prstGeom prst="roundRect">
            <a:avLst>
              <a:gd name="adj" fmla="val 212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40480" cy="859536"/>
          </a:xfrm>
          <a:prstGeom prst="rect">
            <a:avLst/>
          </a:prstGeom>
          <a:noFill/>
        </p:spPr>
        <p:txBody>
          <a:bodyPr wrap="none" lIns="146304" tIns="91440" rIns="146304" bIns="54864">
            <a:spAutoFit/>
          </a:bodyPr>
          <a:lstStyle/>
          <a:p>
            <a:pPr>
              <a:lnSpc>
                <a:spcPct val="107843"/>
              </a:lnSpc>
              <a:spcAft>
                <a:spcPts val="0"/>
              </a:spcAft>
            </a:pPr>
            <a:r>
              <a:rPr sz="850" i="1">
                <a:solidFill>
                  <a:srgbClr val="8B98A8"/>
                </a:solidFill>
                <a:latin typeface="Inconsolata"/>
              </a:rPr>
              <a:t># terminal 1, dari folder latihan/</a:t>
            </a:r>
          </a:p>
          <a:p>
            <a:pPr>
              <a:lnSpc>
                <a:spcPct val="107843"/>
              </a:lnSpc>
              <a:spcAft>
                <a:spcPts val="0"/>
              </a:spcAft>
            </a:pPr>
            <a:r>
              <a:rPr sz="850" i="0">
                <a:solidFill>
                  <a:srgbClr val="E6EDF3"/>
                </a:solidFill>
                <a:latin typeface="Inconsolata"/>
              </a:rPr>
              <a:t>uvicorn app.main:app --reload</a:t>
            </a:r>
          </a:p>
          <a:p>
            <a:pPr>
              <a:lnSpc>
                <a:spcPct val="107843"/>
              </a:lnSpc>
              <a:spcAft>
                <a:spcPts val="0"/>
              </a:spcAft>
            </a:pPr>
            <a:endParaRPr sz="850" i="0">
              <a:solidFill>
                <a:srgbClr val="E6EDF3"/>
              </a:solidFill>
              <a:latin typeface="Inconsolata"/>
            </a:endParaRPr>
          </a:p>
          <a:p>
            <a:pPr>
              <a:lnSpc>
                <a:spcPct val="107843"/>
              </a:lnSpc>
              <a:spcAft>
                <a:spcPts val="0"/>
              </a:spcAft>
            </a:pPr>
            <a:r>
              <a:rPr sz="850" i="1">
                <a:solidFill>
                  <a:srgbClr val="8B98A8"/>
                </a:solidFill>
                <a:latin typeface="Inconsolata"/>
              </a:rPr>
              <a:t># terminal 2, dari folder latihan/</a:t>
            </a:r>
          </a:p>
          <a:p>
            <a:pPr>
              <a:lnSpc>
                <a:spcPct val="107843"/>
              </a:lnSpc>
              <a:spcAft>
                <a:spcPts val="0"/>
              </a:spcAft>
            </a:pPr>
            <a:r>
              <a:rPr sz="850" i="0">
                <a:solidFill>
                  <a:srgbClr val="E6EDF3"/>
                </a:solidFill>
                <a:latin typeface="Inconsolata"/>
              </a:rPr>
              <a:t>python benchmark.py</a:t>
            </a:r>
          </a:p>
        </p:txBody>
      </p:sp>
      <p:pic>
        <p:nvPicPr>
          <p:cNvPr id="29" name="Image 12" descr="s06-benchmark.png"/>
          <p:cNvPicPr>
            <a:picLocks noChangeAspect="1"/>
          </p:cNvPicPr>
          <p:nvPr/>
        </p:nvPicPr>
        <p:blipFill>
          <a:blip r:embed="rId2"/>
          <a:stretch>
            <a:fillRect/>
          </a:stretch>
        </p:blipFill>
        <p:spPr>
          <a:xfrm>
            <a:off x="621792" y="2697480"/>
            <a:ext cx="3840480" cy="867205"/>
          </a:xfrm>
          <a:prstGeom prst="rect">
            <a:avLst/>
          </a:prstGeom>
          <a:ln w="9525">
            <a:solidFill>
              <a:srgbClr val="D0D5DD"/>
            </a:solidFill>
          </a:ln>
        </p:spPr>
      </p:pic>
      <p:sp>
        <p:nvSpPr>
          <p:cNvPr id="30" name="Text 13"/>
          <p:cNvSpPr txBox="1"/>
          <p:nvPr/>
        </p:nvSpPr>
        <p:spPr>
          <a:xfrm>
            <a:off x="4645152" y="1481328"/>
            <a:ext cx="3840480" cy="320040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Request pertama </a:t>
            </a:r>
            <a:r>
              <a:rPr sz="950" b="1" i="0">
                <a:solidFill>
                  <a:srgbClr val="434343"/>
                </a:solidFill>
                <a:latin typeface="Inter"/>
              </a:rPr>
              <a:t>MISS</a:t>
            </a:r>
            <a:r>
              <a:rPr sz="950" b="0" i="0">
                <a:solidFill>
                  <a:srgbClr val="434343"/>
                </a:solidFill>
                <a:latin typeface="Inter"/>
              </a:rPr>
              <a:t>: query database, sekitar 200 ms karena </a:t>
            </a:r>
            <a:r>
              <a:rPr sz="950" b="0" i="0">
                <a:solidFill>
                  <a:srgbClr val="B5482A"/>
                </a:solidFill>
                <a:latin typeface="Inconsolata"/>
              </a:rPr>
              <a:t>QUERY_DELAY</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Request berikutnya </a:t>
            </a:r>
            <a:r>
              <a:rPr sz="950" b="1" i="0">
                <a:solidFill>
                  <a:srgbClr val="434343"/>
                </a:solidFill>
                <a:latin typeface="Inter"/>
              </a:rPr>
              <a:t>HIT</a:t>
            </a:r>
            <a:r>
              <a:rPr sz="950" b="0" i="0">
                <a:solidFill>
                  <a:srgbClr val="434343"/>
                </a:solidFill>
                <a:latin typeface="Inter"/>
              </a:rPr>
              <a:t>: diambil dari Redis, sekitar 2 ms</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Setelah order, stok berubah dan cache dihapus. Request berikutnya kembali ke database, dan stoknya sudah terbaru</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Cache membuat response jauh lebih cepat, tanpa mengorbankan data yang benar.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Coba di Swagger: Rate Limit</a:t>
            </a:r>
          </a:p>
        </p:txBody>
      </p:sp>
      <p:pic>
        <p:nvPicPr>
          <p:cNvPr id="22" name="Image 3" descr="s06-order-headers-resp.png"/>
          <p:cNvPicPr>
            <a:picLocks noChangeAspect="1"/>
          </p:cNvPicPr>
          <p:nvPr/>
        </p:nvPicPr>
        <p:blipFill>
          <a:blip r:embed="rId2"/>
          <a:stretch>
            <a:fillRect/>
          </a:stretch>
        </p:blipFill>
        <p:spPr>
          <a:xfrm>
            <a:off x="621792" y="1481328"/>
            <a:ext cx="3840480" cy="2773035"/>
          </a:xfrm>
          <a:prstGeom prst="rect">
            <a:avLst/>
          </a:prstGeom>
          <a:ln w="9525">
            <a:solidFill>
              <a:srgbClr val="D0D5DD"/>
            </a:solidFill>
          </a:ln>
        </p:spPr>
      </p:pic>
      <p:sp>
        <p:nvSpPr>
          <p:cNvPr id="23" name="Text 4"/>
          <p:cNvSpPr txBox="1"/>
          <p:nvPr/>
        </p:nvSpPr>
        <p:spPr>
          <a:xfrm>
            <a:off x="621792" y="4281795"/>
            <a:ext cx="3840480" cy="36576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POST /orders: 201, header X-RateLimit-Limit dan X-RateLimit-Remaining</a:t>
            </a:r>
          </a:p>
        </p:txBody>
      </p:sp>
      <p:pic>
        <p:nvPicPr>
          <p:cNvPr id="24" name="Image 5" descr="s06-429-resp.png"/>
          <p:cNvPicPr>
            <a:picLocks noChangeAspect="1"/>
          </p:cNvPicPr>
          <p:nvPr/>
        </p:nvPicPr>
        <p:blipFill>
          <a:blip r:embed="rId3"/>
          <a:stretch>
            <a:fillRect/>
          </a:stretch>
        </p:blipFill>
        <p:spPr>
          <a:xfrm>
            <a:off x="4645152" y="1481328"/>
            <a:ext cx="3840480" cy="2140691"/>
          </a:xfrm>
          <a:prstGeom prst="rect">
            <a:avLst/>
          </a:prstGeom>
          <a:ln w="9525">
            <a:solidFill>
              <a:srgbClr val="D0D5DD"/>
            </a:solidFill>
          </a:ln>
        </p:spPr>
      </p:pic>
      <p:sp>
        <p:nvSpPr>
          <p:cNvPr id="25" name="Text 6"/>
          <p:cNvSpPr txBox="1"/>
          <p:nvPr/>
        </p:nvSpPr>
        <p:spPr>
          <a:xfrm>
            <a:off x="4645152" y="3649450"/>
            <a:ext cx="3840480" cy="54864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Dijalankan dengan RATE_LIMIT=3: request ke-4 ditolak 429, lengkap dengan Retry-After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288036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mengecek</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900" b="1" i="0">
                          <a:solidFill>
                            <a:srgbClr val="1C4587"/>
                          </a:solidFill>
                          <a:latin typeface="Inter"/>
                        </a:rPr>
                        <a:t>Cache-aside dengan TTL</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benchmark.py: request kedua jauh lebih cepat</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900" b="1" i="0">
                          <a:solidFill>
                            <a:srgbClr val="1C4587"/>
                          </a:solidFill>
                          <a:latin typeface="Inter"/>
                        </a:rPr>
                        <a:t>Cache key punya namespace dan versi</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cache_keys.py: v1:product:{id}, v1:products:list</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900" b="1" i="0">
                          <a:solidFill>
                            <a:srgbClr val="1C4587"/>
                          </a:solidFill>
                          <a:latin typeface="Inter"/>
                        </a:rPr>
                        <a:t>Order dan cancel menghapus cache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Stok setelah order langsung terbaru</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900" b="1" i="0">
                          <a:solidFill>
                            <a:srgbClr val="1C4587"/>
                          </a:solidFill>
                          <a:latin typeface="Inter"/>
                        </a:rPr>
                        <a:t>Order gagal tidak menghapus cache</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test_order_gagal_tidak_mengubah_cache</a:t>
                      </a:r>
                    </a:p>
                  </a:txBody>
                  <a:tcPr marL="73152" marR="73152" marT="36576" marB="36576" anchor="ctr">
                    <a:solidFill>
                      <a:srgbClr val="F3F4F6"/>
                    </a:solidFill>
                  </a:tcPr>
                </a:tc>
                <a:extLst>
                  <a:ext uri="{0D108BD9-81ED-4DB2-BD59-A6C34878D82A}">
                    <a16:rowId xmlns:a16="http://schemas.microsoft.com/office/drawing/2014/main" val="10004"/>
                  </a:ext>
                </a:extLst>
              </a:tr>
              <a:tr h="411480">
                <a:tc>
                  <a:txBody>
                    <a:bodyPr/>
                    <a:lstStyle/>
                    <a:p>
                      <a:pPr algn="l">
                        <a:lnSpc>
                          <a:spcPct val="100000"/>
                        </a:lnSpc>
                        <a:spcAft>
                          <a:spcPts val="0"/>
                        </a:spcAft>
                      </a:pPr>
                      <a:r>
                        <a:rPr sz="900" b="1" i="0">
                          <a:solidFill>
                            <a:srgbClr val="1C4587"/>
                          </a:solidFill>
                          <a:latin typeface="Inter"/>
                        </a:rPr>
                        <a:t>Rate limit, lewat batas 429</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Swagger dengan RATE_LIMIT=3: 429 + Retry-After</a:t>
                      </a:r>
                    </a:p>
                  </a:txBody>
                  <a:tcPr marL="73152" marR="73152" marT="36576" marB="36576" anchor="ctr">
                    <a:solidFill>
                      <a:srgbClr val="FFFFFF"/>
                    </a:solidFill>
                  </a:tcPr>
                </a:tc>
                <a:extLst>
                  <a:ext uri="{0D108BD9-81ED-4DB2-BD59-A6C34878D82A}">
                    <a16:rowId xmlns:a16="http://schemas.microsoft.com/office/drawing/2014/main" val="10005"/>
                  </a:ext>
                </a:extLst>
              </a:tr>
              <a:tr h="411480">
                <a:tc>
                  <a:txBody>
                    <a:bodyPr/>
                    <a:lstStyle/>
                    <a:p>
                      <a:pPr algn="l">
                        <a:lnSpc>
                          <a:spcPct val="100000"/>
                        </a:lnSpc>
                        <a:spcAft>
                          <a:spcPts val="0"/>
                        </a:spcAft>
                      </a:pPr>
                      <a:r>
                        <a:rPr sz="900" b="1" i="0">
                          <a:solidFill>
                            <a:srgbClr val="1C4587"/>
                          </a:solidFill>
                          <a:latin typeface="Inter"/>
                        </a:rPr>
                        <a:t>Header X-RateLimit-*, pytest hijau</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Response headers di Swagger, pytest -v → 24 passed</a:t>
                      </a:r>
                    </a:p>
                  </a:txBody>
                  <a:tcPr marL="73152" marR="73152" marT="36576" marB="36576" anchor="ctr">
                    <a:solidFill>
                      <a:srgbClr val="F3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Request Flow: Cache Produk dan Invalidation</a:t>
            </a:r>
          </a:p>
        </p:txBody>
      </p:sp>
      <p:sp>
        <p:nvSpPr>
          <p:cNvPr id="22" name="CodeTab 4"/>
          <p:cNvSpPr/>
          <p:nvPr/>
        </p:nvSpPr>
        <p:spPr>
          <a:xfrm>
            <a:off x="621792" y="1481328"/>
            <a:ext cx="5257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6177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latihan/app: product_service.py → order_service.py → unit_of_work.py</a:t>
            </a:r>
          </a:p>
        </p:txBody>
      </p:sp>
      <p:sp>
        <p:nvSpPr>
          <p:cNvPr id="27" name="CodeBg 10"/>
          <p:cNvSpPr/>
          <p:nvPr/>
        </p:nvSpPr>
        <p:spPr>
          <a:xfrm>
            <a:off x="621792" y="1719072"/>
            <a:ext cx="52578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25780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application/product_service.py</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get_product</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product_id: </a:t>
            </a:r>
            <a:r>
              <a:rPr sz="650" i="0">
                <a:solidFill>
                  <a:srgbClr val="C3A6FF"/>
                </a:solidFill>
                <a:latin typeface="Inconsolata"/>
              </a:rPr>
              <a:t>int</a:t>
            </a:r>
            <a:r>
              <a:rPr sz="650" i="0">
                <a:solidFill>
                  <a:srgbClr val="E6EDF3"/>
                </a:solidFill>
                <a:latin typeface="Inconsolata"/>
              </a:rPr>
              <a:t>) -&gt; </a:t>
            </a:r>
            <a:r>
              <a:rPr sz="650" i="0">
                <a:solidFill>
                  <a:srgbClr val="7FDBCA"/>
                </a:solidFill>
                <a:latin typeface="Inconsolata"/>
              </a:rPr>
              <a:t>Product</a:t>
            </a:r>
            <a:r>
              <a:rPr sz="650" i="0">
                <a:solidFill>
                  <a:srgbClr val="E6EDF3"/>
                </a:solidFill>
                <a:latin typeface="Inconsolata"/>
              </a:rPr>
              <a:t>:</a:t>
            </a:r>
          </a:p>
          <a:p>
            <a:pPr>
              <a:lnSpc>
                <a:spcPct val="102564"/>
              </a:lnSpc>
              <a:spcAft>
                <a:spcPts val="0"/>
              </a:spcAft>
            </a:pPr>
            <a:r>
              <a:rPr sz="650" i="0">
                <a:solidFill>
                  <a:srgbClr val="E6EDF3"/>
                </a:solidFill>
                <a:latin typeface="Inconsolata"/>
              </a:rPr>
              <a:t>        cached = </a:t>
            </a:r>
            <a:r>
              <a:rPr sz="650" i="0">
                <a:solidFill>
                  <a:srgbClr val="C3A6FF"/>
                </a:solidFill>
                <a:latin typeface="Inconsolata"/>
              </a:rPr>
              <a:t>self</a:t>
            </a:r>
            <a:r>
              <a:rPr sz="650" i="0">
                <a:solidFill>
                  <a:srgbClr val="E6EDF3"/>
                </a:solidFill>
                <a:latin typeface="Inconsolata"/>
              </a:rPr>
              <a:t>.cache.get(product_key(product_id))</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cached </a:t>
            </a:r>
            <a:r>
              <a:rPr sz="650" i="0">
                <a:solidFill>
                  <a:srgbClr val="FF8E6E"/>
                </a:solidFill>
                <a:latin typeface="Inconsolata"/>
              </a:rPr>
              <a:t>is</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_from_dict(cached)</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with</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a:t>
            </a:r>
          </a:p>
          <a:p>
            <a:pPr>
              <a:lnSpc>
                <a:spcPct val="102564"/>
              </a:lnSpc>
              <a:spcAft>
                <a:spcPts val="0"/>
              </a:spcAft>
            </a:pPr>
            <a:r>
              <a:rPr sz="650" i="0">
                <a:solidFill>
                  <a:srgbClr val="E6EDF3"/>
                </a:solidFill>
                <a:latin typeface="Inconsolata"/>
              </a:rPr>
              <a:t>            product = </a:t>
            </a:r>
            <a:r>
              <a:rPr sz="650" i="0">
                <a:solidFill>
                  <a:srgbClr val="C3A6FF"/>
                </a:solidFill>
                <a:latin typeface="Inconsolata"/>
              </a:rPr>
              <a:t>self</a:t>
            </a:r>
            <a:r>
              <a:rPr sz="650" i="0">
                <a:solidFill>
                  <a:srgbClr val="E6EDF3"/>
                </a:solidFill>
                <a:latin typeface="Inconsolata"/>
              </a:rPr>
              <a:t>.uow.products.get(product_id)</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.cache.</a:t>
            </a:r>
            <a:r>
              <a:rPr sz="650" i="0">
                <a:solidFill>
                  <a:srgbClr val="C3A6FF"/>
                </a:solidFill>
                <a:latin typeface="Inconsolata"/>
              </a:rPr>
              <a:t>set</a:t>
            </a:r>
            <a:r>
              <a:rPr sz="650" i="0">
                <a:solidFill>
                  <a:srgbClr val="E6EDF3"/>
                </a:solidFill>
                <a:latin typeface="Inconsolata"/>
              </a:rPr>
              <a:t>(product_key(product_id), _to_dict(product))</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product</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application/order_service.py</a:t>
            </a:r>
          </a:p>
          <a:p>
            <a:pPr>
              <a:lnSpc>
                <a:spcPct val="102564"/>
              </a:lnSpc>
              <a:spcAft>
                <a:spcPts val="0"/>
              </a:spcAft>
            </a:pPr>
            <a:r>
              <a:rPr sz="650" i="0">
                <a:solidFill>
                  <a:srgbClr val="E6EDF3"/>
                </a:solidFill>
                <a:latin typeface="Inconsolata"/>
              </a:rPr>
              <a:t>                product.reserve(item[</a:t>
            </a:r>
            <a:r>
              <a:rPr sz="650" i="0">
                <a:solidFill>
                  <a:srgbClr val="A5D6A7"/>
                </a:solidFill>
                <a:latin typeface="Inconsolata"/>
              </a:rPr>
              <a:t>"qty"</a:t>
            </a:r>
            <a:r>
              <a:rPr sz="650" i="0">
                <a:solidFill>
                  <a:srgbClr val="E6EDF3"/>
                </a:solidFill>
                <a:latin typeface="Inconsolata"/>
              </a:rPr>
              <a:t>])</a:t>
            </a:r>
          </a:p>
          <a:p>
            <a:pPr>
              <a:lnSpc>
                <a:spcPct val="102564"/>
              </a:lnSpc>
              <a:spcAft>
                <a:spcPts val="0"/>
              </a:spcAft>
            </a:pPr>
            <a:r>
              <a:rPr sz="650" i="0">
                <a:solidFill>
                  <a:srgbClr val="E6EDF3"/>
                </a:solidFill>
                <a:latin typeface="Inconsolata"/>
              </a:rPr>
              <a:t>                order.add_item(product.id, product.name, product.price, item[</a:t>
            </a:r>
            <a:r>
              <a:rPr sz="650" i="0">
                <a:solidFill>
                  <a:srgbClr val="A5D6A7"/>
                </a:solidFill>
                <a:latin typeface="Inconsolata"/>
              </a:rPr>
              <a:t>"qty"</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.uow.products.save(product)</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infrastructure/unit_of_work.py</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commit</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.session.commit()</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.cache </a:t>
            </a:r>
            <a:r>
              <a:rPr sz="650" i="0">
                <a:solidFill>
                  <a:srgbClr val="FF8E6E"/>
                </a:solidFill>
                <a:latin typeface="Inconsolata"/>
              </a:rPr>
              <a:t>and</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.products.changed_ids:</a:t>
            </a:r>
          </a:p>
          <a:p>
            <a:pPr>
              <a:lnSpc>
                <a:spcPct val="102564"/>
              </a:lnSpc>
              <a:spcAft>
                <a:spcPts val="0"/>
              </a:spcAft>
            </a:pP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.cache.delete(</a:t>
            </a:r>
            <a:r>
              <a:rPr sz="650" i="0">
                <a:solidFill>
                  <a:srgbClr val="7FDBCA"/>
                </a:solidFill>
                <a:latin typeface="Inconsolata"/>
              </a:rPr>
              <a:t>PRODUCT_LIST_KEY</a:t>
            </a:r>
            <a:r>
              <a:rPr sz="650" i="0">
                <a:solidFill>
                  <a:srgbClr val="E6EDF3"/>
                </a:solidFill>
                <a:latin typeface="Inconsolata"/>
              </a:rPr>
              <a:t>, *(product_key(i) </a:t>
            </a:r>
            <a:r>
              <a:rPr sz="650" i="0">
                <a:solidFill>
                  <a:srgbClr val="FF8E6E"/>
                </a:solidFill>
                <a:latin typeface="Inconsolata"/>
              </a:rPr>
              <a:t>for</a:t>
            </a:r>
            <a:r>
              <a:rPr sz="650" i="0">
                <a:solidFill>
                  <a:srgbClr val="E6EDF3"/>
                </a:solidFill>
                <a:latin typeface="Inconsolata"/>
              </a:rPr>
              <a:t> i </a:t>
            </a:r>
            <a:r>
              <a:rPr sz="650" i="0">
                <a:solidFill>
                  <a:srgbClr val="FF8E6E"/>
                </a:solidFill>
                <a:latin typeface="Inconsolata"/>
              </a:rPr>
              <a:t>in</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.products.changed_ids))</a:t>
            </a:r>
          </a:p>
        </p:txBody>
      </p:sp>
      <p:sp>
        <p:nvSpPr>
          <p:cNvPr id="29" name="Box 12"/>
          <p:cNvSpPr/>
          <p:nvPr/>
        </p:nvSpPr>
        <p:spPr>
          <a:xfrm>
            <a:off x="704088" y="20269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678424" y="1955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5349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678424" y="2463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2301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678424" y="2159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3477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678424" y="3276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3957319"/>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678424" y="3886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606247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0" name="Text 23"/>
          <p:cNvSpPr txBox="1"/>
          <p:nvPr/>
        </p:nvSpPr>
        <p:spPr>
          <a:xfrm>
            <a:off x="6391656" y="1463040"/>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B5482A"/>
                </a:solidFill>
                <a:latin typeface="Inconsolata"/>
              </a:rPr>
              <a:t>GET /products/1</a:t>
            </a:r>
            <a:r>
              <a:rPr sz="850" b="0" i="0">
                <a:solidFill>
                  <a:srgbClr val="434343"/>
                </a:solidFill>
                <a:latin typeface="Inter"/>
              </a:rPr>
              <a:t> pertama: cache kosong (miss)</a:t>
            </a:r>
          </a:p>
        </p:txBody>
      </p:sp>
      <p:sp>
        <p:nvSpPr>
          <p:cNvPr id="41" name="Box 24"/>
          <p:cNvSpPr/>
          <p:nvPr/>
        </p:nvSpPr>
        <p:spPr>
          <a:xfrm>
            <a:off x="6062472" y="2143353"/>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2" name="Text 25"/>
          <p:cNvSpPr txBox="1"/>
          <p:nvPr/>
        </p:nvSpPr>
        <p:spPr>
          <a:xfrm>
            <a:off x="6391656" y="2106777"/>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Ambil dari database (200 ms), lalu simpan ke Redis dengan TTL</a:t>
            </a:r>
          </a:p>
        </p:txBody>
      </p:sp>
      <p:sp>
        <p:nvSpPr>
          <p:cNvPr id="43" name="Box 26"/>
          <p:cNvSpPr/>
          <p:nvPr/>
        </p:nvSpPr>
        <p:spPr>
          <a:xfrm>
            <a:off x="6062472" y="2787091"/>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4" name="Text 27"/>
          <p:cNvSpPr txBox="1"/>
          <p:nvPr/>
        </p:nvSpPr>
        <p:spPr>
          <a:xfrm>
            <a:off x="6391656" y="2750515"/>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Request berikutnya: hit, langsung dari Redis (2 ms)</a:t>
            </a:r>
          </a:p>
        </p:txBody>
      </p:sp>
      <p:sp>
        <p:nvSpPr>
          <p:cNvPr id="45" name="Box 28"/>
          <p:cNvSpPr/>
          <p:nvPr/>
        </p:nvSpPr>
        <p:spPr>
          <a:xfrm>
            <a:off x="6062472" y="343082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6" name="Text 29"/>
          <p:cNvSpPr txBox="1"/>
          <p:nvPr/>
        </p:nvSpPr>
        <p:spPr>
          <a:xfrm>
            <a:off x="6391656" y="3394252"/>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B5482A"/>
                </a:solidFill>
                <a:latin typeface="Inconsolata"/>
              </a:rPr>
              <a:t>POST /orders</a:t>
            </a:r>
            <a:r>
              <a:rPr sz="850" b="0" i="0">
                <a:solidFill>
                  <a:srgbClr val="434343"/>
                </a:solidFill>
                <a:latin typeface="Inter"/>
              </a:rPr>
              <a:t> mengurangi stok. Repository mencatat id produknya</a:t>
            </a:r>
          </a:p>
        </p:txBody>
      </p:sp>
      <p:sp>
        <p:nvSpPr>
          <p:cNvPr id="47" name="Box 30"/>
          <p:cNvSpPr/>
          <p:nvPr/>
        </p:nvSpPr>
        <p:spPr>
          <a:xfrm>
            <a:off x="6062472" y="407456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48" name="Text 31"/>
          <p:cNvSpPr txBox="1"/>
          <p:nvPr/>
        </p:nvSpPr>
        <p:spPr>
          <a:xfrm>
            <a:off x="6391656" y="4037990"/>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Setelah commit, cache produk dihapus. Request berikutnya miss dengan stok terbaru</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67</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05</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Studi Kasus: Produk Terlaris</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mandiri. Menggabungkan materi Sesi 4 dan Sesi 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  ·  mulai dari 08-studi-kasus-best-seller/before/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Instruksi &amp; Requirement</a:t>
            </a:r>
          </a:p>
        </p:txBody>
      </p:sp>
      <p:sp>
        <p:nvSpPr>
          <p:cNvPr id="22" name="Text 3"/>
          <p:cNvSpPr txBox="1"/>
          <p:nvPr/>
        </p:nvSpPr>
        <p:spPr>
          <a:xfrm>
            <a:off x="621792" y="1481328"/>
            <a:ext cx="4434840" cy="320040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Latar belakang</a:t>
            </a:r>
          </a:p>
          <a:p>
            <a:pPr algn="l">
              <a:lnSpc>
                <a:spcPct val="115000"/>
              </a:lnSpc>
              <a:spcAft>
                <a:spcPts val="400"/>
              </a:spcAft>
            </a:pPr>
            <a:r>
              <a:rPr sz="850" b="0" i="0">
                <a:solidFill>
                  <a:srgbClr val="434343"/>
                </a:solidFill>
                <a:latin typeface="Inter"/>
              </a:rPr>
              <a:t>Tim marketing ingin menampilkan </a:t>
            </a:r>
            <a:r>
              <a:rPr sz="850" b="1" i="0">
                <a:solidFill>
                  <a:srgbClr val="434343"/>
                </a:solidFill>
                <a:latin typeface="Inter"/>
              </a:rPr>
              <a:t>produk terlaris</a:t>
            </a:r>
            <a:r>
              <a:rPr sz="850" b="0" i="0">
                <a:solidFill>
                  <a:srgbClr val="434343"/>
                </a:solidFill>
                <a:latin typeface="Inter"/>
              </a:rPr>
              <a:t> di halaman depan. Halaman ini dibuka semua pengunjung, sedangkan menghitungnya butuh query yang berat. Hasilnya tidak harus berubah setiap detik, jadi cocok di-cache.</a:t>
            </a:r>
          </a:p>
          <a:p>
            <a:pPr algn="l">
              <a:lnSpc>
                <a:spcPct val="115000"/>
              </a:lnSpc>
              <a:spcAft>
                <a:spcPts val="400"/>
              </a:spcAft>
            </a:pPr>
            <a:r>
              <a:rPr sz="950" b="1" i="0">
                <a:solidFill>
                  <a:srgbClr val="1C4587"/>
                </a:solidFill>
                <a:latin typeface="Inter"/>
              </a:rPr>
              <a:t>Requirement</a:t>
            </a:r>
          </a:p>
          <a:p>
            <a:pPr marL="182880" indent="-182880" algn="l">
              <a:lnSpc>
                <a:spcPct val="115000"/>
              </a:lnSpc>
              <a:spcAft>
                <a:spcPts val="400"/>
              </a:spcAft>
              <a:buClr>
                <a:srgbClr val="E0764F"/>
              </a:buClr>
              <a:buSzPct val="100000"/>
              <a:buFont typeface="Arial"/>
              <a:buChar char="•"/>
            </a:pPr>
            <a:r>
              <a:rPr sz="850" b="0" i="0">
                <a:solidFill>
                  <a:srgbClr val="B5482A"/>
                </a:solidFill>
                <a:latin typeface="Inconsolata"/>
              </a:rPr>
              <a:t>GET /products/best-sellers?limit=5</a:t>
            </a:r>
            <a:r>
              <a:rPr sz="850" b="0" i="0">
                <a:solidFill>
                  <a:srgbClr val="434343"/>
                </a:solidFill>
                <a:latin typeface="Inter"/>
              </a:rPr>
              <a:t>: </a:t>
            </a:r>
            <a:r>
              <a:rPr sz="850" b="0" i="0">
                <a:solidFill>
                  <a:srgbClr val="B5482A"/>
                </a:solidFill>
                <a:latin typeface="Inconsolata"/>
              </a:rPr>
              <a:t>product_id</a:t>
            </a:r>
            <a:r>
              <a:rPr sz="850" b="0" i="0">
                <a:solidFill>
                  <a:srgbClr val="434343"/>
                </a:solidFill>
                <a:latin typeface="Inter"/>
              </a:rPr>
              <a:t>, </a:t>
            </a:r>
            <a:r>
              <a:rPr sz="850" b="0" i="0">
                <a:solidFill>
                  <a:srgbClr val="B5482A"/>
                </a:solidFill>
                <a:latin typeface="Inconsolata"/>
              </a:rPr>
              <a:t>name</a:t>
            </a:r>
            <a:r>
              <a:rPr sz="850" b="0" i="0">
                <a:solidFill>
                  <a:srgbClr val="434343"/>
                </a:solidFill>
                <a:latin typeface="Inter"/>
              </a:rPr>
              <a:t>, </a:t>
            </a:r>
            <a:r>
              <a:rPr sz="850" b="0" i="0">
                <a:solidFill>
                  <a:srgbClr val="B5482A"/>
                </a:solidFill>
                <a:latin typeface="Inconsolata"/>
              </a:rPr>
              <a:t>sold</a:t>
            </a:r>
            <a:r>
              <a:rPr sz="850" b="0" i="0">
                <a:solidFill>
                  <a:srgbClr val="434343"/>
                </a:solidFill>
                <a:latin typeface="Inter"/>
              </a:rPr>
              <a:t>, urut dari terbanyak</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Hanya order yang </a:t>
            </a:r>
            <a:r>
              <a:rPr sz="850" b="1" i="0">
                <a:solidFill>
                  <a:srgbClr val="434343"/>
                </a:solidFill>
                <a:latin typeface="Inter"/>
              </a:rPr>
              <a:t>sudah dibayar</a:t>
            </a:r>
            <a:r>
              <a:rPr sz="850" b="0" i="0">
                <a:solidFill>
                  <a:srgbClr val="434343"/>
                </a:solidFill>
                <a:latin typeface="Inter"/>
              </a:rPr>
              <a:t> yang dihitung</a:t>
            </a:r>
          </a:p>
          <a:p>
            <a:pPr marL="182880" indent="-182880" algn="l">
              <a:lnSpc>
                <a:spcPct val="115000"/>
              </a:lnSpc>
              <a:spcAft>
                <a:spcPts val="400"/>
              </a:spcAft>
              <a:buClr>
                <a:srgbClr val="E0764F"/>
              </a:buClr>
              <a:buSzPct val="100000"/>
              <a:buFont typeface="Arial"/>
              <a:buChar char="•"/>
            </a:pPr>
            <a:r>
              <a:rPr sz="850" b="0" i="0">
                <a:solidFill>
                  <a:srgbClr val="B5482A"/>
                </a:solidFill>
                <a:latin typeface="Inconsolata"/>
              </a:rPr>
              <a:t>limit</a:t>
            </a:r>
            <a:r>
              <a:rPr sz="850" b="0" i="0">
                <a:solidFill>
                  <a:srgbClr val="434343"/>
                </a:solidFill>
                <a:latin typeface="Inter"/>
              </a:rPr>
              <a:t> 1 sampai 10, default 5. Di luar itu 422</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Cache-aside dengan satu key </a:t>
            </a:r>
            <a:r>
              <a:rPr sz="850" b="0" i="0">
                <a:solidFill>
                  <a:srgbClr val="B5482A"/>
                </a:solidFill>
                <a:latin typeface="Inconsolata"/>
              </a:rPr>
              <a:t>v1:products:best-sellers</a:t>
            </a:r>
            <a:r>
              <a:rPr sz="850" b="0" i="0">
                <a:solidFill>
                  <a:srgbClr val="434343"/>
                </a:solidFill>
                <a:latin typeface="Inter"/>
              </a:rPr>
              <a:t> (top 10), header </a:t>
            </a:r>
            <a:r>
              <a:rPr sz="850" b="0" i="0">
                <a:solidFill>
                  <a:srgbClr val="B5482A"/>
                </a:solidFill>
                <a:latin typeface="Inconsolata"/>
              </a:rPr>
              <a:t>X-Cache</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Cache dihapus setelah commit saat ada order dibayar</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Dibatasi rate limit yang sama dengan order</a:t>
            </a:r>
          </a:p>
        </p:txBody>
      </p:sp>
      <p:sp>
        <p:nvSpPr>
          <p:cNvPr id="23" name="Box 4"/>
          <p:cNvSpPr/>
          <p:nvPr/>
        </p:nvSpPr>
        <p:spPr>
          <a:xfrm>
            <a:off x="5212080" y="1481328"/>
            <a:ext cx="3273552" cy="1600200"/>
          </a:xfrm>
          <a:prstGeom prst="roundRect">
            <a:avLst>
              <a:gd name="adj" fmla="val 6857"/>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Text 5"/>
          <p:cNvSpPr txBox="1"/>
          <p:nvPr/>
        </p:nvSpPr>
        <p:spPr>
          <a:xfrm>
            <a:off x="5349240" y="1572768"/>
            <a:ext cx="29992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Aturan arsitektur</a:t>
            </a:r>
          </a:p>
        </p:txBody>
      </p:sp>
      <p:sp>
        <p:nvSpPr>
          <p:cNvPr id="25" name="Text 6"/>
          <p:cNvSpPr txBox="1"/>
          <p:nvPr/>
        </p:nvSpPr>
        <p:spPr>
          <a:xfrm>
            <a:off x="5349240" y="1892808"/>
            <a:ext cx="2999232" cy="109728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domain/</a:t>
            </a:r>
            <a:r>
              <a:rPr sz="900" b="0" i="0">
                <a:solidFill>
                  <a:srgbClr val="434343"/>
                </a:solidFill>
                <a:latin typeface="Inter"/>
              </a:rPr>
              <a:t> dan </a:t>
            </a:r>
            <a:r>
              <a:rPr sz="900" b="0" i="0">
                <a:solidFill>
                  <a:srgbClr val="B5482A"/>
                </a:solidFill>
                <a:latin typeface="Inconsolata"/>
              </a:rPr>
              <a:t>application/</a:t>
            </a:r>
            <a:r>
              <a:rPr sz="900" b="0" i="0">
                <a:solidFill>
                  <a:srgbClr val="434343"/>
                </a:solidFill>
                <a:latin typeface="Inter"/>
              </a:rPr>
              <a:t> tetap tanpa </a:t>
            </a:r>
            <a:r>
              <a:rPr sz="900" b="0" i="0">
                <a:solidFill>
                  <a:srgbClr val="B5482A"/>
                </a:solidFill>
                <a:latin typeface="Inconsolata"/>
              </a:rPr>
              <a:t>fastapi</a:t>
            </a:r>
            <a:r>
              <a:rPr sz="900" b="0" i="0">
                <a:solidFill>
                  <a:srgbClr val="434343"/>
                </a:solidFill>
                <a:latin typeface="Inter"/>
              </a:rPr>
              <a:t>, </a:t>
            </a:r>
            <a:r>
              <a:rPr sz="900" b="0" i="0">
                <a:solidFill>
                  <a:srgbClr val="B5482A"/>
                </a:solidFill>
                <a:latin typeface="Inconsolata"/>
              </a:rPr>
              <a:t>sqlalchemy</a:t>
            </a:r>
            <a:r>
              <a:rPr sz="900" b="0" i="0">
                <a:solidFill>
                  <a:srgbClr val="434343"/>
                </a:solidFill>
                <a:latin typeface="Inter"/>
              </a:rPr>
              <a:t>, dan </a:t>
            </a:r>
            <a:r>
              <a:rPr sz="900" b="0" i="0">
                <a:solidFill>
                  <a:srgbClr val="B5482A"/>
                </a:solidFill>
                <a:latin typeface="Inconsolata"/>
              </a:rPr>
              <a:t>redis</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Query di repository, cache di service</a:t>
            </a:r>
          </a:p>
        </p:txBody>
      </p:sp>
      <p:sp>
        <p:nvSpPr>
          <p:cNvPr id="26" name="CodeTab 8"/>
          <p:cNvSpPr/>
          <p:nvPr/>
        </p:nvSpPr>
        <p:spPr>
          <a:xfrm>
            <a:off x="5212080" y="3200400"/>
            <a:ext cx="327355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Dot 9"/>
          <p:cNvSpPr/>
          <p:nvPr/>
        </p:nvSpPr>
        <p:spPr>
          <a:xfrm>
            <a:off x="5321808" y="327812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458968" y="327812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Dot 11"/>
          <p:cNvSpPr/>
          <p:nvPr/>
        </p:nvSpPr>
        <p:spPr>
          <a:xfrm>
            <a:off x="5596128" y="327812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 12"/>
          <p:cNvSpPr txBox="1"/>
          <p:nvPr/>
        </p:nvSpPr>
        <p:spPr>
          <a:xfrm>
            <a:off x="5760720" y="3209544"/>
            <a:ext cx="263347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contoh response</a:t>
            </a:r>
          </a:p>
        </p:txBody>
      </p:sp>
      <p:sp>
        <p:nvSpPr>
          <p:cNvPr id="31" name="CodeBg 14"/>
          <p:cNvSpPr/>
          <p:nvPr/>
        </p:nvSpPr>
        <p:spPr>
          <a:xfrm>
            <a:off x="5212080" y="3438144"/>
            <a:ext cx="3273552" cy="1261872"/>
          </a:xfrm>
          <a:prstGeom prst="roundRect">
            <a:avLst>
              <a:gd name="adj" fmla="val 144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 15"/>
          <p:cNvSpPr txBox="1"/>
          <p:nvPr/>
        </p:nvSpPr>
        <p:spPr>
          <a:xfrm>
            <a:off x="5212080" y="3438144"/>
            <a:ext cx="3273552" cy="1261872"/>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GET /products/best-sellers</a:t>
            </a:r>
          </a:p>
          <a:p>
            <a:pPr>
              <a:lnSpc>
                <a:spcPct val="104167"/>
              </a:lnSpc>
              <a:spcAft>
                <a:spcPts val="0"/>
              </a:spcAft>
            </a:pPr>
            <a:r>
              <a:rPr sz="800" i="0">
                <a:solidFill>
                  <a:srgbClr val="E6EDF3"/>
                </a:solidFill>
                <a:latin typeface="Inconsolata"/>
              </a:rPr>
              <a:t>X-Cache: MISS</a:t>
            </a:r>
          </a:p>
          <a:p>
            <a:pPr>
              <a:lnSpc>
                <a:spcPct val="104167"/>
              </a:lnSpc>
              <a:spcAft>
                <a:spcPts val="0"/>
              </a:spcAft>
            </a:pPr>
            <a:r>
              <a:rPr sz="800" i="0">
                <a:solidFill>
                  <a:srgbClr val="E6EDF3"/>
                </a:solidFill>
                <a:latin typeface="Inconsolata"/>
              </a:rPr>
              <a:t>[{"product_id": 2, "name": "Mouse",</a:t>
            </a:r>
          </a:p>
          <a:p>
            <a:pPr>
              <a:lnSpc>
                <a:spcPct val="104167"/>
              </a:lnSpc>
              <a:spcAft>
                <a:spcPts val="0"/>
              </a:spcAft>
            </a:pPr>
            <a:r>
              <a:rPr sz="800" i="0">
                <a:solidFill>
                  <a:srgbClr val="E6EDF3"/>
                </a:solidFill>
                <a:latin typeface="Inconsolata"/>
              </a:rPr>
              <a:t>  "sold": 4},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Langkah Singkat</a:t>
            </a:r>
          </a:p>
        </p:txBody>
      </p:sp>
      <p:sp>
        <p:nvSpPr>
          <p:cNvPr id="22" name="Box 3"/>
          <p:cNvSpPr/>
          <p:nvPr/>
        </p:nvSpPr>
        <p:spPr>
          <a:xfrm>
            <a:off x="621792" y="148132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23" name="Text 4"/>
          <p:cNvSpPr txBox="1"/>
          <p:nvPr/>
        </p:nvSpPr>
        <p:spPr>
          <a:xfrm>
            <a:off x="987552" y="1453896"/>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B5482A"/>
                </a:solidFill>
                <a:latin typeface="Inconsolata"/>
              </a:rPr>
              <a:t>BEST_SELLERS_KEY</a:t>
            </a:r>
            <a:r>
              <a:rPr sz="950" b="0" i="0">
                <a:solidFill>
                  <a:srgbClr val="434343"/>
                </a:solidFill>
                <a:latin typeface="Inter"/>
              </a:rPr>
              <a:t> di </a:t>
            </a:r>
            <a:r>
              <a:rPr sz="950" b="0" i="0">
                <a:solidFill>
                  <a:srgbClr val="B5482A"/>
                </a:solidFill>
                <a:latin typeface="Inconsolata"/>
              </a:rPr>
              <a:t>cache_keys.py</a:t>
            </a:r>
            <a:r>
              <a:rPr sz="950" b="0" i="0">
                <a:solidFill>
                  <a:srgbClr val="434343"/>
                </a:solidFill>
                <a:latin typeface="Inter"/>
              </a:rPr>
              <a:t>, dan </a:t>
            </a:r>
            <a:r>
              <a:rPr sz="950" b="0" i="0">
                <a:solidFill>
                  <a:srgbClr val="B5482A"/>
                </a:solidFill>
                <a:latin typeface="Inconsolata"/>
              </a:rPr>
              <a:t>best_sellers(limit)</a:t>
            </a:r>
            <a:r>
              <a:rPr sz="950" b="0" i="0">
                <a:solidFill>
                  <a:srgbClr val="434343"/>
                </a:solidFill>
                <a:latin typeface="Inter"/>
              </a:rPr>
              <a:t> di port </a:t>
            </a:r>
            <a:r>
              <a:rPr sz="950" b="0" i="0">
                <a:solidFill>
                  <a:srgbClr val="B5482A"/>
                </a:solidFill>
                <a:latin typeface="Inconsolata"/>
              </a:rPr>
              <a:t>OrderRepository</a:t>
            </a:r>
          </a:p>
        </p:txBody>
      </p:sp>
      <p:sp>
        <p:nvSpPr>
          <p:cNvPr id="24" name="Box 5"/>
          <p:cNvSpPr/>
          <p:nvPr/>
        </p:nvSpPr>
        <p:spPr>
          <a:xfrm>
            <a:off x="621792" y="2011680"/>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25" name="Text 6"/>
          <p:cNvSpPr txBox="1"/>
          <p:nvPr/>
        </p:nvSpPr>
        <p:spPr>
          <a:xfrm>
            <a:off x="987552" y="1984248"/>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Query di </a:t>
            </a:r>
            <a:r>
              <a:rPr sz="950" b="0" i="0">
                <a:solidFill>
                  <a:srgbClr val="B5482A"/>
                </a:solidFill>
                <a:latin typeface="Inconsolata"/>
              </a:rPr>
              <a:t>SqlAlchemyOrderRepository</a:t>
            </a:r>
            <a:r>
              <a:rPr sz="950" b="0" i="0">
                <a:solidFill>
                  <a:srgbClr val="434343"/>
                </a:solidFill>
                <a:latin typeface="Inter"/>
              </a:rPr>
              <a:t>: join order, filter </a:t>
            </a:r>
            <a:r>
              <a:rPr sz="950" b="0" i="0">
                <a:solidFill>
                  <a:srgbClr val="B5482A"/>
                </a:solidFill>
                <a:latin typeface="Inconsolata"/>
              </a:rPr>
              <a:t>paid</a:t>
            </a:r>
            <a:r>
              <a:rPr sz="950" b="0" i="0">
                <a:solidFill>
                  <a:srgbClr val="434343"/>
                </a:solidFill>
                <a:latin typeface="Inter"/>
              </a:rPr>
              <a:t>, </a:t>
            </a:r>
            <a:r>
              <a:rPr sz="950" b="0" i="0">
                <a:solidFill>
                  <a:srgbClr val="B5482A"/>
                </a:solidFill>
                <a:latin typeface="Inconsolata"/>
              </a:rPr>
              <a:t>group by</a:t>
            </a:r>
            <a:r>
              <a:rPr sz="950" b="0" i="0">
                <a:solidFill>
                  <a:srgbClr val="434343"/>
                </a:solidFill>
                <a:latin typeface="Inter"/>
              </a:rPr>
              <a:t> produk</a:t>
            </a:r>
          </a:p>
        </p:txBody>
      </p:sp>
      <p:sp>
        <p:nvSpPr>
          <p:cNvPr id="26" name="Box 7"/>
          <p:cNvSpPr/>
          <p:nvPr/>
        </p:nvSpPr>
        <p:spPr>
          <a:xfrm>
            <a:off x="621792" y="2542032"/>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27" name="Text 8"/>
          <p:cNvSpPr txBox="1"/>
          <p:nvPr/>
        </p:nvSpPr>
        <p:spPr>
          <a:xfrm>
            <a:off x="987552" y="2514600"/>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Repository order mencatat </a:t>
            </a:r>
            <a:r>
              <a:rPr sz="950" b="0" i="0">
                <a:solidFill>
                  <a:srgbClr val="B5482A"/>
                </a:solidFill>
                <a:latin typeface="Inconsolata"/>
              </a:rPr>
              <a:t>status_changed</a:t>
            </a:r>
            <a:r>
              <a:rPr sz="950" b="0" i="0">
                <a:solidFill>
                  <a:srgbClr val="434343"/>
                </a:solidFill>
                <a:latin typeface="Inter"/>
              </a:rPr>
              <a:t>, UoW menghapus cache setelah commit</a:t>
            </a:r>
          </a:p>
        </p:txBody>
      </p:sp>
      <p:sp>
        <p:nvSpPr>
          <p:cNvPr id="28" name="Box 9"/>
          <p:cNvSpPr/>
          <p:nvPr/>
        </p:nvSpPr>
        <p:spPr>
          <a:xfrm>
            <a:off x="621792" y="3072384"/>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29" name="Text 10"/>
          <p:cNvSpPr txBox="1"/>
          <p:nvPr/>
        </p:nvSpPr>
        <p:spPr>
          <a:xfrm>
            <a:off x="987552" y="3044952"/>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B5482A"/>
                </a:solidFill>
                <a:latin typeface="Inconsolata"/>
              </a:rPr>
              <a:t>ProductService.best_sellers(limit)</a:t>
            </a:r>
            <a:r>
              <a:rPr sz="950" b="0" i="0">
                <a:solidFill>
                  <a:srgbClr val="434343"/>
                </a:solidFill>
                <a:latin typeface="Inter"/>
              </a:rPr>
              <a:t> dengan cache-aside</a:t>
            </a:r>
          </a:p>
        </p:txBody>
      </p:sp>
      <p:sp>
        <p:nvSpPr>
          <p:cNvPr id="30" name="Box 11"/>
          <p:cNvSpPr/>
          <p:nvPr/>
        </p:nvSpPr>
        <p:spPr>
          <a:xfrm>
            <a:off x="621792" y="3602736"/>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31" name="Text 12"/>
          <p:cNvSpPr txBox="1"/>
          <p:nvPr/>
        </p:nvSpPr>
        <p:spPr>
          <a:xfrm>
            <a:off x="987552" y="3575304"/>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Schema </a:t>
            </a:r>
            <a:r>
              <a:rPr sz="950" b="0" i="0">
                <a:solidFill>
                  <a:srgbClr val="B5482A"/>
                </a:solidFill>
                <a:latin typeface="Inconsolata"/>
              </a:rPr>
              <a:t>BestSellerOut</a:t>
            </a:r>
            <a:r>
              <a:rPr sz="950" b="0" i="0">
                <a:solidFill>
                  <a:srgbClr val="434343"/>
                </a:solidFill>
                <a:latin typeface="Inter"/>
              </a:rPr>
              <a:t> dan route dengan </a:t>
            </a:r>
            <a:r>
              <a:rPr sz="950" b="0" i="0">
                <a:solidFill>
                  <a:srgbClr val="B5482A"/>
                </a:solidFill>
                <a:latin typeface="Inconsolata"/>
              </a:rPr>
              <a:t>Depends(rate_limit)</a:t>
            </a:r>
            <a:r>
              <a:rPr sz="950" b="0" i="0">
                <a:solidFill>
                  <a:srgbClr val="434343"/>
                </a:solidFill>
                <a:latin typeface="Inter"/>
              </a:rPr>
              <a:t>, sebelum </a:t>
            </a:r>
            <a:r>
              <a:rPr sz="950" b="0" i="0">
                <a:solidFill>
                  <a:srgbClr val="B5482A"/>
                </a:solidFill>
                <a:latin typeface="Inconsolata"/>
              </a:rPr>
              <a:t>/{product_id}</a:t>
            </a:r>
          </a:p>
        </p:txBody>
      </p:sp>
      <p:sp>
        <p:nvSpPr>
          <p:cNvPr id="32" name="Box 13"/>
          <p:cNvSpPr/>
          <p:nvPr/>
        </p:nvSpPr>
        <p:spPr>
          <a:xfrm>
            <a:off x="621792" y="4133087"/>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6</a:t>
            </a:r>
          </a:p>
        </p:txBody>
      </p:sp>
      <p:sp>
        <p:nvSpPr>
          <p:cNvPr id="33" name="Text 14"/>
          <p:cNvSpPr txBox="1"/>
          <p:nvPr/>
        </p:nvSpPr>
        <p:spPr>
          <a:xfrm>
            <a:off x="987552" y="4105655"/>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Test: hitungan, cache hit, invalidation, validasi limit, rate limit</a:t>
            </a:r>
          </a:p>
        </p:txBody>
      </p:sp>
      <p:sp>
        <p:nvSpPr>
          <p:cNvPr id="34" name="CodeTab 16"/>
          <p:cNvSpPr/>
          <p:nvPr/>
        </p:nvSpPr>
        <p:spPr>
          <a:xfrm>
            <a:off x="5349240" y="1481328"/>
            <a:ext cx="31363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Dot 17"/>
          <p:cNvSpPr/>
          <p:nvPr/>
        </p:nvSpPr>
        <p:spPr>
          <a:xfrm>
            <a:off x="545896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18"/>
          <p:cNvSpPr/>
          <p:nvPr/>
        </p:nvSpPr>
        <p:spPr>
          <a:xfrm>
            <a:off x="559612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ot 19"/>
          <p:cNvSpPr/>
          <p:nvPr/>
        </p:nvSpPr>
        <p:spPr>
          <a:xfrm>
            <a:off x="573328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20"/>
          <p:cNvSpPr txBox="1"/>
          <p:nvPr/>
        </p:nvSpPr>
        <p:spPr>
          <a:xfrm>
            <a:off x="5897879" y="1490472"/>
            <a:ext cx="249631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file yang disentuh</a:t>
            </a:r>
          </a:p>
        </p:txBody>
      </p:sp>
      <p:sp>
        <p:nvSpPr>
          <p:cNvPr id="39" name="CodeBg 22"/>
          <p:cNvSpPr/>
          <p:nvPr/>
        </p:nvSpPr>
        <p:spPr>
          <a:xfrm>
            <a:off x="5349240" y="1719072"/>
            <a:ext cx="31363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Code 23"/>
          <p:cNvSpPr txBox="1"/>
          <p:nvPr/>
        </p:nvSpPr>
        <p:spPr>
          <a:xfrm>
            <a:off x="5349240" y="1719072"/>
            <a:ext cx="3136392" cy="2980944"/>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app/</a:t>
            </a:r>
          </a:p>
          <a:p>
            <a:pPr>
              <a:lnSpc>
                <a:spcPct val="104167"/>
              </a:lnSpc>
              <a:spcAft>
                <a:spcPts val="0"/>
              </a:spcAft>
            </a:pPr>
            <a:r>
              <a:rPr sz="800" i="0">
                <a:solidFill>
                  <a:srgbClr val="E6EDF3"/>
                </a:solidFill>
                <a:latin typeface="Inconsolata"/>
              </a:rPr>
              <a:t>  application/</a:t>
            </a:r>
          </a:p>
          <a:p>
            <a:pPr>
              <a:lnSpc>
                <a:spcPct val="104167"/>
              </a:lnSpc>
              <a:spcAft>
                <a:spcPts val="0"/>
              </a:spcAft>
            </a:pPr>
            <a:r>
              <a:rPr sz="800" i="0">
                <a:solidFill>
                  <a:srgbClr val="E6EDF3"/>
                </a:solidFill>
                <a:latin typeface="Inconsolata"/>
              </a:rPr>
              <a:t>    cache_keys.py</a:t>
            </a:r>
          </a:p>
          <a:p>
            <a:pPr>
              <a:lnSpc>
                <a:spcPct val="104167"/>
              </a:lnSpc>
              <a:spcAft>
                <a:spcPts val="0"/>
              </a:spcAft>
            </a:pPr>
            <a:r>
              <a:rPr sz="800" i="0">
                <a:solidFill>
                  <a:srgbClr val="E6EDF3"/>
                </a:solidFill>
                <a:latin typeface="Inconsolata"/>
              </a:rPr>
              <a:t>    ports.py</a:t>
            </a:r>
          </a:p>
          <a:p>
            <a:pPr>
              <a:lnSpc>
                <a:spcPct val="104167"/>
              </a:lnSpc>
              <a:spcAft>
                <a:spcPts val="0"/>
              </a:spcAft>
            </a:pPr>
            <a:r>
              <a:rPr sz="800" i="0">
                <a:solidFill>
                  <a:srgbClr val="E6EDF3"/>
                </a:solidFill>
                <a:latin typeface="Inconsolata"/>
              </a:rPr>
              <a:t>    product_service.py</a:t>
            </a:r>
          </a:p>
          <a:p>
            <a:pPr>
              <a:lnSpc>
                <a:spcPct val="104167"/>
              </a:lnSpc>
              <a:spcAft>
                <a:spcPts val="0"/>
              </a:spcAft>
            </a:pPr>
            <a:r>
              <a:rPr sz="800" i="0">
                <a:solidFill>
                  <a:srgbClr val="E6EDF3"/>
                </a:solidFill>
                <a:latin typeface="Inconsolata"/>
              </a:rPr>
              <a:t>  infrastructure/</a:t>
            </a:r>
          </a:p>
          <a:p>
            <a:pPr>
              <a:lnSpc>
                <a:spcPct val="104167"/>
              </a:lnSpc>
              <a:spcAft>
                <a:spcPts val="0"/>
              </a:spcAft>
            </a:pPr>
            <a:r>
              <a:rPr sz="800" i="0">
                <a:solidFill>
                  <a:srgbClr val="E6EDF3"/>
                </a:solidFill>
                <a:latin typeface="Inconsolata"/>
              </a:rPr>
              <a:t>    repositories.py</a:t>
            </a:r>
          </a:p>
          <a:p>
            <a:pPr>
              <a:lnSpc>
                <a:spcPct val="104167"/>
              </a:lnSpc>
              <a:spcAft>
                <a:spcPts val="0"/>
              </a:spcAft>
            </a:pPr>
            <a:r>
              <a:rPr sz="800" i="0">
                <a:solidFill>
                  <a:srgbClr val="E6EDF3"/>
                </a:solidFill>
                <a:latin typeface="Inconsolata"/>
              </a:rPr>
              <a:t>    unit_of_work.py</a:t>
            </a:r>
          </a:p>
          <a:p>
            <a:pPr>
              <a:lnSpc>
                <a:spcPct val="104167"/>
              </a:lnSpc>
              <a:spcAft>
                <a:spcPts val="0"/>
              </a:spcAft>
            </a:pPr>
            <a:r>
              <a:rPr sz="800" i="0">
                <a:solidFill>
                  <a:srgbClr val="E6EDF3"/>
                </a:solidFill>
                <a:latin typeface="Inconsolata"/>
              </a:rPr>
              <a:t>  api/</a:t>
            </a:r>
          </a:p>
          <a:p>
            <a:pPr>
              <a:lnSpc>
                <a:spcPct val="104167"/>
              </a:lnSpc>
              <a:spcAft>
                <a:spcPts val="0"/>
              </a:spcAft>
            </a:pPr>
            <a:r>
              <a:rPr sz="800" i="0">
                <a:solidFill>
                  <a:srgbClr val="E6EDF3"/>
                </a:solidFill>
                <a:latin typeface="Inconsolata"/>
              </a:rPr>
              <a:t>    schemas.py</a:t>
            </a:r>
          </a:p>
          <a:p>
            <a:pPr>
              <a:lnSpc>
                <a:spcPct val="104167"/>
              </a:lnSpc>
              <a:spcAft>
                <a:spcPts val="0"/>
              </a:spcAft>
            </a:pPr>
            <a:r>
              <a:rPr sz="800" i="0">
                <a:solidFill>
                  <a:srgbClr val="E6EDF3"/>
                </a:solidFill>
                <a:latin typeface="Inconsolata"/>
              </a:rPr>
              <a:t>    routers/products.py</a:t>
            </a:r>
          </a:p>
          <a:p>
            <a:pPr>
              <a:lnSpc>
                <a:spcPct val="104167"/>
              </a:lnSpc>
              <a:spcAft>
                <a:spcPts val="0"/>
              </a:spcAft>
            </a:pPr>
            <a:r>
              <a:rPr sz="800" i="0">
                <a:solidFill>
                  <a:srgbClr val="E6EDF3"/>
                </a:solidFill>
                <a:latin typeface="Inconsolata"/>
              </a:rPr>
              <a:t>tests/</a:t>
            </a:r>
          </a:p>
          <a:p>
            <a:pPr>
              <a:lnSpc>
                <a:spcPct val="104167"/>
              </a:lnSpc>
              <a:spcAft>
                <a:spcPts val="0"/>
              </a:spcAft>
            </a:pPr>
            <a:r>
              <a:rPr sz="800" i="0">
                <a:solidFill>
                  <a:srgbClr val="E6EDF3"/>
                </a:solidFill>
                <a:latin typeface="Inconsolata"/>
              </a:rPr>
              <a:t>  test_best_seller.py # baru</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Contoh Hasil yang Diharapkan</a:t>
            </a:r>
          </a:p>
        </p:txBody>
      </p:sp>
      <p:pic>
        <p:nvPicPr>
          <p:cNvPr id="22" name="Image 3" descr="s06-case-miss-resp.png"/>
          <p:cNvPicPr>
            <a:picLocks noChangeAspect="1"/>
          </p:cNvPicPr>
          <p:nvPr/>
        </p:nvPicPr>
        <p:blipFill>
          <a:blip r:embed="rId2"/>
          <a:stretch>
            <a:fillRect/>
          </a:stretch>
        </p:blipFill>
        <p:spPr>
          <a:xfrm>
            <a:off x="621792" y="1481328"/>
            <a:ext cx="3840480" cy="2448161"/>
          </a:xfrm>
          <a:prstGeom prst="rect">
            <a:avLst/>
          </a:prstGeom>
          <a:ln w="9525">
            <a:solidFill>
              <a:srgbClr val="D0D5DD"/>
            </a:solidFill>
          </a:ln>
        </p:spPr>
      </p:pic>
      <p:sp>
        <p:nvSpPr>
          <p:cNvPr id="23" name="Text 4"/>
          <p:cNvSpPr txBox="1"/>
          <p:nvPr/>
        </p:nvSpPr>
        <p:spPr>
          <a:xfrm>
            <a:off x="621792" y="3956920"/>
            <a:ext cx="3840480" cy="54864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Request pertama: X-Cache MISS. Order pending (Keyboard 1) tidak dihitung.</a:t>
            </a:r>
          </a:p>
        </p:txBody>
      </p:sp>
      <p:pic>
        <p:nvPicPr>
          <p:cNvPr id="24" name="Image 5" descr="s06-case-hit-resp.png"/>
          <p:cNvPicPr>
            <a:picLocks noChangeAspect="1"/>
          </p:cNvPicPr>
          <p:nvPr/>
        </p:nvPicPr>
        <p:blipFill>
          <a:blip r:embed="rId3"/>
          <a:stretch>
            <a:fillRect/>
          </a:stretch>
        </p:blipFill>
        <p:spPr>
          <a:xfrm>
            <a:off x="4645152" y="1481328"/>
            <a:ext cx="3840480" cy="2448161"/>
          </a:xfrm>
          <a:prstGeom prst="rect">
            <a:avLst/>
          </a:prstGeom>
          <a:ln w="9525">
            <a:solidFill>
              <a:srgbClr val="D0D5DD"/>
            </a:solidFill>
          </a:ln>
        </p:spPr>
      </p:pic>
      <p:sp>
        <p:nvSpPr>
          <p:cNvPr id="25" name="Text 6"/>
          <p:cNvSpPr txBox="1"/>
          <p:nvPr/>
        </p:nvSpPr>
        <p:spPr>
          <a:xfrm>
            <a:off x="4645152" y="3956920"/>
            <a:ext cx="3840480" cy="54864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Request kedua: data sama, X-Cache HIT, tanpa query ke database.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Kriteria Selesai</a:t>
            </a:r>
          </a:p>
        </p:txBody>
      </p:sp>
      <p:sp>
        <p:nvSpPr>
          <p:cNvPr id="22" name="Box 3"/>
          <p:cNvSpPr/>
          <p:nvPr/>
        </p:nvSpPr>
        <p:spPr>
          <a:xfrm>
            <a:off x="621792" y="1481328"/>
            <a:ext cx="3931920"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657600"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Checklist</a:t>
            </a:r>
          </a:p>
        </p:txBody>
      </p:sp>
      <p:sp>
        <p:nvSpPr>
          <p:cNvPr id="24" name="Text 5"/>
          <p:cNvSpPr txBox="1"/>
          <p:nvPr/>
        </p:nvSpPr>
        <p:spPr>
          <a:xfrm>
            <a:off x="758952" y="1892808"/>
            <a:ext cx="365760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Hanya order </a:t>
            </a:r>
            <a:r>
              <a:rPr sz="950" b="0" i="0">
                <a:solidFill>
                  <a:srgbClr val="B5482A"/>
                </a:solidFill>
                <a:latin typeface="Inconsolata"/>
              </a:rPr>
              <a:t>paid</a:t>
            </a:r>
            <a:r>
              <a:rPr sz="950" b="0" i="0">
                <a:solidFill>
                  <a:srgbClr val="434343"/>
                </a:solidFill>
                <a:latin typeface="Inter"/>
              </a:rPr>
              <a:t> yang dihitung, urut dari terbanyak</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limit</a:t>
            </a:r>
            <a:r>
              <a:rPr sz="950" b="0" i="0">
                <a:solidFill>
                  <a:srgbClr val="434343"/>
                </a:solidFill>
                <a:latin typeface="Inter"/>
              </a:rPr>
              <a:t> di luar 1 sampai 10 ditolak 422</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Request kedua </a:t>
            </a:r>
            <a:r>
              <a:rPr sz="950" b="0" i="0">
                <a:solidFill>
                  <a:srgbClr val="B5482A"/>
                </a:solidFill>
                <a:latin typeface="Inconsolata"/>
              </a:rPr>
              <a:t>X-Cache: HIT</a:t>
            </a:r>
            <a:r>
              <a:rPr sz="950" b="0" i="0">
                <a:solidFill>
                  <a:srgbClr val="434343"/>
                </a:solidFill>
                <a:latin typeface="Inter"/>
              </a:rPr>
              <a:t>, database tidak di-query lagi</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Order dibayar = cache dihapus setelah commit</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Order baru (</a:t>
            </a:r>
            <a:r>
              <a:rPr sz="950" b="0" i="0">
                <a:solidFill>
                  <a:srgbClr val="B5482A"/>
                </a:solidFill>
                <a:latin typeface="Inconsolata"/>
              </a:rPr>
              <a:t>pending</a:t>
            </a:r>
            <a:r>
              <a:rPr sz="950" b="0" i="0">
                <a:solidFill>
                  <a:srgbClr val="434343"/>
                </a:solidFill>
                <a:latin typeface="Inter"/>
              </a:rPr>
              <a:t>) tidak menghapus cache</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Lewat batas request = 429, </a:t>
            </a:r>
            <a:r>
              <a:rPr sz="950" b="0" i="0">
                <a:solidFill>
                  <a:srgbClr val="B5482A"/>
                </a:solidFill>
                <a:latin typeface="Inconsolata"/>
              </a:rPr>
              <a:t>pytest</a:t>
            </a:r>
            <a:r>
              <a:rPr sz="950" b="0" i="0">
                <a:solidFill>
                  <a:srgbClr val="434343"/>
                </a:solidFill>
                <a:latin typeface="Inter"/>
              </a:rPr>
              <a:t> hijau</a:t>
            </a:r>
          </a:p>
        </p:txBody>
      </p:sp>
      <p:pic>
        <p:nvPicPr>
          <p:cNvPr id="25" name="Image 6" descr="s06-case-pytest.png"/>
          <p:cNvPicPr>
            <a:picLocks noChangeAspect="1"/>
          </p:cNvPicPr>
          <p:nvPr/>
        </p:nvPicPr>
        <p:blipFill>
          <a:blip r:embed="rId2"/>
          <a:stretch>
            <a:fillRect/>
          </a:stretch>
        </p:blipFill>
        <p:spPr>
          <a:xfrm>
            <a:off x="4709160" y="1481328"/>
            <a:ext cx="3133148" cy="2880360"/>
          </a:xfrm>
          <a:prstGeom prst="rect">
            <a:avLst/>
          </a:prstGeom>
          <a:ln w="9525">
            <a:solidFill>
              <a:srgbClr val="D0D5DD"/>
            </a:solidFill>
          </a:ln>
        </p:spPr>
      </p:pic>
      <p:sp>
        <p:nvSpPr>
          <p:cNvPr id="26" name="Text 7"/>
          <p:cNvSpPr txBox="1"/>
          <p:nvPr/>
        </p:nvSpPr>
        <p:spPr>
          <a:xfrm>
            <a:off x="4709160" y="4434840"/>
            <a:ext cx="3776472" cy="27432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Output </a:t>
            </a:r>
            <a:r>
              <a:rPr sz="900" b="0" i="0">
                <a:solidFill>
                  <a:srgbClr val="B5482A"/>
                </a:solidFill>
                <a:latin typeface="Inconsolata"/>
              </a:rPr>
              <a:t>pytest -v</a:t>
            </a:r>
            <a:r>
              <a:rPr sz="900" b="0" i="0">
                <a:solidFill>
                  <a:srgbClr val="7A7A7A"/>
                </a:solidFill>
                <a:latin typeface="Inter"/>
              </a:rPr>
              <a:t>: 30 passed.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Rangkuman</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Cache-Aside</a:t>
            </a:r>
          </a:p>
        </p:txBody>
      </p:sp>
      <p:sp>
        <p:nvSpPr>
          <p:cNvPr id="24" name="Text 5"/>
          <p:cNvSpPr txBox="1"/>
          <p:nvPr/>
        </p:nvSpPr>
        <p:spPr>
          <a:xfrm>
            <a:off x="758952" y="1965960"/>
            <a:ext cx="2249424" cy="432683"/>
          </a:xfrm>
          <a:prstGeom prst="rect">
            <a:avLst/>
          </a:prstGeom>
          <a:noFill/>
        </p:spPr>
        <p:txBody>
          <a:bodyPr wrap="square" lIns="45720" rIns="45720" anchor="t">
            <a:spAutoFit/>
          </a:bodyPr>
          <a:lstStyle/>
          <a:p>
            <a:pPr algn="l">
              <a:lnSpc>
                <a:spcPct val="115000"/>
              </a:lnSpc>
              <a:spcAft>
                <a:spcPts val="400"/>
              </a:spcAft>
            </a:pPr>
            <a:r>
              <a:rPr sz="1000" b="0" i="0" dirty="0">
                <a:solidFill>
                  <a:srgbClr val="434343"/>
                </a:solidFill>
                <a:latin typeface="Inter"/>
              </a:rPr>
              <a:t>Cek cache </a:t>
            </a:r>
            <a:r>
              <a:rPr lang="en-US" sz="1000" b="0" i="0" dirty="0" err="1">
                <a:solidFill>
                  <a:srgbClr val="434343"/>
                </a:solidFill>
                <a:latin typeface="Inter"/>
              </a:rPr>
              <a:t>terlebih</a:t>
            </a:r>
            <a:r>
              <a:rPr lang="en-US" sz="1000" b="0" i="0" dirty="0">
                <a:solidFill>
                  <a:srgbClr val="434343"/>
                </a:solidFill>
                <a:latin typeface="Inter"/>
              </a:rPr>
              <a:t> </a:t>
            </a:r>
            <a:r>
              <a:rPr sz="1000" b="0" i="0" dirty="0" err="1">
                <a:solidFill>
                  <a:srgbClr val="434343"/>
                </a:solidFill>
                <a:latin typeface="Inter"/>
              </a:rPr>
              <a:t>dahulu</a:t>
            </a:r>
            <a:r>
              <a:rPr sz="1000" b="0" i="0" dirty="0">
                <a:solidFill>
                  <a:srgbClr val="434343"/>
                </a:solidFill>
                <a:latin typeface="Inter"/>
              </a:rPr>
              <a:t>, </a:t>
            </a:r>
            <a:r>
              <a:rPr lang="en-US" sz="1000" b="0" i="0" dirty="0" err="1">
                <a:solidFill>
                  <a:srgbClr val="434343"/>
                </a:solidFill>
                <a:latin typeface="Inter"/>
              </a:rPr>
              <a:t>lalu</a:t>
            </a:r>
            <a:r>
              <a:rPr lang="en-US" sz="1000" b="0" i="0" dirty="0">
                <a:solidFill>
                  <a:srgbClr val="434343"/>
                </a:solidFill>
                <a:latin typeface="Inter"/>
              </a:rPr>
              <a:t> </a:t>
            </a:r>
            <a:r>
              <a:rPr sz="1000" b="0" i="0" dirty="0" err="1">
                <a:solidFill>
                  <a:srgbClr val="434343"/>
                </a:solidFill>
                <a:latin typeface="Inter"/>
              </a:rPr>
              <a:t>isi</a:t>
            </a:r>
            <a:r>
              <a:rPr sz="1000" b="0" i="0" dirty="0">
                <a:solidFill>
                  <a:srgbClr val="434343"/>
                </a:solidFill>
                <a:latin typeface="Inter"/>
              </a:rPr>
              <a:t> </a:t>
            </a:r>
            <a:r>
              <a:rPr sz="1000" b="0" i="0" dirty="0" err="1">
                <a:solidFill>
                  <a:srgbClr val="434343"/>
                </a:solidFill>
                <a:latin typeface="Inter"/>
              </a:rPr>
              <a:t>dari</a:t>
            </a:r>
            <a:r>
              <a:rPr sz="1000" b="0" i="0" dirty="0">
                <a:solidFill>
                  <a:srgbClr val="434343"/>
                </a:solidFill>
                <a:latin typeface="Inter"/>
              </a:rPr>
              <a:t> database </a:t>
            </a:r>
            <a:r>
              <a:rPr lang="en-US" sz="1000" b="0" i="0" dirty="0" err="1">
                <a:solidFill>
                  <a:srgbClr val="434343"/>
                </a:solidFill>
                <a:latin typeface="Inter"/>
              </a:rPr>
              <a:t>jika</a:t>
            </a:r>
            <a:r>
              <a:rPr lang="en-US" sz="1000" b="0" i="0" dirty="0">
                <a:solidFill>
                  <a:srgbClr val="434343"/>
                </a:solidFill>
                <a:latin typeface="Inter"/>
              </a:rPr>
              <a:t> miss</a:t>
            </a:r>
            <a:endParaRPr sz="1000" b="0" i="0" dirty="0">
              <a:solidFill>
                <a:srgbClr val="434343"/>
              </a:solidFill>
              <a:latin typeface="Inter"/>
            </a:endParaRP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3429000"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TTL &amp; Invalidation</a:t>
            </a:r>
          </a:p>
        </p:txBody>
      </p:sp>
      <p:sp>
        <p:nvSpPr>
          <p:cNvPr id="27" name="Text 8"/>
          <p:cNvSpPr txBox="1"/>
          <p:nvPr/>
        </p:nvSpPr>
        <p:spPr>
          <a:xfrm>
            <a:off x="3429000"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Hapus key saat data berubah, TTL sebagai pengaman</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Text 10"/>
          <p:cNvSpPr txBox="1"/>
          <p:nvPr/>
        </p:nvSpPr>
        <p:spPr>
          <a:xfrm>
            <a:off x="6099048"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Cache Key</a:t>
            </a:r>
          </a:p>
        </p:txBody>
      </p:sp>
      <p:sp>
        <p:nvSpPr>
          <p:cNvPr id="30" name="Text 11"/>
          <p:cNvSpPr txBox="1"/>
          <p:nvPr/>
        </p:nvSpPr>
        <p:spPr>
          <a:xfrm>
            <a:off x="6099048"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Namespace, versi, dan semua parameter yang memengaruhi hasil</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3"/>
          <p:cNvSpPr txBox="1"/>
          <p:nvPr/>
        </p:nvSpPr>
        <p:spPr>
          <a:xfrm>
            <a:off x="758952"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Cache Stampede</a:t>
            </a:r>
          </a:p>
        </p:txBody>
      </p:sp>
      <p:sp>
        <p:nvSpPr>
          <p:cNvPr id="33" name="Text 14"/>
          <p:cNvSpPr txBox="1"/>
          <p:nvPr/>
        </p:nvSpPr>
        <p:spPr>
          <a:xfrm>
            <a:off x="758952"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Lock supaya satu request yang mengisi ulang, TTL dengan jitter</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6"/>
          <p:cNvSpPr txBox="1"/>
          <p:nvPr/>
        </p:nvSpPr>
        <p:spPr>
          <a:xfrm>
            <a:off x="3429000"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Rate Limiting</a:t>
            </a:r>
          </a:p>
        </p:txBody>
      </p:sp>
      <p:sp>
        <p:nvSpPr>
          <p:cNvPr id="36" name="Text 17"/>
          <p:cNvSpPr txBox="1"/>
          <p:nvPr/>
        </p:nvSpPr>
        <p:spPr>
          <a:xfrm>
            <a:off x="3429000"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Sliding window akurat, lewat batas 429 + Retry-After</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19"/>
          <p:cNvSpPr txBox="1"/>
          <p:nvPr/>
        </p:nvSpPr>
        <p:spPr>
          <a:xfrm>
            <a:off x="6099048"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API Gateway &amp; Trade-off</a:t>
            </a:r>
          </a:p>
        </p:txBody>
      </p:sp>
      <p:sp>
        <p:nvSpPr>
          <p:cNvPr id="39" name="Text 20"/>
          <p:cNvSpPr txBox="1"/>
          <p:nvPr/>
        </p:nvSpPr>
        <p:spPr>
          <a:xfrm>
            <a:off x="6099048"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Gateway mengatur traffic sebelum masuk ke service. TTL dan limit dipilih sesuai kebutuhan data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7200"/>
              <a:buFont typeface="Arial"/>
              <a:buNone/>
            </a:pPr>
            <a:r>
              <a:rPr lang="en" sz="3000" b="0" i="0" u="none" strike="noStrike" cap="none">
                <a:solidFill>
                  <a:srgbClr val="FFFFFF"/>
                </a:solidFill>
                <a:latin typeface="Work Sans ExtraBold"/>
                <a:ea typeface="Work Sans ExtraBold"/>
                <a:cs typeface="Work Sans ExtraBold"/>
                <a:sym typeface="Work Sans ExtraBold"/>
              </a:rPr>
              <a:t>Source Code</a:t>
            </a:r>
            <a:endParaRPr sz="3000" b="0" i="0" u="none" strike="noStrike" cap="non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Sesi 6</a:t>
            </a:r>
            <a:endParaRPr sz="1500" b="0" i="1" u="none" strike="noStrike" cap="none">
              <a:solidFill>
                <a:srgbClr val="000000"/>
              </a:solidFill>
              <a:latin typeface="Inter"/>
              <a:ea typeface="Inter"/>
              <a:cs typeface="Inter"/>
              <a:sym typeface="Inter"/>
            </a:endParaRPr>
          </a:p>
        </p:txBody>
      </p:sp>
      <p:sp>
        <p:nvSpPr>
          <p:cNvPr id="256" name="Google Shape;256;g2907dbd8723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73</a:t>
            </a:fld>
            <a:endParaRPr/>
          </a:p>
        </p:txBody>
      </p:sp>
      <p:pic>
        <p:nvPicPr>
          <p:cNvPr id="257" name="Google Shape;257;g2907dbd8723_0_0"/>
          <p:cNvPicPr preferRelativeResize="0"/>
          <p:nvPr/>
        </p:nvPicPr>
        <p:blipFill rotWithShape="1">
          <a:blip r:embed="rId4">
            <a:alphaModFix/>
          </a:blip>
          <a:srcRect/>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a:t>
            </a:r>
            <a:endParaRPr sz="900" b="0" i="0" u="none" strike="noStrike" cap="non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 Indonesia</a:t>
            </a:r>
            <a:endParaRPr sz="900" b="0" i="0" u="none" strike="noStrike" cap="non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w="19050" cap="flat" cmpd="sng">
            <a:solidFill>
              <a:srgbClr val="FFF5D8"/>
            </a:solidFill>
            <a:prstDash val="solid"/>
            <a:round/>
            <a:headEnd type="none" w="sm" len="sm"/>
            <a:tailEnd type="none" w="sm" len="sm"/>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8"/>
              </a:rPr>
              <a:t>github.com/bagusedghar/fastapi-intermediate</a:t>
            </a:r>
            <a:endParaRPr sz="1500" b="0" i="1" u="sng" strike="noStrike" cap="non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TotalTime>
  <Words>12001</Words>
  <Application>Microsoft Office PowerPoint</Application>
  <PresentationFormat>On-screen Show (16:9)</PresentationFormat>
  <Paragraphs>1654</Paragraphs>
  <Slides>73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Inter</vt:lpstr>
      <vt:lpstr>Work Sans ExtraBold</vt:lpstr>
      <vt:lpstr>Work Sans Medium</vt:lpstr>
      <vt:lpstr>Inconsolata</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Bagus Edghar</cp:lastModifiedBy>
  <cp:revision>4</cp:revision>
  <dcterms:modified xsi:type="dcterms:W3CDTF">2026-10-27T23:54:09Z</dcterms:modified>
</cp:coreProperties>
</file>