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17"/>
    <p:sldId id="286" r:id="rId16"/>
    <p:sldId id="287" r:id="rId15"/>
    <p:sldId id="288" r:id="rId14"/>
    <p:sldId id="289" r:id="rId13"/>
    <p:sldId id="290" r:id="rId12"/>
    <p:sldId id="291" r:id="rId11"/>
    <p:sldId id="292" r:id="rId10"/>
    <p:sldId id="293" r:id="rId9"/>
    <p:sldId id="294" r:id="rId8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  <p:sldId id="276" r:id="rId26"/>
  </p:sldIdLst>
  <p:sldSz cy="5143500" cx="9144000"/>
  <p:notesSz cx="6858000" cy="9144000"/>
  <p:embeddedFontLst>
    <p:embeddedFont>
      <p:font typeface="Inter"/>
      <p:regular r:id="rId27"/>
      <p:bold r:id="rId28"/>
    </p:embeddedFont>
    <p:embeddedFont>
      <p:font typeface="Work Sans Medium"/>
      <p:regular r:id="rId29"/>
      <p:bold r:id="rId30"/>
      <p:italic r:id="rId31"/>
      <p:boldItalic r:id="rId32"/>
    </p:embeddedFont>
    <p:embeddedFont>
      <p:font typeface="Work Sans ExtraBold"/>
      <p:bold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:go="http://customooxmlschemas.google.com/" r:id="rId35" roundtripDataSignature="AMtx7misuxx245f/qKiEmR3PX6YRe0tI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20.xml"/><Relationship Id="rId9" Type="http://schemas.openxmlformats.org/officeDocument/2006/relationships/slide" Target="slides/slide19.xml"/><Relationship Id="rId10" Type="http://schemas.openxmlformats.org/officeDocument/2006/relationships/slide" Target="slides/slide18.xml"/><Relationship Id="rId11" Type="http://schemas.openxmlformats.org/officeDocument/2006/relationships/slide" Target="slides/slide17.xml"/><Relationship Id="rId12" Type="http://schemas.openxmlformats.org/officeDocument/2006/relationships/slide" Target="slides/slide16.xml"/><Relationship Id="rId13" Type="http://schemas.openxmlformats.org/officeDocument/2006/relationships/slide" Target="slides/slide15.xml"/><Relationship Id="rId14" Type="http://schemas.openxmlformats.org/officeDocument/2006/relationships/slide" Target="slides/slide14.xml"/><Relationship Id="rId15" Type="http://schemas.openxmlformats.org/officeDocument/2006/relationships/slide" Target="slides/slide13.xml"/><Relationship Id="rId16" Type="http://schemas.openxmlformats.org/officeDocument/2006/relationships/slide" Target="slides/slide12.xml"/><Relationship Id="rId17" Type="http://schemas.openxmlformats.org/officeDocument/2006/relationships/slide" Target="slides/slide11.xml"/><Relationship Id="rId18" Type="http://schemas.openxmlformats.org/officeDocument/2006/relationships/slide" Target="slides/slide3.xml"/><Relationship Id="rId19" Type="http://schemas.openxmlformats.org/officeDocument/2006/relationships/slide" Target="slides/slide4.xml"/><Relationship Id="rId20" Type="http://schemas.openxmlformats.org/officeDocument/2006/relationships/slide" Target="slides/slide5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29.xml"/><Relationship Id="rId27" Type="http://schemas.openxmlformats.org/officeDocument/2006/relationships/font" Target="fonts/Inter-regular.fntdata"/><Relationship Id="rId28" Type="http://schemas.openxmlformats.org/officeDocument/2006/relationships/font" Target="fonts/Inter-bold.fntdata"/><Relationship Id="rId29" Type="http://schemas.openxmlformats.org/officeDocument/2006/relationships/font" Target="fonts/WorkSansMedium-regular.fntdata"/><Relationship Id="rId30" Type="http://schemas.openxmlformats.org/officeDocument/2006/relationships/font" Target="fonts/WorkSansMedium-bold.fntdata"/><Relationship Id="rId31" Type="http://schemas.openxmlformats.org/officeDocument/2006/relationships/font" Target="fonts/WorkSansMedium-italic.fntdata"/><Relationship Id="rId32" Type="http://schemas.openxmlformats.org/officeDocument/2006/relationships/font" Target="fonts/WorkSansMedium-boldItalic.fntdata"/><Relationship Id="rId33" Type="http://schemas.openxmlformats.org/officeDocument/2006/relationships/font" Target="fonts/WorkSansExtraBold-bold.fntdata"/><Relationship Id="rId34" Type="http://schemas.openxmlformats.org/officeDocument/2006/relationships/font" Target="fonts/WorkSansExtraBold-boldItalic.fntdata"/><Relationship Id="rId35" Type="http://customschemas.google.com/relationships/presentationmetadata" Target="metadata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2442ffe4c8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2442ffe4c8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Peserta hands-on, jawaban sudah ada di folder after/.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907dbd872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" name="Google Shape;251;g2907dbd872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7200" y="-15150"/>
            <a:ext cx="9190446" cy="516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" name="Google Shape;1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1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6" name="Google Shape;16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3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6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1"/>
            <a:ext cx="9206026" cy="5178401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" name="Google Shape;20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 1">
  <p:cSld name="TITLE_2_1_1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3" name="Google Shape;23;p49"/>
          <p:cNvPicPr preferRelativeResize="0"/>
          <p:nvPr/>
        </p:nvPicPr>
        <p:blipFill rotWithShape="1">
          <a:blip r:embed="rId2">
            <a:alphaModFix/>
          </a:blip>
          <a:srcRect b="0" l="-11869" r="-10498" t="0"/>
          <a:stretch/>
        </p:blipFill>
        <p:spPr>
          <a:xfrm>
            <a:off x="7614450" y="286450"/>
            <a:ext cx="1372051" cy="247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2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3">
  <p:cSld name="SECTION_HEADER_4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1"/>
            <a:ext cx="9143992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8" name="Google Shape;2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_2_1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1" name="Google Shape;31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7200" y="-7175"/>
            <a:ext cx="9204623" cy="5177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21"/>
          <p:cNvPicPr preferRelativeResize="0"/>
          <p:nvPr/>
        </p:nvPicPr>
        <p:blipFill rotWithShape="1">
          <a:blip r:embed="rId3">
            <a:alphaModFix/>
          </a:blip>
          <a:srcRect b="0" l="-11869" r="-10498" t="0"/>
          <a:stretch/>
        </p:blipFill>
        <p:spPr>
          <a:xfrm>
            <a:off x="7614450" y="286450"/>
            <a:ext cx="1372051" cy="24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2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4350" y="-6375"/>
            <a:ext cx="9160668" cy="5152876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6" name="Google Shape;36;p22"/>
          <p:cNvPicPr preferRelativeResize="0"/>
          <p:nvPr/>
        </p:nvPicPr>
        <p:blipFill rotWithShape="1">
          <a:blip r:embed="rId3">
            <a:alphaModFix/>
          </a:blip>
          <a:srcRect b="0" l="-11869" r="-10498" t="0"/>
          <a:stretch/>
        </p:blipFill>
        <p:spPr>
          <a:xfrm>
            <a:off x="7614450" y="286450"/>
            <a:ext cx="1372051" cy="24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9" name="Google Shape;39;p5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5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3" name="Google Shape;43;p5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4" name="Google Shape;44;p5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5" name="Google Shape;45;p5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8" name="Google Shape;48;p5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3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1" name="Google Shape;51;p53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2" name="Google Shape;52;p5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4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55" name="Google Shape;55;p5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5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5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9" name="Google Shape;59;p55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0" name="Google Shape;60;p55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5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56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64" name="Google Shape;64;p5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57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7" name="Google Shape;67;p57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8" name="Google Shape;68;p5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5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3" name="Google Shape;73;p59"/>
          <p:cNvCxnSpPr/>
          <p:nvPr/>
        </p:nvCxnSpPr>
        <p:spPr>
          <a:xfrm>
            <a:off x="2740288" y="3545850"/>
            <a:ext cx="3824400" cy="0"/>
          </a:xfrm>
          <a:prstGeom prst="straightConnector1">
            <a:avLst/>
          </a:prstGeom>
          <a:noFill/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 1">
  <p:cSld name="TITLE_1_1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6" name="Google Shape;76;p60"/>
          <p:cNvCxnSpPr/>
          <p:nvPr/>
        </p:nvCxnSpPr>
        <p:spPr>
          <a:xfrm>
            <a:off x="2740288" y="3545850"/>
            <a:ext cx="3824400" cy="0"/>
          </a:xfrm>
          <a:prstGeom prst="straightConnector1">
            <a:avLst/>
          </a:prstGeom>
          <a:noFill/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SECTION_HEADER_2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pic>
        <p:nvPicPr>
          <p:cNvPr id="79" name="Google Shape;79;p61"/>
          <p:cNvPicPr preferRelativeResize="0"/>
          <p:nvPr/>
        </p:nvPicPr>
        <p:blipFill rotWithShape="1">
          <a:blip r:embed="rId2">
            <a:alphaModFix/>
          </a:blip>
          <a:srcRect b="34000" l="0" r="0" t="31469"/>
          <a:stretch/>
        </p:blipFill>
        <p:spPr>
          <a:xfrm>
            <a:off x="134750" y="4589275"/>
            <a:ext cx="1410576" cy="3443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Relationship Id="rId4" Type="http://schemas.openxmlformats.org/officeDocument/2006/relationships/image" Target="../media/image17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hyperlink" Target="https://colab.research.google.com/github/FTDS-learning-materials/phase-2/blob/master/w2/P2W2D1PM%20-%20Data%20Ethics%20&amp;%20Data%20Validation.ipynb" TargetMode="External"/><Relationship Id="rId8" Type="http://schemas.openxmlformats.org/officeDocument/2006/relationships/hyperlink" Target="https://github.com/bagusedghar/fastapi-intermediate/tree/main/sesi-06-redis-caching-rate-limitin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5" name="Google Shape;85;p5"/>
          <p:cNvSpPr txBox="1"/>
          <p:nvPr/>
        </p:nvSpPr>
        <p:spPr>
          <a:xfrm>
            <a:off x="763050" y="2010750"/>
            <a:ext cx="8258100" cy="11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lang="en" sz="3500">
                <a:solidFill>
                  <a:srgbClr val="F06634"/>
                </a:solidFill>
                <a:latin typeface="Work Sans ExtraBold"/>
                <a:ea typeface="Work Sans ExtraBold"/>
                <a:cs typeface="Work Sans ExtraBold"/>
                <a:sym typeface="Work Sans ExtraBold"/>
              </a:rPr>
              <a:t>Redis Caching, Rate Limiting &amp; API Gateway</a:t>
            </a:r>
            <a:endParaRPr b="0" i="0" sz="3500" u="none" cap="none" strike="noStrike">
              <a:solidFill>
                <a:srgbClr val="F06634"/>
              </a:solidFill>
              <a:latin typeface="Work Sans ExtraBold"/>
              <a:ea typeface="Work Sans ExtraBold"/>
              <a:cs typeface="Work Sans ExtraBold"/>
              <a:sym typeface="Work Sans ExtraBold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63050" y="3157225"/>
            <a:ext cx="7315200" cy="5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rPr>
              <a:t>Intermediate Backend Developer with FastAPI  -  Sesi 6</a:t>
            </a:r>
            <a:endParaRPr b="0" i="0" sz="1500" u="none" cap="none" strike="noStrike">
              <a:solidFill>
                <a:schemeClr val="dk2"/>
              </a:solidFill>
              <a:latin typeface="Work Sans Medium"/>
              <a:ea typeface="Work Sans Medium"/>
              <a:cs typeface="Work Sans Medium"/>
              <a:sym typeface="Work Sans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442ffe4c8e_0_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2" name="Google Shape;92;g2442ffe4c8e_0_0"/>
          <p:cNvSpPr txBox="1"/>
          <p:nvPr/>
        </p:nvSpPr>
        <p:spPr>
          <a:xfrm>
            <a:off x="310675" y="249275"/>
            <a:ext cx="4456800" cy="4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n" sz="2300" u="none" cap="none" strike="noStrike">
                <a:solidFill>
                  <a:srgbClr val="1D3D70"/>
                </a:solidFill>
                <a:latin typeface="Work Sans ExtraBold"/>
                <a:ea typeface="Work Sans ExtraBold"/>
                <a:cs typeface="Work Sans ExtraBold"/>
                <a:sym typeface="Work Sans ExtraBold"/>
              </a:rPr>
              <a:t>Contents</a:t>
            </a:r>
            <a:endParaRPr b="0" i="0" sz="2300" u="none" cap="none" strike="noStrike">
              <a:solidFill>
                <a:srgbClr val="1D3D70"/>
              </a:solidFill>
              <a:latin typeface="Work Sans ExtraBold"/>
              <a:ea typeface="Work Sans ExtraBold"/>
              <a:cs typeface="Work Sans ExtraBold"/>
              <a:sym typeface="Work Sans ExtraBold"/>
            </a:endParaRPr>
          </a:p>
        </p:txBody>
      </p:sp>
      <p:sp>
        <p:nvSpPr>
          <p:cNvPr id="93" name="Text 1"/>
          <p:cNvSpPr txBox="1"/>
          <p:nvPr/>
        </p:nvSpPr>
        <p:spPr>
          <a:xfrm>
            <a:off x="548640" y="1143000"/>
            <a:ext cx="5669280" cy="2926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Caching Strategies with Redis</a:t>
            </a:r>
          </a:p>
        </p:txBody>
      </p:sp>
      <p:cxnSp>
        <p:nvCxnSpPr>
          <p:cNvPr id="94" name="Arrow 2"/>
          <p:cNvCxnSpPr/>
          <p:nvPr/>
        </p:nvCxnSpPr>
        <p:spPr>
          <a:xfrm>
            <a:off x="6318504" y="1325880"/>
            <a:ext cx="1947671" cy="0"/>
          </a:xfrm>
          <a:prstGeom prst="line">
            <a:avLst/>
          </a:prstGeom>
          <a:ln w="12700">
            <a:solidFill>
              <a:srgbClr val="1C4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 3"/>
          <p:cNvSpPr txBox="1"/>
          <p:nvPr/>
        </p:nvSpPr>
        <p:spPr>
          <a:xfrm>
            <a:off x="8266175" y="1143000"/>
            <a:ext cx="548640" cy="2926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1" b="1">
                <a:solidFill>
                  <a:srgbClr val="E0764F"/>
                </a:solidFill>
                <a:latin typeface="Inter"/>
              </a:rPr>
              <a:t>06</a:t>
            </a:r>
          </a:p>
        </p:txBody>
      </p:sp>
      <p:sp>
        <p:nvSpPr>
          <p:cNvPr id="96" name="Text 4"/>
          <p:cNvSpPr txBox="1"/>
          <p:nvPr/>
        </p:nvSpPr>
        <p:spPr>
          <a:xfrm>
            <a:off x="548640" y="1527048"/>
            <a:ext cx="5669280" cy="2926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Response Caching, Cache Key &amp; Stampede</a:t>
            </a:r>
          </a:p>
        </p:txBody>
      </p:sp>
      <p:cxnSp>
        <p:nvCxnSpPr>
          <p:cNvPr id="97" name="Arrow 5"/>
          <p:cNvCxnSpPr/>
          <p:nvPr/>
        </p:nvCxnSpPr>
        <p:spPr>
          <a:xfrm>
            <a:off x="6318504" y="1709928"/>
            <a:ext cx="1947671" cy="0"/>
          </a:xfrm>
          <a:prstGeom prst="line">
            <a:avLst/>
          </a:prstGeom>
          <a:ln w="12700">
            <a:solidFill>
              <a:srgbClr val="1C4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 6"/>
          <p:cNvSpPr txBox="1"/>
          <p:nvPr/>
        </p:nvSpPr>
        <p:spPr>
          <a:xfrm>
            <a:off x="8266175" y="1527048"/>
            <a:ext cx="548640" cy="2926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1" b="1">
                <a:solidFill>
                  <a:srgbClr val="E0764F"/>
                </a:solidFill>
                <a:latin typeface="Inter"/>
              </a:rPr>
              <a:t>13</a:t>
            </a:r>
          </a:p>
        </p:txBody>
      </p:sp>
      <p:sp>
        <p:nvSpPr>
          <p:cNvPr id="99" name="Text 7"/>
          <p:cNvSpPr txBox="1"/>
          <p:nvPr/>
        </p:nvSpPr>
        <p:spPr>
          <a:xfrm>
            <a:off x="548640" y="1911095"/>
            <a:ext cx="5669280" cy="2926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Rate Limiting &amp; API Gateway</a:t>
            </a:r>
          </a:p>
        </p:txBody>
      </p:sp>
      <p:cxnSp>
        <p:nvCxnSpPr>
          <p:cNvPr id="100" name="Arrow 8"/>
          <p:cNvCxnSpPr/>
          <p:nvPr/>
        </p:nvCxnSpPr>
        <p:spPr>
          <a:xfrm>
            <a:off x="6318504" y="2093976"/>
            <a:ext cx="1947671" cy="0"/>
          </a:xfrm>
          <a:prstGeom prst="line">
            <a:avLst/>
          </a:prstGeom>
          <a:ln w="12700">
            <a:solidFill>
              <a:srgbClr val="1C4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 9"/>
          <p:cNvSpPr txBox="1"/>
          <p:nvPr/>
        </p:nvSpPr>
        <p:spPr>
          <a:xfrm>
            <a:off x="8266175" y="1911095"/>
            <a:ext cx="548640" cy="2926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1" b="1">
                <a:solidFill>
                  <a:srgbClr val="E0764F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Sesi 6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Learning Outcome</a:t>
            </a:r>
          </a:p>
        </p:txBody>
      </p:sp>
      <p:sp>
        <p:nvSpPr>
          <p:cNvPr id="22" name="Box 3"/>
          <p:cNvSpPr/>
          <p:nvPr/>
        </p:nvSpPr>
        <p:spPr>
          <a:xfrm>
            <a:off x="621792" y="1600200"/>
            <a:ext cx="2523744" cy="2011680"/>
          </a:xfrm>
          <a:prstGeom prst="roundRect">
            <a:avLst>
              <a:gd name="adj" fmla="val 5454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Box 4"/>
          <p:cNvSpPr/>
          <p:nvPr/>
        </p:nvSpPr>
        <p:spPr>
          <a:xfrm>
            <a:off x="758952" y="1737360"/>
            <a:ext cx="329184" cy="32918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i="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24" name="Text 5"/>
          <p:cNvSpPr txBox="1"/>
          <p:nvPr/>
        </p:nvSpPr>
        <p:spPr>
          <a:xfrm>
            <a:off x="1170432" y="1709928"/>
            <a:ext cx="1883663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i="0" b="1">
                <a:solidFill>
                  <a:srgbClr val="1C4587"/>
                </a:solidFill>
                <a:latin typeface="Inter"/>
              </a:rPr>
              <a:t>Caching</a:t>
            </a:r>
          </a:p>
        </p:txBody>
      </p:sp>
      <p:sp>
        <p:nvSpPr>
          <p:cNvPr id="25" name="Text 6"/>
          <p:cNvSpPr txBox="1"/>
          <p:nvPr/>
        </p:nvSpPr>
        <p:spPr>
          <a:xfrm>
            <a:off x="758952" y="2148840"/>
            <a:ext cx="2249424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Memilih caching strategy dan mendesain cache key, TTL, dan invalidation untuk endpoint FastAPI.</a:t>
            </a:r>
          </a:p>
        </p:txBody>
      </p:sp>
      <p:sp>
        <p:nvSpPr>
          <p:cNvPr id="26" name="Box 7"/>
          <p:cNvSpPr/>
          <p:nvPr/>
        </p:nvSpPr>
        <p:spPr>
          <a:xfrm>
            <a:off x="3291840" y="1600200"/>
            <a:ext cx="2523744" cy="2011680"/>
          </a:xfrm>
          <a:prstGeom prst="roundRect">
            <a:avLst>
              <a:gd name="adj" fmla="val 5454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7" name="Box 8"/>
          <p:cNvSpPr/>
          <p:nvPr/>
        </p:nvSpPr>
        <p:spPr>
          <a:xfrm>
            <a:off x="3429000" y="1737360"/>
            <a:ext cx="329184" cy="32918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i="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28" name="Text 9"/>
          <p:cNvSpPr txBox="1"/>
          <p:nvPr/>
        </p:nvSpPr>
        <p:spPr>
          <a:xfrm>
            <a:off x="3840480" y="1709928"/>
            <a:ext cx="1883663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i="0" b="1">
                <a:solidFill>
                  <a:srgbClr val="1C4587"/>
                </a:solidFill>
                <a:latin typeface="Inter"/>
              </a:rPr>
              <a:t>Rate limiting &amp; gateway</a:t>
            </a:r>
          </a:p>
        </p:txBody>
      </p:sp>
      <p:sp>
        <p:nvSpPr>
          <p:cNvPr id="29" name="Text 10"/>
          <p:cNvSpPr txBox="1"/>
          <p:nvPr/>
        </p:nvSpPr>
        <p:spPr>
          <a:xfrm>
            <a:off x="3429000" y="2148840"/>
            <a:ext cx="2249424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Menerapkan rate limiting sederhana dan menjelaskan peran API gateway dalam kontrol traffic.</a:t>
            </a:r>
          </a:p>
        </p:txBody>
      </p:sp>
      <p:sp>
        <p:nvSpPr>
          <p:cNvPr id="30" name="Box 11"/>
          <p:cNvSpPr/>
          <p:nvPr/>
        </p:nvSpPr>
        <p:spPr>
          <a:xfrm>
            <a:off x="5961888" y="1600200"/>
            <a:ext cx="2523744" cy="2011680"/>
          </a:xfrm>
          <a:prstGeom prst="roundRect">
            <a:avLst>
              <a:gd name="adj" fmla="val 545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1" name="Box 12"/>
          <p:cNvSpPr/>
          <p:nvPr/>
        </p:nvSpPr>
        <p:spPr>
          <a:xfrm>
            <a:off x="6099048" y="1737360"/>
            <a:ext cx="329184" cy="32918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i="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2" name="Text 13"/>
          <p:cNvSpPr txBox="1"/>
          <p:nvPr/>
        </p:nvSpPr>
        <p:spPr>
          <a:xfrm>
            <a:off x="6510527" y="1709928"/>
            <a:ext cx="1883664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i="0" b="1">
                <a:solidFill>
                  <a:srgbClr val="1C4587"/>
                </a:solidFill>
                <a:latin typeface="Inter"/>
              </a:rPr>
              <a:t>Trade-off</a:t>
            </a:r>
          </a:p>
        </p:txBody>
      </p:sp>
      <p:sp>
        <p:nvSpPr>
          <p:cNvPr id="33" name="Text 14"/>
          <p:cNvSpPr txBox="1"/>
          <p:nvPr/>
        </p:nvSpPr>
        <p:spPr>
          <a:xfrm>
            <a:off x="6099048" y="2148840"/>
            <a:ext cx="2249424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Mengevaluasi trade-off antara response latency, consistency, dan penggunaan resource.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Titik Awal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Hasil Sesi 5: Semua Request Langsung ke Database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42062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35661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hasil Sesi 5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42062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42062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1">
                <a:solidFill>
                  <a:srgbClr val="8B98A8"/>
                </a:solidFill>
                <a:latin typeface="Consolas"/>
              </a:rPr>
              <a:t># app/application/product_service.py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Consolas"/>
              </a:rPr>
              <a:t>def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82B1FF"/>
                </a:solidFill>
                <a:latin typeface="Consolas"/>
              </a:rPr>
              <a:t>get_product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C3A6FF"/>
                </a:solidFill>
                <a:latin typeface="Consolas"/>
              </a:rPr>
              <a:t>self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product_id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C3A6FF"/>
                </a:solidFill>
                <a:latin typeface="Consolas"/>
              </a:rPr>
              <a:t>int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-</a:t>
            </a:r>
            <a:r>
              <a:rPr sz="850" i="0">
                <a:solidFill>
                  <a:srgbClr val="E6EDF3"/>
                </a:solidFill>
                <a:latin typeface="Consolas"/>
              </a:rPr>
              <a:t>&gt;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Product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FF8E6E"/>
                </a:solidFill>
                <a:latin typeface="Consolas"/>
              </a:rPr>
              <a:t>with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C3A6FF"/>
                </a:solidFill>
                <a:latin typeface="Consolas"/>
              </a:rPr>
              <a:t>self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uow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850" i="0">
                <a:solidFill>
                  <a:srgbClr val="E6EDF3"/>
                </a:solidFill>
                <a:latin typeface="Consolas"/>
              </a:rPr>
              <a:t>product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C3A6FF"/>
                </a:solidFill>
                <a:latin typeface="Consolas"/>
              </a:rPr>
              <a:t>self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uow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products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get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product_id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                          </a:t>
            </a:r>
            <a:r>
              <a:rPr sz="850" i="1">
                <a:solidFill>
                  <a:srgbClr val="8B98A8"/>
                </a:solidFill>
                <a:latin typeface="Consolas"/>
              </a:rPr>
              <a:t># selalu query database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1">
                <a:solidFill>
                  <a:srgbClr val="8B98A8"/>
                </a:solidFill>
                <a:latin typeface="Consolas"/>
              </a:rPr>
              <a:t># app/api/routers/orders.py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router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APIRouter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prefix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A5D6A7"/>
                </a:solidFill>
                <a:latin typeface="Consolas"/>
              </a:rPr>
              <a:t>"/orders"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tags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[</a:t>
            </a:r>
            <a:r>
              <a:rPr sz="850" i="0">
                <a:solidFill>
                  <a:srgbClr val="A5D6A7"/>
                </a:solidFill>
                <a:latin typeface="Consolas"/>
              </a:rPr>
              <a:t>"orders"</a:t>
            </a:r>
            <a:r>
              <a:rPr sz="850" i="0">
                <a:solidFill>
                  <a:srgbClr val="E6EDF3"/>
                </a:solidFill>
                <a:latin typeface="Consolas"/>
              </a:rPr>
              <a:t>]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1">
                <a:solidFill>
                  <a:srgbClr val="8B98A8"/>
                </a:solidFill>
                <a:latin typeface="Consolas"/>
              </a:rPr>
              <a:t># tanpa batas request per client</a:t>
            </a:r>
          </a:p>
        </p:txBody>
      </p:sp>
      <p:sp>
        <p:nvSpPr>
          <p:cNvPr id="29" name="Box 12"/>
          <p:cNvSpPr/>
          <p:nvPr/>
        </p:nvSpPr>
        <p:spPr>
          <a:xfrm>
            <a:off x="4983480" y="1536192"/>
            <a:ext cx="3502152" cy="3127248"/>
          </a:xfrm>
          <a:prstGeom prst="roundRect">
            <a:avLst>
              <a:gd name="adj" fmla="val 3508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5120640" y="1627632"/>
            <a:ext cx="32278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Yang masih jadi masalah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5120640" y="1947672"/>
            <a:ext cx="32278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Produk yang sama dibuka ribuan kali = ribuan query yang sama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Halaman produk ikut lambat saat database sibuk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Satu client bisa membanjiri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POST /orders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dan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/reports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Belum ada angka latency untuk dibandingkan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" name="Google Shape;3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Text 1"/>
          <p:cNvSpPr txBox="1"/>
          <p:nvPr/>
        </p:nvSpPr>
        <p:spPr>
          <a:xfrm>
            <a:off x="822960" y="16002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i="0" b="0">
                <a:solidFill>
                  <a:srgbClr val="CFE0FA"/>
                </a:solidFill>
                <a:latin typeface="Inter"/>
              </a:rPr>
              <a:t>Bagian 01</a:t>
            </a:r>
          </a:p>
        </p:txBody>
      </p:sp>
      <p:sp>
        <p:nvSpPr>
          <p:cNvPr id="32" name="Text 2"/>
          <p:cNvSpPr txBox="1"/>
          <p:nvPr/>
        </p:nvSpPr>
        <p:spPr>
          <a:xfrm>
            <a:off x="822960" y="1920240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i="0" b="0">
                <a:solidFill>
                  <a:srgbClr val="FFFFFF"/>
                </a:solidFill>
                <a:latin typeface="Work Sans ExtraBold"/>
              </a:rPr>
              <a:t>Caching Strategies with Redis</a:t>
            </a:r>
          </a:p>
        </p:txBody>
      </p:sp>
      <p:sp>
        <p:nvSpPr>
          <p:cNvPr id="33" name="Text 3"/>
          <p:cNvSpPr txBox="1"/>
          <p:nvPr/>
        </p:nvSpPr>
        <p:spPr>
          <a:xfrm>
            <a:off x="822960" y="2743200"/>
            <a:ext cx="6583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i="0" b="0">
                <a:solidFill>
                  <a:srgbClr val="E3ECFA"/>
                </a:solidFill>
                <a:latin typeface="Inter"/>
              </a:rPr>
              <a:t>Cache-aside, TTL, dan invalidation.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Cache-Aside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Apa Itu Cache-Aside?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536192"/>
            <a:ext cx="384048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Apa itu?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Strategi caching di mana aplikasi mengecek cache dulu. Kalau tidak ada (</a:t>
            </a:r>
            <a:r>
              <a:rPr sz="1050" i="0" b="1">
                <a:solidFill>
                  <a:srgbClr val="434343"/>
                </a:solidFill>
                <a:latin typeface="Inter"/>
              </a:rPr>
              <a:t>miss</a:t>
            </a:r>
            <a:r>
              <a:rPr sz="1050" i="0" b="0">
                <a:solidFill>
                  <a:srgbClr val="434343"/>
                </a:solidFill>
                <a:latin typeface="Inter"/>
              </a:rPr>
              <a:t>), aplikasi mengambil dari database lalu menyimpannya ke cache. Request berikutnya langsung dapat dari cache (</a:t>
            </a:r>
            <a:r>
              <a:rPr sz="1050" i="0" b="1">
                <a:solidFill>
                  <a:srgbClr val="434343"/>
                </a:solidFill>
                <a:latin typeface="Inter"/>
              </a:rPr>
              <a:t>hit</a:t>
            </a:r>
            <a:r>
              <a:rPr sz="1050" i="0" b="0">
                <a:solidFill>
                  <a:srgbClr val="434343"/>
                </a:solidFill>
                <a:latin typeface="Inter"/>
              </a:rPr>
              <a:t>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Untuk apa?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Response lebih cepat untuk data yang sering dibaca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Beban database berkurang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Redis mati, aplikasi tetap bisa baca dari database</a:t>
            </a:r>
          </a:p>
        </p:txBody>
      </p:sp>
      <p:sp>
        <p:nvSpPr>
          <p:cNvPr id="23" name="Box 4"/>
          <p:cNvSpPr/>
          <p:nvPr/>
        </p:nvSpPr>
        <p:spPr>
          <a:xfrm>
            <a:off x="4892040" y="1554480"/>
            <a:ext cx="3593592" cy="384048"/>
          </a:xfrm>
          <a:prstGeom prst="roundRect">
            <a:avLst>
              <a:gd name="adj" fmla="val 28571"/>
            </a:avLst>
          </a:prstGeom>
          <a:solidFill>
            <a:srgbClr val="1C4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i="0" b="1">
                <a:solidFill>
                  <a:srgbClr val="FFFFFF"/>
                </a:solidFill>
                <a:latin typeface="Inter"/>
              </a:rPr>
              <a:t>Request GET /products/1</a:t>
            </a:r>
          </a:p>
        </p:txBody>
      </p:sp>
      <p:cxnSp>
        <p:nvCxnSpPr>
          <p:cNvPr id="24" name="Arrow 5"/>
          <p:cNvCxnSpPr/>
          <p:nvPr/>
        </p:nvCxnSpPr>
        <p:spPr>
          <a:xfrm>
            <a:off x="6684264" y="1938528"/>
            <a:ext cx="0" cy="256032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Box 6"/>
          <p:cNvSpPr/>
          <p:nvPr/>
        </p:nvSpPr>
        <p:spPr>
          <a:xfrm>
            <a:off x="4892040" y="2194560"/>
            <a:ext cx="3593592" cy="384048"/>
          </a:xfrm>
          <a:prstGeom prst="roundRect">
            <a:avLst>
              <a:gd name="adj" fmla="val 28571"/>
            </a:avLst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i="0" b="1">
                <a:solidFill>
                  <a:srgbClr val="FFFFFF"/>
                </a:solidFill>
                <a:latin typeface="Inter"/>
              </a:rPr>
              <a:t>Cek Redis: v1:product:1</a:t>
            </a:r>
          </a:p>
        </p:txBody>
      </p:sp>
      <p:cxnSp>
        <p:nvCxnSpPr>
          <p:cNvPr id="26" name="Arrow 7"/>
          <p:cNvCxnSpPr/>
          <p:nvPr/>
        </p:nvCxnSpPr>
        <p:spPr>
          <a:xfrm>
            <a:off x="5715000" y="2578608"/>
            <a:ext cx="0" cy="27432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Arrow 8"/>
          <p:cNvCxnSpPr/>
          <p:nvPr/>
        </p:nvCxnSpPr>
        <p:spPr>
          <a:xfrm>
            <a:off x="7662672" y="2578608"/>
            <a:ext cx="0" cy="27432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Box 9"/>
          <p:cNvSpPr/>
          <p:nvPr/>
        </p:nvSpPr>
        <p:spPr>
          <a:xfrm>
            <a:off x="4892040" y="2852928"/>
            <a:ext cx="1645920" cy="566928"/>
          </a:xfrm>
          <a:prstGeom prst="roundRect">
            <a:avLst>
              <a:gd name="adj" fmla="val 1935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2E7D5B"/>
                </a:solidFill>
                <a:latin typeface="Inter"/>
              </a:rPr>
              <a:t>hit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2E7D5B"/>
                </a:solidFill>
                <a:latin typeface="Inter"/>
              </a:rPr>
              <a:t>langsung kembalikan</a:t>
            </a:r>
          </a:p>
        </p:txBody>
      </p:sp>
      <p:sp>
        <p:nvSpPr>
          <p:cNvPr id="29" name="Box 10"/>
          <p:cNvSpPr/>
          <p:nvPr/>
        </p:nvSpPr>
        <p:spPr>
          <a:xfrm>
            <a:off x="6839712" y="2852928"/>
            <a:ext cx="1645920" cy="566928"/>
          </a:xfrm>
          <a:prstGeom prst="roundRect">
            <a:avLst>
              <a:gd name="adj" fmla="val 19354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C0392B"/>
                </a:solidFill>
                <a:latin typeface="Inter"/>
              </a:rPr>
              <a:t>miss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C0392B"/>
                </a:solidFill>
                <a:latin typeface="Inter"/>
              </a:rPr>
              <a:t>query database</a:t>
            </a:r>
          </a:p>
        </p:txBody>
      </p:sp>
      <p:cxnSp>
        <p:nvCxnSpPr>
          <p:cNvPr id="30" name="Arrow 11"/>
          <p:cNvCxnSpPr/>
          <p:nvPr/>
        </p:nvCxnSpPr>
        <p:spPr>
          <a:xfrm>
            <a:off x="7662672" y="3419856"/>
            <a:ext cx="0" cy="256031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Box 12"/>
          <p:cNvSpPr/>
          <p:nvPr/>
        </p:nvSpPr>
        <p:spPr>
          <a:xfrm>
            <a:off x="6839712" y="3675887"/>
            <a:ext cx="1645920" cy="566928"/>
          </a:xfrm>
          <a:prstGeom prst="roundRect">
            <a:avLst>
              <a:gd name="adj" fmla="val 19354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1C4587"/>
                </a:solidFill>
                <a:latin typeface="Inter"/>
              </a:rPr>
              <a:t>simpan ke Redis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1C4587"/>
                </a:solidFill>
                <a:latin typeface="Inter"/>
              </a:rPr>
              <a:t>(dengan TTL)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Cache-Aside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Before: Selalu Query ke Database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01-cache-aside/before.py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query_product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product_id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int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-</a:t>
            </a:r>
            <a:r>
              <a:rPr sz="950" i="0">
                <a:solidFill>
                  <a:srgbClr val="E6EDF3"/>
                </a:solidFill>
                <a:latin typeface="Consolas"/>
              </a:rPr>
              <a:t>&gt;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dict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time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sleep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F9C97A"/>
                </a:solidFill>
                <a:latin typeface="Consolas"/>
              </a:rPr>
              <a:t>0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F9C97A"/>
                </a:solidFill>
                <a:latin typeface="Consolas"/>
              </a:rPr>
              <a:t>5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           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anggap: query berat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dict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PRODUCTS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E6EDF3"/>
                </a:solidFill>
                <a:latin typeface="Consolas"/>
              </a:rPr>
              <a:t>product_id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get_product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product_id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int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-</a:t>
            </a:r>
            <a:r>
              <a:rPr sz="950" i="0">
                <a:solidFill>
                  <a:srgbClr val="E6EDF3"/>
                </a:solidFill>
                <a:latin typeface="Consolas"/>
              </a:rPr>
              <a:t>&gt;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dict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query_product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product_id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5 request: 2.5 detik, query ke database: 5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Hasil query sama, tapi diulang terus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Database menanggung semua beban baca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Response lambat untuk semua user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Cache-Aside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After: Cek Cache Dulu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01-cache-aside/after.py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get_product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product_id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int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-</a:t>
            </a:r>
            <a:r>
              <a:rPr sz="950" i="0">
                <a:solidFill>
                  <a:srgbClr val="E6EDF3"/>
                </a:solidFill>
                <a:latin typeface="Consolas"/>
              </a:rPr>
              <a:t>&gt;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dict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key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A5D6A7"/>
                </a:solidFill>
                <a:latin typeface="Consolas"/>
              </a:rPr>
              <a:t>f"product:{product_id}"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cached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cache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get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key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if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cached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is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not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None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                   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hit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json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loads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cached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product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query_product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product_id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      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miss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cache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C3A6FF"/>
                </a:solidFill>
                <a:latin typeface="Consolas"/>
              </a:rPr>
              <a:t>set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key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json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dumps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product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ex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F9C97A"/>
                </a:solidFill>
                <a:latin typeface="Consolas"/>
              </a:rPr>
              <a:t>60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TTL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product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5 request: 0.5 detik, query ke database: 1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2E7D5B"/>
                </a:solidFill>
                <a:latin typeface="Inter"/>
              </a:rPr>
              <a:t>Yang membaik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Query cuma saat cache kosong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Request berikutnya dilayani Redis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Data otomatis diperbarui setelah TTL habis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Caching Strategy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Memilih Caching Strategy</a:t>
            </a:r>
          </a:p>
        </p:txBody>
      </p:sp>
      <p:graphicFrame>
        <p:nvGraphicFramePr>
          <p:cNvPr id="22" name="Table 3"/>
          <p:cNvGraphicFramePr>
            <a:graphicFrameLocks noGrp="1"/>
          </p:cNvGraphicFramePr>
          <p:nvPr/>
        </p:nvGraphicFramePr>
        <p:xfrm>
          <a:off x="621792" y="1554480"/>
          <a:ext cx="7863840" cy="2267712"/>
        </p:xfrm>
        <a:graphic>
          <a:graphicData uri="http://schemas.openxmlformats.org/drawingml/2006/table">
            <a:tbl>
              <a:tblPr firstRow="1" bandRow="1"/>
              <a:tblGrid>
                <a:gridCol w="1280160"/>
                <a:gridCol w="2194560"/>
                <a:gridCol w="2286000"/>
                <a:gridCol w="210312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Strategi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Cara kerja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Cocok untuk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Risiko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Cache-aside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Aplikasi baca cache dulu, isi saat miss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Data sering dibaca, jarang berubah (produk, kategori)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Request pertama tetap lambat, data bisa basi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Write-through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Setiap tulis ke database, cache ikut ditulis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Data yang harus selalu terbaru di cache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Tulis jadi lebih lambat, cache berisi data yang jarang dibaca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Write-behind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Tulis ke cache dulu, database menyusul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Tulis sangat sering (counter, view count)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Data hilang kalau cache mati sebelum tersimpan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4"/>
          <p:cNvSpPr txBox="1"/>
          <p:nvPr/>
        </p:nvSpPr>
        <p:spPr>
          <a:xfrm>
            <a:off x="621792" y="4069080"/>
            <a:ext cx="7863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7A7A7A"/>
                </a:solidFill>
                <a:latin typeface="Inter"/>
              </a:rPr>
              <a:t>Di sesi ini kita memakai </a:t>
            </a:r>
            <a:r>
              <a:rPr sz="1000" i="0" b="1">
                <a:solidFill>
                  <a:srgbClr val="7A7A7A"/>
                </a:solidFill>
                <a:latin typeface="Inter"/>
              </a:rPr>
              <a:t>cache-aside</a:t>
            </a:r>
            <a:r>
              <a:rPr sz="1000" i="0" b="0">
                <a:solidFill>
                  <a:srgbClr val="7A7A7A"/>
                </a:solidFill>
                <a:latin typeface="Inter"/>
              </a:rPr>
              <a:t>, strategi yang paling umum untuk API.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TTL &amp; Invalidation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Before: Cache Tidak Pernah Diperbarui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02-ttl-invalidation/before.py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get_product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product_id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int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-</a:t>
            </a:r>
            <a:r>
              <a:rPr sz="950" i="0">
                <a:solidFill>
                  <a:srgbClr val="E6EDF3"/>
                </a:solidFill>
                <a:latin typeface="Consolas"/>
              </a:rPr>
              <a:t>&gt;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dict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cache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C3A6FF"/>
                </a:solidFill>
                <a:latin typeface="Consolas"/>
              </a:rPr>
              <a:t>set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key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json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dumps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product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   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tanpa TTL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product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update_price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product_id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int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price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int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-</a:t>
            </a:r>
            <a:r>
              <a:rPr sz="950" i="0">
                <a:solidFill>
                  <a:srgbClr val="E6EDF3"/>
                </a:solidFill>
                <a:latin typeface="Consolas"/>
              </a:rPr>
              <a:t>&gt;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None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7FDBCA"/>
                </a:solidFill>
                <a:latin typeface="Consolas"/>
              </a:rPr>
              <a:t>PRODUCTS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E6EDF3"/>
                </a:solidFill>
                <a:latin typeface="Consolas"/>
              </a:rPr>
              <a:t>product_id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A5D6A7"/>
                </a:solidFill>
                <a:latin typeface="Consolas"/>
              </a:rPr>
              <a:t>"price"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price</a:t>
            </a:r>
            <a:r>
              <a:rPr sz="950" i="0">
                <a:solidFill>
                  <a:srgbClr val="E6EDF3"/>
                </a:solidFill>
                <a:latin typeface="Consolas"/>
              </a:rPr>
              <a:t>  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cache tidak diubah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Harga awal : 500000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Harga baru : 500000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Data di cache basi (stale)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Basi selamanya, karena tanpa TTL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User melihat harga yang salah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TTL &amp; Invalidation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After: TTL + Hapus Key Saat Data Berubah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02-ttl-invalidation/after.py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get_product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product_id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int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-</a:t>
            </a:r>
            <a:r>
              <a:rPr sz="950" i="0">
                <a:solidFill>
                  <a:srgbClr val="E6EDF3"/>
                </a:solidFill>
                <a:latin typeface="Consolas"/>
              </a:rPr>
              <a:t>&gt;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dict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cache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C3A6FF"/>
                </a:solidFill>
                <a:latin typeface="Consolas"/>
              </a:rPr>
              <a:t>set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key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json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dumps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product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ex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7FDBCA"/>
                </a:solidFill>
                <a:latin typeface="Consolas"/>
              </a:rPr>
              <a:t>TTL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 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60 detik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product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update_price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product_id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int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price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int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-</a:t>
            </a:r>
            <a:r>
              <a:rPr sz="950" i="0">
                <a:solidFill>
                  <a:srgbClr val="E6EDF3"/>
                </a:solidFill>
                <a:latin typeface="Consolas"/>
              </a:rPr>
              <a:t>&gt;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None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7FDBCA"/>
                </a:solidFill>
                <a:latin typeface="Consolas"/>
              </a:rPr>
              <a:t>PRODUCTS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E6EDF3"/>
                </a:solidFill>
                <a:latin typeface="Consolas"/>
              </a:rPr>
              <a:t>product_id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A5D6A7"/>
                </a:solidFill>
                <a:latin typeface="Consolas"/>
              </a:rPr>
              <a:t>"price"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price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cache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delete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A5D6A7"/>
                </a:solidFill>
                <a:latin typeface="Consolas"/>
              </a:rPr>
              <a:t>f"product:{product_id}"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       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invalidation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Harga awal : 500000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Harga baru : 450000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2E7D5B"/>
                </a:solidFill>
                <a:latin typeface="Inter"/>
              </a:rPr>
              <a:t>Yang membaik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Data berubah, cache langsung dihapus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TTL sebagai pengaman kalau ada yang lupa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Isi baru selalu diambil dari database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" name="Google Shape;3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Text 1"/>
          <p:cNvSpPr txBox="1"/>
          <p:nvPr/>
        </p:nvSpPr>
        <p:spPr>
          <a:xfrm>
            <a:off x="822960" y="16002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i="0" b="0">
                <a:solidFill>
                  <a:srgbClr val="CFE0FA"/>
                </a:solidFill>
                <a:latin typeface="Inter"/>
              </a:rPr>
              <a:t>Bagian 02</a:t>
            </a:r>
          </a:p>
        </p:txBody>
      </p:sp>
      <p:sp>
        <p:nvSpPr>
          <p:cNvPr id="32" name="Text 2"/>
          <p:cNvSpPr txBox="1"/>
          <p:nvPr/>
        </p:nvSpPr>
        <p:spPr>
          <a:xfrm>
            <a:off x="822960" y="1920240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i="0" b="0">
                <a:solidFill>
                  <a:srgbClr val="FFFFFF"/>
                </a:solidFill>
                <a:latin typeface="Work Sans ExtraBold"/>
              </a:rPr>
              <a:t>Response Caching, Cache Key &amp; Stampede</a:t>
            </a:r>
          </a:p>
        </p:txBody>
      </p:sp>
      <p:sp>
        <p:nvSpPr>
          <p:cNvPr id="33" name="Text 3"/>
          <p:cNvSpPr txBox="1"/>
          <p:nvPr/>
        </p:nvSpPr>
        <p:spPr>
          <a:xfrm>
            <a:off x="822960" y="3246120"/>
            <a:ext cx="6583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i="0" b="0">
                <a:solidFill>
                  <a:srgbClr val="E3ECFA"/>
                </a:solidFill>
                <a:latin typeface="Inter"/>
              </a:rPr>
              <a:t>Key yang tepat dan cache yang tidak runtuh bersamaan.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Cache Key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Cache Key yang Baik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536192"/>
            <a:ext cx="393192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Apa itu?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Nama yang dipakai untuk menyimpan dan mencari data di cache. Dua request yang hasilnya sama harus mendapat key yang sama, dua request yang hasilnya beda harus mendapat key yang beda.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Untuk apa?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1">
                <a:solidFill>
                  <a:srgbClr val="434343"/>
                </a:solidFill>
                <a:latin typeface="Inter"/>
              </a:rPr>
              <a:t>Namespace</a:t>
            </a:r>
            <a:r>
              <a:rPr sz="1050" i="0" b="0">
                <a:solidFill>
                  <a:srgbClr val="434343"/>
                </a:solidFill>
                <a:latin typeface="Inter"/>
              </a:rPr>
              <a:t>: tidak bentrok dengan data lain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1">
                <a:solidFill>
                  <a:srgbClr val="434343"/>
                </a:solidFill>
                <a:latin typeface="Inter"/>
              </a:rPr>
              <a:t>Versi</a:t>
            </a:r>
            <a:r>
              <a:rPr sz="1050" i="0" b="0">
                <a:solidFill>
                  <a:srgbClr val="434343"/>
                </a:solidFill>
                <a:latin typeface="Inter"/>
              </a:rPr>
              <a:t>: bentuk data berubah, cukup naikkan v1 ke v2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1">
                <a:solidFill>
                  <a:srgbClr val="434343"/>
                </a:solidFill>
                <a:latin typeface="Inter"/>
              </a:rPr>
              <a:t>Parameter</a:t>
            </a:r>
            <a:r>
              <a:rPr sz="1050" i="0" b="0">
                <a:solidFill>
                  <a:srgbClr val="434343"/>
                </a:solidFill>
                <a:latin typeface="Inter"/>
              </a:rPr>
              <a:t>: semua yang memengaruhi hasil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1">
                <a:solidFill>
                  <a:srgbClr val="434343"/>
                </a:solidFill>
                <a:latin typeface="Inter"/>
              </a:rPr>
              <a:t>Normalisasi</a:t>
            </a:r>
            <a:r>
              <a:rPr sz="1050" i="0" b="0">
                <a:solidFill>
                  <a:srgbClr val="434343"/>
                </a:solidFill>
                <a:latin typeface="Inter"/>
              </a:rPr>
              <a:t>: nilai kosong dan default diseragamkan</a:t>
            </a:r>
          </a:p>
        </p:txBody>
      </p:sp>
      <p:sp>
        <p:nvSpPr>
          <p:cNvPr id="23" name="CodeTab 5"/>
          <p:cNvSpPr/>
          <p:nvPr/>
        </p:nvSpPr>
        <p:spPr>
          <a:xfrm>
            <a:off x="4937760" y="1536192"/>
            <a:ext cx="354787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5047488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5184648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t 8"/>
          <p:cNvSpPr/>
          <p:nvPr/>
        </p:nvSpPr>
        <p:spPr>
          <a:xfrm>
            <a:off x="5321808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 9"/>
          <p:cNvSpPr txBox="1"/>
          <p:nvPr/>
        </p:nvSpPr>
        <p:spPr>
          <a:xfrm>
            <a:off x="5486400" y="1545336"/>
            <a:ext cx="2907791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contoh key</a:t>
            </a:r>
          </a:p>
        </p:txBody>
      </p:sp>
      <p:sp>
        <p:nvSpPr>
          <p:cNvPr id="28" name="CodeBg 11"/>
          <p:cNvSpPr/>
          <p:nvPr/>
        </p:nvSpPr>
        <p:spPr>
          <a:xfrm>
            <a:off x="4937760" y="1773936"/>
            <a:ext cx="3547872" cy="1956815"/>
          </a:xfrm>
          <a:prstGeom prst="roundRect">
            <a:avLst>
              <a:gd name="adj" fmla="val 934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9" name="Code 12"/>
          <p:cNvSpPr txBox="1"/>
          <p:nvPr/>
        </p:nvSpPr>
        <p:spPr>
          <a:xfrm>
            <a:off x="4937760" y="1773936"/>
            <a:ext cx="3547872" cy="1956815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v1:product:1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v1:products:list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v1:products:list:category=mouse:page=1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lock:v1:product:1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ratelimit:127.0.0.1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Response Cache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Before: Satu Key untuk Semua Query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03-response-cache-key/before.py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F9C97A"/>
                </a:solidFill>
                <a:latin typeface="Consolas"/>
              </a:rPr>
              <a:t>@app.get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A5D6A7"/>
                </a:solidFill>
                <a:latin typeface="Consolas"/>
              </a:rPr>
              <a:t>"/products"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FF8E6E"/>
                </a:solidFill>
                <a:latin typeface="Consolas"/>
              </a:rPr>
              <a:t>def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82B1FF"/>
                </a:solidFill>
                <a:latin typeface="Consolas"/>
              </a:rPr>
              <a:t>list_products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category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C3A6FF"/>
                </a:solidFill>
                <a:latin typeface="Consolas"/>
              </a:rPr>
              <a:t>str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|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F8E6E"/>
                </a:solidFill>
                <a:latin typeface="Consolas"/>
              </a:rPr>
              <a:t>None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F8E6E"/>
                </a:solidFill>
                <a:latin typeface="Consolas"/>
              </a:rPr>
              <a:t>None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page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C3A6FF"/>
                </a:solidFill>
                <a:latin typeface="Consolas"/>
              </a:rPr>
              <a:t>int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9C97A"/>
                </a:solidFill>
                <a:latin typeface="Consolas"/>
              </a:rPr>
              <a:t>1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E6EDF3"/>
                </a:solidFill>
                <a:latin typeface="Consolas"/>
              </a:rPr>
              <a:t>cached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cache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get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A5D6A7"/>
                </a:solidFill>
                <a:latin typeface="Consolas"/>
              </a:rPr>
              <a:t>"products"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00" i="1">
                <a:solidFill>
                  <a:srgbClr val="8B98A8"/>
                </a:solidFill>
                <a:latin typeface="Consolas"/>
              </a:rPr>
              <a:t># key sama untuk semua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FF8E6E"/>
                </a:solidFill>
                <a:latin typeface="Consolas"/>
              </a:rPr>
              <a:t>if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cached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F8E6E"/>
                </a:solidFill>
                <a:latin typeface="Consolas"/>
              </a:rPr>
              <a:t>is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F8E6E"/>
                </a:solidFill>
                <a:latin typeface="Consolas"/>
              </a:rPr>
              <a:t>not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F8E6E"/>
                </a:solidFill>
                <a:latin typeface="Consolas"/>
              </a:rPr>
              <a:t>None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0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json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loads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cached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E6EDF3"/>
                </a:solidFill>
                <a:latin typeface="Consolas"/>
              </a:rPr>
              <a:t>result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query_products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category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page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E6EDF3"/>
                </a:solidFill>
                <a:latin typeface="Consolas"/>
              </a:rPr>
              <a:t>cache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C3A6FF"/>
                </a:solidFill>
                <a:latin typeface="Consolas"/>
              </a:rPr>
              <a:t>set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A5D6A7"/>
                </a:solidFill>
                <a:latin typeface="Consolas"/>
              </a:rPr>
              <a:t>"products"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json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dumps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result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ex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F9C97A"/>
                </a:solidFill>
                <a:latin typeface="Consolas"/>
              </a:rPr>
              <a:t>60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result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1">
                <a:solidFill>
                  <a:srgbClr val="8B98A8"/>
                </a:solidFill>
                <a:latin typeface="Consolas"/>
              </a:rPr>
              <a:t># keyboard: ['Keyboard Mekanik', 'Keyboard Wireless']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1">
                <a:solidFill>
                  <a:srgbClr val="8B98A8"/>
                </a:solidFill>
                <a:latin typeface="Consolas"/>
              </a:rPr>
              <a:t># mouse   : ['Keyboard Mekanik', 'Keyboard Wireless']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Hasil query lain ikut terkirim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Bug yang sulit dilacak, karena kadang benar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Tidak bisa tahu cache dipakai atau tidak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Response Cache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After: Key Berisi Semua Parameter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03-response-cache-key/after.py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Consolas"/>
              </a:rPr>
              <a:t>def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82B1FF"/>
                </a:solidFill>
                <a:latin typeface="Consolas"/>
              </a:rPr>
              <a:t>products_key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category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C3A6FF"/>
                </a:solidFill>
                <a:latin typeface="Consolas"/>
              </a:rPr>
              <a:t>str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|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F8E6E"/>
                </a:solidFill>
                <a:latin typeface="Consolas"/>
              </a:rPr>
              <a:t>None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page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C3A6FF"/>
                </a:solidFill>
                <a:latin typeface="Consolas"/>
              </a:rPr>
              <a:t>int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-</a:t>
            </a:r>
            <a:r>
              <a:rPr sz="850" i="0">
                <a:solidFill>
                  <a:srgbClr val="E6EDF3"/>
                </a:solidFill>
                <a:latin typeface="Consolas"/>
              </a:rPr>
              <a:t>&gt;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C3A6FF"/>
                </a:solidFill>
                <a:latin typeface="Consolas"/>
              </a:rPr>
              <a:t>str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A5D6A7"/>
                </a:solidFill>
                <a:latin typeface="Consolas"/>
              </a:rPr>
              <a:t>f"v1:products:list:category={category or 'all'}:page={page}"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F9C97A"/>
                </a:solidFill>
                <a:latin typeface="Consolas"/>
              </a:rPr>
              <a:t>@app.get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A5D6A7"/>
                </a:solidFill>
                <a:latin typeface="Consolas"/>
              </a:rPr>
              <a:t>"/products"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Consolas"/>
              </a:rPr>
              <a:t>def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82B1FF"/>
                </a:solidFill>
                <a:latin typeface="Consolas"/>
              </a:rPr>
              <a:t>list_products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response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Response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category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C3A6FF"/>
                </a:solidFill>
                <a:latin typeface="Consolas"/>
              </a:rPr>
              <a:t>str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|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F8E6E"/>
                </a:solidFill>
                <a:latin typeface="Consolas"/>
              </a:rPr>
              <a:t>None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F8E6E"/>
                </a:solidFill>
                <a:latin typeface="Consolas"/>
              </a:rPr>
              <a:t>None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  </a:t>
            </a:r>
            <a:r>
              <a:rPr sz="850" i="0">
                <a:solidFill>
                  <a:srgbClr val="E6EDF3"/>
                </a:solidFill>
                <a:latin typeface="Consolas"/>
              </a:rPr>
              <a:t>page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C3A6FF"/>
                </a:solidFill>
                <a:latin typeface="Consolas"/>
              </a:rPr>
              <a:t>int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9C97A"/>
                </a:solidFill>
                <a:latin typeface="Consolas"/>
              </a:rPr>
              <a:t>1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E6EDF3"/>
                </a:solidFill>
                <a:latin typeface="Consolas"/>
              </a:rPr>
              <a:t>key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products_key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category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page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E6EDF3"/>
                </a:solidFill>
                <a:latin typeface="Consolas"/>
              </a:rPr>
              <a:t>cached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cache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get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key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FF8E6E"/>
                </a:solidFill>
                <a:latin typeface="Consolas"/>
              </a:rPr>
              <a:t>if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cached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F8E6E"/>
                </a:solidFill>
                <a:latin typeface="Consolas"/>
              </a:rPr>
              <a:t>is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F8E6E"/>
                </a:solidFill>
                <a:latin typeface="Consolas"/>
              </a:rPr>
              <a:t>not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F8E6E"/>
                </a:solidFill>
                <a:latin typeface="Consolas"/>
              </a:rPr>
              <a:t>None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850" i="0">
                <a:solidFill>
                  <a:srgbClr val="E6EDF3"/>
                </a:solidFill>
                <a:latin typeface="Consolas"/>
              </a:rPr>
              <a:t>response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headers</a:t>
            </a:r>
            <a:r>
              <a:rPr sz="850" i="0">
                <a:solidFill>
                  <a:srgbClr val="E6EDF3"/>
                </a:solidFill>
                <a:latin typeface="Consolas"/>
              </a:rPr>
              <a:t>[</a:t>
            </a:r>
            <a:r>
              <a:rPr sz="850" i="0">
                <a:solidFill>
                  <a:srgbClr val="A5D6A7"/>
                </a:solidFill>
                <a:latin typeface="Consolas"/>
              </a:rPr>
              <a:t>"X-Cache"</a:t>
            </a:r>
            <a:r>
              <a:rPr sz="850" i="0">
                <a:solidFill>
                  <a:srgbClr val="E6EDF3"/>
                </a:solidFill>
                <a:latin typeface="Consolas"/>
              </a:rPr>
              <a:t>]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A5D6A7"/>
                </a:solidFill>
                <a:latin typeface="Consolas"/>
              </a:rPr>
              <a:t>"HIT"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8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json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loads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cached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E6EDF3"/>
                </a:solidFill>
                <a:latin typeface="Consolas"/>
              </a:rPr>
              <a:t>response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headers</a:t>
            </a:r>
            <a:r>
              <a:rPr sz="850" i="0">
                <a:solidFill>
                  <a:srgbClr val="E6EDF3"/>
                </a:solidFill>
                <a:latin typeface="Consolas"/>
              </a:rPr>
              <a:t>[</a:t>
            </a:r>
            <a:r>
              <a:rPr sz="850" i="0">
                <a:solidFill>
                  <a:srgbClr val="A5D6A7"/>
                </a:solidFill>
                <a:latin typeface="Consolas"/>
              </a:rPr>
              <a:t>"X-Cache"</a:t>
            </a:r>
            <a:r>
              <a:rPr sz="850" i="0">
                <a:solidFill>
                  <a:srgbClr val="E6EDF3"/>
                </a:solidFill>
                <a:latin typeface="Consolas"/>
              </a:rPr>
              <a:t>]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A5D6A7"/>
                </a:solidFill>
                <a:latin typeface="Consolas"/>
              </a:rPr>
              <a:t>"MISS"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2E7D5B"/>
                </a:solidFill>
                <a:latin typeface="Inter"/>
              </a:rPr>
              <a:t>Yang membaik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Setiap kombinasi query punya cache sendiri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Key mudah dibaca saat debugging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Header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X-Cache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menunjukkan HIT/MISS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Cache Stampede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Apa Itu Cache Stampede?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536192"/>
            <a:ext cx="393192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Apa itu?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Saat cache data yang populer kedaluwarsa, ratusan request yang datang bersamaan semuanya mendapat miss dan semuanya query ke database di waktu yang sama.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Untuk apa?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Mencegah database tumbang saat traffic tinggi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Promo dan flash sale tetap aman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Cukup satu request yang mengisi ulang cache</a:t>
            </a:r>
          </a:p>
        </p:txBody>
      </p:sp>
      <p:sp>
        <p:nvSpPr>
          <p:cNvPr id="23" name="Box 4"/>
          <p:cNvSpPr/>
          <p:nvPr/>
        </p:nvSpPr>
        <p:spPr>
          <a:xfrm>
            <a:off x="4937760" y="1554480"/>
            <a:ext cx="822960" cy="347472"/>
          </a:xfrm>
          <a:prstGeom prst="roundRect">
            <a:avLst>
              <a:gd name="adj" fmla="val 31578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i="0" b="1">
                <a:solidFill>
                  <a:srgbClr val="1C4587"/>
                </a:solidFill>
                <a:latin typeface="Inter"/>
              </a:rPr>
              <a:t>req 1</a:t>
            </a:r>
          </a:p>
        </p:txBody>
      </p:sp>
      <p:cxnSp>
        <p:nvCxnSpPr>
          <p:cNvPr id="24" name="Arrow 5"/>
          <p:cNvCxnSpPr/>
          <p:nvPr/>
        </p:nvCxnSpPr>
        <p:spPr>
          <a:xfrm>
            <a:off x="5349240" y="1901952"/>
            <a:ext cx="1362456" cy="338328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Box 6"/>
          <p:cNvSpPr/>
          <p:nvPr/>
        </p:nvSpPr>
        <p:spPr>
          <a:xfrm>
            <a:off x="5843016" y="1554480"/>
            <a:ext cx="822960" cy="347472"/>
          </a:xfrm>
          <a:prstGeom prst="roundRect">
            <a:avLst>
              <a:gd name="adj" fmla="val 31578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i="0" b="1">
                <a:solidFill>
                  <a:srgbClr val="1C4587"/>
                </a:solidFill>
                <a:latin typeface="Inter"/>
              </a:rPr>
              <a:t>req 2</a:t>
            </a:r>
          </a:p>
        </p:txBody>
      </p:sp>
      <p:cxnSp>
        <p:nvCxnSpPr>
          <p:cNvPr id="26" name="Arrow 7"/>
          <p:cNvCxnSpPr/>
          <p:nvPr/>
        </p:nvCxnSpPr>
        <p:spPr>
          <a:xfrm>
            <a:off x="6254496" y="1901952"/>
            <a:ext cx="457200" cy="338328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Box 8"/>
          <p:cNvSpPr/>
          <p:nvPr/>
        </p:nvSpPr>
        <p:spPr>
          <a:xfrm>
            <a:off x="6748272" y="1554480"/>
            <a:ext cx="822960" cy="347472"/>
          </a:xfrm>
          <a:prstGeom prst="roundRect">
            <a:avLst>
              <a:gd name="adj" fmla="val 31578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i="0" b="1">
                <a:solidFill>
                  <a:srgbClr val="1C4587"/>
                </a:solidFill>
                <a:latin typeface="Inter"/>
              </a:rPr>
              <a:t>req 3</a:t>
            </a:r>
          </a:p>
        </p:txBody>
      </p:sp>
      <p:cxnSp>
        <p:nvCxnSpPr>
          <p:cNvPr id="28" name="Arrow 9"/>
          <p:cNvCxnSpPr/>
          <p:nvPr/>
        </p:nvCxnSpPr>
        <p:spPr>
          <a:xfrm flipH="1">
            <a:off x="6711696" y="1901952"/>
            <a:ext cx="448056" cy="338328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Box 10"/>
          <p:cNvSpPr/>
          <p:nvPr/>
        </p:nvSpPr>
        <p:spPr>
          <a:xfrm>
            <a:off x="7653528" y="1554480"/>
            <a:ext cx="822960" cy="347472"/>
          </a:xfrm>
          <a:prstGeom prst="roundRect">
            <a:avLst>
              <a:gd name="adj" fmla="val 31578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50" i="0" b="1">
                <a:solidFill>
                  <a:srgbClr val="1C4587"/>
                </a:solidFill>
                <a:latin typeface="Inter"/>
              </a:rPr>
              <a:t>req 4</a:t>
            </a:r>
          </a:p>
        </p:txBody>
      </p:sp>
      <p:cxnSp>
        <p:nvCxnSpPr>
          <p:cNvPr id="30" name="Arrow 11"/>
          <p:cNvCxnSpPr/>
          <p:nvPr/>
        </p:nvCxnSpPr>
        <p:spPr>
          <a:xfrm flipH="1">
            <a:off x="6711696" y="1901952"/>
            <a:ext cx="1353312" cy="338328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Box 12"/>
          <p:cNvSpPr/>
          <p:nvPr/>
        </p:nvSpPr>
        <p:spPr>
          <a:xfrm>
            <a:off x="4937760" y="2240280"/>
            <a:ext cx="3547872" cy="384048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1C4587"/>
                </a:solidFill>
                <a:latin typeface="Inter"/>
              </a:rPr>
              <a:t>cache v1:product:1 kedaluwarsa</a:t>
            </a:r>
          </a:p>
        </p:txBody>
      </p:sp>
      <p:sp>
        <p:nvSpPr>
          <p:cNvPr id="32" name="Box 13"/>
          <p:cNvSpPr/>
          <p:nvPr/>
        </p:nvSpPr>
        <p:spPr>
          <a:xfrm>
            <a:off x="4937760" y="2834640"/>
            <a:ext cx="1700784" cy="777240"/>
          </a:xfrm>
          <a:prstGeom prst="roundRect">
            <a:avLst>
              <a:gd name="adj" fmla="val 14117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C0392B"/>
                </a:solidFill>
                <a:latin typeface="Inter"/>
              </a:rPr>
              <a:t>tanpa lock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C0392B"/>
                </a:solidFill>
                <a:latin typeface="Inter"/>
              </a:rPr>
              <a:t>4 query ke database</a:t>
            </a:r>
          </a:p>
        </p:txBody>
      </p:sp>
      <p:sp>
        <p:nvSpPr>
          <p:cNvPr id="33" name="Box 14"/>
          <p:cNvSpPr/>
          <p:nvPr/>
        </p:nvSpPr>
        <p:spPr>
          <a:xfrm>
            <a:off x="6784848" y="2834640"/>
            <a:ext cx="1700784" cy="777240"/>
          </a:xfrm>
          <a:prstGeom prst="roundRect">
            <a:avLst>
              <a:gd name="adj" fmla="val 14117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2E7D5B"/>
                </a:solidFill>
                <a:latin typeface="Inter"/>
              </a:rPr>
              <a:t>dengan lock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2E7D5B"/>
                </a:solidFill>
                <a:latin typeface="Inter"/>
              </a:rPr>
              <a:t>1 query, sisanya menunggu</a:t>
            </a:r>
          </a:p>
        </p:txBody>
      </p:sp>
      <p:cxnSp>
        <p:nvCxnSpPr>
          <p:cNvPr id="34" name="Arrow 15"/>
          <p:cNvCxnSpPr/>
          <p:nvPr/>
        </p:nvCxnSpPr>
        <p:spPr>
          <a:xfrm>
            <a:off x="5788152" y="2624328"/>
            <a:ext cx="0" cy="210312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Arrow 16"/>
          <p:cNvCxnSpPr/>
          <p:nvPr/>
        </p:nvCxnSpPr>
        <p:spPr>
          <a:xfrm>
            <a:off x="7635240" y="2624328"/>
            <a:ext cx="0" cy="210312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Cache Stampede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Before: Semua Miss, Semua Query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04-cache-stampede/before.py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FF8E6E"/>
                </a:solidFill>
                <a:latin typeface="Consolas"/>
              </a:rPr>
              <a:t>def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82B1FF"/>
                </a:solidFill>
                <a:latin typeface="Consolas"/>
              </a:rPr>
              <a:t>get_product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product_id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C3A6FF"/>
                </a:solidFill>
                <a:latin typeface="Consolas"/>
              </a:rPr>
              <a:t>int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-</a:t>
            </a:r>
            <a:r>
              <a:rPr sz="900" i="0">
                <a:solidFill>
                  <a:srgbClr val="E6EDF3"/>
                </a:solidFill>
                <a:latin typeface="Consolas"/>
              </a:rPr>
              <a:t>&gt;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C3A6FF"/>
                </a:solidFill>
                <a:latin typeface="Consolas"/>
              </a:rPr>
              <a:t>dict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E6EDF3"/>
                </a:solidFill>
                <a:latin typeface="Consolas"/>
              </a:rPr>
              <a:t>key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A5D6A7"/>
                </a:solidFill>
                <a:latin typeface="Consolas"/>
              </a:rPr>
              <a:t>f"product:{product_id}"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E6EDF3"/>
                </a:solidFill>
                <a:latin typeface="Consolas"/>
              </a:rPr>
              <a:t>cached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cache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get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key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FF8E6E"/>
                </a:solidFill>
                <a:latin typeface="Consolas"/>
              </a:rPr>
              <a:t>if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cached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F8E6E"/>
                </a:solidFill>
                <a:latin typeface="Consolas"/>
              </a:rPr>
              <a:t>is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F8E6E"/>
                </a:solidFill>
                <a:latin typeface="Consolas"/>
              </a:rPr>
              <a:t>not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F8E6E"/>
                </a:solidFill>
                <a:latin typeface="Consolas"/>
              </a:rPr>
              <a:t>None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0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json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loads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cached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E6EDF3"/>
                </a:solidFill>
                <a:latin typeface="Consolas"/>
              </a:rPr>
              <a:t>product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query_product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product_id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     </a:t>
            </a:r>
            <a:r>
              <a:rPr sz="900" i="1">
                <a:solidFill>
                  <a:srgbClr val="8B98A8"/>
                </a:solidFill>
                <a:latin typeface="Consolas"/>
              </a:rPr>
              <a:t># semua masuk sini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E6EDF3"/>
                </a:solidFill>
                <a:latin typeface="Consolas"/>
              </a:rPr>
              <a:t>cache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C3A6FF"/>
                </a:solidFill>
                <a:latin typeface="Consolas"/>
              </a:rPr>
              <a:t>set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key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json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dumps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product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ex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F9C97A"/>
                </a:solidFill>
                <a:latin typeface="Consolas"/>
              </a:rPr>
              <a:t>60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product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cache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delete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A5D6A7"/>
                </a:solidFill>
                <a:latin typeface="Consolas"/>
              </a:rPr>
              <a:t>"product:1"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       </a:t>
            </a:r>
            <a:r>
              <a:rPr sz="900" i="1">
                <a:solidFill>
                  <a:srgbClr val="8B98A8"/>
                </a:solidFill>
                <a:latin typeface="Consolas"/>
              </a:rPr>
              <a:t># anggap: cache baru kedaluwarsa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pool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map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get_product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[</a:t>
            </a:r>
            <a:r>
              <a:rPr sz="900" i="0">
                <a:solidFill>
                  <a:srgbClr val="F9C97A"/>
                </a:solidFill>
                <a:latin typeface="Consolas"/>
              </a:rPr>
              <a:t>1</a:t>
            </a:r>
            <a:r>
              <a:rPr sz="900" i="0">
                <a:solidFill>
                  <a:srgbClr val="E6EDF3"/>
                </a:solidFill>
                <a:latin typeface="Consolas"/>
              </a:rPr>
              <a:t>]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*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9C97A"/>
                </a:solidFill>
                <a:latin typeface="Consolas"/>
              </a:rPr>
              <a:t>20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  </a:t>
            </a:r>
            <a:r>
              <a:rPr sz="900" i="1">
                <a:solidFill>
                  <a:srgbClr val="8B98A8"/>
                </a:solidFill>
                <a:latin typeface="Consolas"/>
              </a:rPr>
              <a:t># 20 request bersamaan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1">
                <a:solidFill>
                  <a:srgbClr val="8B98A8"/>
                </a:solidFill>
                <a:latin typeface="Consolas"/>
              </a:rPr>
              <a:t># Query ke database: 20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Lonjakan query di detik yang sama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Database bisa lambat atau tumbang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Cache yang seharusnya melindungi justru memicu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Cache Stampede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After: Lock dan TTL Jitter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04-cache-stampede/after.py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Consolas"/>
              </a:rPr>
              <a:t>def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82B1FF"/>
                </a:solidFill>
                <a:latin typeface="Consolas"/>
              </a:rPr>
              <a:t>get_product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product_id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C3A6FF"/>
                </a:solidFill>
                <a:latin typeface="Consolas"/>
              </a:rPr>
              <a:t>int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-</a:t>
            </a:r>
            <a:r>
              <a:rPr sz="850" i="0">
                <a:solidFill>
                  <a:srgbClr val="E6EDF3"/>
                </a:solidFill>
                <a:latin typeface="Consolas"/>
              </a:rPr>
              <a:t>&gt;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C3A6FF"/>
                </a:solidFill>
                <a:latin typeface="Consolas"/>
              </a:rPr>
              <a:t>dict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E6EDF3"/>
                </a:solidFill>
                <a:latin typeface="Consolas"/>
              </a:rPr>
              <a:t>key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A5D6A7"/>
                </a:solidFill>
                <a:latin typeface="Consolas"/>
              </a:rPr>
              <a:t>f"product:{product_id}"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FF8E6E"/>
                </a:solidFill>
                <a:latin typeface="Consolas"/>
              </a:rPr>
              <a:t>while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F8E6E"/>
                </a:solidFill>
                <a:latin typeface="Consolas"/>
              </a:rPr>
              <a:t>True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850" i="0">
                <a:solidFill>
                  <a:srgbClr val="E6EDF3"/>
                </a:solidFill>
                <a:latin typeface="Consolas"/>
              </a:rPr>
              <a:t>cached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cache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get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key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850" i="0">
                <a:solidFill>
                  <a:srgbClr val="FF8E6E"/>
                </a:solidFill>
                <a:latin typeface="Consolas"/>
              </a:rPr>
              <a:t>if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cached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F8E6E"/>
                </a:solidFill>
                <a:latin typeface="Consolas"/>
              </a:rPr>
              <a:t>is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F8E6E"/>
                </a:solidFill>
                <a:latin typeface="Consolas"/>
              </a:rPr>
              <a:t>not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F8E6E"/>
                </a:solidFill>
                <a:latin typeface="Consolas"/>
              </a:rPr>
              <a:t>None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</a:t>
            </a:r>
            <a:r>
              <a:rPr sz="8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json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loads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cached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850" i="0">
                <a:solidFill>
                  <a:srgbClr val="FF8E6E"/>
                </a:solidFill>
                <a:latin typeface="Consolas"/>
              </a:rPr>
              <a:t>if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cache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C3A6FF"/>
                </a:solidFill>
                <a:latin typeface="Consolas"/>
              </a:rPr>
              <a:t>set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A5D6A7"/>
                </a:solidFill>
                <a:latin typeface="Consolas"/>
              </a:rPr>
              <a:t>f"lock:{key}"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A5D6A7"/>
                </a:solidFill>
                <a:latin typeface="Consolas"/>
              </a:rPr>
              <a:t>"1"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nx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FF8E6E"/>
                </a:solidFill>
                <a:latin typeface="Consolas"/>
              </a:rPr>
              <a:t>True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ex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F9C97A"/>
                </a:solidFill>
                <a:latin typeface="Consolas"/>
              </a:rPr>
              <a:t>5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 </a:t>
            </a:r>
            <a:r>
              <a:rPr sz="850" i="1">
                <a:solidFill>
                  <a:srgbClr val="8B98A8"/>
                </a:solidFill>
                <a:latin typeface="Consolas"/>
              </a:rPr>
              <a:t># 1 saja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</a:t>
            </a:r>
            <a:r>
              <a:rPr sz="850" i="0">
                <a:solidFill>
                  <a:srgbClr val="FF8E6E"/>
                </a:solidFill>
                <a:latin typeface="Consolas"/>
              </a:rPr>
              <a:t>try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</a:t>
            </a:r>
            <a:r>
              <a:rPr sz="850" i="0">
                <a:solidFill>
                  <a:srgbClr val="E6EDF3"/>
                </a:solidFill>
                <a:latin typeface="Consolas"/>
              </a:rPr>
              <a:t>product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query_product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product_id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</a:t>
            </a:r>
            <a:r>
              <a:rPr sz="850" i="0">
                <a:solidFill>
                  <a:srgbClr val="E6EDF3"/>
                </a:solidFill>
                <a:latin typeface="Consolas"/>
              </a:rPr>
              <a:t>cache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C3A6FF"/>
                </a:solidFill>
                <a:latin typeface="Consolas"/>
              </a:rPr>
              <a:t>set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key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json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dumps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product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          </a:t>
            </a:r>
            <a:r>
              <a:rPr sz="850" i="0">
                <a:solidFill>
                  <a:srgbClr val="E6EDF3"/>
                </a:solidFill>
                <a:latin typeface="Consolas"/>
              </a:rPr>
              <a:t>ex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F9C97A"/>
                </a:solidFill>
                <a:latin typeface="Consolas"/>
              </a:rPr>
              <a:t>60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+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random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randint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F9C97A"/>
                </a:solidFill>
                <a:latin typeface="Consolas"/>
              </a:rPr>
              <a:t>0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9C97A"/>
                </a:solidFill>
                <a:latin typeface="Consolas"/>
              </a:rPr>
              <a:t>10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  </a:t>
            </a:r>
            <a:r>
              <a:rPr sz="850" i="1">
                <a:solidFill>
                  <a:srgbClr val="8B98A8"/>
                </a:solidFill>
                <a:latin typeface="Consolas"/>
              </a:rPr>
              <a:t># jitter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</a:t>
            </a:r>
            <a:r>
              <a:rPr sz="8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product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</a:t>
            </a:r>
            <a:r>
              <a:rPr sz="850" i="0">
                <a:solidFill>
                  <a:srgbClr val="FF8E6E"/>
                </a:solidFill>
                <a:latin typeface="Consolas"/>
              </a:rPr>
              <a:t>finally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</a:t>
            </a:r>
            <a:r>
              <a:rPr sz="850" i="0">
                <a:solidFill>
                  <a:srgbClr val="E6EDF3"/>
                </a:solidFill>
                <a:latin typeface="Consolas"/>
              </a:rPr>
              <a:t>cache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delete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A5D6A7"/>
                </a:solidFill>
                <a:latin typeface="Consolas"/>
              </a:rPr>
              <a:t>f"lock:{key}"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850" i="0">
                <a:solidFill>
                  <a:srgbClr val="E6EDF3"/>
                </a:solidFill>
                <a:latin typeface="Consolas"/>
              </a:rPr>
              <a:t>time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sleep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F9C97A"/>
                </a:solidFill>
                <a:latin typeface="Consolas"/>
              </a:rPr>
              <a:t>0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F9C97A"/>
                </a:solidFill>
                <a:latin typeface="Consolas"/>
              </a:rPr>
              <a:t>05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              </a:t>
            </a:r>
            <a:r>
              <a:rPr sz="850" i="1">
                <a:solidFill>
                  <a:srgbClr val="8B98A8"/>
                </a:solidFill>
                <a:latin typeface="Consolas"/>
              </a:rPr>
              <a:t># yang lain menunggu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1">
                <a:solidFill>
                  <a:srgbClr val="8B98A8"/>
                </a:solidFill>
                <a:latin typeface="Consolas"/>
              </a:rPr>
              <a:t># Query ke database: 1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2E7D5B"/>
                </a:solidFill>
                <a:latin typeface="Inter"/>
              </a:rPr>
              <a:t>Yang membaik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Satu request mengisi ulang cache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Request lain menunggu sebentar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Jitter: key tidak kedaluwarsa bersamaan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" name="Google Shape;3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Text 1"/>
          <p:cNvSpPr txBox="1"/>
          <p:nvPr/>
        </p:nvSpPr>
        <p:spPr>
          <a:xfrm>
            <a:off x="822960" y="16002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i="0" b="0">
                <a:solidFill>
                  <a:srgbClr val="CFE0FA"/>
                </a:solidFill>
                <a:latin typeface="Inter"/>
              </a:rPr>
              <a:t>Bagian 03</a:t>
            </a:r>
          </a:p>
        </p:txBody>
      </p:sp>
      <p:sp>
        <p:nvSpPr>
          <p:cNvPr id="32" name="Text 2"/>
          <p:cNvSpPr txBox="1"/>
          <p:nvPr/>
        </p:nvSpPr>
        <p:spPr>
          <a:xfrm>
            <a:off x="822960" y="1920240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i="0" b="0">
                <a:solidFill>
                  <a:srgbClr val="FFFFFF"/>
                </a:solidFill>
                <a:latin typeface="Work Sans ExtraBold"/>
              </a:rPr>
              <a:t>Rate Limiting &amp; API Gateway</a:t>
            </a:r>
          </a:p>
        </p:txBody>
      </p:sp>
      <p:sp>
        <p:nvSpPr>
          <p:cNvPr id="33" name="Text 3"/>
          <p:cNvSpPr txBox="1"/>
          <p:nvPr/>
        </p:nvSpPr>
        <p:spPr>
          <a:xfrm>
            <a:off x="822960" y="2743200"/>
            <a:ext cx="6583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i="0" b="0">
                <a:solidFill>
                  <a:srgbClr val="E3ECFA"/>
                </a:solidFill>
                <a:latin typeface="Inter"/>
              </a:rPr>
              <a:t>Membatasi traffic dan menjaganya di depan aplikasi.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Rate Limiting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Apa Itu Rate Limiting?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536192"/>
            <a:ext cx="78638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Membatasi jumlah request dari satu client dalam waktu tertentu, misalnya 20 request per menit. Lewat batas, client mendapat </a:t>
            </a:r>
            <a:r>
              <a:rPr sz="1050" i="0" b="1">
                <a:solidFill>
                  <a:srgbClr val="434343"/>
                </a:solidFill>
                <a:latin typeface="Inter"/>
              </a:rPr>
              <a:t>429 Too Many Requests</a:t>
            </a:r>
            <a:r>
              <a:rPr sz="1050" i="0" b="0">
                <a:solidFill>
                  <a:srgbClr val="434343"/>
                </a:solidFill>
                <a:latin typeface="Inter"/>
              </a:rPr>
              <a:t> dan header </a:t>
            </a:r>
            <a:r>
              <a:rPr sz="1050" i="0" b="1">
                <a:solidFill>
                  <a:srgbClr val="434343"/>
                </a:solidFill>
                <a:latin typeface="Inter"/>
              </a:rPr>
              <a:t>Retry-After</a:t>
            </a:r>
            <a:r>
              <a:rPr sz="1050" i="0" b="0">
                <a:solidFill>
                  <a:srgbClr val="434343"/>
                </a:solidFill>
                <a:latin typeface="Inter"/>
              </a:rPr>
              <a:t>. Tujuannya melindungi server dari spam, bot, dan client yang salah konfigurasi.</a:t>
            </a:r>
          </a:p>
        </p:txBody>
      </p:sp>
      <p:graphicFrame>
        <p:nvGraphicFramePr>
          <p:cNvPr id="23" name="Table 4"/>
          <p:cNvGraphicFramePr>
            <a:graphicFrameLocks noGrp="1"/>
          </p:cNvGraphicFramePr>
          <p:nvPr/>
        </p:nvGraphicFramePr>
        <p:xfrm>
          <a:off x="621792" y="2331720"/>
          <a:ext cx="7863840" cy="2194560"/>
        </p:xfrm>
        <a:graphic>
          <a:graphicData uri="http://schemas.openxmlformats.org/drawingml/2006/table">
            <a:tbl>
              <a:tblPr firstRow="1" bandRow="1"/>
              <a:tblGrid>
                <a:gridCol w="1280160"/>
                <a:gridCol w="2651760"/>
                <a:gridCol w="192024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Algoritma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Cara kerja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Kelebihan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Kekurangan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Fixed window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Counter per menit (INCR + EXPIRE)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Paling sederhana, hemat memory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Bisa lolos 2x limit di pergantian menit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Sliding window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Catat waktu setiap request, hitung N detik terakhir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Akurat, tanpa celah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Memory sebanding jumlah request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Token bucket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Token terisi rutin, setiap request memakai 1 token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Mengizinkan burst singkat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Lebih rumit, biasanya di API gateway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Rate Limiting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Before: Tanpa Batas Request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05-rate-limiting/before.py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9C97A"/>
                </a:solidFill>
                <a:latin typeface="Consolas"/>
              </a:rPr>
              <a:t>@app.post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A5D6A7"/>
                </a:solidFill>
                <a:latin typeface="Consolas"/>
              </a:rPr>
              <a:t>"/orders"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status_code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F9C97A"/>
                </a:solidFill>
                <a:latin typeface="Consolas"/>
              </a:rPr>
              <a:t>201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create_order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{</a:t>
            </a:r>
            <a:r>
              <a:rPr sz="950" i="0">
                <a:solidFill>
                  <a:srgbClr val="A5D6A7"/>
                </a:solidFill>
                <a:latin typeface="Consolas"/>
              </a:rPr>
              <a:t>"message"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A5D6A7"/>
                </a:solidFill>
                <a:latin typeface="Consolas"/>
              </a:rPr>
              <a:t>"Order dibuat"</a:t>
            </a:r>
            <a:r>
              <a:rPr sz="950" i="0">
                <a:solidFill>
                  <a:srgbClr val="E6EDF3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codes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E6EDF3"/>
                </a:solidFill>
                <a:latin typeface="Consolas"/>
              </a:rPr>
              <a:t>client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post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A5D6A7"/>
                </a:solidFill>
                <a:latin typeface="Consolas"/>
              </a:rPr>
              <a:t>"/orders"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status_code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for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_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in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range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F9C97A"/>
                </a:solidFill>
                <a:latin typeface="Consolas"/>
              </a:rPr>
              <a:t>15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Status code: [201, 201, 201, ..., 201]   15x diterima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Satu client bisa menghabiskan resource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Client lain ikut lambat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Bot bisa spam order dan report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Rate Limiting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After: Fixed Window di Redis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05-rate-limiting/after.py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7FDBCA"/>
                </a:solidFill>
                <a:latin typeface="Consolas"/>
              </a:rPr>
              <a:t>LIMIT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WINDOW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9C97A"/>
                </a:solidFill>
                <a:latin typeface="Consolas"/>
              </a:rPr>
              <a:t>10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9C97A"/>
                </a:solidFill>
                <a:latin typeface="Consolas"/>
              </a:rPr>
              <a:t>60</a:t>
            </a:r>
            <a:r>
              <a:rPr sz="850" i="0">
                <a:solidFill>
                  <a:srgbClr val="E6EDF3"/>
                </a:solidFill>
                <a:latin typeface="Consolas"/>
              </a:rPr>
              <a:t>                    </a:t>
            </a:r>
            <a:r>
              <a:rPr sz="850" i="1">
                <a:solidFill>
                  <a:srgbClr val="8B98A8"/>
                </a:solidFill>
                <a:latin typeface="Consolas"/>
              </a:rPr>
              <a:t># 10 request per menit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Consolas"/>
              </a:rPr>
              <a:t>def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82B1FF"/>
                </a:solidFill>
                <a:latin typeface="Consolas"/>
              </a:rPr>
              <a:t>rate_limit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request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Request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-</a:t>
            </a:r>
            <a:r>
              <a:rPr sz="850" i="0">
                <a:solidFill>
                  <a:srgbClr val="E6EDF3"/>
                </a:solidFill>
                <a:latin typeface="Consolas"/>
              </a:rPr>
              <a:t>&gt;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F8E6E"/>
                </a:solidFill>
                <a:latin typeface="Consolas"/>
              </a:rPr>
              <a:t>None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E6EDF3"/>
                </a:solidFill>
                <a:latin typeface="Consolas"/>
              </a:rPr>
              <a:t>now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C3A6FF"/>
                </a:solidFill>
                <a:latin typeface="Consolas"/>
              </a:rPr>
              <a:t>int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time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time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E6EDF3"/>
                </a:solidFill>
                <a:latin typeface="Consolas"/>
              </a:rPr>
              <a:t>key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A5D6A7"/>
                </a:solidFill>
                <a:latin typeface="Consolas"/>
              </a:rPr>
              <a:t>f"ratelimit:{request.client.host}:{now // WINDOW}"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E6EDF3"/>
                </a:solidFill>
                <a:latin typeface="Consolas"/>
              </a:rPr>
              <a:t>count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cache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incr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key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FF8E6E"/>
                </a:solidFill>
                <a:latin typeface="Consolas"/>
              </a:rPr>
              <a:t>if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count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9C97A"/>
                </a:solidFill>
                <a:latin typeface="Consolas"/>
              </a:rPr>
              <a:t>1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850" i="0">
                <a:solidFill>
                  <a:srgbClr val="E6EDF3"/>
                </a:solidFill>
                <a:latin typeface="Consolas"/>
              </a:rPr>
              <a:t>cache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expire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key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WINDOW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FF8E6E"/>
                </a:solidFill>
                <a:latin typeface="Consolas"/>
              </a:rPr>
              <a:t>if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count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&gt;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LIMIT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850" i="0">
                <a:solidFill>
                  <a:srgbClr val="FF8E6E"/>
                </a:solidFill>
                <a:latin typeface="Consolas"/>
              </a:rPr>
              <a:t>raise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HTTPException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F9C97A"/>
                </a:solidFill>
                <a:latin typeface="Consolas"/>
              </a:rPr>
              <a:t>429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A5D6A7"/>
                </a:solidFill>
                <a:latin typeface="Consolas"/>
              </a:rPr>
              <a:t>"Terlalu banyak request"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</a:t>
            </a:r>
            <a:r>
              <a:rPr sz="850" i="0">
                <a:solidFill>
                  <a:srgbClr val="E6EDF3"/>
                </a:solidFill>
                <a:latin typeface="Consolas"/>
              </a:rPr>
              <a:t>headers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{</a:t>
            </a:r>
            <a:r>
              <a:rPr sz="850" i="0">
                <a:solidFill>
                  <a:srgbClr val="A5D6A7"/>
                </a:solidFill>
                <a:latin typeface="Consolas"/>
              </a:rPr>
              <a:t>"Retry-After"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C3A6FF"/>
                </a:solidFill>
                <a:latin typeface="Consolas"/>
              </a:rPr>
              <a:t>str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7FDBCA"/>
                </a:solidFill>
                <a:latin typeface="Consolas"/>
              </a:rPr>
              <a:t>WINDOW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-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now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%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WINDOW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}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F9C97A"/>
                </a:solidFill>
                <a:latin typeface="Consolas"/>
              </a:rPr>
              <a:t>@app.post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A5D6A7"/>
                </a:solidFill>
                <a:latin typeface="Consolas"/>
              </a:rPr>
              <a:t>"/orders"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status_code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F9C97A"/>
                </a:solidFill>
                <a:latin typeface="Consolas"/>
              </a:rPr>
              <a:t>201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</a:t>
            </a:r>
            <a:r>
              <a:rPr sz="850" i="0">
                <a:solidFill>
                  <a:srgbClr val="E6EDF3"/>
                </a:solidFill>
                <a:latin typeface="Consolas"/>
              </a:rPr>
              <a:t>dependencies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[</a:t>
            </a:r>
            <a:r>
              <a:rPr sz="850" i="0">
                <a:solidFill>
                  <a:srgbClr val="7FDBCA"/>
                </a:solidFill>
                <a:latin typeface="Consolas"/>
              </a:rPr>
              <a:t>Depends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rate_limit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]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Consolas"/>
              </a:rPr>
              <a:t>def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82B1FF"/>
                </a:solidFill>
                <a:latin typeface="Consolas"/>
              </a:rPr>
              <a:t>create_order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1">
                <a:solidFill>
                  <a:srgbClr val="8B98A8"/>
                </a:solidFill>
                <a:latin typeface="Consolas"/>
              </a:rPr>
              <a:t># Status code: 10x 201, lalu 5x 429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2E7D5B"/>
                </a:solidFill>
                <a:latin typeface="Inter"/>
              </a:rPr>
              <a:t>Yang membaik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Counter di Redis, berlaku untuk semua server API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Client tahu kapan boleh mencoba lagi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Cukup tambah satu dependency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Sliding Window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Before: Celah di Pergantian Menit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06-sliding-window/before.py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FF8E6E"/>
                </a:solidFill>
                <a:latin typeface="Consolas"/>
              </a:rPr>
              <a:t>def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82B1FF"/>
                </a:solidFill>
                <a:latin typeface="Consolas"/>
              </a:rPr>
              <a:t>allow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client_id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C3A6FF"/>
                </a:solidFill>
                <a:latin typeface="Consolas"/>
              </a:rPr>
              <a:t>str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now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C3A6FF"/>
                </a:solidFill>
                <a:latin typeface="Consolas"/>
              </a:rPr>
              <a:t>float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-</a:t>
            </a:r>
            <a:r>
              <a:rPr sz="900" i="0">
                <a:solidFill>
                  <a:srgbClr val="E6EDF3"/>
                </a:solidFill>
                <a:latin typeface="Consolas"/>
              </a:rPr>
              <a:t>&gt;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C3A6FF"/>
                </a:solidFill>
                <a:latin typeface="Consolas"/>
              </a:rPr>
              <a:t>bool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E6EDF3"/>
                </a:solidFill>
                <a:latin typeface="Consolas"/>
              </a:rPr>
              <a:t>key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A5D6A7"/>
                </a:solidFill>
                <a:latin typeface="Consolas"/>
              </a:rPr>
              <a:t>f"fixed:{client_id}:{int(now // WINDOW)}"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E6EDF3"/>
                </a:solidFill>
                <a:latin typeface="Consolas"/>
              </a:rPr>
              <a:t>count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cache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incr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key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FF8E6E"/>
                </a:solidFill>
                <a:latin typeface="Consolas"/>
              </a:rPr>
              <a:t>if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count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9C97A"/>
                </a:solidFill>
                <a:latin typeface="Consolas"/>
              </a:rPr>
              <a:t>1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00" i="0">
                <a:solidFill>
                  <a:srgbClr val="E6EDF3"/>
                </a:solidFill>
                <a:latin typeface="Consolas"/>
              </a:rPr>
              <a:t>cache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expire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key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7FDBCA"/>
                </a:solidFill>
                <a:latin typeface="Consolas"/>
              </a:rPr>
              <a:t>WINDOW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count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&lt;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7FDBCA"/>
                </a:solidFill>
                <a:latin typeface="Consolas"/>
              </a:rPr>
              <a:t>LIMIT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accepted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C3A6FF"/>
                </a:solidFill>
                <a:latin typeface="Consolas"/>
              </a:rPr>
              <a:t>sum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allow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A5D6A7"/>
                </a:solidFill>
                <a:latin typeface="Consolas"/>
              </a:rPr>
              <a:t>"budi"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now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F9C97A"/>
                </a:solidFill>
                <a:latin typeface="Consolas"/>
              </a:rPr>
              <a:t>59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F9C97A"/>
                </a:solidFill>
                <a:latin typeface="Consolas"/>
              </a:rPr>
              <a:t>0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F8E6E"/>
                </a:solidFill>
                <a:latin typeface="Consolas"/>
              </a:rPr>
              <a:t>for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_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F8E6E"/>
                </a:solidFill>
                <a:latin typeface="Consolas"/>
              </a:rPr>
              <a:t>in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C3A6FF"/>
                </a:solidFill>
                <a:latin typeface="Consolas"/>
              </a:rPr>
              <a:t>range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F9C97A"/>
                </a:solidFill>
                <a:latin typeface="Consolas"/>
              </a:rPr>
              <a:t>10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accepted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+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C3A6FF"/>
                </a:solidFill>
                <a:latin typeface="Consolas"/>
              </a:rPr>
              <a:t>sum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allow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A5D6A7"/>
                </a:solidFill>
                <a:latin typeface="Consolas"/>
              </a:rPr>
              <a:t>"budi"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now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F9C97A"/>
                </a:solidFill>
                <a:latin typeface="Consolas"/>
              </a:rPr>
              <a:t>60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F9C97A"/>
                </a:solidFill>
                <a:latin typeface="Consolas"/>
              </a:rPr>
              <a:t>5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F8E6E"/>
                </a:solidFill>
                <a:latin typeface="Consolas"/>
              </a:rPr>
              <a:t>for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_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F8E6E"/>
                </a:solidFill>
                <a:latin typeface="Consolas"/>
              </a:rPr>
              <a:t>in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C3A6FF"/>
                </a:solidFill>
                <a:latin typeface="Consolas"/>
              </a:rPr>
              <a:t>range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F9C97A"/>
                </a:solidFill>
                <a:latin typeface="Consolas"/>
              </a:rPr>
              <a:t>10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1">
                <a:solidFill>
                  <a:srgbClr val="8B98A8"/>
                </a:solidFill>
                <a:latin typeface="Consolas"/>
              </a:rPr>
              <a:t># Request diterima dalam 2 detik: 20 (limit 10 per menit)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Detik 59 dan 60 masuk window berbeda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2x limit lolos dalam 2 detik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Lonjakan tetap sampai ke server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Sliding Window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After: Hitung 60 Detik Terakhir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06-sliding-window/after.py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FF8E6E"/>
                </a:solidFill>
                <a:latin typeface="Consolas"/>
              </a:rPr>
              <a:t>def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82B1FF"/>
                </a:solidFill>
                <a:latin typeface="Consolas"/>
              </a:rPr>
              <a:t>allow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client_id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C3A6FF"/>
                </a:solidFill>
                <a:latin typeface="Consolas"/>
              </a:rPr>
              <a:t>str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now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C3A6FF"/>
                </a:solidFill>
                <a:latin typeface="Consolas"/>
              </a:rPr>
              <a:t>float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-</a:t>
            </a:r>
            <a:r>
              <a:rPr sz="900" i="0">
                <a:solidFill>
                  <a:srgbClr val="E6EDF3"/>
                </a:solidFill>
                <a:latin typeface="Consolas"/>
              </a:rPr>
              <a:t>&gt;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C3A6FF"/>
                </a:solidFill>
                <a:latin typeface="Consolas"/>
              </a:rPr>
              <a:t>bool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E6EDF3"/>
                </a:solidFill>
                <a:latin typeface="Consolas"/>
              </a:rPr>
              <a:t>key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A5D6A7"/>
                </a:solidFill>
                <a:latin typeface="Consolas"/>
              </a:rPr>
              <a:t>f"sliding:{client_id}"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E6EDF3"/>
                </a:solidFill>
                <a:latin typeface="Consolas"/>
              </a:rPr>
              <a:t>cache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zremrangebyscore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key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9C97A"/>
                </a:solidFill>
                <a:latin typeface="Consolas"/>
              </a:rPr>
              <a:t>0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now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-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7FDBCA"/>
                </a:solidFill>
                <a:latin typeface="Consolas"/>
              </a:rPr>
              <a:t>WINDOW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   </a:t>
            </a:r>
            <a:r>
              <a:rPr sz="900" i="1">
                <a:solidFill>
                  <a:srgbClr val="8B98A8"/>
                </a:solidFill>
                <a:latin typeface="Consolas"/>
              </a:rPr>
              <a:t># buang yang lama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FF8E6E"/>
                </a:solidFill>
                <a:latin typeface="Consolas"/>
              </a:rPr>
              <a:t>if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cache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zcard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key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&gt;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7FDBCA"/>
                </a:solidFill>
                <a:latin typeface="Consolas"/>
              </a:rPr>
              <a:t>LIMIT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0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F8E6E"/>
                </a:solidFill>
                <a:latin typeface="Consolas"/>
              </a:rPr>
              <a:t>False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E6EDF3"/>
                </a:solidFill>
                <a:latin typeface="Consolas"/>
              </a:rPr>
              <a:t>cache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zadd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key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{</a:t>
            </a:r>
            <a:r>
              <a:rPr sz="900" i="0">
                <a:solidFill>
                  <a:srgbClr val="E6EDF3"/>
                </a:solidFill>
                <a:latin typeface="Consolas"/>
              </a:rPr>
              <a:t>uuid4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hex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now</a:t>
            </a:r>
            <a:r>
              <a:rPr sz="900" i="0">
                <a:solidFill>
                  <a:srgbClr val="E6EDF3"/>
                </a:solidFill>
                <a:latin typeface="Consolas"/>
              </a:rPr>
              <a:t>}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            </a:t>
            </a:r>
            <a:r>
              <a:rPr sz="900" i="1">
                <a:solidFill>
                  <a:srgbClr val="8B98A8"/>
                </a:solidFill>
                <a:latin typeface="Consolas"/>
              </a:rPr>
              <a:t># catat request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E6EDF3"/>
                </a:solidFill>
                <a:latin typeface="Consolas"/>
              </a:rPr>
              <a:t>cache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expire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key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7FDBCA"/>
                </a:solidFill>
                <a:latin typeface="Consolas"/>
              </a:rPr>
              <a:t>WINDOW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F8E6E"/>
                </a:solidFill>
                <a:latin typeface="Consolas"/>
              </a:rPr>
              <a:t>True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1">
                <a:solidFill>
                  <a:srgbClr val="8B98A8"/>
                </a:solidFill>
                <a:latin typeface="Consolas"/>
              </a:rPr>
              <a:t># Request diterima dalam 2 detik: 10 (limit 10 per menit)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1">
                <a:solidFill>
                  <a:srgbClr val="8B98A8"/>
                </a:solidFill>
                <a:latin typeface="Consolas"/>
              </a:rPr>
              <a:t># Detik ke-119: True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2E7D5B"/>
                </a:solidFill>
                <a:latin typeface="Inter"/>
              </a:rPr>
              <a:t>Yang membaik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Tidak ada celah di pergantian menit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Limit benar-benar per 60 detik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Trade-off: memory lebih banyak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API Gateway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Apa Itu API Gateway?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536192"/>
            <a:ext cx="384048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Apa itu?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Pintu masuk tunggal di depan semua service. Semua request dari client melewati gateway dulu sebelum diteruskan ke service yang tepat. Contoh: Nginx, Kong, AWS API Gateway.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Untuk apa?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Rate limit, auth, dan logging diatur di satu tempat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Service di belakangnya tetap simple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Request berbahaya ditolak sebelum sampai ke aplikasi</a:t>
            </a:r>
          </a:p>
        </p:txBody>
      </p:sp>
      <p:sp>
        <p:nvSpPr>
          <p:cNvPr id="23" name="Box 4"/>
          <p:cNvSpPr/>
          <p:nvPr/>
        </p:nvSpPr>
        <p:spPr>
          <a:xfrm>
            <a:off x="4892040" y="1554480"/>
            <a:ext cx="3593592" cy="365760"/>
          </a:xfrm>
          <a:prstGeom prst="roundRect">
            <a:avLst>
              <a:gd name="adj" fmla="val 3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1C4587"/>
                </a:solidFill>
                <a:latin typeface="Inter"/>
              </a:rPr>
              <a:t>Client (web, mobile, partner)</a:t>
            </a:r>
          </a:p>
        </p:txBody>
      </p:sp>
      <p:cxnSp>
        <p:nvCxnSpPr>
          <p:cNvPr id="24" name="Arrow 5"/>
          <p:cNvCxnSpPr/>
          <p:nvPr/>
        </p:nvCxnSpPr>
        <p:spPr>
          <a:xfrm>
            <a:off x="6684264" y="1920240"/>
            <a:ext cx="0" cy="22860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Box 6"/>
          <p:cNvSpPr/>
          <p:nvPr/>
        </p:nvSpPr>
        <p:spPr>
          <a:xfrm>
            <a:off x="4892040" y="2148840"/>
            <a:ext cx="3593592" cy="685800"/>
          </a:xfrm>
          <a:prstGeom prst="roundRect">
            <a:avLst>
              <a:gd name="adj" fmla="val 16000"/>
            </a:avLst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API Gateway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auth  ·  rate limit  ·  routing  ·  cache  ·  logging</a:t>
            </a:r>
          </a:p>
        </p:txBody>
      </p:sp>
      <p:cxnSp>
        <p:nvCxnSpPr>
          <p:cNvPr id="26" name="Arrow 7"/>
          <p:cNvCxnSpPr/>
          <p:nvPr/>
        </p:nvCxnSpPr>
        <p:spPr>
          <a:xfrm flipH="1">
            <a:off x="5458968" y="2834640"/>
            <a:ext cx="1225296" cy="32004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Box 8"/>
          <p:cNvSpPr/>
          <p:nvPr/>
        </p:nvSpPr>
        <p:spPr>
          <a:xfrm>
            <a:off x="4892040" y="3154680"/>
            <a:ext cx="1143000" cy="411480"/>
          </a:xfrm>
          <a:prstGeom prst="roundRect">
            <a:avLst>
              <a:gd name="adj" fmla="val 26666"/>
            </a:avLst>
          </a:prstGeom>
          <a:solidFill>
            <a:srgbClr val="1C4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Order API</a:t>
            </a:r>
          </a:p>
        </p:txBody>
      </p:sp>
      <p:cxnSp>
        <p:nvCxnSpPr>
          <p:cNvPr id="28" name="Arrow 9"/>
          <p:cNvCxnSpPr/>
          <p:nvPr/>
        </p:nvCxnSpPr>
        <p:spPr>
          <a:xfrm flipH="1">
            <a:off x="6675120" y="2834640"/>
            <a:ext cx="9144" cy="32004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Box 10"/>
          <p:cNvSpPr/>
          <p:nvPr/>
        </p:nvSpPr>
        <p:spPr>
          <a:xfrm>
            <a:off x="6108192" y="3154680"/>
            <a:ext cx="1143000" cy="411480"/>
          </a:xfrm>
          <a:prstGeom prst="roundRect">
            <a:avLst>
              <a:gd name="adj" fmla="val 26666"/>
            </a:avLst>
          </a:prstGeom>
          <a:solidFill>
            <a:srgbClr val="1C4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Payment API</a:t>
            </a:r>
          </a:p>
        </p:txBody>
      </p:sp>
      <p:cxnSp>
        <p:nvCxnSpPr>
          <p:cNvPr id="30" name="Arrow 11"/>
          <p:cNvCxnSpPr/>
          <p:nvPr/>
        </p:nvCxnSpPr>
        <p:spPr>
          <a:xfrm>
            <a:off x="6684264" y="2834640"/>
            <a:ext cx="1207007" cy="32004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Box 12"/>
          <p:cNvSpPr/>
          <p:nvPr/>
        </p:nvSpPr>
        <p:spPr>
          <a:xfrm>
            <a:off x="7324344" y="3154680"/>
            <a:ext cx="1143000" cy="411480"/>
          </a:xfrm>
          <a:prstGeom prst="roundRect">
            <a:avLst>
              <a:gd name="adj" fmla="val 26666"/>
            </a:avLst>
          </a:prstGeom>
          <a:solidFill>
            <a:srgbClr val="1C4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Report API</a:t>
            </a:r>
          </a:p>
        </p:txBody>
      </p:sp>
      <p:sp>
        <p:nvSpPr>
          <p:cNvPr id="32" name="Text 13"/>
          <p:cNvSpPr txBox="1"/>
          <p:nvPr/>
        </p:nvSpPr>
        <p:spPr>
          <a:xfrm>
            <a:off x="4892040" y="3749039"/>
            <a:ext cx="3593592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i="0" b="0">
                <a:solidFill>
                  <a:srgbClr val="7A7A7A"/>
                </a:solidFill>
                <a:latin typeface="Inter"/>
              </a:rPr>
              <a:t>Rate limit di aplikasi tetap berguna untuk aturan yang butuh business logic, misalnya limit per customer.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Trade-off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Latency, Consistency, dan Resource</a:t>
            </a:r>
          </a:p>
        </p:txBody>
      </p:sp>
      <p:graphicFrame>
        <p:nvGraphicFramePr>
          <p:cNvPr id="22" name="Table 3"/>
          <p:cNvGraphicFramePr>
            <a:graphicFrameLocks noGrp="1"/>
          </p:cNvGraphicFramePr>
          <p:nvPr/>
        </p:nvGraphicFramePr>
        <p:xfrm>
          <a:off x="621792" y="1554480"/>
          <a:ext cx="7863840" cy="2743200"/>
        </p:xfrm>
        <a:graphic>
          <a:graphicData uri="http://schemas.openxmlformats.org/drawingml/2006/table">
            <a:tbl>
              <a:tblPr firstRow="1" bandRow="1"/>
              <a:tblGrid>
                <a:gridCol w="2011680"/>
                <a:gridCol w="2011680"/>
                <a:gridCol w="1920240"/>
                <a:gridCol w="192024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Keputusan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Latency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Consistency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FFFFFF"/>
                          </a:solidFill>
                          <a:latin typeface="Inter"/>
                        </a:rPr>
                        <a:t>Resource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Tanpa cache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Lambat, selalu ke database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Selalu data terbaru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Beban database tinggi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Cache, TTL panjang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Sangat cepat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Data bisa basi lebih lama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Memory Redis lebih banyak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Cache, TTL pendek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Cepat, lebih sering miss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Basi sebentar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Query lebih sering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Cache + invalidation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Cepat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Hampir selalu terbaru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Kode lebih rumit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1">
                          <a:solidFill>
                            <a:srgbClr val="1C4587"/>
                          </a:solidFill>
                          <a:latin typeface="Inter"/>
                        </a:rPr>
                        <a:t>Rate limit sliding window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Tambah 1 round trip Redis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Limit akurat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00" i="0" b="0">
                          <a:solidFill>
                            <a:srgbClr val="434343"/>
                          </a:solidFill>
                          <a:latin typeface="Inter"/>
                        </a:rPr>
                        <a:t>Memory per request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4"/>
          <p:cNvSpPr txBox="1"/>
          <p:nvPr/>
        </p:nvSpPr>
        <p:spPr>
          <a:xfrm>
            <a:off x="621792" y="4434840"/>
            <a:ext cx="78638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7A7A7A"/>
                </a:solidFill>
                <a:latin typeface="Inter"/>
              </a:rPr>
              <a:t>Tidak ada pilihan yang paling benar. Pilih sesuai seberapa basi data yang masih bisa diterima.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Hands-on  ·  mulai dari 07-cache-rate-limit/before/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Redis Cache, Rate Limiter &amp; Latency</a:t>
            </a:r>
          </a:p>
        </p:txBody>
      </p:sp>
      <p:sp>
        <p:nvSpPr>
          <p:cNvPr id="22" name="Box 3"/>
          <p:cNvSpPr/>
          <p:nvPr/>
        </p:nvSpPr>
        <p:spPr>
          <a:xfrm>
            <a:off x="621792" y="1536192"/>
            <a:ext cx="4160520" cy="3127248"/>
          </a:xfrm>
          <a:prstGeom prst="roundRect">
            <a:avLst>
              <a:gd name="adj" fmla="val 3508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Text 4"/>
          <p:cNvSpPr txBox="1"/>
          <p:nvPr/>
        </p:nvSpPr>
        <p:spPr>
          <a:xfrm>
            <a:off x="758952" y="1627632"/>
            <a:ext cx="388620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i="0" b="1">
                <a:solidFill>
                  <a:srgbClr val="1C4587"/>
                </a:solidFill>
                <a:latin typeface="Inter"/>
              </a:rPr>
              <a:t>Kriteria selesai</a:t>
            </a:r>
          </a:p>
        </p:txBody>
      </p:sp>
      <p:sp>
        <p:nvSpPr>
          <p:cNvPr id="24" name="Text 5"/>
          <p:cNvSpPr txBox="1"/>
          <p:nvPr/>
        </p:nvSpPr>
        <p:spPr>
          <a:xfrm>
            <a:off x="758952" y="1947672"/>
            <a:ext cx="3886200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i="0" b="0">
                <a:solidFill>
                  <a:srgbClr val="434343"/>
                </a:solidFill>
                <a:latin typeface="Inter"/>
              </a:rPr>
              <a:t>Produk memakai cache-aside dengan TTL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i="0" b="0">
                <a:solidFill>
                  <a:srgbClr val="434343"/>
                </a:solidFill>
                <a:latin typeface="Inter"/>
              </a:rPr>
              <a:t>Cache key punya namespace dan versi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i="0" b="0">
                <a:solidFill>
                  <a:srgbClr val="434343"/>
                </a:solidFill>
                <a:latin typeface="Inter"/>
              </a:rPr>
              <a:t>Order dan cancel menghapus cache produk, setelah commit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i="0" b="0">
                <a:solidFill>
                  <a:srgbClr val="434343"/>
                </a:solidFill>
                <a:latin typeface="Inter"/>
              </a:rPr>
              <a:t>Order yang gagal tidak menghapus cache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i="0" b="0">
                <a:solidFill>
                  <a:srgbClr val="434343"/>
                </a:solidFill>
                <a:latin typeface="Inter"/>
              </a:rPr>
              <a:t>Orders dan reports dibatasi rate limit, lewat batas 429 + </a:t>
            </a:r>
            <a:r>
              <a:rPr sz="950" i="0" b="0">
                <a:solidFill>
                  <a:srgbClr val="B5482A"/>
                </a:solidFill>
                <a:latin typeface="Consolas"/>
              </a:rPr>
              <a:t>Retry-After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i="0" b="0">
                <a:solidFill>
                  <a:srgbClr val="434343"/>
                </a:solidFill>
                <a:latin typeface="Inter"/>
              </a:rPr>
              <a:t>Header </a:t>
            </a:r>
            <a:r>
              <a:rPr sz="950" i="0" b="0">
                <a:solidFill>
                  <a:srgbClr val="B5482A"/>
                </a:solidFill>
                <a:latin typeface="Consolas"/>
              </a:rPr>
              <a:t>X-RateLimit-Limit</a:t>
            </a:r>
            <a:r>
              <a:rPr sz="950" i="0" b="0">
                <a:solidFill>
                  <a:srgbClr val="434343"/>
                </a:solidFill>
                <a:latin typeface="Inter"/>
              </a:rPr>
              <a:t> dan </a:t>
            </a:r>
            <a:r>
              <a:rPr sz="950" i="0" b="0">
                <a:solidFill>
                  <a:srgbClr val="B5482A"/>
                </a:solidFill>
                <a:latin typeface="Consolas"/>
              </a:rPr>
              <a:t>X-RateLimit-Remaining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950" i="0" b="0">
                <a:solidFill>
                  <a:srgbClr val="B5482A"/>
                </a:solidFill>
                <a:latin typeface="Consolas"/>
              </a:rPr>
              <a:t>benchmark.py</a:t>
            </a:r>
            <a:r>
              <a:rPr sz="950" i="0" b="0">
                <a:solidFill>
                  <a:srgbClr val="434343"/>
                </a:solidFill>
                <a:latin typeface="Inter"/>
              </a:rPr>
              <a:t> membandingkan latency, </a:t>
            </a:r>
            <a:r>
              <a:rPr sz="950" i="0" b="0">
                <a:solidFill>
                  <a:srgbClr val="B5482A"/>
                </a:solidFill>
                <a:latin typeface="Consolas"/>
              </a:rPr>
              <a:t>pytest</a:t>
            </a:r>
            <a:r>
              <a:rPr sz="950" i="0" b="0">
                <a:solidFill>
                  <a:srgbClr val="434343"/>
                </a:solidFill>
                <a:latin typeface="Inter"/>
              </a:rPr>
              <a:t> hijau</a:t>
            </a:r>
          </a:p>
        </p:txBody>
      </p:sp>
      <p:sp>
        <p:nvSpPr>
          <p:cNvPr id="25" name="CodeTab 7"/>
          <p:cNvSpPr/>
          <p:nvPr/>
        </p:nvSpPr>
        <p:spPr>
          <a:xfrm>
            <a:off x="4937760" y="1536192"/>
            <a:ext cx="354787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6" name="Dot 8"/>
          <p:cNvSpPr/>
          <p:nvPr/>
        </p:nvSpPr>
        <p:spPr>
          <a:xfrm>
            <a:off x="5047488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ot 9"/>
          <p:cNvSpPr/>
          <p:nvPr/>
        </p:nvSpPr>
        <p:spPr>
          <a:xfrm>
            <a:off x="5184648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t 10"/>
          <p:cNvSpPr/>
          <p:nvPr/>
        </p:nvSpPr>
        <p:spPr>
          <a:xfrm>
            <a:off x="5321808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 11"/>
          <p:cNvSpPr txBox="1"/>
          <p:nvPr/>
        </p:nvSpPr>
        <p:spPr>
          <a:xfrm>
            <a:off x="5486400" y="1545336"/>
            <a:ext cx="2907791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target struktur</a:t>
            </a:r>
          </a:p>
        </p:txBody>
      </p:sp>
      <p:sp>
        <p:nvSpPr>
          <p:cNvPr id="30" name="CodeBg 13"/>
          <p:cNvSpPr/>
          <p:nvPr/>
        </p:nvSpPr>
        <p:spPr>
          <a:xfrm>
            <a:off x="4937760" y="1773936"/>
            <a:ext cx="3547872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1" name="Code 14"/>
          <p:cNvSpPr txBox="1"/>
          <p:nvPr/>
        </p:nvSpPr>
        <p:spPr>
          <a:xfrm>
            <a:off x="4937760" y="1773936"/>
            <a:ext cx="3547872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after/app/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application/     ports.py (Cache)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   cache_keys.py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   product_service.py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infrastructure/  redis_client.py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   cache.py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   rate_limiter.py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   unit_of_work.py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api/             rate_limit.py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   errors.py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after/benchmark.py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after/tests/       test_cache.py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   test_rate_limit.py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Penutup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Rangkuman</a:t>
            </a:r>
          </a:p>
        </p:txBody>
      </p:sp>
      <p:sp>
        <p:nvSpPr>
          <p:cNvPr id="22" name="Box 3"/>
          <p:cNvSpPr/>
          <p:nvPr/>
        </p:nvSpPr>
        <p:spPr>
          <a:xfrm>
            <a:off x="621792" y="155448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Text 4"/>
          <p:cNvSpPr txBox="1"/>
          <p:nvPr/>
        </p:nvSpPr>
        <p:spPr>
          <a:xfrm>
            <a:off x="758952" y="1645920"/>
            <a:ext cx="2249424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Cache-Aside</a:t>
            </a:r>
          </a:p>
        </p:txBody>
      </p:sp>
      <p:sp>
        <p:nvSpPr>
          <p:cNvPr id="24" name="Text 5"/>
          <p:cNvSpPr txBox="1"/>
          <p:nvPr/>
        </p:nvSpPr>
        <p:spPr>
          <a:xfrm>
            <a:off x="758952" y="1965960"/>
            <a:ext cx="2249424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Cek cache dulu, isi saat miss</a:t>
            </a:r>
          </a:p>
        </p:txBody>
      </p:sp>
      <p:sp>
        <p:nvSpPr>
          <p:cNvPr id="25" name="Box 6"/>
          <p:cNvSpPr/>
          <p:nvPr/>
        </p:nvSpPr>
        <p:spPr>
          <a:xfrm>
            <a:off x="3291840" y="155448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6" name="Text 7"/>
          <p:cNvSpPr txBox="1"/>
          <p:nvPr/>
        </p:nvSpPr>
        <p:spPr>
          <a:xfrm>
            <a:off x="3429000" y="1645920"/>
            <a:ext cx="2249424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TTL &amp; Invalidation</a:t>
            </a:r>
          </a:p>
        </p:txBody>
      </p:sp>
      <p:sp>
        <p:nvSpPr>
          <p:cNvPr id="27" name="Text 8"/>
          <p:cNvSpPr txBox="1"/>
          <p:nvPr/>
        </p:nvSpPr>
        <p:spPr>
          <a:xfrm>
            <a:off x="3429000" y="1965960"/>
            <a:ext cx="2249424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Hapus key saat data berubah, TTL sebagai pengaman</a:t>
            </a:r>
          </a:p>
        </p:txBody>
      </p:sp>
      <p:sp>
        <p:nvSpPr>
          <p:cNvPr id="28" name="Box 9"/>
          <p:cNvSpPr/>
          <p:nvPr/>
        </p:nvSpPr>
        <p:spPr>
          <a:xfrm>
            <a:off x="5961888" y="155448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9" name="Text 10"/>
          <p:cNvSpPr txBox="1"/>
          <p:nvPr/>
        </p:nvSpPr>
        <p:spPr>
          <a:xfrm>
            <a:off x="6099048" y="1645920"/>
            <a:ext cx="2249424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Cache Key</a:t>
            </a:r>
          </a:p>
        </p:txBody>
      </p:sp>
      <p:sp>
        <p:nvSpPr>
          <p:cNvPr id="30" name="Text 11"/>
          <p:cNvSpPr txBox="1"/>
          <p:nvPr/>
        </p:nvSpPr>
        <p:spPr>
          <a:xfrm>
            <a:off x="6099048" y="1965960"/>
            <a:ext cx="2249424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Namespace, versi, dan semua parameter yang memengaruhi hasil</a:t>
            </a:r>
          </a:p>
        </p:txBody>
      </p:sp>
      <p:sp>
        <p:nvSpPr>
          <p:cNvPr id="31" name="Box 12"/>
          <p:cNvSpPr/>
          <p:nvPr/>
        </p:nvSpPr>
        <p:spPr>
          <a:xfrm>
            <a:off x="621792" y="310896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2" name="Text 13"/>
          <p:cNvSpPr txBox="1"/>
          <p:nvPr/>
        </p:nvSpPr>
        <p:spPr>
          <a:xfrm>
            <a:off x="758952" y="3200400"/>
            <a:ext cx="2249424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Cache Stampede</a:t>
            </a:r>
          </a:p>
        </p:txBody>
      </p:sp>
      <p:sp>
        <p:nvSpPr>
          <p:cNvPr id="33" name="Text 14"/>
          <p:cNvSpPr txBox="1"/>
          <p:nvPr/>
        </p:nvSpPr>
        <p:spPr>
          <a:xfrm>
            <a:off x="758952" y="3520440"/>
            <a:ext cx="2249424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Lock supaya satu request yang mengisi ulang, TTL dengan jitter</a:t>
            </a:r>
          </a:p>
        </p:txBody>
      </p:sp>
      <p:sp>
        <p:nvSpPr>
          <p:cNvPr id="34" name="Box 15"/>
          <p:cNvSpPr/>
          <p:nvPr/>
        </p:nvSpPr>
        <p:spPr>
          <a:xfrm>
            <a:off x="3291840" y="310896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5" name="Text 16"/>
          <p:cNvSpPr txBox="1"/>
          <p:nvPr/>
        </p:nvSpPr>
        <p:spPr>
          <a:xfrm>
            <a:off x="3429000" y="3200400"/>
            <a:ext cx="2249424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Rate Limiting</a:t>
            </a:r>
          </a:p>
        </p:txBody>
      </p:sp>
      <p:sp>
        <p:nvSpPr>
          <p:cNvPr id="36" name="Text 17"/>
          <p:cNvSpPr txBox="1"/>
          <p:nvPr/>
        </p:nvSpPr>
        <p:spPr>
          <a:xfrm>
            <a:off x="3429000" y="3520440"/>
            <a:ext cx="2249424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Fixed window sederhana, sliding window akurat, 429 + Retry-After</a:t>
            </a:r>
          </a:p>
        </p:txBody>
      </p:sp>
      <p:sp>
        <p:nvSpPr>
          <p:cNvPr id="37" name="Box 18"/>
          <p:cNvSpPr/>
          <p:nvPr/>
        </p:nvSpPr>
        <p:spPr>
          <a:xfrm>
            <a:off x="5961888" y="310896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8" name="Text 19"/>
          <p:cNvSpPr txBox="1"/>
          <p:nvPr/>
        </p:nvSpPr>
        <p:spPr>
          <a:xfrm>
            <a:off x="6099048" y="3200400"/>
            <a:ext cx="2249424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API Gateway &amp; Trade-off</a:t>
            </a:r>
          </a:p>
        </p:txBody>
      </p:sp>
      <p:sp>
        <p:nvSpPr>
          <p:cNvPr id="39" name="Text 20"/>
          <p:cNvSpPr txBox="1"/>
          <p:nvPr/>
        </p:nvSpPr>
        <p:spPr>
          <a:xfrm>
            <a:off x="6099048" y="3520440"/>
            <a:ext cx="2249424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Kontrol traffic di depan service, pilih sesuai kebutuhan data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g2907dbd8723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43401" y="4399825"/>
            <a:ext cx="244986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g2907dbd8723_0_0"/>
          <p:cNvSpPr txBox="1"/>
          <p:nvPr/>
        </p:nvSpPr>
        <p:spPr>
          <a:xfrm>
            <a:off x="843350" y="1097280"/>
            <a:ext cx="49770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0" i="0" lang="en" sz="3000" u="none" cap="none" strike="noStrike">
                <a:solidFill>
                  <a:srgbClr val="FFFFFF"/>
                </a:solidFill>
                <a:latin typeface="Work Sans ExtraBold"/>
                <a:ea typeface="Work Sans ExtraBold"/>
                <a:cs typeface="Work Sans ExtraBold"/>
                <a:sym typeface="Work Sans ExtraBold"/>
              </a:rPr>
              <a:t>Source Code</a:t>
            </a:r>
            <a:endParaRPr b="0" i="0" sz="3000" u="none" cap="none" strike="noStrike">
              <a:solidFill>
                <a:srgbClr val="FFFFFF"/>
              </a:solidFill>
              <a:latin typeface="Work Sans ExtraBold"/>
              <a:ea typeface="Work Sans ExtraBold"/>
              <a:cs typeface="Work Sans ExtraBold"/>
              <a:sym typeface="Work Sans ExtraBold"/>
            </a:endParaRPr>
          </a:p>
        </p:txBody>
      </p:sp>
      <p:sp>
        <p:nvSpPr>
          <p:cNvPr id="255" name="Google Shape;255;g2907dbd8723_0_0"/>
          <p:cNvSpPr txBox="1"/>
          <p:nvPr/>
        </p:nvSpPr>
        <p:spPr>
          <a:xfrm>
            <a:off x="1230650" y="1934520"/>
            <a:ext cx="1920240" cy="4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13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Sesi 6</a:t>
            </a:r>
            <a:endParaRPr b="0" i="1" sz="15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6" name="Google Shape;256;g2907dbd8723_0_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7" name="Google Shape;257;g2907dbd8723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54775" y="4399825"/>
            <a:ext cx="284713" cy="2011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g2907dbd8723_0_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05899" y="4399825"/>
            <a:ext cx="198637" cy="2011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g2907dbd8723_0_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28695" y="4399825"/>
            <a:ext cx="20194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g2907dbd8723_0_0"/>
          <p:cNvSpPr txBox="1"/>
          <p:nvPr/>
        </p:nvSpPr>
        <p:spPr>
          <a:xfrm>
            <a:off x="1230650" y="4338863"/>
            <a:ext cx="888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Hacktiv8id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g2907dbd8723_0_0"/>
          <p:cNvSpPr txBox="1"/>
          <p:nvPr/>
        </p:nvSpPr>
        <p:spPr>
          <a:xfrm>
            <a:off x="3088375" y="4338863"/>
            <a:ext cx="888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Hacktiv8id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g2907dbd8723_0_0"/>
          <p:cNvSpPr txBox="1"/>
          <p:nvPr/>
        </p:nvSpPr>
        <p:spPr>
          <a:xfrm>
            <a:off x="4946100" y="4338863"/>
            <a:ext cx="888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g2907dbd8723_0_0"/>
          <p:cNvSpPr txBox="1"/>
          <p:nvPr/>
        </p:nvSpPr>
        <p:spPr>
          <a:xfrm>
            <a:off x="6704525" y="4338875"/>
            <a:ext cx="1423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 Indonesia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4" name="Google Shape;264;g2907dbd8723_0_0"/>
          <p:cNvCxnSpPr/>
          <p:nvPr/>
        </p:nvCxnSpPr>
        <p:spPr>
          <a:xfrm>
            <a:off x="3063240" y="2160270"/>
            <a:ext cx="914400" cy="9600"/>
          </a:xfrm>
          <a:prstGeom prst="straightConnector1">
            <a:avLst/>
          </a:prstGeom>
          <a:noFill/>
          <a:ln cap="flat" cmpd="sng" w="19050">
            <a:solidFill>
              <a:srgbClr val="FFF5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5" name="Google Shape;265;g2907dbd8723_0_0">
            <a:hlinkClick r:id="rId7"/>
          </p:cNvPr>
          <p:cNvSpPr txBox="1"/>
          <p:nvPr/>
        </p:nvSpPr>
        <p:spPr>
          <a:xfrm>
            <a:off x="4206240" y="1934520"/>
            <a:ext cx="4023360" cy="4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1" lang="en" sz="1200" u="sng" cap="none" strike="noStrike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8"/>
              </a:rPr>
              <a:t>github.com/bagusedghar/fastapi-intermediate</a:t>
            </a:r>
            <a:endParaRPr b="0" i="1" sz="1500" u="sng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