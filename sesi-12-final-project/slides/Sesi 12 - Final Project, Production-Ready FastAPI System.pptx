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0"/>
  </p:notesMasterIdLst>
  <p:sldIdLst>
    <p:sldId id="256" r:id="rId2"/>
    <p:sldId id="257"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276" r:id="rId49"/>
  </p:sldIdLst>
  <p:sldSz cx="9144000" cy="5143500" type="screen16x9"/>
  <p:notesSz cx="6858000" cy="9144000"/>
  <p:embeddedFontLst>
    <p:embeddedFont>
      <p:font typeface="Inconsolata" pitchFamily="1" charset="0"/>
      <p:regular r:id="rId51"/>
      <p:bold r:id="rId52"/>
    </p:embeddedFont>
    <p:embeddedFont>
      <p:font typeface="Inter" panose="02000503000000020004" pitchFamily="2" charset="0"/>
      <p:regular r:id="rId53"/>
      <p:bold r:id="rId54"/>
      <p:italic r:id="rId55"/>
      <p:boldItalic r:id="rId56"/>
    </p:embeddedFont>
    <p:embeddedFont>
      <p:font typeface="Work Sans ExtraBold" pitchFamily="2" charset="0"/>
      <p:bold r:id="rId57"/>
    </p:embeddedFont>
    <p:embeddedFont>
      <p:font typeface="Work Sans Medium" pitchFamily="2" charset="0"/>
      <p: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isuxx245f/qKiEmR3PX6YRe0tI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42ffe4c8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g2442ffe4c8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Peserta mengerjakan hands-on bersama mentor.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907dbd872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2907dbd872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19"/>
          <p:cNvPicPr preferRelativeResize="0"/>
          <p:nvPr/>
        </p:nvPicPr>
        <p:blipFill rotWithShape="1">
          <a:blip r:embed="rId2">
            <a:alphaModFix/>
          </a:blip>
          <a:srcRect/>
          <a:stretch/>
        </p:blipFill>
        <p:spPr>
          <a:xfrm>
            <a:off x="-7200" y="-15150"/>
            <a:ext cx="9190446" cy="5169626"/>
          </a:xfrm>
          <a:prstGeom prst="rect">
            <a:avLst/>
          </a:prstGeom>
          <a:noFill/>
          <a:ln>
            <a:noFill/>
          </a:ln>
        </p:spPr>
      </p:pic>
      <p:sp>
        <p:nvSpPr>
          <p:cNvPr id="11" name="Google Shape;1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 name="Google Shape;12;p19"/>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23"/>
          <p:cNvPicPr preferRelativeResize="0"/>
          <p:nvPr/>
        </p:nvPicPr>
        <p:blipFill rotWithShape="1">
          <a:blip r:embed="rId2">
            <a:alphaModFix/>
          </a:blip>
          <a:srcRect/>
          <a:stretch/>
        </p:blipFill>
        <p:spPr>
          <a:xfrm>
            <a:off x="0" y="-1"/>
            <a:ext cx="9144003" cy="5143504"/>
          </a:xfrm>
          <a:prstGeom prst="rect">
            <a:avLst/>
          </a:prstGeom>
          <a:noFill/>
          <a:ln>
            <a:noFill/>
          </a:ln>
        </p:spPr>
      </p:pic>
      <p:sp>
        <p:nvSpPr>
          <p:cNvPr id="15" name="Google Shape;1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6" name="Google Shape;16;p23"/>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1">
  <p:cSld name="SECTION_HEADER_3">
    <p:spTree>
      <p:nvGrpSpPr>
        <p:cNvPr id="1" name="Shape 17"/>
        <p:cNvGrpSpPr/>
        <p:nvPr/>
      </p:nvGrpSpPr>
      <p:grpSpPr>
        <a:xfrm>
          <a:off x="0" y="0"/>
          <a:ext cx="0" cy="0"/>
          <a:chOff x="0" y="0"/>
          <a:chExt cx="0" cy="0"/>
        </a:xfrm>
      </p:grpSpPr>
      <p:pic>
        <p:nvPicPr>
          <p:cNvPr id="18" name="Google Shape;18;p62"/>
          <p:cNvPicPr preferRelativeResize="0"/>
          <p:nvPr/>
        </p:nvPicPr>
        <p:blipFill rotWithShape="1">
          <a:blip r:embed="rId2">
            <a:alphaModFix/>
          </a:blip>
          <a:srcRect/>
          <a:stretch/>
        </p:blipFill>
        <p:spPr>
          <a:xfrm>
            <a:off x="0" y="-1"/>
            <a:ext cx="9206026" cy="5178401"/>
          </a:xfrm>
          <a:prstGeom prst="rect">
            <a:avLst/>
          </a:prstGeom>
          <a:noFill/>
          <a:ln>
            <a:noFill/>
          </a:ln>
        </p:spPr>
      </p:pic>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0" name="Google Shape;20;p62"/>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2 1 1">
  <p:cSld name="TITLE_2_1_1">
    <p:spTree>
      <p:nvGrpSpPr>
        <p:cNvPr id="1" name="Shape 21"/>
        <p:cNvGrpSpPr/>
        <p:nvPr/>
      </p:nvGrpSpPr>
      <p:grpSpPr>
        <a:xfrm>
          <a:off x="0" y="0"/>
          <a:ext cx="0" cy="0"/>
          <a:chOff x="0" y="0"/>
          <a:chExt cx="0" cy="0"/>
        </a:xfrm>
      </p:grpSpPr>
      <p:sp>
        <p:nvSpPr>
          <p:cNvPr id="22" name="Google Shape;22;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3" name="Google Shape;23;p49"/>
          <p:cNvPicPr preferRelativeResize="0"/>
          <p:nvPr/>
        </p:nvPicPr>
        <p:blipFill rotWithShape="1">
          <a:blip r:embed="rId2">
            <a:alphaModFix/>
          </a:blip>
          <a:srcRect l="-11869" r="-10498"/>
          <a:stretch/>
        </p:blipFill>
        <p:spPr>
          <a:xfrm>
            <a:off x="7614450" y="286450"/>
            <a:ext cx="1372051" cy="247350"/>
          </a:xfrm>
          <a:prstGeom prst="rect">
            <a:avLst/>
          </a:prstGeom>
          <a:noFill/>
          <a:ln>
            <a:noFill/>
          </a:ln>
        </p:spPr>
      </p:pic>
      <p:pic>
        <p:nvPicPr>
          <p:cNvPr id="24" name="Google Shape;24;p49"/>
          <p:cNvPicPr preferRelativeResize="0"/>
          <p:nvPr/>
        </p:nvPicPr>
        <p:blipFill rotWithShape="1">
          <a:blip r:embed="rId3">
            <a:alphaModFix/>
          </a:blip>
          <a:srcRect/>
          <a:stretch/>
        </p:blipFill>
        <p:spPr>
          <a:xfrm>
            <a:off x="0" y="0"/>
            <a:ext cx="9143992"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3">
  <p:cSld name="SECTION_HEADER_4">
    <p:spTree>
      <p:nvGrpSpPr>
        <p:cNvPr id="1" name="Shape 25"/>
        <p:cNvGrpSpPr/>
        <p:nvPr/>
      </p:nvGrpSpPr>
      <p:grpSpPr>
        <a:xfrm>
          <a:off x="0" y="0"/>
          <a:ext cx="0" cy="0"/>
          <a:chOff x="0" y="0"/>
          <a:chExt cx="0" cy="0"/>
        </a:xfrm>
      </p:grpSpPr>
      <p:pic>
        <p:nvPicPr>
          <p:cNvPr id="26" name="Google Shape;26;p20"/>
          <p:cNvPicPr preferRelativeResize="0"/>
          <p:nvPr/>
        </p:nvPicPr>
        <p:blipFill rotWithShape="1">
          <a:blip r:embed="rId2">
            <a:alphaModFix/>
          </a:blip>
          <a:srcRect/>
          <a:stretch/>
        </p:blipFill>
        <p:spPr>
          <a:xfrm>
            <a:off x="0" y="-1"/>
            <a:ext cx="9143992" cy="5143501"/>
          </a:xfrm>
          <a:prstGeom prst="rect">
            <a:avLst/>
          </a:prstGeom>
          <a:noFill/>
          <a:ln>
            <a:noFill/>
          </a:ln>
        </p:spPr>
      </p:pic>
      <p:sp>
        <p:nvSpPr>
          <p:cNvPr id="27" name="Google Shape;2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8" name="Google Shape;28;p20"/>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2 1">
  <p:cSld name="TITLE_2_1">
    <p:spTree>
      <p:nvGrpSpPr>
        <p:cNvPr id="1" name="Shape 29"/>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1" name="Google Shape;31;p21"/>
          <p:cNvPicPr preferRelativeResize="0"/>
          <p:nvPr/>
        </p:nvPicPr>
        <p:blipFill rotWithShape="1">
          <a:blip r:embed="rId2">
            <a:alphaModFix/>
          </a:blip>
          <a:srcRect/>
          <a:stretch/>
        </p:blipFill>
        <p:spPr>
          <a:xfrm>
            <a:off x="-7200" y="-7175"/>
            <a:ext cx="9204623" cy="5177601"/>
          </a:xfrm>
          <a:prstGeom prst="rect">
            <a:avLst/>
          </a:prstGeom>
          <a:noFill/>
          <a:ln>
            <a:noFill/>
          </a:ln>
        </p:spPr>
      </p:pic>
      <p:pic>
        <p:nvPicPr>
          <p:cNvPr id="32" name="Google Shape;32;p21"/>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33"/>
        <p:cNvGrpSpPr/>
        <p:nvPr/>
      </p:nvGrpSpPr>
      <p:grpSpPr>
        <a:xfrm>
          <a:off x="0" y="0"/>
          <a:ext cx="0" cy="0"/>
          <a:chOff x="0" y="0"/>
          <a:chExt cx="0" cy="0"/>
        </a:xfrm>
      </p:grpSpPr>
      <p:pic>
        <p:nvPicPr>
          <p:cNvPr id="34" name="Google Shape;34;p22"/>
          <p:cNvPicPr preferRelativeResize="0"/>
          <p:nvPr/>
        </p:nvPicPr>
        <p:blipFill rotWithShape="1">
          <a:blip r:embed="rId2">
            <a:alphaModFix/>
          </a:blip>
          <a:srcRect/>
          <a:stretch/>
        </p:blipFill>
        <p:spPr>
          <a:xfrm>
            <a:off x="-14350" y="-6375"/>
            <a:ext cx="9160668" cy="5152876"/>
          </a:xfrm>
          <a:prstGeom prst="rect">
            <a:avLst/>
          </a:prstGeom>
          <a:noFill/>
          <a:ln>
            <a:noFill/>
          </a:ln>
        </p:spPr>
      </p:pic>
      <p:sp>
        <p:nvSpPr>
          <p:cNvPr id="35" name="Google Shape;35;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6" name="Google Shape;36;p22"/>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 name="Google Shape;43;p5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4" name="Google Shape;44;p5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8" name="Google Shape;4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1" name="Google Shape;51;p5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sp>
        <p:nvSpPr>
          <p:cNvPr id="54" name="Google Shape;54;p5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5" name="Google Shape;55;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6"/>
        <p:cNvGrpSpPr/>
        <p:nvPr/>
      </p:nvGrpSpPr>
      <p:grpSpPr>
        <a:xfrm>
          <a:off x="0" y="0"/>
          <a:ext cx="0" cy="0"/>
          <a:chOff x="0" y="0"/>
          <a:chExt cx="0" cy="0"/>
        </a:xfrm>
      </p:grpSpPr>
      <p:sp>
        <p:nvSpPr>
          <p:cNvPr id="57" name="Google Shape;57;p5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9" name="Google Shape;59;p5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0" name="Google Shape;60;p5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2"/>
        <p:cNvGrpSpPr/>
        <p:nvPr/>
      </p:nvGrpSpPr>
      <p:grpSpPr>
        <a:xfrm>
          <a:off x="0" y="0"/>
          <a:ext cx="0" cy="0"/>
          <a:chOff x="0" y="0"/>
          <a:chExt cx="0" cy="0"/>
        </a:xfrm>
      </p:grpSpPr>
      <p:sp>
        <p:nvSpPr>
          <p:cNvPr id="63" name="Google Shape;63;p5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4" name="Google Shape;64;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5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5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8" name="Google Shape;68;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71"/>
        <p:cNvGrpSpPr/>
        <p:nvPr/>
      </p:nvGrpSpPr>
      <p:grpSpPr>
        <a:xfrm>
          <a:off x="0" y="0"/>
          <a:ext cx="0" cy="0"/>
          <a:chOff x="0" y="0"/>
          <a:chExt cx="0" cy="0"/>
        </a:xfrm>
      </p:grpSpPr>
      <p:sp>
        <p:nvSpPr>
          <p:cNvPr id="72" name="Google Shape;72;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3" name="Google Shape;73;p59"/>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74"/>
        <p:cNvGrpSpPr/>
        <p:nvPr/>
      </p:nvGrpSpPr>
      <p:grpSpPr>
        <a:xfrm>
          <a:off x="0" y="0"/>
          <a:ext cx="0" cy="0"/>
          <a:chOff x="0" y="0"/>
          <a:chExt cx="0" cy="0"/>
        </a:xfrm>
      </p:grpSpPr>
      <p:sp>
        <p:nvSpPr>
          <p:cNvPr id="75" name="Google Shape;7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6" name="Google Shape;76;p60"/>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77"/>
        <p:cNvGrpSpPr/>
        <p:nvPr/>
      </p:nvGrpSpPr>
      <p:grpSpPr>
        <a:xfrm>
          <a:off x="0" y="0"/>
          <a:ext cx="0" cy="0"/>
          <a:chOff x="0" y="0"/>
          <a:chExt cx="0" cy="0"/>
        </a:xfrm>
      </p:grpSpPr>
      <p:sp>
        <p:nvSpPr>
          <p:cNvPr id="78" name="Google Shape;78;p6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pic>
        <p:nvPicPr>
          <p:cNvPr id="79" name="Google Shape;79;p61"/>
          <p:cNvPicPr preferRelativeResize="0"/>
          <p:nvPr/>
        </p:nvPicPr>
        <p:blipFill rotWithShape="1">
          <a:blip r:embed="rId2">
            <a:alphaModFix/>
          </a:blip>
          <a:srcRect t="31469" b="34000"/>
          <a:stretch/>
        </p:blipFill>
        <p:spPr>
          <a:xfrm>
            <a:off x="134750" y="4589275"/>
            <a:ext cx="1410576" cy="3443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8" Type="http://schemas.openxmlformats.org/officeDocument/2006/relationships/hyperlink" Target="https://github.com/bagusedghar/fastapi-intermediate/tree/main/sesi-12-final-project" TargetMode="External"/><Relationship Id="rId3" Type="http://schemas.openxmlformats.org/officeDocument/2006/relationships/image" Target="../media/image17.png"/><Relationship Id="rId7" Type="http://schemas.openxmlformats.org/officeDocument/2006/relationships/hyperlink" Target="https://colab.research.google.com/github/FTDS-learning-materials/phase-2/blob/master/w2/P2W2D1PM%20-%20Data%20Ethics%20&amp;%20Data%20Validation.ipynb"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hyperlink" Target="https://github.com/bagusedghar/fastapi-intermediat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a:t>
            </a:fld>
            <a:endParaRPr/>
          </a:p>
        </p:txBody>
      </p:sp>
      <p:sp>
        <p:nvSpPr>
          <p:cNvPr id="85" name="Google Shape;85;p5"/>
          <p:cNvSpPr txBox="1"/>
          <p:nvPr/>
        </p:nvSpPr>
        <p:spPr>
          <a:xfrm>
            <a:off x="763050" y="2010750"/>
            <a:ext cx="8258100" cy="11034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3500"/>
              <a:buFont typeface="Arial"/>
              <a:buNone/>
            </a:pPr>
            <a:r>
              <a:rPr lang="en" sz="3500">
                <a:solidFill>
                  <a:srgbClr val="F06634"/>
                </a:solidFill>
                <a:latin typeface="Work Sans ExtraBold"/>
                <a:ea typeface="Work Sans ExtraBold"/>
                <a:cs typeface="Work Sans ExtraBold"/>
                <a:sym typeface="Work Sans ExtraBold"/>
              </a:rPr>
              <a:t>Final Project: Production-Ready FastAPI System</a:t>
            </a:r>
            <a:endParaRPr sz="3500" b="0" i="0" u="none" strike="noStrike" cap="none">
              <a:solidFill>
                <a:srgbClr val="F06634"/>
              </a:solidFill>
              <a:latin typeface="Work Sans ExtraBold"/>
              <a:ea typeface="Work Sans ExtraBold"/>
              <a:cs typeface="Work Sans ExtraBold"/>
              <a:sym typeface="Work Sans ExtraBold"/>
            </a:endParaRPr>
          </a:p>
        </p:txBody>
      </p:sp>
      <p:sp>
        <p:nvSpPr>
          <p:cNvPr id="86" name="Google Shape;86;p5"/>
          <p:cNvSpPr txBox="1"/>
          <p:nvPr/>
        </p:nvSpPr>
        <p:spPr>
          <a:xfrm>
            <a:off x="763050" y="3157225"/>
            <a:ext cx="7315200" cy="5313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1500"/>
              <a:buFont typeface="Arial"/>
              <a:buNone/>
            </a:pPr>
            <a:r>
              <a:rPr lang="en" sz="1500" b="0" i="0" u="none" strike="noStrike" cap="none">
                <a:solidFill>
                  <a:schemeClr val="dk2"/>
                </a:solidFill>
                <a:latin typeface="Work Sans Medium"/>
                <a:ea typeface="Work Sans Medium"/>
                <a:cs typeface="Work Sans Medium"/>
                <a:sym typeface="Work Sans Medium"/>
              </a:rPr>
              <a:t>Intermediate Backend Developer with FastAPI  -  Sesi 12</a:t>
            </a:r>
            <a:endParaRPr sz="1500" b="0" i="0" u="none" strike="noStrike" cap="none">
              <a:solidFill>
                <a:schemeClr val="dk2"/>
              </a:solidFill>
              <a:latin typeface="Work Sans Medium"/>
              <a:ea typeface="Work Sans Medium"/>
              <a:cs typeface="Work Sans Medium"/>
              <a:sym typeface="Work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2442ffe4c8e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2</a:t>
            </a:fld>
            <a:endParaRPr/>
          </a:p>
        </p:txBody>
      </p:sp>
      <p:sp>
        <p:nvSpPr>
          <p:cNvPr id="92" name="Google Shape;92;g2442ffe4c8e_0_0"/>
          <p:cNvSpPr txBox="1"/>
          <p:nvPr/>
        </p:nvSpPr>
        <p:spPr>
          <a:xfrm>
            <a:off x="310675" y="249275"/>
            <a:ext cx="44568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0" i="0" u="none" strike="noStrike" cap="none">
                <a:solidFill>
                  <a:srgbClr val="1D3D70"/>
                </a:solidFill>
                <a:latin typeface="Work Sans ExtraBold"/>
                <a:ea typeface="Work Sans ExtraBold"/>
                <a:cs typeface="Work Sans ExtraBold"/>
                <a:sym typeface="Work Sans ExtraBold"/>
              </a:rPr>
              <a:t>Contents</a:t>
            </a:r>
            <a:endParaRPr sz="2300" b="0" i="0" u="none" strike="noStrike" cap="none">
              <a:solidFill>
                <a:srgbClr val="1D3D70"/>
              </a:solidFill>
              <a:latin typeface="Work Sans ExtraBold"/>
              <a:ea typeface="Work Sans ExtraBold"/>
              <a:cs typeface="Work Sans ExtraBold"/>
              <a:sym typeface="Work Sans ExtraBold"/>
            </a:endParaRPr>
          </a:p>
        </p:txBody>
      </p:sp>
      <p:sp>
        <p:nvSpPr>
          <p:cNvPr id="93" name="Text 1"/>
          <p:cNvSpPr txBox="1"/>
          <p:nvPr/>
        </p:nvSpPr>
        <p:spPr>
          <a:xfrm>
            <a:off x="548640" y="1143000"/>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Kesiapan Rilis</a:t>
            </a:r>
          </a:p>
        </p:txBody>
      </p:sp>
      <p:cxnSp>
        <p:nvCxnSpPr>
          <p:cNvPr id="94" name="Arrow 2"/>
          <p:cNvCxnSpPr/>
          <p:nvPr/>
        </p:nvCxnSpPr>
        <p:spPr>
          <a:xfrm>
            <a:off x="6318504" y="1325880"/>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5" name="Text 3"/>
          <p:cNvSpPr txBox="1"/>
          <p:nvPr/>
        </p:nvSpPr>
        <p:spPr>
          <a:xfrm>
            <a:off x="8266175" y="1143000"/>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09</a:t>
            </a:r>
          </a:p>
        </p:txBody>
      </p:sp>
      <p:sp>
        <p:nvSpPr>
          <p:cNvPr id="96" name="Text 4"/>
          <p:cNvSpPr txBox="1"/>
          <p:nvPr/>
        </p:nvSpPr>
        <p:spPr>
          <a:xfrm>
            <a:off x="548640" y="1527048"/>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Dokumentasi &amp; Code Review</a:t>
            </a:r>
          </a:p>
        </p:txBody>
      </p:sp>
      <p:cxnSp>
        <p:nvCxnSpPr>
          <p:cNvPr id="97" name="Arrow 5"/>
          <p:cNvCxnSpPr/>
          <p:nvPr/>
        </p:nvCxnSpPr>
        <p:spPr>
          <a:xfrm>
            <a:off x="6318504" y="1709928"/>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8" name="Text 6"/>
          <p:cNvSpPr txBox="1"/>
          <p:nvPr/>
        </p:nvSpPr>
        <p:spPr>
          <a:xfrm>
            <a:off x="8266175" y="1527048"/>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16</a:t>
            </a:r>
          </a:p>
        </p:txBody>
      </p:sp>
      <p:sp>
        <p:nvSpPr>
          <p:cNvPr id="99" name="Text 7"/>
          <p:cNvSpPr txBox="1"/>
          <p:nvPr/>
        </p:nvSpPr>
        <p:spPr>
          <a:xfrm>
            <a:off x="548640" y="1911095"/>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Hands-on: Order API Siap Production</a:t>
            </a:r>
          </a:p>
        </p:txBody>
      </p:sp>
      <p:cxnSp>
        <p:nvCxnSpPr>
          <p:cNvPr id="100" name="Arrow 8"/>
          <p:cNvCxnSpPr/>
          <p:nvPr/>
        </p:nvCxnSpPr>
        <p:spPr>
          <a:xfrm>
            <a:off x="6318504" y="2093976"/>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1" name="Text 9"/>
          <p:cNvSpPr txBox="1"/>
          <p:nvPr/>
        </p:nvSpPr>
        <p:spPr>
          <a:xfrm>
            <a:off x="8266175" y="1911095"/>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27</a:t>
            </a:r>
          </a:p>
        </p:txBody>
      </p:sp>
      <p:sp>
        <p:nvSpPr>
          <p:cNvPr id="102" name="Text 10"/>
          <p:cNvSpPr txBox="1"/>
          <p:nvPr/>
        </p:nvSpPr>
        <p:spPr>
          <a:xfrm>
            <a:off x="548640" y="2295144"/>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Final Project</a:t>
            </a:r>
          </a:p>
        </p:txBody>
      </p:sp>
      <p:cxnSp>
        <p:nvCxnSpPr>
          <p:cNvPr id="103" name="Arrow 11"/>
          <p:cNvCxnSpPr/>
          <p:nvPr/>
        </p:nvCxnSpPr>
        <p:spPr>
          <a:xfrm>
            <a:off x="6318504" y="2478024"/>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4" name="Text 12"/>
          <p:cNvSpPr txBox="1"/>
          <p:nvPr/>
        </p:nvSpPr>
        <p:spPr>
          <a:xfrm>
            <a:off x="8266175" y="2295144"/>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Sesi 12</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Learning Outcome</a:t>
            </a:r>
          </a:p>
        </p:txBody>
      </p:sp>
      <p:sp>
        <p:nvSpPr>
          <p:cNvPr id="22" name="Box 3"/>
          <p:cNvSpPr/>
          <p:nvPr/>
        </p:nvSpPr>
        <p:spPr>
          <a:xfrm>
            <a:off x="621792" y="1600200"/>
            <a:ext cx="2523744" cy="2011680"/>
          </a:xfrm>
          <a:prstGeom prst="roundRect">
            <a:avLst>
              <a:gd name="adj" fmla="val 5454"/>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Box 4"/>
          <p:cNvSpPr/>
          <p:nvPr/>
        </p:nvSpPr>
        <p:spPr>
          <a:xfrm>
            <a:off x="758952"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1</a:t>
            </a:r>
          </a:p>
        </p:txBody>
      </p:sp>
      <p:sp>
        <p:nvSpPr>
          <p:cNvPr id="24" name="Text 5"/>
          <p:cNvSpPr txBox="1"/>
          <p:nvPr/>
        </p:nvSpPr>
        <p:spPr>
          <a:xfrm>
            <a:off x="1170432"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End-to-end</a:t>
            </a:r>
          </a:p>
        </p:txBody>
      </p:sp>
      <p:sp>
        <p:nvSpPr>
          <p:cNvPr id="25" name="Text 6"/>
          <p:cNvSpPr txBox="1"/>
          <p:nvPr/>
        </p:nvSpPr>
        <p:spPr>
          <a:xfrm>
            <a:off x="758952"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Mendemonstrasikan layanan FastAPI end-to-end yang modular, aman, dan memiliki aspek reliability/observability.</a:t>
            </a:r>
          </a:p>
        </p:txBody>
      </p:sp>
      <p:sp>
        <p:nvSpPr>
          <p:cNvPr id="26" name="Box 7"/>
          <p:cNvSpPr/>
          <p:nvPr/>
        </p:nvSpPr>
        <p:spPr>
          <a:xfrm>
            <a:off x="3291840" y="1600200"/>
            <a:ext cx="2523744" cy="2011680"/>
          </a:xfrm>
          <a:prstGeom prst="roundRect">
            <a:avLst>
              <a:gd name="adj" fmla="val 5454"/>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7" name="Box 8"/>
          <p:cNvSpPr/>
          <p:nvPr/>
        </p:nvSpPr>
        <p:spPr>
          <a:xfrm>
            <a:off x="3429000"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2</a:t>
            </a:r>
          </a:p>
        </p:txBody>
      </p:sp>
      <p:sp>
        <p:nvSpPr>
          <p:cNvPr id="28" name="Text 9"/>
          <p:cNvSpPr txBox="1"/>
          <p:nvPr/>
        </p:nvSpPr>
        <p:spPr>
          <a:xfrm>
            <a:off x="3840480"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Siap rilis</a:t>
            </a:r>
          </a:p>
        </p:txBody>
      </p:sp>
      <p:sp>
        <p:nvSpPr>
          <p:cNvPr id="29" name="Text 10"/>
          <p:cNvSpPr txBox="1"/>
          <p:nvPr/>
        </p:nvSpPr>
        <p:spPr>
          <a:xfrm>
            <a:off x="3429000"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Menunjukkan automated tests, Docker-based deployment, serta hasil pipeline CI/CD dan smoke test.</a:t>
            </a:r>
          </a:p>
        </p:txBody>
      </p:sp>
      <p:sp>
        <p:nvSpPr>
          <p:cNvPr id="30" name="Box 11"/>
          <p:cNvSpPr/>
          <p:nvPr/>
        </p:nvSpPr>
        <p:spPr>
          <a:xfrm>
            <a:off x="5961888" y="1600200"/>
            <a:ext cx="2523744" cy="2011680"/>
          </a:xfrm>
          <a:prstGeom prst="roundRect">
            <a:avLst>
              <a:gd name="adj" fmla="val 545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2"/>
          <p:cNvSpPr/>
          <p:nvPr/>
        </p:nvSpPr>
        <p:spPr>
          <a:xfrm>
            <a:off x="6099048"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3</a:t>
            </a:r>
          </a:p>
        </p:txBody>
      </p:sp>
      <p:sp>
        <p:nvSpPr>
          <p:cNvPr id="32" name="Text 13"/>
          <p:cNvSpPr txBox="1"/>
          <p:nvPr/>
        </p:nvSpPr>
        <p:spPr>
          <a:xfrm>
            <a:off x="6510527" y="1709928"/>
            <a:ext cx="1883664"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Dokumentasi</a:t>
            </a:r>
          </a:p>
        </p:txBody>
      </p:sp>
      <p:sp>
        <p:nvSpPr>
          <p:cNvPr id="33" name="Text 14"/>
          <p:cNvSpPr txBox="1"/>
          <p:nvPr/>
        </p:nvSpPr>
        <p:spPr>
          <a:xfrm>
            <a:off x="6099048"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Mempertanggungjawabkan keputusan arsitektur, lalu mengumpulkan repository, README, architecture diagram, dan dokumentasi API.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Order Management API</a:t>
            </a:r>
          </a:p>
        </p:txBody>
      </p:sp>
      <p:sp>
        <p:nvSpPr>
          <p:cNvPr id="22" name="Text 3"/>
          <p:cNvSpPr txBox="1"/>
          <p:nvPr/>
        </p:nvSpPr>
        <p:spPr>
          <a:xfrm>
            <a:off x="621792" y="1481328"/>
            <a:ext cx="4297680" cy="324612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Pada training ini, kita akan memakai satu tema yang sama dari awal sampai akhir, yaitu </a:t>
            </a:r>
            <a:r>
              <a:rPr sz="1000" b="1" i="0">
                <a:solidFill>
                  <a:srgbClr val="434343"/>
                </a:solidFill>
                <a:latin typeface="Inter"/>
              </a:rPr>
              <a:t>Order Management API</a:t>
            </a:r>
            <a:r>
              <a:rPr sz="1000" b="0" i="0">
                <a:solidFill>
                  <a:srgbClr val="434343"/>
                </a:solidFill>
                <a:latin typeface="Inter"/>
              </a:rPr>
              <a:t>: API sederhana untuk menerima order, menghitung diskon, menyimpan data order, dan mengirim notifikasi ke customer.</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Aplikasi ini kita kembangkan sedikit demi sedikit di setiap sesi. Di Sesi 1 kita mulai dari kode yang masih ditulis di satu file, lalu merapikannya. Hasil akhir setiap sesi menjadi titik awal sesi berikutnya, sampai di Sesi 12 menjadi Order API yang siap production.</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Di Sesi 12 (Final Project): order API yang siap production.</a:t>
            </a:r>
          </a:p>
        </p:txBody>
      </p:sp>
      <p:sp>
        <p:nvSpPr>
          <p:cNvPr id="23" name="Box 4"/>
          <p:cNvSpPr/>
          <p:nvPr/>
        </p:nvSpPr>
        <p:spPr>
          <a:xfrm>
            <a:off x="5120640" y="1600200"/>
            <a:ext cx="1828800" cy="402336"/>
          </a:xfrm>
          <a:prstGeom prst="roundRect">
            <a:avLst>
              <a:gd name="adj" fmla="val 27272"/>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FFFFFF"/>
                </a:solidFill>
                <a:latin typeface="Inter"/>
              </a:rPr>
              <a:t>Terima order</a:t>
            </a:r>
          </a:p>
        </p:txBody>
      </p:sp>
      <p:sp>
        <p:nvSpPr>
          <p:cNvPr id="24" name="Box 5"/>
          <p:cNvSpPr/>
          <p:nvPr/>
        </p:nvSpPr>
        <p:spPr>
          <a:xfrm>
            <a:off x="5120640" y="2167128"/>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Hitung diskon</a:t>
            </a:r>
          </a:p>
        </p:txBody>
      </p:sp>
      <p:cxnSp>
        <p:nvCxnSpPr>
          <p:cNvPr id="25" name="Arrow 6"/>
          <p:cNvCxnSpPr/>
          <p:nvPr/>
        </p:nvCxnSpPr>
        <p:spPr>
          <a:xfrm>
            <a:off x="6035040" y="2002536"/>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Box 7"/>
          <p:cNvSpPr/>
          <p:nvPr/>
        </p:nvSpPr>
        <p:spPr>
          <a:xfrm>
            <a:off x="5120640" y="2734056"/>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Simpan ke database</a:t>
            </a:r>
          </a:p>
        </p:txBody>
      </p:sp>
      <p:cxnSp>
        <p:nvCxnSpPr>
          <p:cNvPr id="27" name="Arrow 8"/>
          <p:cNvCxnSpPr/>
          <p:nvPr/>
        </p:nvCxnSpPr>
        <p:spPr>
          <a:xfrm>
            <a:off x="6035040" y="2569464"/>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Box 9"/>
          <p:cNvSpPr/>
          <p:nvPr/>
        </p:nvSpPr>
        <p:spPr>
          <a:xfrm>
            <a:off x="5120640" y="3300984"/>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Kirim notifikasi</a:t>
            </a:r>
          </a:p>
        </p:txBody>
      </p:sp>
      <p:cxnSp>
        <p:nvCxnSpPr>
          <p:cNvPr id="29" name="Arrow 10"/>
          <p:cNvCxnSpPr/>
          <p:nvPr/>
        </p:nvCxnSpPr>
        <p:spPr>
          <a:xfrm>
            <a:off x="6035040" y="3136391"/>
            <a:ext cx="0" cy="164593"/>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 11"/>
          <p:cNvSpPr txBox="1"/>
          <p:nvPr/>
        </p:nvSpPr>
        <p:spPr>
          <a:xfrm>
            <a:off x="7086600" y="1600200"/>
            <a:ext cx="1417320" cy="2103120"/>
          </a:xfrm>
          <a:prstGeom prst="rect">
            <a:avLst/>
          </a:prstGeom>
          <a:noFill/>
        </p:spPr>
        <p:txBody>
          <a:bodyPr wrap="square" lIns="45720" rIns="45720" anchor="t">
            <a:spAutoFit/>
          </a:bodyPr>
          <a:lstStyle/>
          <a:p>
            <a:pPr algn="l">
              <a:lnSpc>
                <a:spcPct val="115000"/>
              </a:lnSpc>
              <a:spcAft>
                <a:spcPts val="400"/>
              </a:spcAft>
            </a:pPr>
            <a:r>
              <a:rPr sz="900" b="1" i="0">
                <a:solidFill>
                  <a:srgbClr val="7A7A7A"/>
                </a:solidFill>
                <a:latin typeface="Inter"/>
              </a:rPr>
              <a:t>Aturan diskon</a:t>
            </a:r>
          </a:p>
          <a:p>
            <a:pPr algn="l">
              <a:lnSpc>
                <a:spcPct val="115000"/>
              </a:lnSpc>
              <a:spcAft>
                <a:spcPts val="400"/>
              </a:spcAft>
            </a:pPr>
            <a:r>
              <a:rPr sz="900" b="0" i="0">
                <a:solidFill>
                  <a:srgbClr val="7A7A7A"/>
                </a:solidFill>
                <a:latin typeface="Inter"/>
              </a:rPr>
              <a:t>regular: 0%</a:t>
            </a:r>
          </a:p>
          <a:p>
            <a:pPr algn="l">
              <a:lnSpc>
                <a:spcPct val="115000"/>
              </a:lnSpc>
              <a:spcAft>
                <a:spcPts val="400"/>
              </a:spcAft>
            </a:pPr>
            <a:r>
              <a:rPr sz="900" b="0" i="0">
                <a:solidFill>
                  <a:srgbClr val="7A7A7A"/>
                </a:solidFill>
                <a:latin typeface="Inter"/>
              </a:rPr>
              <a:t>member: 5%</a:t>
            </a:r>
          </a:p>
          <a:p>
            <a:pPr algn="l">
              <a:lnSpc>
                <a:spcPct val="115000"/>
              </a:lnSpc>
              <a:spcAft>
                <a:spcPts val="400"/>
              </a:spcAft>
            </a:pPr>
            <a:r>
              <a:rPr sz="900" b="0" i="0">
                <a:solidFill>
                  <a:srgbClr val="7A7A7A"/>
                </a:solidFill>
                <a:latin typeface="Inter"/>
              </a:rPr>
              <a:t>vip: 10%</a:t>
            </a:r>
          </a:p>
          <a:p>
            <a:pPr algn="l">
              <a:lnSpc>
                <a:spcPct val="115000"/>
              </a:lnSpc>
              <a:spcAft>
                <a:spcPts val="0"/>
              </a:spcAft>
            </a:pPr>
            <a:endParaRPr sz="900" b="0" i="0">
              <a:solidFill>
                <a:srgbClr val="7A7A7A"/>
              </a:solidFill>
              <a:latin typeface="Inter"/>
            </a:endParaRPr>
          </a:p>
          <a:p>
            <a:pPr algn="l">
              <a:lnSpc>
                <a:spcPct val="115000"/>
              </a:lnSpc>
              <a:spcAft>
                <a:spcPts val="400"/>
              </a:spcAft>
            </a:pPr>
            <a:r>
              <a:rPr sz="900" b="1" i="0">
                <a:solidFill>
                  <a:srgbClr val="7A7A7A"/>
                </a:solidFill>
                <a:latin typeface="Inter"/>
              </a:rPr>
              <a:t>Notifikasi</a:t>
            </a:r>
          </a:p>
          <a:p>
            <a:pPr algn="l">
              <a:lnSpc>
                <a:spcPct val="115000"/>
              </a:lnSpc>
              <a:spcAft>
                <a:spcPts val="400"/>
              </a:spcAft>
            </a:pPr>
            <a:r>
              <a:rPr sz="900" b="0" i="0">
                <a:solidFill>
                  <a:srgbClr val="7A7A7A"/>
                </a:solidFill>
                <a:latin typeface="Inter"/>
              </a:rPr>
              <a:t>email atau SMS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Tahapan Pengembangan Order API</a:t>
            </a:r>
          </a:p>
        </p:txBody>
      </p:sp>
      <p:graphicFrame>
        <p:nvGraphicFramePr>
          <p:cNvPr id="22" name="Table 3"/>
          <p:cNvGraphicFramePr>
            <a:graphicFrameLocks noGrp="1"/>
          </p:cNvGraphicFramePr>
          <p:nvPr/>
        </p:nvGraphicFramePr>
        <p:xfrm>
          <a:off x="621792" y="1463040"/>
          <a:ext cx="7863840" cy="3031236"/>
        </p:xfrm>
        <a:graphic>
          <a:graphicData uri="http://schemas.openxmlformats.org/drawingml/2006/table">
            <a:tbl>
              <a:tblPr firstRow="1" bandRow="1"/>
              <a:tblGrid>
                <a:gridCol w="9601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233172">
                <a:tc>
                  <a:txBody>
                    <a:bodyPr/>
                    <a:lstStyle/>
                    <a:p>
                      <a:pPr algn="l">
                        <a:lnSpc>
                          <a:spcPct val="100000"/>
                        </a:lnSpc>
                        <a:spcAft>
                          <a:spcPts val="0"/>
                        </a:spcAft>
                      </a:pPr>
                      <a:r>
                        <a:rPr sz="800" b="1" i="0">
                          <a:solidFill>
                            <a:srgbClr val="FFFFFF"/>
                          </a:solidFill>
                          <a:latin typeface="Inter"/>
                        </a:rPr>
                        <a:t>Sesi</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Yang ditambahkan ke Order API</a:t>
                      </a:r>
                    </a:p>
                  </a:txBody>
                  <a:tcPr marL="73152" marR="73152" marT="36576" marB="36576" anchor="ctr">
                    <a:solidFill>
                      <a:srgbClr val="1C4587"/>
                    </a:solidFill>
                  </a:tcPr>
                </a:tc>
                <a:extLst>
                  <a:ext uri="{0D108BD9-81ED-4DB2-BD59-A6C34878D82A}">
                    <a16:rowId xmlns:a16="http://schemas.microsoft.com/office/drawing/2014/main" val="10000"/>
                  </a:ext>
                </a:extLst>
              </a:tr>
              <a:tr h="233172">
                <a:tc>
                  <a:txBody>
                    <a:bodyPr/>
                    <a:lstStyle/>
                    <a:p>
                      <a:pPr algn="l">
                        <a:lnSpc>
                          <a:spcPct val="100000"/>
                        </a:lnSpc>
                        <a:spcAft>
                          <a:spcPts val="0"/>
                        </a:spcAft>
                      </a:pPr>
                      <a:r>
                        <a:rPr sz="800" b="1" i="0">
                          <a:solidFill>
                            <a:srgbClr val="1C4587"/>
                          </a:solidFill>
                          <a:latin typeface="Inter"/>
                        </a:rPr>
                        <a:t>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Design Patterns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Kode didalam satu file diperbaiki: Factory, Singleton, Strategy, Repository, Service Layer</a:t>
                      </a:r>
                    </a:p>
                  </a:txBody>
                  <a:tcPr marL="73152" marR="73152" marT="36576" marB="36576" anchor="ctr">
                    <a:solidFill>
                      <a:srgbClr val="FFFFFF"/>
                    </a:solidFill>
                  </a:tcPr>
                </a:tc>
                <a:extLst>
                  <a:ext uri="{0D108BD9-81ED-4DB2-BD59-A6C34878D82A}">
                    <a16:rowId xmlns:a16="http://schemas.microsoft.com/office/drawing/2014/main" val="10001"/>
                  </a:ext>
                </a:extLst>
              </a:tr>
              <a:tr h="233172">
                <a:tc>
                  <a:txBody>
                    <a:bodyPr/>
                    <a:lstStyle/>
                    <a:p>
                      <a:pPr algn="l">
                        <a:lnSpc>
                          <a:spcPct val="100000"/>
                        </a:lnSpc>
                        <a:spcAft>
                          <a:spcPts val="0"/>
                        </a:spcAft>
                      </a:pPr>
                      <a:r>
                        <a:rPr sz="800" b="1" i="0">
                          <a:solidFill>
                            <a:srgbClr val="1C4587"/>
                          </a:solidFill>
                          <a:latin typeface="Inter"/>
                        </a:rPr>
                        <a:t>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SOLID &amp; Clean Architecture</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Dipisah per layer: domain, application, infrastructure, api</a:t>
                      </a:r>
                    </a:p>
                  </a:txBody>
                  <a:tcPr marL="73152" marR="73152" marT="36576" marB="36576" anchor="ctr">
                    <a:solidFill>
                      <a:srgbClr val="F3F4F6"/>
                    </a:solidFill>
                  </a:tcPr>
                </a:tc>
                <a:extLst>
                  <a:ext uri="{0D108BD9-81ED-4DB2-BD59-A6C34878D82A}">
                    <a16:rowId xmlns:a16="http://schemas.microsoft.com/office/drawing/2014/main" val="10002"/>
                  </a:ext>
                </a:extLst>
              </a:tr>
              <a:tr h="233172">
                <a:tc>
                  <a:txBody>
                    <a:bodyPr/>
                    <a:lstStyle/>
                    <a:p>
                      <a:pPr algn="l">
                        <a:lnSpc>
                          <a:spcPct val="100000"/>
                        </a:lnSpc>
                        <a:spcAft>
                          <a:spcPts val="0"/>
                        </a:spcAft>
                      </a:pPr>
                      <a:r>
                        <a:rPr sz="800" b="1" i="0">
                          <a:solidFill>
                            <a:srgbClr val="1C4587"/>
                          </a:solidFill>
                          <a:latin typeface="Inter"/>
                        </a:rPr>
                        <a:t>3</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Domain-Driven Design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Order jadi aggregate, Money value object, aturan bayar &amp; batal</a:t>
                      </a:r>
                    </a:p>
                  </a:txBody>
                  <a:tcPr marL="73152" marR="73152" marT="36576" marB="36576" anchor="ctr">
                    <a:solidFill>
                      <a:srgbClr val="FFFFFF"/>
                    </a:solidFill>
                  </a:tcPr>
                </a:tc>
                <a:extLst>
                  <a:ext uri="{0D108BD9-81ED-4DB2-BD59-A6C34878D82A}">
                    <a16:rowId xmlns:a16="http://schemas.microsoft.com/office/drawing/2014/main" val="10003"/>
                  </a:ext>
                </a:extLst>
              </a:tr>
              <a:tr h="233172">
                <a:tc>
                  <a:txBody>
                    <a:bodyPr/>
                    <a:lstStyle/>
                    <a:p>
                      <a:pPr algn="l">
                        <a:lnSpc>
                          <a:spcPct val="100000"/>
                        </a:lnSpc>
                        <a:spcAft>
                          <a:spcPts val="0"/>
                        </a:spcAft>
                      </a:pPr>
                      <a:r>
                        <a:rPr sz="800" b="1" i="0">
                          <a:solidFill>
                            <a:srgbClr val="1C4587"/>
                          </a:solidFill>
                          <a:latin typeface="Inter"/>
                        </a:rPr>
                        <a:t>4</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Modular FastAPI &amp; ORM</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Router per modul, SQLAlchemy, Unit of Work, format error</a:t>
                      </a:r>
                    </a:p>
                  </a:txBody>
                  <a:tcPr marL="73152" marR="73152" marT="36576" marB="36576" anchor="ctr">
                    <a:solidFill>
                      <a:srgbClr val="F3F4F6"/>
                    </a:solidFill>
                  </a:tcPr>
                </a:tc>
                <a:extLst>
                  <a:ext uri="{0D108BD9-81ED-4DB2-BD59-A6C34878D82A}">
                    <a16:rowId xmlns:a16="http://schemas.microsoft.com/office/drawing/2014/main" val="10004"/>
                  </a:ext>
                </a:extLst>
              </a:tr>
              <a:tr h="233172">
                <a:tc>
                  <a:txBody>
                    <a:bodyPr/>
                    <a:lstStyle/>
                    <a:p>
                      <a:pPr algn="l">
                        <a:lnSpc>
                          <a:spcPct val="100000"/>
                        </a:lnSpc>
                        <a:spcAft>
                          <a:spcPts val="0"/>
                        </a:spcAft>
                      </a:pPr>
                      <a:r>
                        <a:rPr sz="800" b="1" i="0">
                          <a:solidFill>
                            <a:srgbClr val="1C4587"/>
                          </a:solidFill>
                          <a:latin typeface="Inter"/>
                        </a:rPr>
                        <a:t>5</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Celery &amp; Redis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Notifikasi dan report dikerjakan di background job</a:t>
                      </a:r>
                    </a:p>
                  </a:txBody>
                  <a:tcPr marL="73152" marR="73152" marT="36576" marB="36576" anchor="ctr">
                    <a:solidFill>
                      <a:srgbClr val="FFFFFF"/>
                    </a:solidFill>
                  </a:tcPr>
                </a:tc>
                <a:extLst>
                  <a:ext uri="{0D108BD9-81ED-4DB2-BD59-A6C34878D82A}">
                    <a16:rowId xmlns:a16="http://schemas.microsoft.com/office/drawing/2014/main" val="10005"/>
                  </a:ext>
                </a:extLst>
              </a:tr>
              <a:tr h="233172">
                <a:tc>
                  <a:txBody>
                    <a:bodyPr/>
                    <a:lstStyle/>
                    <a:p>
                      <a:pPr algn="l">
                        <a:lnSpc>
                          <a:spcPct val="100000"/>
                        </a:lnSpc>
                        <a:spcAft>
                          <a:spcPts val="0"/>
                        </a:spcAft>
                      </a:pPr>
                      <a:r>
                        <a:rPr sz="800" b="1" i="0">
                          <a:solidFill>
                            <a:srgbClr val="1C4587"/>
                          </a:solidFill>
                          <a:latin typeface="Inter"/>
                        </a:rPr>
                        <a:t>6</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Caching &amp; Rate Limiting</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Data produk di-cache di Redis, request dibatasi</a:t>
                      </a:r>
                    </a:p>
                  </a:txBody>
                  <a:tcPr marL="73152" marR="73152" marT="36576" marB="36576" anchor="ctr">
                    <a:solidFill>
                      <a:srgbClr val="F3F4F6"/>
                    </a:solidFill>
                  </a:tcPr>
                </a:tc>
                <a:extLst>
                  <a:ext uri="{0D108BD9-81ED-4DB2-BD59-A6C34878D82A}">
                    <a16:rowId xmlns:a16="http://schemas.microsoft.com/office/drawing/2014/main" val="10006"/>
                  </a:ext>
                </a:extLst>
              </a:tr>
              <a:tr h="233172">
                <a:tc>
                  <a:txBody>
                    <a:bodyPr/>
                    <a:lstStyle/>
                    <a:p>
                      <a:pPr algn="l">
                        <a:lnSpc>
                          <a:spcPct val="100000"/>
                        </a:lnSpc>
                        <a:spcAft>
                          <a:spcPts val="0"/>
                        </a:spcAft>
                      </a:pPr>
                      <a:r>
                        <a:rPr sz="800" b="1" i="0">
                          <a:solidFill>
                            <a:srgbClr val="1C4587"/>
                          </a:solidFill>
                          <a:latin typeface="Inter"/>
                        </a:rPr>
                        <a:t>7</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Database Optimization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PostgreSQL, index, tanpa N+1, pagination</a:t>
                      </a:r>
                    </a:p>
                  </a:txBody>
                  <a:tcPr marL="73152" marR="73152" marT="36576" marB="36576" anchor="ctr">
                    <a:solidFill>
                      <a:srgbClr val="FFFFFF"/>
                    </a:solidFill>
                  </a:tcPr>
                </a:tc>
                <a:extLst>
                  <a:ext uri="{0D108BD9-81ED-4DB2-BD59-A6C34878D82A}">
                    <a16:rowId xmlns:a16="http://schemas.microsoft.com/office/drawing/2014/main" val="10007"/>
                  </a:ext>
                </a:extLst>
              </a:tr>
              <a:tr h="233172">
                <a:tc>
                  <a:txBody>
                    <a:bodyPr/>
                    <a:lstStyle/>
                    <a:p>
                      <a:pPr algn="l">
                        <a:lnSpc>
                          <a:spcPct val="100000"/>
                        </a:lnSpc>
                        <a:spcAft>
                          <a:spcPts val="0"/>
                        </a:spcAft>
                      </a:pPr>
                      <a:r>
                        <a:rPr sz="800" b="1" i="0">
                          <a:solidFill>
                            <a:srgbClr val="1C4587"/>
                          </a:solidFill>
                          <a:latin typeface="Inter"/>
                        </a:rPr>
                        <a:t>8</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RabbitMQ &amp; Kafka</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Event order, consumer notifikasi yang retry-safe</a:t>
                      </a:r>
                    </a:p>
                  </a:txBody>
                  <a:tcPr marL="73152" marR="73152" marT="36576" marB="36576" anchor="ctr">
                    <a:solidFill>
                      <a:srgbClr val="F3F4F6"/>
                    </a:solidFill>
                  </a:tcPr>
                </a:tc>
                <a:extLst>
                  <a:ext uri="{0D108BD9-81ED-4DB2-BD59-A6C34878D82A}">
                    <a16:rowId xmlns:a16="http://schemas.microsoft.com/office/drawing/2014/main" val="10008"/>
                  </a:ext>
                </a:extLst>
              </a:tr>
              <a:tr h="233172">
                <a:tc>
                  <a:txBody>
                    <a:bodyPr/>
                    <a:lstStyle/>
                    <a:p>
                      <a:pPr algn="l">
                        <a:lnSpc>
                          <a:spcPct val="100000"/>
                        </a:lnSpc>
                        <a:spcAft>
                          <a:spcPts val="0"/>
                        </a:spcAft>
                      </a:pPr>
                      <a:r>
                        <a:rPr sz="800" b="1" i="0">
                          <a:solidFill>
                            <a:srgbClr val="1C4587"/>
                          </a:solidFill>
                          <a:latin typeface="Inter"/>
                        </a:rPr>
                        <a:t>9</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Observability</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Log terstruktur, metrics, dan tracing</a:t>
                      </a:r>
                    </a:p>
                  </a:txBody>
                  <a:tcPr marL="73152" marR="73152" marT="36576" marB="36576" anchor="ctr">
                    <a:solidFill>
                      <a:srgbClr val="FFFFFF"/>
                    </a:solidFill>
                  </a:tcPr>
                </a:tc>
                <a:extLst>
                  <a:ext uri="{0D108BD9-81ED-4DB2-BD59-A6C34878D82A}">
                    <a16:rowId xmlns:a16="http://schemas.microsoft.com/office/drawing/2014/main" val="10009"/>
                  </a:ext>
                </a:extLst>
              </a:tr>
              <a:tr h="233172">
                <a:tc>
                  <a:txBody>
                    <a:bodyPr/>
                    <a:lstStyle/>
                    <a:p>
                      <a:pPr algn="l">
                        <a:lnSpc>
                          <a:spcPct val="100000"/>
                        </a:lnSpc>
                        <a:spcAft>
                          <a:spcPts val="0"/>
                        </a:spcAft>
                      </a:pPr>
                      <a:r>
                        <a:rPr sz="800" b="1" i="0">
                          <a:solidFill>
                            <a:srgbClr val="1C4587"/>
                          </a:solidFill>
                          <a:latin typeface="Inter"/>
                        </a:rPr>
                        <a:t>10</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API Security</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Login OAuth2/JWT, hak akses per role</a:t>
                      </a:r>
                    </a:p>
                  </a:txBody>
                  <a:tcPr marL="73152" marR="73152" marT="36576" marB="36576" anchor="ctr">
                    <a:solidFill>
                      <a:srgbClr val="F3F4F6"/>
                    </a:solidFill>
                  </a:tcPr>
                </a:tc>
                <a:extLst>
                  <a:ext uri="{0D108BD9-81ED-4DB2-BD59-A6C34878D82A}">
                    <a16:rowId xmlns:a16="http://schemas.microsoft.com/office/drawing/2014/main" val="10010"/>
                  </a:ext>
                </a:extLst>
              </a:tr>
              <a:tr h="233172">
                <a:tc>
                  <a:txBody>
                    <a:bodyPr/>
                    <a:lstStyle/>
                    <a:p>
                      <a:pPr algn="l">
                        <a:lnSpc>
                          <a:spcPct val="100000"/>
                        </a:lnSpc>
                        <a:spcAft>
                          <a:spcPts val="0"/>
                        </a:spcAft>
                      </a:pPr>
                      <a:r>
                        <a:rPr sz="800" b="1" i="0">
                          <a:solidFill>
                            <a:srgbClr val="1C4587"/>
                          </a:solidFill>
                          <a:latin typeface="Inter"/>
                        </a:rPr>
                        <a:t>11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&amp; CI/CD</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image, Compose, dan pipeline otomatis</a:t>
                      </a:r>
                    </a:p>
                  </a:txBody>
                  <a:tcPr marL="73152" marR="73152" marT="36576" marB="36576" anchor="ctr">
                    <a:solidFill>
                      <a:srgbClr val="FFFFFF"/>
                    </a:solidFill>
                  </a:tcPr>
                </a:tc>
                <a:extLst>
                  <a:ext uri="{0D108BD9-81ED-4DB2-BD59-A6C34878D82A}">
                    <a16:rowId xmlns:a16="http://schemas.microsoft.com/office/drawing/2014/main" val="10011"/>
                  </a:ext>
                </a:extLst>
              </a:tr>
              <a:tr h="233172">
                <a:tc>
                  <a:txBody>
                    <a:bodyPr/>
                    <a:lstStyle/>
                    <a:p>
                      <a:pPr algn="l">
                        <a:lnSpc>
                          <a:spcPct val="100000"/>
                        </a:lnSpc>
                        <a:spcAft>
                          <a:spcPts val="0"/>
                        </a:spcAft>
                      </a:pPr>
                      <a:r>
                        <a:rPr sz="800" b="1" i="0">
                          <a:solidFill>
                            <a:srgbClr val="1C4587"/>
                          </a:solidFill>
                          <a:latin typeface="Inter"/>
                        </a:rPr>
                        <a:t>12  (sesi ini)</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Final Project</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Order API yang siap production</a:t>
                      </a:r>
                    </a:p>
                  </a:txBody>
                  <a:tcPr marL="73152" marR="73152" marT="36576" marB="36576" anchor="ctr">
                    <a:solidFill>
                      <a:srgbClr val="F3F4F6"/>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Order API Setelah 11 Sesi</a:t>
            </a:r>
          </a:p>
        </p:txBody>
      </p:sp>
      <p:pic>
        <p:nvPicPr>
          <p:cNvPr id="22" name="Image 3" descr="s12-architecture.png"/>
          <p:cNvPicPr>
            <a:picLocks noChangeAspect="1"/>
          </p:cNvPicPr>
          <p:nvPr/>
        </p:nvPicPr>
        <p:blipFill>
          <a:blip r:embed="rId2"/>
          <a:stretch>
            <a:fillRect/>
          </a:stretch>
        </p:blipFill>
        <p:spPr>
          <a:xfrm>
            <a:off x="621792" y="1481328"/>
            <a:ext cx="7863840" cy="2376362"/>
          </a:xfrm>
          <a:prstGeom prst="rect">
            <a:avLst/>
          </a:prstGeom>
          <a:ln w="9525">
            <a:solidFill>
              <a:srgbClr val="D0D5DD"/>
            </a:solidFill>
          </a:ln>
        </p:spPr>
      </p:pic>
      <p:graphicFrame>
        <p:nvGraphicFramePr>
          <p:cNvPr id="23" name="Table 4"/>
          <p:cNvGraphicFramePr>
            <a:graphicFrameLocks noGrp="1"/>
          </p:cNvGraphicFramePr>
          <p:nvPr/>
        </p:nvGraphicFramePr>
        <p:xfrm>
          <a:off x="621792" y="3967418"/>
          <a:ext cx="7863840" cy="548640"/>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731520">
                  <a:extLst>
                    <a:ext uri="{9D8B030D-6E8A-4147-A177-3AD203B41FA5}">
                      <a16:colId xmlns:a16="http://schemas.microsoft.com/office/drawing/2014/main" val="20009"/>
                    </a:ext>
                  </a:extLst>
                </a:gridCol>
              </a:tblGrid>
              <a:tr h="274320">
                <a:tc>
                  <a:txBody>
                    <a:bodyPr/>
                    <a:lstStyle/>
                    <a:p>
                      <a:pPr algn="l">
                        <a:lnSpc>
                          <a:spcPct val="100000"/>
                        </a:lnSpc>
                        <a:spcAft>
                          <a:spcPts val="0"/>
                        </a:spcAft>
                      </a:pPr>
                      <a:r>
                        <a:rPr sz="750" b="1" i="0">
                          <a:solidFill>
                            <a:srgbClr val="FFFFFF"/>
                          </a:solidFill>
                          <a:latin typeface="Inter"/>
                        </a:rPr>
                        <a:t>Sesi</a:t>
                      </a:r>
                    </a:p>
                  </a:txBody>
                  <a:tcPr marL="73152" marR="73152" marT="36576" marB="36576" anchor="ctr">
                    <a:solidFill>
                      <a:srgbClr val="1C4587"/>
                    </a:solidFill>
                  </a:tcPr>
                </a:tc>
                <a:tc>
                  <a:txBody>
                    <a:bodyPr/>
                    <a:lstStyle/>
                    <a:p>
                      <a:pPr algn="l">
                        <a:lnSpc>
                          <a:spcPct val="100000"/>
                        </a:lnSpc>
                        <a:spcAft>
                          <a:spcPts val="0"/>
                        </a:spcAft>
                      </a:pPr>
                      <a:r>
                        <a:rPr sz="750" b="1" i="0">
                          <a:solidFill>
                            <a:srgbClr val="FFFFFF"/>
                          </a:solidFill>
                          <a:latin typeface="Inter"/>
                        </a:rPr>
                        <a:t>1-3</a:t>
                      </a:r>
                    </a:p>
                  </a:txBody>
                  <a:tcPr marL="73152" marR="73152" marT="36576" marB="36576" anchor="ctr">
                    <a:solidFill>
                      <a:srgbClr val="1C4587"/>
                    </a:solidFill>
                  </a:tcPr>
                </a:tc>
                <a:tc>
                  <a:txBody>
                    <a:bodyPr/>
                    <a:lstStyle/>
                    <a:p>
                      <a:pPr algn="l">
                        <a:lnSpc>
                          <a:spcPct val="100000"/>
                        </a:lnSpc>
                        <a:spcAft>
                          <a:spcPts val="0"/>
                        </a:spcAft>
                      </a:pPr>
                      <a:r>
                        <a:rPr sz="750" b="1" i="0">
                          <a:solidFill>
                            <a:srgbClr val="FFFFFF"/>
                          </a:solidFill>
                          <a:latin typeface="Inter"/>
                        </a:rPr>
                        <a:t>4</a:t>
                      </a:r>
                    </a:p>
                  </a:txBody>
                  <a:tcPr marL="73152" marR="73152" marT="36576" marB="36576" anchor="ctr">
                    <a:solidFill>
                      <a:srgbClr val="1C4587"/>
                    </a:solidFill>
                  </a:tcPr>
                </a:tc>
                <a:tc>
                  <a:txBody>
                    <a:bodyPr/>
                    <a:lstStyle/>
                    <a:p>
                      <a:pPr algn="l">
                        <a:lnSpc>
                          <a:spcPct val="100000"/>
                        </a:lnSpc>
                        <a:spcAft>
                          <a:spcPts val="0"/>
                        </a:spcAft>
                      </a:pPr>
                      <a:r>
                        <a:rPr sz="750" b="1" i="0">
                          <a:solidFill>
                            <a:srgbClr val="FFFFFF"/>
                          </a:solidFill>
                          <a:latin typeface="Inter"/>
                        </a:rPr>
                        <a:t>5</a:t>
                      </a:r>
                    </a:p>
                  </a:txBody>
                  <a:tcPr marL="73152" marR="73152" marT="36576" marB="36576" anchor="ctr">
                    <a:solidFill>
                      <a:srgbClr val="1C4587"/>
                    </a:solidFill>
                  </a:tcPr>
                </a:tc>
                <a:tc>
                  <a:txBody>
                    <a:bodyPr/>
                    <a:lstStyle/>
                    <a:p>
                      <a:pPr algn="l">
                        <a:lnSpc>
                          <a:spcPct val="100000"/>
                        </a:lnSpc>
                        <a:spcAft>
                          <a:spcPts val="0"/>
                        </a:spcAft>
                      </a:pPr>
                      <a:r>
                        <a:rPr sz="750" b="1" i="0">
                          <a:solidFill>
                            <a:srgbClr val="FFFFFF"/>
                          </a:solidFill>
                          <a:latin typeface="Inter"/>
                        </a:rPr>
                        <a:t>6</a:t>
                      </a:r>
                    </a:p>
                  </a:txBody>
                  <a:tcPr marL="73152" marR="73152" marT="36576" marB="36576" anchor="ctr">
                    <a:solidFill>
                      <a:srgbClr val="1C4587"/>
                    </a:solidFill>
                  </a:tcPr>
                </a:tc>
                <a:tc>
                  <a:txBody>
                    <a:bodyPr/>
                    <a:lstStyle/>
                    <a:p>
                      <a:pPr algn="l">
                        <a:lnSpc>
                          <a:spcPct val="100000"/>
                        </a:lnSpc>
                        <a:spcAft>
                          <a:spcPts val="0"/>
                        </a:spcAft>
                      </a:pPr>
                      <a:r>
                        <a:rPr sz="750" b="1" i="0">
                          <a:solidFill>
                            <a:srgbClr val="FFFFFF"/>
                          </a:solidFill>
                          <a:latin typeface="Inter"/>
                        </a:rPr>
                        <a:t>7</a:t>
                      </a:r>
                    </a:p>
                  </a:txBody>
                  <a:tcPr marL="73152" marR="73152" marT="36576" marB="36576" anchor="ctr">
                    <a:solidFill>
                      <a:srgbClr val="1C4587"/>
                    </a:solidFill>
                  </a:tcPr>
                </a:tc>
                <a:tc>
                  <a:txBody>
                    <a:bodyPr/>
                    <a:lstStyle/>
                    <a:p>
                      <a:pPr algn="l">
                        <a:lnSpc>
                          <a:spcPct val="100000"/>
                        </a:lnSpc>
                        <a:spcAft>
                          <a:spcPts val="0"/>
                        </a:spcAft>
                      </a:pPr>
                      <a:r>
                        <a:rPr sz="750" b="1" i="0">
                          <a:solidFill>
                            <a:srgbClr val="FFFFFF"/>
                          </a:solidFill>
                          <a:latin typeface="Inter"/>
                        </a:rPr>
                        <a:t>8</a:t>
                      </a:r>
                    </a:p>
                  </a:txBody>
                  <a:tcPr marL="73152" marR="73152" marT="36576" marB="36576" anchor="ctr">
                    <a:solidFill>
                      <a:srgbClr val="1C4587"/>
                    </a:solidFill>
                  </a:tcPr>
                </a:tc>
                <a:tc>
                  <a:txBody>
                    <a:bodyPr/>
                    <a:lstStyle/>
                    <a:p>
                      <a:pPr algn="l">
                        <a:lnSpc>
                          <a:spcPct val="100000"/>
                        </a:lnSpc>
                        <a:spcAft>
                          <a:spcPts val="0"/>
                        </a:spcAft>
                      </a:pPr>
                      <a:r>
                        <a:rPr sz="750" b="1" i="0">
                          <a:solidFill>
                            <a:srgbClr val="FFFFFF"/>
                          </a:solidFill>
                          <a:latin typeface="Inter"/>
                        </a:rPr>
                        <a:t>9</a:t>
                      </a:r>
                    </a:p>
                  </a:txBody>
                  <a:tcPr marL="73152" marR="73152" marT="36576" marB="36576" anchor="ctr">
                    <a:solidFill>
                      <a:srgbClr val="1C4587"/>
                    </a:solidFill>
                  </a:tcPr>
                </a:tc>
                <a:tc>
                  <a:txBody>
                    <a:bodyPr/>
                    <a:lstStyle/>
                    <a:p>
                      <a:pPr algn="l">
                        <a:lnSpc>
                          <a:spcPct val="100000"/>
                        </a:lnSpc>
                        <a:spcAft>
                          <a:spcPts val="0"/>
                        </a:spcAft>
                      </a:pPr>
                      <a:r>
                        <a:rPr sz="750" b="1" i="0">
                          <a:solidFill>
                            <a:srgbClr val="FFFFFF"/>
                          </a:solidFill>
                          <a:latin typeface="Inter"/>
                        </a:rPr>
                        <a:t>10</a:t>
                      </a:r>
                    </a:p>
                  </a:txBody>
                  <a:tcPr marL="73152" marR="73152" marT="36576" marB="36576" anchor="ctr">
                    <a:solidFill>
                      <a:srgbClr val="1C4587"/>
                    </a:solidFill>
                  </a:tcPr>
                </a:tc>
                <a:tc>
                  <a:txBody>
                    <a:bodyPr/>
                    <a:lstStyle/>
                    <a:p>
                      <a:pPr algn="l">
                        <a:lnSpc>
                          <a:spcPct val="100000"/>
                        </a:lnSpc>
                        <a:spcAft>
                          <a:spcPts val="0"/>
                        </a:spcAft>
                      </a:pPr>
                      <a:r>
                        <a:rPr sz="750" b="1" i="0">
                          <a:solidFill>
                            <a:srgbClr val="FFFFFF"/>
                          </a:solidFill>
                          <a:latin typeface="Inter"/>
                        </a:rPr>
                        <a:t>11</a:t>
                      </a:r>
                    </a:p>
                  </a:txBody>
                  <a:tcPr marL="73152" marR="73152" marT="36576" marB="36576" anchor="ctr">
                    <a:solidFill>
                      <a:srgbClr val="1C4587"/>
                    </a:solidFill>
                  </a:tcPr>
                </a:tc>
                <a:extLst>
                  <a:ext uri="{0D108BD9-81ED-4DB2-BD59-A6C34878D82A}">
                    <a16:rowId xmlns:a16="http://schemas.microsoft.com/office/drawing/2014/main" val="10000"/>
                  </a:ext>
                </a:extLst>
              </a:tr>
              <a:tr h="274320">
                <a:tc>
                  <a:txBody>
                    <a:bodyPr/>
                    <a:lstStyle/>
                    <a:p>
                      <a:pPr algn="l">
                        <a:lnSpc>
                          <a:spcPct val="100000"/>
                        </a:lnSpc>
                        <a:spcAft>
                          <a:spcPts val="0"/>
                        </a:spcAft>
                      </a:pPr>
                      <a:r>
                        <a:rPr sz="750" b="1" i="0">
                          <a:solidFill>
                            <a:srgbClr val="1C4587"/>
                          </a:solidFill>
                          <a:latin typeface="Inter"/>
                        </a:rPr>
                        <a:t>Yang ditambahkan</a:t>
                      </a:r>
                    </a:p>
                  </a:txBody>
                  <a:tcPr marL="73152" marR="73152" marT="36576" marB="36576" anchor="ctr">
                    <a:solidFill>
                      <a:srgbClr val="FFFFFF"/>
                    </a:solidFill>
                  </a:tcPr>
                </a:tc>
                <a:tc>
                  <a:txBody>
                    <a:bodyPr/>
                    <a:lstStyle/>
                    <a:p>
                      <a:pPr algn="l">
                        <a:lnSpc>
                          <a:spcPct val="100000"/>
                        </a:lnSpc>
                        <a:spcAft>
                          <a:spcPts val="0"/>
                        </a:spcAft>
                      </a:pPr>
                      <a:r>
                        <a:rPr sz="750" b="0" i="0">
                          <a:solidFill>
                            <a:srgbClr val="434343"/>
                          </a:solidFill>
                          <a:latin typeface="Inter"/>
                        </a:rPr>
                        <a:t>Layer + DDD</a:t>
                      </a:r>
                    </a:p>
                  </a:txBody>
                  <a:tcPr marL="73152" marR="73152" marT="36576" marB="36576" anchor="ctr">
                    <a:solidFill>
                      <a:srgbClr val="FFFFFF"/>
                    </a:solidFill>
                  </a:tcPr>
                </a:tc>
                <a:tc>
                  <a:txBody>
                    <a:bodyPr/>
                    <a:lstStyle/>
                    <a:p>
                      <a:pPr algn="l">
                        <a:lnSpc>
                          <a:spcPct val="100000"/>
                        </a:lnSpc>
                        <a:spcAft>
                          <a:spcPts val="0"/>
                        </a:spcAft>
                      </a:pPr>
                      <a:r>
                        <a:rPr sz="750" b="0" i="0">
                          <a:solidFill>
                            <a:srgbClr val="434343"/>
                          </a:solidFill>
                          <a:latin typeface="Inter"/>
                        </a:rPr>
                        <a:t>ORM, UoW</a:t>
                      </a:r>
                    </a:p>
                  </a:txBody>
                  <a:tcPr marL="73152" marR="73152" marT="36576" marB="36576" anchor="ctr">
                    <a:solidFill>
                      <a:srgbClr val="FFFFFF"/>
                    </a:solidFill>
                  </a:tcPr>
                </a:tc>
                <a:tc>
                  <a:txBody>
                    <a:bodyPr/>
                    <a:lstStyle/>
                    <a:p>
                      <a:pPr algn="l">
                        <a:lnSpc>
                          <a:spcPct val="100000"/>
                        </a:lnSpc>
                        <a:spcAft>
                          <a:spcPts val="0"/>
                        </a:spcAft>
                      </a:pPr>
                      <a:r>
                        <a:rPr sz="750" b="0" i="0">
                          <a:solidFill>
                            <a:srgbClr val="434343"/>
                          </a:solidFill>
                          <a:latin typeface="Inter"/>
                        </a:rPr>
                        <a:t>Celery</a:t>
                      </a:r>
                    </a:p>
                  </a:txBody>
                  <a:tcPr marL="73152" marR="73152" marT="36576" marB="36576" anchor="ctr">
                    <a:solidFill>
                      <a:srgbClr val="FFFFFF"/>
                    </a:solidFill>
                  </a:tcPr>
                </a:tc>
                <a:tc>
                  <a:txBody>
                    <a:bodyPr/>
                    <a:lstStyle/>
                    <a:p>
                      <a:pPr algn="l">
                        <a:lnSpc>
                          <a:spcPct val="100000"/>
                        </a:lnSpc>
                        <a:spcAft>
                          <a:spcPts val="0"/>
                        </a:spcAft>
                      </a:pPr>
                      <a:r>
                        <a:rPr sz="750" b="0" i="0">
                          <a:solidFill>
                            <a:srgbClr val="434343"/>
                          </a:solidFill>
                          <a:latin typeface="Inter"/>
                        </a:rPr>
                        <a:t>Cache</a:t>
                      </a:r>
                    </a:p>
                  </a:txBody>
                  <a:tcPr marL="73152" marR="73152" marT="36576" marB="36576" anchor="ctr">
                    <a:solidFill>
                      <a:srgbClr val="FFFFFF"/>
                    </a:solidFill>
                  </a:tcPr>
                </a:tc>
                <a:tc>
                  <a:txBody>
                    <a:bodyPr/>
                    <a:lstStyle/>
                    <a:p>
                      <a:pPr algn="l">
                        <a:lnSpc>
                          <a:spcPct val="100000"/>
                        </a:lnSpc>
                        <a:spcAft>
                          <a:spcPts val="0"/>
                        </a:spcAft>
                      </a:pPr>
                      <a:r>
                        <a:rPr sz="750" b="0" i="0">
                          <a:solidFill>
                            <a:srgbClr val="434343"/>
                          </a:solidFill>
                          <a:latin typeface="Inter"/>
                        </a:rPr>
                        <a:t>Index</a:t>
                      </a:r>
                    </a:p>
                  </a:txBody>
                  <a:tcPr marL="73152" marR="73152" marT="36576" marB="36576" anchor="ctr">
                    <a:solidFill>
                      <a:srgbClr val="FFFFFF"/>
                    </a:solidFill>
                  </a:tcPr>
                </a:tc>
                <a:tc>
                  <a:txBody>
                    <a:bodyPr/>
                    <a:lstStyle/>
                    <a:p>
                      <a:pPr algn="l">
                        <a:lnSpc>
                          <a:spcPct val="100000"/>
                        </a:lnSpc>
                        <a:spcAft>
                          <a:spcPts val="0"/>
                        </a:spcAft>
                      </a:pPr>
                      <a:r>
                        <a:rPr sz="750" b="0" i="0">
                          <a:solidFill>
                            <a:srgbClr val="434343"/>
                          </a:solidFill>
                          <a:latin typeface="Inter"/>
                        </a:rPr>
                        <a:t>RabbitMQ</a:t>
                      </a:r>
                    </a:p>
                  </a:txBody>
                  <a:tcPr marL="73152" marR="73152" marT="36576" marB="36576" anchor="ctr">
                    <a:solidFill>
                      <a:srgbClr val="FFFFFF"/>
                    </a:solidFill>
                  </a:tcPr>
                </a:tc>
                <a:tc>
                  <a:txBody>
                    <a:bodyPr/>
                    <a:lstStyle/>
                    <a:p>
                      <a:pPr algn="l">
                        <a:lnSpc>
                          <a:spcPct val="100000"/>
                        </a:lnSpc>
                        <a:spcAft>
                          <a:spcPts val="0"/>
                        </a:spcAft>
                      </a:pPr>
                      <a:r>
                        <a:rPr sz="750" b="0" i="0">
                          <a:solidFill>
                            <a:srgbClr val="434343"/>
                          </a:solidFill>
                          <a:latin typeface="Inter"/>
                        </a:rPr>
                        <a:t>Log, metrics</a:t>
                      </a:r>
                    </a:p>
                  </a:txBody>
                  <a:tcPr marL="73152" marR="73152" marT="36576" marB="36576" anchor="ctr">
                    <a:solidFill>
                      <a:srgbClr val="FFFFFF"/>
                    </a:solidFill>
                  </a:tcPr>
                </a:tc>
                <a:tc>
                  <a:txBody>
                    <a:bodyPr/>
                    <a:lstStyle/>
                    <a:p>
                      <a:pPr algn="l">
                        <a:lnSpc>
                          <a:spcPct val="100000"/>
                        </a:lnSpc>
                        <a:spcAft>
                          <a:spcPts val="0"/>
                        </a:spcAft>
                      </a:pPr>
                      <a:r>
                        <a:rPr sz="750" b="0" i="0">
                          <a:solidFill>
                            <a:srgbClr val="434343"/>
                          </a:solidFill>
                          <a:latin typeface="Inter"/>
                        </a:rPr>
                        <a:t>JWT, RBAC</a:t>
                      </a:r>
                    </a:p>
                  </a:txBody>
                  <a:tcPr marL="73152" marR="73152" marT="36576" marB="36576" anchor="ctr">
                    <a:solidFill>
                      <a:srgbClr val="FFFFFF"/>
                    </a:solidFill>
                  </a:tcPr>
                </a:tc>
                <a:tc>
                  <a:txBody>
                    <a:bodyPr/>
                    <a:lstStyle/>
                    <a:p>
                      <a:pPr algn="l">
                        <a:lnSpc>
                          <a:spcPct val="100000"/>
                        </a:lnSpc>
                        <a:spcAft>
                          <a:spcPts val="0"/>
                        </a:spcAft>
                      </a:pPr>
                      <a:r>
                        <a:rPr sz="750" b="0" i="0">
                          <a:solidFill>
                            <a:srgbClr val="434343"/>
                          </a:solidFill>
                          <a:latin typeface="Inter"/>
                        </a:rPr>
                        <a:t>Docker, K8s, CI</a:t>
                      </a:r>
                    </a:p>
                  </a:txBody>
                  <a:tcPr marL="73152" marR="73152" marT="36576" marB="36576" anchor="ct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Yang Dibahas di Sesi Ini</a:t>
            </a:r>
          </a:p>
        </p:txBody>
      </p:sp>
      <p:graphicFrame>
        <p:nvGraphicFramePr>
          <p:cNvPr id="22" name="Table 3"/>
          <p:cNvGraphicFramePr>
            <a:graphicFrameLocks noGrp="1"/>
          </p:cNvGraphicFramePr>
          <p:nvPr/>
        </p:nvGraphicFramePr>
        <p:xfrm>
          <a:off x="621792" y="1481328"/>
          <a:ext cx="7863839" cy="2304288"/>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tblGrid>
              <a:tr h="384048">
                <a:tc>
                  <a:txBody>
                    <a:bodyPr/>
                    <a:lstStyle/>
                    <a:p>
                      <a:pPr algn="l">
                        <a:lnSpc>
                          <a:spcPct val="100000"/>
                        </a:lnSpc>
                        <a:spcAft>
                          <a:spcPts val="0"/>
                        </a:spcAft>
                      </a:pPr>
                      <a:r>
                        <a:rPr sz="95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Jenisnya</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Hasilnya</a:t>
                      </a:r>
                    </a:p>
                  </a:txBody>
                  <a:tcPr marL="73152" marR="73152" marT="36576" marB="36576" anchor="ctr">
                    <a:solidFill>
                      <a:srgbClr val="1C4587"/>
                    </a:solidFill>
                  </a:tcPr>
                </a:tc>
                <a:extLst>
                  <a:ext uri="{0D108BD9-81ED-4DB2-BD59-A6C34878D82A}">
                    <a16:rowId xmlns:a16="http://schemas.microsoft.com/office/drawing/2014/main" val="10000"/>
                  </a:ext>
                </a:extLst>
              </a:tr>
              <a:tr h="384048">
                <a:tc>
                  <a:txBody>
                    <a:bodyPr/>
                    <a:lstStyle/>
                    <a:p>
                      <a:pPr algn="l">
                        <a:lnSpc>
                          <a:spcPct val="100000"/>
                        </a:lnSpc>
                        <a:spcAft>
                          <a:spcPts val="0"/>
                        </a:spcAft>
                      </a:pPr>
                      <a:r>
                        <a:rPr sz="950" b="1" i="0">
                          <a:solidFill>
                            <a:srgbClr val="1C4587"/>
                          </a:solidFill>
                          <a:latin typeface="Inter"/>
                        </a:rPr>
                        <a:t>Smoke test</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Praktik deployment</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smoke_test.py yang dijalankan setelah deploy</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Aft>
                          <a:spcPts val="0"/>
                        </a:spcAft>
                      </a:pPr>
                      <a:r>
                        <a:rPr sz="950" b="1" i="0">
                          <a:solidFill>
                            <a:srgbClr val="1C4587"/>
                          </a:solidFill>
                          <a:latin typeface="Inter"/>
                        </a:rPr>
                        <a:t>Dokumentasi teknis dan ADR</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Praktik tim</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README, docs/architecture.md, docs/adr/</a:t>
                      </a:r>
                    </a:p>
                  </a:txBody>
                  <a:tcPr marL="73152" marR="73152" marT="36576" marB="36576" anchor="ctr">
                    <a:solidFill>
                      <a:srgbClr val="F3F4F6"/>
                    </a:solidFill>
                  </a:tcPr>
                </a:tc>
                <a:extLst>
                  <a:ext uri="{0D108BD9-81ED-4DB2-BD59-A6C34878D82A}">
                    <a16:rowId xmlns:a16="http://schemas.microsoft.com/office/drawing/2014/main" val="10002"/>
                  </a:ext>
                </a:extLst>
              </a:tr>
              <a:tr h="384048">
                <a:tc>
                  <a:txBody>
                    <a:bodyPr/>
                    <a:lstStyle/>
                    <a:p>
                      <a:pPr algn="l">
                        <a:lnSpc>
                          <a:spcPct val="100000"/>
                        </a:lnSpc>
                        <a:spcAft>
                          <a:spcPts val="0"/>
                        </a:spcAft>
                      </a:pPr>
                      <a:r>
                        <a:rPr sz="950" b="1" i="0">
                          <a:solidFill>
                            <a:srgbClr val="1C4587"/>
                          </a:solidFill>
                          <a:latin typeface="Inter"/>
                        </a:rPr>
                        <a:t>Code review</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Praktik tim</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Template pull request dan checklist review</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lnSpc>
                          <a:spcPct val="100000"/>
                        </a:lnSpc>
                        <a:spcAft>
                          <a:spcPts val="0"/>
                        </a:spcAft>
                      </a:pPr>
                      <a:r>
                        <a:rPr sz="950" b="1" i="0">
                          <a:solidFill>
                            <a:srgbClr val="1C4587"/>
                          </a:solidFill>
                          <a:latin typeface="Inter"/>
                        </a:rPr>
                        <a:t>Deployment readiness</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Checklist</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docs/deployment-checklist.md</a:t>
                      </a:r>
                    </a:p>
                  </a:txBody>
                  <a:tcPr marL="73152" marR="73152" marT="36576" marB="36576" anchor="ctr">
                    <a:solidFill>
                      <a:srgbClr val="F3F4F6"/>
                    </a:solidFill>
                  </a:tcPr>
                </a:tc>
                <a:extLst>
                  <a:ext uri="{0D108BD9-81ED-4DB2-BD59-A6C34878D82A}">
                    <a16:rowId xmlns:a16="http://schemas.microsoft.com/office/drawing/2014/main" val="10004"/>
                  </a:ext>
                </a:extLst>
              </a:tr>
              <a:tr h="384048">
                <a:tc>
                  <a:txBody>
                    <a:bodyPr/>
                    <a:lstStyle/>
                    <a:p>
                      <a:pPr algn="l">
                        <a:lnSpc>
                          <a:spcPct val="100000"/>
                        </a:lnSpc>
                        <a:spcAft>
                          <a:spcPts val="0"/>
                        </a:spcAft>
                      </a:pPr>
                      <a:r>
                        <a:rPr sz="950" b="1" i="0">
                          <a:solidFill>
                            <a:srgbClr val="1C4587"/>
                          </a:solidFill>
                          <a:latin typeface="Inter"/>
                        </a:rPr>
                        <a:t>Final project</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Tugas akhir</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Order API dilanjutkan: fitur baru, README per fitur, demo</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23" name="Text 4"/>
          <p:cNvSpPr txBox="1"/>
          <p:nvPr/>
        </p:nvSpPr>
        <p:spPr>
          <a:xfrm>
            <a:off x="621792" y="4343400"/>
            <a:ext cx="7863840" cy="365760"/>
          </a:xfrm>
          <a:prstGeom prst="rect">
            <a:avLst/>
          </a:prstGeom>
          <a:noFill/>
        </p:spPr>
        <p:txBody>
          <a:bodyPr wrap="square" lIns="45720" rIns="45720" anchor="t">
            <a:spAutoFit/>
          </a:bodyPr>
          <a:lstStyle/>
          <a:p>
            <a:pPr algn="l">
              <a:lnSpc>
                <a:spcPct val="115000"/>
              </a:lnSpc>
              <a:spcAft>
                <a:spcPts val="400"/>
              </a:spcAft>
            </a:pPr>
            <a:r>
              <a:rPr sz="950" b="0" i="0">
                <a:solidFill>
                  <a:srgbClr val="1C4587"/>
                </a:solidFill>
                <a:latin typeface="Inter"/>
              </a:rPr>
              <a:t>Bagian 1 membahas kesiapan rilis, bagian 2 dokumentasi dan code review, bagian 3 hands-on, lalu brief final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01</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Kesiapan Rilis</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Smoke test dan deployment readiness checklist.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Smoke Test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Smoke Test?</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Smoke test adalah</a:t>
            </a:r>
          </a:p>
          <a:p>
            <a:pPr algn="l">
              <a:lnSpc>
                <a:spcPct val="115000"/>
              </a:lnSpc>
              <a:spcAft>
                <a:spcPts val="400"/>
              </a:spcAft>
            </a:pPr>
            <a:r>
              <a:rPr sz="900" b="0" i="0">
                <a:solidFill>
                  <a:srgbClr val="434343"/>
                </a:solidFill>
                <a:latin typeface="Inter"/>
              </a:rPr>
              <a:t>Beberapa pengecekan singkat ke aplikasi yang </a:t>
            </a:r>
            <a:r>
              <a:rPr sz="900" b="1" i="0">
                <a:solidFill>
                  <a:srgbClr val="434343"/>
                </a:solidFill>
                <a:latin typeface="Inter"/>
              </a:rPr>
              <a:t>baru di-deploy</a:t>
            </a:r>
            <a:r>
              <a:rPr sz="900" b="0" i="0">
                <a:solidFill>
                  <a:srgbClr val="434343"/>
                </a:solidFill>
                <a:latin typeface="Inter"/>
              </a:rPr>
              <a:t>, memakai request sungguhan ke alur paling penting. Sehingga masalah config, koneksi, atau dependency ketahuan sebelum dipakai customer.</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Memastikan hasil deploy benar-benar bisa dipakai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Menghentikan pipeline CD otomatis jika ada yang gagal</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Memberi tanda kapan perlu rollback</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cek satu URL: 01-smoke-test/before.py</a:t>
            </a:r>
          </a:p>
        </p:txBody>
      </p:sp>
      <p:sp>
        <p:nvSpPr>
          <p:cNvPr id="28" name="CodeBg 11"/>
          <p:cNvSpPr/>
          <p:nvPr/>
        </p:nvSpPr>
        <p:spPr>
          <a:xfrm>
            <a:off x="4297680" y="1719072"/>
            <a:ext cx="4187951" cy="566928"/>
          </a:xfrm>
          <a:prstGeom prst="roundRect">
            <a:avLst>
              <a:gd name="adj" fmla="val 322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566928"/>
          </a:xfrm>
          <a:prstGeom prst="rect">
            <a:avLst/>
          </a:prstGeom>
          <a:noFill/>
        </p:spPr>
        <p:txBody>
          <a:bodyPr wrap="none" lIns="146304" tIns="91440" rIns="146304" bIns="54864">
            <a:spAutoFit/>
          </a:bodyPr>
          <a:lstStyle/>
          <a:p>
            <a:pPr>
              <a:lnSpc>
                <a:spcPct val="104167"/>
              </a:lnSpc>
              <a:spcAft>
                <a:spcPts val="0"/>
              </a:spcAft>
            </a:pPr>
            <a:r>
              <a:rPr sz="800" i="0">
                <a:solidFill>
                  <a:srgbClr val="E6EDF3"/>
                </a:solidFill>
                <a:latin typeface="Inconsolata"/>
              </a:rPr>
              <a:t>    response = client.get(</a:t>
            </a:r>
            <a:r>
              <a:rPr sz="800" i="0">
                <a:solidFill>
                  <a:srgbClr val="A5D6A7"/>
                </a:solidFill>
                <a:latin typeface="Inconsolata"/>
              </a:rPr>
              <a:t>"/health/live"</a:t>
            </a:r>
            <a:r>
              <a:rPr sz="800" i="0">
                <a:solidFill>
                  <a:srgbClr val="E6EDF3"/>
                </a:solidFill>
                <a:latin typeface="Inconsolata"/>
              </a:rPr>
              <a:t>)</a:t>
            </a:r>
          </a:p>
          <a:p>
            <a:pPr>
              <a:lnSpc>
                <a:spcPct val="104167"/>
              </a:lnSpc>
              <a:spcAft>
                <a:spcPts val="0"/>
              </a:spcAft>
            </a:pPr>
            <a:r>
              <a:rPr sz="800" i="0">
                <a:solidFill>
                  <a:srgbClr val="E6EDF3"/>
                </a:solidFill>
                <a:latin typeface="Inconsolata"/>
              </a:rPr>
              <a:t>    </a:t>
            </a:r>
            <a:r>
              <a:rPr sz="800" i="0">
                <a:solidFill>
                  <a:srgbClr val="C3A6FF"/>
                </a:solidFill>
                <a:latin typeface="Inconsolata"/>
              </a:rPr>
              <a:t>print</a:t>
            </a:r>
            <a:r>
              <a:rPr sz="800" i="0">
                <a:solidFill>
                  <a:srgbClr val="E6EDF3"/>
                </a:solidFill>
                <a:latin typeface="Inconsolata"/>
              </a:rPr>
              <a:t>(</a:t>
            </a:r>
            <a:r>
              <a:rPr sz="800" i="0">
                <a:solidFill>
                  <a:srgbClr val="A5D6A7"/>
                </a:solidFill>
                <a:latin typeface="Inconsolata"/>
              </a:rPr>
              <a:t>f"GET /health/live -&gt; {response.status_code}"</a:t>
            </a:r>
            <a:r>
              <a:rPr sz="800" i="0">
                <a:solidFill>
                  <a:srgbClr val="E6EDF3"/>
                </a:solidFill>
                <a:latin typeface="Inconsolata"/>
              </a:rPr>
              <a:t>)</a:t>
            </a:r>
          </a:p>
        </p:txBody>
      </p:sp>
      <p:sp>
        <p:nvSpPr>
          <p:cNvPr id="30" name="Box 13"/>
          <p:cNvSpPr/>
          <p:nvPr/>
        </p:nvSpPr>
        <p:spPr>
          <a:xfrm>
            <a:off x="4379976" y="1827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377440"/>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45516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45516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45516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386584"/>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smoke test: 01-smoke-test/after.py</a:t>
            </a:r>
          </a:p>
        </p:txBody>
      </p:sp>
      <p:sp>
        <p:nvSpPr>
          <p:cNvPr id="36" name="CodeBg 21"/>
          <p:cNvSpPr/>
          <p:nvPr/>
        </p:nvSpPr>
        <p:spPr>
          <a:xfrm>
            <a:off x="4297680" y="2615184"/>
            <a:ext cx="4187951" cy="2084831"/>
          </a:xfrm>
          <a:prstGeom prst="roundRect">
            <a:avLst>
              <a:gd name="adj" fmla="val 877"/>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615184"/>
            <a:ext cx="4187951" cy="2084831"/>
          </a:xfrm>
          <a:prstGeom prst="rect">
            <a:avLst/>
          </a:prstGeom>
          <a:noFill/>
        </p:spPr>
        <p:txBody>
          <a:bodyPr wrap="none" lIns="146304" tIns="91440" rIns="146304" bIns="54864">
            <a:spAutoFit/>
          </a:bodyPr>
          <a:lstStyle/>
          <a:p>
            <a:pPr>
              <a:lnSpc>
                <a:spcPct val="104167"/>
              </a:lnSpc>
              <a:spcAft>
                <a:spcPts val="0"/>
              </a:spcAft>
            </a:pPr>
            <a:r>
              <a:rPr sz="800" i="0">
                <a:solidFill>
                  <a:srgbClr val="7FDBCA"/>
                </a:solidFill>
                <a:latin typeface="Inconsolata"/>
              </a:rPr>
              <a:t>CHECKS</a:t>
            </a:r>
            <a:r>
              <a:rPr sz="800" i="0">
                <a:solidFill>
                  <a:srgbClr val="E6EDF3"/>
                </a:solidFill>
                <a:latin typeface="Inconsolata"/>
              </a:rPr>
              <a:t> = [</a:t>
            </a:r>
          </a:p>
          <a:p>
            <a:pPr>
              <a:lnSpc>
                <a:spcPct val="104167"/>
              </a:lnSpc>
              <a:spcAft>
                <a:spcPts val="0"/>
              </a:spcAft>
            </a:pPr>
            <a:r>
              <a:rPr sz="800" i="0">
                <a:solidFill>
                  <a:srgbClr val="E6EDF3"/>
                </a:solidFill>
                <a:latin typeface="Inconsolata"/>
              </a:rPr>
              <a:t>    (</a:t>
            </a:r>
            <a:r>
              <a:rPr sz="800" i="0">
                <a:solidFill>
                  <a:srgbClr val="A5D6A7"/>
                </a:solidFill>
                <a:latin typeface="Inconsolata"/>
              </a:rPr>
              <a:t>"proses berjalan"</a:t>
            </a:r>
            <a:r>
              <a:rPr sz="800" i="0">
                <a:solidFill>
                  <a:srgbClr val="E6EDF3"/>
                </a:solidFill>
                <a:latin typeface="Inconsolata"/>
              </a:rPr>
              <a:t>, </a:t>
            </a:r>
            <a:r>
              <a:rPr sz="800" i="0">
                <a:solidFill>
                  <a:srgbClr val="A5D6A7"/>
                </a:solidFill>
                <a:latin typeface="Inconsolata"/>
              </a:rPr>
              <a:t>"GET"</a:t>
            </a:r>
            <a:r>
              <a:rPr sz="800" i="0">
                <a:solidFill>
                  <a:srgbClr val="E6EDF3"/>
                </a:solidFill>
                <a:latin typeface="Inconsolata"/>
              </a:rPr>
              <a:t>, </a:t>
            </a:r>
            <a:r>
              <a:rPr sz="800" i="0">
                <a:solidFill>
                  <a:srgbClr val="A5D6A7"/>
                </a:solidFill>
                <a:latin typeface="Inconsolata"/>
              </a:rPr>
              <a:t>"/health/live"</a:t>
            </a:r>
            <a:r>
              <a:rPr sz="800" i="0">
                <a:solidFill>
                  <a:srgbClr val="E6EDF3"/>
                </a:solidFill>
                <a:latin typeface="Inconsolata"/>
              </a:rPr>
              <a:t>, {}),</a:t>
            </a:r>
          </a:p>
          <a:p>
            <a:pPr>
              <a:lnSpc>
                <a:spcPct val="104167"/>
              </a:lnSpc>
              <a:spcAft>
                <a:spcPts val="0"/>
              </a:spcAft>
            </a:pPr>
            <a:r>
              <a:rPr sz="800" i="0">
                <a:solidFill>
                  <a:srgbClr val="E6EDF3"/>
                </a:solidFill>
                <a:latin typeface="Inconsolata"/>
              </a:rPr>
              <a:t>    (</a:t>
            </a:r>
            <a:r>
              <a:rPr sz="800" i="0">
                <a:solidFill>
                  <a:srgbClr val="A5D6A7"/>
                </a:solidFill>
                <a:latin typeface="Inconsolata"/>
              </a:rPr>
              <a:t>"dependency siap"</a:t>
            </a:r>
            <a:r>
              <a:rPr sz="800" i="0">
                <a:solidFill>
                  <a:srgbClr val="E6EDF3"/>
                </a:solidFill>
                <a:latin typeface="Inconsolata"/>
              </a:rPr>
              <a:t>, </a:t>
            </a:r>
            <a:r>
              <a:rPr sz="800" i="0">
                <a:solidFill>
                  <a:srgbClr val="A5D6A7"/>
                </a:solidFill>
                <a:latin typeface="Inconsolata"/>
              </a:rPr>
              <a:t>"GET"</a:t>
            </a:r>
            <a:r>
              <a:rPr sz="800" i="0">
                <a:solidFill>
                  <a:srgbClr val="E6EDF3"/>
                </a:solidFill>
                <a:latin typeface="Inconsolata"/>
              </a:rPr>
              <a:t>, </a:t>
            </a:r>
            <a:r>
              <a:rPr sz="800" i="0">
                <a:solidFill>
                  <a:srgbClr val="A5D6A7"/>
                </a:solidFill>
                <a:latin typeface="Inconsolata"/>
              </a:rPr>
              <a:t>"/health/ready"</a:t>
            </a:r>
            <a:r>
              <a:rPr sz="800" i="0">
                <a:solidFill>
                  <a:srgbClr val="E6EDF3"/>
                </a:solidFill>
                <a:latin typeface="Inconsolata"/>
              </a:rPr>
              <a:t>, {}),</a:t>
            </a:r>
          </a:p>
          <a:p>
            <a:pPr>
              <a:lnSpc>
                <a:spcPct val="104167"/>
              </a:lnSpc>
              <a:spcAft>
                <a:spcPts val="0"/>
              </a:spcAft>
            </a:pPr>
            <a:r>
              <a:rPr sz="800" i="0">
                <a:solidFill>
                  <a:srgbClr val="E6EDF3"/>
                </a:solidFill>
                <a:latin typeface="Inconsolata"/>
              </a:rPr>
              <a:t>    (</a:t>
            </a:r>
            <a:r>
              <a:rPr sz="800" i="0">
                <a:solidFill>
                  <a:srgbClr val="A5D6A7"/>
                </a:solidFill>
                <a:latin typeface="Inconsolata"/>
              </a:rPr>
              <a:t>"login berhasil"</a:t>
            </a:r>
            <a:r>
              <a:rPr sz="800" i="0">
                <a:solidFill>
                  <a:srgbClr val="E6EDF3"/>
                </a:solidFill>
                <a:latin typeface="Inconsolata"/>
              </a:rPr>
              <a:t>, </a:t>
            </a:r>
            <a:r>
              <a:rPr sz="800" i="0">
                <a:solidFill>
                  <a:srgbClr val="A5D6A7"/>
                </a:solidFill>
                <a:latin typeface="Inconsolata"/>
              </a:rPr>
              <a:t>"POST"</a:t>
            </a:r>
            <a:r>
              <a:rPr sz="800" i="0">
                <a:solidFill>
                  <a:srgbClr val="E6EDF3"/>
                </a:solidFill>
                <a:latin typeface="Inconsolata"/>
              </a:rPr>
              <a:t>, </a:t>
            </a:r>
            <a:r>
              <a:rPr sz="800" i="0">
                <a:solidFill>
                  <a:srgbClr val="A5D6A7"/>
                </a:solidFill>
                <a:latin typeface="Inconsolata"/>
              </a:rPr>
              <a:t>"/auth/token"</a:t>
            </a:r>
            <a:r>
              <a:rPr sz="800" i="0">
                <a:solidFill>
                  <a:srgbClr val="E6EDF3"/>
                </a:solidFill>
                <a:latin typeface="Inconsolata"/>
              </a:rPr>
              <a:t>, {</a:t>
            </a:r>
            <a:r>
              <a:rPr sz="800" i="0">
                <a:solidFill>
                  <a:srgbClr val="A5D6A7"/>
                </a:solidFill>
                <a:latin typeface="Inconsolata"/>
              </a:rPr>
              <a:t>"params"</a:t>
            </a:r>
            <a:r>
              <a:rPr sz="800" i="0">
                <a:solidFill>
                  <a:srgbClr val="E6EDF3"/>
                </a:solidFill>
                <a:latin typeface="Inconsolata"/>
              </a:rPr>
              <a:t>: </a:t>
            </a:r>
            <a:r>
              <a:rPr sz="800" i="0">
                <a:solidFill>
                  <a:srgbClr val="7FDBCA"/>
                </a:solidFill>
                <a:latin typeface="Inconsolata"/>
              </a:rPr>
              <a:t>LOGIN</a:t>
            </a:r>
            <a:r>
              <a:rPr sz="800" i="0">
                <a:solidFill>
                  <a:srgbClr val="E6EDF3"/>
                </a:solidFill>
                <a:latin typeface="Inconsolata"/>
              </a:rPr>
              <a:t>}),</a:t>
            </a:r>
          </a:p>
          <a:p>
            <a:pPr>
              <a:lnSpc>
                <a:spcPct val="104167"/>
              </a:lnSpc>
              <a:spcAft>
                <a:spcPts val="0"/>
              </a:spcAft>
            </a:pPr>
            <a:r>
              <a:rPr sz="800" i="0">
                <a:solidFill>
                  <a:srgbClr val="E6EDF3"/>
                </a:solidFill>
                <a:latin typeface="Inconsolata"/>
              </a:rPr>
              <a:t>]</a:t>
            </a:r>
          </a:p>
          <a:p>
            <a:pPr>
              <a:lnSpc>
                <a:spcPct val="104167"/>
              </a:lnSpc>
              <a:spcAft>
                <a:spcPts val="0"/>
              </a:spcAft>
            </a:pPr>
            <a:r>
              <a:rPr sz="800" i="0">
                <a:solidFill>
                  <a:srgbClr val="E6EDF3"/>
                </a:solidFill>
                <a:latin typeface="Inconsolata"/>
              </a:rPr>
              <a:t>...</a:t>
            </a:r>
          </a:p>
          <a:p>
            <a:pPr>
              <a:lnSpc>
                <a:spcPct val="104167"/>
              </a:lnSpc>
              <a:spcAft>
                <a:spcPts val="0"/>
              </a:spcAft>
            </a:pPr>
            <a:r>
              <a:rPr sz="800" i="0">
                <a:solidFill>
                  <a:srgbClr val="E6EDF3"/>
                </a:solidFill>
                <a:latin typeface="Inconsolata"/>
              </a:rPr>
              <a:t>    sys.exit(</a:t>
            </a:r>
            <a:r>
              <a:rPr sz="800" i="0">
                <a:solidFill>
                  <a:srgbClr val="F9C97A"/>
                </a:solidFill>
                <a:latin typeface="Inconsolata"/>
              </a:rPr>
              <a:t>0</a:t>
            </a:r>
            <a:r>
              <a:rPr sz="800" i="0">
                <a:solidFill>
                  <a:srgbClr val="E6EDF3"/>
                </a:solidFill>
                <a:latin typeface="Inconsolata"/>
              </a:rPr>
              <a:t> </a:t>
            </a:r>
            <a:r>
              <a:rPr sz="800" i="0">
                <a:solidFill>
                  <a:srgbClr val="FF8E6E"/>
                </a:solidFill>
                <a:latin typeface="Inconsolata"/>
              </a:rPr>
              <a:t>if</a:t>
            </a:r>
            <a:r>
              <a:rPr sz="800" i="0">
                <a:solidFill>
                  <a:srgbClr val="E6EDF3"/>
                </a:solidFill>
                <a:latin typeface="Inconsolata"/>
              </a:rPr>
              <a:t> passed </a:t>
            </a:r>
            <a:r>
              <a:rPr sz="800" i="0">
                <a:solidFill>
                  <a:srgbClr val="FF8E6E"/>
                </a:solidFill>
                <a:latin typeface="Inconsolata"/>
              </a:rPr>
              <a:t>else</a:t>
            </a:r>
            <a:r>
              <a:rPr sz="800" i="0">
                <a:solidFill>
                  <a:srgbClr val="E6EDF3"/>
                </a:solidFill>
                <a:latin typeface="Inconsolata"/>
              </a:rPr>
              <a:t> </a:t>
            </a:r>
            <a:r>
              <a:rPr sz="800" i="0">
                <a:solidFill>
                  <a:srgbClr val="F9C97A"/>
                </a:solidFill>
                <a:latin typeface="Inconsolata"/>
              </a:rPr>
              <a:t>1</a:t>
            </a:r>
            <a:r>
              <a:rPr sz="800" i="0">
                <a:solidFill>
                  <a:srgbClr val="E6EDF3"/>
                </a:solidFill>
                <a:latin typeface="Inconsolata"/>
              </a:rPr>
              <a:t>)</a:t>
            </a:r>
          </a:p>
        </p:txBody>
      </p:sp>
      <p:sp>
        <p:nvSpPr>
          <p:cNvPr id="38" name="Box 23"/>
          <p:cNvSpPr/>
          <p:nvPr/>
        </p:nvSpPr>
        <p:spPr>
          <a:xfrm>
            <a:off x="4379976" y="2723134"/>
            <a:ext cx="4023359" cy="627380"/>
          </a:xfrm>
          <a:prstGeom prst="roundRect">
            <a:avLst>
              <a:gd name="adj" fmla="val 728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485134"/>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Smoke Test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menjalankan Smoke Test?</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smoke test</a:t>
            </a:r>
          </a:p>
          <a:p>
            <a:pPr algn="l">
              <a:lnSpc>
                <a:spcPct val="115000"/>
              </a:lnSpc>
              <a:spcAft>
                <a:spcPts val="400"/>
              </a:spcAft>
            </a:pPr>
            <a:r>
              <a:rPr sz="950" b="0" i="0">
                <a:solidFill>
                  <a:srgbClr val="434343"/>
                </a:solidFill>
                <a:latin typeface="Inter"/>
              </a:rPr>
              <a:t>Developer membuka </a:t>
            </a:r>
            <a:r>
              <a:rPr sz="950" b="0" i="0">
                <a:solidFill>
                  <a:srgbClr val="B5482A"/>
                </a:solidFill>
                <a:latin typeface="Inconsolata"/>
              </a:rPr>
              <a:t>/health/live</a:t>
            </a:r>
            <a:r>
              <a:rPr sz="950" b="0" i="0">
                <a:solidFill>
                  <a:srgbClr val="434343"/>
                </a:solidFill>
                <a:latin typeface="Inter"/>
              </a:rPr>
              <a:t>, mendapat 200, lalu menganggap deploy berhasil. </a:t>
            </a:r>
            <a:r>
              <a:rPr sz="950" b="0" i="0">
                <a:solidFill>
                  <a:srgbClr val="B5482A"/>
                </a:solidFill>
                <a:latin typeface="Inconsolata"/>
              </a:rPr>
              <a:t>DATABASE_URL</a:t>
            </a:r>
            <a:r>
              <a:rPr sz="950" b="0" i="0">
                <a:solidFill>
                  <a:srgbClr val="434343"/>
                </a:solidFill>
                <a:latin typeface="Inter"/>
              </a:rPr>
              <a:t> ternyata lupa di-set.</a:t>
            </a:r>
          </a:p>
          <a:p>
            <a:pPr algn="l">
              <a:lnSpc>
                <a:spcPct val="115000"/>
              </a:lnSpc>
              <a:spcAft>
                <a:spcPts val="400"/>
              </a:spcAft>
            </a:pPr>
            <a:r>
              <a:rPr sz="1050" b="1" i="0">
                <a:solidFill>
                  <a:srgbClr val="1C4587"/>
                </a:solidFill>
                <a:latin typeface="Inter"/>
              </a:rPr>
              <a:t>Jika deploy makin sering</a:t>
            </a:r>
          </a:p>
          <a:p>
            <a:pPr algn="l">
              <a:lnSpc>
                <a:spcPct val="115000"/>
              </a:lnSpc>
              <a:spcAft>
                <a:spcPts val="400"/>
              </a:spcAft>
            </a:pPr>
            <a:r>
              <a:rPr sz="950" b="0" i="0">
                <a:solidFill>
                  <a:srgbClr val="434343"/>
                </a:solidFill>
                <a:latin typeface="Inter"/>
              </a:rPr>
              <a:t>Setiap deploy berpotensi membawa salah config yang tidak tertangkap pytest.</a:t>
            </a:r>
          </a:p>
          <a:p>
            <a:pPr algn="l">
              <a:lnSpc>
                <a:spcPct val="115000"/>
              </a:lnSpc>
              <a:spcAft>
                <a:spcPts val="400"/>
              </a:spcAft>
            </a:pPr>
            <a:r>
              <a:rPr sz="950" b="0" i="0">
                <a:solidFill>
                  <a:srgbClr val="434343"/>
                </a:solidFill>
                <a:latin typeface="Inter"/>
              </a:rPr>
              <a:t>Hal ini membuat customer yang pertama menemukan error, bukan tim.</a:t>
            </a:r>
          </a:p>
          <a:p>
            <a:pPr algn="l">
              <a:lnSpc>
                <a:spcPct val="115000"/>
              </a:lnSpc>
              <a:spcAft>
                <a:spcPts val="400"/>
              </a:spcAft>
            </a:pPr>
            <a:r>
              <a:rPr sz="1050" b="1" i="0">
                <a:solidFill>
                  <a:srgbClr val="1C4587"/>
                </a:solidFill>
                <a:latin typeface="Inter"/>
              </a:rPr>
              <a:t>Yang perlu diperhatikan</a:t>
            </a:r>
          </a:p>
          <a:p>
            <a:pPr algn="l">
              <a:lnSpc>
                <a:spcPct val="115000"/>
              </a:lnSpc>
              <a:spcAft>
                <a:spcPts val="400"/>
              </a:spcAft>
            </a:pPr>
            <a:r>
              <a:rPr sz="950" b="0" i="0">
                <a:solidFill>
                  <a:srgbClr val="434343"/>
                </a:solidFill>
                <a:latin typeface="Inter"/>
              </a:rPr>
              <a:t>Smoke test bukan pengganti pytest. pytest mengecek logika kode, smoke test mengecek hasil deploy.</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0058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53312">
                  <a:extLst>
                    <a:ext uri="{9D8B030D-6E8A-4147-A177-3AD203B41FA5}">
                      <a16:colId xmlns:a16="http://schemas.microsoft.com/office/drawing/2014/main" val="20002"/>
                    </a:ext>
                  </a:extLst>
                </a:gridCol>
              </a:tblGrid>
              <a:tr h="411480">
                <a:tc>
                  <a:txBody>
                    <a:bodyPr/>
                    <a:lstStyle/>
                    <a:p>
                      <a:pPr algn="l">
                        <a:lnSpc>
                          <a:spcPct val="100000"/>
                        </a:lnSpc>
                        <a:spcAft>
                          <a:spcPts val="0"/>
                        </a:spcAft>
                      </a:pPr>
                      <a:endParaRP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pytest</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Smoke test</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Kapan</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Sebelum build</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Setelah deploy</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Ke mana</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Kode (TestClient)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Server sungguhan</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Yang dicek</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Logika</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Config, koneksi</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Gagal =</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Tidak di-merge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Rollback</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Smoke Test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hanya cek /health/live</a:t>
            </a:r>
          </a:p>
        </p:txBody>
      </p:sp>
      <p:sp>
        <p:nvSpPr>
          <p:cNvPr id="22" name="CodeTab 4"/>
          <p:cNvSpPr/>
          <p:nvPr/>
        </p:nvSpPr>
        <p:spPr>
          <a:xfrm>
            <a:off x="621792" y="1481328"/>
            <a:ext cx="45079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86791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01-smoke-test/before.py</a:t>
            </a:r>
          </a:p>
        </p:txBody>
      </p:sp>
      <p:sp>
        <p:nvSpPr>
          <p:cNvPr id="27" name="CodeBg 10"/>
          <p:cNvSpPr/>
          <p:nvPr/>
        </p:nvSpPr>
        <p:spPr>
          <a:xfrm>
            <a:off x="621792" y="1719072"/>
            <a:ext cx="45079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07992" cy="2980944"/>
          </a:xfrm>
          <a:prstGeom prst="rect">
            <a:avLst/>
          </a:prstGeom>
          <a:noFill/>
        </p:spPr>
        <p:txBody>
          <a:bodyPr wrap="none" lIns="146304" tIns="91440" rIns="146304" bIns="54864">
            <a:spAutoFit/>
          </a:bodyPr>
          <a:lstStyle/>
          <a:p>
            <a:pPr>
              <a:lnSpc>
                <a:spcPct val="111111"/>
              </a:lnSpc>
              <a:spcAft>
                <a:spcPts val="0"/>
              </a:spcAft>
            </a:pPr>
            <a:r>
              <a:rPr sz="750" i="0">
                <a:solidFill>
                  <a:srgbClr val="5C6773"/>
                </a:solidFill>
                <a:latin typeface="Inconsolata"/>
              </a:rPr>
              <a:t> 9  </a:t>
            </a:r>
            <a:r>
              <a:rPr sz="750" i="0">
                <a:solidFill>
                  <a:srgbClr val="FF8E6E"/>
                </a:solidFill>
                <a:latin typeface="Inconsolata"/>
              </a:rPr>
              <a:t>from</a:t>
            </a:r>
            <a:r>
              <a:rPr sz="750" i="0">
                <a:solidFill>
                  <a:srgbClr val="E6EDF3"/>
                </a:solidFill>
                <a:latin typeface="Inconsolata"/>
              </a:rPr>
              <a:t> fastapi.testclient </a:t>
            </a:r>
            <a:r>
              <a:rPr sz="750" i="0">
                <a:solidFill>
                  <a:srgbClr val="FF8E6E"/>
                </a:solidFill>
                <a:latin typeface="Inconsolata"/>
              </a:rPr>
              <a:t>import</a:t>
            </a:r>
            <a:r>
              <a:rPr sz="750" i="0">
                <a:solidFill>
                  <a:srgbClr val="E6EDF3"/>
                </a:solidFill>
                <a:latin typeface="Inconsolata"/>
              </a:rPr>
              <a:t> </a:t>
            </a:r>
            <a:r>
              <a:rPr sz="750" i="0">
                <a:solidFill>
                  <a:srgbClr val="7FDBCA"/>
                </a:solidFill>
                <a:latin typeface="Inconsolata"/>
              </a:rPr>
              <a:t>TestClient</a:t>
            </a:r>
          </a:p>
          <a:p>
            <a:pPr>
              <a:lnSpc>
                <a:spcPct val="111111"/>
              </a:lnSpc>
              <a:spcAft>
                <a:spcPts val="0"/>
              </a:spcAft>
            </a:pPr>
            <a:r>
              <a:rPr sz="750" i="0">
                <a:solidFill>
                  <a:srgbClr val="5C6773"/>
                </a:solidFill>
                <a:latin typeface="Inconsolata"/>
              </a:rPr>
              <a:t>10  </a:t>
            </a:r>
            <a:r>
              <a:rPr sz="750" i="0">
                <a:solidFill>
                  <a:srgbClr val="E6EDF3"/>
                </a:solidFill>
                <a:latin typeface="Inconsolata"/>
              </a:rPr>
              <a:t> </a:t>
            </a:r>
          </a:p>
          <a:p>
            <a:pPr>
              <a:lnSpc>
                <a:spcPct val="111111"/>
              </a:lnSpc>
              <a:spcAft>
                <a:spcPts val="0"/>
              </a:spcAft>
            </a:pPr>
            <a:r>
              <a:rPr sz="750" i="0">
                <a:solidFill>
                  <a:srgbClr val="5C6773"/>
                </a:solidFill>
                <a:latin typeface="Inconsolata"/>
              </a:rPr>
              <a:t>11  </a:t>
            </a:r>
            <a:r>
              <a:rPr sz="750" i="0">
                <a:solidFill>
                  <a:srgbClr val="FF8E6E"/>
                </a:solidFill>
                <a:latin typeface="Inconsolata"/>
              </a:rPr>
              <a:t>from</a:t>
            </a:r>
            <a:r>
              <a:rPr sz="750" i="0">
                <a:solidFill>
                  <a:srgbClr val="E6EDF3"/>
                </a:solidFill>
                <a:latin typeface="Inconsolata"/>
              </a:rPr>
              <a:t> app </a:t>
            </a:r>
            <a:r>
              <a:rPr sz="750" i="0">
                <a:solidFill>
                  <a:srgbClr val="FF8E6E"/>
                </a:solidFill>
                <a:latin typeface="Inconsolata"/>
              </a:rPr>
              <a:t>import</a:t>
            </a:r>
            <a:r>
              <a:rPr sz="750" i="0">
                <a:solidFill>
                  <a:srgbClr val="E6EDF3"/>
                </a:solidFill>
                <a:latin typeface="Inconsolata"/>
              </a:rPr>
              <a:t> app</a:t>
            </a:r>
          </a:p>
          <a:p>
            <a:pPr>
              <a:lnSpc>
                <a:spcPct val="111111"/>
              </a:lnSpc>
              <a:spcAft>
                <a:spcPts val="0"/>
              </a:spcAft>
            </a:pPr>
            <a:r>
              <a:rPr sz="750" i="0">
                <a:solidFill>
                  <a:srgbClr val="5C6773"/>
                </a:solidFill>
                <a:latin typeface="Inconsolata"/>
              </a:rPr>
              <a:t>12  </a:t>
            </a:r>
            <a:r>
              <a:rPr sz="750" i="0">
                <a:solidFill>
                  <a:srgbClr val="E6EDF3"/>
                </a:solidFill>
                <a:latin typeface="Inconsolata"/>
              </a:rPr>
              <a:t> </a:t>
            </a:r>
          </a:p>
          <a:p>
            <a:pPr>
              <a:lnSpc>
                <a:spcPct val="111111"/>
              </a:lnSpc>
              <a:spcAft>
                <a:spcPts val="0"/>
              </a:spcAft>
            </a:pPr>
            <a:r>
              <a:rPr sz="750" i="0">
                <a:solidFill>
                  <a:srgbClr val="5C6773"/>
                </a:solidFill>
                <a:latin typeface="Inconsolata"/>
              </a:rPr>
              <a:t>13  </a:t>
            </a:r>
            <a:r>
              <a:rPr sz="750" i="0">
                <a:solidFill>
                  <a:srgbClr val="FF8E6E"/>
                </a:solidFill>
                <a:latin typeface="Inconsolata"/>
              </a:rPr>
              <a:t>if</a:t>
            </a:r>
            <a:r>
              <a:rPr sz="750" i="0">
                <a:solidFill>
                  <a:srgbClr val="E6EDF3"/>
                </a:solidFill>
                <a:latin typeface="Inconsolata"/>
              </a:rPr>
              <a:t> __name__ == </a:t>
            </a:r>
            <a:r>
              <a:rPr sz="750" i="0">
                <a:solidFill>
                  <a:srgbClr val="A5D6A7"/>
                </a:solidFill>
                <a:latin typeface="Inconsolata"/>
              </a:rPr>
              <a:t>"__main__"</a:t>
            </a:r>
            <a:r>
              <a:rPr sz="750" i="0">
                <a:solidFill>
                  <a:srgbClr val="E6EDF3"/>
                </a:solidFill>
                <a:latin typeface="Inconsolata"/>
              </a:rPr>
              <a:t>:</a:t>
            </a:r>
          </a:p>
          <a:p>
            <a:pPr>
              <a:lnSpc>
                <a:spcPct val="111111"/>
              </a:lnSpc>
              <a:spcAft>
                <a:spcPts val="0"/>
              </a:spcAft>
            </a:pPr>
            <a:r>
              <a:rPr sz="750" i="0">
                <a:solidFill>
                  <a:srgbClr val="5C6773"/>
                </a:solidFill>
                <a:latin typeface="Inconsolata"/>
              </a:rPr>
              <a:t>14  </a:t>
            </a:r>
            <a:r>
              <a:rPr sz="750" i="0">
                <a:solidFill>
                  <a:srgbClr val="E6EDF3"/>
                </a:solidFill>
                <a:latin typeface="Inconsolata"/>
              </a:rPr>
              <a:t>    </a:t>
            </a:r>
            <a:r>
              <a:rPr sz="750" i="1">
                <a:solidFill>
                  <a:srgbClr val="8B98A8"/>
                </a:solidFill>
                <a:latin typeface="Inconsolata"/>
              </a:rPr>
              <a:t># anggap: httpx.Client(base_url=BASE_URL)</a:t>
            </a:r>
          </a:p>
          <a:p>
            <a:pPr>
              <a:lnSpc>
                <a:spcPct val="111111"/>
              </a:lnSpc>
              <a:spcAft>
                <a:spcPts val="0"/>
              </a:spcAft>
            </a:pPr>
            <a:r>
              <a:rPr sz="750" i="0">
                <a:solidFill>
                  <a:srgbClr val="5C6773"/>
                </a:solidFill>
                <a:latin typeface="Inconsolata"/>
              </a:rPr>
              <a:t>15  </a:t>
            </a:r>
            <a:r>
              <a:rPr sz="750" i="0">
                <a:solidFill>
                  <a:srgbClr val="E6EDF3"/>
                </a:solidFill>
                <a:latin typeface="Inconsolata"/>
              </a:rPr>
              <a:t>    client = </a:t>
            </a:r>
            <a:r>
              <a:rPr sz="750" i="0">
                <a:solidFill>
                  <a:srgbClr val="7FDBCA"/>
                </a:solidFill>
                <a:latin typeface="Inconsolata"/>
              </a:rPr>
              <a:t>TestClient</a:t>
            </a:r>
            <a:r>
              <a:rPr sz="750" i="0">
                <a:solidFill>
                  <a:srgbClr val="E6EDF3"/>
                </a:solidFill>
                <a:latin typeface="Inconsolata"/>
              </a:rPr>
              <a:t>(app, raise_server_exceptions=</a:t>
            </a:r>
            <a:r>
              <a:rPr sz="750" i="0">
                <a:solidFill>
                  <a:srgbClr val="FF8E6E"/>
                </a:solidFill>
                <a:latin typeface="Inconsolata"/>
              </a:rPr>
              <a:t>False</a:t>
            </a:r>
            <a:r>
              <a:rPr sz="750" i="0">
                <a:solidFill>
                  <a:srgbClr val="E6EDF3"/>
                </a:solidFill>
                <a:latin typeface="Inconsolata"/>
              </a:rPr>
              <a:t>)</a:t>
            </a:r>
          </a:p>
          <a:p>
            <a:pPr>
              <a:lnSpc>
                <a:spcPct val="111111"/>
              </a:lnSpc>
              <a:spcAft>
                <a:spcPts val="0"/>
              </a:spcAft>
            </a:pPr>
            <a:r>
              <a:rPr sz="750" i="0">
                <a:solidFill>
                  <a:srgbClr val="5C6773"/>
                </a:solidFill>
                <a:latin typeface="Inconsolata"/>
              </a:rPr>
              <a:t>16  </a:t>
            </a:r>
            <a:r>
              <a:rPr sz="750" i="0">
                <a:solidFill>
                  <a:srgbClr val="E6EDF3"/>
                </a:solidFill>
                <a:latin typeface="Inconsolata"/>
              </a:rPr>
              <a:t>    response = client.get(</a:t>
            </a:r>
            <a:r>
              <a:rPr sz="750" i="0">
                <a:solidFill>
                  <a:srgbClr val="A5D6A7"/>
                </a:solidFill>
                <a:latin typeface="Inconsolata"/>
              </a:rPr>
              <a:t>"/health/live"</a:t>
            </a:r>
            <a:r>
              <a:rPr sz="750" i="0">
                <a:solidFill>
                  <a:srgbClr val="E6EDF3"/>
                </a:solidFill>
                <a:latin typeface="Inconsolata"/>
              </a:rPr>
              <a:t>)</a:t>
            </a:r>
          </a:p>
          <a:p>
            <a:pPr>
              <a:lnSpc>
                <a:spcPct val="111111"/>
              </a:lnSpc>
              <a:spcAft>
                <a:spcPts val="0"/>
              </a:spcAft>
            </a:pPr>
            <a:r>
              <a:rPr sz="750" i="0">
                <a:solidFill>
                  <a:srgbClr val="5C6773"/>
                </a:solidFill>
                <a:latin typeface="Inconsolata"/>
              </a:rPr>
              <a:t>17  </a:t>
            </a:r>
            <a:r>
              <a:rPr sz="750" i="0">
                <a:solidFill>
                  <a:srgbClr val="E6EDF3"/>
                </a:solidFill>
                <a:latin typeface="Inconsolata"/>
              </a:rPr>
              <a:t>    </a:t>
            </a:r>
            <a:r>
              <a:rPr sz="750" i="0">
                <a:solidFill>
                  <a:srgbClr val="C3A6FF"/>
                </a:solidFill>
                <a:latin typeface="Inconsolata"/>
              </a:rPr>
              <a:t>print</a:t>
            </a:r>
            <a:r>
              <a:rPr sz="750" i="0">
                <a:solidFill>
                  <a:srgbClr val="E6EDF3"/>
                </a:solidFill>
                <a:latin typeface="Inconsolata"/>
              </a:rPr>
              <a:t>(</a:t>
            </a:r>
            <a:r>
              <a:rPr sz="750" i="0">
                <a:solidFill>
                  <a:srgbClr val="A5D6A7"/>
                </a:solidFill>
                <a:latin typeface="Inconsolata"/>
              </a:rPr>
              <a:t>f"GET /health/live -&gt; {response.status_code}"</a:t>
            </a:r>
            <a:r>
              <a:rPr sz="750" i="0">
                <a:solidFill>
                  <a:srgbClr val="E6EDF3"/>
                </a:solidFill>
                <a:latin typeface="Inconsolata"/>
              </a:rPr>
              <a:t>)</a:t>
            </a:r>
          </a:p>
          <a:p>
            <a:pPr>
              <a:lnSpc>
                <a:spcPct val="111111"/>
              </a:lnSpc>
              <a:spcAft>
                <a:spcPts val="0"/>
              </a:spcAft>
            </a:pPr>
            <a:r>
              <a:rPr sz="750" i="0">
                <a:solidFill>
                  <a:srgbClr val="5C6773"/>
                </a:solidFill>
                <a:latin typeface="Inconsolata"/>
              </a:rPr>
              <a:t>18  </a:t>
            </a:r>
            <a:r>
              <a:rPr sz="750" i="0">
                <a:solidFill>
                  <a:srgbClr val="E6EDF3"/>
                </a:solidFill>
                <a:latin typeface="Inconsolata"/>
              </a:rPr>
              <a:t>    </a:t>
            </a:r>
            <a:r>
              <a:rPr sz="750" i="0">
                <a:solidFill>
                  <a:srgbClr val="C3A6FF"/>
                </a:solidFill>
                <a:latin typeface="Inconsolata"/>
              </a:rPr>
              <a:t>print</a:t>
            </a:r>
            <a:r>
              <a:rPr sz="750" i="0">
                <a:solidFill>
                  <a:srgbClr val="E6EDF3"/>
                </a:solidFill>
                <a:latin typeface="Inconsolata"/>
              </a:rPr>
              <a:t>(</a:t>
            </a:r>
            <a:r>
              <a:rPr sz="750" i="0">
                <a:solidFill>
                  <a:srgbClr val="A5D6A7"/>
                </a:solidFill>
                <a:latin typeface="Inconsolata"/>
              </a:rPr>
              <a:t>"Deploy berhasil"</a:t>
            </a:r>
            <a:r>
              <a:rPr sz="750" i="0">
                <a:solidFill>
                  <a:srgbClr val="E6EDF3"/>
                </a:solidFill>
                <a:latin typeface="Inconsolata"/>
              </a:rPr>
              <a:t> </a:t>
            </a:r>
            <a:r>
              <a:rPr sz="750" i="0">
                <a:solidFill>
                  <a:srgbClr val="FF8E6E"/>
                </a:solidFill>
                <a:latin typeface="Inconsolata"/>
              </a:rPr>
              <a:t>if</a:t>
            </a:r>
            <a:r>
              <a:rPr sz="750" i="0">
                <a:solidFill>
                  <a:srgbClr val="E6EDF3"/>
                </a:solidFill>
                <a:latin typeface="Inconsolata"/>
              </a:rPr>
              <a:t> response.status_code == </a:t>
            </a:r>
            <a:r>
              <a:rPr sz="750" i="0">
                <a:solidFill>
                  <a:srgbClr val="F9C97A"/>
                </a:solidFill>
                <a:latin typeface="Inconsolata"/>
              </a:rPr>
              <a:t>200</a:t>
            </a:r>
            <a:r>
              <a:rPr sz="750" i="0">
                <a:solidFill>
                  <a:srgbClr val="E6EDF3"/>
                </a:solidFill>
                <a:latin typeface="Inconsolata"/>
              </a:rPr>
              <a:t> </a:t>
            </a:r>
            <a:r>
              <a:rPr sz="750" i="0">
                <a:solidFill>
                  <a:srgbClr val="FF8E6E"/>
                </a:solidFill>
                <a:latin typeface="Inconsolata"/>
              </a:rPr>
              <a:t>else</a:t>
            </a:r>
            <a:r>
              <a:rPr sz="750" i="0">
                <a:solidFill>
                  <a:srgbClr val="E6EDF3"/>
                </a:solidFill>
                <a:latin typeface="Inconsolata"/>
              </a:rPr>
              <a:t> </a:t>
            </a:r>
            <a:r>
              <a:rPr sz="750" i="0">
                <a:solidFill>
                  <a:srgbClr val="A5D6A7"/>
                </a:solidFill>
                <a:latin typeface="Inconsolata"/>
              </a:rPr>
              <a:t>"Deploy gagal"</a:t>
            </a:r>
            <a:r>
              <a:rPr sz="750" i="0">
                <a:solidFill>
                  <a:srgbClr val="E6EDF3"/>
                </a:solidFill>
                <a:latin typeface="Inconsolata"/>
              </a:rPr>
              <a:t>)</a:t>
            </a:r>
          </a:p>
        </p:txBody>
      </p:sp>
      <p:sp>
        <p:nvSpPr>
          <p:cNvPr id="29" name="Box 12"/>
          <p:cNvSpPr/>
          <p:nvPr/>
        </p:nvSpPr>
        <p:spPr>
          <a:xfrm>
            <a:off x="704088" y="2716022"/>
            <a:ext cx="4343400"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28616" y="2656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970022"/>
            <a:ext cx="4343400"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4928616" y="29108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CodeTab 17"/>
          <p:cNvSpPr/>
          <p:nvPr/>
        </p:nvSpPr>
        <p:spPr>
          <a:xfrm>
            <a:off x="5285231" y="1481328"/>
            <a:ext cx="3200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Dot 18"/>
          <p:cNvSpPr/>
          <p:nvPr/>
        </p:nvSpPr>
        <p:spPr>
          <a:xfrm>
            <a:off x="5394959"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553212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ot 20"/>
          <p:cNvSpPr/>
          <p:nvPr/>
        </p:nvSpPr>
        <p:spPr>
          <a:xfrm>
            <a:off x="5669279"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21"/>
          <p:cNvSpPr txBox="1"/>
          <p:nvPr/>
        </p:nvSpPr>
        <p:spPr>
          <a:xfrm>
            <a:off x="5833871" y="1490472"/>
            <a:ext cx="2560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38" name="CodeBg 23"/>
          <p:cNvSpPr/>
          <p:nvPr/>
        </p:nvSpPr>
        <p:spPr>
          <a:xfrm>
            <a:off x="5285231" y="1719072"/>
            <a:ext cx="3200400"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Code 24"/>
          <p:cNvSpPr txBox="1"/>
          <p:nvPr/>
        </p:nvSpPr>
        <p:spPr>
          <a:xfrm>
            <a:off x="5285231" y="1719072"/>
            <a:ext cx="3200400" cy="457200"/>
          </a:xfrm>
          <a:prstGeom prst="rect">
            <a:avLst/>
          </a:prstGeom>
          <a:noFill/>
        </p:spPr>
        <p:txBody>
          <a:bodyPr wrap="none" lIns="146304" tIns="91440" rIns="146304" bIns="54864">
            <a:spAutoFit/>
          </a:bodyPr>
          <a:lstStyle/>
          <a:p>
            <a:pPr>
              <a:lnSpc>
                <a:spcPct val="104167"/>
              </a:lnSpc>
              <a:spcAft>
                <a:spcPts val="0"/>
              </a:spcAft>
            </a:pPr>
            <a:r>
              <a:rPr sz="800" i="0">
                <a:solidFill>
                  <a:srgbClr val="82B1FF"/>
                </a:solidFill>
                <a:latin typeface="Inconsolata"/>
              </a:rPr>
              <a:t>$ cd sesi-12-final-project/01-smoke-test</a:t>
            </a:r>
          </a:p>
          <a:p>
            <a:pPr>
              <a:lnSpc>
                <a:spcPct val="104167"/>
              </a:lnSpc>
              <a:spcAft>
                <a:spcPts val="0"/>
              </a:spcAft>
            </a:pPr>
            <a:r>
              <a:rPr sz="800" i="0">
                <a:solidFill>
                  <a:srgbClr val="82B1FF"/>
                </a:solidFill>
                <a:latin typeface="Inconsolata"/>
              </a:rPr>
              <a:t>$ python before.py</a:t>
            </a:r>
          </a:p>
        </p:txBody>
      </p:sp>
      <p:pic>
        <p:nvPicPr>
          <p:cNvPr id="40" name="Image 25" descr="s12-01-smoke-test-before.png"/>
          <p:cNvPicPr>
            <a:picLocks noChangeAspect="1"/>
          </p:cNvPicPr>
          <p:nvPr/>
        </p:nvPicPr>
        <p:blipFill>
          <a:blip r:embed="rId2"/>
          <a:stretch>
            <a:fillRect/>
          </a:stretch>
        </p:blipFill>
        <p:spPr>
          <a:xfrm>
            <a:off x="5285231" y="2249424"/>
            <a:ext cx="3200400" cy="711200"/>
          </a:xfrm>
          <a:prstGeom prst="rect">
            <a:avLst/>
          </a:prstGeom>
        </p:spPr>
      </p:pic>
      <p:sp>
        <p:nvSpPr>
          <p:cNvPr id="41" name="Box 26"/>
          <p:cNvSpPr/>
          <p:nvPr/>
        </p:nvSpPr>
        <p:spPr>
          <a:xfrm>
            <a:off x="5285231" y="3052064"/>
            <a:ext cx="3200400" cy="1647952"/>
          </a:xfrm>
          <a:prstGeom prst="roundRect">
            <a:avLst>
              <a:gd name="adj" fmla="val 6658"/>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2" name="Text 27"/>
          <p:cNvSpPr txBox="1"/>
          <p:nvPr/>
        </p:nvSpPr>
        <p:spPr>
          <a:xfrm>
            <a:off x="5422392" y="3143504"/>
            <a:ext cx="2926080" cy="310896"/>
          </a:xfrm>
          <a:prstGeom prst="rect">
            <a:avLst/>
          </a:prstGeom>
          <a:noFill/>
        </p:spPr>
        <p:txBody>
          <a:bodyPr wrap="square" lIns="45720" rIns="45720" anchor="t">
            <a:spAutoFit/>
          </a:bodyPr>
          <a:lstStyle/>
          <a:p>
            <a:pPr algn="l">
              <a:lnSpc>
                <a:spcPct val="115000"/>
              </a:lnSpc>
              <a:spcAft>
                <a:spcPts val="400"/>
              </a:spcAft>
            </a:pPr>
            <a:r>
              <a:rPr sz="1000" b="1" i="0">
                <a:solidFill>
                  <a:srgbClr val="C0392B"/>
                </a:solidFill>
                <a:latin typeface="Inter"/>
              </a:rPr>
              <a:t>Masalahnya</a:t>
            </a:r>
          </a:p>
        </p:txBody>
      </p:sp>
      <p:sp>
        <p:nvSpPr>
          <p:cNvPr id="43" name="Text 28"/>
          <p:cNvSpPr txBox="1"/>
          <p:nvPr/>
        </p:nvSpPr>
        <p:spPr>
          <a:xfrm>
            <a:off x="5422392" y="3463544"/>
            <a:ext cx="2926080" cy="1145032"/>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Hanya proses yang dicek (baris 16)</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Status 200 dianggap deploy berhasil (baris 18)</a:t>
            </a:r>
          </a:p>
          <a:p>
            <a:pPr algn="l">
              <a:lnSpc>
                <a:spcPct val="115000"/>
              </a:lnSpc>
              <a:spcAft>
                <a:spcPts val="0"/>
              </a:spcAft>
            </a:pPr>
            <a:endParaRPr sz="850" b="0" i="0">
              <a:solidFill>
                <a:srgbClr val="434343"/>
              </a:solidFill>
              <a:latin typeface="Inter"/>
            </a:endParaRPr>
          </a:p>
          <a:p>
            <a:pPr algn="l">
              <a:lnSpc>
                <a:spcPct val="115000"/>
              </a:lnSpc>
              <a:spcAft>
                <a:spcPts val="400"/>
              </a:spcAft>
            </a:pPr>
            <a:r>
              <a:rPr sz="850" b="0" i="0">
                <a:solidFill>
                  <a:srgbClr val="434343"/>
                </a:solidFill>
                <a:latin typeface="Inter"/>
              </a:rPr>
              <a:t>"Deploy berhasil", padahal login error 500 karena </a:t>
            </a:r>
            <a:r>
              <a:rPr sz="850" b="0" i="0">
                <a:solidFill>
                  <a:srgbClr val="B5482A"/>
                </a:solidFill>
                <a:latin typeface="Inconsolata"/>
              </a:rPr>
              <a:t>DATABASE_URL</a:t>
            </a:r>
            <a:r>
              <a:rPr sz="850" b="0" i="0">
                <a:solidFill>
                  <a:srgbClr val="434343"/>
                </a:solidFill>
                <a:latin typeface="Inter"/>
              </a:rPr>
              <a:t> belum di-set.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Smoke Test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alur utama dan exit code</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01-smoke-test/after.py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8035"/>
              </a:lnSpc>
              <a:spcAft>
                <a:spcPts val="0"/>
              </a:spcAft>
            </a:pPr>
            <a:r>
              <a:rPr sz="771" i="0">
                <a:solidFill>
                  <a:srgbClr val="5C6773"/>
                </a:solidFill>
                <a:latin typeface="Inconsolata"/>
              </a:rPr>
              <a:t>11  </a:t>
            </a:r>
            <a:r>
              <a:rPr sz="771" i="0">
                <a:solidFill>
                  <a:srgbClr val="FF8E6E"/>
                </a:solidFill>
                <a:latin typeface="Inconsolata"/>
              </a:rPr>
              <a:t>import</a:t>
            </a:r>
            <a:r>
              <a:rPr sz="771" i="0">
                <a:solidFill>
                  <a:srgbClr val="E6EDF3"/>
                </a:solidFill>
                <a:latin typeface="Inconsolata"/>
              </a:rPr>
              <a:t> sys</a:t>
            </a:r>
          </a:p>
          <a:p>
            <a:pPr>
              <a:lnSpc>
                <a:spcPct val="108035"/>
              </a:lnSpc>
              <a:spcAft>
                <a:spcPts val="0"/>
              </a:spcAft>
            </a:pPr>
            <a:r>
              <a:rPr sz="771" i="0">
                <a:solidFill>
                  <a:srgbClr val="5C6773"/>
                </a:solidFill>
                <a:latin typeface="Inconsolata"/>
              </a:rPr>
              <a:t>12  </a:t>
            </a:r>
            <a:r>
              <a:rPr sz="771" i="0">
                <a:solidFill>
                  <a:srgbClr val="E6EDF3"/>
                </a:solidFill>
                <a:latin typeface="Inconsolata"/>
              </a:rPr>
              <a:t> </a:t>
            </a:r>
          </a:p>
          <a:p>
            <a:pPr>
              <a:lnSpc>
                <a:spcPct val="108035"/>
              </a:lnSpc>
              <a:spcAft>
                <a:spcPts val="0"/>
              </a:spcAft>
            </a:pPr>
            <a:r>
              <a:rPr sz="771" i="0">
                <a:solidFill>
                  <a:srgbClr val="5C6773"/>
                </a:solidFill>
                <a:latin typeface="Inconsolata"/>
              </a:rPr>
              <a:t>13  </a:t>
            </a:r>
            <a:r>
              <a:rPr sz="771" i="0">
                <a:solidFill>
                  <a:srgbClr val="FF8E6E"/>
                </a:solidFill>
                <a:latin typeface="Inconsolata"/>
              </a:rPr>
              <a:t>from</a:t>
            </a:r>
            <a:r>
              <a:rPr sz="771" i="0">
                <a:solidFill>
                  <a:srgbClr val="E6EDF3"/>
                </a:solidFill>
                <a:latin typeface="Inconsolata"/>
              </a:rPr>
              <a:t> fastapi.testclient </a:t>
            </a:r>
            <a:r>
              <a:rPr sz="771" i="0">
                <a:solidFill>
                  <a:srgbClr val="FF8E6E"/>
                </a:solidFill>
                <a:latin typeface="Inconsolata"/>
              </a:rPr>
              <a:t>import</a:t>
            </a:r>
            <a:r>
              <a:rPr sz="771" i="0">
                <a:solidFill>
                  <a:srgbClr val="E6EDF3"/>
                </a:solidFill>
                <a:latin typeface="Inconsolata"/>
              </a:rPr>
              <a:t> </a:t>
            </a:r>
            <a:r>
              <a:rPr sz="771" i="0">
                <a:solidFill>
                  <a:srgbClr val="7FDBCA"/>
                </a:solidFill>
                <a:latin typeface="Inconsolata"/>
              </a:rPr>
              <a:t>TestClient</a:t>
            </a:r>
          </a:p>
          <a:p>
            <a:pPr>
              <a:lnSpc>
                <a:spcPct val="108035"/>
              </a:lnSpc>
              <a:spcAft>
                <a:spcPts val="0"/>
              </a:spcAft>
            </a:pPr>
            <a:r>
              <a:rPr sz="771" i="0">
                <a:solidFill>
                  <a:srgbClr val="5C6773"/>
                </a:solidFill>
                <a:latin typeface="Inconsolata"/>
              </a:rPr>
              <a:t>14  </a:t>
            </a:r>
            <a:r>
              <a:rPr sz="771" i="0">
                <a:solidFill>
                  <a:srgbClr val="E6EDF3"/>
                </a:solidFill>
                <a:latin typeface="Inconsolata"/>
              </a:rPr>
              <a:t> </a:t>
            </a:r>
          </a:p>
          <a:p>
            <a:pPr>
              <a:lnSpc>
                <a:spcPct val="108035"/>
              </a:lnSpc>
              <a:spcAft>
                <a:spcPts val="0"/>
              </a:spcAft>
            </a:pPr>
            <a:r>
              <a:rPr sz="771" i="0">
                <a:solidFill>
                  <a:srgbClr val="5C6773"/>
                </a:solidFill>
                <a:latin typeface="Inconsolata"/>
              </a:rPr>
              <a:t>15  </a:t>
            </a:r>
            <a:r>
              <a:rPr sz="771" i="0">
                <a:solidFill>
                  <a:srgbClr val="FF8E6E"/>
                </a:solidFill>
                <a:latin typeface="Inconsolata"/>
              </a:rPr>
              <a:t>from</a:t>
            </a:r>
            <a:r>
              <a:rPr sz="771" i="0">
                <a:solidFill>
                  <a:srgbClr val="E6EDF3"/>
                </a:solidFill>
                <a:latin typeface="Inconsolata"/>
              </a:rPr>
              <a:t> app </a:t>
            </a:r>
            <a:r>
              <a:rPr sz="771" i="0">
                <a:solidFill>
                  <a:srgbClr val="FF8E6E"/>
                </a:solidFill>
                <a:latin typeface="Inconsolata"/>
              </a:rPr>
              <a:t>import</a:t>
            </a:r>
            <a:r>
              <a:rPr sz="771" i="0">
                <a:solidFill>
                  <a:srgbClr val="E6EDF3"/>
                </a:solidFill>
                <a:latin typeface="Inconsolata"/>
              </a:rPr>
              <a:t> app</a:t>
            </a:r>
          </a:p>
          <a:p>
            <a:pPr>
              <a:lnSpc>
                <a:spcPct val="108035"/>
              </a:lnSpc>
              <a:spcAft>
                <a:spcPts val="0"/>
              </a:spcAft>
            </a:pPr>
            <a:r>
              <a:rPr sz="771" i="0">
                <a:solidFill>
                  <a:srgbClr val="5C6773"/>
                </a:solidFill>
                <a:latin typeface="Inconsolata"/>
              </a:rPr>
              <a:t>16  </a:t>
            </a:r>
            <a:r>
              <a:rPr sz="771" i="0">
                <a:solidFill>
                  <a:srgbClr val="E6EDF3"/>
                </a:solidFill>
                <a:latin typeface="Inconsolata"/>
              </a:rPr>
              <a:t> </a:t>
            </a:r>
          </a:p>
          <a:p>
            <a:pPr>
              <a:lnSpc>
                <a:spcPct val="108035"/>
              </a:lnSpc>
              <a:spcAft>
                <a:spcPts val="0"/>
              </a:spcAft>
            </a:pPr>
            <a:r>
              <a:rPr sz="771" i="0">
                <a:solidFill>
                  <a:srgbClr val="5C6773"/>
                </a:solidFill>
                <a:latin typeface="Inconsolata"/>
              </a:rPr>
              <a:t>17  </a:t>
            </a:r>
            <a:r>
              <a:rPr sz="771" i="1">
                <a:solidFill>
                  <a:srgbClr val="8B98A8"/>
                </a:solidFill>
                <a:latin typeface="Inconsolata"/>
              </a:rPr>
              <a:t># anggap: httpx.Client(base_url=BASE_URL)</a:t>
            </a:r>
          </a:p>
          <a:p>
            <a:pPr>
              <a:lnSpc>
                <a:spcPct val="108035"/>
              </a:lnSpc>
              <a:spcAft>
                <a:spcPts val="0"/>
              </a:spcAft>
            </a:pPr>
            <a:r>
              <a:rPr sz="771" i="0">
                <a:solidFill>
                  <a:srgbClr val="5C6773"/>
                </a:solidFill>
                <a:latin typeface="Inconsolata"/>
              </a:rPr>
              <a:t>18  </a:t>
            </a:r>
            <a:r>
              <a:rPr sz="771" i="0">
                <a:solidFill>
                  <a:srgbClr val="E6EDF3"/>
                </a:solidFill>
                <a:latin typeface="Inconsolata"/>
              </a:rPr>
              <a:t>client = </a:t>
            </a:r>
            <a:r>
              <a:rPr sz="771" i="0">
                <a:solidFill>
                  <a:srgbClr val="7FDBCA"/>
                </a:solidFill>
                <a:latin typeface="Inconsolata"/>
              </a:rPr>
              <a:t>TestClient</a:t>
            </a:r>
            <a:r>
              <a:rPr sz="771" i="0">
                <a:solidFill>
                  <a:srgbClr val="E6EDF3"/>
                </a:solidFill>
                <a:latin typeface="Inconsolata"/>
              </a:rPr>
              <a:t>(app, raise_server_exceptions=</a:t>
            </a:r>
            <a:r>
              <a:rPr sz="771" i="0">
                <a:solidFill>
                  <a:srgbClr val="FF8E6E"/>
                </a:solidFill>
                <a:latin typeface="Inconsolata"/>
              </a:rPr>
              <a:t>False</a:t>
            </a:r>
            <a:r>
              <a:rPr sz="771" i="0">
                <a:solidFill>
                  <a:srgbClr val="E6EDF3"/>
                </a:solidFill>
                <a:latin typeface="Inconsolata"/>
              </a:rPr>
              <a:t>)</a:t>
            </a:r>
          </a:p>
          <a:p>
            <a:pPr>
              <a:lnSpc>
                <a:spcPct val="108035"/>
              </a:lnSpc>
              <a:spcAft>
                <a:spcPts val="0"/>
              </a:spcAft>
            </a:pPr>
            <a:r>
              <a:rPr sz="771" i="0">
                <a:solidFill>
                  <a:srgbClr val="5C6773"/>
                </a:solidFill>
                <a:latin typeface="Inconsolata"/>
              </a:rPr>
              <a:t>19  </a:t>
            </a:r>
            <a:r>
              <a:rPr sz="771" i="0">
                <a:solidFill>
                  <a:srgbClr val="7FDBCA"/>
                </a:solidFill>
                <a:latin typeface="Inconsolata"/>
              </a:rPr>
              <a:t>LOGIN</a:t>
            </a:r>
            <a:r>
              <a:rPr sz="771" i="0">
                <a:solidFill>
                  <a:srgbClr val="E6EDF3"/>
                </a:solidFill>
                <a:latin typeface="Inconsolata"/>
              </a:rPr>
              <a:t> = {</a:t>
            </a:r>
            <a:r>
              <a:rPr sz="771" i="0">
                <a:solidFill>
                  <a:srgbClr val="A5D6A7"/>
                </a:solidFill>
                <a:latin typeface="Inconsolata"/>
              </a:rPr>
              <a:t>"username"</a:t>
            </a:r>
            <a:r>
              <a:rPr sz="771" i="0">
                <a:solidFill>
                  <a:srgbClr val="E6EDF3"/>
                </a:solidFill>
                <a:latin typeface="Inconsolata"/>
              </a:rPr>
              <a:t>: </a:t>
            </a:r>
            <a:r>
              <a:rPr sz="771" i="0">
                <a:solidFill>
                  <a:srgbClr val="A5D6A7"/>
                </a:solidFill>
                <a:latin typeface="Inconsolata"/>
              </a:rPr>
              <a:t>"budi@mail.com"</a:t>
            </a:r>
            <a:r>
              <a:rPr sz="771" i="0">
                <a:solidFill>
                  <a:srgbClr val="E6EDF3"/>
                </a:solidFill>
                <a:latin typeface="Inconsolata"/>
              </a:rPr>
              <a:t>, </a:t>
            </a:r>
            <a:r>
              <a:rPr sz="771" i="0">
                <a:solidFill>
                  <a:srgbClr val="A5D6A7"/>
                </a:solidFill>
                <a:latin typeface="Inconsolata"/>
              </a:rPr>
              <a:t>"password"</a:t>
            </a:r>
            <a:r>
              <a:rPr sz="771" i="0">
                <a:solidFill>
                  <a:srgbClr val="E6EDF3"/>
                </a:solidFill>
                <a:latin typeface="Inconsolata"/>
              </a:rPr>
              <a:t>: </a:t>
            </a:r>
            <a:r>
              <a:rPr sz="771" i="0">
                <a:solidFill>
                  <a:srgbClr val="A5D6A7"/>
                </a:solidFill>
                <a:latin typeface="Inconsolata"/>
              </a:rPr>
              <a:t>"rahasia123"</a:t>
            </a:r>
            <a:r>
              <a:rPr sz="771" i="0">
                <a:solidFill>
                  <a:srgbClr val="E6EDF3"/>
                </a:solidFill>
                <a:latin typeface="Inconsolata"/>
              </a:rPr>
              <a:t>}</a:t>
            </a:r>
          </a:p>
          <a:p>
            <a:pPr>
              <a:lnSpc>
                <a:spcPct val="108035"/>
              </a:lnSpc>
              <a:spcAft>
                <a:spcPts val="0"/>
              </a:spcAft>
            </a:pPr>
            <a:r>
              <a:rPr sz="771" i="0">
                <a:solidFill>
                  <a:srgbClr val="5C6773"/>
                </a:solidFill>
                <a:latin typeface="Inconsolata"/>
              </a:rPr>
              <a:t>20  </a:t>
            </a:r>
            <a:r>
              <a:rPr sz="771" i="0">
                <a:solidFill>
                  <a:srgbClr val="E6EDF3"/>
                </a:solidFill>
                <a:latin typeface="Inconsolata"/>
              </a:rPr>
              <a:t> </a:t>
            </a:r>
          </a:p>
          <a:p>
            <a:pPr>
              <a:lnSpc>
                <a:spcPct val="108035"/>
              </a:lnSpc>
              <a:spcAft>
                <a:spcPts val="0"/>
              </a:spcAft>
            </a:pPr>
            <a:r>
              <a:rPr sz="771" i="0">
                <a:solidFill>
                  <a:srgbClr val="5C6773"/>
                </a:solidFill>
                <a:latin typeface="Inconsolata"/>
              </a:rPr>
              <a:t>21  </a:t>
            </a:r>
            <a:r>
              <a:rPr sz="771" i="0">
                <a:solidFill>
                  <a:srgbClr val="7FDBCA"/>
                </a:solidFill>
                <a:latin typeface="Inconsolata"/>
              </a:rPr>
              <a:t>CHECKS</a:t>
            </a:r>
            <a:r>
              <a:rPr sz="771" i="0">
                <a:solidFill>
                  <a:srgbClr val="E6EDF3"/>
                </a:solidFill>
                <a:latin typeface="Inconsolata"/>
              </a:rPr>
              <a:t> = [</a:t>
            </a:r>
          </a:p>
          <a:p>
            <a:pPr>
              <a:lnSpc>
                <a:spcPct val="108035"/>
              </a:lnSpc>
              <a:spcAft>
                <a:spcPts val="0"/>
              </a:spcAft>
            </a:pPr>
            <a:r>
              <a:rPr sz="771" i="0">
                <a:solidFill>
                  <a:srgbClr val="5C6773"/>
                </a:solidFill>
                <a:latin typeface="Inconsolata"/>
              </a:rPr>
              <a:t>22  </a:t>
            </a:r>
            <a:r>
              <a:rPr sz="771" i="0">
                <a:solidFill>
                  <a:srgbClr val="E6EDF3"/>
                </a:solidFill>
                <a:latin typeface="Inconsolata"/>
              </a:rPr>
              <a:t>    (</a:t>
            </a:r>
            <a:r>
              <a:rPr sz="771" i="0">
                <a:solidFill>
                  <a:srgbClr val="A5D6A7"/>
                </a:solidFill>
                <a:latin typeface="Inconsolata"/>
              </a:rPr>
              <a:t>"proses berjalan"</a:t>
            </a:r>
            <a:r>
              <a:rPr sz="771" i="0">
                <a:solidFill>
                  <a:srgbClr val="E6EDF3"/>
                </a:solidFill>
                <a:latin typeface="Inconsolata"/>
              </a:rPr>
              <a:t>, </a:t>
            </a:r>
            <a:r>
              <a:rPr sz="771" i="0">
                <a:solidFill>
                  <a:srgbClr val="A5D6A7"/>
                </a:solidFill>
                <a:latin typeface="Inconsolata"/>
              </a:rPr>
              <a:t>"GET"</a:t>
            </a:r>
            <a:r>
              <a:rPr sz="771" i="0">
                <a:solidFill>
                  <a:srgbClr val="E6EDF3"/>
                </a:solidFill>
                <a:latin typeface="Inconsolata"/>
              </a:rPr>
              <a:t>, </a:t>
            </a:r>
            <a:r>
              <a:rPr sz="771" i="0">
                <a:solidFill>
                  <a:srgbClr val="A5D6A7"/>
                </a:solidFill>
                <a:latin typeface="Inconsolata"/>
              </a:rPr>
              <a:t>"/health/live"</a:t>
            </a:r>
            <a:r>
              <a:rPr sz="771" i="0">
                <a:solidFill>
                  <a:srgbClr val="E6EDF3"/>
                </a:solidFill>
                <a:latin typeface="Inconsolata"/>
              </a:rPr>
              <a:t>, {}),</a:t>
            </a:r>
          </a:p>
          <a:p>
            <a:pPr>
              <a:lnSpc>
                <a:spcPct val="108035"/>
              </a:lnSpc>
              <a:spcAft>
                <a:spcPts val="0"/>
              </a:spcAft>
            </a:pPr>
            <a:r>
              <a:rPr sz="771" i="0">
                <a:solidFill>
                  <a:srgbClr val="5C6773"/>
                </a:solidFill>
                <a:latin typeface="Inconsolata"/>
              </a:rPr>
              <a:t>23  </a:t>
            </a:r>
            <a:r>
              <a:rPr sz="771" i="0">
                <a:solidFill>
                  <a:srgbClr val="E6EDF3"/>
                </a:solidFill>
                <a:latin typeface="Inconsolata"/>
              </a:rPr>
              <a:t>    (</a:t>
            </a:r>
            <a:r>
              <a:rPr sz="771" i="0">
                <a:solidFill>
                  <a:srgbClr val="A5D6A7"/>
                </a:solidFill>
                <a:latin typeface="Inconsolata"/>
              </a:rPr>
              <a:t>"dependency siap"</a:t>
            </a:r>
            <a:r>
              <a:rPr sz="771" i="0">
                <a:solidFill>
                  <a:srgbClr val="E6EDF3"/>
                </a:solidFill>
                <a:latin typeface="Inconsolata"/>
              </a:rPr>
              <a:t>, </a:t>
            </a:r>
            <a:r>
              <a:rPr sz="771" i="0">
                <a:solidFill>
                  <a:srgbClr val="A5D6A7"/>
                </a:solidFill>
                <a:latin typeface="Inconsolata"/>
              </a:rPr>
              <a:t>"GET"</a:t>
            </a:r>
            <a:r>
              <a:rPr sz="771" i="0">
                <a:solidFill>
                  <a:srgbClr val="E6EDF3"/>
                </a:solidFill>
                <a:latin typeface="Inconsolata"/>
              </a:rPr>
              <a:t>, </a:t>
            </a:r>
            <a:r>
              <a:rPr sz="771" i="0">
                <a:solidFill>
                  <a:srgbClr val="A5D6A7"/>
                </a:solidFill>
                <a:latin typeface="Inconsolata"/>
              </a:rPr>
              <a:t>"/health/ready"</a:t>
            </a:r>
            <a:r>
              <a:rPr sz="771" i="0">
                <a:solidFill>
                  <a:srgbClr val="E6EDF3"/>
                </a:solidFill>
                <a:latin typeface="Inconsolata"/>
              </a:rPr>
              <a:t>, {}),</a:t>
            </a:r>
          </a:p>
          <a:p>
            <a:pPr>
              <a:lnSpc>
                <a:spcPct val="108035"/>
              </a:lnSpc>
              <a:spcAft>
                <a:spcPts val="0"/>
              </a:spcAft>
            </a:pPr>
            <a:r>
              <a:rPr sz="771" i="0">
                <a:solidFill>
                  <a:srgbClr val="5C6773"/>
                </a:solidFill>
                <a:latin typeface="Inconsolata"/>
              </a:rPr>
              <a:t>24  </a:t>
            </a:r>
            <a:r>
              <a:rPr sz="771" i="0">
                <a:solidFill>
                  <a:srgbClr val="E6EDF3"/>
                </a:solidFill>
                <a:latin typeface="Inconsolata"/>
              </a:rPr>
              <a:t>    (</a:t>
            </a:r>
            <a:r>
              <a:rPr sz="771" i="0">
                <a:solidFill>
                  <a:srgbClr val="A5D6A7"/>
                </a:solidFill>
                <a:latin typeface="Inconsolata"/>
              </a:rPr>
              <a:t>"login berhasil"</a:t>
            </a:r>
            <a:r>
              <a:rPr sz="771" i="0">
                <a:solidFill>
                  <a:srgbClr val="E6EDF3"/>
                </a:solidFill>
                <a:latin typeface="Inconsolata"/>
              </a:rPr>
              <a:t>, </a:t>
            </a:r>
            <a:r>
              <a:rPr sz="771" i="0">
                <a:solidFill>
                  <a:srgbClr val="A5D6A7"/>
                </a:solidFill>
                <a:latin typeface="Inconsolata"/>
              </a:rPr>
              <a:t>"POST"</a:t>
            </a:r>
            <a:r>
              <a:rPr sz="771" i="0">
                <a:solidFill>
                  <a:srgbClr val="E6EDF3"/>
                </a:solidFill>
                <a:latin typeface="Inconsolata"/>
              </a:rPr>
              <a:t>, </a:t>
            </a:r>
            <a:r>
              <a:rPr sz="771" i="0">
                <a:solidFill>
                  <a:srgbClr val="A5D6A7"/>
                </a:solidFill>
                <a:latin typeface="Inconsolata"/>
              </a:rPr>
              <a:t>"/auth/token"</a:t>
            </a:r>
            <a:r>
              <a:rPr sz="771" i="0">
                <a:solidFill>
                  <a:srgbClr val="E6EDF3"/>
                </a:solidFill>
                <a:latin typeface="Inconsolata"/>
              </a:rPr>
              <a:t>, {</a:t>
            </a:r>
            <a:r>
              <a:rPr sz="771" i="0">
                <a:solidFill>
                  <a:srgbClr val="A5D6A7"/>
                </a:solidFill>
                <a:latin typeface="Inconsolata"/>
              </a:rPr>
              <a:t>"params"</a:t>
            </a:r>
            <a:r>
              <a:rPr sz="771" i="0">
                <a:solidFill>
                  <a:srgbClr val="E6EDF3"/>
                </a:solidFill>
                <a:latin typeface="Inconsolata"/>
              </a:rPr>
              <a:t>: </a:t>
            </a:r>
            <a:r>
              <a:rPr sz="771" i="0">
                <a:solidFill>
                  <a:srgbClr val="7FDBCA"/>
                </a:solidFill>
                <a:latin typeface="Inconsolata"/>
              </a:rPr>
              <a:t>LOGIN</a:t>
            </a:r>
            <a:r>
              <a:rPr sz="771" i="0">
                <a:solidFill>
                  <a:srgbClr val="E6EDF3"/>
                </a:solidFill>
                <a:latin typeface="Inconsolata"/>
              </a:rPr>
              <a:t>}),</a:t>
            </a:r>
          </a:p>
          <a:p>
            <a:pPr>
              <a:lnSpc>
                <a:spcPct val="108035"/>
              </a:lnSpc>
              <a:spcAft>
                <a:spcPts val="0"/>
              </a:spcAft>
            </a:pPr>
            <a:r>
              <a:rPr sz="771" i="0">
                <a:solidFill>
                  <a:srgbClr val="5C6773"/>
                </a:solidFill>
                <a:latin typeface="Inconsolata"/>
              </a:rPr>
              <a:t>25  </a:t>
            </a:r>
            <a:r>
              <a:rPr sz="771"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01-smoke-test/after.py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8035"/>
              </a:lnSpc>
              <a:spcAft>
                <a:spcPts val="0"/>
              </a:spcAft>
            </a:pPr>
            <a:r>
              <a:rPr sz="771" i="0">
                <a:solidFill>
                  <a:srgbClr val="5C6773"/>
                </a:solidFill>
                <a:latin typeface="Inconsolata"/>
              </a:rPr>
              <a:t>28  </a:t>
            </a:r>
            <a:r>
              <a:rPr sz="771" i="0">
                <a:solidFill>
                  <a:srgbClr val="FF8E6E"/>
                </a:solidFill>
                <a:latin typeface="Inconsolata"/>
              </a:rPr>
              <a:t>def</a:t>
            </a:r>
            <a:r>
              <a:rPr sz="771" i="0">
                <a:solidFill>
                  <a:srgbClr val="E6EDF3"/>
                </a:solidFill>
                <a:latin typeface="Inconsolata"/>
              </a:rPr>
              <a:t> </a:t>
            </a:r>
            <a:r>
              <a:rPr sz="771" i="0">
                <a:solidFill>
                  <a:srgbClr val="82B1FF"/>
                </a:solidFill>
                <a:latin typeface="Inconsolata"/>
              </a:rPr>
              <a:t>run</a:t>
            </a:r>
            <a:r>
              <a:rPr sz="771" i="0">
                <a:solidFill>
                  <a:srgbClr val="E6EDF3"/>
                </a:solidFill>
                <a:latin typeface="Inconsolata"/>
              </a:rPr>
              <a:t>() -&gt; </a:t>
            </a:r>
            <a:r>
              <a:rPr sz="771" i="0">
                <a:solidFill>
                  <a:srgbClr val="C3A6FF"/>
                </a:solidFill>
                <a:latin typeface="Inconsolata"/>
              </a:rPr>
              <a:t>bool</a:t>
            </a:r>
            <a:r>
              <a:rPr sz="771" i="0">
                <a:solidFill>
                  <a:srgbClr val="E6EDF3"/>
                </a:solidFill>
                <a:latin typeface="Inconsolata"/>
              </a:rPr>
              <a:t>:</a:t>
            </a:r>
          </a:p>
          <a:p>
            <a:pPr>
              <a:lnSpc>
                <a:spcPct val="108035"/>
              </a:lnSpc>
              <a:spcAft>
                <a:spcPts val="0"/>
              </a:spcAft>
            </a:pPr>
            <a:r>
              <a:rPr sz="771" i="0">
                <a:solidFill>
                  <a:srgbClr val="5C6773"/>
                </a:solidFill>
                <a:latin typeface="Inconsolata"/>
              </a:rPr>
              <a:t>29  </a:t>
            </a:r>
            <a:r>
              <a:rPr sz="771" i="0">
                <a:solidFill>
                  <a:srgbClr val="E6EDF3"/>
                </a:solidFill>
                <a:latin typeface="Inconsolata"/>
              </a:rPr>
              <a:t>    ok = </a:t>
            </a:r>
            <a:r>
              <a:rPr sz="771" i="0">
                <a:solidFill>
                  <a:srgbClr val="FF8E6E"/>
                </a:solidFill>
                <a:latin typeface="Inconsolata"/>
              </a:rPr>
              <a:t>True</a:t>
            </a:r>
          </a:p>
          <a:p>
            <a:pPr>
              <a:lnSpc>
                <a:spcPct val="108035"/>
              </a:lnSpc>
              <a:spcAft>
                <a:spcPts val="0"/>
              </a:spcAft>
            </a:pPr>
            <a:r>
              <a:rPr sz="771" i="0">
                <a:solidFill>
                  <a:srgbClr val="5C6773"/>
                </a:solidFill>
                <a:latin typeface="Inconsolata"/>
              </a:rPr>
              <a:t>30  </a:t>
            </a:r>
            <a:r>
              <a:rPr sz="771" i="0">
                <a:solidFill>
                  <a:srgbClr val="E6EDF3"/>
                </a:solidFill>
                <a:latin typeface="Inconsolata"/>
              </a:rPr>
              <a:t>    </a:t>
            </a:r>
            <a:r>
              <a:rPr sz="771" i="0">
                <a:solidFill>
                  <a:srgbClr val="FF8E6E"/>
                </a:solidFill>
                <a:latin typeface="Inconsolata"/>
              </a:rPr>
              <a:t>for</a:t>
            </a:r>
            <a:r>
              <a:rPr sz="771" i="0">
                <a:solidFill>
                  <a:srgbClr val="E6EDF3"/>
                </a:solidFill>
                <a:latin typeface="Inconsolata"/>
              </a:rPr>
              <a:t> name, method, path, kwargs </a:t>
            </a:r>
            <a:r>
              <a:rPr sz="771" i="0">
                <a:solidFill>
                  <a:srgbClr val="FF8E6E"/>
                </a:solidFill>
                <a:latin typeface="Inconsolata"/>
              </a:rPr>
              <a:t>in</a:t>
            </a:r>
            <a:r>
              <a:rPr sz="771" i="0">
                <a:solidFill>
                  <a:srgbClr val="E6EDF3"/>
                </a:solidFill>
                <a:latin typeface="Inconsolata"/>
              </a:rPr>
              <a:t> </a:t>
            </a:r>
            <a:r>
              <a:rPr sz="771" i="0">
                <a:solidFill>
                  <a:srgbClr val="7FDBCA"/>
                </a:solidFill>
                <a:latin typeface="Inconsolata"/>
              </a:rPr>
              <a:t>CHECKS</a:t>
            </a:r>
            <a:r>
              <a:rPr sz="771" i="0">
                <a:solidFill>
                  <a:srgbClr val="E6EDF3"/>
                </a:solidFill>
                <a:latin typeface="Inconsolata"/>
              </a:rPr>
              <a:t>:</a:t>
            </a:r>
          </a:p>
          <a:p>
            <a:pPr>
              <a:lnSpc>
                <a:spcPct val="108035"/>
              </a:lnSpc>
              <a:spcAft>
                <a:spcPts val="0"/>
              </a:spcAft>
            </a:pPr>
            <a:r>
              <a:rPr sz="771" i="0">
                <a:solidFill>
                  <a:srgbClr val="5C6773"/>
                </a:solidFill>
                <a:latin typeface="Inconsolata"/>
              </a:rPr>
              <a:t>31  </a:t>
            </a:r>
            <a:r>
              <a:rPr sz="771" i="0">
                <a:solidFill>
                  <a:srgbClr val="E6EDF3"/>
                </a:solidFill>
                <a:latin typeface="Inconsolata"/>
              </a:rPr>
              <a:t>        response = client.request(method, path, **kwargs)</a:t>
            </a:r>
          </a:p>
          <a:p>
            <a:pPr>
              <a:lnSpc>
                <a:spcPct val="108035"/>
              </a:lnSpc>
              <a:spcAft>
                <a:spcPts val="0"/>
              </a:spcAft>
            </a:pPr>
            <a:r>
              <a:rPr sz="771" i="0">
                <a:solidFill>
                  <a:srgbClr val="5C6773"/>
                </a:solidFill>
                <a:latin typeface="Inconsolata"/>
              </a:rPr>
              <a:t>32  </a:t>
            </a:r>
            <a:r>
              <a:rPr sz="771" i="0">
                <a:solidFill>
                  <a:srgbClr val="E6EDF3"/>
                </a:solidFill>
                <a:latin typeface="Inconsolata"/>
              </a:rPr>
              <a:t>        passed = response.status_code &lt; </a:t>
            </a:r>
            <a:r>
              <a:rPr sz="771" i="0">
                <a:solidFill>
                  <a:srgbClr val="F9C97A"/>
                </a:solidFill>
                <a:latin typeface="Inconsolata"/>
              </a:rPr>
              <a:t>400</a:t>
            </a:r>
          </a:p>
          <a:p>
            <a:pPr>
              <a:lnSpc>
                <a:spcPct val="108035"/>
              </a:lnSpc>
              <a:spcAft>
                <a:spcPts val="0"/>
              </a:spcAft>
            </a:pPr>
            <a:r>
              <a:rPr sz="771" i="0">
                <a:solidFill>
                  <a:srgbClr val="5C6773"/>
                </a:solidFill>
                <a:latin typeface="Inconsolata"/>
              </a:rPr>
              <a:t>33  </a:t>
            </a:r>
            <a:r>
              <a:rPr sz="771" i="0">
                <a:solidFill>
                  <a:srgbClr val="E6EDF3"/>
                </a:solidFill>
                <a:latin typeface="Inconsolata"/>
              </a:rPr>
              <a:t>        ok = ok </a:t>
            </a:r>
            <a:r>
              <a:rPr sz="771" i="0">
                <a:solidFill>
                  <a:srgbClr val="FF8E6E"/>
                </a:solidFill>
                <a:latin typeface="Inconsolata"/>
              </a:rPr>
              <a:t>and</a:t>
            </a:r>
            <a:r>
              <a:rPr sz="771" i="0">
                <a:solidFill>
                  <a:srgbClr val="E6EDF3"/>
                </a:solidFill>
                <a:latin typeface="Inconsolata"/>
              </a:rPr>
              <a:t> passed</a:t>
            </a:r>
          </a:p>
          <a:p>
            <a:pPr>
              <a:lnSpc>
                <a:spcPct val="108035"/>
              </a:lnSpc>
              <a:spcAft>
                <a:spcPts val="0"/>
              </a:spcAft>
            </a:pPr>
            <a:r>
              <a:rPr sz="771" i="0">
                <a:solidFill>
                  <a:srgbClr val="5C6773"/>
                </a:solidFill>
                <a:latin typeface="Inconsolata"/>
              </a:rPr>
              <a:t>34  </a:t>
            </a:r>
            <a:r>
              <a:rPr sz="771" i="0">
                <a:solidFill>
                  <a:srgbClr val="E6EDF3"/>
                </a:solidFill>
                <a:latin typeface="Inconsolata"/>
              </a:rPr>
              <a:t>        status = </a:t>
            </a:r>
            <a:r>
              <a:rPr sz="771" i="0">
                <a:solidFill>
                  <a:srgbClr val="A5D6A7"/>
                </a:solidFill>
                <a:latin typeface="Inconsolata"/>
              </a:rPr>
              <a:t>"OK   "</a:t>
            </a:r>
            <a:r>
              <a:rPr sz="771" i="0">
                <a:solidFill>
                  <a:srgbClr val="E6EDF3"/>
                </a:solidFill>
                <a:latin typeface="Inconsolata"/>
              </a:rPr>
              <a:t> </a:t>
            </a:r>
            <a:r>
              <a:rPr sz="771" i="0">
                <a:solidFill>
                  <a:srgbClr val="FF8E6E"/>
                </a:solidFill>
                <a:latin typeface="Inconsolata"/>
              </a:rPr>
              <a:t>if</a:t>
            </a:r>
            <a:r>
              <a:rPr sz="771" i="0">
                <a:solidFill>
                  <a:srgbClr val="E6EDF3"/>
                </a:solidFill>
                <a:latin typeface="Inconsolata"/>
              </a:rPr>
              <a:t> passed </a:t>
            </a:r>
            <a:r>
              <a:rPr sz="771" i="0">
                <a:solidFill>
                  <a:srgbClr val="FF8E6E"/>
                </a:solidFill>
                <a:latin typeface="Inconsolata"/>
              </a:rPr>
              <a:t>else</a:t>
            </a:r>
            <a:r>
              <a:rPr sz="771" i="0">
                <a:solidFill>
                  <a:srgbClr val="E6EDF3"/>
                </a:solidFill>
                <a:latin typeface="Inconsolata"/>
              </a:rPr>
              <a:t> </a:t>
            </a:r>
            <a:r>
              <a:rPr sz="771" i="0">
                <a:solidFill>
                  <a:srgbClr val="A5D6A7"/>
                </a:solidFill>
                <a:latin typeface="Inconsolata"/>
              </a:rPr>
              <a:t>"GAGAL"</a:t>
            </a:r>
          </a:p>
          <a:p>
            <a:pPr>
              <a:lnSpc>
                <a:spcPct val="108035"/>
              </a:lnSpc>
              <a:spcAft>
                <a:spcPts val="0"/>
              </a:spcAft>
            </a:pPr>
            <a:r>
              <a:rPr sz="771" i="0">
                <a:solidFill>
                  <a:srgbClr val="5C6773"/>
                </a:solidFill>
                <a:latin typeface="Inconsolata"/>
              </a:rPr>
              <a:t>35  </a:t>
            </a:r>
            <a:r>
              <a:rPr sz="771" i="0">
                <a:solidFill>
                  <a:srgbClr val="E6EDF3"/>
                </a:solidFill>
                <a:latin typeface="Inconsolata"/>
              </a:rPr>
              <a:t>        </a:t>
            </a:r>
            <a:r>
              <a:rPr sz="771" i="0">
                <a:solidFill>
                  <a:srgbClr val="C3A6FF"/>
                </a:solidFill>
                <a:latin typeface="Inconsolata"/>
              </a:rPr>
              <a:t>print</a:t>
            </a:r>
            <a:r>
              <a:rPr sz="771" i="0">
                <a:solidFill>
                  <a:srgbClr val="E6EDF3"/>
                </a:solidFill>
                <a:latin typeface="Inconsolata"/>
              </a:rPr>
              <a:t>(</a:t>
            </a:r>
            <a:r>
              <a:rPr sz="771" i="0">
                <a:solidFill>
                  <a:srgbClr val="A5D6A7"/>
                </a:solidFill>
                <a:latin typeface="Inconsolata"/>
              </a:rPr>
              <a:t>f"{status} {name:&lt;16} {method} {path} -&gt; "</a:t>
            </a:r>
          </a:p>
          <a:p>
            <a:pPr>
              <a:lnSpc>
                <a:spcPct val="108035"/>
              </a:lnSpc>
              <a:spcAft>
                <a:spcPts val="0"/>
              </a:spcAft>
            </a:pPr>
            <a:r>
              <a:rPr sz="771" i="0">
                <a:solidFill>
                  <a:srgbClr val="5C6773"/>
                </a:solidFill>
                <a:latin typeface="Inconsolata"/>
              </a:rPr>
              <a:t>36  </a:t>
            </a:r>
            <a:r>
              <a:rPr sz="771" i="0">
                <a:solidFill>
                  <a:srgbClr val="E6EDF3"/>
                </a:solidFill>
                <a:latin typeface="Inconsolata"/>
              </a:rPr>
              <a:t>              </a:t>
            </a:r>
            <a:r>
              <a:rPr sz="771" i="0">
                <a:solidFill>
                  <a:srgbClr val="A5D6A7"/>
                </a:solidFill>
                <a:latin typeface="Inconsolata"/>
              </a:rPr>
              <a:t>f"{response.status_code}"</a:t>
            </a:r>
            <a:r>
              <a:rPr sz="771" i="0">
                <a:solidFill>
                  <a:srgbClr val="E6EDF3"/>
                </a:solidFill>
                <a:latin typeface="Inconsolata"/>
              </a:rPr>
              <a:t>)</a:t>
            </a:r>
          </a:p>
          <a:p>
            <a:pPr>
              <a:lnSpc>
                <a:spcPct val="108035"/>
              </a:lnSpc>
              <a:spcAft>
                <a:spcPts val="0"/>
              </a:spcAft>
            </a:pPr>
            <a:r>
              <a:rPr sz="771" i="0">
                <a:solidFill>
                  <a:srgbClr val="5C6773"/>
                </a:solidFill>
                <a:latin typeface="Inconsolata"/>
              </a:rPr>
              <a:t>37  </a:t>
            </a:r>
            <a:r>
              <a:rPr sz="771" i="0">
                <a:solidFill>
                  <a:srgbClr val="E6EDF3"/>
                </a:solidFill>
                <a:latin typeface="Inconsolata"/>
              </a:rPr>
              <a:t>    </a:t>
            </a:r>
            <a:r>
              <a:rPr sz="771" i="0">
                <a:solidFill>
                  <a:srgbClr val="FF8E6E"/>
                </a:solidFill>
                <a:latin typeface="Inconsolata"/>
              </a:rPr>
              <a:t>return</a:t>
            </a:r>
            <a:r>
              <a:rPr sz="771" i="0">
                <a:solidFill>
                  <a:srgbClr val="E6EDF3"/>
                </a:solidFill>
                <a:latin typeface="Inconsolata"/>
              </a:rPr>
              <a:t> ok</a:t>
            </a:r>
          </a:p>
          <a:p>
            <a:pPr>
              <a:lnSpc>
                <a:spcPct val="108035"/>
              </a:lnSpc>
              <a:spcAft>
                <a:spcPts val="0"/>
              </a:spcAft>
            </a:pPr>
            <a:r>
              <a:rPr sz="771" i="0">
                <a:solidFill>
                  <a:srgbClr val="5C6773"/>
                </a:solidFill>
                <a:latin typeface="Inconsolata"/>
              </a:rPr>
              <a:t>38  </a:t>
            </a:r>
            <a:r>
              <a:rPr sz="771" i="0">
                <a:solidFill>
                  <a:srgbClr val="E6EDF3"/>
                </a:solidFill>
                <a:latin typeface="Inconsolata"/>
              </a:rPr>
              <a:t> </a:t>
            </a:r>
          </a:p>
          <a:p>
            <a:pPr>
              <a:lnSpc>
                <a:spcPct val="108035"/>
              </a:lnSpc>
              <a:spcAft>
                <a:spcPts val="0"/>
              </a:spcAft>
            </a:pPr>
            <a:r>
              <a:rPr sz="771" i="0">
                <a:solidFill>
                  <a:srgbClr val="5C6773"/>
                </a:solidFill>
                <a:latin typeface="Inconsolata"/>
              </a:rPr>
              <a:t>39  </a:t>
            </a:r>
            <a:r>
              <a:rPr sz="771" i="0">
                <a:solidFill>
                  <a:srgbClr val="E6EDF3"/>
                </a:solidFill>
                <a:latin typeface="Inconsolata"/>
              </a:rPr>
              <a:t> </a:t>
            </a:r>
          </a:p>
          <a:p>
            <a:pPr>
              <a:lnSpc>
                <a:spcPct val="108035"/>
              </a:lnSpc>
              <a:spcAft>
                <a:spcPts val="0"/>
              </a:spcAft>
            </a:pPr>
            <a:r>
              <a:rPr sz="771" i="0">
                <a:solidFill>
                  <a:srgbClr val="5C6773"/>
                </a:solidFill>
                <a:latin typeface="Inconsolata"/>
              </a:rPr>
              <a:t>40  </a:t>
            </a:r>
            <a:r>
              <a:rPr sz="771" i="0">
                <a:solidFill>
                  <a:srgbClr val="FF8E6E"/>
                </a:solidFill>
                <a:latin typeface="Inconsolata"/>
              </a:rPr>
              <a:t>if</a:t>
            </a:r>
            <a:r>
              <a:rPr sz="771" i="0">
                <a:solidFill>
                  <a:srgbClr val="E6EDF3"/>
                </a:solidFill>
                <a:latin typeface="Inconsolata"/>
              </a:rPr>
              <a:t> __name__ == </a:t>
            </a:r>
            <a:r>
              <a:rPr sz="771" i="0">
                <a:solidFill>
                  <a:srgbClr val="A5D6A7"/>
                </a:solidFill>
                <a:latin typeface="Inconsolata"/>
              </a:rPr>
              <a:t>"__main__"</a:t>
            </a:r>
            <a:r>
              <a:rPr sz="771" i="0">
                <a:solidFill>
                  <a:srgbClr val="E6EDF3"/>
                </a:solidFill>
                <a:latin typeface="Inconsolata"/>
              </a:rPr>
              <a:t>:</a:t>
            </a:r>
          </a:p>
          <a:p>
            <a:pPr>
              <a:lnSpc>
                <a:spcPct val="108035"/>
              </a:lnSpc>
              <a:spcAft>
                <a:spcPts val="0"/>
              </a:spcAft>
            </a:pPr>
            <a:r>
              <a:rPr sz="771" i="0">
                <a:solidFill>
                  <a:srgbClr val="5C6773"/>
                </a:solidFill>
                <a:latin typeface="Inconsolata"/>
              </a:rPr>
              <a:t>41  </a:t>
            </a:r>
            <a:r>
              <a:rPr sz="771" i="0">
                <a:solidFill>
                  <a:srgbClr val="E6EDF3"/>
                </a:solidFill>
                <a:latin typeface="Inconsolata"/>
              </a:rPr>
              <a:t>    passed = run()</a:t>
            </a:r>
          </a:p>
          <a:p>
            <a:pPr>
              <a:lnSpc>
                <a:spcPct val="108035"/>
              </a:lnSpc>
              <a:spcAft>
                <a:spcPts val="0"/>
              </a:spcAft>
            </a:pPr>
            <a:r>
              <a:rPr sz="771" i="0">
                <a:solidFill>
                  <a:srgbClr val="5C6773"/>
                </a:solidFill>
                <a:latin typeface="Inconsolata"/>
              </a:rPr>
              <a:t>42  </a:t>
            </a:r>
            <a:r>
              <a:rPr sz="771" i="0">
                <a:solidFill>
                  <a:srgbClr val="E6EDF3"/>
                </a:solidFill>
                <a:latin typeface="Inconsolata"/>
              </a:rPr>
              <a:t>    </a:t>
            </a:r>
            <a:r>
              <a:rPr sz="771" i="0">
                <a:solidFill>
                  <a:srgbClr val="C3A6FF"/>
                </a:solidFill>
                <a:latin typeface="Inconsolata"/>
              </a:rPr>
              <a:t>print</a:t>
            </a:r>
            <a:r>
              <a:rPr sz="771" i="0">
                <a:solidFill>
                  <a:srgbClr val="E6EDF3"/>
                </a:solidFill>
                <a:latin typeface="Inconsolata"/>
              </a:rPr>
              <a:t>(</a:t>
            </a:r>
            <a:r>
              <a:rPr sz="771" i="0">
                <a:solidFill>
                  <a:srgbClr val="A5D6A7"/>
                </a:solidFill>
                <a:latin typeface="Inconsolata"/>
              </a:rPr>
              <a:t>"Smoke test lulus"</a:t>
            </a:r>
            <a:r>
              <a:rPr sz="771" i="0">
                <a:solidFill>
                  <a:srgbClr val="E6EDF3"/>
                </a:solidFill>
                <a:latin typeface="Inconsolata"/>
              </a:rPr>
              <a:t> </a:t>
            </a:r>
            <a:r>
              <a:rPr sz="771" i="0">
                <a:solidFill>
                  <a:srgbClr val="FF8E6E"/>
                </a:solidFill>
                <a:latin typeface="Inconsolata"/>
              </a:rPr>
              <a:t>if</a:t>
            </a:r>
            <a:r>
              <a:rPr sz="771" i="0">
                <a:solidFill>
                  <a:srgbClr val="E6EDF3"/>
                </a:solidFill>
                <a:latin typeface="Inconsolata"/>
              </a:rPr>
              <a:t> passed</a:t>
            </a:r>
          </a:p>
          <a:p>
            <a:pPr>
              <a:lnSpc>
                <a:spcPct val="108035"/>
              </a:lnSpc>
              <a:spcAft>
                <a:spcPts val="0"/>
              </a:spcAft>
            </a:pPr>
            <a:r>
              <a:rPr sz="771" i="0">
                <a:solidFill>
                  <a:srgbClr val="5C6773"/>
                </a:solidFill>
                <a:latin typeface="Inconsolata"/>
              </a:rPr>
              <a:t>43  </a:t>
            </a:r>
            <a:r>
              <a:rPr sz="771" i="0">
                <a:solidFill>
                  <a:srgbClr val="E6EDF3"/>
                </a:solidFill>
                <a:latin typeface="Inconsolata"/>
              </a:rPr>
              <a:t>          </a:t>
            </a:r>
            <a:r>
              <a:rPr sz="771" i="0">
                <a:solidFill>
                  <a:srgbClr val="FF8E6E"/>
                </a:solidFill>
                <a:latin typeface="Inconsolata"/>
              </a:rPr>
              <a:t>else</a:t>
            </a:r>
            <a:r>
              <a:rPr sz="771" i="0">
                <a:solidFill>
                  <a:srgbClr val="E6EDF3"/>
                </a:solidFill>
                <a:latin typeface="Inconsolata"/>
              </a:rPr>
              <a:t> </a:t>
            </a:r>
            <a:r>
              <a:rPr sz="771" i="0">
                <a:solidFill>
                  <a:srgbClr val="A5D6A7"/>
                </a:solidFill>
                <a:latin typeface="Inconsolata"/>
              </a:rPr>
              <a:t>"Smoke test GAGAL, deploy dihentikan"</a:t>
            </a:r>
            <a:r>
              <a:rPr sz="771" i="0">
                <a:solidFill>
                  <a:srgbClr val="E6EDF3"/>
                </a:solidFill>
                <a:latin typeface="Inconsolata"/>
              </a:rPr>
              <a:t>)</a:t>
            </a:r>
          </a:p>
          <a:p>
            <a:pPr>
              <a:lnSpc>
                <a:spcPct val="108035"/>
              </a:lnSpc>
              <a:spcAft>
                <a:spcPts val="0"/>
              </a:spcAft>
            </a:pPr>
            <a:r>
              <a:rPr sz="771" i="0">
                <a:solidFill>
                  <a:srgbClr val="5C6773"/>
                </a:solidFill>
                <a:latin typeface="Inconsolata"/>
              </a:rPr>
              <a:t>44  </a:t>
            </a:r>
            <a:r>
              <a:rPr sz="771" i="0">
                <a:solidFill>
                  <a:srgbClr val="E6EDF3"/>
                </a:solidFill>
                <a:latin typeface="Inconsolata"/>
              </a:rPr>
              <a:t>    sys.exit(</a:t>
            </a:r>
            <a:r>
              <a:rPr sz="771" i="0">
                <a:solidFill>
                  <a:srgbClr val="F9C97A"/>
                </a:solidFill>
                <a:latin typeface="Inconsolata"/>
              </a:rPr>
              <a:t>0</a:t>
            </a:r>
            <a:r>
              <a:rPr sz="771" i="0">
                <a:solidFill>
                  <a:srgbClr val="E6EDF3"/>
                </a:solidFill>
                <a:latin typeface="Inconsolata"/>
              </a:rPr>
              <a:t> </a:t>
            </a:r>
            <a:r>
              <a:rPr sz="771" i="0">
                <a:solidFill>
                  <a:srgbClr val="FF8E6E"/>
                </a:solidFill>
                <a:latin typeface="Inconsolata"/>
              </a:rPr>
              <a:t>if</a:t>
            </a:r>
            <a:r>
              <a:rPr sz="771" i="0">
                <a:solidFill>
                  <a:srgbClr val="E6EDF3"/>
                </a:solidFill>
                <a:latin typeface="Inconsolata"/>
              </a:rPr>
              <a:t> passed </a:t>
            </a:r>
            <a:r>
              <a:rPr sz="771" i="0">
                <a:solidFill>
                  <a:srgbClr val="FF8E6E"/>
                </a:solidFill>
                <a:latin typeface="Inconsolata"/>
              </a:rPr>
              <a:t>else</a:t>
            </a:r>
            <a:r>
              <a:rPr sz="771" i="0">
                <a:solidFill>
                  <a:srgbClr val="E6EDF3"/>
                </a:solidFill>
                <a:latin typeface="Inconsolata"/>
              </a:rPr>
              <a:t> </a:t>
            </a:r>
            <a:r>
              <a:rPr sz="771" i="0">
                <a:solidFill>
                  <a:srgbClr val="F9C97A"/>
                </a:solidFill>
                <a:latin typeface="Inconsolata"/>
              </a:rPr>
              <a:t>1</a:t>
            </a:r>
            <a:r>
              <a:rPr sz="771" i="0">
                <a:solidFill>
                  <a:srgbClr val="E6EDF3"/>
                </a:solidFill>
                <a:latin typeface="Inconsolata"/>
              </a:rPr>
              <a:t>)</a:t>
            </a:r>
          </a:p>
        </p:txBody>
      </p:sp>
      <p:sp>
        <p:nvSpPr>
          <p:cNvPr id="36" name="Box 21"/>
          <p:cNvSpPr/>
          <p:nvPr/>
        </p:nvSpPr>
        <p:spPr>
          <a:xfrm>
            <a:off x="704088" y="3097022"/>
            <a:ext cx="3694176" cy="500380"/>
          </a:xfrm>
          <a:prstGeom prst="roundRect">
            <a:avLst>
              <a:gd name="adj" fmla="val 913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228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827022"/>
            <a:ext cx="3694176" cy="1262380"/>
          </a:xfrm>
          <a:prstGeom prst="roundRect">
            <a:avLst>
              <a:gd name="adj" fmla="val 362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339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859022"/>
            <a:ext cx="3694176"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799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Smoke Test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01-smoke-test/after.py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sesi-12-final-project/01-smoke-test</a:t>
            </a:r>
          </a:p>
          <a:p>
            <a:pPr>
              <a:lnSpc>
                <a:spcPct val="111111"/>
              </a:lnSpc>
              <a:spcAft>
                <a:spcPts val="0"/>
              </a:spcAft>
            </a:pPr>
            <a:r>
              <a:rPr sz="900" i="0">
                <a:solidFill>
                  <a:srgbClr val="82B1FF"/>
                </a:solidFill>
                <a:latin typeface="Inconsolata"/>
              </a:rPr>
              <a:t>$ python after.py</a:t>
            </a:r>
          </a:p>
        </p:txBody>
      </p:sp>
      <p:pic>
        <p:nvPicPr>
          <p:cNvPr id="29" name="Image 12" descr="s12-01-smoke-test-after.png"/>
          <p:cNvPicPr>
            <a:picLocks noChangeAspect="1"/>
          </p:cNvPicPr>
          <p:nvPr/>
        </p:nvPicPr>
        <p:blipFill>
          <a:blip r:embed="rId2"/>
          <a:stretch>
            <a:fillRect/>
          </a:stretch>
        </p:blipFill>
        <p:spPr>
          <a:xfrm>
            <a:off x="621792" y="2322576"/>
            <a:ext cx="4297680" cy="1199769"/>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Daftar pengecekan: proses, dependency, login (baris 21-24)</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Setiap langkah dicetak OK atau GAGAL (baris 28-37)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Ada yang gagal = exit code 1, pipeline berhenti (baris 44)</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Readiness 503 dan login 500 terdeteksi, exit code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Deployment Readiness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Deployment Readiness Checklist?</a:t>
            </a:r>
          </a:p>
        </p:txBody>
      </p:sp>
      <p:sp>
        <p:nvSpPr>
          <p:cNvPr id="22" name="Text 3"/>
          <p:cNvSpPr txBox="1"/>
          <p:nvPr/>
        </p:nvSpPr>
        <p:spPr>
          <a:xfrm>
            <a:off x="621792" y="1481328"/>
            <a:ext cx="384048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Deployment readiness checklist adalah</a:t>
            </a:r>
          </a:p>
          <a:p>
            <a:pPr algn="l">
              <a:lnSpc>
                <a:spcPct val="115000"/>
              </a:lnSpc>
              <a:spcAft>
                <a:spcPts val="400"/>
              </a:spcAft>
            </a:pPr>
            <a:r>
              <a:rPr sz="950" b="0" i="0">
                <a:solidFill>
                  <a:srgbClr val="434343"/>
                </a:solidFill>
                <a:latin typeface="Inter"/>
              </a:rPr>
              <a:t>Daftar hal yang harus terpenuhi sebelum sebuah versi dirilis ke production, mulai dari test, konfigurasi, data, sampai observability. Sehingga rilis tidak bergantung pada ingatan satu orang.</a:t>
            </a:r>
          </a:p>
          <a:p>
            <a:pPr algn="l">
              <a:lnSpc>
                <a:spcPct val="115000"/>
              </a:lnSpc>
              <a:spcAft>
                <a:spcPts val="400"/>
              </a:spcAft>
            </a:pPr>
            <a:r>
              <a:rPr sz="10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Mencegah langkah penting terlewat saat rilis</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Menyamakan standar rilis di seluruh tim</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Memastikan cara rollback sudah diketahui sebelum dibutuhkan</a:t>
            </a:r>
          </a:p>
        </p:txBody>
      </p:sp>
      <p:sp>
        <p:nvSpPr>
          <p:cNvPr id="23" name="CodeTab 5"/>
          <p:cNvSpPr/>
          <p:nvPr/>
        </p:nvSpPr>
        <p:spPr>
          <a:xfrm>
            <a:off x="4892040" y="1481328"/>
            <a:ext cx="35935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500176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513892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527608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5440679" y="1490472"/>
            <a:ext cx="295351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docs/deployment-checklist.md (ringkas)</a:t>
            </a:r>
          </a:p>
        </p:txBody>
      </p:sp>
      <p:sp>
        <p:nvSpPr>
          <p:cNvPr id="28" name="CodeBg 11"/>
          <p:cNvSpPr/>
          <p:nvPr/>
        </p:nvSpPr>
        <p:spPr>
          <a:xfrm>
            <a:off x="4892040" y="1719072"/>
            <a:ext cx="35935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892040" y="1719072"/>
            <a:ext cx="3593592" cy="2980944"/>
          </a:xfrm>
          <a:prstGeom prst="rect">
            <a:avLst/>
          </a:prstGeom>
          <a:noFill/>
        </p:spPr>
        <p:txBody>
          <a:bodyPr wrap="none" lIns="146304" tIns="91440" rIns="146304" bIns="54864">
            <a:spAutoFit/>
          </a:bodyPr>
          <a:lstStyle/>
          <a:p>
            <a:pPr>
              <a:lnSpc>
                <a:spcPct val="104167"/>
              </a:lnSpc>
              <a:spcAft>
                <a:spcPts val="0"/>
              </a:spcAft>
            </a:pPr>
            <a:r>
              <a:rPr sz="800" i="1">
                <a:solidFill>
                  <a:srgbClr val="8B98A8"/>
                </a:solidFill>
                <a:latin typeface="Inconsolata"/>
              </a:rPr>
              <a:t>## Kode dan test</a:t>
            </a:r>
          </a:p>
          <a:p>
            <a:pPr>
              <a:lnSpc>
                <a:spcPct val="104167"/>
              </a:lnSpc>
              <a:spcAft>
                <a:spcPts val="0"/>
              </a:spcAft>
            </a:pPr>
            <a:r>
              <a:rPr sz="800" i="0">
                <a:solidFill>
                  <a:srgbClr val="E6EDF3"/>
                </a:solidFill>
                <a:latin typeface="Inconsolata"/>
              </a:rPr>
              <a:t>- [ ] Pull request di-review</a:t>
            </a:r>
          </a:p>
          <a:p>
            <a:pPr>
              <a:lnSpc>
                <a:spcPct val="104167"/>
              </a:lnSpc>
              <a:spcAft>
                <a:spcPts val="0"/>
              </a:spcAft>
            </a:pPr>
            <a:r>
              <a:rPr sz="800" i="0">
                <a:solidFill>
                  <a:srgbClr val="E6EDF3"/>
                </a:solidFill>
                <a:latin typeface="Inconsolata"/>
              </a:rPr>
              <a:t>- [ ] CI hijau, Trivy tanpa HIGH</a:t>
            </a:r>
          </a:p>
          <a:p>
            <a:pPr>
              <a:lnSpc>
                <a:spcPct val="104167"/>
              </a:lnSpc>
              <a:spcAft>
                <a:spcPts val="0"/>
              </a:spcAft>
            </a:pPr>
            <a:r>
              <a:rPr sz="800" i="1">
                <a:solidFill>
                  <a:srgbClr val="8B98A8"/>
                </a:solidFill>
                <a:latin typeface="Inconsolata"/>
              </a:rPr>
              <a:t>## Konfigurasi</a:t>
            </a:r>
          </a:p>
          <a:p>
            <a:pPr>
              <a:lnSpc>
                <a:spcPct val="104167"/>
              </a:lnSpc>
              <a:spcAft>
                <a:spcPts val="0"/>
              </a:spcAft>
            </a:pPr>
            <a:r>
              <a:rPr sz="800" i="0">
                <a:solidFill>
                  <a:srgbClr val="E6EDF3"/>
                </a:solidFill>
                <a:latin typeface="Inconsolata"/>
              </a:rPr>
              <a:t>- [ ] ENV=production, /docs mati</a:t>
            </a:r>
          </a:p>
          <a:p>
            <a:pPr>
              <a:lnSpc>
                <a:spcPct val="104167"/>
              </a:lnSpc>
              <a:spcAft>
                <a:spcPts val="0"/>
              </a:spcAft>
            </a:pPr>
            <a:r>
              <a:rPr sz="800" i="0">
                <a:solidFill>
                  <a:srgbClr val="E6EDF3"/>
                </a:solidFill>
                <a:latin typeface="Inconsolata"/>
              </a:rPr>
              <a:t>- [ ] JWT_SECRET dari Secret</a:t>
            </a:r>
          </a:p>
          <a:p>
            <a:pPr>
              <a:lnSpc>
                <a:spcPct val="104167"/>
              </a:lnSpc>
              <a:spcAft>
                <a:spcPts val="0"/>
              </a:spcAft>
            </a:pPr>
            <a:r>
              <a:rPr sz="800" i="1">
                <a:solidFill>
                  <a:srgbClr val="8B98A8"/>
                </a:solidFill>
                <a:latin typeface="Inconsolata"/>
              </a:rPr>
              <a:t>## Data</a:t>
            </a:r>
          </a:p>
          <a:p>
            <a:pPr>
              <a:lnSpc>
                <a:spcPct val="104167"/>
              </a:lnSpc>
              <a:spcAft>
                <a:spcPts val="0"/>
              </a:spcAft>
            </a:pPr>
            <a:r>
              <a:rPr sz="800" i="0">
                <a:solidFill>
                  <a:srgbClr val="E6EDF3"/>
                </a:solidFill>
                <a:latin typeface="Inconsolata"/>
              </a:rPr>
              <a:t>- [ ] Backup terakhir berhasil</a:t>
            </a:r>
          </a:p>
          <a:p>
            <a:pPr>
              <a:lnSpc>
                <a:spcPct val="104167"/>
              </a:lnSpc>
              <a:spcAft>
                <a:spcPts val="0"/>
              </a:spcAft>
            </a:pPr>
            <a:r>
              <a:rPr sz="800" i="1">
                <a:solidFill>
                  <a:srgbClr val="8B98A8"/>
                </a:solidFill>
                <a:latin typeface="Inconsolata"/>
              </a:rPr>
              <a:t>## Observability</a:t>
            </a:r>
          </a:p>
          <a:p>
            <a:pPr>
              <a:lnSpc>
                <a:spcPct val="104167"/>
              </a:lnSpc>
              <a:spcAft>
                <a:spcPts val="0"/>
              </a:spcAft>
            </a:pPr>
            <a:r>
              <a:rPr sz="800" i="0">
                <a:solidFill>
                  <a:srgbClr val="E6EDF3"/>
                </a:solidFill>
                <a:latin typeface="Inconsolata"/>
              </a:rPr>
              <a:t>- [ ] Probe dan alert SLO aktif</a:t>
            </a:r>
          </a:p>
          <a:p>
            <a:pPr>
              <a:lnSpc>
                <a:spcPct val="104167"/>
              </a:lnSpc>
              <a:spcAft>
                <a:spcPts val="0"/>
              </a:spcAft>
            </a:pPr>
            <a:r>
              <a:rPr sz="800" i="1">
                <a:solidFill>
                  <a:srgbClr val="8B98A8"/>
                </a:solidFill>
                <a:latin typeface="Inconsolata"/>
              </a:rPr>
              <a:t>## Setelah deploy</a:t>
            </a:r>
          </a:p>
          <a:p>
            <a:pPr>
              <a:lnSpc>
                <a:spcPct val="104167"/>
              </a:lnSpc>
              <a:spcAft>
                <a:spcPts val="0"/>
              </a:spcAft>
            </a:pPr>
            <a:r>
              <a:rPr sz="800" i="0">
                <a:solidFill>
                  <a:srgbClr val="E6EDF3"/>
                </a:solidFill>
                <a:latin typeface="Inconsolata"/>
              </a:rPr>
              <a:t>- [ ] Smoke test lulus</a:t>
            </a:r>
          </a:p>
          <a:p>
            <a:pPr>
              <a:lnSpc>
                <a:spcPct val="104167"/>
              </a:lnSpc>
              <a:spcAft>
                <a:spcPts val="0"/>
              </a:spcAft>
            </a:pPr>
            <a:r>
              <a:rPr sz="800" i="0">
                <a:solidFill>
                  <a:srgbClr val="E6EDF3"/>
                </a:solidFill>
                <a:latin typeface="Inconsolata"/>
              </a:rPr>
              <a:t>- [ ] Rollback: kubectl rollout undo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15</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02</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Dokumentasi &amp; Code Review</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README, diagram arsitektur, ADR, dan pull request.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Dokumentasi</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Dokumentasi Teknis?</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Dokumentasi teknis adalah</a:t>
            </a:r>
          </a:p>
          <a:p>
            <a:pPr algn="l">
              <a:lnSpc>
                <a:spcPct val="115000"/>
              </a:lnSpc>
              <a:spcAft>
                <a:spcPts val="400"/>
              </a:spcAft>
            </a:pPr>
            <a:r>
              <a:rPr sz="900" b="0" i="0">
                <a:solidFill>
                  <a:srgbClr val="434343"/>
                </a:solidFill>
                <a:latin typeface="Inter"/>
              </a:rPr>
              <a:t>Tulisan yang menjelaskan cara menjalankan, mengonfigurasi, dan memahami sistem, ditulis untuk developer lain. Minimal berisi README, diagram arsitektur, dan catatan keputusan teknis.</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Membuat orang baru bisa menjalankan project tanpa bertanya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Menjelaskan alasan di balik desain, bukan hanya kodenya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Menjadi bahan architecture walkthrough</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README seadanya: 02-documentation/before/</a:t>
            </a:r>
          </a:p>
        </p:txBody>
      </p:sp>
      <p:sp>
        <p:nvSpPr>
          <p:cNvPr id="28" name="CodeBg 11"/>
          <p:cNvSpPr/>
          <p:nvPr/>
        </p:nvSpPr>
        <p:spPr>
          <a:xfrm>
            <a:off x="4297680" y="1719072"/>
            <a:ext cx="4187951" cy="640080"/>
          </a:xfrm>
          <a:prstGeom prst="roundRect">
            <a:avLst>
              <a:gd name="adj" fmla="val 2857"/>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640080"/>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order-api</a:t>
            </a:r>
          </a:p>
          <a:p>
            <a:pPr>
              <a:lnSpc>
                <a:spcPct val="107843"/>
              </a:lnSpc>
              <a:spcAft>
                <a:spcPts val="0"/>
              </a:spcAft>
            </a:pPr>
            <a:endParaRPr sz="850" i="0">
              <a:solidFill>
                <a:srgbClr val="82B1FF"/>
              </a:solidFill>
              <a:latin typeface="Inconsolata"/>
            </a:endParaRPr>
          </a:p>
          <a:p>
            <a:pPr>
              <a:lnSpc>
                <a:spcPct val="107843"/>
              </a:lnSpc>
              <a:spcAft>
                <a:spcPts val="0"/>
              </a:spcAft>
            </a:pPr>
            <a:r>
              <a:rPr sz="850" i="0">
                <a:solidFill>
                  <a:srgbClr val="E6EDF3"/>
                </a:solidFill>
                <a:latin typeface="Inconsolata"/>
              </a:rPr>
              <a:t>API order.</a:t>
            </a:r>
          </a:p>
        </p:txBody>
      </p:sp>
      <p:sp>
        <p:nvSpPr>
          <p:cNvPr id="30" name="Box 13"/>
          <p:cNvSpPr/>
          <p:nvPr/>
        </p:nvSpPr>
        <p:spPr>
          <a:xfrm>
            <a:off x="4379976" y="21080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4505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5283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5283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5283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4597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README lengkap: 02-documentation/after/</a:t>
            </a:r>
          </a:p>
        </p:txBody>
      </p:sp>
      <p:sp>
        <p:nvSpPr>
          <p:cNvPr id="36" name="CodeBg 21"/>
          <p:cNvSpPr/>
          <p:nvPr/>
        </p:nvSpPr>
        <p:spPr>
          <a:xfrm>
            <a:off x="4297680" y="2688336"/>
            <a:ext cx="4187951" cy="2011679"/>
          </a:xfrm>
          <a:prstGeom prst="roundRect">
            <a:avLst>
              <a:gd name="adj" fmla="val 90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688336"/>
            <a:ext cx="4187951" cy="2011679"/>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Arsitektur</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Menjalankan</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Konfigurasi</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Test</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Deploy</a:t>
            </a:r>
          </a:p>
        </p:txBody>
      </p:sp>
      <p:sp>
        <p:nvSpPr>
          <p:cNvPr id="38" name="Box 23"/>
          <p:cNvSpPr/>
          <p:nvPr/>
        </p:nvSpPr>
        <p:spPr>
          <a:xfrm>
            <a:off x="4379976" y="2797937"/>
            <a:ext cx="4023359" cy="1248918"/>
          </a:xfrm>
          <a:prstGeom prst="roundRect">
            <a:avLst>
              <a:gd name="adj" fmla="val 3660"/>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Dokumentasi</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Dokumentasi perlu ditulis?</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dokumentasi</a:t>
            </a:r>
          </a:p>
          <a:p>
            <a:pPr algn="l">
              <a:lnSpc>
                <a:spcPct val="115000"/>
              </a:lnSpc>
              <a:spcAft>
                <a:spcPts val="400"/>
              </a:spcAft>
            </a:pPr>
            <a:r>
              <a:rPr sz="950" b="0" i="0">
                <a:solidFill>
                  <a:srgbClr val="434343"/>
                </a:solidFill>
                <a:latin typeface="Inter"/>
              </a:rPr>
              <a:t>README hanya berisi </a:t>
            </a:r>
            <a:r>
              <a:rPr sz="950" b="0" i="0">
                <a:solidFill>
                  <a:srgbClr val="B5482A"/>
                </a:solidFill>
                <a:latin typeface="Inconsolata"/>
              </a:rPr>
              <a:t>pip install</a:t>
            </a:r>
            <a:r>
              <a:rPr sz="950" b="0" i="0">
                <a:solidFill>
                  <a:srgbClr val="434343"/>
                </a:solidFill>
                <a:latin typeface="Inter"/>
              </a:rPr>
              <a:t> dan </a:t>
            </a:r>
            <a:r>
              <a:rPr sz="950" b="0" i="0">
                <a:solidFill>
                  <a:srgbClr val="B5482A"/>
                </a:solidFill>
                <a:latin typeface="Inconsolata"/>
              </a:rPr>
              <a:t>uvicorn</a:t>
            </a:r>
            <a:r>
              <a:rPr sz="950" b="0" i="0">
                <a:solidFill>
                  <a:srgbClr val="434343"/>
                </a:solidFill>
                <a:latin typeface="Inter"/>
              </a:rPr>
              <a:t>. Tidak ada daftar config, cara test, maupun gambaran komponen.</a:t>
            </a:r>
          </a:p>
          <a:p>
            <a:pPr algn="l">
              <a:lnSpc>
                <a:spcPct val="115000"/>
              </a:lnSpc>
              <a:spcAft>
                <a:spcPts val="400"/>
              </a:spcAft>
            </a:pPr>
            <a:r>
              <a:rPr sz="1050" b="1" i="0">
                <a:solidFill>
                  <a:srgbClr val="1C4587"/>
                </a:solidFill>
                <a:latin typeface="Inter"/>
              </a:rPr>
              <a:t>Jika timnya makin besar</a:t>
            </a:r>
          </a:p>
          <a:p>
            <a:pPr algn="l">
              <a:lnSpc>
                <a:spcPct val="115000"/>
              </a:lnSpc>
              <a:spcAft>
                <a:spcPts val="400"/>
              </a:spcAft>
            </a:pPr>
            <a:r>
              <a:rPr sz="950" b="0" i="0">
                <a:solidFill>
                  <a:srgbClr val="434343"/>
                </a:solidFill>
                <a:latin typeface="Inter"/>
              </a:rPr>
              <a:t>Setiap developer baru butuh berhari-hari untuk menjalankan project, dan alasan desain hanya ada di kepala orang lama.</a:t>
            </a:r>
          </a:p>
          <a:p>
            <a:pPr algn="l">
              <a:lnSpc>
                <a:spcPct val="115000"/>
              </a:lnSpc>
              <a:spcAft>
                <a:spcPts val="400"/>
              </a:spcAft>
            </a:pPr>
            <a:r>
              <a:rPr sz="950" b="0" i="0">
                <a:solidFill>
                  <a:srgbClr val="434343"/>
                </a:solidFill>
                <a:latin typeface="Inter"/>
              </a:rPr>
              <a:t>Hal ini menimbulkan potensi keputusan yang sama diperdebatkan berulang kali.</a:t>
            </a:r>
          </a:p>
          <a:p>
            <a:pPr algn="l">
              <a:lnSpc>
                <a:spcPct val="115000"/>
              </a:lnSpc>
              <a:spcAft>
                <a:spcPts val="400"/>
              </a:spcAft>
            </a:pPr>
            <a:r>
              <a:rPr sz="1050" b="1" i="0">
                <a:solidFill>
                  <a:srgbClr val="1C4587"/>
                </a:solidFill>
                <a:latin typeface="Inter"/>
              </a:rPr>
              <a:t>Yang dipakai: Markdown di repository</a:t>
            </a:r>
          </a:p>
          <a:p>
            <a:pPr algn="l">
              <a:lnSpc>
                <a:spcPct val="115000"/>
              </a:lnSpc>
              <a:spcAft>
                <a:spcPts val="400"/>
              </a:spcAft>
            </a:pPr>
            <a:r>
              <a:rPr sz="950" b="0" i="0">
                <a:solidFill>
                  <a:srgbClr val="434343"/>
                </a:solidFill>
                <a:latin typeface="Inter"/>
              </a:rPr>
              <a:t>Dokumentasi ikut di-review dan di-versioning bersama kode.</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673352">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File</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Isinya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README.md</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Deskripsi, menjalankan, config, test</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docs/architecture.md</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Diagram komponen dan alur request</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docs/adr/NNNN-*.md</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Satu keputusan teknis per file</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/docs (Swagger)</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Dokumentasi API, otomatis dari FastAPI</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Dokumentasi</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README 5 baris</a:t>
            </a:r>
          </a:p>
        </p:txBody>
      </p:sp>
      <p:sp>
        <p:nvSpPr>
          <p:cNvPr id="22" name="CodeTab 4"/>
          <p:cNvSpPr/>
          <p:nvPr/>
        </p:nvSpPr>
        <p:spPr>
          <a:xfrm>
            <a:off x="621792" y="1481328"/>
            <a:ext cx="45720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9319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02-documentation/before/README.md</a:t>
            </a:r>
          </a:p>
        </p:txBody>
      </p:sp>
      <p:sp>
        <p:nvSpPr>
          <p:cNvPr id="27" name="CodeBg 10"/>
          <p:cNvSpPr/>
          <p:nvPr/>
        </p:nvSpPr>
        <p:spPr>
          <a:xfrm>
            <a:off x="621792" y="1719072"/>
            <a:ext cx="457200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72000" cy="2980944"/>
          </a:xfrm>
          <a:prstGeom prst="rect">
            <a:avLst/>
          </a:prstGeom>
          <a:noFill/>
        </p:spPr>
        <p:txBody>
          <a:bodyPr wrap="none" lIns="146304" tIns="91440" rIns="146304" bIns="54864">
            <a:spAutoFit/>
          </a:bodyPr>
          <a:lstStyle/>
          <a:p>
            <a:pPr>
              <a:lnSpc>
                <a:spcPct val="108333"/>
              </a:lnSpc>
              <a:spcAft>
                <a:spcPts val="0"/>
              </a:spcAft>
            </a:pPr>
            <a:r>
              <a:rPr sz="1000" i="0">
                <a:solidFill>
                  <a:srgbClr val="82B1FF"/>
                </a:solidFill>
                <a:latin typeface="Inconsolata"/>
              </a:rPr>
              <a:t># order-api</a:t>
            </a:r>
          </a:p>
          <a:p>
            <a:pPr>
              <a:lnSpc>
                <a:spcPct val="108333"/>
              </a:lnSpc>
              <a:spcAft>
                <a:spcPts val="0"/>
              </a:spcAft>
            </a:pPr>
            <a:endParaRPr sz="1000" i="0">
              <a:solidFill>
                <a:srgbClr val="82B1FF"/>
              </a:solidFill>
              <a:latin typeface="Inconsolata"/>
            </a:endParaRPr>
          </a:p>
          <a:p>
            <a:pPr>
              <a:lnSpc>
                <a:spcPct val="108333"/>
              </a:lnSpc>
              <a:spcAft>
                <a:spcPts val="0"/>
              </a:spcAft>
            </a:pPr>
            <a:r>
              <a:rPr sz="1000" i="0">
                <a:solidFill>
                  <a:srgbClr val="E6EDF3"/>
                </a:solidFill>
                <a:latin typeface="Inconsolata"/>
              </a:rPr>
              <a:t>API order.</a:t>
            </a:r>
          </a:p>
          <a:p>
            <a:pPr>
              <a:lnSpc>
                <a:spcPct val="108333"/>
              </a:lnSpc>
              <a:spcAft>
                <a:spcPts val="0"/>
              </a:spcAft>
            </a:pPr>
            <a:endParaRPr sz="1000" i="0">
              <a:solidFill>
                <a:srgbClr val="E6EDF3"/>
              </a:solidFill>
              <a:latin typeface="Inconsolata"/>
            </a:endParaRPr>
          </a:p>
          <a:p>
            <a:pPr>
              <a:lnSpc>
                <a:spcPct val="108333"/>
              </a:lnSpc>
              <a:spcAft>
                <a:spcPts val="0"/>
              </a:spcAft>
            </a:pPr>
            <a:r>
              <a:rPr sz="1000" i="0">
                <a:solidFill>
                  <a:srgbClr val="82B1FF"/>
                </a:solidFill>
                <a:latin typeface="Inconsolata"/>
              </a:rPr>
              <a:t>## Run</a:t>
            </a:r>
          </a:p>
          <a:p>
            <a:pPr>
              <a:lnSpc>
                <a:spcPct val="108333"/>
              </a:lnSpc>
              <a:spcAft>
                <a:spcPts val="0"/>
              </a:spcAft>
            </a:pPr>
            <a:endParaRPr sz="1000" i="0">
              <a:solidFill>
                <a:srgbClr val="82B1FF"/>
              </a:solidFill>
              <a:latin typeface="Inconsolata"/>
            </a:endParaRPr>
          </a:p>
          <a:p>
            <a:pPr>
              <a:lnSpc>
                <a:spcPct val="108333"/>
              </a:lnSpc>
              <a:spcAft>
                <a:spcPts val="0"/>
              </a:spcAft>
            </a:pPr>
            <a:r>
              <a:rPr sz="1000" i="0">
                <a:solidFill>
                  <a:srgbClr val="E6EDF3"/>
                </a:solidFill>
                <a:latin typeface="Inconsolata"/>
              </a:rPr>
              <a:t>```</a:t>
            </a:r>
          </a:p>
          <a:p>
            <a:pPr>
              <a:lnSpc>
                <a:spcPct val="108333"/>
              </a:lnSpc>
              <a:spcAft>
                <a:spcPts val="0"/>
              </a:spcAft>
            </a:pPr>
            <a:r>
              <a:rPr sz="1000" i="0">
                <a:solidFill>
                  <a:srgbClr val="E6EDF3"/>
                </a:solidFill>
                <a:latin typeface="Inconsolata"/>
              </a:rPr>
              <a:t>pip install -r requirements.txt</a:t>
            </a:r>
          </a:p>
          <a:p>
            <a:pPr>
              <a:lnSpc>
                <a:spcPct val="108333"/>
              </a:lnSpc>
              <a:spcAft>
                <a:spcPts val="0"/>
              </a:spcAft>
            </a:pPr>
            <a:r>
              <a:rPr sz="1000" i="0">
                <a:solidFill>
                  <a:srgbClr val="E6EDF3"/>
                </a:solidFill>
                <a:latin typeface="Inconsolata"/>
              </a:rPr>
              <a:t>uvicorn app.main:app</a:t>
            </a:r>
          </a:p>
          <a:p>
            <a:pPr>
              <a:lnSpc>
                <a:spcPct val="108333"/>
              </a:lnSpc>
              <a:spcAft>
                <a:spcPts val="0"/>
              </a:spcAft>
            </a:pPr>
            <a:r>
              <a:rPr sz="1000" i="0">
                <a:solidFill>
                  <a:srgbClr val="E6EDF3"/>
                </a:solidFill>
                <a:latin typeface="Inconsolata"/>
              </a:rPr>
              <a:t>```</a:t>
            </a:r>
          </a:p>
        </p:txBody>
      </p:sp>
      <p:sp>
        <p:nvSpPr>
          <p:cNvPr id="29" name="Box 12"/>
          <p:cNvSpPr/>
          <p:nvPr/>
        </p:nvSpPr>
        <p:spPr>
          <a:xfrm>
            <a:off x="704088" y="2162175"/>
            <a:ext cx="4407408" cy="155194"/>
          </a:xfrm>
          <a:prstGeom prst="roundRect">
            <a:avLst>
              <a:gd name="adj" fmla="val 29459"/>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92624" y="212090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987675"/>
            <a:ext cx="4407408" cy="320294"/>
          </a:xfrm>
          <a:prstGeom prst="roundRect">
            <a:avLst>
              <a:gd name="adj" fmla="val 1427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4992624" y="302895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5349240" y="1481328"/>
            <a:ext cx="3136391" cy="3218688"/>
          </a:xfrm>
          <a:prstGeom prst="roundRect">
            <a:avLst>
              <a:gd name="adj" fmla="val 3498"/>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5486400" y="1572768"/>
            <a:ext cx="286207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5" name="Text 18"/>
          <p:cNvSpPr txBox="1"/>
          <p:nvPr/>
        </p:nvSpPr>
        <p:spPr>
          <a:xfrm>
            <a:off x="5486400" y="1892808"/>
            <a:ext cx="286207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Deskripsi tidak menjelaskan apa pun</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Cara menjalankan tanpa dependency dan config</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Tidak ada </a:t>
            </a:r>
            <a:r>
              <a:rPr sz="950" b="0" i="0">
                <a:solidFill>
                  <a:srgbClr val="B5482A"/>
                </a:solidFill>
                <a:latin typeface="Inconsolata"/>
              </a:rPr>
              <a:t>JWT_SECRET</a:t>
            </a:r>
            <a:r>
              <a:rPr sz="950" b="0" i="0">
                <a:solidFill>
                  <a:srgbClr val="434343"/>
                </a:solidFill>
                <a:latin typeface="Inter"/>
              </a:rPr>
              <a:t>, PostgreSQL, RabbitMQ, cara test, maupun arsitektur.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Dokumentasi</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README yang bisa diikuti</a:t>
            </a:r>
          </a:p>
        </p:txBody>
      </p:sp>
      <p:sp>
        <p:nvSpPr>
          <p:cNvPr id="22" name="CodeTab 4"/>
          <p:cNvSpPr/>
          <p:nvPr/>
        </p:nvSpPr>
        <p:spPr>
          <a:xfrm>
            <a:off x="621792" y="1481328"/>
            <a:ext cx="51206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4805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02-documentation/after/README.md</a:t>
            </a:r>
          </a:p>
        </p:txBody>
      </p:sp>
      <p:sp>
        <p:nvSpPr>
          <p:cNvPr id="27" name="CodeBg 10"/>
          <p:cNvSpPr/>
          <p:nvPr/>
        </p:nvSpPr>
        <p:spPr>
          <a:xfrm>
            <a:off x="621792" y="1719072"/>
            <a:ext cx="51206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120640" cy="2980944"/>
          </a:xfrm>
          <a:prstGeom prst="rect">
            <a:avLst/>
          </a:prstGeom>
          <a:noFill/>
        </p:spPr>
        <p:txBody>
          <a:bodyPr wrap="none" lIns="146304" tIns="91440" rIns="146304" bIns="54864">
            <a:spAutoFit/>
          </a:bodyPr>
          <a:lstStyle/>
          <a:p>
            <a:pPr>
              <a:lnSpc>
                <a:spcPct val="107143"/>
              </a:lnSpc>
              <a:spcAft>
                <a:spcPts val="0"/>
              </a:spcAft>
            </a:pPr>
            <a:r>
              <a:rPr sz="700" i="0">
                <a:solidFill>
                  <a:srgbClr val="82B1FF"/>
                </a:solidFill>
                <a:latin typeface="Inconsolata"/>
              </a:rPr>
              <a:t># Order API</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E6EDF3"/>
                </a:solidFill>
                <a:latin typeface="Inconsolata"/>
              </a:rPr>
              <a:t>API untuk toko online: produk, order dengan diskon per tipe customer,</a:t>
            </a:r>
          </a:p>
          <a:p>
            <a:pPr>
              <a:lnSpc>
                <a:spcPct val="107143"/>
              </a:lnSpc>
              <a:spcAft>
                <a:spcPts val="0"/>
              </a:spcAft>
            </a:pPr>
            <a:r>
              <a:rPr sz="700" i="0">
                <a:solidFill>
                  <a:srgbClr val="E6EDF3"/>
                </a:solidFill>
                <a:latin typeface="Inconsolata"/>
              </a:rPr>
              <a:t>pembayaran, report penjualan, dan notifikasi ke customer.</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82B1FF"/>
                </a:solidFill>
                <a:latin typeface="Inconsolata"/>
              </a:rPr>
              <a:t>## Arsitektur</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82B1FF"/>
                </a:solidFill>
                <a:latin typeface="Inconsolata"/>
              </a:rPr>
              <a:t>## Menjalankan</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E6EDF3"/>
                </a:solidFill>
                <a:latin typeface="Inconsolata"/>
              </a:rPr>
              <a:t>cp .env.example .env                 # isi JWT_SECRET, minimal 32 karakter</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E6EDF3"/>
                </a:solidFill>
                <a:latin typeface="Inconsolata"/>
              </a:rPr>
              <a:t>docker compose exec api python create_user.py admin@toko.com --role admin</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82B1FF"/>
                </a:solidFill>
                <a:latin typeface="Inconsolata"/>
              </a:rPr>
              <a:t>## Konfigurasi</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E6EDF3"/>
                </a:solidFill>
                <a:latin typeface="Inconsolata"/>
              </a:rPr>
              <a:t>| `JWT_SECRET` | ya | - | Kunci tanda tangan JWT, minimal 32 karakter |</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82B1FF"/>
                </a:solidFill>
                <a:latin typeface="Inconsolata"/>
              </a:rPr>
              <a:t>## Test</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E6EDF3"/>
                </a:solidFill>
                <a:latin typeface="Inconsolata"/>
              </a:rPr>
              <a:t>pytest -q                            # tanpa Docker: SQLite + fakeredis</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82B1FF"/>
                </a:solidFill>
                <a:latin typeface="Inconsolata"/>
              </a:rPr>
              <a:t>## Deploy</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E6EDF3"/>
                </a:solidFill>
                <a:latin typeface="Inconsolata"/>
              </a:rPr>
              <a:t>Setiap pull request menjalankan lint, test, build, dan scan image. Setelah</a:t>
            </a:r>
          </a:p>
        </p:txBody>
      </p:sp>
      <p:sp>
        <p:nvSpPr>
          <p:cNvPr id="29" name="Box 12"/>
          <p:cNvSpPr/>
          <p:nvPr/>
        </p:nvSpPr>
        <p:spPr>
          <a:xfrm>
            <a:off x="704088" y="1825371"/>
            <a:ext cx="4956048" cy="450342"/>
          </a:xfrm>
          <a:prstGeom prst="roundRect">
            <a:avLst>
              <a:gd name="adj" fmla="val 1015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541264" y="19316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625471"/>
            <a:ext cx="4956048" cy="564642"/>
          </a:xfrm>
          <a:prstGeom prst="roundRect">
            <a:avLst>
              <a:gd name="adj" fmla="val 80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541264" y="27889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311271"/>
            <a:ext cx="4956048" cy="336042"/>
          </a:xfrm>
          <a:prstGeom prst="roundRect">
            <a:avLst>
              <a:gd name="adj" fmla="val 1360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541264" y="33604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768471"/>
            <a:ext cx="4956048" cy="793242"/>
          </a:xfrm>
          <a:prstGeom prst="roundRect">
            <a:avLst>
              <a:gd name="adj" fmla="val 576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541264" y="40462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5897879" y="1481328"/>
            <a:ext cx="2587752" cy="3218688"/>
          </a:xfrm>
          <a:prstGeom prst="roundRect">
            <a:avLst>
              <a:gd name="adj" fmla="val 424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21"/>
          <p:cNvSpPr txBox="1"/>
          <p:nvPr/>
        </p:nvSpPr>
        <p:spPr>
          <a:xfrm>
            <a:off x="6035040" y="1572768"/>
            <a:ext cx="231343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9" name="Text 22"/>
          <p:cNvSpPr txBox="1"/>
          <p:nvPr/>
        </p:nvSpPr>
        <p:spPr>
          <a:xfrm>
            <a:off x="6035040" y="1892808"/>
            <a:ext cx="231343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Deskripsi fitur, lalu link ke arsitektur dan ADR</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Menjalankan dengan Docker, termasuk membuat user</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Tabel konfigurasi: wajib, default, keterangan</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Cara test dan alur deploy</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Orang baru bisa menjalankan dan mengetes project dari README saja.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Dokumentasi</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Diagram di docs/architecture.md</a:t>
            </a:r>
          </a:p>
        </p:txBody>
      </p:sp>
      <p:pic>
        <p:nvPicPr>
          <p:cNvPr id="22" name="Image 3" descr="s12-architecture.png"/>
          <p:cNvPicPr>
            <a:picLocks noChangeAspect="1"/>
          </p:cNvPicPr>
          <p:nvPr/>
        </p:nvPicPr>
        <p:blipFill>
          <a:blip r:embed="rId2"/>
          <a:stretch>
            <a:fillRect/>
          </a:stretch>
        </p:blipFill>
        <p:spPr>
          <a:xfrm>
            <a:off x="621792" y="1481328"/>
            <a:ext cx="7863840" cy="2376362"/>
          </a:xfrm>
          <a:prstGeom prst="rect">
            <a:avLst/>
          </a:prstGeom>
          <a:ln w="9525">
            <a:solidFill>
              <a:srgbClr val="D0D5DD"/>
            </a:solidFill>
          </a:ln>
        </p:spPr>
      </p:pic>
      <p:sp>
        <p:nvSpPr>
          <p:cNvPr id="23" name="Text 4"/>
          <p:cNvSpPr txBox="1"/>
          <p:nvPr/>
        </p:nvSpPr>
        <p:spPr>
          <a:xfrm>
            <a:off x="621792" y="3967418"/>
            <a:ext cx="7863840" cy="731520"/>
          </a:xfrm>
          <a:prstGeom prst="rect">
            <a:avLst/>
          </a:prstGeom>
          <a:noFill/>
        </p:spPr>
        <p:txBody>
          <a:bodyPr wrap="square" lIns="45720" rIns="45720" anchor="t">
            <a:spAutoFit/>
          </a:bodyPr>
          <a:lstStyle/>
          <a:p>
            <a:pPr algn="l">
              <a:lnSpc>
                <a:spcPct val="115000"/>
              </a:lnSpc>
              <a:spcAft>
                <a:spcPts val="400"/>
              </a:spcAft>
            </a:pPr>
            <a:r>
              <a:rPr sz="900" b="0" i="0">
                <a:solidFill>
                  <a:srgbClr val="7A7A7A"/>
                </a:solidFill>
                <a:latin typeface="Inter"/>
              </a:rPr>
              <a:t>Ditulis dengan Mermaid di dalam Markdown, GitHub menampilkannya sebagai gambar. Garis putus-putus = observability (trace dan metrics).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ADR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Architecture Decision Record (ADR)?</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ADR adalah</a:t>
            </a:r>
          </a:p>
          <a:p>
            <a:pPr algn="l">
              <a:lnSpc>
                <a:spcPct val="115000"/>
              </a:lnSpc>
              <a:spcAft>
                <a:spcPts val="400"/>
              </a:spcAft>
            </a:pPr>
            <a:r>
              <a:rPr sz="900" b="0" i="0">
                <a:solidFill>
                  <a:srgbClr val="434343"/>
                </a:solidFill>
                <a:latin typeface="Inter"/>
              </a:rPr>
              <a:t>Dokumen pendek yang mencatat </a:t>
            </a:r>
            <a:r>
              <a:rPr sz="900" b="1" i="0">
                <a:solidFill>
                  <a:srgbClr val="434343"/>
                </a:solidFill>
                <a:latin typeface="Inter"/>
              </a:rPr>
              <a:t>satu keputusan arsitektur</a:t>
            </a:r>
            <a:r>
              <a:rPr sz="900" b="0" i="0">
                <a:solidFill>
                  <a:srgbClr val="434343"/>
                </a:solidFill>
                <a:latin typeface="Inter"/>
              </a:rPr>
              <a:t>: konteksnya, keputusan yang diambil, konsekuensinya, dan alternatif yang dipertimbangkan. Disimpan berurutan di repository, misalnya </a:t>
            </a:r>
            <a:r>
              <a:rPr sz="900" b="0" i="0">
                <a:solidFill>
                  <a:srgbClr val="B5482A"/>
                </a:solidFill>
                <a:latin typeface="Inconsolata"/>
              </a:rPr>
              <a:t>docs/adr/0003-...md</a:t>
            </a:r>
            <a:r>
              <a:rPr sz="900" b="0" i="0">
                <a:solidFill>
                  <a:srgbClr val="434343"/>
                </a:solidFill>
                <a:latin typeface="Inter"/>
              </a:rPr>
              <a:t>.</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Menjelaskan "kenapa" kepada developer di masa depan</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Mencatat trade-off yang sengaja diambil</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Menjadi bahan presentasi kompromi scalability</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catatan: hanya commit message</a:t>
            </a:r>
          </a:p>
        </p:txBody>
      </p:sp>
      <p:sp>
        <p:nvSpPr>
          <p:cNvPr id="28" name="CodeBg 11"/>
          <p:cNvSpPr/>
          <p:nvPr/>
        </p:nvSpPr>
        <p:spPr>
          <a:xfrm>
            <a:off x="4297680" y="1719072"/>
            <a:ext cx="4187951" cy="292607"/>
          </a:xfrm>
          <a:prstGeom prst="roundRect">
            <a:avLst>
              <a:gd name="adj" fmla="val 625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292607"/>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fix order</a:t>
            </a:r>
          </a:p>
        </p:txBody>
      </p:sp>
      <p:sp>
        <p:nvSpPr>
          <p:cNvPr id="30" name="Box 13"/>
          <p:cNvSpPr/>
          <p:nvPr/>
        </p:nvSpPr>
        <p:spPr>
          <a:xfrm>
            <a:off x="4379976" y="18286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103120"/>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18084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18084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18084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112263"/>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ADR: 02-documentation/after/docs/adr/0003-*.md</a:t>
            </a:r>
          </a:p>
        </p:txBody>
      </p:sp>
      <p:sp>
        <p:nvSpPr>
          <p:cNvPr id="36" name="CodeBg 21"/>
          <p:cNvSpPr/>
          <p:nvPr/>
        </p:nvSpPr>
        <p:spPr>
          <a:xfrm>
            <a:off x="4297680" y="2340863"/>
            <a:ext cx="4187951" cy="2359152"/>
          </a:xfrm>
          <a:prstGeom prst="roundRect">
            <a:avLst>
              <a:gd name="adj" fmla="val 77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340863"/>
            <a:ext cx="4187951" cy="2359152"/>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Konteks</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Keputusan</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Konsekuensi</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Alternatif yang dipertimbangkan</a:t>
            </a:r>
          </a:p>
        </p:txBody>
      </p:sp>
      <p:sp>
        <p:nvSpPr>
          <p:cNvPr id="38" name="Box 23"/>
          <p:cNvSpPr/>
          <p:nvPr/>
        </p:nvSpPr>
        <p:spPr>
          <a:xfrm>
            <a:off x="4379976" y="2450464"/>
            <a:ext cx="4023359" cy="969518"/>
          </a:xfrm>
          <a:prstGeom prst="roundRect">
            <a:avLst>
              <a:gd name="adj" fmla="val 471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ADR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Contoh ADR: notifikasi lewat RabbitMQ</a:t>
            </a:r>
          </a:p>
        </p:txBody>
      </p:sp>
      <p:sp>
        <p:nvSpPr>
          <p:cNvPr id="22" name="CodeTab 4"/>
          <p:cNvSpPr/>
          <p:nvPr/>
        </p:nvSpPr>
        <p:spPr>
          <a:xfrm>
            <a:off x="621792" y="1481328"/>
            <a:ext cx="5486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846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02-documentation/after/docs/adr/0003-rabbitmq-untuk-notifikasi.md</a:t>
            </a:r>
          </a:p>
        </p:txBody>
      </p:sp>
      <p:sp>
        <p:nvSpPr>
          <p:cNvPr id="27" name="CodeBg 10"/>
          <p:cNvSpPr/>
          <p:nvPr/>
        </p:nvSpPr>
        <p:spPr>
          <a:xfrm>
            <a:off x="621792" y="1719072"/>
            <a:ext cx="548640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486400" cy="2980944"/>
          </a:xfrm>
          <a:prstGeom prst="rect">
            <a:avLst/>
          </a:prstGeom>
          <a:noFill/>
        </p:spPr>
        <p:txBody>
          <a:bodyPr wrap="none" lIns="146304" tIns="91440" rIns="146304" bIns="54864">
            <a:spAutoFit/>
          </a:bodyPr>
          <a:lstStyle/>
          <a:p>
            <a:pPr>
              <a:lnSpc>
                <a:spcPct val="103448"/>
              </a:lnSpc>
              <a:spcAft>
                <a:spcPts val="0"/>
              </a:spcAft>
            </a:pPr>
            <a:r>
              <a:rPr sz="725" i="0">
                <a:solidFill>
                  <a:srgbClr val="82B1FF"/>
                </a:solidFill>
                <a:latin typeface="Inconsolata"/>
              </a:rPr>
              <a:t># ADR 0003: Notifikasi lewat event RabbitMQ, bukan task Celery</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82B1FF"/>
                </a:solidFill>
                <a:latin typeface="Inconsolata"/>
              </a:rPr>
              <a:t>## Konteks</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E6EDF3"/>
                </a:solidFill>
                <a:latin typeface="Inconsolata"/>
              </a:rPr>
              <a:t>Sebelumnya `OrderService` memanggil task Celery `send_notification` setelah</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82B1FF"/>
                </a:solidFill>
                <a:latin typeface="Inconsolata"/>
              </a:rPr>
              <a:t>## Keputusan</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E6EDF3"/>
                </a:solidFill>
                <a:latin typeface="Inconsolata"/>
              </a:rPr>
              <a:t>`OrderService` hanya mengirim event (`order.placed`, `order.paid`,</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82B1FF"/>
                </a:solidFill>
                <a:latin typeface="Inconsolata"/>
              </a:rPr>
              <a:t>## Konsekuensi</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E6EDF3"/>
                </a:solidFill>
                <a:latin typeface="Inconsolata"/>
              </a:rPr>
              <a:t>- Fitur baru cukup membuat queue dan consumer baru, `OrderService` tidak</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E6EDF3"/>
                </a:solidFill>
                <a:latin typeface="Inconsolata"/>
              </a:rPr>
              <a:t>- Butuh RabbitMQ sebagai service tambahan yang harus dijalankan dan dipantau</a:t>
            </a:r>
          </a:p>
          <a:p>
            <a:pPr>
              <a:lnSpc>
                <a:spcPct val="103448"/>
              </a:lnSpc>
              <a:spcAft>
                <a:spcPts val="0"/>
              </a:spcAft>
            </a:pPr>
            <a:r>
              <a:rPr sz="725" i="0">
                <a:solidFill>
                  <a:srgbClr val="E6EDF3"/>
                </a:solidFill>
                <a:latin typeface="Inconsolata"/>
              </a:rPr>
              <a:t>- Consumer harus idempotent, karena RabbitMQ menjamin pesan sampai minimal</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E6EDF3"/>
                </a:solidFill>
                <a:latin typeface="Inconsolata"/>
              </a:rPr>
              <a:t>- Jika RabbitMQ mati tepat setelah commit, event hilang. Solusi lengkapnya</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82B1FF"/>
                </a:solidFill>
                <a:latin typeface="Inconsolata"/>
              </a:rPr>
              <a:t>## Alternatif yang dipertimbangkan</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E6EDF3"/>
                </a:solidFill>
                <a:latin typeface="Inconsolata"/>
              </a:rPr>
              <a:t>- Tetap memakai Celery: lebih sederhana, tetapi setiap fitur baru mengubah</a:t>
            </a:r>
          </a:p>
          <a:p>
            <a:pPr>
              <a:lnSpc>
                <a:spcPct val="103448"/>
              </a:lnSpc>
              <a:spcAft>
                <a:spcPts val="0"/>
              </a:spcAft>
            </a:pPr>
            <a:r>
              <a:rPr sz="725" i="0">
                <a:solidFill>
                  <a:srgbClr val="E6EDF3"/>
                </a:solidFill>
                <a:latin typeface="Inconsolata"/>
              </a:rPr>
              <a:t>...</a:t>
            </a:r>
          </a:p>
          <a:p>
            <a:pPr>
              <a:lnSpc>
                <a:spcPct val="103448"/>
              </a:lnSpc>
              <a:spcAft>
                <a:spcPts val="0"/>
              </a:spcAft>
            </a:pPr>
            <a:r>
              <a:rPr sz="725" i="0">
                <a:solidFill>
                  <a:srgbClr val="E6EDF3"/>
                </a:solidFill>
                <a:latin typeface="Inconsolata"/>
              </a:rPr>
              <a:t>- Kafka: event bisa dibaca ulang, tetapi retry dan DLQ harus dibuat sendiri</a:t>
            </a:r>
          </a:p>
        </p:txBody>
      </p:sp>
      <p:sp>
        <p:nvSpPr>
          <p:cNvPr id="29" name="Box 12"/>
          <p:cNvSpPr/>
          <p:nvPr/>
        </p:nvSpPr>
        <p:spPr>
          <a:xfrm>
            <a:off x="704088" y="2053971"/>
            <a:ext cx="5321808" cy="336042"/>
          </a:xfrm>
          <a:prstGeom prst="roundRect">
            <a:avLst>
              <a:gd name="adj" fmla="val 1360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907024" y="21031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511171"/>
            <a:ext cx="5321808" cy="336042"/>
          </a:xfrm>
          <a:prstGeom prst="roundRect">
            <a:avLst>
              <a:gd name="adj" fmla="val 1360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907024" y="25603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968371"/>
            <a:ext cx="5321808" cy="907542"/>
          </a:xfrm>
          <a:prstGeom prst="roundRect">
            <a:avLst>
              <a:gd name="adj" fmla="val 503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907024" y="33032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997071"/>
            <a:ext cx="5321808" cy="564642"/>
          </a:xfrm>
          <a:prstGeom prst="roundRect">
            <a:avLst>
              <a:gd name="adj" fmla="val 80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907024" y="41605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6263640" y="1481328"/>
            <a:ext cx="2221991" cy="3218688"/>
          </a:xfrm>
          <a:prstGeom prst="roundRect">
            <a:avLst>
              <a:gd name="adj" fmla="val 4938"/>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21"/>
          <p:cNvSpPr txBox="1"/>
          <p:nvPr/>
        </p:nvSpPr>
        <p:spPr>
          <a:xfrm>
            <a:off x="6400800" y="1572768"/>
            <a:ext cx="194767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Kegunaan</a:t>
            </a:r>
          </a:p>
        </p:txBody>
      </p:sp>
      <p:sp>
        <p:nvSpPr>
          <p:cNvPr id="39" name="Text 22"/>
          <p:cNvSpPr txBox="1"/>
          <p:nvPr/>
        </p:nvSpPr>
        <p:spPr>
          <a:xfrm>
            <a:off x="6400800" y="1892808"/>
            <a:ext cx="194767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Konteks: masalah yang mendorong keputusan</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Keputusan yang diambil</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Konsekuensi, termasuk yang buruk</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Alternatif yang ditolak dan alasannya</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Keputusan Sesi 8 tercatat, lengkap dengan risiko yang belum diselesaikan.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Code Review</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Code Review?</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Code review adalah</a:t>
            </a:r>
          </a:p>
          <a:p>
            <a:pPr algn="l">
              <a:lnSpc>
                <a:spcPct val="115000"/>
              </a:lnSpc>
              <a:spcAft>
                <a:spcPts val="400"/>
              </a:spcAft>
            </a:pPr>
            <a:r>
              <a:rPr sz="900" b="0" i="0">
                <a:solidFill>
                  <a:srgbClr val="434343"/>
                </a:solidFill>
                <a:latin typeface="Inter"/>
              </a:rPr>
              <a:t>Proses developer lain membaca dan mengomentari perubahan kode lewat </a:t>
            </a:r>
            <a:r>
              <a:rPr sz="900" b="1" i="0">
                <a:solidFill>
                  <a:srgbClr val="434343"/>
                </a:solidFill>
                <a:latin typeface="Inter"/>
              </a:rPr>
              <a:t>pull request</a:t>
            </a:r>
            <a:r>
              <a:rPr sz="900" b="0" i="0">
                <a:solidFill>
                  <a:srgbClr val="434343"/>
                </a:solidFill>
                <a:latin typeface="Inter"/>
              </a:rPr>
              <a:t> sebelum di-merge. Reviewer mengecek kebenaran, keamanan, dan kemudahan perawatan, bukan hanya gaya penulisan.</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Menemukan bug dan celah keamanan sebelum masuk main</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Menyebarkan pengetahuan tentang kode ke anggota tim lain</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Menjaga standar kode tetap sama</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PR tanpa konteks: 03-code-review/before.md</a:t>
            </a:r>
          </a:p>
        </p:txBody>
      </p:sp>
      <p:sp>
        <p:nvSpPr>
          <p:cNvPr id="28" name="CodeBg 11"/>
          <p:cNvSpPr/>
          <p:nvPr/>
        </p:nvSpPr>
        <p:spPr>
          <a:xfrm>
            <a:off x="4297680" y="1719072"/>
            <a:ext cx="4187951" cy="1097280"/>
          </a:xfrm>
          <a:prstGeom prst="roundRect">
            <a:avLst>
              <a:gd name="adj" fmla="val 1666"/>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097280"/>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Pull request #42: update</a:t>
            </a:r>
          </a:p>
          <a:p>
            <a:pPr>
              <a:lnSpc>
                <a:spcPct val="107843"/>
              </a:lnSpc>
              <a:spcAft>
                <a:spcPts val="0"/>
              </a:spcAft>
            </a:pPr>
            <a:endParaRPr sz="850" i="0">
              <a:solidFill>
                <a:srgbClr val="82B1FF"/>
              </a:solidFill>
              <a:latin typeface="Inconsolata"/>
            </a:endParaRPr>
          </a:p>
          <a:p>
            <a:pPr>
              <a:lnSpc>
                <a:spcPct val="107843"/>
              </a:lnSpc>
              <a:spcAft>
                <a:spcPts val="0"/>
              </a:spcAft>
            </a:pPr>
            <a:r>
              <a:rPr sz="850" i="0">
                <a:solidFill>
                  <a:srgbClr val="E6EDF3"/>
                </a:solidFill>
                <a:latin typeface="Inconsolata"/>
              </a:rPr>
              <a:t>fix order</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E6EDF3"/>
                </a:solidFill>
                <a:latin typeface="Inconsolata"/>
              </a:rPr>
              <a:t>&gt; LGTM</a:t>
            </a:r>
          </a:p>
        </p:txBody>
      </p:sp>
      <p:sp>
        <p:nvSpPr>
          <p:cNvPr id="30" name="Box 13"/>
          <p:cNvSpPr/>
          <p:nvPr/>
        </p:nvSpPr>
        <p:spPr>
          <a:xfrm>
            <a:off x="4379976" y="21080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4"/>
          <p:cNvSpPr/>
          <p:nvPr/>
        </p:nvSpPr>
        <p:spPr>
          <a:xfrm>
            <a:off x="4379976" y="23874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CodeTab 16"/>
          <p:cNvSpPr/>
          <p:nvPr/>
        </p:nvSpPr>
        <p:spPr>
          <a:xfrm>
            <a:off x="4297680" y="29077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Dot 17"/>
          <p:cNvSpPr/>
          <p:nvPr/>
        </p:nvSpPr>
        <p:spPr>
          <a:xfrm>
            <a:off x="4407408" y="29855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544568" y="29855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4681728" y="29855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20"/>
          <p:cNvSpPr txBox="1"/>
          <p:nvPr/>
        </p:nvSpPr>
        <p:spPr>
          <a:xfrm>
            <a:off x="4846320" y="29169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template: 03-code-review/after.md</a:t>
            </a:r>
          </a:p>
        </p:txBody>
      </p:sp>
      <p:sp>
        <p:nvSpPr>
          <p:cNvPr id="37" name="CodeBg 22"/>
          <p:cNvSpPr/>
          <p:nvPr/>
        </p:nvSpPr>
        <p:spPr>
          <a:xfrm>
            <a:off x="4297680" y="3145536"/>
            <a:ext cx="4187951" cy="1554479"/>
          </a:xfrm>
          <a:prstGeom prst="roundRect">
            <a:avLst>
              <a:gd name="adj" fmla="val 1176"/>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Code 23"/>
          <p:cNvSpPr txBox="1"/>
          <p:nvPr/>
        </p:nvSpPr>
        <p:spPr>
          <a:xfrm>
            <a:off x="4297680" y="3145536"/>
            <a:ext cx="4187951" cy="1554479"/>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Apa yang berubah</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Kenapa</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Cara mengecek</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82B1FF"/>
                </a:solidFill>
                <a:latin typeface="Inconsolata"/>
              </a:rPr>
              <a:t>## Checklist</a:t>
            </a:r>
          </a:p>
        </p:txBody>
      </p:sp>
      <p:sp>
        <p:nvSpPr>
          <p:cNvPr id="39" name="Box 24"/>
          <p:cNvSpPr/>
          <p:nvPr/>
        </p:nvSpPr>
        <p:spPr>
          <a:xfrm>
            <a:off x="4379976" y="3255137"/>
            <a:ext cx="4023359" cy="969518"/>
          </a:xfrm>
          <a:prstGeom prst="roundRect">
            <a:avLst>
              <a:gd name="adj" fmla="val 471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Code Review</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memakai Template Pull Request?</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template</a:t>
            </a:r>
          </a:p>
          <a:p>
            <a:pPr algn="l">
              <a:lnSpc>
                <a:spcPct val="115000"/>
              </a:lnSpc>
              <a:spcAft>
                <a:spcPts val="400"/>
              </a:spcAft>
            </a:pPr>
            <a:r>
              <a:rPr sz="950" b="0" i="0">
                <a:solidFill>
                  <a:srgbClr val="434343"/>
                </a:solidFill>
                <a:latin typeface="Inter"/>
              </a:rPr>
              <a:t>Deskripsi "fix order", reviewer menjawab "LGTM" tanpa tahu apa yang harus dicek.</a:t>
            </a:r>
          </a:p>
          <a:p>
            <a:pPr algn="l">
              <a:lnSpc>
                <a:spcPct val="115000"/>
              </a:lnSpc>
              <a:spcAft>
                <a:spcPts val="400"/>
              </a:spcAft>
            </a:pPr>
            <a:r>
              <a:rPr sz="1050" b="1" i="0">
                <a:solidFill>
                  <a:srgbClr val="1C4587"/>
                </a:solidFill>
                <a:latin typeface="Inter"/>
              </a:rPr>
              <a:t>Jika pull request makin banyak</a:t>
            </a:r>
          </a:p>
          <a:p>
            <a:pPr algn="l">
              <a:lnSpc>
                <a:spcPct val="115000"/>
              </a:lnSpc>
              <a:spcAft>
                <a:spcPts val="400"/>
              </a:spcAft>
            </a:pPr>
            <a:r>
              <a:rPr sz="950" b="0" i="0">
                <a:solidFill>
                  <a:srgbClr val="434343"/>
                </a:solidFill>
                <a:latin typeface="Inter"/>
              </a:rPr>
              <a:t>Reviewer menyetujui perubahan yang tidak dipahaminya, dan bug lolos dengan status sudah di-review.</a:t>
            </a:r>
          </a:p>
          <a:p>
            <a:pPr algn="l">
              <a:lnSpc>
                <a:spcPct val="115000"/>
              </a:lnSpc>
              <a:spcAft>
                <a:spcPts val="400"/>
              </a:spcAft>
            </a:pPr>
            <a:r>
              <a:rPr sz="950" b="0" i="0">
                <a:solidFill>
                  <a:srgbClr val="434343"/>
                </a:solidFill>
                <a:latin typeface="Inter"/>
              </a:rPr>
              <a:t>Hal ini membuat code review hanya formalitas.</a:t>
            </a:r>
          </a:p>
          <a:p>
            <a:pPr algn="l">
              <a:lnSpc>
                <a:spcPct val="115000"/>
              </a:lnSpc>
              <a:spcAft>
                <a:spcPts val="400"/>
              </a:spcAft>
            </a:pPr>
            <a:r>
              <a:rPr sz="1050" b="1" i="0">
                <a:solidFill>
                  <a:srgbClr val="1C4587"/>
                </a:solidFill>
                <a:latin typeface="Inter"/>
              </a:rPr>
              <a:t>Yang dipakai dari GitHub</a:t>
            </a:r>
          </a:p>
          <a:p>
            <a:pPr algn="l">
              <a:lnSpc>
                <a:spcPct val="115000"/>
              </a:lnSpc>
              <a:spcAft>
                <a:spcPts val="400"/>
              </a:spcAft>
            </a:pPr>
            <a:r>
              <a:rPr sz="950" b="0" i="0">
                <a:solidFill>
                  <a:srgbClr val="434343"/>
                </a:solidFill>
                <a:latin typeface="Inter"/>
              </a:rPr>
              <a:t>File </a:t>
            </a:r>
            <a:r>
              <a:rPr sz="950" b="0" i="0">
                <a:solidFill>
                  <a:srgbClr val="B5482A"/>
                </a:solidFill>
                <a:latin typeface="Inconsolata"/>
              </a:rPr>
              <a:t>.github/pull_request_template.md</a:t>
            </a:r>
            <a:r>
              <a:rPr sz="950" b="0" i="0">
                <a:solidFill>
                  <a:srgbClr val="434343"/>
                </a:solidFill>
                <a:latin typeface="Inter"/>
              </a:rPr>
              <a:t> otomatis mengisi deskripsi setiap pull request baru.</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Reviewer mengecek</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Contoh</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Kebenaran</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Aturan bisnis, error ditangani</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Keamanan</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Login, scope, tidak ada secret</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Data</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Transaksi, index, N+1</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Perawatan</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Nama jelas, test ikut berubah</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Code Review</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Template pull request</a:t>
            </a:r>
          </a:p>
        </p:txBody>
      </p:sp>
      <p:sp>
        <p:nvSpPr>
          <p:cNvPr id="22" name="CodeTab 4"/>
          <p:cNvSpPr/>
          <p:nvPr/>
        </p:nvSpPr>
        <p:spPr>
          <a:xfrm>
            <a:off x="621792" y="1481328"/>
            <a:ext cx="5486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846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03-code-review/pull_request_template.md</a:t>
            </a:r>
          </a:p>
        </p:txBody>
      </p:sp>
      <p:sp>
        <p:nvSpPr>
          <p:cNvPr id="27" name="CodeBg 10"/>
          <p:cNvSpPr/>
          <p:nvPr/>
        </p:nvSpPr>
        <p:spPr>
          <a:xfrm>
            <a:off x="621792" y="1719072"/>
            <a:ext cx="548640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48640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&lt;!-- Disimpan di .github/pull_request_template.md, GitHub mengisi deskripsi pull request baru dengan template ini --&gt;</a:t>
            </a:r>
          </a:p>
          <a:p>
            <a:pPr>
              <a:lnSpc>
                <a:spcPct val="102564"/>
              </a:lnSpc>
              <a:spcAft>
                <a:spcPts val="0"/>
              </a:spcAft>
            </a:pPr>
            <a:r>
              <a:rPr sz="650" i="0">
                <a:solidFill>
                  <a:srgbClr val="82B1FF"/>
                </a:solidFill>
                <a:latin typeface="Inconsolata"/>
              </a:rPr>
              <a:t>## Apa yang berubah</a:t>
            </a:r>
          </a:p>
          <a:p>
            <a:pPr>
              <a:lnSpc>
                <a:spcPct val="102564"/>
              </a:lnSpc>
              <a:spcAft>
                <a:spcPts val="0"/>
              </a:spcAft>
            </a:pPr>
            <a:r>
              <a:rPr sz="650" i="1">
                <a:solidFill>
                  <a:srgbClr val="8B98A8"/>
                </a:solidFill>
                <a:latin typeface="Inconsolata"/>
              </a:rPr>
              <a:t>&lt;!-- Satu atau dua kalimat. Sertakan nomor issue jika ada. --&gt;</a:t>
            </a:r>
          </a:p>
          <a:p>
            <a:pPr>
              <a:lnSpc>
                <a:spcPct val="102564"/>
              </a:lnSpc>
              <a:spcAft>
                <a:spcPts val="0"/>
              </a:spcAft>
            </a:pPr>
            <a:endParaRPr sz="650" i="1">
              <a:solidFill>
                <a:srgbClr val="8B98A8"/>
              </a:solidFill>
              <a:latin typeface="Inconsolata"/>
            </a:endParaRPr>
          </a:p>
          <a:p>
            <a:pPr>
              <a:lnSpc>
                <a:spcPct val="102564"/>
              </a:lnSpc>
              <a:spcAft>
                <a:spcPts val="0"/>
              </a:spcAft>
            </a:pPr>
            <a:r>
              <a:rPr sz="650" i="0">
                <a:solidFill>
                  <a:srgbClr val="82B1FF"/>
                </a:solidFill>
                <a:latin typeface="Inconsolata"/>
              </a:rPr>
              <a:t>## Kenapa</a:t>
            </a:r>
          </a:p>
          <a:p>
            <a:pPr>
              <a:lnSpc>
                <a:spcPct val="102564"/>
              </a:lnSpc>
              <a:spcAft>
                <a:spcPts val="0"/>
              </a:spcAft>
            </a:pPr>
            <a:r>
              <a:rPr sz="650" i="1">
                <a:solidFill>
                  <a:srgbClr val="8B98A8"/>
                </a:solidFill>
                <a:latin typeface="Inconsolata"/>
              </a:rPr>
              <a:t>&lt;!-- Masalah yang diselesaikan atau kebutuhan bisnisnya. --&gt;</a:t>
            </a:r>
          </a:p>
          <a:p>
            <a:pPr>
              <a:lnSpc>
                <a:spcPct val="102564"/>
              </a:lnSpc>
              <a:spcAft>
                <a:spcPts val="0"/>
              </a:spcAft>
            </a:pPr>
            <a:endParaRPr sz="650" i="1">
              <a:solidFill>
                <a:srgbClr val="8B98A8"/>
              </a:solidFill>
              <a:latin typeface="Inconsolata"/>
            </a:endParaRPr>
          </a:p>
          <a:p>
            <a:pPr>
              <a:lnSpc>
                <a:spcPct val="102564"/>
              </a:lnSpc>
              <a:spcAft>
                <a:spcPts val="0"/>
              </a:spcAft>
            </a:pPr>
            <a:r>
              <a:rPr sz="650" i="0">
                <a:solidFill>
                  <a:srgbClr val="82B1FF"/>
                </a:solidFill>
                <a:latin typeface="Inconsolata"/>
              </a:rPr>
              <a:t>## Cara mengecek</a:t>
            </a:r>
          </a:p>
          <a:p>
            <a:pPr>
              <a:lnSpc>
                <a:spcPct val="102564"/>
              </a:lnSpc>
              <a:spcAft>
                <a:spcPts val="0"/>
              </a:spcAft>
            </a:pPr>
            <a:r>
              <a:rPr sz="650" i="1">
                <a:solidFill>
                  <a:srgbClr val="8B98A8"/>
                </a:solidFill>
                <a:latin typeface="Inconsolata"/>
              </a:rPr>
              <a:t>&lt;!-- Langkah yang bisa diikuti reviewer: endpoint, data contoh, perintah. --&gt;</a:t>
            </a:r>
          </a:p>
          <a:p>
            <a:pPr>
              <a:lnSpc>
                <a:spcPct val="102564"/>
              </a:lnSpc>
              <a:spcAft>
                <a:spcPts val="0"/>
              </a:spcAft>
            </a:pPr>
            <a:endParaRPr sz="650" i="1">
              <a:solidFill>
                <a:srgbClr val="8B98A8"/>
              </a:solidFill>
              <a:latin typeface="Inconsolata"/>
            </a:endParaRPr>
          </a:p>
          <a:p>
            <a:pPr>
              <a:lnSpc>
                <a:spcPct val="102564"/>
              </a:lnSpc>
              <a:spcAft>
                <a:spcPts val="0"/>
              </a:spcAft>
            </a:pPr>
            <a:r>
              <a:rPr sz="650" i="0">
                <a:solidFill>
                  <a:srgbClr val="82B1FF"/>
                </a:solidFill>
                <a:latin typeface="Inconsolata"/>
              </a:rPr>
              <a:t>## Checklist</a:t>
            </a:r>
          </a:p>
          <a:p>
            <a:pPr>
              <a:lnSpc>
                <a:spcPct val="102564"/>
              </a:lnSpc>
              <a:spcAft>
                <a:spcPts val="0"/>
              </a:spcAft>
            </a:pPr>
            <a:r>
              <a:rPr sz="650" i="0">
                <a:solidFill>
                  <a:srgbClr val="E6EDF3"/>
                </a:solidFill>
                <a:latin typeface="Inconsolata"/>
              </a:rPr>
              <a:t>- [ ] Test baru atau test yang diubah ikut di pull request ini</a:t>
            </a:r>
          </a:p>
          <a:p>
            <a:pPr>
              <a:lnSpc>
                <a:spcPct val="102564"/>
              </a:lnSpc>
              <a:spcAft>
                <a:spcPts val="0"/>
              </a:spcAft>
            </a:pPr>
            <a:r>
              <a:rPr sz="650" i="0">
                <a:solidFill>
                  <a:srgbClr val="E6EDF3"/>
                </a:solidFill>
                <a:latin typeface="Inconsolata"/>
              </a:rPr>
              <a:t>- [ ] `ruff check .` dan `pytest` hijau</a:t>
            </a:r>
          </a:p>
          <a:p>
            <a:pPr>
              <a:lnSpc>
                <a:spcPct val="102564"/>
              </a:lnSpc>
              <a:spcAft>
                <a:spcPts val="0"/>
              </a:spcAft>
            </a:pPr>
            <a:r>
              <a:rPr sz="650" i="0">
                <a:solidFill>
                  <a:srgbClr val="E6EDF3"/>
                </a:solidFill>
                <a:latin typeface="Inconsolata"/>
              </a:rPr>
              <a:t>- [ ] Tidak ada secret, password, atau token di kode maupun log</a:t>
            </a:r>
          </a:p>
          <a:p>
            <a:pPr>
              <a:lnSpc>
                <a:spcPct val="102564"/>
              </a:lnSpc>
              <a:spcAft>
                <a:spcPts val="0"/>
              </a:spcAft>
            </a:pPr>
            <a:r>
              <a:rPr sz="650" i="0">
                <a:solidFill>
                  <a:srgbClr val="E6EDF3"/>
                </a:solidFill>
                <a:latin typeface="Inconsolata"/>
              </a:rPr>
              <a:t>- [ ] Endpoint baru punya pengecekan login dan scope</a:t>
            </a:r>
          </a:p>
          <a:p>
            <a:pPr>
              <a:lnSpc>
                <a:spcPct val="102564"/>
              </a:lnSpc>
              <a:spcAft>
                <a:spcPts val="0"/>
              </a:spcAft>
            </a:pPr>
            <a:r>
              <a:rPr sz="650" i="0">
                <a:solidFill>
                  <a:srgbClr val="E6EDF3"/>
                </a:solidFill>
                <a:latin typeface="Inconsolata"/>
              </a:rPr>
              <a:t>- [ ] Perubahan database punya index yang dibutuhkan, tanpa N+1 query</a:t>
            </a:r>
          </a:p>
          <a:p>
            <a:pPr>
              <a:lnSpc>
                <a:spcPct val="102564"/>
              </a:lnSpc>
              <a:spcAft>
                <a:spcPts val="0"/>
              </a:spcAft>
            </a:pPr>
            <a:r>
              <a:rPr sz="650" i="0">
                <a:solidFill>
                  <a:srgbClr val="E6EDF3"/>
                </a:solidFill>
                <a:latin typeface="Inconsolata"/>
              </a:rPr>
              <a:t>- [ ] README atau ADR diperbarui jika ada perubahan cara menjalankan atau keputusan arsitektur</a:t>
            </a:r>
          </a:p>
        </p:txBody>
      </p:sp>
      <p:sp>
        <p:nvSpPr>
          <p:cNvPr id="29" name="Box 12"/>
          <p:cNvSpPr/>
          <p:nvPr/>
        </p:nvSpPr>
        <p:spPr>
          <a:xfrm>
            <a:off x="704088" y="1925320"/>
            <a:ext cx="5321808" cy="705103"/>
          </a:xfrm>
          <a:prstGeom prst="roundRect">
            <a:avLst>
              <a:gd name="adj" fmla="val 648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907024" y="21590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839720"/>
            <a:ext cx="5321808" cy="705103"/>
          </a:xfrm>
          <a:prstGeom prst="roundRect">
            <a:avLst>
              <a:gd name="adj" fmla="val 648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907024" y="307340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263640" y="1481328"/>
            <a:ext cx="2221991" cy="3218688"/>
          </a:xfrm>
          <a:prstGeom prst="roundRect">
            <a:avLst>
              <a:gd name="adj" fmla="val 4938"/>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400800" y="1572768"/>
            <a:ext cx="194767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Kegunaan</a:t>
            </a:r>
          </a:p>
        </p:txBody>
      </p:sp>
      <p:sp>
        <p:nvSpPr>
          <p:cNvPr id="35" name="Text 18"/>
          <p:cNvSpPr txBox="1"/>
          <p:nvPr/>
        </p:nvSpPr>
        <p:spPr>
          <a:xfrm>
            <a:off x="6400800" y="1892808"/>
            <a:ext cx="194767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Apa, kenapa, dan cara mengecek</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Checklist dari materi Sesi 1-11: test, secret, scope, index</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Disimpan di </a:t>
            </a:r>
            <a:r>
              <a:rPr sz="950" b="0" i="0">
                <a:solidFill>
                  <a:srgbClr val="B5482A"/>
                </a:solidFill>
                <a:latin typeface="Inconsolata"/>
              </a:rPr>
              <a:t>.github/pull_request_template.md</a:t>
            </a:r>
            <a:r>
              <a:rPr sz="950" b="0" i="0">
                <a:solidFill>
                  <a:srgbClr val="434343"/>
                </a:solidFill>
                <a:latin typeface="Inter"/>
              </a:rPr>
              <a:t>. Contoh pull request yang memakainya ada di </a:t>
            </a:r>
            <a:r>
              <a:rPr sz="950" b="0" i="0">
                <a:solidFill>
                  <a:srgbClr val="B5482A"/>
                </a:solidFill>
                <a:latin typeface="Inconsolata"/>
              </a:rPr>
              <a:t>03-code-review/after.md</a:t>
            </a:r>
            <a:r>
              <a:rPr sz="950" b="0" i="0">
                <a:solidFill>
                  <a:srgbClr val="434343"/>
                </a:solidFill>
                <a:latin typeface="Inter"/>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26</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03</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Hands-on: Order API Siap Production</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Dikerjakan bersama mentor. Smoke test, deploy otomatis, dan dokumentasi.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Kondisi Awal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Hasil Sesi 11: Image Langsung Di-publish</a:t>
            </a:r>
          </a:p>
        </p:txBody>
      </p:sp>
      <p:sp>
        <p:nvSpPr>
          <p:cNvPr id="22" name="CodeTab 4"/>
          <p:cNvSpPr/>
          <p:nvPr/>
        </p:nvSpPr>
        <p:spPr>
          <a:xfrm>
            <a:off x="621792" y="1481328"/>
            <a:ext cx="49377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2976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04-production-ready/before/.github/workflows/ci.yml</a:t>
            </a:r>
          </a:p>
        </p:txBody>
      </p:sp>
      <p:sp>
        <p:nvSpPr>
          <p:cNvPr id="27" name="CodeBg 10"/>
          <p:cNvSpPr/>
          <p:nvPr/>
        </p:nvSpPr>
        <p:spPr>
          <a:xfrm>
            <a:off x="621792" y="1719072"/>
            <a:ext cx="49377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937760" cy="2980944"/>
          </a:xfrm>
          <a:prstGeom prst="rect">
            <a:avLst/>
          </a:prstGeom>
          <a:noFill/>
        </p:spPr>
        <p:txBody>
          <a:bodyPr wrap="none" lIns="146304" tIns="91440" rIns="146304" bIns="54864">
            <a:spAutoFit/>
          </a:bodyPr>
          <a:lstStyle/>
          <a:p>
            <a:pPr>
              <a:lnSpc>
                <a:spcPct val="111111"/>
              </a:lnSpc>
              <a:spcAft>
                <a:spcPts val="0"/>
              </a:spcAft>
            </a:pPr>
            <a:r>
              <a:rPr sz="900" i="0">
                <a:solidFill>
                  <a:srgbClr val="E6EDF3"/>
                </a:solidFill>
                <a:latin typeface="Inconsolata"/>
              </a:rPr>
              <a:t>  </a:t>
            </a:r>
            <a:r>
              <a:rPr sz="900" i="0">
                <a:solidFill>
                  <a:srgbClr val="82B1FF"/>
                </a:solidFill>
                <a:latin typeface="Inconsolata"/>
              </a:rPr>
              <a:t>publish</a:t>
            </a:r>
            <a:r>
              <a:rPr sz="900" i="0">
                <a:solidFill>
                  <a:srgbClr val="E6EDF3"/>
                </a:solidFill>
                <a:latin typeface="Inconsolata"/>
              </a:rPr>
              <a:t>:</a:t>
            </a:r>
          </a:p>
          <a:p>
            <a:pPr>
              <a:lnSpc>
                <a:spcPct val="111111"/>
              </a:lnSpc>
              <a:spcAft>
                <a:spcPts val="0"/>
              </a:spcAft>
            </a:pPr>
            <a:r>
              <a:rPr sz="900" i="0">
                <a:solidFill>
                  <a:srgbClr val="E6EDF3"/>
                </a:solidFill>
                <a:latin typeface="Inconsolata"/>
              </a:rPr>
              <a:t>    </a:t>
            </a:r>
            <a:r>
              <a:rPr sz="900" i="0">
                <a:solidFill>
                  <a:srgbClr val="82B1FF"/>
                </a:solidFill>
                <a:latin typeface="Inconsolata"/>
              </a:rPr>
              <a:t>needs</a:t>
            </a:r>
            <a:r>
              <a:rPr sz="900" i="0">
                <a:solidFill>
                  <a:srgbClr val="E6EDF3"/>
                </a:solidFill>
                <a:latin typeface="Inconsolata"/>
              </a:rPr>
              <a:t>: build-scan</a:t>
            </a:r>
          </a:p>
          <a:p>
            <a:pPr>
              <a:lnSpc>
                <a:spcPct val="111111"/>
              </a:lnSpc>
              <a:spcAft>
                <a:spcPts val="0"/>
              </a:spcAft>
            </a:pPr>
            <a:r>
              <a:rPr sz="900" i="0">
                <a:solidFill>
                  <a:srgbClr val="E6EDF3"/>
                </a:solidFill>
                <a:latin typeface="Inconsolata"/>
              </a:rPr>
              <a:t>    </a:t>
            </a:r>
            <a:r>
              <a:rPr sz="900" i="0">
                <a:solidFill>
                  <a:srgbClr val="82B1FF"/>
                </a:solidFill>
                <a:latin typeface="Inconsolata"/>
              </a:rPr>
              <a:t>if</a:t>
            </a:r>
            <a:r>
              <a:rPr sz="900" i="0">
                <a:solidFill>
                  <a:srgbClr val="E6EDF3"/>
                </a:solidFill>
                <a:latin typeface="Inconsolata"/>
              </a:rPr>
              <a:t>: github.ref == 'refs/heads/main'</a:t>
            </a:r>
          </a:p>
          <a:p>
            <a:pPr>
              <a:lnSpc>
                <a:spcPct val="111111"/>
              </a:lnSpc>
              <a:spcAft>
                <a:spcPts val="0"/>
              </a:spcAft>
            </a:pPr>
            <a:r>
              <a:rPr sz="900" i="0">
                <a:solidFill>
                  <a:srgbClr val="E6EDF3"/>
                </a:solidFill>
                <a:latin typeface="Inconsolata"/>
              </a:rPr>
              <a:t>...</a:t>
            </a:r>
          </a:p>
          <a:p>
            <a:pPr>
              <a:lnSpc>
                <a:spcPct val="111111"/>
              </a:lnSpc>
              <a:spcAft>
                <a:spcPts val="0"/>
              </a:spcAft>
            </a:pPr>
            <a:r>
              <a:rPr sz="900" i="0">
                <a:solidFill>
                  <a:srgbClr val="E6EDF3"/>
                </a:solidFill>
                <a:latin typeface="Inconsolata"/>
              </a:rPr>
              <a:t>      - </a:t>
            </a:r>
            <a:r>
              <a:rPr sz="900" i="0">
                <a:solidFill>
                  <a:srgbClr val="82B1FF"/>
                </a:solidFill>
                <a:latin typeface="Inconsolata"/>
              </a:rPr>
              <a:t>uses</a:t>
            </a:r>
            <a:r>
              <a:rPr sz="900" i="0">
                <a:solidFill>
                  <a:srgbClr val="E6EDF3"/>
                </a:solidFill>
                <a:latin typeface="Inconsolata"/>
              </a:rPr>
              <a:t>: docker/build-push-action@v6</a:t>
            </a:r>
          </a:p>
          <a:p>
            <a:pPr>
              <a:lnSpc>
                <a:spcPct val="111111"/>
              </a:lnSpc>
              <a:spcAft>
                <a:spcPts val="0"/>
              </a:spcAft>
            </a:pPr>
            <a:r>
              <a:rPr sz="900" i="0">
                <a:solidFill>
                  <a:srgbClr val="E6EDF3"/>
                </a:solidFill>
                <a:latin typeface="Inconsolata"/>
              </a:rPr>
              <a:t>        </a:t>
            </a:r>
            <a:r>
              <a:rPr sz="900" i="0">
                <a:solidFill>
                  <a:srgbClr val="82B1FF"/>
                </a:solidFill>
                <a:latin typeface="Inconsolata"/>
              </a:rPr>
              <a:t>with</a:t>
            </a:r>
            <a:r>
              <a:rPr sz="900" i="0">
                <a:solidFill>
                  <a:srgbClr val="E6EDF3"/>
                </a:solidFill>
                <a:latin typeface="Inconsolata"/>
              </a:rPr>
              <a:t>:</a:t>
            </a:r>
          </a:p>
          <a:p>
            <a:pPr>
              <a:lnSpc>
                <a:spcPct val="111111"/>
              </a:lnSpc>
              <a:spcAft>
                <a:spcPts val="0"/>
              </a:spcAft>
            </a:pPr>
            <a:r>
              <a:rPr sz="900" i="0">
                <a:solidFill>
                  <a:srgbClr val="E6EDF3"/>
                </a:solidFill>
                <a:latin typeface="Inconsolata"/>
              </a:rPr>
              <a:t>          </a:t>
            </a:r>
            <a:r>
              <a:rPr sz="900" i="0">
                <a:solidFill>
                  <a:srgbClr val="82B1FF"/>
                </a:solidFill>
                <a:latin typeface="Inconsolata"/>
              </a:rPr>
              <a:t>push</a:t>
            </a:r>
            <a:r>
              <a:rPr sz="900" i="0">
                <a:solidFill>
                  <a:srgbClr val="E6EDF3"/>
                </a:solidFill>
                <a:latin typeface="Inconsolata"/>
              </a:rPr>
              <a:t>: true</a:t>
            </a:r>
          </a:p>
        </p:txBody>
      </p:sp>
      <p:sp>
        <p:nvSpPr>
          <p:cNvPr id="29" name="Box 12"/>
          <p:cNvSpPr/>
          <p:nvPr/>
        </p:nvSpPr>
        <p:spPr>
          <a:xfrm>
            <a:off x="704088" y="1982724"/>
            <a:ext cx="4773168" cy="143255"/>
          </a:xfrm>
          <a:prstGeom prst="roundRect">
            <a:avLst>
              <a:gd name="adj" fmla="val 3191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358384" y="19354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44724"/>
            <a:ext cx="4773168" cy="143255"/>
          </a:xfrm>
          <a:prstGeom prst="roundRect">
            <a:avLst>
              <a:gd name="adj" fmla="val 3191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715000" y="1481328"/>
            <a:ext cx="2770631" cy="3218688"/>
          </a:xfrm>
          <a:prstGeom prst="roundRect">
            <a:avLst>
              <a:gd name="adj" fmla="val 396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Text 16"/>
          <p:cNvSpPr txBox="1"/>
          <p:nvPr/>
        </p:nvSpPr>
        <p:spPr>
          <a:xfrm>
            <a:off x="5852160" y="1572768"/>
            <a:ext cx="2496311"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4" name="Text 17"/>
          <p:cNvSpPr txBox="1"/>
          <p:nvPr/>
        </p:nvSpPr>
        <p:spPr>
          <a:xfrm>
            <a:off x="5852160" y="1892808"/>
            <a:ext cx="2496311"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Image di-push ke registry tanpa pernah dicoba di-deploy</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Tidak ada pengecekan setelah deploy</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README, diagram, dan ADR belum ada</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Kode inilah yang kita kembangkan di hands-on.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mulai dari 04-production-ready/before/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Tujuan &amp; Kriteria Selesai</a:t>
            </a:r>
          </a:p>
        </p:txBody>
      </p:sp>
      <p:sp>
        <p:nvSpPr>
          <p:cNvPr id="22" name="Box 3"/>
          <p:cNvSpPr/>
          <p:nvPr/>
        </p:nvSpPr>
        <p:spPr>
          <a:xfrm>
            <a:off x="621792" y="1481328"/>
            <a:ext cx="3840480" cy="3218688"/>
          </a:xfrm>
          <a:prstGeom prst="roundRect">
            <a:avLst>
              <a:gd name="adj" fmla="val 340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572768"/>
            <a:ext cx="3566160" cy="310896"/>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Kriteria selesai</a:t>
            </a:r>
          </a:p>
        </p:txBody>
      </p:sp>
      <p:sp>
        <p:nvSpPr>
          <p:cNvPr id="24" name="Text 5"/>
          <p:cNvSpPr txBox="1"/>
          <p:nvPr/>
        </p:nvSpPr>
        <p:spPr>
          <a:xfrm>
            <a:off x="758952" y="1892808"/>
            <a:ext cx="356616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smoke_test.py</a:t>
            </a:r>
            <a:r>
              <a:rPr sz="900" b="0" i="0">
                <a:solidFill>
                  <a:srgbClr val="434343"/>
                </a:solidFill>
                <a:latin typeface="Inter"/>
              </a:rPr>
              <a:t> lulus ke Compose dan Kubernetes</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Smoke test gagal (exit 1) jika dependency mati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Job </a:t>
            </a:r>
            <a:r>
              <a:rPr sz="900" b="0" i="0">
                <a:solidFill>
                  <a:srgbClr val="B5482A"/>
                </a:solidFill>
                <a:latin typeface="Inconsolata"/>
              </a:rPr>
              <a:t>deploy-smoke</a:t>
            </a:r>
            <a:r>
              <a:rPr sz="900" b="0" i="0">
                <a:solidFill>
                  <a:srgbClr val="434343"/>
                </a:solidFill>
                <a:latin typeface="Inter"/>
              </a:rPr>
              <a:t>: kind, deploy, smoke test</a:t>
            </a:r>
          </a:p>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publish</a:t>
            </a:r>
            <a:r>
              <a:rPr sz="900" b="0" i="0">
                <a:solidFill>
                  <a:srgbClr val="434343"/>
                </a:solidFill>
                <a:latin typeface="Inter"/>
              </a:rPr>
              <a:t> baru jalan setelah smoke test lulus</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README, diagram, tiga ADR, deployment checklist</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Template pull request, </a:t>
            </a:r>
            <a:r>
              <a:rPr sz="900" b="0" i="0">
                <a:solidFill>
                  <a:srgbClr val="B5482A"/>
                </a:solidFill>
                <a:latin typeface="Inconsolata"/>
              </a:rPr>
              <a:t>ruff</a:t>
            </a:r>
            <a:r>
              <a:rPr sz="900" b="0" i="0">
                <a:solidFill>
                  <a:srgbClr val="434343"/>
                </a:solidFill>
                <a:latin typeface="Inter"/>
              </a:rPr>
              <a:t> dan </a:t>
            </a:r>
            <a:r>
              <a:rPr sz="900" b="0" i="0">
                <a:solidFill>
                  <a:srgbClr val="B5482A"/>
                </a:solidFill>
                <a:latin typeface="Inconsolata"/>
              </a:rPr>
              <a:t>pytest</a:t>
            </a:r>
            <a:r>
              <a:rPr sz="900" b="0" i="0">
                <a:solidFill>
                  <a:srgbClr val="434343"/>
                </a:solidFill>
                <a:latin typeface="Inter"/>
              </a:rPr>
              <a:t> hijau</a:t>
            </a:r>
          </a:p>
        </p:txBody>
      </p:sp>
      <p:sp>
        <p:nvSpPr>
          <p:cNvPr id="25" name="CodeTab 7"/>
          <p:cNvSpPr/>
          <p:nvPr/>
        </p:nvSpPr>
        <p:spPr>
          <a:xfrm>
            <a:off x="4617720" y="1481328"/>
            <a:ext cx="386791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Dot 8"/>
          <p:cNvSpPr/>
          <p:nvPr/>
        </p:nvSpPr>
        <p:spPr>
          <a:xfrm>
            <a:off x="472744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t 9"/>
          <p:cNvSpPr/>
          <p:nvPr/>
        </p:nvSpPr>
        <p:spPr>
          <a:xfrm>
            <a:off x="486460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t 10"/>
          <p:cNvSpPr/>
          <p:nvPr/>
        </p:nvSpPr>
        <p:spPr>
          <a:xfrm>
            <a:off x="500176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11"/>
          <p:cNvSpPr txBox="1"/>
          <p:nvPr/>
        </p:nvSpPr>
        <p:spPr>
          <a:xfrm>
            <a:off x="5166359" y="1490472"/>
            <a:ext cx="322783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target struktur</a:t>
            </a:r>
          </a:p>
        </p:txBody>
      </p:sp>
      <p:sp>
        <p:nvSpPr>
          <p:cNvPr id="30" name="CodeBg 13"/>
          <p:cNvSpPr/>
          <p:nvPr/>
        </p:nvSpPr>
        <p:spPr>
          <a:xfrm>
            <a:off x="4617720" y="1719072"/>
            <a:ext cx="386791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 14"/>
          <p:cNvSpPr txBox="1"/>
          <p:nvPr/>
        </p:nvSpPr>
        <p:spPr>
          <a:xfrm>
            <a:off x="4617720" y="1719072"/>
            <a:ext cx="3867912" cy="2980944"/>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latihan/</a:t>
            </a:r>
          </a:p>
          <a:p>
            <a:pPr>
              <a:lnSpc>
                <a:spcPct val="111111"/>
              </a:lnSpc>
              <a:spcAft>
                <a:spcPts val="0"/>
              </a:spcAft>
            </a:pPr>
            <a:r>
              <a:rPr sz="750" i="0">
                <a:solidFill>
                  <a:srgbClr val="E6EDF3"/>
                </a:solidFill>
                <a:latin typeface="Inconsolata"/>
              </a:rPr>
              <a:t>  smoke_test.py              # langkah 2</a:t>
            </a:r>
          </a:p>
          <a:p>
            <a:pPr>
              <a:lnSpc>
                <a:spcPct val="111111"/>
              </a:lnSpc>
              <a:spcAft>
                <a:spcPts val="0"/>
              </a:spcAft>
            </a:pPr>
            <a:r>
              <a:rPr sz="750" i="0">
                <a:solidFill>
                  <a:srgbClr val="E6EDF3"/>
                </a:solidFill>
                <a:latin typeface="Inconsolata"/>
              </a:rPr>
              <a:t>  tests/test_smoke.py        # langkah 3</a:t>
            </a:r>
          </a:p>
          <a:p>
            <a:pPr>
              <a:lnSpc>
                <a:spcPct val="111111"/>
              </a:lnSpc>
              <a:spcAft>
                <a:spcPts val="0"/>
              </a:spcAft>
            </a:pPr>
            <a:r>
              <a:rPr sz="750" i="0">
                <a:solidFill>
                  <a:srgbClr val="E6EDF3"/>
                </a:solidFill>
                <a:latin typeface="Inconsolata"/>
              </a:rPr>
              <a:t>  .github/workflows/ci.yml   # langkah 5</a:t>
            </a:r>
          </a:p>
          <a:p>
            <a:pPr>
              <a:lnSpc>
                <a:spcPct val="111111"/>
              </a:lnSpc>
              <a:spcAft>
                <a:spcPts val="0"/>
              </a:spcAft>
            </a:pPr>
            <a:r>
              <a:rPr sz="750" i="0">
                <a:solidFill>
                  <a:srgbClr val="E6EDF3"/>
                </a:solidFill>
                <a:latin typeface="Inconsolata"/>
              </a:rPr>
              <a:t>  README.md                  # langkah 6</a:t>
            </a:r>
          </a:p>
          <a:p>
            <a:pPr>
              <a:lnSpc>
                <a:spcPct val="111111"/>
              </a:lnSpc>
              <a:spcAft>
                <a:spcPts val="0"/>
              </a:spcAft>
            </a:pPr>
            <a:r>
              <a:rPr sz="750" i="0">
                <a:solidFill>
                  <a:srgbClr val="E6EDF3"/>
                </a:solidFill>
                <a:latin typeface="Inconsolata"/>
              </a:rPr>
              <a:t>  docs/</a:t>
            </a:r>
          </a:p>
          <a:p>
            <a:pPr>
              <a:lnSpc>
                <a:spcPct val="111111"/>
              </a:lnSpc>
              <a:spcAft>
                <a:spcPts val="0"/>
              </a:spcAft>
            </a:pPr>
            <a:r>
              <a:rPr sz="750" i="0">
                <a:solidFill>
                  <a:srgbClr val="E6EDF3"/>
                </a:solidFill>
                <a:latin typeface="Inconsolata"/>
              </a:rPr>
              <a:t>    architecture.md          # langkah 6</a:t>
            </a:r>
          </a:p>
          <a:p>
            <a:pPr>
              <a:lnSpc>
                <a:spcPct val="111111"/>
              </a:lnSpc>
              <a:spcAft>
                <a:spcPts val="0"/>
              </a:spcAft>
            </a:pPr>
            <a:r>
              <a:rPr sz="750" i="0">
                <a:solidFill>
                  <a:srgbClr val="E6EDF3"/>
                </a:solidFill>
                <a:latin typeface="Inconsolata"/>
              </a:rPr>
              <a:t>    deployment-checklist.md  # langkah 6</a:t>
            </a:r>
          </a:p>
          <a:p>
            <a:pPr>
              <a:lnSpc>
                <a:spcPct val="111111"/>
              </a:lnSpc>
              <a:spcAft>
                <a:spcPts val="0"/>
              </a:spcAft>
            </a:pPr>
            <a:r>
              <a:rPr sz="750" i="0">
                <a:solidFill>
                  <a:srgbClr val="E6EDF3"/>
                </a:solidFill>
                <a:latin typeface="Inconsolata"/>
              </a:rPr>
              <a:t>    adr/                     # langkah 6</a:t>
            </a:r>
          </a:p>
          <a:p>
            <a:pPr>
              <a:lnSpc>
                <a:spcPct val="111111"/>
              </a:lnSpc>
              <a:spcAft>
                <a:spcPts val="0"/>
              </a:spcAft>
            </a:pPr>
            <a:r>
              <a:rPr sz="750" i="0">
                <a:solidFill>
                  <a:srgbClr val="E6EDF3"/>
                </a:solidFill>
                <a:latin typeface="Inconsolata"/>
              </a:rPr>
              <a:t>  .github/</a:t>
            </a:r>
          </a:p>
          <a:p>
            <a:pPr>
              <a:lnSpc>
                <a:spcPct val="111111"/>
              </a:lnSpc>
              <a:spcAft>
                <a:spcPts val="0"/>
              </a:spcAft>
            </a:pPr>
            <a:r>
              <a:rPr sz="750" i="0">
                <a:solidFill>
                  <a:srgbClr val="E6EDF3"/>
                </a:solidFill>
                <a:latin typeface="Inconsolata"/>
              </a:rPr>
              <a:t>    pull_request_template.md # langkah 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 dari 7</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Siapkan folder latihan</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2519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892040" cy="2980944"/>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sesi-12-final-project</a:t>
            </a:r>
          </a:p>
          <a:p>
            <a:pPr>
              <a:lnSpc>
                <a:spcPct val="111111"/>
              </a:lnSpc>
              <a:spcAft>
                <a:spcPts val="0"/>
              </a:spcAft>
            </a:pPr>
            <a:r>
              <a:rPr sz="900" i="0">
                <a:solidFill>
                  <a:srgbClr val="82B1FF"/>
                </a:solidFill>
                <a:latin typeface="Inconsolata"/>
              </a:rPr>
              <a:t>$ pip install -r requirements.txt</a:t>
            </a:r>
          </a:p>
          <a:p>
            <a:pPr>
              <a:lnSpc>
                <a:spcPct val="111111"/>
              </a:lnSpc>
              <a:spcAft>
                <a:spcPts val="0"/>
              </a:spcAft>
            </a:pPr>
            <a:r>
              <a:rPr sz="900" i="0">
                <a:solidFill>
                  <a:srgbClr val="82B1FF"/>
                </a:solidFill>
                <a:latin typeface="Inconsolata"/>
              </a:rPr>
              <a:t>$ cd 04-production-ready</a:t>
            </a:r>
          </a:p>
          <a:p>
            <a:pPr>
              <a:lnSpc>
                <a:spcPct val="111111"/>
              </a:lnSpc>
              <a:spcAft>
                <a:spcPts val="0"/>
              </a:spcAft>
            </a:pPr>
            <a:r>
              <a:rPr sz="900" i="0">
                <a:solidFill>
                  <a:srgbClr val="82B1FF"/>
                </a:solidFill>
                <a:latin typeface="Inconsolata"/>
              </a:rPr>
              <a:t>$ cp -r before latihan</a:t>
            </a:r>
          </a:p>
          <a:p>
            <a:pPr>
              <a:lnSpc>
                <a:spcPct val="111111"/>
              </a:lnSpc>
              <a:spcAft>
                <a:spcPts val="0"/>
              </a:spcAft>
            </a:pPr>
            <a:r>
              <a:rPr sz="900" i="0">
                <a:solidFill>
                  <a:srgbClr val="82B1FF"/>
                </a:solidFill>
                <a:latin typeface="Inconsolata"/>
              </a:rPr>
              <a:t>$ cd latihan</a:t>
            </a:r>
          </a:p>
          <a:p>
            <a:pPr>
              <a:lnSpc>
                <a:spcPct val="111111"/>
              </a:lnSpc>
              <a:spcAft>
                <a:spcPts val="0"/>
              </a:spcAft>
            </a:pPr>
            <a:r>
              <a:rPr sz="900" i="0">
                <a:solidFill>
                  <a:srgbClr val="82B1FF"/>
                </a:solidFill>
                <a:latin typeface="Inconsolata"/>
              </a:rPr>
              <a:t>$ pytest -q</a:t>
            </a:r>
          </a:p>
          <a:p>
            <a:pPr>
              <a:lnSpc>
                <a:spcPct val="111111"/>
              </a:lnSpc>
              <a:spcAft>
                <a:spcPts val="0"/>
              </a:spcAft>
            </a:pPr>
            <a:r>
              <a:rPr sz="900" i="0">
                <a:solidFill>
                  <a:srgbClr val="82B1FF"/>
                </a:solidFill>
                <a:latin typeface="Inconsolata"/>
              </a:rPr>
              <a:t>$ kubectl get nodes</a:t>
            </a:r>
          </a:p>
        </p:txBody>
      </p:sp>
      <p:sp>
        <p:nvSpPr>
          <p:cNvPr id="29" name="Box 12"/>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Text 13"/>
          <p:cNvSpPr txBox="1"/>
          <p:nvPr/>
        </p:nvSpPr>
        <p:spPr>
          <a:xfrm>
            <a:off x="5806440" y="157276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1" name="Text 14"/>
          <p:cNvSpPr txBox="1"/>
          <p:nvPr/>
        </p:nvSpPr>
        <p:spPr>
          <a:xfrm>
            <a:off x="5806440" y="1892808"/>
            <a:ext cx="2542032"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Install dependency</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Salin </a:t>
            </a:r>
            <a:r>
              <a:rPr sz="900" b="0" i="0">
                <a:solidFill>
                  <a:srgbClr val="B5482A"/>
                </a:solidFill>
                <a:latin typeface="Inconsolata"/>
              </a:rPr>
              <a:t>before/</a:t>
            </a:r>
            <a:r>
              <a:rPr sz="900" b="0" i="0">
                <a:solidFill>
                  <a:srgbClr val="434343"/>
                </a:solidFill>
                <a:latin typeface="Inter"/>
              </a:rPr>
              <a:t> jadi </a:t>
            </a:r>
            <a:r>
              <a:rPr sz="900" b="0" i="0">
                <a:solidFill>
                  <a:srgbClr val="B5482A"/>
                </a:solidFill>
                <a:latin typeface="Inconsolata"/>
              </a:rPr>
              <a:t>latihan/</a:t>
            </a:r>
            <a:r>
              <a:rPr sz="900" b="0" i="0">
                <a:solidFill>
                  <a:srgbClr val="434343"/>
                </a:solidFill>
                <a:latin typeface="Inter"/>
              </a:rPr>
              <a:t>, pastikan test awal hijau</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Cluster Kubernetes lokal dari Sesi 11 masih jalan</a:t>
            </a:r>
          </a:p>
        </p:txBody>
      </p:sp>
      <p:sp>
        <p:nvSpPr>
          <p:cNvPr id="32" name="Box 15"/>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Text 16"/>
          <p:cNvSpPr txBox="1"/>
          <p:nvPr/>
        </p:nvSpPr>
        <p:spPr>
          <a:xfrm>
            <a:off x="5806440" y="381304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4" name="Text 17"/>
          <p:cNvSpPr txBox="1"/>
          <p:nvPr/>
        </p:nvSpPr>
        <p:spPr>
          <a:xfrm>
            <a:off x="5806440" y="4133088"/>
            <a:ext cx="2542032"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Test awal PASSED.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2 dari 7</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smoke_test.py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smoke_test.py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check</a:t>
            </a:r>
            <a:r>
              <a:rPr sz="650" i="0">
                <a:solidFill>
                  <a:srgbClr val="E6EDF3"/>
                </a:solidFill>
                <a:latin typeface="Inconsolata"/>
              </a:rPr>
              <a:t>(name: </a:t>
            </a:r>
            <a:r>
              <a:rPr sz="650" i="0">
                <a:solidFill>
                  <a:srgbClr val="C3A6FF"/>
                </a:solidFill>
                <a:latin typeface="Inconsolata"/>
              </a:rPr>
              <a:t>str</a:t>
            </a:r>
            <a:r>
              <a:rPr sz="650" i="0">
                <a:solidFill>
                  <a:srgbClr val="E6EDF3"/>
                </a:solidFill>
                <a:latin typeface="Inconsolata"/>
              </a:rPr>
              <a:t>, response: httpx.</a:t>
            </a:r>
            <a:r>
              <a:rPr sz="650" i="0">
                <a:solidFill>
                  <a:srgbClr val="7FDBCA"/>
                </a:solidFill>
                <a:latin typeface="Inconsolata"/>
              </a:rPr>
              <a:t>Response</a:t>
            </a:r>
            <a:r>
              <a:rPr sz="650" i="0">
                <a:solidFill>
                  <a:srgbClr val="E6EDF3"/>
                </a:solidFill>
                <a:latin typeface="Inconsolata"/>
              </a:rPr>
              <a:t>, expected: </a:t>
            </a:r>
            <a:r>
              <a:rPr sz="650" i="0">
                <a:solidFill>
                  <a:srgbClr val="C3A6FF"/>
                </a:solidFill>
                <a:latin typeface="Inconsolata"/>
              </a:rPr>
              <a:t>int</a:t>
            </a:r>
            <a:r>
              <a:rPr sz="650" i="0">
                <a:solidFill>
                  <a:srgbClr val="E6EDF3"/>
                </a:solidFill>
                <a:latin typeface="Inconsolata"/>
              </a:rPr>
              <a:t>) -&gt; </a:t>
            </a:r>
            <a:r>
              <a:rPr sz="650" i="0">
                <a:solidFill>
                  <a:srgbClr val="C3A6FF"/>
                </a:solidFill>
                <a:latin typeface="Inconsolata"/>
              </a:rPr>
              <a:t>bool</a:t>
            </a:r>
            <a:r>
              <a:rPr sz="650" i="0">
                <a:solidFill>
                  <a:srgbClr val="E6EDF3"/>
                </a:solidFill>
                <a:latin typeface="Inconsolata"/>
              </a:rPr>
              <a:t>:</a:t>
            </a:r>
          </a:p>
          <a:p>
            <a:pPr>
              <a:lnSpc>
                <a:spcPct val="102564"/>
              </a:lnSpc>
              <a:spcAft>
                <a:spcPts val="0"/>
              </a:spcAft>
            </a:pPr>
            <a:r>
              <a:rPr sz="650" i="0">
                <a:solidFill>
                  <a:srgbClr val="E6EDF3"/>
                </a:solidFill>
                <a:latin typeface="Inconsolata"/>
              </a:rPr>
              <a:t>    passed = response.status_code == expected</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run</a:t>
            </a:r>
            <a:r>
              <a:rPr sz="650" i="0">
                <a:solidFill>
                  <a:srgbClr val="E6EDF3"/>
                </a:solidFill>
                <a:latin typeface="Inconsolata"/>
              </a:rPr>
              <a:t>(client: httpx.</a:t>
            </a:r>
            <a:r>
              <a:rPr sz="650" i="0">
                <a:solidFill>
                  <a:srgbClr val="7FDBCA"/>
                </a:solidFill>
                <a:latin typeface="Inconsolata"/>
              </a:rPr>
              <a:t>Client</a:t>
            </a:r>
            <a:r>
              <a:rPr sz="650" i="0">
                <a:solidFill>
                  <a:srgbClr val="E6EDF3"/>
                </a:solidFill>
                <a:latin typeface="Inconsolata"/>
              </a:rPr>
              <a:t>, email: </a:t>
            </a:r>
            <a:r>
              <a:rPr sz="650" i="0">
                <a:solidFill>
                  <a:srgbClr val="C3A6FF"/>
                </a:solidFill>
                <a:latin typeface="Inconsolata"/>
              </a:rPr>
              <a:t>str</a:t>
            </a:r>
            <a:r>
              <a:rPr sz="650" i="0">
                <a:solidFill>
                  <a:srgbClr val="E6EDF3"/>
                </a:solidFill>
                <a:latin typeface="Inconsolata"/>
              </a:rPr>
              <a:t>, password: </a:t>
            </a:r>
            <a:r>
              <a:rPr sz="650" i="0">
                <a:solidFill>
                  <a:srgbClr val="C3A6FF"/>
                </a:solidFill>
                <a:latin typeface="Inconsolata"/>
              </a:rPr>
              <a:t>str</a:t>
            </a:r>
            <a:r>
              <a:rPr sz="650" i="0">
                <a:solidFill>
                  <a:srgbClr val="E6EDF3"/>
                </a:solidFill>
                <a:latin typeface="Inconsolata"/>
              </a:rPr>
              <a:t>) -&gt; </a:t>
            </a:r>
            <a:r>
              <a:rPr sz="650" i="0">
                <a:solidFill>
                  <a:srgbClr val="C3A6FF"/>
                </a:solidFill>
                <a:latin typeface="Inconsolata"/>
              </a:rPr>
              <a:t>bool</a:t>
            </a:r>
            <a:r>
              <a:rPr sz="650" i="0">
                <a:solidFill>
                  <a:srgbClr val="E6EDF3"/>
                </a:solidFill>
                <a:latin typeface="Inconsolata"/>
              </a:rPr>
              <a:t>:</a:t>
            </a:r>
          </a:p>
          <a:p>
            <a:pPr>
              <a:lnSpc>
                <a:spcPct val="102564"/>
              </a:lnSpc>
              <a:spcAft>
                <a:spcPts val="0"/>
              </a:spcAft>
            </a:pPr>
            <a:r>
              <a:rPr sz="650" i="0">
                <a:solidFill>
                  <a:srgbClr val="E6EDF3"/>
                </a:solidFill>
                <a:latin typeface="Inconsolata"/>
              </a:rPr>
              <a:t>    results = [</a:t>
            </a:r>
          </a:p>
          <a:p>
            <a:pPr>
              <a:lnSpc>
                <a:spcPct val="102564"/>
              </a:lnSpc>
              <a:spcAft>
                <a:spcPts val="0"/>
              </a:spcAft>
            </a:pPr>
            <a:r>
              <a:rPr sz="650" i="0">
                <a:solidFill>
                  <a:srgbClr val="E6EDF3"/>
                </a:solidFill>
                <a:latin typeface="Inconsolata"/>
              </a:rPr>
              <a:t>        check(</a:t>
            </a:r>
            <a:r>
              <a:rPr sz="650" i="0">
                <a:solidFill>
                  <a:srgbClr val="A5D6A7"/>
                </a:solidFill>
                <a:latin typeface="Inconsolata"/>
              </a:rPr>
              <a:t>"proses berjalan"</a:t>
            </a:r>
            <a:r>
              <a:rPr sz="650" i="0">
                <a:solidFill>
                  <a:srgbClr val="E6EDF3"/>
                </a:solidFill>
                <a:latin typeface="Inconsolata"/>
              </a:rPr>
              <a:t>, client.get(</a:t>
            </a:r>
            <a:r>
              <a:rPr sz="650" i="0">
                <a:solidFill>
                  <a:srgbClr val="A5D6A7"/>
                </a:solidFill>
                <a:latin typeface="Inconsolata"/>
              </a:rPr>
              <a:t>"/health/live"</a:t>
            </a:r>
            <a:r>
              <a:rPr sz="650" i="0">
                <a:solidFill>
                  <a:srgbClr val="E6EDF3"/>
                </a:solidFill>
                <a:latin typeface="Inconsolata"/>
              </a:rPr>
              <a:t>), </a:t>
            </a:r>
            <a:r>
              <a:rPr sz="650" i="0">
                <a:solidFill>
                  <a:srgbClr val="F9C97A"/>
                </a:solidFill>
                <a:latin typeface="Inconsolata"/>
              </a:rPr>
              <a:t>200</a:t>
            </a:r>
            <a:r>
              <a:rPr sz="650" i="0">
                <a:solidFill>
                  <a:srgbClr val="E6EDF3"/>
                </a:solidFill>
                <a:latin typeface="Inconsolata"/>
              </a:rPr>
              <a:t>),</a:t>
            </a:r>
          </a:p>
          <a:p>
            <a:pPr>
              <a:lnSpc>
                <a:spcPct val="102564"/>
              </a:lnSpc>
              <a:spcAft>
                <a:spcPts val="0"/>
              </a:spcAft>
            </a:pPr>
            <a:r>
              <a:rPr sz="650" i="0">
                <a:solidFill>
                  <a:srgbClr val="E6EDF3"/>
                </a:solidFill>
                <a:latin typeface="Inconsolata"/>
              </a:rPr>
              <a:t>        check(</a:t>
            </a:r>
            <a:r>
              <a:rPr sz="650" i="0">
                <a:solidFill>
                  <a:srgbClr val="A5D6A7"/>
                </a:solidFill>
                <a:latin typeface="Inconsolata"/>
              </a:rPr>
              <a:t>"semua dependency siap"</a:t>
            </a:r>
            <a:r>
              <a:rPr sz="650" i="0">
                <a:solidFill>
                  <a:srgbClr val="E6EDF3"/>
                </a:solidFill>
                <a:latin typeface="Inconsolata"/>
              </a:rPr>
              <a:t>, client.get(</a:t>
            </a:r>
            <a:r>
              <a:rPr sz="650" i="0">
                <a:solidFill>
                  <a:srgbClr val="A5D6A7"/>
                </a:solidFill>
                <a:latin typeface="Inconsolata"/>
              </a:rPr>
              <a:t>"/health/ready"</a:t>
            </a:r>
            <a:r>
              <a:rPr sz="650" i="0">
                <a:solidFill>
                  <a:srgbClr val="E6EDF3"/>
                </a:solidFill>
                <a:latin typeface="Inconsolata"/>
              </a:rPr>
              <a:t>), </a:t>
            </a:r>
            <a:r>
              <a:rPr sz="650" i="0">
                <a:solidFill>
                  <a:srgbClr val="F9C97A"/>
                </a:solidFill>
                <a:latin typeface="Inconsolata"/>
              </a:rPr>
              <a:t>200</a:t>
            </a:r>
            <a:r>
              <a:rPr sz="650" i="0">
                <a:solidFill>
                  <a:srgbClr val="E6EDF3"/>
                </a:solidFill>
                <a:latin typeface="Inconsolata"/>
              </a:rPr>
              <a:t>),</a:t>
            </a:r>
          </a:p>
          <a:p>
            <a:pPr>
              <a:lnSpc>
                <a:spcPct val="102564"/>
              </a:lnSpc>
              <a:spcAft>
                <a:spcPts val="0"/>
              </a:spcAft>
            </a:pPr>
            <a:r>
              <a:rPr sz="650" i="0">
                <a:solidFill>
                  <a:srgbClr val="E6EDF3"/>
                </a:solidFill>
                <a:latin typeface="Inconsolata"/>
              </a:rPr>
              <a:t>        check(</a:t>
            </a:r>
            <a:r>
              <a:rPr sz="650" i="0">
                <a:solidFill>
                  <a:srgbClr val="A5D6A7"/>
                </a:solidFill>
                <a:latin typeface="Inconsolata"/>
              </a:rPr>
              <a:t>"tanpa token ditolak"</a:t>
            </a:r>
            <a:r>
              <a:rPr sz="650" i="0">
                <a:solidFill>
                  <a:srgbClr val="E6EDF3"/>
                </a:solidFill>
                <a:latin typeface="Inconsolata"/>
              </a:rPr>
              <a:t>, client.get(</a:t>
            </a:r>
            <a:r>
              <a:rPr sz="650" i="0">
                <a:solidFill>
                  <a:srgbClr val="A5D6A7"/>
                </a:solidFill>
                <a:latin typeface="Inconsolata"/>
              </a:rPr>
              <a:t>"/auth/me"</a:t>
            </a:r>
            <a:r>
              <a:rPr sz="650" i="0">
                <a:solidFill>
                  <a:srgbClr val="E6EDF3"/>
                </a:solidFill>
                <a:latin typeface="Inconsolata"/>
              </a:rPr>
              <a:t>), </a:t>
            </a:r>
            <a:r>
              <a:rPr sz="650" i="0">
                <a:solidFill>
                  <a:srgbClr val="F9C97A"/>
                </a:solidFill>
                <a:latin typeface="Inconsolata"/>
              </a:rPr>
              <a:t>401</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login = client.post(</a:t>
            </a:r>
            <a:r>
              <a:rPr sz="650" i="0">
                <a:solidFill>
                  <a:srgbClr val="A5D6A7"/>
                </a:solidFill>
                <a:latin typeface="Inconsolata"/>
              </a:rPr>
              <a:t>"/auth/token"</a:t>
            </a:r>
            <a:r>
              <a:rPr sz="650" i="0">
                <a:solidFill>
                  <a:srgbClr val="E6EDF3"/>
                </a:solidFill>
                <a:latin typeface="Inconsolata"/>
              </a:rPr>
              <a:t>, data={</a:t>
            </a:r>
            <a:r>
              <a:rPr sz="650" i="0">
                <a:solidFill>
                  <a:srgbClr val="A5D6A7"/>
                </a:solidFill>
                <a:latin typeface="Inconsolata"/>
              </a:rPr>
              <a:t>"username"</a:t>
            </a:r>
            <a:r>
              <a:rPr sz="650" i="0">
                <a:solidFill>
                  <a:srgbClr val="E6EDF3"/>
                </a:solidFill>
                <a:latin typeface="Inconsolata"/>
              </a:rPr>
              <a:t>: email, </a:t>
            </a:r>
            <a:r>
              <a:rPr sz="650" i="0">
                <a:solidFill>
                  <a:srgbClr val="A5D6A7"/>
                </a:solidFill>
                <a:latin typeface="Inconsolata"/>
              </a:rPr>
              <a:t>"password"</a:t>
            </a:r>
            <a:r>
              <a:rPr sz="650" i="0">
                <a:solidFill>
                  <a:srgbClr val="E6EDF3"/>
                </a:solidFill>
                <a:latin typeface="Inconsolata"/>
              </a:rPr>
              <a:t>: password})</a:t>
            </a:r>
          </a:p>
          <a:p>
            <a:pPr>
              <a:lnSpc>
                <a:spcPct val="102564"/>
              </a:lnSpc>
              <a:spcAft>
                <a:spcPts val="0"/>
              </a:spcAft>
            </a:pPr>
            <a:r>
              <a:rPr sz="650" i="0">
                <a:solidFill>
                  <a:srgbClr val="E6EDF3"/>
                </a:solidFill>
                <a:latin typeface="Inconsolata"/>
              </a:rPr>
              <a:t>    results.append(check(</a:t>
            </a:r>
            <a:r>
              <a:rPr sz="650" i="0">
                <a:solidFill>
                  <a:srgbClr val="A5D6A7"/>
                </a:solidFill>
                <a:latin typeface="Inconsolata"/>
              </a:rPr>
              <a:t>"login"</a:t>
            </a:r>
            <a:r>
              <a:rPr sz="650" i="0">
                <a:solidFill>
                  <a:srgbClr val="E6EDF3"/>
                </a:solidFill>
                <a:latin typeface="Inconsolata"/>
              </a:rPr>
              <a:t>, login, </a:t>
            </a:r>
            <a:r>
              <a:rPr sz="650" i="0">
                <a:solidFill>
                  <a:srgbClr val="F9C97A"/>
                </a:solidFill>
                <a:latin typeface="Inconsolata"/>
              </a:rPr>
              <a:t>200</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login.status_code == </a:t>
            </a:r>
            <a:r>
              <a:rPr sz="650" i="0">
                <a:solidFill>
                  <a:srgbClr val="F9C97A"/>
                </a:solidFill>
                <a:latin typeface="Inconsolata"/>
              </a:rPr>
              <a:t>200</a:t>
            </a:r>
            <a:r>
              <a:rPr sz="650" i="0">
                <a:solidFill>
                  <a:srgbClr val="E6EDF3"/>
                </a:solidFill>
                <a:latin typeface="Inconsolata"/>
              </a:rPr>
              <a:t>:</a:t>
            </a:r>
          </a:p>
          <a:p>
            <a:pPr>
              <a:lnSpc>
                <a:spcPct val="102564"/>
              </a:lnSpc>
              <a:spcAft>
                <a:spcPts val="0"/>
              </a:spcAft>
            </a:pPr>
            <a:r>
              <a:rPr sz="650" i="0">
                <a:solidFill>
                  <a:srgbClr val="E6EDF3"/>
                </a:solidFill>
                <a:latin typeface="Inconsolata"/>
              </a:rPr>
              <a:t>        auth = {</a:t>
            </a:r>
            <a:r>
              <a:rPr sz="650" i="0">
                <a:solidFill>
                  <a:srgbClr val="A5D6A7"/>
                </a:solidFill>
                <a:latin typeface="Inconsolata"/>
              </a:rPr>
              <a:t>"Authorization"</a:t>
            </a:r>
            <a:r>
              <a:rPr sz="650" i="0">
                <a:solidFill>
                  <a:srgbClr val="E6EDF3"/>
                </a:solidFill>
                <a:latin typeface="Inconsolata"/>
              </a:rPr>
              <a:t>: </a:t>
            </a:r>
            <a:r>
              <a:rPr sz="650" i="0">
                <a:solidFill>
                  <a:srgbClr val="A5D6A7"/>
                </a:solidFill>
                <a:latin typeface="Inconsolata"/>
              </a:rPr>
              <a:t>f"Bearer {login.json()['access_token']}"</a:t>
            </a:r>
            <a:r>
              <a:rPr sz="650" i="0">
                <a:solidFill>
                  <a:srgbClr val="E6EDF3"/>
                </a:solidFill>
                <a:latin typeface="Inconsolata"/>
              </a:rPr>
              <a:t>}</a:t>
            </a:r>
          </a:p>
          <a:p>
            <a:pPr>
              <a:lnSpc>
                <a:spcPct val="102564"/>
              </a:lnSpc>
              <a:spcAft>
                <a:spcPts val="0"/>
              </a:spcAft>
            </a:pPr>
            <a:r>
              <a:rPr sz="650" i="0">
                <a:solidFill>
                  <a:srgbClr val="E6EDF3"/>
                </a:solidFill>
                <a:latin typeface="Inconsolata"/>
              </a:rPr>
              <a:t>        results.append(check(</a:t>
            </a:r>
            <a:r>
              <a:rPr sz="650" i="0">
                <a:solidFill>
                  <a:srgbClr val="A5D6A7"/>
                </a:solidFill>
                <a:latin typeface="Inconsolata"/>
              </a:rPr>
              <a:t>"token terbaca"</a:t>
            </a:r>
            <a:r>
              <a:rPr sz="650" i="0">
                <a:solidFill>
                  <a:srgbClr val="E6EDF3"/>
                </a:solidFill>
                <a:latin typeface="Inconsolata"/>
              </a:rPr>
              <a:t>, client.get(</a:t>
            </a:r>
            <a:r>
              <a:rPr sz="650" i="0">
                <a:solidFill>
                  <a:srgbClr val="A5D6A7"/>
                </a:solidFill>
                <a:latin typeface="Inconsolata"/>
              </a:rPr>
              <a:t>"/auth/me"</a:t>
            </a:r>
            <a:r>
              <a:rPr sz="650" i="0">
                <a:solidFill>
                  <a:srgbClr val="E6EDF3"/>
                </a:solidFill>
                <a:latin typeface="Inconsolata"/>
              </a:rPr>
              <a:t>, headers=auth), </a:t>
            </a:r>
            <a:r>
              <a:rPr sz="650" i="0">
                <a:solidFill>
                  <a:srgbClr val="F9C97A"/>
                </a:solidFill>
                <a:latin typeface="Inconsolata"/>
              </a:rPr>
              <a:t>200</a:t>
            </a:r>
            <a:r>
              <a:rPr sz="650" i="0">
                <a:solidFill>
                  <a:srgbClr val="E6EDF3"/>
                </a:solidFill>
                <a:latin typeface="Inconsolata"/>
              </a:rPr>
              <a:t>))</a:t>
            </a:r>
          </a:p>
          <a:p>
            <a:pPr>
              <a:lnSpc>
                <a:spcPct val="102564"/>
              </a:lnSpc>
              <a:spcAft>
                <a:spcPts val="0"/>
              </a:spcAft>
            </a:pPr>
            <a:r>
              <a:rPr sz="650" i="0">
                <a:solidFill>
                  <a:srgbClr val="E6EDF3"/>
                </a:solidFill>
                <a:latin typeface="Inconsolata"/>
              </a:rPr>
              <a:t>        results.append(check(</a:t>
            </a:r>
            <a:r>
              <a:rPr sz="650" i="0">
                <a:solidFill>
                  <a:srgbClr val="A5D6A7"/>
                </a:solidFill>
                <a:latin typeface="Inconsolata"/>
              </a:rPr>
              <a:t>"produk dari database"</a:t>
            </a:r>
            <a:r>
              <a:rPr sz="650" i="0">
                <a:solidFill>
                  <a:srgbClr val="E6EDF3"/>
                </a:solidFill>
                <a:latin typeface="Inconsolata"/>
              </a:rPr>
              <a:t>, client.get(</a:t>
            </a:r>
            <a:r>
              <a:rPr sz="650" i="0">
                <a:solidFill>
                  <a:srgbClr val="A5D6A7"/>
                </a:solidFill>
                <a:latin typeface="Inconsolata"/>
              </a:rPr>
              <a:t>"/products"</a:t>
            </a:r>
            <a:r>
              <a:rPr sz="650" i="0">
                <a:solidFill>
                  <a:srgbClr val="E6EDF3"/>
                </a:solidFill>
                <a:latin typeface="Inconsolata"/>
              </a:rPr>
              <a:t>), </a:t>
            </a:r>
            <a:r>
              <a:rPr sz="650" i="0">
                <a:solidFill>
                  <a:srgbClr val="F9C97A"/>
                </a:solidFill>
                <a:latin typeface="Inconsolata"/>
              </a:rPr>
              <a:t>200</a:t>
            </a:r>
            <a:r>
              <a:rPr sz="650" i="0">
                <a:solidFill>
                  <a:srgbClr val="E6EDF3"/>
                </a:solidFill>
                <a:latin typeface="Inconsolata"/>
              </a:rPr>
              <a:t>))</a:t>
            </a:r>
          </a:p>
          <a:p>
            <a:pPr>
              <a:lnSpc>
                <a:spcPct val="102564"/>
              </a:lnSpc>
              <a:spcAft>
                <a:spcPts val="0"/>
              </a:spcAft>
            </a:pPr>
            <a:r>
              <a:rPr sz="650" i="0">
                <a:solidFill>
                  <a:srgbClr val="E6EDF3"/>
                </a:solidFill>
                <a:latin typeface="Inconsolata"/>
              </a:rPr>
              <a:t>        report = client.post(</a:t>
            </a:r>
            <a:r>
              <a:rPr sz="650" i="0">
                <a:solidFill>
                  <a:srgbClr val="A5D6A7"/>
                </a:solidFill>
                <a:latin typeface="Inconsolata"/>
              </a:rPr>
              <a:t>"/reports/sales"</a:t>
            </a:r>
            <a:r>
              <a:rPr sz="650" i="0">
                <a:solidFill>
                  <a:srgbClr val="E6EDF3"/>
                </a:solidFill>
                <a:latin typeface="Inconsolata"/>
              </a:rPr>
              <a:t>, headers=auth)</a:t>
            </a:r>
          </a:p>
          <a:p>
            <a:pPr>
              <a:lnSpc>
                <a:spcPct val="102564"/>
              </a:lnSpc>
              <a:spcAft>
                <a:spcPts val="0"/>
              </a:spcAft>
            </a:pPr>
            <a:r>
              <a:rPr sz="650" i="0">
                <a:solidFill>
                  <a:srgbClr val="E6EDF3"/>
                </a:solidFill>
                <a:latin typeface="Inconsolata"/>
              </a:rPr>
              <a:t>        results.append(check(</a:t>
            </a:r>
            <a:r>
              <a:rPr sz="650" i="0">
                <a:solidFill>
                  <a:srgbClr val="A5D6A7"/>
                </a:solidFill>
                <a:latin typeface="Inconsolata"/>
              </a:rPr>
              <a:t>"worker menerima report"</a:t>
            </a:r>
            <a:r>
              <a:rPr sz="650" i="0">
                <a:solidFill>
                  <a:srgbClr val="E6EDF3"/>
                </a:solidFill>
                <a:latin typeface="Inconsolata"/>
              </a:rPr>
              <a:t>, report, </a:t>
            </a:r>
            <a:r>
              <a:rPr sz="650" i="0">
                <a:solidFill>
                  <a:srgbClr val="F9C97A"/>
                </a:solidFill>
                <a:latin typeface="Inconsolata"/>
              </a:rPr>
              <a:t>202</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all(results)</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with</a:t>
            </a:r>
            <a:r>
              <a:rPr sz="650" i="0">
                <a:solidFill>
                  <a:srgbClr val="E6EDF3"/>
                </a:solidFill>
                <a:latin typeface="Inconsolata"/>
              </a:rPr>
              <a:t> httpx.</a:t>
            </a:r>
            <a:r>
              <a:rPr sz="650" i="0">
                <a:solidFill>
                  <a:srgbClr val="7FDBCA"/>
                </a:solidFill>
                <a:latin typeface="Inconsolata"/>
              </a:rPr>
              <a:t>Client</a:t>
            </a:r>
            <a:r>
              <a:rPr sz="650" i="0">
                <a:solidFill>
                  <a:srgbClr val="E6EDF3"/>
                </a:solidFill>
                <a:latin typeface="Inconsolata"/>
              </a:rPr>
              <a:t>(base_url=base_url, timeout=</a:t>
            </a:r>
            <a:r>
              <a:rPr sz="650" i="0">
                <a:solidFill>
                  <a:srgbClr val="F9C97A"/>
                </a:solidFill>
                <a:latin typeface="Inconsolata"/>
              </a:rPr>
              <a:t>10</a:t>
            </a:r>
            <a:r>
              <a:rPr sz="650" i="0">
                <a:solidFill>
                  <a:srgbClr val="E6EDF3"/>
                </a:solidFill>
                <a:latin typeface="Inconsolata"/>
              </a:rPr>
              <a:t>) </a:t>
            </a:r>
            <a:r>
              <a:rPr sz="650" i="0">
                <a:solidFill>
                  <a:srgbClr val="FF8E6E"/>
                </a:solidFill>
                <a:latin typeface="Inconsolata"/>
              </a:rPr>
              <a:t>as</a:t>
            </a:r>
            <a:r>
              <a:rPr sz="650" i="0">
                <a:solidFill>
                  <a:srgbClr val="E6EDF3"/>
                </a:solidFill>
                <a:latin typeface="Inconsolata"/>
              </a:rPr>
              <a:t> client:</a:t>
            </a:r>
          </a:p>
          <a:p>
            <a:pPr>
              <a:lnSpc>
                <a:spcPct val="102564"/>
              </a:lnSpc>
              <a:spcAft>
                <a:spcPts val="0"/>
              </a:spcAft>
            </a:pPr>
            <a:r>
              <a:rPr sz="650" i="0">
                <a:solidFill>
                  <a:srgbClr val="E6EDF3"/>
                </a:solidFill>
                <a:latin typeface="Inconsolata"/>
              </a:rPr>
              <a:t>        passed = run(client, email, password)</a:t>
            </a:r>
          </a:p>
        </p:txBody>
      </p:sp>
      <p:sp>
        <p:nvSpPr>
          <p:cNvPr id="29" name="Box 12"/>
          <p:cNvSpPr/>
          <p:nvPr/>
        </p:nvSpPr>
        <p:spPr>
          <a:xfrm>
            <a:off x="704088" y="1823720"/>
            <a:ext cx="5230368" cy="197104"/>
          </a:xfrm>
          <a:prstGeom prst="roundRect">
            <a:avLst>
              <a:gd name="adj" fmla="val 2319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03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3317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362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738120"/>
            <a:ext cx="5230368" cy="806703"/>
          </a:xfrm>
          <a:prstGeom prst="roundRect">
            <a:avLst>
              <a:gd name="adj" fmla="val 566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022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754119"/>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815584" y="3683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21"/>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9" name="Text 22"/>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Satu langkah = satu request + status yang diharapkan</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Health check Sesi 9 dan keamanan Sesi 10</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Alur utama: login, database, worker</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BASE_URL</a:t>
            </a:r>
            <a:r>
              <a:rPr sz="900" b="0" i="0">
                <a:solidFill>
                  <a:srgbClr val="434343"/>
                </a:solidFill>
                <a:latin typeface="Inter"/>
              </a:rPr>
              <a:t>, </a:t>
            </a:r>
            <a:r>
              <a:rPr sz="900" b="0" i="0">
                <a:solidFill>
                  <a:srgbClr val="B5482A"/>
                </a:solidFill>
                <a:latin typeface="Inconsolata"/>
              </a:rPr>
              <a:t>SMOKE_EMAIL</a:t>
            </a:r>
            <a:r>
              <a:rPr sz="900" b="0" i="0">
                <a:solidFill>
                  <a:srgbClr val="434343"/>
                </a:solidFill>
                <a:latin typeface="Inter"/>
              </a:rPr>
              <a:t>, </a:t>
            </a:r>
            <a:r>
              <a:rPr sz="900" b="0" i="0">
                <a:solidFill>
                  <a:srgbClr val="B5482A"/>
                </a:solidFill>
                <a:latin typeface="Inconsolata"/>
              </a:rPr>
              <a:t>SMOKE_PASSWORD</a:t>
            </a:r>
            <a:r>
              <a:rPr sz="900" b="0" i="0">
                <a:solidFill>
                  <a:srgbClr val="434343"/>
                </a:solidFill>
                <a:latin typeface="Inter"/>
              </a:rPr>
              <a:t> dari environment</a:t>
            </a:r>
          </a:p>
        </p:txBody>
      </p:sp>
      <p:sp>
        <p:nvSpPr>
          <p:cNvPr id="40" name="Box 23"/>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Text 24"/>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2" name="Text 25"/>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Exit code 1 jika ada yang gagal.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3 dari 7</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tests/test_smoke.py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tests/test_smoke.py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test_smoke_test_lulus_jika_semua_sehat</a:t>
            </a:r>
            <a:r>
              <a:rPr sz="700" i="0">
                <a:solidFill>
                  <a:srgbClr val="E6EDF3"/>
                </a:solidFill>
                <a:latin typeface="Inconsolata"/>
              </a:rPr>
              <a:t>(client, capsys):</a:t>
            </a:r>
          </a:p>
          <a:p>
            <a:pPr>
              <a:lnSpc>
                <a:spcPct val="107143"/>
              </a:lnSpc>
              <a:spcAft>
                <a:spcPts val="0"/>
              </a:spcAft>
            </a:pPr>
            <a:r>
              <a:rPr sz="700" i="0">
                <a:solidFill>
                  <a:srgbClr val="E6EDF3"/>
                </a:solidFill>
                <a:latin typeface="Inconsolata"/>
              </a:rPr>
              <a:t>    app.dependency_overrides[get_health_checks] = </a:t>
            </a:r>
            <a:r>
              <a:rPr sz="700" i="0">
                <a:solidFill>
                  <a:srgbClr val="FF8E6E"/>
                </a:solidFill>
                <a:latin typeface="Inconsolata"/>
              </a:rPr>
              <a:t>lambda</a:t>
            </a:r>
            <a:r>
              <a:rPr sz="700" i="0">
                <a:solidFill>
                  <a:srgbClr val="E6EDF3"/>
                </a:solidFill>
                <a:latin typeface="Inconsolata"/>
              </a:rPr>
              <a:t>: {</a:t>
            </a:r>
            <a:r>
              <a:rPr sz="700" i="0">
                <a:solidFill>
                  <a:srgbClr val="A5D6A7"/>
                </a:solidFill>
                <a:latin typeface="Inconsolata"/>
              </a:rPr>
              <a:t>"database"</a:t>
            </a:r>
            <a:r>
              <a:rPr sz="700" i="0">
                <a:solidFill>
                  <a:srgbClr val="E6EDF3"/>
                </a:solidFill>
                <a:latin typeface="Inconsolata"/>
              </a:rPr>
              <a:t>: </a:t>
            </a:r>
            <a:r>
              <a:rPr sz="700" i="0">
                <a:solidFill>
                  <a:srgbClr val="FF8E6E"/>
                </a:solidFill>
                <a:latin typeface="Inconsolata"/>
              </a:rPr>
              <a:t>lambda</a:t>
            </a:r>
            <a:r>
              <a:rPr sz="700" i="0">
                <a:solidFill>
                  <a:srgbClr val="E6EDF3"/>
                </a:solidFill>
                <a:latin typeface="Inconsolata"/>
              </a:rPr>
              <a:t>: </a:t>
            </a:r>
            <a:r>
              <a:rPr sz="700" i="0">
                <a:solidFill>
                  <a:srgbClr val="FF8E6E"/>
                </a:solidFill>
                <a:latin typeface="Inconsolata"/>
              </a:rPr>
              <a:t>None</a:t>
            </a:r>
            <a:r>
              <a:rPr sz="700" i="0">
                <a:solidFill>
                  <a:srgbClr val="E6EDF3"/>
                </a:solidFill>
                <a:latin typeface="Inconsolata"/>
              </a:rPr>
              <a:t>}</a:t>
            </a:r>
          </a:p>
          <a:p>
            <a:pPr>
              <a:lnSpc>
                <a:spcPct val="107143"/>
              </a:lnSpc>
              <a:spcAft>
                <a:spcPts val="0"/>
              </a:spcAft>
            </a:pPr>
            <a:r>
              <a:rPr sz="700" i="0">
                <a:solidFill>
                  <a:srgbClr val="E6EDF3"/>
                </a:solidFill>
                <a:latin typeface="Inconsolata"/>
              </a:rPr>
              <a:t>    client.headers.pop(</a:t>
            </a:r>
            <a:r>
              <a:rPr sz="700" i="0">
                <a:solidFill>
                  <a:srgbClr val="A5D6A7"/>
                </a:solidFill>
                <a:latin typeface="Inconsolata"/>
              </a:rPr>
              <a:t>"Authorization"</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assert</a:t>
            </a:r>
            <a:r>
              <a:rPr sz="700" i="0">
                <a:solidFill>
                  <a:srgbClr val="E6EDF3"/>
                </a:solidFill>
                <a:latin typeface="Inconsolata"/>
              </a:rPr>
              <a:t> run(client, </a:t>
            </a:r>
            <a:r>
              <a:rPr sz="700" i="0">
                <a:solidFill>
                  <a:srgbClr val="A5D6A7"/>
                </a:solidFill>
                <a:latin typeface="Inconsolata"/>
              </a:rPr>
              <a:t>"admin@toko.com"</a:t>
            </a:r>
            <a:r>
              <a:rPr sz="700" i="0">
                <a:solidFill>
                  <a:srgbClr val="E6EDF3"/>
                </a:solidFill>
                <a:latin typeface="Inconsolata"/>
              </a:rPr>
              <a:t>, </a:t>
            </a:r>
            <a:r>
              <a:rPr sz="700" i="0">
                <a:solidFill>
                  <a:srgbClr val="7FDBCA"/>
                </a:solidFill>
                <a:latin typeface="Inconsolata"/>
              </a:rPr>
              <a:t>PASSWORD</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assert</a:t>
            </a:r>
            <a:r>
              <a:rPr sz="700" i="0">
                <a:solidFill>
                  <a:srgbClr val="E6EDF3"/>
                </a:solidFill>
                <a:latin typeface="Inconsolata"/>
              </a:rPr>
              <a:t> </a:t>
            </a:r>
            <a:r>
              <a:rPr sz="700" i="0">
                <a:solidFill>
                  <a:srgbClr val="A5D6A7"/>
                </a:solidFill>
                <a:latin typeface="Inconsolata"/>
              </a:rPr>
              <a:t>"GAGAL"</a:t>
            </a:r>
            <a:r>
              <a:rPr sz="700" i="0">
                <a:solidFill>
                  <a:srgbClr val="E6EDF3"/>
                </a:solidFill>
                <a:latin typeface="Inconsolata"/>
              </a:rPr>
              <a:t> </a:t>
            </a:r>
            <a:r>
              <a:rPr sz="700" i="0">
                <a:solidFill>
                  <a:srgbClr val="FF8E6E"/>
                </a:solidFill>
                <a:latin typeface="Inconsolata"/>
              </a:rPr>
              <a:t>not</a:t>
            </a:r>
            <a:r>
              <a:rPr sz="700" i="0">
                <a:solidFill>
                  <a:srgbClr val="E6EDF3"/>
                </a:solidFill>
                <a:latin typeface="Inconsolata"/>
              </a:rPr>
              <a:t> </a:t>
            </a:r>
            <a:r>
              <a:rPr sz="700" i="0">
                <a:solidFill>
                  <a:srgbClr val="FF8E6E"/>
                </a:solidFill>
                <a:latin typeface="Inconsolata"/>
              </a:rPr>
              <a:t>in</a:t>
            </a:r>
            <a:r>
              <a:rPr sz="700" i="0">
                <a:solidFill>
                  <a:srgbClr val="E6EDF3"/>
                </a:solidFill>
                <a:latin typeface="Inconsolata"/>
              </a:rPr>
              <a:t> capsys.readouterr().out</a:t>
            </a:r>
          </a:p>
          <a:p>
            <a:pPr>
              <a:lnSpc>
                <a:spcPct val="107143"/>
              </a:lnSpc>
              <a:spcAft>
                <a:spcPts val="0"/>
              </a:spcAft>
            </a:pPr>
            <a:r>
              <a:rPr sz="700" i="0">
                <a:solidFill>
                  <a:srgbClr val="E6EDF3"/>
                </a:solidFill>
                <a:latin typeface="Inconsolata"/>
              </a:rPr>
              <a:t> </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test_smoke_test_gagal_jika_dependency_mati</a:t>
            </a:r>
            <a:r>
              <a:rPr sz="700" i="0">
                <a:solidFill>
                  <a:srgbClr val="E6EDF3"/>
                </a:solidFill>
                <a:latin typeface="Inconsolata"/>
              </a:rPr>
              <a:t>(client, capsys):</a:t>
            </a:r>
          </a:p>
          <a:p>
            <a:pPr>
              <a:lnSpc>
                <a:spcPct val="107143"/>
              </a:lnSpc>
              <a:spcAft>
                <a:spcPts val="0"/>
              </a:spcAft>
            </a:pPr>
            <a:r>
              <a:rPr sz="700" i="0">
                <a:solidFill>
                  <a:srgbClr val="E6EDF3"/>
                </a:solidFill>
                <a:latin typeface="Inconsolata"/>
              </a:rPr>
              <a:t>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down</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raise</a:t>
            </a:r>
            <a:r>
              <a:rPr sz="700" i="0">
                <a:solidFill>
                  <a:srgbClr val="E6EDF3"/>
                </a:solidFill>
                <a:latin typeface="Inconsolata"/>
              </a:rPr>
              <a:t> </a:t>
            </a:r>
            <a:r>
              <a:rPr sz="700" i="0">
                <a:solidFill>
                  <a:srgbClr val="7FDBCA"/>
                </a:solidFill>
                <a:latin typeface="Inconsolata"/>
              </a:rPr>
              <a:t>ConnectionError</a:t>
            </a:r>
            <a:r>
              <a:rPr sz="700" i="0">
                <a:solidFill>
                  <a:srgbClr val="E6EDF3"/>
                </a:solidFill>
                <a:latin typeface="Inconsolata"/>
              </a:rPr>
              <a:t>(</a:t>
            </a:r>
            <a:r>
              <a:rPr sz="700" i="0">
                <a:solidFill>
                  <a:srgbClr val="A5D6A7"/>
                </a:solidFill>
                <a:latin typeface="Inconsolata"/>
              </a:rPr>
              <a:t>"RabbitMQ mati"</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p>
          <a:p>
            <a:pPr>
              <a:lnSpc>
                <a:spcPct val="107143"/>
              </a:lnSpc>
              <a:spcAft>
                <a:spcPts val="0"/>
              </a:spcAft>
            </a:pPr>
            <a:r>
              <a:rPr sz="700" i="0">
                <a:solidFill>
                  <a:srgbClr val="E6EDF3"/>
                </a:solidFill>
                <a:latin typeface="Inconsolata"/>
              </a:rPr>
              <a:t>    app.dependency_overrides[get_health_checks] = </a:t>
            </a:r>
            <a:r>
              <a:rPr sz="700" i="0">
                <a:solidFill>
                  <a:srgbClr val="FF8E6E"/>
                </a:solidFill>
                <a:latin typeface="Inconsolata"/>
              </a:rPr>
              <a:t>lambda</a:t>
            </a:r>
            <a:r>
              <a:rPr sz="700" i="0">
                <a:solidFill>
                  <a:srgbClr val="E6EDF3"/>
                </a:solidFill>
                <a:latin typeface="Inconsolata"/>
              </a:rPr>
              <a:t>: {</a:t>
            </a:r>
            <a:r>
              <a:rPr sz="700" i="0">
                <a:solidFill>
                  <a:srgbClr val="A5D6A7"/>
                </a:solidFill>
                <a:latin typeface="Inconsolata"/>
              </a:rPr>
              <a:t>"rabbitmq"</a:t>
            </a:r>
            <a:r>
              <a:rPr sz="700" i="0">
                <a:solidFill>
                  <a:srgbClr val="E6EDF3"/>
                </a:solidFill>
                <a:latin typeface="Inconsolata"/>
              </a:rPr>
              <a:t>: down}</a:t>
            </a:r>
          </a:p>
          <a:p>
            <a:pPr>
              <a:lnSpc>
                <a:spcPct val="107143"/>
              </a:lnSpc>
              <a:spcAft>
                <a:spcPts val="0"/>
              </a:spcAft>
            </a:pPr>
            <a:r>
              <a:rPr sz="700" i="0">
                <a:solidFill>
                  <a:srgbClr val="E6EDF3"/>
                </a:solidFill>
                <a:latin typeface="Inconsolata"/>
              </a:rPr>
              <a:t>    client.headers.pop(</a:t>
            </a:r>
            <a:r>
              <a:rPr sz="700" i="0">
                <a:solidFill>
                  <a:srgbClr val="A5D6A7"/>
                </a:solidFill>
                <a:latin typeface="Inconsolata"/>
              </a:rPr>
              <a:t>"Authorization"</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assert</a:t>
            </a:r>
            <a:r>
              <a:rPr sz="700" i="0">
                <a:solidFill>
                  <a:srgbClr val="E6EDF3"/>
                </a:solidFill>
                <a:latin typeface="Inconsolata"/>
              </a:rPr>
              <a:t> </a:t>
            </a:r>
            <a:r>
              <a:rPr sz="700" i="0">
                <a:solidFill>
                  <a:srgbClr val="FF8E6E"/>
                </a:solidFill>
                <a:latin typeface="Inconsolata"/>
              </a:rPr>
              <a:t>not</a:t>
            </a:r>
            <a:r>
              <a:rPr sz="700" i="0">
                <a:solidFill>
                  <a:srgbClr val="E6EDF3"/>
                </a:solidFill>
                <a:latin typeface="Inconsolata"/>
              </a:rPr>
              <a:t> run(client, </a:t>
            </a:r>
            <a:r>
              <a:rPr sz="700" i="0">
                <a:solidFill>
                  <a:srgbClr val="A5D6A7"/>
                </a:solidFill>
                <a:latin typeface="Inconsolata"/>
              </a:rPr>
              <a:t>"admin@toko.com"</a:t>
            </a:r>
            <a:r>
              <a:rPr sz="700" i="0">
                <a:solidFill>
                  <a:srgbClr val="E6EDF3"/>
                </a:solidFill>
                <a:latin typeface="Inconsolata"/>
              </a:rPr>
              <a:t>, </a:t>
            </a:r>
            <a:r>
              <a:rPr sz="700" i="0">
                <a:solidFill>
                  <a:srgbClr val="7FDBCA"/>
                </a:solidFill>
                <a:latin typeface="Inconsolata"/>
              </a:rPr>
              <a:t>PASSWORD</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FF8E6E"/>
                </a:solidFill>
                <a:latin typeface="Inconsolata"/>
              </a:rPr>
              <a:t>assert</a:t>
            </a:r>
            <a:r>
              <a:rPr sz="700" i="0">
                <a:solidFill>
                  <a:srgbClr val="E6EDF3"/>
                </a:solidFill>
                <a:latin typeface="Inconsolata"/>
              </a:rPr>
              <a:t> </a:t>
            </a:r>
            <a:r>
              <a:rPr sz="700" i="0">
                <a:solidFill>
                  <a:srgbClr val="A5D6A7"/>
                </a:solidFill>
                <a:latin typeface="Inconsolata"/>
              </a:rPr>
              <a:t>"GAGAL semua dependency siap"</a:t>
            </a:r>
            <a:r>
              <a:rPr sz="700" i="0">
                <a:solidFill>
                  <a:srgbClr val="E6EDF3"/>
                </a:solidFill>
                <a:latin typeface="Inconsolata"/>
              </a:rPr>
              <a:t> </a:t>
            </a:r>
            <a:r>
              <a:rPr sz="700" i="0">
                <a:solidFill>
                  <a:srgbClr val="FF8E6E"/>
                </a:solidFill>
                <a:latin typeface="Inconsolata"/>
              </a:rPr>
              <a:t>in</a:t>
            </a:r>
            <a:r>
              <a:rPr sz="700" i="0">
                <a:solidFill>
                  <a:srgbClr val="E6EDF3"/>
                </a:solidFill>
                <a:latin typeface="Inconsolata"/>
              </a:rPr>
              <a:t> capsys.readouterr().out</a:t>
            </a:r>
          </a:p>
        </p:txBody>
      </p:sp>
      <p:sp>
        <p:nvSpPr>
          <p:cNvPr id="29" name="Box 12"/>
          <p:cNvSpPr/>
          <p:nvPr/>
        </p:nvSpPr>
        <p:spPr>
          <a:xfrm>
            <a:off x="704088" y="1825371"/>
            <a:ext cx="5230368" cy="450342"/>
          </a:xfrm>
          <a:prstGeom prst="roundRect">
            <a:avLst>
              <a:gd name="adj" fmla="val 1015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9316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511171"/>
            <a:ext cx="5230368" cy="907542"/>
          </a:xfrm>
          <a:prstGeom prst="roundRect">
            <a:avLst>
              <a:gd name="adj" fmla="val 503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8460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TestClient adalah </a:t>
            </a:r>
            <a:r>
              <a:rPr sz="900" b="0" i="0">
                <a:solidFill>
                  <a:srgbClr val="B5482A"/>
                </a:solidFill>
                <a:latin typeface="Inconsolata"/>
              </a:rPr>
              <a:t>httpx.Client</a:t>
            </a:r>
            <a:r>
              <a:rPr sz="900" b="0" i="0">
                <a:solidFill>
                  <a:srgbClr val="434343"/>
                </a:solidFill>
                <a:latin typeface="Inter"/>
              </a:rPr>
              <a:t>, jadi </a:t>
            </a:r>
            <a:r>
              <a:rPr sz="900" b="0" i="0">
                <a:solidFill>
                  <a:srgbClr val="B5482A"/>
                </a:solidFill>
                <a:latin typeface="Inconsolata"/>
              </a:rPr>
              <a:t>run()</a:t>
            </a:r>
            <a:r>
              <a:rPr sz="900" b="0" i="0">
                <a:solidFill>
                  <a:srgbClr val="434343"/>
                </a:solidFill>
                <a:latin typeface="Inter"/>
              </a:rPr>
              <a:t> bisa dites tanpa server</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Dependency mati = smoke test gagal</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Script smoke test ikut dicek setiap API berubah</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3 test baru.</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4 dari 7</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Jalankan Smoke Test ke Kubernetes</a:t>
            </a:r>
          </a:p>
        </p:txBody>
      </p:sp>
      <p:pic>
        <p:nvPicPr>
          <p:cNvPr id="22" name="Image 3" descr="s12-smoke-pass.png"/>
          <p:cNvPicPr>
            <a:picLocks noChangeAspect="1"/>
          </p:cNvPicPr>
          <p:nvPr/>
        </p:nvPicPr>
        <p:blipFill>
          <a:blip r:embed="rId2"/>
          <a:stretch>
            <a:fillRect/>
          </a:stretch>
        </p:blipFill>
        <p:spPr>
          <a:xfrm>
            <a:off x="621792" y="1481328"/>
            <a:ext cx="5120640" cy="2873248"/>
          </a:xfrm>
          <a:prstGeom prst="rect">
            <a:avLst/>
          </a:prstGeom>
          <a:ln w="9525">
            <a:solidFill>
              <a:srgbClr val="D0D5DD"/>
            </a:solidFill>
          </a:ln>
        </p:spPr>
      </p:pic>
      <p:sp>
        <p:nvSpPr>
          <p:cNvPr id="23" name="Text 4"/>
          <p:cNvSpPr txBox="1"/>
          <p:nvPr/>
        </p:nvSpPr>
        <p:spPr>
          <a:xfrm>
            <a:off x="5971031" y="1481328"/>
            <a:ext cx="2514600"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dikerjakan</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kubectl apply -f k8s/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Buat user </a:t>
            </a:r>
            <a:r>
              <a:rPr sz="900" b="0" i="0">
                <a:solidFill>
                  <a:srgbClr val="B5482A"/>
                </a:solidFill>
                <a:latin typeface="Inconsolata"/>
              </a:rPr>
              <a:t>smoke@toko.com</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kubectl port-forward</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python smoke_test.py</a:t>
            </a:r>
          </a:p>
          <a:p>
            <a:pPr algn="l">
              <a:lnSpc>
                <a:spcPct val="115000"/>
              </a:lnSpc>
              <a:spcAft>
                <a:spcPts val="0"/>
              </a:spcAft>
            </a:pPr>
            <a:endParaRPr sz="900" b="0" i="0">
              <a:solidFill>
                <a:srgbClr val="B5482A"/>
              </a:solidFill>
              <a:latin typeface="Inconsolata"/>
            </a:endParaRPr>
          </a:p>
          <a:p>
            <a:pPr algn="l">
              <a:lnSpc>
                <a:spcPct val="115000"/>
              </a:lnSpc>
              <a:spcAft>
                <a:spcPts val="400"/>
              </a:spcAft>
            </a:pPr>
            <a:r>
              <a:rPr sz="900" b="0" i="0">
                <a:solidFill>
                  <a:srgbClr val="434343"/>
                </a:solidFill>
                <a:latin typeface="Inter"/>
              </a:rPr>
              <a:t>Semua langkah OK, exit code 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4 dari 7</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Smoke Test Saat Dependency Mati</a:t>
            </a:r>
          </a:p>
        </p:txBody>
      </p:sp>
      <p:pic>
        <p:nvPicPr>
          <p:cNvPr id="22" name="Image 3" descr="s12-smoke-fail.png"/>
          <p:cNvPicPr>
            <a:picLocks noChangeAspect="1"/>
          </p:cNvPicPr>
          <p:nvPr/>
        </p:nvPicPr>
        <p:blipFill>
          <a:blip r:embed="rId2"/>
          <a:stretch>
            <a:fillRect/>
          </a:stretch>
        </p:blipFill>
        <p:spPr>
          <a:xfrm>
            <a:off x="621792" y="1481328"/>
            <a:ext cx="5120640" cy="2179117"/>
          </a:xfrm>
          <a:prstGeom prst="rect">
            <a:avLst/>
          </a:prstGeom>
          <a:ln w="9525">
            <a:solidFill>
              <a:srgbClr val="D0D5DD"/>
            </a:solidFill>
          </a:ln>
        </p:spPr>
      </p:pic>
      <p:sp>
        <p:nvSpPr>
          <p:cNvPr id="23" name="Text 4"/>
          <p:cNvSpPr txBox="1"/>
          <p:nvPr/>
        </p:nvSpPr>
        <p:spPr>
          <a:xfrm>
            <a:off x="5971031" y="1481328"/>
            <a:ext cx="2514600"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RabbitMQ dimatikan</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/health/ready</a:t>
            </a:r>
            <a:r>
              <a:rPr sz="900" b="0" i="0">
                <a:solidFill>
                  <a:srgbClr val="434343"/>
                </a:solidFill>
                <a:latin typeface="Inter"/>
              </a:rPr>
              <a:t> 503, langkah lain tetap dicek</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Exit code 1</a:t>
            </a:r>
          </a:p>
          <a:p>
            <a:pPr algn="l">
              <a:lnSpc>
                <a:spcPct val="115000"/>
              </a:lnSpc>
              <a:spcAft>
                <a:spcPts val="0"/>
              </a:spcAft>
            </a:pPr>
            <a:endParaRPr sz="900" b="0" i="0">
              <a:solidFill>
                <a:srgbClr val="434343"/>
              </a:solidFill>
              <a:latin typeface="Inter"/>
            </a:endParaRPr>
          </a:p>
          <a:p>
            <a:pPr algn="l">
              <a:lnSpc>
                <a:spcPct val="115000"/>
              </a:lnSpc>
              <a:spcAft>
                <a:spcPts val="400"/>
              </a:spcAft>
            </a:pPr>
            <a:r>
              <a:rPr sz="900" b="0" i="0">
                <a:solidFill>
                  <a:srgbClr val="434343"/>
                </a:solidFill>
                <a:latin typeface="Inter"/>
              </a:rPr>
              <a:t>Di pipeline, job berikutnya tidak jalan.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5 dari 7</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ci.yml: job deploy-smoke</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.github/workflows/ci.yml</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5820"/>
              </a:lnSpc>
              <a:spcAft>
                <a:spcPts val="0"/>
              </a:spcAft>
            </a:pPr>
            <a:r>
              <a:rPr sz="630" i="0">
                <a:solidFill>
                  <a:srgbClr val="E6EDF3"/>
                </a:solidFill>
                <a:latin typeface="Inconsolata"/>
              </a:rPr>
              <a:t>  </a:t>
            </a:r>
            <a:r>
              <a:rPr sz="630" i="0">
                <a:solidFill>
                  <a:srgbClr val="82B1FF"/>
                </a:solidFill>
                <a:latin typeface="Inconsolata"/>
              </a:rPr>
              <a:t>deploy-smoke</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needs</a:t>
            </a:r>
            <a:r>
              <a:rPr sz="630" i="0">
                <a:solidFill>
                  <a:srgbClr val="E6EDF3"/>
                </a:solidFill>
                <a:latin typeface="Inconsolata"/>
              </a:rPr>
              <a:t>: build-scan</a:t>
            </a:r>
          </a:p>
          <a:p>
            <a:pPr>
              <a:lnSpc>
                <a:spcPct val="105820"/>
              </a:lnSpc>
              <a:spcAft>
                <a:spcPts val="0"/>
              </a:spcAft>
            </a:pPr>
            <a:r>
              <a:rPr sz="630" i="0">
                <a:solidFill>
                  <a:srgbClr val="E6EDF3"/>
                </a:solidFill>
                <a:latin typeface="Inconsolata"/>
              </a:rPr>
              <a:t>    </a:t>
            </a:r>
            <a:r>
              <a:rPr sz="630" i="0">
                <a:solidFill>
                  <a:srgbClr val="82B1FF"/>
                </a:solidFill>
                <a:latin typeface="Inconsolata"/>
              </a:rPr>
              <a:t>if</a:t>
            </a:r>
            <a:r>
              <a:rPr sz="630" i="0">
                <a:solidFill>
                  <a:srgbClr val="E6EDF3"/>
                </a:solidFill>
                <a:latin typeface="Inconsolata"/>
              </a:rPr>
              <a:t>: github.ref == 'refs/heads/main'</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SMOKE_PASSWORD</a:t>
            </a:r>
            <a:r>
              <a:rPr sz="630" i="0">
                <a:solidFill>
                  <a:srgbClr val="E6EDF3"/>
                </a:solidFill>
                <a:latin typeface="Inconsolata"/>
              </a:rPr>
              <a:t>: ${{ secrets.SMOKE_PASSWORD }}</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      - </a:t>
            </a:r>
            <a:r>
              <a:rPr sz="630" i="0">
                <a:solidFill>
                  <a:srgbClr val="82B1FF"/>
                </a:solidFill>
                <a:latin typeface="Inconsolata"/>
              </a:rPr>
              <a:t>uses</a:t>
            </a:r>
            <a:r>
              <a:rPr sz="630" i="0">
                <a:solidFill>
                  <a:srgbClr val="E6EDF3"/>
                </a:solidFill>
                <a:latin typeface="Inconsolata"/>
              </a:rPr>
              <a:t>: helm/kind-action@v1</a:t>
            </a:r>
          </a:p>
          <a:p>
            <a:pPr>
              <a:lnSpc>
                <a:spcPct val="105820"/>
              </a:lnSpc>
              <a:spcAft>
                <a:spcPts val="0"/>
              </a:spcAft>
            </a:pPr>
            <a:r>
              <a:rPr sz="630" i="0">
                <a:solidFill>
                  <a:srgbClr val="E6EDF3"/>
                </a:solidFill>
                <a:latin typeface="Inconsolata"/>
              </a:rPr>
              <a:t>        </a:t>
            </a:r>
            <a:r>
              <a:rPr sz="630" i="0">
                <a:solidFill>
                  <a:srgbClr val="82B1FF"/>
                </a:solidFill>
                <a:latin typeface="Inconsolata"/>
              </a:rPr>
              <a:t>with</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cluster_name</a:t>
            </a:r>
            <a:r>
              <a:rPr sz="630" i="0">
                <a:solidFill>
                  <a:srgbClr val="E6EDF3"/>
                </a:solidFill>
                <a:latin typeface="Inconsolata"/>
              </a:rPr>
              <a:t>: demo</a:t>
            </a:r>
          </a:p>
          <a:p>
            <a:pPr>
              <a:lnSpc>
                <a:spcPct val="105820"/>
              </a:lnSpc>
              <a:spcAft>
                <a:spcPts val="0"/>
              </a:spcAft>
            </a:pPr>
            <a:r>
              <a:rPr sz="630" i="0">
                <a:solidFill>
                  <a:srgbClr val="E6EDF3"/>
                </a:solidFill>
                <a:latin typeface="Inconsolata"/>
              </a:rPr>
              <a:t>      - </a:t>
            </a:r>
            <a:r>
              <a:rPr sz="630" i="0">
                <a:solidFill>
                  <a:srgbClr val="82B1FF"/>
                </a:solidFill>
                <a:latin typeface="Inconsolata"/>
              </a:rPr>
              <a:t>run</a:t>
            </a:r>
            <a:r>
              <a:rPr sz="630" i="0">
                <a:solidFill>
                  <a:srgbClr val="E6EDF3"/>
                </a:solidFill>
                <a:latin typeface="Inconsolata"/>
              </a:rPr>
              <a:t>: kind load docker-image order-api:1.0 --name demo</a:t>
            </a:r>
          </a:p>
          <a:p>
            <a:pPr>
              <a:lnSpc>
                <a:spcPct val="105820"/>
              </a:lnSpc>
              <a:spcAft>
                <a:spcPts val="0"/>
              </a:spcAft>
            </a:pPr>
            <a:r>
              <a:rPr sz="630" i="0">
                <a:solidFill>
                  <a:srgbClr val="E6EDF3"/>
                </a:solidFill>
                <a:latin typeface="Inconsolata"/>
              </a:rPr>
              <a:t>      - </a:t>
            </a:r>
            <a:r>
              <a:rPr sz="630" i="0">
                <a:solidFill>
                  <a:srgbClr val="82B1FF"/>
                </a:solidFill>
                <a:latin typeface="Inconsolata"/>
              </a:rPr>
              <a:t>name</a:t>
            </a:r>
            <a:r>
              <a:rPr sz="630" i="0">
                <a:solidFill>
                  <a:srgbClr val="E6EDF3"/>
                </a:solidFill>
                <a:latin typeface="Inconsolata"/>
              </a:rPr>
              <a:t>: Deploy</a:t>
            </a:r>
          </a:p>
          <a:p>
            <a:pPr>
              <a:lnSpc>
                <a:spcPct val="105820"/>
              </a:lnSpc>
              <a:spcAft>
                <a:spcPts val="0"/>
              </a:spcAft>
            </a:pPr>
            <a:r>
              <a:rPr sz="630" i="0">
                <a:solidFill>
                  <a:srgbClr val="E6EDF3"/>
                </a:solidFill>
                <a:latin typeface="Inconsolata"/>
              </a:rPr>
              <a:t>        </a:t>
            </a:r>
            <a:r>
              <a:rPr sz="630" i="0">
                <a:solidFill>
                  <a:srgbClr val="82B1FF"/>
                </a:solidFill>
                <a:latin typeface="Inconsolata"/>
              </a:rPr>
              <a:t>run</a:t>
            </a:r>
            <a:r>
              <a:rPr sz="630" i="0">
                <a:solidFill>
                  <a:srgbClr val="E6EDF3"/>
                </a:solidFill>
                <a:latin typeface="Inconsolata"/>
              </a:rPr>
              <a:t>: |</a:t>
            </a:r>
          </a:p>
          <a:p>
            <a:pPr>
              <a:lnSpc>
                <a:spcPct val="105820"/>
              </a:lnSpc>
              <a:spcAft>
                <a:spcPts val="0"/>
              </a:spcAft>
            </a:pPr>
            <a:r>
              <a:rPr sz="630" i="0">
                <a:solidFill>
                  <a:srgbClr val="E6EDF3"/>
                </a:solidFill>
                <a:latin typeface="Inconsolata"/>
              </a:rPr>
              <a:t>          kubectl apply -f k8s/</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      - </a:t>
            </a:r>
            <a:r>
              <a:rPr sz="630" i="0">
                <a:solidFill>
                  <a:srgbClr val="82B1FF"/>
                </a:solidFill>
                <a:latin typeface="Inconsolata"/>
              </a:rPr>
              <a:t>name</a:t>
            </a:r>
            <a:r>
              <a:rPr sz="630" i="0">
                <a:solidFill>
                  <a:srgbClr val="E6EDF3"/>
                </a:solidFill>
                <a:latin typeface="Inconsolata"/>
              </a:rPr>
              <a:t>: Smoke test</a:t>
            </a:r>
          </a:p>
          <a:p>
            <a:pPr>
              <a:lnSpc>
                <a:spcPct val="105820"/>
              </a:lnSpc>
              <a:spcAft>
                <a:spcPts val="0"/>
              </a:spcAft>
            </a:pPr>
            <a:r>
              <a:rPr sz="630" i="0">
                <a:solidFill>
                  <a:srgbClr val="E6EDF3"/>
                </a:solidFill>
                <a:latin typeface="Inconsolata"/>
              </a:rPr>
              <a:t>        </a:t>
            </a:r>
            <a:r>
              <a:rPr sz="630" i="0">
                <a:solidFill>
                  <a:srgbClr val="82B1FF"/>
                </a:solidFill>
                <a:latin typeface="Inconsolata"/>
              </a:rPr>
              <a:t>run</a:t>
            </a:r>
            <a:r>
              <a:rPr sz="630" i="0">
                <a:solidFill>
                  <a:srgbClr val="E6EDF3"/>
                </a:solidFill>
                <a:latin typeface="Inconsolata"/>
              </a:rPr>
              <a:t>: |</a:t>
            </a:r>
          </a:p>
          <a:p>
            <a:pPr>
              <a:lnSpc>
                <a:spcPct val="105820"/>
              </a:lnSpc>
              <a:spcAft>
                <a:spcPts val="0"/>
              </a:spcAft>
            </a:pPr>
            <a:r>
              <a:rPr sz="630" i="0">
                <a:solidFill>
                  <a:srgbClr val="E6EDF3"/>
                </a:solidFill>
                <a:latin typeface="Inconsolata"/>
              </a:rPr>
              <a:t>          kubectl port-forward svc/order-api 8080:80 &amp;</a:t>
            </a:r>
          </a:p>
          <a:p>
            <a:pPr>
              <a:lnSpc>
                <a:spcPct val="105820"/>
              </a:lnSpc>
              <a:spcAft>
                <a:spcPts val="0"/>
              </a:spcAft>
            </a:pPr>
            <a:r>
              <a:rPr sz="630" i="0">
                <a:solidFill>
                  <a:srgbClr val="E6EDF3"/>
                </a:solidFill>
                <a:latin typeface="Inconsolata"/>
              </a:rPr>
              <a:t>          sleep 3</a:t>
            </a:r>
          </a:p>
          <a:p>
            <a:pPr>
              <a:lnSpc>
                <a:spcPct val="105820"/>
              </a:lnSpc>
              <a:spcAft>
                <a:spcPts val="0"/>
              </a:spcAft>
            </a:pPr>
            <a:r>
              <a:rPr sz="630" i="0">
                <a:solidFill>
                  <a:srgbClr val="E6EDF3"/>
                </a:solidFill>
                <a:latin typeface="Inconsolata"/>
              </a:rPr>
              <a:t>          BASE_URL=http://localhost:8080 python smoke_test.py</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publish</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needs</a:t>
            </a:r>
            <a:r>
              <a:rPr sz="630" i="0">
                <a:solidFill>
                  <a:srgbClr val="E6EDF3"/>
                </a:solidFill>
                <a:latin typeface="Inconsolata"/>
              </a:rPr>
              <a:t>: deploy-smoke</a:t>
            </a:r>
          </a:p>
        </p:txBody>
      </p:sp>
      <p:sp>
        <p:nvSpPr>
          <p:cNvPr id="29" name="Box 12"/>
          <p:cNvSpPr/>
          <p:nvPr/>
        </p:nvSpPr>
        <p:spPr>
          <a:xfrm>
            <a:off x="704088" y="18237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2301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159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433320"/>
            <a:ext cx="5230368" cy="705103"/>
          </a:xfrm>
          <a:prstGeom prst="roundRect">
            <a:avLst>
              <a:gd name="adj" fmla="val 648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2667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246120"/>
            <a:ext cx="5230368" cy="501904"/>
          </a:xfrm>
          <a:prstGeom prst="roundRect">
            <a:avLst>
              <a:gd name="adj" fmla="val 910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815584" y="3378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704088" y="3957319"/>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Box 21"/>
          <p:cNvSpPr/>
          <p:nvPr/>
        </p:nvSpPr>
        <p:spPr>
          <a:xfrm>
            <a:off x="5815584" y="3886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5</a:t>
            </a:r>
          </a:p>
        </p:txBody>
      </p:sp>
      <p:sp>
        <p:nvSpPr>
          <p:cNvPr id="39" name="Box 22"/>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Text 23"/>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41" name="Text 24"/>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Jalan setelah build-scan, hanya di main</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Password user smoke test dari secret GitHub</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Cluster kind di runner, lalu deploy</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Smoke test, langkah yang sama dengan langkah 4</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publish</a:t>
            </a:r>
            <a:r>
              <a:rPr sz="900" b="0" i="0">
                <a:solidFill>
                  <a:srgbClr val="434343"/>
                </a:solidFill>
                <a:latin typeface="Inter"/>
              </a:rPr>
              <a:t> sekarang menunggu </a:t>
            </a:r>
            <a:r>
              <a:rPr sz="900" b="0" i="0">
                <a:solidFill>
                  <a:srgbClr val="B5482A"/>
                </a:solidFill>
                <a:latin typeface="Inconsolata"/>
              </a:rPr>
              <a:t>deploy-smoke</a:t>
            </a:r>
          </a:p>
        </p:txBody>
      </p:sp>
      <p:sp>
        <p:nvSpPr>
          <p:cNvPr id="42" name="Box 25"/>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3" name="Text 26"/>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4" name="Text 27"/>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Image di registry selalu sudah dicoba.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6 dari 7</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README, docs/, dan template PR</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docs/architecture.md</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5820"/>
              </a:lnSpc>
              <a:spcAft>
                <a:spcPts val="0"/>
              </a:spcAft>
            </a:pPr>
            <a:r>
              <a:rPr sz="630" i="0">
                <a:solidFill>
                  <a:srgbClr val="82B1FF"/>
                </a:solidFill>
                <a:latin typeface="Inconsolata"/>
              </a:rPr>
              <a:t>## Layer kode</a:t>
            </a:r>
          </a:p>
          <a:p>
            <a:pPr>
              <a:lnSpc>
                <a:spcPct val="105820"/>
              </a:lnSpc>
              <a:spcAft>
                <a:spcPts val="0"/>
              </a:spcAft>
            </a:pPr>
            <a:endParaRPr sz="630" i="0">
              <a:solidFill>
                <a:srgbClr val="82B1FF"/>
              </a:solidFill>
              <a:latin typeface="Inconsolata"/>
            </a:endParaRP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app/</a:t>
            </a:r>
          </a:p>
          <a:p>
            <a:pPr>
              <a:lnSpc>
                <a:spcPct val="105820"/>
              </a:lnSpc>
              <a:spcAft>
                <a:spcPts val="0"/>
              </a:spcAft>
            </a:pPr>
            <a:r>
              <a:rPr sz="630" i="0">
                <a:solidFill>
                  <a:srgbClr val="E6EDF3"/>
                </a:solidFill>
                <a:latin typeface="Inconsolata"/>
              </a:rPr>
              <a:t>  domain/          aturan bisnis: Order, Money, DiscountPolicy, User (tanpa library luar)</a:t>
            </a:r>
          </a:p>
          <a:p>
            <a:pPr>
              <a:lnSpc>
                <a:spcPct val="105820"/>
              </a:lnSpc>
              <a:spcAft>
                <a:spcPts val="0"/>
              </a:spcAft>
            </a:pPr>
            <a:r>
              <a:rPr sz="630" i="0">
                <a:solidFill>
                  <a:srgbClr val="E6EDF3"/>
                </a:solidFill>
                <a:latin typeface="Inconsolata"/>
              </a:rPr>
              <a:t>  application/     use case dan port: OrderService, AuthService, NotificationService</a:t>
            </a:r>
          </a:p>
          <a:p>
            <a:pPr>
              <a:lnSpc>
                <a:spcPct val="105820"/>
              </a:lnSpc>
              <a:spcAft>
                <a:spcPts val="0"/>
              </a:spcAft>
            </a:pPr>
            <a:r>
              <a:rPr sz="630" i="0">
                <a:solidFill>
                  <a:srgbClr val="E6EDF3"/>
                </a:solidFill>
                <a:latin typeface="Inconsolata"/>
              </a:rPr>
              <a:t>  infrastructure/  adapter: SQLAlchemy, Redis, RabbitMQ, JWT, Argon2, logging, metrics</a:t>
            </a:r>
          </a:p>
          <a:p>
            <a:pPr>
              <a:lnSpc>
                <a:spcPct val="105820"/>
              </a:lnSpc>
              <a:spcAft>
                <a:spcPts val="0"/>
              </a:spcAft>
            </a:pPr>
            <a:r>
              <a:rPr sz="630" i="0">
                <a:solidFill>
                  <a:srgbClr val="E6EDF3"/>
                </a:solidFill>
                <a:latin typeface="Inconsolata"/>
              </a:rPr>
              <a:t>  api/             FastAPI: router, schema, dependency, error handler</a:t>
            </a:r>
          </a:p>
          <a:p>
            <a:pPr>
              <a:lnSpc>
                <a:spcPct val="105820"/>
              </a:lnSpc>
              <a:spcAft>
                <a:spcPts val="0"/>
              </a:spcAft>
            </a:pPr>
            <a:r>
              <a:rPr sz="630" i="0">
                <a:solidFill>
                  <a:srgbClr val="E6EDF3"/>
                </a:solidFill>
                <a:latin typeface="Inconsolata"/>
              </a:rPr>
              <a:t>  worker/          Celery</a:t>
            </a:r>
          </a:p>
          <a:p>
            <a:pPr>
              <a:lnSpc>
                <a:spcPct val="105820"/>
              </a:lnSpc>
              <a:spcAft>
                <a:spcPts val="0"/>
              </a:spcAft>
            </a:pPr>
            <a:r>
              <a:rPr sz="630" i="0">
                <a:solidFill>
                  <a:srgbClr val="E6EDF3"/>
                </a:solidFill>
                <a:latin typeface="Inconsolata"/>
              </a:rPr>
              <a:t>  consumers/       consumer RabbitMQ</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82B1FF"/>
                </a:solidFill>
                <a:latin typeface="Inconsolata"/>
              </a:rPr>
              <a:t>## Alur: membuat order</a:t>
            </a:r>
          </a:p>
          <a:p>
            <a:pPr>
              <a:lnSpc>
                <a:spcPct val="105820"/>
              </a:lnSpc>
              <a:spcAft>
                <a:spcPts val="0"/>
              </a:spcAft>
            </a:pPr>
            <a:endParaRPr sz="630" i="0">
              <a:solidFill>
                <a:srgbClr val="82B1FF"/>
              </a:solidFill>
              <a:latin typeface="Inconsolata"/>
            </a:endParaRPr>
          </a:p>
          <a:p>
            <a:pPr>
              <a:lnSpc>
                <a:spcPct val="105820"/>
              </a:lnSpc>
              <a:spcAft>
                <a:spcPts val="0"/>
              </a:spcAft>
            </a:pPr>
            <a:r>
              <a:rPr sz="630" i="0">
                <a:solidFill>
                  <a:srgbClr val="E6EDF3"/>
                </a:solidFill>
                <a:latin typeface="Inconsolata"/>
              </a:rPr>
              <a:t>1. Client mengirim `POST /orders` dengan header `Authorization: Bearer &lt;token&gt;`</a:t>
            </a:r>
          </a:p>
          <a:p>
            <a:pPr>
              <a:lnSpc>
                <a:spcPct val="105820"/>
              </a:lnSpc>
              <a:spcAft>
                <a:spcPts val="0"/>
              </a:spcAft>
            </a:pPr>
            <a:r>
              <a:rPr sz="630" i="0">
                <a:solidFill>
                  <a:srgbClr val="E6EDF3"/>
                </a:solidFill>
                <a:latin typeface="Inconsolata"/>
              </a:rPr>
              <a:t>2. `get_current_user` membaca token dan mengecek scope `orders:write`</a:t>
            </a:r>
          </a:p>
          <a:p>
            <a:pPr>
              <a:lnSpc>
                <a:spcPct val="105820"/>
              </a:lnSpc>
              <a:spcAft>
                <a:spcPts val="0"/>
              </a:spcAft>
            </a:pPr>
            <a:r>
              <a:rPr sz="630" i="0">
                <a:solidFill>
                  <a:srgbClr val="E6EDF3"/>
                </a:solidFill>
                <a:latin typeface="Inconsolata"/>
              </a:rPr>
              <a:t>3. `OrderService.place_order` mengurangi stok dan menyimpan order dalam satu transaksi (Unit of Work)</a:t>
            </a:r>
          </a:p>
          <a:p>
            <a:pPr>
              <a:lnSpc>
                <a:spcPct val="105820"/>
              </a:lnSpc>
              <a:spcAft>
                <a:spcPts val="0"/>
              </a:spcAft>
            </a:pPr>
            <a:r>
              <a:rPr sz="630" i="0">
                <a:solidFill>
                  <a:srgbClr val="E6EDF3"/>
                </a:solidFill>
                <a:latin typeface="Inconsolata"/>
              </a:rPr>
              <a:t>4. Setelah commit, event `order.placed` dikirim ke exchange `orders`</a:t>
            </a:r>
          </a:p>
          <a:p>
            <a:pPr>
              <a:lnSpc>
                <a:spcPct val="105820"/>
              </a:lnSpc>
              <a:spcAft>
                <a:spcPts val="0"/>
              </a:spcAft>
            </a:pPr>
            <a:r>
              <a:rPr sz="630" i="0">
                <a:solidFill>
                  <a:srgbClr val="E6EDF3"/>
                </a:solidFill>
                <a:latin typeface="Inconsolata"/>
              </a:rPr>
              <a:t>5. Consumer notifikasi menerima event, mengirim email, lalu ack</a:t>
            </a:r>
          </a:p>
        </p:txBody>
      </p:sp>
      <p:sp>
        <p:nvSpPr>
          <p:cNvPr id="29" name="Box 12"/>
          <p:cNvSpPr/>
          <p:nvPr/>
        </p:nvSpPr>
        <p:spPr>
          <a:xfrm>
            <a:off x="704088" y="1823720"/>
            <a:ext cx="5230368" cy="1009904"/>
          </a:xfrm>
          <a:prstGeom prst="roundRect">
            <a:avLst>
              <a:gd name="adj" fmla="val 452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209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042920"/>
            <a:ext cx="5230368" cy="705103"/>
          </a:xfrm>
          <a:prstGeom prst="roundRect">
            <a:avLst>
              <a:gd name="adj" fmla="val 648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276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Layer kode dan arah dependency</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Alur satu request utama, bahan architecture walkthrough</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Tambahkan juga diagram Mermaid, README, 3 ADR, deployment checklist, dan template PR (contoh 02, 03)</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Diagram tampil sebagai gambar di GitHub.</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7 dari 7</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Jalankan Lint dan Test</a:t>
            </a:r>
          </a:p>
        </p:txBody>
      </p:sp>
      <p:pic>
        <p:nvPicPr>
          <p:cNvPr id="22" name="Image 3" descr="s12-pytest.png"/>
          <p:cNvPicPr>
            <a:picLocks noChangeAspect="1"/>
          </p:cNvPicPr>
          <p:nvPr/>
        </p:nvPicPr>
        <p:blipFill>
          <a:blip r:embed="rId2"/>
          <a:stretch>
            <a:fillRect/>
          </a:stretch>
        </p:blipFill>
        <p:spPr>
          <a:xfrm>
            <a:off x="621792" y="1481328"/>
            <a:ext cx="5394960" cy="1810309"/>
          </a:xfrm>
          <a:prstGeom prst="rect">
            <a:avLst/>
          </a:prstGeom>
          <a:ln w="9525">
            <a:solidFill>
              <a:srgbClr val="D0D5DD"/>
            </a:solidFill>
          </a:ln>
        </p:spPr>
      </p:pic>
      <p:sp>
        <p:nvSpPr>
          <p:cNvPr id="23" name="Box 4"/>
          <p:cNvSpPr/>
          <p:nvPr/>
        </p:nvSpPr>
        <p:spPr>
          <a:xfrm>
            <a:off x="6199632" y="1481328"/>
            <a:ext cx="2285999" cy="3218688"/>
          </a:xfrm>
          <a:prstGeom prst="roundRect">
            <a:avLst>
              <a:gd name="adj" fmla="val 4800"/>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Text 5"/>
          <p:cNvSpPr txBox="1"/>
          <p:nvPr/>
        </p:nvSpPr>
        <p:spPr>
          <a:xfrm>
            <a:off x="6336792" y="1572768"/>
            <a:ext cx="2011679" cy="310896"/>
          </a:xfrm>
          <a:prstGeom prst="rect">
            <a:avLst/>
          </a:prstGeom>
          <a:noFill/>
        </p:spPr>
        <p:txBody>
          <a:bodyPr wrap="square" lIns="45720" rIns="45720" anchor="t">
            <a:spAutoFit/>
          </a:bodyPr>
          <a:lstStyle/>
          <a:p>
            <a:pPr algn="l">
              <a:lnSpc>
                <a:spcPct val="115000"/>
              </a:lnSpc>
              <a:spcAft>
                <a:spcPts val="400"/>
              </a:spcAft>
            </a:pPr>
            <a:r>
              <a:rPr sz="1100" b="1" i="0">
                <a:solidFill>
                  <a:srgbClr val="E0764F"/>
                </a:solidFill>
                <a:latin typeface="Inter"/>
              </a:rPr>
              <a:t>Yang dikerjakan</a:t>
            </a:r>
          </a:p>
        </p:txBody>
      </p:sp>
      <p:sp>
        <p:nvSpPr>
          <p:cNvPr id="25" name="Text 6"/>
          <p:cNvSpPr txBox="1"/>
          <p:nvPr/>
        </p:nvSpPr>
        <p:spPr>
          <a:xfrm>
            <a:off x="6336792" y="1892808"/>
            <a:ext cx="2011679"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ruff check .</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pytest -q</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Push ke GitHub, buka tab </a:t>
            </a:r>
            <a:r>
              <a:rPr sz="950" b="1" i="0">
                <a:solidFill>
                  <a:srgbClr val="434343"/>
                </a:solidFill>
                <a:latin typeface="Inter"/>
              </a:rPr>
              <a:t>Actions</a:t>
            </a:r>
          </a:p>
          <a:p>
            <a:pPr algn="l">
              <a:lnSpc>
                <a:spcPct val="115000"/>
              </a:lnSpc>
              <a:spcAft>
                <a:spcPts val="0"/>
              </a:spcAft>
            </a:pPr>
            <a:endParaRPr sz="950" b="1" i="0">
              <a:solidFill>
                <a:srgbClr val="434343"/>
              </a:solidFill>
              <a:latin typeface="Inter"/>
            </a:endParaRPr>
          </a:p>
          <a:p>
            <a:pPr algn="l">
              <a:lnSpc>
                <a:spcPct val="115000"/>
              </a:lnSpc>
              <a:spcAft>
                <a:spcPts val="400"/>
              </a:spcAft>
            </a:pPr>
            <a:r>
              <a:rPr sz="950" b="0" i="0">
                <a:solidFill>
                  <a:srgbClr val="434343"/>
                </a:solidFill>
                <a:latin typeface="Inter"/>
              </a:rPr>
              <a:t>Tambahkan secret </a:t>
            </a:r>
            <a:r>
              <a:rPr sz="950" b="0" i="0">
                <a:solidFill>
                  <a:srgbClr val="B5482A"/>
                </a:solidFill>
                <a:latin typeface="Inconsolata"/>
              </a:rPr>
              <a:t>SMOKE_PASSWORD</a:t>
            </a:r>
            <a:r>
              <a:rPr sz="950" b="0" i="0">
                <a:solidFill>
                  <a:srgbClr val="434343"/>
                </a:solidFill>
                <a:latin typeface="Inter"/>
              </a:rPr>
              <a:t> di Settings &gt; Secrets and variables &gt; Actions.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Kriteria Selesai</a:t>
            </a:r>
          </a:p>
        </p:txBody>
      </p:sp>
      <p:graphicFrame>
        <p:nvGraphicFramePr>
          <p:cNvPr id="22" name="Table 3"/>
          <p:cNvGraphicFramePr>
            <a:graphicFrameLocks noGrp="1"/>
          </p:cNvGraphicFramePr>
          <p:nvPr/>
        </p:nvGraphicFramePr>
        <p:xfrm>
          <a:off x="621792" y="1481328"/>
          <a:ext cx="7863840" cy="288036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900" b="1" i="0">
                          <a:solidFill>
                            <a:srgbClr val="FFFFFF"/>
                          </a:solidFill>
                          <a:latin typeface="Inter"/>
                        </a:rPr>
                        <a:t>Kriteria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Cara mengecek</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900" b="1" i="0">
                          <a:solidFill>
                            <a:srgbClr val="1C4587"/>
                          </a:solidFill>
                          <a:latin typeface="Inter"/>
                        </a:rPr>
                        <a:t>Smoke test lulus ke Kubernetes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BASE_URL=... python smoke_test.py, exit code 0</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900" b="1" i="0">
                          <a:solidFill>
                            <a:srgbClr val="1C4587"/>
                          </a:solidFill>
                          <a:latin typeface="Inter"/>
                        </a:rPr>
                        <a:t>Gagal jika dependency mati</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kubectl scale deploy/rabbitmq --replicas=0, exit code 1</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900" b="1" i="0">
                          <a:solidFill>
                            <a:srgbClr val="1C4587"/>
                          </a:solidFill>
                          <a:latin typeface="Inter"/>
                        </a:rPr>
                        <a:t>Job deploy-smoke dan publish berurutan</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Tab Actions di GitHub setelah merge ke main</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900" b="1" i="0">
                          <a:solidFill>
                            <a:srgbClr val="1C4587"/>
                          </a:solidFill>
                          <a:latin typeface="Inter"/>
                        </a:rPr>
                        <a:t>Dokumentasi lengkap</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README, docs/architecture.md, docs/adr/, deployment-checklist.md</a:t>
                      </a:r>
                    </a:p>
                  </a:txBody>
                  <a:tcPr marL="73152" marR="73152" marT="36576" marB="36576" anchor="ctr">
                    <a:solidFill>
                      <a:srgbClr val="F3F4F6"/>
                    </a:solidFill>
                  </a:tcPr>
                </a:tc>
                <a:extLst>
                  <a:ext uri="{0D108BD9-81ED-4DB2-BD59-A6C34878D82A}">
                    <a16:rowId xmlns:a16="http://schemas.microsoft.com/office/drawing/2014/main" val="10004"/>
                  </a:ext>
                </a:extLst>
              </a:tr>
              <a:tr h="411480">
                <a:tc>
                  <a:txBody>
                    <a:bodyPr/>
                    <a:lstStyle/>
                    <a:p>
                      <a:pPr algn="l">
                        <a:lnSpc>
                          <a:spcPct val="100000"/>
                        </a:lnSpc>
                        <a:spcAft>
                          <a:spcPts val="0"/>
                        </a:spcAft>
                      </a:pPr>
                      <a:r>
                        <a:rPr sz="900" b="1" i="0">
                          <a:solidFill>
                            <a:srgbClr val="1C4587"/>
                          </a:solidFill>
                          <a:latin typeface="Inter"/>
                        </a:rPr>
                        <a:t>Template pull request</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Buka pull request baru, deskripsinya terisi template</a:t>
                      </a:r>
                    </a:p>
                  </a:txBody>
                  <a:tcPr marL="73152" marR="73152" marT="36576" marB="36576" anchor="ctr">
                    <a:solidFill>
                      <a:srgbClr val="FFFFFF"/>
                    </a:solidFill>
                  </a:tcPr>
                </a:tc>
                <a:extLst>
                  <a:ext uri="{0D108BD9-81ED-4DB2-BD59-A6C34878D82A}">
                    <a16:rowId xmlns:a16="http://schemas.microsoft.com/office/drawing/2014/main" val="10005"/>
                  </a:ext>
                </a:extLst>
              </a:tr>
              <a:tr h="411480">
                <a:tc>
                  <a:txBody>
                    <a:bodyPr/>
                    <a:lstStyle/>
                    <a:p>
                      <a:pPr algn="l">
                        <a:lnSpc>
                          <a:spcPct val="100000"/>
                        </a:lnSpc>
                        <a:spcAft>
                          <a:spcPts val="0"/>
                        </a:spcAft>
                      </a:pPr>
                      <a:r>
                        <a:rPr sz="900" b="1" i="0">
                          <a:solidFill>
                            <a:srgbClr val="1C4587"/>
                          </a:solidFill>
                          <a:latin typeface="Inter"/>
                        </a:rPr>
                        <a:t>ruff dan pytest hijau</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ruff check . dan pytest -q</a:t>
                      </a:r>
                    </a:p>
                  </a:txBody>
                  <a:tcPr marL="73152" marR="73152" marT="36576" marB="36576" anchor="ctr">
                    <a:solidFill>
                      <a:srgbClr val="F3F4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Alur Rilis: Pull Request sampai Registry</a:t>
            </a:r>
          </a:p>
        </p:txBody>
      </p:sp>
      <p:sp>
        <p:nvSpPr>
          <p:cNvPr id="22" name="CodeTab 4"/>
          <p:cNvSpPr/>
          <p:nvPr/>
        </p:nvSpPr>
        <p:spPr>
          <a:xfrm>
            <a:off x="621792" y="1481328"/>
            <a:ext cx="52578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6177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latihan/.github/workflows/ci.yml</a:t>
            </a:r>
          </a:p>
        </p:txBody>
      </p:sp>
      <p:sp>
        <p:nvSpPr>
          <p:cNvPr id="27" name="CodeBg 10"/>
          <p:cNvSpPr/>
          <p:nvPr/>
        </p:nvSpPr>
        <p:spPr>
          <a:xfrm>
            <a:off x="621792" y="1719072"/>
            <a:ext cx="525780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257800" cy="2980944"/>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on:</a:t>
            </a:r>
          </a:p>
          <a:p>
            <a:pPr>
              <a:lnSpc>
                <a:spcPct val="111111"/>
              </a:lnSpc>
              <a:spcAft>
                <a:spcPts val="0"/>
              </a:spcAft>
            </a:pPr>
            <a:r>
              <a:rPr sz="750" i="0">
                <a:solidFill>
                  <a:srgbClr val="E6EDF3"/>
                </a:solidFill>
                <a:latin typeface="Inconsolata"/>
              </a:rPr>
              <a:t>  pull_request:</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 run: ruff check .</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 run: pytest -q</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 run: docker build -t order-api:${{ github.sha }} .</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 uses: helm/kind-action</a:t>
            </a:r>
            <a:r>
              <a:rPr sz="750" i="0">
                <a:solidFill>
                  <a:srgbClr val="F9C97A"/>
                </a:solidFill>
                <a:latin typeface="Inconsolata"/>
              </a:rPr>
              <a:t>@v1</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7FDBCA"/>
                </a:solidFill>
                <a:latin typeface="Inconsolata"/>
              </a:rPr>
              <a:t>BASE_URL</a:t>
            </a:r>
            <a:r>
              <a:rPr sz="750" i="0">
                <a:solidFill>
                  <a:srgbClr val="E6EDF3"/>
                </a:solidFill>
                <a:latin typeface="Inconsolata"/>
              </a:rPr>
              <a:t>=http://localhost:</a:t>
            </a:r>
            <a:r>
              <a:rPr sz="750" i="0">
                <a:solidFill>
                  <a:srgbClr val="F9C97A"/>
                </a:solidFill>
                <a:latin typeface="Inconsolata"/>
              </a:rPr>
              <a:t>8080</a:t>
            </a:r>
            <a:r>
              <a:rPr sz="750" i="0">
                <a:solidFill>
                  <a:srgbClr val="E6EDF3"/>
                </a:solidFill>
                <a:latin typeface="Inconsolata"/>
              </a:rPr>
              <a:t> python smoke_test.py</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ghcr.io/${{ github.repository }}/order-api:${{ github.sha }}</a:t>
            </a:r>
          </a:p>
        </p:txBody>
      </p:sp>
      <p:sp>
        <p:nvSpPr>
          <p:cNvPr id="29" name="Box 12"/>
          <p:cNvSpPr/>
          <p:nvPr/>
        </p:nvSpPr>
        <p:spPr>
          <a:xfrm>
            <a:off x="704088" y="1954022"/>
            <a:ext cx="509320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678424" y="1894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208022"/>
            <a:ext cx="509320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678424" y="2148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716022"/>
            <a:ext cx="509320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678424" y="2656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2970022"/>
            <a:ext cx="509320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678424" y="2910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704088" y="3224022"/>
            <a:ext cx="509320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Box 21"/>
          <p:cNvSpPr/>
          <p:nvPr/>
        </p:nvSpPr>
        <p:spPr>
          <a:xfrm>
            <a:off x="5678424" y="3164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5</a:t>
            </a:r>
          </a:p>
        </p:txBody>
      </p:sp>
      <p:sp>
        <p:nvSpPr>
          <p:cNvPr id="39" name="Box 22"/>
          <p:cNvSpPr/>
          <p:nvPr/>
        </p:nvSpPr>
        <p:spPr>
          <a:xfrm>
            <a:off x="704088" y="3478022"/>
            <a:ext cx="5093208" cy="119380"/>
          </a:xfrm>
          <a:prstGeom prst="roundRect">
            <a:avLst>
              <a:gd name="adj" fmla="val 382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Box 23"/>
          <p:cNvSpPr/>
          <p:nvPr/>
        </p:nvSpPr>
        <p:spPr>
          <a:xfrm>
            <a:off x="5678424" y="341884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6</a:t>
            </a:r>
          </a:p>
        </p:txBody>
      </p:sp>
      <p:sp>
        <p:nvSpPr>
          <p:cNvPr id="41" name="Box 24"/>
          <p:cNvSpPr/>
          <p:nvPr/>
        </p:nvSpPr>
        <p:spPr>
          <a:xfrm>
            <a:off x="6062472" y="149961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42" name="Text 25"/>
          <p:cNvSpPr txBox="1"/>
          <p:nvPr/>
        </p:nvSpPr>
        <p:spPr>
          <a:xfrm>
            <a:off x="6391656" y="1463040"/>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Pull request dibuka, reviewer memakai template dan checklist</a:t>
            </a:r>
          </a:p>
        </p:txBody>
      </p:sp>
      <p:sp>
        <p:nvSpPr>
          <p:cNvPr id="43" name="Box 26"/>
          <p:cNvSpPr/>
          <p:nvPr/>
        </p:nvSpPr>
        <p:spPr>
          <a:xfrm>
            <a:off x="6062472" y="2036064"/>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44" name="Text 27"/>
          <p:cNvSpPr txBox="1"/>
          <p:nvPr/>
        </p:nvSpPr>
        <p:spPr>
          <a:xfrm>
            <a:off x="6391656" y="1999488"/>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Lint dan test. Gagal = tidak di-merge</a:t>
            </a:r>
          </a:p>
        </p:txBody>
      </p:sp>
      <p:sp>
        <p:nvSpPr>
          <p:cNvPr id="45" name="Box 28"/>
          <p:cNvSpPr/>
          <p:nvPr/>
        </p:nvSpPr>
        <p:spPr>
          <a:xfrm>
            <a:off x="6062472" y="2572512"/>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46" name="Text 29"/>
          <p:cNvSpPr txBox="1"/>
          <p:nvPr/>
        </p:nvSpPr>
        <p:spPr>
          <a:xfrm>
            <a:off x="6391656" y="2535936"/>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Build dan scan image</a:t>
            </a:r>
          </a:p>
        </p:txBody>
      </p:sp>
      <p:sp>
        <p:nvSpPr>
          <p:cNvPr id="47" name="Box 30"/>
          <p:cNvSpPr/>
          <p:nvPr/>
        </p:nvSpPr>
        <p:spPr>
          <a:xfrm>
            <a:off x="6062472" y="3108960"/>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48" name="Text 31"/>
          <p:cNvSpPr txBox="1"/>
          <p:nvPr/>
        </p:nvSpPr>
        <p:spPr>
          <a:xfrm>
            <a:off x="6391656" y="3072384"/>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Setelah merge: deploy ke cluster demo</a:t>
            </a:r>
          </a:p>
        </p:txBody>
      </p:sp>
      <p:sp>
        <p:nvSpPr>
          <p:cNvPr id="49" name="Box 32"/>
          <p:cNvSpPr/>
          <p:nvPr/>
        </p:nvSpPr>
        <p:spPr>
          <a:xfrm>
            <a:off x="6062472" y="3645408"/>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50" name="Text 33"/>
          <p:cNvSpPr txBox="1"/>
          <p:nvPr/>
        </p:nvSpPr>
        <p:spPr>
          <a:xfrm>
            <a:off x="6391656" y="3608832"/>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Smoke test. Gagal = pipeline berhenti</a:t>
            </a:r>
          </a:p>
        </p:txBody>
      </p:sp>
      <p:sp>
        <p:nvSpPr>
          <p:cNvPr id="51" name="Box 34"/>
          <p:cNvSpPr/>
          <p:nvPr/>
        </p:nvSpPr>
        <p:spPr>
          <a:xfrm>
            <a:off x="6062472" y="418185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6</a:t>
            </a:r>
          </a:p>
        </p:txBody>
      </p:sp>
      <p:sp>
        <p:nvSpPr>
          <p:cNvPr id="52" name="Text 35"/>
          <p:cNvSpPr txBox="1"/>
          <p:nvPr/>
        </p:nvSpPr>
        <p:spPr>
          <a:xfrm>
            <a:off x="6391656" y="4145280"/>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Lulus: image di-push ke registry, siap dirilis ke production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39</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04</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Final Project</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Melanjutkan Order API: fitur baru, dokumentasi per fitur, dan presentasi.</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Final Project  ·  05-final-project/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Melanjutkan Order API</a:t>
            </a:r>
          </a:p>
        </p:txBody>
      </p:sp>
      <p:sp>
        <p:nvSpPr>
          <p:cNvPr id="22" name="Text 3"/>
          <p:cNvSpPr txBox="1"/>
          <p:nvPr/>
        </p:nvSpPr>
        <p:spPr>
          <a:xfrm>
            <a:off x="621792" y="1481328"/>
            <a:ext cx="4023360" cy="3200400"/>
          </a:xfrm>
          <a:prstGeom prst="rect">
            <a:avLst/>
          </a:prstGeom>
          <a:noFill/>
        </p:spPr>
        <p:txBody>
          <a:bodyPr wrap="square" lIns="45720" rIns="45720" anchor="t">
            <a:spAutoFit/>
          </a:bodyPr>
          <a:lstStyle/>
          <a:p>
            <a:pPr algn="l">
              <a:lnSpc>
                <a:spcPct val="115000"/>
              </a:lnSpc>
              <a:spcAft>
                <a:spcPts val="400"/>
              </a:spcAft>
            </a:pPr>
            <a:r>
              <a:rPr sz="950" b="0" i="0">
                <a:solidFill>
                  <a:srgbClr val="434343"/>
                </a:solidFill>
                <a:latin typeface="Inter"/>
              </a:rPr>
              <a:t>Final project melanjutkan Order API yang sudah dibangun dari Sesi 1 sampai 12. Peserta menambahkan fitur sendiri, menulis dokumentasi untuk setiap fitur baru, lalu mempresentasikannya.</a:t>
            </a:r>
          </a:p>
          <a:p>
            <a:pPr algn="l">
              <a:lnSpc>
                <a:spcPct val="115000"/>
              </a:lnSpc>
              <a:spcAft>
                <a:spcPts val="400"/>
              </a:spcAft>
            </a:pPr>
            <a:r>
              <a:rPr sz="1050" b="1" i="0">
                <a:solidFill>
                  <a:srgbClr val="1C4587"/>
                </a:solidFill>
                <a:latin typeface="Inter"/>
              </a:rPr>
              <a:t>Titik awal, pilih salah satu</a:t>
            </a:r>
          </a:p>
          <a:p>
            <a:pPr marL="182880" indent="-182880" algn="l">
              <a:lnSpc>
                <a:spcPct val="115000"/>
              </a:lnSpc>
              <a:spcAft>
                <a:spcPts val="400"/>
              </a:spcAft>
              <a:buClr>
                <a:srgbClr val="E0764F"/>
              </a:buClr>
              <a:buSzPct val="100000"/>
              <a:buFont typeface="Arial"/>
              <a:buChar char="•"/>
            </a:pPr>
            <a:r>
              <a:rPr sz="950" b="0" i="0">
                <a:solidFill>
                  <a:srgbClr val="B5482A"/>
                </a:solidFill>
                <a:latin typeface="Inconsolata"/>
              </a:rPr>
              <a:t>05-final-project/starter/</a:t>
            </a:r>
            <a:r>
              <a:rPr sz="950" b="0" i="0">
                <a:solidFill>
                  <a:srgbClr val="434343"/>
                </a:solidFill>
                <a:latin typeface="Inter"/>
              </a:rPr>
              <a:t>: hasil akhir hands-on Sesi 12, semua test hijau</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Folder </a:t>
            </a:r>
            <a:r>
              <a:rPr sz="950" b="0" i="0">
                <a:solidFill>
                  <a:srgbClr val="B5482A"/>
                </a:solidFill>
                <a:latin typeface="Inconsolata"/>
              </a:rPr>
              <a:t>latihan/</a:t>
            </a:r>
            <a:r>
              <a:rPr sz="950" b="0" i="0">
                <a:solidFill>
                  <a:srgbClr val="434343"/>
                </a:solidFill>
                <a:latin typeface="Inter"/>
              </a:rPr>
              <a:t> sendiri, jika hands-on Sesi 12 sudah selesai</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Salin ke repository GitHub baru milik sendiri.</a:t>
            </a:r>
          </a:p>
        </p:txBody>
      </p:sp>
      <p:sp>
        <p:nvSpPr>
          <p:cNvPr id="23" name="CodeTab 5"/>
          <p:cNvSpPr/>
          <p:nvPr/>
        </p:nvSpPr>
        <p:spPr>
          <a:xfrm>
            <a:off x="4800600" y="1481328"/>
            <a:ext cx="368503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91032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504748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518464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5349240" y="1490472"/>
            <a:ext cx="304495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memulai final project</a:t>
            </a:r>
          </a:p>
        </p:txBody>
      </p:sp>
      <p:sp>
        <p:nvSpPr>
          <p:cNvPr id="28" name="CodeBg 11"/>
          <p:cNvSpPr/>
          <p:nvPr/>
        </p:nvSpPr>
        <p:spPr>
          <a:xfrm>
            <a:off x="4800600" y="1719072"/>
            <a:ext cx="368503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800600" y="1719072"/>
            <a:ext cx="3685032" cy="2980944"/>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cp -r starter ~/order-api</a:t>
            </a:r>
          </a:p>
          <a:p>
            <a:pPr>
              <a:lnSpc>
                <a:spcPct val="107843"/>
              </a:lnSpc>
              <a:spcAft>
                <a:spcPts val="0"/>
              </a:spcAft>
            </a:pPr>
            <a:r>
              <a:rPr sz="850" i="0">
                <a:solidFill>
                  <a:srgbClr val="82B1FF"/>
                </a:solidFill>
                <a:latin typeface="Inconsolata"/>
              </a:rPr>
              <a:t>$ cd ~/order-api</a:t>
            </a:r>
          </a:p>
          <a:p>
            <a:pPr>
              <a:lnSpc>
                <a:spcPct val="107843"/>
              </a:lnSpc>
              <a:spcAft>
                <a:spcPts val="0"/>
              </a:spcAft>
            </a:pPr>
            <a:r>
              <a:rPr sz="850" i="0">
                <a:solidFill>
                  <a:srgbClr val="82B1FF"/>
                </a:solidFill>
                <a:latin typeface="Inconsolata"/>
              </a:rPr>
              <a:t>$ git init</a:t>
            </a:r>
          </a:p>
          <a:p>
            <a:pPr>
              <a:lnSpc>
                <a:spcPct val="107843"/>
              </a:lnSpc>
              <a:spcAft>
                <a:spcPts val="0"/>
              </a:spcAft>
            </a:pPr>
            <a:r>
              <a:rPr sz="850" i="0">
                <a:solidFill>
                  <a:srgbClr val="82B1FF"/>
                </a:solidFill>
                <a:latin typeface="Inconsolata"/>
              </a:rPr>
              <a:t>$ cp .env.example .env    # isi JWT_SECRET</a:t>
            </a:r>
          </a:p>
          <a:p>
            <a:pPr>
              <a:lnSpc>
                <a:spcPct val="107843"/>
              </a:lnSpc>
              <a:spcAft>
                <a:spcPts val="0"/>
              </a:spcAft>
            </a:pPr>
            <a:r>
              <a:rPr sz="850" i="0">
                <a:solidFill>
                  <a:srgbClr val="82B1FF"/>
                </a:solidFill>
                <a:latin typeface="Inconsolata"/>
              </a:rPr>
              <a:t>$ docker compose up -d --build</a:t>
            </a:r>
          </a:p>
          <a:p>
            <a:pPr>
              <a:lnSpc>
                <a:spcPct val="107843"/>
              </a:lnSpc>
              <a:spcAft>
                <a:spcPts val="0"/>
              </a:spcAft>
            </a:pPr>
            <a:r>
              <a:rPr sz="850" i="0">
                <a:solidFill>
                  <a:srgbClr val="82B1FF"/>
                </a:solidFill>
                <a:latin typeface="Inconsolata"/>
              </a:rPr>
              <a:t>$ pytest -q</a:t>
            </a:r>
          </a:p>
          <a:p>
            <a:pPr>
              <a:lnSpc>
                <a:spcPct val="107843"/>
              </a:lnSpc>
              <a:spcAft>
                <a:spcPts val="0"/>
              </a:spcAft>
            </a:pPr>
            <a:r>
              <a:rPr sz="850" i="0">
                <a:solidFill>
                  <a:srgbClr val="E6EDF3"/>
                </a:solidFill>
                <a:latin typeface="Inconsolata"/>
              </a:rPr>
              <a:t>71 passed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Final Project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Yang Dikerjakan</a:t>
            </a:r>
          </a:p>
        </p:txBody>
      </p:sp>
      <p:sp>
        <p:nvSpPr>
          <p:cNvPr id="22" name="Box 3"/>
          <p:cNvSpPr/>
          <p:nvPr/>
        </p:nvSpPr>
        <p:spPr>
          <a:xfrm>
            <a:off x="621792" y="1481328"/>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23" name="Text 4"/>
          <p:cNvSpPr txBox="1"/>
          <p:nvPr/>
        </p:nvSpPr>
        <p:spPr>
          <a:xfrm>
            <a:off x="987552" y="1453896"/>
            <a:ext cx="7498079" cy="731520"/>
          </a:xfrm>
          <a:prstGeom prst="rect">
            <a:avLst/>
          </a:prstGeom>
          <a:noFill/>
        </p:spPr>
        <p:txBody>
          <a:bodyPr wrap="square" lIns="45720" rIns="45720" anchor="t">
            <a:spAutoFit/>
          </a:bodyPr>
          <a:lstStyle/>
          <a:p>
            <a:pPr algn="l">
              <a:lnSpc>
                <a:spcPct val="115000"/>
              </a:lnSpc>
              <a:spcAft>
                <a:spcPts val="400"/>
              </a:spcAft>
            </a:pPr>
            <a:r>
              <a:rPr sz="1000" b="1" i="0">
                <a:solidFill>
                  <a:srgbClr val="434343"/>
                </a:solidFill>
                <a:latin typeface="Inter"/>
              </a:rPr>
              <a:t>Minimal 2 fitur baru.</a:t>
            </a:r>
            <a:r>
              <a:rPr sz="1000" b="0" i="0">
                <a:solidFill>
                  <a:srgbClr val="434343"/>
                </a:solidFill>
                <a:latin typeface="Inter"/>
              </a:rPr>
              <a:t>  Bebas, menyentuh semua layer (domain sampai api) dan punya test. Minimal satu memakai Celery atau event RabbitMQ.</a:t>
            </a:r>
          </a:p>
        </p:txBody>
      </p:sp>
      <p:sp>
        <p:nvSpPr>
          <p:cNvPr id="24" name="Box 5"/>
          <p:cNvSpPr/>
          <p:nvPr/>
        </p:nvSpPr>
        <p:spPr>
          <a:xfrm>
            <a:off x="621792" y="2212848"/>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25" name="Text 6"/>
          <p:cNvSpPr txBox="1"/>
          <p:nvPr/>
        </p:nvSpPr>
        <p:spPr>
          <a:xfrm>
            <a:off x="987552" y="2185416"/>
            <a:ext cx="7498079" cy="731520"/>
          </a:xfrm>
          <a:prstGeom prst="rect">
            <a:avLst/>
          </a:prstGeom>
          <a:noFill/>
        </p:spPr>
        <p:txBody>
          <a:bodyPr wrap="square" lIns="45720" rIns="45720" anchor="t">
            <a:spAutoFit/>
          </a:bodyPr>
          <a:lstStyle/>
          <a:p>
            <a:pPr algn="l">
              <a:lnSpc>
                <a:spcPct val="115000"/>
              </a:lnSpc>
              <a:spcAft>
                <a:spcPts val="400"/>
              </a:spcAft>
            </a:pPr>
            <a:r>
              <a:rPr sz="1000" b="1" i="0">
                <a:solidFill>
                  <a:srgbClr val="434343"/>
                </a:solidFill>
                <a:latin typeface="Inter"/>
              </a:rPr>
              <a:t>README untuk setiap fitur baru.</a:t>
            </a:r>
            <a:r>
              <a:rPr sz="1000" b="0" i="0">
                <a:solidFill>
                  <a:srgbClr val="434343"/>
                </a:solidFill>
                <a:latin typeface="Inter"/>
              </a:rPr>
              <a:t>  Satu file di docs/fitur/&lt;nama-fitur&gt;.md yang menjelaskan fitur itu dari semua layer.</a:t>
            </a:r>
          </a:p>
        </p:txBody>
      </p:sp>
      <p:sp>
        <p:nvSpPr>
          <p:cNvPr id="26" name="Box 7"/>
          <p:cNvSpPr/>
          <p:nvPr/>
        </p:nvSpPr>
        <p:spPr>
          <a:xfrm>
            <a:off x="621792" y="2944368"/>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27" name="Text 8"/>
          <p:cNvSpPr txBox="1"/>
          <p:nvPr/>
        </p:nvSpPr>
        <p:spPr>
          <a:xfrm>
            <a:off x="987552" y="2916936"/>
            <a:ext cx="7498079" cy="731520"/>
          </a:xfrm>
          <a:prstGeom prst="rect">
            <a:avLst/>
          </a:prstGeom>
          <a:noFill/>
        </p:spPr>
        <p:txBody>
          <a:bodyPr wrap="square" lIns="45720" rIns="45720" anchor="t">
            <a:spAutoFit/>
          </a:bodyPr>
          <a:lstStyle/>
          <a:p>
            <a:pPr algn="l">
              <a:lnSpc>
                <a:spcPct val="115000"/>
              </a:lnSpc>
              <a:spcAft>
                <a:spcPts val="400"/>
              </a:spcAft>
            </a:pPr>
            <a:r>
              <a:rPr sz="1000" b="1" i="0">
                <a:solidFill>
                  <a:srgbClr val="434343"/>
                </a:solidFill>
                <a:latin typeface="Inter"/>
              </a:rPr>
              <a:t>Dokumentasi project.</a:t>
            </a:r>
            <a:r>
              <a:rPr sz="1000" b="0" i="0">
                <a:solidFill>
                  <a:srgbClr val="434343"/>
                </a:solidFill>
                <a:latin typeface="Inter"/>
              </a:rPr>
              <a:t>  README root, docs/architecture.md, dan minimal satu ADR baru untuk fitur baru.</a:t>
            </a:r>
          </a:p>
        </p:txBody>
      </p:sp>
      <p:sp>
        <p:nvSpPr>
          <p:cNvPr id="28" name="Box 9"/>
          <p:cNvSpPr/>
          <p:nvPr/>
        </p:nvSpPr>
        <p:spPr>
          <a:xfrm>
            <a:off x="621792" y="3675888"/>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29" name="Text 10"/>
          <p:cNvSpPr txBox="1"/>
          <p:nvPr/>
        </p:nvSpPr>
        <p:spPr>
          <a:xfrm>
            <a:off x="987552" y="3648456"/>
            <a:ext cx="7498079" cy="731520"/>
          </a:xfrm>
          <a:prstGeom prst="rect">
            <a:avLst/>
          </a:prstGeom>
          <a:noFill/>
        </p:spPr>
        <p:txBody>
          <a:bodyPr wrap="square" lIns="45720" rIns="45720" anchor="t">
            <a:spAutoFit/>
          </a:bodyPr>
          <a:lstStyle/>
          <a:p>
            <a:pPr algn="l">
              <a:lnSpc>
                <a:spcPct val="115000"/>
              </a:lnSpc>
              <a:spcAft>
                <a:spcPts val="400"/>
              </a:spcAft>
            </a:pPr>
            <a:r>
              <a:rPr sz="1000" b="1" i="0">
                <a:solidFill>
                  <a:srgbClr val="434343"/>
                </a:solidFill>
                <a:latin typeface="Inter"/>
              </a:rPr>
              <a:t>Test dan deploy.</a:t>
            </a:r>
            <a:r>
              <a:rPr sz="1000" b="0" i="0">
                <a:solidFill>
                  <a:srgbClr val="434343"/>
                </a:solidFill>
                <a:latin typeface="Inter"/>
              </a:rPr>
              <a:t>  pytest dan ruff hijau, smoke test ditambah untuk fitur baru, pipeline GitHub Actions hijau.</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Final Project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Contoh Ide Fitur</a:t>
            </a:r>
          </a:p>
        </p:txBody>
      </p:sp>
      <p:graphicFrame>
        <p:nvGraphicFramePr>
          <p:cNvPr id="22" name="Table 3"/>
          <p:cNvGraphicFramePr>
            <a:graphicFrameLocks noGrp="1"/>
          </p:cNvGraphicFramePr>
          <p:nvPr/>
        </p:nvGraphicFramePr>
        <p:xfrm>
          <a:off x="621792" y="1481328"/>
          <a:ext cx="7863840" cy="2688336"/>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84048">
                <a:tc>
                  <a:txBody>
                    <a:bodyPr/>
                    <a:lstStyle/>
                    <a:p>
                      <a:pPr algn="l">
                        <a:lnSpc>
                          <a:spcPct val="100000"/>
                        </a:lnSpc>
                        <a:spcAft>
                          <a:spcPts val="0"/>
                        </a:spcAft>
                      </a:pPr>
                      <a:r>
                        <a:rPr sz="900" b="1" i="0">
                          <a:solidFill>
                            <a:srgbClr val="FFFFFF"/>
                          </a:solidFill>
                          <a:latin typeface="Inter"/>
                        </a:rPr>
                        <a:t>Fitur</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Aturan bisnis</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Async / event</a:t>
                      </a:r>
                    </a:p>
                  </a:txBody>
                  <a:tcPr marL="73152" marR="73152" marT="36576" marB="36576" anchor="ctr">
                    <a:solidFill>
                      <a:srgbClr val="1C4587"/>
                    </a:solidFill>
                  </a:tcPr>
                </a:tc>
                <a:extLst>
                  <a:ext uri="{0D108BD9-81ED-4DB2-BD59-A6C34878D82A}">
                    <a16:rowId xmlns:a16="http://schemas.microsoft.com/office/drawing/2014/main" val="10000"/>
                  </a:ext>
                </a:extLst>
              </a:tr>
              <a:tr h="384048">
                <a:tc>
                  <a:txBody>
                    <a:bodyPr/>
                    <a:lstStyle/>
                    <a:p>
                      <a:pPr algn="l">
                        <a:lnSpc>
                          <a:spcPct val="100000"/>
                        </a:lnSpc>
                        <a:spcAft>
                          <a:spcPts val="0"/>
                        </a:spcAft>
                      </a:pPr>
                      <a:r>
                        <a:rPr sz="900" b="1" i="0">
                          <a:solidFill>
                            <a:srgbClr val="1C4587"/>
                          </a:solidFill>
                          <a:latin typeface="Inter"/>
                        </a:rPr>
                        <a:t>Voucher diskon</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Kuota, masa berlaku, satu voucher per order</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Aft>
                          <a:spcPts val="0"/>
                        </a:spcAft>
                      </a:pPr>
                      <a:r>
                        <a:rPr sz="900" b="1" i="0">
                          <a:solidFill>
                            <a:srgbClr val="1C4587"/>
                          </a:solidFill>
                          <a:latin typeface="Inter"/>
                        </a:rPr>
                        <a:t>Review produk</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Hanya customer yang sudah membayar order produk itu</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Rata-rata rating dihitung di background</a:t>
                      </a:r>
                    </a:p>
                  </a:txBody>
                  <a:tcPr marL="73152" marR="73152" marT="36576" marB="36576" anchor="ctr">
                    <a:solidFill>
                      <a:srgbClr val="F3F4F6"/>
                    </a:solidFill>
                  </a:tcPr>
                </a:tc>
                <a:extLst>
                  <a:ext uri="{0D108BD9-81ED-4DB2-BD59-A6C34878D82A}">
                    <a16:rowId xmlns:a16="http://schemas.microsoft.com/office/drawing/2014/main" val="10002"/>
                  </a:ext>
                </a:extLst>
              </a:tr>
              <a:tr h="384048">
                <a:tc>
                  <a:txBody>
                    <a:bodyPr/>
                    <a:lstStyle/>
                    <a:p>
                      <a:pPr algn="l">
                        <a:lnSpc>
                          <a:spcPct val="100000"/>
                        </a:lnSpc>
                        <a:spcAft>
                          <a:spcPts val="0"/>
                        </a:spcAft>
                      </a:pPr>
                      <a:r>
                        <a:rPr sz="900" b="1" i="0">
                          <a:solidFill>
                            <a:srgbClr val="1C4587"/>
                          </a:solidFill>
                          <a:latin typeface="Inter"/>
                        </a:rPr>
                        <a:t>Refund</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Hanya order paid, maksimal 7 hari, stok dikembalikan</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Event order.refunded, email ke customer</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lnSpc>
                          <a:spcPct val="100000"/>
                        </a:lnSpc>
                        <a:spcAft>
                          <a:spcPts val="0"/>
                        </a:spcAft>
                      </a:pPr>
                      <a:r>
                        <a:rPr sz="900" b="1" i="0">
                          <a:solidFill>
                            <a:srgbClr val="1C4587"/>
                          </a:solidFill>
                          <a:latin typeface="Inter"/>
                        </a:rPr>
                        <a:t>Wishlist</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Satu produk satu kali per customer</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Notifikasi saat stok kembali tersedia</a:t>
                      </a:r>
                    </a:p>
                  </a:txBody>
                  <a:tcPr marL="73152" marR="73152" marT="36576" marB="36576" anchor="ctr">
                    <a:solidFill>
                      <a:srgbClr val="F3F4F6"/>
                    </a:solidFill>
                  </a:tcPr>
                </a:tc>
                <a:extLst>
                  <a:ext uri="{0D108BD9-81ED-4DB2-BD59-A6C34878D82A}">
                    <a16:rowId xmlns:a16="http://schemas.microsoft.com/office/drawing/2014/main" val="10004"/>
                  </a:ext>
                </a:extLst>
              </a:tr>
              <a:tr h="384048">
                <a:tc>
                  <a:txBody>
                    <a:bodyPr/>
                    <a:lstStyle/>
                    <a:p>
                      <a:pPr algn="l">
                        <a:lnSpc>
                          <a:spcPct val="100000"/>
                        </a:lnSpc>
                        <a:spcAft>
                          <a:spcPts val="0"/>
                        </a:spcAft>
                      </a:pPr>
                      <a:r>
                        <a:rPr sz="900" b="1" i="0">
                          <a:solidFill>
                            <a:srgbClr val="1C4587"/>
                          </a:solidFill>
                          <a:latin typeface="Inter"/>
                        </a:rPr>
                        <a:t>Ongkos kirim</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Tarif per kurir, gratis ongkir di atas nominal tertentu</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a:t>
                      </a:r>
                    </a:p>
                  </a:txBody>
                  <a:tcPr marL="73152" marR="73152" marT="36576" marB="36576" anchor="ctr">
                    <a:solidFill>
                      <a:srgbClr val="FFFFFF"/>
                    </a:solidFill>
                  </a:tcPr>
                </a:tc>
                <a:extLst>
                  <a:ext uri="{0D108BD9-81ED-4DB2-BD59-A6C34878D82A}">
                    <a16:rowId xmlns:a16="http://schemas.microsoft.com/office/drawing/2014/main" val="10005"/>
                  </a:ext>
                </a:extLst>
              </a:tr>
              <a:tr h="384048">
                <a:tc>
                  <a:txBody>
                    <a:bodyPr/>
                    <a:lstStyle/>
                    <a:p>
                      <a:pPr algn="l">
                        <a:lnSpc>
                          <a:spcPct val="100000"/>
                        </a:lnSpc>
                        <a:spcAft>
                          <a:spcPts val="0"/>
                        </a:spcAft>
                      </a:pPr>
                      <a:r>
                        <a:rPr sz="900" b="1" i="0">
                          <a:solidFill>
                            <a:srgbClr val="1C4587"/>
                          </a:solidFill>
                          <a:latin typeface="Inter"/>
                        </a:rPr>
                        <a:t>Poin loyalty</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1 poin per Rp10.000, bisa dipakai sebagai potongan</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Consumer dari event order.paid</a:t>
                      </a:r>
                    </a:p>
                  </a:txBody>
                  <a:tcPr marL="73152" marR="73152" marT="36576" marB="36576" anchor="ctr">
                    <a:solidFill>
                      <a:srgbClr val="F3F4F6"/>
                    </a:solidFill>
                  </a:tcPr>
                </a:tc>
                <a:extLst>
                  <a:ext uri="{0D108BD9-81ED-4DB2-BD59-A6C34878D82A}">
                    <a16:rowId xmlns:a16="http://schemas.microsoft.com/office/drawing/2014/main" val="10006"/>
                  </a:ext>
                </a:extLst>
              </a:tr>
            </a:tbl>
          </a:graphicData>
        </a:graphic>
      </p:graphicFrame>
      <p:sp>
        <p:nvSpPr>
          <p:cNvPr id="23" name="Text 4"/>
          <p:cNvSpPr txBox="1"/>
          <p:nvPr/>
        </p:nvSpPr>
        <p:spPr>
          <a:xfrm>
            <a:off x="621792" y="4343400"/>
            <a:ext cx="7863840" cy="365760"/>
          </a:xfrm>
          <a:prstGeom prst="rect">
            <a:avLst/>
          </a:prstGeom>
          <a:noFill/>
        </p:spPr>
        <p:txBody>
          <a:bodyPr wrap="square" lIns="45720" rIns="45720" anchor="t">
            <a:spAutoFit/>
          </a:bodyPr>
          <a:lstStyle/>
          <a:p>
            <a:pPr algn="l">
              <a:lnSpc>
                <a:spcPct val="115000"/>
              </a:lnSpc>
              <a:spcAft>
                <a:spcPts val="400"/>
              </a:spcAft>
            </a:pPr>
            <a:r>
              <a:rPr sz="950" b="0" i="0">
                <a:solidFill>
                  <a:srgbClr val="1C4587"/>
                </a:solidFill>
                <a:latin typeface="Inter"/>
              </a:rPr>
              <a:t>Fitur boleh di luar daftar ini, asal masuk akal untuk toko online.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Final Project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README untuk Setiap Fitur Baru</a:t>
            </a:r>
          </a:p>
        </p:txBody>
      </p:sp>
      <p:sp>
        <p:nvSpPr>
          <p:cNvPr id="22" name="CodeTab 4"/>
          <p:cNvSpPr/>
          <p:nvPr/>
        </p:nvSpPr>
        <p:spPr>
          <a:xfrm>
            <a:off x="621792" y="1481328"/>
            <a:ext cx="42062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5661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contoh: docs/fitur/voucher.md (ringkas)</a:t>
            </a:r>
          </a:p>
        </p:txBody>
      </p:sp>
      <p:sp>
        <p:nvSpPr>
          <p:cNvPr id="27" name="CodeBg 10"/>
          <p:cNvSpPr/>
          <p:nvPr/>
        </p:nvSpPr>
        <p:spPr>
          <a:xfrm>
            <a:off x="621792" y="1719072"/>
            <a:ext cx="42062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06240" cy="2980944"/>
          </a:xfrm>
          <a:prstGeom prst="rect">
            <a:avLst/>
          </a:prstGeom>
          <a:noFill/>
        </p:spPr>
        <p:txBody>
          <a:bodyPr wrap="none" lIns="146304" tIns="91440" rIns="146304" bIns="54864">
            <a:spAutoFit/>
          </a:bodyPr>
          <a:lstStyle/>
          <a:p>
            <a:pPr>
              <a:lnSpc>
                <a:spcPct val="111111"/>
              </a:lnSpc>
              <a:spcAft>
                <a:spcPts val="0"/>
              </a:spcAft>
            </a:pPr>
            <a:r>
              <a:rPr sz="750" i="0">
                <a:solidFill>
                  <a:srgbClr val="82B1FF"/>
                </a:solidFill>
                <a:latin typeface="Inconsolata"/>
              </a:rPr>
              <a:t># Fitur: Voucher Diskon</a:t>
            </a:r>
          </a:p>
          <a:p>
            <a:pPr>
              <a:lnSpc>
                <a:spcPct val="111111"/>
              </a:lnSpc>
              <a:spcAft>
                <a:spcPts val="0"/>
              </a:spcAft>
            </a:pPr>
            <a:endParaRPr sz="750" i="0">
              <a:solidFill>
                <a:srgbClr val="82B1FF"/>
              </a:solidFill>
              <a:latin typeface="Inconsolata"/>
            </a:endParaRPr>
          </a:p>
          <a:p>
            <a:pPr>
              <a:lnSpc>
                <a:spcPct val="111111"/>
              </a:lnSpc>
              <a:spcAft>
                <a:spcPts val="0"/>
              </a:spcAft>
            </a:pPr>
            <a:r>
              <a:rPr sz="750" i="0">
                <a:solidFill>
                  <a:srgbClr val="E6EDF3"/>
                </a:solidFill>
                <a:latin typeface="Inconsolata"/>
              </a:rPr>
              <a:t>Customer memakai kode voucher saat membuat order.</a:t>
            </a:r>
          </a:p>
          <a:p>
            <a:pPr>
              <a:lnSpc>
                <a:spcPct val="111111"/>
              </a:lnSpc>
              <a:spcAft>
                <a:spcPts val="0"/>
              </a:spcAft>
            </a:pPr>
            <a:r>
              <a:rPr sz="750" i="0">
                <a:solidFill>
                  <a:srgbClr val="E6EDF3"/>
                </a:solidFill>
                <a:latin typeface="Inconsolata"/>
              </a:rPr>
              <a:t>Kuota berkurang saat dipakai, kembali saat order batal.</a:t>
            </a:r>
          </a:p>
          <a:p>
            <a:pPr>
              <a:lnSpc>
                <a:spcPct val="111111"/>
              </a:lnSpc>
              <a:spcAft>
                <a:spcPts val="0"/>
              </a:spcAft>
            </a:pPr>
            <a:endParaRPr sz="750" i="0">
              <a:solidFill>
                <a:srgbClr val="E6EDF3"/>
              </a:solidFill>
              <a:latin typeface="Inconsolata"/>
            </a:endParaRPr>
          </a:p>
          <a:p>
            <a:pPr>
              <a:lnSpc>
                <a:spcPct val="111111"/>
              </a:lnSpc>
              <a:spcAft>
                <a:spcPts val="0"/>
              </a:spcAft>
            </a:pPr>
            <a:r>
              <a:rPr sz="750" i="0">
                <a:solidFill>
                  <a:srgbClr val="82B1FF"/>
                </a:solidFill>
                <a:latin typeface="Inconsolata"/>
              </a:rPr>
              <a:t>## Aturan bisnis</a:t>
            </a:r>
          </a:p>
          <a:p>
            <a:pPr>
              <a:lnSpc>
                <a:spcPct val="111111"/>
              </a:lnSpc>
              <a:spcAft>
                <a:spcPts val="0"/>
              </a:spcAft>
            </a:pPr>
            <a:r>
              <a:rPr sz="750" i="0">
                <a:solidFill>
                  <a:srgbClr val="E6EDF3"/>
                </a:solidFill>
                <a:latin typeface="Inconsolata"/>
              </a:rPr>
              <a:t>- Voucher dengan kuota 0 tidak bisa dipakai</a:t>
            </a:r>
          </a:p>
          <a:p>
            <a:pPr>
              <a:lnSpc>
                <a:spcPct val="111111"/>
              </a:lnSpc>
              <a:spcAft>
                <a:spcPts val="0"/>
              </a:spcAft>
            </a:pPr>
            <a:r>
              <a:rPr sz="750" i="0">
                <a:solidFill>
                  <a:srgbClr val="E6EDF3"/>
                </a:solidFill>
                <a:latin typeface="Inconsolata"/>
              </a:rPr>
              <a:t>- Order dibatalkan = kuota voucher dikembalikan</a:t>
            </a:r>
          </a:p>
          <a:p>
            <a:pPr>
              <a:lnSpc>
                <a:spcPct val="111111"/>
              </a:lnSpc>
              <a:spcAft>
                <a:spcPts val="0"/>
              </a:spcAft>
            </a:pPr>
            <a:endParaRPr sz="750" i="0">
              <a:solidFill>
                <a:srgbClr val="E6EDF3"/>
              </a:solidFill>
              <a:latin typeface="Inconsolata"/>
            </a:endParaRPr>
          </a:p>
          <a:p>
            <a:pPr>
              <a:lnSpc>
                <a:spcPct val="111111"/>
              </a:lnSpc>
              <a:spcAft>
                <a:spcPts val="0"/>
              </a:spcAft>
            </a:pPr>
            <a:r>
              <a:rPr sz="750" i="0">
                <a:solidFill>
                  <a:srgbClr val="82B1FF"/>
                </a:solidFill>
                <a:latin typeface="Inconsolata"/>
              </a:rPr>
              <a:t>## Endpoint</a:t>
            </a:r>
          </a:p>
          <a:p>
            <a:pPr>
              <a:lnSpc>
                <a:spcPct val="111111"/>
              </a:lnSpc>
              <a:spcAft>
                <a:spcPts val="0"/>
              </a:spcAft>
            </a:pPr>
            <a:r>
              <a:rPr sz="750" i="0">
                <a:solidFill>
                  <a:srgbClr val="E6EDF3"/>
                </a:solidFill>
                <a:latin typeface="Inconsolata"/>
              </a:rPr>
              <a:t>| POST | /vouchers | products:write (admin) |</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82B1FF"/>
                </a:solidFill>
                <a:latin typeface="Inconsolata"/>
              </a:rPr>
              <a:t>## File yang ditambah atau diubah</a:t>
            </a:r>
          </a:p>
          <a:p>
            <a:pPr>
              <a:lnSpc>
                <a:spcPct val="111111"/>
              </a:lnSpc>
              <a:spcAft>
                <a:spcPts val="0"/>
              </a:spcAft>
            </a:pPr>
            <a:r>
              <a:rPr sz="750" i="0">
                <a:solidFill>
                  <a:srgbClr val="E6EDF3"/>
                </a:solidFill>
                <a:latin typeface="Inconsolata"/>
              </a:rPr>
              <a:t>| domain      | voucher.py, order.py      |</a:t>
            </a:r>
          </a:p>
          <a:p>
            <a:pPr>
              <a:lnSpc>
                <a:spcPct val="111111"/>
              </a:lnSpc>
              <a:spcAft>
                <a:spcPts val="0"/>
              </a:spcAft>
            </a:pPr>
            <a:r>
              <a:rPr sz="750" i="0">
                <a:solidFill>
                  <a:srgbClr val="E6EDF3"/>
                </a:solidFill>
                <a:latin typeface="Inconsolata"/>
              </a:rPr>
              <a:t>| application | order_service.py          |</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82B1FF"/>
                </a:solidFill>
                <a:latin typeface="Inconsolata"/>
              </a:rPr>
              <a:t>## Test</a:t>
            </a:r>
          </a:p>
          <a:p>
            <a:pPr>
              <a:lnSpc>
                <a:spcPct val="111111"/>
              </a:lnSpc>
              <a:spcAft>
                <a:spcPts val="0"/>
              </a:spcAft>
            </a:pPr>
            <a:r>
              <a:rPr sz="750" i="0">
                <a:solidFill>
                  <a:srgbClr val="E6EDF3"/>
                </a:solidFill>
                <a:latin typeface="Inconsolata"/>
              </a:rPr>
              <a:t>pytest tests/test_voucher.py -q</a:t>
            </a:r>
          </a:p>
        </p:txBody>
      </p:sp>
      <p:graphicFrame>
        <p:nvGraphicFramePr>
          <p:cNvPr id="29" name="Table 12"/>
          <p:cNvGraphicFramePr>
            <a:graphicFrameLocks noGrp="1"/>
          </p:cNvGraphicFramePr>
          <p:nvPr/>
        </p:nvGraphicFramePr>
        <p:xfrm>
          <a:off x="4983480" y="1481328"/>
          <a:ext cx="3502152" cy="2926080"/>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65760">
                <a:tc>
                  <a:txBody>
                    <a:bodyPr/>
                    <a:lstStyle/>
                    <a:p>
                      <a:pPr algn="l">
                        <a:lnSpc>
                          <a:spcPct val="100000"/>
                        </a:lnSpc>
                        <a:spcAft>
                          <a:spcPts val="0"/>
                        </a:spcAft>
                      </a:pPr>
                      <a:r>
                        <a:rPr sz="850" b="1" i="0">
                          <a:solidFill>
                            <a:srgbClr val="FFFFFF"/>
                          </a:solidFill>
                          <a:latin typeface="Inter"/>
                        </a:rPr>
                        <a:t>Bagian</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Isinya</a:t>
                      </a:r>
                    </a:p>
                  </a:txBody>
                  <a:tcPr marL="73152" marR="73152" marT="36576" marB="36576" anchor="ctr">
                    <a:solidFill>
                      <a:srgbClr val="1C4587"/>
                    </a:solidFill>
                  </a:tcPr>
                </a:tc>
                <a:extLst>
                  <a:ext uri="{0D108BD9-81ED-4DB2-BD59-A6C34878D82A}">
                    <a16:rowId xmlns:a16="http://schemas.microsoft.com/office/drawing/2014/main" val="10000"/>
                  </a:ext>
                </a:extLst>
              </a:tr>
              <a:tr h="365760">
                <a:tc>
                  <a:txBody>
                    <a:bodyPr/>
                    <a:lstStyle/>
                    <a:p>
                      <a:pPr algn="l">
                        <a:lnSpc>
                          <a:spcPct val="100000"/>
                        </a:lnSpc>
                        <a:spcAft>
                          <a:spcPts val="0"/>
                        </a:spcAft>
                      </a:pPr>
                      <a:r>
                        <a:rPr sz="850" b="1" i="0">
                          <a:solidFill>
                            <a:srgbClr val="1C4587"/>
                          </a:solidFill>
                          <a:latin typeface="Inter"/>
                        </a:rPr>
                        <a:t>Deskripsi</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Apa yang dilakukan fitur</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pPr algn="l">
                        <a:lnSpc>
                          <a:spcPct val="100000"/>
                        </a:lnSpc>
                        <a:spcAft>
                          <a:spcPts val="0"/>
                        </a:spcAft>
                      </a:pPr>
                      <a:r>
                        <a:rPr sz="850" b="1" i="0">
                          <a:solidFill>
                            <a:srgbClr val="1C4587"/>
                          </a:solidFill>
                          <a:latin typeface="Inter"/>
                        </a:rPr>
                        <a:t>Aturan bisnis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Yang dijaga di domain</a:t>
                      </a:r>
                    </a:p>
                  </a:txBody>
                  <a:tcPr marL="73152" marR="73152" marT="36576" marB="36576" anchor="ctr">
                    <a:solidFill>
                      <a:srgbClr val="F3F4F6"/>
                    </a:solidFill>
                  </a:tcPr>
                </a:tc>
                <a:extLst>
                  <a:ext uri="{0D108BD9-81ED-4DB2-BD59-A6C34878D82A}">
                    <a16:rowId xmlns:a16="http://schemas.microsoft.com/office/drawing/2014/main" val="10002"/>
                  </a:ext>
                </a:extLst>
              </a:tr>
              <a:tr h="365760">
                <a:tc>
                  <a:txBody>
                    <a:bodyPr/>
                    <a:lstStyle/>
                    <a:p>
                      <a:pPr algn="l">
                        <a:lnSpc>
                          <a:spcPct val="100000"/>
                        </a:lnSpc>
                        <a:spcAft>
                          <a:spcPts val="0"/>
                        </a:spcAft>
                      </a:pPr>
                      <a:r>
                        <a:rPr sz="850" b="1" i="0">
                          <a:solidFill>
                            <a:srgbClr val="1C4587"/>
                          </a:solidFill>
                          <a:latin typeface="Inter"/>
                        </a:rPr>
                        <a:t>Endpoint</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Path, method, scope</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pPr algn="l">
                        <a:lnSpc>
                          <a:spcPct val="100000"/>
                        </a:lnSpc>
                        <a:spcAft>
                          <a:spcPts val="0"/>
                        </a:spcAft>
                      </a:pPr>
                      <a:r>
                        <a:rPr sz="850" b="1" i="0">
                          <a:solidFill>
                            <a:srgbClr val="1C4587"/>
                          </a:solidFill>
                          <a:latin typeface="Inter"/>
                        </a:rPr>
                        <a:t>Error</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Code dan HTTP status</a:t>
                      </a:r>
                    </a:p>
                  </a:txBody>
                  <a:tcPr marL="73152" marR="73152" marT="36576" marB="36576" anchor="ctr">
                    <a:solidFill>
                      <a:srgbClr val="F3F4F6"/>
                    </a:solidFill>
                  </a:tcPr>
                </a:tc>
                <a:extLst>
                  <a:ext uri="{0D108BD9-81ED-4DB2-BD59-A6C34878D82A}">
                    <a16:rowId xmlns:a16="http://schemas.microsoft.com/office/drawing/2014/main" val="10004"/>
                  </a:ext>
                </a:extLst>
              </a:tr>
              <a:tr h="365760">
                <a:tc>
                  <a:txBody>
                    <a:bodyPr/>
                    <a:lstStyle/>
                    <a:p>
                      <a:pPr algn="l">
                        <a:lnSpc>
                          <a:spcPct val="100000"/>
                        </a:lnSpc>
                        <a:spcAft>
                          <a:spcPts val="0"/>
                        </a:spcAft>
                      </a:pPr>
                      <a:r>
                        <a:rPr sz="850" b="1" i="0">
                          <a:solidFill>
                            <a:srgbClr val="1C4587"/>
                          </a:solidFill>
                          <a:latin typeface="Inter"/>
                        </a:rPr>
                        <a:t>File per layer</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Yang ditambah atau diubah</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pPr algn="l">
                        <a:lnSpc>
                          <a:spcPct val="100000"/>
                        </a:lnSpc>
                        <a:spcAft>
                          <a:spcPts val="0"/>
                        </a:spcAft>
                      </a:pPr>
                      <a:r>
                        <a:rPr sz="850" b="1" i="0">
                          <a:solidFill>
                            <a:srgbClr val="1C4587"/>
                          </a:solidFill>
                          <a:latin typeface="Inter"/>
                        </a:rPr>
                        <a:t>Keputusan teknis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Link ke ADR</a:t>
                      </a:r>
                    </a:p>
                  </a:txBody>
                  <a:tcPr marL="73152" marR="73152" marT="36576" marB="36576" anchor="ctr">
                    <a:solidFill>
                      <a:srgbClr val="F3F4F6"/>
                    </a:solidFill>
                  </a:tcPr>
                </a:tc>
                <a:extLst>
                  <a:ext uri="{0D108BD9-81ED-4DB2-BD59-A6C34878D82A}">
                    <a16:rowId xmlns:a16="http://schemas.microsoft.com/office/drawing/2014/main" val="10006"/>
                  </a:ext>
                </a:extLst>
              </a:tr>
              <a:tr h="365760">
                <a:tc>
                  <a:txBody>
                    <a:bodyPr/>
                    <a:lstStyle/>
                    <a:p>
                      <a:pPr algn="l">
                        <a:lnSpc>
                          <a:spcPct val="100000"/>
                        </a:lnSpc>
                        <a:spcAft>
                          <a:spcPts val="0"/>
                        </a:spcAft>
                      </a:pPr>
                      <a:r>
                        <a:rPr sz="850" b="1" i="0">
                          <a:solidFill>
                            <a:srgbClr val="1C4587"/>
                          </a:solidFill>
                          <a:latin typeface="Inter"/>
                        </a:rPr>
                        <a:t>Test</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Cara menjalankan, yang dites</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Final Project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Yang Dikumpulkan dan Presentasi</a:t>
            </a:r>
          </a:p>
        </p:txBody>
      </p:sp>
      <p:sp>
        <p:nvSpPr>
          <p:cNvPr id="22" name="Box 3"/>
          <p:cNvSpPr/>
          <p:nvPr/>
        </p:nvSpPr>
        <p:spPr>
          <a:xfrm>
            <a:off x="621792" y="1481328"/>
            <a:ext cx="3840480" cy="3218688"/>
          </a:xfrm>
          <a:prstGeom prst="roundRect">
            <a:avLst>
              <a:gd name="adj" fmla="val 3409"/>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572768"/>
            <a:ext cx="3566160" cy="310896"/>
          </a:xfrm>
          <a:prstGeom prst="rect">
            <a:avLst/>
          </a:prstGeom>
          <a:noFill/>
        </p:spPr>
        <p:txBody>
          <a:bodyPr wrap="square" lIns="45720" rIns="45720" anchor="t">
            <a:spAutoFit/>
          </a:bodyPr>
          <a:lstStyle/>
          <a:p>
            <a:pPr algn="l">
              <a:lnSpc>
                <a:spcPct val="115000"/>
              </a:lnSpc>
              <a:spcAft>
                <a:spcPts val="400"/>
              </a:spcAft>
            </a:pPr>
            <a:r>
              <a:rPr sz="1100" b="1" i="0">
                <a:solidFill>
                  <a:srgbClr val="1C4587"/>
                </a:solidFill>
                <a:latin typeface="Inter"/>
              </a:rPr>
              <a:t>Dikumpulkan</a:t>
            </a:r>
          </a:p>
        </p:txBody>
      </p:sp>
      <p:sp>
        <p:nvSpPr>
          <p:cNvPr id="24" name="Text 5"/>
          <p:cNvSpPr txBox="1"/>
          <p:nvPr/>
        </p:nvSpPr>
        <p:spPr>
          <a:xfrm>
            <a:off x="758952" y="1892808"/>
            <a:ext cx="356616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Link repository GitHub</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README root dan </a:t>
            </a:r>
            <a:r>
              <a:rPr sz="950" b="0" i="0">
                <a:solidFill>
                  <a:srgbClr val="B5482A"/>
                </a:solidFill>
                <a:latin typeface="Inconsolata"/>
              </a:rPr>
              <a:t>docs/fitur/</a:t>
            </a:r>
            <a:r>
              <a:rPr sz="950" b="0" i="0">
                <a:solidFill>
                  <a:srgbClr val="434343"/>
                </a:solidFill>
                <a:latin typeface="Inter"/>
              </a:rPr>
              <a:t> untuk fitur baru</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docs/architecture.md</a:t>
            </a:r>
            <a:r>
              <a:rPr sz="950" b="0" i="0">
                <a:solidFill>
                  <a:srgbClr val="434343"/>
                </a:solidFill>
                <a:latin typeface="Inter"/>
              </a:rPr>
              <a:t> dan ADR baru</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Dokumentasi API (</a:t>
            </a:r>
            <a:r>
              <a:rPr sz="950" b="0" i="0">
                <a:solidFill>
                  <a:srgbClr val="B5482A"/>
                </a:solidFill>
                <a:latin typeface="Inconsolata"/>
              </a:rPr>
              <a:t>/docs</a:t>
            </a:r>
            <a:r>
              <a:rPr sz="950" b="0" i="0">
                <a:solidFill>
                  <a:srgbClr val="434343"/>
                </a:solidFill>
                <a:latin typeface="Inter"/>
              </a:rPr>
              <a:t>)</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Screenshot pipeline yang hijau</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Slide maksimal 10 halaman</a:t>
            </a:r>
          </a:p>
        </p:txBody>
      </p:sp>
      <p:sp>
        <p:nvSpPr>
          <p:cNvPr id="25" name="Box 6"/>
          <p:cNvSpPr/>
          <p:nvPr/>
        </p:nvSpPr>
        <p:spPr>
          <a:xfrm>
            <a:off x="4617720" y="1481328"/>
            <a:ext cx="3867912" cy="3218688"/>
          </a:xfrm>
          <a:prstGeom prst="roundRect">
            <a:avLst>
              <a:gd name="adj" fmla="val 340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Text 7"/>
          <p:cNvSpPr txBox="1"/>
          <p:nvPr/>
        </p:nvSpPr>
        <p:spPr>
          <a:xfrm>
            <a:off x="4754880" y="1572768"/>
            <a:ext cx="3593592" cy="310896"/>
          </a:xfrm>
          <a:prstGeom prst="rect">
            <a:avLst/>
          </a:prstGeom>
          <a:noFill/>
        </p:spPr>
        <p:txBody>
          <a:bodyPr wrap="square" lIns="45720" rIns="45720" anchor="t">
            <a:spAutoFit/>
          </a:bodyPr>
          <a:lstStyle/>
          <a:p>
            <a:pPr algn="l">
              <a:lnSpc>
                <a:spcPct val="115000"/>
              </a:lnSpc>
              <a:spcAft>
                <a:spcPts val="400"/>
              </a:spcAft>
            </a:pPr>
            <a:r>
              <a:rPr sz="1100" b="1" i="0">
                <a:solidFill>
                  <a:srgbClr val="E0764F"/>
                </a:solidFill>
                <a:latin typeface="Inter"/>
              </a:rPr>
              <a:t>Presentasi 15 + 5 menit</a:t>
            </a:r>
          </a:p>
        </p:txBody>
      </p:sp>
      <p:sp>
        <p:nvSpPr>
          <p:cNvPr id="27" name="Text 8"/>
          <p:cNvSpPr txBox="1"/>
          <p:nvPr/>
        </p:nvSpPr>
        <p:spPr>
          <a:xfrm>
            <a:off x="4754880" y="1892808"/>
            <a:ext cx="35935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Fitur baru dan aturan bisnisnya (2 menit)</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Architecture walkthrough: layer yang disentuh fitur baru (4 menit)</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Live demo fitur baru, lalu log, metrics, trace (5 menit)</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Test, pipeline CI/CD, dan smoke test (2 menit)</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Trade-off dan langkah berikutnya menuju production (2 menit)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Final Project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Rubrik Penilaian</a:t>
            </a:r>
          </a:p>
        </p:txBody>
      </p:sp>
      <p:graphicFrame>
        <p:nvGraphicFramePr>
          <p:cNvPr id="22" name="Table 3"/>
          <p:cNvGraphicFramePr>
            <a:graphicFrameLocks noGrp="1"/>
          </p:cNvGraphicFramePr>
          <p:nvPr/>
        </p:nvGraphicFramePr>
        <p:xfrm>
          <a:off x="621792" y="1481328"/>
          <a:ext cx="7863840" cy="3072384"/>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384048">
                <a:tc>
                  <a:txBody>
                    <a:bodyPr/>
                    <a:lstStyle/>
                    <a:p>
                      <a:pPr algn="l">
                        <a:lnSpc>
                          <a:spcPct val="100000"/>
                        </a:lnSpc>
                        <a:spcAft>
                          <a:spcPts val="0"/>
                        </a:spcAft>
                      </a:pPr>
                      <a:r>
                        <a:rPr sz="900" b="1" i="0">
                          <a:solidFill>
                            <a:srgbClr val="FFFFFF"/>
                          </a:solidFill>
                          <a:latin typeface="Inter"/>
                        </a:rPr>
                        <a:t>Kriteria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Bobot</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Nilai penuh jika</a:t>
                      </a:r>
                    </a:p>
                  </a:txBody>
                  <a:tcPr marL="73152" marR="73152" marT="36576" marB="36576" anchor="ctr">
                    <a:solidFill>
                      <a:srgbClr val="1C4587"/>
                    </a:solidFill>
                  </a:tcPr>
                </a:tc>
                <a:extLst>
                  <a:ext uri="{0D108BD9-81ED-4DB2-BD59-A6C34878D82A}">
                    <a16:rowId xmlns:a16="http://schemas.microsoft.com/office/drawing/2014/main" val="10000"/>
                  </a:ext>
                </a:extLst>
              </a:tr>
              <a:tr h="384048">
                <a:tc>
                  <a:txBody>
                    <a:bodyPr/>
                    <a:lstStyle/>
                    <a:p>
                      <a:pPr algn="l">
                        <a:lnSpc>
                          <a:spcPct val="100000"/>
                        </a:lnSpc>
                        <a:spcAft>
                          <a:spcPts val="0"/>
                        </a:spcAft>
                      </a:pPr>
                      <a:r>
                        <a:rPr sz="900" b="1" i="0">
                          <a:solidFill>
                            <a:srgbClr val="1C4587"/>
                          </a:solidFill>
                          <a:latin typeface="Inter"/>
                        </a:rPr>
                        <a:t>Desain dan kualitas kode fitur baru</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25%</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Mengikuti layer yang ada, aturan bisnis di domain, lint bersih</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Aft>
                          <a:spcPts val="0"/>
                        </a:spcAft>
                      </a:pPr>
                      <a:r>
                        <a:rPr sz="900" b="1" i="0">
                          <a:solidFill>
                            <a:srgbClr val="1C4587"/>
                          </a:solidFill>
                          <a:latin typeface="Inter"/>
                        </a:rPr>
                        <a:t>Implementasi fitur</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20%</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Kedua fitur jalan, aturan bisnis benar, error ditangani</a:t>
                      </a:r>
                    </a:p>
                  </a:txBody>
                  <a:tcPr marL="73152" marR="73152" marT="36576" marB="36576" anchor="ctr">
                    <a:solidFill>
                      <a:srgbClr val="F3F4F6"/>
                    </a:solidFill>
                  </a:tcPr>
                </a:tc>
                <a:extLst>
                  <a:ext uri="{0D108BD9-81ED-4DB2-BD59-A6C34878D82A}">
                    <a16:rowId xmlns:a16="http://schemas.microsoft.com/office/drawing/2014/main" val="10002"/>
                  </a:ext>
                </a:extLst>
              </a:tr>
              <a:tr h="384048">
                <a:tc>
                  <a:txBody>
                    <a:bodyPr/>
                    <a:lstStyle/>
                    <a:p>
                      <a:pPr algn="l">
                        <a:lnSpc>
                          <a:spcPct val="100000"/>
                        </a:lnSpc>
                        <a:spcAft>
                          <a:spcPts val="0"/>
                        </a:spcAft>
                      </a:pPr>
                      <a:r>
                        <a:rPr sz="900" b="1" i="0">
                          <a:solidFill>
                            <a:srgbClr val="1C4587"/>
                          </a:solidFill>
                          <a:latin typeface="Inter"/>
                        </a:rPr>
                        <a:t>Data dan reliability</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15%</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Transaksi benar, index tepat, aman dari pesan ganda</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lnSpc>
                          <a:spcPct val="100000"/>
                        </a:lnSpc>
                        <a:spcAft>
                          <a:spcPts val="0"/>
                        </a:spcAft>
                      </a:pPr>
                      <a:r>
                        <a:rPr sz="900" b="1" i="0">
                          <a:solidFill>
                            <a:srgbClr val="1C4587"/>
                          </a:solidFill>
                          <a:latin typeface="Inter"/>
                        </a:rPr>
                        <a:t>Security</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10%</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Endpoint baru punya login dan scope, data user lain tidak bisa diakses</a:t>
                      </a:r>
                    </a:p>
                  </a:txBody>
                  <a:tcPr marL="73152" marR="73152" marT="36576" marB="36576" anchor="ctr">
                    <a:solidFill>
                      <a:srgbClr val="F3F4F6"/>
                    </a:solidFill>
                  </a:tcPr>
                </a:tc>
                <a:extLst>
                  <a:ext uri="{0D108BD9-81ED-4DB2-BD59-A6C34878D82A}">
                    <a16:rowId xmlns:a16="http://schemas.microsoft.com/office/drawing/2014/main" val="10004"/>
                  </a:ext>
                </a:extLst>
              </a:tr>
              <a:tr h="384048">
                <a:tc>
                  <a:txBody>
                    <a:bodyPr/>
                    <a:lstStyle/>
                    <a:p>
                      <a:pPr algn="l">
                        <a:lnSpc>
                          <a:spcPct val="100000"/>
                        </a:lnSpc>
                        <a:spcAft>
                          <a:spcPts val="0"/>
                        </a:spcAft>
                      </a:pPr>
                      <a:r>
                        <a:rPr sz="900" b="1" i="0">
                          <a:solidFill>
                            <a:srgbClr val="1C4587"/>
                          </a:solidFill>
                          <a:latin typeface="Inter"/>
                        </a:rPr>
                        <a:t>Testing</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10%</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Test aturan bisnis dan API fitur baru, hijau di CI</a:t>
                      </a:r>
                    </a:p>
                  </a:txBody>
                  <a:tcPr marL="73152" marR="73152" marT="36576" marB="36576" anchor="ctr">
                    <a:solidFill>
                      <a:srgbClr val="FFFFFF"/>
                    </a:solidFill>
                  </a:tcPr>
                </a:tc>
                <a:extLst>
                  <a:ext uri="{0D108BD9-81ED-4DB2-BD59-A6C34878D82A}">
                    <a16:rowId xmlns:a16="http://schemas.microsoft.com/office/drawing/2014/main" val="10005"/>
                  </a:ext>
                </a:extLst>
              </a:tr>
              <a:tr h="384048">
                <a:tc>
                  <a:txBody>
                    <a:bodyPr/>
                    <a:lstStyle/>
                    <a:p>
                      <a:pPr algn="l">
                        <a:lnSpc>
                          <a:spcPct val="100000"/>
                        </a:lnSpc>
                        <a:spcAft>
                          <a:spcPts val="0"/>
                        </a:spcAft>
                      </a:pPr>
                      <a:r>
                        <a:rPr sz="900" b="1" i="0">
                          <a:solidFill>
                            <a:srgbClr val="1C4587"/>
                          </a:solidFill>
                          <a:latin typeface="Inter"/>
                        </a:rPr>
                        <a:t>Dokumentasi</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15%</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README fitur jelas, diagram dan ADR diperbarui</a:t>
                      </a:r>
                    </a:p>
                  </a:txBody>
                  <a:tcPr marL="73152" marR="73152" marT="36576" marB="36576" anchor="ctr">
                    <a:solidFill>
                      <a:srgbClr val="F3F4F6"/>
                    </a:solidFill>
                  </a:tcPr>
                </a:tc>
                <a:extLst>
                  <a:ext uri="{0D108BD9-81ED-4DB2-BD59-A6C34878D82A}">
                    <a16:rowId xmlns:a16="http://schemas.microsoft.com/office/drawing/2014/main" val="10006"/>
                  </a:ext>
                </a:extLst>
              </a:tr>
              <a:tr h="384048">
                <a:tc>
                  <a:txBody>
                    <a:bodyPr/>
                    <a:lstStyle/>
                    <a:p>
                      <a:pPr algn="l">
                        <a:lnSpc>
                          <a:spcPct val="100000"/>
                        </a:lnSpc>
                        <a:spcAft>
                          <a:spcPts val="0"/>
                        </a:spcAft>
                      </a:pPr>
                      <a:r>
                        <a:rPr sz="900" b="1" i="0">
                          <a:solidFill>
                            <a:srgbClr val="1C4587"/>
                          </a:solidFill>
                          <a:latin typeface="Inter"/>
                        </a:rPr>
                        <a:t>Deployment dan presentasi</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5%</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Compose, pipeline, dan smoke test berjalan, demo lancar</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Final Project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Tips Mengerjakan</a:t>
            </a:r>
          </a:p>
        </p:txBody>
      </p:sp>
      <p:sp>
        <p:nvSpPr>
          <p:cNvPr id="22" name="Box 3"/>
          <p:cNvSpPr/>
          <p:nvPr/>
        </p:nvSpPr>
        <p:spPr>
          <a:xfrm>
            <a:off x="621792" y="1481328"/>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23" name="Text 4"/>
          <p:cNvSpPr txBox="1"/>
          <p:nvPr/>
        </p:nvSpPr>
        <p:spPr>
          <a:xfrm>
            <a:off x="987552" y="1453896"/>
            <a:ext cx="7498079" cy="512064"/>
          </a:xfrm>
          <a:prstGeom prst="rect">
            <a:avLst/>
          </a:prstGeom>
          <a:noFill/>
        </p:spPr>
        <p:txBody>
          <a:bodyPr wrap="square" lIns="45720" rIns="45720" anchor="t">
            <a:spAutoFit/>
          </a:bodyPr>
          <a:lstStyle/>
          <a:p>
            <a:pPr algn="l">
              <a:lnSpc>
                <a:spcPct val="115000"/>
              </a:lnSpc>
              <a:spcAft>
                <a:spcPts val="400"/>
              </a:spcAft>
            </a:pPr>
            <a:r>
              <a:rPr sz="1000" b="1" i="0">
                <a:solidFill>
                  <a:srgbClr val="434343"/>
                </a:solidFill>
                <a:latin typeface="Inter"/>
              </a:rPr>
              <a:t>Pastikan starter jalan dulu.</a:t>
            </a:r>
            <a:r>
              <a:rPr sz="1000" b="0" i="0">
                <a:solidFill>
                  <a:srgbClr val="434343"/>
                </a:solidFill>
                <a:latin typeface="Inter"/>
              </a:rPr>
              <a:t>  docker compose up dan pytest hijau sebelum menambah apa pun.</a:t>
            </a:r>
          </a:p>
        </p:txBody>
      </p:sp>
      <p:sp>
        <p:nvSpPr>
          <p:cNvPr id="24" name="Box 5"/>
          <p:cNvSpPr/>
          <p:nvPr/>
        </p:nvSpPr>
        <p:spPr>
          <a:xfrm>
            <a:off x="621792" y="1993392"/>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25" name="Text 6"/>
          <p:cNvSpPr txBox="1"/>
          <p:nvPr/>
        </p:nvSpPr>
        <p:spPr>
          <a:xfrm>
            <a:off x="987552" y="1965960"/>
            <a:ext cx="7498079" cy="512064"/>
          </a:xfrm>
          <a:prstGeom prst="rect">
            <a:avLst/>
          </a:prstGeom>
          <a:noFill/>
        </p:spPr>
        <p:txBody>
          <a:bodyPr wrap="square" lIns="45720" rIns="45720" anchor="t">
            <a:spAutoFit/>
          </a:bodyPr>
          <a:lstStyle/>
          <a:p>
            <a:pPr algn="l">
              <a:lnSpc>
                <a:spcPct val="115000"/>
              </a:lnSpc>
              <a:spcAft>
                <a:spcPts val="400"/>
              </a:spcAft>
            </a:pPr>
            <a:r>
              <a:rPr sz="1000" b="1" i="0">
                <a:solidFill>
                  <a:srgbClr val="434343"/>
                </a:solidFill>
                <a:latin typeface="Inter"/>
              </a:rPr>
              <a:t>Mulai dari domain.</a:t>
            </a:r>
            <a:r>
              <a:rPr sz="1000" b="0" i="0">
                <a:solidFill>
                  <a:srgbClr val="434343"/>
                </a:solidFill>
                <a:latin typeface="Inter"/>
              </a:rPr>
              <a:t>  Tulis aturan bisnis fitur baru dan test-nya dulu, sebelum endpoint dan database.</a:t>
            </a:r>
          </a:p>
        </p:txBody>
      </p:sp>
      <p:sp>
        <p:nvSpPr>
          <p:cNvPr id="26" name="Box 7"/>
          <p:cNvSpPr/>
          <p:nvPr/>
        </p:nvSpPr>
        <p:spPr>
          <a:xfrm>
            <a:off x="621792" y="2505456"/>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27" name="Text 8"/>
          <p:cNvSpPr txBox="1"/>
          <p:nvPr/>
        </p:nvSpPr>
        <p:spPr>
          <a:xfrm>
            <a:off x="987552" y="2478024"/>
            <a:ext cx="7498079" cy="512064"/>
          </a:xfrm>
          <a:prstGeom prst="rect">
            <a:avLst/>
          </a:prstGeom>
          <a:noFill/>
        </p:spPr>
        <p:txBody>
          <a:bodyPr wrap="square" lIns="45720" rIns="45720" anchor="t">
            <a:spAutoFit/>
          </a:bodyPr>
          <a:lstStyle/>
          <a:p>
            <a:pPr algn="l">
              <a:lnSpc>
                <a:spcPct val="115000"/>
              </a:lnSpc>
              <a:spcAft>
                <a:spcPts val="400"/>
              </a:spcAft>
            </a:pPr>
            <a:r>
              <a:rPr sz="1000" b="1" i="0">
                <a:solidFill>
                  <a:srgbClr val="434343"/>
                </a:solidFill>
                <a:latin typeface="Inter"/>
              </a:rPr>
              <a:t>Satu fitur = satu pull request,</a:t>
            </a:r>
            <a:r>
              <a:rPr sz="1000" b="0" i="0">
                <a:solidFill>
                  <a:srgbClr val="434343"/>
                </a:solidFill>
                <a:latin typeface="Inter"/>
              </a:rPr>
              <a:t>  supaya pipeline CI berjalan dan template pull request terisi.</a:t>
            </a:r>
          </a:p>
        </p:txBody>
      </p:sp>
      <p:sp>
        <p:nvSpPr>
          <p:cNvPr id="28" name="Box 9"/>
          <p:cNvSpPr/>
          <p:nvPr/>
        </p:nvSpPr>
        <p:spPr>
          <a:xfrm>
            <a:off x="621792" y="3017520"/>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29" name="Text 10"/>
          <p:cNvSpPr txBox="1"/>
          <p:nvPr/>
        </p:nvSpPr>
        <p:spPr>
          <a:xfrm>
            <a:off x="987552" y="2990088"/>
            <a:ext cx="7498079" cy="512064"/>
          </a:xfrm>
          <a:prstGeom prst="rect">
            <a:avLst/>
          </a:prstGeom>
          <a:noFill/>
        </p:spPr>
        <p:txBody>
          <a:bodyPr wrap="square" lIns="45720" rIns="45720" anchor="t">
            <a:spAutoFit/>
          </a:bodyPr>
          <a:lstStyle/>
          <a:p>
            <a:pPr algn="l">
              <a:lnSpc>
                <a:spcPct val="115000"/>
              </a:lnSpc>
              <a:spcAft>
                <a:spcPts val="400"/>
              </a:spcAft>
            </a:pPr>
            <a:r>
              <a:rPr sz="1000" b="1" i="0">
                <a:solidFill>
                  <a:srgbClr val="434343"/>
                </a:solidFill>
                <a:latin typeface="Inter"/>
              </a:rPr>
              <a:t>Tulis README fitur sambil jalan,</a:t>
            </a:r>
            <a:r>
              <a:rPr sz="1000" b="0" i="0">
                <a:solidFill>
                  <a:srgbClr val="434343"/>
                </a:solidFill>
                <a:latin typeface="Inter"/>
              </a:rPr>
              <a:t>  bukan di akhir. Setiap kali fitur berubah, README-nya ikut diubah.</a:t>
            </a:r>
          </a:p>
        </p:txBody>
      </p:sp>
      <p:sp>
        <p:nvSpPr>
          <p:cNvPr id="30" name="Box 11"/>
          <p:cNvSpPr/>
          <p:nvPr/>
        </p:nvSpPr>
        <p:spPr>
          <a:xfrm>
            <a:off x="621792" y="3529584"/>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31" name="Text 12"/>
          <p:cNvSpPr txBox="1"/>
          <p:nvPr/>
        </p:nvSpPr>
        <p:spPr>
          <a:xfrm>
            <a:off x="987552" y="3502152"/>
            <a:ext cx="7498079" cy="512064"/>
          </a:xfrm>
          <a:prstGeom prst="rect">
            <a:avLst/>
          </a:prstGeom>
          <a:noFill/>
        </p:spPr>
        <p:txBody>
          <a:bodyPr wrap="square" lIns="45720" rIns="45720" anchor="t">
            <a:spAutoFit/>
          </a:bodyPr>
          <a:lstStyle/>
          <a:p>
            <a:pPr algn="l">
              <a:lnSpc>
                <a:spcPct val="115000"/>
              </a:lnSpc>
              <a:spcAft>
                <a:spcPts val="400"/>
              </a:spcAft>
            </a:pPr>
            <a:r>
              <a:rPr sz="1000" b="1" i="0">
                <a:solidFill>
                  <a:srgbClr val="434343"/>
                </a:solidFill>
                <a:latin typeface="Inter"/>
              </a:rPr>
              <a:t>Siapkan demo.</a:t>
            </a:r>
            <a:r>
              <a:rPr sz="1000" b="0" i="0">
                <a:solidFill>
                  <a:srgbClr val="434343"/>
                </a:solidFill>
                <a:latin typeface="Inter"/>
              </a:rPr>
              <a:t>  Data contoh lewat script, dan latihan demo minimal sekali dari laptop yang bersih.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Penutup</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Rangkuman Training</a:t>
            </a:r>
          </a:p>
        </p:txBody>
      </p:sp>
      <p:sp>
        <p:nvSpPr>
          <p:cNvPr id="22" name="Box 3"/>
          <p:cNvSpPr/>
          <p:nvPr/>
        </p:nvSpPr>
        <p:spPr>
          <a:xfrm>
            <a:off x="621792"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Arsitektur</a:t>
            </a:r>
          </a:p>
        </p:txBody>
      </p:sp>
      <p:sp>
        <p:nvSpPr>
          <p:cNvPr id="24" name="Text 5"/>
          <p:cNvSpPr txBox="1"/>
          <p:nvPr/>
        </p:nvSpPr>
        <p:spPr>
          <a:xfrm>
            <a:off x="758952"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Design pattern, SOLID, Clean Architecture, DDD</a:t>
            </a:r>
          </a:p>
        </p:txBody>
      </p:sp>
      <p:sp>
        <p:nvSpPr>
          <p:cNvPr id="25" name="Box 6"/>
          <p:cNvSpPr/>
          <p:nvPr/>
        </p:nvSpPr>
        <p:spPr>
          <a:xfrm>
            <a:off x="3291840"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Text 7"/>
          <p:cNvSpPr txBox="1"/>
          <p:nvPr/>
        </p:nvSpPr>
        <p:spPr>
          <a:xfrm>
            <a:off x="3429000"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API &amp; Data</a:t>
            </a:r>
          </a:p>
        </p:txBody>
      </p:sp>
      <p:sp>
        <p:nvSpPr>
          <p:cNvPr id="27" name="Text 8"/>
          <p:cNvSpPr txBox="1"/>
          <p:nvPr/>
        </p:nvSpPr>
        <p:spPr>
          <a:xfrm>
            <a:off x="3429000"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Modular FastAPI, ORM, Unit of Work, optimasi query</a:t>
            </a:r>
          </a:p>
        </p:txBody>
      </p:sp>
      <p:sp>
        <p:nvSpPr>
          <p:cNvPr id="28" name="Box 9"/>
          <p:cNvSpPr/>
          <p:nvPr/>
        </p:nvSpPr>
        <p:spPr>
          <a:xfrm>
            <a:off x="5961888"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Text 10"/>
          <p:cNvSpPr txBox="1"/>
          <p:nvPr/>
        </p:nvSpPr>
        <p:spPr>
          <a:xfrm>
            <a:off x="6099048"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Async &amp; Event</a:t>
            </a:r>
          </a:p>
        </p:txBody>
      </p:sp>
      <p:sp>
        <p:nvSpPr>
          <p:cNvPr id="30" name="Text 11"/>
          <p:cNvSpPr txBox="1"/>
          <p:nvPr/>
        </p:nvSpPr>
        <p:spPr>
          <a:xfrm>
            <a:off x="6099048"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Celery, cache, rate limit, RabbitMQ, Kafka</a:t>
            </a:r>
          </a:p>
        </p:txBody>
      </p:sp>
      <p:sp>
        <p:nvSpPr>
          <p:cNvPr id="31" name="Box 12"/>
          <p:cNvSpPr/>
          <p:nvPr/>
        </p:nvSpPr>
        <p:spPr>
          <a:xfrm>
            <a:off x="621792"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Text 13"/>
          <p:cNvSpPr txBox="1"/>
          <p:nvPr/>
        </p:nvSpPr>
        <p:spPr>
          <a:xfrm>
            <a:off x="758952"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Observability</a:t>
            </a:r>
          </a:p>
        </p:txBody>
      </p:sp>
      <p:sp>
        <p:nvSpPr>
          <p:cNvPr id="33" name="Text 14"/>
          <p:cNvSpPr txBox="1"/>
          <p:nvPr/>
        </p:nvSpPr>
        <p:spPr>
          <a:xfrm>
            <a:off x="758952"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Log JSON, metrics, health check, tracing, SLO</a:t>
            </a:r>
          </a:p>
        </p:txBody>
      </p:sp>
      <p:sp>
        <p:nvSpPr>
          <p:cNvPr id="34" name="Box 15"/>
          <p:cNvSpPr/>
          <p:nvPr/>
        </p:nvSpPr>
        <p:spPr>
          <a:xfrm>
            <a:off x="3291840"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Text 16"/>
          <p:cNvSpPr txBox="1"/>
          <p:nvPr/>
        </p:nvSpPr>
        <p:spPr>
          <a:xfrm>
            <a:off x="3429000"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Security</a:t>
            </a:r>
          </a:p>
        </p:txBody>
      </p:sp>
      <p:sp>
        <p:nvSpPr>
          <p:cNvPr id="36" name="Text 17"/>
          <p:cNvSpPr txBox="1"/>
          <p:nvPr/>
        </p:nvSpPr>
        <p:spPr>
          <a:xfrm>
            <a:off x="3429000"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OWASP, OAuth2/JWT, RBAC, secrets, validasi input</a:t>
            </a:r>
          </a:p>
        </p:txBody>
      </p:sp>
      <p:sp>
        <p:nvSpPr>
          <p:cNvPr id="37" name="Box 18"/>
          <p:cNvSpPr/>
          <p:nvPr/>
        </p:nvSpPr>
        <p:spPr>
          <a:xfrm>
            <a:off x="5961888"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19"/>
          <p:cNvSpPr txBox="1"/>
          <p:nvPr/>
        </p:nvSpPr>
        <p:spPr>
          <a:xfrm>
            <a:off x="6099048"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Deployment</a:t>
            </a:r>
          </a:p>
        </p:txBody>
      </p:sp>
      <p:sp>
        <p:nvSpPr>
          <p:cNvPr id="39" name="Text 20"/>
          <p:cNvSpPr txBox="1"/>
          <p:nvPr/>
        </p:nvSpPr>
        <p:spPr>
          <a:xfrm>
            <a:off x="6099048"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Docker, Kubernetes, CI/CD, smoke test, dokumentasi</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g2907dbd8723_0_0"/>
          <p:cNvPicPr preferRelativeResize="0"/>
          <p:nvPr/>
        </p:nvPicPr>
        <p:blipFill rotWithShape="1">
          <a:blip r:embed="rId3">
            <a:alphaModFix/>
          </a:blip>
          <a:srcRect/>
          <a:stretch/>
        </p:blipFill>
        <p:spPr>
          <a:xfrm>
            <a:off x="2843401" y="4399825"/>
            <a:ext cx="244986" cy="201168"/>
          </a:xfrm>
          <a:prstGeom prst="rect">
            <a:avLst/>
          </a:prstGeom>
          <a:noFill/>
          <a:ln>
            <a:noFill/>
          </a:ln>
        </p:spPr>
      </p:pic>
      <p:sp>
        <p:nvSpPr>
          <p:cNvPr id="254" name="Google Shape;254;g2907dbd8723_0_0"/>
          <p:cNvSpPr txBox="1"/>
          <p:nvPr/>
        </p:nvSpPr>
        <p:spPr>
          <a:xfrm>
            <a:off x="843350" y="1097280"/>
            <a:ext cx="4977000" cy="6348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7200"/>
              <a:buFont typeface="Arial"/>
              <a:buNone/>
            </a:pPr>
            <a:r>
              <a:rPr lang="en" sz="3000" b="0" i="0" u="none" strike="noStrike" cap="none">
                <a:solidFill>
                  <a:srgbClr val="FFFFFF"/>
                </a:solidFill>
                <a:latin typeface="Work Sans ExtraBold"/>
                <a:ea typeface="Work Sans ExtraBold"/>
                <a:cs typeface="Work Sans ExtraBold"/>
                <a:sym typeface="Work Sans ExtraBold"/>
              </a:rPr>
              <a:t>Source Code</a:t>
            </a:r>
            <a:endParaRPr sz="3000" b="0" i="0" u="none" strike="noStrike" cap="none">
              <a:solidFill>
                <a:srgbClr val="FFFFFF"/>
              </a:solidFill>
              <a:latin typeface="Work Sans ExtraBold"/>
              <a:ea typeface="Work Sans ExtraBold"/>
              <a:cs typeface="Work Sans ExtraBold"/>
              <a:sym typeface="Work Sans ExtraBold"/>
            </a:endParaRPr>
          </a:p>
        </p:txBody>
      </p:sp>
      <p:sp>
        <p:nvSpPr>
          <p:cNvPr id="255" name="Google Shape;255;g2907dbd8723_0_0"/>
          <p:cNvSpPr txBox="1"/>
          <p:nvPr/>
        </p:nvSpPr>
        <p:spPr>
          <a:xfrm>
            <a:off x="1230650" y="1934520"/>
            <a:ext cx="192024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300" b="1" i="0" u="none" strike="noStrike" cap="none">
                <a:solidFill>
                  <a:srgbClr val="FFFFFF"/>
                </a:solidFill>
                <a:latin typeface="Inter"/>
                <a:ea typeface="Inter"/>
                <a:cs typeface="Inter"/>
                <a:sym typeface="Inter"/>
              </a:rPr>
              <a:t>Sesi 12</a:t>
            </a:r>
            <a:endParaRPr sz="1500" b="0" i="1" u="none" strike="noStrike" cap="none">
              <a:solidFill>
                <a:srgbClr val="000000"/>
              </a:solidFill>
              <a:latin typeface="Inter"/>
              <a:ea typeface="Inter"/>
              <a:cs typeface="Inter"/>
              <a:sym typeface="Inter"/>
            </a:endParaRPr>
          </a:p>
        </p:txBody>
      </p:sp>
      <p:sp>
        <p:nvSpPr>
          <p:cNvPr id="256" name="Google Shape;256;g2907dbd8723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48</a:t>
            </a:fld>
            <a:endParaRPr/>
          </a:p>
        </p:txBody>
      </p:sp>
      <p:pic>
        <p:nvPicPr>
          <p:cNvPr id="257" name="Google Shape;257;g2907dbd8723_0_0"/>
          <p:cNvPicPr preferRelativeResize="0"/>
          <p:nvPr/>
        </p:nvPicPr>
        <p:blipFill rotWithShape="1">
          <a:blip r:embed="rId4">
            <a:alphaModFix/>
          </a:blip>
          <a:srcRect/>
          <a:stretch/>
        </p:blipFill>
        <p:spPr>
          <a:xfrm>
            <a:off x="4654775" y="4399825"/>
            <a:ext cx="284713" cy="201168"/>
          </a:xfrm>
          <a:prstGeom prst="rect">
            <a:avLst/>
          </a:prstGeom>
          <a:noFill/>
          <a:ln>
            <a:noFill/>
          </a:ln>
        </p:spPr>
      </p:pic>
      <p:pic>
        <p:nvPicPr>
          <p:cNvPr id="258" name="Google Shape;258;g2907dbd8723_0_0"/>
          <p:cNvPicPr preferRelativeResize="0"/>
          <p:nvPr/>
        </p:nvPicPr>
        <p:blipFill rotWithShape="1">
          <a:blip r:embed="rId5">
            <a:alphaModFix/>
          </a:blip>
          <a:srcRect/>
          <a:stretch/>
        </p:blipFill>
        <p:spPr>
          <a:xfrm>
            <a:off x="6505899" y="4399825"/>
            <a:ext cx="198637" cy="201168"/>
          </a:xfrm>
          <a:prstGeom prst="rect">
            <a:avLst/>
          </a:prstGeom>
          <a:noFill/>
          <a:ln>
            <a:noFill/>
          </a:ln>
        </p:spPr>
      </p:pic>
      <p:pic>
        <p:nvPicPr>
          <p:cNvPr id="259" name="Google Shape;259;g2907dbd8723_0_0"/>
          <p:cNvPicPr preferRelativeResize="0"/>
          <p:nvPr/>
        </p:nvPicPr>
        <p:blipFill rotWithShape="1">
          <a:blip r:embed="rId6">
            <a:alphaModFix/>
          </a:blip>
          <a:srcRect/>
          <a:stretch/>
        </p:blipFill>
        <p:spPr>
          <a:xfrm>
            <a:off x="1028695" y="4399825"/>
            <a:ext cx="201948" cy="201168"/>
          </a:xfrm>
          <a:prstGeom prst="rect">
            <a:avLst/>
          </a:prstGeom>
          <a:noFill/>
          <a:ln>
            <a:noFill/>
          </a:ln>
        </p:spPr>
      </p:pic>
      <p:sp>
        <p:nvSpPr>
          <p:cNvPr id="260" name="Google Shape;260;g2907dbd8723_0_0"/>
          <p:cNvSpPr txBox="1"/>
          <p:nvPr/>
        </p:nvSpPr>
        <p:spPr>
          <a:xfrm>
            <a:off x="123065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1" name="Google Shape;261;g2907dbd8723_0_0"/>
          <p:cNvSpPr txBox="1"/>
          <p:nvPr/>
        </p:nvSpPr>
        <p:spPr>
          <a:xfrm>
            <a:off x="3088375"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2" name="Google Shape;262;g2907dbd8723_0_0"/>
          <p:cNvSpPr txBox="1"/>
          <p:nvPr/>
        </p:nvSpPr>
        <p:spPr>
          <a:xfrm>
            <a:off x="494610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a:t>
            </a:r>
            <a:endParaRPr sz="900" b="0" i="0" u="none" strike="noStrike" cap="none">
              <a:solidFill>
                <a:srgbClr val="000000"/>
              </a:solidFill>
              <a:latin typeface="Arial"/>
              <a:ea typeface="Arial"/>
              <a:cs typeface="Arial"/>
              <a:sym typeface="Arial"/>
            </a:endParaRPr>
          </a:p>
        </p:txBody>
      </p:sp>
      <p:sp>
        <p:nvSpPr>
          <p:cNvPr id="263" name="Google Shape;263;g2907dbd8723_0_0"/>
          <p:cNvSpPr txBox="1"/>
          <p:nvPr/>
        </p:nvSpPr>
        <p:spPr>
          <a:xfrm>
            <a:off x="6704525" y="4338875"/>
            <a:ext cx="14235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 Indonesia</a:t>
            </a:r>
            <a:endParaRPr sz="900" b="0" i="0" u="none" strike="noStrike" cap="none">
              <a:solidFill>
                <a:srgbClr val="000000"/>
              </a:solidFill>
              <a:latin typeface="Arial"/>
              <a:ea typeface="Arial"/>
              <a:cs typeface="Arial"/>
              <a:sym typeface="Arial"/>
            </a:endParaRPr>
          </a:p>
        </p:txBody>
      </p:sp>
      <p:cxnSp>
        <p:nvCxnSpPr>
          <p:cNvPr id="264" name="Google Shape;264;g2907dbd8723_0_0"/>
          <p:cNvCxnSpPr/>
          <p:nvPr/>
        </p:nvCxnSpPr>
        <p:spPr>
          <a:xfrm>
            <a:off x="3063240" y="2160270"/>
            <a:ext cx="914400" cy="9600"/>
          </a:xfrm>
          <a:prstGeom prst="straightConnector1">
            <a:avLst/>
          </a:prstGeom>
          <a:noFill/>
          <a:ln w="19050" cap="flat" cmpd="sng">
            <a:solidFill>
              <a:srgbClr val="FFF5D8"/>
            </a:solidFill>
            <a:prstDash val="solid"/>
            <a:round/>
            <a:headEnd type="none" w="sm" len="sm"/>
            <a:tailEnd type="none" w="sm" len="sm"/>
          </a:ln>
        </p:spPr>
      </p:cxnSp>
      <p:sp>
        <p:nvSpPr>
          <p:cNvPr id="265" name="Google Shape;265;g2907dbd8723_0_0">
            <a:hlinkClick r:id="rId7"/>
          </p:cNvPr>
          <p:cNvSpPr txBox="1"/>
          <p:nvPr/>
        </p:nvSpPr>
        <p:spPr>
          <a:xfrm>
            <a:off x="4206240" y="1934520"/>
            <a:ext cx="402336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200" b="0" i="1" u="sng" strike="noStrike" cap="none">
                <a:solidFill>
                  <a:schemeClr val="hlink"/>
                </a:solidFill>
                <a:latin typeface="Inter"/>
                <a:ea typeface="Inter"/>
                <a:cs typeface="Inter"/>
                <a:sym typeface="Inter"/>
                <a:hlinkClick r:id="rId8"/>
              </a:rPr>
              <a:t>github.com/bagusedghar/fastapi-intermediate</a:t>
            </a:r>
            <a:endParaRPr sz="1500" b="0" i="1" u="sng" strike="noStrike" cap="none">
              <a:solidFill>
                <a:schemeClr val="lt1"/>
              </a:solidFill>
              <a:latin typeface="Inter"/>
              <a:ea typeface="Inter"/>
              <a:cs typeface="Inter"/>
              <a:sym typeface="Inter"/>
            </a:endParaRPr>
          </a:p>
        </p:txBody>
      </p:sp>
      <p:sp>
        <p:nvSpPr>
          <p:cNvPr id="2" name="Google Shape;255;g2907dbd8723_0_0"/>
          <p:cNvSpPr txBox="1"/>
          <p:nvPr/>
        </p:nvSpPr>
        <p:spPr>
          <a:xfrm>
            <a:off x="1230650" y="2391720"/>
            <a:ext cx="192024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300" b="1" i="0" u="none" strike="noStrike" cap="none">
                <a:solidFill>
                  <a:srgbClr val="FFFFFF"/>
                </a:solidFill>
                <a:latin typeface="Inter"/>
                <a:ea typeface="Inter"/>
                <a:cs typeface="Inter"/>
                <a:sym typeface="Inter"/>
              </a:rPr>
              <a:t>Semua sesi</a:t>
            </a:r>
            <a:endParaRPr sz="1500" b="0" i="1" u="none" strike="noStrike" cap="none">
              <a:solidFill>
                <a:srgbClr val="000000"/>
              </a:solidFill>
              <a:latin typeface="Inter"/>
              <a:ea typeface="Inter"/>
              <a:cs typeface="Inter"/>
              <a:sym typeface="Inter"/>
            </a:endParaRPr>
          </a:p>
        </p:txBody>
      </p:sp>
      <p:cxnSp>
        <p:nvCxnSpPr>
          <p:cNvPr id="3" name="Google Shape;264;g2907dbd8723_0_0"/>
          <p:cNvCxnSpPr/>
          <p:nvPr/>
        </p:nvCxnSpPr>
        <p:spPr>
          <a:xfrm>
            <a:off x="3063240" y="2617470"/>
            <a:ext cx="914400" cy="9600"/>
          </a:xfrm>
          <a:prstGeom prst="straightConnector1">
            <a:avLst/>
          </a:prstGeom>
          <a:noFill/>
          <a:ln w="19050" cap="flat" cmpd="sng">
            <a:solidFill>
              <a:srgbClr val="FFF5D8"/>
            </a:solidFill>
            <a:prstDash val="solid"/>
            <a:round/>
            <a:headEnd type="none" w="sm" len="sm"/>
            <a:tailEnd type="none" w="sm" len="sm"/>
          </a:ln>
        </p:spPr>
      </p:cxnSp>
      <p:sp>
        <p:nvSpPr>
          <p:cNvPr id="4" name="Google Shape;265;g2907dbd8723_0_0">
            <a:hlinkClick r:id="rId7"/>
          </p:cNvPr>
          <p:cNvSpPr txBox="1"/>
          <p:nvPr/>
        </p:nvSpPr>
        <p:spPr>
          <a:xfrm>
            <a:off x="4206240" y="2391720"/>
            <a:ext cx="402336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200" b="0" i="1" u="sng" strike="noStrike" cap="none">
                <a:solidFill>
                  <a:schemeClr val="hlink"/>
                </a:solidFill>
                <a:latin typeface="Inter"/>
                <a:ea typeface="Inter"/>
                <a:cs typeface="Inter"/>
                <a:sym typeface="Inter"/>
                <a:hlinkClick r:id="rId9"/>
              </a:rPr>
              <a:t>github.com/bagusedghar/fastapi-intermediate</a:t>
            </a:r>
            <a:endParaRPr sz="1500" b="0" i="1" u="sng" strike="noStrike" cap="none">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5420</Words>
  <Application>Microsoft Office PowerPoint</Application>
  <PresentationFormat>On-screen Show (16:9)</PresentationFormat>
  <Paragraphs>969</Paragraphs>
  <Slides>48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Work Sans Medium</vt:lpstr>
      <vt:lpstr>Arial</vt:lpstr>
      <vt:lpstr>Work Sans ExtraBold</vt:lpstr>
      <vt:lpstr>Inconsolata</vt:lpstr>
      <vt:lpstr>Inter</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Bagus Edghar</cp:lastModifiedBy>
  <cp:revision>1</cp:revision>
  <dcterms:modified xsi:type="dcterms:W3CDTF">2026-10-30T00:11:20Z</dcterms:modified>
</cp:coreProperties>
</file>