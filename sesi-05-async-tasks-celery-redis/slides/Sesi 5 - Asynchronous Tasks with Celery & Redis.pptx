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276" r:id="rId30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Inter" panose="02000503000000020004" pitchFamily="2" charset="0"/>
      <p:regular r:id="rId36"/>
      <p:bold r:id="rId37"/>
      <p:italic r:id="rId38"/>
      <p:boldItalic r:id="rId39"/>
    </p:embeddedFont>
    <p:embeddedFont>
      <p:font typeface="Work Sans ExtraBold" pitchFamily="2" charset="0"/>
      <p:bold r:id="rId40"/>
    </p:embeddedFont>
    <p:embeddedFont>
      <p:font typeface="Work Sans Medium" pitchFamily="2" charset="0"/>
      <p:regular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isuxx245f/qKiEmR3PX6YRe0tI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442ffe4c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2442ffe4c8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Peserta hands-on, jawaban sudah ada di folder after/.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907dbd87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907dbd872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7200" y="-15150"/>
            <a:ext cx="9190446" cy="51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" name="Google Shape;1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3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9206026" cy="5178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" name="Google Shape;20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 1 1">
  <p:cSld name="TITLE_2_1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" name="Google Shape;23;p49"/>
          <p:cNvPicPr preferRelativeResize="0"/>
          <p:nvPr/>
        </p:nvPicPr>
        <p:blipFill rotWithShape="1">
          <a:blip r:embed="rId2">
            <a:alphaModFix/>
          </a:blip>
          <a:srcRect l="-11869" r="-10498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4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Google Shape;2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 1">
  <p:cSld name="TITLE_2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7200" y="-7175"/>
            <a:ext cx="9204623" cy="51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1"/>
          <p:cNvPicPr preferRelativeResize="0"/>
          <p:nvPr/>
        </p:nvPicPr>
        <p:blipFill rotWithShape="1">
          <a:blip r:embed="rId3">
            <a:alphaModFix/>
          </a:blip>
          <a:srcRect l="-11869" r="-10498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2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350" y="-6375"/>
            <a:ext cx="9160668" cy="515287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" name="Google Shape;36;p22"/>
          <p:cNvPicPr preferRelativeResize="0"/>
          <p:nvPr/>
        </p:nvPicPr>
        <p:blipFill rotWithShape="1">
          <a:blip r:embed="rId3">
            <a:alphaModFix/>
          </a:blip>
          <a:srcRect l="-11869" r="-10498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" name="Google Shape;51;p5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" name="Google Shape;52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5" name="Google Shape;55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9" name="Google Shape;59;p5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" name="Google Shape;60;p5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4" name="Google Shape;64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5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3" name="Google Shape;73;p59"/>
          <p:cNvCxnSpPr/>
          <p:nvPr/>
        </p:nvCxnSpPr>
        <p:spPr>
          <a:xfrm>
            <a:off x="2740288" y="3545850"/>
            <a:ext cx="3824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1">
  <p:cSld name="TITLE_1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" name="Google Shape;76;p60"/>
          <p:cNvCxnSpPr/>
          <p:nvPr/>
        </p:nvCxnSpPr>
        <p:spPr>
          <a:xfrm>
            <a:off x="2740288" y="3545850"/>
            <a:ext cx="3824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79" name="Google Shape;79;p61"/>
          <p:cNvPicPr preferRelativeResize="0"/>
          <p:nvPr/>
        </p:nvPicPr>
        <p:blipFill rotWithShape="1">
          <a:blip r:embed="rId2">
            <a:alphaModFix/>
          </a:blip>
          <a:srcRect t="31469" b="34000"/>
          <a:stretch/>
        </p:blipFill>
        <p:spPr>
          <a:xfrm>
            <a:off x="134750" y="4589275"/>
            <a:ext cx="1410576" cy="344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bagusedghar/fastapi-intermediate/tree/main/sesi-05-async-tasks-celery-redis" TargetMode="External"/><Relationship Id="rId3" Type="http://schemas.openxmlformats.org/officeDocument/2006/relationships/image" Target="../media/image11.png"/><Relationship Id="rId7" Type="http://schemas.openxmlformats.org/officeDocument/2006/relationships/hyperlink" Target="https://colab.research.google.com/github/FTDS-learning-materials/phase-2/blob/master/w2/P2W2D1PM%20-%20Data%20Ethics%20&amp;%20Data%20Validation.ipynb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763050" y="2010750"/>
            <a:ext cx="8258100" cy="11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" sz="3500">
                <a:solidFill>
                  <a:srgbClr val="F06634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Asynchronous Tasks with Celery &amp; Redis</a:t>
            </a:r>
            <a:endParaRPr sz="3500" b="0" i="0" u="none" strike="noStrike" cap="none">
              <a:solidFill>
                <a:srgbClr val="F06634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63050" y="3157225"/>
            <a:ext cx="73152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Intermediate Backend Developer with FastAPI  -  Sesi 5</a:t>
            </a:r>
            <a:endParaRPr sz="1500" b="0" i="0" u="none" strike="noStrike" cap="none">
              <a:solidFill>
                <a:schemeClr val="dk2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442ffe4c8e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92" name="Google Shape;92;g2442ffe4c8e_0_0"/>
          <p:cNvSpPr txBox="1"/>
          <p:nvPr/>
        </p:nvSpPr>
        <p:spPr>
          <a:xfrm>
            <a:off x="310675" y="249275"/>
            <a:ext cx="44568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0" i="0" u="none" strike="noStrike" cap="none">
                <a:solidFill>
                  <a:srgbClr val="1D3D70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Contents</a:t>
            </a:r>
            <a:endParaRPr sz="2300" b="0" i="0" u="none" strike="noStrike" cap="none">
              <a:solidFill>
                <a:srgbClr val="1D3D70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93" name="Text 1"/>
          <p:cNvSpPr txBox="1"/>
          <p:nvPr/>
        </p:nvSpPr>
        <p:spPr>
          <a:xfrm>
            <a:off x="548640" y="1143000"/>
            <a:ext cx="56692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434343"/>
                </a:solidFill>
                <a:latin typeface="Inter"/>
              </a:rPr>
              <a:t>Async IO vs Background Jobs</a:t>
            </a:r>
          </a:p>
        </p:txBody>
      </p:sp>
      <p:cxnSp>
        <p:nvCxnSpPr>
          <p:cNvPr id="94" name="Arrow 2"/>
          <p:cNvCxnSpPr/>
          <p:nvPr/>
        </p:nvCxnSpPr>
        <p:spPr>
          <a:xfrm>
            <a:off x="6318504" y="1325880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 3"/>
          <p:cNvSpPr txBox="1"/>
          <p:nvPr/>
        </p:nvSpPr>
        <p:spPr>
          <a:xfrm>
            <a:off x="8266175" y="1143000"/>
            <a:ext cx="5486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1">
                <a:solidFill>
                  <a:srgbClr val="E0764F"/>
                </a:solidFill>
                <a:latin typeface="Inter"/>
              </a:rPr>
              <a:t>06</a:t>
            </a:r>
          </a:p>
        </p:txBody>
      </p:sp>
      <p:sp>
        <p:nvSpPr>
          <p:cNvPr id="96" name="Text 4"/>
          <p:cNvSpPr txBox="1"/>
          <p:nvPr/>
        </p:nvSpPr>
        <p:spPr>
          <a:xfrm>
            <a:off x="548640" y="1527048"/>
            <a:ext cx="56692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434343"/>
                </a:solidFill>
                <a:latin typeface="Inter"/>
              </a:rPr>
              <a:t>Celery Architecture</a:t>
            </a:r>
          </a:p>
        </p:txBody>
      </p:sp>
      <p:cxnSp>
        <p:nvCxnSpPr>
          <p:cNvPr id="97" name="Arrow 5"/>
          <p:cNvCxnSpPr/>
          <p:nvPr/>
        </p:nvCxnSpPr>
        <p:spPr>
          <a:xfrm>
            <a:off x="6318504" y="1709928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 6"/>
          <p:cNvSpPr txBox="1"/>
          <p:nvPr/>
        </p:nvSpPr>
        <p:spPr>
          <a:xfrm>
            <a:off x="8266175" y="1527048"/>
            <a:ext cx="5486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1">
                <a:solidFill>
                  <a:srgbClr val="E0764F"/>
                </a:solidFill>
                <a:latin typeface="Inter"/>
              </a:rPr>
              <a:t>13</a:t>
            </a:r>
          </a:p>
        </p:txBody>
      </p:sp>
      <p:sp>
        <p:nvSpPr>
          <p:cNvPr id="99" name="Text 7"/>
          <p:cNvSpPr txBox="1"/>
          <p:nvPr/>
        </p:nvSpPr>
        <p:spPr>
          <a:xfrm>
            <a:off x="548640" y="1911095"/>
            <a:ext cx="56692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434343"/>
                </a:solidFill>
                <a:latin typeface="Inter"/>
              </a:rPr>
              <a:t>Retry, Timeout, Idempotency &amp; Failure Handling</a:t>
            </a:r>
          </a:p>
        </p:txBody>
      </p:sp>
      <p:cxnSp>
        <p:nvCxnSpPr>
          <p:cNvPr id="100" name="Arrow 8"/>
          <p:cNvCxnSpPr/>
          <p:nvPr/>
        </p:nvCxnSpPr>
        <p:spPr>
          <a:xfrm>
            <a:off x="6318504" y="2093976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 9"/>
          <p:cNvSpPr txBox="1"/>
          <p:nvPr/>
        </p:nvSpPr>
        <p:spPr>
          <a:xfrm>
            <a:off x="8266175" y="1911095"/>
            <a:ext cx="5486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1">
                <a:solidFill>
                  <a:srgbClr val="E0764F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Sesi 5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Learning Outcome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Box 4"/>
          <p:cNvSpPr/>
          <p:nvPr/>
        </p:nvSpPr>
        <p:spPr>
          <a:xfrm>
            <a:off x="758952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1170432" y="1709928"/>
            <a:ext cx="1883663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1C4587"/>
                </a:solidFill>
                <a:latin typeface="Inter"/>
              </a:rPr>
              <a:t>Async vs background</a:t>
            </a:r>
          </a:p>
        </p:txBody>
      </p:sp>
      <p:sp>
        <p:nvSpPr>
          <p:cNvPr id="25" name="Text 6"/>
          <p:cNvSpPr txBox="1"/>
          <p:nvPr/>
        </p:nvSpPr>
        <p:spPr>
          <a:xfrm>
            <a:off x="758952" y="2148840"/>
            <a:ext cx="2249424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434343"/>
                </a:solidFill>
                <a:latin typeface="Inter"/>
              </a:rPr>
              <a:t>Membedakan async request processing dari background worker untuk pekerjaan yang lama.</a:t>
            </a:r>
          </a:p>
        </p:txBody>
      </p:sp>
      <p:sp>
        <p:nvSpPr>
          <p:cNvPr id="26" name="Box 7"/>
          <p:cNvSpPr/>
          <p:nvPr/>
        </p:nvSpPr>
        <p:spPr>
          <a:xfrm>
            <a:off x="3291840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7" name="Box 8"/>
          <p:cNvSpPr/>
          <p:nvPr/>
        </p:nvSpPr>
        <p:spPr>
          <a:xfrm>
            <a:off x="3429000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8" name="Text 9"/>
          <p:cNvSpPr txBox="1"/>
          <p:nvPr/>
        </p:nvSpPr>
        <p:spPr>
          <a:xfrm>
            <a:off x="3840480" y="1709928"/>
            <a:ext cx="1883663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1C4587"/>
                </a:solidFill>
                <a:latin typeface="Inter"/>
              </a:rPr>
              <a:t>FastAPI + Celery + Redis</a:t>
            </a:r>
          </a:p>
        </p:txBody>
      </p:sp>
      <p:sp>
        <p:nvSpPr>
          <p:cNvPr id="29" name="Text 10"/>
          <p:cNvSpPr txBox="1"/>
          <p:nvPr/>
        </p:nvSpPr>
        <p:spPr>
          <a:xfrm>
            <a:off x="3429000" y="2148840"/>
            <a:ext cx="2249424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434343"/>
                </a:solidFill>
                <a:latin typeface="Inter"/>
              </a:rPr>
              <a:t>Menghubungkan FastAPI, Celery, dan Redis untuk memproses job secara asynchronous.</a:t>
            </a:r>
          </a:p>
        </p:txBody>
      </p:sp>
      <p:sp>
        <p:nvSpPr>
          <p:cNvPr id="30" name="Box 11"/>
          <p:cNvSpPr/>
          <p:nvPr/>
        </p:nvSpPr>
        <p:spPr>
          <a:xfrm>
            <a:off x="5961888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1" name="Box 12"/>
          <p:cNvSpPr/>
          <p:nvPr/>
        </p:nvSpPr>
        <p:spPr>
          <a:xfrm>
            <a:off x="6099048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2" name="Text 13"/>
          <p:cNvSpPr txBox="1"/>
          <p:nvPr/>
        </p:nvSpPr>
        <p:spPr>
          <a:xfrm>
            <a:off x="6510527" y="1757746"/>
            <a:ext cx="1883664" cy="2884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 dirty="0">
                <a:solidFill>
                  <a:srgbClr val="1C4587"/>
                </a:solidFill>
                <a:latin typeface="Inter"/>
              </a:rPr>
              <a:t>Job yang </a:t>
            </a:r>
            <a:r>
              <a:rPr lang="en-US" sz="1200" b="1" dirty="0">
                <a:solidFill>
                  <a:srgbClr val="1C4587"/>
                </a:solidFill>
                <a:latin typeface="Inter"/>
              </a:rPr>
              <a:t>reliable</a:t>
            </a:r>
            <a:endParaRPr sz="1200" b="1" i="0" dirty="0">
              <a:solidFill>
                <a:srgbClr val="1C4587"/>
              </a:solidFill>
              <a:latin typeface="Inter"/>
            </a:endParaRPr>
          </a:p>
        </p:txBody>
      </p:sp>
      <p:sp>
        <p:nvSpPr>
          <p:cNvPr id="33" name="Text 14"/>
          <p:cNvSpPr txBox="1"/>
          <p:nvPr/>
        </p:nvSpPr>
        <p:spPr>
          <a:xfrm>
            <a:off x="6099048" y="2148840"/>
            <a:ext cx="2249424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434343"/>
                </a:solidFill>
                <a:latin typeface="Inter"/>
              </a:rPr>
              <a:t>Menerapkan retry, idempotency, penanganan task failure, dan status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Titik Awal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Hasil Sesi 4: Semua Dikerjakan di Dalam Request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42062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35661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app/application/order_service.py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42062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42062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place_order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, customer, customer_type, items):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with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.uow: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.uow.commit()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1">
                <a:solidFill>
                  <a:srgbClr val="8B98A8"/>
                </a:solidFill>
                <a:latin typeface="Consolas"/>
              </a:rPr>
              <a:t># dikirim di dalam request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.notifier.send(customer, </a:t>
            </a:r>
            <a:r>
              <a:rPr sz="850" i="0">
                <a:solidFill>
                  <a:srgbClr val="A5D6A7"/>
                </a:solidFill>
                <a:latin typeface="Consolas"/>
              </a:rPr>
              <a:t>f"Order #{order.id} ..."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850" i="0">
                <a:solidFill>
                  <a:srgbClr val="E6EDF3"/>
                </a:solidFill>
                <a:latin typeface="Consolas"/>
              </a:rPr>
              <a:t> order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class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EmailNotifier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send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, to, message):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print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f"[EMAIL] ke {to}: {message}"</a:t>
            </a:r>
            <a:r>
              <a:rPr sz="850" i="0">
                <a:solidFill>
                  <a:srgbClr val="E6EDF3"/>
                </a:solidFill>
                <a:latin typeface="Consolas"/>
              </a:rPr>
              <a:t>)   </a:t>
            </a:r>
            <a:r>
              <a:rPr sz="850" i="1">
                <a:solidFill>
                  <a:srgbClr val="8B98A8"/>
                </a:solidFill>
                <a:latin typeface="Consolas"/>
              </a:rPr>
              <a:t># anggap SMTP</a:t>
            </a:r>
          </a:p>
        </p:txBody>
      </p:sp>
      <p:sp>
        <p:nvSpPr>
          <p:cNvPr id="29" name="Box 12"/>
          <p:cNvSpPr/>
          <p:nvPr/>
        </p:nvSpPr>
        <p:spPr>
          <a:xfrm>
            <a:off x="4983480" y="1536192"/>
            <a:ext cx="3502152" cy="3127248"/>
          </a:xfrm>
          <a:prstGeom prst="roundRect">
            <a:avLst>
              <a:gd name="adj" fmla="val 3508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5120640" y="1627632"/>
            <a:ext cx="32278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C0392B"/>
                </a:solidFill>
                <a:latin typeface="Inter"/>
              </a:rPr>
              <a:t>Yang masih jadi masalah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5120640" y="1947672"/>
            <a:ext cx="32278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Server email lambat = membuat order ikut lambat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Email gagal = response error, padahal order sudah tersimpan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Tidak ada retry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Belum ada report penjualan, padahal prosesnya bisa lama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CFE0FA"/>
                </a:solidFill>
                <a:latin typeface="Inter"/>
              </a:rPr>
              <a:t>Bagian 01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Work Sans ExtraBold"/>
              </a:rPr>
              <a:t>Async IO vs Background Jobs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2743200"/>
            <a:ext cx="6583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E3ECFA"/>
                </a:solidFill>
                <a:latin typeface="Inter"/>
              </a:rPr>
              <a:t>Kapan cukup await, kapan butuh worker.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Async IO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Apa Itu Async IO?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931920" cy="320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434343"/>
                </a:solidFill>
                <a:latin typeface="Inter"/>
              </a:rPr>
              <a:t>Cara FastAPI melayani banyak request sekaligus: selama satu request </a:t>
            </a:r>
            <a:r>
              <a:rPr sz="1050" b="1" i="0">
                <a:solidFill>
                  <a:srgbClr val="434343"/>
                </a:solidFill>
                <a:latin typeface="Inter"/>
              </a:rPr>
              <a:t>menunggu</a:t>
            </a:r>
            <a:r>
              <a:rPr sz="1050" b="0" i="0">
                <a:solidFill>
                  <a:srgbClr val="434343"/>
                </a:solidFill>
                <a:latin typeface="Inter"/>
              </a:rPr>
              <a:t> IO (API lain, database), event loop mengerjakan request lain.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434343"/>
                </a:solidFill>
                <a:latin typeface="Inter"/>
              </a:rPr>
              <a:t>Request yang banyak menunggu tidak saling antre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434343"/>
                </a:solidFill>
                <a:latin typeface="Inter"/>
              </a:rPr>
              <a:t>Satu proses API melayani lebih banyak request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434343"/>
                </a:solidFill>
                <a:latin typeface="Inter"/>
              </a:rPr>
              <a:t>Syaratnya: yang ditunggu dipanggil dengan </a:t>
            </a:r>
            <a:r>
              <a:rPr sz="1050" b="0" i="0">
                <a:solidFill>
                  <a:srgbClr val="B5482A"/>
                </a:solidFill>
                <a:latin typeface="Consolas"/>
              </a:rPr>
              <a:t>await</a:t>
            </a:r>
          </a:p>
        </p:txBody>
      </p:sp>
      <p:sp>
        <p:nvSpPr>
          <p:cNvPr id="23" name="Text 4"/>
          <p:cNvSpPr txBox="1"/>
          <p:nvPr/>
        </p:nvSpPr>
        <p:spPr>
          <a:xfrm>
            <a:off x="4983480" y="1536192"/>
            <a:ext cx="3566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C0392B"/>
                </a:solidFill>
                <a:latin typeface="Inter"/>
              </a:rPr>
              <a:t>time.sleep</a:t>
            </a:r>
            <a:r>
              <a:rPr sz="950" b="0" i="0">
                <a:solidFill>
                  <a:srgbClr val="C0392B"/>
                </a:solidFill>
                <a:latin typeface="Inter"/>
              </a:rPr>
              <a:t>  ·  request antre</a:t>
            </a:r>
          </a:p>
        </p:txBody>
      </p:sp>
      <p:sp>
        <p:nvSpPr>
          <p:cNvPr id="24" name="Box 5"/>
          <p:cNvSpPr/>
          <p:nvPr/>
        </p:nvSpPr>
        <p:spPr>
          <a:xfrm>
            <a:off x="4983480" y="184708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 i="0">
                <a:solidFill>
                  <a:srgbClr val="C0392B"/>
                </a:solidFill>
                <a:latin typeface="Inter"/>
              </a:rPr>
              <a:t>request 1</a:t>
            </a:r>
          </a:p>
        </p:txBody>
      </p:sp>
      <p:sp>
        <p:nvSpPr>
          <p:cNvPr id="25" name="Box 6"/>
          <p:cNvSpPr/>
          <p:nvPr/>
        </p:nvSpPr>
        <p:spPr>
          <a:xfrm>
            <a:off x="5943600" y="2176272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 i="0">
                <a:solidFill>
                  <a:srgbClr val="C0392B"/>
                </a:solidFill>
                <a:latin typeface="Inter"/>
              </a:rPr>
              <a:t>request 2</a:t>
            </a:r>
          </a:p>
        </p:txBody>
      </p:sp>
      <p:sp>
        <p:nvSpPr>
          <p:cNvPr id="26" name="Box 7"/>
          <p:cNvSpPr/>
          <p:nvPr/>
        </p:nvSpPr>
        <p:spPr>
          <a:xfrm>
            <a:off x="6903720" y="2505456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 i="0">
                <a:solidFill>
                  <a:srgbClr val="C0392B"/>
                </a:solidFill>
                <a:latin typeface="Inter"/>
              </a:rPr>
              <a:t>request 3</a:t>
            </a:r>
          </a:p>
        </p:txBody>
      </p:sp>
      <p:sp>
        <p:nvSpPr>
          <p:cNvPr id="27" name="Text 8"/>
          <p:cNvSpPr txBox="1"/>
          <p:nvPr/>
        </p:nvSpPr>
        <p:spPr>
          <a:xfrm>
            <a:off x="7909560" y="2505456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C0392B"/>
                </a:solidFill>
                <a:latin typeface="Inter"/>
              </a:rPr>
              <a:t>3 detik</a:t>
            </a:r>
          </a:p>
        </p:txBody>
      </p:sp>
      <p:sp>
        <p:nvSpPr>
          <p:cNvPr id="28" name="Text 9"/>
          <p:cNvSpPr txBox="1"/>
          <p:nvPr/>
        </p:nvSpPr>
        <p:spPr>
          <a:xfrm>
            <a:off x="4983480" y="2971800"/>
            <a:ext cx="3566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2E7D5B"/>
                </a:solidFill>
                <a:latin typeface="Inter"/>
              </a:rPr>
              <a:t>await</a:t>
            </a:r>
            <a:r>
              <a:rPr sz="950" b="0" i="0">
                <a:solidFill>
                  <a:srgbClr val="2E7D5B"/>
                </a:solidFill>
                <a:latin typeface="Inter"/>
              </a:rPr>
              <a:t>  ·  request jalan bersamaan</a:t>
            </a:r>
          </a:p>
        </p:txBody>
      </p:sp>
      <p:sp>
        <p:nvSpPr>
          <p:cNvPr id="29" name="Box 10"/>
          <p:cNvSpPr/>
          <p:nvPr/>
        </p:nvSpPr>
        <p:spPr>
          <a:xfrm>
            <a:off x="4983480" y="3282696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 i="0">
                <a:solidFill>
                  <a:srgbClr val="2E7D5B"/>
                </a:solidFill>
                <a:latin typeface="Inter"/>
              </a:rPr>
              <a:t>request 1</a:t>
            </a:r>
          </a:p>
        </p:txBody>
      </p:sp>
      <p:sp>
        <p:nvSpPr>
          <p:cNvPr id="30" name="Box 11"/>
          <p:cNvSpPr/>
          <p:nvPr/>
        </p:nvSpPr>
        <p:spPr>
          <a:xfrm>
            <a:off x="4983480" y="3611879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 i="0">
                <a:solidFill>
                  <a:srgbClr val="2E7D5B"/>
                </a:solidFill>
                <a:latin typeface="Inter"/>
              </a:rPr>
              <a:t>request 2</a:t>
            </a:r>
          </a:p>
        </p:txBody>
      </p:sp>
      <p:sp>
        <p:nvSpPr>
          <p:cNvPr id="31" name="Box 12"/>
          <p:cNvSpPr/>
          <p:nvPr/>
        </p:nvSpPr>
        <p:spPr>
          <a:xfrm>
            <a:off x="4983480" y="3941063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 i="0">
                <a:solidFill>
                  <a:srgbClr val="2E7D5B"/>
                </a:solidFill>
                <a:latin typeface="Inter"/>
              </a:rPr>
              <a:t>request 3</a:t>
            </a:r>
          </a:p>
        </p:txBody>
      </p:sp>
      <p:sp>
        <p:nvSpPr>
          <p:cNvPr id="32" name="Text 13"/>
          <p:cNvSpPr txBox="1"/>
          <p:nvPr/>
        </p:nvSpPr>
        <p:spPr>
          <a:xfrm>
            <a:off x="5989320" y="3611880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2E7D5B"/>
                </a:solidFill>
                <a:latin typeface="Inter"/>
              </a:rPr>
              <a:t>1 detik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Async IO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Before: Blocking di Dalam async def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01-async-io/before.py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fetch_shipping_cost</a:t>
            </a:r>
            <a:r>
              <a:rPr sz="950" i="0">
                <a:solidFill>
                  <a:srgbClr val="E6EDF3"/>
                </a:solidFill>
                <a:latin typeface="Consolas"/>
              </a:rPr>
              <a:t>(city: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) -&gt;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time.sleep(</a:t>
            </a:r>
            <a:r>
              <a:rPr sz="950" i="0">
                <a:solidFill>
                  <a:srgbClr val="F9C97A"/>
                </a:solidFill>
                <a:latin typeface="Consolas"/>
              </a:rPr>
              <a:t>1</a:t>
            </a:r>
            <a:r>
              <a:rPr sz="950" i="0">
                <a:solidFill>
                  <a:srgbClr val="E6EDF3"/>
                </a:solidFill>
                <a:latin typeface="Consolas"/>
              </a:rPr>
              <a:t>)     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panggil API ekspedisi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20_000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"/shipping/{city}"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async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shipping_cost</a:t>
            </a:r>
            <a:r>
              <a:rPr sz="950" i="0">
                <a:solidFill>
                  <a:srgbClr val="E6EDF3"/>
                </a:solidFill>
                <a:latin typeface="Consolas"/>
              </a:rPr>
              <a:t>(city: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{</a:t>
            </a:r>
            <a:r>
              <a:rPr sz="950" i="0">
                <a:solidFill>
                  <a:srgbClr val="A5D6A7"/>
                </a:solidFill>
                <a:latin typeface="Consolas"/>
              </a:rPr>
              <a:t>"city"</a:t>
            </a:r>
            <a:r>
              <a:rPr sz="950" i="0">
                <a:solidFill>
                  <a:srgbClr val="E6EDF3"/>
                </a:solidFill>
                <a:latin typeface="Consolas"/>
              </a:rPr>
              <a:t>: city,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50" i="0">
                <a:solidFill>
                  <a:srgbClr val="A5D6A7"/>
                </a:solidFill>
                <a:latin typeface="Consolas"/>
              </a:rPr>
              <a:t>"cost"</a:t>
            </a:r>
            <a:r>
              <a:rPr sz="950" i="0">
                <a:solidFill>
                  <a:srgbClr val="E6EDF3"/>
                </a:solidFill>
                <a:latin typeface="Consolas"/>
              </a:rPr>
              <a:t>: fetch_shipping_cost(city)}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3 request bersamaan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-&gt; selesai dalam 3.0 detik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B5482A"/>
                </a:solidFill>
                <a:latin typeface="Consolas"/>
              </a:rPr>
              <a:t>time.sleep</a:t>
            </a:r>
            <a:r>
              <a:rPr sz="1000" b="0" i="0">
                <a:solidFill>
                  <a:srgbClr val="434343"/>
                </a:solidFill>
                <a:latin typeface="Inter"/>
              </a:rPr>
              <a:t> menghentikan event loop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Request lain ikut antre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B5482A"/>
                </a:solidFill>
                <a:latin typeface="Consolas"/>
              </a:rPr>
              <a:t>async def</a:t>
            </a:r>
            <a:r>
              <a:rPr sz="1000" b="0" i="0">
                <a:solidFill>
                  <a:srgbClr val="434343"/>
                </a:solidFill>
                <a:latin typeface="Inter"/>
              </a:rPr>
              <a:t> tidak otomatis membuat kode jadi cepat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Async IO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After: await Saat Menunggu IO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01-async-io/after.py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async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fetch_shipping_cost</a:t>
            </a:r>
            <a:r>
              <a:rPr sz="950" i="0">
                <a:solidFill>
                  <a:srgbClr val="E6EDF3"/>
                </a:solidFill>
                <a:latin typeface="Consolas"/>
              </a:rPr>
              <a:t>(city: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) -&gt;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await</a:t>
            </a:r>
            <a:r>
              <a:rPr sz="950" i="0">
                <a:solidFill>
                  <a:srgbClr val="E6EDF3"/>
                </a:solidFill>
                <a:latin typeface="Consolas"/>
              </a:rPr>
              <a:t> asyncio.sleep(</a:t>
            </a:r>
            <a:r>
              <a:rPr sz="950" i="0">
                <a:solidFill>
                  <a:srgbClr val="F9C97A"/>
                </a:solidFill>
                <a:latin typeface="Consolas"/>
              </a:rPr>
              <a:t>1</a:t>
            </a:r>
            <a:r>
              <a:rPr sz="950" i="0">
                <a:solidFill>
                  <a:srgbClr val="E6EDF3"/>
                </a:solidFill>
                <a:latin typeface="Consolas"/>
              </a:rPr>
              <a:t>)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await client.get(...)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20_000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"/shipping/{city}"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async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shipping_cost</a:t>
            </a:r>
            <a:r>
              <a:rPr sz="950" i="0">
                <a:solidFill>
                  <a:srgbClr val="E6EDF3"/>
                </a:solidFill>
                <a:latin typeface="Consolas"/>
              </a:rPr>
              <a:t>(city: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{</a:t>
            </a:r>
            <a:r>
              <a:rPr sz="950" i="0">
                <a:solidFill>
                  <a:srgbClr val="A5D6A7"/>
                </a:solidFill>
                <a:latin typeface="Consolas"/>
              </a:rPr>
              <a:t>"city"</a:t>
            </a:r>
            <a:r>
              <a:rPr sz="950" i="0">
                <a:solidFill>
                  <a:srgbClr val="E6EDF3"/>
                </a:solidFill>
                <a:latin typeface="Consolas"/>
              </a:rPr>
              <a:t>: city,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50" i="0">
                <a:solidFill>
                  <a:srgbClr val="A5D6A7"/>
                </a:solidFill>
                <a:latin typeface="Consolas"/>
              </a:rPr>
              <a:t>"cost"</a:t>
            </a:r>
            <a:r>
              <a:rPr sz="950" i="0">
                <a:solidFill>
                  <a:srgbClr val="E6EDF3"/>
                </a:solidFill>
                <a:latin typeface="Consolas"/>
              </a:rPr>
              <a:t>: </a:t>
            </a:r>
            <a:r>
              <a:rPr sz="950" i="0">
                <a:solidFill>
                  <a:srgbClr val="FF8E6E"/>
                </a:solidFill>
                <a:latin typeface="Consolas"/>
              </a:rPr>
              <a:t>await</a:t>
            </a:r>
            <a:r>
              <a:rPr sz="950" i="0">
                <a:solidFill>
                  <a:srgbClr val="E6EDF3"/>
                </a:solidFill>
                <a:latin typeface="Consolas"/>
              </a:rPr>
              <a:t> fetch_shipping_cost(city)}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3 request bersamaan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-&gt; selesai dalam 1.0 detik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Selama menunggu, request lain dilayani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Cocok untuk IO singkat: API lain, database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Library tidak async? Pakai </a:t>
            </a:r>
            <a:r>
              <a:rPr sz="1000" b="0" i="0">
                <a:solidFill>
                  <a:srgbClr val="B5482A"/>
                </a:solidFill>
                <a:latin typeface="Consolas"/>
              </a:rPr>
              <a:t>def</a:t>
            </a:r>
            <a:r>
              <a:rPr sz="1000" b="0" i="0">
                <a:solidFill>
                  <a:srgbClr val="434343"/>
                </a:solidFill>
                <a:latin typeface="Inter"/>
              </a:rPr>
              <a:t> biasa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Background Job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Apa Itu Background Job?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566160" cy="320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434343"/>
                </a:solidFill>
                <a:latin typeface="Inter"/>
              </a:rPr>
              <a:t>Pekerjaan yang dijalankan </a:t>
            </a:r>
            <a:r>
              <a:rPr sz="1050" b="1" i="0">
                <a:solidFill>
                  <a:srgbClr val="434343"/>
                </a:solidFill>
                <a:latin typeface="Inter"/>
              </a:rPr>
              <a:t>setelah</a:t>
            </a:r>
            <a:r>
              <a:rPr sz="1050" b="0" i="0">
                <a:solidFill>
                  <a:srgbClr val="434343"/>
                </a:solidFill>
                <a:latin typeface="Inter"/>
              </a:rPr>
              <a:t> response dikirim, atau oleh proses lain. Client tidak perlu menunggu pekerjaan itu selesai.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434343"/>
                </a:solidFill>
                <a:latin typeface="Inter"/>
              </a:rPr>
              <a:t>Response tetap cepat walaupun pekerjaannya lama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434343"/>
                </a:solidFill>
                <a:latin typeface="Inter"/>
              </a:rPr>
              <a:t>Gangguan di server email tidak membuat order gagal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434343"/>
                </a:solidFill>
                <a:latin typeface="Inter"/>
              </a:rPr>
              <a:t>Pekerjaan yang gagal bisa dicoba lagi</a:t>
            </a:r>
          </a:p>
        </p:txBody>
      </p:sp>
      <p:graphicFrame>
        <p:nvGraphicFramePr>
          <p:cNvPr id="23" name="Table 4"/>
          <p:cNvGraphicFramePr>
            <a:graphicFrameLocks noGrp="1"/>
          </p:cNvGraphicFramePr>
          <p:nvPr/>
        </p:nvGraphicFramePr>
        <p:xfrm>
          <a:off x="4343400" y="1572768"/>
          <a:ext cx="4142232" cy="2834640"/>
        </p:xfrm>
        <a:graphic>
          <a:graphicData uri="http://schemas.openxmlformats.org/drawingml/2006/table">
            <a:tbl>
              <a:tblPr firstRow="1" bandRow="1"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/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Inter"/>
                        </a:rPr>
                        <a:t>Async IO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Inter"/>
                        </a:rPr>
                        <a:t>Background Job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1C4587"/>
                          </a:solidFill>
                          <a:latin typeface="Inter"/>
                        </a:rPr>
                        <a:t>Hasil dibutuhkan di response?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434343"/>
                          </a:solidFill>
                          <a:latin typeface="Inter"/>
                        </a:rPr>
                        <a:t>Ya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434343"/>
                          </a:solidFill>
                          <a:latin typeface="Inter"/>
                        </a:rPr>
                        <a:t>Tidak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1C4587"/>
                          </a:solidFill>
                          <a:latin typeface="Inter"/>
                        </a:rPr>
                        <a:t>Durasi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434343"/>
                          </a:solidFill>
                          <a:latin typeface="Inter"/>
                        </a:rPr>
                        <a:t>Milidetik - detik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434343"/>
                          </a:solidFill>
                          <a:latin typeface="Inter"/>
                        </a:rPr>
                        <a:t>Detik - jam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1C4587"/>
                          </a:solidFill>
                          <a:latin typeface="Inter"/>
                        </a:rPr>
                        <a:t>Contoh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434343"/>
                          </a:solidFill>
                          <a:latin typeface="Inter"/>
                        </a:rPr>
                        <a:t>Cek ongkir, query database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434343"/>
                          </a:solidFill>
                          <a:latin typeface="Inter"/>
                        </a:rPr>
                        <a:t>Kirim email, report, resize gambar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1C4587"/>
                          </a:solidFill>
                          <a:latin typeface="Inter"/>
                        </a:rPr>
                        <a:t>Kalau gagal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434343"/>
                          </a:solidFill>
                          <a:latin typeface="Inter"/>
                        </a:rPr>
                        <a:t>Client langsung dapat error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434343"/>
                          </a:solidFill>
                          <a:latin typeface="Inter"/>
                        </a:rPr>
                        <a:t>Dicoba lagi di belakang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Background Job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Before: Email Dikirim di Dalam Request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02-background-tasks/before.py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send_email</a:t>
            </a:r>
            <a:r>
              <a:rPr sz="950" i="0">
                <a:solidFill>
                  <a:srgbClr val="E6EDF3"/>
                </a:solidFill>
                <a:latin typeface="Consolas"/>
              </a:rPr>
              <a:t>(to: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, message: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) -&gt; </a:t>
            </a:r>
            <a:r>
              <a:rPr sz="950" i="0">
                <a:solidFill>
                  <a:srgbClr val="FF8E6E"/>
                </a:solidFill>
                <a:latin typeface="Consolas"/>
              </a:rPr>
              <a:t>None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time.sleep(</a:t>
            </a:r>
            <a:r>
              <a:rPr sz="950" i="0">
                <a:solidFill>
                  <a:srgbClr val="F9C97A"/>
                </a:solidFill>
                <a:latin typeface="Consolas"/>
              </a:rPr>
              <a:t>3</a:t>
            </a:r>
            <a:r>
              <a:rPr sz="950" i="0">
                <a:solidFill>
                  <a:srgbClr val="E6EDF3"/>
                </a:solidFill>
                <a:latin typeface="Consolas"/>
              </a:rPr>
              <a:t>)         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kirim lewat SMTP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C3A6FF"/>
                </a:solidFill>
                <a:latin typeface="Consolas"/>
              </a:rPr>
              <a:t>print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f"[EMAIL] ke {to}: {message}"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@app.post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"/orders"</a:t>
            </a:r>
            <a:r>
              <a:rPr sz="950" i="0">
                <a:solidFill>
                  <a:srgbClr val="E6EDF3"/>
                </a:solidFill>
                <a:latin typeface="Consolas"/>
              </a:rPr>
              <a:t>, status_code=</a:t>
            </a:r>
            <a:r>
              <a:rPr sz="950" i="0">
                <a:solidFill>
                  <a:srgbClr val="F9C97A"/>
                </a:solidFill>
                <a:latin typeface="Consolas"/>
              </a:rPr>
              <a:t>201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create_order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(customer: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, total: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order = {</a:t>
            </a:r>
            <a:r>
              <a:rPr sz="950" i="0">
                <a:solidFill>
                  <a:srgbClr val="A5D6A7"/>
                </a:solidFill>
                <a:latin typeface="Consolas"/>
              </a:rPr>
              <a:t>"id"</a:t>
            </a:r>
            <a:r>
              <a:rPr sz="950" i="0">
                <a:solidFill>
                  <a:srgbClr val="E6EDF3"/>
                </a:solidFill>
                <a:latin typeface="Consolas"/>
              </a:rPr>
              <a:t>: </a:t>
            </a:r>
            <a:r>
              <a:rPr sz="950" i="0">
                <a:solidFill>
                  <a:srgbClr val="C3A6FF"/>
                </a:solidFill>
                <a:latin typeface="Consolas"/>
              </a:rPr>
              <a:t>len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7FDBCA"/>
                </a:solidFill>
                <a:latin typeface="Consolas"/>
              </a:rPr>
              <a:t>ORDERS</a:t>
            </a:r>
            <a:r>
              <a:rPr sz="950" i="0">
                <a:solidFill>
                  <a:srgbClr val="E6EDF3"/>
                </a:solidFill>
                <a:latin typeface="Consolas"/>
              </a:rPr>
              <a:t>) + </a:t>
            </a:r>
            <a:r>
              <a:rPr sz="950" i="0">
                <a:solidFill>
                  <a:srgbClr val="F9C97A"/>
                </a:solidFill>
                <a:latin typeface="Consolas"/>
              </a:rPr>
              <a:t>1</a:t>
            </a:r>
            <a:r>
              <a:rPr sz="950" i="0">
                <a:solidFill>
                  <a:srgbClr val="E6EDF3"/>
                </a:solidFill>
                <a:latin typeface="Consolas"/>
              </a:rPr>
              <a:t>, </a:t>
            </a:r>
            <a:r>
              <a:rPr sz="950" i="0">
                <a:solidFill>
                  <a:srgbClr val="A5D6A7"/>
                </a:solidFill>
                <a:latin typeface="Consolas"/>
              </a:rPr>
              <a:t>"customer"</a:t>
            </a:r>
            <a:r>
              <a:rPr sz="950" i="0">
                <a:solidFill>
                  <a:srgbClr val="E6EDF3"/>
                </a:solidFill>
                <a:latin typeface="Consolas"/>
              </a:rPr>
              <a:t>: customer}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send_email(customer, </a:t>
            </a:r>
            <a:r>
              <a:rPr sz="950" i="0">
                <a:solidFill>
                  <a:srgbClr val="A5D6A7"/>
                </a:solidFill>
                <a:latin typeface="Consolas"/>
              </a:rPr>
              <a:t>f"Order #{order['id']} berhasil"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order          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setelah 3 detik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Client menunggu email terkirim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Server email lambat = order ikut lambat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Server email mati = order gagal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Background Job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After: Dikirim Setelah Response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02-background-tasks/after.py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@app.post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"/orders"</a:t>
            </a:r>
            <a:r>
              <a:rPr sz="950" i="0">
                <a:solidFill>
                  <a:srgbClr val="E6EDF3"/>
                </a:solidFill>
                <a:latin typeface="Consolas"/>
              </a:rPr>
              <a:t>, status_code=</a:t>
            </a:r>
            <a:r>
              <a:rPr sz="950" i="0">
                <a:solidFill>
                  <a:srgbClr val="F9C97A"/>
                </a:solidFill>
                <a:latin typeface="Consolas"/>
              </a:rPr>
              <a:t>201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create_order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(customer: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, total: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     background_tasks: </a:t>
            </a:r>
            <a:r>
              <a:rPr sz="950" i="0">
                <a:solidFill>
                  <a:srgbClr val="7FDBCA"/>
                </a:solidFill>
                <a:latin typeface="Consolas"/>
              </a:rPr>
              <a:t>BackgroundTasks</a:t>
            </a:r>
            <a:r>
              <a:rPr sz="950" i="0">
                <a:solidFill>
                  <a:srgbClr val="E6EDF3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order = {</a:t>
            </a:r>
            <a:r>
              <a:rPr sz="950" i="0">
                <a:solidFill>
                  <a:srgbClr val="A5D6A7"/>
                </a:solidFill>
                <a:latin typeface="Consolas"/>
              </a:rPr>
              <a:t>"id"</a:t>
            </a:r>
            <a:r>
              <a:rPr sz="950" i="0">
                <a:solidFill>
                  <a:srgbClr val="E6EDF3"/>
                </a:solidFill>
                <a:latin typeface="Consolas"/>
              </a:rPr>
              <a:t>: </a:t>
            </a:r>
            <a:r>
              <a:rPr sz="950" i="0">
                <a:solidFill>
                  <a:srgbClr val="C3A6FF"/>
                </a:solidFill>
                <a:latin typeface="Consolas"/>
              </a:rPr>
              <a:t>len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7FDBCA"/>
                </a:solidFill>
                <a:latin typeface="Consolas"/>
              </a:rPr>
              <a:t>ORDERS</a:t>
            </a:r>
            <a:r>
              <a:rPr sz="950" i="0">
                <a:solidFill>
                  <a:srgbClr val="E6EDF3"/>
                </a:solidFill>
                <a:latin typeface="Consolas"/>
              </a:rPr>
              <a:t>) + </a:t>
            </a:r>
            <a:r>
              <a:rPr sz="950" i="0">
                <a:solidFill>
                  <a:srgbClr val="F9C97A"/>
                </a:solidFill>
                <a:latin typeface="Consolas"/>
              </a:rPr>
              <a:t>1</a:t>
            </a:r>
            <a:r>
              <a:rPr sz="950" i="0">
                <a:solidFill>
                  <a:srgbClr val="E6EDF3"/>
                </a:solidFill>
                <a:latin typeface="Consolas"/>
              </a:rPr>
              <a:t>, </a:t>
            </a:r>
            <a:r>
              <a:rPr sz="950" i="0">
                <a:solidFill>
                  <a:srgbClr val="A5D6A7"/>
                </a:solidFill>
                <a:latin typeface="Consolas"/>
              </a:rPr>
              <a:t>"customer"</a:t>
            </a:r>
            <a:r>
              <a:rPr sz="950" i="0">
                <a:solidFill>
                  <a:srgbClr val="E6EDF3"/>
                </a:solidFill>
                <a:latin typeface="Consolas"/>
              </a:rPr>
              <a:t>: customer}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background_tasks.add_task(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send_email, customer, </a:t>
            </a:r>
            <a:r>
              <a:rPr sz="950" i="0">
                <a:solidFill>
                  <a:srgbClr val="A5D6A7"/>
                </a:solidFill>
                <a:latin typeface="Consolas"/>
              </a:rPr>
              <a:t>f"Order #{order['id']} berhasil"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order          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langsung dikirim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Response langsung keluar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Email menyusul setelah response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Cocok untuk pekerjaan ringan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CFE0FA"/>
                </a:solidFill>
                <a:latin typeface="Inter"/>
              </a:rPr>
              <a:t>Bagian 02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Work Sans ExtraBold"/>
              </a:rPr>
              <a:t>Celery Architecture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2743200"/>
            <a:ext cx="6583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E3ECFA"/>
                </a:solidFill>
                <a:latin typeface="Inter"/>
              </a:rPr>
              <a:t>Broker, worker, dan result backend dengan Redis.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Celery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Apa Itu Celery?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931920" cy="320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434343"/>
                </a:solidFill>
                <a:latin typeface="Inter"/>
              </a:rPr>
              <a:t>Library Python untuk menjalankan task di </a:t>
            </a:r>
            <a:r>
              <a:rPr sz="1050" b="1" i="0">
                <a:solidFill>
                  <a:srgbClr val="434343"/>
                </a:solidFill>
                <a:latin typeface="Inter"/>
              </a:rPr>
              <a:t>worker</a:t>
            </a:r>
            <a:r>
              <a:rPr sz="1050" b="0" i="0">
                <a:solidFill>
                  <a:srgbClr val="434343"/>
                </a:solidFill>
                <a:latin typeface="Inter"/>
              </a:rPr>
              <a:t>, yaitu proses terpisah dari API. Job dikirim lewat </a:t>
            </a:r>
            <a:r>
              <a:rPr sz="1050" b="1" i="0">
                <a:solidFill>
                  <a:srgbClr val="434343"/>
                </a:solidFill>
                <a:latin typeface="Inter"/>
              </a:rPr>
              <a:t>broker</a:t>
            </a:r>
            <a:r>
              <a:rPr sz="1050" b="0" i="0">
                <a:solidFill>
                  <a:srgbClr val="434343"/>
                </a:solidFill>
                <a:latin typeface="Inter"/>
              </a:rPr>
              <a:t> (antrean), status dan hasilnya disimpan di </a:t>
            </a:r>
            <a:r>
              <a:rPr sz="1050" b="1" i="0">
                <a:solidFill>
                  <a:srgbClr val="434343"/>
                </a:solidFill>
                <a:latin typeface="Inter"/>
              </a:rPr>
              <a:t>result backend</a:t>
            </a:r>
            <a:r>
              <a:rPr sz="1050" b="0" i="0">
                <a:solidFill>
                  <a:srgbClr val="434343"/>
                </a:solidFill>
                <a:latin typeface="Inter"/>
              </a:rPr>
              <a:t>. Keduanya bisa memakai Redis.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434343"/>
                </a:solidFill>
                <a:latin typeface="Inter"/>
              </a:rPr>
              <a:t>Pekerjaan berat tidak membebani proses API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434343"/>
                </a:solidFill>
                <a:latin typeface="Inter"/>
              </a:rPr>
              <a:t>Job tetap ada di antrean walaupun API restart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434343"/>
                </a:solidFill>
                <a:latin typeface="Inter"/>
              </a:rPr>
              <a:t>Worker bisa ditambah kalau job makin banyak</a:t>
            </a:r>
          </a:p>
        </p:txBody>
      </p:sp>
      <p:sp>
        <p:nvSpPr>
          <p:cNvPr id="23" name="Box 4"/>
          <p:cNvSpPr/>
          <p:nvPr/>
        </p:nvSpPr>
        <p:spPr>
          <a:xfrm>
            <a:off x="4937760" y="1554480"/>
            <a:ext cx="3547872" cy="411480"/>
          </a:xfrm>
          <a:prstGeom prst="roundRect">
            <a:avLst>
              <a:gd name="adj" fmla="val 26666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Inter"/>
              </a:rPr>
              <a:t>FastAPI  ·  task.delay()</a:t>
            </a:r>
          </a:p>
        </p:txBody>
      </p:sp>
      <p:sp>
        <p:nvSpPr>
          <p:cNvPr id="24" name="Box 5"/>
          <p:cNvSpPr/>
          <p:nvPr/>
        </p:nvSpPr>
        <p:spPr>
          <a:xfrm>
            <a:off x="4937760" y="2221991"/>
            <a:ext cx="3547872" cy="411480"/>
          </a:xfrm>
          <a:prstGeom prst="roundRect">
            <a:avLst>
              <a:gd name="adj" fmla="val 26666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 i="0">
                <a:solidFill>
                  <a:srgbClr val="1C4587"/>
                </a:solidFill>
                <a:latin typeface="Inter"/>
              </a:rPr>
              <a:t>Redis  ·  broker (antrean job)</a:t>
            </a:r>
          </a:p>
        </p:txBody>
      </p:sp>
      <p:cxnSp>
        <p:nvCxnSpPr>
          <p:cNvPr id="25" name="Arrow 6"/>
          <p:cNvCxnSpPr/>
          <p:nvPr/>
        </p:nvCxnSpPr>
        <p:spPr>
          <a:xfrm>
            <a:off x="6711696" y="1965959"/>
            <a:ext cx="0" cy="256032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Box 7"/>
          <p:cNvSpPr/>
          <p:nvPr/>
        </p:nvSpPr>
        <p:spPr>
          <a:xfrm>
            <a:off x="4937760" y="2889504"/>
            <a:ext cx="3547872" cy="411480"/>
          </a:xfrm>
          <a:prstGeom prst="roundRect">
            <a:avLst>
              <a:gd name="adj" fmla="val 26666"/>
            </a:avLst>
          </a:prstGeom>
          <a:solidFill>
            <a:srgbClr val="1C4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Inter"/>
              </a:rPr>
              <a:t>Celery worker  ·  mengerjakan task</a:t>
            </a:r>
          </a:p>
        </p:txBody>
      </p:sp>
      <p:cxnSp>
        <p:nvCxnSpPr>
          <p:cNvPr id="27" name="Arrow 8"/>
          <p:cNvCxnSpPr/>
          <p:nvPr/>
        </p:nvCxnSpPr>
        <p:spPr>
          <a:xfrm>
            <a:off x="6711696" y="2633472"/>
            <a:ext cx="0" cy="256032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Box 9"/>
          <p:cNvSpPr/>
          <p:nvPr/>
        </p:nvSpPr>
        <p:spPr>
          <a:xfrm>
            <a:off x="4937760" y="3557015"/>
            <a:ext cx="3547872" cy="411480"/>
          </a:xfrm>
          <a:prstGeom prst="roundRect">
            <a:avLst>
              <a:gd name="adj" fmla="val 26666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 i="0">
                <a:solidFill>
                  <a:srgbClr val="1C4587"/>
                </a:solidFill>
                <a:latin typeface="Inter"/>
              </a:rPr>
              <a:t>Redis  ·  result backend (status &amp; hasil)</a:t>
            </a:r>
          </a:p>
        </p:txBody>
      </p:sp>
      <p:cxnSp>
        <p:nvCxnSpPr>
          <p:cNvPr id="29" name="Arrow 10"/>
          <p:cNvCxnSpPr/>
          <p:nvPr/>
        </p:nvCxnSpPr>
        <p:spPr>
          <a:xfrm>
            <a:off x="6711696" y="3300983"/>
            <a:ext cx="0" cy="256032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11"/>
          <p:cNvSpPr txBox="1"/>
          <p:nvPr/>
        </p:nvSpPr>
        <p:spPr>
          <a:xfrm>
            <a:off x="4937760" y="4206240"/>
            <a:ext cx="354787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A7A7A"/>
                </a:solidFill>
                <a:latin typeface="Inter"/>
              </a:rPr>
              <a:t>FastAPI membaca status &amp; hasil dari result backend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Celery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Before: Report Dibuat di Proses API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03-celery/before.py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generate_sales_report</a:t>
            </a:r>
            <a:r>
              <a:rPr sz="950" i="0">
                <a:solidFill>
                  <a:srgbClr val="E6EDF3"/>
                </a:solidFill>
                <a:latin typeface="Consolas"/>
              </a:rPr>
              <a:t>(month: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) -&gt; </a:t>
            </a:r>
            <a:r>
              <a:rPr sz="950" i="0">
                <a:solidFill>
                  <a:srgbClr val="C3A6FF"/>
                </a:solidFill>
                <a:latin typeface="Consolas"/>
              </a:rPr>
              <a:t>dict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time.sleep(</a:t>
            </a:r>
            <a:r>
              <a:rPr sz="950" i="0">
                <a:solidFill>
                  <a:srgbClr val="F9C97A"/>
                </a:solidFill>
                <a:latin typeface="Consolas"/>
              </a:rPr>
              <a:t>10</a:t>
            </a:r>
            <a:r>
              <a:rPr sz="950" i="0">
                <a:solidFill>
                  <a:srgbClr val="E6EDF3"/>
                </a:solidFill>
                <a:latin typeface="Consolas"/>
              </a:rPr>
              <a:t>)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query &amp; hitung order sebulan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{</a:t>
            </a:r>
            <a:r>
              <a:rPr sz="950" i="0">
                <a:solidFill>
                  <a:srgbClr val="A5D6A7"/>
                </a:solidFill>
                <a:latin typeface="Consolas"/>
              </a:rPr>
              <a:t>"month"</a:t>
            </a:r>
            <a:r>
              <a:rPr sz="950" i="0">
                <a:solidFill>
                  <a:srgbClr val="E6EDF3"/>
                </a:solidFill>
                <a:latin typeface="Consolas"/>
              </a:rPr>
              <a:t>: month, </a:t>
            </a:r>
            <a:r>
              <a:rPr sz="950" i="0">
                <a:solidFill>
                  <a:srgbClr val="A5D6A7"/>
                </a:solidFill>
                <a:latin typeface="Consolas"/>
              </a:rPr>
              <a:t>"orders"</a:t>
            </a:r>
            <a:r>
              <a:rPr sz="950" i="0">
                <a:solidFill>
                  <a:srgbClr val="E6EDF3"/>
                </a:solidFill>
                <a:latin typeface="Consolas"/>
              </a:rPr>
              <a:t>: </a:t>
            </a:r>
            <a:r>
              <a:rPr sz="950" i="0">
                <a:solidFill>
                  <a:srgbClr val="F9C97A"/>
                </a:solidFill>
                <a:latin typeface="Consolas"/>
              </a:rPr>
              <a:t>120</a:t>
            </a:r>
            <a:r>
              <a:rPr sz="950" i="0">
                <a:solidFill>
                  <a:srgbClr val="E6EDF3"/>
                </a:solidFill>
                <a:latin typeface="Consolas"/>
              </a:rPr>
              <a:t>, ...}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@app.post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"/reports/sales"</a:t>
            </a:r>
            <a:r>
              <a:rPr sz="950" i="0">
                <a:solidFill>
                  <a:srgbClr val="E6EDF3"/>
                </a:solidFill>
                <a:latin typeface="Consolas"/>
              </a:rPr>
              <a:t>, status_code=</a:t>
            </a:r>
            <a:r>
              <a:rPr sz="950" i="0">
                <a:solidFill>
                  <a:srgbClr val="F9C97A"/>
                </a:solidFill>
                <a:latin typeface="Consolas"/>
              </a:rPr>
              <a:t>202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create_sales_report</a:t>
            </a:r>
            <a:r>
              <a:rPr sz="950" i="0">
                <a:solidFill>
                  <a:srgbClr val="E6EDF3"/>
                </a:solidFill>
                <a:latin typeface="Consolas"/>
              </a:rPr>
              <a:t>(month: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            background_tasks: </a:t>
            </a:r>
            <a:r>
              <a:rPr sz="950" i="0">
                <a:solidFill>
                  <a:srgbClr val="7FDBCA"/>
                </a:solidFill>
                <a:latin typeface="Consolas"/>
              </a:rPr>
              <a:t>BackgroundTasks</a:t>
            </a:r>
            <a:r>
              <a:rPr sz="950" i="0">
                <a:solidFill>
                  <a:srgbClr val="E6EDF3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background_tasks.add_task(generate_sales_report, month)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{</a:t>
            </a:r>
            <a:r>
              <a:rPr sz="950" i="0">
                <a:solidFill>
                  <a:srgbClr val="A5D6A7"/>
                </a:solidFill>
                <a:latin typeface="Consolas"/>
              </a:rPr>
              <a:t>"message"</a:t>
            </a:r>
            <a:r>
              <a:rPr sz="950" i="0">
                <a:solidFill>
                  <a:srgbClr val="E6EDF3"/>
                </a:solidFill>
                <a:latin typeface="Consolas"/>
              </a:rPr>
              <a:t>: </a:t>
            </a:r>
            <a:r>
              <a:rPr sz="950" i="0">
                <a:solidFill>
                  <a:srgbClr val="A5D6A7"/>
                </a:solidFill>
                <a:latin typeface="Consolas"/>
              </a:rPr>
              <a:t>"Report sedang dibuat"</a:t>
            </a:r>
            <a:r>
              <a:rPr sz="950" i="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CPU proses API dipakai bersama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Server restart = report hilang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Tidak ada retry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Tidak bisa cek sudah selesai atau belum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Celery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After: Job Dikirim ke Worker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03-celery/after.py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celery_app = </a:t>
            </a:r>
            <a:r>
              <a:rPr sz="900" i="0">
                <a:solidFill>
                  <a:srgbClr val="7FDBCA"/>
                </a:solidFill>
                <a:latin typeface="Consolas"/>
              </a:rPr>
              <a:t>Celery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"demo"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        broker=</a:t>
            </a:r>
            <a:r>
              <a:rPr sz="900" i="0">
                <a:solidFill>
                  <a:srgbClr val="A5D6A7"/>
                </a:solidFill>
                <a:latin typeface="Consolas"/>
              </a:rPr>
              <a:t>"redis://localhost:6379/0"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        backend=</a:t>
            </a:r>
            <a:r>
              <a:rPr sz="900" i="0">
                <a:solidFill>
                  <a:srgbClr val="A5D6A7"/>
                </a:solidFill>
                <a:latin typeface="Consolas"/>
              </a:rPr>
              <a:t>"redis://localhost:6379/1"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@celery_app.task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generate_sales_report</a:t>
            </a:r>
            <a:r>
              <a:rPr sz="900" i="0">
                <a:solidFill>
                  <a:srgbClr val="E6EDF3"/>
                </a:solidFill>
                <a:latin typeface="Consolas"/>
              </a:rPr>
              <a:t>(month: 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  <a:r>
              <a:rPr sz="900" i="0">
                <a:solidFill>
                  <a:srgbClr val="E6EDF3"/>
                </a:solidFill>
                <a:latin typeface="Consolas"/>
              </a:rPr>
              <a:t>) -&gt; </a:t>
            </a:r>
            <a:r>
              <a:rPr sz="900" i="0">
                <a:solidFill>
                  <a:srgbClr val="C3A6FF"/>
                </a:solidFill>
                <a:latin typeface="Consolas"/>
              </a:rPr>
              <a:t>dict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time.sleep(</a:t>
            </a:r>
            <a:r>
              <a:rPr sz="900" i="0">
                <a:solidFill>
                  <a:srgbClr val="F9C97A"/>
                </a:solidFill>
                <a:latin typeface="Consolas"/>
              </a:rPr>
              <a:t>10</a:t>
            </a:r>
            <a:r>
              <a:rPr sz="900" i="0">
                <a:solidFill>
                  <a:srgbClr val="E6EDF3"/>
                </a:solidFill>
                <a:latin typeface="Consolas"/>
              </a:rPr>
              <a:t>)      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dikerjakan worker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{</a:t>
            </a:r>
            <a:r>
              <a:rPr sz="900" i="0">
                <a:solidFill>
                  <a:srgbClr val="A5D6A7"/>
                </a:solidFill>
                <a:latin typeface="Consolas"/>
              </a:rPr>
              <a:t>"month"</a:t>
            </a:r>
            <a:r>
              <a:rPr sz="900" i="0">
                <a:solidFill>
                  <a:srgbClr val="E6EDF3"/>
                </a:solidFill>
                <a:latin typeface="Consolas"/>
              </a:rPr>
              <a:t>: month, </a:t>
            </a:r>
            <a:r>
              <a:rPr sz="900" i="0">
                <a:solidFill>
                  <a:srgbClr val="A5D6A7"/>
                </a:solidFill>
                <a:latin typeface="Consolas"/>
              </a:rPr>
              <a:t>"orders"</a:t>
            </a:r>
            <a:r>
              <a:rPr sz="900" i="0">
                <a:solidFill>
                  <a:srgbClr val="E6EDF3"/>
                </a:solidFill>
                <a:latin typeface="Consolas"/>
              </a:rPr>
              <a:t>: </a:t>
            </a:r>
            <a:r>
              <a:rPr sz="900" i="0">
                <a:solidFill>
                  <a:srgbClr val="F9C97A"/>
                </a:solidFill>
                <a:latin typeface="Consolas"/>
              </a:rPr>
              <a:t>120</a:t>
            </a:r>
            <a:r>
              <a:rPr sz="900" i="0">
                <a:solidFill>
                  <a:srgbClr val="E6EDF3"/>
                </a:solidFill>
                <a:latin typeface="Consolas"/>
              </a:rPr>
              <a:t>, ...}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@app.post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"/reports/sales"</a:t>
            </a:r>
            <a:r>
              <a:rPr sz="900" i="0">
                <a:solidFill>
                  <a:srgbClr val="E6EDF3"/>
                </a:solidFill>
                <a:latin typeface="Consolas"/>
              </a:rPr>
              <a:t>, status_code=</a:t>
            </a:r>
            <a:r>
              <a:rPr sz="900" i="0">
                <a:solidFill>
                  <a:srgbClr val="F9C97A"/>
                </a:solidFill>
                <a:latin typeface="Consolas"/>
              </a:rPr>
              <a:t>202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create_sales_report</a:t>
            </a:r>
            <a:r>
              <a:rPr sz="900" i="0">
                <a:solidFill>
                  <a:srgbClr val="E6EDF3"/>
                </a:solidFill>
                <a:latin typeface="Consolas"/>
              </a:rPr>
              <a:t>(month: 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  <a:r>
              <a:rPr sz="900" i="0">
                <a:solidFill>
                  <a:srgbClr val="E6EDF3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task = generate_sales_report.delay(month)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antrean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{</a:t>
            </a:r>
            <a:r>
              <a:rPr sz="900" i="0">
                <a:solidFill>
                  <a:srgbClr val="A5D6A7"/>
                </a:solidFill>
                <a:latin typeface="Consolas"/>
              </a:rPr>
              <a:t>"task_id"</a:t>
            </a:r>
            <a:r>
              <a:rPr sz="900" i="0">
                <a:solidFill>
                  <a:srgbClr val="E6EDF3"/>
                </a:solidFill>
                <a:latin typeface="Consolas"/>
              </a:rPr>
              <a:t>: task.id}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API cuma menaruh job ke antrean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Job tersimpan di Redis, tidak hilang saat API restart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Worker bisa ditambah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Celery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Tiga Proses yang Berjalan Bersamaan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terminal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terminal 1: Redis (broker + result backend)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docker compose up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950" i="0">
              <a:solidFill>
                <a:srgbClr val="E6EDF3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terminal 2: worker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celery -A after:celery_app worker --loglevel=info --pool=solo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950" i="0">
              <a:solidFill>
                <a:srgbClr val="E6EDF3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terminal 3: API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uvicorn after:app --reload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Yang perlu diingat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Worker adalah proses terpisah dari API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Kode task berubah = restart worker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B5482A"/>
                </a:solidFill>
                <a:latin typeface="Consolas"/>
              </a:rPr>
              <a:t>--pool=solo</a:t>
            </a:r>
            <a:r>
              <a:rPr sz="1000" b="0" i="0">
                <a:solidFill>
                  <a:srgbClr val="434343"/>
                </a:solidFill>
                <a:latin typeface="Inter"/>
              </a:rPr>
              <a:t> diperlukan di Windows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Redis mati = job tidak bisa masuk antrean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Task Status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Before: Status Disimpan di Memory API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04-task-status/before.py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7FDBCA"/>
                </a:solidFill>
                <a:latin typeface="Consolas"/>
              </a:rPr>
              <a:t>JOBS</a:t>
            </a:r>
            <a:r>
              <a:rPr sz="950" i="0">
                <a:solidFill>
                  <a:srgbClr val="E6EDF3"/>
                </a:solidFill>
                <a:latin typeface="Consolas"/>
              </a:rPr>
              <a:t>: </a:t>
            </a:r>
            <a:r>
              <a:rPr sz="950" i="0">
                <a:solidFill>
                  <a:srgbClr val="C3A6FF"/>
                </a:solidFill>
                <a:latin typeface="Consolas"/>
              </a:rPr>
              <a:t>dict</a:t>
            </a:r>
            <a:r>
              <a:rPr sz="950" i="0">
                <a:solidFill>
                  <a:srgbClr val="E6EDF3"/>
                </a:solidFill>
                <a:latin typeface="Consolas"/>
              </a:rPr>
              <a:t>[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,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] = {}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memory proses API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@celery_app.task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generate_sales_report</a:t>
            </a:r>
            <a:r>
              <a:rPr sz="950" i="0">
                <a:solidFill>
                  <a:srgbClr val="E6EDF3"/>
                </a:solidFill>
                <a:latin typeface="Consolas"/>
              </a:rPr>
              <a:t>(job_id: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, month: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7FDBCA"/>
                </a:solidFill>
                <a:latin typeface="Consolas"/>
              </a:rPr>
              <a:t>JOBS</a:t>
            </a:r>
            <a:r>
              <a:rPr sz="950" i="0">
                <a:solidFill>
                  <a:srgbClr val="E6EDF3"/>
                </a:solidFill>
                <a:latin typeface="Consolas"/>
              </a:rPr>
              <a:t>[job_id] = </a:t>
            </a:r>
            <a:r>
              <a:rPr sz="950" i="0">
                <a:solidFill>
                  <a:srgbClr val="A5D6A7"/>
                </a:solidFill>
                <a:latin typeface="Consolas"/>
              </a:rPr>
              <a:t>"running"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memory proses WORKER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7FDBCA"/>
                </a:solidFill>
                <a:latin typeface="Consolas"/>
              </a:rPr>
              <a:t>JOBS</a:t>
            </a:r>
            <a:r>
              <a:rPr sz="950" i="0">
                <a:solidFill>
                  <a:srgbClr val="E6EDF3"/>
                </a:solidFill>
                <a:latin typeface="Consolas"/>
              </a:rPr>
              <a:t>[job_id] = </a:t>
            </a:r>
            <a:r>
              <a:rPr sz="950" i="0">
                <a:solidFill>
                  <a:srgbClr val="A5D6A7"/>
                </a:solidFill>
                <a:latin typeface="Consolas"/>
              </a:rPr>
              <a:t>"done"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"/reports/{job_id}"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get_report</a:t>
            </a:r>
            <a:r>
              <a:rPr sz="950" i="0">
                <a:solidFill>
                  <a:srgbClr val="E6EDF3"/>
                </a:solidFill>
                <a:latin typeface="Consolas"/>
              </a:rPr>
              <a:t>(job_id: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{</a:t>
            </a:r>
            <a:r>
              <a:rPr sz="950" i="0">
                <a:solidFill>
                  <a:srgbClr val="A5D6A7"/>
                </a:solidFill>
                <a:latin typeface="Consolas"/>
              </a:rPr>
              <a:t>"status"</a:t>
            </a:r>
            <a:r>
              <a:rPr sz="950" i="0">
                <a:solidFill>
                  <a:srgbClr val="E6EDF3"/>
                </a:solidFill>
                <a:latin typeface="Consolas"/>
              </a:rPr>
              <a:t>: </a:t>
            </a:r>
            <a:r>
              <a:rPr sz="950" i="0">
                <a:solidFill>
                  <a:srgbClr val="7FDBCA"/>
                </a:solidFill>
                <a:latin typeface="Consolas"/>
              </a:rPr>
              <a:t>JOBS</a:t>
            </a:r>
            <a:r>
              <a:rPr sz="950" i="0">
                <a:solidFill>
                  <a:srgbClr val="E6EDF3"/>
                </a:solidFill>
                <a:latin typeface="Consolas"/>
              </a:rPr>
              <a:t>.get(job_id)}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selalu "pending"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API dan worker adalah dua proses berbeda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Status tidak pernah berubah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Hasil report tidak bisa diambil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Task Status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After: Status dari Result Backend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04-task-status/after.py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celery_app.conf.task_track_started = </a:t>
            </a:r>
            <a:r>
              <a:rPr sz="950" i="0">
                <a:solidFill>
                  <a:srgbClr val="FF8E6E"/>
                </a:solidFill>
                <a:latin typeface="Consolas"/>
              </a:rPr>
              <a:t>True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7FDBCA"/>
                </a:solidFill>
                <a:latin typeface="Consolas"/>
              </a:rPr>
              <a:t>STATUS</a:t>
            </a:r>
            <a:r>
              <a:rPr sz="950" i="0">
                <a:solidFill>
                  <a:srgbClr val="E6EDF3"/>
                </a:solidFill>
                <a:latin typeface="Consolas"/>
              </a:rPr>
              <a:t> = {</a:t>
            </a:r>
            <a:r>
              <a:rPr sz="950" i="0">
                <a:solidFill>
                  <a:srgbClr val="A5D6A7"/>
                </a:solidFill>
                <a:latin typeface="Consolas"/>
              </a:rPr>
              <a:t>"PENDING"</a:t>
            </a:r>
            <a:r>
              <a:rPr sz="950" i="0">
                <a:solidFill>
                  <a:srgbClr val="E6EDF3"/>
                </a:solidFill>
                <a:latin typeface="Consolas"/>
              </a:rPr>
              <a:t>: </a:t>
            </a:r>
            <a:r>
              <a:rPr sz="950" i="0">
                <a:solidFill>
                  <a:srgbClr val="A5D6A7"/>
                </a:solidFill>
                <a:latin typeface="Consolas"/>
              </a:rPr>
              <a:t>"pending"</a:t>
            </a:r>
            <a:r>
              <a:rPr sz="950" i="0">
                <a:solidFill>
                  <a:srgbClr val="E6EDF3"/>
                </a:solidFill>
                <a:latin typeface="Consolas"/>
              </a:rPr>
              <a:t>, </a:t>
            </a:r>
            <a:r>
              <a:rPr sz="950" i="0">
                <a:solidFill>
                  <a:srgbClr val="A5D6A7"/>
                </a:solidFill>
                <a:latin typeface="Consolas"/>
              </a:rPr>
              <a:t>"STARTED"</a:t>
            </a:r>
            <a:r>
              <a:rPr sz="950" i="0">
                <a:solidFill>
                  <a:srgbClr val="E6EDF3"/>
                </a:solidFill>
                <a:latin typeface="Consolas"/>
              </a:rPr>
              <a:t>: </a:t>
            </a:r>
            <a:r>
              <a:rPr sz="950" i="0">
                <a:solidFill>
                  <a:srgbClr val="A5D6A7"/>
                </a:solidFill>
                <a:latin typeface="Consolas"/>
              </a:rPr>
              <a:t>"running"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</a:t>
            </a:r>
            <a:r>
              <a:rPr sz="950" i="0">
                <a:solidFill>
                  <a:srgbClr val="A5D6A7"/>
                </a:solidFill>
                <a:latin typeface="Consolas"/>
              </a:rPr>
              <a:t>"RETRY"</a:t>
            </a:r>
            <a:r>
              <a:rPr sz="950" i="0">
                <a:solidFill>
                  <a:srgbClr val="E6EDF3"/>
                </a:solidFill>
                <a:latin typeface="Consolas"/>
              </a:rPr>
              <a:t>: </a:t>
            </a:r>
            <a:r>
              <a:rPr sz="950" i="0">
                <a:solidFill>
                  <a:srgbClr val="A5D6A7"/>
                </a:solidFill>
                <a:latin typeface="Consolas"/>
              </a:rPr>
              <a:t>"retrying"</a:t>
            </a:r>
            <a:r>
              <a:rPr sz="950" i="0">
                <a:solidFill>
                  <a:srgbClr val="E6EDF3"/>
                </a:solidFill>
                <a:latin typeface="Consolas"/>
              </a:rPr>
              <a:t>, </a:t>
            </a:r>
            <a:r>
              <a:rPr sz="950" i="0">
                <a:solidFill>
                  <a:srgbClr val="A5D6A7"/>
                </a:solidFill>
                <a:latin typeface="Consolas"/>
              </a:rPr>
              <a:t>"SUCCESS"</a:t>
            </a:r>
            <a:r>
              <a:rPr sz="950" i="0">
                <a:solidFill>
                  <a:srgbClr val="E6EDF3"/>
                </a:solidFill>
                <a:latin typeface="Consolas"/>
              </a:rPr>
              <a:t>: </a:t>
            </a:r>
            <a:r>
              <a:rPr sz="950" i="0">
                <a:solidFill>
                  <a:srgbClr val="A5D6A7"/>
                </a:solidFill>
                <a:latin typeface="Consolas"/>
              </a:rPr>
              <a:t>"done"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</a:t>
            </a:r>
            <a:r>
              <a:rPr sz="950" i="0">
                <a:solidFill>
                  <a:srgbClr val="A5D6A7"/>
                </a:solidFill>
                <a:latin typeface="Consolas"/>
              </a:rPr>
              <a:t>"FAILURE"</a:t>
            </a:r>
            <a:r>
              <a:rPr sz="950" i="0">
                <a:solidFill>
                  <a:srgbClr val="E6EDF3"/>
                </a:solidFill>
                <a:latin typeface="Consolas"/>
              </a:rPr>
              <a:t>: </a:t>
            </a:r>
            <a:r>
              <a:rPr sz="950" i="0">
                <a:solidFill>
                  <a:srgbClr val="A5D6A7"/>
                </a:solidFill>
                <a:latin typeface="Consolas"/>
              </a:rPr>
              <a:t>"failed"</a:t>
            </a:r>
            <a:r>
              <a:rPr sz="950" i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"/reports/{task_id}"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get_report</a:t>
            </a:r>
            <a:r>
              <a:rPr sz="950" i="0">
                <a:solidFill>
                  <a:srgbClr val="E6EDF3"/>
                </a:solidFill>
                <a:latin typeface="Consolas"/>
              </a:rPr>
              <a:t>(task_id: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r = </a:t>
            </a:r>
            <a:r>
              <a:rPr sz="950" i="0">
                <a:solidFill>
                  <a:srgbClr val="7FDBCA"/>
                </a:solidFill>
                <a:latin typeface="Consolas"/>
              </a:rPr>
              <a:t>AsyncResult</a:t>
            </a:r>
            <a:r>
              <a:rPr sz="950" i="0">
                <a:solidFill>
                  <a:srgbClr val="E6EDF3"/>
                </a:solidFill>
                <a:latin typeface="Consolas"/>
              </a:rPr>
              <a:t>(task_id, app=celery_app)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{</a:t>
            </a:r>
            <a:r>
              <a:rPr sz="950" i="0">
                <a:solidFill>
                  <a:srgbClr val="A5D6A7"/>
                </a:solidFill>
                <a:latin typeface="Consolas"/>
              </a:rPr>
              <a:t>"status"</a:t>
            </a:r>
            <a:r>
              <a:rPr sz="950" i="0">
                <a:solidFill>
                  <a:srgbClr val="E6EDF3"/>
                </a:solidFill>
                <a:latin typeface="Consolas"/>
              </a:rPr>
              <a:t>: </a:t>
            </a:r>
            <a:r>
              <a:rPr sz="950" i="0">
                <a:solidFill>
                  <a:srgbClr val="7FDBCA"/>
                </a:solidFill>
                <a:latin typeface="Consolas"/>
              </a:rPr>
              <a:t>STATUS</a:t>
            </a:r>
            <a:r>
              <a:rPr sz="950" i="0">
                <a:solidFill>
                  <a:srgbClr val="E6EDF3"/>
                </a:solidFill>
                <a:latin typeface="Consolas"/>
              </a:rPr>
              <a:t>.get(r.state),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50" i="0">
                <a:solidFill>
                  <a:srgbClr val="A5D6A7"/>
                </a:solidFill>
                <a:latin typeface="Consolas"/>
              </a:rPr>
              <a:t>"result"</a:t>
            </a:r>
            <a:r>
              <a:rPr sz="950" i="0">
                <a:solidFill>
                  <a:srgbClr val="E6EDF3"/>
                </a:solidFill>
                <a:latin typeface="Consolas"/>
              </a:rPr>
              <a:t>: r.result </a:t>
            </a:r>
            <a:r>
              <a:rPr sz="950" i="0">
                <a:solidFill>
                  <a:srgbClr val="FF8E6E"/>
                </a:solidFill>
                <a:latin typeface="Consolas"/>
              </a:rPr>
              <a:t>if</a:t>
            </a:r>
            <a:r>
              <a:rPr sz="950" i="0">
                <a:solidFill>
                  <a:srgbClr val="E6EDF3"/>
                </a:solidFill>
                <a:latin typeface="Consolas"/>
              </a:rPr>
              <a:t> r.successful() </a:t>
            </a:r>
            <a:r>
              <a:rPr sz="950" i="0">
                <a:solidFill>
                  <a:srgbClr val="FF8E6E"/>
                </a:solidFill>
                <a:latin typeface="Consolas"/>
              </a:rPr>
              <a:t>else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F8E6E"/>
                </a:solidFill>
                <a:latin typeface="Consolas"/>
              </a:rPr>
              <a:t>None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50" i="0">
                <a:solidFill>
                  <a:srgbClr val="A5D6A7"/>
                </a:solidFill>
                <a:latin typeface="Consolas"/>
              </a:rPr>
              <a:t>"error"</a:t>
            </a:r>
            <a:r>
              <a:rPr sz="950" i="0">
                <a:solidFill>
                  <a:srgbClr val="E6EDF3"/>
                </a:solidFill>
                <a:latin typeface="Consolas"/>
              </a:rPr>
              <a:t>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(r.result) </a:t>
            </a:r>
            <a:r>
              <a:rPr sz="950" i="0">
                <a:solidFill>
                  <a:srgbClr val="FF8E6E"/>
                </a:solidFill>
                <a:latin typeface="Consolas"/>
              </a:rPr>
              <a:t>if</a:t>
            </a:r>
            <a:r>
              <a:rPr sz="950" i="0">
                <a:solidFill>
                  <a:srgbClr val="E6EDF3"/>
                </a:solidFill>
                <a:latin typeface="Consolas"/>
              </a:rPr>
              <a:t> r.failed() </a:t>
            </a:r>
            <a:r>
              <a:rPr sz="950" i="0">
                <a:solidFill>
                  <a:srgbClr val="FF8E6E"/>
                </a:solidFill>
                <a:latin typeface="Consolas"/>
              </a:rPr>
              <a:t>else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F8E6E"/>
                </a:solidFill>
                <a:latin typeface="Consolas"/>
              </a:rPr>
              <a:t>None</a:t>
            </a:r>
            <a:r>
              <a:rPr sz="950" i="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Status dibaca dari Redis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API dan worker melihat data yang sama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Hasil dan error bisa diambil client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CFE0FA"/>
                </a:solidFill>
                <a:latin typeface="Inter"/>
              </a:rPr>
              <a:t>Bagian 03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Work Sans ExtraBold"/>
              </a:rPr>
              <a:t>Retry, Timeout, Idempotency &amp; Failure Handling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3246120"/>
            <a:ext cx="6583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E3ECFA"/>
                </a:solidFill>
                <a:latin typeface="Inter"/>
              </a:rPr>
              <a:t>Job yang gagal dicoba lagi, tidak dobel, dan ketahuan kalau gagal.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Retry &amp; Timeout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Before: Sekali Gagal, Langsung Selesai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05-retry-timeout/before.py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@celery_app.task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send_order_email</a:t>
            </a:r>
            <a:r>
              <a:rPr sz="950" i="0">
                <a:solidFill>
                  <a:srgbClr val="E6EDF3"/>
                </a:solidFill>
                <a:latin typeface="Consolas"/>
              </a:rPr>
              <a:t>(to: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, message: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) -&gt; </a:t>
            </a:r>
            <a:r>
              <a:rPr sz="950" i="0">
                <a:solidFill>
                  <a:srgbClr val="FF8E6E"/>
                </a:solidFill>
                <a:latin typeface="Consolas"/>
              </a:rPr>
              <a:t>None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send_email(to, message)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server email gangguan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result = send_order_email.delay(</a:t>
            </a:r>
            <a:r>
              <a:rPr sz="950" i="0">
                <a:solidFill>
                  <a:srgbClr val="A5D6A7"/>
                </a:solidFill>
                <a:latin typeface="Consolas"/>
              </a:rPr>
              <a:t>"budi@mail.com"</a:t>
            </a:r>
            <a:r>
              <a:rPr sz="950" i="0">
                <a:solidFill>
                  <a:srgbClr val="E6EDF3"/>
                </a:solidFill>
                <a:latin typeface="Consolas"/>
              </a:rPr>
              <a:t>, </a:t>
            </a:r>
            <a:r>
              <a:rPr sz="950" i="0">
                <a:solidFill>
                  <a:srgbClr val="A5D6A7"/>
                </a:solidFill>
                <a:latin typeface="Consolas"/>
              </a:rPr>
              <a:t>"..."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  percobaan 1: gagal, server email timeout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Status: FAILURE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Gangguan sementara langsung dianggap gagal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Email tidak pernah terkirim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Tanpa batas waktu, worker bisa tertahan selamanya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Retry &amp; Timeout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After: Retry dengan Backoff dan Time Limit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05-retry-timeout/after.py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@celery_app.task</a:t>
            </a:r>
            <a:r>
              <a:rPr sz="900" i="0">
                <a:solidFill>
                  <a:srgbClr val="E6EDF3"/>
                </a:solidFill>
                <a:latin typeface="Consolas"/>
              </a:rPr>
              <a:t>(autoretry_for=(</a:t>
            </a:r>
            <a:r>
              <a:rPr sz="900" i="0">
                <a:solidFill>
                  <a:srgbClr val="7FDBCA"/>
                </a:solidFill>
                <a:latin typeface="Consolas"/>
              </a:rPr>
              <a:t>EmailServiceDown</a:t>
            </a:r>
            <a:r>
              <a:rPr sz="900" i="0">
                <a:solidFill>
                  <a:srgbClr val="E6EDF3"/>
                </a:solidFill>
                <a:latin typeface="Consolas"/>
              </a:rPr>
              <a:t>,),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     retry_backoff=</a:t>
            </a:r>
            <a:r>
              <a:rPr sz="900" i="0">
                <a:solidFill>
                  <a:srgbClr val="FF8E6E"/>
                </a:solidFill>
                <a:latin typeface="Consolas"/>
              </a:rPr>
              <a:t>True</a:t>
            </a:r>
            <a:r>
              <a:rPr sz="900" i="0">
                <a:solidFill>
                  <a:srgbClr val="E6EDF3"/>
                </a:solidFill>
                <a:latin typeface="Consolas"/>
              </a:rPr>
              <a:t>, max_retries=</a:t>
            </a:r>
            <a:r>
              <a:rPr sz="900" i="0">
                <a:solidFill>
                  <a:srgbClr val="F9C97A"/>
                </a:solidFill>
                <a:latin typeface="Consolas"/>
              </a:rPr>
              <a:t>3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     soft_time_limit=</a:t>
            </a:r>
            <a:r>
              <a:rPr sz="900" i="0">
                <a:solidFill>
                  <a:srgbClr val="F9C97A"/>
                </a:solidFill>
                <a:latin typeface="Consolas"/>
              </a:rPr>
              <a:t>10</a:t>
            </a:r>
            <a:r>
              <a:rPr sz="900" i="0">
                <a:solidFill>
                  <a:srgbClr val="E6EDF3"/>
                </a:solidFill>
                <a:latin typeface="Consolas"/>
              </a:rPr>
              <a:t>, time_limit=</a:t>
            </a:r>
            <a:r>
              <a:rPr sz="900" i="0">
                <a:solidFill>
                  <a:srgbClr val="F9C97A"/>
                </a:solidFill>
                <a:latin typeface="Consolas"/>
              </a:rPr>
              <a:t>15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send_order_email</a:t>
            </a:r>
            <a:r>
              <a:rPr sz="900" i="0">
                <a:solidFill>
                  <a:srgbClr val="E6EDF3"/>
                </a:solidFill>
                <a:latin typeface="Consolas"/>
              </a:rPr>
              <a:t>(to: 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  <a:r>
              <a:rPr sz="900" i="0">
                <a:solidFill>
                  <a:srgbClr val="E6EDF3"/>
                </a:solidFill>
                <a:latin typeface="Consolas"/>
              </a:rPr>
              <a:t>, message: 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  <a:r>
              <a:rPr sz="900" i="0">
                <a:solidFill>
                  <a:srgbClr val="E6EDF3"/>
                </a:solidFill>
                <a:latin typeface="Consolas"/>
              </a:rPr>
              <a:t>) -&gt; </a:t>
            </a:r>
            <a:r>
              <a:rPr sz="900" i="0">
                <a:solidFill>
                  <a:srgbClr val="FF8E6E"/>
                </a:solidFill>
                <a:latin typeface="Consolas"/>
              </a:rPr>
              <a:t>None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send_email(to, message)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  percobaan 1: gagal, server email timeout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  percobaan 2: gagal, server email timeout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  percobaan 3: [EMAIL] ke budi@mail.com: Order #1 berhasil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Status: SUCCESS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Retry hanya untuk error sementara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Jeda retry makin lama (backoff)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Task yang hang dihentikan oleh time limit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Idempotency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Apa Itu Idempotency?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931920" cy="320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434343"/>
                </a:solidFill>
                <a:latin typeface="Inter"/>
              </a:rPr>
              <a:t>Sifat operasi yang hasil akhirnya </a:t>
            </a:r>
            <a:r>
              <a:rPr sz="1050" b="1" i="0">
                <a:solidFill>
                  <a:srgbClr val="434343"/>
                </a:solidFill>
                <a:latin typeface="Inter"/>
              </a:rPr>
              <a:t>sama</a:t>
            </a:r>
            <a:r>
              <a:rPr sz="1050" b="0" i="0">
                <a:solidFill>
                  <a:srgbClr val="434343"/>
                </a:solidFill>
                <a:latin typeface="Inter"/>
              </a:rPr>
              <a:t>, walaupun dijalankan sekali atau berkali-kali. Biasanya memakai </a:t>
            </a:r>
            <a:r>
              <a:rPr sz="1050" b="1" i="0">
                <a:solidFill>
                  <a:srgbClr val="434343"/>
                </a:solidFill>
                <a:latin typeface="Inter"/>
              </a:rPr>
              <a:t>idempotency key</a:t>
            </a:r>
            <a:r>
              <a:rPr sz="1050" b="0" i="0">
                <a:solidFill>
                  <a:srgbClr val="434343"/>
                </a:solidFill>
                <a:latin typeface="Inter"/>
              </a:rPr>
              <a:t>, yaitu penanda unik untuk satu pekerjaan.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434343"/>
                </a:solidFill>
                <a:latin typeface="Inter"/>
              </a:rPr>
              <a:t>Retry tidak membuat email terkirim dua kali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434343"/>
                </a:solidFill>
                <a:latin typeface="Inter"/>
              </a:rPr>
              <a:t>Job yang masuk antrean dua kali tetap aman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434343"/>
                </a:solidFill>
                <a:latin typeface="Inter"/>
              </a:rPr>
              <a:t>Worker mati di tengah job, job bisa diulang dengan aman</a:t>
            </a:r>
          </a:p>
        </p:txBody>
      </p:sp>
      <p:sp>
        <p:nvSpPr>
          <p:cNvPr id="23" name="Box 4"/>
          <p:cNvSpPr/>
          <p:nvPr/>
        </p:nvSpPr>
        <p:spPr>
          <a:xfrm>
            <a:off x="4937760" y="1554480"/>
            <a:ext cx="1700784" cy="411480"/>
          </a:xfrm>
          <a:prstGeom prst="roundRect">
            <a:avLst>
              <a:gd name="adj" fmla="val 26666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 i="0">
                <a:solidFill>
                  <a:srgbClr val="1C4587"/>
                </a:solidFill>
                <a:latin typeface="Inter"/>
              </a:rPr>
              <a:t>job: email Order #1</a:t>
            </a:r>
          </a:p>
        </p:txBody>
      </p:sp>
      <p:sp>
        <p:nvSpPr>
          <p:cNvPr id="24" name="Box 5"/>
          <p:cNvSpPr/>
          <p:nvPr/>
        </p:nvSpPr>
        <p:spPr>
          <a:xfrm>
            <a:off x="6784848" y="1554480"/>
            <a:ext cx="1700784" cy="411480"/>
          </a:xfrm>
          <a:prstGeom prst="roundRect">
            <a:avLst>
              <a:gd name="adj" fmla="val 26666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 i="0">
                <a:solidFill>
                  <a:srgbClr val="1C4587"/>
                </a:solidFill>
                <a:latin typeface="Inter"/>
              </a:rPr>
              <a:t>job yang sama (retry)</a:t>
            </a:r>
          </a:p>
        </p:txBody>
      </p:sp>
      <p:cxnSp>
        <p:nvCxnSpPr>
          <p:cNvPr id="25" name="Arrow 6"/>
          <p:cNvCxnSpPr/>
          <p:nvPr/>
        </p:nvCxnSpPr>
        <p:spPr>
          <a:xfrm>
            <a:off x="5788152" y="1965960"/>
            <a:ext cx="612648" cy="36576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Arrow 7"/>
          <p:cNvCxnSpPr/>
          <p:nvPr/>
        </p:nvCxnSpPr>
        <p:spPr>
          <a:xfrm flipH="1">
            <a:off x="7022592" y="1965960"/>
            <a:ext cx="612648" cy="36576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Box 8"/>
          <p:cNvSpPr/>
          <p:nvPr/>
        </p:nvSpPr>
        <p:spPr>
          <a:xfrm>
            <a:off x="4937760" y="2331720"/>
            <a:ext cx="3547872" cy="457200"/>
          </a:xfrm>
          <a:prstGeom prst="roundRect">
            <a:avLst>
              <a:gd name="adj" fmla="val 24000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Inter"/>
              </a:rPr>
              <a:t>key payment-email:1 sudah ada?</a:t>
            </a:r>
          </a:p>
        </p:txBody>
      </p:sp>
      <p:cxnSp>
        <p:nvCxnSpPr>
          <p:cNvPr id="28" name="Arrow 9"/>
          <p:cNvCxnSpPr/>
          <p:nvPr/>
        </p:nvCxnSpPr>
        <p:spPr>
          <a:xfrm>
            <a:off x="5788152" y="2788920"/>
            <a:ext cx="0" cy="36576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rrow 10"/>
          <p:cNvCxnSpPr/>
          <p:nvPr/>
        </p:nvCxnSpPr>
        <p:spPr>
          <a:xfrm>
            <a:off x="7635240" y="2788920"/>
            <a:ext cx="0" cy="36576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Box 11"/>
          <p:cNvSpPr/>
          <p:nvPr/>
        </p:nvSpPr>
        <p:spPr>
          <a:xfrm>
            <a:off x="4937760" y="3154680"/>
            <a:ext cx="1700784" cy="640080"/>
          </a:xfrm>
          <a:prstGeom prst="roundRect">
            <a:avLst>
              <a:gd name="adj" fmla="val 17142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 i="0">
                <a:solidFill>
                  <a:srgbClr val="2E7D5B"/>
                </a:solidFill>
                <a:latin typeface="Inter"/>
              </a:rPr>
              <a:t>belum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 i="0">
                <a:solidFill>
                  <a:srgbClr val="2E7D5B"/>
                </a:solidFill>
                <a:latin typeface="Inter"/>
              </a:rPr>
              <a:t>kirim email + simpan key</a:t>
            </a:r>
          </a:p>
        </p:txBody>
      </p:sp>
      <p:sp>
        <p:nvSpPr>
          <p:cNvPr id="31" name="Box 12"/>
          <p:cNvSpPr/>
          <p:nvPr/>
        </p:nvSpPr>
        <p:spPr>
          <a:xfrm>
            <a:off x="6784848" y="3154680"/>
            <a:ext cx="1700784" cy="640080"/>
          </a:xfrm>
          <a:prstGeom prst="roundRect">
            <a:avLst>
              <a:gd name="adj" fmla="val 1714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 i="0">
                <a:solidFill>
                  <a:srgbClr val="1C4587"/>
                </a:solidFill>
                <a:latin typeface="Inter"/>
              </a:rPr>
              <a:t>sudah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 i="0">
                <a:solidFill>
                  <a:srgbClr val="1C4587"/>
                </a:solidFill>
                <a:latin typeface="Inter"/>
              </a:rPr>
              <a:t>lewati (skip)</a:t>
            </a:r>
          </a:p>
        </p:txBody>
      </p:sp>
      <p:sp>
        <p:nvSpPr>
          <p:cNvPr id="32" name="Text 13"/>
          <p:cNvSpPr txBox="1"/>
          <p:nvPr/>
        </p:nvSpPr>
        <p:spPr>
          <a:xfrm>
            <a:off x="4937760" y="3977639"/>
            <a:ext cx="354787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7A7A"/>
                </a:solidFill>
                <a:latin typeface="Inter"/>
              </a:rPr>
              <a:t>Hasilnya: customer menerima 1 email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Idempotency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Before: Retry Mengirim Email Lagi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06-idempotency/before.py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@celery_app.task</a:t>
            </a:r>
            <a:r>
              <a:rPr sz="950" i="0">
                <a:solidFill>
                  <a:srgbClr val="E6EDF3"/>
                </a:solidFill>
                <a:latin typeface="Consolas"/>
              </a:rPr>
              <a:t>(autoretry_for=(</a:t>
            </a:r>
            <a:r>
              <a:rPr sz="950" i="0">
                <a:solidFill>
                  <a:srgbClr val="7FDBCA"/>
                </a:solidFill>
                <a:latin typeface="Consolas"/>
              </a:rPr>
              <a:t>ConnectionError</a:t>
            </a:r>
            <a:r>
              <a:rPr sz="950" i="0">
                <a:solidFill>
                  <a:srgbClr val="E6EDF3"/>
                </a:solidFill>
                <a:latin typeface="Consolas"/>
              </a:rPr>
              <a:t>,),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     max_retries=</a:t>
            </a:r>
            <a:r>
              <a:rPr sz="950" i="0">
                <a:solidFill>
                  <a:srgbClr val="F9C97A"/>
                </a:solidFill>
                <a:latin typeface="Consolas"/>
              </a:rPr>
              <a:t>3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send_payment_email</a:t>
            </a:r>
            <a:r>
              <a:rPr sz="950" i="0">
                <a:solidFill>
                  <a:srgbClr val="E6EDF3"/>
                </a:solidFill>
                <a:latin typeface="Consolas"/>
              </a:rPr>
              <a:t>(order_id: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, to: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) -&gt; </a:t>
            </a:r>
            <a:r>
              <a:rPr sz="950" i="0">
                <a:solidFill>
                  <a:srgbClr val="FF8E6E"/>
                </a:solidFill>
                <a:latin typeface="Consolas"/>
              </a:rPr>
              <a:t>None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send_email(to, </a:t>
            </a:r>
            <a:r>
              <a:rPr sz="950" i="0">
                <a:solidFill>
                  <a:srgbClr val="A5D6A7"/>
                </a:solidFill>
                <a:latin typeface="Consolas"/>
              </a:rPr>
              <a:t>f"Order #{order_id} sudah dibayar"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save_email_log(order_id)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gagal sekali -&gt; retry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send_payment_email.delay(</a:t>
            </a:r>
            <a:r>
              <a:rPr sz="950" i="0">
                <a:solidFill>
                  <a:srgbClr val="F9C97A"/>
                </a:solidFill>
                <a:latin typeface="Consolas"/>
              </a:rPr>
              <a:t>1</a:t>
            </a:r>
            <a:r>
              <a:rPr sz="950" i="0">
                <a:solidFill>
                  <a:srgbClr val="E6EDF3"/>
                </a:solidFill>
                <a:latin typeface="Consolas"/>
              </a:rPr>
              <a:t>, </a:t>
            </a:r>
            <a:r>
              <a:rPr sz="950" i="0">
                <a:solidFill>
                  <a:srgbClr val="A5D6A7"/>
                </a:solidFill>
                <a:latin typeface="Consolas"/>
              </a:rPr>
              <a:t>"budi@mail.com"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[EMAIL] ke budi@mail.com: Order #1 sudah dibayar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[EMAIL] ke budi@mail.com: Order #1 sudah dibayar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Retry mengulang task dari awal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Email yang sudah terkirim dikirim lagi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Customer menerima email dobel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Idempotency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After: Cek Idempotency Key Dulu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06-idempotency/after.py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@celery_app.task</a:t>
            </a:r>
            <a:r>
              <a:rPr sz="950" i="0">
                <a:solidFill>
                  <a:srgbClr val="E6EDF3"/>
                </a:solidFill>
                <a:latin typeface="Consolas"/>
              </a:rPr>
              <a:t>(autoretry_for=(</a:t>
            </a:r>
            <a:r>
              <a:rPr sz="950" i="0">
                <a:solidFill>
                  <a:srgbClr val="7FDBCA"/>
                </a:solidFill>
                <a:latin typeface="Consolas"/>
              </a:rPr>
              <a:t>ConnectionError</a:t>
            </a:r>
            <a:r>
              <a:rPr sz="950" i="0">
                <a:solidFill>
                  <a:srgbClr val="E6EDF3"/>
                </a:solidFill>
                <a:latin typeface="Consolas"/>
              </a:rPr>
              <a:t>,),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     max_retries=</a:t>
            </a:r>
            <a:r>
              <a:rPr sz="950" i="0">
                <a:solidFill>
                  <a:srgbClr val="F9C97A"/>
                </a:solidFill>
                <a:latin typeface="Consolas"/>
              </a:rPr>
              <a:t>3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send_payment_email</a:t>
            </a:r>
            <a:r>
              <a:rPr sz="950" i="0">
                <a:solidFill>
                  <a:srgbClr val="E6EDF3"/>
                </a:solidFill>
                <a:latin typeface="Consolas"/>
              </a:rPr>
              <a:t>(order_id: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, to: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) -&gt; </a:t>
            </a:r>
            <a:r>
              <a:rPr sz="950" i="0">
                <a:solidFill>
                  <a:srgbClr val="FF8E6E"/>
                </a:solidFill>
                <a:latin typeface="Consolas"/>
              </a:rPr>
              <a:t>None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key = </a:t>
            </a:r>
            <a:r>
              <a:rPr sz="950" i="0">
                <a:solidFill>
                  <a:srgbClr val="A5D6A7"/>
                </a:solidFill>
                <a:latin typeface="Consolas"/>
              </a:rPr>
              <a:t>f"payment-email:{order_id}"</a:t>
            </a:r>
            <a:r>
              <a:rPr sz="950" i="0">
                <a:solidFill>
                  <a:srgbClr val="E6EDF3"/>
                </a:solidFill>
                <a:latin typeface="Consolas"/>
              </a:rPr>
              <a:t>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idempotency key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if</a:t>
            </a:r>
            <a:r>
              <a:rPr sz="950" i="0">
                <a:solidFill>
                  <a:srgbClr val="E6EDF3"/>
                </a:solidFill>
                <a:latin typeface="Consolas"/>
              </a:rPr>
              <a:t> key </a:t>
            </a:r>
            <a:r>
              <a:rPr sz="950" i="0">
                <a:solidFill>
                  <a:srgbClr val="FF8E6E"/>
                </a:solidFill>
                <a:latin typeface="Consolas"/>
              </a:rPr>
              <a:t>in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SENT_KEYS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C3A6FF"/>
                </a:solidFill>
                <a:latin typeface="Consolas"/>
              </a:rPr>
              <a:t>print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f"[SKIP] {key} sudah terkirim"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else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send_email(to, </a:t>
            </a:r>
            <a:r>
              <a:rPr sz="950" i="0">
                <a:solidFill>
                  <a:srgbClr val="A5D6A7"/>
                </a:solidFill>
                <a:latin typeface="Consolas"/>
              </a:rPr>
              <a:t>f"Order #{order_id} sudah dibayar"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7FDBCA"/>
                </a:solidFill>
                <a:latin typeface="Consolas"/>
              </a:rPr>
              <a:t>SENT_KEYS</a:t>
            </a:r>
            <a:r>
              <a:rPr sz="950" i="0">
                <a:solidFill>
                  <a:srgbClr val="E6EDF3"/>
                </a:solidFill>
                <a:latin typeface="Consolas"/>
              </a:rPr>
              <a:t>.add(key)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save_email_log(order_id)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Email yang diterima customer: 1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Retry dan job dobel tetap aman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Key disimpan di database atau Redis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Key ditandai segera setelah email terkirim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Failure Handling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Before: Error Ditelan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07-failure-handling/before.py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@celery_app.task</a:t>
            </a:r>
            <a:r>
              <a:rPr sz="950" i="0">
                <a:solidFill>
                  <a:srgbClr val="E6EDF3"/>
                </a:solidFill>
                <a:latin typeface="Consolas"/>
              </a:rPr>
              <a:t>(autoretry_for=(</a:t>
            </a:r>
            <a:r>
              <a:rPr sz="950" i="0">
                <a:solidFill>
                  <a:srgbClr val="7FDBCA"/>
                </a:solidFill>
                <a:latin typeface="Consolas"/>
              </a:rPr>
              <a:t>EmailServiceDown</a:t>
            </a:r>
            <a:r>
              <a:rPr sz="950" i="0">
                <a:solidFill>
                  <a:srgbClr val="E6EDF3"/>
                </a:solidFill>
                <a:latin typeface="Consolas"/>
              </a:rPr>
              <a:t>,),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     max_retries=</a:t>
            </a:r>
            <a:r>
              <a:rPr sz="950" i="0">
                <a:solidFill>
                  <a:srgbClr val="F9C97A"/>
                </a:solidFill>
                <a:latin typeface="Consolas"/>
              </a:rPr>
              <a:t>3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send_order_email</a:t>
            </a:r>
            <a:r>
              <a:rPr sz="950" i="0">
                <a:solidFill>
                  <a:srgbClr val="E6EDF3"/>
                </a:solidFill>
                <a:latin typeface="Consolas"/>
              </a:rPr>
              <a:t>(to: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, message: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) -&gt; </a:t>
            </a:r>
            <a:r>
              <a:rPr sz="950" i="0">
                <a:solidFill>
                  <a:srgbClr val="FF8E6E"/>
                </a:solidFill>
                <a:latin typeface="Consolas"/>
              </a:rPr>
              <a:t>None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try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send_email(to, message)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except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Exception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F8E6E"/>
                </a:solidFill>
                <a:latin typeface="Consolas"/>
              </a:rPr>
              <a:t>as</a:t>
            </a:r>
            <a:r>
              <a:rPr sz="950" i="0">
                <a:solidFill>
                  <a:srgbClr val="E6EDF3"/>
                </a:solidFill>
                <a:latin typeface="Consolas"/>
              </a:rPr>
              <a:t>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C3A6FF"/>
                </a:solidFill>
                <a:latin typeface="Consolas"/>
              </a:rPr>
              <a:t>print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"error:"</a:t>
            </a:r>
            <a:r>
              <a:rPr sz="950" i="0">
                <a:solidFill>
                  <a:srgbClr val="E6EDF3"/>
                </a:solidFill>
                <a:latin typeface="Consolas"/>
              </a:rPr>
              <a:t>, e)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error ditelan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error: Server email tidak bisa dihubungi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Status: SUCCESS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Retry tidak pernah jalan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Status SUCCESS padahal gagal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Tidak ada yang tahu, tidak bisa dijalankan ulang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Failure Handling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After: Gagal Tercatat dan Ketahuan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07-failure-handling/after.py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class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AlertingTask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7FDBCA"/>
                </a:solidFill>
                <a:latin typeface="Consolas"/>
              </a:rPr>
              <a:t>Task</a:t>
            </a:r>
            <a:r>
              <a:rPr sz="850" i="0">
                <a:solidFill>
                  <a:srgbClr val="E6EDF3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on_failure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, exc, task_id, args, kwargs, einfo):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7FDBCA"/>
                </a:solidFill>
                <a:latin typeface="Consolas"/>
              </a:rPr>
              <a:t>FAILED_JOBS</a:t>
            </a:r>
            <a:r>
              <a:rPr sz="850" i="0">
                <a:solidFill>
                  <a:srgbClr val="E6EDF3"/>
                </a:solidFill>
                <a:latin typeface="Consolas"/>
              </a:rPr>
              <a:t>.append({</a:t>
            </a:r>
            <a:r>
              <a:rPr sz="850" i="0">
                <a:solidFill>
                  <a:srgbClr val="A5D6A7"/>
                </a:solidFill>
                <a:latin typeface="Consolas"/>
              </a:rPr>
              <a:t>"task"</a:t>
            </a:r>
            <a:r>
              <a:rPr sz="850" i="0">
                <a:solidFill>
                  <a:srgbClr val="E6EDF3"/>
                </a:solidFill>
                <a:latin typeface="Consolas"/>
              </a:rPr>
              <a:t>: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.name, </a:t>
            </a:r>
            <a:r>
              <a:rPr sz="850" i="0">
                <a:solidFill>
                  <a:srgbClr val="A5D6A7"/>
                </a:solidFill>
                <a:latin typeface="Consolas"/>
              </a:rPr>
              <a:t>"args"</a:t>
            </a:r>
            <a:r>
              <a:rPr sz="850" i="0">
                <a:solidFill>
                  <a:srgbClr val="E6EDF3"/>
                </a:solidFill>
                <a:latin typeface="Consolas"/>
              </a:rPr>
              <a:t>: args,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         </a:t>
            </a:r>
            <a:r>
              <a:rPr sz="850" i="0">
                <a:solidFill>
                  <a:srgbClr val="A5D6A7"/>
                </a:solidFill>
                <a:latin typeface="Consolas"/>
              </a:rPr>
              <a:t>"error"</a:t>
            </a:r>
            <a:r>
              <a:rPr sz="850" i="0">
                <a:solidFill>
                  <a:srgbClr val="E6EDF3"/>
                </a:solidFill>
                <a:latin typeface="Consolas"/>
              </a:rPr>
              <a:t>: </a:t>
            </a:r>
            <a:r>
              <a:rPr sz="850" i="0">
                <a:solidFill>
                  <a:srgbClr val="C3A6FF"/>
                </a:solidFill>
                <a:latin typeface="Consolas"/>
              </a:rPr>
              <a:t>str</a:t>
            </a:r>
            <a:r>
              <a:rPr sz="850" i="0">
                <a:solidFill>
                  <a:srgbClr val="E6EDF3"/>
                </a:solidFill>
                <a:latin typeface="Consolas"/>
              </a:rPr>
              <a:t>(exc)})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print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f"[ALERT] {self.name} gagal permanen: {exc}"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9C97A"/>
                </a:solidFill>
                <a:latin typeface="Consolas"/>
              </a:rPr>
              <a:t>@celery_app.task</a:t>
            </a:r>
            <a:r>
              <a:rPr sz="850" i="0">
                <a:solidFill>
                  <a:srgbClr val="E6EDF3"/>
                </a:solidFill>
                <a:latin typeface="Consolas"/>
              </a:rPr>
              <a:t>(base=</a:t>
            </a:r>
            <a:r>
              <a:rPr sz="850" i="0">
                <a:solidFill>
                  <a:srgbClr val="7FDBCA"/>
                </a:solidFill>
                <a:latin typeface="Consolas"/>
              </a:rPr>
              <a:t>AlertingTask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autoretry_for=(</a:t>
            </a:r>
            <a:r>
              <a:rPr sz="850" i="0">
                <a:solidFill>
                  <a:srgbClr val="7FDBCA"/>
                </a:solidFill>
                <a:latin typeface="Consolas"/>
              </a:rPr>
              <a:t>EmailServiceDown</a:t>
            </a:r>
            <a:r>
              <a:rPr sz="850" i="0">
                <a:solidFill>
                  <a:srgbClr val="E6EDF3"/>
                </a:solidFill>
                <a:latin typeface="Consolas"/>
              </a:rPr>
              <a:t>,),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retry_backoff=</a:t>
            </a:r>
            <a:r>
              <a:rPr sz="850" i="0">
                <a:solidFill>
                  <a:srgbClr val="FF8E6E"/>
                </a:solidFill>
                <a:latin typeface="Consolas"/>
              </a:rPr>
              <a:t>True</a:t>
            </a:r>
            <a:r>
              <a:rPr sz="850" i="0">
                <a:solidFill>
                  <a:srgbClr val="E6EDF3"/>
                </a:solidFill>
                <a:latin typeface="Consolas"/>
              </a:rPr>
              <a:t>, max_retries=</a:t>
            </a:r>
            <a:r>
              <a:rPr sz="850" i="0">
                <a:solidFill>
                  <a:srgbClr val="F9C97A"/>
                </a:solidFill>
                <a:latin typeface="Consolas"/>
              </a:rPr>
              <a:t>3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send_order_email</a:t>
            </a:r>
            <a:r>
              <a:rPr sz="850" i="0">
                <a:solidFill>
                  <a:srgbClr val="E6EDF3"/>
                </a:solidFill>
                <a:latin typeface="Consolas"/>
              </a:rPr>
              <a:t>(to: </a:t>
            </a:r>
            <a:r>
              <a:rPr sz="850" i="0">
                <a:solidFill>
                  <a:srgbClr val="C3A6FF"/>
                </a:solidFill>
                <a:latin typeface="Consolas"/>
              </a:rPr>
              <a:t>str</a:t>
            </a:r>
            <a:r>
              <a:rPr sz="850" i="0">
                <a:solidFill>
                  <a:srgbClr val="E6EDF3"/>
                </a:solidFill>
                <a:latin typeface="Consolas"/>
              </a:rPr>
              <a:t>, message: </a:t>
            </a:r>
            <a:r>
              <a:rPr sz="850" i="0">
                <a:solidFill>
                  <a:srgbClr val="C3A6FF"/>
                </a:solidFill>
                <a:latin typeface="Consolas"/>
              </a:rPr>
              <a:t>str</a:t>
            </a:r>
            <a:r>
              <a:rPr sz="850" i="0">
                <a:solidFill>
                  <a:srgbClr val="E6EDF3"/>
                </a:solidFill>
                <a:latin typeface="Consolas"/>
              </a:rPr>
              <a:t>) -&gt; </a:t>
            </a:r>
            <a:r>
              <a:rPr sz="850" i="0">
                <a:solidFill>
                  <a:srgbClr val="FF8E6E"/>
                </a:solidFill>
                <a:latin typeface="Consolas"/>
              </a:rPr>
              <a:t>None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send_email(to, message)           </a:t>
            </a:r>
            <a:r>
              <a:rPr sz="850" i="1">
                <a:solidFill>
                  <a:srgbClr val="8B98A8"/>
                </a:solidFill>
                <a:latin typeface="Consolas"/>
              </a:rPr>
              <a:t># tanpa try/except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Status: FAILURE, tercatat di FAILED_JOBS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Error dibiarkan naik, Celery yang retry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Status FAILURE sesuai kenyataan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434343"/>
                </a:solidFill>
                <a:latin typeface="Inter"/>
              </a:rPr>
              <a:t>Job gagal tercatat lengkap untuk dijalankan ulang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Hands-on  ·  mulai dari 08-async-jobs/before/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Asynchronous Job untuk Email &amp; Report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536192"/>
            <a:ext cx="4160520" cy="3127248"/>
          </a:xfrm>
          <a:prstGeom prst="roundRect">
            <a:avLst>
              <a:gd name="adj" fmla="val 3508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Text 4"/>
          <p:cNvSpPr txBox="1"/>
          <p:nvPr/>
        </p:nvSpPr>
        <p:spPr>
          <a:xfrm>
            <a:off x="758952" y="1627632"/>
            <a:ext cx="38862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1C4587"/>
                </a:solidFill>
                <a:latin typeface="Inter"/>
              </a:rPr>
              <a:t>Kriteria selesai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758952" y="1947672"/>
            <a:ext cx="3886200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b="0" i="0">
                <a:solidFill>
                  <a:srgbClr val="434343"/>
                </a:solidFill>
                <a:latin typeface="Inter"/>
              </a:rPr>
              <a:t>Notifikasi order lewat Celery, response tidak menunggu email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b="0" i="0">
                <a:solidFill>
                  <a:srgbClr val="B5482A"/>
                </a:solidFill>
                <a:latin typeface="Consolas"/>
              </a:rPr>
              <a:t>OrderService</a:t>
            </a:r>
            <a:r>
              <a:rPr sz="950" b="0" i="0">
                <a:solidFill>
                  <a:srgbClr val="434343"/>
                </a:solidFill>
                <a:latin typeface="Inter"/>
              </a:rPr>
              <a:t> tidak berubah, cukup adapter </a:t>
            </a:r>
            <a:r>
              <a:rPr sz="950" b="0" i="0">
                <a:solidFill>
                  <a:srgbClr val="B5482A"/>
                </a:solidFill>
                <a:latin typeface="Consolas"/>
              </a:rPr>
              <a:t>Notifier</a:t>
            </a:r>
            <a:r>
              <a:rPr sz="950" b="0" i="0">
                <a:solidFill>
                  <a:srgbClr val="434343"/>
                </a:solidFill>
                <a:latin typeface="Inter"/>
              </a:rPr>
              <a:t>-nya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b="0" i="0">
                <a:solidFill>
                  <a:srgbClr val="B5482A"/>
                </a:solidFill>
                <a:latin typeface="Consolas"/>
              </a:rPr>
              <a:t>POST /reports/sales</a:t>
            </a:r>
            <a:r>
              <a:rPr sz="950" b="0" i="0">
                <a:solidFill>
                  <a:srgbClr val="434343"/>
                </a:solidFill>
                <a:latin typeface="Inter"/>
              </a:rPr>
              <a:t> menjawab 202 dengan </a:t>
            </a:r>
            <a:r>
              <a:rPr sz="950" b="0" i="0">
                <a:solidFill>
                  <a:srgbClr val="B5482A"/>
                </a:solidFill>
                <a:latin typeface="Consolas"/>
              </a:rPr>
              <a:t>task_id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b="0" i="0">
                <a:solidFill>
                  <a:srgbClr val="B5482A"/>
                </a:solidFill>
                <a:latin typeface="Consolas"/>
              </a:rPr>
              <a:t>GET /reports/{task_id}</a:t>
            </a:r>
            <a:r>
              <a:rPr sz="950" b="0" i="0">
                <a:solidFill>
                  <a:srgbClr val="434343"/>
                </a:solidFill>
                <a:latin typeface="Inter"/>
              </a:rPr>
              <a:t> menampilkan status dan hasil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b="0" i="0">
                <a:solidFill>
                  <a:srgbClr val="434343"/>
                </a:solidFill>
                <a:latin typeface="Inter"/>
              </a:rPr>
              <a:t>Notifikasi di-retry dengan backoff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b="0" i="0">
                <a:solidFill>
                  <a:srgbClr val="434343"/>
                </a:solidFill>
                <a:latin typeface="Inter"/>
              </a:rPr>
              <a:t>Notifikasi yang sama tidak terkirim dua kali</a:t>
            </a:r>
          </a:p>
          <a:p>
            <a:pPr marL="182880" indent="-182880" algn="l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b="0" i="0">
                <a:solidFill>
                  <a:srgbClr val="434343"/>
                </a:solidFill>
                <a:latin typeface="Inter"/>
              </a:rPr>
              <a:t>Task gagal permanen tercatat di log, </a:t>
            </a:r>
            <a:r>
              <a:rPr sz="950" b="0" i="0">
                <a:solidFill>
                  <a:srgbClr val="B5482A"/>
                </a:solidFill>
                <a:latin typeface="Consolas"/>
              </a:rPr>
              <a:t>pytest</a:t>
            </a:r>
            <a:r>
              <a:rPr sz="950" b="0" i="0">
                <a:solidFill>
                  <a:srgbClr val="434343"/>
                </a:solidFill>
                <a:latin typeface="Inter"/>
              </a:rPr>
              <a:t> hijau</a:t>
            </a:r>
          </a:p>
        </p:txBody>
      </p:sp>
      <p:sp>
        <p:nvSpPr>
          <p:cNvPr id="25" name="CodeTab 7"/>
          <p:cNvSpPr/>
          <p:nvPr/>
        </p:nvSpPr>
        <p:spPr>
          <a:xfrm>
            <a:off x="4937760" y="1536192"/>
            <a:ext cx="3547872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6" name="Dot 8"/>
          <p:cNvSpPr/>
          <p:nvPr/>
        </p:nvSpPr>
        <p:spPr>
          <a:xfrm>
            <a:off x="5047488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Dot 9"/>
          <p:cNvSpPr/>
          <p:nvPr/>
        </p:nvSpPr>
        <p:spPr>
          <a:xfrm>
            <a:off x="5184648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ot 10"/>
          <p:cNvSpPr/>
          <p:nvPr/>
        </p:nvSpPr>
        <p:spPr>
          <a:xfrm>
            <a:off x="5321808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 11"/>
          <p:cNvSpPr txBox="1"/>
          <p:nvPr/>
        </p:nvSpPr>
        <p:spPr>
          <a:xfrm>
            <a:off x="5486400" y="1545336"/>
            <a:ext cx="2907791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 i="0">
                <a:solidFill>
                  <a:srgbClr val="AEB8C4"/>
                </a:solidFill>
                <a:latin typeface="Consolas"/>
              </a:rPr>
              <a:t>target struktur</a:t>
            </a:r>
          </a:p>
        </p:txBody>
      </p:sp>
      <p:sp>
        <p:nvSpPr>
          <p:cNvPr id="30" name="CodeBg 13"/>
          <p:cNvSpPr/>
          <p:nvPr/>
        </p:nvSpPr>
        <p:spPr>
          <a:xfrm>
            <a:off x="4937760" y="1773936"/>
            <a:ext cx="3547872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1" name="Code 14"/>
          <p:cNvSpPr txBox="1"/>
          <p:nvPr/>
        </p:nvSpPr>
        <p:spPr>
          <a:xfrm>
            <a:off x="4937760" y="1773936"/>
            <a:ext cx="3547872" cy="2889504"/>
          </a:xfrm>
          <a:prstGeom prst="rect">
            <a:avLst/>
          </a:prstGeom>
          <a:noFill/>
        </p:spPr>
        <p:txBody>
          <a:bodyPr wrap="none" lIns="146304" tIns="91440" rIns="146304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after/app/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application/     report_service.py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infrastructure/  notification_log.py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notifiers.py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worker/          celery_app.py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tasks.py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notifier.py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jobs.py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api/routers/     reports.py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main.py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after/tests/       test_tasks.py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E0764F"/>
                </a:solidFill>
                <a:latin typeface="Inter"/>
              </a:rPr>
              <a:t>Penutup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0" i="0">
                <a:solidFill>
                  <a:srgbClr val="1C4587"/>
                </a:solidFill>
                <a:latin typeface="Work Sans ExtraBold"/>
              </a:rPr>
              <a:t>Rangkuman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Text 4"/>
          <p:cNvSpPr txBox="1"/>
          <p:nvPr/>
        </p:nvSpPr>
        <p:spPr>
          <a:xfrm>
            <a:off x="758952" y="1645920"/>
            <a:ext cx="22494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Async IO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758952" y="1965960"/>
            <a:ext cx="2249424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B5482A"/>
                </a:solidFill>
                <a:latin typeface="Consolas"/>
              </a:rPr>
              <a:t>await</a:t>
            </a:r>
            <a:r>
              <a:rPr sz="1000" b="0" i="0">
                <a:solidFill>
                  <a:srgbClr val="434343"/>
                </a:solidFill>
                <a:latin typeface="Inter"/>
              </a:rPr>
              <a:t> saat menunggu IO, jangan blocking di </a:t>
            </a:r>
            <a:r>
              <a:rPr sz="1000" b="0" i="0">
                <a:solidFill>
                  <a:srgbClr val="B5482A"/>
                </a:solidFill>
                <a:latin typeface="Consolas"/>
              </a:rPr>
              <a:t>async def</a:t>
            </a:r>
          </a:p>
        </p:txBody>
      </p:sp>
      <p:sp>
        <p:nvSpPr>
          <p:cNvPr id="25" name="Box 6"/>
          <p:cNvSpPr/>
          <p:nvPr/>
        </p:nvSpPr>
        <p:spPr>
          <a:xfrm>
            <a:off x="3291840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6" name="Text 7"/>
          <p:cNvSpPr txBox="1"/>
          <p:nvPr/>
        </p:nvSpPr>
        <p:spPr>
          <a:xfrm>
            <a:off x="3429000" y="1645920"/>
            <a:ext cx="22494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Background Job</a:t>
            </a:r>
          </a:p>
        </p:txBody>
      </p:sp>
      <p:sp>
        <p:nvSpPr>
          <p:cNvPr id="27" name="Text 8"/>
          <p:cNvSpPr txBox="1"/>
          <p:nvPr/>
        </p:nvSpPr>
        <p:spPr>
          <a:xfrm>
            <a:off x="3429000" y="1965960"/>
            <a:ext cx="2249424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434343"/>
                </a:solidFill>
                <a:latin typeface="Inter"/>
              </a:rPr>
              <a:t>Pekerjaan yang tidak perlu ditunggu client</a:t>
            </a:r>
          </a:p>
        </p:txBody>
      </p:sp>
      <p:sp>
        <p:nvSpPr>
          <p:cNvPr id="28" name="Box 9"/>
          <p:cNvSpPr/>
          <p:nvPr/>
        </p:nvSpPr>
        <p:spPr>
          <a:xfrm>
            <a:off x="5961888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9" name="Text 10"/>
          <p:cNvSpPr txBox="1"/>
          <p:nvPr/>
        </p:nvSpPr>
        <p:spPr>
          <a:xfrm>
            <a:off x="6099048" y="1645920"/>
            <a:ext cx="22494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Celery &amp; Redis</a:t>
            </a:r>
          </a:p>
        </p:txBody>
      </p:sp>
      <p:sp>
        <p:nvSpPr>
          <p:cNvPr id="30" name="Text 11"/>
          <p:cNvSpPr txBox="1"/>
          <p:nvPr/>
        </p:nvSpPr>
        <p:spPr>
          <a:xfrm>
            <a:off x="6099048" y="1965960"/>
            <a:ext cx="2249424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434343"/>
                </a:solidFill>
                <a:latin typeface="Inter"/>
              </a:rPr>
              <a:t>Broker untuk antrean, worker mengerjakan, result backend menyimpan hasil</a:t>
            </a:r>
          </a:p>
        </p:txBody>
      </p:sp>
      <p:sp>
        <p:nvSpPr>
          <p:cNvPr id="31" name="Box 12"/>
          <p:cNvSpPr/>
          <p:nvPr/>
        </p:nvSpPr>
        <p:spPr>
          <a:xfrm>
            <a:off x="621792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2" name="Text 13"/>
          <p:cNvSpPr txBox="1"/>
          <p:nvPr/>
        </p:nvSpPr>
        <p:spPr>
          <a:xfrm>
            <a:off x="758952" y="3200400"/>
            <a:ext cx="22494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Task Status</a:t>
            </a:r>
          </a:p>
        </p:txBody>
      </p:sp>
      <p:sp>
        <p:nvSpPr>
          <p:cNvPr id="33" name="Text 14"/>
          <p:cNvSpPr txBox="1"/>
          <p:nvPr/>
        </p:nvSpPr>
        <p:spPr>
          <a:xfrm>
            <a:off x="758952" y="3520440"/>
            <a:ext cx="2249424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B5482A"/>
                </a:solidFill>
                <a:latin typeface="Consolas"/>
              </a:rPr>
              <a:t>AsyncResult</a:t>
            </a:r>
            <a:r>
              <a:rPr sz="1000" b="0" i="0">
                <a:solidFill>
                  <a:srgbClr val="434343"/>
                </a:solidFill>
                <a:latin typeface="Inter"/>
              </a:rPr>
              <a:t>: pending, running, done, failed</a:t>
            </a:r>
          </a:p>
        </p:txBody>
      </p:sp>
      <p:sp>
        <p:nvSpPr>
          <p:cNvPr id="34" name="Box 15"/>
          <p:cNvSpPr/>
          <p:nvPr/>
        </p:nvSpPr>
        <p:spPr>
          <a:xfrm>
            <a:off x="3291840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5" name="Text 16"/>
          <p:cNvSpPr txBox="1"/>
          <p:nvPr/>
        </p:nvSpPr>
        <p:spPr>
          <a:xfrm>
            <a:off x="3429000" y="3200400"/>
            <a:ext cx="22494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Retry &amp; Timeout</a:t>
            </a:r>
          </a:p>
        </p:txBody>
      </p:sp>
      <p:sp>
        <p:nvSpPr>
          <p:cNvPr id="36" name="Text 17"/>
          <p:cNvSpPr txBox="1"/>
          <p:nvPr/>
        </p:nvSpPr>
        <p:spPr>
          <a:xfrm>
            <a:off x="3429000" y="3520440"/>
            <a:ext cx="2249424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434343"/>
                </a:solidFill>
                <a:latin typeface="Inter"/>
              </a:rPr>
              <a:t>Retry untuk gangguan sementara, time limit untuk task yang hang</a:t>
            </a:r>
          </a:p>
        </p:txBody>
      </p:sp>
      <p:sp>
        <p:nvSpPr>
          <p:cNvPr id="37" name="Box 18"/>
          <p:cNvSpPr/>
          <p:nvPr/>
        </p:nvSpPr>
        <p:spPr>
          <a:xfrm>
            <a:off x="5961888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8" name="Text 19"/>
          <p:cNvSpPr txBox="1"/>
          <p:nvPr/>
        </p:nvSpPr>
        <p:spPr>
          <a:xfrm>
            <a:off x="6099048" y="3200400"/>
            <a:ext cx="22494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C4587"/>
                </a:solidFill>
                <a:latin typeface="Inter"/>
              </a:rPr>
              <a:t>Idempotency &amp; Failure</a:t>
            </a:r>
          </a:p>
        </p:txBody>
      </p:sp>
      <p:sp>
        <p:nvSpPr>
          <p:cNvPr id="39" name="Text 20"/>
          <p:cNvSpPr txBox="1"/>
          <p:nvPr/>
        </p:nvSpPr>
        <p:spPr>
          <a:xfrm>
            <a:off x="6099048" y="3520440"/>
            <a:ext cx="2249424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434343"/>
                </a:solidFill>
                <a:latin typeface="Inter"/>
              </a:rPr>
              <a:t>Key supaya tidak dobel, </a:t>
            </a:r>
            <a:r>
              <a:rPr sz="1000" b="0" i="0">
                <a:solidFill>
                  <a:srgbClr val="B5482A"/>
                </a:solidFill>
                <a:latin typeface="Consolas"/>
              </a:rPr>
              <a:t>on_failure</a:t>
            </a:r>
            <a:r>
              <a:rPr sz="1000" b="0" i="0">
                <a:solidFill>
                  <a:srgbClr val="434343"/>
                </a:solidFill>
                <a:latin typeface="Inter"/>
              </a:rPr>
              <a:t> supaya ketahuan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2907dbd872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3401" y="4399825"/>
            <a:ext cx="24498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2907dbd8723_0_0"/>
          <p:cNvSpPr txBox="1"/>
          <p:nvPr/>
        </p:nvSpPr>
        <p:spPr>
          <a:xfrm>
            <a:off x="843350" y="1097280"/>
            <a:ext cx="49770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" sz="3000" b="0" i="0" u="none" strike="noStrike" cap="none">
                <a:solidFill>
                  <a:srgbClr val="FFFFFF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Source Code</a:t>
            </a:r>
            <a:endParaRPr sz="3000" b="0" i="0" u="none" strike="noStrike" cap="none">
              <a:solidFill>
                <a:srgbClr val="FFFFFF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255" name="Google Shape;255;g2907dbd8723_0_0"/>
          <p:cNvSpPr txBox="1"/>
          <p:nvPr/>
        </p:nvSpPr>
        <p:spPr>
          <a:xfrm>
            <a:off x="1230650" y="1934520"/>
            <a:ext cx="192024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Sesi 5</a:t>
            </a:r>
            <a:endParaRPr sz="1500" b="0" i="1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g2907dbd8723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pic>
        <p:nvPicPr>
          <p:cNvPr id="257" name="Google Shape;257;g2907dbd8723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4775" y="4399825"/>
            <a:ext cx="284713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2907dbd8723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05899" y="4399825"/>
            <a:ext cx="198637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2907dbd8723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8695" y="4399825"/>
            <a:ext cx="20194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2907dbd8723_0_0"/>
          <p:cNvSpPr txBox="1"/>
          <p:nvPr/>
        </p:nvSpPr>
        <p:spPr>
          <a:xfrm>
            <a:off x="1230650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Hacktiv8id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2907dbd8723_0_0"/>
          <p:cNvSpPr txBox="1"/>
          <p:nvPr/>
        </p:nvSpPr>
        <p:spPr>
          <a:xfrm>
            <a:off x="3088375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Hacktiv8id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2907dbd8723_0_0"/>
          <p:cNvSpPr txBox="1"/>
          <p:nvPr/>
        </p:nvSpPr>
        <p:spPr>
          <a:xfrm>
            <a:off x="4946100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2907dbd8723_0_0"/>
          <p:cNvSpPr txBox="1"/>
          <p:nvPr/>
        </p:nvSpPr>
        <p:spPr>
          <a:xfrm>
            <a:off x="6704525" y="4338875"/>
            <a:ext cx="1423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 Indonesia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g2907dbd8723_0_0"/>
          <p:cNvCxnSpPr/>
          <p:nvPr/>
        </p:nvCxnSpPr>
        <p:spPr>
          <a:xfrm>
            <a:off x="3063240" y="2160270"/>
            <a:ext cx="914400" cy="9600"/>
          </a:xfrm>
          <a:prstGeom prst="straightConnector1">
            <a:avLst/>
          </a:prstGeom>
          <a:noFill/>
          <a:ln w="19050" cap="flat" cmpd="sng">
            <a:solidFill>
              <a:srgbClr val="FFF5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5" name="Google Shape;265;g2907dbd8723_0_0">
            <a:hlinkClick r:id="rId7"/>
          </p:cNvPr>
          <p:cNvSpPr txBox="1"/>
          <p:nvPr/>
        </p:nvSpPr>
        <p:spPr>
          <a:xfrm>
            <a:off x="4206240" y="1934520"/>
            <a:ext cx="402336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b="0" i="1" u="sng" strike="noStrike" cap="non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8"/>
              </a:rPr>
              <a:t>github.com/bagusedghar/fastapi-intermediate</a:t>
            </a:r>
            <a:endParaRPr sz="1500" b="0" i="1" u="sng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2958</Words>
  <Application>Microsoft Office PowerPoint</Application>
  <PresentationFormat>On-screen Show (16:9)</PresentationFormat>
  <Paragraphs>472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Work Sans ExtraBold</vt:lpstr>
      <vt:lpstr>Inter</vt:lpstr>
      <vt:lpstr>Arial</vt:lpstr>
      <vt:lpstr>Work Sans Medium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Bagus Edghar</cp:lastModifiedBy>
  <cp:revision>1</cp:revision>
  <dcterms:modified xsi:type="dcterms:W3CDTF">2026-10-21T20:33:01Z</dcterms:modified>
</cp:coreProperties>
</file>