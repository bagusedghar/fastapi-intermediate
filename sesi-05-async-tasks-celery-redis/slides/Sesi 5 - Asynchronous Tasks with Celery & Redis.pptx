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78"/>
  </p:notesMasterIdLst>
  <p:sldIdLst>
    <p:sldId id="256" r:id="rId2"/>
    <p:sldId id="257" r:id="rId3"/>
    <p:sldId id="277" r:id="rId4"/>
    <p:sldId id="278" r:id="rId5"/>
    <p:sldId id="279" r:id="rId6"/>
    <p:sldId id="280" r:id="rId7"/>
    <p:sldId id="281" r:id="rId8"/>
    <p:sldId id="282" r:id="rId9"/>
    <p:sldId id="283" r:id="rId10"/>
    <p:sldId id="284" r:id="rId11"/>
    <p:sldId id="285" r:id="rId12"/>
    <p:sldId id="286" r:id="rId13"/>
    <p:sldId id="287" r:id="rId14"/>
    <p:sldId id="288" r:id="rId15"/>
    <p:sldId id="289" r:id="rId16"/>
    <p:sldId id="290" r:id="rId17"/>
    <p:sldId id="291" r:id="rId18"/>
    <p:sldId id="292" r:id="rId19"/>
    <p:sldId id="293" r:id="rId20"/>
    <p:sldId id="294" r:id="rId21"/>
    <p:sldId id="295" r:id="rId22"/>
    <p:sldId id="296" r:id="rId23"/>
    <p:sldId id="297" r:id="rId24"/>
    <p:sldId id="298" r:id="rId25"/>
    <p:sldId id="299" r:id="rId26"/>
    <p:sldId id="300" r:id="rId27"/>
    <p:sldId id="301" r:id="rId28"/>
    <p:sldId id="302" r:id="rId29"/>
    <p:sldId id="303" r:id="rId30"/>
    <p:sldId id="304" r:id="rId31"/>
    <p:sldId id="305" r:id="rId32"/>
    <p:sldId id="306" r:id="rId33"/>
    <p:sldId id="307" r:id="rId34"/>
    <p:sldId id="308" r:id="rId35"/>
    <p:sldId id="309" r:id="rId36"/>
    <p:sldId id="310" r:id="rId37"/>
    <p:sldId id="311" r:id="rId38"/>
    <p:sldId id="312" r:id="rId39"/>
    <p:sldId id="313" r:id="rId40"/>
    <p:sldId id="314" r:id="rId41"/>
    <p:sldId id="315" r:id="rId42"/>
    <p:sldId id="316" r:id="rId43"/>
    <p:sldId id="317" r:id="rId44"/>
    <p:sldId id="318" r:id="rId45"/>
    <p:sldId id="319" r:id="rId46"/>
    <p:sldId id="320" r:id="rId47"/>
    <p:sldId id="321" r:id="rId48"/>
    <p:sldId id="322" r:id="rId49"/>
    <p:sldId id="323" r:id="rId50"/>
    <p:sldId id="324" r:id="rId51"/>
    <p:sldId id="325" r:id="rId52"/>
    <p:sldId id="326" r:id="rId53"/>
    <p:sldId id="327" r:id="rId54"/>
    <p:sldId id="328" r:id="rId55"/>
    <p:sldId id="329" r:id="rId56"/>
    <p:sldId id="330" r:id="rId57"/>
    <p:sldId id="331" r:id="rId58"/>
    <p:sldId id="332" r:id="rId59"/>
    <p:sldId id="333" r:id="rId60"/>
    <p:sldId id="334" r:id="rId61"/>
    <p:sldId id="335" r:id="rId62"/>
    <p:sldId id="336" r:id="rId63"/>
    <p:sldId id="337" r:id="rId64"/>
    <p:sldId id="338" r:id="rId65"/>
    <p:sldId id="339" r:id="rId66"/>
    <p:sldId id="340" r:id="rId67"/>
    <p:sldId id="341" r:id="rId68"/>
    <p:sldId id="342" r:id="rId69"/>
    <p:sldId id="343" r:id="rId70"/>
    <p:sldId id="344" r:id="rId71"/>
    <p:sldId id="345" r:id="rId72"/>
    <p:sldId id="346" r:id="rId73"/>
    <p:sldId id="347" r:id="rId74"/>
    <p:sldId id="348" r:id="rId75"/>
    <p:sldId id="349" r:id="rId76"/>
    <p:sldId id="276" r:id="rId77"/>
  </p:sldIdLst>
  <p:sldSz cx="9144000" cy="5143500" type="screen16x9"/>
  <p:notesSz cx="6858000" cy="9144000"/>
  <p:embeddedFontLst>
    <p:embeddedFont>
      <p:font typeface="Inconsolata" pitchFamily="1" charset="0"/>
      <p:regular r:id="rId79"/>
      <p:bold r:id="rId80"/>
    </p:embeddedFont>
    <p:embeddedFont>
      <p:font typeface="Inter" panose="02000503000000020004" pitchFamily="2" charset="0"/>
      <p:regular r:id="rId81"/>
      <p:bold r:id="rId82"/>
      <p:italic r:id="rId83"/>
      <p:boldItalic r:id="rId84"/>
    </p:embeddedFont>
    <p:embeddedFont>
      <p:font typeface="Work Sans ExtraBold" pitchFamily="2" charset="0"/>
      <p:bold r:id="rId85"/>
    </p:embeddedFont>
    <p:embeddedFont>
      <p:font typeface="Work Sans Medium" pitchFamily="2" charset="0"/>
      <p:regular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7" roundtripDataSignature="AMtx7misuxx245f/qKiEmR3PX6YRe0tIP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font" Target="fonts/font1.fntdata"/><Relationship Id="rId80" Type="http://schemas.openxmlformats.org/officeDocument/2006/relationships/font" Target="fonts/font2.fntdata"/><Relationship Id="rId81" Type="http://schemas.openxmlformats.org/officeDocument/2006/relationships/font" Target="fonts/font3.fntdata"/><Relationship Id="rId82" Type="http://schemas.openxmlformats.org/officeDocument/2006/relationships/font" Target="fonts/font4.fntdata"/><Relationship Id="rId83" Type="http://schemas.openxmlformats.org/officeDocument/2006/relationships/font" Target="fonts/font5.fntdata"/><Relationship Id="rId84" Type="http://schemas.openxmlformats.org/officeDocument/2006/relationships/font" Target="fonts/font6.fntdata"/><Relationship Id="rId85" Type="http://schemas.openxmlformats.org/officeDocument/2006/relationships/font" Target="fonts/font7.fntdata"/><Relationship Id="rId86" Type="http://schemas.openxmlformats.org/officeDocument/2006/relationships/font" Target="fonts/font8.fntdata"/><Relationship Id="rId87" Type="http://customschemas.google.com/relationships/presentationmetadata" Target="metadata"/><Relationship Id="rId88" Type="http://schemas.openxmlformats.org/officeDocument/2006/relationships/presProps" Target="presProps.xml"/><Relationship Id="rId89" Type="http://schemas.openxmlformats.org/officeDocument/2006/relationships/viewProps" Target="viewProps.xml"/><Relationship Id="rId90" Type="http://schemas.openxmlformats.org/officeDocument/2006/relationships/theme" Target="theme/theme1.xml"/><Relationship Id="rId9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 name="Google Shape;82;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442ffe4c8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9" name="Google Shape;89;g2442ffe4c8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Peserta mengerjakan hands-on bersama mentor.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907dbd87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g2907dbd872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pic>
        <p:nvPicPr>
          <p:cNvPr id="10" name="Google Shape;10;p19"/>
          <p:cNvPicPr preferRelativeResize="0"/>
          <p:nvPr/>
        </p:nvPicPr>
        <p:blipFill rotWithShape="1">
          <a:blip r:embed="rId2">
            <a:alphaModFix/>
          </a:blip>
          <a:srcRect/>
          <a:stretch/>
        </p:blipFill>
        <p:spPr>
          <a:xfrm>
            <a:off x="-7200" y="-15150"/>
            <a:ext cx="9190446" cy="5169626"/>
          </a:xfrm>
          <a:prstGeom prst="rect">
            <a:avLst/>
          </a:prstGeom>
          <a:noFill/>
          <a:ln>
            <a:noFill/>
          </a:ln>
        </p:spPr>
      </p:pic>
      <p:sp>
        <p:nvSpPr>
          <p:cNvPr id="11" name="Google Shape;11;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2" name="Google Shape;12;p19"/>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pic>
        <p:nvPicPr>
          <p:cNvPr id="14" name="Google Shape;14;p23"/>
          <p:cNvPicPr preferRelativeResize="0"/>
          <p:nvPr/>
        </p:nvPicPr>
        <p:blipFill rotWithShape="1">
          <a:blip r:embed="rId2">
            <a:alphaModFix/>
          </a:blip>
          <a:srcRect/>
          <a:stretch/>
        </p:blipFill>
        <p:spPr>
          <a:xfrm>
            <a:off x="0" y="-1"/>
            <a:ext cx="9144003" cy="5143504"/>
          </a:xfrm>
          <a:prstGeom prst="rect">
            <a:avLst/>
          </a:prstGeom>
          <a:noFill/>
          <a:ln>
            <a:noFill/>
          </a:ln>
        </p:spPr>
      </p:pic>
      <p:sp>
        <p:nvSpPr>
          <p:cNvPr id="15" name="Google Shape;15;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6" name="Google Shape;16;p23"/>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1">
  <p:cSld name="SECTION_HEADER_3">
    <p:spTree>
      <p:nvGrpSpPr>
        <p:cNvPr id="1" name="Shape 17"/>
        <p:cNvGrpSpPr/>
        <p:nvPr/>
      </p:nvGrpSpPr>
      <p:grpSpPr>
        <a:xfrm>
          <a:off x="0" y="0"/>
          <a:ext cx="0" cy="0"/>
          <a:chOff x="0" y="0"/>
          <a:chExt cx="0" cy="0"/>
        </a:xfrm>
      </p:grpSpPr>
      <p:pic>
        <p:nvPicPr>
          <p:cNvPr id="18" name="Google Shape;18;p62"/>
          <p:cNvPicPr preferRelativeResize="0"/>
          <p:nvPr/>
        </p:nvPicPr>
        <p:blipFill rotWithShape="1">
          <a:blip r:embed="rId2">
            <a:alphaModFix/>
          </a:blip>
          <a:srcRect/>
          <a:stretch/>
        </p:blipFill>
        <p:spPr>
          <a:xfrm>
            <a:off x="0" y="-1"/>
            <a:ext cx="9206026" cy="5178401"/>
          </a:xfrm>
          <a:prstGeom prst="rect">
            <a:avLst/>
          </a:prstGeom>
          <a:noFill/>
          <a:ln>
            <a:noFill/>
          </a:ln>
        </p:spPr>
      </p:pic>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0" name="Google Shape;20;p62"/>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2 1 1">
  <p:cSld name="TITLE_2_1_1">
    <p:spTree>
      <p:nvGrpSpPr>
        <p:cNvPr id="1" name="Shape 21"/>
        <p:cNvGrpSpPr/>
        <p:nvPr/>
      </p:nvGrpSpPr>
      <p:grpSpPr>
        <a:xfrm>
          <a:off x="0" y="0"/>
          <a:ext cx="0" cy="0"/>
          <a:chOff x="0" y="0"/>
          <a:chExt cx="0" cy="0"/>
        </a:xfrm>
      </p:grpSpPr>
      <p:sp>
        <p:nvSpPr>
          <p:cNvPr id="22" name="Google Shape;22;p4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3" name="Google Shape;23;p49"/>
          <p:cNvPicPr preferRelativeResize="0"/>
          <p:nvPr/>
        </p:nvPicPr>
        <p:blipFill rotWithShape="1">
          <a:blip r:embed="rId2">
            <a:alphaModFix/>
          </a:blip>
          <a:srcRect l="-11869" r="-10498"/>
          <a:stretch/>
        </p:blipFill>
        <p:spPr>
          <a:xfrm>
            <a:off x="7614450" y="286450"/>
            <a:ext cx="1372051" cy="247350"/>
          </a:xfrm>
          <a:prstGeom prst="rect">
            <a:avLst/>
          </a:prstGeom>
          <a:noFill/>
          <a:ln>
            <a:noFill/>
          </a:ln>
        </p:spPr>
      </p:pic>
      <p:pic>
        <p:nvPicPr>
          <p:cNvPr id="24" name="Google Shape;24;p49"/>
          <p:cNvPicPr preferRelativeResize="0"/>
          <p:nvPr/>
        </p:nvPicPr>
        <p:blipFill rotWithShape="1">
          <a:blip r:embed="rId3">
            <a:alphaModFix/>
          </a:blip>
          <a:srcRect/>
          <a:stretch/>
        </p:blipFill>
        <p:spPr>
          <a:xfrm>
            <a:off x="0" y="0"/>
            <a:ext cx="9143992" cy="514350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3">
  <p:cSld name="SECTION_HEADER_4">
    <p:spTree>
      <p:nvGrpSpPr>
        <p:cNvPr id="1" name="Shape 25"/>
        <p:cNvGrpSpPr/>
        <p:nvPr/>
      </p:nvGrpSpPr>
      <p:grpSpPr>
        <a:xfrm>
          <a:off x="0" y="0"/>
          <a:ext cx="0" cy="0"/>
          <a:chOff x="0" y="0"/>
          <a:chExt cx="0" cy="0"/>
        </a:xfrm>
      </p:grpSpPr>
      <p:pic>
        <p:nvPicPr>
          <p:cNvPr id="26" name="Google Shape;26;p20"/>
          <p:cNvPicPr preferRelativeResize="0"/>
          <p:nvPr/>
        </p:nvPicPr>
        <p:blipFill rotWithShape="1">
          <a:blip r:embed="rId2">
            <a:alphaModFix/>
          </a:blip>
          <a:srcRect/>
          <a:stretch/>
        </p:blipFill>
        <p:spPr>
          <a:xfrm>
            <a:off x="0" y="-1"/>
            <a:ext cx="9143992" cy="5143501"/>
          </a:xfrm>
          <a:prstGeom prst="rect">
            <a:avLst/>
          </a:prstGeom>
          <a:noFill/>
          <a:ln>
            <a:noFill/>
          </a:ln>
        </p:spPr>
      </p:pic>
      <p:sp>
        <p:nvSpPr>
          <p:cNvPr id="27" name="Google Shape;27;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8" name="Google Shape;28;p20"/>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2 1">
  <p:cSld name="TITLE_2_1">
    <p:spTree>
      <p:nvGrpSpPr>
        <p:cNvPr id="1" name="Shape 29"/>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1" name="Google Shape;31;p21"/>
          <p:cNvPicPr preferRelativeResize="0"/>
          <p:nvPr/>
        </p:nvPicPr>
        <p:blipFill rotWithShape="1">
          <a:blip r:embed="rId2">
            <a:alphaModFix/>
          </a:blip>
          <a:srcRect/>
          <a:stretch/>
        </p:blipFill>
        <p:spPr>
          <a:xfrm>
            <a:off x="-7200" y="-7175"/>
            <a:ext cx="9204623" cy="5177601"/>
          </a:xfrm>
          <a:prstGeom prst="rect">
            <a:avLst/>
          </a:prstGeom>
          <a:noFill/>
          <a:ln>
            <a:noFill/>
          </a:ln>
        </p:spPr>
      </p:pic>
      <p:pic>
        <p:nvPicPr>
          <p:cNvPr id="32" name="Google Shape;32;p21"/>
          <p:cNvPicPr preferRelativeResize="0"/>
          <p:nvPr/>
        </p:nvPicPr>
        <p:blipFill rotWithShape="1">
          <a:blip r:embed="rId3">
            <a:alphaModFix/>
          </a:blip>
          <a:srcRect l="-11869" r="-10498"/>
          <a:stretch/>
        </p:blipFill>
        <p:spPr>
          <a:xfrm>
            <a:off x="7614450" y="286450"/>
            <a:ext cx="1372051" cy="2473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2">
  <p:cSld name="TITLE_2">
    <p:spTree>
      <p:nvGrpSpPr>
        <p:cNvPr id="1" name="Shape 33"/>
        <p:cNvGrpSpPr/>
        <p:nvPr/>
      </p:nvGrpSpPr>
      <p:grpSpPr>
        <a:xfrm>
          <a:off x="0" y="0"/>
          <a:ext cx="0" cy="0"/>
          <a:chOff x="0" y="0"/>
          <a:chExt cx="0" cy="0"/>
        </a:xfrm>
      </p:grpSpPr>
      <p:pic>
        <p:nvPicPr>
          <p:cNvPr id="34" name="Google Shape;34;p22"/>
          <p:cNvPicPr preferRelativeResize="0"/>
          <p:nvPr/>
        </p:nvPicPr>
        <p:blipFill rotWithShape="1">
          <a:blip r:embed="rId2">
            <a:alphaModFix/>
          </a:blip>
          <a:srcRect/>
          <a:stretch/>
        </p:blipFill>
        <p:spPr>
          <a:xfrm>
            <a:off x="-14350" y="-6375"/>
            <a:ext cx="9160668" cy="5152876"/>
          </a:xfrm>
          <a:prstGeom prst="rect">
            <a:avLst/>
          </a:prstGeom>
          <a:noFill/>
          <a:ln>
            <a:noFill/>
          </a:ln>
        </p:spPr>
      </p:pic>
      <p:sp>
        <p:nvSpPr>
          <p:cNvPr id="35" name="Google Shape;35;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6" name="Google Shape;36;p22"/>
          <p:cNvPicPr preferRelativeResize="0"/>
          <p:nvPr/>
        </p:nvPicPr>
        <p:blipFill rotWithShape="1">
          <a:blip r:embed="rId3">
            <a:alphaModFix/>
          </a:blip>
          <a:srcRect l="-11869" r="-10498"/>
          <a:stretch/>
        </p:blipFill>
        <p:spPr>
          <a:xfrm>
            <a:off x="7614450" y="286450"/>
            <a:ext cx="1372051" cy="24735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7"/>
        <p:cNvGrpSpPr/>
        <p:nvPr/>
      </p:nvGrpSpPr>
      <p:grpSpPr>
        <a:xfrm>
          <a:off x="0" y="0"/>
          <a:ext cx="0" cy="0"/>
          <a:chOff x="0" y="0"/>
          <a:chExt cx="0" cy="0"/>
        </a:xfrm>
      </p:grpSpPr>
      <p:sp>
        <p:nvSpPr>
          <p:cNvPr id="38" name="Google Shape;38;p5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5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5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1"/>
        <p:cNvGrpSpPr/>
        <p:nvPr/>
      </p:nvGrpSpPr>
      <p:grpSpPr>
        <a:xfrm>
          <a:off x="0" y="0"/>
          <a:ext cx="0" cy="0"/>
          <a:chOff x="0" y="0"/>
          <a:chExt cx="0" cy="0"/>
        </a:xfrm>
      </p:grpSpPr>
      <p:sp>
        <p:nvSpPr>
          <p:cNvPr id="42" name="Google Shape;42;p5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3" name="Google Shape;43;p51"/>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4" name="Google Shape;44;p51"/>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5" name="Google Shape;45;p5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6"/>
        <p:cNvGrpSpPr/>
        <p:nvPr/>
      </p:nvGrpSpPr>
      <p:grpSpPr>
        <a:xfrm>
          <a:off x="0" y="0"/>
          <a:ext cx="0" cy="0"/>
          <a:chOff x="0" y="0"/>
          <a:chExt cx="0" cy="0"/>
        </a:xfrm>
      </p:grpSpPr>
      <p:sp>
        <p:nvSpPr>
          <p:cNvPr id="47" name="Google Shape;47;p5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8" name="Google Shape;48;p5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9"/>
        <p:cNvGrpSpPr/>
        <p:nvPr/>
      </p:nvGrpSpPr>
      <p:grpSpPr>
        <a:xfrm>
          <a:off x="0" y="0"/>
          <a:ext cx="0" cy="0"/>
          <a:chOff x="0" y="0"/>
          <a:chExt cx="0" cy="0"/>
        </a:xfrm>
      </p:grpSpPr>
      <p:sp>
        <p:nvSpPr>
          <p:cNvPr id="50" name="Google Shape;50;p53"/>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51" name="Google Shape;51;p53"/>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52" name="Google Shape;52;p5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3"/>
        <p:cNvGrpSpPr/>
        <p:nvPr/>
      </p:nvGrpSpPr>
      <p:grpSpPr>
        <a:xfrm>
          <a:off x="0" y="0"/>
          <a:ext cx="0" cy="0"/>
          <a:chOff x="0" y="0"/>
          <a:chExt cx="0" cy="0"/>
        </a:xfrm>
      </p:grpSpPr>
      <p:sp>
        <p:nvSpPr>
          <p:cNvPr id="54" name="Google Shape;54;p54"/>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55" name="Google Shape;55;p5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6"/>
        <p:cNvGrpSpPr/>
        <p:nvPr/>
      </p:nvGrpSpPr>
      <p:grpSpPr>
        <a:xfrm>
          <a:off x="0" y="0"/>
          <a:ext cx="0" cy="0"/>
          <a:chOff x="0" y="0"/>
          <a:chExt cx="0" cy="0"/>
        </a:xfrm>
      </p:grpSpPr>
      <p:sp>
        <p:nvSpPr>
          <p:cNvPr id="57" name="Google Shape;57;p55"/>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55"/>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59" name="Google Shape;59;p55"/>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60" name="Google Shape;60;p55"/>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1" name="Google Shape;61;p5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2"/>
        <p:cNvGrpSpPr/>
        <p:nvPr/>
      </p:nvGrpSpPr>
      <p:grpSpPr>
        <a:xfrm>
          <a:off x="0" y="0"/>
          <a:ext cx="0" cy="0"/>
          <a:chOff x="0" y="0"/>
          <a:chExt cx="0" cy="0"/>
        </a:xfrm>
      </p:grpSpPr>
      <p:sp>
        <p:nvSpPr>
          <p:cNvPr id="63" name="Google Shape;63;p56"/>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64" name="Google Shape;64;p5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65"/>
        <p:cNvGrpSpPr/>
        <p:nvPr/>
      </p:nvGrpSpPr>
      <p:grpSpPr>
        <a:xfrm>
          <a:off x="0" y="0"/>
          <a:ext cx="0" cy="0"/>
          <a:chOff x="0" y="0"/>
          <a:chExt cx="0" cy="0"/>
        </a:xfrm>
      </p:grpSpPr>
      <p:sp>
        <p:nvSpPr>
          <p:cNvPr id="66" name="Google Shape;66;p57"/>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67" name="Google Shape;67;p57"/>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68" name="Google Shape;68;p5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9"/>
        <p:cNvGrpSpPr/>
        <p:nvPr/>
      </p:nvGrpSpPr>
      <p:grpSpPr>
        <a:xfrm>
          <a:off x="0" y="0"/>
          <a:ext cx="0" cy="0"/>
          <a:chOff x="0" y="0"/>
          <a:chExt cx="0" cy="0"/>
        </a:xfrm>
      </p:grpSpPr>
      <p:sp>
        <p:nvSpPr>
          <p:cNvPr id="70" name="Google Shape;70;p5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1">
  <p:cSld name="TITLE_1">
    <p:spTree>
      <p:nvGrpSpPr>
        <p:cNvPr id="1" name="Shape 71"/>
        <p:cNvGrpSpPr/>
        <p:nvPr/>
      </p:nvGrpSpPr>
      <p:grpSpPr>
        <a:xfrm>
          <a:off x="0" y="0"/>
          <a:ext cx="0" cy="0"/>
          <a:chOff x="0" y="0"/>
          <a:chExt cx="0" cy="0"/>
        </a:xfrm>
      </p:grpSpPr>
      <p:sp>
        <p:nvSpPr>
          <p:cNvPr id="72" name="Google Shape;72;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73" name="Google Shape;73;p59"/>
          <p:cNvCxnSpPr/>
          <p:nvPr/>
        </p:nvCxnSpPr>
        <p:spPr>
          <a:xfrm>
            <a:off x="2740288" y="3545850"/>
            <a:ext cx="3824400" cy="0"/>
          </a:xfrm>
          <a:prstGeom prst="straightConnector1">
            <a:avLst/>
          </a:prstGeom>
          <a:noFill/>
          <a:ln w="9525" cap="flat" cmpd="sng">
            <a:solidFill>
              <a:srgbClr val="FFFFFF"/>
            </a:solidFill>
            <a:prstDash val="solid"/>
            <a:round/>
            <a:headEnd type="none" w="sm" len="sm"/>
            <a:tailEnd type="none" w="sm" len="sm"/>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1 1">
  <p:cSld name="TITLE_1_1">
    <p:spTree>
      <p:nvGrpSpPr>
        <p:cNvPr id="1" name="Shape 74"/>
        <p:cNvGrpSpPr/>
        <p:nvPr/>
      </p:nvGrpSpPr>
      <p:grpSpPr>
        <a:xfrm>
          <a:off x="0" y="0"/>
          <a:ext cx="0" cy="0"/>
          <a:chOff x="0" y="0"/>
          <a:chExt cx="0" cy="0"/>
        </a:xfrm>
      </p:grpSpPr>
      <p:sp>
        <p:nvSpPr>
          <p:cNvPr id="75" name="Google Shape;75;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76" name="Google Shape;76;p60"/>
          <p:cNvCxnSpPr/>
          <p:nvPr/>
        </p:nvCxnSpPr>
        <p:spPr>
          <a:xfrm>
            <a:off x="2740288" y="3545850"/>
            <a:ext cx="3824400" cy="0"/>
          </a:xfrm>
          <a:prstGeom prst="straightConnector1">
            <a:avLst/>
          </a:prstGeom>
          <a:noFill/>
          <a:ln w="9525" cap="flat" cmpd="sng">
            <a:solidFill>
              <a:srgbClr val="FFFFFF"/>
            </a:solidFill>
            <a:prstDash val="solid"/>
            <a:round/>
            <a:headEnd type="none" w="sm" len="sm"/>
            <a:tailEnd type="none" w="sm" len="sm"/>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2">
  <p:cSld name="SECTION_HEADER_2">
    <p:spTree>
      <p:nvGrpSpPr>
        <p:cNvPr id="1" name="Shape 77"/>
        <p:cNvGrpSpPr/>
        <p:nvPr/>
      </p:nvGrpSpPr>
      <p:grpSpPr>
        <a:xfrm>
          <a:off x="0" y="0"/>
          <a:ext cx="0" cy="0"/>
          <a:chOff x="0" y="0"/>
          <a:chExt cx="0" cy="0"/>
        </a:xfrm>
      </p:grpSpPr>
      <p:sp>
        <p:nvSpPr>
          <p:cNvPr id="78" name="Google Shape;78;p61"/>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pic>
        <p:nvPicPr>
          <p:cNvPr id="79" name="Google Shape;79;p61"/>
          <p:cNvPicPr preferRelativeResize="0"/>
          <p:nvPr/>
        </p:nvPicPr>
        <p:blipFill rotWithShape="1">
          <a:blip r:embed="rId2">
            <a:alphaModFix/>
          </a:blip>
          <a:srcRect t="31469" b="34000"/>
          <a:stretch/>
        </p:blipFill>
        <p:spPr>
          <a:xfrm>
            <a:off x="134750" y="4589275"/>
            <a:ext cx="1410576" cy="344348"/>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image" Target="../media/image2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hyperlink" Target="https://colab.research.google.com/github/FTDS-learning-materials/phase-2/blob/master/w2/P2W2D1PM%20-%20Data%20Ethics%20&amp;%20Data%20Validation.ipynb" TargetMode="External"/><Relationship Id="rId8" Type="http://schemas.openxmlformats.org/officeDocument/2006/relationships/hyperlink" Target="https://github.com/bagusedghar/fastapi-intermediate/tree/main/sesi-05-async-tasks-celery-redi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lvl="0" indent="0" algn="r" rtl="0">
              <a:lnSpc>
                <a:spcPct val="100000"/>
              </a:lnSpc>
              <a:spcBef>
                <a:spcPts val="0"/>
              </a:spcBef>
              <a:spcAft>
                <a:spcPts val="0"/>
              </a:spcAft>
              <a:buSzPts val="1000"/>
              <a:buNone/>
            </a:pPr>
            <a:fld id="{00000000-1234-1234-1234-123412341234}" type="slidenum">
              <a:rPr lang="en"/>
              <a:t>1</a:t>
            </a:fld>
            <a:endParaRPr/>
          </a:p>
        </p:txBody>
      </p:sp>
      <p:sp>
        <p:nvSpPr>
          <p:cNvPr id="85" name="Google Shape;85;p5"/>
          <p:cNvSpPr txBox="1"/>
          <p:nvPr/>
        </p:nvSpPr>
        <p:spPr>
          <a:xfrm>
            <a:off x="763050" y="2010750"/>
            <a:ext cx="8258100" cy="11034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3500"/>
              <a:buFont typeface="Arial"/>
              <a:buNone/>
            </a:pPr>
            <a:r>
              <a:rPr lang="en" sz="3500">
                <a:solidFill>
                  <a:srgbClr val="F06634"/>
                </a:solidFill>
                <a:latin typeface="Work Sans ExtraBold"/>
                <a:ea typeface="Work Sans ExtraBold"/>
                <a:cs typeface="Work Sans ExtraBold"/>
                <a:sym typeface="Work Sans ExtraBold"/>
              </a:rPr>
              <a:t>Asynchronous Tasks with Celery &amp; Redis</a:t>
            </a:r>
            <a:endParaRPr sz="3500" b="0" i="0" u="none" strike="noStrike" cap="none">
              <a:solidFill>
                <a:srgbClr val="F06634"/>
              </a:solidFill>
              <a:latin typeface="Work Sans ExtraBold"/>
              <a:ea typeface="Work Sans ExtraBold"/>
              <a:cs typeface="Work Sans ExtraBold"/>
              <a:sym typeface="Work Sans ExtraBold"/>
            </a:endParaRPr>
          </a:p>
        </p:txBody>
      </p:sp>
      <p:sp>
        <p:nvSpPr>
          <p:cNvPr id="86" name="Google Shape;86;p5"/>
          <p:cNvSpPr txBox="1"/>
          <p:nvPr/>
        </p:nvSpPr>
        <p:spPr>
          <a:xfrm>
            <a:off x="763050" y="3157225"/>
            <a:ext cx="7315200" cy="5313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1500"/>
              <a:buFont typeface="Arial"/>
              <a:buNone/>
            </a:pPr>
            <a:r>
              <a:rPr lang="en" sz="1500" b="0" i="0" u="none" strike="noStrike" cap="none">
                <a:solidFill>
                  <a:schemeClr val="dk2"/>
                </a:solidFill>
                <a:latin typeface="Work Sans Medium"/>
                <a:ea typeface="Work Sans Medium"/>
                <a:cs typeface="Work Sans Medium"/>
                <a:sym typeface="Work Sans Medium"/>
              </a:rPr>
              <a:t>Intermediate Backend Developer with FastAPI  -  Sesi 5</a:t>
            </a:r>
            <a:endParaRPr sz="1500" b="0" i="0" u="none" strike="noStrike" cap="none">
              <a:solidFill>
                <a:schemeClr val="dk2"/>
              </a:solidFill>
              <a:latin typeface="Work Sans Medium"/>
              <a:ea typeface="Work Sans Medium"/>
              <a:cs typeface="Work Sans Medium"/>
              <a:sym typeface="Work Sans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g2442ffe4c8e_0_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
              <a:t>2</a:t>
            </a:fld>
            <a:endParaRPr/>
          </a:p>
        </p:txBody>
      </p:sp>
      <p:sp>
        <p:nvSpPr>
          <p:cNvPr id="92" name="Google Shape;92;g2442ffe4c8e_0_0"/>
          <p:cNvSpPr txBox="1"/>
          <p:nvPr/>
        </p:nvSpPr>
        <p:spPr>
          <a:xfrm>
            <a:off x="310675" y="249275"/>
            <a:ext cx="4456800" cy="484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0" i="0" u="none" strike="noStrike" cap="none">
                <a:solidFill>
                  <a:srgbClr val="1D3D70"/>
                </a:solidFill>
                <a:latin typeface="Work Sans ExtraBold"/>
                <a:ea typeface="Work Sans ExtraBold"/>
                <a:cs typeface="Work Sans ExtraBold"/>
                <a:sym typeface="Work Sans ExtraBold"/>
              </a:rPr>
              <a:t>Contents</a:t>
            </a:r>
            <a:endParaRPr sz="2300" b="0" i="0" u="none" strike="noStrike" cap="none">
              <a:solidFill>
                <a:srgbClr val="1D3D70"/>
              </a:solidFill>
              <a:latin typeface="Work Sans ExtraBold"/>
              <a:ea typeface="Work Sans ExtraBold"/>
              <a:cs typeface="Work Sans ExtraBold"/>
              <a:sym typeface="Work Sans ExtraBold"/>
            </a:endParaRPr>
          </a:p>
        </p:txBody>
      </p:sp>
      <p:sp>
        <p:nvSpPr>
          <p:cNvPr id="93" name="Text 1"/>
          <p:cNvSpPr txBox="1"/>
          <p:nvPr/>
        </p:nvSpPr>
        <p:spPr>
          <a:xfrm>
            <a:off x="548640" y="1143000"/>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Async IO &amp; Background Job</a:t>
            </a:r>
          </a:p>
        </p:txBody>
      </p:sp>
      <p:cxnSp>
        <p:nvCxnSpPr>
          <p:cNvPr id="94" name="Arrow 2"/>
          <p:cNvCxnSpPr/>
          <p:nvPr/>
        </p:nvCxnSpPr>
        <p:spPr>
          <a:xfrm>
            <a:off x="6318504" y="1325880"/>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5" name="Text 3"/>
          <p:cNvSpPr txBox="1"/>
          <p:nvPr/>
        </p:nvSpPr>
        <p:spPr>
          <a:xfrm>
            <a:off x="8266175" y="1143000"/>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08</a:t>
            </a:r>
          </a:p>
        </p:txBody>
      </p:sp>
      <p:sp>
        <p:nvSpPr>
          <p:cNvPr id="96" name="Text 4"/>
          <p:cNvSpPr txBox="1"/>
          <p:nvPr/>
        </p:nvSpPr>
        <p:spPr>
          <a:xfrm>
            <a:off x="548640" y="1527048"/>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Celery &amp; Redis</a:t>
            </a:r>
          </a:p>
        </p:txBody>
      </p:sp>
      <p:cxnSp>
        <p:nvCxnSpPr>
          <p:cNvPr id="97" name="Arrow 5"/>
          <p:cNvCxnSpPr/>
          <p:nvPr/>
        </p:nvCxnSpPr>
        <p:spPr>
          <a:xfrm>
            <a:off x="6318504" y="1709928"/>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8" name="Text 6"/>
          <p:cNvSpPr txBox="1"/>
          <p:nvPr/>
        </p:nvSpPr>
        <p:spPr>
          <a:xfrm>
            <a:off x="8266175" y="1527048"/>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22</a:t>
            </a:r>
          </a:p>
        </p:txBody>
      </p:sp>
      <p:sp>
        <p:nvSpPr>
          <p:cNvPr id="99" name="Text 7"/>
          <p:cNvSpPr txBox="1"/>
          <p:nvPr/>
        </p:nvSpPr>
        <p:spPr>
          <a:xfrm>
            <a:off x="548640" y="1911095"/>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Retry, Timeout, Idempotency &amp; Failure Handling</a:t>
            </a:r>
          </a:p>
        </p:txBody>
      </p:sp>
      <p:cxnSp>
        <p:nvCxnSpPr>
          <p:cNvPr id="100" name="Arrow 8"/>
          <p:cNvCxnSpPr/>
          <p:nvPr/>
        </p:nvCxnSpPr>
        <p:spPr>
          <a:xfrm>
            <a:off x="6318504" y="2093976"/>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1" name="Text 9"/>
          <p:cNvSpPr txBox="1"/>
          <p:nvPr/>
        </p:nvSpPr>
        <p:spPr>
          <a:xfrm>
            <a:off x="8266175" y="1911095"/>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38</a:t>
            </a:r>
          </a:p>
        </p:txBody>
      </p:sp>
      <p:sp>
        <p:nvSpPr>
          <p:cNvPr id="102" name="Text 10"/>
          <p:cNvSpPr txBox="1"/>
          <p:nvPr/>
        </p:nvSpPr>
        <p:spPr>
          <a:xfrm>
            <a:off x="548640" y="2295144"/>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Hands-on: Notifikasi &amp; Report lewat Celery</a:t>
            </a:r>
          </a:p>
        </p:txBody>
      </p:sp>
      <p:cxnSp>
        <p:nvCxnSpPr>
          <p:cNvPr id="103" name="Arrow 11"/>
          <p:cNvCxnSpPr/>
          <p:nvPr/>
        </p:nvCxnSpPr>
        <p:spPr>
          <a:xfrm>
            <a:off x="6318504" y="2478024"/>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4" name="Text 12"/>
          <p:cNvSpPr txBox="1"/>
          <p:nvPr/>
        </p:nvSpPr>
        <p:spPr>
          <a:xfrm>
            <a:off x="8266175" y="2295144"/>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57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Sesi 5</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Learning Outcome</a:t>
            </a:r>
          </a:p>
        </p:txBody>
      </p:sp>
      <p:sp>
        <p:nvSpPr>
          <p:cNvPr id="22" name="Box 3"/>
          <p:cNvSpPr/>
          <p:nvPr/>
        </p:nvSpPr>
        <p:spPr>
          <a:xfrm>
            <a:off x="621792" y="1600200"/>
            <a:ext cx="2523744" cy="2011680"/>
          </a:xfrm>
          <a:prstGeom prst="roundRect">
            <a:avLst>
              <a:gd name="adj" fmla="val 5454"/>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Box 4"/>
          <p:cNvSpPr/>
          <p:nvPr/>
        </p:nvSpPr>
        <p:spPr>
          <a:xfrm>
            <a:off x="758952"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1</a:t>
            </a:r>
          </a:p>
        </p:txBody>
      </p:sp>
      <p:sp>
        <p:nvSpPr>
          <p:cNvPr id="24" name="Text 5"/>
          <p:cNvSpPr txBox="1"/>
          <p:nvPr/>
        </p:nvSpPr>
        <p:spPr>
          <a:xfrm>
            <a:off x="1170432" y="1709928"/>
            <a:ext cx="1883663"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Async vs background</a:t>
            </a:r>
          </a:p>
        </p:txBody>
      </p:sp>
      <p:sp>
        <p:nvSpPr>
          <p:cNvPr id="25" name="Text 6"/>
          <p:cNvSpPr txBox="1"/>
          <p:nvPr/>
        </p:nvSpPr>
        <p:spPr>
          <a:xfrm>
            <a:off x="758952" y="2148840"/>
            <a:ext cx="2249424" cy="821379"/>
          </a:xfrm>
          <a:prstGeom prst="rect">
            <a:avLst/>
          </a:prstGeom>
          <a:noFill/>
        </p:spPr>
        <p:txBody>
          <a:bodyPr wrap="square" lIns="45720" rIns="45720" anchor="t">
            <a:spAutoFit/>
          </a:bodyPr>
          <a:lstStyle/>
          <a:p>
            <a:pPr algn="l">
              <a:lnSpc>
                <a:spcPct val="115000"/>
              </a:lnSpc>
              <a:spcAft>
                <a:spcPts val="400"/>
              </a:spcAft>
            </a:pPr>
            <a:r>
              <a:rPr sz="1050" b="0" i="0" dirty="0" err="1">
                <a:solidFill>
                  <a:srgbClr val="434343"/>
                </a:solidFill>
                <a:latin typeface="Inter"/>
              </a:rPr>
              <a:t>Membedakan</a:t>
            </a:r>
            <a:r>
              <a:rPr sz="1050" b="0" i="0" dirty="0">
                <a:solidFill>
                  <a:srgbClr val="434343"/>
                </a:solidFill>
                <a:latin typeface="Inter"/>
              </a:rPr>
              <a:t> async request processing </a:t>
            </a:r>
            <a:r>
              <a:rPr lang="en-US" sz="1050" b="0" i="0" dirty="0" err="1">
                <a:solidFill>
                  <a:srgbClr val="434343"/>
                </a:solidFill>
                <a:latin typeface="Inter"/>
              </a:rPr>
              <a:t>dengan</a:t>
            </a:r>
            <a:r>
              <a:rPr sz="1050" b="0" i="0" dirty="0">
                <a:solidFill>
                  <a:srgbClr val="434343"/>
                </a:solidFill>
                <a:latin typeface="Inter"/>
              </a:rPr>
              <a:t> background worker </a:t>
            </a:r>
            <a:r>
              <a:rPr sz="1050" b="0" i="0" dirty="0" err="1">
                <a:solidFill>
                  <a:srgbClr val="434343"/>
                </a:solidFill>
                <a:latin typeface="Inter"/>
              </a:rPr>
              <a:t>untuk</a:t>
            </a:r>
            <a:r>
              <a:rPr sz="1050" b="0" i="0" dirty="0">
                <a:solidFill>
                  <a:srgbClr val="434343"/>
                </a:solidFill>
                <a:latin typeface="Inter"/>
              </a:rPr>
              <a:t> proses yang </a:t>
            </a:r>
            <a:r>
              <a:rPr lang="en-US" sz="1050" b="0" i="0" dirty="0" err="1">
                <a:solidFill>
                  <a:srgbClr val="434343"/>
                </a:solidFill>
                <a:latin typeface="Inter"/>
              </a:rPr>
              <a:t>berat</a:t>
            </a:r>
            <a:r>
              <a:rPr lang="en-US" sz="1050" dirty="0">
                <a:solidFill>
                  <a:srgbClr val="434343"/>
                </a:solidFill>
                <a:latin typeface="Inter"/>
              </a:rPr>
              <a:t> </a:t>
            </a:r>
            <a:r>
              <a:rPr lang="en-US" sz="1050" dirty="0" err="1">
                <a:solidFill>
                  <a:srgbClr val="434343"/>
                </a:solidFill>
                <a:latin typeface="Inter"/>
              </a:rPr>
              <a:t>atau</a:t>
            </a:r>
            <a:r>
              <a:rPr lang="en-US" sz="1050" dirty="0">
                <a:solidFill>
                  <a:srgbClr val="434343"/>
                </a:solidFill>
                <a:latin typeface="Inter"/>
              </a:rPr>
              <a:t> lama</a:t>
            </a:r>
            <a:r>
              <a:rPr sz="1050" b="0" i="0" dirty="0">
                <a:solidFill>
                  <a:srgbClr val="434343"/>
                </a:solidFill>
                <a:latin typeface="Inter"/>
              </a:rPr>
              <a:t>.</a:t>
            </a:r>
          </a:p>
        </p:txBody>
      </p:sp>
      <p:sp>
        <p:nvSpPr>
          <p:cNvPr id="26" name="Box 7"/>
          <p:cNvSpPr/>
          <p:nvPr/>
        </p:nvSpPr>
        <p:spPr>
          <a:xfrm>
            <a:off x="3291840" y="1600200"/>
            <a:ext cx="2523744" cy="2011680"/>
          </a:xfrm>
          <a:prstGeom prst="roundRect">
            <a:avLst>
              <a:gd name="adj" fmla="val 5454"/>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7" name="Box 8"/>
          <p:cNvSpPr/>
          <p:nvPr/>
        </p:nvSpPr>
        <p:spPr>
          <a:xfrm>
            <a:off x="3429000"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2</a:t>
            </a:r>
          </a:p>
        </p:txBody>
      </p:sp>
      <p:sp>
        <p:nvSpPr>
          <p:cNvPr id="28" name="Text 9"/>
          <p:cNvSpPr txBox="1"/>
          <p:nvPr/>
        </p:nvSpPr>
        <p:spPr>
          <a:xfrm>
            <a:off x="3840480" y="1709928"/>
            <a:ext cx="1883663"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FastAPI + Celery + Redis</a:t>
            </a:r>
          </a:p>
        </p:txBody>
      </p:sp>
      <p:sp>
        <p:nvSpPr>
          <p:cNvPr id="29" name="Text 10"/>
          <p:cNvSpPr txBox="1"/>
          <p:nvPr/>
        </p:nvSpPr>
        <p:spPr>
          <a:xfrm>
            <a:off x="3429000"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Menghubungkan FastAPI, Celery, dan Redis untuk memproses job secara asynchronous.</a:t>
            </a:r>
          </a:p>
        </p:txBody>
      </p:sp>
      <p:sp>
        <p:nvSpPr>
          <p:cNvPr id="30" name="Box 11"/>
          <p:cNvSpPr/>
          <p:nvPr/>
        </p:nvSpPr>
        <p:spPr>
          <a:xfrm>
            <a:off x="5961888" y="1600200"/>
            <a:ext cx="2523744" cy="2011680"/>
          </a:xfrm>
          <a:prstGeom prst="roundRect">
            <a:avLst>
              <a:gd name="adj" fmla="val 545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2"/>
          <p:cNvSpPr/>
          <p:nvPr/>
        </p:nvSpPr>
        <p:spPr>
          <a:xfrm>
            <a:off x="6099048"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3</a:t>
            </a:r>
          </a:p>
        </p:txBody>
      </p:sp>
      <p:sp>
        <p:nvSpPr>
          <p:cNvPr id="32" name="Text 13"/>
          <p:cNvSpPr txBox="1"/>
          <p:nvPr/>
        </p:nvSpPr>
        <p:spPr>
          <a:xfrm>
            <a:off x="6510527" y="1709928"/>
            <a:ext cx="1883664"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Job yang reliable</a:t>
            </a:r>
          </a:p>
        </p:txBody>
      </p:sp>
      <p:sp>
        <p:nvSpPr>
          <p:cNvPr id="33" name="Text 14"/>
          <p:cNvSpPr txBox="1"/>
          <p:nvPr/>
        </p:nvSpPr>
        <p:spPr>
          <a:xfrm>
            <a:off x="6099048"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Menerapkan retry, idempotency, penanganan task failure, dan status monitoring.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Order Management API</a:t>
            </a:r>
          </a:p>
        </p:txBody>
      </p:sp>
      <p:sp>
        <p:nvSpPr>
          <p:cNvPr id="22" name="Text 3"/>
          <p:cNvSpPr txBox="1"/>
          <p:nvPr/>
        </p:nvSpPr>
        <p:spPr>
          <a:xfrm>
            <a:off x="621792" y="1481328"/>
            <a:ext cx="4297680" cy="324612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Pada training ini, kita akan memakai satu tema yang sama dari awal sampai akhir, yaitu </a:t>
            </a:r>
            <a:r>
              <a:rPr sz="1000" b="1" i="0">
                <a:solidFill>
                  <a:srgbClr val="434343"/>
                </a:solidFill>
                <a:latin typeface="Inter"/>
              </a:rPr>
              <a:t>Order Management API</a:t>
            </a:r>
            <a:r>
              <a:rPr sz="1000" b="0" i="0">
                <a:solidFill>
                  <a:srgbClr val="434343"/>
                </a:solidFill>
                <a:latin typeface="Inter"/>
              </a:rPr>
              <a:t>: API sederhana untuk menerima order, menghitung diskon, menyimpan data order, dan mengirim notifikasi ke customer.</a:t>
            </a:r>
          </a:p>
          <a:p>
            <a:pPr algn="l">
              <a:lnSpc>
                <a:spcPct val="115000"/>
              </a:lnSpc>
              <a:spcAft>
                <a:spcPts val="0"/>
              </a:spcAft>
            </a:pPr>
            <a:endParaRPr sz="1000" b="0" i="0">
              <a:solidFill>
                <a:srgbClr val="434343"/>
              </a:solidFill>
              <a:latin typeface="Inter"/>
            </a:endParaRPr>
          </a:p>
          <a:p>
            <a:pPr algn="l">
              <a:lnSpc>
                <a:spcPct val="115000"/>
              </a:lnSpc>
              <a:spcAft>
                <a:spcPts val="400"/>
              </a:spcAft>
            </a:pPr>
            <a:r>
              <a:rPr sz="1000" b="0" i="0">
                <a:solidFill>
                  <a:srgbClr val="434343"/>
                </a:solidFill>
                <a:latin typeface="Inter"/>
              </a:rPr>
              <a:t>Aplikasi ini kita kembangkan sedikit demi sedikit di setiap sesi. Di Sesi 1 kita mulai dari kode yang masih ditulis di satu file, lalu merapikannya. Hasil akhir setiap sesi menjadi titik awal sesi berikutnya, sampai di Sesi 12 menjadi Order API yang siap production.</a:t>
            </a:r>
          </a:p>
          <a:p>
            <a:pPr algn="l">
              <a:lnSpc>
                <a:spcPct val="115000"/>
              </a:lnSpc>
              <a:spcAft>
                <a:spcPts val="0"/>
              </a:spcAft>
            </a:pPr>
            <a:endParaRPr sz="1000" b="0" i="0">
              <a:solidFill>
                <a:srgbClr val="434343"/>
              </a:solidFill>
              <a:latin typeface="Inter"/>
            </a:endParaRPr>
          </a:p>
          <a:p>
            <a:pPr algn="l">
              <a:lnSpc>
                <a:spcPct val="115000"/>
              </a:lnSpc>
              <a:spcAft>
                <a:spcPts val="400"/>
              </a:spcAft>
            </a:pPr>
            <a:r>
              <a:rPr sz="1000" b="0" i="0">
                <a:solidFill>
                  <a:srgbClr val="434343"/>
                </a:solidFill>
                <a:latin typeface="Inter"/>
              </a:rPr>
              <a:t>Di Sesi 5 (Celery &amp; Redis): notifikasi dan report dikerjakan di background job.</a:t>
            </a:r>
          </a:p>
        </p:txBody>
      </p:sp>
      <p:sp>
        <p:nvSpPr>
          <p:cNvPr id="23" name="Box 4"/>
          <p:cNvSpPr/>
          <p:nvPr/>
        </p:nvSpPr>
        <p:spPr>
          <a:xfrm>
            <a:off x="5120640" y="1600200"/>
            <a:ext cx="1828800" cy="402336"/>
          </a:xfrm>
          <a:prstGeom prst="roundRect">
            <a:avLst>
              <a:gd name="adj" fmla="val 27272"/>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FFFFFF"/>
                </a:solidFill>
                <a:latin typeface="Inter"/>
              </a:rPr>
              <a:t>Terima order</a:t>
            </a:r>
          </a:p>
        </p:txBody>
      </p:sp>
      <p:sp>
        <p:nvSpPr>
          <p:cNvPr id="24" name="Box 5"/>
          <p:cNvSpPr/>
          <p:nvPr/>
        </p:nvSpPr>
        <p:spPr>
          <a:xfrm>
            <a:off x="5120640" y="2167128"/>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Hitung diskon</a:t>
            </a:r>
          </a:p>
        </p:txBody>
      </p:sp>
      <p:cxnSp>
        <p:nvCxnSpPr>
          <p:cNvPr id="25" name="Arrow 6"/>
          <p:cNvCxnSpPr/>
          <p:nvPr/>
        </p:nvCxnSpPr>
        <p:spPr>
          <a:xfrm>
            <a:off x="6035040" y="2002536"/>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Box 7"/>
          <p:cNvSpPr/>
          <p:nvPr/>
        </p:nvSpPr>
        <p:spPr>
          <a:xfrm>
            <a:off x="5120640" y="2734056"/>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Simpan ke database</a:t>
            </a:r>
          </a:p>
        </p:txBody>
      </p:sp>
      <p:cxnSp>
        <p:nvCxnSpPr>
          <p:cNvPr id="27" name="Arrow 8"/>
          <p:cNvCxnSpPr/>
          <p:nvPr/>
        </p:nvCxnSpPr>
        <p:spPr>
          <a:xfrm>
            <a:off x="6035040" y="2569464"/>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Box 9"/>
          <p:cNvSpPr/>
          <p:nvPr/>
        </p:nvSpPr>
        <p:spPr>
          <a:xfrm>
            <a:off x="5120640" y="3300984"/>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Kirim notifikasi</a:t>
            </a:r>
          </a:p>
        </p:txBody>
      </p:sp>
      <p:cxnSp>
        <p:nvCxnSpPr>
          <p:cNvPr id="29" name="Arrow 10"/>
          <p:cNvCxnSpPr/>
          <p:nvPr/>
        </p:nvCxnSpPr>
        <p:spPr>
          <a:xfrm>
            <a:off x="6035040" y="3136391"/>
            <a:ext cx="0" cy="164593"/>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 11"/>
          <p:cNvSpPr txBox="1"/>
          <p:nvPr/>
        </p:nvSpPr>
        <p:spPr>
          <a:xfrm>
            <a:off x="7086600" y="1600200"/>
            <a:ext cx="1417320" cy="2103120"/>
          </a:xfrm>
          <a:prstGeom prst="rect">
            <a:avLst/>
          </a:prstGeom>
          <a:noFill/>
        </p:spPr>
        <p:txBody>
          <a:bodyPr wrap="square" lIns="45720" rIns="45720" anchor="t">
            <a:spAutoFit/>
          </a:bodyPr>
          <a:lstStyle/>
          <a:p>
            <a:pPr algn="l">
              <a:lnSpc>
                <a:spcPct val="115000"/>
              </a:lnSpc>
              <a:spcAft>
                <a:spcPts val="400"/>
              </a:spcAft>
            </a:pPr>
            <a:r>
              <a:rPr sz="900" b="1" i="0">
                <a:solidFill>
                  <a:srgbClr val="7A7A7A"/>
                </a:solidFill>
                <a:latin typeface="Inter"/>
              </a:rPr>
              <a:t>Aturan diskon</a:t>
            </a:r>
          </a:p>
          <a:p>
            <a:pPr algn="l">
              <a:lnSpc>
                <a:spcPct val="115000"/>
              </a:lnSpc>
              <a:spcAft>
                <a:spcPts val="400"/>
              </a:spcAft>
            </a:pPr>
            <a:r>
              <a:rPr sz="900" b="0" i="0">
                <a:solidFill>
                  <a:srgbClr val="7A7A7A"/>
                </a:solidFill>
                <a:latin typeface="Inter"/>
              </a:rPr>
              <a:t>regular: 0%</a:t>
            </a:r>
          </a:p>
          <a:p>
            <a:pPr algn="l">
              <a:lnSpc>
                <a:spcPct val="115000"/>
              </a:lnSpc>
              <a:spcAft>
                <a:spcPts val="400"/>
              </a:spcAft>
            </a:pPr>
            <a:r>
              <a:rPr sz="900" b="0" i="0">
                <a:solidFill>
                  <a:srgbClr val="7A7A7A"/>
                </a:solidFill>
                <a:latin typeface="Inter"/>
              </a:rPr>
              <a:t>member: 5%</a:t>
            </a:r>
          </a:p>
          <a:p>
            <a:pPr algn="l">
              <a:lnSpc>
                <a:spcPct val="115000"/>
              </a:lnSpc>
              <a:spcAft>
                <a:spcPts val="400"/>
              </a:spcAft>
            </a:pPr>
            <a:r>
              <a:rPr sz="900" b="0" i="0">
                <a:solidFill>
                  <a:srgbClr val="7A7A7A"/>
                </a:solidFill>
                <a:latin typeface="Inter"/>
              </a:rPr>
              <a:t>vip: 10%</a:t>
            </a:r>
          </a:p>
          <a:p>
            <a:pPr algn="l">
              <a:lnSpc>
                <a:spcPct val="115000"/>
              </a:lnSpc>
              <a:spcAft>
                <a:spcPts val="0"/>
              </a:spcAft>
            </a:pPr>
            <a:endParaRPr sz="900" b="0" i="0">
              <a:solidFill>
                <a:srgbClr val="7A7A7A"/>
              </a:solidFill>
              <a:latin typeface="Inter"/>
            </a:endParaRPr>
          </a:p>
          <a:p>
            <a:pPr algn="l">
              <a:lnSpc>
                <a:spcPct val="115000"/>
              </a:lnSpc>
              <a:spcAft>
                <a:spcPts val="400"/>
              </a:spcAft>
            </a:pPr>
            <a:r>
              <a:rPr sz="900" b="1" i="0">
                <a:solidFill>
                  <a:srgbClr val="7A7A7A"/>
                </a:solidFill>
                <a:latin typeface="Inter"/>
              </a:rPr>
              <a:t>Notifikasi</a:t>
            </a:r>
          </a:p>
          <a:p>
            <a:pPr algn="l">
              <a:lnSpc>
                <a:spcPct val="115000"/>
              </a:lnSpc>
              <a:spcAft>
                <a:spcPts val="400"/>
              </a:spcAft>
            </a:pPr>
            <a:r>
              <a:rPr sz="900" b="0" i="0">
                <a:solidFill>
                  <a:srgbClr val="7A7A7A"/>
                </a:solidFill>
                <a:latin typeface="Inter"/>
              </a:rPr>
              <a:t>email atau SMS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Tahapan Pengembangan Order API</a:t>
            </a:r>
          </a:p>
        </p:txBody>
      </p:sp>
      <p:graphicFrame>
        <p:nvGraphicFramePr>
          <p:cNvPr id="22" name="Table 3"/>
          <p:cNvGraphicFramePr>
            <a:graphicFrameLocks noGrp="1"/>
          </p:cNvGraphicFramePr>
          <p:nvPr/>
        </p:nvGraphicFramePr>
        <p:xfrm>
          <a:off x="621792" y="1463040"/>
          <a:ext cx="7863840" cy="3031236"/>
        </p:xfrm>
        <a:graphic>
          <a:graphicData uri="http://schemas.openxmlformats.org/drawingml/2006/table">
            <a:tbl>
              <a:tblPr firstRow="1" bandRow="1"/>
              <a:tblGrid>
                <a:gridCol w="9601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233172">
                <a:tc>
                  <a:txBody>
                    <a:bodyPr/>
                    <a:lstStyle/>
                    <a:p>
                      <a:pPr algn="l">
                        <a:lnSpc>
                          <a:spcPct val="100000"/>
                        </a:lnSpc>
                        <a:spcAft>
                          <a:spcPts val="0"/>
                        </a:spcAft>
                      </a:pPr>
                      <a:r>
                        <a:rPr sz="800" b="1" i="0">
                          <a:solidFill>
                            <a:srgbClr val="FFFFFF"/>
                          </a:solidFill>
                          <a:latin typeface="Inter"/>
                        </a:rPr>
                        <a:t>Sesi</a:t>
                      </a:r>
                    </a:p>
                  </a:txBody>
                  <a:tcPr marL="73152" marR="73152" marT="36576" marB="36576" anchor="ctr">
                    <a:solidFill>
                      <a:srgbClr val="1C4587"/>
                    </a:solidFill>
                  </a:tcPr>
                </a:tc>
                <a:tc>
                  <a:txBody>
                    <a:bodyPr/>
                    <a:lstStyle/>
                    <a:p>
                      <a:pPr algn="l">
                        <a:lnSpc>
                          <a:spcPct val="100000"/>
                        </a:lnSpc>
                        <a:spcAft>
                          <a:spcPts val="0"/>
                        </a:spcAft>
                      </a:pPr>
                      <a:r>
                        <a:rPr sz="800" b="1" i="0">
                          <a:solidFill>
                            <a:srgbClr val="FFFFFF"/>
                          </a:solidFill>
                          <a:latin typeface="Inter"/>
                        </a:rPr>
                        <a:t>Topik</a:t>
                      </a:r>
                    </a:p>
                  </a:txBody>
                  <a:tcPr marL="73152" marR="73152" marT="36576" marB="36576" anchor="ctr">
                    <a:solidFill>
                      <a:srgbClr val="1C4587"/>
                    </a:solidFill>
                  </a:tcPr>
                </a:tc>
                <a:tc>
                  <a:txBody>
                    <a:bodyPr/>
                    <a:lstStyle/>
                    <a:p>
                      <a:pPr algn="l">
                        <a:lnSpc>
                          <a:spcPct val="100000"/>
                        </a:lnSpc>
                        <a:spcAft>
                          <a:spcPts val="0"/>
                        </a:spcAft>
                      </a:pPr>
                      <a:r>
                        <a:rPr sz="800" b="1" i="0">
                          <a:solidFill>
                            <a:srgbClr val="FFFFFF"/>
                          </a:solidFill>
                          <a:latin typeface="Inter"/>
                        </a:rPr>
                        <a:t>Yang ditambahkan ke Order API</a:t>
                      </a:r>
                    </a:p>
                  </a:txBody>
                  <a:tcPr marL="73152" marR="73152" marT="36576" marB="36576" anchor="ctr">
                    <a:solidFill>
                      <a:srgbClr val="1C4587"/>
                    </a:solidFill>
                  </a:tcPr>
                </a:tc>
                <a:extLst>
                  <a:ext uri="{0D108BD9-81ED-4DB2-BD59-A6C34878D82A}">
                    <a16:rowId xmlns:a16="http://schemas.microsoft.com/office/drawing/2014/main" val="10000"/>
                  </a:ext>
                </a:extLst>
              </a:tr>
              <a:tr h="233172">
                <a:tc>
                  <a:txBody>
                    <a:bodyPr/>
                    <a:lstStyle/>
                    <a:p>
                      <a:pPr algn="l">
                        <a:lnSpc>
                          <a:spcPct val="100000"/>
                        </a:lnSpc>
                        <a:spcAft>
                          <a:spcPts val="0"/>
                        </a:spcAft>
                      </a:pPr>
                      <a:r>
                        <a:rPr sz="800" b="1" i="0">
                          <a:solidFill>
                            <a:srgbClr val="1C4587"/>
                          </a:solidFill>
                          <a:latin typeface="Inter"/>
                        </a:rPr>
                        <a:t>1</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Design Patterns</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Kode didalam satu file diperbaiki: Factory, Singleton, Strategy, Repository, Service Layer</a:t>
                      </a:r>
                    </a:p>
                  </a:txBody>
                  <a:tcPr marL="73152" marR="73152" marT="36576" marB="36576" anchor="ctr">
                    <a:solidFill>
                      <a:srgbClr val="FFFFFF"/>
                    </a:solidFill>
                  </a:tcPr>
                </a:tc>
                <a:extLst>
                  <a:ext uri="{0D108BD9-81ED-4DB2-BD59-A6C34878D82A}">
                    <a16:rowId xmlns:a16="http://schemas.microsoft.com/office/drawing/2014/main" val="10001"/>
                  </a:ext>
                </a:extLst>
              </a:tr>
              <a:tr h="233172">
                <a:tc>
                  <a:txBody>
                    <a:bodyPr/>
                    <a:lstStyle/>
                    <a:p>
                      <a:pPr algn="l">
                        <a:lnSpc>
                          <a:spcPct val="100000"/>
                        </a:lnSpc>
                        <a:spcAft>
                          <a:spcPts val="0"/>
                        </a:spcAft>
                      </a:pPr>
                      <a:r>
                        <a:rPr sz="800" b="1" i="0">
                          <a:solidFill>
                            <a:srgbClr val="1C4587"/>
                          </a:solidFill>
                          <a:latin typeface="Inter"/>
                        </a:rPr>
                        <a:t>2</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SOLID &amp; Clean Architecture</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Dipisah per layer: domain, application, infrastructure, api</a:t>
                      </a:r>
                    </a:p>
                  </a:txBody>
                  <a:tcPr marL="73152" marR="73152" marT="36576" marB="36576" anchor="ctr">
                    <a:solidFill>
                      <a:srgbClr val="F3F4F6"/>
                    </a:solidFill>
                  </a:tcPr>
                </a:tc>
                <a:extLst>
                  <a:ext uri="{0D108BD9-81ED-4DB2-BD59-A6C34878D82A}">
                    <a16:rowId xmlns:a16="http://schemas.microsoft.com/office/drawing/2014/main" val="10002"/>
                  </a:ext>
                </a:extLst>
              </a:tr>
              <a:tr h="233172">
                <a:tc>
                  <a:txBody>
                    <a:bodyPr/>
                    <a:lstStyle/>
                    <a:p>
                      <a:pPr algn="l">
                        <a:lnSpc>
                          <a:spcPct val="100000"/>
                        </a:lnSpc>
                        <a:spcAft>
                          <a:spcPts val="0"/>
                        </a:spcAft>
                      </a:pPr>
                      <a:r>
                        <a:rPr sz="800" b="1" i="0">
                          <a:solidFill>
                            <a:srgbClr val="1C4587"/>
                          </a:solidFill>
                          <a:latin typeface="Inter"/>
                        </a:rPr>
                        <a:t>3</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Domain-Driven Design</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Order jadi aggregate, Money value object, aturan bayar &amp; batal</a:t>
                      </a:r>
                    </a:p>
                  </a:txBody>
                  <a:tcPr marL="73152" marR="73152" marT="36576" marB="36576" anchor="ctr">
                    <a:solidFill>
                      <a:srgbClr val="FFFFFF"/>
                    </a:solidFill>
                  </a:tcPr>
                </a:tc>
                <a:extLst>
                  <a:ext uri="{0D108BD9-81ED-4DB2-BD59-A6C34878D82A}">
                    <a16:rowId xmlns:a16="http://schemas.microsoft.com/office/drawing/2014/main" val="10003"/>
                  </a:ext>
                </a:extLst>
              </a:tr>
              <a:tr h="233172">
                <a:tc>
                  <a:txBody>
                    <a:bodyPr/>
                    <a:lstStyle/>
                    <a:p>
                      <a:pPr algn="l">
                        <a:lnSpc>
                          <a:spcPct val="100000"/>
                        </a:lnSpc>
                        <a:spcAft>
                          <a:spcPts val="0"/>
                        </a:spcAft>
                      </a:pPr>
                      <a:r>
                        <a:rPr sz="800" b="1" i="0">
                          <a:solidFill>
                            <a:srgbClr val="1C4587"/>
                          </a:solidFill>
                          <a:latin typeface="Inter"/>
                        </a:rPr>
                        <a:t>4</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Modular FastAPI &amp; ORM</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Router per modul, SQLAlchemy, Unit of Work, format error</a:t>
                      </a:r>
                    </a:p>
                  </a:txBody>
                  <a:tcPr marL="73152" marR="73152" marT="36576" marB="36576" anchor="ctr">
                    <a:solidFill>
                      <a:srgbClr val="F3F4F6"/>
                    </a:solidFill>
                  </a:tcPr>
                </a:tc>
                <a:extLst>
                  <a:ext uri="{0D108BD9-81ED-4DB2-BD59-A6C34878D82A}">
                    <a16:rowId xmlns:a16="http://schemas.microsoft.com/office/drawing/2014/main" val="10004"/>
                  </a:ext>
                </a:extLst>
              </a:tr>
              <a:tr h="233172">
                <a:tc>
                  <a:txBody>
                    <a:bodyPr/>
                    <a:lstStyle/>
                    <a:p>
                      <a:pPr algn="l">
                        <a:lnSpc>
                          <a:spcPct val="100000"/>
                        </a:lnSpc>
                        <a:spcAft>
                          <a:spcPts val="0"/>
                        </a:spcAft>
                      </a:pPr>
                      <a:r>
                        <a:rPr sz="800" b="1" i="0">
                          <a:solidFill>
                            <a:srgbClr val="1C4587"/>
                          </a:solidFill>
                          <a:latin typeface="Inter"/>
                        </a:rPr>
                        <a:t>5  (sesi ini)</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Celery &amp; Redis</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Notifikasi dan report dikerjakan di background job</a:t>
                      </a:r>
                    </a:p>
                  </a:txBody>
                  <a:tcPr marL="73152" marR="73152" marT="36576" marB="36576" anchor="ctr">
                    <a:solidFill>
                      <a:srgbClr val="FFFFFF"/>
                    </a:solidFill>
                  </a:tcPr>
                </a:tc>
                <a:extLst>
                  <a:ext uri="{0D108BD9-81ED-4DB2-BD59-A6C34878D82A}">
                    <a16:rowId xmlns:a16="http://schemas.microsoft.com/office/drawing/2014/main" val="10005"/>
                  </a:ext>
                </a:extLst>
              </a:tr>
              <a:tr h="233172">
                <a:tc>
                  <a:txBody>
                    <a:bodyPr/>
                    <a:lstStyle/>
                    <a:p>
                      <a:pPr algn="l">
                        <a:lnSpc>
                          <a:spcPct val="100000"/>
                        </a:lnSpc>
                        <a:spcAft>
                          <a:spcPts val="0"/>
                        </a:spcAft>
                      </a:pPr>
                      <a:r>
                        <a:rPr sz="800" b="1" i="0">
                          <a:solidFill>
                            <a:srgbClr val="1C4587"/>
                          </a:solidFill>
                          <a:latin typeface="Inter"/>
                        </a:rPr>
                        <a:t>6</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Caching &amp; Rate Limiting</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Data produk di-cache di Redis, request dibatasi</a:t>
                      </a:r>
                    </a:p>
                  </a:txBody>
                  <a:tcPr marL="73152" marR="73152" marT="36576" marB="36576" anchor="ctr">
                    <a:solidFill>
                      <a:srgbClr val="F3F4F6"/>
                    </a:solidFill>
                  </a:tcPr>
                </a:tc>
                <a:extLst>
                  <a:ext uri="{0D108BD9-81ED-4DB2-BD59-A6C34878D82A}">
                    <a16:rowId xmlns:a16="http://schemas.microsoft.com/office/drawing/2014/main" val="10006"/>
                  </a:ext>
                </a:extLst>
              </a:tr>
              <a:tr h="233172">
                <a:tc>
                  <a:txBody>
                    <a:bodyPr/>
                    <a:lstStyle/>
                    <a:p>
                      <a:pPr algn="l">
                        <a:lnSpc>
                          <a:spcPct val="100000"/>
                        </a:lnSpc>
                        <a:spcAft>
                          <a:spcPts val="0"/>
                        </a:spcAft>
                      </a:pPr>
                      <a:r>
                        <a:rPr sz="800" b="1" i="0">
                          <a:solidFill>
                            <a:srgbClr val="1C4587"/>
                          </a:solidFill>
                          <a:latin typeface="Inter"/>
                        </a:rPr>
                        <a:t>7</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Database Optimization</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PostgreSQL, index, tanpa N+1, pagination</a:t>
                      </a:r>
                    </a:p>
                  </a:txBody>
                  <a:tcPr marL="73152" marR="73152" marT="36576" marB="36576" anchor="ctr">
                    <a:solidFill>
                      <a:srgbClr val="FFFFFF"/>
                    </a:solidFill>
                  </a:tcPr>
                </a:tc>
                <a:extLst>
                  <a:ext uri="{0D108BD9-81ED-4DB2-BD59-A6C34878D82A}">
                    <a16:rowId xmlns:a16="http://schemas.microsoft.com/office/drawing/2014/main" val="10007"/>
                  </a:ext>
                </a:extLst>
              </a:tr>
              <a:tr h="233172">
                <a:tc>
                  <a:txBody>
                    <a:bodyPr/>
                    <a:lstStyle/>
                    <a:p>
                      <a:pPr algn="l">
                        <a:lnSpc>
                          <a:spcPct val="100000"/>
                        </a:lnSpc>
                        <a:spcAft>
                          <a:spcPts val="0"/>
                        </a:spcAft>
                      </a:pPr>
                      <a:r>
                        <a:rPr sz="800" b="1" i="0">
                          <a:solidFill>
                            <a:srgbClr val="1C4587"/>
                          </a:solidFill>
                          <a:latin typeface="Inter"/>
                        </a:rPr>
                        <a:t>8</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RabbitMQ &amp; Kafka</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Event order, consumer notifikasi yang retry-safe</a:t>
                      </a:r>
                    </a:p>
                  </a:txBody>
                  <a:tcPr marL="73152" marR="73152" marT="36576" marB="36576" anchor="ctr">
                    <a:solidFill>
                      <a:srgbClr val="F3F4F6"/>
                    </a:solidFill>
                  </a:tcPr>
                </a:tc>
                <a:extLst>
                  <a:ext uri="{0D108BD9-81ED-4DB2-BD59-A6C34878D82A}">
                    <a16:rowId xmlns:a16="http://schemas.microsoft.com/office/drawing/2014/main" val="10008"/>
                  </a:ext>
                </a:extLst>
              </a:tr>
              <a:tr h="233172">
                <a:tc>
                  <a:txBody>
                    <a:bodyPr/>
                    <a:lstStyle/>
                    <a:p>
                      <a:pPr algn="l">
                        <a:lnSpc>
                          <a:spcPct val="100000"/>
                        </a:lnSpc>
                        <a:spcAft>
                          <a:spcPts val="0"/>
                        </a:spcAft>
                      </a:pPr>
                      <a:r>
                        <a:rPr sz="800" b="1" i="0">
                          <a:solidFill>
                            <a:srgbClr val="1C4587"/>
                          </a:solidFill>
                          <a:latin typeface="Inter"/>
                        </a:rPr>
                        <a:t>9</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Observability</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Log terstruktur, metrics, dan tracing</a:t>
                      </a:r>
                    </a:p>
                  </a:txBody>
                  <a:tcPr marL="73152" marR="73152" marT="36576" marB="36576" anchor="ctr">
                    <a:solidFill>
                      <a:srgbClr val="FFFFFF"/>
                    </a:solidFill>
                  </a:tcPr>
                </a:tc>
                <a:extLst>
                  <a:ext uri="{0D108BD9-81ED-4DB2-BD59-A6C34878D82A}">
                    <a16:rowId xmlns:a16="http://schemas.microsoft.com/office/drawing/2014/main" val="10009"/>
                  </a:ext>
                </a:extLst>
              </a:tr>
              <a:tr h="233172">
                <a:tc>
                  <a:txBody>
                    <a:bodyPr/>
                    <a:lstStyle/>
                    <a:p>
                      <a:pPr algn="l">
                        <a:lnSpc>
                          <a:spcPct val="100000"/>
                        </a:lnSpc>
                        <a:spcAft>
                          <a:spcPts val="0"/>
                        </a:spcAft>
                      </a:pPr>
                      <a:r>
                        <a:rPr sz="800" b="1" i="0">
                          <a:solidFill>
                            <a:srgbClr val="1C4587"/>
                          </a:solidFill>
                          <a:latin typeface="Inter"/>
                        </a:rPr>
                        <a:t>10</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API Security</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Login OAuth2/JWT, hak akses per role</a:t>
                      </a:r>
                    </a:p>
                  </a:txBody>
                  <a:tcPr marL="73152" marR="73152" marT="36576" marB="36576" anchor="ctr">
                    <a:solidFill>
                      <a:srgbClr val="F3F4F6"/>
                    </a:solidFill>
                  </a:tcPr>
                </a:tc>
                <a:extLst>
                  <a:ext uri="{0D108BD9-81ED-4DB2-BD59-A6C34878D82A}">
                    <a16:rowId xmlns:a16="http://schemas.microsoft.com/office/drawing/2014/main" val="10010"/>
                  </a:ext>
                </a:extLst>
              </a:tr>
              <a:tr h="233172">
                <a:tc>
                  <a:txBody>
                    <a:bodyPr/>
                    <a:lstStyle/>
                    <a:p>
                      <a:pPr algn="l">
                        <a:lnSpc>
                          <a:spcPct val="100000"/>
                        </a:lnSpc>
                        <a:spcAft>
                          <a:spcPts val="0"/>
                        </a:spcAft>
                      </a:pPr>
                      <a:r>
                        <a:rPr sz="800" b="1" i="0">
                          <a:solidFill>
                            <a:srgbClr val="1C4587"/>
                          </a:solidFill>
                          <a:latin typeface="Inter"/>
                        </a:rPr>
                        <a:t>11</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Docker &amp; CI/CD</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Docker image, Compose, dan pipeline otomatis</a:t>
                      </a:r>
                    </a:p>
                  </a:txBody>
                  <a:tcPr marL="73152" marR="73152" marT="36576" marB="36576" anchor="ctr">
                    <a:solidFill>
                      <a:srgbClr val="FFFFFF"/>
                    </a:solidFill>
                  </a:tcPr>
                </a:tc>
                <a:extLst>
                  <a:ext uri="{0D108BD9-81ED-4DB2-BD59-A6C34878D82A}">
                    <a16:rowId xmlns:a16="http://schemas.microsoft.com/office/drawing/2014/main" val="10011"/>
                  </a:ext>
                </a:extLst>
              </a:tr>
              <a:tr h="233172">
                <a:tc>
                  <a:txBody>
                    <a:bodyPr/>
                    <a:lstStyle/>
                    <a:p>
                      <a:pPr algn="l">
                        <a:lnSpc>
                          <a:spcPct val="100000"/>
                        </a:lnSpc>
                        <a:spcAft>
                          <a:spcPts val="0"/>
                        </a:spcAft>
                      </a:pPr>
                      <a:r>
                        <a:rPr sz="800" b="1" i="0">
                          <a:solidFill>
                            <a:srgbClr val="1C4587"/>
                          </a:solidFill>
                          <a:latin typeface="Inter"/>
                        </a:rPr>
                        <a:t>12</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Final Project</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Order API yang siap production</a:t>
                      </a:r>
                    </a:p>
                  </a:txBody>
                  <a:tcPr marL="73152" marR="73152" marT="36576" marB="36576" anchor="ctr">
                    <a:solidFill>
                      <a:srgbClr val="F3F4F6"/>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Pengantar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Fitur Python, FastAPI, dan Library di Sesi Ini</a:t>
            </a:r>
          </a:p>
        </p:txBody>
      </p:sp>
      <p:graphicFrame>
        <p:nvGraphicFramePr>
          <p:cNvPr id="22" name="Table 3"/>
          <p:cNvGraphicFramePr>
            <a:graphicFrameLocks noGrp="1"/>
          </p:cNvGraphicFramePr>
          <p:nvPr/>
        </p:nvGraphicFramePr>
        <p:xfrm>
          <a:off x="621792" y="1481328"/>
          <a:ext cx="7863840" cy="292608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65760">
                <a:tc>
                  <a:txBody>
                    <a:bodyPr/>
                    <a:lstStyle/>
                    <a:p>
                      <a:pPr algn="l">
                        <a:lnSpc>
                          <a:spcPct val="100000"/>
                        </a:lnSpc>
                        <a:spcAft>
                          <a:spcPts val="0"/>
                        </a:spcAft>
                      </a:pPr>
                      <a:r>
                        <a:rPr sz="950" b="1" i="0">
                          <a:solidFill>
                            <a:srgbClr val="FFFFFF"/>
                          </a:solidFill>
                          <a:latin typeface="Inter"/>
                        </a:rPr>
                        <a:t>Topik</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Jenisnya</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Disediakan oleh</a:t>
                      </a:r>
                    </a:p>
                  </a:txBody>
                  <a:tcPr marL="73152" marR="73152" marT="36576" marB="36576" anchor="ctr">
                    <a:solidFill>
                      <a:srgbClr val="1C4587"/>
                    </a:solidFill>
                  </a:tcPr>
                </a:tc>
                <a:extLst>
                  <a:ext uri="{0D108BD9-81ED-4DB2-BD59-A6C34878D82A}">
                    <a16:rowId xmlns:a16="http://schemas.microsoft.com/office/drawing/2014/main" val="10000"/>
                  </a:ext>
                </a:extLst>
              </a:tr>
              <a:tr h="365760">
                <a:tc>
                  <a:txBody>
                    <a:bodyPr/>
                    <a:lstStyle/>
                    <a:p>
                      <a:pPr algn="l">
                        <a:lnSpc>
                          <a:spcPct val="100000"/>
                        </a:lnSpc>
                        <a:spcAft>
                          <a:spcPts val="0"/>
                        </a:spcAft>
                      </a:pPr>
                      <a:r>
                        <a:rPr sz="950" b="1" i="0">
                          <a:solidFill>
                            <a:srgbClr val="1C4587"/>
                          </a:solidFill>
                          <a:latin typeface="Inter"/>
                        </a:rPr>
                        <a:t>async def dan await</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Fitur bawaan</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Python (asyncio), dipakai FastAPI untuk endpoint async</a:t>
                      </a:r>
                    </a:p>
                  </a:txBody>
                  <a:tcPr marL="73152" marR="73152" marT="36576" marB="36576" anchor="ctr">
                    <a:solidFill>
                      <a:srgbClr val="FFFFFF"/>
                    </a:solidFill>
                  </a:tcPr>
                </a:tc>
                <a:extLst>
                  <a:ext uri="{0D108BD9-81ED-4DB2-BD59-A6C34878D82A}">
                    <a16:rowId xmlns:a16="http://schemas.microsoft.com/office/drawing/2014/main" val="10001"/>
                  </a:ext>
                </a:extLst>
              </a:tr>
              <a:tr h="365760">
                <a:tc>
                  <a:txBody>
                    <a:bodyPr/>
                    <a:lstStyle/>
                    <a:p>
                      <a:pPr algn="l">
                        <a:lnSpc>
                          <a:spcPct val="100000"/>
                        </a:lnSpc>
                        <a:spcAft>
                          <a:spcPts val="0"/>
                        </a:spcAft>
                      </a:pPr>
                      <a:r>
                        <a:rPr sz="950" b="1" i="0">
                          <a:solidFill>
                            <a:srgbClr val="1C4587"/>
                          </a:solidFill>
                          <a:latin typeface="Inter"/>
                        </a:rPr>
                        <a:t>BackgroundTasks</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Fitur bawaan</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FastAPI (berasal dari Starlette)</a:t>
                      </a:r>
                    </a:p>
                  </a:txBody>
                  <a:tcPr marL="73152" marR="73152" marT="36576" marB="36576" anchor="ctr">
                    <a:solidFill>
                      <a:srgbClr val="F3F4F6"/>
                    </a:solidFill>
                  </a:tcPr>
                </a:tc>
                <a:extLst>
                  <a:ext uri="{0D108BD9-81ED-4DB2-BD59-A6C34878D82A}">
                    <a16:rowId xmlns:a16="http://schemas.microsoft.com/office/drawing/2014/main" val="10002"/>
                  </a:ext>
                </a:extLst>
              </a:tr>
              <a:tr h="365760">
                <a:tc>
                  <a:txBody>
                    <a:bodyPr/>
                    <a:lstStyle/>
                    <a:p>
                      <a:pPr algn="l">
                        <a:lnSpc>
                          <a:spcPct val="100000"/>
                        </a:lnSpc>
                        <a:spcAft>
                          <a:spcPts val="0"/>
                        </a:spcAft>
                      </a:pPr>
                      <a:r>
                        <a:rPr sz="950" b="1" i="0">
                          <a:solidFill>
                            <a:srgbClr val="1C4587"/>
                          </a:solidFill>
                          <a:latin typeface="Inter"/>
                        </a:rPr>
                        <a:t>Celery: task, worker, delay()</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Library</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Celery, library untuk menjalankan job di worker</a:t>
                      </a:r>
                    </a:p>
                  </a:txBody>
                  <a:tcPr marL="73152" marR="73152" marT="36576" marB="36576" anchor="ctr">
                    <a:solidFill>
                      <a:srgbClr val="FFFFFF"/>
                    </a:solidFill>
                  </a:tcPr>
                </a:tc>
                <a:extLst>
                  <a:ext uri="{0D108BD9-81ED-4DB2-BD59-A6C34878D82A}">
                    <a16:rowId xmlns:a16="http://schemas.microsoft.com/office/drawing/2014/main" val="10003"/>
                  </a:ext>
                </a:extLst>
              </a:tr>
              <a:tr h="365760">
                <a:tc>
                  <a:txBody>
                    <a:bodyPr/>
                    <a:lstStyle/>
                    <a:p>
                      <a:pPr algn="l">
                        <a:lnSpc>
                          <a:spcPct val="100000"/>
                        </a:lnSpc>
                        <a:spcAft>
                          <a:spcPts val="0"/>
                        </a:spcAft>
                      </a:pPr>
                      <a:r>
                        <a:rPr sz="950" b="1" i="0">
                          <a:solidFill>
                            <a:srgbClr val="1C4587"/>
                          </a:solidFill>
                          <a:latin typeface="Inter"/>
                        </a:rPr>
                        <a:t>Redis</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Software terpisah</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Database in-memory, dipakai sebagai broker dan result backend</a:t>
                      </a:r>
                    </a:p>
                  </a:txBody>
                  <a:tcPr marL="73152" marR="73152" marT="36576" marB="36576" anchor="ctr">
                    <a:solidFill>
                      <a:srgbClr val="F3F4F6"/>
                    </a:solidFill>
                  </a:tcPr>
                </a:tc>
                <a:extLst>
                  <a:ext uri="{0D108BD9-81ED-4DB2-BD59-A6C34878D82A}">
                    <a16:rowId xmlns:a16="http://schemas.microsoft.com/office/drawing/2014/main" val="10004"/>
                  </a:ext>
                </a:extLst>
              </a:tr>
              <a:tr h="365760">
                <a:tc>
                  <a:txBody>
                    <a:bodyPr/>
                    <a:lstStyle/>
                    <a:p>
                      <a:pPr algn="l">
                        <a:lnSpc>
                          <a:spcPct val="100000"/>
                        </a:lnSpc>
                        <a:spcAft>
                          <a:spcPts val="0"/>
                        </a:spcAft>
                      </a:pPr>
                      <a:r>
                        <a:rPr sz="950" b="1" i="0">
                          <a:solidFill>
                            <a:srgbClr val="1C4587"/>
                          </a:solidFill>
                          <a:latin typeface="Inter"/>
                        </a:rPr>
                        <a:t>Task status, retry, time limit</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Fitur library</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Celery: AsyncResult dan opsi di @celery_app.task</a:t>
                      </a:r>
                    </a:p>
                  </a:txBody>
                  <a:tcPr marL="73152" marR="73152" marT="36576" marB="36576" anchor="ctr">
                    <a:solidFill>
                      <a:srgbClr val="FFFFFF"/>
                    </a:solidFill>
                  </a:tcPr>
                </a:tc>
                <a:extLst>
                  <a:ext uri="{0D108BD9-81ED-4DB2-BD59-A6C34878D82A}">
                    <a16:rowId xmlns:a16="http://schemas.microsoft.com/office/drawing/2014/main" val="10005"/>
                  </a:ext>
                </a:extLst>
              </a:tr>
              <a:tr h="365760">
                <a:tc>
                  <a:txBody>
                    <a:bodyPr/>
                    <a:lstStyle/>
                    <a:p>
                      <a:pPr algn="l">
                        <a:lnSpc>
                          <a:spcPct val="100000"/>
                        </a:lnSpc>
                        <a:spcAft>
                          <a:spcPts val="0"/>
                        </a:spcAft>
                      </a:pPr>
                      <a:r>
                        <a:rPr sz="950" b="1" i="0">
                          <a:solidFill>
                            <a:srgbClr val="1C4587"/>
                          </a:solidFill>
                          <a:latin typeface="Inter"/>
                        </a:rPr>
                        <a:t>Idempotency key</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Design pattern</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Ditulis sendiri, key disimpan di database atau Redis</a:t>
                      </a:r>
                    </a:p>
                  </a:txBody>
                  <a:tcPr marL="73152" marR="73152" marT="36576" marB="36576" anchor="ctr">
                    <a:solidFill>
                      <a:srgbClr val="F3F4F6"/>
                    </a:solidFill>
                  </a:tcPr>
                </a:tc>
                <a:extLst>
                  <a:ext uri="{0D108BD9-81ED-4DB2-BD59-A6C34878D82A}">
                    <a16:rowId xmlns:a16="http://schemas.microsoft.com/office/drawing/2014/main" val="10006"/>
                  </a:ext>
                </a:extLst>
              </a:tr>
              <a:tr h="365760">
                <a:tc>
                  <a:txBody>
                    <a:bodyPr/>
                    <a:lstStyle/>
                    <a:p>
                      <a:pPr algn="l">
                        <a:lnSpc>
                          <a:spcPct val="100000"/>
                        </a:lnSpc>
                        <a:spcAft>
                          <a:spcPts val="0"/>
                        </a:spcAft>
                      </a:pPr>
                      <a:r>
                        <a:rPr sz="950" b="1" i="0">
                          <a:solidFill>
                            <a:srgbClr val="1C4587"/>
                          </a:solidFill>
                          <a:latin typeface="Inter"/>
                        </a:rPr>
                        <a:t>Failure handling</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Fitur library</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Celery: base class Task dengan on_retry dan on_failure</a:t>
                      </a:r>
                    </a:p>
                  </a:txBody>
                  <a:tcPr marL="73152" marR="73152" marT="36576" marB="36576" anchor="ctr">
                    <a:solidFill>
                      <a:srgbClr val="FFFFFF"/>
                    </a:solidFill>
                  </a:tcPr>
                </a:tc>
                <a:extLst>
                  <a:ext uri="{0D108BD9-81ED-4DB2-BD59-A6C34878D82A}">
                    <a16:rowId xmlns:a16="http://schemas.microsoft.com/office/drawing/2014/main" val="10007"/>
                  </a:ext>
                </a:extLst>
              </a:tr>
            </a:tbl>
          </a:graphicData>
        </a:graphic>
      </p:graphicFrame>
      <p:sp>
        <p:nvSpPr>
          <p:cNvPr id="23" name="Text 4"/>
          <p:cNvSpPr txBox="1"/>
          <p:nvPr/>
        </p:nvSpPr>
        <p:spPr>
          <a:xfrm>
            <a:off x="621792" y="4526280"/>
            <a:ext cx="7863840" cy="274320"/>
          </a:xfrm>
          <a:prstGeom prst="rect">
            <a:avLst/>
          </a:prstGeom>
          <a:noFill/>
        </p:spPr>
        <p:txBody>
          <a:bodyPr wrap="square" lIns="45720" rIns="45720" anchor="t">
            <a:spAutoFit/>
          </a:bodyPr>
          <a:lstStyle/>
          <a:p>
            <a:pPr algn="l">
              <a:lnSpc>
                <a:spcPct val="115000"/>
              </a:lnSpc>
              <a:spcAft>
                <a:spcPts val="400"/>
              </a:spcAft>
            </a:pPr>
            <a:r>
              <a:rPr sz="950" b="0" i="0">
                <a:solidFill>
                  <a:srgbClr val="1C4587"/>
                </a:solidFill>
                <a:latin typeface="Inter"/>
              </a:rPr>
              <a:t>Bagian 1 membahas proses yang tidak perlu ditunggu client. Bagian 2 memindahkannya ke worker, dan bagian 3 menangani job yang gagal: retry, idempotency, dan failure handling.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01</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Async IO &amp; Background Job</a:t>
            </a:r>
          </a:p>
        </p:txBody>
      </p:sp>
      <p:sp>
        <p:nvSpPr>
          <p:cNvPr id="33" name="Text 3"/>
          <p:cNvSpPr txBox="1"/>
          <p:nvPr/>
        </p:nvSpPr>
        <p:spPr>
          <a:xfrm>
            <a:off x="822960" y="2743200"/>
            <a:ext cx="6583680" cy="288349"/>
          </a:xfrm>
          <a:prstGeom prst="rect">
            <a:avLst/>
          </a:prstGeom>
          <a:noFill/>
        </p:spPr>
        <p:txBody>
          <a:bodyPr wrap="square" lIns="45720" rIns="45720" anchor="t">
            <a:spAutoFit/>
          </a:bodyPr>
          <a:lstStyle/>
          <a:p>
            <a:pPr algn="l">
              <a:lnSpc>
                <a:spcPct val="115000"/>
              </a:lnSpc>
              <a:spcAft>
                <a:spcPts val="400"/>
              </a:spcAft>
            </a:pPr>
            <a:r>
              <a:rPr sz="1200" b="0" i="0" dirty="0">
                <a:solidFill>
                  <a:srgbClr val="E3ECFA"/>
                </a:solidFill>
                <a:latin typeface="Inter"/>
              </a:rPr>
              <a:t>Kapan </a:t>
            </a:r>
            <a:r>
              <a:rPr lang="en-US" sz="1200" b="0" i="0" dirty="0" err="1">
                <a:solidFill>
                  <a:srgbClr val="E3ECFA"/>
                </a:solidFill>
                <a:latin typeface="Inter"/>
              </a:rPr>
              <a:t>cukup</a:t>
            </a:r>
            <a:r>
              <a:rPr lang="en-US" sz="1200" b="0" i="0" dirty="0">
                <a:solidFill>
                  <a:srgbClr val="E3ECFA"/>
                </a:solidFill>
                <a:latin typeface="Inter"/>
              </a:rPr>
              <a:t> </a:t>
            </a:r>
            <a:r>
              <a:rPr lang="en-US" sz="1200" b="0" i="0" dirty="0" err="1">
                <a:solidFill>
                  <a:srgbClr val="E3ECFA"/>
                </a:solidFill>
                <a:latin typeface="Inter"/>
              </a:rPr>
              <a:t>menggunakan</a:t>
            </a:r>
            <a:r>
              <a:rPr lang="en-US" sz="1200" b="0" i="0" dirty="0">
                <a:solidFill>
                  <a:srgbClr val="E3ECFA"/>
                </a:solidFill>
                <a:latin typeface="Inter"/>
              </a:rPr>
              <a:t> </a:t>
            </a:r>
            <a:r>
              <a:rPr sz="1200" b="0" i="0" dirty="0">
                <a:solidFill>
                  <a:srgbClr val="E3ECFA"/>
                </a:solidFill>
                <a:latin typeface="Inter"/>
              </a:rPr>
              <a:t>await</a:t>
            </a:r>
            <a:r>
              <a:rPr lang="en-US" sz="1200" b="0" i="0" dirty="0">
                <a:solidFill>
                  <a:srgbClr val="E3ECFA"/>
                </a:solidFill>
                <a:latin typeface="Inter"/>
              </a:rPr>
              <a:t> dan </a:t>
            </a:r>
            <a:r>
              <a:rPr sz="1200" b="0" i="0" dirty="0" err="1">
                <a:solidFill>
                  <a:srgbClr val="E3ECFA"/>
                </a:solidFill>
                <a:latin typeface="Inter"/>
              </a:rPr>
              <a:t>kapan</a:t>
            </a:r>
            <a:r>
              <a:rPr sz="1200" b="0" i="0" dirty="0">
                <a:solidFill>
                  <a:srgbClr val="E3ECFA"/>
                </a:solidFill>
                <a:latin typeface="Inter"/>
              </a:rPr>
              <a:t> </a:t>
            </a:r>
            <a:r>
              <a:rPr sz="1200" b="0" i="0" dirty="0" err="1">
                <a:solidFill>
                  <a:srgbClr val="E3ECFA"/>
                </a:solidFill>
                <a:latin typeface="Inter"/>
              </a:rPr>
              <a:t>prosesnya</a:t>
            </a:r>
            <a:r>
              <a:rPr sz="1200" b="0" i="0" dirty="0">
                <a:solidFill>
                  <a:srgbClr val="E3ECFA"/>
                </a:solidFill>
                <a:latin typeface="Inter"/>
              </a:rPr>
              <a:t> </a:t>
            </a:r>
            <a:r>
              <a:rPr sz="1200" b="0" i="0" dirty="0" err="1">
                <a:solidFill>
                  <a:srgbClr val="E3ECFA"/>
                </a:solidFill>
                <a:latin typeface="Inter"/>
              </a:rPr>
              <a:t>dipindah</a:t>
            </a:r>
            <a:r>
              <a:rPr sz="1200" b="0" i="0" dirty="0">
                <a:solidFill>
                  <a:srgbClr val="E3ECFA"/>
                </a:solidFill>
                <a:latin typeface="Inter"/>
              </a:rPr>
              <a:t> </a:t>
            </a:r>
            <a:r>
              <a:rPr sz="1200" b="0" i="0" dirty="0" err="1">
                <a:solidFill>
                  <a:srgbClr val="E3ECFA"/>
                </a:solidFill>
                <a:latin typeface="Inter"/>
              </a:rPr>
              <a:t>ke</a:t>
            </a:r>
            <a:r>
              <a:rPr sz="1200" b="0" i="0" dirty="0">
                <a:solidFill>
                  <a:srgbClr val="E3ECFA"/>
                </a:solidFill>
                <a:latin typeface="Inter"/>
              </a:rPr>
              <a:t> background</a:t>
            </a:r>
            <a:r>
              <a:rPr lang="en-US" sz="1200" b="0" i="0" dirty="0">
                <a:solidFill>
                  <a:srgbClr val="E3ECFA"/>
                </a:solidFill>
                <a:latin typeface="Inter"/>
              </a:rPr>
              <a:t> job</a:t>
            </a:r>
            <a:r>
              <a:rPr sz="1200" b="0" i="0" dirty="0">
                <a:solidFill>
                  <a:srgbClr val="E3ECFA"/>
                </a:solidFill>
                <a:latin typeface="Inter"/>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Async IO</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Async IO?</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Async IO adalah</a:t>
            </a:r>
          </a:p>
          <a:p>
            <a:pPr algn="l">
              <a:lnSpc>
                <a:spcPct val="115000"/>
              </a:lnSpc>
              <a:spcAft>
                <a:spcPts val="400"/>
              </a:spcAft>
            </a:pPr>
            <a:r>
              <a:rPr sz="900" b="0" i="0">
                <a:solidFill>
                  <a:srgbClr val="434343"/>
                </a:solidFill>
                <a:latin typeface="Inter"/>
              </a:rPr>
              <a:t>Cara Python menjalankan banyak function async yang sedang </a:t>
            </a:r>
            <a:r>
              <a:rPr sz="900" b="1" i="0">
                <a:solidFill>
                  <a:srgbClr val="434343"/>
                </a:solidFill>
                <a:latin typeface="Inter"/>
              </a:rPr>
              <a:t>menunggu IO</a:t>
            </a:r>
            <a:r>
              <a:rPr sz="900" b="0" i="0">
                <a:solidFill>
                  <a:srgbClr val="434343"/>
                </a:solidFill>
                <a:latin typeface="Inter"/>
              </a:rPr>
              <a:t> (input/output, misalnya memanggil API lain atau query database) secara bergantian di satu thread. Di FastAPI, endpoint </a:t>
            </a:r>
            <a:r>
              <a:rPr sz="900" b="0" i="0">
                <a:solidFill>
                  <a:srgbClr val="B5482A"/>
                </a:solidFill>
                <a:latin typeface="Inconsolata"/>
              </a:rPr>
              <a:t>async def</a:t>
            </a:r>
            <a:r>
              <a:rPr sz="900" b="0" i="0">
                <a:solidFill>
                  <a:srgbClr val="434343"/>
                </a:solidFill>
                <a:latin typeface="Inter"/>
              </a:rPr>
              <a:t> dijalankan oleh </a:t>
            </a:r>
            <a:r>
              <a:rPr sz="900" b="1" i="0">
                <a:solidFill>
                  <a:srgbClr val="434343"/>
                </a:solidFill>
                <a:latin typeface="Inter"/>
              </a:rPr>
              <a:t>event loop</a:t>
            </a:r>
            <a:r>
              <a:rPr sz="900" b="0" i="0">
                <a:solidFill>
                  <a:srgbClr val="434343"/>
                </a:solidFill>
                <a:latin typeface="Inter"/>
              </a:rPr>
              <a:t>, sehingga selama satu request menunggu, request lain tetap dilayani.</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Melayani lebih banyak request dengan satu proses API</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Mencegah request yang sedang menunggu membuat request lain ikut menunggu</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Mempercepat endpoint yang memanggil beberapa API sekaligus</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async io: 01-async-io/before.py</a:t>
            </a:r>
          </a:p>
        </p:txBody>
      </p:sp>
      <p:sp>
        <p:nvSpPr>
          <p:cNvPr id="28" name="CodeBg 11"/>
          <p:cNvSpPr/>
          <p:nvPr/>
        </p:nvSpPr>
        <p:spPr>
          <a:xfrm>
            <a:off x="4297680" y="1719072"/>
            <a:ext cx="4187951" cy="1325880"/>
          </a:xfrm>
          <a:prstGeom prst="roundRect">
            <a:avLst>
              <a:gd name="adj" fmla="val 137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325880"/>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fetch_shipping_cost</a:t>
            </a:r>
            <a:r>
              <a:rPr sz="850" i="0">
                <a:solidFill>
                  <a:srgbClr val="E6EDF3"/>
                </a:solidFill>
                <a:latin typeface="Inconsolata"/>
              </a:rPr>
              <a:t>(city: </a:t>
            </a:r>
            <a:r>
              <a:rPr sz="850" i="0">
                <a:solidFill>
                  <a:srgbClr val="C3A6FF"/>
                </a:solidFill>
                <a:latin typeface="Inconsolata"/>
              </a:rPr>
              <a:t>str</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E6EDF3"/>
                </a:solidFill>
                <a:latin typeface="Inconsolata"/>
              </a:rPr>
              <a:t>    time.sleep(</a:t>
            </a:r>
            <a:r>
              <a:rPr sz="850" i="0">
                <a:solidFill>
                  <a:srgbClr val="F9C97A"/>
                </a:solidFill>
                <a:latin typeface="Inconsolata"/>
              </a:rPr>
              <a:t>1</a:t>
            </a:r>
            <a:r>
              <a:rPr sz="850" i="0">
                <a:solidFill>
                  <a:srgbClr val="E6EDF3"/>
                </a:solidFill>
                <a:latin typeface="Inconsolata"/>
              </a:rPr>
              <a:t>)                </a:t>
            </a:r>
            <a:r>
              <a:rPr sz="850" i="1">
                <a:solidFill>
                  <a:srgbClr val="8B98A8"/>
                </a:solidFill>
                <a:latin typeface="Inconsolata"/>
              </a:rPr>
              <a:t># anggap: memanggil API ekspedisi</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F9C97A"/>
                </a:solidFill>
                <a:latin typeface="Inconsolata"/>
              </a:rPr>
              <a:t>20_000</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9C97A"/>
                </a:solidFill>
                <a:latin typeface="Inconsolata"/>
              </a:rPr>
              <a:t>@app.get</a:t>
            </a:r>
            <a:r>
              <a:rPr sz="850" i="0">
                <a:solidFill>
                  <a:srgbClr val="E6EDF3"/>
                </a:solidFill>
                <a:latin typeface="Inconsolata"/>
              </a:rPr>
              <a:t>(</a:t>
            </a:r>
            <a:r>
              <a:rPr sz="850" i="0">
                <a:solidFill>
                  <a:srgbClr val="A5D6A7"/>
                </a:solidFill>
                <a:latin typeface="Inconsolata"/>
              </a:rPr>
              <a:t>"/shipping/{city}"</a:t>
            </a:r>
            <a:r>
              <a:rPr sz="850" i="0">
                <a:solidFill>
                  <a:srgbClr val="E6EDF3"/>
                </a:solidFill>
                <a:latin typeface="Inconsolata"/>
              </a:rPr>
              <a:t>)</a:t>
            </a:r>
          </a:p>
          <a:p>
            <a:pPr>
              <a:lnSpc>
                <a:spcPct val="107843"/>
              </a:lnSpc>
              <a:spcAft>
                <a:spcPts val="0"/>
              </a:spcAft>
            </a:pPr>
            <a:r>
              <a:rPr sz="850" i="0">
                <a:solidFill>
                  <a:srgbClr val="FF8E6E"/>
                </a:solidFill>
                <a:latin typeface="Inconsolata"/>
              </a:rPr>
              <a:t>async</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shipping_cost</a:t>
            </a:r>
            <a:r>
              <a:rPr sz="850" i="0">
                <a:solidFill>
                  <a:srgbClr val="E6EDF3"/>
                </a:solidFill>
                <a:latin typeface="Inconsolata"/>
              </a:rPr>
              <a:t>(city: </a:t>
            </a:r>
            <a:r>
              <a:rPr sz="850" i="0">
                <a:solidFill>
                  <a:srgbClr val="C3A6FF"/>
                </a:solidFill>
                <a:latin typeface="Inconsolata"/>
              </a:rPr>
              <a:t>str</a:t>
            </a:r>
            <a:r>
              <a:rPr sz="850" i="0">
                <a:solidFill>
                  <a:srgbClr val="E6EDF3"/>
                </a:solidFill>
                <a:latin typeface="Inconsolata"/>
              </a:rPr>
              <a:t>):</a:t>
            </a:r>
          </a:p>
          <a:p>
            <a:pPr>
              <a:lnSpc>
                <a:spcPct val="107843"/>
              </a:lnSpc>
              <a:spcAft>
                <a:spcPts val="0"/>
              </a:spcAft>
            </a:pPr>
            <a:r>
              <a:rPr sz="850" i="0">
                <a:solidFill>
                  <a:srgbClr val="E6EDF3"/>
                </a:solidFill>
                <a:latin typeface="Inconsolata"/>
              </a:rPr>
              <a:t>    cost = fetch_shipping_cost(city)     </a:t>
            </a:r>
            <a:r>
              <a:rPr sz="850" i="1">
                <a:solidFill>
                  <a:srgbClr val="8B98A8"/>
                </a:solidFill>
                <a:latin typeface="Inconsolata"/>
              </a:rPr>
              <a:t># blocking di dalam async</a:t>
            </a:r>
          </a:p>
        </p:txBody>
      </p:sp>
      <p:sp>
        <p:nvSpPr>
          <p:cNvPr id="30" name="Box 13"/>
          <p:cNvSpPr/>
          <p:nvPr/>
        </p:nvSpPr>
        <p:spPr>
          <a:xfrm>
            <a:off x="4379976" y="19683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4"/>
          <p:cNvSpPr/>
          <p:nvPr/>
        </p:nvSpPr>
        <p:spPr>
          <a:xfrm>
            <a:off x="4379976" y="28065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CodeTab 16"/>
          <p:cNvSpPr/>
          <p:nvPr/>
        </p:nvSpPr>
        <p:spPr>
          <a:xfrm>
            <a:off x="4297680" y="313639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Dot 17"/>
          <p:cNvSpPr/>
          <p:nvPr/>
        </p:nvSpPr>
        <p:spPr>
          <a:xfrm>
            <a:off x="4407408" y="321411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544568" y="321411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ot 19"/>
          <p:cNvSpPr/>
          <p:nvPr/>
        </p:nvSpPr>
        <p:spPr>
          <a:xfrm>
            <a:off x="4681728" y="321411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 20"/>
          <p:cNvSpPr txBox="1"/>
          <p:nvPr/>
        </p:nvSpPr>
        <p:spPr>
          <a:xfrm>
            <a:off x="4846320" y="314553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async io: 01-async-io/after.py</a:t>
            </a:r>
          </a:p>
        </p:txBody>
      </p:sp>
      <p:sp>
        <p:nvSpPr>
          <p:cNvPr id="37" name="CodeBg 22"/>
          <p:cNvSpPr/>
          <p:nvPr/>
        </p:nvSpPr>
        <p:spPr>
          <a:xfrm>
            <a:off x="4297680" y="3374136"/>
            <a:ext cx="4187951" cy="1325879"/>
          </a:xfrm>
          <a:prstGeom prst="roundRect">
            <a:avLst>
              <a:gd name="adj" fmla="val 137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Code 23"/>
          <p:cNvSpPr txBox="1"/>
          <p:nvPr/>
        </p:nvSpPr>
        <p:spPr>
          <a:xfrm>
            <a:off x="4297680" y="3374136"/>
            <a:ext cx="4187951" cy="1325879"/>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async</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fetch_shipping_cost</a:t>
            </a:r>
            <a:r>
              <a:rPr sz="850" i="0">
                <a:solidFill>
                  <a:srgbClr val="E6EDF3"/>
                </a:solidFill>
                <a:latin typeface="Inconsolata"/>
              </a:rPr>
              <a:t>(city: </a:t>
            </a:r>
            <a:r>
              <a:rPr sz="850" i="0">
                <a:solidFill>
                  <a:srgbClr val="C3A6FF"/>
                </a:solidFill>
                <a:latin typeface="Inconsolata"/>
              </a:rPr>
              <a:t>str</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await</a:t>
            </a:r>
            <a:r>
              <a:rPr sz="850" i="0">
                <a:solidFill>
                  <a:srgbClr val="E6EDF3"/>
                </a:solidFill>
                <a:latin typeface="Inconsolata"/>
              </a:rPr>
              <a:t> asyncio.sleep(</a:t>
            </a:r>
            <a:r>
              <a:rPr sz="850" i="0">
                <a:solidFill>
                  <a:srgbClr val="F9C97A"/>
                </a:solidFill>
                <a:latin typeface="Inconsolata"/>
              </a:rPr>
              <a:t>1</a:t>
            </a:r>
            <a:r>
              <a:rPr sz="850" i="0">
                <a:solidFill>
                  <a:srgbClr val="E6EDF3"/>
                </a:solidFill>
                <a:latin typeface="Inconsolata"/>
              </a:rPr>
              <a:t>)        </a:t>
            </a:r>
            <a:r>
              <a:rPr sz="850" i="1">
                <a:solidFill>
                  <a:srgbClr val="8B98A8"/>
                </a:solidFill>
                <a:latin typeface="Inconsolata"/>
              </a:rPr>
              <a:t># anggap: memanggil API ekspedisi</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F9C97A"/>
                </a:solidFill>
                <a:latin typeface="Inconsolata"/>
              </a:rPr>
              <a:t>20_000</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9C97A"/>
                </a:solidFill>
                <a:latin typeface="Inconsolata"/>
              </a:rPr>
              <a:t>@app.get</a:t>
            </a:r>
            <a:r>
              <a:rPr sz="850" i="0">
                <a:solidFill>
                  <a:srgbClr val="E6EDF3"/>
                </a:solidFill>
                <a:latin typeface="Inconsolata"/>
              </a:rPr>
              <a:t>(</a:t>
            </a:r>
            <a:r>
              <a:rPr sz="850" i="0">
                <a:solidFill>
                  <a:srgbClr val="A5D6A7"/>
                </a:solidFill>
                <a:latin typeface="Inconsolata"/>
              </a:rPr>
              <a:t>"/shipping/{city}"</a:t>
            </a:r>
            <a:r>
              <a:rPr sz="850" i="0">
                <a:solidFill>
                  <a:srgbClr val="E6EDF3"/>
                </a:solidFill>
                <a:latin typeface="Inconsolata"/>
              </a:rPr>
              <a:t>)</a:t>
            </a:r>
          </a:p>
          <a:p>
            <a:pPr>
              <a:lnSpc>
                <a:spcPct val="107843"/>
              </a:lnSpc>
              <a:spcAft>
                <a:spcPts val="0"/>
              </a:spcAft>
            </a:pPr>
            <a:r>
              <a:rPr sz="850" i="0">
                <a:solidFill>
                  <a:srgbClr val="FF8E6E"/>
                </a:solidFill>
                <a:latin typeface="Inconsolata"/>
              </a:rPr>
              <a:t>async</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shipping_cost</a:t>
            </a:r>
            <a:r>
              <a:rPr sz="850" i="0">
                <a:solidFill>
                  <a:srgbClr val="E6EDF3"/>
                </a:solidFill>
                <a:latin typeface="Inconsolata"/>
              </a:rPr>
              <a:t>(city: </a:t>
            </a:r>
            <a:r>
              <a:rPr sz="850" i="0">
                <a:solidFill>
                  <a:srgbClr val="C3A6FF"/>
                </a:solidFill>
                <a:latin typeface="Inconsolata"/>
              </a:rPr>
              <a:t>str</a:t>
            </a:r>
            <a:r>
              <a:rPr sz="850" i="0">
                <a:solidFill>
                  <a:srgbClr val="E6EDF3"/>
                </a:solidFill>
                <a:latin typeface="Inconsolata"/>
              </a:rPr>
              <a:t>):</a:t>
            </a:r>
          </a:p>
          <a:p>
            <a:pPr>
              <a:lnSpc>
                <a:spcPct val="107843"/>
              </a:lnSpc>
              <a:spcAft>
                <a:spcPts val="0"/>
              </a:spcAft>
            </a:pPr>
            <a:r>
              <a:rPr sz="850" i="0">
                <a:solidFill>
                  <a:srgbClr val="E6EDF3"/>
                </a:solidFill>
                <a:latin typeface="Inconsolata"/>
              </a:rPr>
              <a:t>    cost = </a:t>
            </a:r>
            <a:r>
              <a:rPr sz="850" i="0">
                <a:solidFill>
                  <a:srgbClr val="FF8E6E"/>
                </a:solidFill>
                <a:latin typeface="Inconsolata"/>
              </a:rPr>
              <a:t>await</a:t>
            </a:r>
            <a:r>
              <a:rPr sz="850" i="0">
                <a:solidFill>
                  <a:srgbClr val="E6EDF3"/>
                </a:solidFill>
                <a:latin typeface="Inconsolata"/>
              </a:rPr>
              <a:t> fetch_shipping_cost(city)</a:t>
            </a:r>
          </a:p>
        </p:txBody>
      </p:sp>
      <p:sp>
        <p:nvSpPr>
          <p:cNvPr id="39" name="Box 24"/>
          <p:cNvSpPr/>
          <p:nvPr/>
        </p:nvSpPr>
        <p:spPr>
          <a:xfrm>
            <a:off x="4379976" y="36234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4379976" y="44616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Async IO</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Async IO?</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Async IO</a:t>
            </a:r>
          </a:p>
          <a:p>
            <a:pPr algn="l">
              <a:lnSpc>
                <a:spcPct val="115000"/>
              </a:lnSpc>
              <a:spcAft>
                <a:spcPts val="400"/>
              </a:spcAft>
            </a:pPr>
            <a:r>
              <a:rPr sz="950" b="0" i="0">
                <a:solidFill>
                  <a:srgbClr val="434343"/>
                </a:solidFill>
                <a:latin typeface="Inter"/>
              </a:rPr>
              <a:t>Endpoint ditulis </a:t>
            </a:r>
            <a:r>
              <a:rPr sz="950" b="0" i="0">
                <a:solidFill>
                  <a:srgbClr val="B5482A"/>
                </a:solidFill>
                <a:latin typeface="Inconsolata"/>
              </a:rPr>
              <a:t>async def</a:t>
            </a:r>
            <a:r>
              <a:rPr sz="950" b="0" i="0">
                <a:solidFill>
                  <a:srgbClr val="434343"/>
                </a:solidFill>
                <a:latin typeface="Inter"/>
              </a:rPr>
              <a:t>, tapi di dalamnya memanggil function yang blocking, misalnya </a:t>
            </a:r>
            <a:r>
              <a:rPr sz="950" b="0" i="0">
                <a:solidFill>
                  <a:srgbClr val="B5482A"/>
                </a:solidFill>
                <a:latin typeface="Inconsolata"/>
              </a:rPr>
              <a:t>time.sleep()</a:t>
            </a:r>
            <a:r>
              <a:rPr sz="950" b="0" i="0">
                <a:solidFill>
                  <a:srgbClr val="434343"/>
                </a:solidFill>
                <a:latin typeface="Inter"/>
              </a:rPr>
              <a:t> atau library </a:t>
            </a:r>
            <a:r>
              <a:rPr sz="950" b="0" i="0">
                <a:solidFill>
                  <a:srgbClr val="B5482A"/>
                </a:solidFill>
                <a:latin typeface="Inconsolata"/>
              </a:rPr>
              <a:t>requests</a:t>
            </a:r>
            <a:r>
              <a:rPr sz="950" b="0" i="0">
                <a:solidFill>
                  <a:srgbClr val="434343"/>
                </a:solidFill>
                <a:latin typeface="Inter"/>
              </a:rPr>
              <a:t>. Selama function itu berjalan, event loop berhenti.</a:t>
            </a:r>
          </a:p>
          <a:p>
            <a:pPr algn="l">
              <a:lnSpc>
                <a:spcPct val="115000"/>
              </a:lnSpc>
              <a:spcAft>
                <a:spcPts val="400"/>
              </a:spcAft>
            </a:pPr>
            <a:r>
              <a:rPr sz="1050" b="1" i="0">
                <a:solidFill>
                  <a:srgbClr val="1C4587"/>
                </a:solidFill>
                <a:latin typeface="Inter"/>
              </a:rPr>
              <a:t>Jika requestnya makin banyak</a:t>
            </a:r>
          </a:p>
          <a:p>
            <a:pPr algn="l">
              <a:lnSpc>
                <a:spcPct val="115000"/>
              </a:lnSpc>
              <a:spcAft>
                <a:spcPts val="400"/>
              </a:spcAft>
            </a:pPr>
            <a:r>
              <a:rPr sz="950" b="0" i="0">
                <a:solidFill>
                  <a:srgbClr val="434343"/>
                </a:solidFill>
                <a:latin typeface="Inter"/>
              </a:rPr>
              <a:t>Semua request menunggu diproses satu per satu. Tiga request yang masing-masing menunggu 1 detik baru selesai setelah 3 detik.</a:t>
            </a:r>
          </a:p>
          <a:p>
            <a:pPr algn="l">
              <a:lnSpc>
                <a:spcPct val="115000"/>
              </a:lnSpc>
              <a:spcAft>
                <a:spcPts val="400"/>
              </a:spcAft>
            </a:pPr>
            <a:r>
              <a:rPr sz="950" b="0" i="0">
                <a:solidFill>
                  <a:srgbClr val="434343"/>
                </a:solidFill>
                <a:latin typeface="Inter"/>
              </a:rPr>
              <a:t>Hal ini membuat API terasa lambat, padahal CPU server baik-baik saja.</a:t>
            </a:r>
          </a:p>
          <a:p>
            <a:pPr algn="l">
              <a:lnSpc>
                <a:spcPct val="115000"/>
              </a:lnSpc>
              <a:spcAft>
                <a:spcPts val="400"/>
              </a:spcAft>
            </a:pPr>
            <a:r>
              <a:rPr sz="1050" b="1" i="0">
                <a:solidFill>
                  <a:srgbClr val="1C4587"/>
                </a:solidFill>
                <a:latin typeface="Inter"/>
              </a:rPr>
              <a:t>Yang dipakai dari Python: async dan await</a:t>
            </a:r>
          </a:p>
          <a:p>
            <a:pPr algn="l">
              <a:lnSpc>
                <a:spcPct val="115000"/>
              </a:lnSpc>
              <a:spcAft>
                <a:spcPts val="400"/>
              </a:spcAft>
            </a:pPr>
            <a:r>
              <a:rPr sz="950" b="0" i="0">
                <a:solidFill>
                  <a:srgbClr val="B5482A"/>
                </a:solidFill>
                <a:latin typeface="Inconsolata"/>
              </a:rPr>
              <a:t>async def</a:t>
            </a:r>
            <a:r>
              <a:rPr sz="950" b="0" i="0">
                <a:solidFill>
                  <a:srgbClr val="434343"/>
                </a:solidFill>
                <a:latin typeface="Inter"/>
              </a:rPr>
              <a:t> membuat function yang bisa berhenti sementara. </a:t>
            </a:r>
            <a:r>
              <a:rPr sz="950" b="0" i="0">
                <a:solidFill>
                  <a:srgbClr val="B5482A"/>
                </a:solidFill>
                <a:latin typeface="Inconsolata"/>
              </a:rPr>
              <a:t>await</a:t>
            </a:r>
            <a:r>
              <a:rPr sz="950" b="0" i="0">
                <a:solidFill>
                  <a:srgbClr val="434343"/>
                </a:solidFill>
                <a:latin typeface="Inter"/>
              </a:rPr>
              <a:t> menandai titik menunggu, dan selama menunggu, event loop melayani request lain.</a:t>
            </a:r>
          </a:p>
        </p:txBody>
      </p:sp>
      <p:graphicFrame>
        <p:nvGraphicFramePr>
          <p:cNvPr id="23" name="Table 4"/>
          <p:cNvGraphicFramePr>
            <a:graphicFrameLocks noGrp="1"/>
          </p:cNvGraphicFramePr>
          <p:nvPr/>
        </p:nvGraphicFramePr>
        <p:xfrm>
          <a:off x="4800600" y="1481328"/>
          <a:ext cx="3685032" cy="2286000"/>
        </p:xfrm>
        <a:graphic>
          <a:graphicData uri="http://schemas.openxmlformats.org/drawingml/2006/table">
            <a:tbl>
              <a:tblPr firstRow="1" bandRow="1"/>
              <a:tblGrid>
                <a:gridCol w="1764792">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async def</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Function yang bisa berhenti sementara saat menunggu</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await asyncio.sleep(1)</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Menunggu tanpa menghentikan event loop</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def biasa di FastAPI</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Dijalankan di thread pool, aman untuk library blocking</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850" b="1" i="0">
                          <a:solidFill>
                            <a:srgbClr val="1C4587"/>
                          </a:solidFill>
                          <a:latin typeface="Inter"/>
                        </a:rPr>
                        <a:t>time.sleep() di async def</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Menghentikan event loop, request lain ikut menunggu</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Async IO</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blocking di dalam async def</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01-async-io/before.py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10  </a:t>
            </a:r>
            <a:r>
              <a:rPr sz="749" i="0">
                <a:solidFill>
                  <a:srgbClr val="FF8E6E"/>
                </a:solidFill>
                <a:latin typeface="Inconsolata"/>
              </a:rPr>
              <a:t>import</a:t>
            </a:r>
            <a:r>
              <a:rPr sz="749" i="0">
                <a:solidFill>
                  <a:srgbClr val="E6EDF3"/>
                </a:solidFill>
                <a:latin typeface="Inconsolata"/>
              </a:rPr>
              <a:t> asyncio</a:t>
            </a:r>
          </a:p>
          <a:p>
            <a:pPr>
              <a:lnSpc>
                <a:spcPct val="111166"/>
              </a:lnSpc>
              <a:spcAft>
                <a:spcPts val="0"/>
              </a:spcAft>
            </a:pPr>
            <a:r>
              <a:rPr sz="749" i="0">
                <a:solidFill>
                  <a:srgbClr val="5C6773"/>
                </a:solidFill>
                <a:latin typeface="Inconsolata"/>
              </a:rPr>
              <a:t>11  </a:t>
            </a:r>
            <a:r>
              <a:rPr sz="749" i="0">
                <a:solidFill>
                  <a:srgbClr val="FF8E6E"/>
                </a:solidFill>
                <a:latin typeface="Inconsolata"/>
              </a:rPr>
              <a:t>import</a:t>
            </a:r>
            <a:r>
              <a:rPr sz="749" i="0">
                <a:solidFill>
                  <a:srgbClr val="E6EDF3"/>
                </a:solidFill>
                <a:latin typeface="Inconsolata"/>
              </a:rPr>
              <a:t> time</a:t>
            </a:r>
          </a:p>
          <a:p>
            <a:pPr>
              <a:lnSpc>
                <a:spcPct val="111166"/>
              </a:lnSpc>
              <a:spcAft>
                <a:spcPts val="0"/>
              </a:spcAft>
            </a:pPr>
            <a:r>
              <a:rPr sz="749" i="0">
                <a:solidFill>
                  <a:srgbClr val="5C6773"/>
                </a:solidFill>
                <a:latin typeface="Inconsolata"/>
              </a:rPr>
              <a:t>12  </a:t>
            </a:r>
            <a:r>
              <a:rPr sz="749" i="0">
                <a:solidFill>
                  <a:srgbClr val="E6EDF3"/>
                </a:solidFill>
                <a:latin typeface="Inconsolata"/>
              </a:rPr>
              <a:t> </a:t>
            </a:r>
          </a:p>
          <a:p>
            <a:pPr>
              <a:lnSpc>
                <a:spcPct val="111166"/>
              </a:lnSpc>
              <a:spcAft>
                <a:spcPts val="0"/>
              </a:spcAft>
            </a:pPr>
            <a:r>
              <a:rPr sz="749" i="0">
                <a:solidFill>
                  <a:srgbClr val="5C6773"/>
                </a:solidFill>
                <a:latin typeface="Inconsolata"/>
              </a:rPr>
              <a:t>13  </a:t>
            </a:r>
            <a:r>
              <a:rPr sz="749" i="0">
                <a:solidFill>
                  <a:srgbClr val="FF8E6E"/>
                </a:solidFill>
                <a:latin typeface="Inconsolata"/>
              </a:rPr>
              <a:t>import</a:t>
            </a:r>
            <a:r>
              <a:rPr sz="749" i="0">
                <a:solidFill>
                  <a:srgbClr val="E6EDF3"/>
                </a:solidFill>
                <a:latin typeface="Inconsolata"/>
              </a:rPr>
              <a:t> httpx</a:t>
            </a:r>
          </a:p>
          <a:p>
            <a:pPr>
              <a:lnSpc>
                <a:spcPct val="111166"/>
              </a:lnSpc>
              <a:spcAft>
                <a:spcPts val="0"/>
              </a:spcAft>
            </a:pPr>
            <a:r>
              <a:rPr sz="749" i="0">
                <a:solidFill>
                  <a:srgbClr val="5C6773"/>
                </a:solidFill>
                <a:latin typeface="Inconsolata"/>
              </a:rPr>
              <a:t>14  </a:t>
            </a:r>
            <a:r>
              <a:rPr sz="749" i="0">
                <a:solidFill>
                  <a:srgbClr val="FF8E6E"/>
                </a:solidFill>
                <a:latin typeface="Inconsolata"/>
              </a:rPr>
              <a:t>from</a:t>
            </a:r>
            <a:r>
              <a:rPr sz="749" i="0">
                <a:solidFill>
                  <a:srgbClr val="E6EDF3"/>
                </a:solidFill>
                <a:latin typeface="Inconsolata"/>
              </a:rPr>
              <a:t> fastapi </a:t>
            </a:r>
            <a:r>
              <a:rPr sz="749" i="0">
                <a:solidFill>
                  <a:srgbClr val="FF8E6E"/>
                </a:solidFill>
                <a:latin typeface="Inconsolata"/>
              </a:rPr>
              <a:t>import</a:t>
            </a:r>
            <a:r>
              <a:rPr sz="749" i="0">
                <a:solidFill>
                  <a:srgbClr val="E6EDF3"/>
                </a:solidFill>
                <a:latin typeface="Inconsolata"/>
              </a:rPr>
              <a:t> </a:t>
            </a:r>
            <a:r>
              <a:rPr sz="749" i="0">
                <a:solidFill>
                  <a:srgbClr val="7FDBCA"/>
                </a:solidFill>
                <a:latin typeface="Inconsolata"/>
              </a:rPr>
              <a:t>FastAPI</a:t>
            </a:r>
          </a:p>
          <a:p>
            <a:pPr>
              <a:lnSpc>
                <a:spcPct val="111166"/>
              </a:lnSpc>
              <a:spcAft>
                <a:spcPts val="0"/>
              </a:spcAft>
            </a:pPr>
            <a:r>
              <a:rPr sz="749" i="0">
                <a:solidFill>
                  <a:srgbClr val="5C6773"/>
                </a:solidFill>
                <a:latin typeface="Inconsolata"/>
              </a:rPr>
              <a:t>15  </a:t>
            </a:r>
            <a:r>
              <a:rPr sz="749" i="0">
                <a:solidFill>
                  <a:srgbClr val="E6EDF3"/>
                </a:solidFill>
                <a:latin typeface="Inconsolata"/>
              </a:rPr>
              <a:t> </a:t>
            </a:r>
          </a:p>
          <a:p>
            <a:pPr>
              <a:lnSpc>
                <a:spcPct val="111166"/>
              </a:lnSpc>
              <a:spcAft>
                <a:spcPts val="0"/>
              </a:spcAft>
            </a:pPr>
            <a:r>
              <a:rPr sz="749" i="0">
                <a:solidFill>
                  <a:srgbClr val="5C6773"/>
                </a:solidFill>
                <a:latin typeface="Inconsolata"/>
              </a:rPr>
              <a:t>16  </a:t>
            </a:r>
            <a:r>
              <a:rPr sz="749" i="0">
                <a:solidFill>
                  <a:srgbClr val="E6EDF3"/>
                </a:solidFill>
                <a:latin typeface="Inconsolata"/>
              </a:rPr>
              <a:t>app = </a:t>
            </a:r>
            <a:r>
              <a:rPr sz="749" i="0">
                <a:solidFill>
                  <a:srgbClr val="7FDBCA"/>
                </a:solidFill>
                <a:latin typeface="Inconsolata"/>
              </a:rPr>
              <a:t>FastAPI</a:t>
            </a:r>
            <a:r>
              <a:rPr sz="749" i="0">
                <a:solidFill>
                  <a:srgbClr val="E6EDF3"/>
                </a:solidFill>
                <a:latin typeface="Inconsolata"/>
              </a:rPr>
              <a:t>()</a:t>
            </a:r>
          </a:p>
          <a:p>
            <a:pPr>
              <a:lnSpc>
                <a:spcPct val="111166"/>
              </a:lnSpc>
              <a:spcAft>
                <a:spcPts val="0"/>
              </a:spcAft>
            </a:pPr>
            <a:r>
              <a:rPr sz="749" i="0">
                <a:solidFill>
                  <a:srgbClr val="5C6773"/>
                </a:solidFill>
                <a:latin typeface="Inconsolata"/>
              </a:rPr>
              <a:t>17  </a:t>
            </a:r>
            <a:r>
              <a:rPr sz="749" i="0">
                <a:solidFill>
                  <a:srgbClr val="E6EDF3"/>
                </a:solidFill>
                <a:latin typeface="Inconsolata"/>
              </a:rPr>
              <a:t> </a:t>
            </a:r>
          </a:p>
          <a:p>
            <a:pPr>
              <a:lnSpc>
                <a:spcPct val="111166"/>
              </a:lnSpc>
              <a:spcAft>
                <a:spcPts val="0"/>
              </a:spcAft>
            </a:pPr>
            <a:r>
              <a:rPr sz="749" i="0">
                <a:solidFill>
                  <a:srgbClr val="5C6773"/>
                </a:solidFill>
                <a:latin typeface="Inconsolata"/>
              </a:rPr>
              <a:t>18  </a:t>
            </a:r>
            <a:r>
              <a:rPr sz="749" i="0">
                <a:solidFill>
                  <a:srgbClr val="E6EDF3"/>
                </a:solidFill>
                <a:latin typeface="Inconsolata"/>
              </a:rPr>
              <a:t> </a:t>
            </a:r>
          </a:p>
          <a:p>
            <a:pPr>
              <a:lnSpc>
                <a:spcPct val="111166"/>
              </a:lnSpc>
              <a:spcAft>
                <a:spcPts val="0"/>
              </a:spcAft>
            </a:pPr>
            <a:r>
              <a:rPr sz="749" i="0">
                <a:solidFill>
                  <a:srgbClr val="5C6773"/>
                </a:solidFill>
                <a:latin typeface="Inconsolata"/>
              </a:rPr>
              <a:t>19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fetch_shipping_cost</a:t>
            </a:r>
            <a:r>
              <a:rPr sz="749" i="0">
                <a:solidFill>
                  <a:srgbClr val="E6EDF3"/>
                </a:solidFill>
                <a:latin typeface="Inconsolata"/>
              </a:rPr>
              <a:t>(city: </a:t>
            </a:r>
            <a:r>
              <a:rPr sz="749" i="0">
                <a:solidFill>
                  <a:srgbClr val="C3A6FF"/>
                </a:solidFill>
                <a:latin typeface="Inconsolata"/>
              </a:rPr>
              <a:t>str</a:t>
            </a:r>
            <a:r>
              <a:rPr sz="749" i="0">
                <a:solidFill>
                  <a:srgbClr val="E6EDF3"/>
                </a:solidFill>
                <a:latin typeface="Inconsolata"/>
              </a:rPr>
              <a:t>) -&gt; </a:t>
            </a:r>
            <a:r>
              <a:rPr sz="749" i="0">
                <a:solidFill>
                  <a:srgbClr val="C3A6FF"/>
                </a:solidFill>
                <a:latin typeface="Inconsolata"/>
              </a:rPr>
              <a:t>int</a:t>
            </a:r>
            <a:r>
              <a:rPr sz="749" i="0">
                <a:solidFill>
                  <a:srgbClr val="E6EDF3"/>
                </a:solidFill>
                <a:latin typeface="Inconsolata"/>
              </a:rPr>
              <a:t>:</a:t>
            </a:r>
          </a:p>
          <a:p>
            <a:pPr>
              <a:lnSpc>
                <a:spcPct val="111166"/>
              </a:lnSpc>
              <a:spcAft>
                <a:spcPts val="0"/>
              </a:spcAft>
            </a:pPr>
            <a:r>
              <a:rPr sz="749" i="0">
                <a:solidFill>
                  <a:srgbClr val="5C6773"/>
                </a:solidFill>
                <a:latin typeface="Inconsolata"/>
              </a:rPr>
              <a:t>20  </a:t>
            </a:r>
            <a:r>
              <a:rPr sz="749" i="0">
                <a:solidFill>
                  <a:srgbClr val="E6EDF3"/>
                </a:solidFill>
                <a:latin typeface="Inconsolata"/>
              </a:rPr>
              <a:t>    time.sleep(</a:t>
            </a:r>
            <a:r>
              <a:rPr sz="749" i="0">
                <a:solidFill>
                  <a:srgbClr val="F9C97A"/>
                </a:solidFill>
                <a:latin typeface="Inconsolata"/>
              </a:rPr>
              <a:t>1</a:t>
            </a:r>
            <a:r>
              <a:rPr sz="749" i="0">
                <a:solidFill>
                  <a:srgbClr val="E6EDF3"/>
                </a:solidFill>
                <a:latin typeface="Inconsolata"/>
              </a:rPr>
              <a:t>)                </a:t>
            </a:r>
            <a:r>
              <a:rPr sz="749" i="1">
                <a:solidFill>
                  <a:srgbClr val="8B98A8"/>
                </a:solidFill>
                <a:latin typeface="Inconsolata"/>
              </a:rPr>
              <a:t># anggap: memanggil API ekspedisi</a:t>
            </a:r>
          </a:p>
          <a:p>
            <a:pPr>
              <a:lnSpc>
                <a:spcPct val="111166"/>
              </a:lnSpc>
              <a:spcAft>
                <a:spcPts val="0"/>
              </a:spcAft>
            </a:pPr>
            <a:r>
              <a:rPr sz="749" i="0">
                <a:solidFill>
                  <a:srgbClr val="5C6773"/>
                </a:solidFill>
                <a:latin typeface="Inconsolata"/>
              </a:rPr>
              <a:t>21  </a:t>
            </a:r>
            <a:r>
              <a:rPr sz="749" i="0">
                <a:solidFill>
                  <a:srgbClr val="E6EDF3"/>
                </a:solidFill>
                <a:latin typeface="Inconsolata"/>
              </a:rPr>
              <a:t>    </a:t>
            </a:r>
            <a:r>
              <a:rPr sz="749" i="0">
                <a:solidFill>
                  <a:srgbClr val="FF8E6E"/>
                </a:solidFill>
                <a:latin typeface="Inconsolata"/>
              </a:rPr>
              <a:t>return</a:t>
            </a:r>
            <a:r>
              <a:rPr sz="749" i="0">
                <a:solidFill>
                  <a:srgbClr val="E6EDF3"/>
                </a:solidFill>
                <a:latin typeface="Inconsolata"/>
              </a:rPr>
              <a:t> </a:t>
            </a:r>
            <a:r>
              <a:rPr sz="749" i="0">
                <a:solidFill>
                  <a:srgbClr val="F9C97A"/>
                </a:solidFill>
                <a:latin typeface="Inconsolata"/>
              </a:rPr>
              <a:t>20_000</a:t>
            </a:r>
          </a:p>
          <a:p>
            <a:pPr>
              <a:lnSpc>
                <a:spcPct val="111166"/>
              </a:lnSpc>
              <a:spcAft>
                <a:spcPts val="0"/>
              </a:spcAft>
            </a:pPr>
            <a:r>
              <a:rPr sz="749" i="0">
                <a:solidFill>
                  <a:srgbClr val="5C6773"/>
                </a:solidFill>
                <a:latin typeface="Inconsolata"/>
              </a:rPr>
              <a:t>22  </a:t>
            </a:r>
            <a:r>
              <a:rPr sz="749" i="0">
                <a:solidFill>
                  <a:srgbClr val="E6EDF3"/>
                </a:solidFill>
                <a:latin typeface="Inconsolata"/>
              </a:rPr>
              <a:t> </a:t>
            </a:r>
          </a:p>
          <a:p>
            <a:pPr>
              <a:lnSpc>
                <a:spcPct val="111166"/>
              </a:lnSpc>
              <a:spcAft>
                <a:spcPts val="0"/>
              </a:spcAft>
            </a:pPr>
            <a:r>
              <a:rPr sz="749" i="0">
                <a:solidFill>
                  <a:srgbClr val="5C6773"/>
                </a:solidFill>
                <a:latin typeface="Inconsolata"/>
              </a:rPr>
              <a:t>23  </a:t>
            </a:r>
            <a:r>
              <a:rPr sz="749" i="0">
                <a:solidFill>
                  <a:srgbClr val="E6EDF3"/>
                </a:solidFill>
                <a:latin typeface="Inconsolata"/>
              </a:rPr>
              <a:t> </a:t>
            </a:r>
          </a:p>
          <a:p>
            <a:pPr>
              <a:lnSpc>
                <a:spcPct val="111166"/>
              </a:lnSpc>
              <a:spcAft>
                <a:spcPts val="0"/>
              </a:spcAft>
            </a:pPr>
            <a:r>
              <a:rPr sz="749" i="0">
                <a:solidFill>
                  <a:srgbClr val="5C6773"/>
                </a:solidFill>
                <a:latin typeface="Inconsolata"/>
              </a:rPr>
              <a:t>24  </a:t>
            </a:r>
            <a:r>
              <a:rPr sz="749" i="0">
                <a:solidFill>
                  <a:srgbClr val="F9C97A"/>
                </a:solidFill>
                <a:latin typeface="Inconsolata"/>
              </a:rPr>
              <a:t>@app.get</a:t>
            </a:r>
            <a:r>
              <a:rPr sz="749" i="0">
                <a:solidFill>
                  <a:srgbClr val="E6EDF3"/>
                </a:solidFill>
                <a:latin typeface="Inconsolata"/>
              </a:rPr>
              <a:t>(</a:t>
            </a:r>
            <a:r>
              <a:rPr sz="749" i="0">
                <a:solidFill>
                  <a:srgbClr val="A5D6A7"/>
                </a:solidFill>
                <a:latin typeface="Inconsolata"/>
              </a:rPr>
              <a:t>"/shipping/{city}"</a:t>
            </a:r>
            <a:r>
              <a:rPr sz="749" i="0">
                <a:solidFill>
                  <a:srgbClr val="E6EDF3"/>
                </a:solidFill>
                <a:latin typeface="Inconsolata"/>
              </a:rPr>
              <a:t>)</a:t>
            </a:r>
          </a:p>
          <a:p>
            <a:pPr>
              <a:lnSpc>
                <a:spcPct val="111166"/>
              </a:lnSpc>
              <a:spcAft>
                <a:spcPts val="0"/>
              </a:spcAft>
            </a:pPr>
            <a:r>
              <a:rPr sz="749" i="0">
                <a:solidFill>
                  <a:srgbClr val="5C6773"/>
                </a:solidFill>
                <a:latin typeface="Inconsolata"/>
              </a:rPr>
              <a:t>25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shipping_cost</a:t>
            </a:r>
            <a:r>
              <a:rPr sz="749" i="0">
                <a:solidFill>
                  <a:srgbClr val="E6EDF3"/>
                </a:solidFill>
                <a:latin typeface="Inconsolata"/>
              </a:rPr>
              <a:t>(city: </a:t>
            </a:r>
            <a:r>
              <a:rPr sz="749" i="0">
                <a:solidFill>
                  <a:srgbClr val="C3A6FF"/>
                </a:solidFill>
                <a:latin typeface="Inconsolata"/>
              </a:rPr>
              <a:t>str</a:t>
            </a:r>
            <a:r>
              <a:rPr sz="749" i="0">
                <a:solidFill>
                  <a:srgbClr val="E6EDF3"/>
                </a:solidFill>
                <a:latin typeface="Inconsolata"/>
              </a:rPr>
              <a:t>):</a:t>
            </a:r>
          </a:p>
          <a:p>
            <a:pPr>
              <a:lnSpc>
                <a:spcPct val="111166"/>
              </a:lnSpc>
              <a:spcAft>
                <a:spcPts val="0"/>
              </a:spcAft>
            </a:pPr>
            <a:r>
              <a:rPr sz="749" i="0">
                <a:solidFill>
                  <a:srgbClr val="5C6773"/>
                </a:solidFill>
                <a:latin typeface="Inconsolata"/>
              </a:rPr>
              <a:t>26  </a:t>
            </a:r>
            <a:r>
              <a:rPr sz="749" i="0">
                <a:solidFill>
                  <a:srgbClr val="E6EDF3"/>
                </a:solidFill>
                <a:latin typeface="Inconsolata"/>
              </a:rPr>
              <a:t>    cost = fetch_shipping_cost(city)     </a:t>
            </a:r>
            <a:r>
              <a:rPr sz="749" i="1">
                <a:solidFill>
                  <a:srgbClr val="8B98A8"/>
                </a:solidFill>
                <a:latin typeface="Inconsolata"/>
              </a:rPr>
              <a:t># blocking di dalam async</a:t>
            </a:r>
          </a:p>
          <a:p>
            <a:pPr>
              <a:lnSpc>
                <a:spcPct val="111166"/>
              </a:lnSpc>
              <a:spcAft>
                <a:spcPts val="0"/>
              </a:spcAft>
            </a:pPr>
            <a:r>
              <a:rPr sz="749" i="0">
                <a:solidFill>
                  <a:srgbClr val="5C6773"/>
                </a:solidFill>
                <a:latin typeface="Inconsolata"/>
              </a:rPr>
              <a:t>27  </a:t>
            </a:r>
            <a:r>
              <a:rPr sz="749" i="0">
                <a:solidFill>
                  <a:srgbClr val="E6EDF3"/>
                </a:solidFill>
                <a:latin typeface="Inconsolata"/>
              </a:rPr>
              <a:t>    </a:t>
            </a:r>
            <a:r>
              <a:rPr sz="749" i="0">
                <a:solidFill>
                  <a:srgbClr val="FF8E6E"/>
                </a:solidFill>
                <a:latin typeface="Inconsolata"/>
              </a:rPr>
              <a:t>return</a:t>
            </a:r>
            <a:r>
              <a:rPr sz="749" i="0">
                <a:solidFill>
                  <a:srgbClr val="E6EDF3"/>
                </a:solidFill>
                <a:latin typeface="Inconsolata"/>
              </a:rPr>
              <a:t> {</a:t>
            </a:r>
            <a:r>
              <a:rPr sz="749" i="0">
                <a:solidFill>
                  <a:srgbClr val="A5D6A7"/>
                </a:solidFill>
                <a:latin typeface="Inconsolata"/>
              </a:rPr>
              <a:t>"city"</a:t>
            </a:r>
            <a:r>
              <a:rPr sz="749" i="0">
                <a:solidFill>
                  <a:srgbClr val="E6EDF3"/>
                </a:solidFill>
                <a:latin typeface="Inconsolata"/>
              </a:rPr>
              <a:t>: city, </a:t>
            </a:r>
            <a:r>
              <a:rPr sz="749" i="0">
                <a:solidFill>
                  <a:srgbClr val="A5D6A7"/>
                </a:solidFill>
                <a:latin typeface="Inconsolata"/>
              </a:rPr>
              <a:t>"cost"</a:t>
            </a:r>
            <a:r>
              <a:rPr sz="749" i="0">
                <a:solidFill>
                  <a:srgbClr val="E6EDF3"/>
                </a:solidFill>
                <a:latin typeface="Inconsolata"/>
              </a:rPr>
              <a:t>: cost}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01-async-io/before.py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30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demo</a:t>
            </a:r>
            <a:r>
              <a:rPr sz="749" i="0">
                <a:solidFill>
                  <a:srgbClr val="E6EDF3"/>
                </a:solidFill>
                <a:latin typeface="Inconsolata"/>
              </a:rPr>
              <a:t>():</a:t>
            </a:r>
          </a:p>
          <a:p>
            <a:pPr>
              <a:lnSpc>
                <a:spcPct val="111166"/>
              </a:lnSpc>
              <a:spcAft>
                <a:spcPts val="0"/>
              </a:spcAft>
            </a:pPr>
            <a:r>
              <a:rPr sz="749" i="0">
                <a:solidFill>
                  <a:srgbClr val="5C6773"/>
                </a:solidFill>
                <a:latin typeface="Inconsolata"/>
              </a:rPr>
              <a:t>31  </a:t>
            </a:r>
            <a:r>
              <a:rPr sz="749" i="0">
                <a:solidFill>
                  <a:srgbClr val="E6EDF3"/>
                </a:solidFill>
                <a:latin typeface="Inconsolata"/>
              </a:rPr>
              <a:t>    transport = httpx.</a:t>
            </a:r>
            <a:r>
              <a:rPr sz="749" i="0">
                <a:solidFill>
                  <a:srgbClr val="7FDBCA"/>
                </a:solidFill>
                <a:latin typeface="Inconsolata"/>
              </a:rPr>
              <a:t>ASGITransport</a:t>
            </a:r>
            <a:r>
              <a:rPr sz="749" i="0">
                <a:solidFill>
                  <a:srgbClr val="E6EDF3"/>
                </a:solidFill>
                <a:latin typeface="Inconsolata"/>
              </a:rPr>
              <a:t>(app=app)</a:t>
            </a:r>
          </a:p>
          <a:p>
            <a:pPr>
              <a:lnSpc>
                <a:spcPct val="111166"/>
              </a:lnSpc>
              <a:spcAft>
                <a:spcPts val="0"/>
              </a:spcAft>
            </a:pPr>
            <a:r>
              <a:rPr sz="749" i="0">
                <a:solidFill>
                  <a:srgbClr val="5C6773"/>
                </a:solidFill>
                <a:latin typeface="Inconsolata"/>
              </a:rPr>
              <a:t>32  </a:t>
            </a:r>
            <a:r>
              <a:rPr sz="749" i="0">
                <a:solidFill>
                  <a:srgbClr val="E6EDF3"/>
                </a:solidFill>
                <a:latin typeface="Inconsolata"/>
              </a:rPr>
              <a:t>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with</a:t>
            </a:r>
            <a:r>
              <a:rPr sz="749" i="0">
                <a:solidFill>
                  <a:srgbClr val="E6EDF3"/>
                </a:solidFill>
                <a:latin typeface="Inconsolata"/>
              </a:rPr>
              <a:t> httpx.</a:t>
            </a:r>
            <a:r>
              <a:rPr sz="749" i="0">
                <a:solidFill>
                  <a:srgbClr val="7FDBCA"/>
                </a:solidFill>
                <a:latin typeface="Inconsolata"/>
              </a:rPr>
              <a:t>AsyncClient</a:t>
            </a:r>
            <a:r>
              <a:rPr sz="749" i="0">
                <a:solidFill>
                  <a:srgbClr val="E6EDF3"/>
                </a:solidFill>
                <a:latin typeface="Inconsolata"/>
              </a:rPr>
              <a:t>(transport=transport,</a:t>
            </a:r>
          </a:p>
          <a:p>
            <a:pPr>
              <a:lnSpc>
                <a:spcPct val="111166"/>
              </a:lnSpc>
              <a:spcAft>
                <a:spcPts val="0"/>
              </a:spcAft>
            </a:pPr>
            <a:r>
              <a:rPr sz="749" i="0">
                <a:solidFill>
                  <a:srgbClr val="5C6773"/>
                </a:solidFill>
                <a:latin typeface="Inconsolata"/>
              </a:rPr>
              <a:t>33  </a:t>
            </a:r>
            <a:r>
              <a:rPr sz="749" i="0">
                <a:solidFill>
                  <a:srgbClr val="E6EDF3"/>
                </a:solidFill>
                <a:latin typeface="Inconsolata"/>
              </a:rPr>
              <a:t>                                 base_url=</a:t>
            </a:r>
            <a:r>
              <a:rPr sz="749" i="0">
                <a:solidFill>
                  <a:srgbClr val="A5D6A7"/>
                </a:solidFill>
                <a:latin typeface="Inconsolata"/>
              </a:rPr>
              <a:t>"http://test"</a:t>
            </a:r>
            <a:r>
              <a:rPr sz="749" i="0">
                <a:solidFill>
                  <a:srgbClr val="E6EDF3"/>
                </a:solidFill>
                <a:latin typeface="Inconsolata"/>
              </a:rPr>
              <a:t>) </a:t>
            </a:r>
            <a:r>
              <a:rPr sz="749" i="0">
                <a:solidFill>
                  <a:srgbClr val="FF8E6E"/>
                </a:solidFill>
                <a:latin typeface="Inconsolata"/>
              </a:rPr>
              <a:t>as</a:t>
            </a:r>
            <a:r>
              <a:rPr sz="749" i="0">
                <a:solidFill>
                  <a:srgbClr val="E6EDF3"/>
                </a:solidFill>
                <a:latin typeface="Inconsolata"/>
              </a:rPr>
              <a:t> client:</a:t>
            </a:r>
          </a:p>
          <a:p>
            <a:pPr>
              <a:lnSpc>
                <a:spcPct val="111166"/>
              </a:lnSpc>
              <a:spcAft>
                <a:spcPts val="0"/>
              </a:spcAft>
            </a:pPr>
            <a:r>
              <a:rPr sz="749" i="0">
                <a:solidFill>
                  <a:srgbClr val="5C6773"/>
                </a:solidFill>
                <a:latin typeface="Inconsolata"/>
              </a:rPr>
              <a:t>34  </a:t>
            </a:r>
            <a:r>
              <a:rPr sz="749" i="0">
                <a:solidFill>
                  <a:srgbClr val="E6EDF3"/>
                </a:solidFill>
                <a:latin typeface="Inconsolata"/>
              </a:rPr>
              <a:t>        cities = [</a:t>
            </a:r>
            <a:r>
              <a:rPr sz="749" i="0">
                <a:solidFill>
                  <a:srgbClr val="A5D6A7"/>
                </a:solidFill>
                <a:latin typeface="Inconsolata"/>
              </a:rPr>
              <a:t>"jakarta"</a:t>
            </a:r>
            <a:r>
              <a:rPr sz="749" i="0">
                <a:solidFill>
                  <a:srgbClr val="E6EDF3"/>
                </a:solidFill>
                <a:latin typeface="Inconsolata"/>
              </a:rPr>
              <a:t>, </a:t>
            </a:r>
            <a:r>
              <a:rPr sz="749" i="0">
                <a:solidFill>
                  <a:srgbClr val="A5D6A7"/>
                </a:solidFill>
                <a:latin typeface="Inconsolata"/>
              </a:rPr>
              <a:t>"bandung"</a:t>
            </a:r>
            <a:r>
              <a:rPr sz="749" i="0">
                <a:solidFill>
                  <a:srgbClr val="E6EDF3"/>
                </a:solidFill>
                <a:latin typeface="Inconsolata"/>
              </a:rPr>
              <a:t>, </a:t>
            </a:r>
            <a:r>
              <a:rPr sz="749" i="0">
                <a:solidFill>
                  <a:srgbClr val="A5D6A7"/>
                </a:solidFill>
                <a:latin typeface="Inconsolata"/>
              </a:rPr>
              <a:t>"surabaya"</a:t>
            </a:r>
            <a:r>
              <a:rPr sz="749" i="0">
                <a:solidFill>
                  <a:srgbClr val="E6EDF3"/>
                </a:solidFill>
                <a:latin typeface="Inconsolata"/>
              </a:rPr>
              <a:t>]</a:t>
            </a:r>
          </a:p>
          <a:p>
            <a:pPr>
              <a:lnSpc>
                <a:spcPct val="111166"/>
              </a:lnSpc>
              <a:spcAft>
                <a:spcPts val="0"/>
              </a:spcAft>
            </a:pPr>
            <a:r>
              <a:rPr sz="749" i="0">
                <a:solidFill>
                  <a:srgbClr val="5C6773"/>
                </a:solidFill>
                <a:latin typeface="Inconsolata"/>
              </a:rPr>
              <a:t>35  </a:t>
            </a:r>
            <a:r>
              <a:rPr sz="749" i="0">
                <a:solidFill>
                  <a:srgbClr val="E6EDF3"/>
                </a:solidFill>
                <a:latin typeface="Inconsolata"/>
              </a:rPr>
              <a:t>        start = time.perf_counter()</a:t>
            </a:r>
          </a:p>
          <a:p>
            <a:pPr>
              <a:lnSpc>
                <a:spcPct val="111166"/>
              </a:lnSpc>
              <a:spcAft>
                <a:spcPts val="0"/>
              </a:spcAft>
            </a:pPr>
            <a:r>
              <a:rPr sz="749" i="0">
                <a:solidFill>
                  <a:srgbClr val="5C6773"/>
                </a:solidFill>
                <a:latin typeface="Inconsolata"/>
              </a:rPr>
              <a:t>36  </a:t>
            </a:r>
            <a:r>
              <a:rPr sz="749" i="0">
                <a:solidFill>
                  <a:srgbClr val="E6EDF3"/>
                </a:solidFill>
                <a:latin typeface="Inconsolata"/>
              </a:rPr>
              <a:t>        </a:t>
            </a:r>
            <a:r>
              <a:rPr sz="749" i="0">
                <a:solidFill>
                  <a:srgbClr val="FF8E6E"/>
                </a:solidFill>
                <a:latin typeface="Inconsolata"/>
              </a:rPr>
              <a:t>await</a:t>
            </a:r>
            <a:r>
              <a:rPr sz="749" i="0">
                <a:solidFill>
                  <a:srgbClr val="E6EDF3"/>
                </a:solidFill>
                <a:latin typeface="Inconsolata"/>
              </a:rPr>
              <a:t> asyncio.gather(</a:t>
            </a:r>
          </a:p>
          <a:p>
            <a:pPr>
              <a:lnSpc>
                <a:spcPct val="111166"/>
              </a:lnSpc>
              <a:spcAft>
                <a:spcPts val="0"/>
              </a:spcAft>
            </a:pPr>
            <a:r>
              <a:rPr sz="749" i="0">
                <a:solidFill>
                  <a:srgbClr val="5C6773"/>
                </a:solidFill>
                <a:latin typeface="Inconsolata"/>
              </a:rPr>
              <a:t>37  </a:t>
            </a:r>
            <a:r>
              <a:rPr sz="749" i="0">
                <a:solidFill>
                  <a:srgbClr val="E6EDF3"/>
                </a:solidFill>
                <a:latin typeface="Inconsolata"/>
              </a:rPr>
              <a:t>            *(client.get(</a:t>
            </a:r>
            <a:r>
              <a:rPr sz="749" i="0">
                <a:solidFill>
                  <a:srgbClr val="A5D6A7"/>
                </a:solidFill>
                <a:latin typeface="Inconsolata"/>
              </a:rPr>
              <a:t>f"/shipping/{city}"</a:t>
            </a:r>
            <a:r>
              <a:rPr sz="749" i="0">
                <a:solidFill>
                  <a:srgbClr val="E6EDF3"/>
                </a:solidFill>
                <a:latin typeface="Inconsolata"/>
              </a:rPr>
              <a:t>) </a:t>
            </a:r>
            <a:r>
              <a:rPr sz="749" i="0">
                <a:solidFill>
                  <a:srgbClr val="FF8E6E"/>
                </a:solidFill>
                <a:latin typeface="Inconsolata"/>
              </a:rPr>
              <a:t>for</a:t>
            </a:r>
            <a:r>
              <a:rPr sz="749" i="0">
                <a:solidFill>
                  <a:srgbClr val="E6EDF3"/>
                </a:solidFill>
                <a:latin typeface="Inconsolata"/>
              </a:rPr>
              <a:t> city </a:t>
            </a:r>
            <a:r>
              <a:rPr sz="749" i="0">
                <a:solidFill>
                  <a:srgbClr val="FF8E6E"/>
                </a:solidFill>
                <a:latin typeface="Inconsolata"/>
              </a:rPr>
              <a:t>in</a:t>
            </a:r>
            <a:r>
              <a:rPr sz="749" i="0">
                <a:solidFill>
                  <a:srgbClr val="E6EDF3"/>
                </a:solidFill>
                <a:latin typeface="Inconsolata"/>
              </a:rPr>
              <a:t> cities)</a:t>
            </a:r>
          </a:p>
          <a:p>
            <a:pPr>
              <a:lnSpc>
                <a:spcPct val="111166"/>
              </a:lnSpc>
              <a:spcAft>
                <a:spcPts val="0"/>
              </a:spcAft>
            </a:pPr>
            <a:r>
              <a:rPr sz="749" i="0">
                <a:solidFill>
                  <a:srgbClr val="5C6773"/>
                </a:solidFill>
                <a:latin typeface="Inconsolata"/>
              </a:rPr>
              <a:t>38  </a:t>
            </a:r>
            <a:r>
              <a:rPr sz="749" i="0">
                <a:solidFill>
                  <a:srgbClr val="E6EDF3"/>
                </a:solidFill>
                <a:latin typeface="Inconsolata"/>
              </a:rPr>
              <a:t>        )</a:t>
            </a:r>
          </a:p>
          <a:p>
            <a:pPr>
              <a:lnSpc>
                <a:spcPct val="111166"/>
              </a:lnSpc>
              <a:spcAft>
                <a:spcPts val="0"/>
              </a:spcAft>
            </a:pPr>
            <a:r>
              <a:rPr sz="749" i="0">
                <a:solidFill>
                  <a:srgbClr val="5C6773"/>
                </a:solidFill>
                <a:latin typeface="Inconsolata"/>
              </a:rPr>
              <a:t>39  </a:t>
            </a:r>
            <a:r>
              <a:rPr sz="749" i="0">
                <a:solidFill>
                  <a:srgbClr val="E6EDF3"/>
                </a:solidFill>
                <a:latin typeface="Inconsolata"/>
              </a:rPr>
              <a:t>        took = time.perf_counter() - start</a:t>
            </a:r>
          </a:p>
          <a:p>
            <a:pPr>
              <a:lnSpc>
                <a:spcPct val="111166"/>
              </a:lnSpc>
              <a:spcAft>
                <a:spcPts val="0"/>
              </a:spcAft>
            </a:pPr>
            <a:r>
              <a:rPr sz="749" i="0">
                <a:solidFill>
                  <a:srgbClr val="5C6773"/>
                </a:solidFill>
                <a:latin typeface="Inconsolata"/>
              </a:rPr>
              <a:t>40  </a:t>
            </a:r>
            <a:r>
              <a:rPr sz="749" i="0">
                <a:solidFill>
                  <a:srgbClr val="E6EDF3"/>
                </a:solidFill>
                <a:latin typeface="Inconsolata"/>
              </a:rPr>
              <a:t>        </a:t>
            </a:r>
            <a:r>
              <a:rPr sz="749" i="0">
                <a:solidFill>
                  <a:srgbClr val="C3A6FF"/>
                </a:solidFill>
                <a:latin typeface="Inconsolata"/>
              </a:rPr>
              <a:t>print</a:t>
            </a:r>
            <a:r>
              <a:rPr sz="749" i="0">
                <a:solidFill>
                  <a:srgbClr val="E6EDF3"/>
                </a:solidFill>
                <a:latin typeface="Inconsolata"/>
              </a:rPr>
              <a:t>(</a:t>
            </a:r>
            <a:r>
              <a:rPr sz="749" i="0">
                <a:solidFill>
                  <a:srgbClr val="A5D6A7"/>
                </a:solidFill>
                <a:latin typeface="Inconsolata"/>
              </a:rPr>
              <a:t>f"3 request selesai dalam {took:.1f} detik"</a:t>
            </a:r>
            <a:r>
              <a:rPr sz="749" i="0">
                <a:solidFill>
                  <a:srgbClr val="E6EDF3"/>
                </a:solidFill>
                <a:latin typeface="Inconsolata"/>
              </a:rPr>
              <a:t>)  </a:t>
            </a:r>
            <a:r>
              <a:rPr sz="749" i="1">
                <a:solidFill>
                  <a:srgbClr val="8B98A8"/>
                </a:solidFill>
                <a:latin typeface="Inconsolata"/>
              </a:rPr>
              <a:t># ~3.0</a:t>
            </a:r>
          </a:p>
          <a:p>
            <a:pPr>
              <a:lnSpc>
                <a:spcPct val="111166"/>
              </a:lnSpc>
              <a:spcAft>
                <a:spcPts val="0"/>
              </a:spcAft>
            </a:pPr>
            <a:r>
              <a:rPr sz="749" i="0">
                <a:solidFill>
                  <a:srgbClr val="5C6773"/>
                </a:solidFill>
                <a:latin typeface="Inconsolata"/>
              </a:rPr>
              <a:t>41  </a:t>
            </a:r>
            <a:r>
              <a:rPr sz="749" i="0">
                <a:solidFill>
                  <a:srgbClr val="E6EDF3"/>
                </a:solidFill>
                <a:latin typeface="Inconsolata"/>
              </a:rPr>
              <a:t> </a:t>
            </a:r>
          </a:p>
          <a:p>
            <a:pPr>
              <a:lnSpc>
                <a:spcPct val="111166"/>
              </a:lnSpc>
              <a:spcAft>
                <a:spcPts val="0"/>
              </a:spcAft>
            </a:pPr>
            <a:r>
              <a:rPr sz="749" i="0">
                <a:solidFill>
                  <a:srgbClr val="5C6773"/>
                </a:solidFill>
                <a:latin typeface="Inconsolata"/>
              </a:rPr>
              <a:t>42  </a:t>
            </a:r>
            <a:r>
              <a:rPr sz="749" i="0">
                <a:solidFill>
                  <a:srgbClr val="E6EDF3"/>
                </a:solidFill>
                <a:latin typeface="Inconsolata"/>
              </a:rPr>
              <a:t> </a:t>
            </a:r>
          </a:p>
          <a:p>
            <a:pPr>
              <a:lnSpc>
                <a:spcPct val="111166"/>
              </a:lnSpc>
              <a:spcAft>
                <a:spcPts val="0"/>
              </a:spcAft>
            </a:pPr>
            <a:r>
              <a:rPr sz="749" i="0">
                <a:solidFill>
                  <a:srgbClr val="5C6773"/>
                </a:solidFill>
                <a:latin typeface="Inconsolata"/>
              </a:rPr>
              <a:t>43  </a:t>
            </a:r>
            <a:r>
              <a:rPr sz="749" i="0">
                <a:solidFill>
                  <a:srgbClr val="FF8E6E"/>
                </a:solidFill>
                <a:latin typeface="Inconsolata"/>
              </a:rPr>
              <a:t>if</a:t>
            </a:r>
            <a:r>
              <a:rPr sz="749" i="0">
                <a:solidFill>
                  <a:srgbClr val="E6EDF3"/>
                </a:solidFill>
                <a:latin typeface="Inconsolata"/>
              </a:rPr>
              <a:t> __name__ == </a:t>
            </a:r>
            <a:r>
              <a:rPr sz="749" i="0">
                <a:solidFill>
                  <a:srgbClr val="A5D6A7"/>
                </a:solidFill>
                <a:latin typeface="Inconsolata"/>
              </a:rPr>
              <a:t>"__main__"</a:t>
            </a:r>
            <a:r>
              <a:rPr sz="749" i="0">
                <a:solidFill>
                  <a:srgbClr val="E6EDF3"/>
                </a:solidFill>
                <a:latin typeface="Inconsolata"/>
              </a:rPr>
              <a:t>:</a:t>
            </a:r>
          </a:p>
          <a:p>
            <a:pPr>
              <a:lnSpc>
                <a:spcPct val="111166"/>
              </a:lnSpc>
              <a:spcAft>
                <a:spcPts val="0"/>
              </a:spcAft>
            </a:pPr>
            <a:r>
              <a:rPr sz="749" i="0">
                <a:solidFill>
                  <a:srgbClr val="5C6773"/>
                </a:solidFill>
                <a:latin typeface="Inconsolata"/>
              </a:rPr>
              <a:t>44  </a:t>
            </a:r>
            <a:r>
              <a:rPr sz="749" i="0">
                <a:solidFill>
                  <a:srgbClr val="E6EDF3"/>
                </a:solidFill>
                <a:latin typeface="Inconsolata"/>
              </a:rPr>
              <a:t>    asyncio.run(demo())</a:t>
            </a:r>
          </a:p>
        </p:txBody>
      </p:sp>
      <p:sp>
        <p:nvSpPr>
          <p:cNvPr id="36" name="Box 21"/>
          <p:cNvSpPr/>
          <p:nvPr/>
        </p:nvSpPr>
        <p:spPr>
          <a:xfrm>
            <a:off x="704088" y="3732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736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097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037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589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529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Async IO</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01-async-io/before.py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sesi-05-async-tasks-celery-redis/01-async-io</a:t>
            </a:r>
          </a:p>
          <a:p>
            <a:pPr>
              <a:lnSpc>
                <a:spcPct val="111111"/>
              </a:lnSpc>
              <a:spcAft>
                <a:spcPts val="0"/>
              </a:spcAft>
            </a:pPr>
            <a:r>
              <a:rPr sz="900" i="0">
                <a:solidFill>
                  <a:srgbClr val="82B1FF"/>
                </a:solidFill>
                <a:latin typeface="Inconsolata"/>
              </a:rPr>
              <a:t>$ python before.py</a:t>
            </a:r>
          </a:p>
        </p:txBody>
      </p:sp>
      <p:pic>
        <p:nvPicPr>
          <p:cNvPr id="29" name="Image 12" descr="s05-01-async-io-before.png"/>
          <p:cNvPicPr>
            <a:picLocks noChangeAspect="1"/>
          </p:cNvPicPr>
          <p:nvPr/>
        </p:nvPicPr>
        <p:blipFill>
          <a:blip r:embed="rId2"/>
          <a:stretch>
            <a:fillRect/>
          </a:stretch>
        </p:blipFill>
        <p:spPr>
          <a:xfrm>
            <a:off x="621792" y="2322576"/>
            <a:ext cx="4297680" cy="818212"/>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Endpoint </a:t>
            </a:r>
            <a:r>
              <a:rPr sz="950" b="0" i="0">
                <a:solidFill>
                  <a:srgbClr val="B5482A"/>
                </a:solidFill>
                <a:latin typeface="Inconsolata"/>
              </a:rPr>
              <a:t>async def</a:t>
            </a:r>
            <a:r>
              <a:rPr sz="950" b="0" i="0">
                <a:solidFill>
                  <a:srgbClr val="434343"/>
                </a:solidFill>
                <a:latin typeface="Inter"/>
              </a:rPr>
              <a:t>, tapi memanggil function biasa (baris 25-26)</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time.sleep</a:t>
            </a:r>
            <a:r>
              <a:rPr sz="950" b="0" i="0">
                <a:solidFill>
                  <a:srgbClr val="434343"/>
                </a:solidFill>
                <a:latin typeface="Inter"/>
              </a:rPr>
              <a:t> menghentikan event loop selama 1 detik (baris 20)</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Demo mengirim 3 request bersamaan (baris 36)</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Hasilnya 3.0 detik: request dikerjakan bergantian.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Async IO</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await saat menunggu IO</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01-async-io/after.py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16  </a:t>
            </a:r>
            <a:r>
              <a:rPr sz="749" i="0">
                <a:solidFill>
                  <a:srgbClr val="FF8E6E"/>
                </a:solidFill>
                <a:latin typeface="Inconsolata"/>
              </a:rPr>
              <a:t>import</a:t>
            </a:r>
            <a:r>
              <a:rPr sz="749" i="0">
                <a:solidFill>
                  <a:srgbClr val="E6EDF3"/>
                </a:solidFill>
                <a:latin typeface="Inconsolata"/>
              </a:rPr>
              <a:t> asyncio</a:t>
            </a:r>
          </a:p>
          <a:p>
            <a:pPr>
              <a:lnSpc>
                <a:spcPct val="111166"/>
              </a:lnSpc>
              <a:spcAft>
                <a:spcPts val="0"/>
              </a:spcAft>
            </a:pPr>
            <a:r>
              <a:rPr sz="749" i="0">
                <a:solidFill>
                  <a:srgbClr val="5C6773"/>
                </a:solidFill>
                <a:latin typeface="Inconsolata"/>
              </a:rPr>
              <a:t>17  </a:t>
            </a:r>
            <a:r>
              <a:rPr sz="749" i="0">
                <a:solidFill>
                  <a:srgbClr val="FF8E6E"/>
                </a:solidFill>
                <a:latin typeface="Inconsolata"/>
              </a:rPr>
              <a:t>import</a:t>
            </a:r>
            <a:r>
              <a:rPr sz="749" i="0">
                <a:solidFill>
                  <a:srgbClr val="E6EDF3"/>
                </a:solidFill>
                <a:latin typeface="Inconsolata"/>
              </a:rPr>
              <a:t> time</a:t>
            </a:r>
          </a:p>
          <a:p>
            <a:pPr>
              <a:lnSpc>
                <a:spcPct val="111166"/>
              </a:lnSpc>
              <a:spcAft>
                <a:spcPts val="0"/>
              </a:spcAft>
            </a:pPr>
            <a:r>
              <a:rPr sz="749" i="0">
                <a:solidFill>
                  <a:srgbClr val="5C6773"/>
                </a:solidFill>
                <a:latin typeface="Inconsolata"/>
              </a:rPr>
              <a:t>18  </a:t>
            </a:r>
            <a:r>
              <a:rPr sz="749" i="0">
                <a:solidFill>
                  <a:srgbClr val="E6EDF3"/>
                </a:solidFill>
                <a:latin typeface="Inconsolata"/>
              </a:rPr>
              <a:t> </a:t>
            </a:r>
          </a:p>
          <a:p>
            <a:pPr>
              <a:lnSpc>
                <a:spcPct val="111166"/>
              </a:lnSpc>
              <a:spcAft>
                <a:spcPts val="0"/>
              </a:spcAft>
            </a:pPr>
            <a:r>
              <a:rPr sz="749" i="0">
                <a:solidFill>
                  <a:srgbClr val="5C6773"/>
                </a:solidFill>
                <a:latin typeface="Inconsolata"/>
              </a:rPr>
              <a:t>19  </a:t>
            </a:r>
            <a:r>
              <a:rPr sz="749" i="0">
                <a:solidFill>
                  <a:srgbClr val="FF8E6E"/>
                </a:solidFill>
                <a:latin typeface="Inconsolata"/>
              </a:rPr>
              <a:t>import</a:t>
            </a:r>
            <a:r>
              <a:rPr sz="749" i="0">
                <a:solidFill>
                  <a:srgbClr val="E6EDF3"/>
                </a:solidFill>
                <a:latin typeface="Inconsolata"/>
              </a:rPr>
              <a:t> httpx</a:t>
            </a:r>
          </a:p>
          <a:p>
            <a:pPr>
              <a:lnSpc>
                <a:spcPct val="111166"/>
              </a:lnSpc>
              <a:spcAft>
                <a:spcPts val="0"/>
              </a:spcAft>
            </a:pPr>
            <a:r>
              <a:rPr sz="749" i="0">
                <a:solidFill>
                  <a:srgbClr val="5C6773"/>
                </a:solidFill>
                <a:latin typeface="Inconsolata"/>
              </a:rPr>
              <a:t>20  </a:t>
            </a:r>
            <a:r>
              <a:rPr sz="749" i="0">
                <a:solidFill>
                  <a:srgbClr val="FF8E6E"/>
                </a:solidFill>
                <a:latin typeface="Inconsolata"/>
              </a:rPr>
              <a:t>from</a:t>
            </a:r>
            <a:r>
              <a:rPr sz="749" i="0">
                <a:solidFill>
                  <a:srgbClr val="E6EDF3"/>
                </a:solidFill>
                <a:latin typeface="Inconsolata"/>
              </a:rPr>
              <a:t> fastapi </a:t>
            </a:r>
            <a:r>
              <a:rPr sz="749" i="0">
                <a:solidFill>
                  <a:srgbClr val="FF8E6E"/>
                </a:solidFill>
                <a:latin typeface="Inconsolata"/>
              </a:rPr>
              <a:t>import</a:t>
            </a:r>
            <a:r>
              <a:rPr sz="749" i="0">
                <a:solidFill>
                  <a:srgbClr val="E6EDF3"/>
                </a:solidFill>
                <a:latin typeface="Inconsolata"/>
              </a:rPr>
              <a:t> </a:t>
            </a:r>
            <a:r>
              <a:rPr sz="749" i="0">
                <a:solidFill>
                  <a:srgbClr val="7FDBCA"/>
                </a:solidFill>
                <a:latin typeface="Inconsolata"/>
              </a:rPr>
              <a:t>FastAPI</a:t>
            </a:r>
          </a:p>
          <a:p>
            <a:pPr>
              <a:lnSpc>
                <a:spcPct val="111166"/>
              </a:lnSpc>
              <a:spcAft>
                <a:spcPts val="0"/>
              </a:spcAft>
            </a:pPr>
            <a:r>
              <a:rPr sz="749" i="0">
                <a:solidFill>
                  <a:srgbClr val="5C6773"/>
                </a:solidFill>
                <a:latin typeface="Inconsolata"/>
              </a:rPr>
              <a:t>21  </a:t>
            </a:r>
            <a:r>
              <a:rPr sz="749" i="0">
                <a:solidFill>
                  <a:srgbClr val="E6EDF3"/>
                </a:solidFill>
                <a:latin typeface="Inconsolata"/>
              </a:rPr>
              <a:t> </a:t>
            </a:r>
          </a:p>
          <a:p>
            <a:pPr>
              <a:lnSpc>
                <a:spcPct val="111166"/>
              </a:lnSpc>
              <a:spcAft>
                <a:spcPts val="0"/>
              </a:spcAft>
            </a:pPr>
            <a:r>
              <a:rPr sz="749" i="0">
                <a:solidFill>
                  <a:srgbClr val="5C6773"/>
                </a:solidFill>
                <a:latin typeface="Inconsolata"/>
              </a:rPr>
              <a:t>22  </a:t>
            </a:r>
            <a:r>
              <a:rPr sz="749" i="0">
                <a:solidFill>
                  <a:srgbClr val="E6EDF3"/>
                </a:solidFill>
                <a:latin typeface="Inconsolata"/>
              </a:rPr>
              <a:t>app = </a:t>
            </a:r>
            <a:r>
              <a:rPr sz="749" i="0">
                <a:solidFill>
                  <a:srgbClr val="7FDBCA"/>
                </a:solidFill>
                <a:latin typeface="Inconsolata"/>
              </a:rPr>
              <a:t>FastAPI</a:t>
            </a:r>
            <a:r>
              <a:rPr sz="749" i="0">
                <a:solidFill>
                  <a:srgbClr val="E6EDF3"/>
                </a:solidFill>
                <a:latin typeface="Inconsolata"/>
              </a:rPr>
              <a:t>()</a:t>
            </a:r>
          </a:p>
          <a:p>
            <a:pPr>
              <a:lnSpc>
                <a:spcPct val="111166"/>
              </a:lnSpc>
              <a:spcAft>
                <a:spcPts val="0"/>
              </a:spcAft>
            </a:pPr>
            <a:r>
              <a:rPr sz="749" i="0">
                <a:solidFill>
                  <a:srgbClr val="5C6773"/>
                </a:solidFill>
                <a:latin typeface="Inconsolata"/>
              </a:rPr>
              <a:t>23  </a:t>
            </a:r>
            <a:r>
              <a:rPr sz="749" i="0">
                <a:solidFill>
                  <a:srgbClr val="E6EDF3"/>
                </a:solidFill>
                <a:latin typeface="Inconsolata"/>
              </a:rPr>
              <a:t> </a:t>
            </a:r>
          </a:p>
          <a:p>
            <a:pPr>
              <a:lnSpc>
                <a:spcPct val="111166"/>
              </a:lnSpc>
              <a:spcAft>
                <a:spcPts val="0"/>
              </a:spcAft>
            </a:pPr>
            <a:r>
              <a:rPr sz="749" i="0">
                <a:solidFill>
                  <a:srgbClr val="5C6773"/>
                </a:solidFill>
                <a:latin typeface="Inconsolata"/>
              </a:rPr>
              <a:t>24  </a:t>
            </a:r>
            <a:r>
              <a:rPr sz="749" i="0">
                <a:solidFill>
                  <a:srgbClr val="E6EDF3"/>
                </a:solidFill>
                <a:latin typeface="Inconsolata"/>
              </a:rPr>
              <a:t> </a:t>
            </a:r>
          </a:p>
          <a:p>
            <a:pPr>
              <a:lnSpc>
                <a:spcPct val="111166"/>
              </a:lnSpc>
              <a:spcAft>
                <a:spcPts val="0"/>
              </a:spcAft>
            </a:pPr>
            <a:r>
              <a:rPr sz="749" i="0">
                <a:solidFill>
                  <a:srgbClr val="5C6773"/>
                </a:solidFill>
                <a:latin typeface="Inconsolata"/>
              </a:rPr>
              <a:t>25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fetch_shipping_cost</a:t>
            </a:r>
            <a:r>
              <a:rPr sz="749" i="0">
                <a:solidFill>
                  <a:srgbClr val="E6EDF3"/>
                </a:solidFill>
                <a:latin typeface="Inconsolata"/>
              </a:rPr>
              <a:t>(city: </a:t>
            </a:r>
            <a:r>
              <a:rPr sz="749" i="0">
                <a:solidFill>
                  <a:srgbClr val="C3A6FF"/>
                </a:solidFill>
                <a:latin typeface="Inconsolata"/>
              </a:rPr>
              <a:t>str</a:t>
            </a:r>
            <a:r>
              <a:rPr sz="749" i="0">
                <a:solidFill>
                  <a:srgbClr val="E6EDF3"/>
                </a:solidFill>
                <a:latin typeface="Inconsolata"/>
              </a:rPr>
              <a:t>) -&gt; </a:t>
            </a:r>
            <a:r>
              <a:rPr sz="749" i="0">
                <a:solidFill>
                  <a:srgbClr val="C3A6FF"/>
                </a:solidFill>
                <a:latin typeface="Inconsolata"/>
              </a:rPr>
              <a:t>int</a:t>
            </a:r>
            <a:r>
              <a:rPr sz="749" i="0">
                <a:solidFill>
                  <a:srgbClr val="E6EDF3"/>
                </a:solidFill>
                <a:latin typeface="Inconsolata"/>
              </a:rPr>
              <a:t>:</a:t>
            </a:r>
          </a:p>
          <a:p>
            <a:pPr>
              <a:lnSpc>
                <a:spcPct val="111166"/>
              </a:lnSpc>
              <a:spcAft>
                <a:spcPts val="0"/>
              </a:spcAft>
            </a:pPr>
            <a:r>
              <a:rPr sz="749" i="0">
                <a:solidFill>
                  <a:srgbClr val="5C6773"/>
                </a:solidFill>
                <a:latin typeface="Inconsolata"/>
              </a:rPr>
              <a:t>26  </a:t>
            </a:r>
            <a:r>
              <a:rPr sz="749" i="0">
                <a:solidFill>
                  <a:srgbClr val="E6EDF3"/>
                </a:solidFill>
                <a:latin typeface="Inconsolata"/>
              </a:rPr>
              <a:t>    </a:t>
            </a:r>
            <a:r>
              <a:rPr sz="749" i="0">
                <a:solidFill>
                  <a:srgbClr val="FF8E6E"/>
                </a:solidFill>
                <a:latin typeface="Inconsolata"/>
              </a:rPr>
              <a:t>await</a:t>
            </a:r>
            <a:r>
              <a:rPr sz="749" i="0">
                <a:solidFill>
                  <a:srgbClr val="E6EDF3"/>
                </a:solidFill>
                <a:latin typeface="Inconsolata"/>
              </a:rPr>
              <a:t> asyncio.sleep(</a:t>
            </a:r>
            <a:r>
              <a:rPr sz="749" i="0">
                <a:solidFill>
                  <a:srgbClr val="F9C97A"/>
                </a:solidFill>
                <a:latin typeface="Inconsolata"/>
              </a:rPr>
              <a:t>1</a:t>
            </a:r>
            <a:r>
              <a:rPr sz="749" i="0">
                <a:solidFill>
                  <a:srgbClr val="E6EDF3"/>
                </a:solidFill>
                <a:latin typeface="Inconsolata"/>
              </a:rPr>
              <a:t>)        </a:t>
            </a:r>
            <a:r>
              <a:rPr sz="749" i="1">
                <a:solidFill>
                  <a:srgbClr val="8B98A8"/>
                </a:solidFill>
                <a:latin typeface="Inconsolata"/>
              </a:rPr>
              <a:t># anggap: memanggil API ekspedisi</a:t>
            </a:r>
          </a:p>
          <a:p>
            <a:pPr>
              <a:lnSpc>
                <a:spcPct val="111166"/>
              </a:lnSpc>
              <a:spcAft>
                <a:spcPts val="0"/>
              </a:spcAft>
            </a:pPr>
            <a:r>
              <a:rPr sz="749" i="0">
                <a:solidFill>
                  <a:srgbClr val="5C6773"/>
                </a:solidFill>
                <a:latin typeface="Inconsolata"/>
              </a:rPr>
              <a:t>27  </a:t>
            </a:r>
            <a:r>
              <a:rPr sz="749" i="0">
                <a:solidFill>
                  <a:srgbClr val="E6EDF3"/>
                </a:solidFill>
                <a:latin typeface="Inconsolata"/>
              </a:rPr>
              <a:t>    </a:t>
            </a:r>
            <a:r>
              <a:rPr sz="749" i="0">
                <a:solidFill>
                  <a:srgbClr val="FF8E6E"/>
                </a:solidFill>
                <a:latin typeface="Inconsolata"/>
              </a:rPr>
              <a:t>return</a:t>
            </a:r>
            <a:r>
              <a:rPr sz="749" i="0">
                <a:solidFill>
                  <a:srgbClr val="E6EDF3"/>
                </a:solidFill>
                <a:latin typeface="Inconsolata"/>
              </a:rPr>
              <a:t> </a:t>
            </a:r>
            <a:r>
              <a:rPr sz="749" i="0">
                <a:solidFill>
                  <a:srgbClr val="F9C97A"/>
                </a:solidFill>
                <a:latin typeface="Inconsolata"/>
              </a:rPr>
              <a:t>20_000</a:t>
            </a:r>
          </a:p>
          <a:p>
            <a:pPr>
              <a:lnSpc>
                <a:spcPct val="111166"/>
              </a:lnSpc>
              <a:spcAft>
                <a:spcPts val="0"/>
              </a:spcAft>
            </a:pPr>
            <a:r>
              <a:rPr sz="749" i="0">
                <a:solidFill>
                  <a:srgbClr val="5C6773"/>
                </a:solidFill>
                <a:latin typeface="Inconsolata"/>
              </a:rPr>
              <a:t>28  </a:t>
            </a:r>
            <a:r>
              <a:rPr sz="749" i="0">
                <a:solidFill>
                  <a:srgbClr val="E6EDF3"/>
                </a:solidFill>
                <a:latin typeface="Inconsolata"/>
              </a:rPr>
              <a:t> </a:t>
            </a:r>
          </a:p>
          <a:p>
            <a:pPr>
              <a:lnSpc>
                <a:spcPct val="111166"/>
              </a:lnSpc>
              <a:spcAft>
                <a:spcPts val="0"/>
              </a:spcAft>
            </a:pPr>
            <a:r>
              <a:rPr sz="749" i="0">
                <a:solidFill>
                  <a:srgbClr val="5C6773"/>
                </a:solidFill>
                <a:latin typeface="Inconsolata"/>
              </a:rPr>
              <a:t>29  </a:t>
            </a:r>
            <a:r>
              <a:rPr sz="749" i="0">
                <a:solidFill>
                  <a:srgbClr val="E6EDF3"/>
                </a:solidFill>
                <a:latin typeface="Inconsolata"/>
              </a:rPr>
              <a:t> </a:t>
            </a:r>
          </a:p>
          <a:p>
            <a:pPr>
              <a:lnSpc>
                <a:spcPct val="111166"/>
              </a:lnSpc>
              <a:spcAft>
                <a:spcPts val="0"/>
              </a:spcAft>
            </a:pPr>
            <a:r>
              <a:rPr sz="749" i="0">
                <a:solidFill>
                  <a:srgbClr val="5C6773"/>
                </a:solidFill>
                <a:latin typeface="Inconsolata"/>
              </a:rPr>
              <a:t>30  </a:t>
            </a:r>
            <a:r>
              <a:rPr sz="749" i="0">
                <a:solidFill>
                  <a:srgbClr val="F9C97A"/>
                </a:solidFill>
                <a:latin typeface="Inconsolata"/>
              </a:rPr>
              <a:t>@app.get</a:t>
            </a:r>
            <a:r>
              <a:rPr sz="749" i="0">
                <a:solidFill>
                  <a:srgbClr val="E6EDF3"/>
                </a:solidFill>
                <a:latin typeface="Inconsolata"/>
              </a:rPr>
              <a:t>(</a:t>
            </a:r>
            <a:r>
              <a:rPr sz="749" i="0">
                <a:solidFill>
                  <a:srgbClr val="A5D6A7"/>
                </a:solidFill>
                <a:latin typeface="Inconsolata"/>
              </a:rPr>
              <a:t>"/shipping/{city}"</a:t>
            </a:r>
            <a:r>
              <a:rPr sz="749" i="0">
                <a:solidFill>
                  <a:srgbClr val="E6EDF3"/>
                </a:solidFill>
                <a:latin typeface="Inconsolata"/>
              </a:rPr>
              <a:t>)</a:t>
            </a:r>
          </a:p>
          <a:p>
            <a:pPr>
              <a:lnSpc>
                <a:spcPct val="111166"/>
              </a:lnSpc>
              <a:spcAft>
                <a:spcPts val="0"/>
              </a:spcAft>
            </a:pPr>
            <a:r>
              <a:rPr sz="749" i="0">
                <a:solidFill>
                  <a:srgbClr val="5C6773"/>
                </a:solidFill>
                <a:latin typeface="Inconsolata"/>
              </a:rPr>
              <a:t>31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shipping_cost</a:t>
            </a:r>
            <a:r>
              <a:rPr sz="749" i="0">
                <a:solidFill>
                  <a:srgbClr val="E6EDF3"/>
                </a:solidFill>
                <a:latin typeface="Inconsolata"/>
              </a:rPr>
              <a:t>(city: </a:t>
            </a:r>
            <a:r>
              <a:rPr sz="749" i="0">
                <a:solidFill>
                  <a:srgbClr val="C3A6FF"/>
                </a:solidFill>
                <a:latin typeface="Inconsolata"/>
              </a:rPr>
              <a:t>str</a:t>
            </a:r>
            <a:r>
              <a:rPr sz="749" i="0">
                <a:solidFill>
                  <a:srgbClr val="E6EDF3"/>
                </a:solidFill>
                <a:latin typeface="Inconsolata"/>
              </a:rPr>
              <a:t>):</a:t>
            </a:r>
          </a:p>
          <a:p>
            <a:pPr>
              <a:lnSpc>
                <a:spcPct val="111166"/>
              </a:lnSpc>
              <a:spcAft>
                <a:spcPts val="0"/>
              </a:spcAft>
            </a:pPr>
            <a:r>
              <a:rPr sz="749" i="0">
                <a:solidFill>
                  <a:srgbClr val="5C6773"/>
                </a:solidFill>
                <a:latin typeface="Inconsolata"/>
              </a:rPr>
              <a:t>32  </a:t>
            </a:r>
            <a:r>
              <a:rPr sz="749" i="0">
                <a:solidFill>
                  <a:srgbClr val="E6EDF3"/>
                </a:solidFill>
                <a:latin typeface="Inconsolata"/>
              </a:rPr>
              <a:t>    cost = </a:t>
            </a:r>
            <a:r>
              <a:rPr sz="749" i="0">
                <a:solidFill>
                  <a:srgbClr val="FF8E6E"/>
                </a:solidFill>
                <a:latin typeface="Inconsolata"/>
              </a:rPr>
              <a:t>await</a:t>
            </a:r>
            <a:r>
              <a:rPr sz="749" i="0">
                <a:solidFill>
                  <a:srgbClr val="E6EDF3"/>
                </a:solidFill>
                <a:latin typeface="Inconsolata"/>
              </a:rPr>
              <a:t> fetch_shipping_cost(city)</a:t>
            </a:r>
          </a:p>
          <a:p>
            <a:pPr>
              <a:lnSpc>
                <a:spcPct val="111166"/>
              </a:lnSpc>
              <a:spcAft>
                <a:spcPts val="0"/>
              </a:spcAft>
            </a:pPr>
            <a:r>
              <a:rPr sz="749" i="0">
                <a:solidFill>
                  <a:srgbClr val="5C6773"/>
                </a:solidFill>
                <a:latin typeface="Inconsolata"/>
              </a:rPr>
              <a:t>33  </a:t>
            </a:r>
            <a:r>
              <a:rPr sz="749" i="0">
                <a:solidFill>
                  <a:srgbClr val="E6EDF3"/>
                </a:solidFill>
                <a:latin typeface="Inconsolata"/>
              </a:rPr>
              <a:t>    </a:t>
            </a:r>
            <a:r>
              <a:rPr sz="749" i="0">
                <a:solidFill>
                  <a:srgbClr val="FF8E6E"/>
                </a:solidFill>
                <a:latin typeface="Inconsolata"/>
              </a:rPr>
              <a:t>return</a:t>
            </a:r>
            <a:r>
              <a:rPr sz="749" i="0">
                <a:solidFill>
                  <a:srgbClr val="E6EDF3"/>
                </a:solidFill>
                <a:latin typeface="Inconsolata"/>
              </a:rPr>
              <a:t> {</a:t>
            </a:r>
            <a:r>
              <a:rPr sz="749" i="0">
                <a:solidFill>
                  <a:srgbClr val="A5D6A7"/>
                </a:solidFill>
                <a:latin typeface="Inconsolata"/>
              </a:rPr>
              <a:t>"city"</a:t>
            </a:r>
            <a:r>
              <a:rPr sz="749" i="0">
                <a:solidFill>
                  <a:srgbClr val="E6EDF3"/>
                </a:solidFill>
                <a:latin typeface="Inconsolata"/>
              </a:rPr>
              <a:t>: city, </a:t>
            </a:r>
            <a:r>
              <a:rPr sz="749" i="0">
                <a:solidFill>
                  <a:srgbClr val="A5D6A7"/>
                </a:solidFill>
                <a:latin typeface="Inconsolata"/>
              </a:rPr>
              <a:t>"cost"</a:t>
            </a:r>
            <a:r>
              <a:rPr sz="749" i="0">
                <a:solidFill>
                  <a:srgbClr val="E6EDF3"/>
                </a:solidFill>
                <a:latin typeface="Inconsolata"/>
              </a:rPr>
              <a:t>: cost}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01-async-io/after.py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36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demo</a:t>
            </a:r>
            <a:r>
              <a:rPr sz="749" i="0">
                <a:solidFill>
                  <a:srgbClr val="E6EDF3"/>
                </a:solidFill>
                <a:latin typeface="Inconsolata"/>
              </a:rPr>
              <a:t>():</a:t>
            </a:r>
          </a:p>
          <a:p>
            <a:pPr>
              <a:lnSpc>
                <a:spcPct val="111166"/>
              </a:lnSpc>
              <a:spcAft>
                <a:spcPts val="0"/>
              </a:spcAft>
            </a:pPr>
            <a:r>
              <a:rPr sz="749" i="0">
                <a:solidFill>
                  <a:srgbClr val="5C6773"/>
                </a:solidFill>
                <a:latin typeface="Inconsolata"/>
              </a:rPr>
              <a:t>37  </a:t>
            </a:r>
            <a:r>
              <a:rPr sz="749" i="0">
                <a:solidFill>
                  <a:srgbClr val="E6EDF3"/>
                </a:solidFill>
                <a:latin typeface="Inconsolata"/>
              </a:rPr>
              <a:t>    transport = httpx.</a:t>
            </a:r>
            <a:r>
              <a:rPr sz="749" i="0">
                <a:solidFill>
                  <a:srgbClr val="7FDBCA"/>
                </a:solidFill>
                <a:latin typeface="Inconsolata"/>
              </a:rPr>
              <a:t>ASGITransport</a:t>
            </a:r>
            <a:r>
              <a:rPr sz="749" i="0">
                <a:solidFill>
                  <a:srgbClr val="E6EDF3"/>
                </a:solidFill>
                <a:latin typeface="Inconsolata"/>
              </a:rPr>
              <a:t>(app=app)</a:t>
            </a:r>
          </a:p>
          <a:p>
            <a:pPr>
              <a:lnSpc>
                <a:spcPct val="111166"/>
              </a:lnSpc>
              <a:spcAft>
                <a:spcPts val="0"/>
              </a:spcAft>
            </a:pPr>
            <a:r>
              <a:rPr sz="749" i="0">
                <a:solidFill>
                  <a:srgbClr val="5C6773"/>
                </a:solidFill>
                <a:latin typeface="Inconsolata"/>
              </a:rPr>
              <a:t>38  </a:t>
            </a:r>
            <a:r>
              <a:rPr sz="749" i="0">
                <a:solidFill>
                  <a:srgbClr val="E6EDF3"/>
                </a:solidFill>
                <a:latin typeface="Inconsolata"/>
              </a:rPr>
              <a:t>    </a:t>
            </a:r>
            <a:r>
              <a:rPr sz="749" i="0">
                <a:solidFill>
                  <a:srgbClr val="FF8E6E"/>
                </a:solidFill>
                <a:latin typeface="Inconsolata"/>
              </a:rPr>
              <a:t>async</a:t>
            </a:r>
            <a:r>
              <a:rPr sz="749" i="0">
                <a:solidFill>
                  <a:srgbClr val="E6EDF3"/>
                </a:solidFill>
                <a:latin typeface="Inconsolata"/>
              </a:rPr>
              <a:t> </a:t>
            </a:r>
            <a:r>
              <a:rPr sz="749" i="0">
                <a:solidFill>
                  <a:srgbClr val="FF8E6E"/>
                </a:solidFill>
                <a:latin typeface="Inconsolata"/>
              </a:rPr>
              <a:t>with</a:t>
            </a:r>
            <a:r>
              <a:rPr sz="749" i="0">
                <a:solidFill>
                  <a:srgbClr val="E6EDF3"/>
                </a:solidFill>
                <a:latin typeface="Inconsolata"/>
              </a:rPr>
              <a:t> httpx.</a:t>
            </a:r>
            <a:r>
              <a:rPr sz="749" i="0">
                <a:solidFill>
                  <a:srgbClr val="7FDBCA"/>
                </a:solidFill>
                <a:latin typeface="Inconsolata"/>
              </a:rPr>
              <a:t>AsyncClient</a:t>
            </a:r>
            <a:r>
              <a:rPr sz="749" i="0">
                <a:solidFill>
                  <a:srgbClr val="E6EDF3"/>
                </a:solidFill>
                <a:latin typeface="Inconsolata"/>
              </a:rPr>
              <a:t>(transport=transport,</a:t>
            </a:r>
          </a:p>
          <a:p>
            <a:pPr>
              <a:lnSpc>
                <a:spcPct val="111166"/>
              </a:lnSpc>
              <a:spcAft>
                <a:spcPts val="0"/>
              </a:spcAft>
            </a:pPr>
            <a:r>
              <a:rPr sz="749" i="0">
                <a:solidFill>
                  <a:srgbClr val="5C6773"/>
                </a:solidFill>
                <a:latin typeface="Inconsolata"/>
              </a:rPr>
              <a:t>39  </a:t>
            </a:r>
            <a:r>
              <a:rPr sz="749" i="0">
                <a:solidFill>
                  <a:srgbClr val="E6EDF3"/>
                </a:solidFill>
                <a:latin typeface="Inconsolata"/>
              </a:rPr>
              <a:t>                                 base_url=</a:t>
            </a:r>
            <a:r>
              <a:rPr sz="749" i="0">
                <a:solidFill>
                  <a:srgbClr val="A5D6A7"/>
                </a:solidFill>
                <a:latin typeface="Inconsolata"/>
              </a:rPr>
              <a:t>"http://test"</a:t>
            </a:r>
            <a:r>
              <a:rPr sz="749" i="0">
                <a:solidFill>
                  <a:srgbClr val="E6EDF3"/>
                </a:solidFill>
                <a:latin typeface="Inconsolata"/>
              </a:rPr>
              <a:t>) </a:t>
            </a:r>
            <a:r>
              <a:rPr sz="749" i="0">
                <a:solidFill>
                  <a:srgbClr val="FF8E6E"/>
                </a:solidFill>
                <a:latin typeface="Inconsolata"/>
              </a:rPr>
              <a:t>as</a:t>
            </a:r>
            <a:r>
              <a:rPr sz="749" i="0">
                <a:solidFill>
                  <a:srgbClr val="E6EDF3"/>
                </a:solidFill>
                <a:latin typeface="Inconsolata"/>
              </a:rPr>
              <a:t> client:</a:t>
            </a:r>
          </a:p>
          <a:p>
            <a:pPr>
              <a:lnSpc>
                <a:spcPct val="111166"/>
              </a:lnSpc>
              <a:spcAft>
                <a:spcPts val="0"/>
              </a:spcAft>
            </a:pPr>
            <a:r>
              <a:rPr sz="749" i="0">
                <a:solidFill>
                  <a:srgbClr val="5C6773"/>
                </a:solidFill>
                <a:latin typeface="Inconsolata"/>
              </a:rPr>
              <a:t>40  </a:t>
            </a:r>
            <a:r>
              <a:rPr sz="749" i="0">
                <a:solidFill>
                  <a:srgbClr val="E6EDF3"/>
                </a:solidFill>
                <a:latin typeface="Inconsolata"/>
              </a:rPr>
              <a:t>        cities = [</a:t>
            </a:r>
            <a:r>
              <a:rPr sz="749" i="0">
                <a:solidFill>
                  <a:srgbClr val="A5D6A7"/>
                </a:solidFill>
                <a:latin typeface="Inconsolata"/>
              </a:rPr>
              <a:t>"jakarta"</a:t>
            </a:r>
            <a:r>
              <a:rPr sz="749" i="0">
                <a:solidFill>
                  <a:srgbClr val="E6EDF3"/>
                </a:solidFill>
                <a:latin typeface="Inconsolata"/>
              </a:rPr>
              <a:t>, </a:t>
            </a:r>
            <a:r>
              <a:rPr sz="749" i="0">
                <a:solidFill>
                  <a:srgbClr val="A5D6A7"/>
                </a:solidFill>
                <a:latin typeface="Inconsolata"/>
              </a:rPr>
              <a:t>"bandung"</a:t>
            </a:r>
            <a:r>
              <a:rPr sz="749" i="0">
                <a:solidFill>
                  <a:srgbClr val="E6EDF3"/>
                </a:solidFill>
                <a:latin typeface="Inconsolata"/>
              </a:rPr>
              <a:t>, </a:t>
            </a:r>
            <a:r>
              <a:rPr sz="749" i="0">
                <a:solidFill>
                  <a:srgbClr val="A5D6A7"/>
                </a:solidFill>
                <a:latin typeface="Inconsolata"/>
              </a:rPr>
              <a:t>"surabaya"</a:t>
            </a:r>
            <a:r>
              <a:rPr sz="749" i="0">
                <a:solidFill>
                  <a:srgbClr val="E6EDF3"/>
                </a:solidFill>
                <a:latin typeface="Inconsolata"/>
              </a:rPr>
              <a:t>]</a:t>
            </a:r>
          </a:p>
          <a:p>
            <a:pPr>
              <a:lnSpc>
                <a:spcPct val="111166"/>
              </a:lnSpc>
              <a:spcAft>
                <a:spcPts val="0"/>
              </a:spcAft>
            </a:pPr>
            <a:r>
              <a:rPr sz="749" i="0">
                <a:solidFill>
                  <a:srgbClr val="5C6773"/>
                </a:solidFill>
                <a:latin typeface="Inconsolata"/>
              </a:rPr>
              <a:t>41  </a:t>
            </a:r>
            <a:r>
              <a:rPr sz="749" i="0">
                <a:solidFill>
                  <a:srgbClr val="E6EDF3"/>
                </a:solidFill>
                <a:latin typeface="Inconsolata"/>
              </a:rPr>
              <a:t>        start = time.perf_counter()</a:t>
            </a:r>
          </a:p>
          <a:p>
            <a:pPr>
              <a:lnSpc>
                <a:spcPct val="111166"/>
              </a:lnSpc>
              <a:spcAft>
                <a:spcPts val="0"/>
              </a:spcAft>
            </a:pPr>
            <a:r>
              <a:rPr sz="749" i="0">
                <a:solidFill>
                  <a:srgbClr val="5C6773"/>
                </a:solidFill>
                <a:latin typeface="Inconsolata"/>
              </a:rPr>
              <a:t>42  </a:t>
            </a:r>
            <a:r>
              <a:rPr sz="749" i="0">
                <a:solidFill>
                  <a:srgbClr val="E6EDF3"/>
                </a:solidFill>
                <a:latin typeface="Inconsolata"/>
              </a:rPr>
              <a:t>        </a:t>
            </a:r>
            <a:r>
              <a:rPr sz="749" i="0">
                <a:solidFill>
                  <a:srgbClr val="FF8E6E"/>
                </a:solidFill>
                <a:latin typeface="Inconsolata"/>
              </a:rPr>
              <a:t>await</a:t>
            </a:r>
            <a:r>
              <a:rPr sz="749" i="0">
                <a:solidFill>
                  <a:srgbClr val="E6EDF3"/>
                </a:solidFill>
                <a:latin typeface="Inconsolata"/>
              </a:rPr>
              <a:t> asyncio.gather(</a:t>
            </a:r>
          </a:p>
          <a:p>
            <a:pPr>
              <a:lnSpc>
                <a:spcPct val="111166"/>
              </a:lnSpc>
              <a:spcAft>
                <a:spcPts val="0"/>
              </a:spcAft>
            </a:pPr>
            <a:r>
              <a:rPr sz="749" i="0">
                <a:solidFill>
                  <a:srgbClr val="5C6773"/>
                </a:solidFill>
                <a:latin typeface="Inconsolata"/>
              </a:rPr>
              <a:t>43  </a:t>
            </a:r>
            <a:r>
              <a:rPr sz="749" i="0">
                <a:solidFill>
                  <a:srgbClr val="E6EDF3"/>
                </a:solidFill>
                <a:latin typeface="Inconsolata"/>
              </a:rPr>
              <a:t>            *(client.get(</a:t>
            </a:r>
            <a:r>
              <a:rPr sz="749" i="0">
                <a:solidFill>
                  <a:srgbClr val="A5D6A7"/>
                </a:solidFill>
                <a:latin typeface="Inconsolata"/>
              </a:rPr>
              <a:t>f"/shipping/{city}"</a:t>
            </a:r>
            <a:r>
              <a:rPr sz="749" i="0">
                <a:solidFill>
                  <a:srgbClr val="E6EDF3"/>
                </a:solidFill>
                <a:latin typeface="Inconsolata"/>
              </a:rPr>
              <a:t>) </a:t>
            </a:r>
            <a:r>
              <a:rPr sz="749" i="0">
                <a:solidFill>
                  <a:srgbClr val="FF8E6E"/>
                </a:solidFill>
                <a:latin typeface="Inconsolata"/>
              </a:rPr>
              <a:t>for</a:t>
            </a:r>
            <a:r>
              <a:rPr sz="749" i="0">
                <a:solidFill>
                  <a:srgbClr val="E6EDF3"/>
                </a:solidFill>
                <a:latin typeface="Inconsolata"/>
              </a:rPr>
              <a:t> city </a:t>
            </a:r>
            <a:r>
              <a:rPr sz="749" i="0">
                <a:solidFill>
                  <a:srgbClr val="FF8E6E"/>
                </a:solidFill>
                <a:latin typeface="Inconsolata"/>
              </a:rPr>
              <a:t>in</a:t>
            </a:r>
            <a:r>
              <a:rPr sz="749" i="0">
                <a:solidFill>
                  <a:srgbClr val="E6EDF3"/>
                </a:solidFill>
                <a:latin typeface="Inconsolata"/>
              </a:rPr>
              <a:t> cities)</a:t>
            </a:r>
          </a:p>
          <a:p>
            <a:pPr>
              <a:lnSpc>
                <a:spcPct val="111166"/>
              </a:lnSpc>
              <a:spcAft>
                <a:spcPts val="0"/>
              </a:spcAft>
            </a:pPr>
            <a:r>
              <a:rPr sz="749" i="0">
                <a:solidFill>
                  <a:srgbClr val="5C6773"/>
                </a:solidFill>
                <a:latin typeface="Inconsolata"/>
              </a:rPr>
              <a:t>44  </a:t>
            </a:r>
            <a:r>
              <a:rPr sz="749" i="0">
                <a:solidFill>
                  <a:srgbClr val="E6EDF3"/>
                </a:solidFill>
                <a:latin typeface="Inconsolata"/>
              </a:rPr>
              <a:t>        )</a:t>
            </a:r>
          </a:p>
          <a:p>
            <a:pPr>
              <a:lnSpc>
                <a:spcPct val="111166"/>
              </a:lnSpc>
              <a:spcAft>
                <a:spcPts val="0"/>
              </a:spcAft>
            </a:pPr>
            <a:r>
              <a:rPr sz="749" i="0">
                <a:solidFill>
                  <a:srgbClr val="5C6773"/>
                </a:solidFill>
                <a:latin typeface="Inconsolata"/>
              </a:rPr>
              <a:t>45  </a:t>
            </a:r>
            <a:r>
              <a:rPr sz="749" i="0">
                <a:solidFill>
                  <a:srgbClr val="E6EDF3"/>
                </a:solidFill>
                <a:latin typeface="Inconsolata"/>
              </a:rPr>
              <a:t>        took = time.perf_counter() - start</a:t>
            </a:r>
          </a:p>
          <a:p>
            <a:pPr>
              <a:lnSpc>
                <a:spcPct val="111166"/>
              </a:lnSpc>
              <a:spcAft>
                <a:spcPts val="0"/>
              </a:spcAft>
            </a:pPr>
            <a:r>
              <a:rPr sz="749" i="0">
                <a:solidFill>
                  <a:srgbClr val="5C6773"/>
                </a:solidFill>
                <a:latin typeface="Inconsolata"/>
              </a:rPr>
              <a:t>46  </a:t>
            </a:r>
            <a:r>
              <a:rPr sz="749" i="0">
                <a:solidFill>
                  <a:srgbClr val="E6EDF3"/>
                </a:solidFill>
                <a:latin typeface="Inconsolata"/>
              </a:rPr>
              <a:t>        </a:t>
            </a:r>
            <a:r>
              <a:rPr sz="749" i="0">
                <a:solidFill>
                  <a:srgbClr val="C3A6FF"/>
                </a:solidFill>
                <a:latin typeface="Inconsolata"/>
              </a:rPr>
              <a:t>print</a:t>
            </a:r>
            <a:r>
              <a:rPr sz="749" i="0">
                <a:solidFill>
                  <a:srgbClr val="E6EDF3"/>
                </a:solidFill>
                <a:latin typeface="Inconsolata"/>
              </a:rPr>
              <a:t>(</a:t>
            </a:r>
            <a:r>
              <a:rPr sz="749" i="0">
                <a:solidFill>
                  <a:srgbClr val="A5D6A7"/>
                </a:solidFill>
                <a:latin typeface="Inconsolata"/>
              </a:rPr>
              <a:t>f"3 request selesai dalam {took:.1f} detik"</a:t>
            </a:r>
            <a:r>
              <a:rPr sz="749" i="0">
                <a:solidFill>
                  <a:srgbClr val="E6EDF3"/>
                </a:solidFill>
                <a:latin typeface="Inconsolata"/>
              </a:rPr>
              <a:t>)  </a:t>
            </a:r>
            <a:r>
              <a:rPr sz="749" i="1">
                <a:solidFill>
                  <a:srgbClr val="8B98A8"/>
                </a:solidFill>
                <a:latin typeface="Inconsolata"/>
              </a:rPr>
              <a:t># ~1.0</a:t>
            </a:r>
          </a:p>
          <a:p>
            <a:pPr>
              <a:lnSpc>
                <a:spcPct val="111166"/>
              </a:lnSpc>
              <a:spcAft>
                <a:spcPts val="0"/>
              </a:spcAft>
            </a:pPr>
            <a:r>
              <a:rPr sz="749" i="0">
                <a:solidFill>
                  <a:srgbClr val="5C6773"/>
                </a:solidFill>
                <a:latin typeface="Inconsolata"/>
              </a:rPr>
              <a:t>47  </a:t>
            </a:r>
            <a:r>
              <a:rPr sz="749" i="0">
                <a:solidFill>
                  <a:srgbClr val="E6EDF3"/>
                </a:solidFill>
                <a:latin typeface="Inconsolata"/>
              </a:rPr>
              <a:t> </a:t>
            </a:r>
          </a:p>
          <a:p>
            <a:pPr>
              <a:lnSpc>
                <a:spcPct val="111166"/>
              </a:lnSpc>
              <a:spcAft>
                <a:spcPts val="0"/>
              </a:spcAft>
            </a:pPr>
            <a:r>
              <a:rPr sz="749" i="0">
                <a:solidFill>
                  <a:srgbClr val="5C6773"/>
                </a:solidFill>
                <a:latin typeface="Inconsolata"/>
              </a:rPr>
              <a:t>48  </a:t>
            </a:r>
            <a:r>
              <a:rPr sz="749" i="0">
                <a:solidFill>
                  <a:srgbClr val="E6EDF3"/>
                </a:solidFill>
                <a:latin typeface="Inconsolata"/>
              </a:rPr>
              <a:t> </a:t>
            </a:r>
          </a:p>
          <a:p>
            <a:pPr>
              <a:lnSpc>
                <a:spcPct val="111166"/>
              </a:lnSpc>
              <a:spcAft>
                <a:spcPts val="0"/>
              </a:spcAft>
            </a:pPr>
            <a:r>
              <a:rPr sz="749" i="0">
                <a:solidFill>
                  <a:srgbClr val="5C6773"/>
                </a:solidFill>
                <a:latin typeface="Inconsolata"/>
              </a:rPr>
              <a:t>49  </a:t>
            </a:r>
            <a:r>
              <a:rPr sz="749" i="0">
                <a:solidFill>
                  <a:srgbClr val="FF8E6E"/>
                </a:solidFill>
                <a:latin typeface="Inconsolata"/>
              </a:rPr>
              <a:t>if</a:t>
            </a:r>
            <a:r>
              <a:rPr sz="749" i="0">
                <a:solidFill>
                  <a:srgbClr val="E6EDF3"/>
                </a:solidFill>
                <a:latin typeface="Inconsolata"/>
              </a:rPr>
              <a:t> __name__ == </a:t>
            </a:r>
            <a:r>
              <a:rPr sz="749" i="0">
                <a:solidFill>
                  <a:srgbClr val="A5D6A7"/>
                </a:solidFill>
                <a:latin typeface="Inconsolata"/>
              </a:rPr>
              <a:t>"__main__"</a:t>
            </a:r>
            <a:r>
              <a:rPr sz="749" i="0">
                <a:solidFill>
                  <a:srgbClr val="E6EDF3"/>
                </a:solidFill>
                <a:latin typeface="Inconsolata"/>
              </a:rPr>
              <a:t>:</a:t>
            </a:r>
          </a:p>
          <a:p>
            <a:pPr>
              <a:lnSpc>
                <a:spcPct val="111166"/>
              </a:lnSpc>
              <a:spcAft>
                <a:spcPts val="0"/>
              </a:spcAft>
            </a:pPr>
            <a:r>
              <a:rPr sz="749" i="0">
                <a:solidFill>
                  <a:srgbClr val="5C6773"/>
                </a:solidFill>
                <a:latin typeface="Inconsolata"/>
              </a:rPr>
              <a:t>50  </a:t>
            </a:r>
            <a:r>
              <a:rPr sz="749" i="0">
                <a:solidFill>
                  <a:srgbClr val="E6EDF3"/>
                </a:solidFill>
                <a:latin typeface="Inconsolata"/>
              </a:rPr>
              <a:t>    asyncio.run(demo())</a:t>
            </a:r>
          </a:p>
        </p:txBody>
      </p:sp>
      <p:sp>
        <p:nvSpPr>
          <p:cNvPr id="36" name="Box 21"/>
          <p:cNvSpPr/>
          <p:nvPr/>
        </p:nvSpPr>
        <p:spPr>
          <a:xfrm>
            <a:off x="704088" y="2970022"/>
            <a:ext cx="3694176" cy="246380"/>
          </a:xfrm>
          <a:prstGeom prst="roundRect">
            <a:avLst>
              <a:gd name="adj" fmla="val 1855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974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859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799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Async IO</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01-async-io/after.py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sesi-05-async-tasks-celery-redis/01-async-io</a:t>
            </a:r>
          </a:p>
          <a:p>
            <a:pPr>
              <a:lnSpc>
                <a:spcPct val="111111"/>
              </a:lnSpc>
              <a:spcAft>
                <a:spcPts val="0"/>
              </a:spcAft>
            </a:pPr>
            <a:r>
              <a:rPr sz="900" i="0">
                <a:solidFill>
                  <a:srgbClr val="82B1FF"/>
                </a:solidFill>
                <a:latin typeface="Inconsolata"/>
              </a:rPr>
              <a:t>$ python after.py</a:t>
            </a:r>
          </a:p>
        </p:txBody>
      </p:sp>
      <p:pic>
        <p:nvPicPr>
          <p:cNvPr id="29" name="Image 12" descr="s05-01-async-io-after.png"/>
          <p:cNvPicPr>
            <a:picLocks noChangeAspect="1"/>
          </p:cNvPicPr>
          <p:nvPr/>
        </p:nvPicPr>
        <p:blipFill>
          <a:blip r:embed="rId2"/>
          <a:stretch>
            <a:fillRect/>
          </a:stretch>
        </p:blipFill>
        <p:spPr>
          <a:xfrm>
            <a:off x="621792" y="2322576"/>
            <a:ext cx="4297680" cy="818212"/>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fetch_shipping_cost</a:t>
            </a:r>
            <a:r>
              <a:rPr sz="950" b="0" i="0">
                <a:solidFill>
                  <a:srgbClr val="434343"/>
                </a:solidFill>
                <a:latin typeface="Inter"/>
              </a:rPr>
              <a:t> menjadi </a:t>
            </a:r>
            <a:r>
              <a:rPr sz="950" b="0" i="0">
                <a:solidFill>
                  <a:srgbClr val="B5482A"/>
                </a:solidFill>
                <a:latin typeface="Inconsolata"/>
              </a:rPr>
              <a:t>async def</a:t>
            </a:r>
            <a:r>
              <a:rPr sz="950" b="0" i="0">
                <a:solidFill>
                  <a:srgbClr val="434343"/>
                </a:solidFill>
                <a:latin typeface="Inter"/>
              </a:rPr>
              <a:t> dan menunggu dengan </a:t>
            </a:r>
            <a:r>
              <a:rPr sz="950" b="0" i="0">
                <a:solidFill>
                  <a:srgbClr val="B5482A"/>
                </a:solidFill>
                <a:latin typeface="Inconsolata"/>
              </a:rPr>
              <a:t>await</a:t>
            </a:r>
            <a:r>
              <a:rPr sz="950" b="0" i="0">
                <a:solidFill>
                  <a:srgbClr val="434343"/>
                </a:solidFill>
                <a:latin typeface="Inter"/>
              </a:rPr>
              <a:t> (baris 25-26)</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Endpoint memanggilnya dengan </a:t>
            </a:r>
            <a:r>
              <a:rPr sz="950" b="0" i="0">
                <a:solidFill>
                  <a:srgbClr val="B5482A"/>
                </a:solidFill>
                <a:latin typeface="Inconsolata"/>
              </a:rPr>
              <a:t>await</a:t>
            </a:r>
            <a:r>
              <a:rPr sz="950" b="0" i="0">
                <a:solidFill>
                  <a:srgbClr val="434343"/>
                </a:solidFill>
                <a:latin typeface="Inter"/>
              </a:rPr>
              <a:t> (baris 32)</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Hasilnya 1.0 detik: ketiga request menunggu bersamaan.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Background Job?</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Background job adalah</a:t>
            </a:r>
          </a:p>
          <a:p>
            <a:pPr algn="l">
              <a:lnSpc>
                <a:spcPct val="115000"/>
              </a:lnSpc>
              <a:spcAft>
                <a:spcPts val="400"/>
              </a:spcAft>
            </a:pPr>
            <a:r>
              <a:rPr sz="900" b="0" i="0">
                <a:solidFill>
                  <a:srgbClr val="434343"/>
                </a:solidFill>
                <a:latin typeface="Inter"/>
              </a:rPr>
              <a:t>Proses yang dijalankan </a:t>
            </a:r>
            <a:r>
              <a:rPr sz="900" b="1" i="0">
                <a:solidFill>
                  <a:srgbClr val="434343"/>
                </a:solidFill>
                <a:latin typeface="Inter"/>
              </a:rPr>
              <a:t>di luar alur request</a:t>
            </a:r>
            <a:r>
              <a:rPr sz="900" b="0" i="0">
                <a:solidFill>
                  <a:srgbClr val="434343"/>
                </a:solidFill>
                <a:latin typeface="Inter"/>
              </a:rPr>
              <a:t>, yaitu setelah response dikirim atau oleh worker terpisah. Sehingga client tidak perlu menunggu proses itu selesai. Di FastAPI, cara paling sederhana adalah </a:t>
            </a:r>
            <a:r>
              <a:rPr sz="900" b="0" i="0">
                <a:solidFill>
                  <a:srgbClr val="B5482A"/>
                </a:solidFill>
                <a:latin typeface="Inconsolata"/>
              </a:rPr>
              <a:t>BackgroundTasks</a:t>
            </a:r>
            <a:r>
              <a:rPr sz="900" b="0" i="0">
                <a:solidFill>
                  <a:srgbClr val="434343"/>
                </a:solidFill>
                <a:latin typeface="Inter"/>
              </a:rPr>
              <a:t>.</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Menjaga response tetap cepat walaupun prosesnya lama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Mencegah server email yang lambat atau error membuat order gagal</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Memisahkan proses tambahan (kirim email) dari proses utama request (simpan order)</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background job: 02-background-tasks/before.py</a:t>
            </a:r>
          </a:p>
        </p:txBody>
      </p:sp>
      <p:sp>
        <p:nvSpPr>
          <p:cNvPr id="28" name="CodeBg 11"/>
          <p:cNvSpPr/>
          <p:nvPr/>
        </p:nvSpPr>
        <p:spPr>
          <a:xfrm>
            <a:off x="4297680" y="1719072"/>
            <a:ext cx="4187951" cy="1005840"/>
          </a:xfrm>
          <a:prstGeom prst="roundRect">
            <a:avLst>
              <a:gd name="adj" fmla="val 1818"/>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005840"/>
          </a:xfrm>
          <a:prstGeom prst="rect">
            <a:avLst/>
          </a:prstGeom>
          <a:noFill/>
        </p:spPr>
        <p:txBody>
          <a:bodyPr wrap="none" lIns="146304" tIns="91440" rIns="146304" bIns="54864">
            <a:spAutoFit/>
          </a:bodyPr>
          <a:lstStyle/>
          <a:p>
            <a:pPr>
              <a:lnSpc>
                <a:spcPct val="107843"/>
              </a:lnSpc>
              <a:spcAft>
                <a:spcPts val="0"/>
              </a:spcAft>
            </a:pPr>
            <a:r>
              <a:rPr sz="850" i="0">
                <a:solidFill>
                  <a:srgbClr val="F9C97A"/>
                </a:solidFill>
                <a:latin typeface="Inconsolata"/>
              </a:rPr>
              <a:t>@app.post</a:t>
            </a:r>
            <a:r>
              <a:rPr sz="850" i="0">
                <a:solidFill>
                  <a:srgbClr val="E6EDF3"/>
                </a:solidFill>
                <a:latin typeface="Inconsolata"/>
              </a:rPr>
              <a:t>(</a:t>
            </a:r>
            <a:r>
              <a:rPr sz="850" i="0">
                <a:solidFill>
                  <a:srgbClr val="A5D6A7"/>
                </a:solidFill>
                <a:latin typeface="Inconsolata"/>
              </a:rPr>
              <a:t>"/orders"</a:t>
            </a:r>
            <a:r>
              <a:rPr sz="850" i="0">
                <a:solidFill>
                  <a:srgbClr val="E6EDF3"/>
                </a:solidFill>
                <a:latin typeface="Inconsolata"/>
              </a:rPr>
              <a:t>, status_code=</a:t>
            </a:r>
            <a:r>
              <a:rPr sz="850" i="0">
                <a:solidFill>
                  <a:srgbClr val="F9C97A"/>
                </a:solidFill>
                <a:latin typeface="Inconsolata"/>
              </a:rPr>
              <a:t>201</a:t>
            </a: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create_order</a:t>
            </a:r>
            <a:r>
              <a:rPr sz="850" i="0">
                <a:solidFill>
                  <a:srgbClr val="E6EDF3"/>
                </a:solidFill>
                <a:latin typeface="Inconsolata"/>
              </a:rPr>
              <a:t>(customer: </a:t>
            </a:r>
            <a:r>
              <a:rPr sz="850" i="0">
                <a:solidFill>
                  <a:srgbClr val="C3A6FF"/>
                </a:solidFill>
                <a:latin typeface="Inconsolata"/>
              </a:rPr>
              <a:t>str</a:t>
            </a:r>
            <a:r>
              <a:rPr sz="850" i="0">
                <a:solidFill>
                  <a:srgbClr val="E6EDF3"/>
                </a:solidFill>
                <a:latin typeface="Inconsolata"/>
              </a:rPr>
              <a:t>, total: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send_email(customer, </a:t>
            </a:r>
            <a:r>
              <a:rPr sz="850" i="0">
                <a:solidFill>
                  <a:srgbClr val="A5D6A7"/>
                </a:solidFill>
                <a:latin typeface="Inconsolata"/>
              </a:rPr>
              <a:t>f"Order #{order_id} berhasil"</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order                  </a:t>
            </a:r>
            <a:r>
              <a:rPr sz="850" i="1">
                <a:solidFill>
                  <a:srgbClr val="8B98A8"/>
                </a:solidFill>
                <a:latin typeface="Inconsolata"/>
              </a:rPr>
              <a:t># client ikut menunggu 3 detik</a:t>
            </a:r>
          </a:p>
        </p:txBody>
      </p:sp>
      <p:sp>
        <p:nvSpPr>
          <p:cNvPr id="30" name="Box 13"/>
          <p:cNvSpPr/>
          <p:nvPr/>
        </p:nvSpPr>
        <p:spPr>
          <a:xfrm>
            <a:off x="4379976" y="22477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81635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89407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89407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89407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82549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background job: 02-background-tasks/after.py</a:t>
            </a:r>
          </a:p>
        </p:txBody>
      </p:sp>
      <p:sp>
        <p:nvSpPr>
          <p:cNvPr id="36" name="CodeBg 21"/>
          <p:cNvSpPr/>
          <p:nvPr/>
        </p:nvSpPr>
        <p:spPr>
          <a:xfrm>
            <a:off x="4297680" y="3054096"/>
            <a:ext cx="4187951" cy="1645919"/>
          </a:xfrm>
          <a:prstGeom prst="roundRect">
            <a:avLst>
              <a:gd name="adj" fmla="val 111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3054096"/>
            <a:ext cx="4187951" cy="1645919"/>
          </a:xfrm>
          <a:prstGeom prst="rect">
            <a:avLst/>
          </a:prstGeom>
          <a:noFill/>
        </p:spPr>
        <p:txBody>
          <a:bodyPr wrap="none" lIns="146304" tIns="91440" rIns="146304" bIns="54864">
            <a:spAutoFit/>
          </a:bodyPr>
          <a:lstStyle/>
          <a:p>
            <a:pPr>
              <a:lnSpc>
                <a:spcPct val="107843"/>
              </a:lnSpc>
              <a:spcAft>
                <a:spcPts val="0"/>
              </a:spcAft>
            </a:pPr>
            <a:r>
              <a:rPr sz="850" i="0">
                <a:solidFill>
                  <a:srgbClr val="F9C97A"/>
                </a:solidFill>
                <a:latin typeface="Inconsolata"/>
              </a:rPr>
              <a:t>@app.post</a:t>
            </a:r>
            <a:r>
              <a:rPr sz="850" i="0">
                <a:solidFill>
                  <a:srgbClr val="E6EDF3"/>
                </a:solidFill>
                <a:latin typeface="Inconsolata"/>
              </a:rPr>
              <a:t>(</a:t>
            </a:r>
            <a:r>
              <a:rPr sz="850" i="0">
                <a:solidFill>
                  <a:srgbClr val="A5D6A7"/>
                </a:solidFill>
                <a:latin typeface="Inconsolata"/>
              </a:rPr>
              <a:t>"/orders"</a:t>
            </a:r>
            <a:r>
              <a:rPr sz="850" i="0">
                <a:solidFill>
                  <a:srgbClr val="E6EDF3"/>
                </a:solidFill>
                <a:latin typeface="Inconsolata"/>
              </a:rPr>
              <a:t>, status_code=</a:t>
            </a:r>
            <a:r>
              <a:rPr sz="850" i="0">
                <a:solidFill>
                  <a:srgbClr val="F9C97A"/>
                </a:solidFill>
                <a:latin typeface="Inconsolata"/>
              </a:rPr>
              <a:t>201</a:t>
            </a: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create_order</a:t>
            </a:r>
            <a:r>
              <a:rPr sz="850" i="0">
                <a:solidFill>
                  <a:srgbClr val="E6EDF3"/>
                </a:solidFill>
                <a:latin typeface="Inconsolata"/>
              </a:rPr>
              <a:t>(customer: </a:t>
            </a:r>
            <a:r>
              <a:rPr sz="850" i="0">
                <a:solidFill>
                  <a:srgbClr val="C3A6FF"/>
                </a:solidFill>
                <a:latin typeface="Inconsolata"/>
              </a:rPr>
              <a:t>str</a:t>
            </a:r>
            <a:r>
              <a:rPr sz="850" i="0">
                <a:solidFill>
                  <a:srgbClr val="E6EDF3"/>
                </a:solidFill>
                <a:latin typeface="Inconsolata"/>
              </a:rPr>
              <a:t>, total: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E6EDF3"/>
                </a:solidFill>
                <a:latin typeface="Inconsolata"/>
              </a:rPr>
              <a:t>                 background_tasks: </a:t>
            </a:r>
            <a:r>
              <a:rPr sz="850" i="0">
                <a:solidFill>
                  <a:srgbClr val="7FDBCA"/>
                </a:solidFill>
                <a:latin typeface="Inconsolata"/>
              </a:rPr>
              <a:t>BackgroundTasks</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background_tasks.add_task(</a:t>
            </a:r>
          </a:p>
          <a:p>
            <a:pPr>
              <a:lnSpc>
                <a:spcPct val="107843"/>
              </a:lnSpc>
              <a:spcAft>
                <a:spcPts val="0"/>
              </a:spcAft>
            </a:pPr>
            <a:r>
              <a:rPr sz="850" i="0">
                <a:solidFill>
                  <a:srgbClr val="E6EDF3"/>
                </a:solidFill>
                <a:latin typeface="Inconsolata"/>
              </a:rPr>
              <a:t>        send_email, customer, </a:t>
            </a:r>
            <a:r>
              <a:rPr sz="850" i="0">
                <a:solidFill>
                  <a:srgbClr val="A5D6A7"/>
                </a:solidFill>
                <a:latin typeface="Inconsolata"/>
              </a:rPr>
              <a:t>f"Order #{order_id} berhasil"</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order                  </a:t>
            </a:r>
            <a:r>
              <a:rPr sz="850" i="1">
                <a:solidFill>
                  <a:srgbClr val="8B98A8"/>
                </a:solidFill>
                <a:latin typeface="Inconsolata"/>
              </a:rPr>
              <a:t># langsung dikirim ke client</a:t>
            </a:r>
          </a:p>
        </p:txBody>
      </p:sp>
      <p:sp>
        <p:nvSpPr>
          <p:cNvPr id="38" name="Box 23"/>
          <p:cNvSpPr/>
          <p:nvPr/>
        </p:nvSpPr>
        <p:spPr>
          <a:xfrm>
            <a:off x="4379976" y="3722497"/>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Background Job?</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background job</a:t>
            </a:r>
          </a:p>
          <a:p>
            <a:pPr algn="l">
              <a:lnSpc>
                <a:spcPct val="115000"/>
              </a:lnSpc>
              <a:spcAft>
                <a:spcPts val="400"/>
              </a:spcAft>
            </a:pPr>
            <a:r>
              <a:rPr sz="950" b="0" i="0">
                <a:solidFill>
                  <a:srgbClr val="434343"/>
                </a:solidFill>
                <a:latin typeface="Inter"/>
              </a:rPr>
              <a:t>Email konfirmasi dikirim di dalam route </a:t>
            </a:r>
            <a:r>
              <a:rPr sz="950" b="0" i="0">
                <a:solidFill>
                  <a:srgbClr val="B5482A"/>
                </a:solidFill>
                <a:latin typeface="Inconsolata"/>
              </a:rPr>
              <a:t>POST /orders</a:t>
            </a:r>
            <a:r>
              <a:rPr sz="950" b="0" i="0">
                <a:solidFill>
                  <a:srgbClr val="434343"/>
                </a:solidFill>
                <a:latin typeface="Inter"/>
              </a:rPr>
              <a:t>. Client baru menerima response setelah email terkirim, padahal yang dibutuhkan client hanya data order.</a:t>
            </a:r>
          </a:p>
          <a:p>
            <a:pPr algn="l">
              <a:lnSpc>
                <a:spcPct val="115000"/>
              </a:lnSpc>
              <a:spcAft>
                <a:spcPts val="400"/>
              </a:spcAft>
            </a:pPr>
            <a:r>
              <a:rPr sz="1050" b="1" i="0">
                <a:solidFill>
                  <a:srgbClr val="1C4587"/>
                </a:solidFill>
                <a:latin typeface="Inter"/>
              </a:rPr>
              <a:t>Jika server emailnya makin lambat</a:t>
            </a:r>
          </a:p>
          <a:p>
            <a:pPr algn="l">
              <a:lnSpc>
                <a:spcPct val="115000"/>
              </a:lnSpc>
              <a:spcAft>
                <a:spcPts val="400"/>
              </a:spcAft>
            </a:pPr>
            <a:r>
              <a:rPr sz="950" b="0" i="0">
                <a:solidFill>
                  <a:srgbClr val="434343"/>
                </a:solidFill>
                <a:latin typeface="Inter"/>
              </a:rPr>
              <a:t>Semua request membuat order ikut lambat. Jika server email mati, request gagal padahal ordernya sudah tersimpan.</a:t>
            </a:r>
          </a:p>
          <a:p>
            <a:pPr algn="l">
              <a:lnSpc>
                <a:spcPct val="115000"/>
              </a:lnSpc>
              <a:spcAft>
                <a:spcPts val="400"/>
              </a:spcAft>
            </a:pPr>
            <a:r>
              <a:rPr sz="950" b="0" i="0">
                <a:solidFill>
                  <a:srgbClr val="434343"/>
                </a:solidFill>
                <a:latin typeface="Inter"/>
              </a:rPr>
              <a:t>Hal ini membuat masalah di server email ikut dirasakan customer saat membuat order.</a:t>
            </a:r>
          </a:p>
          <a:p>
            <a:pPr algn="l">
              <a:lnSpc>
                <a:spcPct val="115000"/>
              </a:lnSpc>
              <a:spcAft>
                <a:spcPts val="400"/>
              </a:spcAft>
            </a:pPr>
            <a:r>
              <a:rPr sz="1050" b="1" i="0">
                <a:solidFill>
                  <a:srgbClr val="1C4587"/>
                </a:solidFill>
                <a:latin typeface="Inter"/>
              </a:rPr>
              <a:t>Yang dipakai dari FastAPI: BackgroundTasks</a:t>
            </a:r>
          </a:p>
          <a:p>
            <a:pPr algn="l">
              <a:lnSpc>
                <a:spcPct val="115000"/>
              </a:lnSpc>
              <a:spcAft>
                <a:spcPts val="400"/>
              </a:spcAft>
            </a:pPr>
            <a:r>
              <a:rPr sz="950" b="0" i="0">
                <a:solidFill>
                  <a:srgbClr val="B5482A"/>
                </a:solidFill>
                <a:latin typeface="Inconsolata"/>
              </a:rPr>
              <a:t>BackgroundTasks</a:t>
            </a:r>
            <a:r>
              <a:rPr sz="950" b="0" i="0">
                <a:solidFill>
                  <a:srgbClr val="434343"/>
                </a:solidFill>
                <a:latin typeface="Inter"/>
              </a:rPr>
              <a:t> diterima sebagai parameter route. Function yang didaftarkan dengan </a:t>
            </a:r>
            <a:r>
              <a:rPr sz="950" b="0" i="0">
                <a:solidFill>
                  <a:srgbClr val="B5482A"/>
                </a:solidFill>
                <a:latin typeface="Inconsolata"/>
              </a:rPr>
              <a:t>add_task()</a:t>
            </a:r>
            <a:r>
              <a:rPr sz="950" b="0" i="0">
                <a:solidFill>
                  <a:srgbClr val="434343"/>
                </a:solidFill>
                <a:latin typeface="Inter"/>
              </a:rPr>
              <a:t> dijalankan setelah response dikirim, masih di proses API yang sama.</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203911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background_tasks: BackgroundTasks</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FastAPI menyiapkan object ini untuk setiap request</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add_task(send_email, to, msg)</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Mendaftarkan function beserta argumennya</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return order</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Response dikirim dulu, lalu task dijalankan</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email dikirim di dalam request</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02-background-tasks/before.py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10  </a:t>
            </a:r>
            <a:r>
              <a:rPr sz="850" i="0">
                <a:solidFill>
                  <a:srgbClr val="FF8E6E"/>
                </a:solidFill>
                <a:latin typeface="Inconsolata"/>
              </a:rPr>
              <a:t>import</a:t>
            </a:r>
            <a:r>
              <a:rPr sz="850" i="0">
                <a:solidFill>
                  <a:srgbClr val="E6EDF3"/>
                </a:solidFill>
                <a:latin typeface="Inconsolata"/>
              </a:rPr>
              <a:t> time</a:t>
            </a:r>
          </a:p>
          <a:p>
            <a:pPr>
              <a:lnSpc>
                <a:spcPct val="107843"/>
              </a:lnSpc>
              <a:spcAft>
                <a:spcPts val="0"/>
              </a:spcAft>
            </a:pPr>
            <a:r>
              <a:rPr sz="850" i="0">
                <a:solidFill>
                  <a:srgbClr val="5C6773"/>
                </a:solidFill>
                <a:latin typeface="Inconsolata"/>
              </a:rPr>
              <a:t>11  </a:t>
            </a:r>
            <a:r>
              <a:rPr sz="850" i="0">
                <a:solidFill>
                  <a:srgbClr val="E6EDF3"/>
                </a:solidFill>
                <a:latin typeface="Inconsolata"/>
              </a:rPr>
              <a:t> </a:t>
            </a:r>
          </a:p>
          <a:p>
            <a:pPr>
              <a:lnSpc>
                <a:spcPct val="107843"/>
              </a:lnSpc>
              <a:spcAft>
                <a:spcPts val="0"/>
              </a:spcAft>
            </a:pPr>
            <a:r>
              <a:rPr sz="850" i="0">
                <a:solidFill>
                  <a:srgbClr val="5C6773"/>
                </a:solidFill>
                <a:latin typeface="Inconsolata"/>
              </a:rPr>
              <a:t>12  </a:t>
            </a:r>
            <a:r>
              <a:rPr sz="850" i="0">
                <a:solidFill>
                  <a:srgbClr val="FF8E6E"/>
                </a:solidFill>
                <a:latin typeface="Inconsolata"/>
              </a:rPr>
              <a:t>from</a:t>
            </a:r>
            <a:r>
              <a:rPr sz="850" i="0">
                <a:solidFill>
                  <a:srgbClr val="E6EDF3"/>
                </a:solidFill>
                <a:latin typeface="Inconsolata"/>
              </a:rPr>
              <a:t> fastapi </a:t>
            </a:r>
            <a:r>
              <a:rPr sz="850" i="0">
                <a:solidFill>
                  <a:srgbClr val="FF8E6E"/>
                </a:solidFill>
                <a:latin typeface="Inconsolata"/>
              </a:rPr>
              <a:t>import</a:t>
            </a:r>
            <a:r>
              <a:rPr sz="850" i="0">
                <a:solidFill>
                  <a:srgbClr val="E6EDF3"/>
                </a:solidFill>
                <a:latin typeface="Inconsolata"/>
              </a:rPr>
              <a:t> </a:t>
            </a:r>
            <a:r>
              <a:rPr sz="850" i="0">
                <a:solidFill>
                  <a:srgbClr val="7FDBCA"/>
                </a:solidFill>
                <a:latin typeface="Inconsolata"/>
              </a:rPr>
              <a:t>FastAPI</a:t>
            </a:r>
          </a:p>
          <a:p>
            <a:pPr>
              <a:lnSpc>
                <a:spcPct val="107843"/>
              </a:lnSpc>
              <a:spcAft>
                <a:spcPts val="0"/>
              </a:spcAft>
            </a:pPr>
            <a:r>
              <a:rPr sz="850" i="0">
                <a:solidFill>
                  <a:srgbClr val="5C6773"/>
                </a:solidFill>
                <a:latin typeface="Inconsolata"/>
              </a:rPr>
              <a:t>13  </a:t>
            </a:r>
            <a:r>
              <a:rPr sz="850" i="0">
                <a:solidFill>
                  <a:srgbClr val="E6EDF3"/>
                </a:solidFill>
                <a:latin typeface="Inconsolata"/>
              </a:rPr>
              <a:t> </a:t>
            </a:r>
          </a:p>
          <a:p>
            <a:pPr>
              <a:lnSpc>
                <a:spcPct val="107843"/>
              </a:lnSpc>
              <a:spcAft>
                <a:spcPts val="0"/>
              </a:spcAft>
            </a:pPr>
            <a:r>
              <a:rPr sz="850" i="0">
                <a:solidFill>
                  <a:srgbClr val="5C6773"/>
                </a:solidFill>
                <a:latin typeface="Inconsolata"/>
              </a:rPr>
              <a:t>14  </a:t>
            </a:r>
            <a:r>
              <a:rPr sz="850" i="0">
                <a:solidFill>
                  <a:srgbClr val="E6EDF3"/>
                </a:solidFill>
                <a:latin typeface="Inconsolata"/>
              </a:rPr>
              <a:t>app = </a:t>
            </a:r>
            <a:r>
              <a:rPr sz="850" i="0">
                <a:solidFill>
                  <a:srgbClr val="7FDBCA"/>
                </a:solidFill>
                <a:latin typeface="Inconsolata"/>
              </a:rPr>
              <a:t>FastAPI</a:t>
            </a:r>
            <a:r>
              <a:rPr sz="850" i="0">
                <a:solidFill>
                  <a:srgbClr val="E6EDF3"/>
                </a:solidFill>
                <a:latin typeface="Inconsolata"/>
              </a:rPr>
              <a:t>()</a:t>
            </a:r>
          </a:p>
          <a:p>
            <a:pPr>
              <a:lnSpc>
                <a:spcPct val="107843"/>
              </a:lnSpc>
              <a:spcAft>
                <a:spcPts val="0"/>
              </a:spcAft>
            </a:pPr>
            <a:r>
              <a:rPr sz="850" i="0">
                <a:solidFill>
                  <a:srgbClr val="5C6773"/>
                </a:solidFill>
                <a:latin typeface="Inconsolata"/>
              </a:rPr>
              <a:t>15  </a:t>
            </a:r>
            <a:r>
              <a:rPr sz="850" i="0">
                <a:solidFill>
                  <a:srgbClr val="7FDBCA"/>
                </a:solidFill>
                <a:latin typeface="Inconsolata"/>
              </a:rPr>
              <a:t>ORDERS</a:t>
            </a:r>
            <a:r>
              <a:rPr sz="850" i="0">
                <a:solidFill>
                  <a:srgbClr val="E6EDF3"/>
                </a:solidFill>
                <a:latin typeface="Inconsolata"/>
              </a:rPr>
              <a:t>: </a:t>
            </a:r>
            <a:r>
              <a:rPr sz="850" i="0">
                <a:solidFill>
                  <a:srgbClr val="C3A6FF"/>
                </a:solidFill>
                <a:latin typeface="Inconsolata"/>
              </a:rPr>
              <a:t>dict</a:t>
            </a:r>
            <a:r>
              <a:rPr sz="850" i="0">
                <a:solidFill>
                  <a:srgbClr val="E6EDF3"/>
                </a:solidFill>
                <a:latin typeface="Inconsolata"/>
              </a:rPr>
              <a:t>[</a:t>
            </a:r>
            <a:r>
              <a:rPr sz="850" i="0">
                <a:solidFill>
                  <a:srgbClr val="C3A6FF"/>
                </a:solidFill>
                <a:latin typeface="Inconsolata"/>
              </a:rPr>
              <a:t>int</a:t>
            </a:r>
            <a:r>
              <a:rPr sz="850" i="0">
                <a:solidFill>
                  <a:srgbClr val="E6EDF3"/>
                </a:solidFill>
                <a:latin typeface="Inconsolata"/>
              </a:rPr>
              <a:t>, </a:t>
            </a:r>
            <a:r>
              <a:rPr sz="850" i="0">
                <a:solidFill>
                  <a:srgbClr val="C3A6FF"/>
                </a:solidFill>
                <a:latin typeface="Inconsolata"/>
              </a:rPr>
              <a:t>dict</a:t>
            </a:r>
            <a:r>
              <a:rPr sz="850" i="0">
                <a:solidFill>
                  <a:srgbClr val="E6EDF3"/>
                </a:solidFill>
                <a:latin typeface="Inconsolata"/>
              </a:rPr>
              <a:t>] = {}</a:t>
            </a:r>
          </a:p>
          <a:p>
            <a:pPr>
              <a:lnSpc>
                <a:spcPct val="107843"/>
              </a:lnSpc>
              <a:spcAft>
                <a:spcPts val="0"/>
              </a:spcAft>
            </a:pPr>
            <a:r>
              <a:rPr sz="850" i="0">
                <a:solidFill>
                  <a:srgbClr val="5C6773"/>
                </a:solidFill>
                <a:latin typeface="Inconsolata"/>
              </a:rPr>
              <a:t>16  </a:t>
            </a:r>
            <a:r>
              <a:rPr sz="850" i="0">
                <a:solidFill>
                  <a:srgbClr val="E6EDF3"/>
                </a:solidFill>
                <a:latin typeface="Inconsolata"/>
              </a:rPr>
              <a:t> </a:t>
            </a:r>
          </a:p>
          <a:p>
            <a:pPr>
              <a:lnSpc>
                <a:spcPct val="107843"/>
              </a:lnSpc>
              <a:spcAft>
                <a:spcPts val="0"/>
              </a:spcAft>
            </a:pPr>
            <a:r>
              <a:rPr sz="850" i="0">
                <a:solidFill>
                  <a:srgbClr val="5C6773"/>
                </a:solidFill>
                <a:latin typeface="Inconsolata"/>
              </a:rPr>
              <a:t>17  </a:t>
            </a:r>
            <a:r>
              <a:rPr sz="850" i="0">
                <a:solidFill>
                  <a:srgbClr val="E6EDF3"/>
                </a:solidFill>
                <a:latin typeface="Inconsolata"/>
              </a:rPr>
              <a:t> </a:t>
            </a:r>
          </a:p>
          <a:p>
            <a:pPr>
              <a:lnSpc>
                <a:spcPct val="107843"/>
              </a:lnSpc>
              <a:spcAft>
                <a:spcPts val="0"/>
              </a:spcAft>
            </a:pPr>
            <a:r>
              <a:rPr sz="850" i="0">
                <a:solidFill>
                  <a:srgbClr val="5C6773"/>
                </a:solidFill>
                <a:latin typeface="Inconsolata"/>
              </a:rPr>
              <a:t>18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send_email</a:t>
            </a:r>
            <a:r>
              <a:rPr sz="850" i="0">
                <a:solidFill>
                  <a:srgbClr val="E6EDF3"/>
                </a:solidFill>
                <a:latin typeface="Inconsolata"/>
              </a:rPr>
              <a:t>(to: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5C6773"/>
                </a:solidFill>
                <a:latin typeface="Inconsolata"/>
              </a:rPr>
              <a:t>19  </a:t>
            </a:r>
            <a:r>
              <a:rPr sz="850" i="0">
                <a:solidFill>
                  <a:srgbClr val="E6EDF3"/>
                </a:solidFill>
                <a:latin typeface="Inconsolata"/>
              </a:rPr>
              <a:t>    time.sleep(</a:t>
            </a:r>
            <a:r>
              <a:rPr sz="850" i="0">
                <a:solidFill>
                  <a:srgbClr val="F9C97A"/>
                </a:solidFill>
                <a:latin typeface="Inconsolata"/>
              </a:rPr>
              <a:t>3</a:t>
            </a:r>
            <a:r>
              <a:rPr sz="850" i="0">
                <a:solidFill>
                  <a:srgbClr val="E6EDF3"/>
                </a:solidFill>
                <a:latin typeface="Inconsolata"/>
              </a:rPr>
              <a:t>)                 </a:t>
            </a:r>
            <a:r>
              <a:rPr sz="850" i="1">
                <a:solidFill>
                  <a:srgbClr val="8B98A8"/>
                </a:solidFill>
                <a:latin typeface="Inconsolata"/>
              </a:rPr>
              <a:t># anggap: kirim lewat SMTP</a:t>
            </a:r>
          </a:p>
          <a:p>
            <a:pPr>
              <a:lnSpc>
                <a:spcPct val="107843"/>
              </a:lnSpc>
              <a:spcAft>
                <a:spcPts val="0"/>
              </a:spcAft>
            </a:pPr>
            <a:r>
              <a:rPr sz="850" i="0">
                <a:solidFill>
                  <a:srgbClr val="5C6773"/>
                </a:solidFill>
                <a:latin typeface="Inconsolata"/>
              </a:rPr>
              <a:t>20  </a:t>
            </a: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f"[EMAIL] ke {to}: {message}"</a:t>
            </a:r>
            <a:r>
              <a:rPr sz="850" i="0">
                <a:solidFill>
                  <a:srgbClr val="E6EDF3"/>
                </a:solidFill>
                <a:latin typeface="Inconsolata"/>
              </a:rPr>
              <a:t>)</a:t>
            </a:r>
          </a:p>
          <a:p>
            <a:pPr>
              <a:lnSpc>
                <a:spcPct val="107843"/>
              </a:lnSpc>
              <a:spcAft>
                <a:spcPts val="0"/>
              </a:spcAft>
            </a:pPr>
            <a:r>
              <a:rPr sz="850" i="0">
                <a:solidFill>
                  <a:srgbClr val="5C6773"/>
                </a:solidFill>
                <a:latin typeface="Inconsolata"/>
              </a:rPr>
              <a:t>21  </a:t>
            </a:r>
            <a:r>
              <a:rPr sz="850" i="0">
                <a:solidFill>
                  <a:srgbClr val="E6EDF3"/>
                </a:solidFill>
                <a:latin typeface="Inconsolata"/>
              </a:rPr>
              <a:t> </a:t>
            </a:r>
          </a:p>
          <a:p>
            <a:pPr>
              <a:lnSpc>
                <a:spcPct val="107843"/>
              </a:lnSpc>
              <a:spcAft>
                <a:spcPts val="0"/>
              </a:spcAft>
            </a:pPr>
            <a:r>
              <a:rPr sz="850" i="0">
                <a:solidFill>
                  <a:srgbClr val="5C6773"/>
                </a:solidFill>
                <a:latin typeface="Inconsolata"/>
              </a:rPr>
              <a:t>22  </a:t>
            </a:r>
            <a:r>
              <a:rPr sz="850" i="0">
                <a:solidFill>
                  <a:srgbClr val="E6EDF3"/>
                </a:solidFill>
                <a:latin typeface="Inconsolata"/>
              </a:rPr>
              <a:t> </a:t>
            </a:r>
          </a:p>
          <a:p>
            <a:pPr>
              <a:lnSpc>
                <a:spcPct val="107843"/>
              </a:lnSpc>
              <a:spcAft>
                <a:spcPts val="0"/>
              </a:spcAft>
            </a:pPr>
            <a:r>
              <a:rPr sz="850" i="0">
                <a:solidFill>
                  <a:srgbClr val="5C6773"/>
                </a:solidFill>
                <a:latin typeface="Inconsolata"/>
              </a:rPr>
              <a:t>23  </a:t>
            </a:r>
            <a:r>
              <a:rPr sz="850" i="0">
                <a:solidFill>
                  <a:srgbClr val="F9C97A"/>
                </a:solidFill>
                <a:latin typeface="Inconsolata"/>
              </a:rPr>
              <a:t>@app.post</a:t>
            </a:r>
            <a:r>
              <a:rPr sz="850" i="0">
                <a:solidFill>
                  <a:srgbClr val="E6EDF3"/>
                </a:solidFill>
                <a:latin typeface="Inconsolata"/>
              </a:rPr>
              <a:t>(</a:t>
            </a:r>
            <a:r>
              <a:rPr sz="850" i="0">
                <a:solidFill>
                  <a:srgbClr val="A5D6A7"/>
                </a:solidFill>
                <a:latin typeface="Inconsolata"/>
              </a:rPr>
              <a:t>"/orders"</a:t>
            </a:r>
            <a:r>
              <a:rPr sz="850" i="0">
                <a:solidFill>
                  <a:srgbClr val="E6EDF3"/>
                </a:solidFill>
                <a:latin typeface="Inconsolata"/>
              </a:rPr>
              <a:t>, status_code=</a:t>
            </a:r>
            <a:r>
              <a:rPr sz="850" i="0">
                <a:solidFill>
                  <a:srgbClr val="F9C97A"/>
                </a:solidFill>
                <a:latin typeface="Inconsolata"/>
              </a:rPr>
              <a:t>201</a:t>
            </a:r>
            <a:r>
              <a:rPr sz="850" i="0">
                <a:solidFill>
                  <a:srgbClr val="E6EDF3"/>
                </a:solidFill>
                <a:latin typeface="Inconsolata"/>
              </a:rPr>
              <a:t>)</a:t>
            </a:r>
          </a:p>
          <a:p>
            <a:pPr>
              <a:lnSpc>
                <a:spcPct val="107843"/>
              </a:lnSpc>
              <a:spcAft>
                <a:spcPts val="0"/>
              </a:spcAft>
            </a:pPr>
            <a:r>
              <a:rPr sz="850" i="0">
                <a:solidFill>
                  <a:srgbClr val="5C6773"/>
                </a:solidFill>
                <a:latin typeface="Inconsolata"/>
              </a:rPr>
              <a:t>24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create_order</a:t>
            </a:r>
            <a:r>
              <a:rPr sz="850" i="0">
                <a:solidFill>
                  <a:srgbClr val="E6EDF3"/>
                </a:solidFill>
                <a:latin typeface="Inconsolata"/>
              </a:rPr>
              <a:t>(customer: </a:t>
            </a:r>
            <a:r>
              <a:rPr sz="850" i="0">
                <a:solidFill>
                  <a:srgbClr val="C3A6FF"/>
                </a:solidFill>
                <a:latin typeface="Inconsolata"/>
              </a:rPr>
              <a:t>str</a:t>
            </a:r>
            <a:r>
              <a:rPr sz="850" i="0">
                <a:solidFill>
                  <a:srgbClr val="E6EDF3"/>
                </a:solidFill>
                <a:latin typeface="Inconsolata"/>
              </a:rPr>
              <a:t>, total: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5C6773"/>
                </a:solidFill>
                <a:latin typeface="Inconsolata"/>
              </a:rPr>
              <a:t>25  </a:t>
            </a:r>
            <a:r>
              <a:rPr sz="850" i="0">
                <a:solidFill>
                  <a:srgbClr val="E6EDF3"/>
                </a:solidFill>
                <a:latin typeface="Inconsolata"/>
              </a:rPr>
              <a:t>    order_id = </a:t>
            </a:r>
            <a:r>
              <a:rPr sz="850" i="0">
                <a:solidFill>
                  <a:srgbClr val="C3A6FF"/>
                </a:solidFill>
                <a:latin typeface="Inconsolata"/>
              </a:rPr>
              <a:t>len</a:t>
            </a:r>
            <a:r>
              <a:rPr sz="850" i="0">
                <a:solidFill>
                  <a:srgbClr val="E6EDF3"/>
                </a:solidFill>
                <a:latin typeface="Inconsolata"/>
              </a:rPr>
              <a:t>(</a:t>
            </a:r>
            <a:r>
              <a:rPr sz="850" i="0">
                <a:solidFill>
                  <a:srgbClr val="7FDBCA"/>
                </a:solidFill>
                <a:latin typeface="Inconsolata"/>
              </a:rPr>
              <a:t>ORDERS</a:t>
            </a:r>
            <a:r>
              <a:rPr sz="850" i="0">
                <a:solidFill>
                  <a:srgbClr val="E6EDF3"/>
                </a:solidFill>
                <a:latin typeface="Inconsolata"/>
              </a:rPr>
              <a:t>) + </a:t>
            </a:r>
            <a:r>
              <a:rPr sz="850" i="0">
                <a:solidFill>
                  <a:srgbClr val="F9C97A"/>
                </a:solidFill>
                <a:latin typeface="Inconsolata"/>
              </a:rPr>
              <a:t>1</a:t>
            </a:r>
          </a:p>
          <a:p>
            <a:pPr>
              <a:lnSpc>
                <a:spcPct val="107843"/>
              </a:lnSpc>
              <a:spcAft>
                <a:spcPts val="0"/>
              </a:spcAft>
            </a:pPr>
            <a:r>
              <a:rPr sz="850" i="0">
                <a:solidFill>
                  <a:srgbClr val="5C6773"/>
                </a:solidFill>
                <a:latin typeface="Inconsolata"/>
              </a:rPr>
              <a:t>26  </a:t>
            </a:r>
            <a:r>
              <a:rPr sz="850" i="0">
                <a:solidFill>
                  <a:srgbClr val="E6EDF3"/>
                </a:solidFill>
                <a:latin typeface="Inconsolata"/>
              </a:rPr>
              <a:t>    order = {</a:t>
            </a:r>
            <a:r>
              <a:rPr sz="850" i="0">
                <a:solidFill>
                  <a:srgbClr val="A5D6A7"/>
                </a:solidFill>
                <a:latin typeface="Inconsolata"/>
              </a:rPr>
              <a:t>"id"</a:t>
            </a:r>
            <a:r>
              <a:rPr sz="850" i="0">
                <a:solidFill>
                  <a:srgbClr val="E6EDF3"/>
                </a:solidFill>
                <a:latin typeface="Inconsolata"/>
              </a:rPr>
              <a:t>: order_id, </a:t>
            </a:r>
            <a:r>
              <a:rPr sz="850" i="0">
                <a:solidFill>
                  <a:srgbClr val="A5D6A7"/>
                </a:solidFill>
                <a:latin typeface="Inconsolata"/>
              </a:rPr>
              <a:t>"customer"</a:t>
            </a:r>
            <a:r>
              <a:rPr sz="850" i="0">
                <a:solidFill>
                  <a:srgbClr val="E6EDF3"/>
                </a:solidFill>
                <a:latin typeface="Inconsolata"/>
              </a:rPr>
              <a:t>: customer, </a:t>
            </a:r>
            <a:r>
              <a:rPr sz="850" i="0">
                <a:solidFill>
                  <a:srgbClr val="A5D6A7"/>
                </a:solidFill>
                <a:latin typeface="Inconsolata"/>
              </a:rPr>
              <a:t>"total"</a:t>
            </a:r>
            <a:r>
              <a:rPr sz="850" i="0">
                <a:solidFill>
                  <a:srgbClr val="E6EDF3"/>
                </a:solidFill>
                <a:latin typeface="Inconsolata"/>
              </a:rPr>
              <a:t>: total}</a:t>
            </a:r>
          </a:p>
          <a:p>
            <a:pPr>
              <a:lnSpc>
                <a:spcPct val="107843"/>
              </a:lnSpc>
              <a:spcAft>
                <a:spcPts val="0"/>
              </a:spcAft>
            </a:pPr>
            <a:r>
              <a:rPr sz="850" i="0">
                <a:solidFill>
                  <a:srgbClr val="5C6773"/>
                </a:solidFill>
                <a:latin typeface="Inconsolata"/>
              </a:rPr>
              <a:t>27  </a:t>
            </a:r>
            <a:r>
              <a:rPr sz="850" i="0">
                <a:solidFill>
                  <a:srgbClr val="E6EDF3"/>
                </a:solidFill>
                <a:latin typeface="Inconsolata"/>
              </a:rPr>
              <a:t>    </a:t>
            </a:r>
            <a:r>
              <a:rPr sz="850" i="0">
                <a:solidFill>
                  <a:srgbClr val="7FDBCA"/>
                </a:solidFill>
                <a:latin typeface="Inconsolata"/>
              </a:rPr>
              <a:t>ORDERS</a:t>
            </a:r>
            <a:r>
              <a:rPr sz="850" i="0">
                <a:solidFill>
                  <a:srgbClr val="E6EDF3"/>
                </a:solidFill>
                <a:latin typeface="Inconsolata"/>
              </a:rPr>
              <a:t>[order_id] = order</a:t>
            </a:r>
          </a:p>
          <a:p>
            <a:pPr>
              <a:lnSpc>
                <a:spcPct val="107843"/>
              </a:lnSpc>
              <a:spcAft>
                <a:spcPts val="0"/>
              </a:spcAft>
            </a:pPr>
            <a:r>
              <a:rPr sz="850" i="0">
                <a:solidFill>
                  <a:srgbClr val="5C6773"/>
                </a:solidFill>
                <a:latin typeface="Inconsolata"/>
              </a:rPr>
              <a:t>28  </a:t>
            </a:r>
            <a:r>
              <a:rPr sz="850" i="0">
                <a:solidFill>
                  <a:srgbClr val="E6EDF3"/>
                </a:solidFill>
                <a:latin typeface="Inconsolata"/>
              </a:rPr>
              <a:t>    send_email(customer, </a:t>
            </a:r>
            <a:r>
              <a:rPr sz="850" i="0">
                <a:solidFill>
                  <a:srgbClr val="A5D6A7"/>
                </a:solidFill>
                <a:latin typeface="Inconsolata"/>
              </a:rPr>
              <a:t>f"Order #{order_id} berhasil"</a:t>
            </a:r>
            <a:r>
              <a:rPr sz="850" i="0">
                <a:solidFill>
                  <a:srgbClr val="E6EDF3"/>
                </a:solidFill>
                <a:latin typeface="Inconsolata"/>
              </a:rPr>
              <a:t>)</a:t>
            </a:r>
          </a:p>
          <a:p>
            <a:pPr>
              <a:lnSpc>
                <a:spcPct val="107843"/>
              </a:lnSpc>
              <a:spcAft>
                <a:spcPts val="0"/>
              </a:spcAft>
            </a:pPr>
            <a:r>
              <a:rPr sz="850" i="0">
                <a:solidFill>
                  <a:srgbClr val="5C6773"/>
                </a:solidFill>
                <a:latin typeface="Inconsolata"/>
              </a:rPr>
              <a:t>29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order                  </a:t>
            </a:r>
            <a:r>
              <a:rPr sz="850" i="1">
                <a:solidFill>
                  <a:srgbClr val="8B98A8"/>
                </a:solidFill>
                <a:latin typeface="Inconsolata"/>
              </a:rPr>
              <a:t># client ikut menunggu 3 detik</a:t>
            </a:r>
          </a:p>
        </p:txBody>
      </p:sp>
      <p:sp>
        <p:nvSpPr>
          <p:cNvPr id="29" name="Box 12"/>
          <p:cNvSpPr/>
          <p:nvPr/>
        </p:nvSpPr>
        <p:spPr>
          <a:xfrm>
            <a:off x="704088" y="4343273"/>
            <a:ext cx="7699248"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42900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085973"/>
            <a:ext cx="7699248"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0327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02-background-tasks/before.py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sesi-05-async-tasks-celery-redis/02-background-tasks</a:t>
            </a:r>
          </a:p>
          <a:p>
            <a:pPr>
              <a:lnSpc>
                <a:spcPct val="111111"/>
              </a:lnSpc>
              <a:spcAft>
                <a:spcPts val="0"/>
              </a:spcAft>
            </a:pPr>
            <a:r>
              <a:rPr sz="900" i="0">
                <a:solidFill>
                  <a:srgbClr val="82B1FF"/>
                </a:solidFill>
                <a:latin typeface="Inconsolata"/>
              </a:rPr>
              <a:t>$ uvicorn before:app --reload</a:t>
            </a:r>
          </a:p>
        </p:txBody>
      </p:sp>
      <p:pic>
        <p:nvPicPr>
          <p:cNvPr id="29" name="Image 12" descr="s05-02-background-tasks-before.png"/>
          <p:cNvPicPr>
            <a:picLocks noChangeAspect="1"/>
          </p:cNvPicPr>
          <p:nvPr/>
        </p:nvPicPr>
        <p:blipFill>
          <a:blip r:embed="rId2"/>
          <a:stretch>
            <a:fillRect/>
          </a:stretch>
        </p:blipFill>
        <p:spPr>
          <a:xfrm>
            <a:off x="621792" y="2322576"/>
            <a:ext cx="4297680" cy="1618345"/>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Email dikirim di dalam route, sebelum </a:t>
            </a:r>
            <a:r>
              <a:rPr sz="950" b="0" i="0">
                <a:solidFill>
                  <a:srgbClr val="B5482A"/>
                </a:solidFill>
                <a:latin typeface="Inconsolata"/>
              </a:rPr>
              <a:t>return</a:t>
            </a:r>
            <a:r>
              <a:rPr sz="950" b="0" i="0">
                <a:solidFill>
                  <a:srgbClr val="434343"/>
                </a:solidFill>
                <a:latin typeface="Inter"/>
              </a:rPr>
              <a:t> (baris 28)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Mengirim email butuh 3 detik (baris 19)</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Response baru diterima setelah 3 detik, dan log </a:t>
            </a:r>
            <a:r>
              <a:rPr sz="950" b="0" i="0">
                <a:solidFill>
                  <a:srgbClr val="B5482A"/>
                </a:solidFill>
                <a:latin typeface="Inconsolata"/>
              </a:rPr>
              <a:t>[EMAIL]</a:t>
            </a:r>
            <a:r>
              <a:rPr sz="950" b="0" i="0">
                <a:solidFill>
                  <a:srgbClr val="434343"/>
                </a:solidFill>
                <a:latin typeface="Inter"/>
              </a:rPr>
              <a:t> muncul </a:t>
            </a:r>
            <a:r>
              <a:rPr sz="950" b="1" i="0">
                <a:solidFill>
                  <a:srgbClr val="434343"/>
                </a:solidFill>
                <a:latin typeface="Inter"/>
              </a:rPr>
              <a:t>sebelum</a:t>
            </a:r>
            <a:r>
              <a:rPr sz="950" b="0" i="0">
                <a:solidFill>
                  <a:srgbClr val="434343"/>
                </a:solidFill>
                <a:latin typeface="Inter"/>
              </a:rPr>
              <a:t> log request.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email dikirim setelah response</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02-background-tasks/after.py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12  </a:t>
            </a:r>
            <a:r>
              <a:rPr sz="760" i="0">
                <a:solidFill>
                  <a:srgbClr val="FF8E6E"/>
                </a:solidFill>
                <a:latin typeface="Inconsolata"/>
              </a:rPr>
              <a:t>import</a:t>
            </a:r>
            <a:r>
              <a:rPr sz="760" i="0">
                <a:solidFill>
                  <a:srgbClr val="E6EDF3"/>
                </a:solidFill>
                <a:latin typeface="Inconsolata"/>
              </a:rPr>
              <a:t> time</a:t>
            </a:r>
          </a:p>
          <a:p>
            <a:pPr>
              <a:lnSpc>
                <a:spcPct val="109601"/>
              </a:lnSpc>
              <a:spcAft>
                <a:spcPts val="0"/>
              </a:spcAft>
            </a:pPr>
            <a:r>
              <a:rPr sz="760" i="0">
                <a:solidFill>
                  <a:srgbClr val="5C6773"/>
                </a:solidFill>
                <a:latin typeface="Inconsolata"/>
              </a:rPr>
              <a:t>13  </a:t>
            </a:r>
            <a:r>
              <a:rPr sz="760" i="0">
                <a:solidFill>
                  <a:srgbClr val="E6EDF3"/>
                </a:solidFill>
                <a:latin typeface="Inconsolata"/>
              </a:rPr>
              <a:t> </a:t>
            </a:r>
          </a:p>
          <a:p>
            <a:pPr>
              <a:lnSpc>
                <a:spcPct val="109601"/>
              </a:lnSpc>
              <a:spcAft>
                <a:spcPts val="0"/>
              </a:spcAft>
            </a:pPr>
            <a:r>
              <a:rPr sz="760" i="0">
                <a:solidFill>
                  <a:srgbClr val="5C6773"/>
                </a:solidFill>
                <a:latin typeface="Inconsolata"/>
              </a:rPr>
              <a:t>14  </a:t>
            </a:r>
            <a:r>
              <a:rPr sz="760" i="0">
                <a:solidFill>
                  <a:srgbClr val="FF8E6E"/>
                </a:solidFill>
                <a:latin typeface="Inconsolata"/>
              </a:rPr>
              <a:t>from</a:t>
            </a:r>
            <a:r>
              <a:rPr sz="760" i="0">
                <a:solidFill>
                  <a:srgbClr val="E6EDF3"/>
                </a:solidFill>
                <a:latin typeface="Inconsolata"/>
              </a:rPr>
              <a:t> fastapi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BackgroundTasks</a:t>
            </a:r>
            <a:r>
              <a:rPr sz="760" i="0">
                <a:solidFill>
                  <a:srgbClr val="E6EDF3"/>
                </a:solidFill>
                <a:latin typeface="Inconsolata"/>
              </a:rPr>
              <a:t>, </a:t>
            </a:r>
            <a:r>
              <a:rPr sz="760" i="0">
                <a:solidFill>
                  <a:srgbClr val="7FDBCA"/>
                </a:solidFill>
                <a:latin typeface="Inconsolata"/>
              </a:rPr>
              <a:t>FastAPI</a:t>
            </a:r>
          </a:p>
          <a:p>
            <a:pPr>
              <a:lnSpc>
                <a:spcPct val="109601"/>
              </a:lnSpc>
              <a:spcAft>
                <a:spcPts val="0"/>
              </a:spcAft>
            </a:pPr>
            <a:r>
              <a:rPr sz="760" i="0">
                <a:solidFill>
                  <a:srgbClr val="5C6773"/>
                </a:solidFill>
                <a:latin typeface="Inconsolata"/>
              </a:rPr>
              <a:t>15  </a:t>
            </a:r>
            <a:r>
              <a:rPr sz="760" i="0">
                <a:solidFill>
                  <a:srgbClr val="E6EDF3"/>
                </a:solidFill>
                <a:latin typeface="Inconsolata"/>
              </a:rPr>
              <a:t> </a:t>
            </a:r>
          </a:p>
          <a:p>
            <a:pPr>
              <a:lnSpc>
                <a:spcPct val="109601"/>
              </a:lnSpc>
              <a:spcAft>
                <a:spcPts val="0"/>
              </a:spcAft>
            </a:pPr>
            <a:r>
              <a:rPr sz="760" i="0">
                <a:solidFill>
                  <a:srgbClr val="5C6773"/>
                </a:solidFill>
                <a:latin typeface="Inconsolata"/>
              </a:rPr>
              <a:t>16  </a:t>
            </a:r>
            <a:r>
              <a:rPr sz="760" i="0">
                <a:solidFill>
                  <a:srgbClr val="E6EDF3"/>
                </a:solidFill>
                <a:latin typeface="Inconsolata"/>
              </a:rPr>
              <a:t>app = </a:t>
            </a:r>
            <a:r>
              <a:rPr sz="760" i="0">
                <a:solidFill>
                  <a:srgbClr val="7FDBCA"/>
                </a:solidFill>
                <a:latin typeface="Inconsolata"/>
              </a:rPr>
              <a:t>FastAPI</a:t>
            </a:r>
            <a:r>
              <a:rPr sz="760" i="0">
                <a:solidFill>
                  <a:srgbClr val="E6EDF3"/>
                </a:solidFill>
                <a:latin typeface="Inconsolata"/>
              </a:rPr>
              <a:t>()</a:t>
            </a:r>
          </a:p>
          <a:p>
            <a:pPr>
              <a:lnSpc>
                <a:spcPct val="109601"/>
              </a:lnSpc>
              <a:spcAft>
                <a:spcPts val="0"/>
              </a:spcAft>
            </a:pPr>
            <a:r>
              <a:rPr sz="760" i="0">
                <a:solidFill>
                  <a:srgbClr val="5C6773"/>
                </a:solidFill>
                <a:latin typeface="Inconsolata"/>
              </a:rPr>
              <a:t>17  </a:t>
            </a:r>
            <a:r>
              <a:rPr sz="760" i="0">
                <a:solidFill>
                  <a:srgbClr val="7FDBCA"/>
                </a:solidFill>
                <a:latin typeface="Inconsolata"/>
              </a:rPr>
              <a:t>ORDERS</a:t>
            </a:r>
            <a:r>
              <a:rPr sz="760" i="0">
                <a:solidFill>
                  <a:srgbClr val="E6EDF3"/>
                </a:solidFill>
                <a:latin typeface="Inconsolata"/>
              </a:rPr>
              <a:t>: </a:t>
            </a:r>
            <a:r>
              <a:rPr sz="760" i="0">
                <a:solidFill>
                  <a:srgbClr val="C3A6FF"/>
                </a:solidFill>
                <a:latin typeface="Inconsolata"/>
              </a:rPr>
              <a:t>dict</a:t>
            </a:r>
            <a:r>
              <a:rPr sz="760" i="0">
                <a:solidFill>
                  <a:srgbClr val="E6EDF3"/>
                </a:solidFill>
                <a:latin typeface="Inconsolata"/>
              </a:rPr>
              <a:t>[</a:t>
            </a:r>
            <a:r>
              <a:rPr sz="760" i="0">
                <a:solidFill>
                  <a:srgbClr val="C3A6FF"/>
                </a:solidFill>
                <a:latin typeface="Inconsolata"/>
              </a:rPr>
              <a:t>int</a:t>
            </a:r>
            <a:r>
              <a:rPr sz="760" i="0">
                <a:solidFill>
                  <a:srgbClr val="E6EDF3"/>
                </a:solidFill>
                <a:latin typeface="Inconsolata"/>
              </a:rPr>
              <a:t>, </a:t>
            </a:r>
            <a:r>
              <a:rPr sz="760" i="0">
                <a:solidFill>
                  <a:srgbClr val="C3A6FF"/>
                </a:solidFill>
                <a:latin typeface="Inconsolata"/>
              </a:rPr>
              <a:t>dict</a:t>
            </a:r>
            <a:r>
              <a:rPr sz="760" i="0">
                <a:solidFill>
                  <a:srgbClr val="E6EDF3"/>
                </a:solidFill>
                <a:latin typeface="Inconsolata"/>
              </a:rPr>
              <a:t>] = {}</a:t>
            </a:r>
          </a:p>
          <a:p>
            <a:pPr>
              <a:lnSpc>
                <a:spcPct val="109601"/>
              </a:lnSpc>
              <a:spcAft>
                <a:spcPts val="0"/>
              </a:spcAft>
            </a:pPr>
            <a:r>
              <a:rPr sz="760" i="0">
                <a:solidFill>
                  <a:srgbClr val="5C6773"/>
                </a:solidFill>
                <a:latin typeface="Inconsolata"/>
              </a:rPr>
              <a:t>18  </a:t>
            </a:r>
            <a:r>
              <a:rPr sz="760" i="0">
                <a:solidFill>
                  <a:srgbClr val="E6EDF3"/>
                </a:solidFill>
                <a:latin typeface="Inconsolata"/>
              </a:rPr>
              <a:t> </a:t>
            </a:r>
          </a:p>
          <a:p>
            <a:pPr>
              <a:lnSpc>
                <a:spcPct val="109601"/>
              </a:lnSpc>
              <a:spcAft>
                <a:spcPts val="0"/>
              </a:spcAft>
            </a:pPr>
            <a:r>
              <a:rPr sz="760" i="0">
                <a:solidFill>
                  <a:srgbClr val="5C6773"/>
                </a:solidFill>
                <a:latin typeface="Inconsolata"/>
              </a:rPr>
              <a:t>19  </a:t>
            </a:r>
            <a:r>
              <a:rPr sz="760" i="0">
                <a:solidFill>
                  <a:srgbClr val="E6EDF3"/>
                </a:solidFill>
                <a:latin typeface="Inconsolata"/>
              </a:rPr>
              <a:t> </a:t>
            </a:r>
          </a:p>
          <a:p>
            <a:pPr>
              <a:lnSpc>
                <a:spcPct val="109601"/>
              </a:lnSpc>
              <a:spcAft>
                <a:spcPts val="0"/>
              </a:spcAft>
            </a:pPr>
            <a:r>
              <a:rPr sz="760" i="0">
                <a:solidFill>
                  <a:srgbClr val="5C6773"/>
                </a:solidFill>
                <a:latin typeface="Inconsolata"/>
              </a:rPr>
              <a:t>20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send_email</a:t>
            </a:r>
            <a:r>
              <a:rPr sz="760" i="0">
                <a:solidFill>
                  <a:srgbClr val="E6EDF3"/>
                </a:solidFill>
                <a:latin typeface="Inconsolata"/>
              </a:rPr>
              <a:t>(to: </a:t>
            </a:r>
            <a:r>
              <a:rPr sz="760" i="0">
                <a:solidFill>
                  <a:srgbClr val="C3A6FF"/>
                </a:solidFill>
                <a:latin typeface="Inconsolata"/>
              </a:rPr>
              <a:t>str</a:t>
            </a:r>
            <a:r>
              <a:rPr sz="760" i="0">
                <a:solidFill>
                  <a:srgbClr val="E6EDF3"/>
                </a:solidFill>
                <a:latin typeface="Inconsolata"/>
              </a:rPr>
              <a:t>, message: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21  </a:t>
            </a:r>
            <a:r>
              <a:rPr sz="760" i="0">
                <a:solidFill>
                  <a:srgbClr val="E6EDF3"/>
                </a:solidFill>
                <a:latin typeface="Inconsolata"/>
              </a:rPr>
              <a:t>    time.sleep(</a:t>
            </a:r>
            <a:r>
              <a:rPr sz="760" i="0">
                <a:solidFill>
                  <a:srgbClr val="F9C97A"/>
                </a:solidFill>
                <a:latin typeface="Inconsolata"/>
              </a:rPr>
              <a:t>3</a:t>
            </a:r>
            <a:r>
              <a:rPr sz="760" i="0">
                <a:solidFill>
                  <a:srgbClr val="E6EDF3"/>
                </a:solidFill>
                <a:latin typeface="Inconsolata"/>
              </a:rPr>
              <a:t>)</a:t>
            </a:r>
          </a:p>
          <a:p>
            <a:pPr>
              <a:lnSpc>
                <a:spcPct val="109601"/>
              </a:lnSpc>
              <a:spcAft>
                <a:spcPts val="0"/>
              </a:spcAft>
            </a:pPr>
            <a:r>
              <a:rPr sz="760" i="0">
                <a:solidFill>
                  <a:srgbClr val="5C6773"/>
                </a:solidFill>
                <a:latin typeface="Inconsolata"/>
              </a:rPr>
              <a:t>22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f"[EMAIL] ke {to}: {message}"</a:t>
            </a:r>
            <a:r>
              <a:rPr sz="760"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02-background-tasks/after.py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25  </a:t>
            </a:r>
            <a:r>
              <a:rPr sz="760" i="0">
                <a:solidFill>
                  <a:srgbClr val="F9C97A"/>
                </a:solidFill>
                <a:latin typeface="Inconsolata"/>
              </a:rPr>
              <a:t>@app.post</a:t>
            </a:r>
            <a:r>
              <a:rPr sz="760" i="0">
                <a:solidFill>
                  <a:srgbClr val="E6EDF3"/>
                </a:solidFill>
                <a:latin typeface="Inconsolata"/>
              </a:rPr>
              <a:t>(</a:t>
            </a:r>
            <a:r>
              <a:rPr sz="760" i="0">
                <a:solidFill>
                  <a:srgbClr val="A5D6A7"/>
                </a:solidFill>
                <a:latin typeface="Inconsolata"/>
              </a:rPr>
              <a:t>"/orders"</a:t>
            </a:r>
            <a:r>
              <a:rPr sz="760" i="0">
                <a:solidFill>
                  <a:srgbClr val="E6EDF3"/>
                </a:solidFill>
                <a:latin typeface="Inconsolata"/>
              </a:rPr>
              <a:t>, status_code=</a:t>
            </a:r>
            <a:r>
              <a:rPr sz="760" i="0">
                <a:solidFill>
                  <a:srgbClr val="F9C97A"/>
                </a:solidFill>
                <a:latin typeface="Inconsolata"/>
              </a:rPr>
              <a:t>201</a:t>
            </a:r>
            <a:r>
              <a:rPr sz="760" i="0">
                <a:solidFill>
                  <a:srgbClr val="E6EDF3"/>
                </a:solidFill>
                <a:latin typeface="Inconsolata"/>
              </a:rPr>
              <a:t>)</a:t>
            </a:r>
          </a:p>
          <a:p>
            <a:pPr>
              <a:lnSpc>
                <a:spcPct val="109601"/>
              </a:lnSpc>
              <a:spcAft>
                <a:spcPts val="0"/>
              </a:spcAft>
            </a:pPr>
            <a:r>
              <a:rPr sz="760" i="0">
                <a:solidFill>
                  <a:srgbClr val="5C6773"/>
                </a:solidFill>
                <a:latin typeface="Inconsolata"/>
              </a:rPr>
              <a:t>26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create_order</a:t>
            </a:r>
            <a:r>
              <a:rPr sz="760" i="0">
                <a:solidFill>
                  <a:srgbClr val="E6EDF3"/>
                </a:solidFill>
                <a:latin typeface="Inconsolata"/>
              </a:rPr>
              <a:t>(customer: </a:t>
            </a:r>
            <a:r>
              <a:rPr sz="760" i="0">
                <a:solidFill>
                  <a:srgbClr val="C3A6FF"/>
                </a:solidFill>
                <a:latin typeface="Inconsolata"/>
              </a:rPr>
              <a:t>str</a:t>
            </a:r>
            <a:r>
              <a:rPr sz="760" i="0">
                <a:solidFill>
                  <a:srgbClr val="E6EDF3"/>
                </a:solidFill>
                <a:latin typeface="Inconsolata"/>
              </a:rPr>
              <a:t>, total: </a:t>
            </a:r>
            <a:r>
              <a:rPr sz="760" i="0">
                <a:solidFill>
                  <a:srgbClr val="C3A6FF"/>
                </a:solidFill>
                <a:latin typeface="Inconsolata"/>
              </a:rPr>
              <a:t>int</a:t>
            </a:r>
            <a:r>
              <a:rPr sz="760" i="0">
                <a:solidFill>
                  <a:srgbClr val="E6EDF3"/>
                </a:solidFill>
                <a:latin typeface="Inconsolata"/>
              </a:rPr>
              <a:t>,</a:t>
            </a:r>
          </a:p>
          <a:p>
            <a:pPr>
              <a:lnSpc>
                <a:spcPct val="109601"/>
              </a:lnSpc>
              <a:spcAft>
                <a:spcPts val="0"/>
              </a:spcAft>
            </a:pPr>
            <a:r>
              <a:rPr sz="760" i="0">
                <a:solidFill>
                  <a:srgbClr val="5C6773"/>
                </a:solidFill>
                <a:latin typeface="Inconsolata"/>
              </a:rPr>
              <a:t>27  </a:t>
            </a:r>
            <a:r>
              <a:rPr sz="760" i="0">
                <a:solidFill>
                  <a:srgbClr val="E6EDF3"/>
                </a:solidFill>
                <a:latin typeface="Inconsolata"/>
              </a:rPr>
              <a:t>                 background_tasks: </a:t>
            </a:r>
            <a:r>
              <a:rPr sz="760" i="0">
                <a:solidFill>
                  <a:srgbClr val="7FDBCA"/>
                </a:solidFill>
                <a:latin typeface="Inconsolata"/>
              </a:rPr>
              <a:t>BackgroundTasks</a:t>
            </a:r>
            <a:r>
              <a:rPr sz="760" i="0">
                <a:solidFill>
                  <a:srgbClr val="E6EDF3"/>
                </a:solidFill>
                <a:latin typeface="Inconsolata"/>
              </a:rPr>
              <a:t>):</a:t>
            </a:r>
          </a:p>
          <a:p>
            <a:pPr>
              <a:lnSpc>
                <a:spcPct val="109601"/>
              </a:lnSpc>
              <a:spcAft>
                <a:spcPts val="0"/>
              </a:spcAft>
            </a:pPr>
            <a:r>
              <a:rPr sz="760" i="0">
                <a:solidFill>
                  <a:srgbClr val="5C6773"/>
                </a:solidFill>
                <a:latin typeface="Inconsolata"/>
              </a:rPr>
              <a:t>28  </a:t>
            </a:r>
            <a:r>
              <a:rPr sz="760" i="0">
                <a:solidFill>
                  <a:srgbClr val="E6EDF3"/>
                </a:solidFill>
                <a:latin typeface="Inconsolata"/>
              </a:rPr>
              <a:t>    order_id = </a:t>
            </a:r>
            <a:r>
              <a:rPr sz="760" i="0">
                <a:solidFill>
                  <a:srgbClr val="C3A6FF"/>
                </a:solidFill>
                <a:latin typeface="Inconsolata"/>
              </a:rPr>
              <a:t>len</a:t>
            </a:r>
            <a:r>
              <a:rPr sz="760" i="0">
                <a:solidFill>
                  <a:srgbClr val="E6EDF3"/>
                </a:solidFill>
                <a:latin typeface="Inconsolata"/>
              </a:rPr>
              <a:t>(</a:t>
            </a:r>
            <a:r>
              <a:rPr sz="760" i="0">
                <a:solidFill>
                  <a:srgbClr val="7FDBCA"/>
                </a:solidFill>
                <a:latin typeface="Inconsolata"/>
              </a:rPr>
              <a:t>ORDERS</a:t>
            </a:r>
            <a:r>
              <a:rPr sz="760" i="0">
                <a:solidFill>
                  <a:srgbClr val="E6EDF3"/>
                </a:solidFill>
                <a:latin typeface="Inconsolata"/>
              </a:rPr>
              <a:t>) + </a:t>
            </a:r>
            <a:r>
              <a:rPr sz="760" i="0">
                <a:solidFill>
                  <a:srgbClr val="F9C97A"/>
                </a:solidFill>
                <a:latin typeface="Inconsolata"/>
              </a:rPr>
              <a:t>1</a:t>
            </a:r>
          </a:p>
          <a:p>
            <a:pPr>
              <a:lnSpc>
                <a:spcPct val="109601"/>
              </a:lnSpc>
              <a:spcAft>
                <a:spcPts val="0"/>
              </a:spcAft>
            </a:pPr>
            <a:r>
              <a:rPr sz="760" i="0">
                <a:solidFill>
                  <a:srgbClr val="5C6773"/>
                </a:solidFill>
                <a:latin typeface="Inconsolata"/>
              </a:rPr>
              <a:t>29  </a:t>
            </a:r>
            <a:r>
              <a:rPr sz="760" i="0">
                <a:solidFill>
                  <a:srgbClr val="E6EDF3"/>
                </a:solidFill>
                <a:latin typeface="Inconsolata"/>
              </a:rPr>
              <a:t>    order = {</a:t>
            </a:r>
            <a:r>
              <a:rPr sz="760" i="0">
                <a:solidFill>
                  <a:srgbClr val="A5D6A7"/>
                </a:solidFill>
                <a:latin typeface="Inconsolata"/>
              </a:rPr>
              <a:t>"id"</a:t>
            </a:r>
            <a:r>
              <a:rPr sz="760" i="0">
                <a:solidFill>
                  <a:srgbClr val="E6EDF3"/>
                </a:solidFill>
                <a:latin typeface="Inconsolata"/>
              </a:rPr>
              <a:t>: order_id, </a:t>
            </a:r>
            <a:r>
              <a:rPr sz="760" i="0">
                <a:solidFill>
                  <a:srgbClr val="A5D6A7"/>
                </a:solidFill>
                <a:latin typeface="Inconsolata"/>
              </a:rPr>
              <a:t>"customer"</a:t>
            </a:r>
            <a:r>
              <a:rPr sz="760" i="0">
                <a:solidFill>
                  <a:srgbClr val="E6EDF3"/>
                </a:solidFill>
                <a:latin typeface="Inconsolata"/>
              </a:rPr>
              <a:t>: customer, </a:t>
            </a:r>
            <a:r>
              <a:rPr sz="760" i="0">
                <a:solidFill>
                  <a:srgbClr val="A5D6A7"/>
                </a:solidFill>
                <a:latin typeface="Inconsolata"/>
              </a:rPr>
              <a:t>"total"</a:t>
            </a:r>
            <a:r>
              <a:rPr sz="760" i="0">
                <a:solidFill>
                  <a:srgbClr val="E6EDF3"/>
                </a:solidFill>
                <a:latin typeface="Inconsolata"/>
              </a:rPr>
              <a:t>: total}</a:t>
            </a:r>
          </a:p>
          <a:p>
            <a:pPr>
              <a:lnSpc>
                <a:spcPct val="109601"/>
              </a:lnSpc>
              <a:spcAft>
                <a:spcPts val="0"/>
              </a:spcAft>
            </a:pPr>
            <a:r>
              <a:rPr sz="760" i="0">
                <a:solidFill>
                  <a:srgbClr val="5C6773"/>
                </a:solidFill>
                <a:latin typeface="Inconsolata"/>
              </a:rPr>
              <a:t>30  </a:t>
            </a:r>
            <a:r>
              <a:rPr sz="760" i="0">
                <a:solidFill>
                  <a:srgbClr val="E6EDF3"/>
                </a:solidFill>
                <a:latin typeface="Inconsolata"/>
              </a:rPr>
              <a:t>    </a:t>
            </a:r>
            <a:r>
              <a:rPr sz="760" i="0">
                <a:solidFill>
                  <a:srgbClr val="7FDBCA"/>
                </a:solidFill>
                <a:latin typeface="Inconsolata"/>
              </a:rPr>
              <a:t>ORDERS</a:t>
            </a:r>
            <a:r>
              <a:rPr sz="760" i="0">
                <a:solidFill>
                  <a:srgbClr val="E6EDF3"/>
                </a:solidFill>
                <a:latin typeface="Inconsolata"/>
              </a:rPr>
              <a:t>[order_id] = order</a:t>
            </a:r>
          </a:p>
          <a:p>
            <a:pPr>
              <a:lnSpc>
                <a:spcPct val="109601"/>
              </a:lnSpc>
              <a:spcAft>
                <a:spcPts val="0"/>
              </a:spcAft>
            </a:pPr>
            <a:r>
              <a:rPr sz="760" i="0">
                <a:solidFill>
                  <a:srgbClr val="5C6773"/>
                </a:solidFill>
                <a:latin typeface="Inconsolata"/>
              </a:rPr>
              <a:t>31  </a:t>
            </a:r>
            <a:r>
              <a:rPr sz="760" i="0">
                <a:solidFill>
                  <a:srgbClr val="E6EDF3"/>
                </a:solidFill>
                <a:latin typeface="Inconsolata"/>
              </a:rPr>
              <a:t>    background_tasks.add_task(</a:t>
            </a:r>
          </a:p>
          <a:p>
            <a:pPr>
              <a:lnSpc>
                <a:spcPct val="109601"/>
              </a:lnSpc>
              <a:spcAft>
                <a:spcPts val="0"/>
              </a:spcAft>
            </a:pPr>
            <a:r>
              <a:rPr sz="760" i="0">
                <a:solidFill>
                  <a:srgbClr val="5C6773"/>
                </a:solidFill>
                <a:latin typeface="Inconsolata"/>
              </a:rPr>
              <a:t>32  </a:t>
            </a:r>
            <a:r>
              <a:rPr sz="760" i="0">
                <a:solidFill>
                  <a:srgbClr val="E6EDF3"/>
                </a:solidFill>
                <a:latin typeface="Inconsolata"/>
              </a:rPr>
              <a:t>        send_email, customer, </a:t>
            </a:r>
            <a:r>
              <a:rPr sz="760" i="0">
                <a:solidFill>
                  <a:srgbClr val="A5D6A7"/>
                </a:solidFill>
                <a:latin typeface="Inconsolata"/>
              </a:rPr>
              <a:t>f"Order #{order_id} berhasil"</a:t>
            </a:r>
          </a:p>
          <a:p>
            <a:pPr>
              <a:lnSpc>
                <a:spcPct val="109601"/>
              </a:lnSpc>
              <a:spcAft>
                <a:spcPts val="0"/>
              </a:spcAft>
            </a:pPr>
            <a:r>
              <a:rPr sz="760" i="0">
                <a:solidFill>
                  <a:srgbClr val="5C6773"/>
                </a:solidFill>
                <a:latin typeface="Inconsolata"/>
              </a:rPr>
              <a:t>33  </a:t>
            </a:r>
            <a:r>
              <a:rPr sz="760" i="0">
                <a:solidFill>
                  <a:srgbClr val="E6EDF3"/>
                </a:solidFill>
                <a:latin typeface="Inconsolata"/>
              </a:rPr>
              <a:t>    )</a:t>
            </a:r>
          </a:p>
          <a:p>
            <a:pPr>
              <a:lnSpc>
                <a:spcPct val="109601"/>
              </a:lnSpc>
              <a:spcAft>
                <a:spcPts val="0"/>
              </a:spcAft>
            </a:pPr>
            <a:r>
              <a:rPr sz="760" i="0">
                <a:solidFill>
                  <a:srgbClr val="5C6773"/>
                </a:solidFill>
                <a:latin typeface="Inconsolata"/>
              </a:rPr>
              <a:t>34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order                  </a:t>
            </a:r>
            <a:r>
              <a:rPr sz="760" i="1">
                <a:solidFill>
                  <a:srgbClr val="8B98A8"/>
                </a:solidFill>
                <a:latin typeface="Inconsolata"/>
              </a:rPr>
              <a:t># langsung dikirim ke client</a:t>
            </a:r>
          </a:p>
        </p:txBody>
      </p:sp>
      <p:sp>
        <p:nvSpPr>
          <p:cNvPr id="36" name="Box 21"/>
          <p:cNvSpPr/>
          <p:nvPr/>
        </p:nvSpPr>
        <p:spPr>
          <a:xfrm>
            <a:off x="4709159" y="2081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021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589022"/>
            <a:ext cx="3694176"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656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970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910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02-background-tasks/after.py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sesi-05-async-tasks-celery-redis/02-background-tasks</a:t>
            </a:r>
          </a:p>
          <a:p>
            <a:pPr>
              <a:lnSpc>
                <a:spcPct val="111111"/>
              </a:lnSpc>
              <a:spcAft>
                <a:spcPts val="0"/>
              </a:spcAft>
            </a:pPr>
            <a:r>
              <a:rPr sz="900" i="0">
                <a:solidFill>
                  <a:srgbClr val="82B1FF"/>
                </a:solidFill>
                <a:latin typeface="Inconsolata"/>
              </a:rPr>
              <a:t>$ uvicorn after:app --reload</a:t>
            </a:r>
          </a:p>
        </p:txBody>
      </p:sp>
      <p:pic>
        <p:nvPicPr>
          <p:cNvPr id="29" name="Image 12" descr="s05-02-background-tasks-after.png"/>
          <p:cNvPicPr>
            <a:picLocks noChangeAspect="1"/>
          </p:cNvPicPr>
          <p:nvPr/>
        </p:nvPicPr>
        <p:blipFill>
          <a:blip r:embed="rId2"/>
          <a:stretch>
            <a:fillRect/>
          </a:stretch>
        </p:blipFill>
        <p:spPr>
          <a:xfrm>
            <a:off x="621792" y="2322576"/>
            <a:ext cx="4297680" cy="1618345"/>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Route menerima </a:t>
            </a:r>
            <a:r>
              <a:rPr sz="950" b="0" i="0">
                <a:solidFill>
                  <a:srgbClr val="B5482A"/>
                </a:solidFill>
                <a:latin typeface="Inconsolata"/>
              </a:rPr>
              <a:t>BackgroundTasks</a:t>
            </a:r>
            <a:r>
              <a:rPr sz="950" b="0" i="0">
                <a:solidFill>
                  <a:srgbClr val="434343"/>
                </a:solidFill>
                <a:latin typeface="Inter"/>
              </a:rPr>
              <a:t> (baris 27)</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Email didaftarkan dengan </a:t>
            </a:r>
            <a:r>
              <a:rPr sz="950" b="0" i="0">
                <a:solidFill>
                  <a:srgbClr val="B5482A"/>
                </a:solidFill>
                <a:latin typeface="Inconsolata"/>
              </a:rPr>
              <a:t>add_task()</a:t>
            </a:r>
            <a:r>
              <a:rPr sz="950" b="0" i="0">
                <a:solidFill>
                  <a:srgbClr val="434343"/>
                </a:solidFill>
                <a:latin typeface="Inter"/>
              </a:rPr>
              <a:t>, belum dijalankan (baris 31)</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Response langsung dikirim (baris 34)</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Response diterima dalam hitungan milidetik, log </a:t>
            </a:r>
            <a:r>
              <a:rPr sz="950" b="0" i="0">
                <a:solidFill>
                  <a:srgbClr val="B5482A"/>
                </a:solidFill>
                <a:latin typeface="Inconsolata"/>
              </a:rPr>
              <a:t>[EMAIL]</a:t>
            </a:r>
            <a:r>
              <a:rPr sz="950" b="0" i="0">
                <a:solidFill>
                  <a:srgbClr val="434343"/>
                </a:solidFill>
                <a:latin typeface="Inter"/>
              </a:rPr>
              <a:t> muncul </a:t>
            </a:r>
            <a:r>
              <a:rPr sz="950" b="1" i="0">
                <a:solidFill>
                  <a:srgbClr val="434343"/>
                </a:solidFill>
                <a:latin typeface="Inter"/>
              </a:rPr>
              <a:t>setelah</a:t>
            </a:r>
            <a:r>
              <a:rPr sz="950" b="0" i="0">
                <a:solidFill>
                  <a:srgbClr val="434343"/>
                </a:solidFill>
                <a:latin typeface="Inter"/>
              </a:rPr>
              <a:t> log request.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Background Job</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Perbedaan Async IO dan Background Job</a:t>
            </a:r>
          </a:p>
        </p:txBody>
      </p:sp>
      <p:graphicFrame>
        <p:nvGraphicFramePr>
          <p:cNvPr id="22" name="Table 3"/>
          <p:cNvGraphicFramePr>
            <a:graphicFrameLocks noGrp="1"/>
          </p:cNvGraphicFramePr>
          <p:nvPr/>
        </p:nvGraphicFramePr>
        <p:xfrm>
          <a:off x="621792" y="1481328"/>
          <a:ext cx="7863840" cy="27432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57200">
                <a:tc>
                  <a:txBody>
                    <a:bodyPr/>
                    <a:lstStyle/>
                    <a:p>
                      <a:pPr algn="l">
                        <a:lnSpc>
                          <a:spcPct val="100000"/>
                        </a:lnSpc>
                        <a:spcAft>
                          <a:spcPts val="0"/>
                        </a:spcAft>
                      </a:pPr>
                      <a:endParaRPr/>
                    </a:p>
                  </a:txBody>
                  <a:tcPr marL="73152" marR="73152" marT="36576" marB="36576" anchor="ctr">
                    <a:solidFill>
                      <a:srgbClr val="1C4587"/>
                    </a:solidFill>
                  </a:tcPr>
                </a:tc>
                <a:tc>
                  <a:txBody>
                    <a:bodyPr/>
                    <a:lstStyle/>
                    <a:p>
                      <a:pPr algn="l">
                        <a:lnSpc>
                          <a:spcPct val="100000"/>
                        </a:lnSpc>
                        <a:spcAft>
                          <a:spcPts val="0"/>
                        </a:spcAft>
                      </a:pPr>
                      <a:r>
                        <a:rPr sz="1000" b="1" i="0">
                          <a:solidFill>
                            <a:srgbClr val="FFFFFF"/>
                          </a:solidFill>
                          <a:latin typeface="Inter"/>
                        </a:rPr>
                        <a:t>Async IO</a:t>
                      </a:r>
                    </a:p>
                  </a:txBody>
                  <a:tcPr marL="73152" marR="73152" marT="36576" marB="36576" anchor="ctr">
                    <a:solidFill>
                      <a:srgbClr val="1C4587"/>
                    </a:solidFill>
                  </a:tcPr>
                </a:tc>
                <a:tc>
                  <a:txBody>
                    <a:bodyPr/>
                    <a:lstStyle/>
                    <a:p>
                      <a:pPr algn="l">
                        <a:lnSpc>
                          <a:spcPct val="100000"/>
                        </a:lnSpc>
                        <a:spcAft>
                          <a:spcPts val="0"/>
                        </a:spcAft>
                      </a:pPr>
                      <a:r>
                        <a:rPr sz="1000" b="1" i="0">
                          <a:solidFill>
                            <a:srgbClr val="FFFFFF"/>
                          </a:solidFill>
                          <a:latin typeface="Inter"/>
                        </a:rPr>
                        <a:t>Background Job</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1000" b="1" i="0">
                          <a:solidFill>
                            <a:srgbClr val="1C4587"/>
                          </a:solidFill>
                          <a:latin typeface="Inter"/>
                        </a:rPr>
                        <a:t>Hasilnya dibutuhkan di response?</a:t>
                      </a:r>
                    </a:p>
                  </a:txBody>
                  <a:tcPr marL="73152" marR="73152" marT="36576" marB="36576" anchor="ctr">
                    <a:solidFill>
                      <a:srgbClr val="FFFFFF"/>
                    </a:solidFill>
                  </a:tcPr>
                </a:tc>
                <a:tc>
                  <a:txBody>
                    <a:bodyPr/>
                    <a:lstStyle/>
                    <a:p>
                      <a:pPr algn="l">
                        <a:lnSpc>
                          <a:spcPct val="100000"/>
                        </a:lnSpc>
                        <a:spcAft>
                          <a:spcPts val="0"/>
                        </a:spcAft>
                      </a:pPr>
                      <a:r>
                        <a:rPr sz="1000" b="0" i="0">
                          <a:solidFill>
                            <a:srgbClr val="434343"/>
                          </a:solidFill>
                          <a:latin typeface="Inter"/>
                        </a:rPr>
                        <a:t>Ya</a:t>
                      </a:r>
                    </a:p>
                  </a:txBody>
                  <a:tcPr marL="73152" marR="73152" marT="36576" marB="36576" anchor="ctr">
                    <a:solidFill>
                      <a:srgbClr val="FFFFFF"/>
                    </a:solidFill>
                  </a:tcPr>
                </a:tc>
                <a:tc>
                  <a:txBody>
                    <a:bodyPr/>
                    <a:lstStyle/>
                    <a:p>
                      <a:pPr algn="l">
                        <a:lnSpc>
                          <a:spcPct val="100000"/>
                        </a:lnSpc>
                        <a:spcAft>
                          <a:spcPts val="0"/>
                        </a:spcAft>
                      </a:pPr>
                      <a:r>
                        <a:rPr sz="1000" b="0" i="0">
                          <a:solidFill>
                            <a:srgbClr val="434343"/>
                          </a:solidFill>
                          <a:latin typeface="Inter"/>
                        </a:rPr>
                        <a:t>Tidak</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1000" b="1" i="0">
                          <a:solidFill>
                            <a:srgbClr val="1C4587"/>
                          </a:solidFill>
                          <a:latin typeface="Inter"/>
                        </a:rPr>
                        <a:t>Lama prosesnya</a:t>
                      </a:r>
                    </a:p>
                  </a:txBody>
                  <a:tcPr marL="73152" marR="73152" marT="36576" marB="36576" anchor="ctr">
                    <a:solidFill>
                      <a:srgbClr val="F3F4F6"/>
                    </a:solidFill>
                  </a:tcPr>
                </a:tc>
                <a:tc>
                  <a:txBody>
                    <a:bodyPr/>
                    <a:lstStyle/>
                    <a:p>
                      <a:pPr algn="l">
                        <a:lnSpc>
                          <a:spcPct val="100000"/>
                        </a:lnSpc>
                        <a:spcAft>
                          <a:spcPts val="0"/>
                        </a:spcAft>
                      </a:pPr>
                      <a:r>
                        <a:rPr sz="1000" b="0" i="0">
                          <a:solidFill>
                            <a:srgbClr val="434343"/>
                          </a:solidFill>
                          <a:latin typeface="Inter"/>
                        </a:rPr>
                        <a:t>Milidetik sampai beberapa detik</a:t>
                      </a:r>
                    </a:p>
                  </a:txBody>
                  <a:tcPr marL="73152" marR="73152" marT="36576" marB="36576" anchor="ctr">
                    <a:solidFill>
                      <a:srgbClr val="F3F4F6"/>
                    </a:solidFill>
                  </a:tcPr>
                </a:tc>
                <a:tc>
                  <a:txBody>
                    <a:bodyPr/>
                    <a:lstStyle/>
                    <a:p>
                      <a:pPr algn="l">
                        <a:lnSpc>
                          <a:spcPct val="100000"/>
                        </a:lnSpc>
                        <a:spcAft>
                          <a:spcPts val="0"/>
                        </a:spcAft>
                      </a:pPr>
                      <a:r>
                        <a:rPr sz="1000" b="0" i="0">
                          <a:solidFill>
                            <a:srgbClr val="434343"/>
                          </a:solidFill>
                          <a:latin typeface="Inter"/>
                        </a:rPr>
                        <a:t>Detik sampai jam</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1000" b="1" i="0">
                          <a:solidFill>
                            <a:srgbClr val="1C4587"/>
                          </a:solidFill>
                          <a:latin typeface="Inter"/>
                        </a:rPr>
                        <a:t>Contoh</a:t>
                      </a:r>
                    </a:p>
                  </a:txBody>
                  <a:tcPr marL="73152" marR="73152" marT="36576" marB="36576" anchor="ctr">
                    <a:solidFill>
                      <a:srgbClr val="FFFFFF"/>
                    </a:solidFill>
                  </a:tcPr>
                </a:tc>
                <a:tc>
                  <a:txBody>
                    <a:bodyPr/>
                    <a:lstStyle/>
                    <a:p>
                      <a:pPr algn="l">
                        <a:lnSpc>
                          <a:spcPct val="100000"/>
                        </a:lnSpc>
                        <a:spcAft>
                          <a:spcPts val="0"/>
                        </a:spcAft>
                      </a:pPr>
                      <a:r>
                        <a:rPr sz="1000" b="0" i="0">
                          <a:solidFill>
                            <a:srgbClr val="434343"/>
                          </a:solidFill>
                          <a:latin typeface="Inter"/>
                        </a:rPr>
                        <a:t>Cek ongkir, query database</a:t>
                      </a:r>
                    </a:p>
                  </a:txBody>
                  <a:tcPr marL="73152" marR="73152" marT="36576" marB="36576" anchor="ctr">
                    <a:solidFill>
                      <a:srgbClr val="FFFFFF"/>
                    </a:solidFill>
                  </a:tcPr>
                </a:tc>
                <a:tc>
                  <a:txBody>
                    <a:bodyPr/>
                    <a:lstStyle/>
                    <a:p>
                      <a:pPr algn="l">
                        <a:lnSpc>
                          <a:spcPct val="100000"/>
                        </a:lnSpc>
                        <a:spcAft>
                          <a:spcPts val="0"/>
                        </a:spcAft>
                      </a:pPr>
                      <a:r>
                        <a:rPr sz="1000" b="0" i="0">
                          <a:solidFill>
                            <a:srgbClr val="434343"/>
                          </a:solidFill>
                          <a:latin typeface="Inter"/>
                        </a:rPr>
                        <a:t>Kirim email, buat report, resize gambar</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1000" b="1" i="0">
                          <a:solidFill>
                            <a:srgbClr val="1C4587"/>
                          </a:solidFill>
                          <a:latin typeface="Inter"/>
                        </a:rPr>
                        <a:t>Jika gagal</a:t>
                      </a:r>
                    </a:p>
                  </a:txBody>
                  <a:tcPr marL="73152" marR="73152" marT="36576" marB="36576" anchor="ctr">
                    <a:solidFill>
                      <a:srgbClr val="F3F4F6"/>
                    </a:solidFill>
                  </a:tcPr>
                </a:tc>
                <a:tc>
                  <a:txBody>
                    <a:bodyPr/>
                    <a:lstStyle/>
                    <a:p>
                      <a:pPr algn="l">
                        <a:lnSpc>
                          <a:spcPct val="100000"/>
                        </a:lnSpc>
                        <a:spcAft>
                          <a:spcPts val="0"/>
                        </a:spcAft>
                      </a:pPr>
                      <a:r>
                        <a:rPr sz="1000" b="0" i="0">
                          <a:solidFill>
                            <a:srgbClr val="434343"/>
                          </a:solidFill>
                          <a:latin typeface="Inter"/>
                        </a:rPr>
                        <a:t>Client langsung menerima error</a:t>
                      </a:r>
                    </a:p>
                  </a:txBody>
                  <a:tcPr marL="73152" marR="73152" marT="36576" marB="36576" anchor="ctr">
                    <a:solidFill>
                      <a:srgbClr val="F3F4F6"/>
                    </a:solidFill>
                  </a:tcPr>
                </a:tc>
                <a:tc>
                  <a:txBody>
                    <a:bodyPr/>
                    <a:lstStyle/>
                    <a:p>
                      <a:pPr algn="l">
                        <a:lnSpc>
                          <a:spcPct val="100000"/>
                        </a:lnSpc>
                        <a:spcAft>
                          <a:spcPts val="0"/>
                        </a:spcAft>
                      </a:pPr>
                      <a:r>
                        <a:rPr sz="1000" b="0" i="0">
                          <a:solidFill>
                            <a:srgbClr val="434343"/>
                          </a:solidFill>
                          <a:latin typeface="Inter"/>
                        </a:rPr>
                        <a:t>Bisa di-retry oleh worker</a:t>
                      </a:r>
                    </a:p>
                  </a:txBody>
                  <a:tcPr marL="73152" marR="73152" marT="36576" marB="36576" anchor="ctr">
                    <a:solidFill>
                      <a:srgbClr val="F3F4F6"/>
                    </a:solidFill>
                  </a:tcPr>
                </a:tc>
                <a:extLst>
                  <a:ext uri="{0D108BD9-81ED-4DB2-BD59-A6C34878D82A}">
                    <a16:rowId xmlns:a16="http://schemas.microsoft.com/office/drawing/2014/main" val="10004"/>
                  </a:ext>
                </a:extLst>
              </a:tr>
              <a:tr h="457200">
                <a:tc>
                  <a:txBody>
                    <a:bodyPr/>
                    <a:lstStyle/>
                    <a:p>
                      <a:pPr algn="l">
                        <a:lnSpc>
                          <a:spcPct val="100000"/>
                        </a:lnSpc>
                        <a:spcAft>
                          <a:spcPts val="0"/>
                        </a:spcAft>
                      </a:pPr>
                      <a:r>
                        <a:rPr sz="1000" b="1" i="0">
                          <a:solidFill>
                            <a:srgbClr val="1C4587"/>
                          </a:solidFill>
                          <a:latin typeface="Inter"/>
                        </a:rPr>
                        <a:t>Ditulis dengan</a:t>
                      </a:r>
                    </a:p>
                  </a:txBody>
                  <a:tcPr marL="73152" marR="73152" marT="36576" marB="36576" anchor="ctr">
                    <a:solidFill>
                      <a:srgbClr val="FFFFFF"/>
                    </a:solidFill>
                  </a:tcPr>
                </a:tc>
                <a:tc>
                  <a:txBody>
                    <a:bodyPr/>
                    <a:lstStyle/>
                    <a:p>
                      <a:pPr algn="l">
                        <a:lnSpc>
                          <a:spcPct val="100000"/>
                        </a:lnSpc>
                        <a:spcAft>
                          <a:spcPts val="0"/>
                        </a:spcAft>
                      </a:pPr>
                      <a:r>
                        <a:rPr sz="1000" b="0" i="0">
                          <a:solidFill>
                            <a:srgbClr val="434343"/>
                          </a:solidFill>
                          <a:latin typeface="Inter"/>
                        </a:rPr>
                        <a:t>async def + await</a:t>
                      </a:r>
                    </a:p>
                  </a:txBody>
                  <a:tcPr marL="73152" marR="73152" marT="36576" marB="36576" anchor="ctr">
                    <a:solidFill>
                      <a:srgbClr val="FFFFFF"/>
                    </a:solidFill>
                  </a:tcPr>
                </a:tc>
                <a:tc>
                  <a:txBody>
                    <a:bodyPr/>
                    <a:lstStyle/>
                    <a:p>
                      <a:pPr algn="l">
                        <a:lnSpc>
                          <a:spcPct val="100000"/>
                        </a:lnSpc>
                        <a:spcAft>
                          <a:spcPts val="0"/>
                        </a:spcAft>
                      </a:pPr>
                      <a:r>
                        <a:rPr sz="1000" b="0" i="0">
                          <a:solidFill>
                            <a:srgbClr val="434343"/>
                          </a:solidFill>
                          <a:latin typeface="Inter"/>
                        </a:rPr>
                        <a:t>BackgroundTasks atau Celery</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23" name="Text 4"/>
          <p:cNvSpPr txBox="1"/>
          <p:nvPr/>
        </p:nvSpPr>
        <p:spPr>
          <a:xfrm>
            <a:off x="621792" y="4343400"/>
            <a:ext cx="7863840" cy="365760"/>
          </a:xfrm>
          <a:prstGeom prst="rect">
            <a:avLst/>
          </a:prstGeom>
          <a:noFill/>
        </p:spPr>
        <p:txBody>
          <a:bodyPr wrap="square" lIns="45720" rIns="45720" anchor="t">
            <a:spAutoFit/>
          </a:bodyPr>
          <a:lstStyle/>
          <a:p>
            <a:pPr algn="l">
              <a:lnSpc>
                <a:spcPct val="115000"/>
              </a:lnSpc>
              <a:spcAft>
                <a:spcPts val="400"/>
              </a:spcAft>
            </a:pPr>
            <a:r>
              <a:rPr sz="1000" b="0" i="0">
                <a:solidFill>
                  <a:srgbClr val="1C4587"/>
                </a:solidFill>
                <a:latin typeface="Inter"/>
              </a:rPr>
              <a:t>Keduanya bisa dipakai bersamaan: endpoint </a:t>
            </a:r>
            <a:r>
              <a:rPr sz="1000" b="0" i="0">
                <a:solidFill>
                  <a:srgbClr val="B5482A"/>
                </a:solidFill>
                <a:latin typeface="Inconsolata"/>
              </a:rPr>
              <a:t>async def</a:t>
            </a:r>
            <a:r>
              <a:rPr sz="1000" b="0" i="0">
                <a:solidFill>
                  <a:srgbClr val="1C4587"/>
                </a:solidFill>
                <a:latin typeface="Inter"/>
              </a:rPr>
              <a:t> yang menaruh job ke queue.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21</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02</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Celery &amp; Redis</a:t>
            </a:r>
          </a:p>
        </p:txBody>
      </p:sp>
      <p:sp>
        <p:nvSpPr>
          <p:cNvPr id="33" name="Text 3"/>
          <p:cNvSpPr txBox="1"/>
          <p:nvPr/>
        </p:nvSpPr>
        <p:spPr>
          <a:xfrm>
            <a:off x="822960" y="274320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Broker, worker, result backend, dan status task.</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Celery?</a:t>
            </a:r>
          </a:p>
        </p:txBody>
      </p:sp>
      <p:sp>
        <p:nvSpPr>
          <p:cNvPr id="22" name="Text 3"/>
          <p:cNvSpPr txBox="1"/>
          <p:nvPr/>
        </p:nvSpPr>
        <p:spPr>
          <a:xfrm>
            <a:off x="621792" y="1481328"/>
            <a:ext cx="3520440" cy="2283317"/>
          </a:xfrm>
          <a:prstGeom prst="rect">
            <a:avLst/>
          </a:prstGeom>
          <a:noFill/>
        </p:spPr>
        <p:txBody>
          <a:bodyPr wrap="square" lIns="45720" rIns="45720" anchor="t">
            <a:spAutoFit/>
          </a:bodyPr>
          <a:lstStyle/>
          <a:p>
            <a:pPr algn="l">
              <a:lnSpc>
                <a:spcPct val="115000"/>
              </a:lnSpc>
              <a:spcAft>
                <a:spcPts val="400"/>
              </a:spcAft>
            </a:pPr>
            <a:r>
              <a:rPr sz="1000" b="1" i="0" dirty="0">
                <a:solidFill>
                  <a:srgbClr val="1C4587"/>
                </a:solidFill>
                <a:latin typeface="Inter"/>
              </a:rPr>
              <a:t>Celery </a:t>
            </a:r>
            <a:r>
              <a:rPr sz="1000" b="1" i="0" dirty="0" err="1">
                <a:solidFill>
                  <a:srgbClr val="1C4587"/>
                </a:solidFill>
                <a:latin typeface="Inter"/>
              </a:rPr>
              <a:t>adalah</a:t>
            </a:r>
            <a:endParaRPr sz="1000" b="1" i="0" dirty="0">
              <a:solidFill>
                <a:srgbClr val="1C4587"/>
              </a:solidFill>
              <a:latin typeface="Inter"/>
            </a:endParaRPr>
          </a:p>
          <a:p>
            <a:pPr algn="l">
              <a:lnSpc>
                <a:spcPct val="115000"/>
              </a:lnSpc>
              <a:spcAft>
                <a:spcPts val="400"/>
              </a:spcAft>
            </a:pPr>
            <a:r>
              <a:rPr sz="900" b="0" i="0" dirty="0">
                <a:solidFill>
                  <a:srgbClr val="434343"/>
                </a:solidFill>
                <a:latin typeface="Inter"/>
              </a:rPr>
              <a:t>Library Python </a:t>
            </a:r>
            <a:r>
              <a:rPr sz="900" b="0" i="0" dirty="0" err="1">
                <a:solidFill>
                  <a:srgbClr val="434343"/>
                </a:solidFill>
                <a:latin typeface="Inter"/>
              </a:rPr>
              <a:t>untuk</a:t>
            </a:r>
            <a:r>
              <a:rPr sz="900" b="0" i="0" dirty="0">
                <a:solidFill>
                  <a:srgbClr val="434343"/>
                </a:solidFill>
                <a:latin typeface="Inter"/>
              </a:rPr>
              <a:t> </a:t>
            </a:r>
            <a:r>
              <a:rPr sz="900" b="0" i="0" dirty="0" err="1">
                <a:solidFill>
                  <a:srgbClr val="434343"/>
                </a:solidFill>
                <a:latin typeface="Inter"/>
              </a:rPr>
              <a:t>menjalankan</a:t>
            </a:r>
            <a:r>
              <a:rPr sz="900" b="0" i="0" dirty="0">
                <a:solidFill>
                  <a:srgbClr val="434343"/>
                </a:solidFill>
                <a:latin typeface="Inter"/>
              </a:rPr>
              <a:t> </a:t>
            </a:r>
            <a:r>
              <a:rPr sz="900" b="1" i="0" dirty="0">
                <a:solidFill>
                  <a:srgbClr val="434343"/>
                </a:solidFill>
                <a:latin typeface="Inter"/>
              </a:rPr>
              <a:t>task</a:t>
            </a:r>
            <a:r>
              <a:rPr sz="900" b="0" i="0" dirty="0">
                <a:solidFill>
                  <a:srgbClr val="434343"/>
                </a:solidFill>
                <a:latin typeface="Inter"/>
              </a:rPr>
              <a:t> di </a:t>
            </a:r>
            <a:r>
              <a:rPr sz="900" b="1" i="0" dirty="0">
                <a:solidFill>
                  <a:srgbClr val="434343"/>
                </a:solidFill>
                <a:latin typeface="Inter"/>
              </a:rPr>
              <a:t>worker</a:t>
            </a:r>
            <a:r>
              <a:rPr sz="900" b="0" i="0" dirty="0">
                <a:solidFill>
                  <a:srgbClr val="434343"/>
                </a:solidFill>
                <a:latin typeface="Inter"/>
              </a:rPr>
              <a:t>, </a:t>
            </a:r>
            <a:r>
              <a:rPr sz="900" b="0" i="0" dirty="0" err="1">
                <a:solidFill>
                  <a:srgbClr val="434343"/>
                </a:solidFill>
                <a:latin typeface="Inter"/>
              </a:rPr>
              <a:t>yaitu</a:t>
            </a:r>
            <a:r>
              <a:rPr sz="900" b="0" i="0" dirty="0">
                <a:solidFill>
                  <a:srgbClr val="434343"/>
                </a:solidFill>
                <a:latin typeface="Inter"/>
              </a:rPr>
              <a:t> proses </a:t>
            </a:r>
            <a:r>
              <a:rPr sz="900" b="0" i="0" dirty="0" err="1">
                <a:solidFill>
                  <a:srgbClr val="434343"/>
                </a:solidFill>
                <a:latin typeface="Inter"/>
              </a:rPr>
              <a:t>terpisah</a:t>
            </a:r>
            <a:r>
              <a:rPr sz="900" b="0" i="0" dirty="0">
                <a:solidFill>
                  <a:srgbClr val="434343"/>
                </a:solidFill>
                <a:latin typeface="Inter"/>
              </a:rPr>
              <a:t> </a:t>
            </a:r>
            <a:r>
              <a:rPr sz="900" b="0" i="0" dirty="0" err="1">
                <a:solidFill>
                  <a:srgbClr val="434343"/>
                </a:solidFill>
                <a:latin typeface="Inter"/>
              </a:rPr>
              <a:t>dari</a:t>
            </a:r>
            <a:r>
              <a:rPr sz="900" b="0" i="0" dirty="0">
                <a:solidFill>
                  <a:srgbClr val="434343"/>
                </a:solidFill>
                <a:latin typeface="Inter"/>
              </a:rPr>
              <a:t> API. API </a:t>
            </a:r>
            <a:r>
              <a:rPr sz="900" b="0" i="0" dirty="0" err="1">
                <a:solidFill>
                  <a:srgbClr val="434343"/>
                </a:solidFill>
                <a:latin typeface="Inter"/>
              </a:rPr>
              <a:t>mengirim</a:t>
            </a:r>
            <a:r>
              <a:rPr sz="900" b="0" i="0" dirty="0">
                <a:solidFill>
                  <a:srgbClr val="434343"/>
                </a:solidFill>
                <a:latin typeface="Inter"/>
              </a:rPr>
              <a:t> job </a:t>
            </a:r>
            <a:r>
              <a:rPr sz="900" b="0" i="0" dirty="0" err="1">
                <a:solidFill>
                  <a:srgbClr val="434343"/>
                </a:solidFill>
                <a:latin typeface="Inter"/>
              </a:rPr>
              <a:t>ke</a:t>
            </a:r>
            <a:r>
              <a:rPr sz="900" b="0" i="0" dirty="0">
                <a:solidFill>
                  <a:srgbClr val="434343"/>
                </a:solidFill>
                <a:latin typeface="Inter"/>
              </a:rPr>
              <a:t> </a:t>
            </a:r>
            <a:r>
              <a:rPr sz="900" b="1" i="0" dirty="0">
                <a:solidFill>
                  <a:srgbClr val="434343"/>
                </a:solidFill>
                <a:latin typeface="Inter"/>
              </a:rPr>
              <a:t>broker</a:t>
            </a:r>
            <a:r>
              <a:rPr sz="900" b="0" i="0" dirty="0">
                <a:solidFill>
                  <a:srgbClr val="434343"/>
                </a:solidFill>
                <a:latin typeface="Inter"/>
              </a:rPr>
              <a:t> (queue), worker </a:t>
            </a:r>
            <a:r>
              <a:rPr sz="900" b="0" i="0" dirty="0" err="1">
                <a:solidFill>
                  <a:srgbClr val="434343"/>
                </a:solidFill>
                <a:latin typeface="Inter"/>
              </a:rPr>
              <a:t>mengambil</a:t>
            </a:r>
            <a:r>
              <a:rPr sz="900" b="0" i="0" dirty="0">
                <a:solidFill>
                  <a:srgbClr val="434343"/>
                </a:solidFill>
                <a:latin typeface="Inter"/>
              </a:rPr>
              <a:t> dan </a:t>
            </a:r>
            <a:r>
              <a:rPr sz="900" b="0" i="0" dirty="0" err="1">
                <a:solidFill>
                  <a:srgbClr val="434343"/>
                </a:solidFill>
                <a:latin typeface="Inter"/>
              </a:rPr>
              <a:t>mengerjakannya</a:t>
            </a:r>
            <a:r>
              <a:rPr sz="900" b="0" i="0" dirty="0">
                <a:solidFill>
                  <a:srgbClr val="434343"/>
                </a:solidFill>
                <a:latin typeface="Inter"/>
              </a:rPr>
              <a:t>, </a:t>
            </a:r>
            <a:r>
              <a:rPr sz="900" b="0" i="0" dirty="0" err="1">
                <a:solidFill>
                  <a:srgbClr val="434343"/>
                </a:solidFill>
                <a:latin typeface="Inter"/>
              </a:rPr>
              <a:t>lalu</a:t>
            </a:r>
            <a:r>
              <a:rPr sz="900" b="0" i="0" dirty="0">
                <a:solidFill>
                  <a:srgbClr val="434343"/>
                </a:solidFill>
                <a:latin typeface="Inter"/>
              </a:rPr>
              <a:t> status dan </a:t>
            </a:r>
            <a:r>
              <a:rPr sz="900" b="0" i="0" dirty="0" err="1">
                <a:solidFill>
                  <a:srgbClr val="434343"/>
                </a:solidFill>
                <a:latin typeface="Inter"/>
              </a:rPr>
              <a:t>hasilnya</a:t>
            </a:r>
            <a:r>
              <a:rPr sz="900" b="0" i="0" dirty="0">
                <a:solidFill>
                  <a:srgbClr val="434343"/>
                </a:solidFill>
                <a:latin typeface="Inter"/>
              </a:rPr>
              <a:t> </a:t>
            </a:r>
            <a:r>
              <a:rPr sz="900" b="0" i="0" dirty="0" err="1">
                <a:solidFill>
                  <a:srgbClr val="434343"/>
                </a:solidFill>
                <a:latin typeface="Inter"/>
              </a:rPr>
              <a:t>disimpan</a:t>
            </a:r>
            <a:r>
              <a:rPr sz="900" b="0" i="0" dirty="0">
                <a:solidFill>
                  <a:srgbClr val="434343"/>
                </a:solidFill>
                <a:latin typeface="Inter"/>
              </a:rPr>
              <a:t> di </a:t>
            </a:r>
            <a:r>
              <a:rPr sz="900" b="1" i="0" dirty="0">
                <a:solidFill>
                  <a:srgbClr val="434343"/>
                </a:solidFill>
                <a:latin typeface="Inter"/>
              </a:rPr>
              <a:t>result backend</a:t>
            </a:r>
            <a:r>
              <a:rPr sz="900" b="0" i="0" dirty="0">
                <a:solidFill>
                  <a:srgbClr val="434343"/>
                </a:solidFill>
                <a:latin typeface="Inter"/>
              </a:rPr>
              <a:t>. Di </a:t>
            </a:r>
            <a:r>
              <a:rPr sz="900" b="0" i="0" dirty="0" err="1">
                <a:solidFill>
                  <a:srgbClr val="434343"/>
                </a:solidFill>
                <a:latin typeface="Inter"/>
              </a:rPr>
              <a:t>sesi</a:t>
            </a:r>
            <a:r>
              <a:rPr sz="900" b="0" i="0" dirty="0">
                <a:solidFill>
                  <a:srgbClr val="434343"/>
                </a:solidFill>
                <a:latin typeface="Inter"/>
              </a:rPr>
              <a:t> </a:t>
            </a:r>
            <a:r>
              <a:rPr sz="900" b="0" i="0" dirty="0" err="1">
                <a:solidFill>
                  <a:srgbClr val="434343"/>
                </a:solidFill>
                <a:latin typeface="Inter"/>
              </a:rPr>
              <a:t>ini</a:t>
            </a:r>
            <a:r>
              <a:rPr sz="900" b="0" i="0" dirty="0">
                <a:solidFill>
                  <a:srgbClr val="434343"/>
                </a:solidFill>
                <a:latin typeface="Inter"/>
              </a:rPr>
              <a:t> broker dan result backend </a:t>
            </a:r>
            <a:r>
              <a:rPr sz="900" b="0" i="0" dirty="0" err="1">
                <a:solidFill>
                  <a:srgbClr val="434343"/>
                </a:solidFill>
                <a:latin typeface="Inter"/>
              </a:rPr>
              <a:t>memakai</a:t>
            </a:r>
            <a:r>
              <a:rPr sz="900" b="0" i="0" dirty="0">
                <a:solidFill>
                  <a:srgbClr val="434343"/>
                </a:solidFill>
                <a:latin typeface="Inter"/>
              </a:rPr>
              <a:t> Redis.</a:t>
            </a:r>
          </a:p>
          <a:p>
            <a:pPr algn="l">
              <a:lnSpc>
                <a:spcPct val="115000"/>
              </a:lnSpc>
              <a:spcAft>
                <a:spcPts val="400"/>
              </a:spcAft>
            </a:pPr>
            <a:r>
              <a:rPr sz="1000" b="1" i="0" dirty="0" err="1">
                <a:solidFill>
                  <a:srgbClr val="1C4587"/>
                </a:solidFill>
                <a:latin typeface="Inter"/>
              </a:rPr>
              <a:t>Untuk</a:t>
            </a:r>
            <a:r>
              <a:rPr sz="1000" b="1" i="0" dirty="0">
                <a:solidFill>
                  <a:srgbClr val="1C4587"/>
                </a:solidFill>
                <a:latin typeface="Inter"/>
              </a:rPr>
              <a:t> </a:t>
            </a:r>
            <a:r>
              <a:rPr sz="1000" b="1" i="0" dirty="0" err="1">
                <a:solidFill>
                  <a:srgbClr val="1C4587"/>
                </a:solidFill>
                <a:latin typeface="Inter"/>
              </a:rPr>
              <a:t>apa</a:t>
            </a:r>
            <a:endParaRPr sz="1000" b="1" i="0" dirty="0">
              <a:solidFill>
                <a:srgbClr val="1C4587"/>
              </a:solidFill>
              <a:latin typeface="Inter"/>
            </a:endParaRPr>
          </a:p>
          <a:p>
            <a:pPr marL="182880" indent="-182880" algn="l">
              <a:lnSpc>
                <a:spcPct val="115000"/>
              </a:lnSpc>
              <a:spcAft>
                <a:spcPts val="400"/>
              </a:spcAft>
              <a:buClr>
                <a:srgbClr val="E0764F"/>
              </a:buClr>
              <a:buSzPct val="100000"/>
              <a:buFont typeface="Arial"/>
              <a:buChar char="•"/>
            </a:pPr>
            <a:r>
              <a:rPr sz="900" b="0" i="0" dirty="0" err="1">
                <a:solidFill>
                  <a:srgbClr val="434343"/>
                </a:solidFill>
                <a:latin typeface="Inter"/>
              </a:rPr>
              <a:t>Memisahkan</a:t>
            </a:r>
            <a:r>
              <a:rPr sz="900" b="0" i="0" dirty="0">
                <a:solidFill>
                  <a:srgbClr val="434343"/>
                </a:solidFill>
                <a:latin typeface="Inter"/>
              </a:rPr>
              <a:t> proses </a:t>
            </a:r>
            <a:r>
              <a:rPr sz="900" b="0" i="0" dirty="0" err="1">
                <a:solidFill>
                  <a:srgbClr val="434343"/>
                </a:solidFill>
                <a:latin typeface="Inter"/>
              </a:rPr>
              <a:t>berat</a:t>
            </a:r>
            <a:r>
              <a:rPr sz="900" b="0" i="0" dirty="0">
                <a:solidFill>
                  <a:srgbClr val="434343"/>
                </a:solidFill>
                <a:latin typeface="Inter"/>
              </a:rPr>
              <a:t>, </a:t>
            </a:r>
            <a:r>
              <a:rPr sz="900" b="0" i="0" dirty="0" err="1">
                <a:solidFill>
                  <a:srgbClr val="434343"/>
                </a:solidFill>
                <a:latin typeface="Inter"/>
              </a:rPr>
              <a:t>misalnya</a:t>
            </a:r>
            <a:r>
              <a:rPr sz="900" b="0" i="0" dirty="0">
                <a:solidFill>
                  <a:srgbClr val="434343"/>
                </a:solidFill>
                <a:latin typeface="Inter"/>
              </a:rPr>
              <a:t> </a:t>
            </a:r>
            <a:r>
              <a:rPr sz="900" b="0" i="0" dirty="0" err="1">
                <a:solidFill>
                  <a:srgbClr val="434343"/>
                </a:solidFill>
                <a:latin typeface="Inter"/>
              </a:rPr>
              <a:t>membuat</a:t>
            </a:r>
            <a:r>
              <a:rPr sz="900" b="0" i="0" dirty="0">
                <a:solidFill>
                  <a:srgbClr val="434343"/>
                </a:solidFill>
                <a:latin typeface="Inter"/>
              </a:rPr>
              <a:t> report, </a:t>
            </a:r>
            <a:r>
              <a:rPr lang="en-US" sz="900" dirty="0" err="1">
                <a:solidFill>
                  <a:srgbClr val="434343"/>
                </a:solidFill>
                <a:latin typeface="Inter"/>
              </a:rPr>
              <a:t>dari</a:t>
            </a:r>
            <a:r>
              <a:rPr sz="900" b="0" i="0" dirty="0">
                <a:solidFill>
                  <a:srgbClr val="434343"/>
                </a:solidFill>
                <a:latin typeface="Inter"/>
              </a:rPr>
              <a:t> proses API</a:t>
            </a:r>
          </a:p>
          <a:p>
            <a:pPr marL="182880" indent="-182880" algn="l">
              <a:lnSpc>
                <a:spcPct val="115000"/>
              </a:lnSpc>
              <a:spcAft>
                <a:spcPts val="400"/>
              </a:spcAft>
              <a:buClr>
                <a:srgbClr val="E0764F"/>
              </a:buClr>
              <a:buSzPct val="100000"/>
              <a:buFont typeface="Arial"/>
              <a:buChar char="•"/>
            </a:pPr>
            <a:r>
              <a:rPr sz="900" b="0" i="0" dirty="0" err="1">
                <a:solidFill>
                  <a:srgbClr val="434343"/>
                </a:solidFill>
                <a:latin typeface="Inter"/>
              </a:rPr>
              <a:t>Menyimpan</a:t>
            </a:r>
            <a:r>
              <a:rPr sz="900" b="0" i="0" dirty="0">
                <a:solidFill>
                  <a:srgbClr val="434343"/>
                </a:solidFill>
                <a:latin typeface="Inter"/>
              </a:rPr>
              <a:t> job di queue, </a:t>
            </a:r>
            <a:r>
              <a:rPr sz="900" b="0" i="0" dirty="0" err="1">
                <a:solidFill>
                  <a:srgbClr val="434343"/>
                </a:solidFill>
                <a:latin typeface="Inter"/>
              </a:rPr>
              <a:t>sehingga</a:t>
            </a:r>
            <a:r>
              <a:rPr sz="900" b="0" i="0" dirty="0">
                <a:solidFill>
                  <a:srgbClr val="434343"/>
                </a:solidFill>
                <a:latin typeface="Inter"/>
              </a:rPr>
              <a:t> </a:t>
            </a:r>
            <a:r>
              <a:rPr sz="900" b="0" i="0" dirty="0" err="1">
                <a:solidFill>
                  <a:srgbClr val="434343"/>
                </a:solidFill>
                <a:latin typeface="Inter"/>
              </a:rPr>
              <a:t>tidak</a:t>
            </a:r>
            <a:r>
              <a:rPr sz="900" b="0" i="0" dirty="0">
                <a:solidFill>
                  <a:srgbClr val="434343"/>
                </a:solidFill>
                <a:latin typeface="Inter"/>
              </a:rPr>
              <a:t> </a:t>
            </a:r>
            <a:r>
              <a:rPr sz="900" b="0" i="0" dirty="0" err="1">
                <a:solidFill>
                  <a:srgbClr val="434343"/>
                </a:solidFill>
                <a:latin typeface="Inter"/>
              </a:rPr>
              <a:t>hilang</a:t>
            </a:r>
            <a:r>
              <a:rPr sz="900" b="0" i="0" dirty="0">
                <a:solidFill>
                  <a:srgbClr val="434343"/>
                </a:solidFill>
                <a:latin typeface="Inter"/>
              </a:rPr>
              <a:t> </a:t>
            </a:r>
            <a:r>
              <a:rPr sz="900" b="0" i="0" dirty="0" err="1">
                <a:solidFill>
                  <a:srgbClr val="434343"/>
                </a:solidFill>
                <a:latin typeface="Inter"/>
              </a:rPr>
              <a:t>saat</a:t>
            </a:r>
            <a:r>
              <a:rPr sz="900" b="0" i="0" dirty="0">
                <a:solidFill>
                  <a:srgbClr val="434343"/>
                </a:solidFill>
                <a:latin typeface="Inter"/>
              </a:rPr>
              <a:t> API restart</a:t>
            </a:r>
          </a:p>
          <a:p>
            <a:pPr marL="182880" indent="-182880" algn="l">
              <a:lnSpc>
                <a:spcPct val="115000"/>
              </a:lnSpc>
              <a:spcAft>
                <a:spcPts val="400"/>
              </a:spcAft>
              <a:buClr>
                <a:srgbClr val="E0764F"/>
              </a:buClr>
              <a:buSzPct val="100000"/>
              <a:buFont typeface="Arial"/>
              <a:buChar char="•"/>
            </a:pPr>
            <a:r>
              <a:rPr sz="900" b="0" i="0" dirty="0" err="1">
                <a:solidFill>
                  <a:srgbClr val="434343"/>
                </a:solidFill>
                <a:latin typeface="Inter"/>
              </a:rPr>
              <a:t>Menambah</a:t>
            </a:r>
            <a:r>
              <a:rPr sz="900" b="0" i="0" dirty="0">
                <a:solidFill>
                  <a:srgbClr val="434343"/>
                </a:solidFill>
                <a:latin typeface="Inter"/>
              </a:rPr>
              <a:t> worker </a:t>
            </a:r>
            <a:r>
              <a:rPr sz="900" b="0" i="0" dirty="0" err="1">
                <a:solidFill>
                  <a:srgbClr val="434343"/>
                </a:solidFill>
                <a:latin typeface="Inter"/>
              </a:rPr>
              <a:t>jika</a:t>
            </a:r>
            <a:r>
              <a:rPr sz="900" b="0" i="0" dirty="0">
                <a:solidFill>
                  <a:srgbClr val="434343"/>
                </a:solidFill>
                <a:latin typeface="Inter"/>
              </a:rPr>
              <a:t> </a:t>
            </a:r>
            <a:r>
              <a:rPr sz="900" b="0" i="0" dirty="0" err="1">
                <a:solidFill>
                  <a:srgbClr val="434343"/>
                </a:solidFill>
                <a:latin typeface="Inter"/>
              </a:rPr>
              <a:t>jumlah</a:t>
            </a:r>
            <a:r>
              <a:rPr sz="900" b="0" i="0" dirty="0">
                <a:solidFill>
                  <a:srgbClr val="434343"/>
                </a:solidFill>
                <a:latin typeface="Inter"/>
              </a:rPr>
              <a:t> job </a:t>
            </a:r>
            <a:r>
              <a:rPr sz="900" b="0" i="0" dirty="0" err="1">
                <a:solidFill>
                  <a:srgbClr val="434343"/>
                </a:solidFill>
                <a:latin typeface="Inter"/>
              </a:rPr>
              <a:t>makin</a:t>
            </a:r>
            <a:r>
              <a:rPr sz="900" b="0" i="0" dirty="0">
                <a:solidFill>
                  <a:srgbClr val="434343"/>
                </a:solidFill>
                <a:latin typeface="Inter"/>
              </a:rPr>
              <a:t> </a:t>
            </a:r>
            <a:r>
              <a:rPr sz="900" b="0" i="0" dirty="0" err="1">
                <a:solidFill>
                  <a:srgbClr val="434343"/>
                </a:solidFill>
                <a:latin typeface="Inter"/>
              </a:rPr>
              <a:t>banyak</a:t>
            </a:r>
            <a:endParaRPr sz="900" b="0" i="0" dirty="0">
              <a:solidFill>
                <a:srgbClr val="434343"/>
              </a:solidFill>
              <a:latin typeface="Inter"/>
            </a:endParaRP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celery: 03-celery/before.py</a:t>
            </a:r>
          </a:p>
        </p:txBody>
      </p:sp>
      <p:sp>
        <p:nvSpPr>
          <p:cNvPr id="28" name="CodeBg 11"/>
          <p:cNvSpPr/>
          <p:nvPr/>
        </p:nvSpPr>
        <p:spPr>
          <a:xfrm>
            <a:off x="4297680" y="1719072"/>
            <a:ext cx="4187951" cy="1152144"/>
          </a:xfrm>
          <a:prstGeom prst="roundRect">
            <a:avLst>
              <a:gd name="adj" fmla="val 1587"/>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152144"/>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generate_sales_report</a:t>
            </a:r>
            <a:r>
              <a:rPr sz="850" i="0">
                <a:solidFill>
                  <a:srgbClr val="E6EDF3"/>
                </a:solidFill>
                <a:latin typeface="Inconsolata"/>
              </a:rPr>
              <a:t>(month: </a:t>
            </a:r>
            <a:r>
              <a:rPr sz="850" i="0">
                <a:solidFill>
                  <a:srgbClr val="C3A6FF"/>
                </a:solidFill>
                <a:latin typeface="Inconsolata"/>
              </a:rPr>
              <a:t>str</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a:t>
            </a:r>
          </a:p>
          <a:p>
            <a:pPr>
              <a:lnSpc>
                <a:spcPct val="107843"/>
              </a:lnSpc>
              <a:spcAft>
                <a:spcPts val="0"/>
              </a:spcAft>
            </a:pPr>
            <a:r>
              <a:rPr sz="850" i="0">
                <a:solidFill>
                  <a:srgbClr val="E6EDF3"/>
                </a:solidFill>
                <a:latin typeface="Inconsolata"/>
              </a:rPr>
              <a:t>    time.sleep(</a:t>
            </a:r>
            <a:r>
              <a:rPr sz="850" i="0">
                <a:solidFill>
                  <a:srgbClr val="F9C97A"/>
                </a:solidFill>
                <a:latin typeface="Inconsolata"/>
              </a:rPr>
              <a:t>10</a:t>
            </a:r>
            <a:r>
              <a:rPr sz="850" i="0">
                <a:solidFill>
                  <a:srgbClr val="E6EDF3"/>
                </a:solidFill>
                <a:latin typeface="Inconsolata"/>
              </a:rPr>
              <a:t>)                </a:t>
            </a:r>
            <a:r>
              <a:rPr sz="850" i="1">
                <a:solidFill>
                  <a:srgbClr val="8B98A8"/>
                </a:solidFill>
                <a:latin typeface="Inconsolata"/>
              </a:rPr>
              <a:t># anggap: query order sebulan</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9C97A"/>
                </a:solidFill>
                <a:latin typeface="Inconsolata"/>
              </a:rPr>
              <a:t>@app.post</a:t>
            </a:r>
            <a:r>
              <a:rPr sz="850" i="0">
                <a:solidFill>
                  <a:srgbClr val="E6EDF3"/>
                </a:solidFill>
                <a:latin typeface="Inconsolata"/>
              </a:rPr>
              <a:t>(</a:t>
            </a:r>
            <a:r>
              <a:rPr sz="850" i="0">
                <a:solidFill>
                  <a:srgbClr val="A5D6A7"/>
                </a:solidFill>
                <a:latin typeface="Inconsolata"/>
              </a:rPr>
              <a:t>"/reports/sales"</a:t>
            </a:r>
            <a:r>
              <a:rPr sz="850" i="0">
                <a:solidFill>
                  <a:srgbClr val="E6EDF3"/>
                </a:solidFill>
                <a:latin typeface="Inconsolata"/>
              </a:rPr>
              <a:t>, status_code=</a:t>
            </a:r>
            <a:r>
              <a:rPr sz="850" i="0">
                <a:solidFill>
                  <a:srgbClr val="F9C97A"/>
                </a:solidFill>
                <a:latin typeface="Inconsolata"/>
              </a:rPr>
              <a:t>202</a:t>
            </a: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create_sales_report</a:t>
            </a:r>
            <a:r>
              <a:rPr sz="850" i="0">
                <a:solidFill>
                  <a:srgbClr val="E6EDF3"/>
                </a:solidFill>
                <a:latin typeface="Inconsolata"/>
              </a:rPr>
              <a:t>(month: </a:t>
            </a:r>
            <a:r>
              <a:rPr sz="850" i="0">
                <a:solidFill>
                  <a:srgbClr val="C3A6FF"/>
                </a:solidFill>
                <a:latin typeface="Inconsolata"/>
              </a:rPr>
              <a:t>str</a:t>
            </a:r>
            <a:r>
              <a:rPr sz="850" i="0">
                <a:solidFill>
                  <a:srgbClr val="E6EDF3"/>
                </a:solidFill>
                <a:latin typeface="Inconsolata"/>
              </a:rPr>
              <a:t>,</a:t>
            </a:r>
          </a:p>
          <a:p>
            <a:pPr>
              <a:lnSpc>
                <a:spcPct val="107843"/>
              </a:lnSpc>
              <a:spcAft>
                <a:spcPts val="0"/>
              </a:spcAft>
            </a:pPr>
            <a:r>
              <a:rPr sz="850" i="0">
                <a:solidFill>
                  <a:srgbClr val="E6EDF3"/>
                </a:solidFill>
                <a:latin typeface="Inconsolata"/>
              </a:rPr>
              <a:t>                        background_tasks: </a:t>
            </a:r>
            <a:r>
              <a:rPr sz="850" i="0">
                <a:solidFill>
                  <a:srgbClr val="7FDBCA"/>
                </a:solidFill>
                <a:latin typeface="Inconsolata"/>
              </a:rPr>
              <a:t>BackgroundTasks</a:t>
            </a:r>
            <a:r>
              <a:rPr sz="850" i="0">
                <a:solidFill>
                  <a:srgbClr val="E6EDF3"/>
                </a:solidFill>
                <a:latin typeface="Inconsolata"/>
              </a:rPr>
              <a:t>):</a:t>
            </a:r>
          </a:p>
          <a:p>
            <a:pPr>
              <a:lnSpc>
                <a:spcPct val="107843"/>
              </a:lnSpc>
              <a:spcAft>
                <a:spcPts val="0"/>
              </a:spcAft>
            </a:pPr>
            <a:r>
              <a:rPr sz="850" i="0">
                <a:solidFill>
                  <a:srgbClr val="E6EDF3"/>
                </a:solidFill>
                <a:latin typeface="Inconsolata"/>
              </a:rPr>
              <a:t>    background_tasks.add_task(generate_sales_report, month)</a:t>
            </a:r>
          </a:p>
        </p:txBody>
      </p:sp>
      <p:sp>
        <p:nvSpPr>
          <p:cNvPr id="30" name="Box 13"/>
          <p:cNvSpPr/>
          <p:nvPr/>
        </p:nvSpPr>
        <p:spPr>
          <a:xfrm>
            <a:off x="4379976" y="26668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962656"/>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3040380"/>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3040380"/>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3040380"/>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971800"/>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celery: 03-celery/after.py</a:t>
            </a:r>
          </a:p>
        </p:txBody>
      </p:sp>
      <p:sp>
        <p:nvSpPr>
          <p:cNvPr id="36" name="CodeBg 21"/>
          <p:cNvSpPr/>
          <p:nvPr/>
        </p:nvSpPr>
        <p:spPr>
          <a:xfrm>
            <a:off x="4297680" y="3200400"/>
            <a:ext cx="4187951" cy="1499616"/>
          </a:xfrm>
          <a:prstGeom prst="roundRect">
            <a:avLst>
              <a:gd name="adj" fmla="val 121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3200400"/>
            <a:ext cx="4187951" cy="1499616"/>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celery_app = </a:t>
            </a:r>
            <a:r>
              <a:rPr sz="850" i="0">
                <a:solidFill>
                  <a:srgbClr val="7FDBCA"/>
                </a:solidFill>
                <a:latin typeface="Inconsolata"/>
              </a:rPr>
              <a:t>Celery</a:t>
            </a:r>
            <a:r>
              <a:rPr sz="850" i="0">
                <a:solidFill>
                  <a:srgbClr val="E6EDF3"/>
                </a:solidFill>
                <a:latin typeface="Inconsolata"/>
              </a:rPr>
              <a:t>(</a:t>
            </a:r>
            <a:r>
              <a:rPr sz="850" i="0">
                <a:solidFill>
                  <a:srgbClr val="A5D6A7"/>
                </a:solidFill>
                <a:latin typeface="Inconsolata"/>
              </a:rPr>
              <a:t>"demo"</a:t>
            </a:r>
            <a:r>
              <a:rPr sz="850" i="0">
                <a:solidFill>
                  <a:srgbClr val="E6EDF3"/>
                </a:solidFill>
                <a:latin typeface="Inconsolata"/>
              </a:rPr>
              <a:t>,</a:t>
            </a:r>
          </a:p>
          <a:p>
            <a:pPr>
              <a:lnSpc>
                <a:spcPct val="107843"/>
              </a:lnSpc>
              <a:spcAft>
                <a:spcPts val="0"/>
              </a:spcAft>
            </a:pPr>
            <a:r>
              <a:rPr sz="850" i="0">
                <a:solidFill>
                  <a:srgbClr val="E6EDF3"/>
                </a:solidFill>
                <a:latin typeface="Inconsolata"/>
              </a:rPr>
              <a:t>                    broker=</a:t>
            </a:r>
            <a:r>
              <a:rPr sz="850" i="0">
                <a:solidFill>
                  <a:srgbClr val="A5D6A7"/>
                </a:solidFill>
                <a:latin typeface="Inconsolata"/>
              </a:rPr>
              <a:t>"redis://localhost:6379/0"</a:t>
            </a:r>
            <a:r>
              <a:rPr sz="850" i="0">
                <a:solidFill>
                  <a:srgbClr val="E6EDF3"/>
                </a:solidFill>
                <a:latin typeface="Inconsolata"/>
              </a:rPr>
              <a:t>,</a:t>
            </a:r>
          </a:p>
          <a:p>
            <a:pPr>
              <a:lnSpc>
                <a:spcPct val="107843"/>
              </a:lnSpc>
              <a:spcAft>
                <a:spcPts val="0"/>
              </a:spcAft>
            </a:pPr>
            <a:r>
              <a:rPr sz="850" i="0">
                <a:solidFill>
                  <a:srgbClr val="E6EDF3"/>
                </a:solidFill>
                <a:latin typeface="Inconsolata"/>
              </a:rPr>
              <a:t>                    backend=</a:t>
            </a:r>
            <a:r>
              <a:rPr sz="850" i="0">
                <a:solidFill>
                  <a:srgbClr val="A5D6A7"/>
                </a:solidFill>
                <a:latin typeface="Inconsolata"/>
              </a:rPr>
              <a:t>"redis://localhost:6379/1"</a:t>
            </a:r>
            <a:r>
              <a:rPr sz="850" i="0">
                <a:solidFill>
                  <a:srgbClr val="E6EDF3"/>
                </a:solidFill>
                <a:latin typeface="Inconsolata"/>
              </a:rPr>
              <a:t>)</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F9C97A"/>
                </a:solidFill>
                <a:latin typeface="Inconsolata"/>
              </a:rPr>
              <a:t>@celery_app.task</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generate_sales_report</a:t>
            </a:r>
            <a:r>
              <a:rPr sz="850" i="0">
                <a:solidFill>
                  <a:srgbClr val="E6EDF3"/>
                </a:solidFill>
                <a:latin typeface="Inconsolata"/>
              </a:rPr>
              <a:t>(month: </a:t>
            </a:r>
            <a:r>
              <a:rPr sz="850" i="0">
                <a:solidFill>
                  <a:srgbClr val="C3A6FF"/>
                </a:solidFill>
                <a:latin typeface="Inconsolata"/>
              </a:rPr>
              <a:t>str</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a:t>
            </a:r>
          </a:p>
          <a:p>
            <a:pPr>
              <a:lnSpc>
                <a:spcPct val="107843"/>
              </a:lnSpc>
              <a:spcAft>
                <a:spcPts val="0"/>
              </a:spcAft>
            </a:pPr>
            <a:r>
              <a:rPr sz="850" i="0">
                <a:solidFill>
                  <a:srgbClr val="E6EDF3"/>
                </a:solidFill>
                <a:latin typeface="Inconsolata"/>
              </a:rPr>
              <a:t>    time.sleep(</a:t>
            </a:r>
            <a:r>
              <a:rPr sz="850" i="0">
                <a:solidFill>
                  <a:srgbClr val="F9C97A"/>
                </a:solidFill>
                <a:latin typeface="Inconsolata"/>
              </a:rPr>
              <a:t>10</a:t>
            </a:r>
            <a:r>
              <a:rPr sz="850" i="0">
                <a:solidFill>
                  <a:srgbClr val="E6EDF3"/>
                </a:solidFill>
                <a:latin typeface="Inconsolata"/>
              </a:rPr>
              <a:t>)                </a:t>
            </a:r>
            <a:r>
              <a:rPr sz="850" i="1">
                <a:solidFill>
                  <a:srgbClr val="8B98A8"/>
                </a:solidFill>
                <a:latin typeface="Inconsolata"/>
              </a:rPr>
              <a:t># dikerjakan worker, bukan API</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E6EDF3"/>
                </a:solidFill>
                <a:latin typeface="Inconsolata"/>
              </a:rPr>
              <a:t>    task = generate_sales_report.delay(month)    </a:t>
            </a:r>
            <a:r>
              <a:rPr sz="850" i="1">
                <a:solidFill>
                  <a:srgbClr val="8B98A8"/>
                </a:solidFill>
                <a:latin typeface="Inconsolata"/>
              </a:rPr>
              <a:t># masuk queue</a:t>
            </a:r>
          </a:p>
        </p:txBody>
      </p:sp>
      <p:sp>
        <p:nvSpPr>
          <p:cNvPr id="38" name="Box 23"/>
          <p:cNvSpPr/>
          <p:nvPr/>
        </p:nvSpPr>
        <p:spPr>
          <a:xfrm>
            <a:off x="4379976" y="3310001"/>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868801"/>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4379976" y="4427601"/>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Cara Kerja Celery dan Redis</a:t>
            </a:r>
          </a:p>
        </p:txBody>
      </p:sp>
      <p:sp>
        <p:nvSpPr>
          <p:cNvPr id="22" name="Text 3"/>
          <p:cNvSpPr txBox="1"/>
          <p:nvPr/>
        </p:nvSpPr>
        <p:spPr>
          <a:xfrm>
            <a:off x="621792" y="1481328"/>
            <a:ext cx="393192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Redis adalah</a:t>
            </a:r>
          </a:p>
          <a:p>
            <a:pPr algn="l">
              <a:lnSpc>
                <a:spcPct val="115000"/>
              </a:lnSpc>
              <a:spcAft>
                <a:spcPts val="400"/>
              </a:spcAft>
            </a:pPr>
            <a:r>
              <a:rPr sz="950" b="0" i="0">
                <a:solidFill>
                  <a:srgbClr val="434343"/>
                </a:solidFill>
                <a:latin typeface="Inter"/>
              </a:rPr>
              <a:t>Database </a:t>
            </a:r>
            <a:r>
              <a:rPr sz="950" b="1" i="0">
                <a:solidFill>
                  <a:srgbClr val="434343"/>
                </a:solidFill>
                <a:latin typeface="Inter"/>
              </a:rPr>
              <a:t>in-memory</a:t>
            </a:r>
            <a:r>
              <a:rPr sz="950" b="0" i="0">
                <a:solidFill>
                  <a:srgbClr val="434343"/>
                </a:solidFill>
                <a:latin typeface="Inter"/>
              </a:rPr>
              <a:t> (data disimpan di RAM), sehingga sangat cepat dibaca dan ditulis. Redis berjalan sebagai server terpisah. Di sesi ini kita menjalankannya dengan Docker.</a:t>
            </a:r>
          </a:p>
          <a:p>
            <a:pPr algn="l">
              <a:lnSpc>
                <a:spcPct val="115000"/>
              </a:lnSpc>
              <a:spcAft>
                <a:spcPts val="400"/>
              </a:spcAft>
            </a:pPr>
            <a:r>
              <a:rPr sz="1050" b="1" i="0">
                <a:solidFill>
                  <a:srgbClr val="1C4587"/>
                </a:solidFill>
                <a:latin typeface="Inter"/>
              </a:rPr>
              <a:t>Pembagian tugasnya</a:t>
            </a:r>
          </a:p>
          <a:p>
            <a:pPr marL="182880" indent="-182880" algn="l">
              <a:lnSpc>
                <a:spcPct val="115000"/>
              </a:lnSpc>
              <a:spcAft>
                <a:spcPts val="400"/>
              </a:spcAft>
              <a:buClr>
                <a:srgbClr val="E0764F"/>
              </a:buClr>
              <a:buSzPct val="100000"/>
              <a:buFont typeface="Arial"/>
              <a:buChar char="•"/>
            </a:pPr>
            <a:r>
              <a:rPr sz="950" b="1" i="0">
                <a:solidFill>
                  <a:srgbClr val="434343"/>
                </a:solidFill>
                <a:latin typeface="Inter"/>
              </a:rPr>
              <a:t>Broker</a:t>
            </a:r>
            <a:r>
              <a:rPr sz="950" b="0" i="0">
                <a:solidFill>
                  <a:srgbClr val="434343"/>
                </a:solidFill>
                <a:latin typeface="Inter"/>
              </a:rPr>
              <a:t>: queue job. API menaruh job, worker mengambilnya</a:t>
            </a:r>
          </a:p>
          <a:p>
            <a:pPr marL="182880" indent="-182880" algn="l">
              <a:lnSpc>
                <a:spcPct val="115000"/>
              </a:lnSpc>
              <a:spcAft>
                <a:spcPts val="400"/>
              </a:spcAft>
              <a:buClr>
                <a:srgbClr val="E0764F"/>
              </a:buClr>
              <a:buSzPct val="100000"/>
              <a:buFont typeface="Arial"/>
              <a:buChar char="•"/>
            </a:pPr>
            <a:r>
              <a:rPr sz="950" b="1" i="0">
                <a:solidFill>
                  <a:srgbClr val="434343"/>
                </a:solidFill>
                <a:latin typeface="Inter"/>
              </a:rPr>
              <a:t>Worker</a:t>
            </a:r>
            <a:r>
              <a:rPr sz="950" b="0" i="0">
                <a:solidFill>
                  <a:srgbClr val="434343"/>
                </a:solidFill>
                <a:latin typeface="Inter"/>
              </a:rPr>
              <a:t>: proses Celery yang mengerjakan task</a:t>
            </a:r>
          </a:p>
          <a:p>
            <a:pPr marL="182880" indent="-182880" algn="l">
              <a:lnSpc>
                <a:spcPct val="115000"/>
              </a:lnSpc>
              <a:spcAft>
                <a:spcPts val="400"/>
              </a:spcAft>
              <a:buClr>
                <a:srgbClr val="E0764F"/>
              </a:buClr>
              <a:buSzPct val="100000"/>
              <a:buFont typeface="Arial"/>
              <a:buChar char="•"/>
            </a:pPr>
            <a:r>
              <a:rPr sz="950" b="1" i="0">
                <a:solidFill>
                  <a:srgbClr val="434343"/>
                </a:solidFill>
                <a:latin typeface="Inter"/>
              </a:rPr>
              <a:t>Result backend</a:t>
            </a:r>
            <a:r>
              <a:rPr sz="950" b="0" i="0">
                <a:solidFill>
                  <a:srgbClr val="434343"/>
                </a:solidFill>
                <a:latin typeface="Inter"/>
              </a:rPr>
              <a:t>: tempat menyimpan status dan hasil task, supaya bisa dibaca API</a:t>
            </a:r>
          </a:p>
        </p:txBody>
      </p:sp>
      <p:sp>
        <p:nvSpPr>
          <p:cNvPr id="23" name="Box 4"/>
          <p:cNvSpPr/>
          <p:nvPr/>
        </p:nvSpPr>
        <p:spPr>
          <a:xfrm>
            <a:off x="4937760" y="1554480"/>
            <a:ext cx="3547872" cy="411480"/>
          </a:xfrm>
          <a:prstGeom prst="roundRect">
            <a:avLst>
              <a:gd name="adj" fmla="val 26666"/>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FFFFFF"/>
                </a:solidFill>
                <a:latin typeface="Inter"/>
              </a:rPr>
              <a:t>FastAPI  ·  task.delay()</a:t>
            </a:r>
          </a:p>
        </p:txBody>
      </p:sp>
      <p:sp>
        <p:nvSpPr>
          <p:cNvPr id="24" name="Box 5"/>
          <p:cNvSpPr/>
          <p:nvPr/>
        </p:nvSpPr>
        <p:spPr>
          <a:xfrm>
            <a:off x="4937760" y="2221991"/>
            <a:ext cx="3547872" cy="411480"/>
          </a:xfrm>
          <a:prstGeom prst="roundRect">
            <a:avLst>
              <a:gd name="adj" fmla="val 26666"/>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1C4587"/>
                </a:solidFill>
                <a:latin typeface="Inter"/>
              </a:rPr>
              <a:t>Redis  ·  broker (queue job)</a:t>
            </a:r>
          </a:p>
        </p:txBody>
      </p:sp>
      <p:cxnSp>
        <p:nvCxnSpPr>
          <p:cNvPr id="25" name="Arrow 6"/>
          <p:cNvCxnSpPr/>
          <p:nvPr/>
        </p:nvCxnSpPr>
        <p:spPr>
          <a:xfrm>
            <a:off x="6711696" y="1965959"/>
            <a:ext cx="0" cy="25603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Box 7"/>
          <p:cNvSpPr/>
          <p:nvPr/>
        </p:nvSpPr>
        <p:spPr>
          <a:xfrm>
            <a:off x="4937760" y="2889504"/>
            <a:ext cx="3547872" cy="411480"/>
          </a:xfrm>
          <a:prstGeom prst="roundRect">
            <a:avLst>
              <a:gd name="adj" fmla="val 26666"/>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FFFFFF"/>
                </a:solidFill>
                <a:latin typeface="Inter"/>
              </a:rPr>
              <a:t>Celery worker  ·  mengerjakan task</a:t>
            </a:r>
          </a:p>
        </p:txBody>
      </p:sp>
      <p:cxnSp>
        <p:nvCxnSpPr>
          <p:cNvPr id="27" name="Arrow 8"/>
          <p:cNvCxnSpPr/>
          <p:nvPr/>
        </p:nvCxnSpPr>
        <p:spPr>
          <a:xfrm>
            <a:off x="6711696" y="2633472"/>
            <a:ext cx="0" cy="25603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Box 9"/>
          <p:cNvSpPr/>
          <p:nvPr/>
        </p:nvSpPr>
        <p:spPr>
          <a:xfrm>
            <a:off x="4937760" y="3557015"/>
            <a:ext cx="3547872" cy="411480"/>
          </a:xfrm>
          <a:prstGeom prst="roundRect">
            <a:avLst>
              <a:gd name="adj" fmla="val 26666"/>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1C4587"/>
                </a:solidFill>
                <a:latin typeface="Inter"/>
              </a:rPr>
              <a:t>Redis  ·  result backend (status &amp; hasil)</a:t>
            </a:r>
          </a:p>
        </p:txBody>
      </p:sp>
      <p:cxnSp>
        <p:nvCxnSpPr>
          <p:cNvPr id="29" name="Arrow 10"/>
          <p:cNvCxnSpPr/>
          <p:nvPr/>
        </p:nvCxnSpPr>
        <p:spPr>
          <a:xfrm>
            <a:off x="6711696" y="3300983"/>
            <a:ext cx="0" cy="25603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 11"/>
          <p:cNvSpPr txBox="1"/>
          <p:nvPr/>
        </p:nvSpPr>
        <p:spPr>
          <a:xfrm>
            <a:off x="4937760" y="4206240"/>
            <a:ext cx="3547872" cy="365760"/>
          </a:xfrm>
          <a:prstGeom prst="rect">
            <a:avLst/>
          </a:prstGeom>
          <a:noFill/>
        </p:spPr>
        <p:txBody>
          <a:bodyPr wrap="square" lIns="45720" rIns="45720" anchor="t">
            <a:spAutoFit/>
          </a:bodyPr>
          <a:lstStyle/>
          <a:p>
            <a:pPr algn="ctr">
              <a:lnSpc>
                <a:spcPct val="115000"/>
              </a:lnSpc>
              <a:spcAft>
                <a:spcPts val="400"/>
              </a:spcAft>
            </a:pPr>
            <a:r>
              <a:rPr sz="900" b="0" i="0">
                <a:solidFill>
                  <a:srgbClr val="7A7A7A"/>
                </a:solidFill>
                <a:latin typeface="Inter"/>
              </a:rPr>
              <a:t>FastAPI membaca status dan hasil dari result backend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Celery?</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Celery</a:t>
            </a:r>
          </a:p>
          <a:p>
            <a:pPr algn="l">
              <a:lnSpc>
                <a:spcPct val="115000"/>
              </a:lnSpc>
              <a:spcAft>
                <a:spcPts val="400"/>
              </a:spcAft>
            </a:pPr>
            <a:r>
              <a:rPr sz="950" b="0" i="0">
                <a:solidFill>
                  <a:srgbClr val="434343"/>
                </a:solidFill>
                <a:latin typeface="Inter"/>
              </a:rPr>
              <a:t>Report penjualan dibuat dengan </a:t>
            </a:r>
            <a:r>
              <a:rPr sz="950" b="0" i="0">
                <a:solidFill>
                  <a:srgbClr val="B5482A"/>
                </a:solidFill>
                <a:latin typeface="Inconsolata"/>
              </a:rPr>
              <a:t>BackgroundTasks</a:t>
            </a:r>
            <a:r>
              <a:rPr sz="950" b="0" i="0">
                <a:solidFill>
                  <a:srgbClr val="434343"/>
                </a:solidFill>
                <a:latin typeface="Inter"/>
              </a:rPr>
              <a:t>. Response memang langsung keluar, tapi report tetap dikerjakan di proses API yang sama.</a:t>
            </a:r>
          </a:p>
          <a:p>
            <a:pPr algn="l">
              <a:lnSpc>
                <a:spcPct val="115000"/>
              </a:lnSpc>
              <a:spcAft>
                <a:spcPts val="400"/>
              </a:spcAft>
            </a:pPr>
            <a:r>
              <a:rPr sz="1050" b="1" i="0">
                <a:solidFill>
                  <a:srgbClr val="1C4587"/>
                </a:solidFill>
                <a:latin typeface="Inter"/>
              </a:rPr>
              <a:t>Jika reportnya makin berat</a:t>
            </a:r>
          </a:p>
          <a:p>
            <a:pPr algn="l">
              <a:lnSpc>
                <a:spcPct val="115000"/>
              </a:lnSpc>
              <a:spcAft>
                <a:spcPts val="400"/>
              </a:spcAft>
            </a:pPr>
            <a:r>
              <a:rPr sz="950" b="0" i="0">
                <a:solidFill>
                  <a:srgbClr val="434343"/>
                </a:solidFill>
                <a:latin typeface="Inter"/>
              </a:rPr>
              <a:t>Report memakai CPU yang sama dengan request lain. Jika API restart saat deploy, report yang sedang dibuat hilang, dan client tidak bisa mengecek hasilnya.</a:t>
            </a:r>
          </a:p>
          <a:p>
            <a:pPr algn="l">
              <a:lnSpc>
                <a:spcPct val="115000"/>
              </a:lnSpc>
              <a:spcAft>
                <a:spcPts val="400"/>
              </a:spcAft>
            </a:pPr>
            <a:r>
              <a:rPr sz="950" b="0" i="0">
                <a:solidFill>
                  <a:srgbClr val="434343"/>
                </a:solidFill>
                <a:latin typeface="Inter"/>
              </a:rPr>
              <a:t>Hal ini membuat report bisa hilang tanpa ada yang tahu.</a:t>
            </a:r>
          </a:p>
          <a:p>
            <a:pPr algn="l">
              <a:lnSpc>
                <a:spcPct val="115000"/>
              </a:lnSpc>
              <a:spcAft>
                <a:spcPts val="400"/>
              </a:spcAft>
            </a:pPr>
            <a:r>
              <a:rPr sz="1050" b="1" i="0">
                <a:solidFill>
                  <a:srgbClr val="1C4587"/>
                </a:solidFill>
                <a:latin typeface="Inter"/>
              </a:rPr>
              <a:t>Yang dipakai dari Celery: task dan delay()</a:t>
            </a:r>
          </a:p>
          <a:p>
            <a:pPr algn="l">
              <a:lnSpc>
                <a:spcPct val="115000"/>
              </a:lnSpc>
              <a:spcAft>
                <a:spcPts val="400"/>
              </a:spcAft>
            </a:pPr>
            <a:r>
              <a:rPr sz="950" b="0" i="0">
                <a:solidFill>
                  <a:srgbClr val="434343"/>
                </a:solidFill>
                <a:latin typeface="Inter"/>
              </a:rPr>
              <a:t>Function biasa dijadikan task dengan </a:t>
            </a:r>
            <a:r>
              <a:rPr sz="950" b="0" i="0">
                <a:solidFill>
                  <a:srgbClr val="B5482A"/>
                </a:solidFill>
                <a:latin typeface="Inconsolata"/>
              </a:rPr>
              <a:t>@celery_app.task</a:t>
            </a:r>
            <a:r>
              <a:rPr sz="950" b="0" i="0">
                <a:solidFill>
                  <a:srgbClr val="434343"/>
                </a:solidFill>
                <a:latin typeface="Inter"/>
              </a:rPr>
              <a:t>. Memanggil </a:t>
            </a:r>
            <a:r>
              <a:rPr sz="950" b="0" i="0">
                <a:solidFill>
                  <a:srgbClr val="B5482A"/>
                </a:solidFill>
                <a:latin typeface="Inconsolata"/>
              </a:rPr>
              <a:t>.delay()</a:t>
            </a:r>
            <a:r>
              <a:rPr sz="950" b="0" i="0">
                <a:solidFill>
                  <a:srgbClr val="434343"/>
                </a:solidFill>
                <a:latin typeface="Inter"/>
              </a:rPr>
              <a:t> tidak menjalankan function, melainkan mengirim job ke queue.</a:t>
            </a:r>
          </a:p>
        </p:txBody>
      </p:sp>
      <p:graphicFrame>
        <p:nvGraphicFramePr>
          <p:cNvPr id="23" name="Table 4"/>
          <p:cNvGraphicFramePr>
            <a:graphicFrameLocks noGrp="1"/>
          </p:cNvGraphicFramePr>
          <p:nvPr>
            <p:extLst>
              <p:ext uri="{D42A27DB-BD31-4B8C-83A1-F6EECF244321}">
                <p14:modId xmlns:p14="http://schemas.microsoft.com/office/powerpoint/2010/main" val="3801766142"/>
              </p:ext>
            </p:extLst>
          </p:nvPr>
        </p:nvGraphicFramePr>
        <p:xfrm>
          <a:off x="4800600" y="1481328"/>
          <a:ext cx="3685032" cy="2286000"/>
        </p:xfrm>
        <a:graphic>
          <a:graphicData uri="http://schemas.openxmlformats.org/drawingml/2006/table">
            <a:tbl>
              <a:tblPr firstRow="1" bandRow="1"/>
              <a:tblGrid>
                <a:gridCol w="2176272">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Celery("demo", broker=..., backend=...)</a:t>
                      </a:r>
                    </a:p>
                  </a:txBody>
                  <a:tcPr marL="73152" marR="73152" marT="36576" marB="36576" anchor="ctr">
                    <a:solidFill>
                      <a:srgbClr val="FFFFFF"/>
                    </a:solidFill>
                  </a:tcPr>
                </a:tc>
                <a:tc>
                  <a:txBody>
                    <a:bodyPr/>
                    <a:lstStyle/>
                    <a:p>
                      <a:pPr algn="l">
                        <a:lnSpc>
                          <a:spcPct val="100000"/>
                        </a:lnSpc>
                        <a:spcAft>
                          <a:spcPts val="0"/>
                        </a:spcAft>
                      </a:pPr>
                      <a:r>
                        <a:rPr sz="850" b="0" i="0" dirty="0" err="1">
                          <a:solidFill>
                            <a:srgbClr val="434343"/>
                          </a:solidFill>
                          <a:latin typeface="Inter"/>
                        </a:rPr>
                        <a:t>Membuat</a:t>
                      </a:r>
                      <a:r>
                        <a:rPr sz="850" b="0" i="0" dirty="0">
                          <a:solidFill>
                            <a:srgbClr val="434343"/>
                          </a:solidFill>
                          <a:latin typeface="Inter"/>
                        </a:rPr>
                        <a:t> </a:t>
                      </a:r>
                      <a:r>
                        <a:rPr sz="850" b="0" i="0" dirty="0" err="1">
                          <a:solidFill>
                            <a:srgbClr val="434343"/>
                          </a:solidFill>
                          <a:latin typeface="Inter"/>
                        </a:rPr>
                        <a:t>aplikasi</a:t>
                      </a:r>
                      <a:r>
                        <a:rPr sz="850" b="0" i="0" dirty="0">
                          <a:solidFill>
                            <a:srgbClr val="434343"/>
                          </a:solidFill>
                          <a:latin typeface="Inter"/>
                        </a:rPr>
                        <a:t> Celery </a:t>
                      </a:r>
                      <a:r>
                        <a:rPr sz="850" b="0" i="0" dirty="0" err="1">
                          <a:solidFill>
                            <a:srgbClr val="434343"/>
                          </a:solidFill>
                          <a:latin typeface="Inter"/>
                        </a:rPr>
                        <a:t>dengan</a:t>
                      </a:r>
                      <a:r>
                        <a:rPr sz="850" b="0" i="0" dirty="0">
                          <a:solidFill>
                            <a:srgbClr val="434343"/>
                          </a:solidFill>
                          <a:latin typeface="Inter"/>
                        </a:rPr>
                        <a:t> Redis</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@celery_app.task</a:t>
                      </a:r>
                    </a:p>
                  </a:txBody>
                  <a:tcPr marL="73152" marR="73152" marT="36576" marB="36576" anchor="ctr">
                    <a:solidFill>
                      <a:srgbClr val="F3F4F6"/>
                    </a:solidFill>
                  </a:tcPr>
                </a:tc>
                <a:tc>
                  <a:txBody>
                    <a:bodyPr/>
                    <a:lstStyle/>
                    <a:p>
                      <a:pPr algn="l">
                        <a:lnSpc>
                          <a:spcPct val="100000"/>
                        </a:lnSpc>
                        <a:spcAft>
                          <a:spcPts val="0"/>
                        </a:spcAft>
                      </a:pPr>
                      <a:r>
                        <a:rPr sz="850" b="0" i="0" dirty="0">
                          <a:solidFill>
                            <a:srgbClr val="434343"/>
                          </a:solidFill>
                          <a:latin typeface="Inter"/>
                        </a:rPr>
                        <a:t>Function </a:t>
                      </a:r>
                      <a:r>
                        <a:rPr sz="850" b="0" i="0" dirty="0" err="1">
                          <a:solidFill>
                            <a:srgbClr val="434343"/>
                          </a:solidFill>
                          <a:latin typeface="Inter"/>
                        </a:rPr>
                        <a:t>ini</a:t>
                      </a:r>
                      <a:r>
                        <a:rPr sz="850" b="0" i="0" dirty="0">
                          <a:solidFill>
                            <a:srgbClr val="434343"/>
                          </a:solidFill>
                          <a:latin typeface="Inter"/>
                        </a:rPr>
                        <a:t> </a:t>
                      </a:r>
                      <a:r>
                        <a:rPr sz="850" b="0" i="0" dirty="0" err="1">
                          <a:solidFill>
                            <a:srgbClr val="434343"/>
                          </a:solidFill>
                          <a:latin typeface="Inter"/>
                        </a:rPr>
                        <a:t>bisa</a:t>
                      </a:r>
                      <a:r>
                        <a:rPr sz="850" b="0" i="0" dirty="0">
                          <a:solidFill>
                            <a:srgbClr val="434343"/>
                          </a:solidFill>
                          <a:latin typeface="Inter"/>
                        </a:rPr>
                        <a:t> </a:t>
                      </a:r>
                      <a:r>
                        <a:rPr sz="850" b="0" i="0" dirty="0" err="1">
                          <a:solidFill>
                            <a:srgbClr val="434343"/>
                          </a:solidFill>
                          <a:latin typeface="Inter"/>
                        </a:rPr>
                        <a:t>dikerjakan</a:t>
                      </a:r>
                      <a:r>
                        <a:rPr sz="850" b="0" i="0" dirty="0">
                          <a:solidFill>
                            <a:srgbClr val="434343"/>
                          </a:solidFill>
                          <a:latin typeface="Inter"/>
                        </a:rPr>
                        <a:t> worker</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generate_sales_report.delay(month)</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Kirim job ke queue, kembalikan task id</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850" b="1" i="0">
                          <a:solidFill>
                            <a:srgbClr val="1C4587"/>
                          </a:solidFill>
                          <a:latin typeface="Inter"/>
                        </a:rPr>
                        <a:t>celery -A after:celery_app worker</a:t>
                      </a:r>
                    </a:p>
                  </a:txBody>
                  <a:tcPr marL="73152" marR="73152" marT="36576" marB="36576" anchor="ctr">
                    <a:solidFill>
                      <a:srgbClr val="F3F4F6"/>
                    </a:solidFill>
                  </a:tcPr>
                </a:tc>
                <a:tc>
                  <a:txBody>
                    <a:bodyPr/>
                    <a:lstStyle/>
                    <a:p>
                      <a:pPr algn="l">
                        <a:lnSpc>
                          <a:spcPct val="100000"/>
                        </a:lnSpc>
                        <a:spcAft>
                          <a:spcPts val="0"/>
                        </a:spcAft>
                      </a:pPr>
                      <a:r>
                        <a:rPr sz="850" b="0" i="0" dirty="0" err="1">
                          <a:solidFill>
                            <a:srgbClr val="434343"/>
                          </a:solidFill>
                          <a:latin typeface="Inter"/>
                        </a:rPr>
                        <a:t>Menjalankan</a:t>
                      </a:r>
                      <a:r>
                        <a:rPr sz="850" b="0" i="0" dirty="0">
                          <a:solidFill>
                            <a:srgbClr val="434343"/>
                          </a:solidFill>
                          <a:latin typeface="Inter"/>
                        </a:rPr>
                        <a:t> worker</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report dibuat di proses API</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03-celery/before.py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11111"/>
              </a:lnSpc>
              <a:spcAft>
                <a:spcPts val="0"/>
              </a:spcAft>
            </a:pPr>
            <a:r>
              <a:rPr sz="900" i="0">
                <a:solidFill>
                  <a:srgbClr val="5C6773"/>
                </a:solidFill>
                <a:latin typeface="Inconsolata"/>
              </a:rPr>
              <a:t>11  </a:t>
            </a:r>
            <a:r>
              <a:rPr sz="900" i="0">
                <a:solidFill>
                  <a:srgbClr val="FF8E6E"/>
                </a:solidFill>
                <a:latin typeface="Inconsolata"/>
              </a:rPr>
              <a:t>import</a:t>
            </a:r>
            <a:r>
              <a:rPr sz="900" i="0">
                <a:solidFill>
                  <a:srgbClr val="E6EDF3"/>
                </a:solidFill>
                <a:latin typeface="Inconsolata"/>
              </a:rPr>
              <a:t> time</a:t>
            </a:r>
          </a:p>
          <a:p>
            <a:pPr>
              <a:lnSpc>
                <a:spcPct val="111111"/>
              </a:lnSpc>
              <a:spcAft>
                <a:spcPts val="0"/>
              </a:spcAft>
            </a:pPr>
            <a:r>
              <a:rPr sz="900" i="0">
                <a:solidFill>
                  <a:srgbClr val="5C6773"/>
                </a:solidFill>
                <a:latin typeface="Inconsolata"/>
              </a:rPr>
              <a:t>12  </a:t>
            </a:r>
            <a:r>
              <a:rPr sz="900" i="0">
                <a:solidFill>
                  <a:srgbClr val="E6EDF3"/>
                </a:solidFill>
                <a:latin typeface="Inconsolata"/>
              </a:rPr>
              <a:t> </a:t>
            </a:r>
          </a:p>
          <a:p>
            <a:pPr>
              <a:lnSpc>
                <a:spcPct val="111111"/>
              </a:lnSpc>
              <a:spcAft>
                <a:spcPts val="0"/>
              </a:spcAft>
            </a:pPr>
            <a:r>
              <a:rPr sz="900" i="0">
                <a:solidFill>
                  <a:srgbClr val="5C6773"/>
                </a:solidFill>
                <a:latin typeface="Inconsolata"/>
              </a:rPr>
              <a:t>13  </a:t>
            </a:r>
            <a:r>
              <a:rPr sz="900" i="0">
                <a:solidFill>
                  <a:srgbClr val="FF8E6E"/>
                </a:solidFill>
                <a:latin typeface="Inconsolata"/>
              </a:rPr>
              <a:t>from</a:t>
            </a:r>
            <a:r>
              <a:rPr sz="900" i="0">
                <a:solidFill>
                  <a:srgbClr val="E6EDF3"/>
                </a:solidFill>
                <a:latin typeface="Inconsolata"/>
              </a:rPr>
              <a:t> fastapi </a:t>
            </a:r>
            <a:r>
              <a:rPr sz="900" i="0">
                <a:solidFill>
                  <a:srgbClr val="FF8E6E"/>
                </a:solidFill>
                <a:latin typeface="Inconsolata"/>
              </a:rPr>
              <a:t>import</a:t>
            </a:r>
            <a:r>
              <a:rPr sz="900" i="0">
                <a:solidFill>
                  <a:srgbClr val="E6EDF3"/>
                </a:solidFill>
                <a:latin typeface="Inconsolata"/>
              </a:rPr>
              <a:t> </a:t>
            </a:r>
            <a:r>
              <a:rPr sz="900" i="0">
                <a:solidFill>
                  <a:srgbClr val="7FDBCA"/>
                </a:solidFill>
                <a:latin typeface="Inconsolata"/>
              </a:rPr>
              <a:t>BackgroundTasks</a:t>
            </a:r>
            <a:r>
              <a:rPr sz="900" i="0">
                <a:solidFill>
                  <a:srgbClr val="E6EDF3"/>
                </a:solidFill>
                <a:latin typeface="Inconsolata"/>
              </a:rPr>
              <a:t>, </a:t>
            </a:r>
            <a:r>
              <a:rPr sz="900" i="0">
                <a:solidFill>
                  <a:srgbClr val="7FDBCA"/>
                </a:solidFill>
                <a:latin typeface="Inconsolata"/>
              </a:rPr>
              <a:t>FastAPI</a:t>
            </a:r>
          </a:p>
          <a:p>
            <a:pPr>
              <a:lnSpc>
                <a:spcPct val="111111"/>
              </a:lnSpc>
              <a:spcAft>
                <a:spcPts val="0"/>
              </a:spcAft>
            </a:pPr>
            <a:r>
              <a:rPr sz="900" i="0">
                <a:solidFill>
                  <a:srgbClr val="5C6773"/>
                </a:solidFill>
                <a:latin typeface="Inconsolata"/>
              </a:rPr>
              <a:t>14  </a:t>
            </a:r>
            <a:r>
              <a:rPr sz="900" i="0">
                <a:solidFill>
                  <a:srgbClr val="E6EDF3"/>
                </a:solidFill>
                <a:latin typeface="Inconsolata"/>
              </a:rPr>
              <a:t> </a:t>
            </a:r>
          </a:p>
          <a:p>
            <a:pPr>
              <a:lnSpc>
                <a:spcPct val="111111"/>
              </a:lnSpc>
              <a:spcAft>
                <a:spcPts val="0"/>
              </a:spcAft>
            </a:pPr>
            <a:r>
              <a:rPr sz="900" i="0">
                <a:solidFill>
                  <a:srgbClr val="5C6773"/>
                </a:solidFill>
                <a:latin typeface="Inconsolata"/>
              </a:rPr>
              <a:t>15  </a:t>
            </a:r>
            <a:r>
              <a:rPr sz="900" i="0">
                <a:solidFill>
                  <a:srgbClr val="E6EDF3"/>
                </a:solidFill>
                <a:latin typeface="Inconsolata"/>
              </a:rPr>
              <a:t>app = </a:t>
            </a:r>
            <a:r>
              <a:rPr sz="900" i="0">
                <a:solidFill>
                  <a:srgbClr val="7FDBCA"/>
                </a:solidFill>
                <a:latin typeface="Inconsolata"/>
              </a:rPr>
              <a:t>FastAPI</a:t>
            </a:r>
            <a:r>
              <a:rPr sz="900" i="0">
                <a:solidFill>
                  <a:srgbClr val="E6EDF3"/>
                </a:solidFill>
                <a:latin typeface="Inconsolata"/>
              </a:rPr>
              <a:t>()</a:t>
            </a:r>
          </a:p>
          <a:p>
            <a:pPr>
              <a:lnSpc>
                <a:spcPct val="111111"/>
              </a:lnSpc>
              <a:spcAft>
                <a:spcPts val="0"/>
              </a:spcAft>
            </a:pPr>
            <a:r>
              <a:rPr sz="900" i="0">
                <a:solidFill>
                  <a:srgbClr val="5C6773"/>
                </a:solidFill>
                <a:latin typeface="Inconsolata"/>
              </a:rPr>
              <a:t>16  </a:t>
            </a:r>
            <a:r>
              <a:rPr sz="900" i="0">
                <a:solidFill>
                  <a:srgbClr val="E6EDF3"/>
                </a:solidFill>
                <a:latin typeface="Inconsolata"/>
              </a:rPr>
              <a:t> </a:t>
            </a:r>
          </a:p>
          <a:p>
            <a:pPr>
              <a:lnSpc>
                <a:spcPct val="111111"/>
              </a:lnSpc>
              <a:spcAft>
                <a:spcPts val="0"/>
              </a:spcAft>
            </a:pPr>
            <a:r>
              <a:rPr sz="900" i="0">
                <a:solidFill>
                  <a:srgbClr val="5C6773"/>
                </a:solidFill>
                <a:latin typeface="Inconsolata"/>
              </a:rPr>
              <a:t>17  </a:t>
            </a:r>
            <a:r>
              <a:rPr sz="900" i="0">
                <a:solidFill>
                  <a:srgbClr val="E6EDF3"/>
                </a:solidFill>
                <a:latin typeface="Inconsolata"/>
              </a:rPr>
              <a:t> </a:t>
            </a:r>
          </a:p>
          <a:p>
            <a:pPr>
              <a:lnSpc>
                <a:spcPct val="111111"/>
              </a:lnSpc>
              <a:spcAft>
                <a:spcPts val="0"/>
              </a:spcAft>
            </a:pPr>
            <a:r>
              <a:rPr sz="900" i="0">
                <a:solidFill>
                  <a:srgbClr val="5C6773"/>
                </a:solidFill>
                <a:latin typeface="Inconsolata"/>
              </a:rPr>
              <a:t>18  </a:t>
            </a:r>
            <a:r>
              <a:rPr sz="900" i="0">
                <a:solidFill>
                  <a:srgbClr val="FF8E6E"/>
                </a:solidFill>
                <a:latin typeface="Inconsolata"/>
              </a:rPr>
              <a:t>def</a:t>
            </a:r>
            <a:r>
              <a:rPr sz="900" i="0">
                <a:solidFill>
                  <a:srgbClr val="E6EDF3"/>
                </a:solidFill>
                <a:latin typeface="Inconsolata"/>
              </a:rPr>
              <a:t> </a:t>
            </a:r>
            <a:r>
              <a:rPr sz="900" i="0">
                <a:solidFill>
                  <a:srgbClr val="82B1FF"/>
                </a:solidFill>
                <a:latin typeface="Inconsolata"/>
              </a:rPr>
              <a:t>generate_sales_report</a:t>
            </a:r>
            <a:r>
              <a:rPr sz="900" i="0">
                <a:solidFill>
                  <a:srgbClr val="E6EDF3"/>
                </a:solidFill>
                <a:latin typeface="Inconsolata"/>
              </a:rPr>
              <a:t>(month: </a:t>
            </a:r>
            <a:r>
              <a:rPr sz="900" i="0">
                <a:solidFill>
                  <a:srgbClr val="C3A6FF"/>
                </a:solidFill>
                <a:latin typeface="Inconsolata"/>
              </a:rPr>
              <a:t>str</a:t>
            </a:r>
            <a:r>
              <a:rPr sz="900" i="0">
                <a:solidFill>
                  <a:srgbClr val="E6EDF3"/>
                </a:solidFill>
                <a:latin typeface="Inconsolata"/>
              </a:rPr>
              <a:t>) -&gt; </a:t>
            </a:r>
            <a:r>
              <a:rPr sz="900" i="0">
                <a:solidFill>
                  <a:srgbClr val="C3A6FF"/>
                </a:solidFill>
                <a:latin typeface="Inconsolata"/>
              </a:rPr>
              <a:t>dict</a:t>
            </a:r>
            <a:r>
              <a:rPr sz="900" i="0">
                <a:solidFill>
                  <a:srgbClr val="E6EDF3"/>
                </a:solidFill>
                <a:latin typeface="Inconsolata"/>
              </a:rPr>
              <a:t>:</a:t>
            </a:r>
          </a:p>
          <a:p>
            <a:pPr>
              <a:lnSpc>
                <a:spcPct val="111111"/>
              </a:lnSpc>
              <a:spcAft>
                <a:spcPts val="0"/>
              </a:spcAft>
            </a:pPr>
            <a:r>
              <a:rPr sz="900" i="0">
                <a:solidFill>
                  <a:srgbClr val="5C6773"/>
                </a:solidFill>
                <a:latin typeface="Inconsolata"/>
              </a:rPr>
              <a:t>19  </a:t>
            </a:r>
            <a:r>
              <a:rPr sz="900" i="0">
                <a:solidFill>
                  <a:srgbClr val="E6EDF3"/>
                </a:solidFill>
                <a:latin typeface="Inconsolata"/>
              </a:rPr>
              <a:t>    time.sleep(</a:t>
            </a:r>
            <a:r>
              <a:rPr sz="900" i="0">
                <a:solidFill>
                  <a:srgbClr val="F9C97A"/>
                </a:solidFill>
                <a:latin typeface="Inconsolata"/>
              </a:rPr>
              <a:t>10</a:t>
            </a:r>
            <a:r>
              <a:rPr sz="900" i="0">
                <a:solidFill>
                  <a:srgbClr val="E6EDF3"/>
                </a:solidFill>
                <a:latin typeface="Inconsolata"/>
              </a:rPr>
              <a:t>)                </a:t>
            </a:r>
            <a:r>
              <a:rPr sz="900" i="1">
                <a:solidFill>
                  <a:srgbClr val="8B98A8"/>
                </a:solidFill>
                <a:latin typeface="Inconsolata"/>
              </a:rPr>
              <a:t># anggap: query order sebulan</a:t>
            </a:r>
          </a:p>
          <a:p>
            <a:pPr>
              <a:lnSpc>
                <a:spcPct val="111111"/>
              </a:lnSpc>
              <a:spcAft>
                <a:spcPts val="0"/>
              </a:spcAft>
            </a:pPr>
            <a:r>
              <a:rPr sz="900" i="0">
                <a:solidFill>
                  <a:srgbClr val="5C6773"/>
                </a:solidFill>
                <a:latin typeface="Inconsolata"/>
              </a:rPr>
              <a:t>20  </a:t>
            </a:r>
            <a:r>
              <a:rPr sz="900" i="0">
                <a:solidFill>
                  <a:srgbClr val="E6EDF3"/>
                </a:solidFill>
                <a:latin typeface="Inconsolata"/>
              </a:rPr>
              <a:t>    report = {</a:t>
            </a:r>
            <a:r>
              <a:rPr sz="900" i="0">
                <a:solidFill>
                  <a:srgbClr val="A5D6A7"/>
                </a:solidFill>
                <a:latin typeface="Inconsolata"/>
              </a:rPr>
              <a:t>"month"</a:t>
            </a:r>
            <a:r>
              <a:rPr sz="900" i="0">
                <a:solidFill>
                  <a:srgbClr val="E6EDF3"/>
                </a:solidFill>
                <a:latin typeface="Inconsolata"/>
              </a:rPr>
              <a:t>: month, </a:t>
            </a:r>
            <a:r>
              <a:rPr sz="900" i="0">
                <a:solidFill>
                  <a:srgbClr val="A5D6A7"/>
                </a:solidFill>
                <a:latin typeface="Inconsolata"/>
              </a:rPr>
              <a:t>"orders"</a:t>
            </a:r>
            <a:r>
              <a:rPr sz="900" i="0">
                <a:solidFill>
                  <a:srgbClr val="E6EDF3"/>
                </a:solidFill>
                <a:latin typeface="Inconsolata"/>
              </a:rPr>
              <a:t>: </a:t>
            </a:r>
            <a:r>
              <a:rPr sz="900" i="0">
                <a:solidFill>
                  <a:srgbClr val="F9C97A"/>
                </a:solidFill>
                <a:latin typeface="Inconsolata"/>
              </a:rPr>
              <a:t>120</a:t>
            </a:r>
            <a:r>
              <a:rPr sz="900" i="0">
                <a:solidFill>
                  <a:srgbClr val="E6EDF3"/>
                </a:solidFill>
                <a:latin typeface="Inconsolata"/>
              </a:rPr>
              <a:t>, </a:t>
            </a:r>
            <a:r>
              <a:rPr sz="900" i="0">
                <a:solidFill>
                  <a:srgbClr val="A5D6A7"/>
                </a:solidFill>
                <a:latin typeface="Inconsolata"/>
              </a:rPr>
              <a:t>"revenue"</a:t>
            </a:r>
            <a:r>
              <a:rPr sz="900" i="0">
                <a:solidFill>
                  <a:srgbClr val="E6EDF3"/>
                </a:solidFill>
                <a:latin typeface="Inconsolata"/>
              </a:rPr>
              <a:t>: </a:t>
            </a:r>
            <a:r>
              <a:rPr sz="900" i="0">
                <a:solidFill>
                  <a:srgbClr val="F9C97A"/>
                </a:solidFill>
                <a:latin typeface="Inconsolata"/>
              </a:rPr>
              <a:t>54_000_000</a:t>
            </a:r>
            <a:r>
              <a:rPr sz="900" i="0">
                <a:solidFill>
                  <a:srgbClr val="E6EDF3"/>
                </a:solidFill>
                <a:latin typeface="Inconsolata"/>
              </a:rPr>
              <a:t>}</a:t>
            </a:r>
          </a:p>
          <a:p>
            <a:pPr>
              <a:lnSpc>
                <a:spcPct val="111111"/>
              </a:lnSpc>
              <a:spcAft>
                <a:spcPts val="0"/>
              </a:spcAft>
            </a:pPr>
            <a:r>
              <a:rPr sz="900" i="0">
                <a:solidFill>
                  <a:srgbClr val="5C6773"/>
                </a:solidFill>
                <a:latin typeface="Inconsolata"/>
              </a:rPr>
              <a:t>21  </a:t>
            </a:r>
            <a:r>
              <a:rPr sz="900" i="0">
                <a:solidFill>
                  <a:srgbClr val="E6EDF3"/>
                </a:solidFill>
                <a:latin typeface="Inconsolata"/>
              </a:rPr>
              <a:t>    </a:t>
            </a:r>
            <a:r>
              <a:rPr sz="900" i="0">
                <a:solidFill>
                  <a:srgbClr val="C3A6FF"/>
                </a:solidFill>
                <a:latin typeface="Inconsolata"/>
              </a:rPr>
              <a:t>print</a:t>
            </a:r>
            <a:r>
              <a:rPr sz="900" i="0">
                <a:solidFill>
                  <a:srgbClr val="E6EDF3"/>
                </a:solidFill>
                <a:latin typeface="Inconsolata"/>
              </a:rPr>
              <a:t>(</a:t>
            </a:r>
            <a:r>
              <a:rPr sz="900" i="0">
                <a:solidFill>
                  <a:srgbClr val="A5D6A7"/>
                </a:solidFill>
                <a:latin typeface="Inconsolata"/>
              </a:rPr>
              <a:t>"[REPORT]"</a:t>
            </a:r>
            <a:r>
              <a:rPr sz="900" i="0">
                <a:solidFill>
                  <a:srgbClr val="E6EDF3"/>
                </a:solidFill>
                <a:latin typeface="Inconsolata"/>
              </a:rPr>
              <a:t>, report)</a:t>
            </a:r>
          </a:p>
          <a:p>
            <a:pPr>
              <a:lnSpc>
                <a:spcPct val="111111"/>
              </a:lnSpc>
              <a:spcAft>
                <a:spcPts val="0"/>
              </a:spcAft>
            </a:pPr>
            <a:r>
              <a:rPr sz="900" i="0">
                <a:solidFill>
                  <a:srgbClr val="5C6773"/>
                </a:solidFill>
                <a:latin typeface="Inconsolata"/>
              </a:rPr>
              <a:t>22  </a:t>
            </a:r>
            <a:r>
              <a:rPr sz="900" i="0">
                <a:solidFill>
                  <a:srgbClr val="E6EDF3"/>
                </a:solidFill>
                <a:latin typeface="Inconsolata"/>
              </a:rPr>
              <a:t>    </a:t>
            </a:r>
            <a:r>
              <a:rPr sz="900" i="0">
                <a:solidFill>
                  <a:srgbClr val="FF8E6E"/>
                </a:solidFill>
                <a:latin typeface="Inconsolata"/>
              </a:rPr>
              <a:t>return</a:t>
            </a:r>
            <a:r>
              <a:rPr sz="900" i="0">
                <a:solidFill>
                  <a:srgbClr val="E6EDF3"/>
                </a:solidFill>
                <a:latin typeface="Inconsolata"/>
              </a:rPr>
              <a:t> report</a:t>
            </a:r>
          </a:p>
          <a:p>
            <a:pPr>
              <a:lnSpc>
                <a:spcPct val="111111"/>
              </a:lnSpc>
              <a:spcAft>
                <a:spcPts val="0"/>
              </a:spcAft>
            </a:pPr>
            <a:r>
              <a:rPr sz="900" i="0">
                <a:solidFill>
                  <a:srgbClr val="5C6773"/>
                </a:solidFill>
                <a:latin typeface="Inconsolata"/>
              </a:rPr>
              <a:t>23  </a:t>
            </a:r>
            <a:r>
              <a:rPr sz="900" i="0">
                <a:solidFill>
                  <a:srgbClr val="E6EDF3"/>
                </a:solidFill>
                <a:latin typeface="Inconsolata"/>
              </a:rPr>
              <a:t> </a:t>
            </a:r>
          </a:p>
          <a:p>
            <a:pPr>
              <a:lnSpc>
                <a:spcPct val="111111"/>
              </a:lnSpc>
              <a:spcAft>
                <a:spcPts val="0"/>
              </a:spcAft>
            </a:pPr>
            <a:r>
              <a:rPr sz="900" i="0">
                <a:solidFill>
                  <a:srgbClr val="5C6773"/>
                </a:solidFill>
                <a:latin typeface="Inconsolata"/>
              </a:rPr>
              <a:t>24  </a:t>
            </a:r>
            <a:r>
              <a:rPr sz="900" i="0">
                <a:solidFill>
                  <a:srgbClr val="E6EDF3"/>
                </a:solidFill>
                <a:latin typeface="Inconsolata"/>
              </a:rPr>
              <a:t> </a:t>
            </a:r>
          </a:p>
          <a:p>
            <a:pPr>
              <a:lnSpc>
                <a:spcPct val="111111"/>
              </a:lnSpc>
              <a:spcAft>
                <a:spcPts val="0"/>
              </a:spcAft>
            </a:pPr>
            <a:r>
              <a:rPr sz="900" i="0">
                <a:solidFill>
                  <a:srgbClr val="5C6773"/>
                </a:solidFill>
                <a:latin typeface="Inconsolata"/>
              </a:rPr>
              <a:t>25  </a:t>
            </a:r>
            <a:r>
              <a:rPr sz="900" i="0">
                <a:solidFill>
                  <a:srgbClr val="F9C97A"/>
                </a:solidFill>
                <a:latin typeface="Inconsolata"/>
              </a:rPr>
              <a:t>@app.post</a:t>
            </a:r>
            <a:r>
              <a:rPr sz="900" i="0">
                <a:solidFill>
                  <a:srgbClr val="E6EDF3"/>
                </a:solidFill>
                <a:latin typeface="Inconsolata"/>
              </a:rPr>
              <a:t>(</a:t>
            </a:r>
            <a:r>
              <a:rPr sz="900" i="0">
                <a:solidFill>
                  <a:srgbClr val="A5D6A7"/>
                </a:solidFill>
                <a:latin typeface="Inconsolata"/>
              </a:rPr>
              <a:t>"/reports/sales"</a:t>
            </a:r>
            <a:r>
              <a:rPr sz="900" i="0">
                <a:solidFill>
                  <a:srgbClr val="E6EDF3"/>
                </a:solidFill>
                <a:latin typeface="Inconsolata"/>
              </a:rPr>
              <a:t>, status_code=</a:t>
            </a:r>
            <a:r>
              <a:rPr sz="900" i="0">
                <a:solidFill>
                  <a:srgbClr val="F9C97A"/>
                </a:solidFill>
                <a:latin typeface="Inconsolata"/>
              </a:rPr>
              <a:t>202</a:t>
            </a:r>
            <a:r>
              <a:rPr sz="900" i="0">
                <a:solidFill>
                  <a:srgbClr val="E6EDF3"/>
                </a:solidFill>
                <a:latin typeface="Inconsolata"/>
              </a:rPr>
              <a:t>)</a:t>
            </a:r>
          </a:p>
          <a:p>
            <a:pPr>
              <a:lnSpc>
                <a:spcPct val="111111"/>
              </a:lnSpc>
              <a:spcAft>
                <a:spcPts val="0"/>
              </a:spcAft>
            </a:pPr>
            <a:r>
              <a:rPr sz="900" i="0">
                <a:solidFill>
                  <a:srgbClr val="5C6773"/>
                </a:solidFill>
                <a:latin typeface="Inconsolata"/>
              </a:rPr>
              <a:t>26  </a:t>
            </a:r>
            <a:r>
              <a:rPr sz="900" i="0">
                <a:solidFill>
                  <a:srgbClr val="FF8E6E"/>
                </a:solidFill>
                <a:latin typeface="Inconsolata"/>
              </a:rPr>
              <a:t>def</a:t>
            </a:r>
            <a:r>
              <a:rPr sz="900" i="0">
                <a:solidFill>
                  <a:srgbClr val="E6EDF3"/>
                </a:solidFill>
                <a:latin typeface="Inconsolata"/>
              </a:rPr>
              <a:t> </a:t>
            </a:r>
            <a:r>
              <a:rPr sz="900" i="0">
                <a:solidFill>
                  <a:srgbClr val="82B1FF"/>
                </a:solidFill>
                <a:latin typeface="Inconsolata"/>
              </a:rPr>
              <a:t>create_sales_report</a:t>
            </a:r>
            <a:r>
              <a:rPr sz="900" i="0">
                <a:solidFill>
                  <a:srgbClr val="E6EDF3"/>
                </a:solidFill>
                <a:latin typeface="Inconsolata"/>
              </a:rPr>
              <a:t>(month: </a:t>
            </a:r>
            <a:r>
              <a:rPr sz="900" i="0">
                <a:solidFill>
                  <a:srgbClr val="C3A6FF"/>
                </a:solidFill>
                <a:latin typeface="Inconsolata"/>
              </a:rPr>
              <a:t>str</a:t>
            </a:r>
            <a:r>
              <a:rPr sz="900" i="0">
                <a:solidFill>
                  <a:srgbClr val="E6EDF3"/>
                </a:solidFill>
                <a:latin typeface="Inconsolata"/>
              </a:rPr>
              <a:t>,</a:t>
            </a:r>
          </a:p>
          <a:p>
            <a:pPr>
              <a:lnSpc>
                <a:spcPct val="111111"/>
              </a:lnSpc>
              <a:spcAft>
                <a:spcPts val="0"/>
              </a:spcAft>
            </a:pPr>
            <a:r>
              <a:rPr sz="900" i="0">
                <a:solidFill>
                  <a:srgbClr val="5C6773"/>
                </a:solidFill>
                <a:latin typeface="Inconsolata"/>
              </a:rPr>
              <a:t>27  </a:t>
            </a:r>
            <a:r>
              <a:rPr sz="900" i="0">
                <a:solidFill>
                  <a:srgbClr val="E6EDF3"/>
                </a:solidFill>
                <a:latin typeface="Inconsolata"/>
              </a:rPr>
              <a:t>                        background_tasks: </a:t>
            </a:r>
            <a:r>
              <a:rPr sz="900" i="0">
                <a:solidFill>
                  <a:srgbClr val="7FDBCA"/>
                </a:solidFill>
                <a:latin typeface="Inconsolata"/>
              </a:rPr>
              <a:t>BackgroundTasks</a:t>
            </a:r>
            <a:r>
              <a:rPr sz="900" i="0">
                <a:solidFill>
                  <a:srgbClr val="E6EDF3"/>
                </a:solidFill>
                <a:latin typeface="Inconsolata"/>
              </a:rPr>
              <a:t>):</a:t>
            </a:r>
          </a:p>
          <a:p>
            <a:pPr>
              <a:lnSpc>
                <a:spcPct val="111111"/>
              </a:lnSpc>
              <a:spcAft>
                <a:spcPts val="0"/>
              </a:spcAft>
            </a:pPr>
            <a:r>
              <a:rPr sz="900" i="0">
                <a:solidFill>
                  <a:srgbClr val="5C6773"/>
                </a:solidFill>
                <a:latin typeface="Inconsolata"/>
              </a:rPr>
              <a:t>28  </a:t>
            </a:r>
            <a:r>
              <a:rPr sz="900" i="0">
                <a:solidFill>
                  <a:srgbClr val="E6EDF3"/>
                </a:solidFill>
                <a:latin typeface="Inconsolata"/>
              </a:rPr>
              <a:t>    background_tasks.add_task(generate_sales_report, month)</a:t>
            </a:r>
          </a:p>
          <a:p>
            <a:pPr>
              <a:lnSpc>
                <a:spcPct val="111111"/>
              </a:lnSpc>
              <a:spcAft>
                <a:spcPts val="0"/>
              </a:spcAft>
            </a:pPr>
            <a:r>
              <a:rPr sz="900" i="0">
                <a:solidFill>
                  <a:srgbClr val="5C6773"/>
                </a:solidFill>
                <a:latin typeface="Inconsolata"/>
              </a:rPr>
              <a:t>29  </a:t>
            </a:r>
            <a:r>
              <a:rPr sz="900" i="0">
                <a:solidFill>
                  <a:srgbClr val="E6EDF3"/>
                </a:solidFill>
                <a:latin typeface="Inconsolata"/>
              </a:rPr>
              <a:t>    </a:t>
            </a:r>
            <a:r>
              <a:rPr sz="900" i="0">
                <a:solidFill>
                  <a:srgbClr val="FF8E6E"/>
                </a:solidFill>
                <a:latin typeface="Inconsolata"/>
              </a:rPr>
              <a:t>return</a:t>
            </a:r>
            <a:r>
              <a:rPr sz="900" i="0">
                <a:solidFill>
                  <a:srgbClr val="E6EDF3"/>
                </a:solidFill>
                <a:latin typeface="Inconsolata"/>
              </a:rPr>
              <a:t> {</a:t>
            </a:r>
            <a:r>
              <a:rPr sz="900" i="0">
                <a:solidFill>
                  <a:srgbClr val="A5D6A7"/>
                </a:solidFill>
                <a:latin typeface="Inconsolata"/>
              </a:rPr>
              <a:t>"message"</a:t>
            </a:r>
            <a:r>
              <a:rPr sz="900" i="0">
                <a:solidFill>
                  <a:srgbClr val="E6EDF3"/>
                </a:solidFill>
                <a:latin typeface="Inconsolata"/>
              </a:rPr>
              <a:t>: </a:t>
            </a:r>
            <a:r>
              <a:rPr sz="900" i="0">
                <a:solidFill>
                  <a:srgbClr val="A5D6A7"/>
                </a:solidFill>
                <a:latin typeface="Inconsolata"/>
              </a:rPr>
              <a:t>"Report sedang dibuat"</a:t>
            </a:r>
            <a:r>
              <a:rPr sz="900" i="0">
                <a:solidFill>
                  <a:srgbClr val="E6EDF3"/>
                </a:solidFill>
                <a:latin typeface="Inconsolata"/>
              </a:rPr>
              <a:t>}   </a:t>
            </a:r>
            <a:r>
              <a:rPr sz="900" i="1">
                <a:solidFill>
                  <a:srgbClr val="8B98A8"/>
                </a:solidFill>
                <a:latin typeface="Inconsolata"/>
              </a:rPr>
              <a:t># cek hasilnya?</a:t>
            </a:r>
          </a:p>
        </p:txBody>
      </p:sp>
      <p:sp>
        <p:nvSpPr>
          <p:cNvPr id="29" name="Box 12"/>
          <p:cNvSpPr/>
          <p:nvPr/>
        </p:nvSpPr>
        <p:spPr>
          <a:xfrm>
            <a:off x="704088" y="4421124"/>
            <a:ext cx="7699248" cy="143255"/>
          </a:xfrm>
          <a:prstGeom prst="roundRect">
            <a:avLst>
              <a:gd name="adj" fmla="val 31914"/>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437388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049524"/>
            <a:ext cx="7699248" cy="143255"/>
          </a:xfrm>
          <a:prstGeom prst="roundRect">
            <a:avLst>
              <a:gd name="adj" fmla="val 31914"/>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00228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4573524"/>
            <a:ext cx="7699248" cy="143255"/>
          </a:xfrm>
          <a:prstGeom prst="roundRect">
            <a:avLst>
              <a:gd name="adj" fmla="val 31914"/>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8284463" y="452628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03-celery/before.py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sesi-05-async-tasks-celery-redis/03-celery</a:t>
            </a:r>
          </a:p>
          <a:p>
            <a:pPr>
              <a:lnSpc>
                <a:spcPct val="111111"/>
              </a:lnSpc>
              <a:spcAft>
                <a:spcPts val="0"/>
              </a:spcAft>
            </a:pPr>
            <a:r>
              <a:rPr sz="900" i="0">
                <a:solidFill>
                  <a:srgbClr val="82B1FF"/>
                </a:solidFill>
                <a:latin typeface="Inconsolata"/>
              </a:rPr>
              <a:t>$ uvicorn before:app --reload</a:t>
            </a:r>
          </a:p>
        </p:txBody>
      </p:sp>
      <p:pic>
        <p:nvPicPr>
          <p:cNvPr id="29" name="Image 12" descr="s05-03-celery-before.png"/>
          <p:cNvPicPr>
            <a:picLocks noChangeAspect="1"/>
          </p:cNvPicPr>
          <p:nvPr/>
        </p:nvPicPr>
        <p:blipFill>
          <a:blip r:embed="rId2"/>
          <a:stretch>
            <a:fillRect/>
          </a:stretch>
        </p:blipFill>
        <p:spPr>
          <a:xfrm>
            <a:off x="621792" y="2322576"/>
            <a:ext cx="4297680" cy="1349740"/>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Report dikerjakan </a:t>
            </a:r>
            <a:r>
              <a:rPr sz="950" b="0" i="0">
                <a:solidFill>
                  <a:srgbClr val="B5482A"/>
                </a:solidFill>
                <a:latin typeface="Inconsolata"/>
              </a:rPr>
              <a:t>BackgroundTasks</a:t>
            </a:r>
            <a:r>
              <a:rPr sz="950" b="0" i="0">
                <a:solidFill>
                  <a:srgbClr val="434343"/>
                </a:solidFill>
                <a:latin typeface="Inter"/>
              </a:rPr>
              <a:t>, masih di proses API (baris 28)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Report butuh 10 detik (baris 19)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Response tidak memberi cara untuk mengecek hasilnya (baris 29)</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API restart dalam 10 detik itu = report hilang.</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report dikirim ke worker</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03-celery/after.py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4167"/>
              </a:lnSpc>
              <a:spcAft>
                <a:spcPts val="0"/>
              </a:spcAft>
            </a:pPr>
            <a:r>
              <a:rPr sz="800" i="0">
                <a:solidFill>
                  <a:srgbClr val="5C6773"/>
                </a:solidFill>
                <a:latin typeface="Inconsolata"/>
              </a:rPr>
              <a:t>14  </a:t>
            </a:r>
            <a:r>
              <a:rPr sz="800" i="0">
                <a:solidFill>
                  <a:srgbClr val="FF8E6E"/>
                </a:solidFill>
                <a:latin typeface="Inconsolata"/>
              </a:rPr>
              <a:t>import</a:t>
            </a:r>
            <a:r>
              <a:rPr sz="800" i="0">
                <a:solidFill>
                  <a:srgbClr val="E6EDF3"/>
                </a:solidFill>
                <a:latin typeface="Inconsolata"/>
              </a:rPr>
              <a:t> time</a:t>
            </a:r>
          </a:p>
          <a:p>
            <a:pPr>
              <a:lnSpc>
                <a:spcPct val="104167"/>
              </a:lnSpc>
              <a:spcAft>
                <a:spcPts val="0"/>
              </a:spcAft>
            </a:pPr>
            <a:r>
              <a:rPr sz="800" i="0">
                <a:solidFill>
                  <a:srgbClr val="5C6773"/>
                </a:solidFill>
                <a:latin typeface="Inconsolata"/>
              </a:rPr>
              <a:t>15  </a:t>
            </a:r>
            <a:r>
              <a:rPr sz="800" i="0">
                <a:solidFill>
                  <a:srgbClr val="E6EDF3"/>
                </a:solidFill>
                <a:latin typeface="Inconsolata"/>
              </a:rPr>
              <a:t> </a:t>
            </a:r>
          </a:p>
          <a:p>
            <a:pPr>
              <a:lnSpc>
                <a:spcPct val="104167"/>
              </a:lnSpc>
              <a:spcAft>
                <a:spcPts val="0"/>
              </a:spcAft>
            </a:pPr>
            <a:r>
              <a:rPr sz="800" i="0">
                <a:solidFill>
                  <a:srgbClr val="5C6773"/>
                </a:solidFill>
                <a:latin typeface="Inconsolata"/>
              </a:rPr>
              <a:t>16  </a:t>
            </a:r>
            <a:r>
              <a:rPr sz="800" i="0">
                <a:solidFill>
                  <a:srgbClr val="FF8E6E"/>
                </a:solidFill>
                <a:latin typeface="Inconsolata"/>
              </a:rPr>
              <a:t>from</a:t>
            </a:r>
            <a:r>
              <a:rPr sz="800" i="0">
                <a:solidFill>
                  <a:srgbClr val="E6EDF3"/>
                </a:solidFill>
                <a:latin typeface="Inconsolata"/>
              </a:rPr>
              <a:t> celery </a:t>
            </a:r>
            <a:r>
              <a:rPr sz="800" i="0">
                <a:solidFill>
                  <a:srgbClr val="FF8E6E"/>
                </a:solidFill>
                <a:latin typeface="Inconsolata"/>
              </a:rPr>
              <a:t>import</a:t>
            </a:r>
            <a:r>
              <a:rPr sz="800" i="0">
                <a:solidFill>
                  <a:srgbClr val="E6EDF3"/>
                </a:solidFill>
                <a:latin typeface="Inconsolata"/>
              </a:rPr>
              <a:t> </a:t>
            </a:r>
            <a:r>
              <a:rPr sz="800" i="0">
                <a:solidFill>
                  <a:srgbClr val="7FDBCA"/>
                </a:solidFill>
                <a:latin typeface="Inconsolata"/>
              </a:rPr>
              <a:t>Celery</a:t>
            </a:r>
          </a:p>
          <a:p>
            <a:pPr>
              <a:lnSpc>
                <a:spcPct val="104167"/>
              </a:lnSpc>
              <a:spcAft>
                <a:spcPts val="0"/>
              </a:spcAft>
            </a:pPr>
            <a:r>
              <a:rPr sz="800" i="0">
                <a:solidFill>
                  <a:srgbClr val="5C6773"/>
                </a:solidFill>
                <a:latin typeface="Inconsolata"/>
              </a:rPr>
              <a:t>17  </a:t>
            </a:r>
            <a:r>
              <a:rPr sz="800" i="0">
                <a:solidFill>
                  <a:srgbClr val="FF8E6E"/>
                </a:solidFill>
                <a:latin typeface="Inconsolata"/>
              </a:rPr>
              <a:t>from</a:t>
            </a:r>
            <a:r>
              <a:rPr sz="800" i="0">
                <a:solidFill>
                  <a:srgbClr val="E6EDF3"/>
                </a:solidFill>
                <a:latin typeface="Inconsolata"/>
              </a:rPr>
              <a:t> fastapi </a:t>
            </a:r>
            <a:r>
              <a:rPr sz="800" i="0">
                <a:solidFill>
                  <a:srgbClr val="FF8E6E"/>
                </a:solidFill>
                <a:latin typeface="Inconsolata"/>
              </a:rPr>
              <a:t>import</a:t>
            </a:r>
            <a:r>
              <a:rPr sz="800" i="0">
                <a:solidFill>
                  <a:srgbClr val="E6EDF3"/>
                </a:solidFill>
                <a:latin typeface="Inconsolata"/>
              </a:rPr>
              <a:t> </a:t>
            </a:r>
            <a:r>
              <a:rPr sz="800" i="0">
                <a:solidFill>
                  <a:srgbClr val="7FDBCA"/>
                </a:solidFill>
                <a:latin typeface="Inconsolata"/>
              </a:rPr>
              <a:t>FastAPI</a:t>
            </a:r>
          </a:p>
          <a:p>
            <a:pPr>
              <a:lnSpc>
                <a:spcPct val="104167"/>
              </a:lnSpc>
              <a:spcAft>
                <a:spcPts val="0"/>
              </a:spcAft>
            </a:pPr>
            <a:r>
              <a:rPr sz="800" i="0">
                <a:solidFill>
                  <a:srgbClr val="5C6773"/>
                </a:solidFill>
                <a:latin typeface="Inconsolata"/>
              </a:rPr>
              <a:t>18  </a:t>
            </a:r>
            <a:r>
              <a:rPr sz="800" i="0">
                <a:solidFill>
                  <a:srgbClr val="E6EDF3"/>
                </a:solidFill>
                <a:latin typeface="Inconsolata"/>
              </a:rPr>
              <a:t> </a:t>
            </a:r>
          </a:p>
          <a:p>
            <a:pPr>
              <a:lnSpc>
                <a:spcPct val="104167"/>
              </a:lnSpc>
              <a:spcAft>
                <a:spcPts val="0"/>
              </a:spcAft>
            </a:pPr>
            <a:r>
              <a:rPr sz="800" i="0">
                <a:solidFill>
                  <a:srgbClr val="5C6773"/>
                </a:solidFill>
                <a:latin typeface="Inconsolata"/>
              </a:rPr>
              <a:t>19  </a:t>
            </a:r>
            <a:r>
              <a:rPr sz="800" i="0">
                <a:solidFill>
                  <a:srgbClr val="E6EDF3"/>
                </a:solidFill>
                <a:latin typeface="Inconsolata"/>
              </a:rPr>
              <a:t>celery_app = </a:t>
            </a:r>
            <a:r>
              <a:rPr sz="800" i="0">
                <a:solidFill>
                  <a:srgbClr val="7FDBCA"/>
                </a:solidFill>
                <a:latin typeface="Inconsolata"/>
              </a:rPr>
              <a:t>Celery</a:t>
            </a:r>
            <a:r>
              <a:rPr sz="800" i="0">
                <a:solidFill>
                  <a:srgbClr val="E6EDF3"/>
                </a:solidFill>
                <a:latin typeface="Inconsolata"/>
              </a:rPr>
              <a:t>(</a:t>
            </a:r>
            <a:r>
              <a:rPr sz="800" i="0">
                <a:solidFill>
                  <a:srgbClr val="A5D6A7"/>
                </a:solidFill>
                <a:latin typeface="Inconsolata"/>
              </a:rPr>
              <a:t>"demo"</a:t>
            </a:r>
            <a:r>
              <a:rPr sz="800" i="0">
                <a:solidFill>
                  <a:srgbClr val="E6EDF3"/>
                </a:solidFill>
                <a:latin typeface="Inconsolata"/>
              </a:rPr>
              <a:t>,</a:t>
            </a:r>
          </a:p>
          <a:p>
            <a:pPr>
              <a:lnSpc>
                <a:spcPct val="104167"/>
              </a:lnSpc>
              <a:spcAft>
                <a:spcPts val="0"/>
              </a:spcAft>
            </a:pPr>
            <a:r>
              <a:rPr sz="800" i="0">
                <a:solidFill>
                  <a:srgbClr val="5C6773"/>
                </a:solidFill>
                <a:latin typeface="Inconsolata"/>
              </a:rPr>
              <a:t>20  </a:t>
            </a:r>
            <a:r>
              <a:rPr sz="800" i="0">
                <a:solidFill>
                  <a:srgbClr val="E6EDF3"/>
                </a:solidFill>
                <a:latin typeface="Inconsolata"/>
              </a:rPr>
              <a:t>                    broker=</a:t>
            </a:r>
            <a:r>
              <a:rPr sz="800" i="0">
                <a:solidFill>
                  <a:srgbClr val="A5D6A7"/>
                </a:solidFill>
                <a:latin typeface="Inconsolata"/>
              </a:rPr>
              <a:t>"redis://localhost:6379/0"</a:t>
            </a:r>
            <a:r>
              <a:rPr sz="800" i="0">
                <a:solidFill>
                  <a:srgbClr val="E6EDF3"/>
                </a:solidFill>
                <a:latin typeface="Inconsolata"/>
              </a:rPr>
              <a:t>,</a:t>
            </a:r>
          </a:p>
          <a:p>
            <a:pPr>
              <a:lnSpc>
                <a:spcPct val="104167"/>
              </a:lnSpc>
              <a:spcAft>
                <a:spcPts val="0"/>
              </a:spcAft>
            </a:pPr>
            <a:r>
              <a:rPr sz="800" i="0">
                <a:solidFill>
                  <a:srgbClr val="5C6773"/>
                </a:solidFill>
                <a:latin typeface="Inconsolata"/>
              </a:rPr>
              <a:t>21  </a:t>
            </a:r>
            <a:r>
              <a:rPr sz="800" i="0">
                <a:solidFill>
                  <a:srgbClr val="E6EDF3"/>
                </a:solidFill>
                <a:latin typeface="Inconsolata"/>
              </a:rPr>
              <a:t>                    backend=</a:t>
            </a:r>
            <a:r>
              <a:rPr sz="800" i="0">
                <a:solidFill>
                  <a:srgbClr val="A5D6A7"/>
                </a:solidFill>
                <a:latin typeface="Inconsolata"/>
              </a:rPr>
              <a:t>"redis://localhost:6379/1"</a:t>
            </a:r>
            <a:r>
              <a:rPr sz="800" i="0">
                <a:solidFill>
                  <a:srgbClr val="E6EDF3"/>
                </a:solidFill>
                <a:latin typeface="Inconsolata"/>
              </a:rPr>
              <a:t>)</a:t>
            </a:r>
          </a:p>
          <a:p>
            <a:pPr>
              <a:lnSpc>
                <a:spcPct val="104167"/>
              </a:lnSpc>
              <a:spcAft>
                <a:spcPts val="0"/>
              </a:spcAft>
            </a:pPr>
            <a:r>
              <a:rPr sz="800" i="0">
                <a:solidFill>
                  <a:srgbClr val="5C6773"/>
                </a:solidFill>
                <a:latin typeface="Inconsolata"/>
              </a:rPr>
              <a:t>22  </a:t>
            </a:r>
            <a:r>
              <a:rPr sz="800" i="0">
                <a:solidFill>
                  <a:srgbClr val="E6EDF3"/>
                </a:solidFill>
                <a:latin typeface="Inconsolata"/>
              </a:rPr>
              <a:t>app = </a:t>
            </a:r>
            <a:r>
              <a:rPr sz="800" i="0">
                <a:solidFill>
                  <a:srgbClr val="7FDBCA"/>
                </a:solidFill>
                <a:latin typeface="Inconsolata"/>
              </a:rPr>
              <a:t>FastAPI</a:t>
            </a:r>
            <a:r>
              <a:rPr sz="800" i="0">
                <a:solidFill>
                  <a:srgbClr val="E6EDF3"/>
                </a:solidFill>
                <a:latin typeface="Inconsolata"/>
              </a:rPr>
              <a:t>()</a:t>
            </a:r>
          </a:p>
          <a:p>
            <a:pPr>
              <a:lnSpc>
                <a:spcPct val="104167"/>
              </a:lnSpc>
              <a:spcAft>
                <a:spcPts val="0"/>
              </a:spcAft>
            </a:pPr>
            <a:r>
              <a:rPr sz="800" i="0">
                <a:solidFill>
                  <a:srgbClr val="5C6773"/>
                </a:solidFill>
                <a:latin typeface="Inconsolata"/>
              </a:rPr>
              <a:t>23  </a:t>
            </a:r>
            <a:r>
              <a:rPr sz="800" i="0">
                <a:solidFill>
                  <a:srgbClr val="E6EDF3"/>
                </a:solidFill>
                <a:latin typeface="Inconsolata"/>
              </a:rPr>
              <a:t> </a:t>
            </a:r>
          </a:p>
          <a:p>
            <a:pPr>
              <a:lnSpc>
                <a:spcPct val="104167"/>
              </a:lnSpc>
              <a:spcAft>
                <a:spcPts val="0"/>
              </a:spcAft>
            </a:pPr>
            <a:r>
              <a:rPr sz="800" i="0">
                <a:solidFill>
                  <a:srgbClr val="5C6773"/>
                </a:solidFill>
                <a:latin typeface="Inconsolata"/>
              </a:rPr>
              <a:t>24  </a:t>
            </a:r>
            <a:r>
              <a:rPr sz="800" i="0">
                <a:solidFill>
                  <a:srgbClr val="E6EDF3"/>
                </a:solidFill>
                <a:latin typeface="Inconsolata"/>
              </a:rPr>
              <a:t> </a:t>
            </a:r>
          </a:p>
          <a:p>
            <a:pPr>
              <a:lnSpc>
                <a:spcPct val="104167"/>
              </a:lnSpc>
              <a:spcAft>
                <a:spcPts val="0"/>
              </a:spcAft>
            </a:pPr>
            <a:r>
              <a:rPr sz="800" i="0">
                <a:solidFill>
                  <a:srgbClr val="5C6773"/>
                </a:solidFill>
                <a:latin typeface="Inconsolata"/>
              </a:rPr>
              <a:t>25  </a:t>
            </a:r>
            <a:r>
              <a:rPr sz="800" i="0">
                <a:solidFill>
                  <a:srgbClr val="F9C97A"/>
                </a:solidFill>
                <a:latin typeface="Inconsolata"/>
              </a:rPr>
              <a:t>@celery_app.task</a:t>
            </a:r>
          </a:p>
          <a:p>
            <a:pPr>
              <a:lnSpc>
                <a:spcPct val="104167"/>
              </a:lnSpc>
              <a:spcAft>
                <a:spcPts val="0"/>
              </a:spcAft>
            </a:pPr>
            <a:r>
              <a:rPr sz="800" i="0">
                <a:solidFill>
                  <a:srgbClr val="5C6773"/>
                </a:solidFill>
                <a:latin typeface="Inconsolata"/>
              </a:rPr>
              <a:t>26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generate_sales_report</a:t>
            </a:r>
            <a:r>
              <a:rPr sz="800" i="0">
                <a:solidFill>
                  <a:srgbClr val="E6EDF3"/>
                </a:solidFill>
                <a:latin typeface="Inconsolata"/>
              </a:rPr>
              <a:t>(month: </a:t>
            </a:r>
            <a:r>
              <a:rPr sz="800" i="0">
                <a:solidFill>
                  <a:srgbClr val="C3A6FF"/>
                </a:solidFill>
                <a:latin typeface="Inconsolata"/>
              </a:rPr>
              <a:t>str</a:t>
            </a:r>
            <a:r>
              <a:rPr sz="800" i="0">
                <a:solidFill>
                  <a:srgbClr val="E6EDF3"/>
                </a:solidFill>
                <a:latin typeface="Inconsolata"/>
              </a:rPr>
              <a:t>) -&gt; </a:t>
            </a:r>
            <a:r>
              <a:rPr sz="800" i="0">
                <a:solidFill>
                  <a:srgbClr val="C3A6FF"/>
                </a:solidFill>
                <a:latin typeface="Inconsolata"/>
              </a:rPr>
              <a:t>dict</a:t>
            </a:r>
            <a:r>
              <a:rPr sz="800" i="0">
                <a:solidFill>
                  <a:srgbClr val="E6EDF3"/>
                </a:solidFill>
                <a:latin typeface="Inconsolata"/>
              </a:rPr>
              <a:t>:</a:t>
            </a:r>
          </a:p>
          <a:p>
            <a:pPr>
              <a:lnSpc>
                <a:spcPct val="104167"/>
              </a:lnSpc>
              <a:spcAft>
                <a:spcPts val="0"/>
              </a:spcAft>
            </a:pPr>
            <a:r>
              <a:rPr sz="800" i="0">
                <a:solidFill>
                  <a:srgbClr val="5C6773"/>
                </a:solidFill>
                <a:latin typeface="Inconsolata"/>
              </a:rPr>
              <a:t>27  </a:t>
            </a:r>
            <a:r>
              <a:rPr sz="800" i="0">
                <a:solidFill>
                  <a:srgbClr val="E6EDF3"/>
                </a:solidFill>
                <a:latin typeface="Inconsolata"/>
              </a:rPr>
              <a:t>    time.sleep(</a:t>
            </a:r>
            <a:r>
              <a:rPr sz="800" i="0">
                <a:solidFill>
                  <a:srgbClr val="F9C97A"/>
                </a:solidFill>
                <a:latin typeface="Inconsolata"/>
              </a:rPr>
              <a:t>10</a:t>
            </a:r>
            <a:r>
              <a:rPr sz="800" i="0">
                <a:solidFill>
                  <a:srgbClr val="E6EDF3"/>
                </a:solidFill>
                <a:latin typeface="Inconsolata"/>
              </a:rPr>
              <a:t>)                </a:t>
            </a:r>
            <a:r>
              <a:rPr sz="800" i="1">
                <a:solidFill>
                  <a:srgbClr val="8B98A8"/>
                </a:solidFill>
                <a:latin typeface="Inconsolata"/>
              </a:rPr>
              <a:t># dikerjakan worker, bukan API</a:t>
            </a:r>
          </a:p>
          <a:p>
            <a:pPr>
              <a:lnSpc>
                <a:spcPct val="104167"/>
              </a:lnSpc>
              <a:spcAft>
                <a:spcPts val="0"/>
              </a:spcAft>
            </a:pPr>
            <a:r>
              <a:rPr sz="800" i="0">
                <a:solidFill>
                  <a:srgbClr val="5C6773"/>
                </a:solidFill>
                <a:latin typeface="Inconsolata"/>
              </a:rPr>
              <a:t>28  </a:t>
            </a: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A5D6A7"/>
                </a:solidFill>
                <a:latin typeface="Inconsolata"/>
              </a:rPr>
              <a:t>"month"</a:t>
            </a:r>
            <a:r>
              <a:rPr sz="800" i="0">
                <a:solidFill>
                  <a:srgbClr val="E6EDF3"/>
                </a:solidFill>
                <a:latin typeface="Inconsolata"/>
              </a:rPr>
              <a:t>: month, </a:t>
            </a:r>
            <a:r>
              <a:rPr sz="800" i="0">
                <a:solidFill>
                  <a:srgbClr val="A5D6A7"/>
                </a:solidFill>
                <a:latin typeface="Inconsolata"/>
              </a:rPr>
              <a:t>"orders"</a:t>
            </a:r>
            <a:r>
              <a:rPr sz="800" i="0">
                <a:solidFill>
                  <a:srgbClr val="E6EDF3"/>
                </a:solidFill>
                <a:latin typeface="Inconsolata"/>
              </a:rPr>
              <a:t>: </a:t>
            </a:r>
            <a:r>
              <a:rPr sz="800" i="0">
                <a:solidFill>
                  <a:srgbClr val="F9C97A"/>
                </a:solidFill>
                <a:latin typeface="Inconsolata"/>
              </a:rPr>
              <a:t>120</a:t>
            </a:r>
            <a:r>
              <a:rPr sz="800" i="0">
                <a:solidFill>
                  <a:srgbClr val="E6EDF3"/>
                </a:solidFill>
                <a:latin typeface="Inconsolata"/>
              </a:rPr>
              <a:t>, </a:t>
            </a:r>
            <a:r>
              <a:rPr sz="800" i="0">
                <a:solidFill>
                  <a:srgbClr val="A5D6A7"/>
                </a:solidFill>
                <a:latin typeface="Inconsolata"/>
              </a:rPr>
              <a:t>"revenue"</a:t>
            </a:r>
            <a:r>
              <a:rPr sz="800" i="0">
                <a:solidFill>
                  <a:srgbClr val="E6EDF3"/>
                </a:solidFill>
                <a:latin typeface="Inconsolata"/>
              </a:rPr>
              <a:t>: </a:t>
            </a:r>
            <a:r>
              <a:rPr sz="800" i="0">
                <a:solidFill>
                  <a:srgbClr val="F9C97A"/>
                </a:solidFill>
                <a:latin typeface="Inconsolata"/>
              </a:rPr>
              <a:t>54_000_000</a:t>
            </a:r>
            <a:r>
              <a:rPr sz="800" i="0">
                <a:solidFill>
                  <a:srgbClr val="E6EDF3"/>
                </a:solidFill>
                <a:latin typeface="Inconsolata"/>
              </a:rPr>
              <a:t>}</a:t>
            </a:r>
          </a:p>
          <a:p>
            <a:pPr>
              <a:lnSpc>
                <a:spcPct val="104167"/>
              </a:lnSpc>
              <a:spcAft>
                <a:spcPts val="0"/>
              </a:spcAft>
            </a:pPr>
            <a:r>
              <a:rPr sz="800" i="0">
                <a:solidFill>
                  <a:srgbClr val="5C6773"/>
                </a:solidFill>
                <a:latin typeface="Inconsolata"/>
              </a:rPr>
              <a:t>29  </a:t>
            </a:r>
            <a:r>
              <a:rPr sz="800" i="0">
                <a:solidFill>
                  <a:srgbClr val="E6EDF3"/>
                </a:solidFill>
                <a:latin typeface="Inconsolata"/>
              </a:rPr>
              <a:t> </a:t>
            </a:r>
          </a:p>
          <a:p>
            <a:pPr>
              <a:lnSpc>
                <a:spcPct val="104167"/>
              </a:lnSpc>
              <a:spcAft>
                <a:spcPts val="0"/>
              </a:spcAft>
            </a:pPr>
            <a:r>
              <a:rPr sz="800" i="0">
                <a:solidFill>
                  <a:srgbClr val="5C6773"/>
                </a:solidFill>
                <a:latin typeface="Inconsolata"/>
              </a:rPr>
              <a:t>30  </a:t>
            </a:r>
            <a:r>
              <a:rPr sz="800" i="0">
                <a:solidFill>
                  <a:srgbClr val="E6EDF3"/>
                </a:solidFill>
                <a:latin typeface="Inconsolata"/>
              </a:rPr>
              <a:t> </a:t>
            </a:r>
          </a:p>
          <a:p>
            <a:pPr>
              <a:lnSpc>
                <a:spcPct val="104167"/>
              </a:lnSpc>
              <a:spcAft>
                <a:spcPts val="0"/>
              </a:spcAft>
            </a:pPr>
            <a:r>
              <a:rPr sz="800" i="0">
                <a:solidFill>
                  <a:srgbClr val="5C6773"/>
                </a:solidFill>
                <a:latin typeface="Inconsolata"/>
              </a:rPr>
              <a:t>31  </a:t>
            </a:r>
            <a:r>
              <a:rPr sz="800" i="0">
                <a:solidFill>
                  <a:srgbClr val="F9C97A"/>
                </a:solidFill>
                <a:latin typeface="Inconsolata"/>
              </a:rPr>
              <a:t>@app.post</a:t>
            </a:r>
            <a:r>
              <a:rPr sz="800" i="0">
                <a:solidFill>
                  <a:srgbClr val="E6EDF3"/>
                </a:solidFill>
                <a:latin typeface="Inconsolata"/>
              </a:rPr>
              <a:t>(</a:t>
            </a:r>
            <a:r>
              <a:rPr sz="800" i="0">
                <a:solidFill>
                  <a:srgbClr val="A5D6A7"/>
                </a:solidFill>
                <a:latin typeface="Inconsolata"/>
              </a:rPr>
              <a:t>"/reports/sales"</a:t>
            </a:r>
            <a:r>
              <a:rPr sz="800" i="0">
                <a:solidFill>
                  <a:srgbClr val="E6EDF3"/>
                </a:solidFill>
                <a:latin typeface="Inconsolata"/>
              </a:rPr>
              <a:t>, status_code=</a:t>
            </a:r>
            <a:r>
              <a:rPr sz="800" i="0">
                <a:solidFill>
                  <a:srgbClr val="F9C97A"/>
                </a:solidFill>
                <a:latin typeface="Inconsolata"/>
              </a:rPr>
              <a:t>202</a:t>
            </a:r>
            <a:r>
              <a:rPr sz="800" i="0">
                <a:solidFill>
                  <a:srgbClr val="E6EDF3"/>
                </a:solidFill>
                <a:latin typeface="Inconsolata"/>
              </a:rPr>
              <a:t>)</a:t>
            </a:r>
          </a:p>
          <a:p>
            <a:pPr>
              <a:lnSpc>
                <a:spcPct val="104167"/>
              </a:lnSpc>
              <a:spcAft>
                <a:spcPts val="0"/>
              </a:spcAft>
            </a:pPr>
            <a:r>
              <a:rPr sz="800" i="0">
                <a:solidFill>
                  <a:srgbClr val="5C6773"/>
                </a:solidFill>
                <a:latin typeface="Inconsolata"/>
              </a:rPr>
              <a:t>32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create_sales_report</a:t>
            </a:r>
            <a:r>
              <a:rPr sz="800" i="0">
                <a:solidFill>
                  <a:srgbClr val="E6EDF3"/>
                </a:solidFill>
                <a:latin typeface="Inconsolata"/>
              </a:rPr>
              <a:t>(month: </a:t>
            </a:r>
            <a:r>
              <a:rPr sz="800" i="0">
                <a:solidFill>
                  <a:srgbClr val="C3A6FF"/>
                </a:solidFill>
                <a:latin typeface="Inconsolata"/>
              </a:rPr>
              <a:t>str</a:t>
            </a:r>
            <a:r>
              <a:rPr sz="800" i="0">
                <a:solidFill>
                  <a:srgbClr val="E6EDF3"/>
                </a:solidFill>
                <a:latin typeface="Inconsolata"/>
              </a:rPr>
              <a:t>):</a:t>
            </a:r>
          </a:p>
          <a:p>
            <a:pPr>
              <a:lnSpc>
                <a:spcPct val="104167"/>
              </a:lnSpc>
              <a:spcAft>
                <a:spcPts val="0"/>
              </a:spcAft>
            </a:pPr>
            <a:r>
              <a:rPr sz="800" i="0">
                <a:solidFill>
                  <a:srgbClr val="5C6773"/>
                </a:solidFill>
                <a:latin typeface="Inconsolata"/>
              </a:rPr>
              <a:t>33  </a:t>
            </a:r>
            <a:r>
              <a:rPr sz="800" i="0">
                <a:solidFill>
                  <a:srgbClr val="E6EDF3"/>
                </a:solidFill>
                <a:latin typeface="Inconsolata"/>
              </a:rPr>
              <a:t>    task = generate_sales_report.delay(month)    </a:t>
            </a:r>
            <a:r>
              <a:rPr sz="800" i="1">
                <a:solidFill>
                  <a:srgbClr val="8B98A8"/>
                </a:solidFill>
                <a:latin typeface="Inconsolata"/>
              </a:rPr>
              <a:t># masuk queue</a:t>
            </a:r>
          </a:p>
          <a:p>
            <a:pPr>
              <a:lnSpc>
                <a:spcPct val="104167"/>
              </a:lnSpc>
              <a:spcAft>
                <a:spcPts val="0"/>
              </a:spcAft>
            </a:pPr>
            <a:r>
              <a:rPr sz="800" i="0">
                <a:solidFill>
                  <a:srgbClr val="5C6773"/>
                </a:solidFill>
                <a:latin typeface="Inconsolata"/>
              </a:rPr>
              <a:t>34  </a:t>
            </a: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A5D6A7"/>
                </a:solidFill>
                <a:latin typeface="Inconsolata"/>
              </a:rPr>
              <a:t>"task_id"</a:t>
            </a:r>
            <a:r>
              <a:rPr sz="800" i="0">
                <a:solidFill>
                  <a:srgbClr val="E6EDF3"/>
                </a:solidFill>
                <a:latin typeface="Inconsolata"/>
              </a:rPr>
              <a:t>: task.id}</a:t>
            </a:r>
          </a:p>
        </p:txBody>
      </p:sp>
      <p:sp>
        <p:nvSpPr>
          <p:cNvPr id="29" name="Box 12"/>
          <p:cNvSpPr/>
          <p:nvPr/>
        </p:nvSpPr>
        <p:spPr>
          <a:xfrm>
            <a:off x="704088" y="2462022"/>
            <a:ext cx="7699248"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2529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224022"/>
            <a:ext cx="7699248"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164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4240022"/>
            <a:ext cx="7699248"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8284463" y="4180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03-celery/after.py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758952"/>
          </a:xfrm>
          <a:prstGeom prst="roundRect">
            <a:avLst>
              <a:gd name="adj" fmla="val 240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75895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sesi-05-async-tasks-celery-redis/03-celery</a:t>
            </a:r>
          </a:p>
          <a:p>
            <a:pPr>
              <a:lnSpc>
                <a:spcPct val="107843"/>
              </a:lnSpc>
              <a:spcAft>
                <a:spcPts val="0"/>
              </a:spcAft>
            </a:pPr>
            <a:r>
              <a:rPr sz="850" i="0">
                <a:solidFill>
                  <a:srgbClr val="82B1FF"/>
                </a:solidFill>
                <a:latin typeface="Inconsolata"/>
              </a:rPr>
              <a:t>$ docker compose -f ../docker-compose.yml up -d</a:t>
            </a:r>
          </a:p>
          <a:p>
            <a:pPr>
              <a:lnSpc>
                <a:spcPct val="107843"/>
              </a:lnSpc>
              <a:spcAft>
                <a:spcPts val="0"/>
              </a:spcAft>
            </a:pPr>
            <a:r>
              <a:rPr sz="850" i="0">
                <a:solidFill>
                  <a:srgbClr val="82B1FF"/>
                </a:solidFill>
                <a:latin typeface="Inconsolata"/>
              </a:rPr>
              <a:t>$ celery -A after:celery_app worker --loglevel=info --pool=solo</a:t>
            </a:r>
          </a:p>
          <a:p>
            <a:pPr>
              <a:lnSpc>
                <a:spcPct val="107843"/>
              </a:lnSpc>
              <a:spcAft>
                <a:spcPts val="0"/>
              </a:spcAft>
            </a:pPr>
            <a:r>
              <a:rPr sz="850" i="0">
                <a:solidFill>
                  <a:srgbClr val="82B1FF"/>
                </a:solidFill>
                <a:latin typeface="Inconsolata"/>
              </a:rPr>
              <a:t>$ uvicorn after:app --reload</a:t>
            </a:r>
          </a:p>
        </p:txBody>
      </p:sp>
      <p:pic>
        <p:nvPicPr>
          <p:cNvPr id="29" name="Image 12" descr="s05-03-celery-after.png"/>
          <p:cNvPicPr>
            <a:picLocks noChangeAspect="1"/>
          </p:cNvPicPr>
          <p:nvPr/>
        </p:nvPicPr>
        <p:blipFill>
          <a:blip r:embed="rId2"/>
          <a:stretch>
            <a:fillRect/>
          </a:stretch>
        </p:blipFill>
        <p:spPr>
          <a:xfrm>
            <a:off x="621792" y="2596896"/>
            <a:ext cx="4297680" cy="1349740"/>
          </a:xfrm>
          <a:prstGeom prst="rect">
            <a:avLst/>
          </a:prstGeom>
        </p:spPr>
      </p:pic>
      <p:sp>
        <p:nvSpPr>
          <p:cNvPr id="30" name="Text 13"/>
          <p:cNvSpPr txBox="1"/>
          <p:nvPr/>
        </p:nvSpPr>
        <p:spPr>
          <a:xfrm>
            <a:off x="621792" y="3992356"/>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Log worker diringkas: waktu dan id task dipersingkat</a:t>
            </a:r>
          </a:p>
        </p:txBody>
      </p:sp>
      <p:sp>
        <p:nvSpPr>
          <p:cNvPr id="31" name="Box 14"/>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Aplikasi Celery dengan broker dan result backend Redis (baris 19-21)</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@celery_app.task</a:t>
            </a:r>
            <a:r>
              <a:rPr sz="950" b="0" i="0">
                <a:solidFill>
                  <a:srgbClr val="434343"/>
                </a:solidFill>
                <a:latin typeface="Inter"/>
              </a:rPr>
              <a:t>: function ini dikerjakan worker (baris 25)</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.delay()</a:t>
            </a:r>
            <a:r>
              <a:rPr sz="950" b="0" i="0">
                <a:solidFill>
                  <a:srgbClr val="434343"/>
                </a:solidFill>
                <a:latin typeface="Inter"/>
              </a:rPr>
              <a:t> hanya menaruh job ke queue (baris 33)</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Response langsung berisi </a:t>
            </a:r>
            <a:r>
              <a:rPr sz="950" b="0" i="0">
                <a:solidFill>
                  <a:srgbClr val="B5482A"/>
                </a:solidFill>
                <a:latin typeface="Inconsolata"/>
              </a:rPr>
              <a:t>task_id</a:t>
            </a:r>
            <a:r>
              <a:rPr sz="950" b="0" i="0">
                <a:solidFill>
                  <a:srgbClr val="434343"/>
                </a:solidFill>
                <a:latin typeface="Inter"/>
              </a:rPr>
              <a:t>. Report selesai di worker 10 detik kemudian.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Celery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Redis, Worker, dan API</a:t>
            </a:r>
          </a:p>
        </p:txBody>
      </p:sp>
      <p:sp>
        <p:nvSpPr>
          <p:cNvPr id="22" name="CodeTab 4"/>
          <p:cNvSpPr/>
          <p:nvPr/>
        </p:nvSpPr>
        <p:spPr>
          <a:xfrm>
            <a:off x="621792" y="1481328"/>
            <a:ext cx="51206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4805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a:t>
            </a:r>
          </a:p>
        </p:txBody>
      </p:sp>
      <p:sp>
        <p:nvSpPr>
          <p:cNvPr id="27" name="CodeBg 10"/>
          <p:cNvSpPr/>
          <p:nvPr/>
        </p:nvSpPr>
        <p:spPr>
          <a:xfrm>
            <a:off x="621792" y="1719072"/>
            <a:ext cx="51206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120640" cy="2980944"/>
          </a:xfrm>
          <a:prstGeom prst="rect">
            <a:avLst/>
          </a:prstGeom>
          <a:noFill/>
        </p:spPr>
        <p:txBody>
          <a:bodyPr wrap="none" lIns="146304" tIns="91440" rIns="146304" bIns="54864">
            <a:spAutoFit/>
          </a:bodyPr>
          <a:lstStyle/>
          <a:p>
            <a:pPr>
              <a:lnSpc>
                <a:spcPct val="111111"/>
              </a:lnSpc>
              <a:spcAft>
                <a:spcPts val="0"/>
              </a:spcAft>
            </a:pPr>
            <a:r>
              <a:rPr sz="900" i="1">
                <a:solidFill>
                  <a:srgbClr val="8B98A8"/>
                </a:solidFill>
                <a:latin typeface="Inconsolata"/>
              </a:rPr>
              <a:t># terminal 1: Redis (broker + result backend), dari folder sesi-05</a:t>
            </a:r>
          </a:p>
          <a:p>
            <a:pPr>
              <a:lnSpc>
                <a:spcPct val="111111"/>
              </a:lnSpc>
              <a:spcAft>
                <a:spcPts val="0"/>
              </a:spcAft>
            </a:pPr>
            <a:r>
              <a:rPr sz="900" i="0">
                <a:solidFill>
                  <a:srgbClr val="E6EDF3"/>
                </a:solidFill>
                <a:latin typeface="Inconsolata"/>
              </a:rPr>
              <a:t>docker compose up -d</a:t>
            </a:r>
          </a:p>
          <a:p>
            <a:pPr>
              <a:lnSpc>
                <a:spcPct val="111111"/>
              </a:lnSpc>
              <a:spcAft>
                <a:spcPts val="0"/>
              </a:spcAft>
            </a:pPr>
            <a:endParaRPr sz="900" i="0">
              <a:solidFill>
                <a:srgbClr val="E6EDF3"/>
              </a:solidFill>
              <a:latin typeface="Inconsolata"/>
            </a:endParaRPr>
          </a:p>
          <a:p>
            <a:pPr>
              <a:lnSpc>
                <a:spcPct val="111111"/>
              </a:lnSpc>
              <a:spcAft>
                <a:spcPts val="0"/>
              </a:spcAft>
            </a:pPr>
            <a:r>
              <a:rPr sz="900" i="1">
                <a:solidFill>
                  <a:srgbClr val="8B98A8"/>
                </a:solidFill>
                <a:latin typeface="Inconsolata"/>
              </a:rPr>
              <a:t># terminal 2: worker</a:t>
            </a:r>
          </a:p>
          <a:p>
            <a:pPr>
              <a:lnSpc>
                <a:spcPct val="111111"/>
              </a:lnSpc>
              <a:spcAft>
                <a:spcPts val="0"/>
              </a:spcAft>
            </a:pPr>
            <a:r>
              <a:rPr sz="900" i="0">
                <a:solidFill>
                  <a:srgbClr val="E6EDF3"/>
                </a:solidFill>
                <a:latin typeface="Inconsolata"/>
              </a:rPr>
              <a:t>celery -A after:celery_app worker --loglevel=info --pool=solo</a:t>
            </a:r>
          </a:p>
          <a:p>
            <a:pPr>
              <a:lnSpc>
                <a:spcPct val="111111"/>
              </a:lnSpc>
              <a:spcAft>
                <a:spcPts val="0"/>
              </a:spcAft>
            </a:pPr>
            <a:endParaRPr sz="900" i="0">
              <a:solidFill>
                <a:srgbClr val="E6EDF3"/>
              </a:solidFill>
              <a:latin typeface="Inconsolata"/>
            </a:endParaRPr>
          </a:p>
          <a:p>
            <a:pPr>
              <a:lnSpc>
                <a:spcPct val="111111"/>
              </a:lnSpc>
              <a:spcAft>
                <a:spcPts val="0"/>
              </a:spcAft>
            </a:pPr>
            <a:r>
              <a:rPr sz="900" i="1">
                <a:solidFill>
                  <a:srgbClr val="8B98A8"/>
                </a:solidFill>
                <a:latin typeface="Inconsolata"/>
              </a:rPr>
              <a:t># terminal 3: API</a:t>
            </a:r>
          </a:p>
          <a:p>
            <a:pPr>
              <a:lnSpc>
                <a:spcPct val="111111"/>
              </a:lnSpc>
              <a:spcAft>
                <a:spcPts val="0"/>
              </a:spcAft>
            </a:pPr>
            <a:r>
              <a:rPr sz="900" i="0">
                <a:solidFill>
                  <a:srgbClr val="E6EDF3"/>
                </a:solidFill>
                <a:latin typeface="Inconsolata"/>
              </a:rPr>
              <a:t>uvicorn after:app --reload</a:t>
            </a:r>
          </a:p>
          <a:p>
            <a:pPr>
              <a:lnSpc>
                <a:spcPct val="111111"/>
              </a:lnSpc>
              <a:spcAft>
                <a:spcPts val="0"/>
              </a:spcAft>
            </a:pPr>
            <a:endParaRPr sz="900" i="0">
              <a:solidFill>
                <a:srgbClr val="E6EDF3"/>
              </a:solidFill>
              <a:latin typeface="Inconsolata"/>
            </a:endParaRPr>
          </a:p>
          <a:p>
            <a:pPr>
              <a:lnSpc>
                <a:spcPct val="111111"/>
              </a:lnSpc>
              <a:spcAft>
                <a:spcPts val="0"/>
              </a:spcAft>
            </a:pPr>
            <a:r>
              <a:rPr sz="900" i="1">
                <a:solidFill>
                  <a:srgbClr val="8B98A8"/>
                </a:solidFill>
                <a:latin typeface="Inconsolata"/>
              </a:rPr>
              <a:t># selesai: matikan Redis</a:t>
            </a:r>
          </a:p>
          <a:p>
            <a:pPr>
              <a:lnSpc>
                <a:spcPct val="111111"/>
              </a:lnSpc>
              <a:spcAft>
                <a:spcPts val="0"/>
              </a:spcAft>
            </a:pPr>
            <a:r>
              <a:rPr sz="900" i="0">
                <a:solidFill>
                  <a:srgbClr val="E6EDF3"/>
                </a:solidFill>
                <a:latin typeface="Inconsolata"/>
              </a:rPr>
              <a:t>docker compose down</a:t>
            </a:r>
          </a:p>
        </p:txBody>
      </p:sp>
      <p:sp>
        <p:nvSpPr>
          <p:cNvPr id="29" name="Box 12"/>
          <p:cNvSpPr/>
          <p:nvPr/>
        </p:nvSpPr>
        <p:spPr>
          <a:xfrm>
            <a:off x="5897880" y="1481328"/>
            <a:ext cx="2587752" cy="3218688"/>
          </a:xfrm>
          <a:prstGeom prst="roundRect">
            <a:avLst>
              <a:gd name="adj" fmla="val 424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Text 13"/>
          <p:cNvSpPr txBox="1"/>
          <p:nvPr/>
        </p:nvSpPr>
        <p:spPr>
          <a:xfrm>
            <a:off x="6035040" y="1572768"/>
            <a:ext cx="2313432" cy="310896"/>
          </a:xfrm>
          <a:prstGeom prst="rect">
            <a:avLst/>
          </a:prstGeom>
          <a:noFill/>
        </p:spPr>
        <p:txBody>
          <a:bodyPr wrap="square" lIns="45720" rIns="45720" anchor="t">
            <a:spAutoFit/>
          </a:bodyPr>
          <a:lstStyle/>
          <a:p>
            <a:pPr algn="l">
              <a:lnSpc>
                <a:spcPct val="115000"/>
              </a:lnSpc>
              <a:spcAft>
                <a:spcPts val="400"/>
              </a:spcAft>
            </a:pPr>
            <a:r>
              <a:rPr sz="1100" b="1" i="0">
                <a:solidFill>
                  <a:srgbClr val="1C4587"/>
                </a:solidFill>
                <a:latin typeface="Inter"/>
              </a:rPr>
              <a:t>Catatan</a:t>
            </a:r>
          </a:p>
        </p:txBody>
      </p:sp>
      <p:sp>
        <p:nvSpPr>
          <p:cNvPr id="31" name="Text 14"/>
          <p:cNvSpPr txBox="1"/>
          <p:nvPr/>
        </p:nvSpPr>
        <p:spPr>
          <a:xfrm>
            <a:off x="6035040" y="1892808"/>
            <a:ext cx="231343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Worker adalah proses terpisah dari API</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Kode task berubah = worker harus di-restart</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--pool=solo</a:t>
            </a:r>
            <a:r>
              <a:rPr sz="950" b="0" i="0">
                <a:solidFill>
                  <a:srgbClr val="434343"/>
                </a:solidFill>
                <a:latin typeface="Inter"/>
              </a:rPr>
              <a:t> diperlukan di Windows</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Redis mati = job tidak bisa masuk queue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Task Status?</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Task status adalah</a:t>
            </a:r>
          </a:p>
          <a:p>
            <a:pPr algn="l">
              <a:lnSpc>
                <a:spcPct val="115000"/>
              </a:lnSpc>
              <a:spcAft>
                <a:spcPts val="400"/>
              </a:spcAft>
            </a:pPr>
            <a:r>
              <a:rPr sz="900" b="0" i="0">
                <a:solidFill>
                  <a:srgbClr val="434343"/>
                </a:solidFill>
                <a:latin typeface="Inter"/>
              </a:rPr>
              <a:t>Keadaan sebuah task di Celery, mulai dari </a:t>
            </a:r>
            <a:r>
              <a:rPr sz="900" b="0" i="0">
                <a:solidFill>
                  <a:srgbClr val="B5482A"/>
                </a:solidFill>
                <a:latin typeface="Inconsolata"/>
              </a:rPr>
              <a:t>PENDING</a:t>
            </a:r>
            <a:r>
              <a:rPr sz="900" b="0" i="0">
                <a:solidFill>
                  <a:srgbClr val="434343"/>
                </a:solidFill>
                <a:latin typeface="Inter"/>
              </a:rPr>
              <a:t> (menunggu di queue), </a:t>
            </a:r>
            <a:r>
              <a:rPr sz="900" b="0" i="0">
                <a:solidFill>
                  <a:srgbClr val="B5482A"/>
                </a:solidFill>
                <a:latin typeface="Inconsolata"/>
              </a:rPr>
              <a:t>STARTED</a:t>
            </a:r>
            <a:r>
              <a:rPr sz="900" b="0" i="0">
                <a:solidFill>
                  <a:srgbClr val="434343"/>
                </a:solidFill>
                <a:latin typeface="Inter"/>
              </a:rPr>
              <a:t> (sedang dikerjakan), sampai </a:t>
            </a:r>
            <a:r>
              <a:rPr sz="900" b="0" i="0">
                <a:solidFill>
                  <a:srgbClr val="B5482A"/>
                </a:solidFill>
                <a:latin typeface="Inconsolata"/>
              </a:rPr>
              <a:t>SUCCESS</a:t>
            </a:r>
            <a:r>
              <a:rPr sz="900" b="0" i="0">
                <a:solidFill>
                  <a:srgbClr val="434343"/>
                </a:solidFill>
                <a:latin typeface="Inter"/>
              </a:rPr>
              <a:t> atau </a:t>
            </a:r>
            <a:r>
              <a:rPr sz="900" b="0" i="0">
                <a:solidFill>
                  <a:srgbClr val="B5482A"/>
                </a:solidFill>
                <a:latin typeface="Inconsolata"/>
              </a:rPr>
              <a:t>FAILURE</a:t>
            </a:r>
            <a:r>
              <a:rPr sz="900" b="0" i="0">
                <a:solidFill>
                  <a:srgbClr val="434343"/>
                </a:solidFill>
                <a:latin typeface="Inter"/>
              </a:rPr>
              <a:t>. Status dan hasilnya disimpan di result backend, lalu dibaca lewat </a:t>
            </a:r>
            <a:r>
              <a:rPr sz="900" b="0" i="0">
                <a:solidFill>
                  <a:srgbClr val="B5482A"/>
                </a:solidFill>
                <a:latin typeface="Inconsolata"/>
              </a:rPr>
              <a:t>AsyncResult(task_id)</a:t>
            </a:r>
            <a:r>
              <a:rPr sz="900" b="0" i="0">
                <a:solidFill>
                  <a:srgbClr val="434343"/>
                </a:solidFill>
                <a:latin typeface="Inter"/>
              </a:rPr>
              <a:t>.</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Memberi tahu client apakah report sudah selesai</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Mengambil hasil task yang dikerjakan proses lain</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Menampilkan pesan error jika task gagal</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result backend: 04-task-status/before.py</a:t>
            </a:r>
          </a:p>
        </p:txBody>
      </p:sp>
      <p:sp>
        <p:nvSpPr>
          <p:cNvPr id="28" name="CodeBg 11"/>
          <p:cNvSpPr/>
          <p:nvPr/>
        </p:nvSpPr>
        <p:spPr>
          <a:xfrm>
            <a:off x="4297680" y="1719072"/>
            <a:ext cx="4187951" cy="1417320"/>
          </a:xfrm>
          <a:prstGeom prst="roundRect">
            <a:avLst>
              <a:gd name="adj" fmla="val 129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417320"/>
          </a:xfrm>
          <a:prstGeom prst="rect">
            <a:avLst/>
          </a:prstGeom>
          <a:noFill/>
        </p:spPr>
        <p:txBody>
          <a:bodyPr wrap="none" lIns="146304" tIns="91440" rIns="146304" bIns="54864">
            <a:spAutoFit/>
          </a:bodyPr>
          <a:lstStyle/>
          <a:p>
            <a:pPr>
              <a:lnSpc>
                <a:spcPct val="104167"/>
              </a:lnSpc>
              <a:spcAft>
                <a:spcPts val="0"/>
              </a:spcAft>
            </a:pPr>
            <a:r>
              <a:rPr sz="800" i="0">
                <a:solidFill>
                  <a:srgbClr val="7FDBCA"/>
                </a:solidFill>
                <a:latin typeface="Inconsolata"/>
              </a:rPr>
              <a:t>JOBS</a:t>
            </a:r>
            <a:r>
              <a:rPr sz="800" i="0">
                <a:solidFill>
                  <a:srgbClr val="E6EDF3"/>
                </a:solidFill>
                <a:latin typeface="Inconsolata"/>
              </a:rPr>
              <a:t>: </a:t>
            </a:r>
            <a:r>
              <a:rPr sz="800" i="0">
                <a:solidFill>
                  <a:srgbClr val="C3A6FF"/>
                </a:solidFill>
                <a:latin typeface="Inconsolata"/>
              </a:rPr>
              <a:t>dict</a:t>
            </a:r>
            <a:r>
              <a:rPr sz="800" i="0">
                <a:solidFill>
                  <a:srgbClr val="E6EDF3"/>
                </a:solidFill>
                <a:latin typeface="Inconsolata"/>
              </a:rPr>
              <a:t>[</a:t>
            </a:r>
            <a:r>
              <a:rPr sz="800" i="0">
                <a:solidFill>
                  <a:srgbClr val="C3A6FF"/>
                </a:solidFill>
                <a:latin typeface="Inconsolata"/>
              </a:rPr>
              <a:t>str</a:t>
            </a:r>
            <a:r>
              <a:rPr sz="800" i="0">
                <a:solidFill>
                  <a:srgbClr val="E6EDF3"/>
                </a:solidFill>
                <a:latin typeface="Inconsolata"/>
              </a:rPr>
              <a:t>, </a:t>
            </a:r>
            <a:r>
              <a:rPr sz="800" i="0">
                <a:solidFill>
                  <a:srgbClr val="C3A6FF"/>
                </a:solidFill>
                <a:latin typeface="Inconsolata"/>
              </a:rPr>
              <a:t>str</a:t>
            </a:r>
            <a:r>
              <a:rPr sz="800" i="0">
                <a:solidFill>
                  <a:srgbClr val="E6EDF3"/>
                </a:solidFill>
                <a:latin typeface="Inconsolata"/>
              </a:rPr>
              <a:t>] = {}         </a:t>
            </a:r>
            <a:r>
              <a:rPr sz="800" i="1">
                <a:solidFill>
                  <a:srgbClr val="8B98A8"/>
                </a:solidFill>
                <a:latin typeface="Inconsolata"/>
              </a:rPr>
              <a:t># memory proses API</a:t>
            </a:r>
          </a:p>
          <a:p>
            <a:pPr>
              <a:lnSpc>
                <a:spcPct val="104167"/>
              </a:lnSpc>
              <a:spcAft>
                <a:spcPts val="0"/>
              </a:spcAft>
            </a:pPr>
            <a:r>
              <a:rPr sz="800" i="0">
                <a:solidFill>
                  <a:srgbClr val="E6EDF3"/>
                </a:solidFill>
                <a:latin typeface="Inconsolata"/>
              </a:rPr>
              <a:t> </a:t>
            </a:r>
          </a:p>
          <a:p>
            <a:pPr>
              <a:lnSpc>
                <a:spcPct val="104167"/>
              </a:lnSpc>
              <a:spcAft>
                <a:spcPts val="0"/>
              </a:spcAft>
            </a:pPr>
            <a:r>
              <a:rPr sz="800" i="0">
                <a:solidFill>
                  <a:srgbClr val="E6EDF3"/>
                </a:solidFill>
                <a:latin typeface="Inconsolata"/>
              </a:rPr>
              <a:t> </a:t>
            </a:r>
          </a:p>
          <a:p>
            <a:pPr>
              <a:lnSpc>
                <a:spcPct val="104167"/>
              </a:lnSpc>
              <a:spcAft>
                <a:spcPts val="0"/>
              </a:spcAft>
            </a:pPr>
            <a:r>
              <a:rPr sz="800" i="0">
                <a:solidFill>
                  <a:srgbClr val="F9C97A"/>
                </a:solidFill>
                <a:latin typeface="Inconsolata"/>
              </a:rPr>
              <a:t>@celery_app.task</a:t>
            </a:r>
          </a:p>
          <a:p>
            <a:pPr>
              <a:lnSpc>
                <a:spcPct val="104167"/>
              </a:lnSpc>
              <a:spcAft>
                <a:spcPts val="0"/>
              </a:spcAft>
            </a:pP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generate_sales_report</a:t>
            </a:r>
            <a:r>
              <a:rPr sz="800" i="0">
                <a:solidFill>
                  <a:srgbClr val="E6EDF3"/>
                </a:solidFill>
                <a:latin typeface="Inconsolata"/>
              </a:rPr>
              <a:t>(job_id: </a:t>
            </a:r>
            <a:r>
              <a:rPr sz="800" i="0">
                <a:solidFill>
                  <a:srgbClr val="C3A6FF"/>
                </a:solidFill>
                <a:latin typeface="Inconsolata"/>
              </a:rPr>
              <a:t>str</a:t>
            </a:r>
            <a:r>
              <a:rPr sz="800" i="0">
                <a:solidFill>
                  <a:srgbClr val="E6EDF3"/>
                </a:solidFill>
                <a:latin typeface="Inconsolata"/>
              </a:rPr>
              <a:t>, month: </a:t>
            </a:r>
            <a:r>
              <a:rPr sz="800" i="0">
                <a:solidFill>
                  <a:srgbClr val="C3A6FF"/>
                </a:solidFill>
                <a:latin typeface="Inconsolata"/>
              </a:rPr>
              <a:t>str</a:t>
            </a:r>
            <a:r>
              <a:rPr sz="800" i="0">
                <a:solidFill>
                  <a:srgbClr val="E6EDF3"/>
                </a:solidFill>
                <a:latin typeface="Inconsolata"/>
              </a:rPr>
              <a:t>) -&gt; </a:t>
            </a:r>
            <a:r>
              <a:rPr sz="800" i="0">
                <a:solidFill>
                  <a:srgbClr val="C3A6FF"/>
                </a:solidFill>
                <a:latin typeface="Inconsolata"/>
              </a:rPr>
              <a:t>dict</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7FDBCA"/>
                </a:solidFill>
                <a:latin typeface="Inconsolata"/>
              </a:rPr>
              <a:t>JOBS</a:t>
            </a:r>
            <a:r>
              <a:rPr sz="800" i="0">
                <a:solidFill>
                  <a:srgbClr val="E6EDF3"/>
                </a:solidFill>
                <a:latin typeface="Inconsolata"/>
              </a:rPr>
              <a:t>[job_id] = </a:t>
            </a:r>
            <a:r>
              <a:rPr sz="800" i="0">
                <a:solidFill>
                  <a:srgbClr val="A5D6A7"/>
                </a:solidFill>
                <a:latin typeface="Inconsolata"/>
              </a:rPr>
              <a:t>"running"</a:t>
            </a:r>
            <a:r>
              <a:rPr sz="800" i="0">
                <a:solidFill>
                  <a:srgbClr val="E6EDF3"/>
                </a:solidFill>
                <a:latin typeface="Inconsolata"/>
              </a:rPr>
              <a:t>     </a:t>
            </a:r>
            <a:r>
              <a:rPr sz="800" i="1">
                <a:solidFill>
                  <a:srgbClr val="8B98A8"/>
                </a:solidFill>
                <a:latin typeface="Inconsolata"/>
              </a:rPr>
              <a:t># memory proses WORKER, bukan API</a:t>
            </a:r>
          </a:p>
          <a:p>
            <a:pPr>
              <a:lnSpc>
                <a:spcPct val="104167"/>
              </a:lnSpc>
              <a:spcAft>
                <a:spcPts val="0"/>
              </a:spcAft>
            </a:pPr>
            <a:r>
              <a:rPr sz="800" i="0">
                <a:solidFill>
                  <a:srgbClr val="E6EDF3"/>
                </a:solidFill>
                <a:latin typeface="Inconsolata"/>
              </a:rPr>
              <a:t>    time.sleep(</a:t>
            </a:r>
            <a:r>
              <a:rPr sz="800" i="0">
                <a:solidFill>
                  <a:srgbClr val="F9C97A"/>
                </a:solidFill>
                <a:latin typeface="Inconsolata"/>
              </a:rPr>
              <a:t>10</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7FDBCA"/>
                </a:solidFill>
                <a:latin typeface="Inconsolata"/>
              </a:rPr>
              <a:t>JOBS</a:t>
            </a:r>
            <a:r>
              <a:rPr sz="800" i="0">
                <a:solidFill>
                  <a:srgbClr val="E6EDF3"/>
                </a:solidFill>
                <a:latin typeface="Inconsolata"/>
              </a:rPr>
              <a:t>[job_id] = </a:t>
            </a:r>
            <a:r>
              <a:rPr sz="800" i="0">
                <a:solidFill>
                  <a:srgbClr val="A5D6A7"/>
                </a:solidFill>
                <a:latin typeface="Inconsolata"/>
              </a:rPr>
              <a:t>"done"</a:t>
            </a:r>
          </a:p>
        </p:txBody>
      </p:sp>
      <p:sp>
        <p:nvSpPr>
          <p:cNvPr id="30" name="Box 13"/>
          <p:cNvSpPr/>
          <p:nvPr/>
        </p:nvSpPr>
        <p:spPr>
          <a:xfrm>
            <a:off x="4379976" y="1827022"/>
            <a:ext cx="4023359"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4"/>
          <p:cNvSpPr/>
          <p:nvPr/>
        </p:nvSpPr>
        <p:spPr>
          <a:xfrm>
            <a:off x="4379976" y="2462022"/>
            <a:ext cx="4023359"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CodeTab 16"/>
          <p:cNvSpPr/>
          <p:nvPr/>
        </p:nvSpPr>
        <p:spPr>
          <a:xfrm>
            <a:off x="4297680" y="322783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Dot 17"/>
          <p:cNvSpPr/>
          <p:nvPr/>
        </p:nvSpPr>
        <p:spPr>
          <a:xfrm>
            <a:off x="4407408" y="330555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544568" y="330555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ot 19"/>
          <p:cNvSpPr/>
          <p:nvPr/>
        </p:nvSpPr>
        <p:spPr>
          <a:xfrm>
            <a:off x="4681728" y="330555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 20"/>
          <p:cNvSpPr txBox="1"/>
          <p:nvPr/>
        </p:nvSpPr>
        <p:spPr>
          <a:xfrm>
            <a:off x="4846320" y="323697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result backend: 04-task-status/after.py</a:t>
            </a:r>
          </a:p>
        </p:txBody>
      </p:sp>
      <p:sp>
        <p:nvSpPr>
          <p:cNvPr id="37" name="CodeBg 22"/>
          <p:cNvSpPr/>
          <p:nvPr/>
        </p:nvSpPr>
        <p:spPr>
          <a:xfrm>
            <a:off x="4297680" y="3465576"/>
            <a:ext cx="4187951" cy="1234440"/>
          </a:xfrm>
          <a:prstGeom prst="roundRect">
            <a:avLst>
              <a:gd name="adj" fmla="val 148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Code 23"/>
          <p:cNvSpPr txBox="1"/>
          <p:nvPr/>
        </p:nvSpPr>
        <p:spPr>
          <a:xfrm>
            <a:off x="4297680" y="3465576"/>
            <a:ext cx="4187951" cy="1234440"/>
          </a:xfrm>
          <a:prstGeom prst="rect">
            <a:avLst/>
          </a:prstGeom>
          <a:noFill/>
        </p:spPr>
        <p:txBody>
          <a:bodyPr wrap="none" lIns="146304" tIns="91440" rIns="146304" bIns="54864">
            <a:spAutoFit/>
          </a:bodyPr>
          <a:lstStyle/>
          <a:p>
            <a:pPr>
              <a:lnSpc>
                <a:spcPct val="104167"/>
              </a:lnSpc>
              <a:spcAft>
                <a:spcPts val="0"/>
              </a:spcAft>
            </a:pPr>
            <a:r>
              <a:rPr sz="800" i="0">
                <a:solidFill>
                  <a:srgbClr val="F9C97A"/>
                </a:solidFill>
                <a:latin typeface="Inconsolata"/>
              </a:rPr>
              <a:t>@app.get</a:t>
            </a:r>
            <a:r>
              <a:rPr sz="800" i="0">
                <a:solidFill>
                  <a:srgbClr val="E6EDF3"/>
                </a:solidFill>
                <a:latin typeface="Inconsolata"/>
              </a:rPr>
              <a:t>(</a:t>
            </a:r>
            <a:r>
              <a:rPr sz="800" i="0">
                <a:solidFill>
                  <a:srgbClr val="A5D6A7"/>
                </a:solidFill>
                <a:latin typeface="Inconsolata"/>
              </a:rPr>
              <a:t>"/reports/{task_id}"</a:t>
            </a:r>
            <a:r>
              <a:rPr sz="800" i="0">
                <a:solidFill>
                  <a:srgbClr val="E6EDF3"/>
                </a:solidFill>
                <a:latin typeface="Inconsolata"/>
              </a:rPr>
              <a:t>)</a:t>
            </a:r>
          </a:p>
          <a:p>
            <a:pPr>
              <a:lnSpc>
                <a:spcPct val="104167"/>
              </a:lnSpc>
              <a:spcAft>
                <a:spcPts val="0"/>
              </a:spcAft>
            </a:pP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get_report</a:t>
            </a:r>
            <a:r>
              <a:rPr sz="800" i="0">
                <a:solidFill>
                  <a:srgbClr val="E6EDF3"/>
                </a:solidFill>
                <a:latin typeface="Inconsolata"/>
              </a:rPr>
              <a:t>(task_id: </a:t>
            </a:r>
            <a:r>
              <a:rPr sz="800" i="0">
                <a:solidFill>
                  <a:srgbClr val="C3A6FF"/>
                </a:solidFill>
                <a:latin typeface="Inconsolata"/>
              </a:rPr>
              <a:t>str</a:t>
            </a:r>
            <a:r>
              <a:rPr sz="800" i="0">
                <a:solidFill>
                  <a:srgbClr val="E6EDF3"/>
                </a:solidFill>
                <a:latin typeface="Inconsolata"/>
              </a:rPr>
              <a:t>):</a:t>
            </a:r>
          </a:p>
          <a:p>
            <a:pPr>
              <a:lnSpc>
                <a:spcPct val="104167"/>
              </a:lnSpc>
              <a:spcAft>
                <a:spcPts val="0"/>
              </a:spcAft>
            </a:pPr>
            <a:r>
              <a:rPr sz="800" i="0">
                <a:solidFill>
                  <a:srgbClr val="E6EDF3"/>
                </a:solidFill>
                <a:latin typeface="Inconsolata"/>
              </a:rPr>
              <a:t>    result = </a:t>
            </a:r>
            <a:r>
              <a:rPr sz="800" i="0">
                <a:solidFill>
                  <a:srgbClr val="7FDBCA"/>
                </a:solidFill>
                <a:latin typeface="Inconsolata"/>
              </a:rPr>
              <a:t>AsyncResult</a:t>
            </a:r>
            <a:r>
              <a:rPr sz="800" i="0">
                <a:solidFill>
                  <a:srgbClr val="E6EDF3"/>
                </a:solidFill>
                <a:latin typeface="Inconsolata"/>
              </a:rPr>
              <a:t>(task_id, app=celery_app)</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p>
          <a:p>
            <a:pPr>
              <a:lnSpc>
                <a:spcPct val="104167"/>
              </a:lnSpc>
              <a:spcAft>
                <a:spcPts val="0"/>
              </a:spcAft>
            </a:pPr>
            <a:r>
              <a:rPr sz="800" i="0">
                <a:solidFill>
                  <a:srgbClr val="E6EDF3"/>
                </a:solidFill>
                <a:latin typeface="Inconsolata"/>
              </a:rPr>
              <a:t>        </a:t>
            </a:r>
            <a:r>
              <a:rPr sz="800" i="0">
                <a:solidFill>
                  <a:srgbClr val="A5D6A7"/>
                </a:solidFill>
                <a:latin typeface="Inconsolata"/>
              </a:rPr>
              <a:t>"task_id"</a:t>
            </a:r>
            <a:r>
              <a:rPr sz="800" i="0">
                <a:solidFill>
                  <a:srgbClr val="E6EDF3"/>
                </a:solidFill>
                <a:latin typeface="Inconsolata"/>
              </a:rPr>
              <a:t>: task_id,</a:t>
            </a:r>
          </a:p>
          <a:p>
            <a:pPr>
              <a:lnSpc>
                <a:spcPct val="104167"/>
              </a:lnSpc>
              <a:spcAft>
                <a:spcPts val="0"/>
              </a:spcAft>
            </a:pPr>
            <a:r>
              <a:rPr sz="800" i="0">
                <a:solidFill>
                  <a:srgbClr val="E6EDF3"/>
                </a:solidFill>
                <a:latin typeface="Inconsolata"/>
              </a:rPr>
              <a:t>        </a:t>
            </a:r>
            <a:r>
              <a:rPr sz="800" i="0">
                <a:solidFill>
                  <a:srgbClr val="A5D6A7"/>
                </a:solidFill>
                <a:latin typeface="Inconsolata"/>
              </a:rPr>
              <a:t>"status"</a:t>
            </a:r>
            <a:r>
              <a:rPr sz="800" i="0">
                <a:solidFill>
                  <a:srgbClr val="E6EDF3"/>
                </a:solidFill>
                <a:latin typeface="Inconsolata"/>
              </a:rPr>
              <a:t>: </a:t>
            </a:r>
            <a:r>
              <a:rPr sz="800" i="0">
                <a:solidFill>
                  <a:srgbClr val="7FDBCA"/>
                </a:solidFill>
                <a:latin typeface="Inconsolata"/>
              </a:rPr>
              <a:t>STATUS</a:t>
            </a:r>
            <a:r>
              <a:rPr sz="800" i="0">
                <a:solidFill>
                  <a:srgbClr val="E6EDF3"/>
                </a:solidFill>
                <a:latin typeface="Inconsolata"/>
              </a:rPr>
              <a:t>.get(result.state, result.state.lower()),</a:t>
            </a:r>
          </a:p>
          <a:p>
            <a:pPr>
              <a:lnSpc>
                <a:spcPct val="104167"/>
              </a:lnSpc>
              <a:spcAft>
                <a:spcPts val="0"/>
              </a:spcAft>
            </a:pPr>
            <a:r>
              <a:rPr sz="800" i="0">
                <a:solidFill>
                  <a:srgbClr val="E6EDF3"/>
                </a:solidFill>
                <a:latin typeface="Inconsolata"/>
              </a:rPr>
              <a:t>        </a:t>
            </a:r>
            <a:r>
              <a:rPr sz="800" i="0">
                <a:solidFill>
                  <a:srgbClr val="A5D6A7"/>
                </a:solidFill>
                <a:latin typeface="Inconsolata"/>
              </a:rPr>
              <a:t>"result"</a:t>
            </a:r>
            <a:r>
              <a:rPr sz="800" i="0">
                <a:solidFill>
                  <a:srgbClr val="E6EDF3"/>
                </a:solidFill>
                <a:latin typeface="Inconsolata"/>
              </a:rPr>
              <a:t>: result.result </a:t>
            </a:r>
            <a:r>
              <a:rPr sz="800" i="0">
                <a:solidFill>
                  <a:srgbClr val="FF8E6E"/>
                </a:solidFill>
                <a:latin typeface="Inconsolata"/>
              </a:rPr>
              <a:t>if</a:t>
            </a:r>
            <a:r>
              <a:rPr sz="800" i="0">
                <a:solidFill>
                  <a:srgbClr val="E6EDF3"/>
                </a:solidFill>
                <a:latin typeface="Inconsolata"/>
              </a:rPr>
              <a:t> result.successful() </a:t>
            </a:r>
            <a:r>
              <a:rPr sz="800" i="0">
                <a:solidFill>
                  <a:srgbClr val="FF8E6E"/>
                </a:solidFill>
                <a:latin typeface="Inconsolata"/>
              </a:rPr>
              <a:t>else</a:t>
            </a:r>
            <a:r>
              <a:rPr sz="800" i="0">
                <a:solidFill>
                  <a:srgbClr val="E6EDF3"/>
                </a:solidFill>
                <a:latin typeface="Inconsolata"/>
              </a:rPr>
              <a:t> </a:t>
            </a:r>
            <a:r>
              <a:rPr sz="800" i="0">
                <a:solidFill>
                  <a:srgbClr val="FF8E6E"/>
                </a:solidFill>
                <a:latin typeface="Inconsolata"/>
              </a:rPr>
              <a:t>None</a:t>
            </a:r>
            <a:r>
              <a:rPr sz="800" i="0">
                <a:solidFill>
                  <a:srgbClr val="E6EDF3"/>
                </a:solidFill>
                <a:latin typeface="Inconsolata"/>
              </a:rPr>
              <a:t>,</a:t>
            </a:r>
          </a:p>
        </p:txBody>
      </p:sp>
      <p:sp>
        <p:nvSpPr>
          <p:cNvPr id="39" name="Box 24"/>
          <p:cNvSpPr/>
          <p:nvPr/>
        </p:nvSpPr>
        <p:spPr>
          <a:xfrm>
            <a:off x="4379976" y="3827525"/>
            <a:ext cx="4023359"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Task Status?</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result backend</a:t>
            </a:r>
          </a:p>
          <a:p>
            <a:pPr algn="l">
              <a:lnSpc>
                <a:spcPct val="115000"/>
              </a:lnSpc>
              <a:spcAft>
                <a:spcPts val="400"/>
              </a:spcAft>
            </a:pPr>
            <a:r>
              <a:rPr sz="950" b="0" i="0">
                <a:solidFill>
                  <a:srgbClr val="434343"/>
                </a:solidFill>
                <a:latin typeface="Inter"/>
              </a:rPr>
              <a:t>Status job disimpan di dict </a:t>
            </a:r>
            <a:r>
              <a:rPr sz="950" b="0" i="0">
                <a:solidFill>
                  <a:srgbClr val="B5482A"/>
                </a:solidFill>
                <a:latin typeface="Inconsolata"/>
              </a:rPr>
              <a:t>JOBS</a:t>
            </a:r>
            <a:r>
              <a:rPr sz="950" b="0" i="0">
                <a:solidFill>
                  <a:srgbClr val="434343"/>
                </a:solidFill>
                <a:latin typeface="Inter"/>
              </a:rPr>
              <a:t> di memory API. Worker mengubah </a:t>
            </a:r>
            <a:r>
              <a:rPr sz="950" b="0" i="0">
                <a:solidFill>
                  <a:srgbClr val="B5482A"/>
                </a:solidFill>
                <a:latin typeface="Inconsolata"/>
              </a:rPr>
              <a:t>JOBS</a:t>
            </a:r>
            <a:r>
              <a:rPr sz="950" b="0" i="0">
                <a:solidFill>
                  <a:srgbClr val="434343"/>
                </a:solidFill>
                <a:latin typeface="Inter"/>
              </a:rPr>
              <a:t> miliknya sendiri, karena API dan worker adalah dua proses yang berbeda.</a:t>
            </a:r>
          </a:p>
          <a:p>
            <a:pPr algn="l">
              <a:lnSpc>
                <a:spcPct val="115000"/>
              </a:lnSpc>
              <a:spcAft>
                <a:spcPts val="400"/>
              </a:spcAft>
            </a:pPr>
            <a:r>
              <a:rPr sz="1050" b="1" i="0">
                <a:solidFill>
                  <a:srgbClr val="1C4587"/>
                </a:solidFill>
                <a:latin typeface="Inter"/>
              </a:rPr>
              <a:t>Jika jobnya makin banyak</a:t>
            </a:r>
          </a:p>
          <a:p>
            <a:pPr algn="l">
              <a:lnSpc>
                <a:spcPct val="115000"/>
              </a:lnSpc>
              <a:spcAft>
                <a:spcPts val="400"/>
              </a:spcAft>
            </a:pPr>
            <a:r>
              <a:rPr sz="950" b="0" i="0">
                <a:solidFill>
                  <a:srgbClr val="434343"/>
                </a:solidFill>
                <a:latin typeface="Inter"/>
              </a:rPr>
              <a:t>Status di API selamanya </a:t>
            </a:r>
            <a:r>
              <a:rPr sz="950" b="0" i="0">
                <a:solidFill>
                  <a:srgbClr val="B5482A"/>
                </a:solidFill>
                <a:latin typeface="Inconsolata"/>
              </a:rPr>
              <a:t>pending</a:t>
            </a:r>
            <a:r>
              <a:rPr sz="950" b="0" i="0">
                <a:solidFill>
                  <a:srgbClr val="434343"/>
                </a:solidFill>
                <a:latin typeface="Inter"/>
              </a:rPr>
              <a:t>, dan hasil report tidak pernah bisa diambil client.</a:t>
            </a:r>
          </a:p>
          <a:p>
            <a:pPr algn="l">
              <a:lnSpc>
                <a:spcPct val="115000"/>
              </a:lnSpc>
              <a:spcAft>
                <a:spcPts val="400"/>
              </a:spcAft>
            </a:pPr>
            <a:r>
              <a:rPr sz="950" b="0" i="0">
                <a:solidFill>
                  <a:srgbClr val="434343"/>
                </a:solidFill>
                <a:latin typeface="Inter"/>
              </a:rPr>
              <a:t>Hal ini membuat client terus menunggu sesuatu yang sebenarnya sudah selesai.</a:t>
            </a:r>
          </a:p>
          <a:p>
            <a:pPr algn="l">
              <a:lnSpc>
                <a:spcPct val="115000"/>
              </a:lnSpc>
              <a:spcAft>
                <a:spcPts val="400"/>
              </a:spcAft>
            </a:pPr>
            <a:r>
              <a:rPr sz="1050" b="1" i="0">
                <a:solidFill>
                  <a:srgbClr val="1C4587"/>
                </a:solidFill>
                <a:latin typeface="Inter"/>
              </a:rPr>
              <a:t>Yang dipakai dari Celery: AsyncResult</a:t>
            </a:r>
          </a:p>
          <a:p>
            <a:pPr algn="l">
              <a:lnSpc>
                <a:spcPct val="115000"/>
              </a:lnSpc>
              <a:spcAft>
                <a:spcPts val="400"/>
              </a:spcAft>
            </a:pPr>
            <a:r>
              <a:rPr sz="950" b="0" i="0">
                <a:solidFill>
                  <a:srgbClr val="B5482A"/>
                </a:solidFill>
                <a:latin typeface="Inconsolata"/>
              </a:rPr>
              <a:t>AsyncResult(task_id)</a:t>
            </a:r>
            <a:r>
              <a:rPr sz="950" b="0" i="0">
                <a:solidFill>
                  <a:srgbClr val="434343"/>
                </a:solidFill>
                <a:latin typeface="Inter"/>
              </a:rPr>
              <a:t> membaca status dan hasil task dari result backend. </a:t>
            </a:r>
            <a:r>
              <a:rPr sz="950" b="0" i="0">
                <a:solidFill>
                  <a:srgbClr val="B5482A"/>
                </a:solidFill>
                <a:latin typeface="Inconsolata"/>
              </a:rPr>
              <a:t>task_track_started=True</a:t>
            </a:r>
            <a:r>
              <a:rPr sz="950" b="0" i="0">
                <a:solidFill>
                  <a:srgbClr val="434343"/>
                </a:solidFill>
                <a:latin typeface="Inter"/>
              </a:rPr>
              <a:t> membuat status </a:t>
            </a:r>
            <a:r>
              <a:rPr sz="950" b="0" i="0">
                <a:solidFill>
                  <a:srgbClr val="B5482A"/>
                </a:solidFill>
                <a:latin typeface="Inconsolata"/>
              </a:rPr>
              <a:t>STARTED</a:t>
            </a:r>
            <a:r>
              <a:rPr sz="950" b="0" i="0">
                <a:solidFill>
                  <a:srgbClr val="434343"/>
                </a:solidFill>
                <a:latin typeface="Inter"/>
              </a:rPr>
              <a:t> ikut dicatat.</a:t>
            </a:r>
          </a:p>
        </p:txBody>
      </p:sp>
      <p:graphicFrame>
        <p:nvGraphicFramePr>
          <p:cNvPr id="23" name="Table 4"/>
          <p:cNvGraphicFramePr>
            <a:graphicFrameLocks noGrp="1"/>
          </p:cNvGraphicFramePr>
          <p:nvPr/>
        </p:nvGraphicFramePr>
        <p:xfrm>
          <a:off x="4800600" y="1481328"/>
          <a:ext cx="3685032" cy="2304288"/>
        </p:xfrm>
        <a:graphic>
          <a:graphicData uri="http://schemas.openxmlformats.org/drawingml/2006/table">
            <a:tbl>
              <a:tblPr firstRow="1" bandRow="1"/>
              <a:tblGrid>
                <a:gridCol w="1280160">
                  <a:extLst>
                    <a:ext uri="{9D8B030D-6E8A-4147-A177-3AD203B41FA5}">
                      <a16:colId xmlns:a16="http://schemas.microsoft.com/office/drawing/2014/main" val="20000"/>
                    </a:ext>
                  </a:extLst>
                </a:gridCol>
                <a:gridCol w="2404872">
                  <a:extLst>
                    <a:ext uri="{9D8B030D-6E8A-4147-A177-3AD203B41FA5}">
                      <a16:colId xmlns:a16="http://schemas.microsoft.com/office/drawing/2014/main" val="20001"/>
                    </a:ext>
                  </a:extLst>
                </a:gridCol>
              </a:tblGrid>
              <a:tr h="384048">
                <a:tc>
                  <a:txBody>
                    <a:bodyPr/>
                    <a:lstStyle/>
                    <a:p>
                      <a:pPr algn="l">
                        <a:lnSpc>
                          <a:spcPct val="100000"/>
                        </a:lnSpc>
                        <a:spcAft>
                          <a:spcPts val="0"/>
                        </a:spcAft>
                      </a:pPr>
                      <a:r>
                        <a:rPr sz="850" b="1" i="0">
                          <a:solidFill>
                            <a:srgbClr val="FFFFFF"/>
                          </a:solidFill>
                          <a:latin typeface="Inter"/>
                        </a:rPr>
                        <a:t>Status Celery</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384048">
                <a:tc>
                  <a:txBody>
                    <a:bodyPr/>
                    <a:lstStyle/>
                    <a:p>
                      <a:pPr algn="l">
                        <a:lnSpc>
                          <a:spcPct val="100000"/>
                        </a:lnSpc>
                        <a:spcAft>
                          <a:spcPts val="0"/>
                        </a:spcAft>
                      </a:pPr>
                      <a:r>
                        <a:rPr sz="850" b="1" i="0">
                          <a:solidFill>
                            <a:srgbClr val="1C4587"/>
                          </a:solidFill>
                          <a:latin typeface="Inter"/>
                        </a:rPr>
                        <a:t>PENDING</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Menunggu di queue, atau task id tidak dikenal</a:t>
                      </a:r>
                    </a:p>
                  </a:txBody>
                  <a:tcPr marL="73152" marR="73152" marT="36576" marB="36576" anchor="ctr">
                    <a:solidFill>
                      <a:srgbClr val="FFFFFF"/>
                    </a:solidFill>
                  </a:tcPr>
                </a:tc>
                <a:extLst>
                  <a:ext uri="{0D108BD9-81ED-4DB2-BD59-A6C34878D82A}">
                    <a16:rowId xmlns:a16="http://schemas.microsoft.com/office/drawing/2014/main" val="10001"/>
                  </a:ext>
                </a:extLst>
              </a:tr>
              <a:tr h="384048">
                <a:tc>
                  <a:txBody>
                    <a:bodyPr/>
                    <a:lstStyle/>
                    <a:p>
                      <a:pPr algn="l">
                        <a:lnSpc>
                          <a:spcPct val="100000"/>
                        </a:lnSpc>
                        <a:spcAft>
                          <a:spcPts val="0"/>
                        </a:spcAft>
                      </a:pPr>
                      <a:r>
                        <a:rPr sz="850" b="1" i="0">
                          <a:solidFill>
                            <a:srgbClr val="1C4587"/>
                          </a:solidFill>
                          <a:latin typeface="Inter"/>
                        </a:rPr>
                        <a:t>STARTED</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Sedang dikerjakan worker</a:t>
                      </a:r>
                    </a:p>
                  </a:txBody>
                  <a:tcPr marL="73152" marR="73152" marT="36576" marB="36576" anchor="ctr">
                    <a:solidFill>
                      <a:srgbClr val="F3F4F6"/>
                    </a:solidFill>
                  </a:tcPr>
                </a:tc>
                <a:extLst>
                  <a:ext uri="{0D108BD9-81ED-4DB2-BD59-A6C34878D82A}">
                    <a16:rowId xmlns:a16="http://schemas.microsoft.com/office/drawing/2014/main" val="10002"/>
                  </a:ext>
                </a:extLst>
              </a:tr>
              <a:tr h="384048">
                <a:tc>
                  <a:txBody>
                    <a:bodyPr/>
                    <a:lstStyle/>
                    <a:p>
                      <a:pPr algn="l">
                        <a:lnSpc>
                          <a:spcPct val="100000"/>
                        </a:lnSpc>
                        <a:spcAft>
                          <a:spcPts val="0"/>
                        </a:spcAft>
                      </a:pPr>
                      <a:r>
                        <a:rPr sz="850" b="1" i="0">
                          <a:solidFill>
                            <a:srgbClr val="1C4587"/>
                          </a:solidFill>
                          <a:latin typeface="Inter"/>
                        </a:rPr>
                        <a:t>RETRY</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Gagal, menunggu dicoba lagi</a:t>
                      </a:r>
                    </a:p>
                  </a:txBody>
                  <a:tcPr marL="73152" marR="73152" marT="36576" marB="36576" anchor="ctr">
                    <a:solidFill>
                      <a:srgbClr val="FFFFFF"/>
                    </a:solidFill>
                  </a:tcPr>
                </a:tc>
                <a:extLst>
                  <a:ext uri="{0D108BD9-81ED-4DB2-BD59-A6C34878D82A}">
                    <a16:rowId xmlns:a16="http://schemas.microsoft.com/office/drawing/2014/main" val="10003"/>
                  </a:ext>
                </a:extLst>
              </a:tr>
              <a:tr h="384048">
                <a:tc>
                  <a:txBody>
                    <a:bodyPr/>
                    <a:lstStyle/>
                    <a:p>
                      <a:pPr algn="l">
                        <a:lnSpc>
                          <a:spcPct val="100000"/>
                        </a:lnSpc>
                        <a:spcAft>
                          <a:spcPts val="0"/>
                        </a:spcAft>
                      </a:pPr>
                      <a:r>
                        <a:rPr sz="850" b="1" i="0">
                          <a:solidFill>
                            <a:srgbClr val="1C4587"/>
                          </a:solidFill>
                          <a:latin typeface="Inter"/>
                        </a:rPr>
                        <a:t>SUCCESS</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Selesai, hasilnya ada di result</a:t>
                      </a:r>
                    </a:p>
                  </a:txBody>
                  <a:tcPr marL="73152" marR="73152" marT="36576" marB="36576" anchor="ctr">
                    <a:solidFill>
                      <a:srgbClr val="F3F4F6"/>
                    </a:solidFill>
                  </a:tcPr>
                </a:tc>
                <a:extLst>
                  <a:ext uri="{0D108BD9-81ED-4DB2-BD59-A6C34878D82A}">
                    <a16:rowId xmlns:a16="http://schemas.microsoft.com/office/drawing/2014/main" val="10004"/>
                  </a:ext>
                </a:extLst>
              </a:tr>
              <a:tr h="384048">
                <a:tc>
                  <a:txBody>
                    <a:bodyPr/>
                    <a:lstStyle/>
                    <a:p>
                      <a:pPr algn="l">
                        <a:lnSpc>
                          <a:spcPct val="100000"/>
                        </a:lnSpc>
                        <a:spcAft>
                          <a:spcPts val="0"/>
                        </a:spcAft>
                      </a:pPr>
                      <a:r>
                        <a:rPr sz="850" b="1" i="0">
                          <a:solidFill>
                            <a:srgbClr val="1C4587"/>
                          </a:solidFill>
                          <a:latin typeface="Inter"/>
                        </a:rPr>
                        <a:t>FAILURE</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Gagal, errornya ada di result</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status disimpan di memory API</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04-task-status/before.py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1459"/>
              </a:lnSpc>
              <a:spcAft>
                <a:spcPts val="0"/>
              </a:spcAft>
            </a:pPr>
            <a:r>
              <a:rPr sz="739" i="0">
                <a:solidFill>
                  <a:srgbClr val="5C6773"/>
                </a:solidFill>
                <a:latin typeface="Inconsolata"/>
              </a:rPr>
              <a:t>12  </a:t>
            </a:r>
            <a:r>
              <a:rPr sz="739" i="0">
                <a:solidFill>
                  <a:srgbClr val="FF8E6E"/>
                </a:solidFill>
                <a:latin typeface="Inconsolata"/>
              </a:rPr>
              <a:t>import</a:t>
            </a:r>
            <a:r>
              <a:rPr sz="739" i="0">
                <a:solidFill>
                  <a:srgbClr val="E6EDF3"/>
                </a:solidFill>
                <a:latin typeface="Inconsolata"/>
              </a:rPr>
              <a:t> time</a:t>
            </a:r>
          </a:p>
          <a:p>
            <a:pPr>
              <a:lnSpc>
                <a:spcPct val="101459"/>
              </a:lnSpc>
              <a:spcAft>
                <a:spcPts val="0"/>
              </a:spcAft>
            </a:pPr>
            <a:r>
              <a:rPr sz="739" i="0">
                <a:solidFill>
                  <a:srgbClr val="5C6773"/>
                </a:solidFill>
                <a:latin typeface="Inconsolata"/>
              </a:rPr>
              <a:t>13  </a:t>
            </a:r>
            <a:r>
              <a:rPr sz="739" i="0">
                <a:solidFill>
                  <a:srgbClr val="FF8E6E"/>
                </a:solidFill>
                <a:latin typeface="Inconsolata"/>
              </a:rPr>
              <a:t>from</a:t>
            </a:r>
            <a:r>
              <a:rPr sz="739" i="0">
                <a:solidFill>
                  <a:srgbClr val="E6EDF3"/>
                </a:solidFill>
                <a:latin typeface="Inconsolata"/>
              </a:rPr>
              <a:t> uuid </a:t>
            </a:r>
            <a:r>
              <a:rPr sz="739" i="0">
                <a:solidFill>
                  <a:srgbClr val="FF8E6E"/>
                </a:solidFill>
                <a:latin typeface="Inconsolata"/>
              </a:rPr>
              <a:t>import</a:t>
            </a:r>
            <a:r>
              <a:rPr sz="739" i="0">
                <a:solidFill>
                  <a:srgbClr val="E6EDF3"/>
                </a:solidFill>
                <a:latin typeface="Inconsolata"/>
              </a:rPr>
              <a:t> uuid4</a:t>
            </a:r>
          </a:p>
          <a:p>
            <a:pPr>
              <a:lnSpc>
                <a:spcPct val="101459"/>
              </a:lnSpc>
              <a:spcAft>
                <a:spcPts val="0"/>
              </a:spcAft>
            </a:pPr>
            <a:r>
              <a:rPr sz="739" i="0">
                <a:solidFill>
                  <a:srgbClr val="5C6773"/>
                </a:solidFill>
                <a:latin typeface="Inconsolata"/>
              </a:rPr>
              <a:t>14  </a:t>
            </a:r>
            <a:r>
              <a:rPr sz="739" i="0">
                <a:solidFill>
                  <a:srgbClr val="E6EDF3"/>
                </a:solidFill>
                <a:latin typeface="Inconsolata"/>
              </a:rPr>
              <a:t> </a:t>
            </a:r>
          </a:p>
          <a:p>
            <a:pPr>
              <a:lnSpc>
                <a:spcPct val="101459"/>
              </a:lnSpc>
              <a:spcAft>
                <a:spcPts val="0"/>
              </a:spcAft>
            </a:pPr>
            <a:r>
              <a:rPr sz="739" i="0">
                <a:solidFill>
                  <a:srgbClr val="5C6773"/>
                </a:solidFill>
                <a:latin typeface="Inconsolata"/>
              </a:rPr>
              <a:t>15  </a:t>
            </a:r>
            <a:r>
              <a:rPr sz="739" i="0">
                <a:solidFill>
                  <a:srgbClr val="FF8E6E"/>
                </a:solidFill>
                <a:latin typeface="Inconsolata"/>
              </a:rPr>
              <a:t>from</a:t>
            </a:r>
            <a:r>
              <a:rPr sz="739" i="0">
                <a:solidFill>
                  <a:srgbClr val="E6EDF3"/>
                </a:solidFill>
                <a:latin typeface="Inconsolata"/>
              </a:rPr>
              <a:t> celery </a:t>
            </a:r>
            <a:r>
              <a:rPr sz="739" i="0">
                <a:solidFill>
                  <a:srgbClr val="FF8E6E"/>
                </a:solidFill>
                <a:latin typeface="Inconsolata"/>
              </a:rPr>
              <a:t>import</a:t>
            </a:r>
            <a:r>
              <a:rPr sz="739" i="0">
                <a:solidFill>
                  <a:srgbClr val="E6EDF3"/>
                </a:solidFill>
                <a:latin typeface="Inconsolata"/>
              </a:rPr>
              <a:t> </a:t>
            </a:r>
            <a:r>
              <a:rPr sz="739" i="0">
                <a:solidFill>
                  <a:srgbClr val="7FDBCA"/>
                </a:solidFill>
                <a:latin typeface="Inconsolata"/>
              </a:rPr>
              <a:t>Celery</a:t>
            </a:r>
          </a:p>
          <a:p>
            <a:pPr>
              <a:lnSpc>
                <a:spcPct val="101459"/>
              </a:lnSpc>
              <a:spcAft>
                <a:spcPts val="0"/>
              </a:spcAft>
            </a:pPr>
            <a:r>
              <a:rPr sz="739" i="0">
                <a:solidFill>
                  <a:srgbClr val="5C6773"/>
                </a:solidFill>
                <a:latin typeface="Inconsolata"/>
              </a:rPr>
              <a:t>16  </a:t>
            </a:r>
            <a:r>
              <a:rPr sz="739" i="0">
                <a:solidFill>
                  <a:srgbClr val="FF8E6E"/>
                </a:solidFill>
                <a:latin typeface="Inconsolata"/>
              </a:rPr>
              <a:t>from</a:t>
            </a:r>
            <a:r>
              <a:rPr sz="739" i="0">
                <a:solidFill>
                  <a:srgbClr val="E6EDF3"/>
                </a:solidFill>
                <a:latin typeface="Inconsolata"/>
              </a:rPr>
              <a:t> fastapi </a:t>
            </a:r>
            <a:r>
              <a:rPr sz="739" i="0">
                <a:solidFill>
                  <a:srgbClr val="FF8E6E"/>
                </a:solidFill>
                <a:latin typeface="Inconsolata"/>
              </a:rPr>
              <a:t>import</a:t>
            </a:r>
            <a:r>
              <a:rPr sz="739" i="0">
                <a:solidFill>
                  <a:srgbClr val="E6EDF3"/>
                </a:solidFill>
                <a:latin typeface="Inconsolata"/>
              </a:rPr>
              <a:t> </a:t>
            </a:r>
            <a:r>
              <a:rPr sz="739" i="0">
                <a:solidFill>
                  <a:srgbClr val="7FDBCA"/>
                </a:solidFill>
                <a:latin typeface="Inconsolata"/>
              </a:rPr>
              <a:t>FastAPI</a:t>
            </a:r>
          </a:p>
          <a:p>
            <a:pPr>
              <a:lnSpc>
                <a:spcPct val="101459"/>
              </a:lnSpc>
              <a:spcAft>
                <a:spcPts val="0"/>
              </a:spcAft>
            </a:pPr>
            <a:r>
              <a:rPr sz="739" i="0">
                <a:solidFill>
                  <a:srgbClr val="5C6773"/>
                </a:solidFill>
                <a:latin typeface="Inconsolata"/>
              </a:rPr>
              <a:t>17  </a:t>
            </a:r>
            <a:r>
              <a:rPr sz="739" i="0">
                <a:solidFill>
                  <a:srgbClr val="E6EDF3"/>
                </a:solidFill>
                <a:latin typeface="Inconsolata"/>
              </a:rPr>
              <a:t> </a:t>
            </a:r>
          </a:p>
          <a:p>
            <a:pPr>
              <a:lnSpc>
                <a:spcPct val="101459"/>
              </a:lnSpc>
              <a:spcAft>
                <a:spcPts val="0"/>
              </a:spcAft>
            </a:pPr>
            <a:r>
              <a:rPr sz="739" i="0">
                <a:solidFill>
                  <a:srgbClr val="5C6773"/>
                </a:solidFill>
                <a:latin typeface="Inconsolata"/>
              </a:rPr>
              <a:t>18  </a:t>
            </a:r>
            <a:r>
              <a:rPr sz="739" i="0">
                <a:solidFill>
                  <a:srgbClr val="E6EDF3"/>
                </a:solidFill>
                <a:latin typeface="Inconsolata"/>
              </a:rPr>
              <a:t>celery_app = </a:t>
            </a:r>
            <a:r>
              <a:rPr sz="739" i="0">
                <a:solidFill>
                  <a:srgbClr val="7FDBCA"/>
                </a:solidFill>
                <a:latin typeface="Inconsolata"/>
              </a:rPr>
              <a:t>Celery</a:t>
            </a:r>
            <a:r>
              <a:rPr sz="739" i="0">
                <a:solidFill>
                  <a:srgbClr val="E6EDF3"/>
                </a:solidFill>
                <a:latin typeface="Inconsolata"/>
              </a:rPr>
              <a:t>(</a:t>
            </a:r>
            <a:r>
              <a:rPr sz="739" i="0">
                <a:solidFill>
                  <a:srgbClr val="A5D6A7"/>
                </a:solidFill>
                <a:latin typeface="Inconsolata"/>
              </a:rPr>
              <a:t>"demo"</a:t>
            </a:r>
            <a:r>
              <a:rPr sz="739" i="0">
                <a:solidFill>
                  <a:srgbClr val="E6EDF3"/>
                </a:solidFill>
                <a:latin typeface="Inconsolata"/>
              </a:rPr>
              <a:t>, broker=</a:t>
            </a:r>
            <a:r>
              <a:rPr sz="739" i="0">
                <a:solidFill>
                  <a:srgbClr val="A5D6A7"/>
                </a:solidFill>
                <a:latin typeface="Inconsolata"/>
              </a:rPr>
              <a:t>"redis://localhost:6379/0"</a:t>
            </a:r>
            <a:r>
              <a:rPr sz="739" i="0">
                <a:solidFill>
                  <a:srgbClr val="E6EDF3"/>
                </a:solidFill>
                <a:latin typeface="Inconsolata"/>
              </a:rPr>
              <a:t>)</a:t>
            </a:r>
          </a:p>
          <a:p>
            <a:pPr>
              <a:lnSpc>
                <a:spcPct val="101459"/>
              </a:lnSpc>
              <a:spcAft>
                <a:spcPts val="0"/>
              </a:spcAft>
            </a:pPr>
            <a:r>
              <a:rPr sz="739" i="0">
                <a:solidFill>
                  <a:srgbClr val="5C6773"/>
                </a:solidFill>
                <a:latin typeface="Inconsolata"/>
              </a:rPr>
              <a:t>19  </a:t>
            </a:r>
            <a:r>
              <a:rPr sz="739" i="0">
                <a:solidFill>
                  <a:srgbClr val="E6EDF3"/>
                </a:solidFill>
                <a:latin typeface="Inconsolata"/>
              </a:rPr>
              <a:t>app = </a:t>
            </a:r>
            <a:r>
              <a:rPr sz="739" i="0">
                <a:solidFill>
                  <a:srgbClr val="7FDBCA"/>
                </a:solidFill>
                <a:latin typeface="Inconsolata"/>
              </a:rPr>
              <a:t>FastAPI</a:t>
            </a:r>
            <a:r>
              <a:rPr sz="739" i="0">
                <a:solidFill>
                  <a:srgbClr val="E6EDF3"/>
                </a:solidFill>
                <a:latin typeface="Inconsolata"/>
              </a:rPr>
              <a:t>()</a:t>
            </a:r>
          </a:p>
          <a:p>
            <a:pPr>
              <a:lnSpc>
                <a:spcPct val="101459"/>
              </a:lnSpc>
              <a:spcAft>
                <a:spcPts val="0"/>
              </a:spcAft>
            </a:pPr>
            <a:r>
              <a:rPr sz="739" i="0">
                <a:solidFill>
                  <a:srgbClr val="5C6773"/>
                </a:solidFill>
                <a:latin typeface="Inconsolata"/>
              </a:rPr>
              <a:t>20  </a:t>
            </a:r>
            <a:r>
              <a:rPr sz="739" i="0">
                <a:solidFill>
                  <a:srgbClr val="7FDBCA"/>
                </a:solidFill>
                <a:latin typeface="Inconsolata"/>
              </a:rPr>
              <a:t>JOBS</a:t>
            </a:r>
            <a:r>
              <a:rPr sz="739" i="0">
                <a:solidFill>
                  <a:srgbClr val="E6EDF3"/>
                </a:solidFill>
                <a:latin typeface="Inconsolata"/>
              </a:rPr>
              <a:t>: </a:t>
            </a:r>
            <a:r>
              <a:rPr sz="739" i="0">
                <a:solidFill>
                  <a:srgbClr val="C3A6FF"/>
                </a:solidFill>
                <a:latin typeface="Inconsolata"/>
              </a:rPr>
              <a:t>dict</a:t>
            </a:r>
            <a:r>
              <a:rPr sz="739" i="0">
                <a:solidFill>
                  <a:srgbClr val="E6EDF3"/>
                </a:solidFill>
                <a:latin typeface="Inconsolata"/>
              </a:rPr>
              <a:t>[</a:t>
            </a:r>
            <a:r>
              <a:rPr sz="739" i="0">
                <a:solidFill>
                  <a:srgbClr val="C3A6FF"/>
                </a:solidFill>
                <a:latin typeface="Inconsolata"/>
              </a:rPr>
              <a:t>str</a:t>
            </a:r>
            <a:r>
              <a:rPr sz="739" i="0">
                <a:solidFill>
                  <a:srgbClr val="E6EDF3"/>
                </a:solidFill>
                <a:latin typeface="Inconsolata"/>
              </a:rPr>
              <a:t>, </a:t>
            </a:r>
            <a:r>
              <a:rPr sz="739" i="0">
                <a:solidFill>
                  <a:srgbClr val="C3A6FF"/>
                </a:solidFill>
                <a:latin typeface="Inconsolata"/>
              </a:rPr>
              <a:t>str</a:t>
            </a:r>
            <a:r>
              <a:rPr sz="739" i="0">
                <a:solidFill>
                  <a:srgbClr val="E6EDF3"/>
                </a:solidFill>
                <a:latin typeface="Inconsolata"/>
              </a:rPr>
              <a:t>] = {}         </a:t>
            </a:r>
            <a:r>
              <a:rPr sz="739" i="1">
                <a:solidFill>
                  <a:srgbClr val="8B98A8"/>
                </a:solidFill>
                <a:latin typeface="Inconsolata"/>
              </a:rPr>
              <a:t># memory proses API</a:t>
            </a:r>
          </a:p>
          <a:p>
            <a:pPr>
              <a:lnSpc>
                <a:spcPct val="101459"/>
              </a:lnSpc>
              <a:spcAft>
                <a:spcPts val="0"/>
              </a:spcAft>
            </a:pPr>
            <a:r>
              <a:rPr sz="739" i="0">
                <a:solidFill>
                  <a:srgbClr val="5C6773"/>
                </a:solidFill>
                <a:latin typeface="Inconsolata"/>
              </a:rPr>
              <a:t>21  </a:t>
            </a:r>
            <a:r>
              <a:rPr sz="739" i="0">
                <a:solidFill>
                  <a:srgbClr val="E6EDF3"/>
                </a:solidFill>
                <a:latin typeface="Inconsolata"/>
              </a:rPr>
              <a:t> </a:t>
            </a:r>
          </a:p>
          <a:p>
            <a:pPr>
              <a:lnSpc>
                <a:spcPct val="101459"/>
              </a:lnSpc>
              <a:spcAft>
                <a:spcPts val="0"/>
              </a:spcAft>
            </a:pPr>
            <a:r>
              <a:rPr sz="739" i="0">
                <a:solidFill>
                  <a:srgbClr val="5C6773"/>
                </a:solidFill>
                <a:latin typeface="Inconsolata"/>
              </a:rPr>
              <a:t>22  </a:t>
            </a:r>
            <a:r>
              <a:rPr sz="739" i="0">
                <a:solidFill>
                  <a:srgbClr val="E6EDF3"/>
                </a:solidFill>
                <a:latin typeface="Inconsolata"/>
              </a:rPr>
              <a:t> </a:t>
            </a:r>
          </a:p>
          <a:p>
            <a:pPr>
              <a:lnSpc>
                <a:spcPct val="101459"/>
              </a:lnSpc>
              <a:spcAft>
                <a:spcPts val="0"/>
              </a:spcAft>
            </a:pPr>
            <a:r>
              <a:rPr sz="739" i="0">
                <a:solidFill>
                  <a:srgbClr val="5C6773"/>
                </a:solidFill>
                <a:latin typeface="Inconsolata"/>
              </a:rPr>
              <a:t>23  </a:t>
            </a:r>
            <a:r>
              <a:rPr sz="739" i="0">
                <a:solidFill>
                  <a:srgbClr val="F9C97A"/>
                </a:solidFill>
                <a:latin typeface="Inconsolata"/>
              </a:rPr>
              <a:t>@celery_app.task</a:t>
            </a:r>
          </a:p>
          <a:p>
            <a:pPr>
              <a:lnSpc>
                <a:spcPct val="101459"/>
              </a:lnSpc>
              <a:spcAft>
                <a:spcPts val="0"/>
              </a:spcAft>
            </a:pPr>
            <a:r>
              <a:rPr sz="739" i="0">
                <a:solidFill>
                  <a:srgbClr val="5C6773"/>
                </a:solidFill>
                <a:latin typeface="Inconsolata"/>
              </a:rPr>
              <a:t>24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generate_sales_report</a:t>
            </a:r>
            <a:r>
              <a:rPr sz="739" i="0">
                <a:solidFill>
                  <a:srgbClr val="E6EDF3"/>
                </a:solidFill>
                <a:latin typeface="Inconsolata"/>
              </a:rPr>
              <a:t>(job_id: </a:t>
            </a:r>
            <a:r>
              <a:rPr sz="739" i="0">
                <a:solidFill>
                  <a:srgbClr val="C3A6FF"/>
                </a:solidFill>
                <a:latin typeface="Inconsolata"/>
              </a:rPr>
              <a:t>str</a:t>
            </a:r>
            <a:r>
              <a:rPr sz="739" i="0">
                <a:solidFill>
                  <a:srgbClr val="E6EDF3"/>
                </a:solidFill>
                <a:latin typeface="Inconsolata"/>
              </a:rPr>
              <a:t>, month: </a:t>
            </a:r>
            <a:r>
              <a:rPr sz="739" i="0">
                <a:solidFill>
                  <a:srgbClr val="C3A6FF"/>
                </a:solidFill>
                <a:latin typeface="Inconsolata"/>
              </a:rPr>
              <a:t>str</a:t>
            </a:r>
            <a:r>
              <a:rPr sz="739" i="0">
                <a:solidFill>
                  <a:srgbClr val="E6EDF3"/>
                </a:solidFill>
                <a:latin typeface="Inconsolata"/>
              </a:rPr>
              <a:t>) -&gt; </a:t>
            </a:r>
            <a:r>
              <a:rPr sz="739" i="0">
                <a:solidFill>
                  <a:srgbClr val="C3A6FF"/>
                </a:solidFill>
                <a:latin typeface="Inconsolata"/>
              </a:rPr>
              <a:t>dict</a:t>
            </a:r>
            <a:r>
              <a:rPr sz="739" i="0">
                <a:solidFill>
                  <a:srgbClr val="E6EDF3"/>
                </a:solidFill>
                <a:latin typeface="Inconsolata"/>
              </a:rPr>
              <a:t>:</a:t>
            </a:r>
          </a:p>
          <a:p>
            <a:pPr>
              <a:lnSpc>
                <a:spcPct val="101459"/>
              </a:lnSpc>
              <a:spcAft>
                <a:spcPts val="0"/>
              </a:spcAft>
            </a:pPr>
            <a:r>
              <a:rPr sz="739" i="0">
                <a:solidFill>
                  <a:srgbClr val="5C6773"/>
                </a:solidFill>
                <a:latin typeface="Inconsolata"/>
              </a:rPr>
              <a:t>25  </a:t>
            </a:r>
            <a:r>
              <a:rPr sz="739" i="0">
                <a:solidFill>
                  <a:srgbClr val="E6EDF3"/>
                </a:solidFill>
                <a:latin typeface="Inconsolata"/>
              </a:rPr>
              <a:t>    </a:t>
            </a:r>
            <a:r>
              <a:rPr sz="739" i="0">
                <a:solidFill>
                  <a:srgbClr val="7FDBCA"/>
                </a:solidFill>
                <a:latin typeface="Inconsolata"/>
              </a:rPr>
              <a:t>JOBS</a:t>
            </a:r>
            <a:r>
              <a:rPr sz="739" i="0">
                <a:solidFill>
                  <a:srgbClr val="E6EDF3"/>
                </a:solidFill>
                <a:latin typeface="Inconsolata"/>
              </a:rPr>
              <a:t>[job_id] = </a:t>
            </a:r>
            <a:r>
              <a:rPr sz="739" i="0">
                <a:solidFill>
                  <a:srgbClr val="A5D6A7"/>
                </a:solidFill>
                <a:latin typeface="Inconsolata"/>
              </a:rPr>
              <a:t>"running"</a:t>
            </a:r>
            <a:r>
              <a:rPr sz="739" i="0">
                <a:solidFill>
                  <a:srgbClr val="E6EDF3"/>
                </a:solidFill>
                <a:latin typeface="Inconsolata"/>
              </a:rPr>
              <a:t>     </a:t>
            </a:r>
            <a:r>
              <a:rPr sz="739" i="1">
                <a:solidFill>
                  <a:srgbClr val="8B98A8"/>
                </a:solidFill>
                <a:latin typeface="Inconsolata"/>
              </a:rPr>
              <a:t># memory proses WORKER, bukan API</a:t>
            </a:r>
          </a:p>
          <a:p>
            <a:pPr>
              <a:lnSpc>
                <a:spcPct val="101459"/>
              </a:lnSpc>
              <a:spcAft>
                <a:spcPts val="0"/>
              </a:spcAft>
            </a:pPr>
            <a:r>
              <a:rPr sz="739" i="0">
                <a:solidFill>
                  <a:srgbClr val="5C6773"/>
                </a:solidFill>
                <a:latin typeface="Inconsolata"/>
              </a:rPr>
              <a:t>26  </a:t>
            </a:r>
            <a:r>
              <a:rPr sz="739" i="0">
                <a:solidFill>
                  <a:srgbClr val="E6EDF3"/>
                </a:solidFill>
                <a:latin typeface="Inconsolata"/>
              </a:rPr>
              <a:t>    time.sleep(</a:t>
            </a:r>
            <a:r>
              <a:rPr sz="739" i="0">
                <a:solidFill>
                  <a:srgbClr val="F9C97A"/>
                </a:solidFill>
                <a:latin typeface="Inconsolata"/>
              </a:rPr>
              <a:t>10</a:t>
            </a:r>
            <a:r>
              <a:rPr sz="739" i="0">
                <a:solidFill>
                  <a:srgbClr val="E6EDF3"/>
                </a:solidFill>
                <a:latin typeface="Inconsolata"/>
              </a:rPr>
              <a:t>)</a:t>
            </a:r>
          </a:p>
          <a:p>
            <a:pPr>
              <a:lnSpc>
                <a:spcPct val="101459"/>
              </a:lnSpc>
              <a:spcAft>
                <a:spcPts val="0"/>
              </a:spcAft>
            </a:pPr>
            <a:r>
              <a:rPr sz="739" i="0">
                <a:solidFill>
                  <a:srgbClr val="5C6773"/>
                </a:solidFill>
                <a:latin typeface="Inconsolata"/>
              </a:rPr>
              <a:t>27  </a:t>
            </a:r>
            <a:r>
              <a:rPr sz="739" i="0">
                <a:solidFill>
                  <a:srgbClr val="E6EDF3"/>
                </a:solidFill>
                <a:latin typeface="Inconsolata"/>
              </a:rPr>
              <a:t>    </a:t>
            </a:r>
            <a:r>
              <a:rPr sz="739" i="0">
                <a:solidFill>
                  <a:srgbClr val="7FDBCA"/>
                </a:solidFill>
                <a:latin typeface="Inconsolata"/>
              </a:rPr>
              <a:t>JOBS</a:t>
            </a:r>
            <a:r>
              <a:rPr sz="739" i="0">
                <a:solidFill>
                  <a:srgbClr val="E6EDF3"/>
                </a:solidFill>
                <a:latin typeface="Inconsolata"/>
              </a:rPr>
              <a:t>[job_id] = </a:t>
            </a:r>
            <a:r>
              <a:rPr sz="739" i="0">
                <a:solidFill>
                  <a:srgbClr val="A5D6A7"/>
                </a:solidFill>
                <a:latin typeface="Inconsolata"/>
              </a:rPr>
              <a:t>"done"</a:t>
            </a:r>
          </a:p>
          <a:p>
            <a:pPr>
              <a:lnSpc>
                <a:spcPct val="101459"/>
              </a:lnSpc>
              <a:spcAft>
                <a:spcPts val="0"/>
              </a:spcAft>
            </a:pPr>
            <a:r>
              <a:rPr sz="739" i="0">
                <a:solidFill>
                  <a:srgbClr val="5C6773"/>
                </a:solidFill>
                <a:latin typeface="Inconsolata"/>
              </a:rPr>
              <a:t>28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a:t>
            </a:r>
            <a:r>
              <a:rPr sz="739" i="0">
                <a:solidFill>
                  <a:srgbClr val="A5D6A7"/>
                </a:solidFill>
                <a:latin typeface="Inconsolata"/>
              </a:rPr>
              <a:t>"month"</a:t>
            </a:r>
            <a:r>
              <a:rPr sz="739" i="0">
                <a:solidFill>
                  <a:srgbClr val="E6EDF3"/>
                </a:solidFill>
                <a:latin typeface="Inconsolata"/>
              </a:rPr>
              <a:t>: month, </a:t>
            </a:r>
            <a:r>
              <a:rPr sz="739" i="0">
                <a:solidFill>
                  <a:srgbClr val="A5D6A7"/>
                </a:solidFill>
                <a:latin typeface="Inconsolata"/>
              </a:rPr>
              <a:t>"orders"</a:t>
            </a:r>
            <a:r>
              <a:rPr sz="739" i="0">
                <a:solidFill>
                  <a:srgbClr val="E6EDF3"/>
                </a:solidFill>
                <a:latin typeface="Inconsolata"/>
              </a:rPr>
              <a:t>: </a:t>
            </a:r>
            <a:r>
              <a:rPr sz="739" i="0">
                <a:solidFill>
                  <a:srgbClr val="F9C97A"/>
                </a:solidFill>
                <a:latin typeface="Inconsolata"/>
              </a:rPr>
              <a:t>120</a:t>
            </a:r>
            <a:r>
              <a:rPr sz="739" i="0">
                <a:solidFill>
                  <a:srgbClr val="E6EDF3"/>
                </a:solidFill>
                <a:latin typeface="Inconsolata"/>
              </a:rPr>
              <a:t>, </a:t>
            </a:r>
            <a:r>
              <a:rPr sz="739" i="0">
                <a:solidFill>
                  <a:srgbClr val="A5D6A7"/>
                </a:solidFill>
                <a:latin typeface="Inconsolata"/>
              </a:rPr>
              <a:t>"revenue"</a:t>
            </a:r>
            <a:r>
              <a:rPr sz="739" i="0">
                <a:solidFill>
                  <a:srgbClr val="E6EDF3"/>
                </a:solidFill>
                <a:latin typeface="Inconsolata"/>
              </a:rPr>
              <a:t>: </a:t>
            </a:r>
            <a:r>
              <a:rPr sz="739" i="0">
                <a:solidFill>
                  <a:srgbClr val="F9C97A"/>
                </a:solidFill>
                <a:latin typeface="Inconsolata"/>
              </a:rPr>
              <a:t>54_000_000</a:t>
            </a:r>
            <a:r>
              <a:rPr sz="73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04-task-status/before.py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1459"/>
              </a:lnSpc>
              <a:spcAft>
                <a:spcPts val="0"/>
              </a:spcAft>
            </a:pPr>
            <a:r>
              <a:rPr sz="739" i="0">
                <a:solidFill>
                  <a:srgbClr val="5C6773"/>
                </a:solidFill>
                <a:latin typeface="Inconsolata"/>
              </a:rPr>
              <a:t>31  </a:t>
            </a:r>
            <a:r>
              <a:rPr sz="739" i="0">
                <a:solidFill>
                  <a:srgbClr val="F9C97A"/>
                </a:solidFill>
                <a:latin typeface="Inconsolata"/>
              </a:rPr>
              <a:t>@app.post</a:t>
            </a:r>
            <a:r>
              <a:rPr sz="739" i="0">
                <a:solidFill>
                  <a:srgbClr val="E6EDF3"/>
                </a:solidFill>
                <a:latin typeface="Inconsolata"/>
              </a:rPr>
              <a:t>(</a:t>
            </a:r>
            <a:r>
              <a:rPr sz="739" i="0">
                <a:solidFill>
                  <a:srgbClr val="A5D6A7"/>
                </a:solidFill>
                <a:latin typeface="Inconsolata"/>
              </a:rPr>
              <a:t>"/reports/sales"</a:t>
            </a:r>
            <a:r>
              <a:rPr sz="739" i="0">
                <a:solidFill>
                  <a:srgbClr val="E6EDF3"/>
                </a:solidFill>
                <a:latin typeface="Inconsolata"/>
              </a:rPr>
              <a:t>, status_code=</a:t>
            </a:r>
            <a:r>
              <a:rPr sz="739" i="0">
                <a:solidFill>
                  <a:srgbClr val="F9C97A"/>
                </a:solidFill>
                <a:latin typeface="Inconsolata"/>
              </a:rPr>
              <a:t>202</a:t>
            </a:r>
            <a:r>
              <a:rPr sz="739" i="0">
                <a:solidFill>
                  <a:srgbClr val="E6EDF3"/>
                </a:solidFill>
                <a:latin typeface="Inconsolata"/>
              </a:rPr>
              <a:t>)</a:t>
            </a:r>
          </a:p>
          <a:p>
            <a:pPr>
              <a:lnSpc>
                <a:spcPct val="101459"/>
              </a:lnSpc>
              <a:spcAft>
                <a:spcPts val="0"/>
              </a:spcAft>
            </a:pPr>
            <a:r>
              <a:rPr sz="739" i="0">
                <a:solidFill>
                  <a:srgbClr val="5C6773"/>
                </a:solidFill>
                <a:latin typeface="Inconsolata"/>
              </a:rPr>
              <a:t>32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create_sales_report</a:t>
            </a:r>
            <a:r>
              <a:rPr sz="739" i="0">
                <a:solidFill>
                  <a:srgbClr val="E6EDF3"/>
                </a:solidFill>
                <a:latin typeface="Inconsolata"/>
              </a:rPr>
              <a:t>(month: </a:t>
            </a:r>
            <a:r>
              <a:rPr sz="739" i="0">
                <a:solidFill>
                  <a:srgbClr val="C3A6FF"/>
                </a:solidFill>
                <a:latin typeface="Inconsolata"/>
              </a:rPr>
              <a:t>str</a:t>
            </a:r>
            <a:r>
              <a:rPr sz="739" i="0">
                <a:solidFill>
                  <a:srgbClr val="E6EDF3"/>
                </a:solidFill>
                <a:latin typeface="Inconsolata"/>
              </a:rPr>
              <a:t>):</a:t>
            </a:r>
          </a:p>
          <a:p>
            <a:pPr>
              <a:lnSpc>
                <a:spcPct val="101459"/>
              </a:lnSpc>
              <a:spcAft>
                <a:spcPts val="0"/>
              </a:spcAft>
            </a:pPr>
            <a:r>
              <a:rPr sz="739" i="0">
                <a:solidFill>
                  <a:srgbClr val="5C6773"/>
                </a:solidFill>
                <a:latin typeface="Inconsolata"/>
              </a:rPr>
              <a:t>33  </a:t>
            </a:r>
            <a:r>
              <a:rPr sz="739" i="0">
                <a:solidFill>
                  <a:srgbClr val="E6EDF3"/>
                </a:solidFill>
                <a:latin typeface="Inconsolata"/>
              </a:rPr>
              <a:t>    job_id = uuid4().hex</a:t>
            </a:r>
          </a:p>
          <a:p>
            <a:pPr>
              <a:lnSpc>
                <a:spcPct val="101459"/>
              </a:lnSpc>
              <a:spcAft>
                <a:spcPts val="0"/>
              </a:spcAft>
            </a:pPr>
            <a:r>
              <a:rPr sz="739" i="0">
                <a:solidFill>
                  <a:srgbClr val="5C6773"/>
                </a:solidFill>
                <a:latin typeface="Inconsolata"/>
              </a:rPr>
              <a:t>34  </a:t>
            </a:r>
            <a:r>
              <a:rPr sz="739" i="0">
                <a:solidFill>
                  <a:srgbClr val="E6EDF3"/>
                </a:solidFill>
                <a:latin typeface="Inconsolata"/>
              </a:rPr>
              <a:t>    </a:t>
            </a:r>
            <a:r>
              <a:rPr sz="739" i="0">
                <a:solidFill>
                  <a:srgbClr val="7FDBCA"/>
                </a:solidFill>
                <a:latin typeface="Inconsolata"/>
              </a:rPr>
              <a:t>JOBS</a:t>
            </a:r>
            <a:r>
              <a:rPr sz="739" i="0">
                <a:solidFill>
                  <a:srgbClr val="E6EDF3"/>
                </a:solidFill>
                <a:latin typeface="Inconsolata"/>
              </a:rPr>
              <a:t>[job_id] = </a:t>
            </a:r>
            <a:r>
              <a:rPr sz="739" i="0">
                <a:solidFill>
                  <a:srgbClr val="A5D6A7"/>
                </a:solidFill>
                <a:latin typeface="Inconsolata"/>
              </a:rPr>
              <a:t>"pending"</a:t>
            </a:r>
          </a:p>
          <a:p>
            <a:pPr>
              <a:lnSpc>
                <a:spcPct val="101459"/>
              </a:lnSpc>
              <a:spcAft>
                <a:spcPts val="0"/>
              </a:spcAft>
            </a:pPr>
            <a:r>
              <a:rPr sz="739" i="0">
                <a:solidFill>
                  <a:srgbClr val="5C6773"/>
                </a:solidFill>
                <a:latin typeface="Inconsolata"/>
              </a:rPr>
              <a:t>35  </a:t>
            </a:r>
            <a:r>
              <a:rPr sz="739" i="0">
                <a:solidFill>
                  <a:srgbClr val="E6EDF3"/>
                </a:solidFill>
                <a:latin typeface="Inconsolata"/>
              </a:rPr>
              <a:t>    generate_sales_report.delay(job_id, month)</a:t>
            </a:r>
          </a:p>
          <a:p>
            <a:pPr>
              <a:lnSpc>
                <a:spcPct val="101459"/>
              </a:lnSpc>
              <a:spcAft>
                <a:spcPts val="0"/>
              </a:spcAft>
            </a:pPr>
            <a:r>
              <a:rPr sz="739" i="0">
                <a:solidFill>
                  <a:srgbClr val="5C6773"/>
                </a:solidFill>
                <a:latin typeface="Inconsolata"/>
              </a:rPr>
              <a:t>36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a:t>
            </a:r>
            <a:r>
              <a:rPr sz="739" i="0">
                <a:solidFill>
                  <a:srgbClr val="A5D6A7"/>
                </a:solidFill>
                <a:latin typeface="Inconsolata"/>
              </a:rPr>
              <a:t>"job_id"</a:t>
            </a:r>
            <a:r>
              <a:rPr sz="739" i="0">
                <a:solidFill>
                  <a:srgbClr val="E6EDF3"/>
                </a:solidFill>
                <a:latin typeface="Inconsolata"/>
              </a:rPr>
              <a:t>: job_id}</a:t>
            </a:r>
          </a:p>
          <a:p>
            <a:pPr>
              <a:lnSpc>
                <a:spcPct val="101459"/>
              </a:lnSpc>
              <a:spcAft>
                <a:spcPts val="0"/>
              </a:spcAft>
            </a:pPr>
            <a:r>
              <a:rPr sz="739" i="0">
                <a:solidFill>
                  <a:srgbClr val="5C6773"/>
                </a:solidFill>
                <a:latin typeface="Inconsolata"/>
              </a:rPr>
              <a:t>37  </a:t>
            </a:r>
            <a:r>
              <a:rPr sz="739" i="0">
                <a:solidFill>
                  <a:srgbClr val="E6EDF3"/>
                </a:solidFill>
                <a:latin typeface="Inconsolata"/>
              </a:rPr>
              <a:t> </a:t>
            </a:r>
          </a:p>
          <a:p>
            <a:pPr>
              <a:lnSpc>
                <a:spcPct val="101459"/>
              </a:lnSpc>
              <a:spcAft>
                <a:spcPts val="0"/>
              </a:spcAft>
            </a:pPr>
            <a:r>
              <a:rPr sz="739" i="0">
                <a:solidFill>
                  <a:srgbClr val="5C6773"/>
                </a:solidFill>
                <a:latin typeface="Inconsolata"/>
              </a:rPr>
              <a:t>38  </a:t>
            </a:r>
            <a:r>
              <a:rPr sz="739" i="0">
                <a:solidFill>
                  <a:srgbClr val="E6EDF3"/>
                </a:solidFill>
                <a:latin typeface="Inconsolata"/>
              </a:rPr>
              <a:t> </a:t>
            </a:r>
          </a:p>
          <a:p>
            <a:pPr>
              <a:lnSpc>
                <a:spcPct val="101459"/>
              </a:lnSpc>
              <a:spcAft>
                <a:spcPts val="0"/>
              </a:spcAft>
            </a:pPr>
            <a:r>
              <a:rPr sz="739" i="0">
                <a:solidFill>
                  <a:srgbClr val="5C6773"/>
                </a:solidFill>
                <a:latin typeface="Inconsolata"/>
              </a:rPr>
              <a:t>39  </a:t>
            </a:r>
            <a:r>
              <a:rPr sz="739" i="0">
                <a:solidFill>
                  <a:srgbClr val="F9C97A"/>
                </a:solidFill>
                <a:latin typeface="Inconsolata"/>
              </a:rPr>
              <a:t>@app.get</a:t>
            </a:r>
            <a:r>
              <a:rPr sz="739" i="0">
                <a:solidFill>
                  <a:srgbClr val="E6EDF3"/>
                </a:solidFill>
                <a:latin typeface="Inconsolata"/>
              </a:rPr>
              <a:t>(</a:t>
            </a:r>
            <a:r>
              <a:rPr sz="739" i="0">
                <a:solidFill>
                  <a:srgbClr val="A5D6A7"/>
                </a:solidFill>
                <a:latin typeface="Inconsolata"/>
              </a:rPr>
              <a:t>"/reports/{job_id}"</a:t>
            </a:r>
            <a:r>
              <a:rPr sz="739" i="0">
                <a:solidFill>
                  <a:srgbClr val="E6EDF3"/>
                </a:solidFill>
                <a:latin typeface="Inconsolata"/>
              </a:rPr>
              <a:t>)</a:t>
            </a:r>
          </a:p>
          <a:p>
            <a:pPr>
              <a:lnSpc>
                <a:spcPct val="101459"/>
              </a:lnSpc>
              <a:spcAft>
                <a:spcPts val="0"/>
              </a:spcAft>
            </a:pPr>
            <a:r>
              <a:rPr sz="739" i="0">
                <a:solidFill>
                  <a:srgbClr val="5C6773"/>
                </a:solidFill>
                <a:latin typeface="Inconsolata"/>
              </a:rPr>
              <a:t>40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get_report</a:t>
            </a:r>
            <a:r>
              <a:rPr sz="739" i="0">
                <a:solidFill>
                  <a:srgbClr val="E6EDF3"/>
                </a:solidFill>
                <a:latin typeface="Inconsolata"/>
              </a:rPr>
              <a:t>(job_id: </a:t>
            </a:r>
            <a:r>
              <a:rPr sz="739" i="0">
                <a:solidFill>
                  <a:srgbClr val="C3A6FF"/>
                </a:solidFill>
                <a:latin typeface="Inconsolata"/>
              </a:rPr>
              <a:t>str</a:t>
            </a:r>
            <a:r>
              <a:rPr sz="739" i="0">
                <a:solidFill>
                  <a:srgbClr val="E6EDF3"/>
                </a:solidFill>
                <a:latin typeface="Inconsolata"/>
              </a:rPr>
              <a:t>):</a:t>
            </a:r>
          </a:p>
          <a:p>
            <a:pPr>
              <a:lnSpc>
                <a:spcPct val="101459"/>
              </a:lnSpc>
              <a:spcAft>
                <a:spcPts val="0"/>
              </a:spcAft>
            </a:pPr>
            <a:r>
              <a:rPr sz="739" i="0">
                <a:solidFill>
                  <a:srgbClr val="5C6773"/>
                </a:solidFill>
                <a:latin typeface="Inconsolata"/>
              </a:rPr>
              <a:t>41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a:t>
            </a:r>
            <a:r>
              <a:rPr sz="739" i="0">
                <a:solidFill>
                  <a:srgbClr val="A5D6A7"/>
                </a:solidFill>
                <a:latin typeface="Inconsolata"/>
              </a:rPr>
              <a:t>"job_id"</a:t>
            </a:r>
            <a:r>
              <a:rPr sz="739" i="0">
                <a:solidFill>
                  <a:srgbClr val="E6EDF3"/>
                </a:solidFill>
                <a:latin typeface="Inconsolata"/>
              </a:rPr>
              <a:t>: job_id, </a:t>
            </a:r>
            <a:r>
              <a:rPr sz="739" i="0">
                <a:solidFill>
                  <a:srgbClr val="A5D6A7"/>
                </a:solidFill>
                <a:latin typeface="Inconsolata"/>
              </a:rPr>
              <a:t>"status"</a:t>
            </a:r>
            <a:r>
              <a:rPr sz="739" i="0">
                <a:solidFill>
                  <a:srgbClr val="E6EDF3"/>
                </a:solidFill>
                <a:latin typeface="Inconsolata"/>
              </a:rPr>
              <a:t>: </a:t>
            </a:r>
            <a:r>
              <a:rPr sz="739" i="0">
                <a:solidFill>
                  <a:srgbClr val="7FDBCA"/>
                </a:solidFill>
                <a:latin typeface="Inconsolata"/>
              </a:rPr>
              <a:t>JOBS</a:t>
            </a:r>
            <a:r>
              <a:rPr sz="739" i="0">
                <a:solidFill>
                  <a:srgbClr val="E6EDF3"/>
                </a:solidFill>
                <a:latin typeface="Inconsolata"/>
              </a:rPr>
              <a:t>.get(job_id)}  </a:t>
            </a:r>
            <a:r>
              <a:rPr sz="739" i="1">
                <a:solidFill>
                  <a:srgbClr val="8B98A8"/>
                </a:solidFill>
                <a:latin typeface="Inconsolata"/>
              </a:rPr>
              <a:t># pending</a:t>
            </a:r>
          </a:p>
        </p:txBody>
      </p:sp>
      <p:sp>
        <p:nvSpPr>
          <p:cNvPr id="36" name="Box 21"/>
          <p:cNvSpPr/>
          <p:nvPr/>
        </p:nvSpPr>
        <p:spPr>
          <a:xfrm>
            <a:off x="704088" y="27397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6746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311271"/>
            <a:ext cx="3694176" cy="336042"/>
          </a:xfrm>
          <a:prstGeom prst="roundRect">
            <a:avLst>
              <a:gd name="adj" fmla="val 13605"/>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3604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9683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9032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04-task-status/before.py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758952"/>
          </a:xfrm>
          <a:prstGeom prst="roundRect">
            <a:avLst>
              <a:gd name="adj" fmla="val 240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75895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sesi-05-async-tasks-celery-redis/04-task-status</a:t>
            </a:r>
          </a:p>
          <a:p>
            <a:pPr>
              <a:lnSpc>
                <a:spcPct val="107843"/>
              </a:lnSpc>
              <a:spcAft>
                <a:spcPts val="0"/>
              </a:spcAft>
            </a:pPr>
            <a:r>
              <a:rPr sz="850" i="0">
                <a:solidFill>
                  <a:srgbClr val="82B1FF"/>
                </a:solidFill>
                <a:latin typeface="Inconsolata"/>
              </a:rPr>
              <a:t>$ docker compose -f ../docker-compose.yml up -d</a:t>
            </a:r>
          </a:p>
          <a:p>
            <a:pPr>
              <a:lnSpc>
                <a:spcPct val="107843"/>
              </a:lnSpc>
              <a:spcAft>
                <a:spcPts val="0"/>
              </a:spcAft>
            </a:pPr>
            <a:r>
              <a:rPr sz="850" i="0">
                <a:solidFill>
                  <a:srgbClr val="82B1FF"/>
                </a:solidFill>
                <a:latin typeface="Inconsolata"/>
              </a:rPr>
              <a:t>$ celery -A before:celery_app worker --loglevel=info --pool=solo</a:t>
            </a:r>
          </a:p>
          <a:p>
            <a:pPr>
              <a:lnSpc>
                <a:spcPct val="107843"/>
              </a:lnSpc>
              <a:spcAft>
                <a:spcPts val="0"/>
              </a:spcAft>
            </a:pPr>
            <a:r>
              <a:rPr sz="850" i="0">
                <a:solidFill>
                  <a:srgbClr val="82B1FF"/>
                </a:solidFill>
                <a:latin typeface="Inconsolata"/>
              </a:rPr>
              <a:t>$ uvicorn before:app --reload</a:t>
            </a:r>
          </a:p>
        </p:txBody>
      </p:sp>
      <p:pic>
        <p:nvPicPr>
          <p:cNvPr id="29" name="Image 12" descr="s05-04-task-status-before.png"/>
          <p:cNvPicPr>
            <a:picLocks noChangeAspect="1"/>
          </p:cNvPicPr>
          <p:nvPr/>
        </p:nvPicPr>
        <p:blipFill>
          <a:blip r:embed="rId2"/>
          <a:stretch>
            <a:fillRect/>
          </a:stretch>
        </p:blipFill>
        <p:spPr>
          <a:xfrm>
            <a:off x="621792" y="2596896"/>
            <a:ext cx="4297680" cy="1349740"/>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JOBS</a:t>
            </a:r>
            <a:r>
              <a:rPr sz="950" b="0" i="0">
                <a:solidFill>
                  <a:srgbClr val="434343"/>
                </a:solidFill>
                <a:latin typeface="Inter"/>
              </a:rPr>
              <a:t> adalah dict di memory proses API (baris 20)</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Task mengubah </a:t>
            </a:r>
            <a:r>
              <a:rPr sz="950" b="0" i="0">
                <a:solidFill>
                  <a:srgbClr val="B5482A"/>
                </a:solidFill>
                <a:latin typeface="Inconsolata"/>
              </a:rPr>
              <a:t>JOBS</a:t>
            </a:r>
            <a:r>
              <a:rPr sz="950" b="0" i="0">
                <a:solidFill>
                  <a:srgbClr val="434343"/>
                </a:solidFill>
                <a:latin typeface="Inter"/>
              </a:rPr>
              <a:t> di memory proses worker (baris 25-27)</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API membaca </a:t>
            </a:r>
            <a:r>
              <a:rPr sz="950" b="0" i="0">
                <a:solidFill>
                  <a:srgbClr val="B5482A"/>
                </a:solidFill>
                <a:latin typeface="Inconsolata"/>
              </a:rPr>
              <a:t>JOBS</a:t>
            </a:r>
            <a:r>
              <a:rPr sz="950" b="0" i="0">
                <a:solidFill>
                  <a:srgbClr val="434343"/>
                </a:solidFill>
                <a:latin typeface="Inter"/>
              </a:rPr>
              <a:t> miliknya sendiri (baris 41)</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11 detik kemudian report sudah selesai, tapi statusnya tetap </a:t>
            </a:r>
            <a:r>
              <a:rPr sz="950" b="0" i="0">
                <a:solidFill>
                  <a:srgbClr val="B5482A"/>
                </a:solidFill>
                <a:latin typeface="Inconsolata"/>
              </a:rPr>
              <a:t>pending</a:t>
            </a:r>
            <a:r>
              <a:rPr sz="950" b="0" i="0">
                <a:solidFill>
                  <a:srgbClr val="434343"/>
                </a:solidFill>
                <a:latin typeface="Inter"/>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status dibaca dari result backend</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04-task-status/after.py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1459"/>
              </a:lnSpc>
              <a:spcAft>
                <a:spcPts val="0"/>
              </a:spcAft>
            </a:pPr>
            <a:r>
              <a:rPr sz="739" i="0">
                <a:solidFill>
                  <a:srgbClr val="5C6773"/>
                </a:solidFill>
                <a:latin typeface="Inconsolata"/>
              </a:rPr>
              <a:t>18  </a:t>
            </a:r>
            <a:r>
              <a:rPr sz="739" i="0">
                <a:solidFill>
                  <a:srgbClr val="FF8E6E"/>
                </a:solidFill>
                <a:latin typeface="Inconsolata"/>
              </a:rPr>
              <a:t>import</a:t>
            </a:r>
            <a:r>
              <a:rPr sz="739" i="0">
                <a:solidFill>
                  <a:srgbClr val="E6EDF3"/>
                </a:solidFill>
                <a:latin typeface="Inconsolata"/>
              </a:rPr>
              <a:t> time</a:t>
            </a:r>
          </a:p>
          <a:p>
            <a:pPr>
              <a:lnSpc>
                <a:spcPct val="101459"/>
              </a:lnSpc>
              <a:spcAft>
                <a:spcPts val="0"/>
              </a:spcAft>
            </a:pPr>
            <a:r>
              <a:rPr sz="739" i="0">
                <a:solidFill>
                  <a:srgbClr val="5C6773"/>
                </a:solidFill>
                <a:latin typeface="Inconsolata"/>
              </a:rPr>
              <a:t>19  </a:t>
            </a:r>
            <a:r>
              <a:rPr sz="739" i="0">
                <a:solidFill>
                  <a:srgbClr val="E6EDF3"/>
                </a:solidFill>
                <a:latin typeface="Inconsolata"/>
              </a:rPr>
              <a:t> </a:t>
            </a:r>
          </a:p>
          <a:p>
            <a:pPr>
              <a:lnSpc>
                <a:spcPct val="101459"/>
              </a:lnSpc>
              <a:spcAft>
                <a:spcPts val="0"/>
              </a:spcAft>
            </a:pPr>
            <a:r>
              <a:rPr sz="739" i="0">
                <a:solidFill>
                  <a:srgbClr val="5C6773"/>
                </a:solidFill>
                <a:latin typeface="Inconsolata"/>
              </a:rPr>
              <a:t>20  </a:t>
            </a:r>
            <a:r>
              <a:rPr sz="739" i="0">
                <a:solidFill>
                  <a:srgbClr val="FF8E6E"/>
                </a:solidFill>
                <a:latin typeface="Inconsolata"/>
              </a:rPr>
              <a:t>from</a:t>
            </a:r>
            <a:r>
              <a:rPr sz="739" i="0">
                <a:solidFill>
                  <a:srgbClr val="E6EDF3"/>
                </a:solidFill>
                <a:latin typeface="Inconsolata"/>
              </a:rPr>
              <a:t> celery </a:t>
            </a:r>
            <a:r>
              <a:rPr sz="739" i="0">
                <a:solidFill>
                  <a:srgbClr val="FF8E6E"/>
                </a:solidFill>
                <a:latin typeface="Inconsolata"/>
              </a:rPr>
              <a:t>import</a:t>
            </a:r>
            <a:r>
              <a:rPr sz="739" i="0">
                <a:solidFill>
                  <a:srgbClr val="E6EDF3"/>
                </a:solidFill>
                <a:latin typeface="Inconsolata"/>
              </a:rPr>
              <a:t> </a:t>
            </a:r>
            <a:r>
              <a:rPr sz="739" i="0">
                <a:solidFill>
                  <a:srgbClr val="7FDBCA"/>
                </a:solidFill>
                <a:latin typeface="Inconsolata"/>
              </a:rPr>
              <a:t>Celery</a:t>
            </a:r>
          </a:p>
          <a:p>
            <a:pPr>
              <a:lnSpc>
                <a:spcPct val="101459"/>
              </a:lnSpc>
              <a:spcAft>
                <a:spcPts val="0"/>
              </a:spcAft>
            </a:pPr>
            <a:r>
              <a:rPr sz="739" i="0">
                <a:solidFill>
                  <a:srgbClr val="5C6773"/>
                </a:solidFill>
                <a:latin typeface="Inconsolata"/>
              </a:rPr>
              <a:t>21  </a:t>
            </a:r>
            <a:r>
              <a:rPr sz="739" i="0">
                <a:solidFill>
                  <a:srgbClr val="FF8E6E"/>
                </a:solidFill>
                <a:latin typeface="Inconsolata"/>
              </a:rPr>
              <a:t>from</a:t>
            </a:r>
            <a:r>
              <a:rPr sz="739" i="0">
                <a:solidFill>
                  <a:srgbClr val="E6EDF3"/>
                </a:solidFill>
                <a:latin typeface="Inconsolata"/>
              </a:rPr>
              <a:t> celery.result </a:t>
            </a:r>
            <a:r>
              <a:rPr sz="739" i="0">
                <a:solidFill>
                  <a:srgbClr val="FF8E6E"/>
                </a:solidFill>
                <a:latin typeface="Inconsolata"/>
              </a:rPr>
              <a:t>import</a:t>
            </a:r>
            <a:r>
              <a:rPr sz="739" i="0">
                <a:solidFill>
                  <a:srgbClr val="E6EDF3"/>
                </a:solidFill>
                <a:latin typeface="Inconsolata"/>
              </a:rPr>
              <a:t> </a:t>
            </a:r>
            <a:r>
              <a:rPr sz="739" i="0">
                <a:solidFill>
                  <a:srgbClr val="7FDBCA"/>
                </a:solidFill>
                <a:latin typeface="Inconsolata"/>
              </a:rPr>
              <a:t>AsyncResult</a:t>
            </a:r>
          </a:p>
          <a:p>
            <a:pPr>
              <a:lnSpc>
                <a:spcPct val="101459"/>
              </a:lnSpc>
              <a:spcAft>
                <a:spcPts val="0"/>
              </a:spcAft>
            </a:pPr>
            <a:r>
              <a:rPr sz="739" i="0">
                <a:solidFill>
                  <a:srgbClr val="5C6773"/>
                </a:solidFill>
                <a:latin typeface="Inconsolata"/>
              </a:rPr>
              <a:t>22  </a:t>
            </a:r>
            <a:r>
              <a:rPr sz="739" i="0">
                <a:solidFill>
                  <a:srgbClr val="FF8E6E"/>
                </a:solidFill>
                <a:latin typeface="Inconsolata"/>
              </a:rPr>
              <a:t>from</a:t>
            </a:r>
            <a:r>
              <a:rPr sz="739" i="0">
                <a:solidFill>
                  <a:srgbClr val="E6EDF3"/>
                </a:solidFill>
                <a:latin typeface="Inconsolata"/>
              </a:rPr>
              <a:t> fastapi </a:t>
            </a:r>
            <a:r>
              <a:rPr sz="739" i="0">
                <a:solidFill>
                  <a:srgbClr val="FF8E6E"/>
                </a:solidFill>
                <a:latin typeface="Inconsolata"/>
              </a:rPr>
              <a:t>import</a:t>
            </a:r>
            <a:r>
              <a:rPr sz="739" i="0">
                <a:solidFill>
                  <a:srgbClr val="E6EDF3"/>
                </a:solidFill>
                <a:latin typeface="Inconsolata"/>
              </a:rPr>
              <a:t> </a:t>
            </a:r>
            <a:r>
              <a:rPr sz="739" i="0">
                <a:solidFill>
                  <a:srgbClr val="7FDBCA"/>
                </a:solidFill>
                <a:latin typeface="Inconsolata"/>
              </a:rPr>
              <a:t>FastAPI</a:t>
            </a:r>
          </a:p>
          <a:p>
            <a:pPr>
              <a:lnSpc>
                <a:spcPct val="101459"/>
              </a:lnSpc>
              <a:spcAft>
                <a:spcPts val="0"/>
              </a:spcAft>
            </a:pPr>
            <a:r>
              <a:rPr sz="739" i="0">
                <a:solidFill>
                  <a:srgbClr val="5C6773"/>
                </a:solidFill>
                <a:latin typeface="Inconsolata"/>
              </a:rPr>
              <a:t>23  </a:t>
            </a:r>
            <a:r>
              <a:rPr sz="739" i="0">
                <a:solidFill>
                  <a:srgbClr val="E6EDF3"/>
                </a:solidFill>
                <a:latin typeface="Inconsolata"/>
              </a:rPr>
              <a:t> </a:t>
            </a:r>
          </a:p>
          <a:p>
            <a:pPr>
              <a:lnSpc>
                <a:spcPct val="101459"/>
              </a:lnSpc>
              <a:spcAft>
                <a:spcPts val="0"/>
              </a:spcAft>
            </a:pPr>
            <a:r>
              <a:rPr sz="739" i="0">
                <a:solidFill>
                  <a:srgbClr val="5C6773"/>
                </a:solidFill>
                <a:latin typeface="Inconsolata"/>
              </a:rPr>
              <a:t>24  </a:t>
            </a:r>
            <a:r>
              <a:rPr sz="739" i="0">
                <a:solidFill>
                  <a:srgbClr val="E6EDF3"/>
                </a:solidFill>
                <a:latin typeface="Inconsolata"/>
              </a:rPr>
              <a:t>celery_app = </a:t>
            </a:r>
            <a:r>
              <a:rPr sz="739" i="0">
                <a:solidFill>
                  <a:srgbClr val="7FDBCA"/>
                </a:solidFill>
                <a:latin typeface="Inconsolata"/>
              </a:rPr>
              <a:t>Celery</a:t>
            </a:r>
            <a:r>
              <a:rPr sz="739" i="0">
                <a:solidFill>
                  <a:srgbClr val="E6EDF3"/>
                </a:solidFill>
                <a:latin typeface="Inconsolata"/>
              </a:rPr>
              <a:t>(</a:t>
            </a:r>
            <a:r>
              <a:rPr sz="739" i="0">
                <a:solidFill>
                  <a:srgbClr val="A5D6A7"/>
                </a:solidFill>
                <a:latin typeface="Inconsolata"/>
              </a:rPr>
              <a:t>"demo"</a:t>
            </a:r>
            <a:r>
              <a:rPr sz="739" i="0">
                <a:solidFill>
                  <a:srgbClr val="E6EDF3"/>
                </a:solidFill>
                <a:latin typeface="Inconsolata"/>
              </a:rPr>
              <a:t>,</a:t>
            </a:r>
          </a:p>
          <a:p>
            <a:pPr>
              <a:lnSpc>
                <a:spcPct val="101459"/>
              </a:lnSpc>
              <a:spcAft>
                <a:spcPts val="0"/>
              </a:spcAft>
            </a:pPr>
            <a:r>
              <a:rPr sz="739" i="0">
                <a:solidFill>
                  <a:srgbClr val="5C6773"/>
                </a:solidFill>
                <a:latin typeface="Inconsolata"/>
              </a:rPr>
              <a:t>25  </a:t>
            </a:r>
            <a:r>
              <a:rPr sz="739" i="0">
                <a:solidFill>
                  <a:srgbClr val="E6EDF3"/>
                </a:solidFill>
                <a:latin typeface="Inconsolata"/>
              </a:rPr>
              <a:t>                    broker=</a:t>
            </a:r>
            <a:r>
              <a:rPr sz="739" i="0">
                <a:solidFill>
                  <a:srgbClr val="A5D6A7"/>
                </a:solidFill>
                <a:latin typeface="Inconsolata"/>
              </a:rPr>
              <a:t>"redis://localhost:6379/0"</a:t>
            </a:r>
            <a:r>
              <a:rPr sz="739" i="0">
                <a:solidFill>
                  <a:srgbClr val="E6EDF3"/>
                </a:solidFill>
                <a:latin typeface="Inconsolata"/>
              </a:rPr>
              <a:t>,</a:t>
            </a:r>
          </a:p>
          <a:p>
            <a:pPr>
              <a:lnSpc>
                <a:spcPct val="101459"/>
              </a:lnSpc>
              <a:spcAft>
                <a:spcPts val="0"/>
              </a:spcAft>
            </a:pPr>
            <a:r>
              <a:rPr sz="739" i="0">
                <a:solidFill>
                  <a:srgbClr val="5C6773"/>
                </a:solidFill>
                <a:latin typeface="Inconsolata"/>
              </a:rPr>
              <a:t>26  </a:t>
            </a:r>
            <a:r>
              <a:rPr sz="739" i="0">
                <a:solidFill>
                  <a:srgbClr val="E6EDF3"/>
                </a:solidFill>
                <a:latin typeface="Inconsolata"/>
              </a:rPr>
              <a:t>                    backend=</a:t>
            </a:r>
            <a:r>
              <a:rPr sz="739" i="0">
                <a:solidFill>
                  <a:srgbClr val="A5D6A7"/>
                </a:solidFill>
                <a:latin typeface="Inconsolata"/>
              </a:rPr>
              <a:t>"redis://localhost:6379/1"</a:t>
            </a:r>
            <a:r>
              <a:rPr sz="739" i="0">
                <a:solidFill>
                  <a:srgbClr val="E6EDF3"/>
                </a:solidFill>
                <a:latin typeface="Inconsolata"/>
              </a:rPr>
              <a:t>)</a:t>
            </a:r>
          </a:p>
          <a:p>
            <a:pPr>
              <a:lnSpc>
                <a:spcPct val="101459"/>
              </a:lnSpc>
              <a:spcAft>
                <a:spcPts val="0"/>
              </a:spcAft>
            </a:pPr>
            <a:r>
              <a:rPr sz="739" i="0">
                <a:solidFill>
                  <a:srgbClr val="5C6773"/>
                </a:solidFill>
                <a:latin typeface="Inconsolata"/>
              </a:rPr>
              <a:t>27  </a:t>
            </a:r>
            <a:r>
              <a:rPr sz="739" i="0">
                <a:solidFill>
                  <a:srgbClr val="E6EDF3"/>
                </a:solidFill>
                <a:latin typeface="Inconsolata"/>
              </a:rPr>
              <a:t>celery_app.conf.task_track_started = </a:t>
            </a:r>
            <a:r>
              <a:rPr sz="739" i="0">
                <a:solidFill>
                  <a:srgbClr val="FF8E6E"/>
                </a:solidFill>
                <a:latin typeface="Inconsolata"/>
              </a:rPr>
              <a:t>True</a:t>
            </a:r>
          </a:p>
          <a:p>
            <a:pPr>
              <a:lnSpc>
                <a:spcPct val="101459"/>
              </a:lnSpc>
              <a:spcAft>
                <a:spcPts val="0"/>
              </a:spcAft>
            </a:pPr>
            <a:r>
              <a:rPr sz="739" i="0">
                <a:solidFill>
                  <a:srgbClr val="5C6773"/>
                </a:solidFill>
                <a:latin typeface="Inconsolata"/>
              </a:rPr>
              <a:t>28  </a:t>
            </a:r>
            <a:r>
              <a:rPr sz="739" i="0">
                <a:solidFill>
                  <a:srgbClr val="E6EDF3"/>
                </a:solidFill>
                <a:latin typeface="Inconsolata"/>
              </a:rPr>
              <a:t>app = </a:t>
            </a:r>
            <a:r>
              <a:rPr sz="739" i="0">
                <a:solidFill>
                  <a:srgbClr val="7FDBCA"/>
                </a:solidFill>
                <a:latin typeface="Inconsolata"/>
              </a:rPr>
              <a:t>FastAPI</a:t>
            </a:r>
            <a:r>
              <a:rPr sz="739" i="0">
                <a:solidFill>
                  <a:srgbClr val="E6EDF3"/>
                </a:solidFill>
                <a:latin typeface="Inconsolata"/>
              </a:rPr>
              <a:t>()</a:t>
            </a:r>
          </a:p>
          <a:p>
            <a:pPr>
              <a:lnSpc>
                <a:spcPct val="101459"/>
              </a:lnSpc>
              <a:spcAft>
                <a:spcPts val="0"/>
              </a:spcAft>
            </a:pPr>
            <a:r>
              <a:rPr sz="739" i="0">
                <a:solidFill>
                  <a:srgbClr val="5C6773"/>
                </a:solidFill>
                <a:latin typeface="Inconsolata"/>
              </a:rPr>
              <a:t>29  </a:t>
            </a:r>
            <a:r>
              <a:rPr sz="739" i="0">
                <a:solidFill>
                  <a:srgbClr val="E6EDF3"/>
                </a:solidFill>
                <a:latin typeface="Inconsolata"/>
              </a:rPr>
              <a:t> </a:t>
            </a:r>
          </a:p>
          <a:p>
            <a:pPr>
              <a:lnSpc>
                <a:spcPct val="101459"/>
              </a:lnSpc>
              <a:spcAft>
                <a:spcPts val="0"/>
              </a:spcAft>
            </a:pPr>
            <a:r>
              <a:rPr sz="739" i="0">
                <a:solidFill>
                  <a:srgbClr val="5C6773"/>
                </a:solidFill>
                <a:latin typeface="Inconsolata"/>
              </a:rPr>
              <a:t>30  </a:t>
            </a:r>
            <a:r>
              <a:rPr sz="739" i="0">
                <a:solidFill>
                  <a:srgbClr val="7FDBCA"/>
                </a:solidFill>
                <a:latin typeface="Inconsolata"/>
              </a:rPr>
              <a:t>STATUS</a:t>
            </a:r>
            <a:r>
              <a:rPr sz="739" i="0">
                <a:solidFill>
                  <a:srgbClr val="E6EDF3"/>
                </a:solidFill>
                <a:latin typeface="Inconsolata"/>
              </a:rPr>
              <a:t> = {</a:t>
            </a:r>
            <a:r>
              <a:rPr sz="739" i="0">
                <a:solidFill>
                  <a:srgbClr val="A5D6A7"/>
                </a:solidFill>
                <a:latin typeface="Inconsolata"/>
              </a:rPr>
              <a:t>"PENDING"</a:t>
            </a:r>
            <a:r>
              <a:rPr sz="739" i="0">
                <a:solidFill>
                  <a:srgbClr val="E6EDF3"/>
                </a:solidFill>
                <a:latin typeface="Inconsolata"/>
              </a:rPr>
              <a:t>: </a:t>
            </a:r>
            <a:r>
              <a:rPr sz="739" i="0">
                <a:solidFill>
                  <a:srgbClr val="A5D6A7"/>
                </a:solidFill>
                <a:latin typeface="Inconsolata"/>
              </a:rPr>
              <a:t>"pending"</a:t>
            </a:r>
            <a:r>
              <a:rPr sz="739" i="0">
                <a:solidFill>
                  <a:srgbClr val="E6EDF3"/>
                </a:solidFill>
                <a:latin typeface="Inconsolata"/>
              </a:rPr>
              <a:t>, </a:t>
            </a:r>
            <a:r>
              <a:rPr sz="739" i="0">
                <a:solidFill>
                  <a:srgbClr val="A5D6A7"/>
                </a:solidFill>
                <a:latin typeface="Inconsolata"/>
              </a:rPr>
              <a:t>"STARTED"</a:t>
            </a:r>
            <a:r>
              <a:rPr sz="739" i="0">
                <a:solidFill>
                  <a:srgbClr val="E6EDF3"/>
                </a:solidFill>
                <a:latin typeface="Inconsolata"/>
              </a:rPr>
              <a:t>: </a:t>
            </a:r>
            <a:r>
              <a:rPr sz="739" i="0">
                <a:solidFill>
                  <a:srgbClr val="A5D6A7"/>
                </a:solidFill>
                <a:latin typeface="Inconsolata"/>
              </a:rPr>
              <a:t>"running"</a:t>
            </a:r>
            <a:r>
              <a:rPr sz="739" i="0">
                <a:solidFill>
                  <a:srgbClr val="E6EDF3"/>
                </a:solidFill>
                <a:latin typeface="Inconsolata"/>
              </a:rPr>
              <a:t>,</a:t>
            </a:r>
          </a:p>
          <a:p>
            <a:pPr>
              <a:lnSpc>
                <a:spcPct val="101459"/>
              </a:lnSpc>
              <a:spcAft>
                <a:spcPts val="0"/>
              </a:spcAft>
            </a:pPr>
            <a:r>
              <a:rPr sz="739" i="0">
                <a:solidFill>
                  <a:srgbClr val="5C6773"/>
                </a:solidFill>
                <a:latin typeface="Inconsolata"/>
              </a:rPr>
              <a:t>31  </a:t>
            </a:r>
            <a:r>
              <a:rPr sz="739" i="0">
                <a:solidFill>
                  <a:srgbClr val="E6EDF3"/>
                </a:solidFill>
                <a:latin typeface="Inconsolata"/>
              </a:rPr>
              <a:t>          </a:t>
            </a:r>
            <a:r>
              <a:rPr sz="739" i="0">
                <a:solidFill>
                  <a:srgbClr val="A5D6A7"/>
                </a:solidFill>
                <a:latin typeface="Inconsolata"/>
              </a:rPr>
              <a:t>"RETRY"</a:t>
            </a:r>
            <a:r>
              <a:rPr sz="739" i="0">
                <a:solidFill>
                  <a:srgbClr val="E6EDF3"/>
                </a:solidFill>
                <a:latin typeface="Inconsolata"/>
              </a:rPr>
              <a:t>: </a:t>
            </a:r>
            <a:r>
              <a:rPr sz="739" i="0">
                <a:solidFill>
                  <a:srgbClr val="A5D6A7"/>
                </a:solidFill>
                <a:latin typeface="Inconsolata"/>
              </a:rPr>
              <a:t>"retrying"</a:t>
            </a:r>
            <a:r>
              <a:rPr sz="739" i="0">
                <a:solidFill>
                  <a:srgbClr val="E6EDF3"/>
                </a:solidFill>
                <a:latin typeface="Inconsolata"/>
              </a:rPr>
              <a:t>, </a:t>
            </a:r>
            <a:r>
              <a:rPr sz="739" i="0">
                <a:solidFill>
                  <a:srgbClr val="A5D6A7"/>
                </a:solidFill>
                <a:latin typeface="Inconsolata"/>
              </a:rPr>
              <a:t>"SUCCESS"</a:t>
            </a:r>
            <a:r>
              <a:rPr sz="739" i="0">
                <a:solidFill>
                  <a:srgbClr val="E6EDF3"/>
                </a:solidFill>
                <a:latin typeface="Inconsolata"/>
              </a:rPr>
              <a:t>: </a:t>
            </a:r>
            <a:r>
              <a:rPr sz="739" i="0">
                <a:solidFill>
                  <a:srgbClr val="A5D6A7"/>
                </a:solidFill>
                <a:latin typeface="Inconsolata"/>
              </a:rPr>
              <a:t>"done"</a:t>
            </a:r>
            <a:r>
              <a:rPr sz="739" i="0">
                <a:solidFill>
                  <a:srgbClr val="E6EDF3"/>
                </a:solidFill>
                <a:latin typeface="Inconsolata"/>
              </a:rPr>
              <a:t>,</a:t>
            </a:r>
          </a:p>
          <a:p>
            <a:pPr>
              <a:lnSpc>
                <a:spcPct val="101459"/>
              </a:lnSpc>
              <a:spcAft>
                <a:spcPts val="0"/>
              </a:spcAft>
            </a:pPr>
            <a:r>
              <a:rPr sz="739" i="0">
                <a:solidFill>
                  <a:srgbClr val="5C6773"/>
                </a:solidFill>
                <a:latin typeface="Inconsolata"/>
              </a:rPr>
              <a:t>32  </a:t>
            </a:r>
            <a:r>
              <a:rPr sz="739" i="0">
                <a:solidFill>
                  <a:srgbClr val="E6EDF3"/>
                </a:solidFill>
                <a:latin typeface="Inconsolata"/>
              </a:rPr>
              <a:t>          </a:t>
            </a:r>
            <a:r>
              <a:rPr sz="739" i="0">
                <a:solidFill>
                  <a:srgbClr val="A5D6A7"/>
                </a:solidFill>
                <a:latin typeface="Inconsolata"/>
              </a:rPr>
              <a:t>"FAILURE"</a:t>
            </a:r>
            <a:r>
              <a:rPr sz="739" i="0">
                <a:solidFill>
                  <a:srgbClr val="E6EDF3"/>
                </a:solidFill>
                <a:latin typeface="Inconsolata"/>
              </a:rPr>
              <a:t>: </a:t>
            </a:r>
            <a:r>
              <a:rPr sz="739" i="0">
                <a:solidFill>
                  <a:srgbClr val="A5D6A7"/>
                </a:solidFill>
                <a:latin typeface="Inconsolata"/>
              </a:rPr>
              <a:t>"failed"</a:t>
            </a:r>
            <a:r>
              <a:rPr sz="739" i="0">
                <a:solidFill>
                  <a:srgbClr val="E6EDF3"/>
                </a:solidFill>
                <a:latin typeface="Inconsolata"/>
              </a:rPr>
              <a:t>}</a:t>
            </a:r>
          </a:p>
          <a:p>
            <a:pPr>
              <a:lnSpc>
                <a:spcPct val="101459"/>
              </a:lnSpc>
              <a:spcAft>
                <a:spcPts val="0"/>
              </a:spcAft>
            </a:pPr>
            <a:r>
              <a:rPr sz="739" i="0">
                <a:solidFill>
                  <a:srgbClr val="5C6773"/>
                </a:solidFill>
                <a:latin typeface="Inconsolata"/>
              </a:rPr>
              <a:t>33  </a:t>
            </a:r>
            <a:r>
              <a:rPr sz="739" i="0">
                <a:solidFill>
                  <a:srgbClr val="E6EDF3"/>
                </a:solidFill>
                <a:latin typeface="Inconsolata"/>
              </a:rPr>
              <a:t> </a:t>
            </a:r>
          </a:p>
          <a:p>
            <a:pPr>
              <a:lnSpc>
                <a:spcPct val="101459"/>
              </a:lnSpc>
              <a:spcAft>
                <a:spcPts val="0"/>
              </a:spcAft>
            </a:pPr>
            <a:r>
              <a:rPr sz="739" i="0">
                <a:solidFill>
                  <a:srgbClr val="5C6773"/>
                </a:solidFill>
                <a:latin typeface="Inconsolata"/>
              </a:rPr>
              <a:t>34  </a:t>
            </a:r>
            <a:r>
              <a:rPr sz="739" i="0">
                <a:solidFill>
                  <a:srgbClr val="E6EDF3"/>
                </a:solidFill>
                <a:latin typeface="Inconsolata"/>
              </a:rPr>
              <a:t> </a:t>
            </a:r>
          </a:p>
          <a:p>
            <a:pPr>
              <a:lnSpc>
                <a:spcPct val="101459"/>
              </a:lnSpc>
              <a:spcAft>
                <a:spcPts val="0"/>
              </a:spcAft>
            </a:pPr>
            <a:r>
              <a:rPr sz="739" i="0">
                <a:solidFill>
                  <a:srgbClr val="5C6773"/>
                </a:solidFill>
                <a:latin typeface="Inconsolata"/>
              </a:rPr>
              <a:t>35  </a:t>
            </a:r>
            <a:r>
              <a:rPr sz="739" i="0">
                <a:solidFill>
                  <a:srgbClr val="F9C97A"/>
                </a:solidFill>
                <a:latin typeface="Inconsolata"/>
              </a:rPr>
              <a:t>@celery_app.task</a:t>
            </a:r>
          </a:p>
          <a:p>
            <a:pPr>
              <a:lnSpc>
                <a:spcPct val="101459"/>
              </a:lnSpc>
              <a:spcAft>
                <a:spcPts val="0"/>
              </a:spcAft>
            </a:pPr>
            <a:r>
              <a:rPr sz="739" i="0">
                <a:solidFill>
                  <a:srgbClr val="5C6773"/>
                </a:solidFill>
                <a:latin typeface="Inconsolata"/>
              </a:rPr>
              <a:t>36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generate_sales_report</a:t>
            </a:r>
            <a:r>
              <a:rPr sz="739" i="0">
                <a:solidFill>
                  <a:srgbClr val="E6EDF3"/>
                </a:solidFill>
                <a:latin typeface="Inconsolata"/>
              </a:rPr>
              <a:t>(month: </a:t>
            </a:r>
            <a:r>
              <a:rPr sz="739" i="0">
                <a:solidFill>
                  <a:srgbClr val="C3A6FF"/>
                </a:solidFill>
                <a:latin typeface="Inconsolata"/>
              </a:rPr>
              <a:t>str</a:t>
            </a:r>
            <a:r>
              <a:rPr sz="739" i="0">
                <a:solidFill>
                  <a:srgbClr val="E6EDF3"/>
                </a:solidFill>
                <a:latin typeface="Inconsolata"/>
              </a:rPr>
              <a:t>) -&gt; </a:t>
            </a:r>
            <a:r>
              <a:rPr sz="739" i="0">
                <a:solidFill>
                  <a:srgbClr val="C3A6FF"/>
                </a:solidFill>
                <a:latin typeface="Inconsolata"/>
              </a:rPr>
              <a:t>dict</a:t>
            </a:r>
            <a:r>
              <a:rPr sz="739" i="0">
                <a:solidFill>
                  <a:srgbClr val="E6EDF3"/>
                </a:solidFill>
                <a:latin typeface="Inconsolata"/>
              </a:rPr>
              <a:t>:</a:t>
            </a:r>
          </a:p>
          <a:p>
            <a:pPr>
              <a:lnSpc>
                <a:spcPct val="101459"/>
              </a:lnSpc>
              <a:spcAft>
                <a:spcPts val="0"/>
              </a:spcAft>
            </a:pPr>
            <a:r>
              <a:rPr sz="739" i="0">
                <a:solidFill>
                  <a:srgbClr val="5C6773"/>
                </a:solidFill>
                <a:latin typeface="Inconsolata"/>
              </a:rPr>
              <a:t>37  </a:t>
            </a:r>
            <a:r>
              <a:rPr sz="739" i="0">
                <a:solidFill>
                  <a:srgbClr val="E6EDF3"/>
                </a:solidFill>
                <a:latin typeface="Inconsolata"/>
              </a:rPr>
              <a:t>    time.sleep(</a:t>
            </a:r>
            <a:r>
              <a:rPr sz="739" i="0">
                <a:solidFill>
                  <a:srgbClr val="F9C97A"/>
                </a:solidFill>
                <a:latin typeface="Inconsolata"/>
              </a:rPr>
              <a:t>10</a:t>
            </a:r>
            <a:r>
              <a:rPr sz="739" i="0">
                <a:solidFill>
                  <a:srgbClr val="E6EDF3"/>
                </a:solidFill>
                <a:latin typeface="Inconsolata"/>
              </a:rPr>
              <a:t>)</a:t>
            </a:r>
          </a:p>
          <a:p>
            <a:pPr>
              <a:lnSpc>
                <a:spcPct val="101459"/>
              </a:lnSpc>
              <a:spcAft>
                <a:spcPts val="0"/>
              </a:spcAft>
            </a:pPr>
            <a:r>
              <a:rPr sz="739" i="0">
                <a:solidFill>
                  <a:srgbClr val="5C6773"/>
                </a:solidFill>
                <a:latin typeface="Inconsolata"/>
              </a:rPr>
              <a:t>38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a:t>
            </a:r>
            <a:r>
              <a:rPr sz="739" i="0">
                <a:solidFill>
                  <a:srgbClr val="A5D6A7"/>
                </a:solidFill>
                <a:latin typeface="Inconsolata"/>
              </a:rPr>
              <a:t>"month"</a:t>
            </a:r>
            <a:r>
              <a:rPr sz="739" i="0">
                <a:solidFill>
                  <a:srgbClr val="E6EDF3"/>
                </a:solidFill>
                <a:latin typeface="Inconsolata"/>
              </a:rPr>
              <a:t>: month, </a:t>
            </a:r>
            <a:r>
              <a:rPr sz="739" i="0">
                <a:solidFill>
                  <a:srgbClr val="A5D6A7"/>
                </a:solidFill>
                <a:latin typeface="Inconsolata"/>
              </a:rPr>
              <a:t>"orders"</a:t>
            </a:r>
            <a:r>
              <a:rPr sz="739" i="0">
                <a:solidFill>
                  <a:srgbClr val="E6EDF3"/>
                </a:solidFill>
                <a:latin typeface="Inconsolata"/>
              </a:rPr>
              <a:t>: </a:t>
            </a:r>
            <a:r>
              <a:rPr sz="739" i="0">
                <a:solidFill>
                  <a:srgbClr val="F9C97A"/>
                </a:solidFill>
                <a:latin typeface="Inconsolata"/>
              </a:rPr>
              <a:t>120</a:t>
            </a:r>
            <a:r>
              <a:rPr sz="739" i="0">
                <a:solidFill>
                  <a:srgbClr val="E6EDF3"/>
                </a:solidFill>
                <a:latin typeface="Inconsolata"/>
              </a:rPr>
              <a:t>, </a:t>
            </a:r>
            <a:r>
              <a:rPr sz="739" i="0">
                <a:solidFill>
                  <a:srgbClr val="A5D6A7"/>
                </a:solidFill>
                <a:latin typeface="Inconsolata"/>
              </a:rPr>
              <a:t>"revenue"</a:t>
            </a:r>
            <a:r>
              <a:rPr sz="739" i="0">
                <a:solidFill>
                  <a:srgbClr val="E6EDF3"/>
                </a:solidFill>
                <a:latin typeface="Inconsolata"/>
              </a:rPr>
              <a:t>: </a:t>
            </a:r>
            <a:r>
              <a:rPr sz="739" i="0">
                <a:solidFill>
                  <a:srgbClr val="F9C97A"/>
                </a:solidFill>
                <a:latin typeface="Inconsolata"/>
              </a:rPr>
              <a:t>54_000_000</a:t>
            </a:r>
            <a:r>
              <a:rPr sz="73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04-task-status/after.py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1459"/>
              </a:lnSpc>
              <a:spcAft>
                <a:spcPts val="0"/>
              </a:spcAft>
            </a:pPr>
            <a:r>
              <a:rPr sz="739" i="0">
                <a:solidFill>
                  <a:srgbClr val="5C6773"/>
                </a:solidFill>
                <a:latin typeface="Inconsolata"/>
              </a:rPr>
              <a:t>41  </a:t>
            </a:r>
            <a:r>
              <a:rPr sz="739" i="0">
                <a:solidFill>
                  <a:srgbClr val="F9C97A"/>
                </a:solidFill>
                <a:latin typeface="Inconsolata"/>
              </a:rPr>
              <a:t>@app.post</a:t>
            </a:r>
            <a:r>
              <a:rPr sz="739" i="0">
                <a:solidFill>
                  <a:srgbClr val="E6EDF3"/>
                </a:solidFill>
                <a:latin typeface="Inconsolata"/>
              </a:rPr>
              <a:t>(</a:t>
            </a:r>
            <a:r>
              <a:rPr sz="739" i="0">
                <a:solidFill>
                  <a:srgbClr val="A5D6A7"/>
                </a:solidFill>
                <a:latin typeface="Inconsolata"/>
              </a:rPr>
              <a:t>"/reports/sales"</a:t>
            </a:r>
            <a:r>
              <a:rPr sz="739" i="0">
                <a:solidFill>
                  <a:srgbClr val="E6EDF3"/>
                </a:solidFill>
                <a:latin typeface="Inconsolata"/>
              </a:rPr>
              <a:t>, status_code=</a:t>
            </a:r>
            <a:r>
              <a:rPr sz="739" i="0">
                <a:solidFill>
                  <a:srgbClr val="F9C97A"/>
                </a:solidFill>
                <a:latin typeface="Inconsolata"/>
              </a:rPr>
              <a:t>202</a:t>
            </a:r>
            <a:r>
              <a:rPr sz="739" i="0">
                <a:solidFill>
                  <a:srgbClr val="E6EDF3"/>
                </a:solidFill>
                <a:latin typeface="Inconsolata"/>
              </a:rPr>
              <a:t>)</a:t>
            </a:r>
          </a:p>
          <a:p>
            <a:pPr>
              <a:lnSpc>
                <a:spcPct val="101459"/>
              </a:lnSpc>
              <a:spcAft>
                <a:spcPts val="0"/>
              </a:spcAft>
            </a:pPr>
            <a:r>
              <a:rPr sz="739" i="0">
                <a:solidFill>
                  <a:srgbClr val="5C6773"/>
                </a:solidFill>
                <a:latin typeface="Inconsolata"/>
              </a:rPr>
              <a:t>42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create_sales_report</a:t>
            </a:r>
            <a:r>
              <a:rPr sz="739" i="0">
                <a:solidFill>
                  <a:srgbClr val="E6EDF3"/>
                </a:solidFill>
                <a:latin typeface="Inconsolata"/>
              </a:rPr>
              <a:t>(month: </a:t>
            </a:r>
            <a:r>
              <a:rPr sz="739" i="0">
                <a:solidFill>
                  <a:srgbClr val="C3A6FF"/>
                </a:solidFill>
                <a:latin typeface="Inconsolata"/>
              </a:rPr>
              <a:t>str</a:t>
            </a:r>
            <a:r>
              <a:rPr sz="739" i="0">
                <a:solidFill>
                  <a:srgbClr val="E6EDF3"/>
                </a:solidFill>
                <a:latin typeface="Inconsolata"/>
              </a:rPr>
              <a:t>):</a:t>
            </a:r>
          </a:p>
          <a:p>
            <a:pPr>
              <a:lnSpc>
                <a:spcPct val="101459"/>
              </a:lnSpc>
              <a:spcAft>
                <a:spcPts val="0"/>
              </a:spcAft>
            </a:pPr>
            <a:r>
              <a:rPr sz="739" i="0">
                <a:solidFill>
                  <a:srgbClr val="5C6773"/>
                </a:solidFill>
                <a:latin typeface="Inconsolata"/>
              </a:rPr>
              <a:t>43  </a:t>
            </a:r>
            <a:r>
              <a:rPr sz="739" i="0">
                <a:solidFill>
                  <a:srgbClr val="E6EDF3"/>
                </a:solidFill>
                <a:latin typeface="Inconsolata"/>
              </a:rPr>
              <a:t>    task = generate_sales_report.delay(month)</a:t>
            </a:r>
          </a:p>
          <a:p>
            <a:pPr>
              <a:lnSpc>
                <a:spcPct val="101459"/>
              </a:lnSpc>
              <a:spcAft>
                <a:spcPts val="0"/>
              </a:spcAft>
            </a:pPr>
            <a:r>
              <a:rPr sz="739" i="0">
                <a:solidFill>
                  <a:srgbClr val="5C6773"/>
                </a:solidFill>
                <a:latin typeface="Inconsolata"/>
              </a:rPr>
              <a:t>44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a:t>
            </a:r>
            <a:r>
              <a:rPr sz="739" i="0">
                <a:solidFill>
                  <a:srgbClr val="A5D6A7"/>
                </a:solidFill>
                <a:latin typeface="Inconsolata"/>
              </a:rPr>
              <a:t>"task_id"</a:t>
            </a:r>
            <a:r>
              <a:rPr sz="739" i="0">
                <a:solidFill>
                  <a:srgbClr val="E6EDF3"/>
                </a:solidFill>
                <a:latin typeface="Inconsolata"/>
              </a:rPr>
              <a:t>: task.id, </a:t>
            </a:r>
            <a:r>
              <a:rPr sz="739" i="0">
                <a:solidFill>
                  <a:srgbClr val="A5D6A7"/>
                </a:solidFill>
                <a:latin typeface="Inconsolata"/>
              </a:rPr>
              <a:t>"status_url"</a:t>
            </a:r>
            <a:r>
              <a:rPr sz="739" i="0">
                <a:solidFill>
                  <a:srgbClr val="E6EDF3"/>
                </a:solidFill>
                <a:latin typeface="Inconsolata"/>
              </a:rPr>
              <a:t>: </a:t>
            </a:r>
            <a:r>
              <a:rPr sz="739" i="0">
                <a:solidFill>
                  <a:srgbClr val="A5D6A7"/>
                </a:solidFill>
                <a:latin typeface="Inconsolata"/>
              </a:rPr>
              <a:t>f"/reports/{task.id}"</a:t>
            </a:r>
            <a:r>
              <a:rPr sz="739" i="0">
                <a:solidFill>
                  <a:srgbClr val="E6EDF3"/>
                </a:solidFill>
                <a:latin typeface="Inconsolata"/>
              </a:rPr>
              <a:t>}</a:t>
            </a:r>
          </a:p>
          <a:p>
            <a:pPr>
              <a:lnSpc>
                <a:spcPct val="101459"/>
              </a:lnSpc>
              <a:spcAft>
                <a:spcPts val="0"/>
              </a:spcAft>
            </a:pPr>
            <a:r>
              <a:rPr sz="739" i="0">
                <a:solidFill>
                  <a:srgbClr val="5C6773"/>
                </a:solidFill>
                <a:latin typeface="Inconsolata"/>
              </a:rPr>
              <a:t>45  </a:t>
            </a:r>
            <a:r>
              <a:rPr sz="739" i="0">
                <a:solidFill>
                  <a:srgbClr val="E6EDF3"/>
                </a:solidFill>
                <a:latin typeface="Inconsolata"/>
              </a:rPr>
              <a:t> </a:t>
            </a:r>
          </a:p>
          <a:p>
            <a:pPr>
              <a:lnSpc>
                <a:spcPct val="101459"/>
              </a:lnSpc>
              <a:spcAft>
                <a:spcPts val="0"/>
              </a:spcAft>
            </a:pPr>
            <a:r>
              <a:rPr sz="739" i="0">
                <a:solidFill>
                  <a:srgbClr val="5C6773"/>
                </a:solidFill>
                <a:latin typeface="Inconsolata"/>
              </a:rPr>
              <a:t>46  </a:t>
            </a:r>
            <a:r>
              <a:rPr sz="739" i="0">
                <a:solidFill>
                  <a:srgbClr val="E6EDF3"/>
                </a:solidFill>
                <a:latin typeface="Inconsolata"/>
              </a:rPr>
              <a:t> </a:t>
            </a:r>
          </a:p>
          <a:p>
            <a:pPr>
              <a:lnSpc>
                <a:spcPct val="101459"/>
              </a:lnSpc>
              <a:spcAft>
                <a:spcPts val="0"/>
              </a:spcAft>
            </a:pPr>
            <a:r>
              <a:rPr sz="739" i="0">
                <a:solidFill>
                  <a:srgbClr val="5C6773"/>
                </a:solidFill>
                <a:latin typeface="Inconsolata"/>
              </a:rPr>
              <a:t>47  </a:t>
            </a:r>
            <a:r>
              <a:rPr sz="739" i="0">
                <a:solidFill>
                  <a:srgbClr val="F9C97A"/>
                </a:solidFill>
                <a:latin typeface="Inconsolata"/>
              </a:rPr>
              <a:t>@app.get</a:t>
            </a:r>
            <a:r>
              <a:rPr sz="739" i="0">
                <a:solidFill>
                  <a:srgbClr val="E6EDF3"/>
                </a:solidFill>
                <a:latin typeface="Inconsolata"/>
              </a:rPr>
              <a:t>(</a:t>
            </a:r>
            <a:r>
              <a:rPr sz="739" i="0">
                <a:solidFill>
                  <a:srgbClr val="A5D6A7"/>
                </a:solidFill>
                <a:latin typeface="Inconsolata"/>
              </a:rPr>
              <a:t>"/reports/{task_id}"</a:t>
            </a:r>
            <a:r>
              <a:rPr sz="739" i="0">
                <a:solidFill>
                  <a:srgbClr val="E6EDF3"/>
                </a:solidFill>
                <a:latin typeface="Inconsolata"/>
              </a:rPr>
              <a:t>)</a:t>
            </a:r>
          </a:p>
          <a:p>
            <a:pPr>
              <a:lnSpc>
                <a:spcPct val="101459"/>
              </a:lnSpc>
              <a:spcAft>
                <a:spcPts val="0"/>
              </a:spcAft>
            </a:pPr>
            <a:r>
              <a:rPr sz="739" i="0">
                <a:solidFill>
                  <a:srgbClr val="5C6773"/>
                </a:solidFill>
                <a:latin typeface="Inconsolata"/>
              </a:rPr>
              <a:t>48  </a:t>
            </a:r>
            <a:r>
              <a:rPr sz="739" i="0">
                <a:solidFill>
                  <a:srgbClr val="FF8E6E"/>
                </a:solidFill>
                <a:latin typeface="Inconsolata"/>
              </a:rPr>
              <a:t>def</a:t>
            </a:r>
            <a:r>
              <a:rPr sz="739" i="0">
                <a:solidFill>
                  <a:srgbClr val="E6EDF3"/>
                </a:solidFill>
                <a:latin typeface="Inconsolata"/>
              </a:rPr>
              <a:t> </a:t>
            </a:r>
            <a:r>
              <a:rPr sz="739" i="0">
                <a:solidFill>
                  <a:srgbClr val="82B1FF"/>
                </a:solidFill>
                <a:latin typeface="Inconsolata"/>
              </a:rPr>
              <a:t>get_report</a:t>
            </a:r>
            <a:r>
              <a:rPr sz="739" i="0">
                <a:solidFill>
                  <a:srgbClr val="E6EDF3"/>
                </a:solidFill>
                <a:latin typeface="Inconsolata"/>
              </a:rPr>
              <a:t>(task_id: </a:t>
            </a:r>
            <a:r>
              <a:rPr sz="739" i="0">
                <a:solidFill>
                  <a:srgbClr val="C3A6FF"/>
                </a:solidFill>
                <a:latin typeface="Inconsolata"/>
              </a:rPr>
              <a:t>str</a:t>
            </a:r>
            <a:r>
              <a:rPr sz="739" i="0">
                <a:solidFill>
                  <a:srgbClr val="E6EDF3"/>
                </a:solidFill>
                <a:latin typeface="Inconsolata"/>
              </a:rPr>
              <a:t>):</a:t>
            </a:r>
          </a:p>
          <a:p>
            <a:pPr>
              <a:lnSpc>
                <a:spcPct val="101459"/>
              </a:lnSpc>
              <a:spcAft>
                <a:spcPts val="0"/>
              </a:spcAft>
            </a:pPr>
            <a:r>
              <a:rPr sz="739" i="0">
                <a:solidFill>
                  <a:srgbClr val="5C6773"/>
                </a:solidFill>
                <a:latin typeface="Inconsolata"/>
              </a:rPr>
              <a:t>49  </a:t>
            </a:r>
            <a:r>
              <a:rPr sz="739" i="0">
                <a:solidFill>
                  <a:srgbClr val="E6EDF3"/>
                </a:solidFill>
                <a:latin typeface="Inconsolata"/>
              </a:rPr>
              <a:t>    result = </a:t>
            </a:r>
            <a:r>
              <a:rPr sz="739" i="0">
                <a:solidFill>
                  <a:srgbClr val="7FDBCA"/>
                </a:solidFill>
                <a:latin typeface="Inconsolata"/>
              </a:rPr>
              <a:t>AsyncResult</a:t>
            </a:r>
            <a:r>
              <a:rPr sz="739" i="0">
                <a:solidFill>
                  <a:srgbClr val="E6EDF3"/>
                </a:solidFill>
                <a:latin typeface="Inconsolata"/>
              </a:rPr>
              <a:t>(task_id, app=celery_app)</a:t>
            </a:r>
          </a:p>
          <a:p>
            <a:pPr>
              <a:lnSpc>
                <a:spcPct val="101459"/>
              </a:lnSpc>
              <a:spcAft>
                <a:spcPts val="0"/>
              </a:spcAft>
            </a:pPr>
            <a:r>
              <a:rPr sz="739" i="0">
                <a:solidFill>
                  <a:srgbClr val="5C6773"/>
                </a:solidFill>
                <a:latin typeface="Inconsolata"/>
              </a:rPr>
              <a:t>50  </a:t>
            </a:r>
            <a:r>
              <a:rPr sz="739" i="0">
                <a:solidFill>
                  <a:srgbClr val="E6EDF3"/>
                </a:solidFill>
                <a:latin typeface="Inconsolata"/>
              </a:rPr>
              <a:t>    </a:t>
            </a:r>
            <a:r>
              <a:rPr sz="739" i="0">
                <a:solidFill>
                  <a:srgbClr val="FF8E6E"/>
                </a:solidFill>
                <a:latin typeface="Inconsolata"/>
              </a:rPr>
              <a:t>return</a:t>
            </a:r>
            <a:r>
              <a:rPr sz="739" i="0">
                <a:solidFill>
                  <a:srgbClr val="E6EDF3"/>
                </a:solidFill>
                <a:latin typeface="Inconsolata"/>
              </a:rPr>
              <a:t> {</a:t>
            </a:r>
          </a:p>
          <a:p>
            <a:pPr>
              <a:lnSpc>
                <a:spcPct val="101459"/>
              </a:lnSpc>
              <a:spcAft>
                <a:spcPts val="0"/>
              </a:spcAft>
            </a:pPr>
            <a:r>
              <a:rPr sz="739" i="0">
                <a:solidFill>
                  <a:srgbClr val="5C6773"/>
                </a:solidFill>
                <a:latin typeface="Inconsolata"/>
              </a:rPr>
              <a:t>51  </a:t>
            </a:r>
            <a:r>
              <a:rPr sz="739" i="0">
                <a:solidFill>
                  <a:srgbClr val="E6EDF3"/>
                </a:solidFill>
                <a:latin typeface="Inconsolata"/>
              </a:rPr>
              <a:t>        </a:t>
            </a:r>
            <a:r>
              <a:rPr sz="739" i="0">
                <a:solidFill>
                  <a:srgbClr val="A5D6A7"/>
                </a:solidFill>
                <a:latin typeface="Inconsolata"/>
              </a:rPr>
              <a:t>"task_id"</a:t>
            </a:r>
            <a:r>
              <a:rPr sz="739" i="0">
                <a:solidFill>
                  <a:srgbClr val="E6EDF3"/>
                </a:solidFill>
                <a:latin typeface="Inconsolata"/>
              </a:rPr>
              <a:t>: task_id,</a:t>
            </a:r>
          </a:p>
          <a:p>
            <a:pPr>
              <a:lnSpc>
                <a:spcPct val="101459"/>
              </a:lnSpc>
              <a:spcAft>
                <a:spcPts val="0"/>
              </a:spcAft>
            </a:pPr>
            <a:r>
              <a:rPr sz="739" i="0">
                <a:solidFill>
                  <a:srgbClr val="5C6773"/>
                </a:solidFill>
                <a:latin typeface="Inconsolata"/>
              </a:rPr>
              <a:t>52  </a:t>
            </a:r>
            <a:r>
              <a:rPr sz="739" i="0">
                <a:solidFill>
                  <a:srgbClr val="E6EDF3"/>
                </a:solidFill>
                <a:latin typeface="Inconsolata"/>
              </a:rPr>
              <a:t>        </a:t>
            </a:r>
            <a:r>
              <a:rPr sz="739" i="0">
                <a:solidFill>
                  <a:srgbClr val="A5D6A7"/>
                </a:solidFill>
                <a:latin typeface="Inconsolata"/>
              </a:rPr>
              <a:t>"status"</a:t>
            </a:r>
            <a:r>
              <a:rPr sz="739" i="0">
                <a:solidFill>
                  <a:srgbClr val="E6EDF3"/>
                </a:solidFill>
                <a:latin typeface="Inconsolata"/>
              </a:rPr>
              <a:t>: </a:t>
            </a:r>
            <a:r>
              <a:rPr sz="739" i="0">
                <a:solidFill>
                  <a:srgbClr val="7FDBCA"/>
                </a:solidFill>
                <a:latin typeface="Inconsolata"/>
              </a:rPr>
              <a:t>STATUS</a:t>
            </a:r>
            <a:r>
              <a:rPr sz="739" i="0">
                <a:solidFill>
                  <a:srgbClr val="E6EDF3"/>
                </a:solidFill>
                <a:latin typeface="Inconsolata"/>
              </a:rPr>
              <a:t>.get(result.state, result.state.lower()),</a:t>
            </a:r>
          </a:p>
          <a:p>
            <a:pPr>
              <a:lnSpc>
                <a:spcPct val="101459"/>
              </a:lnSpc>
              <a:spcAft>
                <a:spcPts val="0"/>
              </a:spcAft>
            </a:pPr>
            <a:r>
              <a:rPr sz="739" i="0">
                <a:solidFill>
                  <a:srgbClr val="5C6773"/>
                </a:solidFill>
                <a:latin typeface="Inconsolata"/>
              </a:rPr>
              <a:t>53  </a:t>
            </a:r>
            <a:r>
              <a:rPr sz="739" i="0">
                <a:solidFill>
                  <a:srgbClr val="E6EDF3"/>
                </a:solidFill>
                <a:latin typeface="Inconsolata"/>
              </a:rPr>
              <a:t>        </a:t>
            </a:r>
            <a:r>
              <a:rPr sz="739" i="0">
                <a:solidFill>
                  <a:srgbClr val="A5D6A7"/>
                </a:solidFill>
                <a:latin typeface="Inconsolata"/>
              </a:rPr>
              <a:t>"result"</a:t>
            </a:r>
            <a:r>
              <a:rPr sz="739" i="0">
                <a:solidFill>
                  <a:srgbClr val="E6EDF3"/>
                </a:solidFill>
                <a:latin typeface="Inconsolata"/>
              </a:rPr>
              <a:t>: result.result </a:t>
            </a:r>
            <a:r>
              <a:rPr sz="739" i="0">
                <a:solidFill>
                  <a:srgbClr val="FF8E6E"/>
                </a:solidFill>
                <a:latin typeface="Inconsolata"/>
              </a:rPr>
              <a:t>if</a:t>
            </a:r>
            <a:r>
              <a:rPr sz="739" i="0">
                <a:solidFill>
                  <a:srgbClr val="E6EDF3"/>
                </a:solidFill>
                <a:latin typeface="Inconsolata"/>
              </a:rPr>
              <a:t> result.successful() </a:t>
            </a:r>
            <a:r>
              <a:rPr sz="739" i="0">
                <a:solidFill>
                  <a:srgbClr val="FF8E6E"/>
                </a:solidFill>
                <a:latin typeface="Inconsolata"/>
              </a:rPr>
              <a:t>else</a:t>
            </a:r>
            <a:r>
              <a:rPr sz="739" i="0">
                <a:solidFill>
                  <a:srgbClr val="E6EDF3"/>
                </a:solidFill>
                <a:latin typeface="Inconsolata"/>
              </a:rPr>
              <a:t> </a:t>
            </a:r>
            <a:r>
              <a:rPr sz="739" i="0">
                <a:solidFill>
                  <a:srgbClr val="FF8E6E"/>
                </a:solidFill>
                <a:latin typeface="Inconsolata"/>
              </a:rPr>
              <a:t>None</a:t>
            </a:r>
            <a:r>
              <a:rPr sz="739" i="0">
                <a:solidFill>
                  <a:srgbClr val="E6EDF3"/>
                </a:solidFill>
                <a:latin typeface="Inconsolata"/>
              </a:rPr>
              <a:t>,</a:t>
            </a:r>
          </a:p>
          <a:p>
            <a:pPr>
              <a:lnSpc>
                <a:spcPct val="101459"/>
              </a:lnSpc>
              <a:spcAft>
                <a:spcPts val="0"/>
              </a:spcAft>
            </a:pPr>
            <a:r>
              <a:rPr sz="739" i="0">
                <a:solidFill>
                  <a:srgbClr val="5C6773"/>
                </a:solidFill>
                <a:latin typeface="Inconsolata"/>
              </a:rPr>
              <a:t>54  </a:t>
            </a:r>
            <a:r>
              <a:rPr sz="739" i="0">
                <a:solidFill>
                  <a:srgbClr val="E6EDF3"/>
                </a:solidFill>
                <a:latin typeface="Inconsolata"/>
              </a:rPr>
              <a:t>        </a:t>
            </a:r>
            <a:r>
              <a:rPr sz="739" i="0">
                <a:solidFill>
                  <a:srgbClr val="A5D6A7"/>
                </a:solidFill>
                <a:latin typeface="Inconsolata"/>
              </a:rPr>
              <a:t>"error"</a:t>
            </a:r>
            <a:r>
              <a:rPr sz="739" i="0">
                <a:solidFill>
                  <a:srgbClr val="E6EDF3"/>
                </a:solidFill>
                <a:latin typeface="Inconsolata"/>
              </a:rPr>
              <a:t>: </a:t>
            </a:r>
            <a:r>
              <a:rPr sz="739" i="0">
                <a:solidFill>
                  <a:srgbClr val="C3A6FF"/>
                </a:solidFill>
                <a:latin typeface="Inconsolata"/>
              </a:rPr>
              <a:t>str</a:t>
            </a:r>
            <a:r>
              <a:rPr sz="739" i="0">
                <a:solidFill>
                  <a:srgbClr val="E6EDF3"/>
                </a:solidFill>
                <a:latin typeface="Inconsolata"/>
              </a:rPr>
              <a:t>(result.result) </a:t>
            </a:r>
            <a:r>
              <a:rPr sz="739" i="0">
                <a:solidFill>
                  <a:srgbClr val="FF8E6E"/>
                </a:solidFill>
                <a:latin typeface="Inconsolata"/>
              </a:rPr>
              <a:t>if</a:t>
            </a:r>
            <a:r>
              <a:rPr sz="739" i="0">
                <a:solidFill>
                  <a:srgbClr val="E6EDF3"/>
                </a:solidFill>
                <a:latin typeface="Inconsolata"/>
              </a:rPr>
              <a:t> result.failed() </a:t>
            </a:r>
            <a:r>
              <a:rPr sz="739" i="0">
                <a:solidFill>
                  <a:srgbClr val="FF8E6E"/>
                </a:solidFill>
                <a:latin typeface="Inconsolata"/>
              </a:rPr>
              <a:t>else</a:t>
            </a:r>
            <a:r>
              <a:rPr sz="739" i="0">
                <a:solidFill>
                  <a:srgbClr val="E6EDF3"/>
                </a:solidFill>
                <a:latin typeface="Inconsolata"/>
              </a:rPr>
              <a:t> </a:t>
            </a:r>
            <a:r>
              <a:rPr sz="739" i="0">
                <a:solidFill>
                  <a:srgbClr val="FF8E6E"/>
                </a:solidFill>
                <a:latin typeface="Inconsolata"/>
              </a:rPr>
              <a:t>None</a:t>
            </a:r>
            <a:r>
              <a:rPr sz="739" i="0">
                <a:solidFill>
                  <a:srgbClr val="E6EDF3"/>
                </a:solidFill>
                <a:latin typeface="Inconsolata"/>
              </a:rPr>
              <a:t>,</a:t>
            </a:r>
          </a:p>
          <a:p>
            <a:pPr>
              <a:lnSpc>
                <a:spcPct val="101459"/>
              </a:lnSpc>
              <a:spcAft>
                <a:spcPts val="0"/>
              </a:spcAft>
            </a:pPr>
            <a:r>
              <a:rPr sz="739" i="0">
                <a:solidFill>
                  <a:srgbClr val="5C6773"/>
                </a:solidFill>
                <a:latin typeface="Inconsolata"/>
              </a:rPr>
              <a:t>55  </a:t>
            </a:r>
            <a:r>
              <a:rPr sz="739" i="0">
                <a:solidFill>
                  <a:srgbClr val="E6EDF3"/>
                </a:solidFill>
                <a:latin typeface="Inconsolata"/>
              </a:rPr>
              <a:t>    }</a:t>
            </a:r>
          </a:p>
        </p:txBody>
      </p:sp>
      <p:sp>
        <p:nvSpPr>
          <p:cNvPr id="36" name="Box 21"/>
          <p:cNvSpPr/>
          <p:nvPr/>
        </p:nvSpPr>
        <p:spPr>
          <a:xfrm>
            <a:off x="704088" y="2739771"/>
            <a:ext cx="3694176" cy="221742"/>
          </a:xfrm>
          <a:prstGeom prst="roundRect">
            <a:avLst>
              <a:gd name="adj" fmla="val 20618"/>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73177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196971"/>
            <a:ext cx="3694176" cy="336042"/>
          </a:xfrm>
          <a:prstGeom prst="roundRect">
            <a:avLst>
              <a:gd name="adj" fmla="val 1360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2461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739771"/>
            <a:ext cx="3694176" cy="678942"/>
          </a:xfrm>
          <a:prstGeom prst="roundRect">
            <a:avLst>
              <a:gd name="adj" fmla="val 673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96037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04-task-status/after.py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758952"/>
          </a:xfrm>
          <a:prstGeom prst="roundRect">
            <a:avLst>
              <a:gd name="adj" fmla="val 240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758952"/>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sesi-05-async-tasks-celery-redis/04-task-status</a:t>
            </a:r>
          </a:p>
          <a:p>
            <a:pPr>
              <a:lnSpc>
                <a:spcPct val="107843"/>
              </a:lnSpc>
              <a:spcAft>
                <a:spcPts val="0"/>
              </a:spcAft>
            </a:pPr>
            <a:r>
              <a:rPr sz="850" i="0">
                <a:solidFill>
                  <a:srgbClr val="82B1FF"/>
                </a:solidFill>
                <a:latin typeface="Inconsolata"/>
              </a:rPr>
              <a:t>$ docker compose -f ../docker-compose.yml up -d</a:t>
            </a:r>
          </a:p>
          <a:p>
            <a:pPr>
              <a:lnSpc>
                <a:spcPct val="107843"/>
              </a:lnSpc>
              <a:spcAft>
                <a:spcPts val="0"/>
              </a:spcAft>
            </a:pPr>
            <a:r>
              <a:rPr sz="850" i="0">
                <a:solidFill>
                  <a:srgbClr val="82B1FF"/>
                </a:solidFill>
                <a:latin typeface="Inconsolata"/>
              </a:rPr>
              <a:t>$ celery -A after:celery_app worker --loglevel=info --pool=solo</a:t>
            </a:r>
          </a:p>
          <a:p>
            <a:pPr>
              <a:lnSpc>
                <a:spcPct val="107843"/>
              </a:lnSpc>
              <a:spcAft>
                <a:spcPts val="0"/>
              </a:spcAft>
            </a:pPr>
            <a:r>
              <a:rPr sz="850" i="0">
                <a:solidFill>
                  <a:srgbClr val="82B1FF"/>
                </a:solidFill>
                <a:latin typeface="Inconsolata"/>
              </a:rPr>
              <a:t>$ uvicorn after:app --reload</a:t>
            </a:r>
          </a:p>
        </p:txBody>
      </p:sp>
      <p:pic>
        <p:nvPicPr>
          <p:cNvPr id="29" name="Image 12" descr="s05-04-task-status-after.png"/>
          <p:cNvPicPr>
            <a:picLocks noChangeAspect="1"/>
          </p:cNvPicPr>
          <p:nvPr/>
        </p:nvPicPr>
        <p:blipFill>
          <a:blip r:embed="rId2"/>
          <a:stretch>
            <a:fillRect/>
          </a:stretch>
        </p:blipFill>
        <p:spPr>
          <a:xfrm>
            <a:off x="621792" y="2596896"/>
            <a:ext cx="3707980" cy="2103120"/>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Result backend Redis, dan status </a:t>
            </a:r>
            <a:r>
              <a:rPr sz="950" b="0" i="0">
                <a:solidFill>
                  <a:srgbClr val="B5482A"/>
                </a:solidFill>
                <a:latin typeface="Inconsolata"/>
              </a:rPr>
              <a:t>STARTED</a:t>
            </a:r>
            <a:r>
              <a:rPr sz="950" b="0" i="0">
                <a:solidFill>
                  <a:srgbClr val="434343"/>
                </a:solidFill>
                <a:latin typeface="Inter"/>
              </a:rPr>
              <a:t> ikut dicatat (baris 26-27)</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Nama status Celery diubah jadi istilah API (baris 30-32)</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AsyncResult</a:t>
            </a:r>
            <a:r>
              <a:rPr sz="950" b="0" i="0">
                <a:solidFill>
                  <a:srgbClr val="434343"/>
                </a:solidFill>
                <a:latin typeface="Inter"/>
              </a:rPr>
              <a:t> membaca status, hasil, dan error dari Redis (baris 49-54)</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Status berubah dari </a:t>
            </a:r>
            <a:r>
              <a:rPr sz="950" b="0" i="0">
                <a:solidFill>
                  <a:srgbClr val="B5482A"/>
                </a:solidFill>
                <a:latin typeface="Inconsolata"/>
              </a:rPr>
              <a:t>running</a:t>
            </a:r>
            <a:r>
              <a:rPr sz="950" b="0" i="0">
                <a:solidFill>
                  <a:srgbClr val="434343"/>
                </a:solidFill>
                <a:latin typeface="Inter"/>
              </a:rPr>
              <a:t> menjadi </a:t>
            </a:r>
            <a:r>
              <a:rPr sz="950" b="0" i="0">
                <a:solidFill>
                  <a:srgbClr val="B5482A"/>
                </a:solidFill>
                <a:latin typeface="Inconsolata"/>
              </a:rPr>
              <a:t>done</a:t>
            </a:r>
            <a:r>
              <a:rPr sz="950" b="0" i="0">
                <a:solidFill>
                  <a:srgbClr val="434343"/>
                </a:solidFill>
                <a:latin typeface="Inter"/>
              </a:rPr>
              <a:t>, lengkap dengan hasilnya.</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Task Status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Cara Membaca Flow</a:t>
            </a:r>
          </a:p>
        </p:txBody>
      </p:sp>
      <p:sp>
        <p:nvSpPr>
          <p:cNvPr id="22" name="CodeTab 4"/>
          <p:cNvSpPr/>
          <p:nvPr/>
        </p:nvSpPr>
        <p:spPr>
          <a:xfrm>
            <a:off x="621792" y="1481328"/>
            <a:ext cx="507492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43484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04-task-status/after.py</a:t>
            </a:r>
          </a:p>
        </p:txBody>
      </p:sp>
      <p:sp>
        <p:nvSpPr>
          <p:cNvPr id="27" name="CodeBg 10"/>
          <p:cNvSpPr/>
          <p:nvPr/>
        </p:nvSpPr>
        <p:spPr>
          <a:xfrm>
            <a:off x="621792" y="1719072"/>
            <a:ext cx="507492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074920" cy="2980944"/>
          </a:xfrm>
          <a:prstGeom prst="rect">
            <a:avLst/>
          </a:prstGeom>
          <a:noFill/>
        </p:spPr>
        <p:txBody>
          <a:bodyPr wrap="none" lIns="146304" tIns="91440" rIns="146304" bIns="54864">
            <a:spAutoFit/>
          </a:bodyPr>
          <a:lstStyle/>
          <a:p>
            <a:pPr>
              <a:lnSpc>
                <a:spcPct val="111111"/>
              </a:lnSpc>
              <a:spcAft>
                <a:spcPts val="0"/>
              </a:spcAft>
            </a:pPr>
            <a:r>
              <a:rPr sz="750" i="0">
                <a:solidFill>
                  <a:srgbClr val="E6EDF3"/>
                </a:solidFill>
                <a:latin typeface="Inconsolata"/>
              </a:rPr>
              <a:t>celery_app.conf.task_track_started = </a:t>
            </a:r>
            <a:r>
              <a:rPr sz="750" i="0">
                <a:solidFill>
                  <a:srgbClr val="FF8E6E"/>
                </a:solidFill>
                <a:latin typeface="Inconsolata"/>
              </a:rPr>
              <a:t>True</a:t>
            </a:r>
          </a:p>
          <a:p>
            <a:pPr>
              <a:lnSpc>
                <a:spcPct val="111111"/>
              </a:lnSpc>
              <a:spcAft>
                <a:spcPts val="0"/>
              </a:spcAft>
            </a:pPr>
            <a:r>
              <a:rPr sz="750" i="0">
                <a:solidFill>
                  <a:srgbClr val="E6EDF3"/>
                </a:solidFill>
                <a:latin typeface="Inconsolata"/>
              </a:rPr>
              <a:t>...</a:t>
            </a:r>
          </a:p>
          <a:p>
            <a:pPr>
              <a:lnSpc>
                <a:spcPct val="111111"/>
              </a:lnSpc>
              <a:spcAft>
                <a:spcPts val="0"/>
              </a:spcAft>
            </a:pPr>
            <a:r>
              <a:rPr sz="750" i="0">
                <a:solidFill>
                  <a:srgbClr val="F9C97A"/>
                </a:solidFill>
                <a:latin typeface="Inconsolata"/>
              </a:rPr>
              <a:t>@celery_app.task</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generate_sales_report</a:t>
            </a:r>
            <a:r>
              <a:rPr sz="750" i="0">
                <a:solidFill>
                  <a:srgbClr val="E6EDF3"/>
                </a:solidFill>
                <a:latin typeface="Inconsolata"/>
              </a:rPr>
              <a:t>(month: </a:t>
            </a:r>
            <a:r>
              <a:rPr sz="750" i="0">
                <a:solidFill>
                  <a:srgbClr val="C3A6FF"/>
                </a:solidFill>
                <a:latin typeface="Inconsolata"/>
              </a:rPr>
              <a:t>str</a:t>
            </a:r>
            <a:r>
              <a:rPr sz="750" i="0">
                <a:solidFill>
                  <a:srgbClr val="E6EDF3"/>
                </a:solidFill>
                <a:latin typeface="Inconsolata"/>
              </a:rPr>
              <a:t>) -&gt; </a:t>
            </a:r>
            <a:r>
              <a:rPr sz="750" i="0">
                <a:solidFill>
                  <a:srgbClr val="C3A6FF"/>
                </a:solidFill>
                <a:latin typeface="Inconsolata"/>
              </a:rPr>
              <a:t>dict</a:t>
            </a:r>
            <a:r>
              <a:rPr sz="750" i="0">
                <a:solidFill>
                  <a:srgbClr val="E6EDF3"/>
                </a:solidFill>
                <a:latin typeface="Inconsolata"/>
              </a:rPr>
              <a:t>:</a:t>
            </a:r>
          </a:p>
          <a:p>
            <a:pPr>
              <a:lnSpc>
                <a:spcPct val="111111"/>
              </a:lnSpc>
              <a:spcAft>
                <a:spcPts val="0"/>
              </a:spcAft>
            </a:pPr>
            <a:r>
              <a:rPr sz="750" i="0">
                <a:solidFill>
                  <a:srgbClr val="E6EDF3"/>
                </a:solidFill>
                <a:latin typeface="Inconsolata"/>
              </a:rPr>
              <a:t>    time.sleep(</a:t>
            </a:r>
            <a:r>
              <a:rPr sz="750" i="0">
                <a:solidFill>
                  <a:srgbClr val="F9C97A"/>
                </a:solidFill>
                <a:latin typeface="Inconsolata"/>
              </a:rPr>
              <a:t>10</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A5D6A7"/>
                </a:solidFill>
                <a:latin typeface="Inconsolata"/>
              </a:rPr>
              <a:t>"month"</a:t>
            </a:r>
            <a:r>
              <a:rPr sz="750" i="0">
                <a:solidFill>
                  <a:srgbClr val="E6EDF3"/>
                </a:solidFill>
                <a:latin typeface="Inconsolata"/>
              </a:rPr>
              <a:t>: month, </a:t>
            </a:r>
            <a:r>
              <a:rPr sz="750" i="0">
                <a:solidFill>
                  <a:srgbClr val="A5D6A7"/>
                </a:solidFill>
                <a:latin typeface="Inconsolata"/>
              </a:rPr>
              <a:t>"orders"</a:t>
            </a:r>
            <a:r>
              <a:rPr sz="750" i="0">
                <a:solidFill>
                  <a:srgbClr val="E6EDF3"/>
                </a:solidFill>
                <a:latin typeface="Inconsolata"/>
              </a:rPr>
              <a:t>: </a:t>
            </a:r>
            <a:r>
              <a:rPr sz="750" i="0">
                <a:solidFill>
                  <a:srgbClr val="F9C97A"/>
                </a:solidFill>
                <a:latin typeface="Inconsolata"/>
              </a:rPr>
              <a:t>120</a:t>
            </a:r>
            <a:r>
              <a:rPr sz="750" i="0">
                <a:solidFill>
                  <a:srgbClr val="E6EDF3"/>
                </a:solidFill>
                <a:latin typeface="Inconsolata"/>
              </a:rPr>
              <a:t>, </a:t>
            </a:r>
            <a:r>
              <a:rPr sz="750" i="0">
                <a:solidFill>
                  <a:srgbClr val="A5D6A7"/>
                </a:solidFill>
                <a:latin typeface="Inconsolata"/>
              </a:rPr>
              <a:t>"revenue"</a:t>
            </a:r>
            <a:r>
              <a:rPr sz="750" i="0">
                <a:solidFill>
                  <a:srgbClr val="E6EDF3"/>
                </a:solidFill>
                <a:latin typeface="Inconsolata"/>
              </a:rPr>
              <a:t>: </a:t>
            </a:r>
            <a:r>
              <a:rPr sz="750" i="0">
                <a:solidFill>
                  <a:srgbClr val="F9C97A"/>
                </a:solidFill>
                <a:latin typeface="Inconsolata"/>
              </a:rPr>
              <a:t>54_000_000</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9C97A"/>
                </a:solidFill>
                <a:latin typeface="Inconsolata"/>
              </a:rPr>
              <a:t>@app.post</a:t>
            </a:r>
            <a:r>
              <a:rPr sz="750" i="0">
                <a:solidFill>
                  <a:srgbClr val="E6EDF3"/>
                </a:solidFill>
                <a:latin typeface="Inconsolata"/>
              </a:rPr>
              <a:t>(</a:t>
            </a:r>
            <a:r>
              <a:rPr sz="750" i="0">
                <a:solidFill>
                  <a:srgbClr val="A5D6A7"/>
                </a:solidFill>
                <a:latin typeface="Inconsolata"/>
              </a:rPr>
              <a:t>"/reports/sales"</a:t>
            </a:r>
            <a:r>
              <a:rPr sz="750" i="0">
                <a:solidFill>
                  <a:srgbClr val="E6EDF3"/>
                </a:solidFill>
                <a:latin typeface="Inconsolata"/>
              </a:rPr>
              <a:t>, status_code=</a:t>
            </a:r>
            <a:r>
              <a:rPr sz="750" i="0">
                <a:solidFill>
                  <a:srgbClr val="F9C97A"/>
                </a:solidFill>
                <a:latin typeface="Inconsolata"/>
              </a:rPr>
              <a:t>202</a:t>
            </a:r>
            <a:r>
              <a:rPr sz="750" i="0">
                <a:solidFill>
                  <a:srgbClr val="E6EDF3"/>
                </a:solidFill>
                <a:latin typeface="Inconsolata"/>
              </a:rPr>
              <a:t>)</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create_sales_report</a:t>
            </a:r>
            <a:r>
              <a:rPr sz="750" i="0">
                <a:solidFill>
                  <a:srgbClr val="E6EDF3"/>
                </a:solidFill>
                <a:latin typeface="Inconsolata"/>
              </a:rPr>
              <a:t>(month: </a:t>
            </a:r>
            <a:r>
              <a:rPr sz="750" i="0">
                <a:solidFill>
                  <a:srgbClr val="C3A6FF"/>
                </a:solidFill>
                <a:latin typeface="Inconsolata"/>
              </a:rPr>
              <a:t>str</a:t>
            </a:r>
            <a:r>
              <a:rPr sz="750" i="0">
                <a:solidFill>
                  <a:srgbClr val="E6EDF3"/>
                </a:solidFill>
                <a:latin typeface="Inconsolata"/>
              </a:rPr>
              <a:t>):</a:t>
            </a:r>
          </a:p>
          <a:p>
            <a:pPr>
              <a:lnSpc>
                <a:spcPct val="111111"/>
              </a:lnSpc>
              <a:spcAft>
                <a:spcPts val="0"/>
              </a:spcAft>
            </a:pPr>
            <a:r>
              <a:rPr sz="750" i="0">
                <a:solidFill>
                  <a:srgbClr val="E6EDF3"/>
                </a:solidFill>
                <a:latin typeface="Inconsolata"/>
              </a:rPr>
              <a:t>    task = generate_sales_report.delay(month)</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A5D6A7"/>
                </a:solidFill>
                <a:latin typeface="Inconsolata"/>
              </a:rPr>
              <a:t>"task_id"</a:t>
            </a:r>
            <a:r>
              <a:rPr sz="750" i="0">
                <a:solidFill>
                  <a:srgbClr val="E6EDF3"/>
                </a:solidFill>
                <a:latin typeface="Inconsolata"/>
              </a:rPr>
              <a:t>: task.id, </a:t>
            </a:r>
            <a:r>
              <a:rPr sz="750" i="0">
                <a:solidFill>
                  <a:srgbClr val="A5D6A7"/>
                </a:solidFill>
                <a:latin typeface="Inconsolata"/>
              </a:rPr>
              <a:t>"status_url"</a:t>
            </a:r>
            <a:r>
              <a:rPr sz="750" i="0">
                <a:solidFill>
                  <a:srgbClr val="E6EDF3"/>
                </a:solidFill>
                <a:latin typeface="Inconsolata"/>
              </a:rPr>
              <a:t>: </a:t>
            </a:r>
            <a:r>
              <a:rPr sz="750" i="0">
                <a:solidFill>
                  <a:srgbClr val="A5D6A7"/>
                </a:solidFill>
                <a:latin typeface="Inconsolata"/>
              </a:rPr>
              <a:t>f"/reports/{task.id}"</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9C97A"/>
                </a:solidFill>
                <a:latin typeface="Inconsolata"/>
              </a:rPr>
              <a:t>@app.get</a:t>
            </a:r>
            <a:r>
              <a:rPr sz="750" i="0">
                <a:solidFill>
                  <a:srgbClr val="E6EDF3"/>
                </a:solidFill>
                <a:latin typeface="Inconsolata"/>
              </a:rPr>
              <a:t>(</a:t>
            </a:r>
            <a:r>
              <a:rPr sz="750" i="0">
                <a:solidFill>
                  <a:srgbClr val="A5D6A7"/>
                </a:solidFill>
                <a:latin typeface="Inconsolata"/>
              </a:rPr>
              <a:t>"/reports/{task_id}"</a:t>
            </a:r>
            <a:r>
              <a:rPr sz="750" i="0">
                <a:solidFill>
                  <a:srgbClr val="E6EDF3"/>
                </a:solidFill>
                <a:latin typeface="Inconsolata"/>
              </a:rPr>
              <a:t>)</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get_report</a:t>
            </a:r>
            <a:r>
              <a:rPr sz="750" i="0">
                <a:solidFill>
                  <a:srgbClr val="E6EDF3"/>
                </a:solidFill>
                <a:latin typeface="Inconsolata"/>
              </a:rPr>
              <a:t>(task_id: </a:t>
            </a:r>
            <a:r>
              <a:rPr sz="750" i="0">
                <a:solidFill>
                  <a:srgbClr val="C3A6FF"/>
                </a:solidFill>
                <a:latin typeface="Inconsolata"/>
              </a:rPr>
              <a:t>str</a:t>
            </a:r>
            <a:r>
              <a:rPr sz="750" i="0">
                <a:solidFill>
                  <a:srgbClr val="E6EDF3"/>
                </a:solidFill>
                <a:latin typeface="Inconsolata"/>
              </a:rPr>
              <a:t>):</a:t>
            </a:r>
          </a:p>
          <a:p>
            <a:pPr>
              <a:lnSpc>
                <a:spcPct val="111111"/>
              </a:lnSpc>
              <a:spcAft>
                <a:spcPts val="0"/>
              </a:spcAft>
            </a:pPr>
            <a:r>
              <a:rPr sz="750" i="0">
                <a:solidFill>
                  <a:srgbClr val="E6EDF3"/>
                </a:solidFill>
                <a:latin typeface="Inconsolata"/>
              </a:rPr>
              <a:t>    result = </a:t>
            </a:r>
            <a:r>
              <a:rPr sz="750" i="0">
                <a:solidFill>
                  <a:srgbClr val="7FDBCA"/>
                </a:solidFill>
                <a:latin typeface="Inconsolata"/>
              </a:rPr>
              <a:t>AsyncResult</a:t>
            </a:r>
            <a:r>
              <a:rPr sz="750" i="0">
                <a:solidFill>
                  <a:srgbClr val="E6EDF3"/>
                </a:solidFill>
                <a:latin typeface="Inconsolata"/>
              </a:rPr>
              <a:t>(task_id, app=celery_app)</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p>
          <a:p>
            <a:pPr>
              <a:lnSpc>
                <a:spcPct val="111111"/>
              </a:lnSpc>
              <a:spcAft>
                <a:spcPts val="0"/>
              </a:spcAft>
            </a:pPr>
            <a:r>
              <a:rPr sz="750" i="0">
                <a:solidFill>
                  <a:srgbClr val="E6EDF3"/>
                </a:solidFill>
                <a:latin typeface="Inconsolata"/>
              </a:rPr>
              <a:t>        </a:t>
            </a:r>
            <a:r>
              <a:rPr sz="750" i="0">
                <a:solidFill>
                  <a:srgbClr val="A5D6A7"/>
                </a:solidFill>
                <a:latin typeface="Inconsolata"/>
              </a:rPr>
              <a:t>"task_id"</a:t>
            </a:r>
            <a:r>
              <a:rPr sz="750" i="0">
                <a:solidFill>
                  <a:srgbClr val="E6EDF3"/>
                </a:solidFill>
                <a:latin typeface="Inconsolata"/>
              </a:rPr>
              <a:t>: task_id,</a:t>
            </a:r>
          </a:p>
          <a:p>
            <a:pPr>
              <a:lnSpc>
                <a:spcPct val="111111"/>
              </a:lnSpc>
              <a:spcAft>
                <a:spcPts val="0"/>
              </a:spcAft>
            </a:pPr>
            <a:r>
              <a:rPr sz="750" i="0">
                <a:solidFill>
                  <a:srgbClr val="E6EDF3"/>
                </a:solidFill>
                <a:latin typeface="Inconsolata"/>
              </a:rPr>
              <a:t>        </a:t>
            </a:r>
            <a:r>
              <a:rPr sz="750" i="0">
                <a:solidFill>
                  <a:srgbClr val="A5D6A7"/>
                </a:solidFill>
                <a:latin typeface="Inconsolata"/>
              </a:rPr>
              <a:t>"status"</a:t>
            </a:r>
            <a:r>
              <a:rPr sz="750" i="0">
                <a:solidFill>
                  <a:srgbClr val="E6EDF3"/>
                </a:solidFill>
                <a:latin typeface="Inconsolata"/>
              </a:rPr>
              <a:t>: </a:t>
            </a:r>
            <a:r>
              <a:rPr sz="750" i="0">
                <a:solidFill>
                  <a:srgbClr val="7FDBCA"/>
                </a:solidFill>
                <a:latin typeface="Inconsolata"/>
              </a:rPr>
              <a:t>STATUS</a:t>
            </a:r>
            <a:r>
              <a:rPr sz="750" i="0">
                <a:solidFill>
                  <a:srgbClr val="E6EDF3"/>
                </a:solidFill>
                <a:latin typeface="Inconsolata"/>
              </a:rPr>
              <a:t>.get(result.state, result.state.lower()),</a:t>
            </a:r>
          </a:p>
          <a:p>
            <a:pPr>
              <a:lnSpc>
                <a:spcPct val="111111"/>
              </a:lnSpc>
              <a:spcAft>
                <a:spcPts val="0"/>
              </a:spcAft>
            </a:pPr>
            <a:r>
              <a:rPr sz="750" i="0">
                <a:solidFill>
                  <a:srgbClr val="E6EDF3"/>
                </a:solidFill>
                <a:latin typeface="Inconsolata"/>
              </a:rPr>
              <a:t>        </a:t>
            </a:r>
            <a:r>
              <a:rPr sz="750" i="0">
                <a:solidFill>
                  <a:srgbClr val="A5D6A7"/>
                </a:solidFill>
                <a:latin typeface="Inconsolata"/>
              </a:rPr>
              <a:t>"result"</a:t>
            </a:r>
            <a:r>
              <a:rPr sz="750" i="0">
                <a:solidFill>
                  <a:srgbClr val="E6EDF3"/>
                </a:solidFill>
                <a:latin typeface="Inconsolata"/>
              </a:rPr>
              <a:t>: result.result </a:t>
            </a:r>
            <a:r>
              <a:rPr sz="750" i="0">
                <a:solidFill>
                  <a:srgbClr val="FF8E6E"/>
                </a:solidFill>
                <a:latin typeface="Inconsolata"/>
              </a:rPr>
              <a:t>if</a:t>
            </a:r>
            <a:r>
              <a:rPr sz="750" i="0">
                <a:solidFill>
                  <a:srgbClr val="E6EDF3"/>
                </a:solidFill>
                <a:latin typeface="Inconsolata"/>
              </a:rPr>
              <a:t> result.successful() </a:t>
            </a:r>
            <a:r>
              <a:rPr sz="750" i="0">
                <a:solidFill>
                  <a:srgbClr val="FF8E6E"/>
                </a:solidFill>
                <a:latin typeface="Inconsolata"/>
              </a:rPr>
              <a:t>else</a:t>
            </a:r>
            <a:r>
              <a:rPr sz="750" i="0">
                <a:solidFill>
                  <a:srgbClr val="E6EDF3"/>
                </a:solidFill>
                <a:latin typeface="Inconsolata"/>
              </a:rPr>
              <a:t> </a:t>
            </a:r>
            <a:r>
              <a:rPr sz="750" i="0">
                <a:solidFill>
                  <a:srgbClr val="FF8E6E"/>
                </a:solidFill>
                <a:latin typeface="Inconsolata"/>
              </a:rPr>
              <a:t>None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A5D6A7"/>
                </a:solidFill>
                <a:latin typeface="Inconsolata"/>
              </a:rPr>
              <a:t>"error"</a:t>
            </a:r>
            <a:r>
              <a:rPr sz="750" i="0">
                <a:solidFill>
                  <a:srgbClr val="E6EDF3"/>
                </a:solidFill>
                <a:latin typeface="Inconsolata"/>
              </a:rPr>
              <a:t>: </a:t>
            </a:r>
            <a:r>
              <a:rPr sz="750" i="0">
                <a:solidFill>
                  <a:srgbClr val="C3A6FF"/>
                </a:solidFill>
                <a:latin typeface="Inconsolata"/>
              </a:rPr>
              <a:t>str</a:t>
            </a:r>
            <a:r>
              <a:rPr sz="750" i="0">
                <a:solidFill>
                  <a:srgbClr val="E6EDF3"/>
                </a:solidFill>
                <a:latin typeface="Inconsolata"/>
              </a:rPr>
              <a:t>(result.result) </a:t>
            </a:r>
            <a:r>
              <a:rPr sz="750" i="0">
                <a:solidFill>
                  <a:srgbClr val="FF8E6E"/>
                </a:solidFill>
                <a:latin typeface="Inconsolata"/>
              </a:rPr>
              <a:t>if</a:t>
            </a:r>
            <a:r>
              <a:rPr sz="750" i="0">
                <a:solidFill>
                  <a:srgbClr val="E6EDF3"/>
                </a:solidFill>
                <a:latin typeface="Inconsolata"/>
              </a:rPr>
              <a:t> result.failed() </a:t>
            </a:r>
            <a:r>
              <a:rPr sz="750" i="0">
                <a:solidFill>
                  <a:srgbClr val="FF8E6E"/>
                </a:solidFill>
                <a:latin typeface="Inconsolata"/>
              </a:rPr>
              <a:t>else</a:t>
            </a:r>
            <a:r>
              <a:rPr sz="750" i="0">
                <a:solidFill>
                  <a:srgbClr val="E6EDF3"/>
                </a:solidFill>
                <a:latin typeface="Inconsolata"/>
              </a:rPr>
              <a:t> </a:t>
            </a:r>
            <a:r>
              <a:rPr sz="750" i="0">
                <a:solidFill>
                  <a:srgbClr val="FF8E6E"/>
                </a:solidFill>
                <a:latin typeface="Inconsolata"/>
              </a:rPr>
              <a:t>None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p>
        </p:txBody>
      </p:sp>
      <p:sp>
        <p:nvSpPr>
          <p:cNvPr id="29" name="Box 12"/>
          <p:cNvSpPr/>
          <p:nvPr/>
        </p:nvSpPr>
        <p:spPr>
          <a:xfrm>
            <a:off x="704088" y="2970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495544" y="2910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208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495544" y="214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2462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495544" y="2402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704088" y="3605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Box 19"/>
          <p:cNvSpPr/>
          <p:nvPr/>
        </p:nvSpPr>
        <p:spPr>
          <a:xfrm>
            <a:off x="5495544" y="3545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7" name="Box 20"/>
          <p:cNvSpPr/>
          <p:nvPr/>
        </p:nvSpPr>
        <p:spPr>
          <a:xfrm>
            <a:off x="704088" y="3986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1"/>
          <p:cNvSpPr/>
          <p:nvPr/>
        </p:nvSpPr>
        <p:spPr>
          <a:xfrm>
            <a:off x="5495544" y="3926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5</a:t>
            </a:r>
          </a:p>
        </p:txBody>
      </p:sp>
      <p:sp>
        <p:nvSpPr>
          <p:cNvPr id="39" name="Box 22"/>
          <p:cNvSpPr/>
          <p:nvPr/>
        </p:nvSpPr>
        <p:spPr>
          <a:xfrm>
            <a:off x="587959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40" name="Text 23"/>
          <p:cNvSpPr txBox="1"/>
          <p:nvPr/>
        </p:nvSpPr>
        <p:spPr>
          <a:xfrm>
            <a:off x="6208776" y="1463040"/>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API menaruh job ke broker (Redis), lalu langsung menjawab 202 dengan </a:t>
            </a:r>
            <a:r>
              <a:rPr sz="850" b="0" i="0">
                <a:solidFill>
                  <a:srgbClr val="B5482A"/>
                </a:solidFill>
                <a:latin typeface="Inconsolata"/>
              </a:rPr>
              <a:t>task_id</a:t>
            </a:r>
          </a:p>
        </p:txBody>
      </p:sp>
      <p:sp>
        <p:nvSpPr>
          <p:cNvPr id="41" name="Box 24"/>
          <p:cNvSpPr/>
          <p:nvPr/>
        </p:nvSpPr>
        <p:spPr>
          <a:xfrm>
            <a:off x="587959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42" name="Text 25"/>
          <p:cNvSpPr txBox="1"/>
          <p:nvPr/>
        </p:nvSpPr>
        <p:spPr>
          <a:xfrm>
            <a:off x="6208776" y="2106777"/>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Worker mengambil job dari queue. Statusnya </a:t>
            </a:r>
            <a:r>
              <a:rPr sz="850" b="0" i="0">
                <a:solidFill>
                  <a:srgbClr val="B5482A"/>
                </a:solidFill>
                <a:latin typeface="Inconsolata"/>
              </a:rPr>
              <a:t>STARTED</a:t>
            </a:r>
            <a:r>
              <a:rPr sz="850" b="0" i="0">
                <a:solidFill>
                  <a:srgbClr val="434343"/>
                </a:solidFill>
                <a:latin typeface="Inter"/>
              </a:rPr>
              <a:t> karena </a:t>
            </a:r>
            <a:r>
              <a:rPr sz="850" b="0" i="0">
                <a:solidFill>
                  <a:srgbClr val="B5482A"/>
                </a:solidFill>
                <a:latin typeface="Inconsolata"/>
              </a:rPr>
              <a:t>task_track_started</a:t>
            </a:r>
          </a:p>
        </p:txBody>
      </p:sp>
      <p:sp>
        <p:nvSpPr>
          <p:cNvPr id="43" name="Box 26"/>
          <p:cNvSpPr/>
          <p:nvPr/>
        </p:nvSpPr>
        <p:spPr>
          <a:xfrm>
            <a:off x="587959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44" name="Text 27"/>
          <p:cNvSpPr txBox="1"/>
          <p:nvPr/>
        </p:nvSpPr>
        <p:spPr>
          <a:xfrm>
            <a:off x="6208776" y="2750515"/>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Setelah 10 detik, hasil task disimpan di result backend dengan status </a:t>
            </a:r>
            <a:r>
              <a:rPr sz="850" b="0" i="0">
                <a:solidFill>
                  <a:srgbClr val="B5482A"/>
                </a:solidFill>
                <a:latin typeface="Inconsolata"/>
              </a:rPr>
              <a:t>SUCCESS</a:t>
            </a:r>
          </a:p>
        </p:txBody>
      </p:sp>
      <p:sp>
        <p:nvSpPr>
          <p:cNvPr id="45" name="Box 28"/>
          <p:cNvSpPr/>
          <p:nvPr/>
        </p:nvSpPr>
        <p:spPr>
          <a:xfrm>
            <a:off x="587959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46" name="Text 29"/>
          <p:cNvSpPr txBox="1"/>
          <p:nvPr/>
        </p:nvSpPr>
        <p:spPr>
          <a:xfrm>
            <a:off x="6208776" y="3394252"/>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GET /reports/{task_id}</a:t>
            </a:r>
            <a:r>
              <a:rPr sz="850" b="0" i="0">
                <a:solidFill>
                  <a:srgbClr val="434343"/>
                </a:solidFill>
                <a:latin typeface="Inter"/>
              </a:rPr>
              <a:t> membaca status dan hasil dari result backend</a:t>
            </a:r>
          </a:p>
        </p:txBody>
      </p:sp>
      <p:sp>
        <p:nvSpPr>
          <p:cNvPr id="47" name="Box 30"/>
          <p:cNvSpPr/>
          <p:nvPr/>
        </p:nvSpPr>
        <p:spPr>
          <a:xfrm>
            <a:off x="587959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48" name="Text 31"/>
          <p:cNvSpPr txBox="1"/>
          <p:nvPr/>
        </p:nvSpPr>
        <p:spPr>
          <a:xfrm>
            <a:off x="6208776" y="4037990"/>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Status Celery diubah jadi istilah API: </a:t>
            </a:r>
            <a:r>
              <a:rPr sz="850" b="0" i="0">
                <a:solidFill>
                  <a:srgbClr val="B5482A"/>
                </a:solidFill>
                <a:latin typeface="Inconsolata"/>
              </a:rPr>
              <a:t>running</a:t>
            </a:r>
            <a:r>
              <a:rPr sz="850" b="0" i="0">
                <a:solidFill>
                  <a:srgbClr val="434343"/>
                </a:solidFill>
                <a:latin typeface="Inter"/>
              </a:rPr>
              <a:t>, </a:t>
            </a:r>
            <a:r>
              <a:rPr sz="850" b="0" i="0">
                <a:solidFill>
                  <a:srgbClr val="B5482A"/>
                </a:solidFill>
                <a:latin typeface="Inconsolata"/>
              </a:rPr>
              <a:t>done</a:t>
            </a:r>
            <a:r>
              <a:rPr sz="850" b="0" i="0">
                <a:solidFill>
                  <a:srgbClr val="434343"/>
                </a:solidFill>
                <a:latin typeface="Inter"/>
              </a:rPr>
              <a:t>, </a:t>
            </a:r>
            <a:r>
              <a:rPr sz="850" b="0" i="0">
                <a:solidFill>
                  <a:srgbClr val="B5482A"/>
                </a:solidFill>
                <a:latin typeface="Inconsolata"/>
              </a:rPr>
              <a:t>failed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37</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03</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Retry, Timeout, Idempotency &amp; Failure Handling</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Job yang gagal di-retry, tidak dikerjakan dua kali, dan tercatat jika gagal permanen.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Retry &amp; Timeout</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Retry dan Timeout?</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Retry adalah</a:t>
            </a:r>
          </a:p>
          <a:p>
            <a:pPr algn="l">
              <a:lnSpc>
                <a:spcPct val="115000"/>
              </a:lnSpc>
              <a:spcAft>
                <a:spcPts val="400"/>
              </a:spcAft>
            </a:pPr>
            <a:r>
              <a:rPr sz="900" b="0" i="0">
                <a:solidFill>
                  <a:srgbClr val="434343"/>
                </a:solidFill>
                <a:latin typeface="Inter"/>
              </a:rPr>
              <a:t>Menjalankan ulang task yang gagal karena </a:t>
            </a:r>
            <a:r>
              <a:rPr sz="900" b="1" i="0">
                <a:solidFill>
                  <a:srgbClr val="434343"/>
                </a:solidFill>
                <a:latin typeface="Inter"/>
              </a:rPr>
              <a:t>error sementara</a:t>
            </a:r>
            <a:r>
              <a:rPr sz="900" b="0" i="0">
                <a:solidFill>
                  <a:srgbClr val="434343"/>
                </a:solidFill>
                <a:latin typeface="Inter"/>
              </a:rPr>
              <a:t>, misalnya server email timeout. Celery melakukannya otomatis lewat </a:t>
            </a:r>
            <a:r>
              <a:rPr sz="900" b="0" i="0">
                <a:solidFill>
                  <a:srgbClr val="B5482A"/>
                </a:solidFill>
                <a:latin typeface="Inconsolata"/>
              </a:rPr>
              <a:t>autoretry_for</a:t>
            </a:r>
            <a:r>
              <a:rPr sz="900" b="0" i="0">
                <a:solidFill>
                  <a:srgbClr val="434343"/>
                </a:solidFill>
                <a:latin typeface="Inter"/>
              </a:rPr>
              <a:t>, dengan jeda yang makin lama (</a:t>
            </a:r>
            <a:r>
              <a:rPr sz="900" b="1" i="0">
                <a:solidFill>
                  <a:srgbClr val="434343"/>
                </a:solidFill>
                <a:latin typeface="Inter"/>
              </a:rPr>
              <a:t>backoff</a:t>
            </a:r>
            <a:r>
              <a:rPr sz="900" b="0" i="0">
                <a:solidFill>
                  <a:srgbClr val="434343"/>
                </a:solidFill>
                <a:latin typeface="Inter"/>
              </a:rPr>
              <a:t>).</a:t>
            </a:r>
          </a:p>
          <a:p>
            <a:pPr algn="l">
              <a:lnSpc>
                <a:spcPct val="115000"/>
              </a:lnSpc>
              <a:spcAft>
                <a:spcPts val="400"/>
              </a:spcAft>
            </a:pPr>
            <a:r>
              <a:rPr sz="1000" b="1" i="0">
                <a:solidFill>
                  <a:srgbClr val="1C4587"/>
                </a:solidFill>
                <a:latin typeface="Inter"/>
              </a:rPr>
              <a:t>Timeout adalah</a:t>
            </a:r>
          </a:p>
          <a:p>
            <a:pPr algn="l">
              <a:lnSpc>
                <a:spcPct val="115000"/>
              </a:lnSpc>
              <a:spcAft>
                <a:spcPts val="400"/>
              </a:spcAft>
            </a:pPr>
            <a:r>
              <a:rPr sz="900" b="0" i="0">
                <a:solidFill>
                  <a:srgbClr val="434343"/>
                </a:solidFill>
                <a:latin typeface="Inter"/>
              </a:rPr>
              <a:t>Batas waktu sebuah task. Setelah melewati batas itu, worker menghentikan tasknya.</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Menyelesaikan task yang gagal karena error sementara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Memberi jeda antar retry, supaya server email tidak menerima banyak retry sekaligus</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Menghentikan task yang terlalu lama, supaya worker bisa mengerjakan job lain</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retry: 05-retry-timeout/before.py</a:t>
            </a:r>
          </a:p>
        </p:txBody>
      </p:sp>
      <p:sp>
        <p:nvSpPr>
          <p:cNvPr id="28" name="CodeBg 11"/>
          <p:cNvSpPr/>
          <p:nvPr/>
        </p:nvSpPr>
        <p:spPr>
          <a:xfrm>
            <a:off x="4297680" y="1719072"/>
            <a:ext cx="4187951" cy="978408"/>
          </a:xfrm>
          <a:prstGeom prst="roundRect">
            <a:avLst>
              <a:gd name="adj" fmla="val 186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978408"/>
          </a:xfrm>
          <a:prstGeom prst="rect">
            <a:avLst/>
          </a:prstGeom>
          <a:noFill/>
        </p:spPr>
        <p:txBody>
          <a:bodyPr wrap="none" lIns="146304" tIns="91440" rIns="146304" bIns="54864">
            <a:spAutoFit/>
          </a:bodyPr>
          <a:lstStyle/>
          <a:p>
            <a:pPr>
              <a:lnSpc>
                <a:spcPct val="107843"/>
              </a:lnSpc>
              <a:spcAft>
                <a:spcPts val="0"/>
              </a:spcAft>
            </a:pPr>
            <a:r>
              <a:rPr sz="850" i="0">
                <a:solidFill>
                  <a:srgbClr val="F9C97A"/>
                </a:solidFill>
                <a:latin typeface="Inconsolata"/>
              </a:rPr>
              <a:t>@celery_app.task</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send_order_email</a:t>
            </a:r>
            <a:r>
              <a:rPr sz="850" i="0">
                <a:solidFill>
                  <a:srgbClr val="E6EDF3"/>
                </a:solidFill>
                <a:latin typeface="Inconsolata"/>
              </a:rPr>
              <a:t>(to: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send_email(to, message)</a:t>
            </a:r>
          </a:p>
        </p:txBody>
      </p:sp>
      <p:sp>
        <p:nvSpPr>
          <p:cNvPr id="30" name="Box 13"/>
          <p:cNvSpPr/>
          <p:nvPr/>
        </p:nvSpPr>
        <p:spPr>
          <a:xfrm>
            <a:off x="4379976" y="18286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788920"/>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866644"/>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866644"/>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866644"/>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798064"/>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retry &amp; timeout: 05-retry-timeout/after.py</a:t>
            </a:r>
          </a:p>
        </p:txBody>
      </p:sp>
      <p:sp>
        <p:nvSpPr>
          <p:cNvPr id="36" name="CodeBg 21"/>
          <p:cNvSpPr/>
          <p:nvPr/>
        </p:nvSpPr>
        <p:spPr>
          <a:xfrm>
            <a:off x="4297680" y="3026664"/>
            <a:ext cx="4187951" cy="1673351"/>
          </a:xfrm>
          <a:prstGeom prst="roundRect">
            <a:avLst>
              <a:gd name="adj" fmla="val 1092"/>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3026664"/>
            <a:ext cx="4187951" cy="1673351"/>
          </a:xfrm>
          <a:prstGeom prst="rect">
            <a:avLst/>
          </a:prstGeom>
          <a:noFill/>
        </p:spPr>
        <p:txBody>
          <a:bodyPr wrap="none" lIns="146304" tIns="91440" rIns="146304" bIns="54864">
            <a:spAutoFit/>
          </a:bodyPr>
          <a:lstStyle/>
          <a:p>
            <a:pPr>
              <a:lnSpc>
                <a:spcPct val="107843"/>
              </a:lnSpc>
              <a:spcAft>
                <a:spcPts val="0"/>
              </a:spcAft>
            </a:pPr>
            <a:r>
              <a:rPr sz="850" i="0">
                <a:solidFill>
                  <a:srgbClr val="F9C97A"/>
                </a:solidFill>
                <a:latin typeface="Inconsolata"/>
              </a:rPr>
              <a:t>@celery_app.task</a:t>
            </a:r>
            <a:r>
              <a:rPr sz="850" i="0">
                <a:solidFill>
                  <a:srgbClr val="E6EDF3"/>
                </a:solidFill>
                <a:latin typeface="Inconsolata"/>
              </a:rPr>
              <a:t>(autoretry_for=(</a:t>
            </a:r>
            <a:r>
              <a:rPr sz="850" i="0">
                <a:solidFill>
                  <a:srgbClr val="7FDBCA"/>
                </a:solidFill>
                <a:latin typeface="Inconsolata"/>
              </a:rPr>
              <a:t>EmailServiceDown</a:t>
            </a:r>
            <a:r>
              <a:rPr sz="850" i="0">
                <a:solidFill>
                  <a:srgbClr val="E6EDF3"/>
                </a:solidFill>
                <a:latin typeface="Inconsolata"/>
              </a:rPr>
              <a:t>,),</a:t>
            </a:r>
          </a:p>
          <a:p>
            <a:pPr>
              <a:lnSpc>
                <a:spcPct val="107843"/>
              </a:lnSpc>
              <a:spcAft>
                <a:spcPts val="0"/>
              </a:spcAft>
            </a:pPr>
            <a:r>
              <a:rPr sz="850" i="0">
                <a:solidFill>
                  <a:srgbClr val="E6EDF3"/>
                </a:solidFill>
                <a:latin typeface="Inconsolata"/>
              </a:rPr>
              <a:t>                 retry_backoff=</a:t>
            </a:r>
            <a:r>
              <a:rPr sz="850" i="0">
                <a:solidFill>
                  <a:srgbClr val="FF8E6E"/>
                </a:solidFill>
                <a:latin typeface="Inconsolata"/>
              </a:rPr>
              <a:t>True</a:t>
            </a:r>
            <a:r>
              <a:rPr sz="850" i="0">
                <a:solidFill>
                  <a:srgbClr val="E6EDF3"/>
                </a:solidFill>
                <a:latin typeface="Inconsolata"/>
              </a:rPr>
              <a:t>, max_retries=</a:t>
            </a:r>
            <a:r>
              <a:rPr sz="850" i="0">
                <a:solidFill>
                  <a:srgbClr val="F9C97A"/>
                </a:solidFill>
                <a:latin typeface="Inconsolata"/>
              </a:rPr>
              <a:t>3</a:t>
            </a:r>
            <a:r>
              <a:rPr sz="850" i="0">
                <a:solidFill>
                  <a:srgbClr val="E6EDF3"/>
                </a:solidFill>
                <a:latin typeface="Inconsolata"/>
              </a:rPr>
              <a:t>,</a:t>
            </a:r>
          </a:p>
          <a:p>
            <a:pPr>
              <a:lnSpc>
                <a:spcPct val="107843"/>
              </a:lnSpc>
              <a:spcAft>
                <a:spcPts val="0"/>
              </a:spcAft>
            </a:pPr>
            <a:r>
              <a:rPr sz="850" i="0">
                <a:solidFill>
                  <a:srgbClr val="E6EDF3"/>
                </a:solidFill>
                <a:latin typeface="Inconsolata"/>
              </a:rPr>
              <a:t>                 soft_time_limit=</a:t>
            </a:r>
            <a:r>
              <a:rPr sz="850" i="0">
                <a:solidFill>
                  <a:srgbClr val="F9C97A"/>
                </a:solidFill>
                <a:latin typeface="Inconsolata"/>
              </a:rPr>
              <a:t>10</a:t>
            </a:r>
            <a:r>
              <a:rPr sz="850" i="0">
                <a:solidFill>
                  <a:srgbClr val="E6EDF3"/>
                </a:solidFill>
                <a:latin typeface="Inconsolata"/>
              </a:rPr>
              <a:t>, time_limit=</a:t>
            </a:r>
            <a:r>
              <a:rPr sz="850" i="0">
                <a:solidFill>
                  <a:srgbClr val="F9C97A"/>
                </a:solidFill>
                <a:latin typeface="Inconsolata"/>
              </a:rPr>
              <a:t>15</a:t>
            </a: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send_order_email</a:t>
            </a:r>
            <a:r>
              <a:rPr sz="850" i="0">
                <a:solidFill>
                  <a:srgbClr val="E6EDF3"/>
                </a:solidFill>
                <a:latin typeface="Inconsolata"/>
              </a:rPr>
              <a:t>(to: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send_email(to, message)</a:t>
            </a:r>
          </a:p>
        </p:txBody>
      </p:sp>
      <p:sp>
        <p:nvSpPr>
          <p:cNvPr id="38" name="Box 23"/>
          <p:cNvSpPr/>
          <p:nvPr/>
        </p:nvSpPr>
        <p:spPr>
          <a:xfrm>
            <a:off x="4379976" y="3136265"/>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Retry &amp; Timeout</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Retry dan Timeout?</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retry dan timeout</a:t>
            </a:r>
          </a:p>
          <a:p>
            <a:pPr algn="l">
              <a:lnSpc>
                <a:spcPct val="115000"/>
              </a:lnSpc>
              <a:spcAft>
                <a:spcPts val="400"/>
              </a:spcAft>
            </a:pPr>
            <a:r>
              <a:rPr sz="950" b="0" i="0">
                <a:solidFill>
                  <a:srgbClr val="434343"/>
                </a:solidFill>
                <a:latin typeface="Inter"/>
              </a:rPr>
              <a:t>Task langsung berstatus </a:t>
            </a:r>
            <a:r>
              <a:rPr sz="950" b="0" i="0">
                <a:solidFill>
                  <a:srgbClr val="B5482A"/>
                </a:solidFill>
                <a:latin typeface="Inconsolata"/>
              </a:rPr>
              <a:t>FAILURE</a:t>
            </a:r>
            <a:r>
              <a:rPr sz="950" b="0" i="0">
                <a:solidFill>
                  <a:srgbClr val="434343"/>
                </a:solidFill>
                <a:latin typeface="Inter"/>
              </a:rPr>
              <a:t> di percobaan pertama, walaupun server email hanya bermasalah beberapa detik. Task yang tidak pernah selesai membuat worker tidak bisa mengerjakan job lain.</a:t>
            </a:r>
          </a:p>
          <a:p>
            <a:pPr algn="l">
              <a:lnSpc>
                <a:spcPct val="115000"/>
              </a:lnSpc>
              <a:spcAft>
                <a:spcPts val="400"/>
              </a:spcAft>
            </a:pPr>
            <a:r>
              <a:rPr sz="1050" b="1" i="0">
                <a:solidFill>
                  <a:srgbClr val="1C4587"/>
                </a:solidFill>
                <a:latin typeface="Inter"/>
              </a:rPr>
              <a:t>Jika jobnya makin banyak</a:t>
            </a:r>
          </a:p>
          <a:p>
            <a:pPr algn="l">
              <a:lnSpc>
                <a:spcPct val="115000"/>
              </a:lnSpc>
              <a:spcAft>
                <a:spcPts val="400"/>
              </a:spcAft>
            </a:pPr>
            <a:r>
              <a:rPr sz="950" b="0" i="0">
                <a:solidFill>
                  <a:srgbClr val="434343"/>
                </a:solidFill>
                <a:latin typeface="Inter"/>
              </a:rPr>
              <a:t>Banyak email tidak terkirim hanya karena error sementara, dan task yang tidak pernah selesai membuat job lain di queue menumpuk.</a:t>
            </a:r>
          </a:p>
          <a:p>
            <a:pPr algn="l">
              <a:lnSpc>
                <a:spcPct val="115000"/>
              </a:lnSpc>
              <a:spcAft>
                <a:spcPts val="400"/>
              </a:spcAft>
            </a:pPr>
            <a:r>
              <a:rPr sz="950" b="0" i="0">
                <a:solidFill>
                  <a:srgbClr val="434343"/>
                </a:solidFill>
                <a:latin typeface="Inter"/>
              </a:rPr>
              <a:t>Hal ini membuat customer tidak menerima notifikasi tanpa ada yang menyadarinya.</a:t>
            </a:r>
          </a:p>
          <a:p>
            <a:pPr algn="l">
              <a:lnSpc>
                <a:spcPct val="115000"/>
              </a:lnSpc>
              <a:spcAft>
                <a:spcPts val="400"/>
              </a:spcAft>
            </a:pPr>
            <a:r>
              <a:rPr sz="1050" b="1" i="0">
                <a:solidFill>
                  <a:srgbClr val="1C4587"/>
                </a:solidFill>
                <a:latin typeface="Inter"/>
              </a:rPr>
              <a:t>Yang dipakai dari Celery: opsi di @celery_app.task</a:t>
            </a:r>
          </a:p>
          <a:p>
            <a:pPr algn="l">
              <a:lnSpc>
                <a:spcPct val="115000"/>
              </a:lnSpc>
              <a:spcAft>
                <a:spcPts val="400"/>
              </a:spcAft>
            </a:pPr>
            <a:r>
              <a:rPr sz="950" b="0" i="0">
                <a:solidFill>
                  <a:srgbClr val="434343"/>
                </a:solidFill>
                <a:latin typeface="Inter"/>
              </a:rPr>
              <a:t>Retry dan time limit cukup ditulis sebagai parameter decorator. Retry hanya untuk error sementara, bukan untuk bug di kode.</a:t>
            </a:r>
          </a:p>
        </p:txBody>
      </p:sp>
      <p:graphicFrame>
        <p:nvGraphicFramePr>
          <p:cNvPr id="23" name="Table 4"/>
          <p:cNvGraphicFramePr>
            <a:graphicFrameLocks noGrp="1"/>
          </p:cNvGraphicFramePr>
          <p:nvPr/>
        </p:nvGraphicFramePr>
        <p:xfrm>
          <a:off x="4800600" y="1481328"/>
          <a:ext cx="3685032" cy="2304288"/>
        </p:xfrm>
        <a:graphic>
          <a:graphicData uri="http://schemas.openxmlformats.org/drawingml/2006/table">
            <a:tbl>
              <a:tblPr firstRow="1" bandRow="1"/>
              <a:tblGrid>
                <a:gridCol w="203911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384048">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384048">
                <a:tc>
                  <a:txBody>
                    <a:bodyPr/>
                    <a:lstStyle/>
                    <a:p>
                      <a:pPr algn="l">
                        <a:lnSpc>
                          <a:spcPct val="100000"/>
                        </a:lnSpc>
                        <a:spcAft>
                          <a:spcPts val="0"/>
                        </a:spcAft>
                      </a:pPr>
                      <a:r>
                        <a:rPr sz="850" b="1" i="0">
                          <a:solidFill>
                            <a:srgbClr val="1C4587"/>
                          </a:solidFill>
                          <a:latin typeface="Inter"/>
                        </a:rPr>
                        <a:t>autoretry_for=(EmailServiceDown,)</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Error yang boleh dicoba lagi</a:t>
                      </a:r>
                    </a:p>
                  </a:txBody>
                  <a:tcPr marL="73152" marR="73152" marT="36576" marB="36576" anchor="ctr">
                    <a:solidFill>
                      <a:srgbClr val="FFFFFF"/>
                    </a:solidFill>
                  </a:tcPr>
                </a:tc>
                <a:extLst>
                  <a:ext uri="{0D108BD9-81ED-4DB2-BD59-A6C34878D82A}">
                    <a16:rowId xmlns:a16="http://schemas.microsoft.com/office/drawing/2014/main" val="10001"/>
                  </a:ext>
                </a:extLst>
              </a:tr>
              <a:tr h="384048">
                <a:tc>
                  <a:txBody>
                    <a:bodyPr/>
                    <a:lstStyle/>
                    <a:p>
                      <a:pPr algn="l">
                        <a:lnSpc>
                          <a:spcPct val="100000"/>
                        </a:lnSpc>
                        <a:spcAft>
                          <a:spcPts val="0"/>
                        </a:spcAft>
                      </a:pPr>
                      <a:r>
                        <a:rPr sz="850" b="1" i="0">
                          <a:solidFill>
                            <a:srgbClr val="1C4587"/>
                          </a:solidFill>
                          <a:latin typeface="Inter"/>
                        </a:rPr>
                        <a:t>retry_backoff=True</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Jeda retry makin lama: 1s, 2s, 4s, ...</a:t>
                      </a:r>
                    </a:p>
                  </a:txBody>
                  <a:tcPr marL="73152" marR="73152" marT="36576" marB="36576" anchor="ctr">
                    <a:solidFill>
                      <a:srgbClr val="F3F4F6"/>
                    </a:solidFill>
                  </a:tcPr>
                </a:tc>
                <a:extLst>
                  <a:ext uri="{0D108BD9-81ED-4DB2-BD59-A6C34878D82A}">
                    <a16:rowId xmlns:a16="http://schemas.microsoft.com/office/drawing/2014/main" val="10002"/>
                  </a:ext>
                </a:extLst>
              </a:tr>
              <a:tr h="384048">
                <a:tc>
                  <a:txBody>
                    <a:bodyPr/>
                    <a:lstStyle/>
                    <a:p>
                      <a:pPr algn="l">
                        <a:lnSpc>
                          <a:spcPct val="100000"/>
                        </a:lnSpc>
                        <a:spcAft>
                          <a:spcPts val="0"/>
                        </a:spcAft>
                      </a:pPr>
                      <a:r>
                        <a:rPr sz="850" b="1" i="0">
                          <a:solidFill>
                            <a:srgbClr val="1C4587"/>
                          </a:solidFill>
                          <a:latin typeface="Inter"/>
                        </a:rPr>
                        <a:t>max_retries=3</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Maksimal 3 kali retry</a:t>
                      </a:r>
                    </a:p>
                  </a:txBody>
                  <a:tcPr marL="73152" marR="73152" marT="36576" marB="36576" anchor="ctr">
                    <a:solidFill>
                      <a:srgbClr val="FFFFFF"/>
                    </a:solidFill>
                  </a:tcPr>
                </a:tc>
                <a:extLst>
                  <a:ext uri="{0D108BD9-81ED-4DB2-BD59-A6C34878D82A}">
                    <a16:rowId xmlns:a16="http://schemas.microsoft.com/office/drawing/2014/main" val="10003"/>
                  </a:ext>
                </a:extLst>
              </a:tr>
              <a:tr h="384048">
                <a:tc>
                  <a:txBody>
                    <a:bodyPr/>
                    <a:lstStyle/>
                    <a:p>
                      <a:pPr algn="l">
                        <a:lnSpc>
                          <a:spcPct val="100000"/>
                        </a:lnSpc>
                        <a:spcAft>
                          <a:spcPts val="0"/>
                        </a:spcAft>
                      </a:pPr>
                      <a:r>
                        <a:rPr sz="850" b="1" i="0">
                          <a:solidFill>
                            <a:srgbClr val="1C4587"/>
                          </a:solidFill>
                          <a:latin typeface="Inter"/>
                        </a:rPr>
                        <a:t>soft_time_limit=10</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Setelah 10 detik, task menerima exception</a:t>
                      </a:r>
                    </a:p>
                  </a:txBody>
                  <a:tcPr marL="73152" marR="73152" marT="36576" marB="36576" anchor="ctr">
                    <a:solidFill>
                      <a:srgbClr val="F3F4F6"/>
                    </a:solidFill>
                  </a:tcPr>
                </a:tc>
                <a:extLst>
                  <a:ext uri="{0D108BD9-81ED-4DB2-BD59-A6C34878D82A}">
                    <a16:rowId xmlns:a16="http://schemas.microsoft.com/office/drawing/2014/main" val="10004"/>
                  </a:ext>
                </a:extLst>
              </a:tr>
              <a:tr h="384048">
                <a:tc>
                  <a:txBody>
                    <a:bodyPr/>
                    <a:lstStyle/>
                    <a:p>
                      <a:pPr algn="l">
                        <a:lnSpc>
                          <a:spcPct val="100000"/>
                        </a:lnSpc>
                        <a:spcAft>
                          <a:spcPts val="0"/>
                        </a:spcAft>
                      </a:pPr>
                      <a:r>
                        <a:rPr sz="850" b="1" i="0">
                          <a:solidFill>
                            <a:srgbClr val="1C4587"/>
                          </a:solidFill>
                          <a:latin typeface="Inter"/>
                        </a:rPr>
                        <a:t>time_limit=15</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Setelah 15 detik, task dihentikan paksa</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Retry &amp; Timeout</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sekali gagal, langsung selesai</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05-retry-timeout/before.py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10  </a:t>
            </a:r>
            <a:r>
              <a:rPr sz="729" i="0">
                <a:solidFill>
                  <a:srgbClr val="FF8E6E"/>
                </a:solidFill>
                <a:latin typeface="Inconsolata"/>
              </a:rPr>
              <a:t>from</a:t>
            </a:r>
            <a:r>
              <a:rPr sz="729" i="0">
                <a:solidFill>
                  <a:srgbClr val="E6EDF3"/>
                </a:solidFill>
                <a:latin typeface="Inconsolata"/>
              </a:rPr>
              <a:t> celery </a:t>
            </a:r>
            <a:r>
              <a:rPr sz="729" i="0">
                <a:solidFill>
                  <a:srgbClr val="FF8E6E"/>
                </a:solidFill>
                <a:latin typeface="Inconsolata"/>
              </a:rPr>
              <a:t>import</a:t>
            </a:r>
            <a:r>
              <a:rPr sz="729" i="0">
                <a:solidFill>
                  <a:srgbClr val="E6EDF3"/>
                </a:solidFill>
                <a:latin typeface="Inconsolata"/>
              </a:rPr>
              <a:t> </a:t>
            </a:r>
            <a:r>
              <a:rPr sz="729" i="0">
                <a:solidFill>
                  <a:srgbClr val="7FDBCA"/>
                </a:solidFill>
                <a:latin typeface="Inconsolata"/>
              </a:rPr>
              <a:t>Celery</a:t>
            </a:r>
          </a:p>
          <a:p>
            <a:pPr>
              <a:lnSpc>
                <a:spcPct val="102868"/>
              </a:lnSpc>
              <a:spcAft>
                <a:spcPts val="0"/>
              </a:spcAft>
            </a:pPr>
            <a:r>
              <a:rPr sz="729" i="0">
                <a:solidFill>
                  <a:srgbClr val="5C6773"/>
                </a:solidFill>
                <a:latin typeface="Inconsolata"/>
              </a:rPr>
              <a:t>11  </a:t>
            </a:r>
            <a:r>
              <a:rPr sz="729" i="0">
                <a:solidFill>
                  <a:srgbClr val="E6EDF3"/>
                </a:solidFill>
                <a:latin typeface="Inconsolata"/>
              </a:rPr>
              <a:t> </a:t>
            </a:r>
          </a:p>
          <a:p>
            <a:pPr>
              <a:lnSpc>
                <a:spcPct val="102868"/>
              </a:lnSpc>
              <a:spcAft>
                <a:spcPts val="0"/>
              </a:spcAft>
            </a:pPr>
            <a:r>
              <a:rPr sz="729" i="0">
                <a:solidFill>
                  <a:srgbClr val="5C6773"/>
                </a:solidFill>
                <a:latin typeface="Inconsolata"/>
              </a:rPr>
              <a:t>12  </a:t>
            </a:r>
            <a:r>
              <a:rPr sz="729" i="0">
                <a:solidFill>
                  <a:srgbClr val="E6EDF3"/>
                </a:solidFill>
                <a:latin typeface="Inconsolata"/>
              </a:rPr>
              <a:t>celery_app = </a:t>
            </a:r>
            <a:r>
              <a:rPr sz="729" i="0">
                <a:solidFill>
                  <a:srgbClr val="7FDBCA"/>
                </a:solidFill>
                <a:latin typeface="Inconsolata"/>
              </a:rPr>
              <a:t>Celery</a:t>
            </a:r>
            <a:r>
              <a:rPr sz="729" i="0">
                <a:solidFill>
                  <a:srgbClr val="E6EDF3"/>
                </a:solidFill>
                <a:latin typeface="Inconsolata"/>
              </a:rPr>
              <a:t>(</a:t>
            </a:r>
            <a:r>
              <a:rPr sz="729" i="0">
                <a:solidFill>
                  <a:srgbClr val="A5D6A7"/>
                </a:solidFill>
                <a:latin typeface="Inconsolata"/>
              </a:rPr>
              <a:t>"demo"</a:t>
            </a:r>
            <a:r>
              <a:rPr sz="729" i="0">
                <a:solidFill>
                  <a:srgbClr val="E6EDF3"/>
                </a:solidFill>
                <a:latin typeface="Inconsolata"/>
              </a:rPr>
              <a:t>,</a:t>
            </a:r>
          </a:p>
          <a:p>
            <a:pPr>
              <a:lnSpc>
                <a:spcPct val="102868"/>
              </a:lnSpc>
              <a:spcAft>
                <a:spcPts val="0"/>
              </a:spcAft>
            </a:pPr>
            <a:r>
              <a:rPr sz="729" i="0">
                <a:solidFill>
                  <a:srgbClr val="5C6773"/>
                </a:solidFill>
                <a:latin typeface="Inconsolata"/>
              </a:rPr>
              <a:t>13  </a:t>
            </a:r>
            <a:r>
              <a:rPr sz="729" i="0">
                <a:solidFill>
                  <a:srgbClr val="E6EDF3"/>
                </a:solidFill>
                <a:latin typeface="Inconsolata"/>
              </a:rPr>
              <a:t>                    broker=</a:t>
            </a:r>
            <a:r>
              <a:rPr sz="729" i="0">
                <a:solidFill>
                  <a:srgbClr val="A5D6A7"/>
                </a:solidFill>
                <a:latin typeface="Inconsolata"/>
              </a:rPr>
              <a:t>"redis://localhost:6379/0"</a:t>
            </a:r>
            <a:r>
              <a:rPr sz="729" i="0">
                <a:solidFill>
                  <a:srgbClr val="E6EDF3"/>
                </a:solidFill>
                <a:latin typeface="Inconsolata"/>
              </a:rPr>
              <a:t>,</a:t>
            </a:r>
          </a:p>
          <a:p>
            <a:pPr>
              <a:lnSpc>
                <a:spcPct val="102868"/>
              </a:lnSpc>
              <a:spcAft>
                <a:spcPts val="0"/>
              </a:spcAft>
            </a:pPr>
            <a:r>
              <a:rPr sz="729" i="0">
                <a:solidFill>
                  <a:srgbClr val="5C6773"/>
                </a:solidFill>
                <a:latin typeface="Inconsolata"/>
              </a:rPr>
              <a:t>14  </a:t>
            </a:r>
            <a:r>
              <a:rPr sz="729" i="0">
                <a:solidFill>
                  <a:srgbClr val="E6EDF3"/>
                </a:solidFill>
                <a:latin typeface="Inconsolata"/>
              </a:rPr>
              <a:t>                    backend=</a:t>
            </a:r>
            <a:r>
              <a:rPr sz="729" i="0">
                <a:solidFill>
                  <a:srgbClr val="A5D6A7"/>
                </a:solidFill>
                <a:latin typeface="Inconsolata"/>
              </a:rPr>
              <a:t>"redis://localhost:6379/1"</a:t>
            </a:r>
            <a:r>
              <a:rPr sz="729" i="0">
                <a:solidFill>
                  <a:srgbClr val="E6EDF3"/>
                </a:solidFill>
                <a:latin typeface="Inconsolata"/>
              </a:rPr>
              <a:t>)</a:t>
            </a:r>
          </a:p>
          <a:p>
            <a:pPr>
              <a:lnSpc>
                <a:spcPct val="102868"/>
              </a:lnSpc>
              <a:spcAft>
                <a:spcPts val="0"/>
              </a:spcAft>
            </a:pPr>
            <a:r>
              <a:rPr sz="729" i="0">
                <a:solidFill>
                  <a:srgbClr val="5C6773"/>
                </a:solidFill>
                <a:latin typeface="Inconsolata"/>
              </a:rPr>
              <a:t>15  </a:t>
            </a:r>
            <a:r>
              <a:rPr sz="729" i="0">
                <a:solidFill>
                  <a:srgbClr val="E6EDF3"/>
                </a:solidFill>
                <a:latin typeface="Inconsolata"/>
              </a:rPr>
              <a:t> </a:t>
            </a:r>
          </a:p>
          <a:p>
            <a:pPr>
              <a:lnSpc>
                <a:spcPct val="102868"/>
              </a:lnSpc>
              <a:spcAft>
                <a:spcPts val="0"/>
              </a:spcAft>
            </a:pPr>
            <a:r>
              <a:rPr sz="729" i="0">
                <a:solidFill>
                  <a:srgbClr val="5C6773"/>
                </a:solidFill>
                <a:latin typeface="Inconsolata"/>
              </a:rPr>
              <a:t>16  </a:t>
            </a:r>
            <a:r>
              <a:rPr sz="729" i="0">
                <a:solidFill>
                  <a:srgbClr val="E6EDF3"/>
                </a:solidFill>
                <a:latin typeface="Inconsolata"/>
              </a:rPr>
              <a:t> </a:t>
            </a:r>
          </a:p>
          <a:p>
            <a:pPr>
              <a:lnSpc>
                <a:spcPct val="102868"/>
              </a:lnSpc>
              <a:spcAft>
                <a:spcPts val="0"/>
              </a:spcAft>
            </a:pPr>
            <a:r>
              <a:rPr sz="729" i="0">
                <a:solidFill>
                  <a:srgbClr val="5C6773"/>
                </a:solidFill>
                <a:latin typeface="Inconsolata"/>
              </a:rPr>
              <a:t>17  </a:t>
            </a:r>
            <a:r>
              <a:rPr sz="729" i="0">
                <a:solidFill>
                  <a:srgbClr val="FF8E6E"/>
                </a:solidFill>
                <a:latin typeface="Inconsolata"/>
              </a:rPr>
              <a:t>class</a:t>
            </a:r>
            <a:r>
              <a:rPr sz="729" i="0">
                <a:solidFill>
                  <a:srgbClr val="E6EDF3"/>
                </a:solidFill>
                <a:latin typeface="Inconsolata"/>
              </a:rPr>
              <a:t> </a:t>
            </a:r>
            <a:r>
              <a:rPr sz="729" i="0">
                <a:solidFill>
                  <a:srgbClr val="7FDBCA"/>
                </a:solidFill>
                <a:latin typeface="Inconsolata"/>
              </a:rPr>
              <a:t>EmailServiceDown</a:t>
            </a:r>
            <a:r>
              <a:rPr sz="729" i="0">
                <a:solidFill>
                  <a:srgbClr val="E6EDF3"/>
                </a:solidFill>
                <a:latin typeface="Inconsolata"/>
              </a:rPr>
              <a:t>(</a:t>
            </a:r>
            <a:r>
              <a:rPr sz="729" i="0">
                <a:solidFill>
                  <a:srgbClr val="7FDBCA"/>
                </a:solidFill>
                <a:latin typeface="Inconsolata"/>
              </a:rPr>
              <a:t>Exception</a:t>
            </a:r>
            <a:r>
              <a:rPr sz="729" i="0">
                <a:solidFill>
                  <a:srgbClr val="E6EDF3"/>
                </a:solidFill>
                <a:latin typeface="Inconsolata"/>
              </a:rPr>
              <a:t>):</a:t>
            </a:r>
          </a:p>
          <a:p>
            <a:pPr>
              <a:lnSpc>
                <a:spcPct val="102868"/>
              </a:lnSpc>
              <a:spcAft>
                <a:spcPts val="0"/>
              </a:spcAft>
            </a:pPr>
            <a:r>
              <a:rPr sz="729" i="0">
                <a:solidFill>
                  <a:srgbClr val="5C6773"/>
                </a:solidFill>
                <a:latin typeface="Inconsolata"/>
              </a:rPr>
              <a:t>18  </a:t>
            </a:r>
            <a:r>
              <a:rPr sz="729" i="0">
                <a:solidFill>
                  <a:srgbClr val="E6EDF3"/>
                </a:solidFill>
                <a:latin typeface="Inconsolata"/>
              </a:rPr>
              <a:t>    </a:t>
            </a:r>
            <a:r>
              <a:rPr sz="729" i="0">
                <a:solidFill>
                  <a:srgbClr val="FF8E6E"/>
                </a:solidFill>
                <a:latin typeface="Inconsolata"/>
              </a:rPr>
              <a:t>pass</a:t>
            </a:r>
          </a:p>
          <a:p>
            <a:pPr>
              <a:lnSpc>
                <a:spcPct val="102868"/>
              </a:lnSpc>
              <a:spcAft>
                <a:spcPts val="0"/>
              </a:spcAft>
            </a:pPr>
            <a:r>
              <a:rPr sz="729" i="0">
                <a:solidFill>
                  <a:srgbClr val="5C6773"/>
                </a:solidFill>
                <a:latin typeface="Inconsolata"/>
              </a:rPr>
              <a:t>19  </a:t>
            </a:r>
            <a:r>
              <a:rPr sz="729" i="0">
                <a:solidFill>
                  <a:srgbClr val="E6EDF3"/>
                </a:solidFill>
                <a:latin typeface="Inconsolata"/>
              </a:rPr>
              <a:t> </a:t>
            </a:r>
          </a:p>
          <a:p>
            <a:pPr>
              <a:lnSpc>
                <a:spcPct val="102868"/>
              </a:lnSpc>
              <a:spcAft>
                <a:spcPts val="0"/>
              </a:spcAft>
            </a:pPr>
            <a:r>
              <a:rPr sz="729" i="0">
                <a:solidFill>
                  <a:srgbClr val="5C6773"/>
                </a:solidFill>
                <a:latin typeface="Inconsolata"/>
              </a:rPr>
              <a:t>20  </a:t>
            </a:r>
            <a:r>
              <a:rPr sz="729" i="0">
                <a:solidFill>
                  <a:srgbClr val="E6EDF3"/>
                </a:solidFill>
                <a:latin typeface="Inconsolata"/>
              </a:rPr>
              <a:t> </a:t>
            </a:r>
          </a:p>
          <a:p>
            <a:pPr>
              <a:lnSpc>
                <a:spcPct val="102868"/>
              </a:lnSpc>
              <a:spcAft>
                <a:spcPts val="0"/>
              </a:spcAft>
            </a:pPr>
            <a:r>
              <a:rPr sz="729" i="0">
                <a:solidFill>
                  <a:srgbClr val="5C6773"/>
                </a:solidFill>
                <a:latin typeface="Inconsolata"/>
              </a:rPr>
              <a:t>21  </a:t>
            </a:r>
            <a:r>
              <a:rPr sz="729" i="0">
                <a:solidFill>
                  <a:srgbClr val="E6EDF3"/>
                </a:solidFill>
                <a:latin typeface="Inconsolata"/>
              </a:rPr>
              <a:t>attempts = </a:t>
            </a:r>
            <a:r>
              <a:rPr sz="729" i="0">
                <a:solidFill>
                  <a:srgbClr val="F9C97A"/>
                </a:solidFill>
                <a:latin typeface="Inconsolata"/>
              </a:rPr>
              <a:t>0</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05-retry-timeout/before.py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24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send_email</a:t>
            </a:r>
            <a:r>
              <a:rPr sz="729" i="0">
                <a:solidFill>
                  <a:srgbClr val="E6EDF3"/>
                </a:solidFill>
                <a:latin typeface="Inconsolata"/>
              </a:rPr>
              <a:t>(to: </a:t>
            </a:r>
            <a:r>
              <a:rPr sz="729" i="0">
                <a:solidFill>
                  <a:srgbClr val="C3A6FF"/>
                </a:solidFill>
                <a:latin typeface="Inconsolata"/>
              </a:rPr>
              <a:t>str</a:t>
            </a:r>
            <a:r>
              <a:rPr sz="729" i="0">
                <a:solidFill>
                  <a:srgbClr val="E6EDF3"/>
                </a:solidFill>
                <a:latin typeface="Inconsolata"/>
              </a:rPr>
              <a:t>, message: </a:t>
            </a:r>
            <a:r>
              <a:rPr sz="729" i="0">
                <a:solidFill>
                  <a:srgbClr val="C3A6FF"/>
                </a:solidFill>
                <a:latin typeface="Inconsolata"/>
              </a:rPr>
              <a:t>str</a:t>
            </a:r>
            <a:r>
              <a:rPr sz="729" i="0">
                <a:solidFill>
                  <a:srgbClr val="E6EDF3"/>
                </a:solidFill>
                <a:latin typeface="Inconsolata"/>
              </a:rPr>
              <a:t>) -&gt;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25  </a:t>
            </a:r>
            <a:r>
              <a:rPr sz="729" i="0">
                <a:solidFill>
                  <a:srgbClr val="E6EDF3"/>
                </a:solidFill>
                <a:latin typeface="Inconsolata"/>
              </a:rPr>
              <a:t>    </a:t>
            </a:r>
            <a:r>
              <a:rPr sz="729" i="0">
                <a:solidFill>
                  <a:srgbClr val="FF8E6E"/>
                </a:solidFill>
                <a:latin typeface="Inconsolata"/>
              </a:rPr>
              <a:t>global</a:t>
            </a:r>
            <a:r>
              <a:rPr sz="729" i="0">
                <a:solidFill>
                  <a:srgbClr val="E6EDF3"/>
                </a:solidFill>
                <a:latin typeface="Inconsolata"/>
              </a:rPr>
              <a:t> attempts</a:t>
            </a:r>
          </a:p>
          <a:p>
            <a:pPr>
              <a:lnSpc>
                <a:spcPct val="102868"/>
              </a:lnSpc>
              <a:spcAft>
                <a:spcPts val="0"/>
              </a:spcAft>
            </a:pPr>
            <a:r>
              <a:rPr sz="729" i="0">
                <a:solidFill>
                  <a:srgbClr val="5C6773"/>
                </a:solidFill>
                <a:latin typeface="Inconsolata"/>
              </a:rPr>
              <a:t>26  </a:t>
            </a:r>
            <a:r>
              <a:rPr sz="729" i="0">
                <a:solidFill>
                  <a:srgbClr val="E6EDF3"/>
                </a:solidFill>
                <a:latin typeface="Inconsolata"/>
              </a:rPr>
              <a:t>    attempts += </a:t>
            </a:r>
            <a:r>
              <a:rPr sz="729" i="0">
                <a:solidFill>
                  <a:srgbClr val="F9C97A"/>
                </a:solidFill>
                <a:latin typeface="Inconsolata"/>
              </a:rPr>
              <a:t>1</a:t>
            </a:r>
          </a:p>
          <a:p>
            <a:pPr>
              <a:lnSpc>
                <a:spcPct val="102868"/>
              </a:lnSpc>
              <a:spcAft>
                <a:spcPts val="0"/>
              </a:spcAft>
            </a:pPr>
            <a:r>
              <a:rPr sz="729" i="0">
                <a:solidFill>
                  <a:srgbClr val="5C6773"/>
                </a:solidFill>
                <a:latin typeface="Inconsolata"/>
              </a:rPr>
              <a:t>27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attempts &lt; </a:t>
            </a:r>
            <a:r>
              <a:rPr sz="729" i="0">
                <a:solidFill>
                  <a:srgbClr val="F9C97A"/>
                </a:solidFill>
                <a:latin typeface="Inconsolata"/>
              </a:rPr>
              <a:t>3</a:t>
            </a:r>
            <a:r>
              <a:rPr sz="729" i="0">
                <a:solidFill>
                  <a:srgbClr val="E6EDF3"/>
                </a:solidFill>
                <a:latin typeface="Inconsolata"/>
              </a:rPr>
              <a:t>:              </a:t>
            </a:r>
            <a:r>
              <a:rPr sz="729" i="1">
                <a:solidFill>
                  <a:srgbClr val="8B98A8"/>
                </a:solidFill>
                <a:latin typeface="Inconsolata"/>
              </a:rPr>
              <a:t># 2 percobaan pertama gagal</a:t>
            </a:r>
          </a:p>
          <a:p>
            <a:pPr>
              <a:lnSpc>
                <a:spcPct val="102868"/>
              </a:lnSpc>
              <a:spcAft>
                <a:spcPts val="0"/>
              </a:spcAft>
            </a:pPr>
            <a:r>
              <a:rPr sz="729" i="0">
                <a:solidFill>
                  <a:srgbClr val="5C6773"/>
                </a:solidFill>
                <a:latin typeface="Inconsolata"/>
              </a:rPr>
              <a:t>28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percobaan {attempts}: gagal, server email timeout"</a:t>
            </a:r>
            <a:r>
              <a:rPr sz="729" i="0">
                <a:solidFill>
                  <a:srgbClr val="E6EDF3"/>
                </a:solidFill>
                <a:latin typeface="Inconsolata"/>
              </a:rPr>
              <a:t>)</a:t>
            </a:r>
          </a:p>
          <a:p>
            <a:pPr>
              <a:lnSpc>
                <a:spcPct val="102868"/>
              </a:lnSpc>
              <a:spcAft>
                <a:spcPts val="0"/>
              </a:spcAft>
            </a:pPr>
            <a:r>
              <a:rPr sz="729" i="0">
                <a:solidFill>
                  <a:srgbClr val="5C6773"/>
                </a:solidFill>
                <a:latin typeface="Inconsolata"/>
              </a:rPr>
              <a:t>29  </a:t>
            </a:r>
            <a:r>
              <a:rPr sz="729" i="0">
                <a:solidFill>
                  <a:srgbClr val="E6EDF3"/>
                </a:solidFill>
                <a:latin typeface="Inconsolata"/>
              </a:rPr>
              <a:t>        </a:t>
            </a:r>
            <a:r>
              <a:rPr sz="729" i="0">
                <a:solidFill>
                  <a:srgbClr val="FF8E6E"/>
                </a:solidFill>
                <a:latin typeface="Inconsolata"/>
              </a:rPr>
              <a:t>raise</a:t>
            </a:r>
            <a:r>
              <a:rPr sz="729" i="0">
                <a:solidFill>
                  <a:srgbClr val="E6EDF3"/>
                </a:solidFill>
                <a:latin typeface="Inconsolata"/>
              </a:rPr>
              <a:t> </a:t>
            </a:r>
            <a:r>
              <a:rPr sz="729" i="0">
                <a:solidFill>
                  <a:srgbClr val="7FDBCA"/>
                </a:solidFill>
                <a:latin typeface="Inconsolata"/>
              </a:rPr>
              <a:t>EmailServiceDown</a:t>
            </a:r>
            <a:r>
              <a:rPr sz="729" i="0">
                <a:solidFill>
                  <a:srgbClr val="E6EDF3"/>
                </a:solidFill>
                <a:latin typeface="Inconsolata"/>
              </a:rPr>
              <a:t>(</a:t>
            </a:r>
            <a:r>
              <a:rPr sz="729" i="0">
                <a:solidFill>
                  <a:srgbClr val="A5D6A7"/>
                </a:solidFill>
                <a:latin typeface="Inconsolata"/>
              </a:rPr>
              <a:t>"Server email timeout"</a:t>
            </a:r>
            <a:r>
              <a:rPr sz="729" i="0">
                <a:solidFill>
                  <a:srgbClr val="E6EDF3"/>
                </a:solidFill>
                <a:latin typeface="Inconsolata"/>
              </a:rPr>
              <a:t>)</a:t>
            </a:r>
          </a:p>
          <a:p>
            <a:pPr>
              <a:lnSpc>
                <a:spcPct val="102868"/>
              </a:lnSpc>
              <a:spcAft>
                <a:spcPts val="0"/>
              </a:spcAft>
            </a:pPr>
            <a:r>
              <a:rPr sz="729" i="0">
                <a:solidFill>
                  <a:srgbClr val="5C6773"/>
                </a:solidFill>
                <a:latin typeface="Inconsolata"/>
              </a:rPr>
              <a:t>30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percobaan {attempts}: [EMAIL] ke {to}: {message}"</a:t>
            </a:r>
            <a:r>
              <a:rPr sz="729" i="0">
                <a:solidFill>
                  <a:srgbClr val="E6EDF3"/>
                </a:solidFill>
                <a:latin typeface="Inconsolata"/>
              </a:rPr>
              <a:t>)</a:t>
            </a:r>
          </a:p>
          <a:p>
            <a:pPr>
              <a:lnSpc>
                <a:spcPct val="102868"/>
              </a:lnSpc>
              <a:spcAft>
                <a:spcPts val="0"/>
              </a:spcAft>
            </a:pPr>
            <a:r>
              <a:rPr sz="729" i="0">
                <a:solidFill>
                  <a:srgbClr val="5C6773"/>
                </a:solidFill>
                <a:latin typeface="Inconsolata"/>
              </a:rPr>
              <a:t>31  </a:t>
            </a:r>
            <a:r>
              <a:rPr sz="729" i="0">
                <a:solidFill>
                  <a:srgbClr val="E6EDF3"/>
                </a:solidFill>
                <a:latin typeface="Inconsolata"/>
              </a:rPr>
              <a:t> </a:t>
            </a:r>
          </a:p>
          <a:p>
            <a:pPr>
              <a:lnSpc>
                <a:spcPct val="102868"/>
              </a:lnSpc>
              <a:spcAft>
                <a:spcPts val="0"/>
              </a:spcAft>
            </a:pPr>
            <a:r>
              <a:rPr sz="729" i="0">
                <a:solidFill>
                  <a:srgbClr val="5C6773"/>
                </a:solidFill>
                <a:latin typeface="Inconsolata"/>
              </a:rPr>
              <a:t>32  </a:t>
            </a:r>
            <a:r>
              <a:rPr sz="729" i="0">
                <a:solidFill>
                  <a:srgbClr val="E6EDF3"/>
                </a:solidFill>
                <a:latin typeface="Inconsolata"/>
              </a:rPr>
              <a:t> </a:t>
            </a:r>
          </a:p>
          <a:p>
            <a:pPr>
              <a:lnSpc>
                <a:spcPct val="102868"/>
              </a:lnSpc>
              <a:spcAft>
                <a:spcPts val="0"/>
              </a:spcAft>
            </a:pPr>
            <a:r>
              <a:rPr sz="729" i="0">
                <a:solidFill>
                  <a:srgbClr val="5C6773"/>
                </a:solidFill>
                <a:latin typeface="Inconsolata"/>
              </a:rPr>
              <a:t>33  </a:t>
            </a:r>
            <a:r>
              <a:rPr sz="729" i="0">
                <a:solidFill>
                  <a:srgbClr val="F9C97A"/>
                </a:solidFill>
                <a:latin typeface="Inconsolata"/>
              </a:rPr>
              <a:t>@celery_app.task</a:t>
            </a:r>
          </a:p>
          <a:p>
            <a:pPr>
              <a:lnSpc>
                <a:spcPct val="102868"/>
              </a:lnSpc>
              <a:spcAft>
                <a:spcPts val="0"/>
              </a:spcAft>
            </a:pPr>
            <a:r>
              <a:rPr sz="729" i="0">
                <a:solidFill>
                  <a:srgbClr val="5C6773"/>
                </a:solidFill>
                <a:latin typeface="Inconsolata"/>
              </a:rPr>
              <a:t>34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send_order_email</a:t>
            </a:r>
            <a:r>
              <a:rPr sz="729" i="0">
                <a:solidFill>
                  <a:srgbClr val="E6EDF3"/>
                </a:solidFill>
                <a:latin typeface="Inconsolata"/>
              </a:rPr>
              <a:t>(to: </a:t>
            </a:r>
            <a:r>
              <a:rPr sz="729" i="0">
                <a:solidFill>
                  <a:srgbClr val="C3A6FF"/>
                </a:solidFill>
                <a:latin typeface="Inconsolata"/>
              </a:rPr>
              <a:t>str</a:t>
            </a:r>
            <a:r>
              <a:rPr sz="729" i="0">
                <a:solidFill>
                  <a:srgbClr val="E6EDF3"/>
                </a:solidFill>
                <a:latin typeface="Inconsolata"/>
              </a:rPr>
              <a:t>, message: </a:t>
            </a:r>
            <a:r>
              <a:rPr sz="729" i="0">
                <a:solidFill>
                  <a:srgbClr val="C3A6FF"/>
                </a:solidFill>
                <a:latin typeface="Inconsolata"/>
              </a:rPr>
              <a:t>str</a:t>
            </a:r>
            <a:r>
              <a:rPr sz="729" i="0">
                <a:solidFill>
                  <a:srgbClr val="E6EDF3"/>
                </a:solidFill>
                <a:latin typeface="Inconsolata"/>
              </a:rPr>
              <a:t>) -&gt;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35  </a:t>
            </a:r>
            <a:r>
              <a:rPr sz="729" i="0">
                <a:solidFill>
                  <a:srgbClr val="E6EDF3"/>
                </a:solidFill>
                <a:latin typeface="Inconsolata"/>
              </a:rPr>
              <a:t>    send_email(to, message)</a:t>
            </a:r>
          </a:p>
          <a:p>
            <a:pPr>
              <a:lnSpc>
                <a:spcPct val="102868"/>
              </a:lnSpc>
              <a:spcAft>
                <a:spcPts val="0"/>
              </a:spcAft>
            </a:pPr>
            <a:r>
              <a:rPr sz="729" i="0">
                <a:solidFill>
                  <a:srgbClr val="5C6773"/>
                </a:solidFill>
                <a:latin typeface="Inconsolata"/>
              </a:rPr>
              <a:t>36  </a:t>
            </a:r>
            <a:r>
              <a:rPr sz="729" i="0">
                <a:solidFill>
                  <a:srgbClr val="E6EDF3"/>
                </a:solidFill>
                <a:latin typeface="Inconsolata"/>
              </a:rPr>
              <a:t> </a:t>
            </a:r>
          </a:p>
          <a:p>
            <a:pPr>
              <a:lnSpc>
                <a:spcPct val="102868"/>
              </a:lnSpc>
              <a:spcAft>
                <a:spcPts val="0"/>
              </a:spcAft>
            </a:pPr>
            <a:r>
              <a:rPr sz="729" i="0">
                <a:solidFill>
                  <a:srgbClr val="5C6773"/>
                </a:solidFill>
                <a:latin typeface="Inconsolata"/>
              </a:rPr>
              <a:t>37  </a:t>
            </a:r>
            <a:r>
              <a:rPr sz="729" i="0">
                <a:solidFill>
                  <a:srgbClr val="E6EDF3"/>
                </a:solidFill>
                <a:latin typeface="Inconsolata"/>
              </a:rPr>
              <a:t> </a:t>
            </a:r>
          </a:p>
          <a:p>
            <a:pPr>
              <a:lnSpc>
                <a:spcPct val="102868"/>
              </a:lnSpc>
              <a:spcAft>
                <a:spcPts val="0"/>
              </a:spcAft>
            </a:pPr>
            <a:r>
              <a:rPr sz="729" i="0">
                <a:solidFill>
                  <a:srgbClr val="5C6773"/>
                </a:solidFill>
                <a:latin typeface="Inconsolata"/>
              </a:rPr>
              <a:t>38  </a:t>
            </a:r>
            <a:r>
              <a:rPr sz="729" i="0">
                <a:solidFill>
                  <a:srgbClr val="FF8E6E"/>
                </a:solidFill>
                <a:latin typeface="Inconsolata"/>
              </a:rPr>
              <a:t>if</a:t>
            </a:r>
            <a:r>
              <a:rPr sz="729" i="0">
                <a:solidFill>
                  <a:srgbClr val="E6EDF3"/>
                </a:solidFill>
                <a:latin typeface="Inconsolata"/>
              </a:rPr>
              <a:t> __name__ == </a:t>
            </a:r>
            <a:r>
              <a:rPr sz="729" i="0">
                <a:solidFill>
                  <a:srgbClr val="A5D6A7"/>
                </a:solidFill>
                <a:latin typeface="Inconsolata"/>
              </a:rPr>
              <a:t>"__main__"</a:t>
            </a:r>
            <a:r>
              <a:rPr sz="729" i="0">
                <a:solidFill>
                  <a:srgbClr val="E6EDF3"/>
                </a:solidFill>
                <a:latin typeface="Inconsolata"/>
              </a:rPr>
              <a:t>:</a:t>
            </a:r>
          </a:p>
          <a:p>
            <a:pPr>
              <a:lnSpc>
                <a:spcPct val="102868"/>
              </a:lnSpc>
              <a:spcAft>
                <a:spcPts val="0"/>
              </a:spcAft>
            </a:pPr>
            <a:r>
              <a:rPr sz="729" i="0">
                <a:solidFill>
                  <a:srgbClr val="5C6773"/>
                </a:solidFill>
                <a:latin typeface="Inconsolata"/>
              </a:rPr>
              <a:t>39  </a:t>
            </a:r>
            <a:r>
              <a:rPr sz="729" i="0">
                <a:solidFill>
                  <a:srgbClr val="E6EDF3"/>
                </a:solidFill>
                <a:latin typeface="Inconsolata"/>
              </a:rPr>
              <a:t>    celery_app.conf.task_always_eager = </a:t>
            </a:r>
            <a:r>
              <a:rPr sz="729" i="0">
                <a:solidFill>
                  <a:srgbClr val="FF8E6E"/>
                </a:solidFill>
                <a:latin typeface="Inconsolata"/>
              </a:rPr>
              <a:t>True</a:t>
            </a:r>
          </a:p>
          <a:p>
            <a:pPr>
              <a:lnSpc>
                <a:spcPct val="102868"/>
              </a:lnSpc>
              <a:spcAft>
                <a:spcPts val="0"/>
              </a:spcAft>
            </a:pPr>
            <a:r>
              <a:rPr sz="729" i="0">
                <a:solidFill>
                  <a:srgbClr val="5C6773"/>
                </a:solidFill>
                <a:latin typeface="Inconsolata"/>
              </a:rPr>
              <a:t>40  </a:t>
            </a:r>
            <a:r>
              <a:rPr sz="729" i="0">
                <a:solidFill>
                  <a:srgbClr val="E6EDF3"/>
                </a:solidFill>
                <a:latin typeface="Inconsolata"/>
              </a:rPr>
              <a:t>    result = send_order_email.delay(</a:t>
            </a:r>
            <a:r>
              <a:rPr sz="729" i="0">
                <a:solidFill>
                  <a:srgbClr val="A5D6A7"/>
                </a:solidFill>
                <a:latin typeface="Inconsolata"/>
              </a:rPr>
              <a:t>"budi@mail.com"</a:t>
            </a:r>
            <a:r>
              <a:rPr sz="729" i="0">
                <a:solidFill>
                  <a:srgbClr val="E6EDF3"/>
                </a:solidFill>
                <a:latin typeface="Inconsolata"/>
              </a:rPr>
              <a:t>,</a:t>
            </a:r>
          </a:p>
          <a:p>
            <a:pPr>
              <a:lnSpc>
                <a:spcPct val="102868"/>
              </a:lnSpc>
              <a:spcAft>
                <a:spcPts val="0"/>
              </a:spcAft>
            </a:pPr>
            <a:r>
              <a:rPr sz="729" i="0">
                <a:solidFill>
                  <a:srgbClr val="5C6773"/>
                </a:solidFill>
                <a:latin typeface="Inconsolata"/>
              </a:rPr>
              <a:t>41  </a:t>
            </a:r>
            <a:r>
              <a:rPr sz="729" i="0">
                <a:solidFill>
                  <a:srgbClr val="E6EDF3"/>
                </a:solidFill>
                <a:latin typeface="Inconsolata"/>
              </a:rPr>
              <a:t>                                    </a:t>
            </a:r>
            <a:r>
              <a:rPr sz="729" i="0">
                <a:solidFill>
                  <a:srgbClr val="A5D6A7"/>
                </a:solidFill>
                <a:latin typeface="Inconsolata"/>
              </a:rPr>
              <a:t>"Order #1 berhasil"</a:t>
            </a:r>
            <a:r>
              <a:rPr sz="729" i="0">
                <a:solidFill>
                  <a:srgbClr val="E6EDF3"/>
                </a:solidFill>
                <a:latin typeface="Inconsolata"/>
              </a:rPr>
              <a:t>)</a:t>
            </a:r>
          </a:p>
          <a:p>
            <a:pPr>
              <a:lnSpc>
                <a:spcPct val="102868"/>
              </a:lnSpc>
              <a:spcAft>
                <a:spcPts val="0"/>
              </a:spcAft>
            </a:pPr>
            <a:r>
              <a:rPr sz="729" i="0">
                <a:solidFill>
                  <a:srgbClr val="5C6773"/>
                </a:solidFill>
                <a:latin typeface="Inconsolata"/>
              </a:rPr>
              <a:t>42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"Status:"</a:t>
            </a:r>
            <a:r>
              <a:rPr sz="729" i="0">
                <a:solidFill>
                  <a:srgbClr val="E6EDF3"/>
                </a:solidFill>
                <a:latin typeface="Inconsolata"/>
              </a:rPr>
              <a:t>, result.state)    </a:t>
            </a:r>
            <a:r>
              <a:rPr sz="729" i="1">
                <a:solidFill>
                  <a:srgbClr val="8B98A8"/>
                </a:solidFill>
                <a:latin typeface="Inconsolata"/>
              </a:rPr>
              <a:t># FAILURE</a:t>
            </a:r>
          </a:p>
        </p:txBody>
      </p:sp>
      <p:sp>
        <p:nvSpPr>
          <p:cNvPr id="36" name="Box 21"/>
          <p:cNvSpPr/>
          <p:nvPr/>
        </p:nvSpPr>
        <p:spPr>
          <a:xfrm>
            <a:off x="4709159" y="2168271"/>
            <a:ext cx="3694176" cy="336042"/>
          </a:xfrm>
          <a:prstGeom prst="roundRect">
            <a:avLst>
              <a:gd name="adj" fmla="val 13605"/>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2174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8540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7889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3539871"/>
            <a:ext cx="3694176"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34747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Retry &amp; Timeout</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05-retry-timeout/before.py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sesi-05-async-tasks-celery-redis/05-retry-timeout</a:t>
            </a:r>
          </a:p>
          <a:p>
            <a:pPr>
              <a:lnSpc>
                <a:spcPct val="111111"/>
              </a:lnSpc>
              <a:spcAft>
                <a:spcPts val="0"/>
              </a:spcAft>
            </a:pPr>
            <a:r>
              <a:rPr sz="900" i="0">
                <a:solidFill>
                  <a:srgbClr val="82B1FF"/>
                </a:solidFill>
                <a:latin typeface="Inconsolata"/>
              </a:rPr>
              <a:t>$ python before.py</a:t>
            </a:r>
          </a:p>
        </p:txBody>
      </p:sp>
      <p:pic>
        <p:nvPicPr>
          <p:cNvPr id="29" name="Image 12" descr="s05-05-retry-timeout-before.png"/>
          <p:cNvPicPr>
            <a:picLocks noChangeAspect="1"/>
          </p:cNvPicPr>
          <p:nvPr/>
        </p:nvPicPr>
        <p:blipFill>
          <a:blip r:embed="rId2"/>
          <a:stretch>
            <a:fillRect/>
          </a:stretch>
        </p:blipFill>
        <p:spPr>
          <a:xfrm>
            <a:off x="621792" y="2322576"/>
            <a:ext cx="4297680" cy="983508"/>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Server email gagal di 2 percobaan pertama (baris 27-29)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Task tanpa retry dan tanpa batas waktu (baris 33)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Demo memakai mode eager: task langsung dijalankan tanpa worker (baris 39)</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Status </a:t>
            </a:r>
            <a:r>
              <a:rPr sz="950" b="0" i="0">
                <a:solidFill>
                  <a:srgbClr val="B5482A"/>
                </a:solidFill>
                <a:latin typeface="Inconsolata"/>
              </a:rPr>
              <a:t>FAILURE</a:t>
            </a:r>
            <a:r>
              <a:rPr sz="950" b="0" i="0">
                <a:solidFill>
                  <a:srgbClr val="434343"/>
                </a:solidFill>
                <a:latin typeface="Inter"/>
              </a:rPr>
              <a:t> di percobaan pertama, email tidak pernah terkirim.</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Retry &amp; Timeout</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retry dengan backoff dan time limit</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05-retry-timeout/after.py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13  </a:t>
            </a:r>
            <a:r>
              <a:rPr sz="729" i="0">
                <a:solidFill>
                  <a:srgbClr val="FF8E6E"/>
                </a:solidFill>
                <a:latin typeface="Inconsolata"/>
              </a:rPr>
              <a:t>from</a:t>
            </a:r>
            <a:r>
              <a:rPr sz="729" i="0">
                <a:solidFill>
                  <a:srgbClr val="E6EDF3"/>
                </a:solidFill>
                <a:latin typeface="Inconsolata"/>
              </a:rPr>
              <a:t> celery </a:t>
            </a:r>
            <a:r>
              <a:rPr sz="729" i="0">
                <a:solidFill>
                  <a:srgbClr val="FF8E6E"/>
                </a:solidFill>
                <a:latin typeface="Inconsolata"/>
              </a:rPr>
              <a:t>import</a:t>
            </a:r>
            <a:r>
              <a:rPr sz="729" i="0">
                <a:solidFill>
                  <a:srgbClr val="E6EDF3"/>
                </a:solidFill>
                <a:latin typeface="Inconsolata"/>
              </a:rPr>
              <a:t> </a:t>
            </a:r>
            <a:r>
              <a:rPr sz="729" i="0">
                <a:solidFill>
                  <a:srgbClr val="7FDBCA"/>
                </a:solidFill>
                <a:latin typeface="Inconsolata"/>
              </a:rPr>
              <a:t>Celery</a:t>
            </a:r>
          </a:p>
          <a:p>
            <a:pPr>
              <a:lnSpc>
                <a:spcPct val="102868"/>
              </a:lnSpc>
              <a:spcAft>
                <a:spcPts val="0"/>
              </a:spcAft>
            </a:pPr>
            <a:r>
              <a:rPr sz="729" i="0">
                <a:solidFill>
                  <a:srgbClr val="5C6773"/>
                </a:solidFill>
                <a:latin typeface="Inconsolata"/>
              </a:rPr>
              <a:t>14  </a:t>
            </a:r>
            <a:r>
              <a:rPr sz="729" i="0">
                <a:solidFill>
                  <a:srgbClr val="E6EDF3"/>
                </a:solidFill>
                <a:latin typeface="Inconsolata"/>
              </a:rPr>
              <a:t> </a:t>
            </a:r>
          </a:p>
          <a:p>
            <a:pPr>
              <a:lnSpc>
                <a:spcPct val="102868"/>
              </a:lnSpc>
              <a:spcAft>
                <a:spcPts val="0"/>
              </a:spcAft>
            </a:pPr>
            <a:r>
              <a:rPr sz="729" i="0">
                <a:solidFill>
                  <a:srgbClr val="5C6773"/>
                </a:solidFill>
                <a:latin typeface="Inconsolata"/>
              </a:rPr>
              <a:t>15  </a:t>
            </a:r>
            <a:r>
              <a:rPr sz="729" i="0">
                <a:solidFill>
                  <a:srgbClr val="E6EDF3"/>
                </a:solidFill>
                <a:latin typeface="Inconsolata"/>
              </a:rPr>
              <a:t>celery_app = </a:t>
            </a:r>
            <a:r>
              <a:rPr sz="729" i="0">
                <a:solidFill>
                  <a:srgbClr val="7FDBCA"/>
                </a:solidFill>
                <a:latin typeface="Inconsolata"/>
              </a:rPr>
              <a:t>Celery</a:t>
            </a:r>
            <a:r>
              <a:rPr sz="729" i="0">
                <a:solidFill>
                  <a:srgbClr val="E6EDF3"/>
                </a:solidFill>
                <a:latin typeface="Inconsolata"/>
              </a:rPr>
              <a:t>(</a:t>
            </a:r>
            <a:r>
              <a:rPr sz="729" i="0">
                <a:solidFill>
                  <a:srgbClr val="A5D6A7"/>
                </a:solidFill>
                <a:latin typeface="Inconsolata"/>
              </a:rPr>
              <a:t>"demo"</a:t>
            </a:r>
            <a:r>
              <a:rPr sz="729" i="0">
                <a:solidFill>
                  <a:srgbClr val="E6EDF3"/>
                </a:solidFill>
                <a:latin typeface="Inconsolata"/>
              </a:rPr>
              <a:t>,</a:t>
            </a:r>
          </a:p>
          <a:p>
            <a:pPr>
              <a:lnSpc>
                <a:spcPct val="102868"/>
              </a:lnSpc>
              <a:spcAft>
                <a:spcPts val="0"/>
              </a:spcAft>
            </a:pPr>
            <a:r>
              <a:rPr sz="729" i="0">
                <a:solidFill>
                  <a:srgbClr val="5C6773"/>
                </a:solidFill>
                <a:latin typeface="Inconsolata"/>
              </a:rPr>
              <a:t>16  </a:t>
            </a:r>
            <a:r>
              <a:rPr sz="729" i="0">
                <a:solidFill>
                  <a:srgbClr val="E6EDF3"/>
                </a:solidFill>
                <a:latin typeface="Inconsolata"/>
              </a:rPr>
              <a:t>                    broker=</a:t>
            </a:r>
            <a:r>
              <a:rPr sz="729" i="0">
                <a:solidFill>
                  <a:srgbClr val="A5D6A7"/>
                </a:solidFill>
                <a:latin typeface="Inconsolata"/>
              </a:rPr>
              <a:t>"redis://localhost:6379/0"</a:t>
            </a:r>
            <a:r>
              <a:rPr sz="729" i="0">
                <a:solidFill>
                  <a:srgbClr val="E6EDF3"/>
                </a:solidFill>
                <a:latin typeface="Inconsolata"/>
              </a:rPr>
              <a:t>,</a:t>
            </a:r>
          </a:p>
          <a:p>
            <a:pPr>
              <a:lnSpc>
                <a:spcPct val="102868"/>
              </a:lnSpc>
              <a:spcAft>
                <a:spcPts val="0"/>
              </a:spcAft>
            </a:pPr>
            <a:r>
              <a:rPr sz="729" i="0">
                <a:solidFill>
                  <a:srgbClr val="5C6773"/>
                </a:solidFill>
                <a:latin typeface="Inconsolata"/>
              </a:rPr>
              <a:t>17  </a:t>
            </a:r>
            <a:r>
              <a:rPr sz="729" i="0">
                <a:solidFill>
                  <a:srgbClr val="E6EDF3"/>
                </a:solidFill>
                <a:latin typeface="Inconsolata"/>
              </a:rPr>
              <a:t>                    backend=</a:t>
            </a:r>
            <a:r>
              <a:rPr sz="729" i="0">
                <a:solidFill>
                  <a:srgbClr val="A5D6A7"/>
                </a:solidFill>
                <a:latin typeface="Inconsolata"/>
              </a:rPr>
              <a:t>"redis://localhost:6379/1"</a:t>
            </a:r>
            <a:r>
              <a:rPr sz="729" i="0">
                <a:solidFill>
                  <a:srgbClr val="E6EDF3"/>
                </a:solidFill>
                <a:latin typeface="Inconsolata"/>
              </a:rPr>
              <a:t>)</a:t>
            </a:r>
          </a:p>
          <a:p>
            <a:pPr>
              <a:lnSpc>
                <a:spcPct val="102868"/>
              </a:lnSpc>
              <a:spcAft>
                <a:spcPts val="0"/>
              </a:spcAft>
            </a:pPr>
            <a:r>
              <a:rPr sz="729" i="0">
                <a:solidFill>
                  <a:srgbClr val="5C6773"/>
                </a:solidFill>
                <a:latin typeface="Inconsolata"/>
              </a:rPr>
              <a:t>18  </a:t>
            </a:r>
            <a:r>
              <a:rPr sz="729" i="0">
                <a:solidFill>
                  <a:srgbClr val="E6EDF3"/>
                </a:solidFill>
                <a:latin typeface="Inconsolata"/>
              </a:rPr>
              <a:t> </a:t>
            </a:r>
          </a:p>
          <a:p>
            <a:pPr>
              <a:lnSpc>
                <a:spcPct val="102868"/>
              </a:lnSpc>
              <a:spcAft>
                <a:spcPts val="0"/>
              </a:spcAft>
            </a:pPr>
            <a:r>
              <a:rPr sz="729" i="0">
                <a:solidFill>
                  <a:srgbClr val="5C6773"/>
                </a:solidFill>
                <a:latin typeface="Inconsolata"/>
              </a:rPr>
              <a:t>19  </a:t>
            </a:r>
            <a:r>
              <a:rPr sz="729" i="0">
                <a:solidFill>
                  <a:srgbClr val="E6EDF3"/>
                </a:solidFill>
                <a:latin typeface="Inconsolata"/>
              </a:rPr>
              <a:t> </a:t>
            </a:r>
          </a:p>
          <a:p>
            <a:pPr>
              <a:lnSpc>
                <a:spcPct val="102868"/>
              </a:lnSpc>
              <a:spcAft>
                <a:spcPts val="0"/>
              </a:spcAft>
            </a:pPr>
            <a:r>
              <a:rPr sz="729" i="0">
                <a:solidFill>
                  <a:srgbClr val="5C6773"/>
                </a:solidFill>
                <a:latin typeface="Inconsolata"/>
              </a:rPr>
              <a:t>20  </a:t>
            </a:r>
            <a:r>
              <a:rPr sz="729" i="0">
                <a:solidFill>
                  <a:srgbClr val="FF8E6E"/>
                </a:solidFill>
                <a:latin typeface="Inconsolata"/>
              </a:rPr>
              <a:t>class</a:t>
            </a:r>
            <a:r>
              <a:rPr sz="729" i="0">
                <a:solidFill>
                  <a:srgbClr val="E6EDF3"/>
                </a:solidFill>
                <a:latin typeface="Inconsolata"/>
              </a:rPr>
              <a:t> </a:t>
            </a:r>
            <a:r>
              <a:rPr sz="729" i="0">
                <a:solidFill>
                  <a:srgbClr val="7FDBCA"/>
                </a:solidFill>
                <a:latin typeface="Inconsolata"/>
              </a:rPr>
              <a:t>EmailServiceDown</a:t>
            </a:r>
            <a:r>
              <a:rPr sz="729" i="0">
                <a:solidFill>
                  <a:srgbClr val="E6EDF3"/>
                </a:solidFill>
                <a:latin typeface="Inconsolata"/>
              </a:rPr>
              <a:t>(</a:t>
            </a:r>
            <a:r>
              <a:rPr sz="729" i="0">
                <a:solidFill>
                  <a:srgbClr val="7FDBCA"/>
                </a:solidFill>
                <a:latin typeface="Inconsolata"/>
              </a:rPr>
              <a:t>Exception</a:t>
            </a:r>
            <a:r>
              <a:rPr sz="729" i="0">
                <a:solidFill>
                  <a:srgbClr val="E6EDF3"/>
                </a:solidFill>
                <a:latin typeface="Inconsolata"/>
              </a:rPr>
              <a:t>):</a:t>
            </a:r>
          </a:p>
          <a:p>
            <a:pPr>
              <a:lnSpc>
                <a:spcPct val="102868"/>
              </a:lnSpc>
              <a:spcAft>
                <a:spcPts val="0"/>
              </a:spcAft>
            </a:pPr>
            <a:r>
              <a:rPr sz="729" i="0">
                <a:solidFill>
                  <a:srgbClr val="5C6773"/>
                </a:solidFill>
                <a:latin typeface="Inconsolata"/>
              </a:rPr>
              <a:t>21  </a:t>
            </a:r>
            <a:r>
              <a:rPr sz="729" i="0">
                <a:solidFill>
                  <a:srgbClr val="E6EDF3"/>
                </a:solidFill>
                <a:latin typeface="Inconsolata"/>
              </a:rPr>
              <a:t>    </a:t>
            </a:r>
            <a:r>
              <a:rPr sz="729" i="0">
                <a:solidFill>
                  <a:srgbClr val="FF8E6E"/>
                </a:solidFill>
                <a:latin typeface="Inconsolata"/>
              </a:rPr>
              <a:t>pass</a:t>
            </a:r>
          </a:p>
          <a:p>
            <a:pPr>
              <a:lnSpc>
                <a:spcPct val="102868"/>
              </a:lnSpc>
              <a:spcAft>
                <a:spcPts val="0"/>
              </a:spcAft>
            </a:pPr>
            <a:r>
              <a:rPr sz="729" i="0">
                <a:solidFill>
                  <a:srgbClr val="5C6773"/>
                </a:solidFill>
                <a:latin typeface="Inconsolata"/>
              </a:rPr>
              <a:t>22  </a:t>
            </a:r>
            <a:r>
              <a:rPr sz="729" i="0">
                <a:solidFill>
                  <a:srgbClr val="E6EDF3"/>
                </a:solidFill>
                <a:latin typeface="Inconsolata"/>
              </a:rPr>
              <a:t> </a:t>
            </a:r>
          </a:p>
          <a:p>
            <a:pPr>
              <a:lnSpc>
                <a:spcPct val="102868"/>
              </a:lnSpc>
              <a:spcAft>
                <a:spcPts val="0"/>
              </a:spcAft>
            </a:pPr>
            <a:r>
              <a:rPr sz="729" i="0">
                <a:solidFill>
                  <a:srgbClr val="5C6773"/>
                </a:solidFill>
                <a:latin typeface="Inconsolata"/>
              </a:rPr>
              <a:t>23  </a:t>
            </a:r>
            <a:r>
              <a:rPr sz="729" i="0">
                <a:solidFill>
                  <a:srgbClr val="E6EDF3"/>
                </a:solidFill>
                <a:latin typeface="Inconsolata"/>
              </a:rPr>
              <a:t> </a:t>
            </a:r>
          </a:p>
          <a:p>
            <a:pPr>
              <a:lnSpc>
                <a:spcPct val="102868"/>
              </a:lnSpc>
              <a:spcAft>
                <a:spcPts val="0"/>
              </a:spcAft>
            </a:pPr>
            <a:r>
              <a:rPr sz="729" i="0">
                <a:solidFill>
                  <a:srgbClr val="5C6773"/>
                </a:solidFill>
                <a:latin typeface="Inconsolata"/>
              </a:rPr>
              <a:t>24  </a:t>
            </a:r>
            <a:r>
              <a:rPr sz="729" i="0">
                <a:solidFill>
                  <a:srgbClr val="E6EDF3"/>
                </a:solidFill>
                <a:latin typeface="Inconsolata"/>
              </a:rPr>
              <a:t>attempts = </a:t>
            </a:r>
            <a:r>
              <a:rPr sz="729" i="0">
                <a:solidFill>
                  <a:srgbClr val="F9C97A"/>
                </a:solidFill>
                <a:latin typeface="Inconsolata"/>
              </a:rPr>
              <a:t>0</a:t>
            </a:r>
          </a:p>
          <a:p>
            <a:pPr>
              <a:lnSpc>
                <a:spcPct val="102868"/>
              </a:lnSpc>
              <a:spcAft>
                <a:spcPts val="0"/>
              </a:spcAft>
            </a:pPr>
            <a:r>
              <a:rPr sz="729" i="0">
                <a:solidFill>
                  <a:srgbClr val="5C6773"/>
                </a:solidFill>
                <a:latin typeface="Inconsolata"/>
              </a:rPr>
              <a:t>25  </a:t>
            </a:r>
            <a:r>
              <a:rPr sz="729" i="0">
                <a:solidFill>
                  <a:srgbClr val="E6EDF3"/>
                </a:solidFill>
                <a:latin typeface="Inconsolata"/>
              </a:rPr>
              <a:t> </a:t>
            </a:r>
          </a:p>
          <a:p>
            <a:pPr>
              <a:lnSpc>
                <a:spcPct val="102868"/>
              </a:lnSpc>
              <a:spcAft>
                <a:spcPts val="0"/>
              </a:spcAft>
            </a:pPr>
            <a:r>
              <a:rPr sz="729" i="0">
                <a:solidFill>
                  <a:srgbClr val="5C6773"/>
                </a:solidFill>
                <a:latin typeface="Inconsolata"/>
              </a:rPr>
              <a:t>26  </a:t>
            </a:r>
            <a:r>
              <a:rPr sz="729" i="0">
                <a:solidFill>
                  <a:srgbClr val="E6EDF3"/>
                </a:solidFill>
                <a:latin typeface="Inconsolata"/>
              </a:rPr>
              <a:t> </a:t>
            </a:r>
          </a:p>
          <a:p>
            <a:pPr>
              <a:lnSpc>
                <a:spcPct val="102868"/>
              </a:lnSpc>
              <a:spcAft>
                <a:spcPts val="0"/>
              </a:spcAft>
            </a:pPr>
            <a:r>
              <a:rPr sz="729" i="0">
                <a:solidFill>
                  <a:srgbClr val="5C6773"/>
                </a:solidFill>
                <a:latin typeface="Inconsolata"/>
              </a:rPr>
              <a:t>27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send_email</a:t>
            </a:r>
            <a:r>
              <a:rPr sz="729" i="0">
                <a:solidFill>
                  <a:srgbClr val="E6EDF3"/>
                </a:solidFill>
                <a:latin typeface="Inconsolata"/>
              </a:rPr>
              <a:t>(to: </a:t>
            </a:r>
            <a:r>
              <a:rPr sz="729" i="0">
                <a:solidFill>
                  <a:srgbClr val="C3A6FF"/>
                </a:solidFill>
                <a:latin typeface="Inconsolata"/>
              </a:rPr>
              <a:t>str</a:t>
            </a:r>
            <a:r>
              <a:rPr sz="729" i="0">
                <a:solidFill>
                  <a:srgbClr val="E6EDF3"/>
                </a:solidFill>
                <a:latin typeface="Inconsolata"/>
              </a:rPr>
              <a:t>, message: </a:t>
            </a:r>
            <a:r>
              <a:rPr sz="729" i="0">
                <a:solidFill>
                  <a:srgbClr val="C3A6FF"/>
                </a:solidFill>
                <a:latin typeface="Inconsolata"/>
              </a:rPr>
              <a:t>str</a:t>
            </a:r>
            <a:r>
              <a:rPr sz="729" i="0">
                <a:solidFill>
                  <a:srgbClr val="E6EDF3"/>
                </a:solidFill>
                <a:latin typeface="Inconsolata"/>
              </a:rPr>
              <a:t>) -&gt;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28  </a:t>
            </a:r>
            <a:r>
              <a:rPr sz="729" i="0">
                <a:solidFill>
                  <a:srgbClr val="E6EDF3"/>
                </a:solidFill>
                <a:latin typeface="Inconsolata"/>
              </a:rPr>
              <a:t>    </a:t>
            </a:r>
            <a:r>
              <a:rPr sz="729" i="0">
                <a:solidFill>
                  <a:srgbClr val="FF8E6E"/>
                </a:solidFill>
                <a:latin typeface="Inconsolata"/>
              </a:rPr>
              <a:t>global</a:t>
            </a:r>
            <a:r>
              <a:rPr sz="729" i="0">
                <a:solidFill>
                  <a:srgbClr val="E6EDF3"/>
                </a:solidFill>
                <a:latin typeface="Inconsolata"/>
              </a:rPr>
              <a:t> attempts</a:t>
            </a:r>
          </a:p>
          <a:p>
            <a:pPr>
              <a:lnSpc>
                <a:spcPct val="102868"/>
              </a:lnSpc>
              <a:spcAft>
                <a:spcPts val="0"/>
              </a:spcAft>
            </a:pPr>
            <a:r>
              <a:rPr sz="729" i="0">
                <a:solidFill>
                  <a:srgbClr val="5C6773"/>
                </a:solidFill>
                <a:latin typeface="Inconsolata"/>
              </a:rPr>
              <a:t>29  </a:t>
            </a:r>
            <a:r>
              <a:rPr sz="729" i="0">
                <a:solidFill>
                  <a:srgbClr val="E6EDF3"/>
                </a:solidFill>
                <a:latin typeface="Inconsolata"/>
              </a:rPr>
              <a:t>    attempts += </a:t>
            </a:r>
            <a:r>
              <a:rPr sz="729" i="0">
                <a:solidFill>
                  <a:srgbClr val="F9C97A"/>
                </a:solidFill>
                <a:latin typeface="Inconsolata"/>
              </a:rPr>
              <a:t>1</a:t>
            </a:r>
          </a:p>
          <a:p>
            <a:pPr>
              <a:lnSpc>
                <a:spcPct val="102868"/>
              </a:lnSpc>
              <a:spcAft>
                <a:spcPts val="0"/>
              </a:spcAft>
            </a:pPr>
            <a:r>
              <a:rPr sz="729" i="0">
                <a:solidFill>
                  <a:srgbClr val="5C6773"/>
                </a:solidFill>
                <a:latin typeface="Inconsolata"/>
              </a:rPr>
              <a:t>30  </a:t>
            </a:r>
            <a:r>
              <a:rPr sz="729" i="0">
                <a:solidFill>
                  <a:srgbClr val="E6EDF3"/>
                </a:solidFill>
                <a:latin typeface="Inconsolata"/>
              </a:rPr>
              <a:t>    </a:t>
            </a:r>
            <a:r>
              <a:rPr sz="729" i="0">
                <a:solidFill>
                  <a:srgbClr val="FF8E6E"/>
                </a:solidFill>
                <a:latin typeface="Inconsolata"/>
              </a:rPr>
              <a:t>if</a:t>
            </a:r>
            <a:r>
              <a:rPr sz="729" i="0">
                <a:solidFill>
                  <a:srgbClr val="E6EDF3"/>
                </a:solidFill>
                <a:latin typeface="Inconsolata"/>
              </a:rPr>
              <a:t> attempts &lt; </a:t>
            </a:r>
            <a:r>
              <a:rPr sz="729" i="0">
                <a:solidFill>
                  <a:srgbClr val="F9C97A"/>
                </a:solidFill>
                <a:latin typeface="Inconsolata"/>
              </a:rPr>
              <a:t>3</a:t>
            </a:r>
            <a:r>
              <a:rPr sz="729" i="0">
                <a:solidFill>
                  <a:srgbClr val="E6EDF3"/>
                </a:solidFill>
                <a:latin typeface="Inconsolata"/>
              </a:rPr>
              <a:t>:</a:t>
            </a:r>
          </a:p>
          <a:p>
            <a:pPr>
              <a:lnSpc>
                <a:spcPct val="102868"/>
              </a:lnSpc>
              <a:spcAft>
                <a:spcPts val="0"/>
              </a:spcAft>
            </a:pPr>
            <a:r>
              <a:rPr sz="729" i="0">
                <a:solidFill>
                  <a:srgbClr val="5C6773"/>
                </a:solidFill>
                <a:latin typeface="Inconsolata"/>
              </a:rPr>
              <a:t>31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percobaan {attempts}: gagal, server email timeout"</a:t>
            </a:r>
            <a:r>
              <a:rPr sz="729" i="0">
                <a:solidFill>
                  <a:srgbClr val="E6EDF3"/>
                </a:solidFill>
                <a:latin typeface="Inconsolata"/>
              </a:rPr>
              <a:t>)</a:t>
            </a:r>
          </a:p>
          <a:p>
            <a:pPr>
              <a:lnSpc>
                <a:spcPct val="102868"/>
              </a:lnSpc>
              <a:spcAft>
                <a:spcPts val="0"/>
              </a:spcAft>
            </a:pPr>
            <a:r>
              <a:rPr sz="729" i="0">
                <a:solidFill>
                  <a:srgbClr val="5C6773"/>
                </a:solidFill>
                <a:latin typeface="Inconsolata"/>
              </a:rPr>
              <a:t>32  </a:t>
            </a:r>
            <a:r>
              <a:rPr sz="729" i="0">
                <a:solidFill>
                  <a:srgbClr val="E6EDF3"/>
                </a:solidFill>
                <a:latin typeface="Inconsolata"/>
              </a:rPr>
              <a:t>        </a:t>
            </a:r>
            <a:r>
              <a:rPr sz="729" i="0">
                <a:solidFill>
                  <a:srgbClr val="FF8E6E"/>
                </a:solidFill>
                <a:latin typeface="Inconsolata"/>
              </a:rPr>
              <a:t>raise</a:t>
            </a:r>
            <a:r>
              <a:rPr sz="729" i="0">
                <a:solidFill>
                  <a:srgbClr val="E6EDF3"/>
                </a:solidFill>
                <a:latin typeface="Inconsolata"/>
              </a:rPr>
              <a:t> </a:t>
            </a:r>
            <a:r>
              <a:rPr sz="729" i="0">
                <a:solidFill>
                  <a:srgbClr val="7FDBCA"/>
                </a:solidFill>
                <a:latin typeface="Inconsolata"/>
              </a:rPr>
              <a:t>EmailServiceDown</a:t>
            </a:r>
            <a:r>
              <a:rPr sz="729" i="0">
                <a:solidFill>
                  <a:srgbClr val="E6EDF3"/>
                </a:solidFill>
                <a:latin typeface="Inconsolata"/>
              </a:rPr>
              <a:t>(</a:t>
            </a:r>
            <a:r>
              <a:rPr sz="729" i="0">
                <a:solidFill>
                  <a:srgbClr val="A5D6A7"/>
                </a:solidFill>
                <a:latin typeface="Inconsolata"/>
              </a:rPr>
              <a:t>"Server email timeout"</a:t>
            </a:r>
            <a:r>
              <a:rPr sz="729" i="0">
                <a:solidFill>
                  <a:srgbClr val="E6EDF3"/>
                </a:solidFill>
                <a:latin typeface="Inconsolata"/>
              </a:rPr>
              <a:t>)</a:t>
            </a:r>
          </a:p>
          <a:p>
            <a:pPr>
              <a:lnSpc>
                <a:spcPct val="102868"/>
              </a:lnSpc>
              <a:spcAft>
                <a:spcPts val="0"/>
              </a:spcAft>
            </a:pPr>
            <a:r>
              <a:rPr sz="729" i="0">
                <a:solidFill>
                  <a:srgbClr val="5C6773"/>
                </a:solidFill>
                <a:latin typeface="Inconsolata"/>
              </a:rPr>
              <a:t>33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f"  percobaan {attempts}: [EMAIL] ke {to}: {message}"</a:t>
            </a:r>
            <a:r>
              <a:rPr sz="72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05-retry-timeout/after.py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2868"/>
              </a:lnSpc>
              <a:spcAft>
                <a:spcPts val="0"/>
              </a:spcAft>
            </a:pPr>
            <a:r>
              <a:rPr sz="729" i="0">
                <a:solidFill>
                  <a:srgbClr val="5C6773"/>
                </a:solidFill>
                <a:latin typeface="Inconsolata"/>
              </a:rPr>
              <a:t>36  </a:t>
            </a:r>
            <a:r>
              <a:rPr sz="729" i="0">
                <a:solidFill>
                  <a:srgbClr val="F9C97A"/>
                </a:solidFill>
                <a:latin typeface="Inconsolata"/>
              </a:rPr>
              <a:t>@celery_app.task</a:t>
            </a:r>
            <a:r>
              <a:rPr sz="729" i="0">
                <a:solidFill>
                  <a:srgbClr val="E6EDF3"/>
                </a:solidFill>
                <a:latin typeface="Inconsolata"/>
              </a:rPr>
              <a:t>(autoretry_for=(</a:t>
            </a:r>
            <a:r>
              <a:rPr sz="729" i="0">
                <a:solidFill>
                  <a:srgbClr val="7FDBCA"/>
                </a:solidFill>
                <a:latin typeface="Inconsolata"/>
              </a:rPr>
              <a:t>EmailServiceDown</a:t>
            </a:r>
            <a:r>
              <a:rPr sz="729" i="0">
                <a:solidFill>
                  <a:srgbClr val="E6EDF3"/>
                </a:solidFill>
                <a:latin typeface="Inconsolata"/>
              </a:rPr>
              <a:t>,),</a:t>
            </a:r>
          </a:p>
          <a:p>
            <a:pPr>
              <a:lnSpc>
                <a:spcPct val="102868"/>
              </a:lnSpc>
              <a:spcAft>
                <a:spcPts val="0"/>
              </a:spcAft>
            </a:pPr>
            <a:r>
              <a:rPr sz="729" i="0">
                <a:solidFill>
                  <a:srgbClr val="5C6773"/>
                </a:solidFill>
                <a:latin typeface="Inconsolata"/>
              </a:rPr>
              <a:t>37  </a:t>
            </a:r>
            <a:r>
              <a:rPr sz="729" i="0">
                <a:solidFill>
                  <a:srgbClr val="E6EDF3"/>
                </a:solidFill>
                <a:latin typeface="Inconsolata"/>
              </a:rPr>
              <a:t>                 retry_backoff=</a:t>
            </a:r>
            <a:r>
              <a:rPr sz="729" i="0">
                <a:solidFill>
                  <a:srgbClr val="FF8E6E"/>
                </a:solidFill>
                <a:latin typeface="Inconsolata"/>
              </a:rPr>
              <a:t>True</a:t>
            </a:r>
            <a:r>
              <a:rPr sz="729" i="0">
                <a:solidFill>
                  <a:srgbClr val="E6EDF3"/>
                </a:solidFill>
                <a:latin typeface="Inconsolata"/>
              </a:rPr>
              <a:t>, max_retries=</a:t>
            </a:r>
            <a:r>
              <a:rPr sz="729" i="0">
                <a:solidFill>
                  <a:srgbClr val="F9C97A"/>
                </a:solidFill>
                <a:latin typeface="Inconsolata"/>
              </a:rPr>
              <a:t>3</a:t>
            </a:r>
            <a:r>
              <a:rPr sz="729" i="0">
                <a:solidFill>
                  <a:srgbClr val="E6EDF3"/>
                </a:solidFill>
                <a:latin typeface="Inconsolata"/>
              </a:rPr>
              <a:t>,</a:t>
            </a:r>
          </a:p>
          <a:p>
            <a:pPr>
              <a:lnSpc>
                <a:spcPct val="102868"/>
              </a:lnSpc>
              <a:spcAft>
                <a:spcPts val="0"/>
              </a:spcAft>
            </a:pPr>
            <a:r>
              <a:rPr sz="729" i="0">
                <a:solidFill>
                  <a:srgbClr val="5C6773"/>
                </a:solidFill>
                <a:latin typeface="Inconsolata"/>
              </a:rPr>
              <a:t>38  </a:t>
            </a:r>
            <a:r>
              <a:rPr sz="729" i="0">
                <a:solidFill>
                  <a:srgbClr val="E6EDF3"/>
                </a:solidFill>
                <a:latin typeface="Inconsolata"/>
              </a:rPr>
              <a:t>                 soft_time_limit=</a:t>
            </a:r>
            <a:r>
              <a:rPr sz="729" i="0">
                <a:solidFill>
                  <a:srgbClr val="F9C97A"/>
                </a:solidFill>
                <a:latin typeface="Inconsolata"/>
              </a:rPr>
              <a:t>10</a:t>
            </a:r>
            <a:r>
              <a:rPr sz="729" i="0">
                <a:solidFill>
                  <a:srgbClr val="E6EDF3"/>
                </a:solidFill>
                <a:latin typeface="Inconsolata"/>
              </a:rPr>
              <a:t>, time_limit=</a:t>
            </a:r>
            <a:r>
              <a:rPr sz="729" i="0">
                <a:solidFill>
                  <a:srgbClr val="F9C97A"/>
                </a:solidFill>
                <a:latin typeface="Inconsolata"/>
              </a:rPr>
              <a:t>15</a:t>
            </a:r>
            <a:r>
              <a:rPr sz="729" i="0">
                <a:solidFill>
                  <a:srgbClr val="E6EDF3"/>
                </a:solidFill>
                <a:latin typeface="Inconsolata"/>
              </a:rPr>
              <a:t>)</a:t>
            </a:r>
          </a:p>
          <a:p>
            <a:pPr>
              <a:lnSpc>
                <a:spcPct val="102868"/>
              </a:lnSpc>
              <a:spcAft>
                <a:spcPts val="0"/>
              </a:spcAft>
            </a:pPr>
            <a:r>
              <a:rPr sz="729" i="0">
                <a:solidFill>
                  <a:srgbClr val="5C6773"/>
                </a:solidFill>
                <a:latin typeface="Inconsolata"/>
              </a:rPr>
              <a:t>39  </a:t>
            </a:r>
            <a:r>
              <a:rPr sz="729" i="0">
                <a:solidFill>
                  <a:srgbClr val="FF8E6E"/>
                </a:solidFill>
                <a:latin typeface="Inconsolata"/>
              </a:rPr>
              <a:t>def</a:t>
            </a:r>
            <a:r>
              <a:rPr sz="729" i="0">
                <a:solidFill>
                  <a:srgbClr val="E6EDF3"/>
                </a:solidFill>
                <a:latin typeface="Inconsolata"/>
              </a:rPr>
              <a:t> </a:t>
            </a:r>
            <a:r>
              <a:rPr sz="729" i="0">
                <a:solidFill>
                  <a:srgbClr val="82B1FF"/>
                </a:solidFill>
                <a:latin typeface="Inconsolata"/>
              </a:rPr>
              <a:t>send_order_email</a:t>
            </a:r>
            <a:r>
              <a:rPr sz="729" i="0">
                <a:solidFill>
                  <a:srgbClr val="E6EDF3"/>
                </a:solidFill>
                <a:latin typeface="Inconsolata"/>
              </a:rPr>
              <a:t>(to: </a:t>
            </a:r>
            <a:r>
              <a:rPr sz="729" i="0">
                <a:solidFill>
                  <a:srgbClr val="C3A6FF"/>
                </a:solidFill>
                <a:latin typeface="Inconsolata"/>
              </a:rPr>
              <a:t>str</a:t>
            </a:r>
            <a:r>
              <a:rPr sz="729" i="0">
                <a:solidFill>
                  <a:srgbClr val="E6EDF3"/>
                </a:solidFill>
                <a:latin typeface="Inconsolata"/>
              </a:rPr>
              <a:t>, message: </a:t>
            </a:r>
            <a:r>
              <a:rPr sz="729" i="0">
                <a:solidFill>
                  <a:srgbClr val="C3A6FF"/>
                </a:solidFill>
                <a:latin typeface="Inconsolata"/>
              </a:rPr>
              <a:t>str</a:t>
            </a:r>
            <a:r>
              <a:rPr sz="729" i="0">
                <a:solidFill>
                  <a:srgbClr val="E6EDF3"/>
                </a:solidFill>
                <a:latin typeface="Inconsolata"/>
              </a:rPr>
              <a:t>) -&gt; </a:t>
            </a:r>
            <a:r>
              <a:rPr sz="729" i="0">
                <a:solidFill>
                  <a:srgbClr val="FF8E6E"/>
                </a:solidFill>
                <a:latin typeface="Inconsolata"/>
              </a:rPr>
              <a:t>None</a:t>
            </a:r>
            <a:r>
              <a:rPr sz="729" i="0">
                <a:solidFill>
                  <a:srgbClr val="E6EDF3"/>
                </a:solidFill>
                <a:latin typeface="Inconsolata"/>
              </a:rPr>
              <a:t>:</a:t>
            </a:r>
          </a:p>
          <a:p>
            <a:pPr>
              <a:lnSpc>
                <a:spcPct val="102868"/>
              </a:lnSpc>
              <a:spcAft>
                <a:spcPts val="0"/>
              </a:spcAft>
            </a:pPr>
            <a:r>
              <a:rPr sz="729" i="0">
                <a:solidFill>
                  <a:srgbClr val="5C6773"/>
                </a:solidFill>
                <a:latin typeface="Inconsolata"/>
              </a:rPr>
              <a:t>40  </a:t>
            </a:r>
            <a:r>
              <a:rPr sz="729" i="0">
                <a:solidFill>
                  <a:srgbClr val="E6EDF3"/>
                </a:solidFill>
                <a:latin typeface="Inconsolata"/>
              </a:rPr>
              <a:t>    send_email(to, message)</a:t>
            </a:r>
          </a:p>
          <a:p>
            <a:pPr>
              <a:lnSpc>
                <a:spcPct val="102868"/>
              </a:lnSpc>
              <a:spcAft>
                <a:spcPts val="0"/>
              </a:spcAft>
            </a:pPr>
            <a:r>
              <a:rPr sz="729" i="0">
                <a:solidFill>
                  <a:srgbClr val="5C6773"/>
                </a:solidFill>
                <a:latin typeface="Inconsolata"/>
              </a:rPr>
              <a:t>41  </a:t>
            </a:r>
            <a:r>
              <a:rPr sz="729" i="0">
                <a:solidFill>
                  <a:srgbClr val="E6EDF3"/>
                </a:solidFill>
                <a:latin typeface="Inconsolata"/>
              </a:rPr>
              <a:t> </a:t>
            </a:r>
          </a:p>
          <a:p>
            <a:pPr>
              <a:lnSpc>
                <a:spcPct val="102868"/>
              </a:lnSpc>
              <a:spcAft>
                <a:spcPts val="0"/>
              </a:spcAft>
            </a:pPr>
            <a:r>
              <a:rPr sz="729" i="0">
                <a:solidFill>
                  <a:srgbClr val="5C6773"/>
                </a:solidFill>
                <a:latin typeface="Inconsolata"/>
              </a:rPr>
              <a:t>42  </a:t>
            </a:r>
            <a:r>
              <a:rPr sz="729" i="0">
                <a:solidFill>
                  <a:srgbClr val="E6EDF3"/>
                </a:solidFill>
                <a:latin typeface="Inconsolata"/>
              </a:rPr>
              <a:t> </a:t>
            </a:r>
          </a:p>
          <a:p>
            <a:pPr>
              <a:lnSpc>
                <a:spcPct val="102868"/>
              </a:lnSpc>
              <a:spcAft>
                <a:spcPts val="0"/>
              </a:spcAft>
            </a:pPr>
            <a:r>
              <a:rPr sz="729" i="0">
                <a:solidFill>
                  <a:srgbClr val="5C6773"/>
                </a:solidFill>
                <a:latin typeface="Inconsolata"/>
              </a:rPr>
              <a:t>43  </a:t>
            </a:r>
            <a:r>
              <a:rPr sz="729" i="0">
                <a:solidFill>
                  <a:srgbClr val="FF8E6E"/>
                </a:solidFill>
                <a:latin typeface="Inconsolata"/>
              </a:rPr>
              <a:t>if</a:t>
            </a:r>
            <a:r>
              <a:rPr sz="729" i="0">
                <a:solidFill>
                  <a:srgbClr val="E6EDF3"/>
                </a:solidFill>
                <a:latin typeface="Inconsolata"/>
              </a:rPr>
              <a:t> __name__ == </a:t>
            </a:r>
            <a:r>
              <a:rPr sz="729" i="0">
                <a:solidFill>
                  <a:srgbClr val="A5D6A7"/>
                </a:solidFill>
                <a:latin typeface="Inconsolata"/>
              </a:rPr>
              <a:t>"__main__"</a:t>
            </a:r>
            <a:r>
              <a:rPr sz="729" i="0">
                <a:solidFill>
                  <a:srgbClr val="E6EDF3"/>
                </a:solidFill>
                <a:latin typeface="Inconsolata"/>
              </a:rPr>
              <a:t>:</a:t>
            </a:r>
          </a:p>
          <a:p>
            <a:pPr>
              <a:lnSpc>
                <a:spcPct val="102868"/>
              </a:lnSpc>
              <a:spcAft>
                <a:spcPts val="0"/>
              </a:spcAft>
            </a:pPr>
            <a:r>
              <a:rPr sz="729" i="0">
                <a:solidFill>
                  <a:srgbClr val="5C6773"/>
                </a:solidFill>
                <a:latin typeface="Inconsolata"/>
              </a:rPr>
              <a:t>44  </a:t>
            </a:r>
            <a:r>
              <a:rPr sz="729" i="0">
                <a:solidFill>
                  <a:srgbClr val="E6EDF3"/>
                </a:solidFill>
                <a:latin typeface="Inconsolata"/>
              </a:rPr>
              <a:t>    celery_app.conf.task_always_eager = </a:t>
            </a:r>
            <a:r>
              <a:rPr sz="729" i="0">
                <a:solidFill>
                  <a:srgbClr val="FF8E6E"/>
                </a:solidFill>
                <a:latin typeface="Inconsolata"/>
              </a:rPr>
              <a:t>True</a:t>
            </a:r>
          </a:p>
          <a:p>
            <a:pPr>
              <a:lnSpc>
                <a:spcPct val="102868"/>
              </a:lnSpc>
              <a:spcAft>
                <a:spcPts val="0"/>
              </a:spcAft>
            </a:pPr>
            <a:r>
              <a:rPr sz="729" i="0">
                <a:solidFill>
                  <a:srgbClr val="5C6773"/>
                </a:solidFill>
                <a:latin typeface="Inconsolata"/>
              </a:rPr>
              <a:t>45  </a:t>
            </a:r>
            <a:r>
              <a:rPr sz="729" i="0">
                <a:solidFill>
                  <a:srgbClr val="E6EDF3"/>
                </a:solidFill>
                <a:latin typeface="Inconsolata"/>
              </a:rPr>
              <a:t>    result = send_order_email.delay(</a:t>
            </a:r>
            <a:r>
              <a:rPr sz="729" i="0">
                <a:solidFill>
                  <a:srgbClr val="A5D6A7"/>
                </a:solidFill>
                <a:latin typeface="Inconsolata"/>
              </a:rPr>
              <a:t>"budi@mail.com"</a:t>
            </a:r>
            <a:r>
              <a:rPr sz="729" i="0">
                <a:solidFill>
                  <a:srgbClr val="E6EDF3"/>
                </a:solidFill>
                <a:latin typeface="Inconsolata"/>
              </a:rPr>
              <a:t>,</a:t>
            </a:r>
          </a:p>
          <a:p>
            <a:pPr>
              <a:lnSpc>
                <a:spcPct val="102868"/>
              </a:lnSpc>
              <a:spcAft>
                <a:spcPts val="0"/>
              </a:spcAft>
            </a:pPr>
            <a:r>
              <a:rPr sz="729" i="0">
                <a:solidFill>
                  <a:srgbClr val="5C6773"/>
                </a:solidFill>
                <a:latin typeface="Inconsolata"/>
              </a:rPr>
              <a:t>46  </a:t>
            </a:r>
            <a:r>
              <a:rPr sz="729" i="0">
                <a:solidFill>
                  <a:srgbClr val="E6EDF3"/>
                </a:solidFill>
                <a:latin typeface="Inconsolata"/>
              </a:rPr>
              <a:t>                                    </a:t>
            </a:r>
            <a:r>
              <a:rPr sz="729" i="0">
                <a:solidFill>
                  <a:srgbClr val="A5D6A7"/>
                </a:solidFill>
                <a:latin typeface="Inconsolata"/>
              </a:rPr>
              <a:t>"Order #1 berhasil"</a:t>
            </a:r>
            <a:r>
              <a:rPr sz="729" i="0">
                <a:solidFill>
                  <a:srgbClr val="E6EDF3"/>
                </a:solidFill>
                <a:latin typeface="Inconsolata"/>
              </a:rPr>
              <a:t>)</a:t>
            </a:r>
          </a:p>
          <a:p>
            <a:pPr>
              <a:lnSpc>
                <a:spcPct val="102868"/>
              </a:lnSpc>
              <a:spcAft>
                <a:spcPts val="0"/>
              </a:spcAft>
            </a:pPr>
            <a:r>
              <a:rPr sz="729" i="0">
                <a:solidFill>
                  <a:srgbClr val="5C6773"/>
                </a:solidFill>
                <a:latin typeface="Inconsolata"/>
              </a:rPr>
              <a:t>47  </a:t>
            </a:r>
            <a:r>
              <a:rPr sz="729" i="0">
                <a:solidFill>
                  <a:srgbClr val="E6EDF3"/>
                </a:solidFill>
                <a:latin typeface="Inconsolata"/>
              </a:rPr>
              <a:t>    </a:t>
            </a:r>
            <a:r>
              <a:rPr sz="729" i="0">
                <a:solidFill>
                  <a:srgbClr val="C3A6FF"/>
                </a:solidFill>
                <a:latin typeface="Inconsolata"/>
              </a:rPr>
              <a:t>print</a:t>
            </a:r>
            <a:r>
              <a:rPr sz="729" i="0">
                <a:solidFill>
                  <a:srgbClr val="E6EDF3"/>
                </a:solidFill>
                <a:latin typeface="Inconsolata"/>
              </a:rPr>
              <a:t>(</a:t>
            </a:r>
            <a:r>
              <a:rPr sz="729" i="0">
                <a:solidFill>
                  <a:srgbClr val="A5D6A7"/>
                </a:solidFill>
                <a:latin typeface="Inconsolata"/>
              </a:rPr>
              <a:t>"Status:"</a:t>
            </a:r>
            <a:r>
              <a:rPr sz="729" i="0">
                <a:solidFill>
                  <a:srgbClr val="E6EDF3"/>
                </a:solidFill>
                <a:latin typeface="Inconsolata"/>
              </a:rPr>
              <a:t>, result.state)    </a:t>
            </a:r>
            <a:r>
              <a:rPr sz="729" i="1">
                <a:solidFill>
                  <a:srgbClr val="8B98A8"/>
                </a:solidFill>
                <a:latin typeface="Inconsolata"/>
              </a:rPr>
              <a:t># SUCCESS di percobaan ke-3</a:t>
            </a:r>
          </a:p>
        </p:txBody>
      </p:sp>
      <p:sp>
        <p:nvSpPr>
          <p:cNvPr id="36" name="Box 21"/>
          <p:cNvSpPr/>
          <p:nvPr/>
        </p:nvSpPr>
        <p:spPr>
          <a:xfrm>
            <a:off x="4709159" y="1825371"/>
            <a:ext cx="3694176" cy="336042"/>
          </a:xfrm>
          <a:prstGeom prst="roundRect">
            <a:avLst>
              <a:gd name="adj" fmla="val 1360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18745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739771"/>
            <a:ext cx="3694176" cy="107442"/>
          </a:xfrm>
          <a:prstGeom prst="roundRect">
            <a:avLst>
              <a:gd name="adj" fmla="val 4255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67462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Retry &amp; Timeout</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05-retry-timeout/after.py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sesi-05-async-tasks-celery-redis/05-retry-timeout</a:t>
            </a:r>
          </a:p>
          <a:p>
            <a:pPr>
              <a:lnSpc>
                <a:spcPct val="111111"/>
              </a:lnSpc>
              <a:spcAft>
                <a:spcPts val="0"/>
              </a:spcAft>
            </a:pPr>
            <a:r>
              <a:rPr sz="900" i="0">
                <a:solidFill>
                  <a:srgbClr val="82B1FF"/>
                </a:solidFill>
                <a:latin typeface="Inconsolata"/>
              </a:rPr>
              <a:t>$ python after.py</a:t>
            </a:r>
          </a:p>
        </p:txBody>
      </p:sp>
      <p:pic>
        <p:nvPicPr>
          <p:cNvPr id="29" name="Image 12" descr="s05-05-retry-timeout-after.png"/>
          <p:cNvPicPr>
            <a:picLocks noChangeAspect="1"/>
          </p:cNvPicPr>
          <p:nvPr/>
        </p:nvPicPr>
        <p:blipFill>
          <a:blip r:embed="rId2"/>
          <a:stretch>
            <a:fillRect/>
          </a:stretch>
        </p:blipFill>
        <p:spPr>
          <a:xfrm>
            <a:off x="621792" y="2322576"/>
            <a:ext cx="4297680" cy="1322363"/>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Aturan retry dan time limit ditulis di decorator: hanya </a:t>
            </a:r>
            <a:r>
              <a:rPr sz="950" b="0" i="0">
                <a:solidFill>
                  <a:srgbClr val="B5482A"/>
                </a:solidFill>
                <a:latin typeface="Inconsolata"/>
              </a:rPr>
              <a:t>EmailServiceDown</a:t>
            </a:r>
            <a:r>
              <a:rPr sz="950" b="0" i="0">
                <a:solidFill>
                  <a:srgbClr val="434343"/>
                </a:solidFill>
                <a:latin typeface="Inter"/>
              </a:rPr>
              <a:t> yang dicoba lagi, jeda makin lama, maksimal 3 kali, dan batas waktu 10/15 detik (baris 36-38)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Mode eager: retry langsung dijalankan tanpa jeda, time limit hanya berlaku di worker (baris 44)</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Email terkirim di percobaan ke-3, status </a:t>
            </a:r>
            <a:r>
              <a:rPr sz="950" b="0" i="0">
                <a:solidFill>
                  <a:srgbClr val="B5482A"/>
                </a:solidFill>
                <a:latin typeface="Inconsolata"/>
              </a:rPr>
              <a:t>SUCCESS</a:t>
            </a:r>
            <a:r>
              <a:rPr sz="950" b="0" i="0">
                <a:solidFill>
                  <a:srgbClr val="434343"/>
                </a:solidFill>
                <a:latin typeface="Inter"/>
              </a:rPr>
              <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Idempotency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Idempotency?</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Idempotency adalah</a:t>
            </a:r>
          </a:p>
          <a:p>
            <a:pPr algn="l">
              <a:lnSpc>
                <a:spcPct val="115000"/>
              </a:lnSpc>
              <a:spcAft>
                <a:spcPts val="400"/>
              </a:spcAft>
            </a:pPr>
            <a:r>
              <a:rPr sz="900" b="0" i="0">
                <a:solidFill>
                  <a:srgbClr val="434343"/>
                </a:solidFill>
                <a:latin typeface="Inter"/>
              </a:rPr>
              <a:t>Sifat sebuah operasi yang hasil akhirnya </a:t>
            </a:r>
            <a:r>
              <a:rPr sz="900" b="1" i="0">
                <a:solidFill>
                  <a:srgbClr val="434343"/>
                </a:solidFill>
                <a:latin typeface="Inter"/>
              </a:rPr>
              <a:t>sama</a:t>
            </a:r>
            <a:r>
              <a:rPr sz="900" b="0" i="0">
                <a:solidFill>
                  <a:srgbClr val="434343"/>
                </a:solidFill>
                <a:latin typeface="Inter"/>
              </a:rPr>
              <a:t>, walaupun dijalankan sekali atau berkali-kali. Caranya dengan </a:t>
            </a:r>
            <a:r>
              <a:rPr sz="900" b="1" i="0">
                <a:solidFill>
                  <a:srgbClr val="434343"/>
                </a:solidFill>
                <a:latin typeface="Inter"/>
              </a:rPr>
              <a:t>idempotency key</a:t>
            </a:r>
            <a:r>
              <a:rPr sz="900" b="0" i="0">
                <a:solidFill>
                  <a:srgbClr val="434343"/>
                </a:solidFill>
                <a:latin typeface="Inter"/>
              </a:rPr>
              <a:t>, yaitu penanda unik untuk satu proses, misalnya </a:t>
            </a:r>
            <a:r>
              <a:rPr sz="900" b="0" i="0">
                <a:solidFill>
                  <a:srgbClr val="B5482A"/>
                </a:solidFill>
                <a:latin typeface="Inconsolata"/>
              </a:rPr>
              <a:t>payment-email:1</a:t>
            </a:r>
            <a:r>
              <a:rPr sz="900" b="0" i="0">
                <a:solidFill>
                  <a:srgbClr val="434343"/>
                </a:solidFill>
                <a:latin typeface="Inter"/>
              </a:rPr>
              <a:t> untuk email pembayaran order #1. Sebelum bekerja, task mengecek apakah key itu sudah pernah diproses.</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Mencegah email terkirim dua kali saat task di-retry</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Menjaga job yang masuk queue dua kali tetap aman</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Membuat task aman untuk dijalankan ulang</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idempotency: 06-idempotency/before.py</a:t>
            </a:r>
          </a:p>
        </p:txBody>
      </p:sp>
      <p:sp>
        <p:nvSpPr>
          <p:cNvPr id="28" name="CodeBg 11"/>
          <p:cNvSpPr/>
          <p:nvPr/>
        </p:nvSpPr>
        <p:spPr>
          <a:xfrm>
            <a:off x="4297680" y="1719072"/>
            <a:ext cx="4187951" cy="704088"/>
          </a:xfrm>
          <a:prstGeom prst="roundRect">
            <a:avLst>
              <a:gd name="adj" fmla="val 2597"/>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704088"/>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send_payment_email</a:t>
            </a:r>
            <a:r>
              <a:rPr sz="850" i="0">
                <a:solidFill>
                  <a:srgbClr val="E6EDF3"/>
                </a:solidFill>
                <a:latin typeface="Inconsolata"/>
              </a:rPr>
              <a:t>(order_id: </a:t>
            </a:r>
            <a:r>
              <a:rPr sz="850" i="0">
                <a:solidFill>
                  <a:srgbClr val="C3A6FF"/>
                </a:solidFill>
                <a:latin typeface="Inconsolata"/>
              </a:rPr>
              <a:t>int</a:t>
            </a:r>
            <a:r>
              <a:rPr sz="850" i="0">
                <a:solidFill>
                  <a:srgbClr val="E6EDF3"/>
                </a:solidFill>
                <a:latin typeface="Inconsolata"/>
              </a:rPr>
              <a:t>, to: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send_email(to, </a:t>
            </a:r>
            <a:r>
              <a:rPr sz="850" i="0">
                <a:solidFill>
                  <a:srgbClr val="A5D6A7"/>
                </a:solidFill>
                <a:latin typeface="Inconsolata"/>
              </a:rPr>
              <a:t>f"Order #{order_id} sudah dibayar"</a:t>
            </a:r>
            <a:r>
              <a:rPr sz="850" i="0">
                <a:solidFill>
                  <a:srgbClr val="E6EDF3"/>
                </a:solidFill>
                <a:latin typeface="Inconsolata"/>
              </a:rPr>
              <a:t>)</a:t>
            </a:r>
          </a:p>
          <a:p>
            <a:pPr>
              <a:lnSpc>
                <a:spcPct val="107843"/>
              </a:lnSpc>
              <a:spcAft>
                <a:spcPts val="0"/>
              </a:spcAft>
            </a:pPr>
            <a:r>
              <a:rPr sz="850" i="0">
                <a:solidFill>
                  <a:srgbClr val="E6EDF3"/>
                </a:solidFill>
                <a:latin typeface="Inconsolata"/>
              </a:rPr>
              <a:t>    save_email_log(order_id)     </a:t>
            </a:r>
            <a:r>
              <a:rPr sz="850" i="1">
                <a:solidFill>
                  <a:srgbClr val="8B98A8"/>
                </a:solidFill>
                <a:latin typeface="Inconsolata"/>
              </a:rPr>
              <a:t># gagal sekali -&gt; retry dari awal</a:t>
            </a:r>
          </a:p>
        </p:txBody>
      </p:sp>
      <p:sp>
        <p:nvSpPr>
          <p:cNvPr id="30" name="Box 13"/>
          <p:cNvSpPr/>
          <p:nvPr/>
        </p:nvSpPr>
        <p:spPr>
          <a:xfrm>
            <a:off x="4379976" y="1968373"/>
            <a:ext cx="4023359" cy="271018"/>
          </a:xfrm>
          <a:prstGeom prst="roundRect">
            <a:avLst>
              <a:gd name="adj" fmla="val 16869"/>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514600"/>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592324"/>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592324"/>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592324"/>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523744"/>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idempotency key: 06-idempotency/after.py</a:t>
            </a:r>
          </a:p>
        </p:txBody>
      </p:sp>
      <p:sp>
        <p:nvSpPr>
          <p:cNvPr id="36" name="CodeBg 21"/>
          <p:cNvSpPr/>
          <p:nvPr/>
        </p:nvSpPr>
        <p:spPr>
          <a:xfrm>
            <a:off x="4297680" y="2752344"/>
            <a:ext cx="4187951" cy="1947672"/>
          </a:xfrm>
          <a:prstGeom prst="roundRect">
            <a:avLst>
              <a:gd name="adj" fmla="val 938"/>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2752344"/>
            <a:ext cx="4187951" cy="1947672"/>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send_payment_email</a:t>
            </a:r>
            <a:r>
              <a:rPr sz="850" i="0">
                <a:solidFill>
                  <a:srgbClr val="E6EDF3"/>
                </a:solidFill>
                <a:latin typeface="Inconsolata"/>
              </a:rPr>
              <a:t>(order_id: </a:t>
            </a:r>
            <a:r>
              <a:rPr sz="850" i="0">
                <a:solidFill>
                  <a:srgbClr val="C3A6FF"/>
                </a:solidFill>
                <a:latin typeface="Inconsolata"/>
              </a:rPr>
              <a:t>int</a:t>
            </a:r>
            <a:r>
              <a:rPr sz="850" i="0">
                <a:solidFill>
                  <a:srgbClr val="E6EDF3"/>
                </a:solidFill>
                <a:latin typeface="Inconsolata"/>
              </a:rPr>
              <a:t>, to: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key = </a:t>
            </a:r>
            <a:r>
              <a:rPr sz="850" i="0">
                <a:solidFill>
                  <a:srgbClr val="A5D6A7"/>
                </a:solidFill>
                <a:latin typeface="Inconsolata"/>
              </a:rPr>
              <a:t>f"payment-email:{order_id}"</a:t>
            </a:r>
            <a:r>
              <a:rPr sz="850" i="0">
                <a:solidFill>
                  <a:srgbClr val="E6EDF3"/>
                </a:solidFill>
                <a:latin typeface="Inconsolata"/>
              </a:rPr>
              <a:t>     </a:t>
            </a:r>
            <a:r>
              <a:rPr sz="850" i="1">
                <a:solidFill>
                  <a:srgbClr val="8B98A8"/>
                </a:solidFill>
                <a:latin typeface="Inconsolata"/>
              </a:rPr>
              <a:t># idempotency key</a:t>
            </a:r>
          </a:p>
          <a:p>
            <a:pPr>
              <a:lnSpc>
                <a:spcPct val="107843"/>
              </a:lnSpc>
              <a:spcAft>
                <a:spcPts val="0"/>
              </a:spcAft>
            </a:pPr>
            <a:r>
              <a:rPr sz="850" i="0">
                <a:solidFill>
                  <a:srgbClr val="E6EDF3"/>
                </a:solidFill>
                <a:latin typeface="Inconsolata"/>
              </a:rPr>
              <a:t>    </a:t>
            </a:r>
            <a:r>
              <a:rPr sz="850" i="0">
                <a:solidFill>
                  <a:srgbClr val="FF8E6E"/>
                </a:solidFill>
                <a:latin typeface="Inconsolata"/>
              </a:rPr>
              <a:t>if</a:t>
            </a:r>
            <a:r>
              <a:rPr sz="850" i="0">
                <a:solidFill>
                  <a:srgbClr val="E6EDF3"/>
                </a:solidFill>
                <a:latin typeface="Inconsolata"/>
              </a:rPr>
              <a:t> key </a:t>
            </a:r>
            <a:r>
              <a:rPr sz="850" i="0">
                <a:solidFill>
                  <a:srgbClr val="FF8E6E"/>
                </a:solidFill>
                <a:latin typeface="Inconsolata"/>
              </a:rPr>
              <a:t>in</a:t>
            </a:r>
            <a:r>
              <a:rPr sz="850" i="0">
                <a:solidFill>
                  <a:srgbClr val="E6EDF3"/>
                </a:solidFill>
                <a:latin typeface="Inconsolata"/>
              </a:rPr>
              <a:t> </a:t>
            </a:r>
            <a:r>
              <a:rPr sz="850" i="0">
                <a:solidFill>
                  <a:srgbClr val="7FDBCA"/>
                </a:solidFill>
                <a:latin typeface="Inconsolata"/>
              </a:rPr>
              <a:t>SENT_KEYS</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f"[SKIP] {key} sudah terkirim"</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else</a:t>
            </a:r>
            <a:r>
              <a:rPr sz="850" i="0">
                <a:solidFill>
                  <a:srgbClr val="E6EDF3"/>
                </a:solidFill>
                <a:latin typeface="Inconsolata"/>
              </a:rPr>
              <a:t>:</a:t>
            </a:r>
          </a:p>
          <a:p>
            <a:pPr>
              <a:lnSpc>
                <a:spcPct val="107843"/>
              </a:lnSpc>
              <a:spcAft>
                <a:spcPts val="0"/>
              </a:spcAft>
            </a:pPr>
            <a:r>
              <a:rPr sz="850" i="0">
                <a:solidFill>
                  <a:srgbClr val="E6EDF3"/>
                </a:solidFill>
                <a:latin typeface="Inconsolata"/>
              </a:rPr>
              <a:t>        send_email(to, </a:t>
            </a:r>
            <a:r>
              <a:rPr sz="850" i="0">
                <a:solidFill>
                  <a:srgbClr val="A5D6A7"/>
                </a:solidFill>
                <a:latin typeface="Inconsolata"/>
              </a:rPr>
              <a:t>f"Order #{order_id} sudah dibayar"</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7FDBCA"/>
                </a:solidFill>
                <a:latin typeface="Inconsolata"/>
              </a:rPr>
              <a:t>SENT_KEYS</a:t>
            </a:r>
            <a:r>
              <a:rPr sz="850" i="0">
                <a:solidFill>
                  <a:srgbClr val="E6EDF3"/>
                </a:solidFill>
                <a:latin typeface="Inconsolata"/>
              </a:rPr>
              <a:t>.add(key)        </a:t>
            </a:r>
            <a:r>
              <a:rPr sz="850" i="1">
                <a:solidFill>
                  <a:srgbClr val="8B98A8"/>
                </a:solidFill>
                <a:latin typeface="Inconsolata"/>
              </a:rPr>
              <a:t># tandai setelah email terkirim</a:t>
            </a:r>
          </a:p>
          <a:p>
            <a:pPr>
              <a:lnSpc>
                <a:spcPct val="107843"/>
              </a:lnSpc>
              <a:spcAft>
                <a:spcPts val="0"/>
              </a:spcAft>
            </a:pPr>
            <a:r>
              <a:rPr sz="850" i="0">
                <a:solidFill>
                  <a:srgbClr val="E6EDF3"/>
                </a:solidFill>
                <a:latin typeface="Inconsolata"/>
              </a:rPr>
              <a:t>    save_email_log(order_id)</a:t>
            </a:r>
          </a:p>
        </p:txBody>
      </p:sp>
      <p:sp>
        <p:nvSpPr>
          <p:cNvPr id="38" name="Box 23"/>
          <p:cNvSpPr/>
          <p:nvPr/>
        </p:nvSpPr>
        <p:spPr>
          <a:xfrm>
            <a:off x="4379976" y="3001645"/>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700145"/>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Idempotency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Idempotency?</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idempotency</a:t>
            </a:r>
          </a:p>
          <a:p>
            <a:pPr algn="l">
              <a:lnSpc>
                <a:spcPct val="115000"/>
              </a:lnSpc>
              <a:spcAft>
                <a:spcPts val="400"/>
              </a:spcAft>
            </a:pPr>
            <a:r>
              <a:rPr sz="950" b="0" i="0">
                <a:solidFill>
                  <a:srgbClr val="434343"/>
                </a:solidFill>
                <a:latin typeface="Inter"/>
              </a:rPr>
              <a:t>Task mengirim email, lalu menyimpan log. Jika penyimpanan log gagal, Celery mengulang task dari awal, termasuk mengirim email lagi.</a:t>
            </a:r>
          </a:p>
          <a:p>
            <a:pPr algn="l">
              <a:lnSpc>
                <a:spcPct val="115000"/>
              </a:lnSpc>
              <a:spcAft>
                <a:spcPts val="400"/>
              </a:spcAft>
            </a:pPr>
            <a:r>
              <a:rPr sz="1050" b="1" i="0">
                <a:solidFill>
                  <a:srgbClr val="1C4587"/>
                </a:solidFill>
                <a:latin typeface="Inter"/>
              </a:rPr>
              <a:t>Jika sumber pengulangannya makin banyak</a:t>
            </a:r>
          </a:p>
          <a:p>
            <a:pPr algn="l">
              <a:lnSpc>
                <a:spcPct val="115000"/>
              </a:lnSpc>
              <a:spcAft>
                <a:spcPts val="400"/>
              </a:spcAft>
            </a:pPr>
            <a:r>
              <a:rPr sz="950" b="0" i="0">
                <a:solidFill>
                  <a:srgbClr val="434343"/>
                </a:solidFill>
                <a:latin typeface="Inter"/>
              </a:rPr>
              <a:t>Retry, user yang klik dua kali, dan worker yang mati di tengah job semuanya membuat task jalan lebih dari sekali.</a:t>
            </a:r>
          </a:p>
          <a:p>
            <a:pPr algn="l">
              <a:lnSpc>
                <a:spcPct val="115000"/>
              </a:lnSpc>
              <a:spcAft>
                <a:spcPts val="400"/>
              </a:spcAft>
            </a:pPr>
            <a:r>
              <a:rPr sz="950" b="0" i="0">
                <a:solidFill>
                  <a:srgbClr val="434343"/>
                </a:solidFill>
                <a:latin typeface="Inter"/>
              </a:rPr>
              <a:t>Hal ini membuat customer menerima email yang sama berkali-kali.</a:t>
            </a:r>
          </a:p>
          <a:p>
            <a:pPr algn="l">
              <a:lnSpc>
                <a:spcPct val="115000"/>
              </a:lnSpc>
              <a:spcAft>
                <a:spcPts val="400"/>
              </a:spcAft>
            </a:pPr>
            <a:r>
              <a:rPr sz="1050" b="1" i="0">
                <a:solidFill>
                  <a:srgbClr val="1C4587"/>
                </a:solidFill>
                <a:latin typeface="Inter"/>
              </a:rPr>
              <a:t>Yang dipakai: idempotency key, ditulis sendiri</a:t>
            </a:r>
          </a:p>
          <a:p>
            <a:pPr algn="l">
              <a:lnSpc>
                <a:spcPct val="115000"/>
              </a:lnSpc>
              <a:spcAft>
                <a:spcPts val="400"/>
              </a:spcAft>
            </a:pPr>
            <a:r>
              <a:rPr sz="950" b="0" i="0">
                <a:solidFill>
                  <a:srgbClr val="434343"/>
                </a:solidFill>
                <a:latin typeface="Inter"/>
              </a:rPr>
              <a:t>Key disimpan di tempat yang bisa dibaca semua worker, misalnya tabel database dengan kolom unique, atau Redis dengan </a:t>
            </a:r>
            <a:r>
              <a:rPr sz="950" b="0" i="0">
                <a:solidFill>
                  <a:srgbClr val="B5482A"/>
                </a:solidFill>
                <a:latin typeface="Inconsolata"/>
              </a:rPr>
              <a:t>SET ... NX</a:t>
            </a:r>
            <a:r>
              <a:rPr sz="950" b="0" i="0">
                <a:solidFill>
                  <a:srgbClr val="434343"/>
                </a:solidFill>
                <a:latin typeface="Inter"/>
              </a:rPr>
              <a:t>.</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2176272">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key = f"payment-email:{order_id}"</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Satu key untuk satu email pembayaran</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if key in SENT_KEYS</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Sudah pernah dikirim, jadi dilewati</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SENT_KEYS.add(key)</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Ditandai segera setelah email terkirim</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Idempotency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retry mengirim email lagi</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06-idempotency/before.py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12  </a:t>
            </a:r>
            <a:r>
              <a:rPr sz="760" i="0">
                <a:solidFill>
                  <a:srgbClr val="FF8E6E"/>
                </a:solidFill>
                <a:latin typeface="Inconsolata"/>
              </a:rPr>
              <a:t>from</a:t>
            </a:r>
            <a:r>
              <a:rPr sz="760" i="0">
                <a:solidFill>
                  <a:srgbClr val="E6EDF3"/>
                </a:solidFill>
                <a:latin typeface="Inconsolata"/>
              </a:rPr>
              <a:t> celery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Celery</a:t>
            </a:r>
          </a:p>
          <a:p>
            <a:pPr>
              <a:lnSpc>
                <a:spcPct val="109601"/>
              </a:lnSpc>
              <a:spcAft>
                <a:spcPts val="0"/>
              </a:spcAft>
            </a:pPr>
            <a:r>
              <a:rPr sz="760" i="0">
                <a:solidFill>
                  <a:srgbClr val="5C6773"/>
                </a:solidFill>
                <a:latin typeface="Inconsolata"/>
              </a:rPr>
              <a:t>13  </a:t>
            </a:r>
            <a:r>
              <a:rPr sz="760" i="0">
                <a:solidFill>
                  <a:srgbClr val="E6EDF3"/>
                </a:solidFill>
                <a:latin typeface="Inconsolata"/>
              </a:rPr>
              <a:t> </a:t>
            </a:r>
          </a:p>
          <a:p>
            <a:pPr>
              <a:lnSpc>
                <a:spcPct val="109601"/>
              </a:lnSpc>
              <a:spcAft>
                <a:spcPts val="0"/>
              </a:spcAft>
            </a:pPr>
            <a:r>
              <a:rPr sz="760" i="0">
                <a:solidFill>
                  <a:srgbClr val="5C6773"/>
                </a:solidFill>
                <a:latin typeface="Inconsolata"/>
              </a:rPr>
              <a:t>14  </a:t>
            </a:r>
            <a:r>
              <a:rPr sz="760" i="0">
                <a:solidFill>
                  <a:srgbClr val="E6EDF3"/>
                </a:solidFill>
                <a:latin typeface="Inconsolata"/>
              </a:rPr>
              <a:t>celery_app = </a:t>
            </a:r>
            <a:r>
              <a:rPr sz="760" i="0">
                <a:solidFill>
                  <a:srgbClr val="7FDBCA"/>
                </a:solidFill>
                <a:latin typeface="Inconsolata"/>
              </a:rPr>
              <a:t>Celery</a:t>
            </a:r>
            <a:r>
              <a:rPr sz="760" i="0">
                <a:solidFill>
                  <a:srgbClr val="E6EDF3"/>
                </a:solidFill>
                <a:latin typeface="Inconsolata"/>
              </a:rPr>
              <a:t>(</a:t>
            </a:r>
            <a:r>
              <a:rPr sz="760" i="0">
                <a:solidFill>
                  <a:srgbClr val="A5D6A7"/>
                </a:solidFill>
                <a:latin typeface="Inconsolata"/>
              </a:rPr>
              <a:t>"demo"</a:t>
            </a:r>
            <a:r>
              <a:rPr sz="760" i="0">
                <a:solidFill>
                  <a:srgbClr val="E6EDF3"/>
                </a:solidFill>
                <a:latin typeface="Inconsolata"/>
              </a:rPr>
              <a:t>,</a:t>
            </a:r>
          </a:p>
          <a:p>
            <a:pPr>
              <a:lnSpc>
                <a:spcPct val="109601"/>
              </a:lnSpc>
              <a:spcAft>
                <a:spcPts val="0"/>
              </a:spcAft>
            </a:pPr>
            <a:r>
              <a:rPr sz="760" i="0">
                <a:solidFill>
                  <a:srgbClr val="5C6773"/>
                </a:solidFill>
                <a:latin typeface="Inconsolata"/>
              </a:rPr>
              <a:t>15  </a:t>
            </a:r>
            <a:r>
              <a:rPr sz="760" i="0">
                <a:solidFill>
                  <a:srgbClr val="E6EDF3"/>
                </a:solidFill>
                <a:latin typeface="Inconsolata"/>
              </a:rPr>
              <a:t>                    broker=</a:t>
            </a:r>
            <a:r>
              <a:rPr sz="760" i="0">
                <a:solidFill>
                  <a:srgbClr val="A5D6A7"/>
                </a:solidFill>
                <a:latin typeface="Inconsolata"/>
              </a:rPr>
              <a:t>"redis://localhost:6379/0"</a:t>
            </a:r>
            <a:r>
              <a:rPr sz="760" i="0">
                <a:solidFill>
                  <a:srgbClr val="E6EDF3"/>
                </a:solidFill>
                <a:latin typeface="Inconsolata"/>
              </a:rPr>
              <a:t>,</a:t>
            </a:r>
          </a:p>
          <a:p>
            <a:pPr>
              <a:lnSpc>
                <a:spcPct val="109601"/>
              </a:lnSpc>
              <a:spcAft>
                <a:spcPts val="0"/>
              </a:spcAft>
            </a:pPr>
            <a:r>
              <a:rPr sz="760" i="0">
                <a:solidFill>
                  <a:srgbClr val="5C6773"/>
                </a:solidFill>
                <a:latin typeface="Inconsolata"/>
              </a:rPr>
              <a:t>16  </a:t>
            </a:r>
            <a:r>
              <a:rPr sz="760" i="0">
                <a:solidFill>
                  <a:srgbClr val="E6EDF3"/>
                </a:solidFill>
                <a:latin typeface="Inconsolata"/>
              </a:rPr>
              <a:t>                    backend=</a:t>
            </a:r>
            <a:r>
              <a:rPr sz="760" i="0">
                <a:solidFill>
                  <a:srgbClr val="A5D6A7"/>
                </a:solidFill>
                <a:latin typeface="Inconsolata"/>
              </a:rPr>
              <a:t>"redis://localhost:6379/1"</a:t>
            </a:r>
            <a:r>
              <a:rPr sz="760" i="0">
                <a:solidFill>
                  <a:srgbClr val="E6EDF3"/>
                </a:solidFill>
                <a:latin typeface="Inconsolata"/>
              </a:rPr>
              <a:t>)</a:t>
            </a:r>
          </a:p>
          <a:p>
            <a:pPr>
              <a:lnSpc>
                <a:spcPct val="109601"/>
              </a:lnSpc>
              <a:spcAft>
                <a:spcPts val="0"/>
              </a:spcAft>
            </a:pPr>
            <a:r>
              <a:rPr sz="760" i="0">
                <a:solidFill>
                  <a:srgbClr val="5C6773"/>
                </a:solidFill>
                <a:latin typeface="Inconsolata"/>
              </a:rPr>
              <a:t>17  </a:t>
            </a:r>
            <a:r>
              <a:rPr sz="760" i="0">
                <a:solidFill>
                  <a:srgbClr val="E6EDF3"/>
                </a:solidFill>
                <a:latin typeface="Inconsolata"/>
              </a:rPr>
              <a:t> </a:t>
            </a:r>
          </a:p>
          <a:p>
            <a:pPr>
              <a:lnSpc>
                <a:spcPct val="109601"/>
              </a:lnSpc>
              <a:spcAft>
                <a:spcPts val="0"/>
              </a:spcAft>
            </a:pPr>
            <a:r>
              <a:rPr sz="760" i="0">
                <a:solidFill>
                  <a:srgbClr val="5C6773"/>
                </a:solidFill>
                <a:latin typeface="Inconsolata"/>
              </a:rPr>
              <a:t>18  </a:t>
            </a:r>
            <a:r>
              <a:rPr sz="760" i="0">
                <a:solidFill>
                  <a:srgbClr val="7FDBCA"/>
                </a:solidFill>
                <a:latin typeface="Inconsolata"/>
              </a:rPr>
              <a:t>INBOX</a:t>
            </a:r>
            <a:r>
              <a:rPr sz="760" i="0">
                <a:solidFill>
                  <a:srgbClr val="E6EDF3"/>
                </a:solidFill>
                <a:latin typeface="Inconsolata"/>
              </a:rPr>
              <a:t>: </a:t>
            </a:r>
            <a:r>
              <a:rPr sz="760" i="0">
                <a:solidFill>
                  <a:srgbClr val="C3A6FF"/>
                </a:solidFill>
                <a:latin typeface="Inconsolata"/>
              </a:rPr>
              <a:t>list</a:t>
            </a:r>
            <a:r>
              <a:rPr sz="760" i="0">
                <a:solidFill>
                  <a:srgbClr val="E6EDF3"/>
                </a:solidFill>
                <a:latin typeface="Inconsolata"/>
              </a:rPr>
              <a:t>[</a:t>
            </a:r>
            <a:r>
              <a:rPr sz="760" i="0">
                <a:solidFill>
                  <a:srgbClr val="C3A6FF"/>
                </a:solidFill>
                <a:latin typeface="Inconsolata"/>
              </a:rPr>
              <a:t>str</a:t>
            </a:r>
            <a:r>
              <a:rPr sz="760" i="0">
                <a:solidFill>
                  <a:srgbClr val="E6EDF3"/>
                </a:solidFill>
                <a:latin typeface="Inconsolata"/>
              </a:rPr>
              <a:t>] = []             </a:t>
            </a:r>
            <a:r>
              <a:rPr sz="760" i="1">
                <a:solidFill>
                  <a:srgbClr val="8B98A8"/>
                </a:solidFill>
                <a:latin typeface="Inconsolata"/>
              </a:rPr>
              <a:t># anggap: inbox email customer</a:t>
            </a:r>
          </a:p>
          <a:p>
            <a:pPr>
              <a:lnSpc>
                <a:spcPct val="109601"/>
              </a:lnSpc>
              <a:spcAft>
                <a:spcPts val="0"/>
              </a:spcAft>
            </a:pPr>
            <a:r>
              <a:rPr sz="760" i="0">
                <a:solidFill>
                  <a:srgbClr val="5C6773"/>
                </a:solidFill>
                <a:latin typeface="Inconsolata"/>
              </a:rPr>
              <a:t>19  </a:t>
            </a:r>
            <a:r>
              <a:rPr sz="760" i="0">
                <a:solidFill>
                  <a:srgbClr val="E6EDF3"/>
                </a:solidFill>
                <a:latin typeface="Inconsolata"/>
              </a:rPr>
              <a:t>log_attempts = </a:t>
            </a:r>
            <a:r>
              <a:rPr sz="760" i="0">
                <a:solidFill>
                  <a:srgbClr val="F9C97A"/>
                </a:solidFill>
                <a:latin typeface="Inconsolata"/>
              </a:rPr>
              <a:t>0</a:t>
            </a:r>
          </a:p>
          <a:p>
            <a:pPr>
              <a:lnSpc>
                <a:spcPct val="109601"/>
              </a:lnSpc>
              <a:spcAft>
                <a:spcPts val="0"/>
              </a:spcAft>
            </a:pPr>
            <a:r>
              <a:rPr sz="760" i="0">
                <a:solidFill>
                  <a:srgbClr val="5C6773"/>
                </a:solidFill>
                <a:latin typeface="Inconsolata"/>
              </a:rPr>
              <a:t>20  </a:t>
            </a:r>
            <a:r>
              <a:rPr sz="760" i="0">
                <a:solidFill>
                  <a:srgbClr val="E6EDF3"/>
                </a:solidFill>
                <a:latin typeface="Inconsolata"/>
              </a:rPr>
              <a:t> </a:t>
            </a:r>
          </a:p>
          <a:p>
            <a:pPr>
              <a:lnSpc>
                <a:spcPct val="109601"/>
              </a:lnSpc>
              <a:spcAft>
                <a:spcPts val="0"/>
              </a:spcAft>
            </a:pPr>
            <a:r>
              <a:rPr sz="760" i="0">
                <a:solidFill>
                  <a:srgbClr val="5C6773"/>
                </a:solidFill>
                <a:latin typeface="Inconsolata"/>
              </a:rPr>
              <a:t>21  </a:t>
            </a:r>
            <a:r>
              <a:rPr sz="760" i="0">
                <a:solidFill>
                  <a:srgbClr val="E6EDF3"/>
                </a:solidFill>
                <a:latin typeface="Inconsolata"/>
              </a:rPr>
              <a:t> </a:t>
            </a:r>
          </a:p>
          <a:p>
            <a:pPr>
              <a:lnSpc>
                <a:spcPct val="109601"/>
              </a:lnSpc>
              <a:spcAft>
                <a:spcPts val="0"/>
              </a:spcAft>
            </a:pPr>
            <a:r>
              <a:rPr sz="760" i="0">
                <a:solidFill>
                  <a:srgbClr val="5C6773"/>
                </a:solidFill>
                <a:latin typeface="Inconsolata"/>
              </a:rPr>
              <a:t>22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send_email</a:t>
            </a:r>
            <a:r>
              <a:rPr sz="760" i="0">
                <a:solidFill>
                  <a:srgbClr val="E6EDF3"/>
                </a:solidFill>
                <a:latin typeface="Inconsolata"/>
              </a:rPr>
              <a:t>(to: </a:t>
            </a:r>
            <a:r>
              <a:rPr sz="760" i="0">
                <a:solidFill>
                  <a:srgbClr val="C3A6FF"/>
                </a:solidFill>
                <a:latin typeface="Inconsolata"/>
              </a:rPr>
              <a:t>str</a:t>
            </a:r>
            <a:r>
              <a:rPr sz="760" i="0">
                <a:solidFill>
                  <a:srgbClr val="E6EDF3"/>
                </a:solidFill>
                <a:latin typeface="Inconsolata"/>
              </a:rPr>
              <a:t>, message: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23  </a:t>
            </a:r>
            <a:r>
              <a:rPr sz="760" i="0">
                <a:solidFill>
                  <a:srgbClr val="E6EDF3"/>
                </a:solidFill>
                <a:latin typeface="Inconsolata"/>
              </a:rPr>
              <a:t>    </a:t>
            </a:r>
            <a:r>
              <a:rPr sz="760" i="0">
                <a:solidFill>
                  <a:srgbClr val="7FDBCA"/>
                </a:solidFill>
                <a:latin typeface="Inconsolata"/>
              </a:rPr>
              <a:t>INBOX</a:t>
            </a:r>
            <a:r>
              <a:rPr sz="760" i="0">
                <a:solidFill>
                  <a:srgbClr val="E6EDF3"/>
                </a:solidFill>
                <a:latin typeface="Inconsolata"/>
              </a:rPr>
              <a:t>.append(message)</a:t>
            </a:r>
          </a:p>
          <a:p>
            <a:pPr>
              <a:lnSpc>
                <a:spcPct val="109601"/>
              </a:lnSpc>
              <a:spcAft>
                <a:spcPts val="0"/>
              </a:spcAft>
            </a:pPr>
            <a:r>
              <a:rPr sz="760" i="0">
                <a:solidFill>
                  <a:srgbClr val="5C6773"/>
                </a:solidFill>
                <a:latin typeface="Inconsolata"/>
              </a:rPr>
              <a:t>24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f"[EMAIL] ke {to}: {message}"</a:t>
            </a:r>
            <a:r>
              <a:rPr sz="760"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06-idempotency/before.py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27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save_email_log</a:t>
            </a:r>
            <a:r>
              <a:rPr sz="760" i="0">
                <a:solidFill>
                  <a:srgbClr val="E6EDF3"/>
                </a:solidFill>
                <a:latin typeface="Inconsolata"/>
              </a:rPr>
              <a:t>(order_id: </a:t>
            </a:r>
            <a:r>
              <a:rPr sz="760" i="0">
                <a:solidFill>
                  <a:srgbClr val="C3A6FF"/>
                </a:solidFill>
                <a:latin typeface="Inconsolata"/>
              </a:rPr>
              <a:t>int</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28  </a:t>
            </a:r>
            <a:r>
              <a:rPr sz="760" i="0">
                <a:solidFill>
                  <a:srgbClr val="E6EDF3"/>
                </a:solidFill>
                <a:latin typeface="Inconsolata"/>
              </a:rPr>
              <a:t>    </a:t>
            </a:r>
            <a:r>
              <a:rPr sz="760" i="0">
                <a:solidFill>
                  <a:srgbClr val="FF8E6E"/>
                </a:solidFill>
                <a:latin typeface="Inconsolata"/>
              </a:rPr>
              <a:t>global</a:t>
            </a:r>
            <a:r>
              <a:rPr sz="760" i="0">
                <a:solidFill>
                  <a:srgbClr val="E6EDF3"/>
                </a:solidFill>
                <a:latin typeface="Inconsolata"/>
              </a:rPr>
              <a:t> log_attempts</a:t>
            </a:r>
          </a:p>
          <a:p>
            <a:pPr>
              <a:lnSpc>
                <a:spcPct val="109601"/>
              </a:lnSpc>
              <a:spcAft>
                <a:spcPts val="0"/>
              </a:spcAft>
            </a:pPr>
            <a:r>
              <a:rPr sz="760" i="0">
                <a:solidFill>
                  <a:srgbClr val="5C6773"/>
                </a:solidFill>
                <a:latin typeface="Inconsolata"/>
              </a:rPr>
              <a:t>29  </a:t>
            </a:r>
            <a:r>
              <a:rPr sz="760" i="0">
                <a:solidFill>
                  <a:srgbClr val="E6EDF3"/>
                </a:solidFill>
                <a:latin typeface="Inconsolata"/>
              </a:rPr>
              <a:t>    log_attempts += </a:t>
            </a:r>
            <a:r>
              <a:rPr sz="760" i="0">
                <a:solidFill>
                  <a:srgbClr val="F9C97A"/>
                </a:solidFill>
                <a:latin typeface="Inconsolata"/>
              </a:rPr>
              <a:t>1</a:t>
            </a:r>
          </a:p>
          <a:p>
            <a:pPr>
              <a:lnSpc>
                <a:spcPct val="109601"/>
              </a:lnSpc>
              <a:spcAft>
                <a:spcPts val="0"/>
              </a:spcAft>
            </a:pPr>
            <a:r>
              <a:rPr sz="760" i="0">
                <a:solidFill>
                  <a:srgbClr val="5C6773"/>
                </a:solidFill>
                <a:latin typeface="Inconsolata"/>
              </a:rPr>
              <a:t>30  </a:t>
            </a:r>
            <a:r>
              <a:rPr sz="760" i="0">
                <a:solidFill>
                  <a:srgbClr val="E6EDF3"/>
                </a:solidFill>
                <a:latin typeface="Inconsolata"/>
              </a:rPr>
              <a:t>    </a:t>
            </a:r>
            <a:r>
              <a:rPr sz="760" i="0">
                <a:solidFill>
                  <a:srgbClr val="FF8E6E"/>
                </a:solidFill>
                <a:latin typeface="Inconsolata"/>
              </a:rPr>
              <a:t>if</a:t>
            </a:r>
            <a:r>
              <a:rPr sz="760" i="0">
                <a:solidFill>
                  <a:srgbClr val="E6EDF3"/>
                </a:solidFill>
                <a:latin typeface="Inconsolata"/>
              </a:rPr>
              <a:t> log_attempts == </a:t>
            </a:r>
            <a:r>
              <a:rPr sz="760" i="0">
                <a:solidFill>
                  <a:srgbClr val="F9C97A"/>
                </a:solidFill>
                <a:latin typeface="Inconsolata"/>
              </a:rPr>
              <a:t>1</a:t>
            </a:r>
            <a:r>
              <a:rPr sz="760" i="0">
                <a:solidFill>
                  <a:srgbClr val="E6EDF3"/>
                </a:solidFill>
                <a:latin typeface="Inconsolata"/>
              </a:rPr>
              <a:t>:</a:t>
            </a:r>
          </a:p>
          <a:p>
            <a:pPr>
              <a:lnSpc>
                <a:spcPct val="109601"/>
              </a:lnSpc>
              <a:spcAft>
                <a:spcPts val="0"/>
              </a:spcAft>
            </a:pPr>
            <a:r>
              <a:rPr sz="760" i="0">
                <a:solidFill>
                  <a:srgbClr val="5C6773"/>
                </a:solidFill>
                <a:latin typeface="Inconsolata"/>
              </a:rPr>
              <a:t>31  </a:t>
            </a:r>
            <a:r>
              <a:rPr sz="760" i="0">
                <a:solidFill>
                  <a:srgbClr val="E6EDF3"/>
                </a:solidFill>
                <a:latin typeface="Inconsolata"/>
              </a:rPr>
              <a:t>        </a:t>
            </a:r>
            <a:r>
              <a:rPr sz="760" i="0">
                <a:solidFill>
                  <a:srgbClr val="FF8E6E"/>
                </a:solidFill>
                <a:latin typeface="Inconsolata"/>
              </a:rPr>
              <a:t>raise</a:t>
            </a:r>
            <a:r>
              <a:rPr sz="760" i="0">
                <a:solidFill>
                  <a:srgbClr val="E6EDF3"/>
                </a:solidFill>
                <a:latin typeface="Inconsolata"/>
              </a:rPr>
              <a:t> </a:t>
            </a:r>
            <a:r>
              <a:rPr sz="760" i="0">
                <a:solidFill>
                  <a:srgbClr val="7FDBCA"/>
                </a:solidFill>
                <a:latin typeface="Inconsolata"/>
              </a:rPr>
              <a:t>ConnectionError</a:t>
            </a:r>
            <a:r>
              <a:rPr sz="760" i="0">
                <a:solidFill>
                  <a:srgbClr val="E6EDF3"/>
                </a:solidFill>
                <a:latin typeface="Inconsolata"/>
              </a:rPr>
              <a:t>(</a:t>
            </a:r>
            <a:r>
              <a:rPr sz="760" i="0">
                <a:solidFill>
                  <a:srgbClr val="A5D6A7"/>
                </a:solidFill>
                <a:latin typeface="Inconsolata"/>
              </a:rPr>
              <a:t>"Database timeout"</a:t>
            </a:r>
            <a:r>
              <a:rPr sz="760" i="0">
                <a:solidFill>
                  <a:srgbClr val="E6EDF3"/>
                </a:solidFill>
                <a:latin typeface="Inconsolata"/>
              </a:rPr>
              <a:t>)</a:t>
            </a:r>
          </a:p>
          <a:p>
            <a:pPr>
              <a:lnSpc>
                <a:spcPct val="109601"/>
              </a:lnSpc>
              <a:spcAft>
                <a:spcPts val="0"/>
              </a:spcAft>
            </a:pPr>
            <a:r>
              <a:rPr sz="760" i="0">
                <a:solidFill>
                  <a:srgbClr val="5C6773"/>
                </a:solidFill>
                <a:latin typeface="Inconsolata"/>
              </a:rPr>
              <a:t>32  </a:t>
            </a:r>
            <a:r>
              <a:rPr sz="760" i="0">
                <a:solidFill>
                  <a:srgbClr val="E6EDF3"/>
                </a:solidFill>
                <a:latin typeface="Inconsolata"/>
              </a:rPr>
              <a:t> </a:t>
            </a:r>
          </a:p>
          <a:p>
            <a:pPr>
              <a:lnSpc>
                <a:spcPct val="109601"/>
              </a:lnSpc>
              <a:spcAft>
                <a:spcPts val="0"/>
              </a:spcAft>
            </a:pPr>
            <a:r>
              <a:rPr sz="760" i="0">
                <a:solidFill>
                  <a:srgbClr val="5C6773"/>
                </a:solidFill>
                <a:latin typeface="Inconsolata"/>
              </a:rPr>
              <a:t>33  </a:t>
            </a:r>
            <a:r>
              <a:rPr sz="760" i="0">
                <a:solidFill>
                  <a:srgbClr val="E6EDF3"/>
                </a:solidFill>
                <a:latin typeface="Inconsolata"/>
              </a:rPr>
              <a:t> </a:t>
            </a:r>
          </a:p>
          <a:p>
            <a:pPr>
              <a:lnSpc>
                <a:spcPct val="109601"/>
              </a:lnSpc>
              <a:spcAft>
                <a:spcPts val="0"/>
              </a:spcAft>
            </a:pPr>
            <a:r>
              <a:rPr sz="760" i="0">
                <a:solidFill>
                  <a:srgbClr val="5C6773"/>
                </a:solidFill>
                <a:latin typeface="Inconsolata"/>
              </a:rPr>
              <a:t>34  </a:t>
            </a:r>
            <a:r>
              <a:rPr sz="760" i="0">
                <a:solidFill>
                  <a:srgbClr val="F9C97A"/>
                </a:solidFill>
                <a:latin typeface="Inconsolata"/>
              </a:rPr>
              <a:t>@celery_app.task</a:t>
            </a:r>
            <a:r>
              <a:rPr sz="760" i="0">
                <a:solidFill>
                  <a:srgbClr val="E6EDF3"/>
                </a:solidFill>
                <a:latin typeface="Inconsolata"/>
              </a:rPr>
              <a:t>(autoretry_for=(</a:t>
            </a:r>
            <a:r>
              <a:rPr sz="760" i="0">
                <a:solidFill>
                  <a:srgbClr val="7FDBCA"/>
                </a:solidFill>
                <a:latin typeface="Inconsolata"/>
              </a:rPr>
              <a:t>ConnectionError</a:t>
            </a:r>
            <a:r>
              <a:rPr sz="760" i="0">
                <a:solidFill>
                  <a:srgbClr val="E6EDF3"/>
                </a:solidFill>
                <a:latin typeface="Inconsolata"/>
              </a:rPr>
              <a:t>,), max_retries=</a:t>
            </a:r>
            <a:r>
              <a:rPr sz="760" i="0">
                <a:solidFill>
                  <a:srgbClr val="F9C97A"/>
                </a:solidFill>
                <a:latin typeface="Inconsolata"/>
              </a:rPr>
              <a:t>3</a:t>
            </a:r>
            <a:r>
              <a:rPr sz="760" i="0">
                <a:solidFill>
                  <a:srgbClr val="E6EDF3"/>
                </a:solidFill>
                <a:latin typeface="Inconsolata"/>
              </a:rPr>
              <a:t>)</a:t>
            </a:r>
          </a:p>
          <a:p>
            <a:pPr>
              <a:lnSpc>
                <a:spcPct val="109601"/>
              </a:lnSpc>
              <a:spcAft>
                <a:spcPts val="0"/>
              </a:spcAft>
            </a:pPr>
            <a:r>
              <a:rPr sz="760" i="0">
                <a:solidFill>
                  <a:srgbClr val="5C6773"/>
                </a:solidFill>
                <a:latin typeface="Inconsolata"/>
              </a:rPr>
              <a:t>35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send_payment_email</a:t>
            </a:r>
            <a:r>
              <a:rPr sz="760" i="0">
                <a:solidFill>
                  <a:srgbClr val="E6EDF3"/>
                </a:solidFill>
                <a:latin typeface="Inconsolata"/>
              </a:rPr>
              <a:t>(order_id: </a:t>
            </a:r>
            <a:r>
              <a:rPr sz="760" i="0">
                <a:solidFill>
                  <a:srgbClr val="C3A6FF"/>
                </a:solidFill>
                <a:latin typeface="Inconsolata"/>
              </a:rPr>
              <a:t>int</a:t>
            </a:r>
            <a:r>
              <a:rPr sz="760" i="0">
                <a:solidFill>
                  <a:srgbClr val="E6EDF3"/>
                </a:solidFill>
                <a:latin typeface="Inconsolata"/>
              </a:rPr>
              <a:t>, to: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36  </a:t>
            </a:r>
            <a:r>
              <a:rPr sz="760" i="0">
                <a:solidFill>
                  <a:srgbClr val="E6EDF3"/>
                </a:solidFill>
                <a:latin typeface="Inconsolata"/>
              </a:rPr>
              <a:t>    send_email(to, </a:t>
            </a:r>
            <a:r>
              <a:rPr sz="760" i="0">
                <a:solidFill>
                  <a:srgbClr val="A5D6A7"/>
                </a:solidFill>
                <a:latin typeface="Inconsolata"/>
              </a:rPr>
              <a:t>f"Order #{order_id} sudah dibayar"</a:t>
            </a:r>
            <a:r>
              <a:rPr sz="760" i="0">
                <a:solidFill>
                  <a:srgbClr val="E6EDF3"/>
                </a:solidFill>
                <a:latin typeface="Inconsolata"/>
              </a:rPr>
              <a:t>)</a:t>
            </a:r>
          </a:p>
          <a:p>
            <a:pPr>
              <a:lnSpc>
                <a:spcPct val="109601"/>
              </a:lnSpc>
              <a:spcAft>
                <a:spcPts val="0"/>
              </a:spcAft>
            </a:pPr>
            <a:r>
              <a:rPr sz="760" i="0">
                <a:solidFill>
                  <a:srgbClr val="5C6773"/>
                </a:solidFill>
                <a:latin typeface="Inconsolata"/>
              </a:rPr>
              <a:t>37  </a:t>
            </a:r>
            <a:r>
              <a:rPr sz="760" i="0">
                <a:solidFill>
                  <a:srgbClr val="E6EDF3"/>
                </a:solidFill>
                <a:latin typeface="Inconsolata"/>
              </a:rPr>
              <a:t>    save_email_log(order_id)     </a:t>
            </a:r>
            <a:r>
              <a:rPr sz="760" i="1">
                <a:solidFill>
                  <a:srgbClr val="8B98A8"/>
                </a:solidFill>
                <a:latin typeface="Inconsolata"/>
              </a:rPr>
              <a:t># gagal sekali -&gt; retry dari awal</a:t>
            </a:r>
          </a:p>
          <a:p>
            <a:pPr>
              <a:lnSpc>
                <a:spcPct val="109601"/>
              </a:lnSpc>
              <a:spcAft>
                <a:spcPts val="0"/>
              </a:spcAft>
            </a:pPr>
            <a:r>
              <a:rPr sz="760" i="0">
                <a:solidFill>
                  <a:srgbClr val="5C6773"/>
                </a:solidFill>
                <a:latin typeface="Inconsolata"/>
              </a:rPr>
              <a:t>38  </a:t>
            </a:r>
            <a:r>
              <a:rPr sz="760" i="0">
                <a:solidFill>
                  <a:srgbClr val="E6EDF3"/>
                </a:solidFill>
                <a:latin typeface="Inconsolata"/>
              </a:rPr>
              <a:t> </a:t>
            </a:r>
          </a:p>
          <a:p>
            <a:pPr>
              <a:lnSpc>
                <a:spcPct val="109601"/>
              </a:lnSpc>
              <a:spcAft>
                <a:spcPts val="0"/>
              </a:spcAft>
            </a:pPr>
            <a:r>
              <a:rPr sz="760" i="0">
                <a:solidFill>
                  <a:srgbClr val="5C6773"/>
                </a:solidFill>
                <a:latin typeface="Inconsolata"/>
              </a:rPr>
              <a:t>39  </a:t>
            </a:r>
            <a:r>
              <a:rPr sz="760" i="0">
                <a:solidFill>
                  <a:srgbClr val="E6EDF3"/>
                </a:solidFill>
                <a:latin typeface="Inconsolata"/>
              </a:rPr>
              <a:t> </a:t>
            </a:r>
          </a:p>
          <a:p>
            <a:pPr>
              <a:lnSpc>
                <a:spcPct val="109601"/>
              </a:lnSpc>
              <a:spcAft>
                <a:spcPts val="0"/>
              </a:spcAft>
            </a:pPr>
            <a:r>
              <a:rPr sz="760" i="0">
                <a:solidFill>
                  <a:srgbClr val="5C6773"/>
                </a:solidFill>
                <a:latin typeface="Inconsolata"/>
              </a:rPr>
              <a:t>40  </a:t>
            </a:r>
            <a:r>
              <a:rPr sz="760" i="0">
                <a:solidFill>
                  <a:srgbClr val="FF8E6E"/>
                </a:solidFill>
                <a:latin typeface="Inconsolata"/>
              </a:rPr>
              <a:t>if</a:t>
            </a:r>
            <a:r>
              <a:rPr sz="760" i="0">
                <a:solidFill>
                  <a:srgbClr val="E6EDF3"/>
                </a:solidFill>
                <a:latin typeface="Inconsolata"/>
              </a:rPr>
              <a:t> __name__ == </a:t>
            </a:r>
            <a:r>
              <a:rPr sz="760" i="0">
                <a:solidFill>
                  <a:srgbClr val="A5D6A7"/>
                </a:solidFill>
                <a:latin typeface="Inconsolata"/>
              </a:rPr>
              <a:t>"__main__"</a:t>
            </a:r>
            <a:r>
              <a:rPr sz="760" i="0">
                <a:solidFill>
                  <a:srgbClr val="E6EDF3"/>
                </a:solidFill>
                <a:latin typeface="Inconsolata"/>
              </a:rPr>
              <a:t>:</a:t>
            </a:r>
          </a:p>
          <a:p>
            <a:pPr>
              <a:lnSpc>
                <a:spcPct val="109601"/>
              </a:lnSpc>
              <a:spcAft>
                <a:spcPts val="0"/>
              </a:spcAft>
            </a:pPr>
            <a:r>
              <a:rPr sz="760" i="0">
                <a:solidFill>
                  <a:srgbClr val="5C6773"/>
                </a:solidFill>
                <a:latin typeface="Inconsolata"/>
              </a:rPr>
              <a:t>41  </a:t>
            </a:r>
            <a:r>
              <a:rPr sz="760" i="0">
                <a:solidFill>
                  <a:srgbClr val="E6EDF3"/>
                </a:solidFill>
                <a:latin typeface="Inconsolata"/>
              </a:rPr>
              <a:t>    celery_app.conf.task_always_eager = </a:t>
            </a:r>
            <a:r>
              <a:rPr sz="760" i="0">
                <a:solidFill>
                  <a:srgbClr val="FF8E6E"/>
                </a:solidFill>
                <a:latin typeface="Inconsolata"/>
              </a:rPr>
              <a:t>True</a:t>
            </a:r>
          </a:p>
          <a:p>
            <a:pPr>
              <a:lnSpc>
                <a:spcPct val="109601"/>
              </a:lnSpc>
              <a:spcAft>
                <a:spcPts val="0"/>
              </a:spcAft>
            </a:pPr>
            <a:r>
              <a:rPr sz="760" i="0">
                <a:solidFill>
                  <a:srgbClr val="5C6773"/>
                </a:solidFill>
                <a:latin typeface="Inconsolata"/>
              </a:rPr>
              <a:t>42  </a:t>
            </a:r>
            <a:r>
              <a:rPr sz="760" i="0">
                <a:solidFill>
                  <a:srgbClr val="E6EDF3"/>
                </a:solidFill>
                <a:latin typeface="Inconsolata"/>
              </a:rPr>
              <a:t>    send_payment_email.delay(</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"budi@mail.com"</a:t>
            </a:r>
            <a:r>
              <a:rPr sz="760" i="0">
                <a:solidFill>
                  <a:srgbClr val="E6EDF3"/>
                </a:solidFill>
                <a:latin typeface="Inconsolata"/>
              </a:rPr>
              <a:t>)</a:t>
            </a:r>
          </a:p>
          <a:p>
            <a:pPr>
              <a:lnSpc>
                <a:spcPct val="109601"/>
              </a:lnSpc>
              <a:spcAft>
                <a:spcPts val="0"/>
              </a:spcAft>
            </a:pPr>
            <a:r>
              <a:rPr sz="760" i="0">
                <a:solidFill>
                  <a:srgbClr val="5C6773"/>
                </a:solidFill>
                <a:latin typeface="Inconsolata"/>
              </a:rPr>
              <a:t>43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"Email yang diterima customer:"</a:t>
            </a:r>
            <a:r>
              <a:rPr sz="760" i="0">
                <a:solidFill>
                  <a:srgbClr val="E6EDF3"/>
                </a:solidFill>
                <a:latin typeface="Inconsolata"/>
              </a:rPr>
              <a:t>, </a:t>
            </a:r>
            <a:r>
              <a:rPr sz="760" i="0">
                <a:solidFill>
                  <a:srgbClr val="C3A6FF"/>
                </a:solidFill>
                <a:latin typeface="Inconsolata"/>
              </a:rPr>
              <a:t>len</a:t>
            </a:r>
            <a:r>
              <a:rPr sz="760" i="0">
                <a:solidFill>
                  <a:srgbClr val="E6EDF3"/>
                </a:solidFill>
                <a:latin typeface="Inconsolata"/>
              </a:rPr>
              <a:t>(</a:t>
            </a:r>
            <a:r>
              <a:rPr sz="760" i="0">
                <a:solidFill>
                  <a:srgbClr val="7FDBCA"/>
                </a:solidFill>
                <a:latin typeface="Inconsolata"/>
              </a:rPr>
              <a:t>INBOX</a:t>
            </a:r>
            <a:r>
              <a:rPr sz="760" i="0">
                <a:solidFill>
                  <a:srgbClr val="E6EDF3"/>
                </a:solidFill>
                <a:latin typeface="Inconsolata"/>
              </a:rPr>
              <a:t>))   </a:t>
            </a:r>
            <a:r>
              <a:rPr sz="760" i="1">
                <a:solidFill>
                  <a:srgbClr val="8B98A8"/>
                </a:solidFill>
                <a:latin typeface="Inconsolata"/>
              </a:rPr>
              <a:t># 2</a:t>
            </a:r>
          </a:p>
        </p:txBody>
      </p:sp>
      <p:sp>
        <p:nvSpPr>
          <p:cNvPr id="36" name="Box 21"/>
          <p:cNvSpPr/>
          <p:nvPr/>
        </p:nvSpPr>
        <p:spPr>
          <a:xfrm>
            <a:off x="4709159" y="2208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212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716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656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970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974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Idempotency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06-idempotency/before.py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sesi-05-async-tasks-celery-redis/06-idempotency</a:t>
            </a:r>
          </a:p>
          <a:p>
            <a:pPr>
              <a:lnSpc>
                <a:spcPct val="111111"/>
              </a:lnSpc>
              <a:spcAft>
                <a:spcPts val="0"/>
              </a:spcAft>
            </a:pPr>
            <a:r>
              <a:rPr sz="900" i="0">
                <a:solidFill>
                  <a:srgbClr val="82B1FF"/>
                </a:solidFill>
                <a:latin typeface="Inconsolata"/>
              </a:rPr>
              <a:t>$ python before.py</a:t>
            </a:r>
          </a:p>
        </p:txBody>
      </p:sp>
      <p:pic>
        <p:nvPicPr>
          <p:cNvPr id="29" name="Image 12" descr="s05-06-idempotency-before.png"/>
          <p:cNvPicPr>
            <a:picLocks noChangeAspect="1"/>
          </p:cNvPicPr>
          <p:nvPr/>
        </p:nvPicPr>
        <p:blipFill>
          <a:blip r:embed="rId2"/>
          <a:stretch>
            <a:fillRect/>
          </a:stretch>
        </p:blipFill>
        <p:spPr>
          <a:xfrm>
            <a:off x="621792" y="2322576"/>
            <a:ext cx="4297680" cy="1157068"/>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Penyimpanan log gagal di percobaan pertama (baris 30-31)</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Task di-retry jika </a:t>
            </a:r>
            <a:r>
              <a:rPr sz="950" b="0" i="0">
                <a:solidFill>
                  <a:srgbClr val="B5482A"/>
                </a:solidFill>
                <a:latin typeface="Inconsolata"/>
              </a:rPr>
              <a:t>ConnectionError</a:t>
            </a:r>
            <a:r>
              <a:rPr sz="950" b="0" i="0">
                <a:solidFill>
                  <a:srgbClr val="434343"/>
                </a:solidFill>
                <a:latin typeface="Inter"/>
              </a:rPr>
              <a:t> (baris 34)</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Retry mengulang dari awal, termasuk mengirim email (baris 36-37)</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Customer menerima 2 email yang sama.</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Idempotency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cek idempotency key dulu</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06-idempotency/after.py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12  </a:t>
            </a:r>
            <a:r>
              <a:rPr sz="760" i="0">
                <a:solidFill>
                  <a:srgbClr val="FF8E6E"/>
                </a:solidFill>
                <a:latin typeface="Inconsolata"/>
              </a:rPr>
              <a:t>from</a:t>
            </a:r>
            <a:r>
              <a:rPr sz="760" i="0">
                <a:solidFill>
                  <a:srgbClr val="E6EDF3"/>
                </a:solidFill>
                <a:latin typeface="Inconsolata"/>
              </a:rPr>
              <a:t> celery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Celery</a:t>
            </a:r>
          </a:p>
          <a:p>
            <a:pPr>
              <a:lnSpc>
                <a:spcPct val="109601"/>
              </a:lnSpc>
              <a:spcAft>
                <a:spcPts val="0"/>
              </a:spcAft>
            </a:pPr>
            <a:r>
              <a:rPr sz="760" i="0">
                <a:solidFill>
                  <a:srgbClr val="5C6773"/>
                </a:solidFill>
                <a:latin typeface="Inconsolata"/>
              </a:rPr>
              <a:t>13  </a:t>
            </a:r>
            <a:r>
              <a:rPr sz="760" i="0">
                <a:solidFill>
                  <a:srgbClr val="E6EDF3"/>
                </a:solidFill>
                <a:latin typeface="Inconsolata"/>
              </a:rPr>
              <a:t> </a:t>
            </a:r>
          </a:p>
          <a:p>
            <a:pPr>
              <a:lnSpc>
                <a:spcPct val="109601"/>
              </a:lnSpc>
              <a:spcAft>
                <a:spcPts val="0"/>
              </a:spcAft>
            </a:pPr>
            <a:r>
              <a:rPr sz="760" i="0">
                <a:solidFill>
                  <a:srgbClr val="5C6773"/>
                </a:solidFill>
                <a:latin typeface="Inconsolata"/>
              </a:rPr>
              <a:t>14  </a:t>
            </a:r>
            <a:r>
              <a:rPr sz="760" i="0">
                <a:solidFill>
                  <a:srgbClr val="E6EDF3"/>
                </a:solidFill>
                <a:latin typeface="Inconsolata"/>
              </a:rPr>
              <a:t>celery_app = </a:t>
            </a:r>
            <a:r>
              <a:rPr sz="760" i="0">
                <a:solidFill>
                  <a:srgbClr val="7FDBCA"/>
                </a:solidFill>
                <a:latin typeface="Inconsolata"/>
              </a:rPr>
              <a:t>Celery</a:t>
            </a:r>
            <a:r>
              <a:rPr sz="760" i="0">
                <a:solidFill>
                  <a:srgbClr val="E6EDF3"/>
                </a:solidFill>
                <a:latin typeface="Inconsolata"/>
              </a:rPr>
              <a:t>(</a:t>
            </a:r>
            <a:r>
              <a:rPr sz="760" i="0">
                <a:solidFill>
                  <a:srgbClr val="A5D6A7"/>
                </a:solidFill>
                <a:latin typeface="Inconsolata"/>
              </a:rPr>
              <a:t>"demo"</a:t>
            </a:r>
            <a:r>
              <a:rPr sz="760" i="0">
                <a:solidFill>
                  <a:srgbClr val="E6EDF3"/>
                </a:solidFill>
                <a:latin typeface="Inconsolata"/>
              </a:rPr>
              <a:t>,</a:t>
            </a:r>
          </a:p>
          <a:p>
            <a:pPr>
              <a:lnSpc>
                <a:spcPct val="109601"/>
              </a:lnSpc>
              <a:spcAft>
                <a:spcPts val="0"/>
              </a:spcAft>
            </a:pPr>
            <a:r>
              <a:rPr sz="760" i="0">
                <a:solidFill>
                  <a:srgbClr val="5C6773"/>
                </a:solidFill>
                <a:latin typeface="Inconsolata"/>
              </a:rPr>
              <a:t>15  </a:t>
            </a:r>
            <a:r>
              <a:rPr sz="760" i="0">
                <a:solidFill>
                  <a:srgbClr val="E6EDF3"/>
                </a:solidFill>
                <a:latin typeface="Inconsolata"/>
              </a:rPr>
              <a:t>                    broker=</a:t>
            </a:r>
            <a:r>
              <a:rPr sz="760" i="0">
                <a:solidFill>
                  <a:srgbClr val="A5D6A7"/>
                </a:solidFill>
                <a:latin typeface="Inconsolata"/>
              </a:rPr>
              <a:t>"redis://localhost:6379/0"</a:t>
            </a:r>
            <a:r>
              <a:rPr sz="760" i="0">
                <a:solidFill>
                  <a:srgbClr val="E6EDF3"/>
                </a:solidFill>
                <a:latin typeface="Inconsolata"/>
              </a:rPr>
              <a:t>,</a:t>
            </a:r>
          </a:p>
          <a:p>
            <a:pPr>
              <a:lnSpc>
                <a:spcPct val="109601"/>
              </a:lnSpc>
              <a:spcAft>
                <a:spcPts val="0"/>
              </a:spcAft>
            </a:pPr>
            <a:r>
              <a:rPr sz="760" i="0">
                <a:solidFill>
                  <a:srgbClr val="5C6773"/>
                </a:solidFill>
                <a:latin typeface="Inconsolata"/>
              </a:rPr>
              <a:t>16  </a:t>
            </a:r>
            <a:r>
              <a:rPr sz="760" i="0">
                <a:solidFill>
                  <a:srgbClr val="E6EDF3"/>
                </a:solidFill>
                <a:latin typeface="Inconsolata"/>
              </a:rPr>
              <a:t>                    backend=</a:t>
            </a:r>
            <a:r>
              <a:rPr sz="760" i="0">
                <a:solidFill>
                  <a:srgbClr val="A5D6A7"/>
                </a:solidFill>
                <a:latin typeface="Inconsolata"/>
              </a:rPr>
              <a:t>"redis://localhost:6379/1"</a:t>
            </a:r>
            <a:r>
              <a:rPr sz="760" i="0">
                <a:solidFill>
                  <a:srgbClr val="E6EDF3"/>
                </a:solidFill>
                <a:latin typeface="Inconsolata"/>
              </a:rPr>
              <a:t>)</a:t>
            </a:r>
          </a:p>
          <a:p>
            <a:pPr>
              <a:lnSpc>
                <a:spcPct val="109601"/>
              </a:lnSpc>
              <a:spcAft>
                <a:spcPts val="0"/>
              </a:spcAft>
            </a:pPr>
            <a:r>
              <a:rPr sz="760" i="0">
                <a:solidFill>
                  <a:srgbClr val="5C6773"/>
                </a:solidFill>
                <a:latin typeface="Inconsolata"/>
              </a:rPr>
              <a:t>17  </a:t>
            </a:r>
            <a:r>
              <a:rPr sz="760" i="0">
                <a:solidFill>
                  <a:srgbClr val="E6EDF3"/>
                </a:solidFill>
                <a:latin typeface="Inconsolata"/>
              </a:rPr>
              <a:t> </a:t>
            </a:r>
          </a:p>
          <a:p>
            <a:pPr>
              <a:lnSpc>
                <a:spcPct val="109601"/>
              </a:lnSpc>
              <a:spcAft>
                <a:spcPts val="0"/>
              </a:spcAft>
            </a:pPr>
            <a:r>
              <a:rPr sz="760" i="0">
                <a:solidFill>
                  <a:srgbClr val="5C6773"/>
                </a:solidFill>
                <a:latin typeface="Inconsolata"/>
              </a:rPr>
              <a:t>18  </a:t>
            </a:r>
            <a:r>
              <a:rPr sz="760" i="0">
                <a:solidFill>
                  <a:srgbClr val="7FDBCA"/>
                </a:solidFill>
                <a:latin typeface="Inconsolata"/>
              </a:rPr>
              <a:t>INBOX</a:t>
            </a:r>
            <a:r>
              <a:rPr sz="760" i="0">
                <a:solidFill>
                  <a:srgbClr val="E6EDF3"/>
                </a:solidFill>
                <a:latin typeface="Inconsolata"/>
              </a:rPr>
              <a:t>: </a:t>
            </a:r>
            <a:r>
              <a:rPr sz="760" i="0">
                <a:solidFill>
                  <a:srgbClr val="C3A6FF"/>
                </a:solidFill>
                <a:latin typeface="Inconsolata"/>
              </a:rPr>
              <a:t>list</a:t>
            </a:r>
            <a:r>
              <a:rPr sz="760" i="0">
                <a:solidFill>
                  <a:srgbClr val="E6EDF3"/>
                </a:solidFill>
                <a:latin typeface="Inconsolata"/>
              </a:rPr>
              <a:t>[</a:t>
            </a:r>
            <a:r>
              <a:rPr sz="760" i="0">
                <a:solidFill>
                  <a:srgbClr val="C3A6FF"/>
                </a:solidFill>
                <a:latin typeface="Inconsolata"/>
              </a:rPr>
              <a:t>str</a:t>
            </a:r>
            <a:r>
              <a:rPr sz="760" i="0">
                <a:solidFill>
                  <a:srgbClr val="E6EDF3"/>
                </a:solidFill>
                <a:latin typeface="Inconsolata"/>
              </a:rPr>
              <a:t>] = []</a:t>
            </a:r>
          </a:p>
          <a:p>
            <a:pPr>
              <a:lnSpc>
                <a:spcPct val="109601"/>
              </a:lnSpc>
              <a:spcAft>
                <a:spcPts val="0"/>
              </a:spcAft>
            </a:pPr>
            <a:r>
              <a:rPr sz="760" i="0">
                <a:solidFill>
                  <a:srgbClr val="5C6773"/>
                </a:solidFill>
                <a:latin typeface="Inconsolata"/>
              </a:rPr>
              <a:t>19  </a:t>
            </a:r>
            <a:r>
              <a:rPr sz="760" i="0">
                <a:solidFill>
                  <a:srgbClr val="7FDBCA"/>
                </a:solidFill>
                <a:latin typeface="Inconsolata"/>
              </a:rPr>
              <a:t>SENT_KEYS</a:t>
            </a:r>
            <a:r>
              <a:rPr sz="760" i="0">
                <a:solidFill>
                  <a:srgbClr val="E6EDF3"/>
                </a:solidFill>
                <a:latin typeface="Inconsolata"/>
              </a:rPr>
              <a:t>: </a:t>
            </a:r>
            <a:r>
              <a:rPr sz="760" i="0">
                <a:solidFill>
                  <a:srgbClr val="C3A6FF"/>
                </a:solidFill>
                <a:latin typeface="Inconsolata"/>
              </a:rPr>
              <a:t>set</a:t>
            </a:r>
            <a:r>
              <a:rPr sz="760" i="0">
                <a:solidFill>
                  <a:srgbClr val="E6EDF3"/>
                </a:solidFill>
                <a:latin typeface="Inconsolata"/>
              </a:rPr>
              <a:t>[</a:t>
            </a:r>
            <a:r>
              <a:rPr sz="760" i="0">
                <a:solidFill>
                  <a:srgbClr val="C3A6FF"/>
                </a:solidFill>
                <a:latin typeface="Inconsolata"/>
              </a:rPr>
              <a:t>str</a:t>
            </a:r>
            <a:r>
              <a:rPr sz="760" i="0">
                <a:solidFill>
                  <a:srgbClr val="E6EDF3"/>
                </a:solidFill>
                <a:latin typeface="Inconsolata"/>
              </a:rPr>
              <a:t>] = </a:t>
            </a:r>
            <a:r>
              <a:rPr sz="760" i="0">
                <a:solidFill>
                  <a:srgbClr val="C3A6FF"/>
                </a:solidFill>
                <a:latin typeface="Inconsolata"/>
              </a:rPr>
              <a:t>set</a:t>
            </a:r>
            <a:r>
              <a:rPr sz="760" i="0">
                <a:solidFill>
                  <a:srgbClr val="E6EDF3"/>
                </a:solidFill>
                <a:latin typeface="Inconsolata"/>
              </a:rPr>
              <a:t>()       </a:t>
            </a:r>
            <a:r>
              <a:rPr sz="760" i="1">
                <a:solidFill>
                  <a:srgbClr val="8B98A8"/>
                </a:solidFill>
                <a:latin typeface="Inconsolata"/>
              </a:rPr>
              <a:t># anggap: tabel sent_emails</a:t>
            </a:r>
          </a:p>
          <a:p>
            <a:pPr>
              <a:lnSpc>
                <a:spcPct val="109601"/>
              </a:lnSpc>
              <a:spcAft>
                <a:spcPts val="0"/>
              </a:spcAft>
            </a:pPr>
            <a:r>
              <a:rPr sz="760" i="0">
                <a:solidFill>
                  <a:srgbClr val="5C6773"/>
                </a:solidFill>
                <a:latin typeface="Inconsolata"/>
              </a:rPr>
              <a:t>20  </a:t>
            </a:r>
            <a:r>
              <a:rPr sz="760" i="0">
                <a:solidFill>
                  <a:srgbClr val="E6EDF3"/>
                </a:solidFill>
                <a:latin typeface="Inconsolata"/>
              </a:rPr>
              <a:t>log_attempts = </a:t>
            </a:r>
            <a:r>
              <a:rPr sz="760" i="0">
                <a:solidFill>
                  <a:srgbClr val="F9C97A"/>
                </a:solidFill>
                <a:latin typeface="Inconsolata"/>
              </a:rPr>
              <a:t>0</a:t>
            </a:r>
          </a:p>
          <a:p>
            <a:pPr>
              <a:lnSpc>
                <a:spcPct val="109601"/>
              </a:lnSpc>
              <a:spcAft>
                <a:spcPts val="0"/>
              </a:spcAft>
            </a:pPr>
            <a:r>
              <a:rPr sz="760" i="0">
                <a:solidFill>
                  <a:srgbClr val="5C6773"/>
                </a:solidFill>
                <a:latin typeface="Inconsolata"/>
              </a:rPr>
              <a:t>21  </a:t>
            </a:r>
            <a:r>
              <a:rPr sz="760" i="0">
                <a:solidFill>
                  <a:srgbClr val="E6EDF3"/>
                </a:solidFill>
                <a:latin typeface="Inconsolata"/>
              </a:rPr>
              <a:t> </a:t>
            </a:r>
          </a:p>
          <a:p>
            <a:pPr>
              <a:lnSpc>
                <a:spcPct val="109601"/>
              </a:lnSpc>
              <a:spcAft>
                <a:spcPts val="0"/>
              </a:spcAft>
            </a:pPr>
            <a:r>
              <a:rPr sz="760" i="0">
                <a:solidFill>
                  <a:srgbClr val="5C6773"/>
                </a:solidFill>
                <a:latin typeface="Inconsolata"/>
              </a:rPr>
              <a:t>22  </a:t>
            </a:r>
            <a:r>
              <a:rPr sz="760" i="0">
                <a:solidFill>
                  <a:srgbClr val="E6EDF3"/>
                </a:solidFill>
                <a:latin typeface="Inconsolata"/>
              </a:rPr>
              <a:t> </a:t>
            </a:r>
          </a:p>
          <a:p>
            <a:pPr>
              <a:lnSpc>
                <a:spcPct val="109601"/>
              </a:lnSpc>
              <a:spcAft>
                <a:spcPts val="0"/>
              </a:spcAft>
            </a:pPr>
            <a:r>
              <a:rPr sz="760" i="0">
                <a:solidFill>
                  <a:srgbClr val="5C6773"/>
                </a:solidFill>
                <a:latin typeface="Inconsolata"/>
              </a:rPr>
              <a:t>23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send_email</a:t>
            </a:r>
            <a:r>
              <a:rPr sz="760" i="0">
                <a:solidFill>
                  <a:srgbClr val="E6EDF3"/>
                </a:solidFill>
                <a:latin typeface="Inconsolata"/>
              </a:rPr>
              <a:t>(to: </a:t>
            </a:r>
            <a:r>
              <a:rPr sz="760" i="0">
                <a:solidFill>
                  <a:srgbClr val="C3A6FF"/>
                </a:solidFill>
                <a:latin typeface="Inconsolata"/>
              </a:rPr>
              <a:t>str</a:t>
            </a:r>
            <a:r>
              <a:rPr sz="760" i="0">
                <a:solidFill>
                  <a:srgbClr val="E6EDF3"/>
                </a:solidFill>
                <a:latin typeface="Inconsolata"/>
              </a:rPr>
              <a:t>, message: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24  </a:t>
            </a:r>
            <a:r>
              <a:rPr sz="760" i="0">
                <a:solidFill>
                  <a:srgbClr val="E6EDF3"/>
                </a:solidFill>
                <a:latin typeface="Inconsolata"/>
              </a:rPr>
              <a:t>    </a:t>
            </a:r>
            <a:r>
              <a:rPr sz="760" i="0">
                <a:solidFill>
                  <a:srgbClr val="7FDBCA"/>
                </a:solidFill>
                <a:latin typeface="Inconsolata"/>
              </a:rPr>
              <a:t>INBOX</a:t>
            </a:r>
            <a:r>
              <a:rPr sz="760" i="0">
                <a:solidFill>
                  <a:srgbClr val="E6EDF3"/>
                </a:solidFill>
                <a:latin typeface="Inconsolata"/>
              </a:rPr>
              <a:t>.append(message)</a:t>
            </a:r>
          </a:p>
          <a:p>
            <a:pPr>
              <a:lnSpc>
                <a:spcPct val="109601"/>
              </a:lnSpc>
              <a:spcAft>
                <a:spcPts val="0"/>
              </a:spcAft>
            </a:pPr>
            <a:r>
              <a:rPr sz="760" i="0">
                <a:solidFill>
                  <a:srgbClr val="5C6773"/>
                </a:solidFill>
                <a:latin typeface="Inconsolata"/>
              </a:rPr>
              <a:t>25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f"[EMAIL] ke {to}: {message}"</a:t>
            </a:r>
            <a:r>
              <a:rPr sz="760" i="0">
                <a:solidFill>
                  <a:srgbClr val="E6EDF3"/>
                </a:solidFill>
                <a:latin typeface="Inconsolata"/>
              </a:rPr>
              <a:t>)</a:t>
            </a:r>
          </a:p>
          <a:p>
            <a:pPr>
              <a:lnSpc>
                <a:spcPct val="109601"/>
              </a:lnSpc>
              <a:spcAft>
                <a:spcPts val="0"/>
              </a:spcAft>
            </a:pPr>
            <a:r>
              <a:rPr sz="760" i="0">
                <a:solidFill>
                  <a:srgbClr val="5C6773"/>
                </a:solidFill>
                <a:latin typeface="Inconsolata"/>
              </a:rPr>
              <a:t>26  </a:t>
            </a:r>
            <a:r>
              <a:rPr sz="760" i="0">
                <a:solidFill>
                  <a:srgbClr val="E6EDF3"/>
                </a:solidFill>
                <a:latin typeface="Inconsolata"/>
              </a:rPr>
              <a:t> </a:t>
            </a:r>
          </a:p>
          <a:p>
            <a:pPr>
              <a:lnSpc>
                <a:spcPct val="109601"/>
              </a:lnSpc>
              <a:spcAft>
                <a:spcPts val="0"/>
              </a:spcAft>
            </a:pPr>
            <a:r>
              <a:rPr sz="760" i="0">
                <a:solidFill>
                  <a:srgbClr val="5C6773"/>
                </a:solidFill>
                <a:latin typeface="Inconsolata"/>
              </a:rPr>
              <a:t>27  </a:t>
            </a:r>
            <a:r>
              <a:rPr sz="760" i="0">
                <a:solidFill>
                  <a:srgbClr val="E6EDF3"/>
                </a:solidFill>
                <a:latin typeface="Inconsolata"/>
              </a:rPr>
              <a:t> </a:t>
            </a:r>
          </a:p>
          <a:p>
            <a:pPr>
              <a:lnSpc>
                <a:spcPct val="109601"/>
              </a:lnSpc>
              <a:spcAft>
                <a:spcPts val="0"/>
              </a:spcAft>
            </a:pPr>
            <a:r>
              <a:rPr sz="760" i="0">
                <a:solidFill>
                  <a:srgbClr val="5C6773"/>
                </a:solidFill>
                <a:latin typeface="Inconsolata"/>
              </a:rPr>
              <a:t>28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save_email_log</a:t>
            </a:r>
            <a:r>
              <a:rPr sz="760" i="0">
                <a:solidFill>
                  <a:srgbClr val="E6EDF3"/>
                </a:solidFill>
                <a:latin typeface="Inconsolata"/>
              </a:rPr>
              <a:t>(order_id: </a:t>
            </a:r>
            <a:r>
              <a:rPr sz="760" i="0">
                <a:solidFill>
                  <a:srgbClr val="C3A6FF"/>
                </a:solidFill>
                <a:latin typeface="Inconsolata"/>
              </a:rPr>
              <a:t>int</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29  </a:t>
            </a:r>
            <a:r>
              <a:rPr sz="760" i="0">
                <a:solidFill>
                  <a:srgbClr val="E6EDF3"/>
                </a:solidFill>
                <a:latin typeface="Inconsolata"/>
              </a:rPr>
              <a:t>    </a:t>
            </a:r>
            <a:r>
              <a:rPr sz="760" i="0">
                <a:solidFill>
                  <a:srgbClr val="FF8E6E"/>
                </a:solidFill>
                <a:latin typeface="Inconsolata"/>
              </a:rPr>
              <a:t>global</a:t>
            </a:r>
            <a:r>
              <a:rPr sz="760" i="0">
                <a:solidFill>
                  <a:srgbClr val="E6EDF3"/>
                </a:solidFill>
                <a:latin typeface="Inconsolata"/>
              </a:rPr>
              <a:t> log_attempts</a:t>
            </a:r>
          </a:p>
          <a:p>
            <a:pPr>
              <a:lnSpc>
                <a:spcPct val="109601"/>
              </a:lnSpc>
              <a:spcAft>
                <a:spcPts val="0"/>
              </a:spcAft>
            </a:pPr>
            <a:r>
              <a:rPr sz="760" i="0">
                <a:solidFill>
                  <a:srgbClr val="5C6773"/>
                </a:solidFill>
                <a:latin typeface="Inconsolata"/>
              </a:rPr>
              <a:t>30  </a:t>
            </a:r>
            <a:r>
              <a:rPr sz="760" i="0">
                <a:solidFill>
                  <a:srgbClr val="E6EDF3"/>
                </a:solidFill>
                <a:latin typeface="Inconsolata"/>
              </a:rPr>
              <a:t>    log_attempts += </a:t>
            </a:r>
            <a:r>
              <a:rPr sz="760" i="0">
                <a:solidFill>
                  <a:srgbClr val="F9C97A"/>
                </a:solidFill>
                <a:latin typeface="Inconsolata"/>
              </a:rPr>
              <a:t>1</a:t>
            </a:r>
          </a:p>
          <a:p>
            <a:pPr>
              <a:lnSpc>
                <a:spcPct val="109601"/>
              </a:lnSpc>
              <a:spcAft>
                <a:spcPts val="0"/>
              </a:spcAft>
            </a:pPr>
            <a:r>
              <a:rPr sz="760" i="0">
                <a:solidFill>
                  <a:srgbClr val="5C6773"/>
                </a:solidFill>
                <a:latin typeface="Inconsolata"/>
              </a:rPr>
              <a:t>31  </a:t>
            </a:r>
            <a:r>
              <a:rPr sz="760" i="0">
                <a:solidFill>
                  <a:srgbClr val="E6EDF3"/>
                </a:solidFill>
                <a:latin typeface="Inconsolata"/>
              </a:rPr>
              <a:t>    </a:t>
            </a:r>
            <a:r>
              <a:rPr sz="760" i="0">
                <a:solidFill>
                  <a:srgbClr val="FF8E6E"/>
                </a:solidFill>
                <a:latin typeface="Inconsolata"/>
              </a:rPr>
              <a:t>if</a:t>
            </a:r>
            <a:r>
              <a:rPr sz="760" i="0">
                <a:solidFill>
                  <a:srgbClr val="E6EDF3"/>
                </a:solidFill>
                <a:latin typeface="Inconsolata"/>
              </a:rPr>
              <a:t> log_attempts == </a:t>
            </a:r>
            <a:r>
              <a:rPr sz="760" i="0">
                <a:solidFill>
                  <a:srgbClr val="F9C97A"/>
                </a:solidFill>
                <a:latin typeface="Inconsolata"/>
              </a:rPr>
              <a:t>1</a:t>
            </a:r>
            <a:r>
              <a:rPr sz="760" i="0">
                <a:solidFill>
                  <a:srgbClr val="E6EDF3"/>
                </a:solidFill>
                <a:latin typeface="Inconsolata"/>
              </a:rPr>
              <a:t>:</a:t>
            </a:r>
          </a:p>
          <a:p>
            <a:pPr>
              <a:lnSpc>
                <a:spcPct val="109601"/>
              </a:lnSpc>
              <a:spcAft>
                <a:spcPts val="0"/>
              </a:spcAft>
            </a:pPr>
            <a:r>
              <a:rPr sz="760" i="0">
                <a:solidFill>
                  <a:srgbClr val="5C6773"/>
                </a:solidFill>
                <a:latin typeface="Inconsolata"/>
              </a:rPr>
              <a:t>32  </a:t>
            </a:r>
            <a:r>
              <a:rPr sz="760" i="0">
                <a:solidFill>
                  <a:srgbClr val="E6EDF3"/>
                </a:solidFill>
                <a:latin typeface="Inconsolata"/>
              </a:rPr>
              <a:t>        </a:t>
            </a:r>
            <a:r>
              <a:rPr sz="760" i="0">
                <a:solidFill>
                  <a:srgbClr val="FF8E6E"/>
                </a:solidFill>
                <a:latin typeface="Inconsolata"/>
              </a:rPr>
              <a:t>raise</a:t>
            </a:r>
            <a:r>
              <a:rPr sz="760" i="0">
                <a:solidFill>
                  <a:srgbClr val="E6EDF3"/>
                </a:solidFill>
                <a:latin typeface="Inconsolata"/>
              </a:rPr>
              <a:t> </a:t>
            </a:r>
            <a:r>
              <a:rPr sz="760" i="0">
                <a:solidFill>
                  <a:srgbClr val="7FDBCA"/>
                </a:solidFill>
                <a:latin typeface="Inconsolata"/>
              </a:rPr>
              <a:t>ConnectionError</a:t>
            </a:r>
            <a:r>
              <a:rPr sz="760" i="0">
                <a:solidFill>
                  <a:srgbClr val="E6EDF3"/>
                </a:solidFill>
                <a:latin typeface="Inconsolata"/>
              </a:rPr>
              <a:t>(</a:t>
            </a:r>
            <a:r>
              <a:rPr sz="760" i="0">
                <a:solidFill>
                  <a:srgbClr val="A5D6A7"/>
                </a:solidFill>
                <a:latin typeface="Inconsolata"/>
              </a:rPr>
              <a:t>"Database timeout"</a:t>
            </a:r>
            <a:r>
              <a:rPr sz="760"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06-idempotency/after.py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35  </a:t>
            </a:r>
            <a:r>
              <a:rPr sz="760" i="0">
                <a:solidFill>
                  <a:srgbClr val="F9C97A"/>
                </a:solidFill>
                <a:latin typeface="Inconsolata"/>
              </a:rPr>
              <a:t>@celery_app.task</a:t>
            </a:r>
            <a:r>
              <a:rPr sz="760" i="0">
                <a:solidFill>
                  <a:srgbClr val="E6EDF3"/>
                </a:solidFill>
                <a:latin typeface="Inconsolata"/>
              </a:rPr>
              <a:t>(autoretry_for=(</a:t>
            </a:r>
            <a:r>
              <a:rPr sz="760" i="0">
                <a:solidFill>
                  <a:srgbClr val="7FDBCA"/>
                </a:solidFill>
                <a:latin typeface="Inconsolata"/>
              </a:rPr>
              <a:t>ConnectionError</a:t>
            </a:r>
            <a:r>
              <a:rPr sz="760" i="0">
                <a:solidFill>
                  <a:srgbClr val="E6EDF3"/>
                </a:solidFill>
                <a:latin typeface="Inconsolata"/>
              </a:rPr>
              <a:t>,), max_retries=</a:t>
            </a:r>
            <a:r>
              <a:rPr sz="760" i="0">
                <a:solidFill>
                  <a:srgbClr val="F9C97A"/>
                </a:solidFill>
                <a:latin typeface="Inconsolata"/>
              </a:rPr>
              <a:t>3</a:t>
            </a:r>
            <a:r>
              <a:rPr sz="760" i="0">
                <a:solidFill>
                  <a:srgbClr val="E6EDF3"/>
                </a:solidFill>
                <a:latin typeface="Inconsolata"/>
              </a:rPr>
              <a:t>)</a:t>
            </a:r>
          </a:p>
          <a:p>
            <a:pPr>
              <a:lnSpc>
                <a:spcPct val="109601"/>
              </a:lnSpc>
              <a:spcAft>
                <a:spcPts val="0"/>
              </a:spcAft>
            </a:pPr>
            <a:r>
              <a:rPr sz="760" i="0">
                <a:solidFill>
                  <a:srgbClr val="5C6773"/>
                </a:solidFill>
                <a:latin typeface="Inconsolata"/>
              </a:rPr>
              <a:t>36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send_payment_email</a:t>
            </a:r>
            <a:r>
              <a:rPr sz="760" i="0">
                <a:solidFill>
                  <a:srgbClr val="E6EDF3"/>
                </a:solidFill>
                <a:latin typeface="Inconsolata"/>
              </a:rPr>
              <a:t>(order_id: </a:t>
            </a:r>
            <a:r>
              <a:rPr sz="760" i="0">
                <a:solidFill>
                  <a:srgbClr val="C3A6FF"/>
                </a:solidFill>
                <a:latin typeface="Inconsolata"/>
              </a:rPr>
              <a:t>int</a:t>
            </a:r>
            <a:r>
              <a:rPr sz="760" i="0">
                <a:solidFill>
                  <a:srgbClr val="E6EDF3"/>
                </a:solidFill>
                <a:latin typeface="Inconsolata"/>
              </a:rPr>
              <a:t>, to: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37  </a:t>
            </a:r>
            <a:r>
              <a:rPr sz="760" i="0">
                <a:solidFill>
                  <a:srgbClr val="E6EDF3"/>
                </a:solidFill>
                <a:latin typeface="Inconsolata"/>
              </a:rPr>
              <a:t>    key = </a:t>
            </a:r>
            <a:r>
              <a:rPr sz="760" i="0">
                <a:solidFill>
                  <a:srgbClr val="A5D6A7"/>
                </a:solidFill>
                <a:latin typeface="Inconsolata"/>
              </a:rPr>
              <a:t>f"payment-email:{order_id}"</a:t>
            </a:r>
            <a:r>
              <a:rPr sz="760" i="0">
                <a:solidFill>
                  <a:srgbClr val="E6EDF3"/>
                </a:solidFill>
                <a:latin typeface="Inconsolata"/>
              </a:rPr>
              <a:t>     </a:t>
            </a:r>
            <a:r>
              <a:rPr sz="760" i="1">
                <a:solidFill>
                  <a:srgbClr val="8B98A8"/>
                </a:solidFill>
                <a:latin typeface="Inconsolata"/>
              </a:rPr>
              <a:t># idempotency key</a:t>
            </a:r>
          </a:p>
          <a:p>
            <a:pPr>
              <a:lnSpc>
                <a:spcPct val="109601"/>
              </a:lnSpc>
              <a:spcAft>
                <a:spcPts val="0"/>
              </a:spcAft>
            </a:pPr>
            <a:r>
              <a:rPr sz="760" i="0">
                <a:solidFill>
                  <a:srgbClr val="5C6773"/>
                </a:solidFill>
                <a:latin typeface="Inconsolata"/>
              </a:rPr>
              <a:t>38  </a:t>
            </a:r>
            <a:r>
              <a:rPr sz="760" i="0">
                <a:solidFill>
                  <a:srgbClr val="E6EDF3"/>
                </a:solidFill>
                <a:latin typeface="Inconsolata"/>
              </a:rPr>
              <a:t>    </a:t>
            </a:r>
            <a:r>
              <a:rPr sz="760" i="0">
                <a:solidFill>
                  <a:srgbClr val="FF8E6E"/>
                </a:solidFill>
                <a:latin typeface="Inconsolata"/>
              </a:rPr>
              <a:t>if</a:t>
            </a:r>
            <a:r>
              <a:rPr sz="760" i="0">
                <a:solidFill>
                  <a:srgbClr val="E6EDF3"/>
                </a:solidFill>
                <a:latin typeface="Inconsolata"/>
              </a:rPr>
              <a:t> key </a:t>
            </a:r>
            <a:r>
              <a:rPr sz="760" i="0">
                <a:solidFill>
                  <a:srgbClr val="FF8E6E"/>
                </a:solidFill>
                <a:latin typeface="Inconsolata"/>
              </a:rPr>
              <a:t>in</a:t>
            </a:r>
            <a:r>
              <a:rPr sz="760" i="0">
                <a:solidFill>
                  <a:srgbClr val="E6EDF3"/>
                </a:solidFill>
                <a:latin typeface="Inconsolata"/>
              </a:rPr>
              <a:t> </a:t>
            </a:r>
            <a:r>
              <a:rPr sz="760" i="0">
                <a:solidFill>
                  <a:srgbClr val="7FDBCA"/>
                </a:solidFill>
                <a:latin typeface="Inconsolata"/>
              </a:rPr>
              <a:t>SENT_KEYS</a:t>
            </a:r>
            <a:r>
              <a:rPr sz="760" i="0">
                <a:solidFill>
                  <a:srgbClr val="E6EDF3"/>
                </a:solidFill>
                <a:latin typeface="Inconsolata"/>
              </a:rPr>
              <a:t>:</a:t>
            </a:r>
          </a:p>
          <a:p>
            <a:pPr>
              <a:lnSpc>
                <a:spcPct val="109601"/>
              </a:lnSpc>
              <a:spcAft>
                <a:spcPts val="0"/>
              </a:spcAft>
            </a:pPr>
            <a:r>
              <a:rPr sz="760" i="0">
                <a:solidFill>
                  <a:srgbClr val="5C6773"/>
                </a:solidFill>
                <a:latin typeface="Inconsolata"/>
              </a:rPr>
              <a:t>39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f"[SKIP] {key} sudah terkirim"</a:t>
            </a:r>
            <a:r>
              <a:rPr sz="760" i="0">
                <a:solidFill>
                  <a:srgbClr val="E6EDF3"/>
                </a:solidFill>
                <a:latin typeface="Inconsolata"/>
              </a:rPr>
              <a:t>)</a:t>
            </a:r>
          </a:p>
          <a:p>
            <a:pPr>
              <a:lnSpc>
                <a:spcPct val="109601"/>
              </a:lnSpc>
              <a:spcAft>
                <a:spcPts val="0"/>
              </a:spcAft>
            </a:pPr>
            <a:r>
              <a:rPr sz="760" i="0">
                <a:solidFill>
                  <a:srgbClr val="5C6773"/>
                </a:solidFill>
                <a:latin typeface="Inconsolata"/>
              </a:rPr>
              <a:t>40  </a:t>
            </a:r>
            <a:r>
              <a:rPr sz="760" i="0">
                <a:solidFill>
                  <a:srgbClr val="E6EDF3"/>
                </a:solidFill>
                <a:latin typeface="Inconsolata"/>
              </a:rPr>
              <a:t>    </a:t>
            </a:r>
            <a:r>
              <a:rPr sz="760" i="0">
                <a:solidFill>
                  <a:srgbClr val="FF8E6E"/>
                </a:solidFill>
                <a:latin typeface="Inconsolata"/>
              </a:rPr>
              <a:t>else</a:t>
            </a:r>
            <a:r>
              <a:rPr sz="760" i="0">
                <a:solidFill>
                  <a:srgbClr val="E6EDF3"/>
                </a:solidFill>
                <a:latin typeface="Inconsolata"/>
              </a:rPr>
              <a:t>:</a:t>
            </a:r>
          </a:p>
          <a:p>
            <a:pPr>
              <a:lnSpc>
                <a:spcPct val="109601"/>
              </a:lnSpc>
              <a:spcAft>
                <a:spcPts val="0"/>
              </a:spcAft>
            </a:pPr>
            <a:r>
              <a:rPr sz="760" i="0">
                <a:solidFill>
                  <a:srgbClr val="5C6773"/>
                </a:solidFill>
                <a:latin typeface="Inconsolata"/>
              </a:rPr>
              <a:t>41  </a:t>
            </a:r>
            <a:r>
              <a:rPr sz="760" i="0">
                <a:solidFill>
                  <a:srgbClr val="E6EDF3"/>
                </a:solidFill>
                <a:latin typeface="Inconsolata"/>
              </a:rPr>
              <a:t>        send_email(to, </a:t>
            </a:r>
            <a:r>
              <a:rPr sz="760" i="0">
                <a:solidFill>
                  <a:srgbClr val="A5D6A7"/>
                </a:solidFill>
                <a:latin typeface="Inconsolata"/>
              </a:rPr>
              <a:t>f"Order #{order_id} sudah dibayar"</a:t>
            </a:r>
            <a:r>
              <a:rPr sz="760" i="0">
                <a:solidFill>
                  <a:srgbClr val="E6EDF3"/>
                </a:solidFill>
                <a:latin typeface="Inconsolata"/>
              </a:rPr>
              <a:t>)</a:t>
            </a:r>
          </a:p>
          <a:p>
            <a:pPr>
              <a:lnSpc>
                <a:spcPct val="109601"/>
              </a:lnSpc>
              <a:spcAft>
                <a:spcPts val="0"/>
              </a:spcAft>
            </a:pPr>
            <a:r>
              <a:rPr sz="760" i="0">
                <a:solidFill>
                  <a:srgbClr val="5C6773"/>
                </a:solidFill>
                <a:latin typeface="Inconsolata"/>
              </a:rPr>
              <a:t>42  </a:t>
            </a:r>
            <a:r>
              <a:rPr sz="760" i="0">
                <a:solidFill>
                  <a:srgbClr val="E6EDF3"/>
                </a:solidFill>
                <a:latin typeface="Inconsolata"/>
              </a:rPr>
              <a:t>        </a:t>
            </a:r>
            <a:r>
              <a:rPr sz="760" i="0">
                <a:solidFill>
                  <a:srgbClr val="7FDBCA"/>
                </a:solidFill>
                <a:latin typeface="Inconsolata"/>
              </a:rPr>
              <a:t>SENT_KEYS</a:t>
            </a:r>
            <a:r>
              <a:rPr sz="760" i="0">
                <a:solidFill>
                  <a:srgbClr val="E6EDF3"/>
                </a:solidFill>
                <a:latin typeface="Inconsolata"/>
              </a:rPr>
              <a:t>.add(key)        </a:t>
            </a:r>
            <a:r>
              <a:rPr sz="760" i="1">
                <a:solidFill>
                  <a:srgbClr val="8B98A8"/>
                </a:solidFill>
                <a:latin typeface="Inconsolata"/>
              </a:rPr>
              <a:t># tandai setelah email terkirim</a:t>
            </a:r>
          </a:p>
          <a:p>
            <a:pPr>
              <a:lnSpc>
                <a:spcPct val="109601"/>
              </a:lnSpc>
              <a:spcAft>
                <a:spcPts val="0"/>
              </a:spcAft>
            </a:pPr>
            <a:r>
              <a:rPr sz="760" i="0">
                <a:solidFill>
                  <a:srgbClr val="5C6773"/>
                </a:solidFill>
                <a:latin typeface="Inconsolata"/>
              </a:rPr>
              <a:t>43  </a:t>
            </a:r>
            <a:r>
              <a:rPr sz="760" i="0">
                <a:solidFill>
                  <a:srgbClr val="E6EDF3"/>
                </a:solidFill>
                <a:latin typeface="Inconsolata"/>
              </a:rPr>
              <a:t>    save_email_log(order_id)</a:t>
            </a:r>
          </a:p>
          <a:p>
            <a:pPr>
              <a:lnSpc>
                <a:spcPct val="109601"/>
              </a:lnSpc>
              <a:spcAft>
                <a:spcPts val="0"/>
              </a:spcAft>
            </a:pPr>
            <a:r>
              <a:rPr sz="760" i="0">
                <a:solidFill>
                  <a:srgbClr val="5C6773"/>
                </a:solidFill>
                <a:latin typeface="Inconsolata"/>
              </a:rPr>
              <a:t>44  </a:t>
            </a:r>
            <a:r>
              <a:rPr sz="760" i="0">
                <a:solidFill>
                  <a:srgbClr val="E6EDF3"/>
                </a:solidFill>
                <a:latin typeface="Inconsolata"/>
              </a:rPr>
              <a:t> </a:t>
            </a:r>
          </a:p>
          <a:p>
            <a:pPr>
              <a:lnSpc>
                <a:spcPct val="109601"/>
              </a:lnSpc>
              <a:spcAft>
                <a:spcPts val="0"/>
              </a:spcAft>
            </a:pPr>
            <a:r>
              <a:rPr sz="760" i="0">
                <a:solidFill>
                  <a:srgbClr val="5C6773"/>
                </a:solidFill>
                <a:latin typeface="Inconsolata"/>
              </a:rPr>
              <a:t>45  </a:t>
            </a:r>
            <a:r>
              <a:rPr sz="760" i="0">
                <a:solidFill>
                  <a:srgbClr val="E6EDF3"/>
                </a:solidFill>
                <a:latin typeface="Inconsolata"/>
              </a:rPr>
              <a:t> </a:t>
            </a:r>
          </a:p>
          <a:p>
            <a:pPr>
              <a:lnSpc>
                <a:spcPct val="109601"/>
              </a:lnSpc>
              <a:spcAft>
                <a:spcPts val="0"/>
              </a:spcAft>
            </a:pPr>
            <a:r>
              <a:rPr sz="760" i="0">
                <a:solidFill>
                  <a:srgbClr val="5C6773"/>
                </a:solidFill>
                <a:latin typeface="Inconsolata"/>
              </a:rPr>
              <a:t>46  </a:t>
            </a:r>
            <a:r>
              <a:rPr sz="760" i="0">
                <a:solidFill>
                  <a:srgbClr val="FF8E6E"/>
                </a:solidFill>
                <a:latin typeface="Inconsolata"/>
              </a:rPr>
              <a:t>if</a:t>
            </a:r>
            <a:r>
              <a:rPr sz="760" i="0">
                <a:solidFill>
                  <a:srgbClr val="E6EDF3"/>
                </a:solidFill>
                <a:latin typeface="Inconsolata"/>
              </a:rPr>
              <a:t> __name__ == </a:t>
            </a:r>
            <a:r>
              <a:rPr sz="760" i="0">
                <a:solidFill>
                  <a:srgbClr val="A5D6A7"/>
                </a:solidFill>
                <a:latin typeface="Inconsolata"/>
              </a:rPr>
              <a:t>"__main__"</a:t>
            </a:r>
            <a:r>
              <a:rPr sz="760" i="0">
                <a:solidFill>
                  <a:srgbClr val="E6EDF3"/>
                </a:solidFill>
                <a:latin typeface="Inconsolata"/>
              </a:rPr>
              <a:t>:</a:t>
            </a:r>
          </a:p>
          <a:p>
            <a:pPr>
              <a:lnSpc>
                <a:spcPct val="109601"/>
              </a:lnSpc>
              <a:spcAft>
                <a:spcPts val="0"/>
              </a:spcAft>
            </a:pPr>
            <a:r>
              <a:rPr sz="760" i="0">
                <a:solidFill>
                  <a:srgbClr val="5C6773"/>
                </a:solidFill>
                <a:latin typeface="Inconsolata"/>
              </a:rPr>
              <a:t>47  </a:t>
            </a:r>
            <a:r>
              <a:rPr sz="760" i="0">
                <a:solidFill>
                  <a:srgbClr val="E6EDF3"/>
                </a:solidFill>
                <a:latin typeface="Inconsolata"/>
              </a:rPr>
              <a:t>    celery_app.conf.task_always_eager = </a:t>
            </a:r>
            <a:r>
              <a:rPr sz="760" i="0">
                <a:solidFill>
                  <a:srgbClr val="FF8E6E"/>
                </a:solidFill>
                <a:latin typeface="Inconsolata"/>
              </a:rPr>
              <a:t>True</a:t>
            </a:r>
          </a:p>
          <a:p>
            <a:pPr>
              <a:lnSpc>
                <a:spcPct val="109601"/>
              </a:lnSpc>
              <a:spcAft>
                <a:spcPts val="0"/>
              </a:spcAft>
            </a:pPr>
            <a:r>
              <a:rPr sz="760" i="0">
                <a:solidFill>
                  <a:srgbClr val="5C6773"/>
                </a:solidFill>
                <a:latin typeface="Inconsolata"/>
              </a:rPr>
              <a:t>48  </a:t>
            </a:r>
            <a:r>
              <a:rPr sz="760" i="0">
                <a:solidFill>
                  <a:srgbClr val="E6EDF3"/>
                </a:solidFill>
                <a:latin typeface="Inconsolata"/>
              </a:rPr>
              <a:t>    send_payment_email.delay(</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"budi@mail.com"</a:t>
            </a:r>
            <a:r>
              <a:rPr sz="760" i="0">
                <a:solidFill>
                  <a:srgbClr val="E6EDF3"/>
                </a:solidFill>
                <a:latin typeface="Inconsolata"/>
              </a:rPr>
              <a:t>)   </a:t>
            </a:r>
            <a:r>
              <a:rPr sz="760" i="1">
                <a:solidFill>
                  <a:srgbClr val="8B98A8"/>
                </a:solidFill>
                <a:latin typeface="Inconsolata"/>
              </a:rPr>
              <a:t># retry 1x</a:t>
            </a:r>
          </a:p>
          <a:p>
            <a:pPr>
              <a:lnSpc>
                <a:spcPct val="109601"/>
              </a:lnSpc>
              <a:spcAft>
                <a:spcPts val="0"/>
              </a:spcAft>
            </a:pPr>
            <a:r>
              <a:rPr sz="760" i="0">
                <a:solidFill>
                  <a:srgbClr val="5C6773"/>
                </a:solidFill>
                <a:latin typeface="Inconsolata"/>
              </a:rPr>
              <a:t>49  </a:t>
            </a:r>
            <a:r>
              <a:rPr sz="760" i="0">
                <a:solidFill>
                  <a:srgbClr val="E6EDF3"/>
                </a:solidFill>
                <a:latin typeface="Inconsolata"/>
              </a:rPr>
              <a:t>    send_payment_email.delay(</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"budi@mail.com"</a:t>
            </a:r>
            <a:r>
              <a:rPr sz="760" i="0">
                <a:solidFill>
                  <a:srgbClr val="E6EDF3"/>
                </a:solidFill>
                <a:latin typeface="Inconsolata"/>
              </a:rPr>
              <a:t>)   </a:t>
            </a:r>
            <a:r>
              <a:rPr sz="760" i="1">
                <a:solidFill>
                  <a:srgbClr val="8B98A8"/>
                </a:solidFill>
                <a:latin typeface="Inconsolata"/>
              </a:rPr>
              <a:t># job sama lagi</a:t>
            </a:r>
          </a:p>
          <a:p>
            <a:pPr>
              <a:lnSpc>
                <a:spcPct val="109601"/>
              </a:lnSpc>
              <a:spcAft>
                <a:spcPts val="0"/>
              </a:spcAft>
            </a:pPr>
            <a:r>
              <a:rPr sz="760" i="0">
                <a:solidFill>
                  <a:srgbClr val="5C6773"/>
                </a:solidFill>
                <a:latin typeface="Inconsolata"/>
              </a:rPr>
              <a:t>50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"Email yang diterima customer:"</a:t>
            </a:r>
            <a:r>
              <a:rPr sz="760" i="0">
                <a:solidFill>
                  <a:srgbClr val="E6EDF3"/>
                </a:solidFill>
                <a:latin typeface="Inconsolata"/>
              </a:rPr>
              <a:t>, </a:t>
            </a:r>
            <a:r>
              <a:rPr sz="760" i="0">
                <a:solidFill>
                  <a:srgbClr val="C3A6FF"/>
                </a:solidFill>
                <a:latin typeface="Inconsolata"/>
              </a:rPr>
              <a:t>len</a:t>
            </a:r>
            <a:r>
              <a:rPr sz="760" i="0">
                <a:solidFill>
                  <a:srgbClr val="E6EDF3"/>
                </a:solidFill>
                <a:latin typeface="Inconsolata"/>
              </a:rPr>
              <a:t>(</a:t>
            </a:r>
            <a:r>
              <a:rPr sz="760" i="0">
                <a:solidFill>
                  <a:srgbClr val="7FDBCA"/>
                </a:solidFill>
                <a:latin typeface="Inconsolata"/>
              </a:rPr>
              <a:t>INBOX</a:t>
            </a:r>
            <a:r>
              <a:rPr sz="760" i="0">
                <a:solidFill>
                  <a:srgbClr val="E6EDF3"/>
                </a:solidFill>
                <a:latin typeface="Inconsolata"/>
              </a:rPr>
              <a:t>))   </a:t>
            </a:r>
            <a:r>
              <a:rPr sz="760" i="1">
                <a:solidFill>
                  <a:srgbClr val="8B98A8"/>
                </a:solidFill>
                <a:latin typeface="Inconsolata"/>
              </a:rPr>
              <a:t># 1</a:t>
            </a:r>
          </a:p>
        </p:txBody>
      </p:sp>
      <p:sp>
        <p:nvSpPr>
          <p:cNvPr id="36" name="Box 21"/>
          <p:cNvSpPr/>
          <p:nvPr/>
        </p:nvSpPr>
        <p:spPr>
          <a:xfrm>
            <a:off x="4709159" y="2081022"/>
            <a:ext cx="3694176"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148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716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656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Idempotency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06-idempotency/after.py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sesi-05-async-tasks-celery-redis/06-idempotency</a:t>
            </a:r>
          </a:p>
          <a:p>
            <a:pPr>
              <a:lnSpc>
                <a:spcPct val="111111"/>
              </a:lnSpc>
              <a:spcAft>
                <a:spcPts val="0"/>
              </a:spcAft>
            </a:pPr>
            <a:r>
              <a:rPr sz="900" i="0">
                <a:solidFill>
                  <a:srgbClr val="82B1FF"/>
                </a:solidFill>
                <a:latin typeface="Inconsolata"/>
              </a:rPr>
              <a:t>$ python after.py</a:t>
            </a:r>
          </a:p>
        </p:txBody>
      </p:sp>
      <p:pic>
        <p:nvPicPr>
          <p:cNvPr id="29" name="Image 12" descr="s05-06-idempotency-after.png"/>
          <p:cNvPicPr>
            <a:picLocks noChangeAspect="1"/>
          </p:cNvPicPr>
          <p:nvPr/>
        </p:nvPicPr>
        <p:blipFill>
          <a:blip r:embed="rId2"/>
          <a:stretch>
            <a:fillRect/>
          </a:stretch>
        </p:blipFill>
        <p:spPr>
          <a:xfrm>
            <a:off x="621792" y="2322576"/>
            <a:ext cx="4297680" cy="1322363"/>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Satu key untuk satu email pembayaran. Key sudah ada = email dilewati (baris 37-39])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Key ditandai segera setelah email terkirim (baris 42)</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Ada retry 1 kali dan job yang sama dikirim dua kali, customer tetap menerima 1 email.</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Failure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Failure Handling?</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Failure handling adalah</a:t>
            </a:r>
          </a:p>
          <a:p>
            <a:pPr algn="l">
              <a:lnSpc>
                <a:spcPct val="115000"/>
              </a:lnSpc>
              <a:spcAft>
                <a:spcPts val="400"/>
              </a:spcAft>
            </a:pPr>
            <a:r>
              <a:rPr sz="900" b="0" i="0">
                <a:solidFill>
                  <a:srgbClr val="434343"/>
                </a:solidFill>
                <a:latin typeface="Inter"/>
              </a:rPr>
              <a:t>Cara aplikasi menangani task yang </a:t>
            </a:r>
            <a:r>
              <a:rPr sz="900" b="1" i="0">
                <a:solidFill>
                  <a:srgbClr val="434343"/>
                </a:solidFill>
                <a:latin typeface="Inter"/>
              </a:rPr>
              <a:t>gagal permanen</a:t>
            </a:r>
            <a:r>
              <a:rPr sz="900" b="0" i="0">
                <a:solidFill>
                  <a:srgbClr val="434343"/>
                </a:solidFill>
                <a:latin typeface="Inter"/>
              </a:rPr>
              <a:t>, yaitu tetap gagal setelah semua retry habis. Di Celery, error dibiarkan naik supaya statusnya </a:t>
            </a:r>
            <a:r>
              <a:rPr sz="900" b="0" i="0">
                <a:solidFill>
                  <a:srgbClr val="B5482A"/>
                </a:solidFill>
                <a:latin typeface="Inconsolata"/>
              </a:rPr>
              <a:t>FAILURE</a:t>
            </a:r>
            <a:r>
              <a:rPr sz="900" b="0" i="0">
                <a:solidFill>
                  <a:srgbClr val="434343"/>
                </a:solidFill>
                <a:latin typeface="Inter"/>
              </a:rPr>
              <a:t>, lalu base class </a:t>
            </a:r>
            <a:r>
              <a:rPr sz="900" b="0" i="0">
                <a:solidFill>
                  <a:srgbClr val="B5482A"/>
                </a:solidFill>
                <a:latin typeface="Inconsolata"/>
              </a:rPr>
              <a:t>Task</a:t>
            </a:r>
            <a:r>
              <a:rPr sz="900" b="0" i="0">
                <a:solidFill>
                  <a:srgbClr val="434343"/>
                </a:solidFill>
                <a:latin typeface="Inter"/>
              </a:rPr>
              <a:t> dengan method </a:t>
            </a:r>
            <a:r>
              <a:rPr sz="900" b="0" i="0">
                <a:solidFill>
                  <a:srgbClr val="B5482A"/>
                </a:solidFill>
                <a:latin typeface="Inconsolata"/>
              </a:rPr>
              <a:t>on_failure</a:t>
            </a:r>
            <a:r>
              <a:rPr sz="900" b="0" i="0">
                <a:solidFill>
                  <a:srgbClr val="434343"/>
                </a:solidFill>
                <a:latin typeface="Inter"/>
              </a:rPr>
              <a:t> mencatat dan memberi alert.</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Memastikan status task sesuai kenyataan</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Mencatat job yang gagal beserta argumennya, supaya bisa dijalankan ulang</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Memberi tahu tim saat ada job yang gagal</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failure handling: 07-failure-handling/before.py</a:t>
            </a:r>
          </a:p>
        </p:txBody>
      </p:sp>
      <p:sp>
        <p:nvSpPr>
          <p:cNvPr id="28" name="CodeBg 11"/>
          <p:cNvSpPr/>
          <p:nvPr/>
        </p:nvSpPr>
        <p:spPr>
          <a:xfrm>
            <a:off x="4297680" y="1719072"/>
            <a:ext cx="4187951" cy="1097280"/>
          </a:xfrm>
          <a:prstGeom prst="roundRect">
            <a:avLst>
              <a:gd name="adj" fmla="val 1666"/>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097280"/>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send_order_email</a:t>
            </a:r>
            <a:r>
              <a:rPr sz="850" i="0">
                <a:solidFill>
                  <a:srgbClr val="E6EDF3"/>
                </a:solidFill>
                <a:latin typeface="Inconsolata"/>
              </a:rPr>
              <a:t>(to: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try</a:t>
            </a:r>
            <a:r>
              <a:rPr sz="850" i="0">
                <a:solidFill>
                  <a:srgbClr val="E6EDF3"/>
                </a:solidFill>
                <a:latin typeface="Inconsolata"/>
              </a:rPr>
              <a:t>:</a:t>
            </a:r>
          </a:p>
          <a:p>
            <a:pPr>
              <a:lnSpc>
                <a:spcPct val="107843"/>
              </a:lnSpc>
              <a:spcAft>
                <a:spcPts val="0"/>
              </a:spcAft>
            </a:pPr>
            <a:r>
              <a:rPr sz="850" i="0">
                <a:solidFill>
                  <a:srgbClr val="E6EDF3"/>
                </a:solidFill>
                <a:latin typeface="Inconsolata"/>
              </a:rPr>
              <a:t>        send_email(to, message)</a:t>
            </a:r>
          </a:p>
          <a:p>
            <a:pPr>
              <a:lnSpc>
                <a:spcPct val="107843"/>
              </a:lnSpc>
              <a:spcAft>
                <a:spcPts val="0"/>
              </a:spcAft>
            </a:pPr>
            <a:r>
              <a:rPr sz="850" i="0">
                <a:solidFill>
                  <a:srgbClr val="E6EDF3"/>
                </a:solidFill>
                <a:latin typeface="Inconsolata"/>
              </a:rPr>
              <a:t>    </a:t>
            </a:r>
            <a:r>
              <a:rPr sz="850" i="0">
                <a:solidFill>
                  <a:srgbClr val="FF8E6E"/>
                </a:solidFill>
                <a:latin typeface="Inconsolata"/>
              </a:rPr>
              <a:t>except</a:t>
            </a:r>
            <a:r>
              <a:rPr sz="850" i="0">
                <a:solidFill>
                  <a:srgbClr val="E6EDF3"/>
                </a:solidFill>
                <a:latin typeface="Inconsolata"/>
              </a:rPr>
              <a:t> </a:t>
            </a:r>
            <a:r>
              <a:rPr sz="850" i="0">
                <a:solidFill>
                  <a:srgbClr val="7FDBCA"/>
                </a:solidFill>
                <a:latin typeface="Inconsolata"/>
              </a:rPr>
              <a:t>Exception</a:t>
            </a:r>
            <a:r>
              <a:rPr sz="850" i="0">
                <a:solidFill>
                  <a:srgbClr val="E6EDF3"/>
                </a:solidFill>
                <a:latin typeface="Inconsolata"/>
              </a:rPr>
              <a:t> </a:t>
            </a:r>
            <a:r>
              <a:rPr sz="850" i="0">
                <a:solidFill>
                  <a:srgbClr val="FF8E6E"/>
                </a:solidFill>
                <a:latin typeface="Inconsolata"/>
              </a:rPr>
              <a:t>as</a:t>
            </a:r>
            <a:r>
              <a:rPr sz="850" i="0">
                <a:solidFill>
                  <a:srgbClr val="E6EDF3"/>
                </a:solidFill>
                <a:latin typeface="Inconsolata"/>
              </a:rPr>
              <a:t> e:</a:t>
            </a:r>
          </a:p>
          <a:p>
            <a:pPr>
              <a:lnSpc>
                <a:spcPct val="107843"/>
              </a:lnSpc>
              <a:spcAft>
                <a:spcPts val="0"/>
              </a:spcAft>
            </a:pP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"error:"</a:t>
            </a:r>
            <a:r>
              <a:rPr sz="850" i="0">
                <a:solidFill>
                  <a:srgbClr val="E6EDF3"/>
                </a:solidFill>
                <a:latin typeface="Inconsolata"/>
              </a:rPr>
              <a:t>, e)        </a:t>
            </a:r>
            <a:r>
              <a:rPr sz="850" i="1">
                <a:solidFill>
                  <a:srgbClr val="8B98A8"/>
                </a:solidFill>
                <a:latin typeface="Inconsolata"/>
              </a:rPr>
              <a:t># error hanya di-print</a:t>
            </a:r>
          </a:p>
        </p:txBody>
      </p:sp>
      <p:sp>
        <p:nvSpPr>
          <p:cNvPr id="30" name="Box 13"/>
          <p:cNvSpPr/>
          <p:nvPr/>
        </p:nvSpPr>
        <p:spPr>
          <a:xfrm>
            <a:off x="4379976" y="2247773"/>
            <a:ext cx="4023359" cy="271018"/>
          </a:xfrm>
          <a:prstGeom prst="roundRect">
            <a:avLst>
              <a:gd name="adj" fmla="val 16869"/>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90779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98551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98551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98551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91693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failure handling: 07-failure-handling/after.py</a:t>
            </a:r>
          </a:p>
        </p:txBody>
      </p:sp>
      <p:sp>
        <p:nvSpPr>
          <p:cNvPr id="36" name="CodeBg 21"/>
          <p:cNvSpPr/>
          <p:nvPr/>
        </p:nvSpPr>
        <p:spPr>
          <a:xfrm>
            <a:off x="4297680" y="3145536"/>
            <a:ext cx="4187951" cy="1554479"/>
          </a:xfrm>
          <a:prstGeom prst="roundRect">
            <a:avLst>
              <a:gd name="adj" fmla="val 1176"/>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3145536"/>
            <a:ext cx="4187951" cy="1554479"/>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AlertingTask</a:t>
            </a:r>
            <a:r>
              <a:rPr sz="850" i="0">
                <a:solidFill>
                  <a:srgbClr val="E6EDF3"/>
                </a:solidFill>
                <a:latin typeface="Inconsolata"/>
              </a:rPr>
              <a:t>(</a:t>
            </a:r>
            <a:r>
              <a:rPr sz="850" i="0">
                <a:solidFill>
                  <a:srgbClr val="7FDBCA"/>
                </a:solidFill>
                <a:latin typeface="Inconsolata"/>
              </a:rPr>
              <a:t>Task</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on_failure</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exc, task_id, args, kwargs, einfo):</a:t>
            </a:r>
          </a:p>
          <a:p>
            <a:pPr>
              <a:lnSpc>
                <a:spcPct val="107843"/>
              </a:lnSpc>
              <a:spcAft>
                <a:spcPts val="0"/>
              </a:spcAft>
            </a:pPr>
            <a:r>
              <a:rPr sz="850" i="0">
                <a:solidFill>
                  <a:srgbClr val="E6EDF3"/>
                </a:solidFill>
                <a:latin typeface="Inconsolata"/>
              </a:rPr>
              <a:t>        </a:t>
            </a:r>
            <a:r>
              <a:rPr sz="850" i="0">
                <a:solidFill>
                  <a:srgbClr val="7FDBCA"/>
                </a:solidFill>
                <a:latin typeface="Inconsolata"/>
              </a:rPr>
              <a:t>FAILED_JOBS</a:t>
            </a:r>
            <a:r>
              <a:rPr sz="850" i="0">
                <a:solidFill>
                  <a:srgbClr val="E6EDF3"/>
                </a:solidFill>
                <a:latin typeface="Inconsolata"/>
              </a:rPr>
              <a:t>.append({</a:t>
            </a:r>
            <a:r>
              <a:rPr sz="850" i="0">
                <a:solidFill>
                  <a:srgbClr val="A5D6A7"/>
                </a:solidFill>
                <a:latin typeface="Inconsolata"/>
              </a:rPr>
              <a:t>"task"</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.name, </a:t>
            </a:r>
            <a:r>
              <a:rPr sz="850" i="0">
                <a:solidFill>
                  <a:srgbClr val="A5D6A7"/>
                </a:solidFill>
                <a:latin typeface="Inconsolata"/>
              </a:rPr>
              <a:t>"args"</a:t>
            </a:r>
            <a:r>
              <a:rPr sz="850" i="0">
                <a:solidFill>
                  <a:srgbClr val="E6EDF3"/>
                </a:solidFill>
                <a:latin typeface="Inconsolata"/>
              </a:rPr>
              <a:t>: args,</a:t>
            </a:r>
          </a:p>
          <a:p>
            <a:pPr>
              <a:lnSpc>
                <a:spcPct val="107843"/>
              </a:lnSpc>
              <a:spcAft>
                <a:spcPts val="0"/>
              </a:spcAft>
            </a:pPr>
            <a:r>
              <a:rPr sz="850" i="0">
                <a:solidFill>
                  <a:srgbClr val="E6EDF3"/>
                </a:solidFill>
                <a:latin typeface="Inconsolata"/>
              </a:rPr>
              <a:t>                            </a:t>
            </a:r>
            <a:r>
              <a:rPr sz="850" i="0">
                <a:solidFill>
                  <a:srgbClr val="A5D6A7"/>
                </a:solidFill>
                <a:latin typeface="Inconsolata"/>
              </a:rPr>
              <a:t>"error"</a:t>
            </a:r>
            <a:r>
              <a:rPr sz="850" i="0">
                <a:solidFill>
                  <a:srgbClr val="E6EDF3"/>
                </a:solidFill>
                <a:latin typeface="Inconsolata"/>
              </a:rPr>
              <a:t>: </a:t>
            </a:r>
            <a:r>
              <a:rPr sz="850" i="0">
                <a:solidFill>
                  <a:srgbClr val="C3A6FF"/>
                </a:solidFill>
                <a:latin typeface="Inconsolata"/>
              </a:rPr>
              <a:t>str</a:t>
            </a:r>
            <a:r>
              <a:rPr sz="850" i="0">
                <a:solidFill>
                  <a:srgbClr val="E6EDF3"/>
                </a:solidFill>
                <a:latin typeface="Inconsolata"/>
              </a:rPr>
              <a:t>(exc)})</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F9C97A"/>
                </a:solidFill>
                <a:latin typeface="Inconsolata"/>
              </a:rPr>
              <a:t>@celery_app.task</a:t>
            </a:r>
            <a:r>
              <a:rPr sz="850" i="0">
                <a:solidFill>
                  <a:srgbClr val="E6EDF3"/>
                </a:solidFill>
                <a:latin typeface="Inconsolata"/>
              </a:rPr>
              <a:t>(base=</a:t>
            </a:r>
            <a:r>
              <a:rPr sz="850" i="0">
                <a:solidFill>
                  <a:srgbClr val="7FDBCA"/>
                </a:solidFill>
                <a:latin typeface="Inconsolata"/>
              </a:rPr>
              <a:t>AlertingTask</a:t>
            </a:r>
            <a:r>
              <a:rPr sz="850" i="0">
                <a:solidFill>
                  <a:srgbClr val="E6EDF3"/>
                </a:solidFill>
                <a:latin typeface="Inconsolata"/>
              </a:rPr>
              <a:t>,</a:t>
            </a:r>
          </a:p>
        </p:txBody>
      </p:sp>
      <p:sp>
        <p:nvSpPr>
          <p:cNvPr id="38" name="Box 23"/>
          <p:cNvSpPr/>
          <p:nvPr/>
        </p:nvSpPr>
        <p:spPr>
          <a:xfrm>
            <a:off x="4379976" y="3534537"/>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40933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Failure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Failure Handling?</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failure handling</a:t>
            </a:r>
          </a:p>
          <a:p>
            <a:pPr algn="l">
              <a:lnSpc>
                <a:spcPct val="115000"/>
              </a:lnSpc>
              <a:spcAft>
                <a:spcPts val="400"/>
              </a:spcAft>
            </a:pPr>
            <a:r>
              <a:rPr sz="950" b="0" i="0">
                <a:solidFill>
                  <a:srgbClr val="434343"/>
                </a:solidFill>
                <a:latin typeface="Inter"/>
              </a:rPr>
              <a:t>Error ditangkap dengan </a:t>
            </a:r>
            <a:r>
              <a:rPr sz="950" b="0" i="0">
                <a:solidFill>
                  <a:srgbClr val="B5482A"/>
                </a:solidFill>
                <a:latin typeface="Inconsolata"/>
              </a:rPr>
              <a:t>except Exception</a:t>
            </a:r>
            <a:r>
              <a:rPr sz="950" b="0" i="0">
                <a:solidFill>
                  <a:srgbClr val="434343"/>
                </a:solidFill>
                <a:latin typeface="Inter"/>
              </a:rPr>
              <a:t> lalu hanya di-print. Celery tidak melihat ada error, jadi tidak ada retry dan status task tetap </a:t>
            </a:r>
            <a:r>
              <a:rPr sz="950" b="0" i="0">
                <a:solidFill>
                  <a:srgbClr val="B5482A"/>
                </a:solidFill>
                <a:latin typeface="Inconsolata"/>
              </a:rPr>
              <a:t>SUCCESS</a:t>
            </a:r>
            <a:r>
              <a:rPr sz="950" b="0" i="0">
                <a:solidFill>
                  <a:srgbClr val="434343"/>
                </a:solidFill>
                <a:latin typeface="Inter"/>
              </a:rPr>
              <a:t>.</a:t>
            </a:r>
          </a:p>
          <a:p>
            <a:pPr algn="l">
              <a:lnSpc>
                <a:spcPct val="115000"/>
              </a:lnSpc>
              <a:spcAft>
                <a:spcPts val="400"/>
              </a:spcAft>
            </a:pPr>
            <a:r>
              <a:rPr sz="1050" b="1" i="0">
                <a:solidFill>
                  <a:srgbClr val="1C4587"/>
                </a:solidFill>
                <a:latin typeface="Inter"/>
              </a:rPr>
              <a:t>Jika jobnya makin banyak</a:t>
            </a:r>
          </a:p>
          <a:p>
            <a:pPr algn="l">
              <a:lnSpc>
                <a:spcPct val="115000"/>
              </a:lnSpc>
              <a:spcAft>
                <a:spcPts val="400"/>
              </a:spcAft>
            </a:pPr>
            <a:r>
              <a:rPr sz="950" b="0" i="0">
                <a:solidFill>
                  <a:srgbClr val="434343"/>
                </a:solidFill>
                <a:latin typeface="Inter"/>
              </a:rPr>
              <a:t>Job yang gagal tidak tercatat di mana pun, dan tidak ada data untuk menjalankannya ulang.</a:t>
            </a:r>
          </a:p>
          <a:p>
            <a:pPr algn="l">
              <a:lnSpc>
                <a:spcPct val="115000"/>
              </a:lnSpc>
              <a:spcAft>
                <a:spcPts val="400"/>
              </a:spcAft>
            </a:pPr>
            <a:r>
              <a:rPr sz="950" b="0" i="0">
                <a:solidFill>
                  <a:srgbClr val="434343"/>
                </a:solidFill>
                <a:latin typeface="Inter"/>
              </a:rPr>
              <a:t>Hal ini membuat kegagalan baru disadari setelah customer komplain.</a:t>
            </a:r>
          </a:p>
          <a:p>
            <a:pPr algn="l">
              <a:lnSpc>
                <a:spcPct val="115000"/>
              </a:lnSpc>
              <a:spcAft>
                <a:spcPts val="400"/>
              </a:spcAft>
            </a:pPr>
            <a:r>
              <a:rPr sz="1050" b="1" i="0">
                <a:solidFill>
                  <a:srgbClr val="1C4587"/>
                </a:solidFill>
                <a:latin typeface="Inter"/>
              </a:rPr>
              <a:t>Yang dipakai dari Celery: base class Task</a:t>
            </a:r>
          </a:p>
          <a:p>
            <a:pPr algn="l">
              <a:lnSpc>
                <a:spcPct val="115000"/>
              </a:lnSpc>
              <a:spcAft>
                <a:spcPts val="400"/>
              </a:spcAft>
            </a:pPr>
            <a:r>
              <a:rPr sz="950" b="0" i="0">
                <a:solidFill>
                  <a:srgbClr val="434343"/>
                </a:solidFill>
                <a:latin typeface="Inter"/>
              </a:rPr>
              <a:t>Task bisa memakai class turunan </a:t>
            </a:r>
            <a:r>
              <a:rPr sz="950" b="0" i="0">
                <a:solidFill>
                  <a:srgbClr val="B5482A"/>
                </a:solidFill>
                <a:latin typeface="Inconsolata"/>
              </a:rPr>
              <a:t>Task</a:t>
            </a:r>
            <a:r>
              <a:rPr sz="950" b="0" i="0">
                <a:solidFill>
                  <a:srgbClr val="434343"/>
                </a:solidFill>
                <a:latin typeface="Inter"/>
              </a:rPr>
              <a:t>. Celery otomatis memanggil </a:t>
            </a:r>
            <a:r>
              <a:rPr sz="950" b="0" i="0">
                <a:solidFill>
                  <a:srgbClr val="B5482A"/>
                </a:solidFill>
                <a:latin typeface="Inconsolata"/>
              </a:rPr>
              <a:t>on_retry</a:t>
            </a:r>
            <a:r>
              <a:rPr sz="950" b="0" i="0">
                <a:solidFill>
                  <a:srgbClr val="434343"/>
                </a:solidFill>
                <a:latin typeface="Inter"/>
              </a:rPr>
              <a:t> setiap kali retry, dan </a:t>
            </a:r>
            <a:r>
              <a:rPr sz="950" b="0" i="0">
                <a:solidFill>
                  <a:srgbClr val="B5482A"/>
                </a:solidFill>
                <a:latin typeface="Inconsolata"/>
              </a:rPr>
              <a:t>on_failure</a:t>
            </a:r>
            <a:r>
              <a:rPr sz="950" b="0" i="0">
                <a:solidFill>
                  <a:srgbClr val="434343"/>
                </a:solidFill>
                <a:latin typeface="Inter"/>
              </a:rPr>
              <a:t> saat task gagal permanen.</a:t>
            </a:r>
          </a:p>
        </p:txBody>
      </p:sp>
      <p:graphicFrame>
        <p:nvGraphicFramePr>
          <p:cNvPr id="23" name="Table 4"/>
          <p:cNvGraphicFramePr>
            <a:graphicFrameLocks noGrp="1"/>
          </p:cNvGraphicFramePr>
          <p:nvPr/>
        </p:nvGraphicFramePr>
        <p:xfrm>
          <a:off x="4800600" y="1481328"/>
          <a:ext cx="3685032" cy="2286000"/>
        </p:xfrm>
        <a:graphic>
          <a:graphicData uri="http://schemas.openxmlformats.org/drawingml/2006/table">
            <a:tbl>
              <a:tblPr firstRow="1" bandRow="1"/>
              <a:tblGrid>
                <a:gridCol w="2176272">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class AlertingTask(Task)</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Base class untuk task</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on_retry(...)</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Dipanggil setiap kali task di-retry</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on_failure(...)</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Dipanggil saat task gagal permanen</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850" b="1" i="0">
                          <a:solidFill>
                            <a:srgbClr val="1C4587"/>
                          </a:solidFill>
                          <a:latin typeface="Inter"/>
                        </a:rPr>
                        <a:t>@celery_app.task(base=AlertingTask)</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Task memakai base class ini</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Failure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error hanya di-print</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07-failure-handling/before.py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11  </a:t>
            </a:r>
            <a:r>
              <a:rPr sz="760" i="0">
                <a:solidFill>
                  <a:srgbClr val="FF8E6E"/>
                </a:solidFill>
                <a:latin typeface="Inconsolata"/>
              </a:rPr>
              <a:t>from</a:t>
            </a:r>
            <a:r>
              <a:rPr sz="760" i="0">
                <a:solidFill>
                  <a:srgbClr val="E6EDF3"/>
                </a:solidFill>
                <a:latin typeface="Inconsolata"/>
              </a:rPr>
              <a:t> celery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Celery</a:t>
            </a:r>
          </a:p>
          <a:p>
            <a:pPr>
              <a:lnSpc>
                <a:spcPct val="109601"/>
              </a:lnSpc>
              <a:spcAft>
                <a:spcPts val="0"/>
              </a:spcAft>
            </a:pPr>
            <a:r>
              <a:rPr sz="760" i="0">
                <a:solidFill>
                  <a:srgbClr val="5C6773"/>
                </a:solidFill>
                <a:latin typeface="Inconsolata"/>
              </a:rPr>
              <a:t>12  </a:t>
            </a:r>
            <a:r>
              <a:rPr sz="760" i="0">
                <a:solidFill>
                  <a:srgbClr val="E6EDF3"/>
                </a:solidFill>
                <a:latin typeface="Inconsolata"/>
              </a:rPr>
              <a:t> </a:t>
            </a:r>
          </a:p>
          <a:p>
            <a:pPr>
              <a:lnSpc>
                <a:spcPct val="109601"/>
              </a:lnSpc>
              <a:spcAft>
                <a:spcPts val="0"/>
              </a:spcAft>
            </a:pPr>
            <a:r>
              <a:rPr sz="760" i="0">
                <a:solidFill>
                  <a:srgbClr val="5C6773"/>
                </a:solidFill>
                <a:latin typeface="Inconsolata"/>
              </a:rPr>
              <a:t>13  </a:t>
            </a:r>
            <a:r>
              <a:rPr sz="760" i="0">
                <a:solidFill>
                  <a:srgbClr val="E6EDF3"/>
                </a:solidFill>
                <a:latin typeface="Inconsolata"/>
              </a:rPr>
              <a:t>celery_app = </a:t>
            </a:r>
            <a:r>
              <a:rPr sz="760" i="0">
                <a:solidFill>
                  <a:srgbClr val="7FDBCA"/>
                </a:solidFill>
                <a:latin typeface="Inconsolata"/>
              </a:rPr>
              <a:t>Celery</a:t>
            </a:r>
            <a:r>
              <a:rPr sz="760" i="0">
                <a:solidFill>
                  <a:srgbClr val="E6EDF3"/>
                </a:solidFill>
                <a:latin typeface="Inconsolata"/>
              </a:rPr>
              <a:t>(</a:t>
            </a:r>
            <a:r>
              <a:rPr sz="760" i="0">
                <a:solidFill>
                  <a:srgbClr val="A5D6A7"/>
                </a:solidFill>
                <a:latin typeface="Inconsolata"/>
              </a:rPr>
              <a:t>"demo"</a:t>
            </a:r>
            <a:r>
              <a:rPr sz="760" i="0">
                <a:solidFill>
                  <a:srgbClr val="E6EDF3"/>
                </a:solidFill>
                <a:latin typeface="Inconsolata"/>
              </a:rPr>
              <a:t>,</a:t>
            </a:r>
          </a:p>
          <a:p>
            <a:pPr>
              <a:lnSpc>
                <a:spcPct val="109601"/>
              </a:lnSpc>
              <a:spcAft>
                <a:spcPts val="0"/>
              </a:spcAft>
            </a:pPr>
            <a:r>
              <a:rPr sz="760" i="0">
                <a:solidFill>
                  <a:srgbClr val="5C6773"/>
                </a:solidFill>
                <a:latin typeface="Inconsolata"/>
              </a:rPr>
              <a:t>14  </a:t>
            </a:r>
            <a:r>
              <a:rPr sz="760" i="0">
                <a:solidFill>
                  <a:srgbClr val="E6EDF3"/>
                </a:solidFill>
                <a:latin typeface="Inconsolata"/>
              </a:rPr>
              <a:t>                    broker=</a:t>
            </a:r>
            <a:r>
              <a:rPr sz="760" i="0">
                <a:solidFill>
                  <a:srgbClr val="A5D6A7"/>
                </a:solidFill>
                <a:latin typeface="Inconsolata"/>
              </a:rPr>
              <a:t>"redis://localhost:6379/0"</a:t>
            </a:r>
            <a:r>
              <a:rPr sz="760" i="0">
                <a:solidFill>
                  <a:srgbClr val="E6EDF3"/>
                </a:solidFill>
                <a:latin typeface="Inconsolata"/>
              </a:rPr>
              <a:t>,</a:t>
            </a:r>
          </a:p>
          <a:p>
            <a:pPr>
              <a:lnSpc>
                <a:spcPct val="109601"/>
              </a:lnSpc>
              <a:spcAft>
                <a:spcPts val="0"/>
              </a:spcAft>
            </a:pPr>
            <a:r>
              <a:rPr sz="760" i="0">
                <a:solidFill>
                  <a:srgbClr val="5C6773"/>
                </a:solidFill>
                <a:latin typeface="Inconsolata"/>
              </a:rPr>
              <a:t>15  </a:t>
            </a:r>
            <a:r>
              <a:rPr sz="760" i="0">
                <a:solidFill>
                  <a:srgbClr val="E6EDF3"/>
                </a:solidFill>
                <a:latin typeface="Inconsolata"/>
              </a:rPr>
              <a:t>                    backend=</a:t>
            </a:r>
            <a:r>
              <a:rPr sz="760" i="0">
                <a:solidFill>
                  <a:srgbClr val="A5D6A7"/>
                </a:solidFill>
                <a:latin typeface="Inconsolata"/>
              </a:rPr>
              <a:t>"redis://localhost:6379/1"</a:t>
            </a:r>
            <a:r>
              <a:rPr sz="760" i="0">
                <a:solidFill>
                  <a:srgbClr val="E6EDF3"/>
                </a:solidFill>
                <a:latin typeface="Inconsolata"/>
              </a:rPr>
              <a:t>)</a:t>
            </a:r>
          </a:p>
          <a:p>
            <a:pPr>
              <a:lnSpc>
                <a:spcPct val="109601"/>
              </a:lnSpc>
              <a:spcAft>
                <a:spcPts val="0"/>
              </a:spcAft>
            </a:pPr>
            <a:r>
              <a:rPr sz="760" i="0">
                <a:solidFill>
                  <a:srgbClr val="5C6773"/>
                </a:solidFill>
                <a:latin typeface="Inconsolata"/>
              </a:rPr>
              <a:t>16  </a:t>
            </a:r>
            <a:r>
              <a:rPr sz="760" i="0">
                <a:solidFill>
                  <a:srgbClr val="E6EDF3"/>
                </a:solidFill>
                <a:latin typeface="Inconsolata"/>
              </a:rPr>
              <a:t> </a:t>
            </a:r>
          </a:p>
          <a:p>
            <a:pPr>
              <a:lnSpc>
                <a:spcPct val="109601"/>
              </a:lnSpc>
              <a:spcAft>
                <a:spcPts val="0"/>
              </a:spcAft>
            </a:pPr>
            <a:r>
              <a:rPr sz="760" i="0">
                <a:solidFill>
                  <a:srgbClr val="5C6773"/>
                </a:solidFill>
                <a:latin typeface="Inconsolata"/>
              </a:rPr>
              <a:t>17  </a:t>
            </a:r>
            <a:r>
              <a:rPr sz="760" i="0">
                <a:solidFill>
                  <a:srgbClr val="E6EDF3"/>
                </a:solidFill>
                <a:latin typeface="Inconsolata"/>
              </a:rPr>
              <a:t> </a:t>
            </a:r>
          </a:p>
          <a:p>
            <a:pPr>
              <a:lnSpc>
                <a:spcPct val="109601"/>
              </a:lnSpc>
              <a:spcAft>
                <a:spcPts val="0"/>
              </a:spcAft>
            </a:pPr>
            <a:r>
              <a:rPr sz="760" i="0">
                <a:solidFill>
                  <a:srgbClr val="5C6773"/>
                </a:solidFill>
                <a:latin typeface="Inconsolata"/>
              </a:rPr>
              <a:t>18  </a:t>
            </a:r>
            <a:r>
              <a:rPr sz="760" i="0">
                <a:solidFill>
                  <a:srgbClr val="FF8E6E"/>
                </a:solidFill>
                <a:latin typeface="Inconsolata"/>
              </a:rPr>
              <a:t>class</a:t>
            </a:r>
            <a:r>
              <a:rPr sz="760" i="0">
                <a:solidFill>
                  <a:srgbClr val="E6EDF3"/>
                </a:solidFill>
                <a:latin typeface="Inconsolata"/>
              </a:rPr>
              <a:t> </a:t>
            </a:r>
            <a:r>
              <a:rPr sz="760" i="0">
                <a:solidFill>
                  <a:srgbClr val="7FDBCA"/>
                </a:solidFill>
                <a:latin typeface="Inconsolata"/>
              </a:rPr>
              <a:t>EmailServiceDown</a:t>
            </a:r>
            <a:r>
              <a:rPr sz="760" i="0">
                <a:solidFill>
                  <a:srgbClr val="E6EDF3"/>
                </a:solidFill>
                <a:latin typeface="Inconsolata"/>
              </a:rPr>
              <a:t>(</a:t>
            </a:r>
            <a:r>
              <a:rPr sz="760" i="0">
                <a:solidFill>
                  <a:srgbClr val="7FDBCA"/>
                </a:solidFill>
                <a:latin typeface="Inconsolata"/>
              </a:rPr>
              <a:t>Exception</a:t>
            </a:r>
            <a:r>
              <a:rPr sz="760" i="0">
                <a:solidFill>
                  <a:srgbClr val="E6EDF3"/>
                </a:solidFill>
                <a:latin typeface="Inconsolata"/>
              </a:rPr>
              <a:t>):</a:t>
            </a:r>
          </a:p>
          <a:p>
            <a:pPr>
              <a:lnSpc>
                <a:spcPct val="109601"/>
              </a:lnSpc>
              <a:spcAft>
                <a:spcPts val="0"/>
              </a:spcAft>
            </a:pPr>
            <a:r>
              <a:rPr sz="760" i="0">
                <a:solidFill>
                  <a:srgbClr val="5C6773"/>
                </a:solidFill>
                <a:latin typeface="Inconsolata"/>
              </a:rPr>
              <a:t>19  </a:t>
            </a:r>
            <a:r>
              <a:rPr sz="760" i="0">
                <a:solidFill>
                  <a:srgbClr val="E6EDF3"/>
                </a:solidFill>
                <a:latin typeface="Inconsolata"/>
              </a:rPr>
              <a:t>    </a:t>
            </a:r>
            <a:r>
              <a:rPr sz="760" i="0">
                <a:solidFill>
                  <a:srgbClr val="FF8E6E"/>
                </a:solidFill>
                <a:latin typeface="Inconsolata"/>
              </a:rPr>
              <a:t>pass</a:t>
            </a:r>
          </a:p>
          <a:p>
            <a:pPr>
              <a:lnSpc>
                <a:spcPct val="109601"/>
              </a:lnSpc>
              <a:spcAft>
                <a:spcPts val="0"/>
              </a:spcAft>
            </a:pPr>
            <a:r>
              <a:rPr sz="760" i="0">
                <a:solidFill>
                  <a:srgbClr val="5C6773"/>
                </a:solidFill>
                <a:latin typeface="Inconsolata"/>
              </a:rPr>
              <a:t>20  </a:t>
            </a:r>
            <a:r>
              <a:rPr sz="760" i="0">
                <a:solidFill>
                  <a:srgbClr val="E6EDF3"/>
                </a:solidFill>
                <a:latin typeface="Inconsolata"/>
              </a:rPr>
              <a:t> </a:t>
            </a:r>
          </a:p>
          <a:p>
            <a:pPr>
              <a:lnSpc>
                <a:spcPct val="109601"/>
              </a:lnSpc>
              <a:spcAft>
                <a:spcPts val="0"/>
              </a:spcAft>
            </a:pPr>
            <a:r>
              <a:rPr sz="760" i="0">
                <a:solidFill>
                  <a:srgbClr val="5C6773"/>
                </a:solidFill>
                <a:latin typeface="Inconsolata"/>
              </a:rPr>
              <a:t>21  </a:t>
            </a:r>
            <a:r>
              <a:rPr sz="760" i="0">
                <a:solidFill>
                  <a:srgbClr val="E6EDF3"/>
                </a:solidFill>
                <a:latin typeface="Inconsolata"/>
              </a:rPr>
              <a:t> </a:t>
            </a:r>
          </a:p>
          <a:p>
            <a:pPr>
              <a:lnSpc>
                <a:spcPct val="109601"/>
              </a:lnSpc>
              <a:spcAft>
                <a:spcPts val="0"/>
              </a:spcAft>
            </a:pPr>
            <a:r>
              <a:rPr sz="760" i="0">
                <a:solidFill>
                  <a:srgbClr val="5C6773"/>
                </a:solidFill>
                <a:latin typeface="Inconsolata"/>
              </a:rPr>
              <a:t>22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send_email</a:t>
            </a:r>
            <a:r>
              <a:rPr sz="760" i="0">
                <a:solidFill>
                  <a:srgbClr val="E6EDF3"/>
                </a:solidFill>
                <a:latin typeface="Inconsolata"/>
              </a:rPr>
              <a:t>(to: </a:t>
            </a:r>
            <a:r>
              <a:rPr sz="760" i="0">
                <a:solidFill>
                  <a:srgbClr val="C3A6FF"/>
                </a:solidFill>
                <a:latin typeface="Inconsolata"/>
              </a:rPr>
              <a:t>str</a:t>
            </a:r>
            <a:r>
              <a:rPr sz="760" i="0">
                <a:solidFill>
                  <a:srgbClr val="E6EDF3"/>
                </a:solidFill>
                <a:latin typeface="Inconsolata"/>
              </a:rPr>
              <a:t>, message: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23  </a:t>
            </a:r>
            <a:r>
              <a:rPr sz="760" i="0">
                <a:solidFill>
                  <a:srgbClr val="E6EDF3"/>
                </a:solidFill>
                <a:latin typeface="Inconsolata"/>
              </a:rPr>
              <a:t>    </a:t>
            </a:r>
            <a:r>
              <a:rPr sz="760" i="0">
                <a:solidFill>
                  <a:srgbClr val="FF8E6E"/>
                </a:solidFill>
                <a:latin typeface="Inconsolata"/>
              </a:rPr>
              <a:t>raise</a:t>
            </a:r>
            <a:r>
              <a:rPr sz="760" i="0">
                <a:solidFill>
                  <a:srgbClr val="E6EDF3"/>
                </a:solidFill>
                <a:latin typeface="Inconsolata"/>
              </a:rPr>
              <a:t> </a:t>
            </a:r>
            <a:r>
              <a:rPr sz="760" i="0">
                <a:solidFill>
                  <a:srgbClr val="7FDBCA"/>
                </a:solidFill>
                <a:latin typeface="Inconsolata"/>
              </a:rPr>
              <a:t>EmailServiceDown</a:t>
            </a:r>
            <a:r>
              <a:rPr sz="760" i="0">
                <a:solidFill>
                  <a:srgbClr val="E6EDF3"/>
                </a:solidFill>
                <a:latin typeface="Inconsolata"/>
              </a:rPr>
              <a:t>(</a:t>
            </a:r>
            <a:r>
              <a:rPr sz="760" i="0">
                <a:solidFill>
                  <a:srgbClr val="A5D6A7"/>
                </a:solidFill>
                <a:latin typeface="Inconsolata"/>
              </a:rPr>
              <a:t>"Server email tidak bisa dihubungi"</a:t>
            </a:r>
            <a:r>
              <a:rPr sz="760"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07-failure-handling/before.py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26  </a:t>
            </a:r>
            <a:r>
              <a:rPr sz="760" i="0">
                <a:solidFill>
                  <a:srgbClr val="F9C97A"/>
                </a:solidFill>
                <a:latin typeface="Inconsolata"/>
              </a:rPr>
              <a:t>@celery_app.task</a:t>
            </a:r>
            <a:r>
              <a:rPr sz="760" i="0">
                <a:solidFill>
                  <a:srgbClr val="E6EDF3"/>
                </a:solidFill>
                <a:latin typeface="Inconsolata"/>
              </a:rPr>
              <a:t>(autoretry_for=(</a:t>
            </a:r>
            <a:r>
              <a:rPr sz="760" i="0">
                <a:solidFill>
                  <a:srgbClr val="7FDBCA"/>
                </a:solidFill>
                <a:latin typeface="Inconsolata"/>
              </a:rPr>
              <a:t>EmailServiceDown</a:t>
            </a:r>
            <a:r>
              <a:rPr sz="760" i="0">
                <a:solidFill>
                  <a:srgbClr val="E6EDF3"/>
                </a:solidFill>
                <a:latin typeface="Inconsolata"/>
              </a:rPr>
              <a:t>,), max_retries=</a:t>
            </a:r>
            <a:r>
              <a:rPr sz="760" i="0">
                <a:solidFill>
                  <a:srgbClr val="F9C97A"/>
                </a:solidFill>
                <a:latin typeface="Inconsolata"/>
              </a:rPr>
              <a:t>3</a:t>
            </a:r>
            <a:r>
              <a:rPr sz="760" i="0">
                <a:solidFill>
                  <a:srgbClr val="E6EDF3"/>
                </a:solidFill>
                <a:latin typeface="Inconsolata"/>
              </a:rPr>
              <a:t>)</a:t>
            </a:r>
          </a:p>
          <a:p>
            <a:pPr>
              <a:lnSpc>
                <a:spcPct val="109601"/>
              </a:lnSpc>
              <a:spcAft>
                <a:spcPts val="0"/>
              </a:spcAft>
            </a:pPr>
            <a:r>
              <a:rPr sz="760" i="0">
                <a:solidFill>
                  <a:srgbClr val="5C6773"/>
                </a:solidFill>
                <a:latin typeface="Inconsolata"/>
              </a:rPr>
              <a:t>27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send_order_email</a:t>
            </a:r>
            <a:r>
              <a:rPr sz="760" i="0">
                <a:solidFill>
                  <a:srgbClr val="E6EDF3"/>
                </a:solidFill>
                <a:latin typeface="Inconsolata"/>
              </a:rPr>
              <a:t>(to: </a:t>
            </a:r>
            <a:r>
              <a:rPr sz="760" i="0">
                <a:solidFill>
                  <a:srgbClr val="C3A6FF"/>
                </a:solidFill>
                <a:latin typeface="Inconsolata"/>
              </a:rPr>
              <a:t>str</a:t>
            </a:r>
            <a:r>
              <a:rPr sz="760" i="0">
                <a:solidFill>
                  <a:srgbClr val="E6EDF3"/>
                </a:solidFill>
                <a:latin typeface="Inconsolata"/>
              </a:rPr>
              <a:t>, message: </a:t>
            </a:r>
            <a:r>
              <a:rPr sz="760" i="0">
                <a:solidFill>
                  <a:srgbClr val="C3A6FF"/>
                </a:solidFill>
                <a:latin typeface="Inconsolata"/>
              </a:rPr>
              <a:t>str</a:t>
            </a:r>
            <a:r>
              <a:rPr sz="760" i="0">
                <a:solidFill>
                  <a:srgbClr val="E6EDF3"/>
                </a:solidFill>
                <a:latin typeface="Inconsolata"/>
              </a:rPr>
              <a:t>)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28  </a:t>
            </a:r>
            <a:r>
              <a:rPr sz="760" i="0">
                <a:solidFill>
                  <a:srgbClr val="E6EDF3"/>
                </a:solidFill>
                <a:latin typeface="Inconsolata"/>
              </a:rPr>
              <a:t>    </a:t>
            </a:r>
            <a:r>
              <a:rPr sz="760" i="0">
                <a:solidFill>
                  <a:srgbClr val="FF8E6E"/>
                </a:solidFill>
                <a:latin typeface="Inconsolata"/>
              </a:rPr>
              <a:t>try</a:t>
            </a:r>
            <a:r>
              <a:rPr sz="760" i="0">
                <a:solidFill>
                  <a:srgbClr val="E6EDF3"/>
                </a:solidFill>
                <a:latin typeface="Inconsolata"/>
              </a:rPr>
              <a:t>:</a:t>
            </a:r>
          </a:p>
          <a:p>
            <a:pPr>
              <a:lnSpc>
                <a:spcPct val="109601"/>
              </a:lnSpc>
              <a:spcAft>
                <a:spcPts val="0"/>
              </a:spcAft>
            </a:pPr>
            <a:r>
              <a:rPr sz="760" i="0">
                <a:solidFill>
                  <a:srgbClr val="5C6773"/>
                </a:solidFill>
                <a:latin typeface="Inconsolata"/>
              </a:rPr>
              <a:t>29  </a:t>
            </a:r>
            <a:r>
              <a:rPr sz="760" i="0">
                <a:solidFill>
                  <a:srgbClr val="E6EDF3"/>
                </a:solidFill>
                <a:latin typeface="Inconsolata"/>
              </a:rPr>
              <a:t>        send_email(to, message)</a:t>
            </a:r>
          </a:p>
          <a:p>
            <a:pPr>
              <a:lnSpc>
                <a:spcPct val="109601"/>
              </a:lnSpc>
              <a:spcAft>
                <a:spcPts val="0"/>
              </a:spcAft>
            </a:pPr>
            <a:r>
              <a:rPr sz="760" i="0">
                <a:solidFill>
                  <a:srgbClr val="5C6773"/>
                </a:solidFill>
                <a:latin typeface="Inconsolata"/>
              </a:rPr>
              <a:t>30  </a:t>
            </a:r>
            <a:r>
              <a:rPr sz="760" i="0">
                <a:solidFill>
                  <a:srgbClr val="E6EDF3"/>
                </a:solidFill>
                <a:latin typeface="Inconsolata"/>
              </a:rPr>
              <a:t>    </a:t>
            </a:r>
            <a:r>
              <a:rPr sz="760" i="0">
                <a:solidFill>
                  <a:srgbClr val="FF8E6E"/>
                </a:solidFill>
                <a:latin typeface="Inconsolata"/>
              </a:rPr>
              <a:t>except</a:t>
            </a:r>
            <a:r>
              <a:rPr sz="760" i="0">
                <a:solidFill>
                  <a:srgbClr val="E6EDF3"/>
                </a:solidFill>
                <a:latin typeface="Inconsolata"/>
              </a:rPr>
              <a:t> </a:t>
            </a:r>
            <a:r>
              <a:rPr sz="760" i="0">
                <a:solidFill>
                  <a:srgbClr val="7FDBCA"/>
                </a:solidFill>
                <a:latin typeface="Inconsolata"/>
              </a:rPr>
              <a:t>Exception</a:t>
            </a:r>
            <a:r>
              <a:rPr sz="760" i="0">
                <a:solidFill>
                  <a:srgbClr val="E6EDF3"/>
                </a:solidFill>
                <a:latin typeface="Inconsolata"/>
              </a:rPr>
              <a:t> </a:t>
            </a:r>
            <a:r>
              <a:rPr sz="760" i="0">
                <a:solidFill>
                  <a:srgbClr val="FF8E6E"/>
                </a:solidFill>
                <a:latin typeface="Inconsolata"/>
              </a:rPr>
              <a:t>as</a:t>
            </a:r>
            <a:r>
              <a:rPr sz="760" i="0">
                <a:solidFill>
                  <a:srgbClr val="E6EDF3"/>
                </a:solidFill>
                <a:latin typeface="Inconsolata"/>
              </a:rPr>
              <a:t> e:</a:t>
            </a:r>
          </a:p>
          <a:p>
            <a:pPr>
              <a:lnSpc>
                <a:spcPct val="109601"/>
              </a:lnSpc>
              <a:spcAft>
                <a:spcPts val="0"/>
              </a:spcAft>
            </a:pPr>
            <a:r>
              <a:rPr sz="760" i="0">
                <a:solidFill>
                  <a:srgbClr val="5C6773"/>
                </a:solidFill>
                <a:latin typeface="Inconsolata"/>
              </a:rPr>
              <a:t>31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"error:"</a:t>
            </a:r>
            <a:r>
              <a:rPr sz="760" i="0">
                <a:solidFill>
                  <a:srgbClr val="E6EDF3"/>
                </a:solidFill>
                <a:latin typeface="Inconsolata"/>
              </a:rPr>
              <a:t>, e)        </a:t>
            </a:r>
            <a:r>
              <a:rPr sz="760" i="1">
                <a:solidFill>
                  <a:srgbClr val="8B98A8"/>
                </a:solidFill>
                <a:latin typeface="Inconsolata"/>
              </a:rPr>
              <a:t># error hanya di-print</a:t>
            </a:r>
          </a:p>
          <a:p>
            <a:pPr>
              <a:lnSpc>
                <a:spcPct val="109601"/>
              </a:lnSpc>
              <a:spcAft>
                <a:spcPts val="0"/>
              </a:spcAft>
            </a:pPr>
            <a:r>
              <a:rPr sz="760" i="0">
                <a:solidFill>
                  <a:srgbClr val="5C6773"/>
                </a:solidFill>
                <a:latin typeface="Inconsolata"/>
              </a:rPr>
              <a:t>32  </a:t>
            </a:r>
            <a:r>
              <a:rPr sz="760" i="0">
                <a:solidFill>
                  <a:srgbClr val="E6EDF3"/>
                </a:solidFill>
                <a:latin typeface="Inconsolata"/>
              </a:rPr>
              <a:t> </a:t>
            </a:r>
          </a:p>
          <a:p>
            <a:pPr>
              <a:lnSpc>
                <a:spcPct val="109601"/>
              </a:lnSpc>
              <a:spcAft>
                <a:spcPts val="0"/>
              </a:spcAft>
            </a:pPr>
            <a:r>
              <a:rPr sz="760" i="0">
                <a:solidFill>
                  <a:srgbClr val="5C6773"/>
                </a:solidFill>
                <a:latin typeface="Inconsolata"/>
              </a:rPr>
              <a:t>33  </a:t>
            </a:r>
            <a:r>
              <a:rPr sz="760" i="0">
                <a:solidFill>
                  <a:srgbClr val="E6EDF3"/>
                </a:solidFill>
                <a:latin typeface="Inconsolata"/>
              </a:rPr>
              <a:t> </a:t>
            </a:r>
          </a:p>
          <a:p>
            <a:pPr>
              <a:lnSpc>
                <a:spcPct val="109601"/>
              </a:lnSpc>
              <a:spcAft>
                <a:spcPts val="0"/>
              </a:spcAft>
            </a:pPr>
            <a:r>
              <a:rPr sz="760" i="0">
                <a:solidFill>
                  <a:srgbClr val="5C6773"/>
                </a:solidFill>
                <a:latin typeface="Inconsolata"/>
              </a:rPr>
              <a:t>34  </a:t>
            </a:r>
            <a:r>
              <a:rPr sz="760" i="0">
                <a:solidFill>
                  <a:srgbClr val="FF8E6E"/>
                </a:solidFill>
                <a:latin typeface="Inconsolata"/>
              </a:rPr>
              <a:t>if</a:t>
            </a:r>
            <a:r>
              <a:rPr sz="760" i="0">
                <a:solidFill>
                  <a:srgbClr val="E6EDF3"/>
                </a:solidFill>
                <a:latin typeface="Inconsolata"/>
              </a:rPr>
              <a:t> __name__ == </a:t>
            </a:r>
            <a:r>
              <a:rPr sz="760" i="0">
                <a:solidFill>
                  <a:srgbClr val="A5D6A7"/>
                </a:solidFill>
                <a:latin typeface="Inconsolata"/>
              </a:rPr>
              <a:t>"__main__"</a:t>
            </a:r>
            <a:r>
              <a:rPr sz="760" i="0">
                <a:solidFill>
                  <a:srgbClr val="E6EDF3"/>
                </a:solidFill>
                <a:latin typeface="Inconsolata"/>
              </a:rPr>
              <a:t>:</a:t>
            </a:r>
          </a:p>
          <a:p>
            <a:pPr>
              <a:lnSpc>
                <a:spcPct val="109601"/>
              </a:lnSpc>
              <a:spcAft>
                <a:spcPts val="0"/>
              </a:spcAft>
            </a:pPr>
            <a:r>
              <a:rPr sz="760" i="0">
                <a:solidFill>
                  <a:srgbClr val="5C6773"/>
                </a:solidFill>
                <a:latin typeface="Inconsolata"/>
              </a:rPr>
              <a:t>35  </a:t>
            </a:r>
            <a:r>
              <a:rPr sz="760" i="0">
                <a:solidFill>
                  <a:srgbClr val="E6EDF3"/>
                </a:solidFill>
                <a:latin typeface="Inconsolata"/>
              </a:rPr>
              <a:t>    celery_app.conf.task_always_eager = </a:t>
            </a:r>
            <a:r>
              <a:rPr sz="760" i="0">
                <a:solidFill>
                  <a:srgbClr val="FF8E6E"/>
                </a:solidFill>
                <a:latin typeface="Inconsolata"/>
              </a:rPr>
              <a:t>True</a:t>
            </a:r>
          </a:p>
          <a:p>
            <a:pPr>
              <a:lnSpc>
                <a:spcPct val="109601"/>
              </a:lnSpc>
              <a:spcAft>
                <a:spcPts val="0"/>
              </a:spcAft>
            </a:pPr>
            <a:r>
              <a:rPr sz="760" i="0">
                <a:solidFill>
                  <a:srgbClr val="5C6773"/>
                </a:solidFill>
                <a:latin typeface="Inconsolata"/>
              </a:rPr>
              <a:t>36  </a:t>
            </a:r>
            <a:r>
              <a:rPr sz="760" i="0">
                <a:solidFill>
                  <a:srgbClr val="E6EDF3"/>
                </a:solidFill>
                <a:latin typeface="Inconsolata"/>
              </a:rPr>
              <a:t>    result = send_order_email.delay(</a:t>
            </a:r>
            <a:r>
              <a:rPr sz="760" i="0">
                <a:solidFill>
                  <a:srgbClr val="A5D6A7"/>
                </a:solidFill>
                <a:latin typeface="Inconsolata"/>
              </a:rPr>
              <a:t>"budi@mail.com"</a:t>
            </a:r>
            <a:r>
              <a:rPr sz="760" i="0">
                <a:solidFill>
                  <a:srgbClr val="E6EDF3"/>
                </a:solidFill>
                <a:latin typeface="Inconsolata"/>
              </a:rPr>
              <a:t>,</a:t>
            </a:r>
          </a:p>
          <a:p>
            <a:pPr>
              <a:lnSpc>
                <a:spcPct val="109601"/>
              </a:lnSpc>
              <a:spcAft>
                <a:spcPts val="0"/>
              </a:spcAft>
            </a:pPr>
            <a:r>
              <a:rPr sz="760" i="0">
                <a:solidFill>
                  <a:srgbClr val="5C6773"/>
                </a:solidFill>
                <a:latin typeface="Inconsolata"/>
              </a:rPr>
              <a:t>37  </a:t>
            </a:r>
            <a:r>
              <a:rPr sz="760" i="0">
                <a:solidFill>
                  <a:srgbClr val="E6EDF3"/>
                </a:solidFill>
                <a:latin typeface="Inconsolata"/>
              </a:rPr>
              <a:t>                                    </a:t>
            </a:r>
            <a:r>
              <a:rPr sz="760" i="0">
                <a:solidFill>
                  <a:srgbClr val="A5D6A7"/>
                </a:solidFill>
                <a:latin typeface="Inconsolata"/>
              </a:rPr>
              <a:t>"Order #1 berhasil"</a:t>
            </a:r>
            <a:r>
              <a:rPr sz="760" i="0">
                <a:solidFill>
                  <a:srgbClr val="E6EDF3"/>
                </a:solidFill>
                <a:latin typeface="Inconsolata"/>
              </a:rPr>
              <a:t>)</a:t>
            </a:r>
          </a:p>
          <a:p>
            <a:pPr>
              <a:lnSpc>
                <a:spcPct val="109601"/>
              </a:lnSpc>
              <a:spcAft>
                <a:spcPts val="0"/>
              </a:spcAft>
            </a:pPr>
            <a:r>
              <a:rPr sz="760" i="0">
                <a:solidFill>
                  <a:srgbClr val="5C6773"/>
                </a:solidFill>
                <a:latin typeface="Inconsolata"/>
              </a:rPr>
              <a:t>38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"Status:"</a:t>
            </a:r>
            <a:r>
              <a:rPr sz="760" i="0">
                <a:solidFill>
                  <a:srgbClr val="E6EDF3"/>
                </a:solidFill>
                <a:latin typeface="Inconsolata"/>
              </a:rPr>
              <a:t>, result.state)    </a:t>
            </a:r>
            <a:r>
              <a:rPr sz="760" i="1">
                <a:solidFill>
                  <a:srgbClr val="8B98A8"/>
                </a:solidFill>
                <a:latin typeface="Inconsolata"/>
              </a:rPr>
              <a:t># SUCCESS, padahal gagal</a:t>
            </a:r>
          </a:p>
        </p:txBody>
      </p:sp>
      <p:sp>
        <p:nvSpPr>
          <p:cNvPr id="36" name="Box 21"/>
          <p:cNvSpPr/>
          <p:nvPr/>
        </p:nvSpPr>
        <p:spPr>
          <a:xfrm>
            <a:off x="704088" y="3351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291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2335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339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1827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1767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Failure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07-failure-handling/before.py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sesi-05-async-tasks-celery-redis/07-failure-handling</a:t>
            </a:r>
          </a:p>
          <a:p>
            <a:pPr>
              <a:lnSpc>
                <a:spcPct val="111111"/>
              </a:lnSpc>
              <a:spcAft>
                <a:spcPts val="0"/>
              </a:spcAft>
            </a:pPr>
            <a:r>
              <a:rPr sz="900" i="0">
                <a:solidFill>
                  <a:srgbClr val="82B1FF"/>
                </a:solidFill>
                <a:latin typeface="Inconsolata"/>
              </a:rPr>
              <a:t>$ python before.py</a:t>
            </a:r>
          </a:p>
        </p:txBody>
      </p:sp>
      <p:pic>
        <p:nvPicPr>
          <p:cNvPr id="29" name="Image 12" descr="s05-07-failure-handling-before.png"/>
          <p:cNvPicPr>
            <a:picLocks noChangeAspect="1"/>
          </p:cNvPicPr>
          <p:nvPr/>
        </p:nvPicPr>
        <p:blipFill>
          <a:blip r:embed="rId2"/>
          <a:stretch>
            <a:fillRect/>
          </a:stretch>
        </p:blipFill>
        <p:spPr>
          <a:xfrm>
            <a:off x="621792" y="2322576"/>
            <a:ext cx="4297680" cy="983508"/>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Server email mati total (baris 23)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Error ditangkap lalu hanya di-print (baris 30-31)</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autoretry_for</a:t>
            </a:r>
            <a:r>
              <a:rPr sz="950" b="0" i="0">
                <a:solidFill>
                  <a:srgbClr val="434343"/>
                </a:solidFill>
                <a:latin typeface="Inter"/>
              </a:rPr>
              <a:t> tidak pernah jalan karena error tidak sampai ke Celery (baris 26)</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Status </a:t>
            </a:r>
            <a:r>
              <a:rPr sz="950" b="0" i="0">
                <a:solidFill>
                  <a:srgbClr val="B5482A"/>
                </a:solidFill>
                <a:latin typeface="Inconsolata"/>
              </a:rPr>
              <a:t>SUCCESS</a:t>
            </a:r>
            <a:r>
              <a:rPr sz="950" b="0" i="0">
                <a:solidFill>
                  <a:srgbClr val="434343"/>
                </a:solidFill>
                <a:latin typeface="Inter"/>
              </a:rPr>
              <a:t>, padahal email tidak terkirim.</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Failure Handling</a:t>
            </a:r>
          </a:p>
        </p:txBody>
      </p:sp>
      <p:sp>
        <p:nvSpPr>
          <p:cNvPr id="21" name="Text 2"/>
          <p:cNvSpPr txBox="1"/>
          <p:nvPr/>
        </p:nvSpPr>
        <p:spPr>
          <a:xfrm>
            <a:off x="621792" y="969264"/>
            <a:ext cx="7863840" cy="530338"/>
          </a:xfrm>
          <a:prstGeom prst="rect">
            <a:avLst/>
          </a:prstGeom>
          <a:noFill/>
        </p:spPr>
        <p:txBody>
          <a:bodyPr wrap="square" tIns="91440" bIns="91440" anchor="t">
            <a:spAutoFit/>
          </a:bodyPr>
          <a:lstStyle/>
          <a:p>
            <a:pPr algn="l">
              <a:lnSpc>
                <a:spcPct val="115000"/>
              </a:lnSpc>
              <a:spcAft>
                <a:spcPts val="400"/>
              </a:spcAft>
            </a:pPr>
            <a:r>
              <a:rPr sz="2100" b="0" i="0" dirty="0">
                <a:solidFill>
                  <a:srgbClr val="1C4587"/>
                </a:solidFill>
                <a:latin typeface="Work Sans ExtraBold"/>
              </a:rPr>
              <a:t>After: </a:t>
            </a:r>
            <a:r>
              <a:rPr sz="2100" b="0" i="0" dirty="0" err="1">
                <a:solidFill>
                  <a:srgbClr val="1C4587"/>
                </a:solidFill>
                <a:latin typeface="Work Sans ExtraBold"/>
              </a:rPr>
              <a:t>gagal</a:t>
            </a:r>
            <a:r>
              <a:rPr sz="2100" b="0" i="0" dirty="0">
                <a:solidFill>
                  <a:srgbClr val="1C4587"/>
                </a:solidFill>
                <a:latin typeface="Work Sans ExtraBold"/>
              </a:rPr>
              <a:t> </a:t>
            </a:r>
            <a:r>
              <a:rPr sz="2100" b="0" i="0" dirty="0" err="1">
                <a:solidFill>
                  <a:srgbClr val="1C4587"/>
                </a:solidFill>
                <a:latin typeface="Work Sans ExtraBold"/>
              </a:rPr>
              <a:t>tercatat</a:t>
            </a:r>
            <a:r>
              <a:rPr sz="2100" b="0" i="0" dirty="0">
                <a:solidFill>
                  <a:srgbClr val="1C4587"/>
                </a:solidFill>
                <a:latin typeface="Work Sans ExtraBold"/>
              </a:rPr>
              <a:t> </a:t>
            </a:r>
            <a:r>
              <a:rPr lang="en-US" sz="2100" dirty="0" err="1">
                <a:solidFill>
                  <a:srgbClr val="1C4587"/>
                </a:solidFill>
                <a:latin typeface="Work Sans ExtraBold"/>
              </a:rPr>
              <a:t>sehingga</a:t>
            </a:r>
            <a:r>
              <a:rPr lang="en-US" sz="2100" dirty="0">
                <a:solidFill>
                  <a:srgbClr val="1C4587"/>
                </a:solidFill>
                <a:latin typeface="Work Sans ExtraBold"/>
              </a:rPr>
              <a:t> </a:t>
            </a:r>
            <a:r>
              <a:rPr lang="en-US" sz="2100" dirty="0" err="1">
                <a:solidFill>
                  <a:srgbClr val="1C4587"/>
                </a:solidFill>
                <a:latin typeface="Work Sans ExtraBold"/>
              </a:rPr>
              <a:t>bisa</a:t>
            </a:r>
            <a:r>
              <a:rPr lang="en-US" sz="2100" dirty="0">
                <a:solidFill>
                  <a:srgbClr val="1C4587"/>
                </a:solidFill>
                <a:latin typeface="Work Sans ExtraBold"/>
              </a:rPr>
              <a:t> </a:t>
            </a:r>
            <a:r>
              <a:rPr lang="en-US" sz="2100" b="0" i="0" dirty="0" err="1">
                <a:solidFill>
                  <a:srgbClr val="1C4587"/>
                </a:solidFill>
                <a:latin typeface="Work Sans ExtraBold"/>
              </a:rPr>
              <a:t>di-</a:t>
            </a:r>
            <a:r>
              <a:rPr lang="en-US" sz="2100" b="0" i="1" dirty="0" err="1">
                <a:solidFill>
                  <a:srgbClr val="1C4587"/>
                </a:solidFill>
                <a:latin typeface="Work Sans ExtraBold"/>
              </a:rPr>
              <a:t>trace</a:t>
            </a:r>
            <a:endParaRPr sz="2100" b="0" i="1" dirty="0">
              <a:solidFill>
                <a:srgbClr val="1C4587"/>
              </a:solidFill>
              <a:latin typeface="Work Sans ExtraBold"/>
            </a:endParaRP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07-failure-handling/after.py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5137"/>
              </a:lnSpc>
              <a:spcAft>
                <a:spcPts val="0"/>
              </a:spcAft>
            </a:pPr>
            <a:r>
              <a:rPr sz="792" i="0">
                <a:solidFill>
                  <a:srgbClr val="5C6773"/>
                </a:solidFill>
                <a:latin typeface="Inconsolata"/>
              </a:rPr>
              <a:t>11  </a:t>
            </a:r>
            <a:r>
              <a:rPr sz="792" i="0">
                <a:solidFill>
                  <a:srgbClr val="FF8E6E"/>
                </a:solidFill>
                <a:latin typeface="Inconsolata"/>
              </a:rPr>
              <a:t>from</a:t>
            </a:r>
            <a:r>
              <a:rPr sz="792" i="0">
                <a:solidFill>
                  <a:srgbClr val="E6EDF3"/>
                </a:solidFill>
                <a:latin typeface="Inconsolata"/>
              </a:rPr>
              <a:t> celery </a:t>
            </a:r>
            <a:r>
              <a:rPr sz="792" i="0">
                <a:solidFill>
                  <a:srgbClr val="FF8E6E"/>
                </a:solidFill>
                <a:latin typeface="Inconsolata"/>
              </a:rPr>
              <a:t>import</a:t>
            </a:r>
            <a:r>
              <a:rPr sz="792" i="0">
                <a:solidFill>
                  <a:srgbClr val="E6EDF3"/>
                </a:solidFill>
                <a:latin typeface="Inconsolata"/>
              </a:rPr>
              <a:t> </a:t>
            </a:r>
            <a:r>
              <a:rPr sz="792" i="0">
                <a:solidFill>
                  <a:srgbClr val="7FDBCA"/>
                </a:solidFill>
                <a:latin typeface="Inconsolata"/>
              </a:rPr>
              <a:t>Celery</a:t>
            </a:r>
            <a:r>
              <a:rPr sz="792" i="0">
                <a:solidFill>
                  <a:srgbClr val="E6EDF3"/>
                </a:solidFill>
                <a:latin typeface="Inconsolata"/>
              </a:rPr>
              <a:t>, </a:t>
            </a:r>
            <a:r>
              <a:rPr sz="792" i="0">
                <a:solidFill>
                  <a:srgbClr val="7FDBCA"/>
                </a:solidFill>
                <a:latin typeface="Inconsolata"/>
              </a:rPr>
              <a:t>Task</a:t>
            </a:r>
          </a:p>
          <a:p>
            <a:pPr>
              <a:lnSpc>
                <a:spcPct val="105137"/>
              </a:lnSpc>
              <a:spcAft>
                <a:spcPts val="0"/>
              </a:spcAft>
            </a:pPr>
            <a:r>
              <a:rPr sz="792" i="0">
                <a:solidFill>
                  <a:srgbClr val="5C6773"/>
                </a:solidFill>
                <a:latin typeface="Inconsolata"/>
              </a:rPr>
              <a:t>12  </a:t>
            </a:r>
            <a:r>
              <a:rPr sz="792" i="0">
                <a:solidFill>
                  <a:srgbClr val="E6EDF3"/>
                </a:solidFill>
                <a:latin typeface="Inconsolata"/>
              </a:rPr>
              <a:t> </a:t>
            </a:r>
          </a:p>
          <a:p>
            <a:pPr>
              <a:lnSpc>
                <a:spcPct val="105137"/>
              </a:lnSpc>
              <a:spcAft>
                <a:spcPts val="0"/>
              </a:spcAft>
            </a:pPr>
            <a:r>
              <a:rPr sz="792" i="0">
                <a:solidFill>
                  <a:srgbClr val="5C6773"/>
                </a:solidFill>
                <a:latin typeface="Inconsolata"/>
              </a:rPr>
              <a:t>13  </a:t>
            </a:r>
            <a:r>
              <a:rPr sz="792" i="0">
                <a:solidFill>
                  <a:srgbClr val="E6EDF3"/>
                </a:solidFill>
                <a:latin typeface="Inconsolata"/>
              </a:rPr>
              <a:t>celery_app = </a:t>
            </a:r>
            <a:r>
              <a:rPr sz="792" i="0">
                <a:solidFill>
                  <a:srgbClr val="7FDBCA"/>
                </a:solidFill>
                <a:latin typeface="Inconsolata"/>
              </a:rPr>
              <a:t>Celery</a:t>
            </a:r>
            <a:r>
              <a:rPr sz="792" i="0">
                <a:solidFill>
                  <a:srgbClr val="E6EDF3"/>
                </a:solidFill>
                <a:latin typeface="Inconsolata"/>
              </a:rPr>
              <a:t>(</a:t>
            </a:r>
            <a:r>
              <a:rPr sz="792" i="0">
                <a:solidFill>
                  <a:srgbClr val="A5D6A7"/>
                </a:solidFill>
                <a:latin typeface="Inconsolata"/>
              </a:rPr>
              <a:t>"demo"</a:t>
            </a:r>
            <a:r>
              <a:rPr sz="792" i="0">
                <a:solidFill>
                  <a:srgbClr val="E6EDF3"/>
                </a:solidFill>
                <a:latin typeface="Inconsolata"/>
              </a:rPr>
              <a:t>,</a:t>
            </a:r>
          </a:p>
          <a:p>
            <a:pPr>
              <a:lnSpc>
                <a:spcPct val="105137"/>
              </a:lnSpc>
              <a:spcAft>
                <a:spcPts val="0"/>
              </a:spcAft>
            </a:pPr>
            <a:r>
              <a:rPr sz="792" i="0">
                <a:solidFill>
                  <a:srgbClr val="5C6773"/>
                </a:solidFill>
                <a:latin typeface="Inconsolata"/>
              </a:rPr>
              <a:t>14  </a:t>
            </a:r>
            <a:r>
              <a:rPr sz="792" i="0">
                <a:solidFill>
                  <a:srgbClr val="E6EDF3"/>
                </a:solidFill>
                <a:latin typeface="Inconsolata"/>
              </a:rPr>
              <a:t>                    broker=</a:t>
            </a:r>
            <a:r>
              <a:rPr sz="792" i="0">
                <a:solidFill>
                  <a:srgbClr val="A5D6A7"/>
                </a:solidFill>
                <a:latin typeface="Inconsolata"/>
              </a:rPr>
              <a:t>"redis://localhost:6379/0"</a:t>
            </a:r>
            <a:r>
              <a:rPr sz="792" i="0">
                <a:solidFill>
                  <a:srgbClr val="E6EDF3"/>
                </a:solidFill>
                <a:latin typeface="Inconsolata"/>
              </a:rPr>
              <a:t>,</a:t>
            </a:r>
          </a:p>
          <a:p>
            <a:pPr>
              <a:lnSpc>
                <a:spcPct val="105137"/>
              </a:lnSpc>
              <a:spcAft>
                <a:spcPts val="0"/>
              </a:spcAft>
            </a:pPr>
            <a:r>
              <a:rPr sz="792" i="0">
                <a:solidFill>
                  <a:srgbClr val="5C6773"/>
                </a:solidFill>
                <a:latin typeface="Inconsolata"/>
              </a:rPr>
              <a:t>15  </a:t>
            </a:r>
            <a:r>
              <a:rPr sz="792" i="0">
                <a:solidFill>
                  <a:srgbClr val="E6EDF3"/>
                </a:solidFill>
                <a:latin typeface="Inconsolata"/>
              </a:rPr>
              <a:t>                    backend=</a:t>
            </a:r>
            <a:r>
              <a:rPr sz="792" i="0">
                <a:solidFill>
                  <a:srgbClr val="A5D6A7"/>
                </a:solidFill>
                <a:latin typeface="Inconsolata"/>
              </a:rPr>
              <a:t>"redis://localhost:6379/1"</a:t>
            </a:r>
            <a:r>
              <a:rPr sz="792" i="0">
                <a:solidFill>
                  <a:srgbClr val="E6EDF3"/>
                </a:solidFill>
                <a:latin typeface="Inconsolata"/>
              </a:rPr>
              <a:t>)</a:t>
            </a:r>
          </a:p>
          <a:p>
            <a:pPr>
              <a:lnSpc>
                <a:spcPct val="105137"/>
              </a:lnSpc>
              <a:spcAft>
                <a:spcPts val="0"/>
              </a:spcAft>
            </a:pPr>
            <a:r>
              <a:rPr sz="792" i="0">
                <a:solidFill>
                  <a:srgbClr val="5C6773"/>
                </a:solidFill>
                <a:latin typeface="Inconsolata"/>
              </a:rPr>
              <a:t>16  </a:t>
            </a:r>
            <a:r>
              <a:rPr sz="792" i="0">
                <a:solidFill>
                  <a:srgbClr val="E6EDF3"/>
                </a:solidFill>
                <a:latin typeface="Inconsolata"/>
              </a:rPr>
              <a:t> </a:t>
            </a:r>
          </a:p>
          <a:p>
            <a:pPr>
              <a:lnSpc>
                <a:spcPct val="105137"/>
              </a:lnSpc>
              <a:spcAft>
                <a:spcPts val="0"/>
              </a:spcAft>
            </a:pPr>
            <a:r>
              <a:rPr sz="792" i="0">
                <a:solidFill>
                  <a:srgbClr val="5C6773"/>
                </a:solidFill>
                <a:latin typeface="Inconsolata"/>
              </a:rPr>
              <a:t>17  </a:t>
            </a:r>
            <a:r>
              <a:rPr sz="792" i="0">
                <a:solidFill>
                  <a:srgbClr val="7FDBCA"/>
                </a:solidFill>
                <a:latin typeface="Inconsolata"/>
              </a:rPr>
              <a:t>FAILED_JOBS</a:t>
            </a:r>
            <a:r>
              <a:rPr sz="792" i="0">
                <a:solidFill>
                  <a:srgbClr val="E6EDF3"/>
                </a:solidFill>
                <a:latin typeface="Inconsolata"/>
              </a:rPr>
              <a:t>: </a:t>
            </a:r>
            <a:r>
              <a:rPr sz="792" i="0">
                <a:solidFill>
                  <a:srgbClr val="C3A6FF"/>
                </a:solidFill>
                <a:latin typeface="Inconsolata"/>
              </a:rPr>
              <a:t>list</a:t>
            </a:r>
            <a:r>
              <a:rPr sz="792" i="0">
                <a:solidFill>
                  <a:srgbClr val="E6EDF3"/>
                </a:solidFill>
                <a:latin typeface="Inconsolata"/>
              </a:rPr>
              <a:t>[</a:t>
            </a:r>
            <a:r>
              <a:rPr sz="792" i="0">
                <a:solidFill>
                  <a:srgbClr val="C3A6FF"/>
                </a:solidFill>
                <a:latin typeface="Inconsolata"/>
              </a:rPr>
              <a:t>dict</a:t>
            </a:r>
            <a:r>
              <a:rPr sz="792" i="0">
                <a:solidFill>
                  <a:srgbClr val="E6EDF3"/>
                </a:solidFill>
                <a:latin typeface="Inconsolata"/>
              </a:rPr>
              <a:t>] = []</a:t>
            </a:r>
          </a:p>
          <a:p>
            <a:pPr>
              <a:lnSpc>
                <a:spcPct val="105137"/>
              </a:lnSpc>
              <a:spcAft>
                <a:spcPts val="0"/>
              </a:spcAft>
            </a:pPr>
            <a:r>
              <a:rPr sz="792" i="0">
                <a:solidFill>
                  <a:srgbClr val="5C6773"/>
                </a:solidFill>
                <a:latin typeface="Inconsolata"/>
              </a:rPr>
              <a:t>18  </a:t>
            </a:r>
            <a:r>
              <a:rPr sz="792" i="0">
                <a:solidFill>
                  <a:srgbClr val="E6EDF3"/>
                </a:solidFill>
                <a:latin typeface="Inconsolata"/>
              </a:rPr>
              <a:t> </a:t>
            </a:r>
          </a:p>
          <a:p>
            <a:pPr>
              <a:lnSpc>
                <a:spcPct val="105137"/>
              </a:lnSpc>
              <a:spcAft>
                <a:spcPts val="0"/>
              </a:spcAft>
            </a:pPr>
            <a:r>
              <a:rPr sz="792" i="0">
                <a:solidFill>
                  <a:srgbClr val="5C6773"/>
                </a:solidFill>
                <a:latin typeface="Inconsolata"/>
              </a:rPr>
              <a:t>19  </a:t>
            </a:r>
            <a:r>
              <a:rPr sz="792" i="0">
                <a:solidFill>
                  <a:srgbClr val="E6EDF3"/>
                </a:solidFill>
                <a:latin typeface="Inconsolata"/>
              </a:rPr>
              <a:t> </a:t>
            </a:r>
          </a:p>
          <a:p>
            <a:pPr>
              <a:lnSpc>
                <a:spcPct val="105137"/>
              </a:lnSpc>
              <a:spcAft>
                <a:spcPts val="0"/>
              </a:spcAft>
            </a:pPr>
            <a:r>
              <a:rPr sz="792" i="0">
                <a:solidFill>
                  <a:srgbClr val="5C6773"/>
                </a:solidFill>
                <a:latin typeface="Inconsolata"/>
              </a:rPr>
              <a:t>20  </a:t>
            </a:r>
            <a:r>
              <a:rPr sz="792" i="0">
                <a:solidFill>
                  <a:srgbClr val="FF8E6E"/>
                </a:solidFill>
                <a:latin typeface="Inconsolata"/>
              </a:rPr>
              <a:t>class</a:t>
            </a:r>
            <a:r>
              <a:rPr sz="792" i="0">
                <a:solidFill>
                  <a:srgbClr val="E6EDF3"/>
                </a:solidFill>
                <a:latin typeface="Inconsolata"/>
              </a:rPr>
              <a:t> </a:t>
            </a:r>
            <a:r>
              <a:rPr sz="792" i="0">
                <a:solidFill>
                  <a:srgbClr val="7FDBCA"/>
                </a:solidFill>
                <a:latin typeface="Inconsolata"/>
              </a:rPr>
              <a:t>EmailServiceDown</a:t>
            </a:r>
            <a:r>
              <a:rPr sz="792" i="0">
                <a:solidFill>
                  <a:srgbClr val="E6EDF3"/>
                </a:solidFill>
                <a:latin typeface="Inconsolata"/>
              </a:rPr>
              <a:t>(</a:t>
            </a:r>
            <a:r>
              <a:rPr sz="792" i="0">
                <a:solidFill>
                  <a:srgbClr val="7FDBCA"/>
                </a:solidFill>
                <a:latin typeface="Inconsolata"/>
              </a:rPr>
              <a:t>Exception</a:t>
            </a:r>
            <a:r>
              <a:rPr sz="792" i="0">
                <a:solidFill>
                  <a:srgbClr val="E6EDF3"/>
                </a:solidFill>
                <a:latin typeface="Inconsolata"/>
              </a:rPr>
              <a:t>):</a:t>
            </a:r>
          </a:p>
          <a:p>
            <a:pPr>
              <a:lnSpc>
                <a:spcPct val="105137"/>
              </a:lnSpc>
              <a:spcAft>
                <a:spcPts val="0"/>
              </a:spcAft>
            </a:pPr>
            <a:r>
              <a:rPr sz="792" i="0">
                <a:solidFill>
                  <a:srgbClr val="5C6773"/>
                </a:solidFill>
                <a:latin typeface="Inconsolata"/>
              </a:rPr>
              <a:t>21  </a:t>
            </a:r>
            <a:r>
              <a:rPr sz="792" i="0">
                <a:solidFill>
                  <a:srgbClr val="E6EDF3"/>
                </a:solidFill>
                <a:latin typeface="Inconsolata"/>
              </a:rPr>
              <a:t>    </a:t>
            </a:r>
            <a:r>
              <a:rPr sz="792" i="0">
                <a:solidFill>
                  <a:srgbClr val="FF8E6E"/>
                </a:solidFill>
                <a:latin typeface="Inconsolata"/>
              </a:rPr>
              <a:t>pass</a:t>
            </a:r>
          </a:p>
          <a:p>
            <a:pPr>
              <a:lnSpc>
                <a:spcPct val="105137"/>
              </a:lnSpc>
              <a:spcAft>
                <a:spcPts val="0"/>
              </a:spcAft>
            </a:pPr>
            <a:r>
              <a:rPr sz="792" i="0">
                <a:solidFill>
                  <a:srgbClr val="5C6773"/>
                </a:solidFill>
                <a:latin typeface="Inconsolata"/>
              </a:rPr>
              <a:t>22  </a:t>
            </a:r>
            <a:r>
              <a:rPr sz="792" i="0">
                <a:solidFill>
                  <a:srgbClr val="E6EDF3"/>
                </a:solidFill>
                <a:latin typeface="Inconsolata"/>
              </a:rPr>
              <a:t> </a:t>
            </a:r>
          </a:p>
          <a:p>
            <a:pPr>
              <a:lnSpc>
                <a:spcPct val="105137"/>
              </a:lnSpc>
              <a:spcAft>
                <a:spcPts val="0"/>
              </a:spcAft>
            </a:pPr>
            <a:r>
              <a:rPr sz="792" i="0">
                <a:solidFill>
                  <a:srgbClr val="5C6773"/>
                </a:solidFill>
                <a:latin typeface="Inconsolata"/>
              </a:rPr>
              <a:t>23  </a:t>
            </a:r>
            <a:r>
              <a:rPr sz="792" i="0">
                <a:solidFill>
                  <a:srgbClr val="E6EDF3"/>
                </a:solidFill>
                <a:latin typeface="Inconsolata"/>
              </a:rPr>
              <a:t> </a:t>
            </a:r>
          </a:p>
          <a:p>
            <a:pPr>
              <a:lnSpc>
                <a:spcPct val="105137"/>
              </a:lnSpc>
              <a:spcAft>
                <a:spcPts val="0"/>
              </a:spcAft>
            </a:pPr>
            <a:r>
              <a:rPr sz="792" i="0">
                <a:solidFill>
                  <a:srgbClr val="5C6773"/>
                </a:solidFill>
                <a:latin typeface="Inconsolata"/>
              </a:rPr>
              <a:t>24  </a:t>
            </a:r>
            <a:r>
              <a:rPr sz="792" i="0">
                <a:solidFill>
                  <a:srgbClr val="FF8E6E"/>
                </a:solidFill>
                <a:latin typeface="Inconsolata"/>
              </a:rPr>
              <a:t>class</a:t>
            </a:r>
            <a:r>
              <a:rPr sz="792" i="0">
                <a:solidFill>
                  <a:srgbClr val="E6EDF3"/>
                </a:solidFill>
                <a:latin typeface="Inconsolata"/>
              </a:rPr>
              <a:t> </a:t>
            </a:r>
            <a:r>
              <a:rPr sz="792" i="0">
                <a:solidFill>
                  <a:srgbClr val="7FDBCA"/>
                </a:solidFill>
                <a:latin typeface="Inconsolata"/>
              </a:rPr>
              <a:t>AlertingTask</a:t>
            </a:r>
            <a:r>
              <a:rPr sz="792" i="0">
                <a:solidFill>
                  <a:srgbClr val="E6EDF3"/>
                </a:solidFill>
                <a:latin typeface="Inconsolata"/>
              </a:rPr>
              <a:t>(</a:t>
            </a:r>
            <a:r>
              <a:rPr sz="792" i="0">
                <a:solidFill>
                  <a:srgbClr val="7FDBCA"/>
                </a:solidFill>
                <a:latin typeface="Inconsolata"/>
              </a:rPr>
              <a:t>Task</a:t>
            </a:r>
            <a:r>
              <a:rPr sz="792" i="0">
                <a:solidFill>
                  <a:srgbClr val="E6EDF3"/>
                </a:solidFill>
                <a:latin typeface="Inconsolata"/>
              </a:rPr>
              <a:t>):</a:t>
            </a:r>
          </a:p>
          <a:p>
            <a:pPr>
              <a:lnSpc>
                <a:spcPct val="105137"/>
              </a:lnSpc>
              <a:spcAft>
                <a:spcPts val="0"/>
              </a:spcAft>
            </a:pPr>
            <a:r>
              <a:rPr sz="792" i="0">
                <a:solidFill>
                  <a:srgbClr val="5C6773"/>
                </a:solidFill>
                <a:latin typeface="Inconsolata"/>
              </a:rPr>
              <a:t>25  </a:t>
            </a:r>
            <a:r>
              <a:rPr sz="792" i="0">
                <a:solidFill>
                  <a:srgbClr val="E6EDF3"/>
                </a:solidFill>
                <a:latin typeface="Inconsolata"/>
              </a:rPr>
              <a:t>    </a:t>
            </a:r>
            <a:r>
              <a:rPr sz="792" i="0">
                <a:solidFill>
                  <a:srgbClr val="FF8E6E"/>
                </a:solidFill>
                <a:latin typeface="Inconsolata"/>
              </a:rPr>
              <a:t>def</a:t>
            </a:r>
            <a:r>
              <a:rPr sz="792" i="0">
                <a:solidFill>
                  <a:srgbClr val="E6EDF3"/>
                </a:solidFill>
                <a:latin typeface="Inconsolata"/>
              </a:rPr>
              <a:t> </a:t>
            </a:r>
            <a:r>
              <a:rPr sz="792" i="0">
                <a:solidFill>
                  <a:srgbClr val="82B1FF"/>
                </a:solidFill>
                <a:latin typeface="Inconsolata"/>
              </a:rPr>
              <a:t>on_retry</a:t>
            </a:r>
            <a:r>
              <a:rPr sz="792" i="0">
                <a:solidFill>
                  <a:srgbClr val="E6EDF3"/>
                </a:solidFill>
                <a:latin typeface="Inconsolata"/>
              </a:rPr>
              <a:t>(</a:t>
            </a:r>
            <a:r>
              <a:rPr sz="792" i="0">
                <a:solidFill>
                  <a:srgbClr val="C3A6FF"/>
                </a:solidFill>
                <a:latin typeface="Inconsolata"/>
              </a:rPr>
              <a:t>self</a:t>
            </a:r>
            <a:r>
              <a:rPr sz="792" i="0">
                <a:solidFill>
                  <a:srgbClr val="E6EDF3"/>
                </a:solidFill>
                <a:latin typeface="Inconsolata"/>
              </a:rPr>
              <a:t>, exc, task_id, args, kwargs, einfo):</a:t>
            </a:r>
          </a:p>
          <a:p>
            <a:pPr>
              <a:lnSpc>
                <a:spcPct val="105137"/>
              </a:lnSpc>
              <a:spcAft>
                <a:spcPts val="0"/>
              </a:spcAft>
            </a:pPr>
            <a:r>
              <a:rPr sz="792" i="0">
                <a:solidFill>
                  <a:srgbClr val="5C6773"/>
                </a:solidFill>
                <a:latin typeface="Inconsolata"/>
              </a:rPr>
              <a:t>26  </a:t>
            </a:r>
            <a:r>
              <a:rPr sz="792" i="0">
                <a:solidFill>
                  <a:srgbClr val="E6EDF3"/>
                </a:solidFill>
                <a:latin typeface="Inconsolata"/>
              </a:rPr>
              <a:t>        retry = </a:t>
            </a:r>
            <a:r>
              <a:rPr sz="792" i="0">
                <a:solidFill>
                  <a:srgbClr val="C3A6FF"/>
                </a:solidFill>
                <a:latin typeface="Inconsolata"/>
              </a:rPr>
              <a:t>self</a:t>
            </a:r>
            <a:r>
              <a:rPr sz="792" i="0">
                <a:solidFill>
                  <a:srgbClr val="E6EDF3"/>
                </a:solidFill>
                <a:latin typeface="Inconsolata"/>
              </a:rPr>
              <a:t>.request.retries + </a:t>
            </a:r>
            <a:r>
              <a:rPr sz="792" i="0">
                <a:solidFill>
                  <a:srgbClr val="F9C97A"/>
                </a:solidFill>
                <a:latin typeface="Inconsolata"/>
              </a:rPr>
              <a:t>1</a:t>
            </a:r>
          </a:p>
          <a:p>
            <a:pPr>
              <a:lnSpc>
                <a:spcPct val="105137"/>
              </a:lnSpc>
              <a:spcAft>
                <a:spcPts val="0"/>
              </a:spcAft>
            </a:pPr>
            <a:r>
              <a:rPr sz="792" i="0">
                <a:solidFill>
                  <a:srgbClr val="5C6773"/>
                </a:solidFill>
                <a:latin typeface="Inconsolata"/>
              </a:rPr>
              <a:t>27  </a:t>
            </a:r>
            <a:r>
              <a:rPr sz="792" i="0">
                <a:solidFill>
                  <a:srgbClr val="E6EDF3"/>
                </a:solidFill>
                <a:latin typeface="Inconsolata"/>
              </a:rPr>
              <a:t>        </a:t>
            </a:r>
            <a:r>
              <a:rPr sz="792" i="0">
                <a:solidFill>
                  <a:srgbClr val="C3A6FF"/>
                </a:solidFill>
                <a:latin typeface="Inconsolata"/>
              </a:rPr>
              <a:t>print</a:t>
            </a:r>
            <a:r>
              <a:rPr sz="792" i="0">
                <a:solidFill>
                  <a:srgbClr val="E6EDF3"/>
                </a:solidFill>
                <a:latin typeface="Inconsolata"/>
              </a:rPr>
              <a:t>(</a:t>
            </a:r>
            <a:r>
              <a:rPr sz="792" i="0">
                <a:solidFill>
                  <a:srgbClr val="A5D6A7"/>
                </a:solidFill>
                <a:latin typeface="Inconsolata"/>
              </a:rPr>
              <a:t>f"[RETRY] {self.name} retry ke-{retry}: {exc}"</a:t>
            </a:r>
            <a:r>
              <a:rPr sz="792" i="0">
                <a:solidFill>
                  <a:srgbClr val="E6EDF3"/>
                </a:solidFill>
                <a:latin typeface="Inconsolata"/>
              </a:rPr>
              <a:t>)</a:t>
            </a:r>
          </a:p>
          <a:p>
            <a:pPr>
              <a:lnSpc>
                <a:spcPct val="105137"/>
              </a:lnSpc>
              <a:spcAft>
                <a:spcPts val="0"/>
              </a:spcAft>
            </a:pPr>
            <a:r>
              <a:rPr sz="792" i="0">
                <a:solidFill>
                  <a:srgbClr val="5C6773"/>
                </a:solidFill>
                <a:latin typeface="Inconsolata"/>
              </a:rPr>
              <a:t>28  </a:t>
            </a:r>
            <a:r>
              <a:rPr sz="792" i="0">
                <a:solidFill>
                  <a:srgbClr val="E6EDF3"/>
                </a:solidFill>
                <a:latin typeface="Inconsolata"/>
              </a:rPr>
              <a:t> </a:t>
            </a:r>
          </a:p>
          <a:p>
            <a:pPr>
              <a:lnSpc>
                <a:spcPct val="105137"/>
              </a:lnSpc>
              <a:spcAft>
                <a:spcPts val="0"/>
              </a:spcAft>
            </a:pPr>
            <a:r>
              <a:rPr sz="792" i="0">
                <a:solidFill>
                  <a:srgbClr val="5C6773"/>
                </a:solidFill>
                <a:latin typeface="Inconsolata"/>
              </a:rPr>
              <a:t>29  </a:t>
            </a:r>
            <a:r>
              <a:rPr sz="792" i="0">
                <a:solidFill>
                  <a:srgbClr val="E6EDF3"/>
                </a:solidFill>
                <a:latin typeface="Inconsolata"/>
              </a:rPr>
              <a:t>    </a:t>
            </a:r>
            <a:r>
              <a:rPr sz="792" i="0">
                <a:solidFill>
                  <a:srgbClr val="FF8E6E"/>
                </a:solidFill>
                <a:latin typeface="Inconsolata"/>
              </a:rPr>
              <a:t>def</a:t>
            </a:r>
            <a:r>
              <a:rPr sz="792" i="0">
                <a:solidFill>
                  <a:srgbClr val="E6EDF3"/>
                </a:solidFill>
                <a:latin typeface="Inconsolata"/>
              </a:rPr>
              <a:t> </a:t>
            </a:r>
            <a:r>
              <a:rPr sz="792" i="0">
                <a:solidFill>
                  <a:srgbClr val="82B1FF"/>
                </a:solidFill>
                <a:latin typeface="Inconsolata"/>
              </a:rPr>
              <a:t>on_failure</a:t>
            </a:r>
            <a:r>
              <a:rPr sz="792" i="0">
                <a:solidFill>
                  <a:srgbClr val="E6EDF3"/>
                </a:solidFill>
                <a:latin typeface="Inconsolata"/>
              </a:rPr>
              <a:t>(</a:t>
            </a:r>
            <a:r>
              <a:rPr sz="792" i="0">
                <a:solidFill>
                  <a:srgbClr val="C3A6FF"/>
                </a:solidFill>
                <a:latin typeface="Inconsolata"/>
              </a:rPr>
              <a:t>self</a:t>
            </a:r>
            <a:r>
              <a:rPr sz="792" i="0">
                <a:solidFill>
                  <a:srgbClr val="E6EDF3"/>
                </a:solidFill>
                <a:latin typeface="Inconsolata"/>
              </a:rPr>
              <a:t>, exc, task_id, args, kwargs, einfo):</a:t>
            </a:r>
          </a:p>
          <a:p>
            <a:pPr>
              <a:lnSpc>
                <a:spcPct val="105137"/>
              </a:lnSpc>
              <a:spcAft>
                <a:spcPts val="0"/>
              </a:spcAft>
            </a:pPr>
            <a:r>
              <a:rPr sz="792" i="0">
                <a:solidFill>
                  <a:srgbClr val="5C6773"/>
                </a:solidFill>
                <a:latin typeface="Inconsolata"/>
              </a:rPr>
              <a:t>30  </a:t>
            </a:r>
            <a:r>
              <a:rPr sz="792" i="0">
                <a:solidFill>
                  <a:srgbClr val="E6EDF3"/>
                </a:solidFill>
                <a:latin typeface="Inconsolata"/>
              </a:rPr>
              <a:t>        </a:t>
            </a:r>
            <a:r>
              <a:rPr sz="792" i="0">
                <a:solidFill>
                  <a:srgbClr val="7FDBCA"/>
                </a:solidFill>
                <a:latin typeface="Inconsolata"/>
              </a:rPr>
              <a:t>FAILED_JOBS</a:t>
            </a:r>
            <a:r>
              <a:rPr sz="792" i="0">
                <a:solidFill>
                  <a:srgbClr val="E6EDF3"/>
                </a:solidFill>
                <a:latin typeface="Inconsolata"/>
              </a:rPr>
              <a:t>.append({</a:t>
            </a:r>
            <a:r>
              <a:rPr sz="792" i="0">
                <a:solidFill>
                  <a:srgbClr val="A5D6A7"/>
                </a:solidFill>
                <a:latin typeface="Inconsolata"/>
              </a:rPr>
              <a:t>"task"</a:t>
            </a:r>
            <a:r>
              <a:rPr sz="792" i="0">
                <a:solidFill>
                  <a:srgbClr val="E6EDF3"/>
                </a:solidFill>
                <a:latin typeface="Inconsolata"/>
              </a:rPr>
              <a:t>: </a:t>
            </a:r>
            <a:r>
              <a:rPr sz="792" i="0">
                <a:solidFill>
                  <a:srgbClr val="C3A6FF"/>
                </a:solidFill>
                <a:latin typeface="Inconsolata"/>
              </a:rPr>
              <a:t>self</a:t>
            </a:r>
            <a:r>
              <a:rPr sz="792" i="0">
                <a:solidFill>
                  <a:srgbClr val="E6EDF3"/>
                </a:solidFill>
                <a:latin typeface="Inconsolata"/>
              </a:rPr>
              <a:t>.name, </a:t>
            </a:r>
            <a:r>
              <a:rPr sz="792" i="0">
                <a:solidFill>
                  <a:srgbClr val="A5D6A7"/>
                </a:solidFill>
                <a:latin typeface="Inconsolata"/>
              </a:rPr>
              <a:t>"args"</a:t>
            </a:r>
            <a:r>
              <a:rPr sz="792" i="0">
                <a:solidFill>
                  <a:srgbClr val="E6EDF3"/>
                </a:solidFill>
                <a:latin typeface="Inconsolata"/>
              </a:rPr>
              <a:t>: args,</a:t>
            </a:r>
          </a:p>
          <a:p>
            <a:pPr>
              <a:lnSpc>
                <a:spcPct val="105137"/>
              </a:lnSpc>
              <a:spcAft>
                <a:spcPts val="0"/>
              </a:spcAft>
            </a:pPr>
            <a:r>
              <a:rPr sz="792" i="0">
                <a:solidFill>
                  <a:srgbClr val="5C6773"/>
                </a:solidFill>
                <a:latin typeface="Inconsolata"/>
              </a:rPr>
              <a:t>31  </a:t>
            </a:r>
            <a:r>
              <a:rPr sz="792" i="0">
                <a:solidFill>
                  <a:srgbClr val="E6EDF3"/>
                </a:solidFill>
                <a:latin typeface="Inconsolata"/>
              </a:rPr>
              <a:t>                            </a:t>
            </a:r>
            <a:r>
              <a:rPr sz="792" i="0">
                <a:solidFill>
                  <a:srgbClr val="A5D6A7"/>
                </a:solidFill>
                <a:latin typeface="Inconsolata"/>
              </a:rPr>
              <a:t>"error"</a:t>
            </a:r>
            <a:r>
              <a:rPr sz="792" i="0">
                <a:solidFill>
                  <a:srgbClr val="E6EDF3"/>
                </a:solidFill>
                <a:latin typeface="Inconsolata"/>
              </a:rPr>
              <a:t>: </a:t>
            </a:r>
            <a:r>
              <a:rPr sz="792" i="0">
                <a:solidFill>
                  <a:srgbClr val="C3A6FF"/>
                </a:solidFill>
                <a:latin typeface="Inconsolata"/>
              </a:rPr>
              <a:t>str</a:t>
            </a:r>
            <a:r>
              <a:rPr sz="792" i="0">
                <a:solidFill>
                  <a:srgbClr val="E6EDF3"/>
                </a:solidFill>
                <a:latin typeface="Inconsolata"/>
              </a:rPr>
              <a:t>(exc)})</a:t>
            </a:r>
          </a:p>
          <a:p>
            <a:pPr>
              <a:lnSpc>
                <a:spcPct val="105137"/>
              </a:lnSpc>
              <a:spcAft>
                <a:spcPts val="0"/>
              </a:spcAft>
            </a:pPr>
            <a:r>
              <a:rPr sz="792" i="0">
                <a:solidFill>
                  <a:srgbClr val="5C6773"/>
                </a:solidFill>
                <a:latin typeface="Inconsolata"/>
              </a:rPr>
              <a:t>32  </a:t>
            </a:r>
            <a:r>
              <a:rPr sz="792" i="0">
                <a:solidFill>
                  <a:srgbClr val="E6EDF3"/>
                </a:solidFill>
                <a:latin typeface="Inconsolata"/>
              </a:rPr>
              <a:t>        </a:t>
            </a:r>
            <a:r>
              <a:rPr sz="792" i="0">
                <a:solidFill>
                  <a:srgbClr val="C3A6FF"/>
                </a:solidFill>
                <a:latin typeface="Inconsolata"/>
              </a:rPr>
              <a:t>print</a:t>
            </a:r>
            <a:r>
              <a:rPr sz="792" i="0">
                <a:solidFill>
                  <a:srgbClr val="E6EDF3"/>
                </a:solidFill>
                <a:latin typeface="Inconsolata"/>
              </a:rPr>
              <a:t>(</a:t>
            </a:r>
            <a:r>
              <a:rPr sz="792" i="0">
                <a:solidFill>
                  <a:srgbClr val="A5D6A7"/>
                </a:solidFill>
                <a:latin typeface="Inconsolata"/>
              </a:rPr>
              <a:t>f"[ALERT] {self.name} gagal permanen: {exc}"</a:t>
            </a:r>
            <a:r>
              <a:rPr sz="792"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07-failure-handling/after.py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5137"/>
              </a:lnSpc>
              <a:spcAft>
                <a:spcPts val="0"/>
              </a:spcAft>
            </a:pPr>
            <a:r>
              <a:rPr sz="792" i="0">
                <a:solidFill>
                  <a:srgbClr val="5C6773"/>
                </a:solidFill>
                <a:latin typeface="Inconsolata"/>
              </a:rPr>
              <a:t>35  </a:t>
            </a:r>
            <a:r>
              <a:rPr sz="792" i="0">
                <a:solidFill>
                  <a:srgbClr val="FF8E6E"/>
                </a:solidFill>
                <a:latin typeface="Inconsolata"/>
              </a:rPr>
              <a:t>def</a:t>
            </a:r>
            <a:r>
              <a:rPr sz="792" i="0">
                <a:solidFill>
                  <a:srgbClr val="E6EDF3"/>
                </a:solidFill>
                <a:latin typeface="Inconsolata"/>
              </a:rPr>
              <a:t> </a:t>
            </a:r>
            <a:r>
              <a:rPr sz="792" i="0">
                <a:solidFill>
                  <a:srgbClr val="82B1FF"/>
                </a:solidFill>
                <a:latin typeface="Inconsolata"/>
              </a:rPr>
              <a:t>send_email</a:t>
            </a:r>
            <a:r>
              <a:rPr sz="792" i="0">
                <a:solidFill>
                  <a:srgbClr val="E6EDF3"/>
                </a:solidFill>
                <a:latin typeface="Inconsolata"/>
              </a:rPr>
              <a:t>(to: </a:t>
            </a:r>
            <a:r>
              <a:rPr sz="792" i="0">
                <a:solidFill>
                  <a:srgbClr val="C3A6FF"/>
                </a:solidFill>
                <a:latin typeface="Inconsolata"/>
              </a:rPr>
              <a:t>str</a:t>
            </a:r>
            <a:r>
              <a:rPr sz="792" i="0">
                <a:solidFill>
                  <a:srgbClr val="E6EDF3"/>
                </a:solidFill>
                <a:latin typeface="Inconsolata"/>
              </a:rPr>
              <a:t>, message: </a:t>
            </a:r>
            <a:r>
              <a:rPr sz="792" i="0">
                <a:solidFill>
                  <a:srgbClr val="C3A6FF"/>
                </a:solidFill>
                <a:latin typeface="Inconsolata"/>
              </a:rPr>
              <a:t>str</a:t>
            </a:r>
            <a:r>
              <a:rPr sz="792" i="0">
                <a:solidFill>
                  <a:srgbClr val="E6EDF3"/>
                </a:solidFill>
                <a:latin typeface="Inconsolata"/>
              </a:rPr>
              <a:t>) -&gt; </a:t>
            </a:r>
            <a:r>
              <a:rPr sz="792" i="0">
                <a:solidFill>
                  <a:srgbClr val="FF8E6E"/>
                </a:solidFill>
                <a:latin typeface="Inconsolata"/>
              </a:rPr>
              <a:t>None</a:t>
            </a:r>
            <a:r>
              <a:rPr sz="792" i="0">
                <a:solidFill>
                  <a:srgbClr val="E6EDF3"/>
                </a:solidFill>
                <a:latin typeface="Inconsolata"/>
              </a:rPr>
              <a:t>:</a:t>
            </a:r>
          </a:p>
          <a:p>
            <a:pPr>
              <a:lnSpc>
                <a:spcPct val="105137"/>
              </a:lnSpc>
              <a:spcAft>
                <a:spcPts val="0"/>
              </a:spcAft>
            </a:pPr>
            <a:r>
              <a:rPr sz="792" i="0">
                <a:solidFill>
                  <a:srgbClr val="5C6773"/>
                </a:solidFill>
                <a:latin typeface="Inconsolata"/>
              </a:rPr>
              <a:t>36  </a:t>
            </a:r>
            <a:r>
              <a:rPr sz="792" i="0">
                <a:solidFill>
                  <a:srgbClr val="E6EDF3"/>
                </a:solidFill>
                <a:latin typeface="Inconsolata"/>
              </a:rPr>
              <a:t>    </a:t>
            </a:r>
            <a:r>
              <a:rPr sz="792" i="0">
                <a:solidFill>
                  <a:srgbClr val="FF8E6E"/>
                </a:solidFill>
                <a:latin typeface="Inconsolata"/>
              </a:rPr>
              <a:t>raise</a:t>
            </a:r>
            <a:r>
              <a:rPr sz="792" i="0">
                <a:solidFill>
                  <a:srgbClr val="E6EDF3"/>
                </a:solidFill>
                <a:latin typeface="Inconsolata"/>
              </a:rPr>
              <a:t> </a:t>
            </a:r>
            <a:r>
              <a:rPr sz="792" i="0">
                <a:solidFill>
                  <a:srgbClr val="7FDBCA"/>
                </a:solidFill>
                <a:latin typeface="Inconsolata"/>
              </a:rPr>
              <a:t>EmailServiceDown</a:t>
            </a:r>
            <a:r>
              <a:rPr sz="792" i="0">
                <a:solidFill>
                  <a:srgbClr val="E6EDF3"/>
                </a:solidFill>
                <a:latin typeface="Inconsolata"/>
              </a:rPr>
              <a:t>(</a:t>
            </a:r>
            <a:r>
              <a:rPr sz="792" i="0">
                <a:solidFill>
                  <a:srgbClr val="A5D6A7"/>
                </a:solidFill>
                <a:latin typeface="Inconsolata"/>
              </a:rPr>
              <a:t>"Server email tidak bisa dihubungi"</a:t>
            </a:r>
            <a:r>
              <a:rPr sz="792" i="0">
                <a:solidFill>
                  <a:srgbClr val="E6EDF3"/>
                </a:solidFill>
                <a:latin typeface="Inconsolata"/>
              </a:rPr>
              <a:t>)</a:t>
            </a:r>
          </a:p>
          <a:p>
            <a:pPr>
              <a:lnSpc>
                <a:spcPct val="105137"/>
              </a:lnSpc>
              <a:spcAft>
                <a:spcPts val="0"/>
              </a:spcAft>
            </a:pPr>
            <a:r>
              <a:rPr sz="792" i="0">
                <a:solidFill>
                  <a:srgbClr val="5C6773"/>
                </a:solidFill>
                <a:latin typeface="Inconsolata"/>
              </a:rPr>
              <a:t>37  </a:t>
            </a:r>
            <a:r>
              <a:rPr sz="792" i="0">
                <a:solidFill>
                  <a:srgbClr val="E6EDF3"/>
                </a:solidFill>
                <a:latin typeface="Inconsolata"/>
              </a:rPr>
              <a:t> </a:t>
            </a:r>
          </a:p>
          <a:p>
            <a:pPr>
              <a:lnSpc>
                <a:spcPct val="105137"/>
              </a:lnSpc>
              <a:spcAft>
                <a:spcPts val="0"/>
              </a:spcAft>
            </a:pPr>
            <a:r>
              <a:rPr sz="792" i="0">
                <a:solidFill>
                  <a:srgbClr val="5C6773"/>
                </a:solidFill>
                <a:latin typeface="Inconsolata"/>
              </a:rPr>
              <a:t>38  </a:t>
            </a:r>
            <a:r>
              <a:rPr sz="792" i="0">
                <a:solidFill>
                  <a:srgbClr val="E6EDF3"/>
                </a:solidFill>
                <a:latin typeface="Inconsolata"/>
              </a:rPr>
              <a:t> </a:t>
            </a:r>
          </a:p>
          <a:p>
            <a:pPr>
              <a:lnSpc>
                <a:spcPct val="105137"/>
              </a:lnSpc>
              <a:spcAft>
                <a:spcPts val="0"/>
              </a:spcAft>
            </a:pPr>
            <a:r>
              <a:rPr sz="792" i="0">
                <a:solidFill>
                  <a:srgbClr val="5C6773"/>
                </a:solidFill>
                <a:latin typeface="Inconsolata"/>
              </a:rPr>
              <a:t>39  </a:t>
            </a:r>
            <a:r>
              <a:rPr sz="792" i="0">
                <a:solidFill>
                  <a:srgbClr val="F9C97A"/>
                </a:solidFill>
                <a:latin typeface="Inconsolata"/>
              </a:rPr>
              <a:t>@celery_app.task</a:t>
            </a:r>
            <a:r>
              <a:rPr sz="792" i="0">
                <a:solidFill>
                  <a:srgbClr val="E6EDF3"/>
                </a:solidFill>
                <a:latin typeface="Inconsolata"/>
              </a:rPr>
              <a:t>(base=</a:t>
            </a:r>
            <a:r>
              <a:rPr sz="792" i="0">
                <a:solidFill>
                  <a:srgbClr val="7FDBCA"/>
                </a:solidFill>
                <a:latin typeface="Inconsolata"/>
              </a:rPr>
              <a:t>AlertingTask</a:t>
            </a:r>
            <a:r>
              <a:rPr sz="792" i="0">
                <a:solidFill>
                  <a:srgbClr val="E6EDF3"/>
                </a:solidFill>
                <a:latin typeface="Inconsolata"/>
              </a:rPr>
              <a:t>,</a:t>
            </a:r>
          </a:p>
          <a:p>
            <a:pPr>
              <a:lnSpc>
                <a:spcPct val="105137"/>
              </a:lnSpc>
              <a:spcAft>
                <a:spcPts val="0"/>
              </a:spcAft>
            </a:pPr>
            <a:r>
              <a:rPr sz="792" i="0">
                <a:solidFill>
                  <a:srgbClr val="5C6773"/>
                </a:solidFill>
                <a:latin typeface="Inconsolata"/>
              </a:rPr>
              <a:t>40  </a:t>
            </a:r>
            <a:r>
              <a:rPr sz="792" i="0">
                <a:solidFill>
                  <a:srgbClr val="E6EDF3"/>
                </a:solidFill>
                <a:latin typeface="Inconsolata"/>
              </a:rPr>
              <a:t>                 autoretry_for=(</a:t>
            </a:r>
            <a:r>
              <a:rPr sz="792" i="0">
                <a:solidFill>
                  <a:srgbClr val="7FDBCA"/>
                </a:solidFill>
                <a:latin typeface="Inconsolata"/>
              </a:rPr>
              <a:t>EmailServiceDown</a:t>
            </a:r>
            <a:r>
              <a:rPr sz="792" i="0">
                <a:solidFill>
                  <a:srgbClr val="E6EDF3"/>
                </a:solidFill>
                <a:latin typeface="Inconsolata"/>
              </a:rPr>
              <a:t>,),</a:t>
            </a:r>
          </a:p>
          <a:p>
            <a:pPr>
              <a:lnSpc>
                <a:spcPct val="105137"/>
              </a:lnSpc>
              <a:spcAft>
                <a:spcPts val="0"/>
              </a:spcAft>
            </a:pPr>
            <a:r>
              <a:rPr sz="792" i="0">
                <a:solidFill>
                  <a:srgbClr val="5C6773"/>
                </a:solidFill>
                <a:latin typeface="Inconsolata"/>
              </a:rPr>
              <a:t>41  </a:t>
            </a:r>
            <a:r>
              <a:rPr sz="792" i="0">
                <a:solidFill>
                  <a:srgbClr val="E6EDF3"/>
                </a:solidFill>
                <a:latin typeface="Inconsolata"/>
              </a:rPr>
              <a:t>                 retry_backoff=</a:t>
            </a:r>
            <a:r>
              <a:rPr sz="792" i="0">
                <a:solidFill>
                  <a:srgbClr val="FF8E6E"/>
                </a:solidFill>
                <a:latin typeface="Inconsolata"/>
              </a:rPr>
              <a:t>True</a:t>
            </a:r>
            <a:r>
              <a:rPr sz="792" i="0">
                <a:solidFill>
                  <a:srgbClr val="E6EDF3"/>
                </a:solidFill>
                <a:latin typeface="Inconsolata"/>
              </a:rPr>
              <a:t>, max_retries=</a:t>
            </a:r>
            <a:r>
              <a:rPr sz="792" i="0">
                <a:solidFill>
                  <a:srgbClr val="F9C97A"/>
                </a:solidFill>
                <a:latin typeface="Inconsolata"/>
              </a:rPr>
              <a:t>3</a:t>
            </a:r>
            <a:r>
              <a:rPr sz="792" i="0">
                <a:solidFill>
                  <a:srgbClr val="E6EDF3"/>
                </a:solidFill>
                <a:latin typeface="Inconsolata"/>
              </a:rPr>
              <a:t>)</a:t>
            </a:r>
          </a:p>
          <a:p>
            <a:pPr>
              <a:lnSpc>
                <a:spcPct val="105137"/>
              </a:lnSpc>
              <a:spcAft>
                <a:spcPts val="0"/>
              </a:spcAft>
            </a:pPr>
            <a:r>
              <a:rPr sz="792" i="0">
                <a:solidFill>
                  <a:srgbClr val="5C6773"/>
                </a:solidFill>
                <a:latin typeface="Inconsolata"/>
              </a:rPr>
              <a:t>42  </a:t>
            </a:r>
            <a:r>
              <a:rPr sz="792" i="0">
                <a:solidFill>
                  <a:srgbClr val="FF8E6E"/>
                </a:solidFill>
                <a:latin typeface="Inconsolata"/>
              </a:rPr>
              <a:t>def</a:t>
            </a:r>
            <a:r>
              <a:rPr sz="792" i="0">
                <a:solidFill>
                  <a:srgbClr val="E6EDF3"/>
                </a:solidFill>
                <a:latin typeface="Inconsolata"/>
              </a:rPr>
              <a:t> </a:t>
            </a:r>
            <a:r>
              <a:rPr sz="792" i="0">
                <a:solidFill>
                  <a:srgbClr val="82B1FF"/>
                </a:solidFill>
                <a:latin typeface="Inconsolata"/>
              </a:rPr>
              <a:t>send_order_email</a:t>
            </a:r>
            <a:r>
              <a:rPr sz="792" i="0">
                <a:solidFill>
                  <a:srgbClr val="E6EDF3"/>
                </a:solidFill>
                <a:latin typeface="Inconsolata"/>
              </a:rPr>
              <a:t>(to: </a:t>
            </a:r>
            <a:r>
              <a:rPr sz="792" i="0">
                <a:solidFill>
                  <a:srgbClr val="C3A6FF"/>
                </a:solidFill>
                <a:latin typeface="Inconsolata"/>
              </a:rPr>
              <a:t>str</a:t>
            </a:r>
            <a:r>
              <a:rPr sz="792" i="0">
                <a:solidFill>
                  <a:srgbClr val="E6EDF3"/>
                </a:solidFill>
                <a:latin typeface="Inconsolata"/>
              </a:rPr>
              <a:t>, message: </a:t>
            </a:r>
            <a:r>
              <a:rPr sz="792" i="0">
                <a:solidFill>
                  <a:srgbClr val="C3A6FF"/>
                </a:solidFill>
                <a:latin typeface="Inconsolata"/>
              </a:rPr>
              <a:t>str</a:t>
            </a:r>
            <a:r>
              <a:rPr sz="792" i="0">
                <a:solidFill>
                  <a:srgbClr val="E6EDF3"/>
                </a:solidFill>
                <a:latin typeface="Inconsolata"/>
              </a:rPr>
              <a:t>) -&gt; </a:t>
            </a:r>
            <a:r>
              <a:rPr sz="792" i="0">
                <a:solidFill>
                  <a:srgbClr val="FF8E6E"/>
                </a:solidFill>
                <a:latin typeface="Inconsolata"/>
              </a:rPr>
              <a:t>None</a:t>
            </a:r>
            <a:r>
              <a:rPr sz="792" i="0">
                <a:solidFill>
                  <a:srgbClr val="E6EDF3"/>
                </a:solidFill>
                <a:latin typeface="Inconsolata"/>
              </a:rPr>
              <a:t>:</a:t>
            </a:r>
          </a:p>
          <a:p>
            <a:pPr>
              <a:lnSpc>
                <a:spcPct val="105137"/>
              </a:lnSpc>
              <a:spcAft>
                <a:spcPts val="0"/>
              </a:spcAft>
            </a:pPr>
            <a:r>
              <a:rPr sz="792" i="0">
                <a:solidFill>
                  <a:srgbClr val="5C6773"/>
                </a:solidFill>
                <a:latin typeface="Inconsolata"/>
              </a:rPr>
              <a:t>43  </a:t>
            </a:r>
            <a:r>
              <a:rPr sz="792" i="0">
                <a:solidFill>
                  <a:srgbClr val="E6EDF3"/>
                </a:solidFill>
                <a:latin typeface="Inconsolata"/>
              </a:rPr>
              <a:t>    send_email(to, message)       </a:t>
            </a:r>
            <a:r>
              <a:rPr sz="792" i="1">
                <a:solidFill>
                  <a:srgbClr val="8B98A8"/>
                </a:solidFill>
                <a:latin typeface="Inconsolata"/>
              </a:rPr>
              <a:t># tanpa try/except</a:t>
            </a:r>
          </a:p>
          <a:p>
            <a:pPr>
              <a:lnSpc>
                <a:spcPct val="105137"/>
              </a:lnSpc>
              <a:spcAft>
                <a:spcPts val="0"/>
              </a:spcAft>
            </a:pPr>
            <a:r>
              <a:rPr sz="792" i="0">
                <a:solidFill>
                  <a:srgbClr val="5C6773"/>
                </a:solidFill>
                <a:latin typeface="Inconsolata"/>
              </a:rPr>
              <a:t>44  </a:t>
            </a:r>
            <a:r>
              <a:rPr sz="792" i="0">
                <a:solidFill>
                  <a:srgbClr val="E6EDF3"/>
                </a:solidFill>
                <a:latin typeface="Inconsolata"/>
              </a:rPr>
              <a:t> </a:t>
            </a:r>
          </a:p>
          <a:p>
            <a:pPr>
              <a:lnSpc>
                <a:spcPct val="105137"/>
              </a:lnSpc>
              <a:spcAft>
                <a:spcPts val="0"/>
              </a:spcAft>
            </a:pPr>
            <a:r>
              <a:rPr sz="792" i="0">
                <a:solidFill>
                  <a:srgbClr val="5C6773"/>
                </a:solidFill>
                <a:latin typeface="Inconsolata"/>
              </a:rPr>
              <a:t>45  </a:t>
            </a:r>
            <a:r>
              <a:rPr sz="792" i="0">
                <a:solidFill>
                  <a:srgbClr val="E6EDF3"/>
                </a:solidFill>
                <a:latin typeface="Inconsolata"/>
              </a:rPr>
              <a:t> </a:t>
            </a:r>
          </a:p>
          <a:p>
            <a:pPr>
              <a:lnSpc>
                <a:spcPct val="105137"/>
              </a:lnSpc>
              <a:spcAft>
                <a:spcPts val="0"/>
              </a:spcAft>
            </a:pPr>
            <a:r>
              <a:rPr sz="792" i="0">
                <a:solidFill>
                  <a:srgbClr val="5C6773"/>
                </a:solidFill>
                <a:latin typeface="Inconsolata"/>
              </a:rPr>
              <a:t>46  </a:t>
            </a:r>
            <a:r>
              <a:rPr sz="792" i="0">
                <a:solidFill>
                  <a:srgbClr val="FF8E6E"/>
                </a:solidFill>
                <a:latin typeface="Inconsolata"/>
              </a:rPr>
              <a:t>if</a:t>
            </a:r>
            <a:r>
              <a:rPr sz="792" i="0">
                <a:solidFill>
                  <a:srgbClr val="E6EDF3"/>
                </a:solidFill>
                <a:latin typeface="Inconsolata"/>
              </a:rPr>
              <a:t> __name__ == </a:t>
            </a:r>
            <a:r>
              <a:rPr sz="792" i="0">
                <a:solidFill>
                  <a:srgbClr val="A5D6A7"/>
                </a:solidFill>
                <a:latin typeface="Inconsolata"/>
              </a:rPr>
              <a:t>"__main__"</a:t>
            </a:r>
            <a:r>
              <a:rPr sz="792" i="0">
                <a:solidFill>
                  <a:srgbClr val="E6EDF3"/>
                </a:solidFill>
                <a:latin typeface="Inconsolata"/>
              </a:rPr>
              <a:t>:</a:t>
            </a:r>
          </a:p>
          <a:p>
            <a:pPr>
              <a:lnSpc>
                <a:spcPct val="105137"/>
              </a:lnSpc>
              <a:spcAft>
                <a:spcPts val="0"/>
              </a:spcAft>
            </a:pPr>
            <a:r>
              <a:rPr sz="792" i="0">
                <a:solidFill>
                  <a:srgbClr val="5C6773"/>
                </a:solidFill>
                <a:latin typeface="Inconsolata"/>
              </a:rPr>
              <a:t>47  </a:t>
            </a:r>
            <a:r>
              <a:rPr sz="792" i="0">
                <a:solidFill>
                  <a:srgbClr val="E6EDF3"/>
                </a:solidFill>
                <a:latin typeface="Inconsolata"/>
              </a:rPr>
              <a:t>    celery_app.conf.task_always_eager = </a:t>
            </a:r>
            <a:r>
              <a:rPr sz="792" i="0">
                <a:solidFill>
                  <a:srgbClr val="FF8E6E"/>
                </a:solidFill>
                <a:latin typeface="Inconsolata"/>
              </a:rPr>
              <a:t>True</a:t>
            </a:r>
          </a:p>
          <a:p>
            <a:pPr>
              <a:lnSpc>
                <a:spcPct val="105137"/>
              </a:lnSpc>
              <a:spcAft>
                <a:spcPts val="0"/>
              </a:spcAft>
            </a:pPr>
            <a:r>
              <a:rPr sz="792" i="0">
                <a:solidFill>
                  <a:srgbClr val="5C6773"/>
                </a:solidFill>
                <a:latin typeface="Inconsolata"/>
              </a:rPr>
              <a:t>48  </a:t>
            </a:r>
            <a:r>
              <a:rPr sz="792" i="0">
                <a:solidFill>
                  <a:srgbClr val="E6EDF3"/>
                </a:solidFill>
                <a:latin typeface="Inconsolata"/>
              </a:rPr>
              <a:t>    result = send_order_email.delay(</a:t>
            </a:r>
            <a:r>
              <a:rPr sz="792" i="0">
                <a:solidFill>
                  <a:srgbClr val="A5D6A7"/>
                </a:solidFill>
                <a:latin typeface="Inconsolata"/>
              </a:rPr>
              <a:t>"budi@mail.com"</a:t>
            </a:r>
            <a:r>
              <a:rPr sz="792" i="0">
                <a:solidFill>
                  <a:srgbClr val="E6EDF3"/>
                </a:solidFill>
                <a:latin typeface="Inconsolata"/>
              </a:rPr>
              <a:t>,</a:t>
            </a:r>
          </a:p>
          <a:p>
            <a:pPr>
              <a:lnSpc>
                <a:spcPct val="105137"/>
              </a:lnSpc>
              <a:spcAft>
                <a:spcPts val="0"/>
              </a:spcAft>
            </a:pPr>
            <a:r>
              <a:rPr sz="792" i="0">
                <a:solidFill>
                  <a:srgbClr val="5C6773"/>
                </a:solidFill>
                <a:latin typeface="Inconsolata"/>
              </a:rPr>
              <a:t>49  </a:t>
            </a:r>
            <a:r>
              <a:rPr sz="792" i="0">
                <a:solidFill>
                  <a:srgbClr val="E6EDF3"/>
                </a:solidFill>
                <a:latin typeface="Inconsolata"/>
              </a:rPr>
              <a:t>                                    </a:t>
            </a:r>
            <a:r>
              <a:rPr sz="792" i="0">
                <a:solidFill>
                  <a:srgbClr val="A5D6A7"/>
                </a:solidFill>
                <a:latin typeface="Inconsolata"/>
              </a:rPr>
              <a:t>"Order #1 berhasil"</a:t>
            </a:r>
            <a:r>
              <a:rPr sz="792" i="0">
                <a:solidFill>
                  <a:srgbClr val="E6EDF3"/>
                </a:solidFill>
                <a:latin typeface="Inconsolata"/>
              </a:rPr>
              <a:t>)</a:t>
            </a:r>
          </a:p>
          <a:p>
            <a:pPr>
              <a:lnSpc>
                <a:spcPct val="105137"/>
              </a:lnSpc>
              <a:spcAft>
                <a:spcPts val="0"/>
              </a:spcAft>
            </a:pPr>
            <a:r>
              <a:rPr sz="792" i="0">
                <a:solidFill>
                  <a:srgbClr val="5C6773"/>
                </a:solidFill>
                <a:latin typeface="Inconsolata"/>
              </a:rPr>
              <a:t>50  </a:t>
            </a:r>
            <a:r>
              <a:rPr sz="792" i="0">
                <a:solidFill>
                  <a:srgbClr val="E6EDF3"/>
                </a:solidFill>
                <a:latin typeface="Inconsolata"/>
              </a:rPr>
              <a:t>    </a:t>
            </a:r>
            <a:r>
              <a:rPr sz="792" i="0">
                <a:solidFill>
                  <a:srgbClr val="C3A6FF"/>
                </a:solidFill>
                <a:latin typeface="Inconsolata"/>
              </a:rPr>
              <a:t>print</a:t>
            </a:r>
            <a:r>
              <a:rPr sz="792" i="0">
                <a:solidFill>
                  <a:srgbClr val="E6EDF3"/>
                </a:solidFill>
                <a:latin typeface="Inconsolata"/>
              </a:rPr>
              <a:t>(</a:t>
            </a:r>
            <a:r>
              <a:rPr sz="792" i="0">
                <a:solidFill>
                  <a:srgbClr val="A5D6A7"/>
                </a:solidFill>
                <a:latin typeface="Inconsolata"/>
              </a:rPr>
              <a:t>"Status:"</a:t>
            </a:r>
            <a:r>
              <a:rPr sz="792" i="0">
                <a:solidFill>
                  <a:srgbClr val="E6EDF3"/>
                </a:solidFill>
                <a:latin typeface="Inconsolata"/>
              </a:rPr>
              <a:t>, result.state)    </a:t>
            </a:r>
            <a:r>
              <a:rPr sz="792" i="1">
                <a:solidFill>
                  <a:srgbClr val="8B98A8"/>
                </a:solidFill>
                <a:latin typeface="Inconsolata"/>
              </a:rPr>
              <a:t># FAILURE</a:t>
            </a:r>
          </a:p>
          <a:p>
            <a:pPr>
              <a:lnSpc>
                <a:spcPct val="105137"/>
              </a:lnSpc>
              <a:spcAft>
                <a:spcPts val="0"/>
              </a:spcAft>
            </a:pPr>
            <a:r>
              <a:rPr sz="792" i="0">
                <a:solidFill>
                  <a:srgbClr val="5C6773"/>
                </a:solidFill>
                <a:latin typeface="Inconsolata"/>
              </a:rPr>
              <a:t>51  </a:t>
            </a:r>
            <a:r>
              <a:rPr sz="792" i="0">
                <a:solidFill>
                  <a:srgbClr val="E6EDF3"/>
                </a:solidFill>
                <a:latin typeface="Inconsolata"/>
              </a:rPr>
              <a:t>    </a:t>
            </a:r>
            <a:r>
              <a:rPr sz="792" i="0">
                <a:solidFill>
                  <a:srgbClr val="C3A6FF"/>
                </a:solidFill>
                <a:latin typeface="Inconsolata"/>
              </a:rPr>
              <a:t>print</a:t>
            </a:r>
            <a:r>
              <a:rPr sz="792" i="0">
                <a:solidFill>
                  <a:srgbClr val="E6EDF3"/>
                </a:solidFill>
                <a:latin typeface="Inconsolata"/>
              </a:rPr>
              <a:t>(</a:t>
            </a:r>
            <a:r>
              <a:rPr sz="792" i="0">
                <a:solidFill>
                  <a:srgbClr val="A5D6A7"/>
                </a:solidFill>
                <a:latin typeface="Inconsolata"/>
              </a:rPr>
              <a:t>"Failed jobs:"</a:t>
            </a:r>
            <a:r>
              <a:rPr sz="792" i="0">
                <a:solidFill>
                  <a:srgbClr val="E6EDF3"/>
                </a:solidFill>
                <a:latin typeface="Inconsolata"/>
              </a:rPr>
              <a:t>, </a:t>
            </a:r>
            <a:r>
              <a:rPr sz="792" i="0">
                <a:solidFill>
                  <a:srgbClr val="7FDBCA"/>
                </a:solidFill>
                <a:latin typeface="Inconsolata"/>
              </a:rPr>
              <a:t>FAILED_JOBS</a:t>
            </a:r>
            <a:r>
              <a:rPr sz="792" i="0">
                <a:solidFill>
                  <a:srgbClr val="E6EDF3"/>
                </a:solidFill>
                <a:latin typeface="Inconsolata"/>
              </a:rPr>
              <a:t>)</a:t>
            </a:r>
          </a:p>
        </p:txBody>
      </p:sp>
      <p:sp>
        <p:nvSpPr>
          <p:cNvPr id="36" name="Box 21"/>
          <p:cNvSpPr/>
          <p:nvPr/>
        </p:nvSpPr>
        <p:spPr>
          <a:xfrm>
            <a:off x="704088" y="3605022"/>
            <a:ext cx="3694176"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672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4113022"/>
            <a:ext cx="3694176" cy="500380"/>
          </a:xfrm>
          <a:prstGeom prst="roundRect">
            <a:avLst>
              <a:gd name="adj" fmla="val 913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4244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335022"/>
            <a:ext cx="3694176" cy="627380"/>
          </a:xfrm>
          <a:prstGeom prst="roundRect">
            <a:avLst>
              <a:gd name="adj" fmla="val 728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529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Failure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07-failure-handling/after.py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84632"/>
          </a:xfrm>
          <a:prstGeom prst="roundRect">
            <a:avLst>
              <a:gd name="adj" fmla="val 37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84632"/>
          </a:xfrm>
          <a:prstGeom prst="rect">
            <a:avLst/>
          </a:prstGeom>
          <a:noFill/>
        </p:spPr>
        <p:txBody>
          <a:bodyPr wrap="none" lIns="146304" tIns="91440" rIns="146304" bIns="54864">
            <a:spAutoFit/>
          </a:bodyPr>
          <a:lstStyle/>
          <a:p>
            <a:pPr>
              <a:lnSpc>
                <a:spcPct val="111111"/>
              </a:lnSpc>
              <a:spcAft>
                <a:spcPts val="0"/>
              </a:spcAft>
            </a:pPr>
            <a:r>
              <a:rPr sz="900" i="0">
                <a:solidFill>
                  <a:srgbClr val="82B1FF"/>
                </a:solidFill>
                <a:latin typeface="Inconsolata"/>
              </a:rPr>
              <a:t>$ cd sesi-05-async-tasks-celery-redis/07-failure-handling</a:t>
            </a:r>
          </a:p>
          <a:p>
            <a:pPr>
              <a:lnSpc>
                <a:spcPct val="111111"/>
              </a:lnSpc>
              <a:spcAft>
                <a:spcPts val="0"/>
              </a:spcAft>
            </a:pPr>
            <a:r>
              <a:rPr sz="900" i="0">
                <a:solidFill>
                  <a:srgbClr val="82B1FF"/>
                </a:solidFill>
                <a:latin typeface="Inconsolata"/>
              </a:rPr>
              <a:t>$ python after.py</a:t>
            </a:r>
          </a:p>
        </p:txBody>
      </p:sp>
      <p:pic>
        <p:nvPicPr>
          <p:cNvPr id="29" name="Image 12" descr="s05-07-failure-handling-after.png"/>
          <p:cNvPicPr>
            <a:picLocks noChangeAspect="1"/>
          </p:cNvPicPr>
          <p:nvPr/>
        </p:nvPicPr>
        <p:blipFill>
          <a:blip r:embed="rId2"/>
          <a:stretch>
            <a:fillRect/>
          </a:stretch>
        </p:blipFill>
        <p:spPr>
          <a:xfrm>
            <a:off x="621792" y="2322576"/>
            <a:ext cx="3839344" cy="2377440"/>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on_retry</a:t>
            </a:r>
            <a:r>
              <a:rPr sz="950" b="0" i="0">
                <a:solidFill>
                  <a:srgbClr val="434343"/>
                </a:solidFill>
                <a:latin typeface="Inter"/>
              </a:rPr>
              <a:t> mencatat setiap retry (baris 25-27])</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on_failure</a:t>
            </a:r>
            <a:r>
              <a:rPr sz="950" b="0" i="0">
                <a:solidFill>
                  <a:srgbClr val="434343"/>
                </a:solidFill>
                <a:latin typeface="Inter"/>
              </a:rPr>
              <a:t> mencatat job yang gagal permanen beserta argumennya (baris 29-32])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Task memakai </a:t>
            </a:r>
            <a:r>
              <a:rPr sz="950" b="0" i="0">
                <a:solidFill>
                  <a:srgbClr val="B5482A"/>
                </a:solidFill>
                <a:latin typeface="Inconsolata"/>
              </a:rPr>
              <a:t>AlertingTask</a:t>
            </a:r>
            <a:r>
              <a:rPr sz="950" b="0" i="0">
                <a:solidFill>
                  <a:srgbClr val="434343"/>
                </a:solidFill>
                <a:latin typeface="Inter"/>
              </a:rPr>
              <a:t>, tanpa try/except (baris 39-43)</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Retry 3 kali, lalu status </a:t>
            </a:r>
            <a:r>
              <a:rPr sz="950" b="0" i="0">
                <a:solidFill>
                  <a:srgbClr val="B5482A"/>
                </a:solidFill>
                <a:latin typeface="Inconsolata"/>
              </a:rPr>
              <a:t>FAILURE</a:t>
            </a:r>
            <a:r>
              <a:rPr sz="950" b="0" i="0">
                <a:solidFill>
                  <a:srgbClr val="434343"/>
                </a:solidFill>
                <a:latin typeface="Inter"/>
              </a:rPr>
              <a:t> dan tercatat di </a:t>
            </a:r>
            <a:r>
              <a:rPr sz="950" b="0" i="0">
                <a:solidFill>
                  <a:srgbClr val="B5482A"/>
                </a:solidFill>
                <a:latin typeface="Inconsolata"/>
              </a:rPr>
              <a:t>FAILED_JOBS</a:t>
            </a:r>
            <a:r>
              <a:rPr sz="950" b="0" i="0">
                <a:solidFill>
                  <a:srgbClr val="434343"/>
                </a:solidFill>
                <a:latin typeface="Inter"/>
              </a:rPr>
              <a: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56</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04</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Hands-on: Notifikasi &amp; Report lewat Celery</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Dikerjakan bersama mentor, langkah demi langkah. Ditambah report penjualan.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Kondisi Awal</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Hasil Sesi 4: Notifikasi Dikirim di Dalam Request</a:t>
            </a:r>
          </a:p>
        </p:txBody>
      </p:sp>
      <p:sp>
        <p:nvSpPr>
          <p:cNvPr id="22" name="CodeTab 4"/>
          <p:cNvSpPr/>
          <p:nvPr/>
        </p:nvSpPr>
        <p:spPr>
          <a:xfrm>
            <a:off x="621792" y="1481328"/>
            <a:ext cx="51206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4805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08-async-jobs/before/app</a:t>
            </a:r>
          </a:p>
        </p:txBody>
      </p:sp>
      <p:sp>
        <p:nvSpPr>
          <p:cNvPr id="27" name="CodeBg 10"/>
          <p:cNvSpPr/>
          <p:nvPr/>
        </p:nvSpPr>
        <p:spPr>
          <a:xfrm>
            <a:off x="621792" y="1719072"/>
            <a:ext cx="51206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120640" cy="2980944"/>
          </a:xfrm>
          <a:prstGeom prst="rect">
            <a:avLst/>
          </a:prstGeom>
          <a:noFill/>
        </p:spPr>
        <p:txBody>
          <a:bodyPr wrap="none" lIns="146304" tIns="91440" rIns="146304" bIns="54864">
            <a:spAutoFit/>
          </a:bodyPr>
          <a:lstStyle/>
          <a:p>
            <a:pPr>
              <a:lnSpc>
                <a:spcPct val="111111"/>
              </a:lnSpc>
              <a:spcAft>
                <a:spcPts val="0"/>
              </a:spcAft>
            </a:pPr>
            <a:r>
              <a:rPr sz="750" i="1">
                <a:solidFill>
                  <a:srgbClr val="8B98A8"/>
                </a:solidFill>
                <a:latin typeface="Inconsolata"/>
              </a:rPr>
              <a:t># application/order_service.py</a:t>
            </a:r>
          </a:p>
          <a:p>
            <a:pPr>
              <a:lnSpc>
                <a:spcPct val="111111"/>
              </a:lnSpc>
              <a:spcAft>
                <a:spcPts val="0"/>
              </a:spcAft>
            </a:pPr>
            <a:r>
              <a:rPr sz="750" i="0">
                <a:solidFill>
                  <a:srgbClr val="E6EDF3"/>
                </a:solidFill>
                <a:latin typeface="Inconsolata"/>
              </a:rPr>
              <a:t>    </a:t>
            </a: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place_order</a:t>
            </a:r>
            <a:r>
              <a:rPr sz="750" i="0">
                <a:solidFill>
                  <a:srgbClr val="E6EDF3"/>
                </a:solidFill>
                <a:latin typeface="Inconsolata"/>
              </a:rPr>
              <a:t>(</a:t>
            </a:r>
            <a:r>
              <a:rPr sz="750" i="0">
                <a:solidFill>
                  <a:srgbClr val="C3A6FF"/>
                </a:solidFill>
                <a:latin typeface="Inconsolata"/>
              </a:rPr>
              <a:t>self</a:t>
            </a:r>
            <a:r>
              <a:rPr sz="750" i="0">
                <a:solidFill>
                  <a:srgbClr val="E6EDF3"/>
                </a:solidFill>
                <a:latin typeface="Inconsolata"/>
              </a:rPr>
              <a:t>, customer: </a:t>
            </a:r>
            <a:r>
              <a:rPr sz="750" i="0">
                <a:solidFill>
                  <a:srgbClr val="C3A6FF"/>
                </a:solidFill>
                <a:latin typeface="Inconsolata"/>
              </a:rPr>
              <a:t>str</a:t>
            </a:r>
            <a:r>
              <a:rPr sz="750" i="0">
                <a:solidFill>
                  <a:srgbClr val="E6EDF3"/>
                </a:solidFill>
                <a:latin typeface="Inconsolata"/>
              </a:rPr>
              <a:t>, customer_type: </a:t>
            </a:r>
            <a:r>
              <a:rPr sz="750" i="0">
                <a:solidFill>
                  <a:srgbClr val="C3A6FF"/>
                </a:solidFill>
                <a:latin typeface="Inconsolata"/>
              </a:rPr>
              <a:t>str</a:t>
            </a:r>
            <a:r>
              <a:rPr sz="750" i="0">
                <a:solidFill>
                  <a:srgbClr val="E6EDF3"/>
                </a:solidFill>
                <a:latin typeface="Inconsolata"/>
              </a:rPr>
              <a:t>, items: </a:t>
            </a:r>
            <a:r>
              <a:rPr sz="750" i="0">
                <a:solidFill>
                  <a:srgbClr val="C3A6FF"/>
                </a:solidFill>
                <a:latin typeface="Inconsolata"/>
              </a:rPr>
              <a:t>list</a:t>
            </a:r>
            <a:r>
              <a:rPr sz="750" i="0">
                <a:solidFill>
                  <a:srgbClr val="E6EDF3"/>
                </a:solidFill>
                <a:latin typeface="Inconsolata"/>
              </a:rPr>
              <a:t>[</a:t>
            </a:r>
            <a:r>
              <a:rPr sz="750" i="0">
                <a:solidFill>
                  <a:srgbClr val="C3A6FF"/>
                </a:solidFill>
                <a:latin typeface="Inconsolata"/>
              </a:rPr>
              <a:t>dict</a:t>
            </a:r>
            <a:r>
              <a:rPr sz="750" i="0">
                <a:solidFill>
                  <a:srgbClr val="E6EDF3"/>
                </a:solidFill>
                <a:latin typeface="Inconsolata"/>
              </a:rPr>
              <a:t>]) -&gt; </a:t>
            </a:r>
            <a:r>
              <a:rPr sz="750" i="0">
                <a:solidFill>
                  <a:srgbClr val="7FDBCA"/>
                </a:solidFill>
                <a:latin typeface="Inconsolata"/>
              </a:rPr>
              <a:t>Order</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with</a:t>
            </a: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.uow:</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.uow.commit()</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.notifier.send(customer, </a:t>
            </a:r>
            <a:r>
              <a:rPr sz="750" i="0">
                <a:solidFill>
                  <a:srgbClr val="A5D6A7"/>
                </a:solidFill>
                <a:latin typeface="Inconsolata"/>
              </a:rPr>
              <a:t>f"Order #{order.id} total Rp{order.total.amount:,}"</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order</a:t>
            </a:r>
          </a:p>
          <a:p>
            <a:pPr>
              <a:lnSpc>
                <a:spcPct val="111111"/>
              </a:lnSpc>
              <a:spcAft>
                <a:spcPts val="0"/>
              </a:spcAft>
            </a:pPr>
            <a:r>
              <a:rPr sz="750" i="0">
                <a:solidFill>
                  <a:srgbClr val="E6EDF3"/>
                </a:solidFill>
                <a:latin typeface="Inconsolata"/>
              </a:rPr>
              <a:t> </a:t>
            </a:r>
          </a:p>
          <a:p>
            <a:pPr>
              <a:lnSpc>
                <a:spcPct val="111111"/>
              </a:lnSpc>
              <a:spcAft>
                <a:spcPts val="0"/>
              </a:spcAft>
            </a:pPr>
            <a:r>
              <a:rPr sz="750" i="1">
                <a:solidFill>
                  <a:srgbClr val="8B98A8"/>
                </a:solidFill>
                <a:latin typeface="Inconsolata"/>
              </a:rPr>
              <a:t># infrastructure/notifiers.py</a:t>
            </a:r>
          </a:p>
          <a:p>
            <a:pPr>
              <a:lnSpc>
                <a:spcPct val="111111"/>
              </a:lnSpc>
              <a:spcAft>
                <a:spcPts val="0"/>
              </a:spcAft>
            </a:pPr>
            <a:r>
              <a:rPr sz="750" i="0">
                <a:solidFill>
                  <a:srgbClr val="FF8E6E"/>
                </a:solidFill>
                <a:latin typeface="Inconsolata"/>
              </a:rPr>
              <a:t>class</a:t>
            </a:r>
            <a:r>
              <a:rPr sz="750" i="0">
                <a:solidFill>
                  <a:srgbClr val="E6EDF3"/>
                </a:solidFill>
                <a:latin typeface="Inconsolata"/>
              </a:rPr>
              <a:t> </a:t>
            </a:r>
            <a:r>
              <a:rPr sz="750" i="0">
                <a:solidFill>
                  <a:srgbClr val="7FDBCA"/>
                </a:solidFill>
                <a:latin typeface="Inconsolata"/>
              </a:rPr>
              <a:t>EmailNotifier</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send</a:t>
            </a:r>
            <a:r>
              <a:rPr sz="750" i="0">
                <a:solidFill>
                  <a:srgbClr val="E6EDF3"/>
                </a:solidFill>
                <a:latin typeface="Inconsolata"/>
              </a:rPr>
              <a:t>(</a:t>
            </a:r>
            <a:r>
              <a:rPr sz="750" i="0">
                <a:solidFill>
                  <a:srgbClr val="C3A6FF"/>
                </a:solidFill>
                <a:latin typeface="Inconsolata"/>
              </a:rPr>
              <a:t>self</a:t>
            </a:r>
            <a:r>
              <a:rPr sz="750" i="0">
                <a:solidFill>
                  <a:srgbClr val="E6EDF3"/>
                </a:solidFill>
                <a:latin typeface="Inconsolata"/>
              </a:rPr>
              <a:t>, to: </a:t>
            </a:r>
            <a:r>
              <a:rPr sz="750" i="0">
                <a:solidFill>
                  <a:srgbClr val="C3A6FF"/>
                </a:solidFill>
                <a:latin typeface="Inconsolata"/>
              </a:rPr>
              <a:t>str</a:t>
            </a:r>
            <a:r>
              <a:rPr sz="750" i="0">
                <a:solidFill>
                  <a:srgbClr val="E6EDF3"/>
                </a:solidFill>
                <a:latin typeface="Inconsolata"/>
              </a:rPr>
              <a:t>, message: </a:t>
            </a:r>
            <a:r>
              <a:rPr sz="750" i="0">
                <a:solidFill>
                  <a:srgbClr val="C3A6FF"/>
                </a:solidFill>
                <a:latin typeface="Inconsolata"/>
              </a:rPr>
              <a:t>str</a:t>
            </a:r>
            <a:r>
              <a:rPr sz="750" i="0">
                <a:solidFill>
                  <a:srgbClr val="E6EDF3"/>
                </a:solidFill>
                <a:latin typeface="Inconsolata"/>
              </a:rPr>
              <a:t>) -&gt; </a:t>
            </a:r>
            <a:r>
              <a:rPr sz="750" i="0">
                <a:solidFill>
                  <a:srgbClr val="FF8E6E"/>
                </a:solidFill>
                <a:latin typeface="Inconsolata"/>
              </a:rPr>
              <a:t>None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C3A6FF"/>
                </a:solidFill>
                <a:latin typeface="Inconsolata"/>
              </a:rPr>
              <a:t>print</a:t>
            </a:r>
            <a:r>
              <a:rPr sz="750" i="0">
                <a:solidFill>
                  <a:srgbClr val="E6EDF3"/>
                </a:solidFill>
                <a:latin typeface="Inconsolata"/>
              </a:rPr>
              <a:t>(</a:t>
            </a:r>
            <a:r>
              <a:rPr sz="750" i="0">
                <a:solidFill>
                  <a:srgbClr val="A5D6A7"/>
                </a:solidFill>
                <a:latin typeface="Inconsolata"/>
              </a:rPr>
              <a:t>f"[EMAIL] ke {to}: {message}"</a:t>
            </a:r>
            <a:r>
              <a:rPr sz="750" i="0">
                <a:solidFill>
                  <a:srgbClr val="E6EDF3"/>
                </a:solidFill>
                <a:latin typeface="Inconsolata"/>
              </a:rPr>
              <a:t>)</a:t>
            </a:r>
          </a:p>
        </p:txBody>
      </p:sp>
      <p:sp>
        <p:nvSpPr>
          <p:cNvPr id="29" name="Box 12"/>
          <p:cNvSpPr/>
          <p:nvPr/>
        </p:nvSpPr>
        <p:spPr>
          <a:xfrm>
            <a:off x="704088" y="2589022"/>
            <a:ext cx="4956048"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541264" y="2529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5897879" y="1481328"/>
            <a:ext cx="2587752" cy="3218688"/>
          </a:xfrm>
          <a:prstGeom prst="roundRect">
            <a:avLst>
              <a:gd name="adj" fmla="val 424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6035040" y="1572768"/>
            <a:ext cx="231343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3" name="Text 16"/>
          <p:cNvSpPr txBox="1"/>
          <p:nvPr/>
        </p:nvSpPr>
        <p:spPr>
          <a:xfrm>
            <a:off x="6035040" y="1892808"/>
            <a:ext cx="231343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Notifikasi dikirim di dalam request </a:t>
            </a:r>
            <a:r>
              <a:rPr sz="950" b="0" i="0">
                <a:solidFill>
                  <a:srgbClr val="B5482A"/>
                </a:solidFill>
                <a:latin typeface="Inconsolata"/>
              </a:rPr>
              <a:t>POST /orders</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Jika server email lambat atau gagal, response ikut lambat atau error, padahal order sudah tersimpan</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Belum ada report penjualan</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Kode inilah yang kita kembangkan di hands-on.</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mulai dari 08-async-jobs/before/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Tujuan &amp; Kriteria Selesai</a:t>
            </a:r>
          </a:p>
        </p:txBody>
      </p:sp>
      <p:sp>
        <p:nvSpPr>
          <p:cNvPr id="22" name="Box 3"/>
          <p:cNvSpPr/>
          <p:nvPr/>
        </p:nvSpPr>
        <p:spPr>
          <a:xfrm>
            <a:off x="621792" y="1481328"/>
            <a:ext cx="3840480" cy="3218688"/>
          </a:xfrm>
          <a:prstGeom prst="roundRect">
            <a:avLst>
              <a:gd name="adj" fmla="val 3409"/>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572768"/>
            <a:ext cx="3566160" cy="310896"/>
          </a:xfrm>
          <a:prstGeom prst="rect">
            <a:avLst/>
          </a:prstGeom>
          <a:noFill/>
        </p:spPr>
        <p:txBody>
          <a:bodyPr wrap="square" lIns="45720" rIns="45720" anchor="t">
            <a:spAutoFit/>
          </a:bodyPr>
          <a:lstStyle/>
          <a:p>
            <a:pPr algn="l">
              <a:lnSpc>
                <a:spcPct val="115000"/>
              </a:lnSpc>
              <a:spcAft>
                <a:spcPts val="400"/>
              </a:spcAft>
            </a:pPr>
            <a:r>
              <a:rPr sz="1100" b="1" i="0">
                <a:solidFill>
                  <a:srgbClr val="1C4587"/>
                </a:solidFill>
                <a:latin typeface="Inter"/>
              </a:rPr>
              <a:t>Kriteria selesai</a:t>
            </a:r>
          </a:p>
        </p:txBody>
      </p:sp>
      <p:sp>
        <p:nvSpPr>
          <p:cNvPr id="24" name="Text 5"/>
          <p:cNvSpPr txBox="1"/>
          <p:nvPr/>
        </p:nvSpPr>
        <p:spPr>
          <a:xfrm>
            <a:off x="758952" y="1892808"/>
            <a:ext cx="3566160"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Notifikasi order dikirim lewat Celery, response tidak menunggu email</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OrderService</a:t>
            </a:r>
            <a:r>
              <a:rPr sz="950" b="0" i="0">
                <a:solidFill>
                  <a:srgbClr val="434343"/>
                </a:solidFill>
                <a:latin typeface="Inter"/>
              </a:rPr>
              <a:t> tidak berubah, cukup adapter </a:t>
            </a:r>
            <a:r>
              <a:rPr sz="950" b="0" i="0">
                <a:solidFill>
                  <a:srgbClr val="B5482A"/>
                </a:solidFill>
                <a:latin typeface="Inconsolata"/>
              </a:rPr>
              <a:t>Notifier</a:t>
            </a:r>
            <a:r>
              <a:rPr sz="950" b="0" i="0">
                <a:solidFill>
                  <a:srgbClr val="434343"/>
                </a:solidFill>
                <a:latin typeface="Inter"/>
              </a:rPr>
              <a:t>nya</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POST /reports/sales</a:t>
            </a:r>
            <a:r>
              <a:rPr sz="950" b="0" i="0">
                <a:solidFill>
                  <a:srgbClr val="434343"/>
                </a:solidFill>
                <a:latin typeface="Inter"/>
              </a:rPr>
              <a:t> menjawab 202 dengan </a:t>
            </a:r>
            <a:r>
              <a:rPr sz="950" b="0" i="0">
                <a:solidFill>
                  <a:srgbClr val="B5482A"/>
                </a:solidFill>
                <a:latin typeface="Inconsolata"/>
              </a:rPr>
              <a:t>task_id</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GET /reports/{task_id}</a:t>
            </a:r>
            <a:r>
              <a:rPr sz="950" b="0" i="0">
                <a:solidFill>
                  <a:srgbClr val="434343"/>
                </a:solidFill>
                <a:latin typeface="Inter"/>
              </a:rPr>
              <a:t> menampilkan status dan hasil</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Notifikasi di-retry dengan backoff, dan tidak terkirim dua kali</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Task gagal permanen tercatat di log, </a:t>
            </a:r>
            <a:r>
              <a:rPr sz="950" b="0" i="0">
                <a:solidFill>
                  <a:srgbClr val="B5482A"/>
                </a:solidFill>
                <a:latin typeface="Inconsolata"/>
              </a:rPr>
              <a:t>pytest</a:t>
            </a:r>
            <a:r>
              <a:rPr sz="950" b="0" i="0">
                <a:solidFill>
                  <a:srgbClr val="434343"/>
                </a:solidFill>
                <a:latin typeface="Inter"/>
              </a:rPr>
              <a:t> hijau</a:t>
            </a:r>
          </a:p>
        </p:txBody>
      </p:sp>
      <p:sp>
        <p:nvSpPr>
          <p:cNvPr id="25" name="CodeTab 7"/>
          <p:cNvSpPr/>
          <p:nvPr/>
        </p:nvSpPr>
        <p:spPr>
          <a:xfrm>
            <a:off x="4617720" y="1481328"/>
            <a:ext cx="386791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Dot 8"/>
          <p:cNvSpPr/>
          <p:nvPr/>
        </p:nvSpPr>
        <p:spPr>
          <a:xfrm>
            <a:off x="472744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Dot 9"/>
          <p:cNvSpPr/>
          <p:nvPr/>
        </p:nvSpPr>
        <p:spPr>
          <a:xfrm>
            <a:off x="486460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t 10"/>
          <p:cNvSpPr/>
          <p:nvPr/>
        </p:nvSpPr>
        <p:spPr>
          <a:xfrm>
            <a:off x="500176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11"/>
          <p:cNvSpPr txBox="1"/>
          <p:nvPr/>
        </p:nvSpPr>
        <p:spPr>
          <a:xfrm>
            <a:off x="5166359" y="1490472"/>
            <a:ext cx="322783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target struktur</a:t>
            </a:r>
          </a:p>
        </p:txBody>
      </p:sp>
      <p:sp>
        <p:nvSpPr>
          <p:cNvPr id="30" name="CodeBg 13"/>
          <p:cNvSpPr/>
          <p:nvPr/>
        </p:nvSpPr>
        <p:spPr>
          <a:xfrm>
            <a:off x="4617720" y="1719072"/>
            <a:ext cx="386791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 14"/>
          <p:cNvSpPr txBox="1"/>
          <p:nvPr/>
        </p:nvSpPr>
        <p:spPr>
          <a:xfrm>
            <a:off x="4617720" y="1719072"/>
            <a:ext cx="3867912" cy="2980944"/>
          </a:xfrm>
          <a:prstGeom prst="rect">
            <a:avLst/>
          </a:prstGeom>
          <a:noFill/>
        </p:spPr>
        <p:txBody>
          <a:bodyPr wrap="none" lIns="146304" tIns="91440" rIns="146304" bIns="54864">
            <a:spAutoFit/>
          </a:bodyPr>
          <a:lstStyle/>
          <a:p>
            <a:pPr>
              <a:lnSpc>
                <a:spcPct val="104167"/>
              </a:lnSpc>
              <a:spcAft>
                <a:spcPts val="0"/>
              </a:spcAft>
            </a:pPr>
            <a:r>
              <a:rPr sz="800" i="0">
                <a:solidFill>
                  <a:srgbClr val="E6EDF3"/>
                </a:solidFill>
                <a:latin typeface="Inconsolata"/>
              </a:rPr>
              <a:t>latihan/</a:t>
            </a:r>
          </a:p>
          <a:p>
            <a:pPr>
              <a:lnSpc>
                <a:spcPct val="104167"/>
              </a:lnSpc>
              <a:spcAft>
                <a:spcPts val="0"/>
              </a:spcAft>
            </a:pPr>
            <a:r>
              <a:rPr sz="800" i="0">
                <a:solidFill>
                  <a:srgbClr val="E6EDF3"/>
                </a:solidFill>
                <a:latin typeface="Inconsolata"/>
              </a:rPr>
              <a:t>  app/</a:t>
            </a:r>
          </a:p>
          <a:p>
            <a:pPr>
              <a:lnSpc>
                <a:spcPct val="104167"/>
              </a:lnSpc>
              <a:spcAft>
                <a:spcPts val="0"/>
              </a:spcAft>
            </a:pPr>
            <a:r>
              <a:rPr sz="800" i="0">
                <a:solidFill>
                  <a:srgbClr val="E6EDF3"/>
                </a:solidFill>
                <a:latin typeface="Inconsolata"/>
              </a:rPr>
              <a:t>    infrastructure/</a:t>
            </a:r>
          </a:p>
          <a:p>
            <a:pPr>
              <a:lnSpc>
                <a:spcPct val="104167"/>
              </a:lnSpc>
              <a:spcAft>
                <a:spcPts val="0"/>
              </a:spcAft>
            </a:pPr>
            <a:r>
              <a:rPr sz="800" i="0">
                <a:solidFill>
                  <a:srgbClr val="E6EDF3"/>
                </a:solidFill>
                <a:latin typeface="Inconsolata"/>
              </a:rPr>
              <a:t>      config.py         # langkah 2</a:t>
            </a:r>
          </a:p>
          <a:p>
            <a:pPr>
              <a:lnSpc>
                <a:spcPct val="104167"/>
              </a:lnSpc>
              <a:spcAft>
                <a:spcPts val="0"/>
              </a:spcAft>
            </a:pPr>
            <a:r>
              <a:rPr sz="800" i="0">
                <a:solidFill>
                  <a:srgbClr val="E6EDF3"/>
                </a:solidFill>
                <a:latin typeface="Inconsolata"/>
              </a:rPr>
              <a:t>      database.py       # langkah 3</a:t>
            </a:r>
          </a:p>
          <a:p>
            <a:pPr>
              <a:lnSpc>
                <a:spcPct val="104167"/>
              </a:lnSpc>
              <a:spcAft>
                <a:spcPts val="0"/>
              </a:spcAft>
            </a:pPr>
            <a:r>
              <a:rPr sz="800" i="0">
                <a:solidFill>
                  <a:srgbClr val="E6EDF3"/>
                </a:solidFill>
                <a:latin typeface="Inconsolata"/>
              </a:rPr>
              <a:t>      notifiers.py      # langkah 5</a:t>
            </a:r>
          </a:p>
          <a:p>
            <a:pPr>
              <a:lnSpc>
                <a:spcPct val="104167"/>
              </a:lnSpc>
              <a:spcAft>
                <a:spcPts val="0"/>
              </a:spcAft>
            </a:pPr>
            <a:r>
              <a:rPr sz="800" i="0">
                <a:solidFill>
                  <a:srgbClr val="E6EDF3"/>
                </a:solidFill>
                <a:latin typeface="Inconsolata"/>
              </a:rPr>
              <a:t>      notification_log.py</a:t>
            </a:r>
          </a:p>
          <a:p>
            <a:pPr>
              <a:lnSpc>
                <a:spcPct val="104167"/>
              </a:lnSpc>
              <a:spcAft>
                <a:spcPts val="0"/>
              </a:spcAft>
            </a:pPr>
            <a:r>
              <a:rPr sz="800" i="0">
                <a:solidFill>
                  <a:srgbClr val="E6EDF3"/>
                </a:solidFill>
                <a:latin typeface="Inconsolata"/>
              </a:rPr>
              <a:t>    worker/</a:t>
            </a:r>
          </a:p>
          <a:p>
            <a:pPr>
              <a:lnSpc>
                <a:spcPct val="104167"/>
              </a:lnSpc>
              <a:spcAft>
                <a:spcPts val="0"/>
              </a:spcAft>
            </a:pPr>
            <a:r>
              <a:rPr sz="800" i="0">
                <a:solidFill>
                  <a:srgbClr val="E6EDF3"/>
                </a:solidFill>
                <a:latin typeface="Inconsolata"/>
              </a:rPr>
              <a:t>      celery_app.py     # langkah 4</a:t>
            </a:r>
          </a:p>
          <a:p>
            <a:pPr>
              <a:lnSpc>
                <a:spcPct val="104167"/>
              </a:lnSpc>
              <a:spcAft>
                <a:spcPts val="0"/>
              </a:spcAft>
            </a:pPr>
            <a:r>
              <a:rPr sz="800" i="0">
                <a:solidFill>
                  <a:srgbClr val="E6EDF3"/>
                </a:solidFill>
                <a:latin typeface="Inconsolata"/>
              </a:rPr>
              <a:t>      tasks.py          # langkah 6, 8</a:t>
            </a:r>
          </a:p>
          <a:p>
            <a:pPr>
              <a:lnSpc>
                <a:spcPct val="104167"/>
              </a:lnSpc>
              <a:spcAft>
                <a:spcPts val="0"/>
              </a:spcAft>
            </a:pPr>
            <a:r>
              <a:rPr sz="800" i="0">
                <a:solidFill>
                  <a:srgbClr val="E6EDF3"/>
                </a:solidFill>
                <a:latin typeface="Inconsolata"/>
              </a:rPr>
              <a:t>      notifier.py       # langkah 7</a:t>
            </a:r>
          </a:p>
          <a:p>
            <a:pPr>
              <a:lnSpc>
                <a:spcPct val="104167"/>
              </a:lnSpc>
              <a:spcAft>
                <a:spcPts val="0"/>
              </a:spcAft>
            </a:pPr>
            <a:r>
              <a:rPr sz="800" i="0">
                <a:solidFill>
                  <a:srgbClr val="E6EDF3"/>
                </a:solidFill>
                <a:latin typeface="Inconsolata"/>
              </a:rPr>
              <a:t>      jobs.py           # langkah 8</a:t>
            </a:r>
          </a:p>
          <a:p>
            <a:pPr>
              <a:lnSpc>
                <a:spcPct val="104167"/>
              </a:lnSpc>
              <a:spcAft>
                <a:spcPts val="0"/>
              </a:spcAft>
            </a:pPr>
            <a:r>
              <a:rPr sz="800" i="0">
                <a:solidFill>
                  <a:srgbClr val="E6EDF3"/>
                </a:solidFill>
                <a:latin typeface="Inconsolata"/>
              </a:rPr>
              <a:t>    application/</a:t>
            </a:r>
          </a:p>
          <a:p>
            <a:pPr>
              <a:lnSpc>
                <a:spcPct val="104167"/>
              </a:lnSpc>
              <a:spcAft>
                <a:spcPts val="0"/>
              </a:spcAft>
            </a:pPr>
            <a:r>
              <a:rPr sz="800" i="0">
                <a:solidFill>
                  <a:srgbClr val="E6EDF3"/>
                </a:solidFill>
                <a:latin typeface="Inconsolata"/>
              </a:rPr>
              <a:t>      report_service.py # langkah 8</a:t>
            </a:r>
          </a:p>
          <a:p>
            <a:pPr>
              <a:lnSpc>
                <a:spcPct val="104167"/>
              </a:lnSpc>
              <a:spcAft>
                <a:spcPts val="0"/>
              </a:spcAft>
            </a:pPr>
            <a:r>
              <a:rPr sz="800" i="0">
                <a:solidFill>
                  <a:srgbClr val="E6EDF3"/>
                </a:solidFill>
                <a:latin typeface="Inconsolata"/>
              </a:rPr>
              <a:t>    api/routers/</a:t>
            </a:r>
          </a:p>
          <a:p>
            <a:pPr>
              <a:lnSpc>
                <a:spcPct val="104167"/>
              </a:lnSpc>
              <a:spcAft>
                <a:spcPts val="0"/>
              </a:spcAft>
            </a:pPr>
            <a:r>
              <a:rPr sz="800" i="0">
                <a:solidFill>
                  <a:srgbClr val="E6EDF3"/>
                </a:solidFill>
                <a:latin typeface="Inconsolata"/>
              </a:rPr>
              <a:t>      reports.py        # langkah 9</a:t>
            </a:r>
          </a:p>
          <a:p>
            <a:pPr>
              <a:lnSpc>
                <a:spcPct val="104167"/>
              </a:lnSpc>
              <a:spcAft>
                <a:spcPts val="0"/>
              </a:spcAft>
            </a:pPr>
            <a:r>
              <a:rPr sz="800" i="0">
                <a:solidFill>
                  <a:srgbClr val="E6EDF3"/>
                </a:solidFill>
                <a:latin typeface="Inconsolata"/>
              </a:rPr>
              <a:t>  tests/                # langkah 10</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Siapkan folder latihan dan jalankan kode awal</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4167"/>
              </a:lnSpc>
              <a:spcAft>
                <a:spcPts val="0"/>
              </a:spcAft>
            </a:pPr>
            <a:r>
              <a:rPr sz="800" i="0">
                <a:solidFill>
                  <a:srgbClr val="82B1FF"/>
                </a:solidFill>
                <a:latin typeface="Inconsolata"/>
              </a:rPr>
              <a:t>$ cd sesi-05-async-tasks-celery-redis</a:t>
            </a:r>
          </a:p>
          <a:p>
            <a:pPr>
              <a:lnSpc>
                <a:spcPct val="104167"/>
              </a:lnSpc>
              <a:spcAft>
                <a:spcPts val="0"/>
              </a:spcAft>
            </a:pPr>
            <a:r>
              <a:rPr sz="800" i="0">
                <a:solidFill>
                  <a:srgbClr val="82B1FF"/>
                </a:solidFill>
                <a:latin typeface="Inconsolata"/>
              </a:rPr>
              <a:t>$ pip install -r requirements.txt</a:t>
            </a:r>
          </a:p>
          <a:p>
            <a:pPr>
              <a:lnSpc>
                <a:spcPct val="104167"/>
              </a:lnSpc>
              <a:spcAft>
                <a:spcPts val="0"/>
              </a:spcAft>
            </a:pPr>
            <a:r>
              <a:rPr sz="800" i="0">
                <a:solidFill>
                  <a:srgbClr val="82B1FF"/>
                </a:solidFill>
                <a:latin typeface="Inconsolata"/>
              </a:rPr>
              <a:t>$ docker compose up -d                # Redis untuk langkah berikutnya</a:t>
            </a:r>
          </a:p>
          <a:p>
            <a:pPr>
              <a:lnSpc>
                <a:spcPct val="104167"/>
              </a:lnSpc>
              <a:spcAft>
                <a:spcPts val="0"/>
              </a:spcAft>
            </a:pPr>
            <a:r>
              <a:rPr sz="800" i="0">
                <a:solidFill>
                  <a:srgbClr val="82B1FF"/>
                </a:solidFill>
                <a:latin typeface="Inconsolata"/>
              </a:rPr>
              <a:t>$ cd 08-async-jobs</a:t>
            </a:r>
          </a:p>
          <a:p>
            <a:pPr>
              <a:lnSpc>
                <a:spcPct val="104167"/>
              </a:lnSpc>
              <a:spcAft>
                <a:spcPts val="0"/>
              </a:spcAft>
            </a:pPr>
            <a:r>
              <a:rPr sz="800" i="0">
                <a:solidFill>
                  <a:srgbClr val="82B1FF"/>
                </a:solidFill>
                <a:latin typeface="Inconsolata"/>
              </a:rPr>
              <a:t>$ cp -r before latihan</a:t>
            </a:r>
          </a:p>
          <a:p>
            <a:pPr>
              <a:lnSpc>
                <a:spcPct val="104167"/>
              </a:lnSpc>
              <a:spcAft>
                <a:spcPts val="0"/>
              </a:spcAft>
            </a:pPr>
            <a:r>
              <a:rPr sz="800" i="0">
                <a:solidFill>
                  <a:srgbClr val="82B1FF"/>
                </a:solidFill>
                <a:latin typeface="Inconsolata"/>
              </a:rPr>
              <a:t>$ cd latihan</a:t>
            </a:r>
          </a:p>
          <a:p>
            <a:pPr>
              <a:lnSpc>
                <a:spcPct val="104167"/>
              </a:lnSpc>
              <a:spcAft>
                <a:spcPts val="0"/>
              </a:spcAft>
            </a:pPr>
            <a:r>
              <a:rPr sz="800" i="0">
                <a:solidFill>
                  <a:srgbClr val="82B1FF"/>
                </a:solidFill>
                <a:latin typeface="Inconsolata"/>
              </a:rPr>
              <a:t>$ uvicorn app.main:app --reload</a:t>
            </a:r>
          </a:p>
          <a:p>
            <a:pPr>
              <a:lnSpc>
                <a:spcPct val="104167"/>
              </a:lnSpc>
              <a:spcAft>
                <a:spcPts val="0"/>
              </a:spcAft>
            </a:pPr>
            <a:endParaRPr sz="800" i="0">
              <a:solidFill>
                <a:srgbClr val="82B1FF"/>
              </a:solidFill>
              <a:latin typeface="Inconsolata"/>
            </a:endParaRPr>
          </a:p>
          <a:p>
            <a:pPr>
              <a:lnSpc>
                <a:spcPct val="104167"/>
              </a:lnSpc>
              <a:spcAft>
                <a:spcPts val="0"/>
              </a:spcAft>
            </a:pPr>
            <a:r>
              <a:rPr sz="800" i="1">
                <a:solidFill>
                  <a:srgbClr val="8B98A8"/>
                </a:solidFill>
                <a:latin typeface="Inconsolata"/>
              </a:rPr>
              <a:t># buka http://127.0.0.1:8000/docs</a:t>
            </a:r>
          </a:p>
          <a:p>
            <a:pPr>
              <a:lnSpc>
                <a:spcPct val="104167"/>
              </a:lnSpc>
              <a:spcAft>
                <a:spcPts val="0"/>
              </a:spcAft>
            </a:pPr>
            <a:r>
              <a:rPr sz="800" i="1">
                <a:solidFill>
                  <a:srgbClr val="8B98A8"/>
                </a:solidFill>
                <a:latin typeface="Inconsolata"/>
              </a:rPr>
              <a:t># POST /products -&gt; Keyboard, price 500000, stock 5</a:t>
            </a:r>
          </a:p>
          <a:p>
            <a:pPr>
              <a:lnSpc>
                <a:spcPct val="104167"/>
              </a:lnSpc>
              <a:spcAft>
                <a:spcPts val="0"/>
              </a:spcAft>
            </a:pPr>
            <a:r>
              <a:rPr sz="800" i="1">
                <a:solidFill>
                  <a:srgbClr val="8B98A8"/>
                </a:solidFill>
                <a:latin typeface="Inconsolata"/>
              </a:rPr>
              <a:t># POST /orders   -&gt; body:</a:t>
            </a:r>
          </a:p>
          <a:p>
            <a:pPr>
              <a:lnSpc>
                <a:spcPct val="104167"/>
              </a:lnSpc>
              <a:spcAft>
                <a:spcPts val="0"/>
              </a:spcAft>
            </a:pPr>
            <a:r>
              <a:rPr sz="800" i="0">
                <a:solidFill>
                  <a:srgbClr val="E6EDF3"/>
                </a:solidFill>
                <a:latin typeface="Inconsolata"/>
              </a:rPr>
              <a:t>{</a:t>
            </a:r>
          </a:p>
          <a:p>
            <a:pPr>
              <a:lnSpc>
                <a:spcPct val="104167"/>
              </a:lnSpc>
              <a:spcAft>
                <a:spcPts val="0"/>
              </a:spcAft>
            </a:pPr>
            <a:r>
              <a:rPr sz="800" i="0">
                <a:solidFill>
                  <a:srgbClr val="E6EDF3"/>
                </a:solidFill>
                <a:latin typeface="Inconsolata"/>
              </a:rPr>
              <a:t>  "customer": "budi@mail.com",</a:t>
            </a:r>
          </a:p>
          <a:p>
            <a:pPr>
              <a:lnSpc>
                <a:spcPct val="104167"/>
              </a:lnSpc>
              <a:spcAft>
                <a:spcPts val="0"/>
              </a:spcAft>
            </a:pPr>
            <a:r>
              <a:rPr sz="800" i="0">
                <a:solidFill>
                  <a:srgbClr val="E6EDF3"/>
                </a:solidFill>
                <a:latin typeface="Inconsolata"/>
              </a:rPr>
              <a:t>  "customer_type": "vip",</a:t>
            </a:r>
          </a:p>
          <a:p>
            <a:pPr>
              <a:lnSpc>
                <a:spcPct val="104167"/>
              </a:lnSpc>
              <a:spcAft>
                <a:spcPts val="0"/>
              </a:spcAft>
            </a:pPr>
            <a:r>
              <a:rPr sz="800" i="0">
                <a:solidFill>
                  <a:srgbClr val="E6EDF3"/>
                </a:solidFill>
                <a:latin typeface="Inconsolata"/>
              </a:rPr>
              <a:t>  "items": [{"product_id": 1, "qty": 2}]</a:t>
            </a:r>
          </a:p>
          <a:p>
            <a:pPr>
              <a:lnSpc>
                <a:spcPct val="104167"/>
              </a:lnSpc>
              <a:spcAft>
                <a:spcPts val="0"/>
              </a:spcAft>
            </a:pPr>
            <a:r>
              <a:rPr sz="800" i="0">
                <a:solidFill>
                  <a:srgbClr val="E6EDF3"/>
                </a:solidFill>
                <a:latin typeface="Inconsolata"/>
              </a:rPr>
              <a:t>}</a:t>
            </a:r>
          </a:p>
        </p:txBody>
      </p:sp>
      <p:sp>
        <p:nvSpPr>
          <p:cNvPr id="29" name="Box 12"/>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Text 13"/>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1" name="Text 14"/>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Install dependency (Celery dan Redis client sudah ada di </a:t>
            </a:r>
            <a:r>
              <a:rPr sz="900" b="0" i="0">
                <a:solidFill>
                  <a:srgbClr val="B5482A"/>
                </a:solidFill>
                <a:latin typeface="Inconsolata"/>
              </a:rPr>
              <a:t>requirements.txt</a:t>
            </a:r>
            <a:r>
              <a:rPr sz="900" b="0" i="0">
                <a:solidFill>
                  <a:srgbClr val="434343"/>
                </a:solidFill>
                <a:latin typeface="Inter"/>
              </a:rPr>
              <a: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Jalankan Redis dengan Docker</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Salin </a:t>
            </a:r>
            <a:r>
              <a:rPr sz="900" b="0" i="0">
                <a:solidFill>
                  <a:srgbClr val="B5482A"/>
                </a:solidFill>
                <a:latin typeface="Inconsolata"/>
              </a:rPr>
              <a:t>before/</a:t>
            </a:r>
            <a:r>
              <a:rPr sz="900" b="0" i="0">
                <a:solidFill>
                  <a:srgbClr val="434343"/>
                </a:solidFill>
                <a:latin typeface="Inter"/>
              </a:rPr>
              <a:t> jadi </a:t>
            </a:r>
            <a:r>
              <a:rPr sz="900" b="0" i="0">
                <a:solidFill>
                  <a:srgbClr val="B5482A"/>
                </a:solidFill>
                <a:latin typeface="Inconsolata"/>
              </a:rPr>
              <a:t>latihan/</a:t>
            </a:r>
            <a:r>
              <a:rPr sz="900" b="0" i="0">
                <a:solidFill>
                  <a:srgbClr val="434343"/>
                </a:solidFill>
                <a:latin typeface="Inter"/>
              </a:rPr>
              <a:t>, jalankan, lalu buat produk dan order dari Swagger</a:t>
            </a:r>
          </a:p>
        </p:txBody>
      </p:sp>
      <p:sp>
        <p:nvSpPr>
          <p:cNvPr id="32" name="Box 15"/>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Text 16"/>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4" name="Text 17"/>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Response 201, dan log </a:t>
            </a:r>
            <a:r>
              <a:rPr sz="900" b="0" i="0">
                <a:solidFill>
                  <a:srgbClr val="B5482A"/>
                </a:solidFill>
                <a:latin typeface="Inconsolata"/>
              </a:rPr>
              <a:t>[EMAIL]</a:t>
            </a:r>
            <a:r>
              <a:rPr sz="900" b="0" i="0">
                <a:solidFill>
                  <a:srgbClr val="434343"/>
                </a:solidFill>
                <a:latin typeface="Inter"/>
              </a:rPr>
              <a:t> muncul di terminal uvicorn.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Log dari Kode Awal</a:t>
            </a:r>
          </a:p>
        </p:txBody>
      </p:sp>
      <p:pic>
        <p:nvPicPr>
          <p:cNvPr id="22" name="Image 3" descr="s05-before-log.png"/>
          <p:cNvPicPr>
            <a:picLocks noChangeAspect="1"/>
          </p:cNvPicPr>
          <p:nvPr/>
        </p:nvPicPr>
        <p:blipFill>
          <a:blip r:embed="rId2"/>
          <a:stretch>
            <a:fillRect/>
          </a:stretch>
        </p:blipFill>
        <p:spPr>
          <a:xfrm>
            <a:off x="621792" y="1481328"/>
            <a:ext cx="4572000" cy="1285875"/>
          </a:xfrm>
          <a:prstGeom prst="rect">
            <a:avLst/>
          </a:prstGeom>
          <a:ln w="9525">
            <a:solidFill>
              <a:srgbClr val="D0D5DD"/>
            </a:solidFill>
          </a:ln>
        </p:spPr>
      </p:pic>
      <p:sp>
        <p:nvSpPr>
          <p:cNvPr id="23" name="Text 4"/>
          <p:cNvSpPr txBox="1"/>
          <p:nvPr/>
        </p:nvSpPr>
        <p:spPr>
          <a:xfrm>
            <a:off x="621792" y="2858643"/>
            <a:ext cx="4572000" cy="91440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Yang terjadi</a:t>
            </a:r>
          </a:p>
          <a:p>
            <a:pPr algn="l">
              <a:lnSpc>
                <a:spcPct val="115000"/>
              </a:lnSpc>
              <a:spcAft>
                <a:spcPts val="400"/>
              </a:spcAft>
            </a:pPr>
            <a:r>
              <a:rPr sz="950" b="0" i="0">
                <a:solidFill>
                  <a:srgbClr val="434343"/>
                </a:solidFill>
                <a:latin typeface="Inter"/>
              </a:rPr>
              <a:t>Log </a:t>
            </a:r>
            <a:r>
              <a:rPr sz="950" b="0" i="0">
                <a:solidFill>
                  <a:srgbClr val="B5482A"/>
                </a:solidFill>
                <a:latin typeface="Inconsolata"/>
              </a:rPr>
              <a:t>[EMAIL]</a:t>
            </a:r>
            <a:r>
              <a:rPr sz="950" b="0" i="0">
                <a:solidFill>
                  <a:srgbClr val="434343"/>
                </a:solidFill>
                <a:latin typeface="Inter"/>
              </a:rPr>
              <a:t> muncul </a:t>
            </a:r>
            <a:r>
              <a:rPr sz="950" b="1" i="0">
                <a:solidFill>
                  <a:srgbClr val="434343"/>
                </a:solidFill>
                <a:latin typeface="Inter"/>
              </a:rPr>
              <a:t>sebelum</a:t>
            </a:r>
            <a:r>
              <a:rPr sz="950" b="0" i="0">
                <a:solidFill>
                  <a:srgbClr val="434343"/>
                </a:solidFill>
                <a:latin typeface="Inter"/>
              </a:rPr>
              <a:t> </a:t>
            </a:r>
            <a:r>
              <a:rPr sz="950" b="0" i="0">
                <a:solidFill>
                  <a:srgbClr val="B5482A"/>
                </a:solidFill>
                <a:latin typeface="Inconsolata"/>
              </a:rPr>
              <a:t>POST /orders 201</a:t>
            </a:r>
            <a:r>
              <a:rPr sz="950" b="0" i="0">
                <a:solidFill>
                  <a:srgbClr val="434343"/>
                </a:solidFill>
                <a:latin typeface="Inter"/>
              </a:rPr>
              <a:t>, artinya email dikirim di dalam request. Client harus menunggu sampai email terkirim.</a:t>
            </a:r>
          </a:p>
        </p:txBody>
      </p:sp>
      <p:sp>
        <p:nvSpPr>
          <p:cNvPr id="24" name="Box 5"/>
          <p:cNvSpPr/>
          <p:nvPr/>
        </p:nvSpPr>
        <p:spPr>
          <a:xfrm>
            <a:off x="5349240" y="1481328"/>
            <a:ext cx="3136392" cy="3218688"/>
          </a:xfrm>
          <a:prstGeom prst="roundRect">
            <a:avLst>
              <a:gd name="adj" fmla="val 3498"/>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5" name="Text 6"/>
          <p:cNvSpPr txBox="1"/>
          <p:nvPr/>
        </p:nvSpPr>
        <p:spPr>
          <a:xfrm>
            <a:off x="5486400" y="1572768"/>
            <a:ext cx="286207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Setelah hands-on</a:t>
            </a:r>
          </a:p>
        </p:txBody>
      </p:sp>
      <p:sp>
        <p:nvSpPr>
          <p:cNvPr id="26" name="Text 7"/>
          <p:cNvSpPr txBox="1"/>
          <p:nvPr/>
        </p:nvSpPr>
        <p:spPr>
          <a:xfrm>
            <a:off x="5486400" y="1892808"/>
            <a:ext cx="286207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API hanya menaruh notifikasi ke queue</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Worker yang mengirim, dengan retry dan idempotency key</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Ada endpoint report penjualan yang dikerjakan worker</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OrderService</a:t>
            </a:r>
            <a:r>
              <a:rPr sz="950" b="0" i="0">
                <a:solidFill>
                  <a:srgbClr val="434343"/>
                </a:solidFill>
                <a:latin typeface="Inter"/>
              </a:rPr>
              <a:t> tidak diubah sama sekali</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2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infrastructure/config.py: setting Celery</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app/infrastructure/config.py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0">
                <a:solidFill>
                  <a:srgbClr val="F9C97A"/>
                </a:solidFill>
                <a:latin typeface="Inconsolata"/>
              </a:rPr>
              <a:t>@dataclass</a:t>
            </a:r>
            <a:r>
              <a:rPr sz="650" i="0">
                <a:solidFill>
                  <a:srgbClr val="E6EDF3"/>
                </a:solidFill>
                <a:latin typeface="Inconsolata"/>
              </a:rPr>
              <a:t>(frozen=</a:t>
            </a:r>
            <a:r>
              <a:rPr sz="650" i="0">
                <a:solidFill>
                  <a:srgbClr val="FF8E6E"/>
                </a:solidFill>
                <a:latin typeface="Inconsolata"/>
              </a:rPr>
              <a:t>True</a:t>
            </a:r>
            <a:r>
              <a:rPr sz="650" i="0">
                <a:solidFill>
                  <a:srgbClr val="E6EDF3"/>
                </a:solidFill>
                <a:latin typeface="Inconsolata"/>
              </a:rPr>
              <a:t>)</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Settings</a:t>
            </a:r>
            <a:r>
              <a:rPr sz="650" i="0">
                <a:solidFill>
                  <a:srgbClr val="E6EDF3"/>
                </a:solidFill>
                <a:latin typeface="Inconsolata"/>
              </a:rPr>
              <a:t>:</a:t>
            </a:r>
          </a:p>
          <a:p>
            <a:pPr>
              <a:lnSpc>
                <a:spcPct val="102564"/>
              </a:lnSpc>
              <a:spcAft>
                <a:spcPts val="0"/>
              </a:spcAft>
            </a:pPr>
            <a:r>
              <a:rPr sz="650" i="0">
                <a:solidFill>
                  <a:srgbClr val="E6EDF3"/>
                </a:solidFill>
                <a:latin typeface="Inconsolata"/>
              </a:rPr>
              <a:t>    database_url: </a:t>
            </a:r>
            <a:r>
              <a:rPr sz="650" i="0">
                <a:solidFill>
                  <a:srgbClr val="C3A6FF"/>
                </a:solidFill>
                <a:latin typeface="Inconsolata"/>
              </a:rPr>
              <a:t>str</a:t>
            </a:r>
          </a:p>
          <a:p>
            <a:pPr>
              <a:lnSpc>
                <a:spcPct val="102564"/>
              </a:lnSpc>
              <a:spcAft>
                <a:spcPts val="0"/>
              </a:spcAft>
            </a:pPr>
            <a:r>
              <a:rPr sz="650" i="0">
                <a:solidFill>
                  <a:srgbClr val="E6EDF3"/>
                </a:solidFill>
                <a:latin typeface="Inconsolata"/>
              </a:rPr>
              <a:t>    notification_channel: </a:t>
            </a:r>
            <a:r>
              <a:rPr sz="650" i="0">
                <a:solidFill>
                  <a:srgbClr val="C3A6FF"/>
                </a:solidFill>
                <a:latin typeface="Inconsolata"/>
              </a:rPr>
              <a:t>str</a:t>
            </a:r>
          </a:p>
          <a:p>
            <a:pPr>
              <a:lnSpc>
                <a:spcPct val="102564"/>
              </a:lnSpc>
              <a:spcAft>
                <a:spcPts val="0"/>
              </a:spcAft>
            </a:pPr>
            <a:r>
              <a:rPr sz="650" i="0">
                <a:solidFill>
                  <a:srgbClr val="E6EDF3"/>
                </a:solidFill>
                <a:latin typeface="Inconsolata"/>
              </a:rPr>
              <a:t>    notification_fail_rate: </a:t>
            </a:r>
            <a:r>
              <a:rPr sz="650" i="0">
                <a:solidFill>
                  <a:srgbClr val="C3A6FF"/>
                </a:solidFill>
                <a:latin typeface="Inconsolata"/>
              </a:rPr>
              <a:t>float</a:t>
            </a:r>
            <a:r>
              <a:rPr sz="650" i="0">
                <a:solidFill>
                  <a:srgbClr val="E6EDF3"/>
                </a:solidFill>
                <a:latin typeface="Inconsolata"/>
              </a:rPr>
              <a:t>     </a:t>
            </a:r>
            <a:r>
              <a:rPr sz="650" i="1">
                <a:solidFill>
                  <a:srgbClr val="8B98A8"/>
                </a:solidFill>
                <a:latin typeface="Inconsolata"/>
              </a:rPr>
              <a:t># simulasi server email gangguan, 0.5 = setengah percobaan gagal</a:t>
            </a:r>
          </a:p>
          <a:p>
            <a:pPr>
              <a:lnSpc>
                <a:spcPct val="102564"/>
              </a:lnSpc>
              <a:spcAft>
                <a:spcPts val="0"/>
              </a:spcAft>
            </a:pPr>
            <a:r>
              <a:rPr sz="650" i="0">
                <a:solidFill>
                  <a:srgbClr val="E6EDF3"/>
                </a:solidFill>
                <a:latin typeface="Inconsolata"/>
              </a:rPr>
              <a:t>    broker_url: </a:t>
            </a:r>
            <a:r>
              <a:rPr sz="650" i="0">
                <a:solidFill>
                  <a:srgbClr val="C3A6FF"/>
                </a:solidFill>
                <a:latin typeface="Inconsolata"/>
              </a:rPr>
              <a:t>str</a:t>
            </a:r>
          </a:p>
          <a:p>
            <a:pPr>
              <a:lnSpc>
                <a:spcPct val="102564"/>
              </a:lnSpc>
              <a:spcAft>
                <a:spcPts val="0"/>
              </a:spcAft>
            </a:pPr>
            <a:r>
              <a:rPr sz="650" i="0">
                <a:solidFill>
                  <a:srgbClr val="E6EDF3"/>
                </a:solidFill>
                <a:latin typeface="Inconsolata"/>
              </a:rPr>
              <a:t>    result_backend: </a:t>
            </a:r>
            <a:r>
              <a:rPr sz="650" i="0">
                <a:solidFill>
                  <a:srgbClr val="C3A6FF"/>
                </a:solidFill>
                <a:latin typeface="Inconsolata"/>
              </a:rPr>
              <a:t>str</a:t>
            </a:r>
          </a:p>
          <a:p>
            <a:pPr>
              <a:lnSpc>
                <a:spcPct val="102564"/>
              </a:lnSpc>
              <a:spcAft>
                <a:spcPts val="0"/>
              </a:spcAft>
            </a:pPr>
            <a:r>
              <a:rPr sz="650" i="0">
                <a:solidFill>
                  <a:srgbClr val="E6EDF3"/>
                </a:solidFill>
                <a:latin typeface="Inconsolata"/>
              </a:rPr>
              <a:t>    task_always_eager: </a:t>
            </a:r>
            <a:r>
              <a:rPr sz="650" i="0">
                <a:solidFill>
                  <a:srgbClr val="C3A6FF"/>
                </a:solidFill>
                <a:latin typeface="Inconsolata"/>
              </a:rPr>
              <a:t>bool</a:t>
            </a:r>
            <a:r>
              <a:rPr sz="650" i="0">
                <a:solidFill>
                  <a:srgbClr val="E6EDF3"/>
                </a:solidFill>
                <a:latin typeface="Inconsolata"/>
              </a:rPr>
              <a:t>           </a:t>
            </a:r>
            <a:r>
              <a:rPr sz="650" i="1">
                <a:solidFill>
                  <a:srgbClr val="8B98A8"/>
                </a:solidFill>
                <a:latin typeface="Inconsolata"/>
              </a:rPr>
              <a:t># True = task langsung dijalankan tanpa worker (dipakai di test)</a:t>
            </a:r>
          </a:p>
          <a:p>
            <a:pPr>
              <a:lnSpc>
                <a:spcPct val="102564"/>
              </a:lnSpc>
              <a:spcAft>
                <a:spcPts val="0"/>
              </a:spcAft>
            </a:pPr>
            <a:r>
              <a:rPr sz="650" i="0">
                <a:solidFill>
                  <a:srgbClr val="E6EDF3"/>
                </a:solidFill>
                <a:latin typeface="Inconsolata"/>
              </a:rPr>
              <a:t>    report_delay: </a:t>
            </a:r>
            <a:r>
              <a:rPr sz="650" i="0">
                <a:solidFill>
                  <a:srgbClr val="C3A6FF"/>
                </a:solidFill>
                <a:latin typeface="Inconsolata"/>
              </a:rPr>
              <a:t>float</a:t>
            </a:r>
            <a:r>
              <a:rPr sz="650" i="0">
                <a:solidFill>
                  <a:srgbClr val="E6EDF3"/>
                </a:solidFill>
                <a:latin typeface="Inconsolata"/>
              </a:rPr>
              <a:t>               </a:t>
            </a:r>
            <a:r>
              <a:rPr sz="650" i="1">
                <a:solidFill>
                  <a:srgbClr val="8B98A8"/>
                </a:solidFill>
                <a:latin typeface="Inconsolata"/>
              </a:rPr>
              <a:t># simulasi report yang lama dibuat, dalam detik</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F9C97A"/>
                </a:solidFill>
                <a:latin typeface="Inconsolata"/>
              </a:rPr>
              <a:t>@lru_cache</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get_settings</a:t>
            </a:r>
            <a:r>
              <a:rPr sz="650" i="0">
                <a:solidFill>
                  <a:srgbClr val="E6EDF3"/>
                </a:solidFill>
                <a:latin typeface="Inconsolata"/>
              </a:rPr>
              <a:t>() -&gt; </a:t>
            </a:r>
            <a:r>
              <a:rPr sz="650" i="0">
                <a:solidFill>
                  <a:srgbClr val="7FDBCA"/>
                </a:solidFill>
                <a:latin typeface="Inconsolata"/>
              </a:rPr>
              <a:t>Settings</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7FDBCA"/>
                </a:solidFill>
                <a:latin typeface="Inconsolata"/>
              </a:rPr>
              <a:t>Settings</a:t>
            </a:r>
            <a:r>
              <a:rPr sz="650" i="0">
                <a:solidFill>
                  <a:srgbClr val="E6EDF3"/>
                </a:solidFill>
                <a:latin typeface="Inconsolata"/>
              </a:rPr>
              <a:t>(</a:t>
            </a:r>
          </a:p>
          <a:p>
            <a:pPr>
              <a:lnSpc>
                <a:spcPct val="102564"/>
              </a:lnSpc>
              <a:spcAft>
                <a:spcPts val="0"/>
              </a:spcAft>
            </a:pPr>
            <a:r>
              <a:rPr sz="650" i="0">
                <a:solidFill>
                  <a:srgbClr val="E6EDF3"/>
                </a:solidFill>
                <a:latin typeface="Inconsolata"/>
              </a:rPr>
              <a:t>        database_url=os.getenv(</a:t>
            </a:r>
            <a:r>
              <a:rPr sz="650" i="0">
                <a:solidFill>
                  <a:srgbClr val="A5D6A7"/>
                </a:solidFill>
                <a:latin typeface="Inconsolata"/>
              </a:rPr>
              <a:t>"DATABASE_URL"</a:t>
            </a:r>
            <a:r>
              <a:rPr sz="650" i="0">
                <a:solidFill>
                  <a:srgbClr val="E6EDF3"/>
                </a:solidFill>
                <a:latin typeface="Inconsolata"/>
              </a:rPr>
              <a:t>, </a:t>
            </a:r>
            <a:r>
              <a:rPr sz="650" i="0">
                <a:solidFill>
                  <a:srgbClr val="A5D6A7"/>
                </a:solidFill>
                <a:latin typeface="Inconsolata"/>
              </a:rPr>
              <a:t>"sqlite:///orders.db"</a:t>
            </a:r>
            <a:r>
              <a:rPr sz="650" i="0">
                <a:solidFill>
                  <a:srgbClr val="E6EDF3"/>
                </a:solidFill>
                <a:latin typeface="Inconsolata"/>
              </a:rPr>
              <a:t>),</a:t>
            </a:r>
          </a:p>
          <a:p>
            <a:pPr>
              <a:lnSpc>
                <a:spcPct val="102564"/>
              </a:lnSpc>
              <a:spcAft>
                <a:spcPts val="0"/>
              </a:spcAft>
            </a:pPr>
            <a:r>
              <a:rPr sz="650" i="0">
                <a:solidFill>
                  <a:srgbClr val="E6EDF3"/>
                </a:solidFill>
                <a:latin typeface="Inconsolata"/>
              </a:rPr>
              <a:t>        notification_channel=os.getenv(</a:t>
            </a:r>
            <a:r>
              <a:rPr sz="650" i="0">
                <a:solidFill>
                  <a:srgbClr val="A5D6A7"/>
                </a:solidFill>
                <a:latin typeface="Inconsolata"/>
              </a:rPr>
              <a:t>"NOTIFICATION_CHANNEL"</a:t>
            </a:r>
            <a:r>
              <a:rPr sz="650" i="0">
                <a:solidFill>
                  <a:srgbClr val="E6EDF3"/>
                </a:solidFill>
                <a:latin typeface="Inconsolata"/>
              </a:rPr>
              <a:t>, </a:t>
            </a:r>
            <a:r>
              <a:rPr sz="650" i="0">
                <a:solidFill>
                  <a:srgbClr val="A5D6A7"/>
                </a:solidFill>
                <a:latin typeface="Inconsolata"/>
              </a:rPr>
              <a:t>"email"</a:t>
            </a:r>
            <a:r>
              <a:rPr sz="650" i="0">
                <a:solidFill>
                  <a:srgbClr val="E6EDF3"/>
                </a:solidFill>
                <a:latin typeface="Inconsolata"/>
              </a:rPr>
              <a:t>),</a:t>
            </a:r>
          </a:p>
          <a:p>
            <a:pPr>
              <a:lnSpc>
                <a:spcPct val="102564"/>
              </a:lnSpc>
              <a:spcAft>
                <a:spcPts val="0"/>
              </a:spcAft>
            </a:pPr>
            <a:r>
              <a:rPr sz="650" i="0">
                <a:solidFill>
                  <a:srgbClr val="E6EDF3"/>
                </a:solidFill>
                <a:latin typeface="Inconsolata"/>
              </a:rPr>
              <a:t>        notification_fail_rate=</a:t>
            </a:r>
            <a:r>
              <a:rPr sz="650" i="0">
                <a:solidFill>
                  <a:srgbClr val="C3A6FF"/>
                </a:solidFill>
                <a:latin typeface="Inconsolata"/>
              </a:rPr>
              <a:t>float</a:t>
            </a:r>
            <a:r>
              <a:rPr sz="650" i="0">
                <a:solidFill>
                  <a:srgbClr val="E6EDF3"/>
                </a:solidFill>
                <a:latin typeface="Inconsolata"/>
              </a:rPr>
              <a:t>(os.getenv(</a:t>
            </a:r>
            <a:r>
              <a:rPr sz="650" i="0">
                <a:solidFill>
                  <a:srgbClr val="A5D6A7"/>
                </a:solidFill>
                <a:latin typeface="Inconsolata"/>
              </a:rPr>
              <a:t>"NOTIFICATION_FAIL_RATE"</a:t>
            </a:r>
            <a:r>
              <a:rPr sz="650" i="0">
                <a:solidFill>
                  <a:srgbClr val="E6EDF3"/>
                </a:solidFill>
                <a:latin typeface="Inconsolata"/>
              </a:rPr>
              <a:t>, </a:t>
            </a:r>
            <a:r>
              <a:rPr sz="650" i="0">
                <a:solidFill>
                  <a:srgbClr val="A5D6A7"/>
                </a:solidFill>
                <a:latin typeface="Inconsolata"/>
              </a:rPr>
              <a:t>"0"</a:t>
            </a:r>
            <a:r>
              <a:rPr sz="650" i="0">
                <a:solidFill>
                  <a:srgbClr val="E6EDF3"/>
                </a:solidFill>
                <a:latin typeface="Inconsolata"/>
              </a:rPr>
              <a:t>)),</a:t>
            </a:r>
          </a:p>
          <a:p>
            <a:pPr>
              <a:lnSpc>
                <a:spcPct val="102564"/>
              </a:lnSpc>
              <a:spcAft>
                <a:spcPts val="0"/>
              </a:spcAft>
            </a:pPr>
            <a:r>
              <a:rPr sz="650" i="0">
                <a:solidFill>
                  <a:srgbClr val="E6EDF3"/>
                </a:solidFill>
                <a:latin typeface="Inconsolata"/>
              </a:rPr>
              <a:t>        broker_url=os.getenv(</a:t>
            </a:r>
            <a:r>
              <a:rPr sz="650" i="0">
                <a:solidFill>
                  <a:srgbClr val="A5D6A7"/>
                </a:solidFill>
                <a:latin typeface="Inconsolata"/>
              </a:rPr>
              <a:t>"CELERY_BROKER_URL"</a:t>
            </a:r>
            <a:r>
              <a:rPr sz="650" i="0">
                <a:solidFill>
                  <a:srgbClr val="E6EDF3"/>
                </a:solidFill>
                <a:latin typeface="Inconsolata"/>
              </a:rPr>
              <a:t>, </a:t>
            </a:r>
            <a:r>
              <a:rPr sz="650" i="0">
                <a:solidFill>
                  <a:srgbClr val="A5D6A7"/>
                </a:solidFill>
                <a:latin typeface="Inconsolata"/>
              </a:rPr>
              <a:t>"redis://localhost:6379/0"</a:t>
            </a:r>
            <a:r>
              <a:rPr sz="650" i="0">
                <a:solidFill>
                  <a:srgbClr val="E6EDF3"/>
                </a:solidFill>
                <a:latin typeface="Inconsolata"/>
              </a:rPr>
              <a:t>),</a:t>
            </a:r>
          </a:p>
          <a:p>
            <a:pPr>
              <a:lnSpc>
                <a:spcPct val="102564"/>
              </a:lnSpc>
              <a:spcAft>
                <a:spcPts val="0"/>
              </a:spcAft>
            </a:pPr>
            <a:r>
              <a:rPr sz="650" i="0">
                <a:solidFill>
                  <a:srgbClr val="E6EDF3"/>
                </a:solidFill>
                <a:latin typeface="Inconsolata"/>
              </a:rPr>
              <a:t>        result_backend=os.getenv(</a:t>
            </a:r>
            <a:r>
              <a:rPr sz="650" i="0">
                <a:solidFill>
                  <a:srgbClr val="A5D6A7"/>
                </a:solidFill>
                <a:latin typeface="Inconsolata"/>
              </a:rPr>
              <a:t>"CELERY_RESULT_BACKEND"</a:t>
            </a:r>
            <a:r>
              <a:rPr sz="650" i="0">
                <a:solidFill>
                  <a:srgbClr val="E6EDF3"/>
                </a:solidFill>
                <a:latin typeface="Inconsolata"/>
              </a:rPr>
              <a:t>, </a:t>
            </a:r>
            <a:r>
              <a:rPr sz="650" i="0">
                <a:solidFill>
                  <a:srgbClr val="A5D6A7"/>
                </a:solidFill>
                <a:latin typeface="Inconsolata"/>
              </a:rPr>
              <a:t>"redis://localhost:6379/1"</a:t>
            </a:r>
            <a:r>
              <a:rPr sz="650" i="0">
                <a:solidFill>
                  <a:srgbClr val="E6EDF3"/>
                </a:solidFill>
                <a:latin typeface="Inconsolata"/>
              </a:rPr>
              <a:t>),</a:t>
            </a:r>
          </a:p>
          <a:p>
            <a:pPr>
              <a:lnSpc>
                <a:spcPct val="102564"/>
              </a:lnSpc>
              <a:spcAft>
                <a:spcPts val="0"/>
              </a:spcAft>
            </a:pPr>
            <a:r>
              <a:rPr sz="650" i="0">
                <a:solidFill>
                  <a:srgbClr val="E6EDF3"/>
                </a:solidFill>
                <a:latin typeface="Inconsolata"/>
              </a:rPr>
              <a:t>        task_always_eager=os.getenv(</a:t>
            </a:r>
            <a:r>
              <a:rPr sz="650" i="0">
                <a:solidFill>
                  <a:srgbClr val="A5D6A7"/>
                </a:solidFill>
                <a:latin typeface="Inconsolata"/>
              </a:rPr>
              <a:t>"CELERY_TASK_ALWAYS_EAGER"</a:t>
            </a:r>
            <a:r>
              <a:rPr sz="650" i="0">
                <a:solidFill>
                  <a:srgbClr val="E6EDF3"/>
                </a:solidFill>
                <a:latin typeface="Inconsolata"/>
              </a:rPr>
              <a:t>, </a:t>
            </a:r>
            <a:r>
              <a:rPr sz="650" i="0">
                <a:solidFill>
                  <a:srgbClr val="A5D6A7"/>
                </a:solidFill>
                <a:latin typeface="Inconsolata"/>
              </a:rPr>
              <a:t>"0"</a:t>
            </a:r>
            <a:r>
              <a:rPr sz="650" i="0">
                <a:solidFill>
                  <a:srgbClr val="E6EDF3"/>
                </a:solidFill>
                <a:latin typeface="Inconsolata"/>
              </a:rPr>
              <a:t>) == </a:t>
            </a:r>
            <a:r>
              <a:rPr sz="650" i="0">
                <a:solidFill>
                  <a:srgbClr val="A5D6A7"/>
                </a:solidFill>
                <a:latin typeface="Inconsolata"/>
              </a:rPr>
              <a:t>"1"</a:t>
            </a:r>
            <a:r>
              <a:rPr sz="650" i="0">
                <a:solidFill>
                  <a:srgbClr val="E6EDF3"/>
                </a:solidFill>
                <a:latin typeface="Inconsolata"/>
              </a:rPr>
              <a:t>,</a:t>
            </a:r>
          </a:p>
          <a:p>
            <a:pPr>
              <a:lnSpc>
                <a:spcPct val="102564"/>
              </a:lnSpc>
              <a:spcAft>
                <a:spcPts val="0"/>
              </a:spcAft>
            </a:pPr>
            <a:r>
              <a:rPr sz="650" i="0">
                <a:solidFill>
                  <a:srgbClr val="E6EDF3"/>
                </a:solidFill>
                <a:latin typeface="Inconsolata"/>
              </a:rPr>
              <a:t>        report_delay=</a:t>
            </a:r>
            <a:r>
              <a:rPr sz="650" i="0">
                <a:solidFill>
                  <a:srgbClr val="C3A6FF"/>
                </a:solidFill>
                <a:latin typeface="Inconsolata"/>
              </a:rPr>
              <a:t>float</a:t>
            </a:r>
            <a:r>
              <a:rPr sz="650" i="0">
                <a:solidFill>
                  <a:srgbClr val="E6EDF3"/>
                </a:solidFill>
                <a:latin typeface="Inconsolata"/>
              </a:rPr>
              <a:t>(os.getenv(</a:t>
            </a:r>
            <a:r>
              <a:rPr sz="650" i="0">
                <a:solidFill>
                  <a:srgbClr val="A5D6A7"/>
                </a:solidFill>
                <a:latin typeface="Inconsolata"/>
              </a:rPr>
              <a:t>"REPORT_DELAY"</a:t>
            </a:r>
            <a:r>
              <a:rPr sz="650" i="0">
                <a:solidFill>
                  <a:srgbClr val="E6EDF3"/>
                </a:solidFill>
                <a:latin typeface="Inconsolata"/>
              </a:rPr>
              <a:t>, </a:t>
            </a:r>
            <a:r>
              <a:rPr sz="650" i="0">
                <a:solidFill>
                  <a:srgbClr val="A5D6A7"/>
                </a:solidFill>
                <a:latin typeface="Inconsolata"/>
              </a:rPr>
              <a:t>"5"</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p>
        </p:txBody>
      </p:sp>
      <p:sp>
        <p:nvSpPr>
          <p:cNvPr id="29" name="Box 12"/>
          <p:cNvSpPr/>
          <p:nvPr/>
        </p:nvSpPr>
        <p:spPr>
          <a:xfrm>
            <a:off x="704088" y="2230120"/>
            <a:ext cx="5230368" cy="501904"/>
          </a:xfrm>
          <a:prstGeom prst="roundRect">
            <a:avLst>
              <a:gd name="adj" fmla="val 9109"/>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362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347720"/>
            <a:ext cx="5230368" cy="501904"/>
          </a:xfrm>
          <a:prstGeom prst="roundRect">
            <a:avLst>
              <a:gd name="adj" fmla="val 9109"/>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479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Field baru di </a:t>
            </a:r>
            <a:r>
              <a:rPr sz="900" b="0" i="0">
                <a:solidFill>
                  <a:srgbClr val="B5482A"/>
                </a:solidFill>
                <a:latin typeface="Inconsolata"/>
              </a:rPr>
              <a:t>Settings</a:t>
            </a:r>
            <a:r>
              <a:rPr sz="900" b="0" i="0">
                <a:solidFill>
                  <a:srgbClr val="434343"/>
                </a:solidFill>
                <a:latin typeface="Inter"/>
              </a:rPr>
              <a:t>: alamat broker dan result backend (Redis db 0 dan 1), </a:t>
            </a:r>
            <a:r>
              <a:rPr sz="900" b="0" i="0">
                <a:solidFill>
                  <a:srgbClr val="B5482A"/>
                </a:solidFill>
                <a:latin typeface="Inconsolata"/>
              </a:rPr>
              <a:t>task_always_eager</a:t>
            </a:r>
            <a:r>
              <a:rPr sz="900" b="0" i="0">
                <a:solidFill>
                  <a:srgbClr val="434343"/>
                </a:solidFill>
                <a:latin typeface="Inter"/>
              </a:rPr>
              <a:t> untuk test, serta </a:t>
            </a:r>
            <a:r>
              <a:rPr sz="900" b="0" i="0">
                <a:solidFill>
                  <a:srgbClr val="B5482A"/>
                </a:solidFill>
                <a:latin typeface="Inconsolata"/>
              </a:rPr>
              <a:t>notification_fail_rate</a:t>
            </a:r>
            <a:r>
              <a:rPr sz="900" b="0" i="0">
                <a:solidFill>
                  <a:srgbClr val="434343"/>
                </a:solidFill>
                <a:latin typeface="Inter"/>
              </a:rPr>
              <a:t> dan </a:t>
            </a:r>
            <a:r>
              <a:rPr sz="900" b="0" i="0">
                <a:solidFill>
                  <a:srgbClr val="B5482A"/>
                </a:solidFill>
                <a:latin typeface="Inconsolata"/>
              </a:rPr>
              <a:t>report_delay</a:t>
            </a:r>
            <a:r>
              <a:rPr sz="900" b="0" i="0">
                <a:solidFill>
                  <a:srgbClr val="434343"/>
                </a:solidFill>
                <a:latin typeface="Inter"/>
              </a:rPr>
              <a:t> untuk simulasi</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Nilainya dibaca dari environment variable, lengkap dengan default</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Semua bisa diganti lewat environment variable.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3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get_session_factory dipakai bersama API dan worker</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infrastructure/database.py  +  api/dependencies.py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143"/>
              </a:lnSpc>
              <a:spcAft>
                <a:spcPts val="0"/>
              </a:spcAft>
            </a:pPr>
            <a:r>
              <a:rPr sz="700" i="1">
                <a:solidFill>
                  <a:srgbClr val="8B98A8"/>
                </a:solidFill>
                <a:latin typeface="Inconsolata"/>
              </a:rPr>
              <a:t># app/infrastructure/database.py</a:t>
            </a:r>
          </a:p>
          <a:p>
            <a:pPr>
              <a:lnSpc>
                <a:spcPct val="107143"/>
              </a:lnSpc>
              <a:spcAft>
                <a:spcPts val="0"/>
              </a:spcAft>
            </a:pPr>
            <a:r>
              <a:rPr sz="700" i="0">
                <a:solidFill>
                  <a:srgbClr val="F9C97A"/>
                </a:solidFill>
                <a:latin typeface="Inconsolata"/>
              </a:rPr>
              <a:t>@lru_cache</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get_session_factory</a:t>
            </a:r>
            <a:r>
              <a:rPr sz="700" i="0">
                <a:solidFill>
                  <a:srgbClr val="E6EDF3"/>
                </a:solidFill>
                <a:latin typeface="Inconsolata"/>
              </a:rPr>
              <a:t>() -&gt; sessionmaker:</a:t>
            </a:r>
          </a:p>
          <a:p>
            <a:pPr>
              <a:lnSpc>
                <a:spcPct val="107143"/>
              </a:lnSpc>
              <a:spcAft>
                <a:spcPts val="0"/>
              </a:spcAft>
            </a:pPr>
            <a:r>
              <a:rPr sz="700" i="0">
                <a:solidFill>
                  <a:srgbClr val="E6EDF3"/>
                </a:solidFill>
                <a:latin typeface="Inconsolata"/>
              </a:rPr>
              <a:t>    </a:t>
            </a:r>
            <a:r>
              <a:rPr sz="700" i="0">
                <a:solidFill>
                  <a:srgbClr val="FF8E6E"/>
                </a:solidFill>
                <a:latin typeface="Inconsolata"/>
              </a:rPr>
              <a:t>from</a:t>
            </a:r>
            <a:r>
              <a:rPr sz="700" i="0">
                <a:solidFill>
                  <a:srgbClr val="E6EDF3"/>
                </a:solidFill>
                <a:latin typeface="Inconsolata"/>
              </a:rPr>
              <a:t> app.infrastructure.config </a:t>
            </a:r>
            <a:r>
              <a:rPr sz="700" i="0">
                <a:solidFill>
                  <a:srgbClr val="FF8E6E"/>
                </a:solidFill>
                <a:latin typeface="Inconsolata"/>
              </a:rPr>
              <a:t>import</a:t>
            </a:r>
            <a:r>
              <a:rPr sz="700" i="0">
                <a:solidFill>
                  <a:srgbClr val="E6EDF3"/>
                </a:solidFill>
                <a:latin typeface="Inconsolata"/>
              </a:rPr>
              <a:t> get_settings</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create_session_factory(get_settings().database_url)</a:t>
            </a:r>
          </a:p>
          <a:p>
            <a:pPr>
              <a:lnSpc>
                <a:spcPct val="107143"/>
              </a:lnSpc>
              <a:spcAft>
                <a:spcPts val="0"/>
              </a:spcAft>
            </a:pPr>
            <a:r>
              <a:rPr sz="700" i="0">
                <a:solidFill>
                  <a:srgbClr val="E6EDF3"/>
                </a:solidFill>
                <a:latin typeface="Inconsolata"/>
              </a:rPr>
              <a:t> </a:t>
            </a:r>
          </a:p>
          <a:p>
            <a:pPr>
              <a:lnSpc>
                <a:spcPct val="107143"/>
              </a:lnSpc>
              <a:spcAft>
                <a:spcPts val="0"/>
              </a:spcAft>
            </a:pPr>
            <a:r>
              <a:rPr sz="700" i="1">
                <a:solidFill>
                  <a:srgbClr val="8B98A8"/>
                </a:solidFill>
                <a:latin typeface="Inconsolata"/>
              </a:rPr>
              <a:t># app/api/dependencies.py</a:t>
            </a:r>
          </a:p>
          <a:p>
            <a:pPr>
              <a:lnSpc>
                <a:spcPct val="107143"/>
              </a:lnSpc>
              <a:spcAft>
                <a:spcPts val="0"/>
              </a:spcAft>
            </a:pPr>
            <a:r>
              <a:rPr sz="700" i="0">
                <a:solidFill>
                  <a:srgbClr val="FF8E6E"/>
                </a:solidFill>
                <a:latin typeface="Inconsolata"/>
              </a:rPr>
              <a:t>from</a:t>
            </a:r>
            <a:r>
              <a:rPr sz="700" i="0">
                <a:solidFill>
                  <a:srgbClr val="E6EDF3"/>
                </a:solidFill>
                <a:latin typeface="Inconsolata"/>
              </a:rPr>
              <a:t> app.infrastructure.database </a:t>
            </a:r>
            <a:r>
              <a:rPr sz="700" i="0">
                <a:solidFill>
                  <a:srgbClr val="FF8E6E"/>
                </a:solidFill>
                <a:latin typeface="Inconsolata"/>
              </a:rPr>
              <a:t>import</a:t>
            </a:r>
            <a:r>
              <a:rPr sz="700" i="0">
                <a:solidFill>
                  <a:srgbClr val="E6EDF3"/>
                </a:solidFill>
                <a:latin typeface="Inconsolata"/>
              </a:rPr>
              <a:t> get_session_factory</a:t>
            </a:r>
          </a:p>
          <a:p>
            <a:pPr>
              <a:lnSpc>
                <a:spcPct val="107143"/>
              </a:lnSpc>
              <a:spcAft>
                <a:spcPts val="0"/>
              </a:spcAft>
            </a:pPr>
            <a:r>
              <a:rPr sz="700" i="0">
                <a:solidFill>
                  <a:srgbClr val="FF8E6E"/>
                </a:solidFill>
                <a:latin typeface="Inconsolata"/>
              </a:rPr>
              <a:t>from</a:t>
            </a:r>
            <a:r>
              <a:rPr sz="700" i="0">
                <a:solidFill>
                  <a:srgbClr val="E6EDF3"/>
                </a:solidFill>
                <a:latin typeface="Inconsolata"/>
              </a:rPr>
              <a:t> app.infrastructure.unit_of_work </a:t>
            </a:r>
            <a:r>
              <a:rPr sz="700" i="0">
                <a:solidFill>
                  <a:srgbClr val="FF8E6E"/>
                </a:solidFill>
                <a:latin typeface="Inconsolata"/>
              </a:rPr>
              <a:t>import</a:t>
            </a:r>
            <a:r>
              <a:rPr sz="700" i="0">
                <a:solidFill>
                  <a:srgbClr val="E6EDF3"/>
                </a:solidFill>
                <a:latin typeface="Inconsolata"/>
              </a:rPr>
              <a:t> </a:t>
            </a:r>
            <a:r>
              <a:rPr sz="700" i="0">
                <a:solidFill>
                  <a:srgbClr val="7FDBCA"/>
                </a:solidFill>
                <a:latin typeface="Inconsolata"/>
              </a:rPr>
              <a:t>SqlAlchemyUnitOfWork</a:t>
            </a:r>
          </a:p>
          <a:p>
            <a:pPr>
              <a:lnSpc>
                <a:spcPct val="107143"/>
              </a:lnSpc>
              <a:spcAft>
                <a:spcPts val="0"/>
              </a:spcAft>
            </a:pPr>
            <a:r>
              <a:rPr sz="700" i="0">
                <a:solidFill>
                  <a:srgbClr val="FF8E6E"/>
                </a:solidFill>
                <a:latin typeface="Inconsolata"/>
              </a:rPr>
              <a:t>from</a:t>
            </a:r>
            <a:r>
              <a:rPr sz="700" i="0">
                <a:solidFill>
                  <a:srgbClr val="E6EDF3"/>
                </a:solidFill>
                <a:latin typeface="Inconsolata"/>
              </a:rPr>
              <a:t> app.worker.notifier </a:t>
            </a:r>
            <a:r>
              <a:rPr sz="700" i="0">
                <a:solidFill>
                  <a:srgbClr val="FF8E6E"/>
                </a:solidFill>
                <a:latin typeface="Inconsolata"/>
              </a:rPr>
              <a:t>import</a:t>
            </a:r>
            <a:r>
              <a:rPr sz="700" i="0">
                <a:solidFill>
                  <a:srgbClr val="E6EDF3"/>
                </a:solidFill>
                <a:latin typeface="Inconsolata"/>
              </a:rPr>
              <a:t> </a:t>
            </a:r>
            <a:r>
              <a:rPr sz="700" i="0">
                <a:solidFill>
                  <a:srgbClr val="7FDBCA"/>
                </a:solidFill>
                <a:latin typeface="Inconsolata"/>
              </a:rPr>
              <a:t>QueuedNotifier</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get_uow</a:t>
            </a:r>
            <a:r>
              <a:rPr sz="700" i="0">
                <a:solidFill>
                  <a:srgbClr val="E6EDF3"/>
                </a:solidFill>
                <a:latin typeface="Inconsolata"/>
              </a:rPr>
              <a:t>(session_factory: sessionmaker = </a:t>
            </a:r>
            <a:r>
              <a:rPr sz="700" i="0">
                <a:solidFill>
                  <a:srgbClr val="7FDBCA"/>
                </a:solidFill>
                <a:latin typeface="Inconsolata"/>
              </a:rPr>
              <a:t>Depends</a:t>
            </a:r>
            <a:r>
              <a:rPr sz="700" i="0">
                <a:solidFill>
                  <a:srgbClr val="E6EDF3"/>
                </a:solidFill>
                <a:latin typeface="Inconsolata"/>
              </a:rPr>
              <a:t>(get_session_factory)) -&gt; </a:t>
            </a:r>
            <a:r>
              <a:rPr sz="700" i="0">
                <a:solidFill>
                  <a:srgbClr val="7FDBCA"/>
                </a:solidFill>
                <a:latin typeface="Inconsolata"/>
              </a:rPr>
              <a:t>UnitOfWork</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a:t>
            </a:r>
            <a:r>
              <a:rPr sz="700" i="0">
                <a:solidFill>
                  <a:srgbClr val="7FDBCA"/>
                </a:solidFill>
                <a:latin typeface="Inconsolata"/>
              </a:rPr>
              <a:t>SqlAlchemyUnitOfWork</a:t>
            </a:r>
            <a:r>
              <a:rPr sz="700" i="0">
                <a:solidFill>
                  <a:srgbClr val="E6EDF3"/>
                </a:solidFill>
                <a:latin typeface="Inconsolata"/>
              </a:rPr>
              <a:t>(session_factory)</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get_notifier</a:t>
            </a:r>
            <a:r>
              <a:rPr sz="700" i="0">
                <a:solidFill>
                  <a:srgbClr val="E6EDF3"/>
                </a:solidFill>
                <a:latin typeface="Inconsolata"/>
              </a:rPr>
              <a:t>() -&gt; </a:t>
            </a:r>
            <a:r>
              <a:rPr sz="700" i="0">
                <a:solidFill>
                  <a:srgbClr val="7FDBCA"/>
                </a:solidFill>
                <a:latin typeface="Inconsolata"/>
              </a:rPr>
              <a:t>Notifier</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a:t>
            </a:r>
            <a:r>
              <a:rPr sz="700" i="0">
                <a:solidFill>
                  <a:srgbClr val="7FDBCA"/>
                </a:solidFill>
                <a:latin typeface="Inconsolata"/>
              </a:rPr>
              <a:t>QueuedNotifier</a:t>
            </a:r>
            <a:r>
              <a:rPr sz="700" i="0">
                <a:solidFill>
                  <a:srgbClr val="E6EDF3"/>
                </a:solidFill>
                <a:latin typeface="Inconsolata"/>
              </a:rPr>
              <a:t>()</a:t>
            </a:r>
          </a:p>
        </p:txBody>
      </p:sp>
      <p:sp>
        <p:nvSpPr>
          <p:cNvPr id="29" name="Box 12"/>
          <p:cNvSpPr/>
          <p:nvPr/>
        </p:nvSpPr>
        <p:spPr>
          <a:xfrm>
            <a:off x="704088" y="1939671"/>
            <a:ext cx="5230368" cy="564642"/>
          </a:xfrm>
          <a:prstGeom prst="roundRect">
            <a:avLst>
              <a:gd name="adj" fmla="val 80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1031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539871"/>
            <a:ext cx="5230368" cy="221742"/>
          </a:xfrm>
          <a:prstGeom prst="roundRect">
            <a:avLst>
              <a:gd name="adj" fmla="val 20618"/>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5318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get_session_factory</a:t>
            </a:r>
            <a:r>
              <a:rPr sz="900" b="0" i="0">
                <a:solidFill>
                  <a:srgbClr val="434343"/>
                </a:solidFill>
                <a:latin typeface="Inter"/>
              </a:rPr>
              <a:t> dipindah dari </a:t>
            </a:r>
            <a:r>
              <a:rPr sz="900" b="0" i="0">
                <a:solidFill>
                  <a:srgbClr val="B5482A"/>
                </a:solidFill>
                <a:latin typeface="Inconsolata"/>
              </a:rPr>
              <a:t>api/</a:t>
            </a:r>
            <a:r>
              <a:rPr sz="900" b="0" i="0">
                <a:solidFill>
                  <a:srgbClr val="434343"/>
                </a:solidFill>
                <a:latin typeface="Inter"/>
              </a:rPr>
              <a:t> ke </a:t>
            </a:r>
            <a:r>
              <a:rPr sz="900" b="0" i="0">
                <a:solidFill>
                  <a:srgbClr val="B5482A"/>
                </a:solidFill>
                <a:latin typeface="Inconsolata"/>
              </a:rPr>
              <a:t>infrastructure/database.py</a:t>
            </a:r>
            <a:r>
              <a:rPr sz="900" b="0" i="0">
                <a:solidFill>
                  <a:srgbClr val="434343"/>
                </a:solidFill>
                <a:latin typeface="Inter"/>
              </a:rPr>
              <a:t>, karena worker juga butuh database</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dependencies.py</a:t>
            </a:r>
            <a:r>
              <a:rPr sz="900" b="0" i="0">
                <a:solidFill>
                  <a:srgbClr val="434343"/>
                </a:solidFill>
                <a:latin typeface="Inter"/>
              </a:rPr>
              <a:t> cukup meng-import dari sana</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get_notifier</a:t>
            </a:r>
            <a:r>
              <a:rPr sz="900" b="0" i="0">
                <a:solidFill>
                  <a:srgbClr val="434343"/>
                </a:solidFill>
                <a:latin typeface="Inter"/>
              </a:rPr>
              <a:t> nanti mengembalikan </a:t>
            </a:r>
            <a:r>
              <a:rPr sz="900" b="0" i="0">
                <a:solidFill>
                  <a:srgbClr val="B5482A"/>
                </a:solidFill>
                <a:latin typeface="Inconsolata"/>
              </a:rPr>
              <a:t>QueuedNotifier</a:t>
            </a:r>
            <a:r>
              <a:rPr sz="900" b="0" i="0">
                <a:solidFill>
                  <a:srgbClr val="434343"/>
                </a:solidFill>
                <a:latin typeface="Inter"/>
              </a:rPr>
              <a:t> (langkah 7)</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API dan worker memakai database yang sama.</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4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worker/celery_app.py: konfigurasi Celery</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app/worker/celery_app.py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143"/>
              </a:lnSpc>
              <a:spcAft>
                <a:spcPts val="0"/>
              </a:spcAft>
            </a:pPr>
            <a:r>
              <a:rPr sz="700" i="0">
                <a:solidFill>
                  <a:srgbClr val="FF8E6E"/>
                </a:solidFill>
                <a:latin typeface="Inconsolata"/>
              </a:rPr>
              <a:t>from</a:t>
            </a:r>
            <a:r>
              <a:rPr sz="700" i="0">
                <a:solidFill>
                  <a:srgbClr val="E6EDF3"/>
                </a:solidFill>
                <a:latin typeface="Inconsolata"/>
              </a:rPr>
              <a:t> celery </a:t>
            </a:r>
            <a:r>
              <a:rPr sz="700" i="0">
                <a:solidFill>
                  <a:srgbClr val="FF8E6E"/>
                </a:solidFill>
                <a:latin typeface="Inconsolata"/>
              </a:rPr>
              <a:t>import</a:t>
            </a:r>
            <a:r>
              <a:rPr sz="700" i="0">
                <a:solidFill>
                  <a:srgbClr val="E6EDF3"/>
                </a:solidFill>
                <a:latin typeface="Inconsolata"/>
              </a:rPr>
              <a:t> </a:t>
            </a:r>
            <a:r>
              <a:rPr sz="700" i="0">
                <a:solidFill>
                  <a:srgbClr val="7FDBCA"/>
                </a:solidFill>
                <a:latin typeface="Inconsolata"/>
              </a:rPr>
              <a:t>Celery</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FF8E6E"/>
                </a:solidFill>
                <a:latin typeface="Inconsolata"/>
              </a:rPr>
              <a:t>from</a:t>
            </a:r>
            <a:r>
              <a:rPr sz="700" i="0">
                <a:solidFill>
                  <a:srgbClr val="E6EDF3"/>
                </a:solidFill>
                <a:latin typeface="Inconsolata"/>
              </a:rPr>
              <a:t> app.infrastructure.config </a:t>
            </a:r>
            <a:r>
              <a:rPr sz="700" i="0">
                <a:solidFill>
                  <a:srgbClr val="FF8E6E"/>
                </a:solidFill>
                <a:latin typeface="Inconsolata"/>
              </a:rPr>
              <a:t>import</a:t>
            </a:r>
            <a:r>
              <a:rPr sz="700" i="0">
                <a:solidFill>
                  <a:srgbClr val="E6EDF3"/>
                </a:solidFill>
                <a:latin typeface="Inconsolata"/>
              </a:rPr>
              <a:t> get_settings</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settings = get_settings()</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celery_app = </a:t>
            </a:r>
            <a:r>
              <a:rPr sz="700" i="0">
                <a:solidFill>
                  <a:srgbClr val="7FDBCA"/>
                </a:solidFill>
                <a:latin typeface="Inconsolata"/>
              </a:rPr>
              <a:t>Celery</a:t>
            </a:r>
            <a:r>
              <a:rPr sz="700" i="0">
                <a:solidFill>
                  <a:srgbClr val="E6EDF3"/>
                </a:solidFill>
                <a:latin typeface="Inconsolata"/>
              </a:rPr>
              <a:t>(</a:t>
            </a:r>
            <a:r>
              <a:rPr sz="700" i="0">
                <a:solidFill>
                  <a:srgbClr val="A5D6A7"/>
                </a:solidFill>
                <a:latin typeface="Inconsolata"/>
              </a:rPr>
              <a:t>"order_api"</a:t>
            </a:r>
            <a:r>
              <a:rPr sz="700" i="0">
                <a:solidFill>
                  <a:srgbClr val="E6EDF3"/>
                </a:solidFill>
                <a:latin typeface="Inconsolata"/>
              </a:rPr>
              <a:t>, broker=settings.broker_url, backend=settings.result_backend,</a:t>
            </a:r>
          </a:p>
          <a:p>
            <a:pPr>
              <a:lnSpc>
                <a:spcPct val="107143"/>
              </a:lnSpc>
              <a:spcAft>
                <a:spcPts val="0"/>
              </a:spcAft>
            </a:pPr>
            <a:r>
              <a:rPr sz="700" i="0">
                <a:solidFill>
                  <a:srgbClr val="E6EDF3"/>
                </a:solidFill>
                <a:latin typeface="Inconsolata"/>
              </a:rPr>
              <a:t>                    include=[</a:t>
            </a:r>
            <a:r>
              <a:rPr sz="700" i="0">
                <a:solidFill>
                  <a:srgbClr val="A5D6A7"/>
                </a:solidFill>
                <a:latin typeface="Inconsolata"/>
              </a:rPr>
              <a:t>"app.worker.tasks"</a:t>
            </a:r>
            <a:r>
              <a:rPr sz="700" i="0">
                <a:solidFill>
                  <a:srgbClr val="E6EDF3"/>
                </a:solidFill>
                <a:latin typeface="Inconsolata"/>
              </a:rPr>
              <a:t>])</a:t>
            </a:r>
          </a:p>
          <a:p>
            <a:pPr>
              <a:lnSpc>
                <a:spcPct val="107143"/>
              </a:lnSpc>
              <a:spcAft>
                <a:spcPts val="0"/>
              </a:spcAft>
            </a:pPr>
            <a:r>
              <a:rPr sz="700" i="0">
                <a:solidFill>
                  <a:srgbClr val="E6EDF3"/>
                </a:solidFill>
                <a:latin typeface="Inconsolata"/>
              </a:rPr>
              <a:t>celery_app.conf.update(</a:t>
            </a:r>
          </a:p>
          <a:p>
            <a:pPr>
              <a:lnSpc>
                <a:spcPct val="107143"/>
              </a:lnSpc>
              <a:spcAft>
                <a:spcPts val="0"/>
              </a:spcAft>
            </a:pPr>
            <a:r>
              <a:rPr sz="700" i="0">
                <a:solidFill>
                  <a:srgbClr val="E6EDF3"/>
                </a:solidFill>
                <a:latin typeface="Inconsolata"/>
              </a:rPr>
              <a:t>    task_track_started=</a:t>
            </a:r>
            <a:r>
              <a:rPr sz="700" i="0">
                <a:solidFill>
                  <a:srgbClr val="FF8E6E"/>
                </a:solidFill>
                <a:latin typeface="Inconsolata"/>
              </a:rPr>
              <a:t>True</a:t>
            </a:r>
            <a:r>
              <a:rPr sz="700" i="0">
                <a:solidFill>
                  <a:srgbClr val="E6EDF3"/>
                </a:solidFill>
                <a:latin typeface="Inconsolata"/>
              </a:rPr>
              <a:t>,          </a:t>
            </a:r>
            <a:r>
              <a:rPr sz="700" i="1">
                <a:solidFill>
                  <a:srgbClr val="8B98A8"/>
                </a:solidFill>
                <a:latin typeface="Inconsolata"/>
              </a:rPr>
              <a:t># status "running" saat worker mulai mengerjakan</a:t>
            </a:r>
          </a:p>
          <a:p>
            <a:pPr>
              <a:lnSpc>
                <a:spcPct val="107143"/>
              </a:lnSpc>
              <a:spcAft>
                <a:spcPts val="0"/>
              </a:spcAft>
            </a:pPr>
            <a:r>
              <a:rPr sz="700" i="0">
                <a:solidFill>
                  <a:srgbClr val="E6EDF3"/>
                </a:solidFill>
                <a:latin typeface="Inconsolata"/>
              </a:rPr>
              <a:t>    task_acks_late=</a:t>
            </a:r>
            <a:r>
              <a:rPr sz="700" i="0">
                <a:solidFill>
                  <a:srgbClr val="FF8E6E"/>
                </a:solidFill>
                <a:latin typeface="Inconsolata"/>
              </a:rPr>
              <a:t>True</a:t>
            </a:r>
            <a:r>
              <a:rPr sz="700" i="0">
                <a:solidFill>
                  <a:srgbClr val="E6EDF3"/>
                </a:solidFill>
                <a:latin typeface="Inconsolata"/>
              </a:rPr>
              <a:t>,              </a:t>
            </a:r>
            <a:r>
              <a:rPr sz="700" i="1">
                <a:solidFill>
                  <a:srgbClr val="8B98A8"/>
                </a:solidFill>
                <a:latin typeface="Inconsolata"/>
              </a:rPr>
              <a:t># job dihapus dari queue setelah selesai, bukan saat diambil</a:t>
            </a:r>
          </a:p>
          <a:p>
            <a:pPr>
              <a:lnSpc>
                <a:spcPct val="107143"/>
              </a:lnSpc>
              <a:spcAft>
                <a:spcPts val="0"/>
              </a:spcAft>
            </a:pPr>
            <a:r>
              <a:rPr sz="700" i="0">
                <a:solidFill>
                  <a:srgbClr val="E6EDF3"/>
                </a:solidFill>
                <a:latin typeface="Inconsolata"/>
              </a:rPr>
              <a:t>    worker_prefetch_multiplier=</a:t>
            </a:r>
            <a:r>
              <a:rPr sz="700" i="0">
                <a:solidFill>
                  <a:srgbClr val="F9C97A"/>
                </a:solidFill>
                <a:latin typeface="Inconsolata"/>
              </a:rPr>
              <a:t>1</a:t>
            </a:r>
            <a:r>
              <a:rPr sz="700" i="0">
                <a:solidFill>
                  <a:srgbClr val="E6EDF3"/>
                </a:solidFill>
                <a:latin typeface="Inconsolata"/>
              </a:rPr>
              <a:t>,     </a:t>
            </a:r>
            <a:r>
              <a:rPr sz="700" i="1">
                <a:solidFill>
                  <a:srgbClr val="8B98A8"/>
                </a:solidFill>
                <a:latin typeface="Inconsolata"/>
              </a:rPr>
              <a:t># worker mengambil satu job setiap kali</a:t>
            </a:r>
          </a:p>
          <a:p>
            <a:pPr>
              <a:lnSpc>
                <a:spcPct val="107143"/>
              </a:lnSpc>
              <a:spcAft>
                <a:spcPts val="0"/>
              </a:spcAft>
            </a:pPr>
            <a:r>
              <a:rPr sz="700" i="0">
                <a:solidFill>
                  <a:srgbClr val="E6EDF3"/>
                </a:solidFill>
                <a:latin typeface="Inconsolata"/>
              </a:rPr>
              <a:t>    result_expires=</a:t>
            </a:r>
            <a:r>
              <a:rPr sz="700" i="0">
                <a:solidFill>
                  <a:srgbClr val="F9C97A"/>
                </a:solidFill>
                <a:latin typeface="Inconsolata"/>
              </a:rPr>
              <a:t>24</a:t>
            </a:r>
            <a:r>
              <a:rPr sz="700" i="0">
                <a:solidFill>
                  <a:srgbClr val="E6EDF3"/>
                </a:solidFill>
                <a:latin typeface="Inconsolata"/>
              </a:rPr>
              <a:t> * </a:t>
            </a:r>
            <a:r>
              <a:rPr sz="700" i="0">
                <a:solidFill>
                  <a:srgbClr val="F9C97A"/>
                </a:solidFill>
                <a:latin typeface="Inconsolata"/>
              </a:rPr>
              <a:t>3600</a:t>
            </a:r>
            <a:r>
              <a:rPr sz="700" i="0">
                <a:solidFill>
                  <a:srgbClr val="E6EDF3"/>
                </a:solidFill>
                <a:latin typeface="Inconsolata"/>
              </a:rPr>
              <a:t>,         </a:t>
            </a:r>
            <a:r>
              <a:rPr sz="700" i="1">
                <a:solidFill>
                  <a:srgbClr val="8B98A8"/>
                </a:solidFill>
                <a:latin typeface="Inconsolata"/>
              </a:rPr>
              <a:t># status &amp; hasil disimpan 1 hari</a:t>
            </a:r>
          </a:p>
          <a:p>
            <a:pPr>
              <a:lnSpc>
                <a:spcPct val="107143"/>
              </a:lnSpc>
              <a:spcAft>
                <a:spcPts val="0"/>
              </a:spcAft>
            </a:pPr>
            <a:r>
              <a:rPr sz="700" i="0">
                <a:solidFill>
                  <a:srgbClr val="E6EDF3"/>
                </a:solidFill>
                <a:latin typeface="Inconsolata"/>
              </a:rPr>
              <a:t>    task_always_eager=settings.task_always_eager,</a:t>
            </a:r>
          </a:p>
          <a:p>
            <a:pPr>
              <a:lnSpc>
                <a:spcPct val="107143"/>
              </a:lnSpc>
              <a:spcAft>
                <a:spcPts val="0"/>
              </a:spcAft>
            </a:pPr>
            <a:r>
              <a:rPr sz="700" i="0">
                <a:solidFill>
                  <a:srgbClr val="E6EDF3"/>
                </a:solidFill>
                <a:latin typeface="Inconsolata"/>
              </a:rPr>
              <a:t>    task_store_eager_result=</a:t>
            </a:r>
            <a:r>
              <a:rPr sz="700" i="0">
                <a:solidFill>
                  <a:srgbClr val="FF8E6E"/>
                </a:solidFill>
                <a:latin typeface="Inconsolata"/>
              </a:rPr>
              <a:t>True</a:t>
            </a:r>
            <a:r>
              <a:rPr sz="700" i="0">
                <a:solidFill>
                  <a:srgbClr val="E6EDF3"/>
                </a:solidFill>
                <a:latin typeface="Inconsolata"/>
              </a:rPr>
              <a:t>,     </a:t>
            </a:r>
            <a:r>
              <a:rPr sz="700" i="1">
                <a:solidFill>
                  <a:srgbClr val="8B98A8"/>
                </a:solidFill>
                <a:latin typeface="Inconsolata"/>
              </a:rPr>
              <a:t># mode eager tetap mencatat status, supaya bisa dicek lewat API</a:t>
            </a:r>
          </a:p>
          <a:p>
            <a:pPr>
              <a:lnSpc>
                <a:spcPct val="107143"/>
              </a:lnSpc>
              <a:spcAft>
                <a:spcPts val="0"/>
              </a:spcAft>
            </a:pPr>
            <a:r>
              <a:rPr sz="700" i="0">
                <a:solidFill>
                  <a:srgbClr val="E6EDF3"/>
                </a:solidFill>
                <a:latin typeface="Inconsolata"/>
              </a:rPr>
              <a:t>)</a:t>
            </a:r>
          </a:p>
        </p:txBody>
      </p:sp>
      <p:sp>
        <p:nvSpPr>
          <p:cNvPr id="29" name="Box 12"/>
          <p:cNvSpPr/>
          <p:nvPr/>
        </p:nvSpPr>
        <p:spPr>
          <a:xfrm>
            <a:off x="704088" y="2511171"/>
            <a:ext cx="5230368" cy="221742"/>
          </a:xfrm>
          <a:prstGeom prst="roundRect">
            <a:avLst>
              <a:gd name="adj" fmla="val 20618"/>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5031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968371"/>
            <a:ext cx="523036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9032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311271"/>
            <a:ext cx="5230368" cy="221742"/>
          </a:xfrm>
          <a:prstGeom prst="roundRect">
            <a:avLst>
              <a:gd name="adj" fmla="val 20618"/>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3032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Aplikasi Celery dengan alamat Redis dari config</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task_acks_late</a:t>
            </a:r>
            <a:r>
              <a:rPr sz="900" b="0" i="0">
                <a:solidFill>
                  <a:srgbClr val="434343"/>
                </a:solidFill>
                <a:latin typeface="Inter"/>
              </a:rPr>
              <a:t>: job baru dihapus dari queue setelah selesai, jadi tidak hilang jika worker mati</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Mode eager tetap mencatat status, supaya API bisa mengeceknya di test</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Folder baru </a:t>
            </a:r>
            <a:r>
              <a:rPr sz="900" b="0" i="0">
                <a:solidFill>
                  <a:srgbClr val="B5482A"/>
                </a:solidFill>
                <a:latin typeface="Inconsolata"/>
              </a:rPr>
              <a:t>app/worker/</a:t>
            </a:r>
            <a:r>
              <a:rPr sz="900" b="0" i="0">
                <a:solidFill>
                  <a:srgbClr val="434343"/>
                </a:solidFill>
                <a:latin typeface="Inter"/>
              </a:rPr>
              <a: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5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Notifier bisa gagal, dan log notifikasi terkirim</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infrastructure/notifiers.py  +  notification_log.py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1">
                <a:solidFill>
                  <a:srgbClr val="8B98A8"/>
                </a:solidFill>
                <a:latin typeface="Inconsolata"/>
              </a:rPr>
              <a:t># app/infrastructure/notifiers.py</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NotificationServiceDown</a:t>
            </a:r>
            <a:r>
              <a:rPr sz="650" i="0">
                <a:solidFill>
                  <a:srgbClr val="E6EDF3"/>
                </a:solidFill>
                <a:latin typeface="Inconsolata"/>
              </a:rPr>
              <a:t>(</a:t>
            </a:r>
            <a:r>
              <a:rPr sz="650" i="0">
                <a:solidFill>
                  <a:srgbClr val="7FDBCA"/>
                </a:solidFill>
                <a:latin typeface="Inconsolata"/>
              </a:rPr>
              <a:t>Exception</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A5D6A7"/>
                </a:solidFill>
                <a:latin typeface="Inconsolata"/>
              </a:rPr>
              <a:t>"""Server email/SMS sedang gangguan. Sifatnya sementara, jadi aman untuk di-retry."""</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EmailNotifier</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__init__</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fail_rate: </a:t>
            </a:r>
            <a:r>
              <a:rPr sz="650" i="0">
                <a:solidFill>
                  <a:srgbClr val="C3A6FF"/>
                </a:solidFill>
                <a:latin typeface="Inconsolata"/>
              </a:rPr>
              <a:t>float</a:t>
            </a:r>
            <a:r>
              <a:rPr sz="650" i="0">
                <a:solidFill>
                  <a:srgbClr val="E6EDF3"/>
                </a:solidFill>
                <a:latin typeface="Inconsolata"/>
              </a:rPr>
              <a:t> = </a:t>
            </a:r>
            <a:r>
              <a:rPr sz="650" i="0">
                <a:solidFill>
                  <a:srgbClr val="F9C97A"/>
                </a:solidFill>
                <a:latin typeface="Inconsolata"/>
              </a:rPr>
              <a:t>0</a:t>
            </a:r>
            <a:r>
              <a:rPr sz="650" i="0">
                <a:solidFill>
                  <a:srgbClr val="E6EDF3"/>
                </a:solidFill>
                <a:latin typeface="Inconsolata"/>
              </a:rPr>
              <a:t>.</a:t>
            </a:r>
            <a:r>
              <a:rPr sz="650" i="0">
                <a:solidFill>
                  <a:srgbClr val="F9C97A"/>
                </a:solidFill>
                <a:latin typeface="Inconsolata"/>
              </a:rPr>
              <a:t>0</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.fail_rate = fail_rate</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send</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to: </a:t>
            </a:r>
            <a:r>
              <a:rPr sz="650" i="0">
                <a:solidFill>
                  <a:srgbClr val="C3A6FF"/>
                </a:solidFill>
                <a:latin typeface="Inconsolata"/>
              </a:rPr>
              <a:t>str</a:t>
            </a:r>
            <a:r>
              <a:rPr sz="650" i="0">
                <a:solidFill>
                  <a:srgbClr val="E6EDF3"/>
                </a:solidFill>
                <a:latin typeface="Inconsolata"/>
              </a:rPr>
              <a:t>, message: </a:t>
            </a:r>
            <a:r>
              <a:rPr sz="650" i="0">
                <a:solidFill>
                  <a:srgbClr val="C3A6FF"/>
                </a:solidFill>
                <a:latin typeface="Inconsolata"/>
              </a:rPr>
              <a:t>str</a:t>
            </a:r>
            <a:r>
              <a:rPr sz="650" i="0">
                <a:solidFill>
                  <a:srgbClr val="E6EDF3"/>
                </a:solidFill>
                <a:latin typeface="Inconsolata"/>
              </a:rPr>
              <a:t>) -&gt; </a:t>
            </a:r>
            <a:r>
              <a:rPr sz="650" i="0">
                <a:solidFill>
                  <a:srgbClr val="FF8E6E"/>
                </a:solidFill>
                <a:latin typeface="Inconsolata"/>
              </a:rPr>
              <a:t>None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if</a:t>
            </a:r>
            <a:r>
              <a:rPr sz="650" i="0">
                <a:solidFill>
                  <a:srgbClr val="E6EDF3"/>
                </a:solidFill>
                <a:latin typeface="Inconsolata"/>
              </a:rPr>
              <a:t> random.random() &lt; </a:t>
            </a:r>
            <a:r>
              <a:rPr sz="650" i="0">
                <a:solidFill>
                  <a:srgbClr val="C3A6FF"/>
                </a:solidFill>
                <a:latin typeface="Inconsolata"/>
              </a:rPr>
              <a:t>self</a:t>
            </a:r>
            <a:r>
              <a:rPr sz="650" i="0">
                <a:solidFill>
                  <a:srgbClr val="E6EDF3"/>
                </a:solidFill>
                <a:latin typeface="Inconsolata"/>
              </a:rPr>
              <a:t>.fail_rate:</a:t>
            </a:r>
          </a:p>
          <a:p>
            <a:pPr>
              <a:lnSpc>
                <a:spcPct val="102564"/>
              </a:lnSpc>
              <a:spcAft>
                <a:spcPts val="0"/>
              </a:spcAft>
            </a:pPr>
            <a:r>
              <a:rPr sz="650" i="0">
                <a:solidFill>
                  <a:srgbClr val="E6EDF3"/>
                </a:solidFill>
                <a:latin typeface="Inconsolata"/>
              </a:rPr>
              <a:t>            </a:t>
            </a:r>
            <a:r>
              <a:rPr sz="650" i="0">
                <a:solidFill>
                  <a:srgbClr val="FF8E6E"/>
                </a:solidFill>
                <a:latin typeface="Inconsolata"/>
              </a:rPr>
              <a:t>raise</a:t>
            </a:r>
            <a:r>
              <a:rPr sz="650" i="0">
                <a:solidFill>
                  <a:srgbClr val="E6EDF3"/>
                </a:solidFill>
                <a:latin typeface="Inconsolata"/>
              </a:rPr>
              <a:t> </a:t>
            </a:r>
            <a:r>
              <a:rPr sz="650" i="0">
                <a:solidFill>
                  <a:srgbClr val="7FDBCA"/>
                </a:solidFill>
                <a:latin typeface="Inconsolata"/>
              </a:rPr>
              <a:t>NotificationServiceDown</a:t>
            </a:r>
            <a:r>
              <a:rPr sz="650" i="0">
                <a:solidFill>
                  <a:srgbClr val="E6EDF3"/>
                </a:solidFill>
                <a:latin typeface="Inconsolata"/>
              </a:rPr>
              <a:t>(</a:t>
            </a:r>
            <a:r>
              <a:rPr sz="650" i="0">
                <a:solidFill>
                  <a:srgbClr val="A5D6A7"/>
                </a:solidFill>
                <a:latin typeface="Inconsolata"/>
              </a:rPr>
              <a:t>"Server email timeout"</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print</a:t>
            </a:r>
            <a:r>
              <a:rPr sz="650" i="0">
                <a:solidFill>
                  <a:srgbClr val="E6EDF3"/>
                </a:solidFill>
                <a:latin typeface="Inconsolata"/>
              </a:rPr>
              <a:t>(</a:t>
            </a:r>
            <a:r>
              <a:rPr sz="650" i="0">
                <a:solidFill>
                  <a:srgbClr val="A5D6A7"/>
                </a:solidFill>
                <a:latin typeface="Inconsolata"/>
              </a:rPr>
              <a:t>f"[EMAIL] ke {to}: {message}"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app/infrastructure/notification_log.py</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SqlAlchemyNotificationLog</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already_sent</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key: </a:t>
            </a:r>
            <a:r>
              <a:rPr sz="650" i="0">
                <a:solidFill>
                  <a:srgbClr val="C3A6FF"/>
                </a:solidFill>
                <a:latin typeface="Inconsolata"/>
              </a:rPr>
              <a:t>str</a:t>
            </a:r>
            <a:r>
              <a:rPr sz="650" i="0">
                <a:solidFill>
                  <a:srgbClr val="E6EDF3"/>
                </a:solidFill>
                <a:latin typeface="Inconsolata"/>
              </a:rPr>
              <a:t>) -&gt; </a:t>
            </a:r>
            <a:r>
              <a:rPr sz="650" i="0">
                <a:solidFill>
                  <a:srgbClr val="C3A6FF"/>
                </a:solidFill>
                <a:latin typeface="Inconsolata"/>
              </a:rPr>
              <a:t>bool</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with</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.session_factory() </a:t>
            </a:r>
            <a:r>
              <a:rPr sz="650" i="0">
                <a:solidFill>
                  <a:srgbClr val="FF8E6E"/>
                </a:solidFill>
                <a:latin typeface="Inconsolata"/>
              </a:rPr>
              <a:t>as</a:t>
            </a:r>
            <a:r>
              <a:rPr sz="650" i="0">
                <a:solidFill>
                  <a:srgbClr val="E6EDF3"/>
                </a:solidFill>
                <a:latin typeface="Inconsolata"/>
              </a:rPr>
              <a:t> session:</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session.get(</a:t>
            </a:r>
            <a:r>
              <a:rPr sz="650" i="0">
                <a:solidFill>
                  <a:srgbClr val="7FDBCA"/>
                </a:solidFill>
                <a:latin typeface="Inconsolata"/>
              </a:rPr>
              <a:t>SentNotificationRecord</a:t>
            </a:r>
            <a:r>
              <a:rPr sz="650" i="0">
                <a:solidFill>
                  <a:srgbClr val="E6EDF3"/>
                </a:solidFill>
                <a:latin typeface="Inconsolata"/>
              </a:rPr>
              <a:t>, key) </a:t>
            </a:r>
            <a:r>
              <a:rPr sz="650" i="0">
                <a:solidFill>
                  <a:srgbClr val="FF8E6E"/>
                </a:solidFill>
                <a:latin typeface="Inconsolata"/>
              </a:rPr>
              <a:t>is</a:t>
            </a:r>
            <a:r>
              <a:rPr sz="650" i="0">
                <a:solidFill>
                  <a:srgbClr val="E6EDF3"/>
                </a:solidFill>
                <a:latin typeface="Inconsolata"/>
              </a:rPr>
              <a:t> </a:t>
            </a:r>
            <a:r>
              <a:rPr sz="650" i="0">
                <a:solidFill>
                  <a:srgbClr val="FF8E6E"/>
                </a:solidFill>
                <a:latin typeface="Inconsolata"/>
              </a:rPr>
              <a:t>not</a:t>
            </a:r>
            <a:r>
              <a:rPr sz="650" i="0">
                <a:solidFill>
                  <a:srgbClr val="E6EDF3"/>
                </a:solidFill>
                <a:latin typeface="Inconsolata"/>
              </a:rPr>
              <a:t> </a:t>
            </a:r>
            <a:r>
              <a:rPr sz="650" i="0">
                <a:solidFill>
                  <a:srgbClr val="FF8E6E"/>
                </a:solidFill>
                <a:latin typeface="Inconsolata"/>
              </a:rPr>
              <a:t>None</a:t>
            </a:r>
          </a:p>
        </p:txBody>
      </p:sp>
      <p:sp>
        <p:nvSpPr>
          <p:cNvPr id="29" name="Box 12"/>
          <p:cNvSpPr/>
          <p:nvPr/>
        </p:nvSpPr>
        <p:spPr>
          <a:xfrm>
            <a:off x="704088" y="1925320"/>
            <a:ext cx="523036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1854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738120"/>
            <a:ext cx="5230368" cy="197104"/>
          </a:xfrm>
          <a:prstGeom prst="roundRect">
            <a:avLst>
              <a:gd name="adj" fmla="val 2319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717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4493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479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NotificationServiceDown</a:t>
            </a:r>
            <a:r>
              <a:rPr sz="900" b="0" i="0">
                <a:solidFill>
                  <a:srgbClr val="434343"/>
                </a:solidFill>
                <a:latin typeface="Inter"/>
              </a:rPr>
              <a:t>: error sementara yang boleh di-retry</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fail_rate</a:t>
            </a:r>
            <a:r>
              <a:rPr sz="900" b="0" i="0">
                <a:solidFill>
                  <a:srgbClr val="434343"/>
                </a:solidFill>
                <a:latin typeface="Inter"/>
              </a:rPr>
              <a:t> mensimulasikan server email yang sering error (</a:t>
            </a:r>
            <a:r>
              <a:rPr sz="900" b="0" i="0">
                <a:solidFill>
                  <a:srgbClr val="B5482A"/>
                </a:solidFill>
                <a:latin typeface="Inconsolata"/>
              </a:rPr>
              <a:t>SmsNotifier</a:t>
            </a:r>
            <a:r>
              <a:rPr sz="900" b="0" i="0">
                <a:solidFill>
                  <a:srgbClr val="434343"/>
                </a:solidFill>
                <a:latin typeface="Inter"/>
              </a:rPr>
              <a:t> sama)</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notification_log.py</a:t>
            </a:r>
            <a:r>
              <a:rPr sz="900" b="0" i="0">
                <a:solidFill>
                  <a:srgbClr val="434343"/>
                </a:solidFill>
                <a:latin typeface="Inter"/>
              </a:rPr>
              <a:t> mencatat key yang sudah terkirim, di tabel </a:t>
            </a:r>
            <a:r>
              <a:rPr sz="900" b="0" i="0">
                <a:solidFill>
                  <a:srgbClr val="B5482A"/>
                </a:solidFill>
                <a:latin typeface="Inconsolata"/>
              </a:rPr>
              <a:t>sent_notifications</a:t>
            </a:r>
            <a:r>
              <a:rPr sz="900" b="0" i="0">
                <a:solidFill>
                  <a:srgbClr val="434343"/>
                </a:solidFill>
                <a:latin typeface="Inter"/>
              </a:rPr>
              <a:t> (</a:t>
            </a:r>
            <a:r>
              <a:rPr sz="900" b="0" i="0">
                <a:solidFill>
                  <a:srgbClr val="B5482A"/>
                </a:solidFill>
                <a:latin typeface="Inconsolata"/>
              </a:rPr>
              <a:t>models.py</a:t>
            </a:r>
            <a:r>
              <a:rPr sz="900" b="0" i="0">
                <a:solidFill>
                  <a:srgbClr val="434343"/>
                </a:solidFill>
                <a:latin typeface="Inter"/>
              </a:rPr>
              <a:t>)</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Idempotency key disimpan di database.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6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worker/tasks.py: task notifikasi</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app/worker/tasks.py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AlertingTask</a:t>
            </a:r>
            <a:r>
              <a:rPr sz="650" i="0">
                <a:solidFill>
                  <a:srgbClr val="E6EDF3"/>
                </a:solidFill>
                <a:latin typeface="Inconsolata"/>
              </a:rPr>
              <a:t>(</a:t>
            </a:r>
            <a:r>
              <a:rPr sz="650" i="0">
                <a:solidFill>
                  <a:srgbClr val="7FDBCA"/>
                </a:solidFill>
                <a:latin typeface="Inconsolata"/>
              </a:rPr>
              <a:t>Task</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on_retry</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exc, task_id, args, kwargs, einfo):</a:t>
            </a:r>
          </a:p>
          <a:p>
            <a:pPr>
              <a:lnSpc>
                <a:spcPct val="102564"/>
              </a:lnSpc>
              <a:spcAft>
                <a:spcPts val="0"/>
              </a:spcAft>
            </a:pPr>
            <a:r>
              <a:rPr sz="650" i="0">
                <a:solidFill>
                  <a:srgbClr val="E6EDF3"/>
                </a:solidFill>
                <a:latin typeface="Inconsolata"/>
              </a:rPr>
              <a:t>        logger.warning(</a:t>
            </a:r>
            <a:r>
              <a:rPr sz="650" i="0">
                <a:solidFill>
                  <a:srgbClr val="A5D6A7"/>
                </a:solidFill>
                <a:latin typeface="Inconsolata"/>
              </a:rPr>
              <a:t>"%s retry ke-%s: %s"</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.name, </a:t>
            </a:r>
            <a:r>
              <a:rPr sz="650" i="0">
                <a:solidFill>
                  <a:srgbClr val="C3A6FF"/>
                </a:solidFill>
                <a:latin typeface="Inconsolata"/>
              </a:rPr>
              <a:t>self</a:t>
            </a:r>
            <a:r>
              <a:rPr sz="650" i="0">
                <a:solidFill>
                  <a:srgbClr val="E6EDF3"/>
                </a:solidFill>
                <a:latin typeface="Inconsolata"/>
              </a:rPr>
              <a:t>.request.retries + </a:t>
            </a:r>
            <a:r>
              <a:rPr sz="650" i="0">
                <a:solidFill>
                  <a:srgbClr val="F9C97A"/>
                </a:solidFill>
                <a:latin typeface="Inconsolata"/>
              </a:rPr>
              <a:t>1</a:t>
            </a:r>
            <a:r>
              <a:rPr sz="650" i="0">
                <a:solidFill>
                  <a:srgbClr val="E6EDF3"/>
                </a:solidFill>
                <a:latin typeface="Inconsolata"/>
              </a:rPr>
              <a:t>, exc)</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on_failure</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exc, task_id, args, kwargs, einfo):</a:t>
            </a:r>
          </a:p>
          <a:p>
            <a:pPr>
              <a:lnSpc>
                <a:spcPct val="102564"/>
              </a:lnSpc>
              <a:spcAft>
                <a:spcPts val="0"/>
              </a:spcAft>
            </a:pPr>
            <a:r>
              <a:rPr sz="650" i="0">
                <a:solidFill>
                  <a:srgbClr val="E6EDF3"/>
                </a:solidFill>
                <a:latin typeface="Inconsolata"/>
              </a:rPr>
              <a:t>        </a:t>
            </a:r>
            <a:r>
              <a:rPr sz="650" i="1">
                <a:solidFill>
                  <a:srgbClr val="8B98A8"/>
                </a:solidFill>
                <a:latin typeface="Inconsolata"/>
              </a:rPr>
              <a:t># di aplikasi nyata: kirim alert ke Slack/Sentry atau simpan ke tabel failed_jobs</a:t>
            </a:r>
          </a:p>
          <a:p>
            <a:pPr>
              <a:lnSpc>
                <a:spcPct val="102564"/>
              </a:lnSpc>
              <a:spcAft>
                <a:spcPts val="0"/>
              </a:spcAft>
            </a:pPr>
            <a:r>
              <a:rPr sz="650" i="0">
                <a:solidFill>
                  <a:srgbClr val="E6EDF3"/>
                </a:solidFill>
                <a:latin typeface="Inconsolata"/>
              </a:rPr>
              <a:t>        logger.error(</a:t>
            </a:r>
            <a:r>
              <a:rPr sz="650" i="0">
                <a:solidFill>
                  <a:srgbClr val="A5D6A7"/>
                </a:solidFill>
                <a:latin typeface="Inconsolata"/>
              </a:rPr>
              <a:t>"[ALERT] %s gagal permanen (task_id=%s, args=%s): %s"</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.name, task_id, args, exc)</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F9C97A"/>
                </a:solidFill>
                <a:latin typeface="Inconsolata"/>
              </a:rPr>
              <a:t>@celery_app.task</a:t>
            </a:r>
            <a:r>
              <a:rPr sz="650" i="0">
                <a:solidFill>
                  <a:srgbClr val="E6EDF3"/>
                </a:solidFill>
                <a:latin typeface="Inconsolata"/>
              </a:rPr>
              <a:t>(base=</a:t>
            </a:r>
            <a:r>
              <a:rPr sz="650" i="0">
                <a:solidFill>
                  <a:srgbClr val="7FDBCA"/>
                </a:solidFill>
                <a:latin typeface="Inconsolata"/>
              </a:rPr>
              <a:t>AlertingTask</a:t>
            </a:r>
            <a:r>
              <a:rPr sz="650" i="0">
                <a:solidFill>
                  <a:srgbClr val="E6EDF3"/>
                </a:solidFill>
                <a:latin typeface="Inconsolata"/>
              </a:rPr>
              <a:t>, autoretry_for=(</a:t>
            </a:r>
            <a:r>
              <a:rPr sz="650" i="0">
                <a:solidFill>
                  <a:srgbClr val="7FDBCA"/>
                </a:solidFill>
                <a:latin typeface="Inconsolata"/>
              </a:rPr>
              <a:t>NotificationServiceDown</a:t>
            </a:r>
            <a:r>
              <a:rPr sz="650" i="0">
                <a:solidFill>
                  <a:srgbClr val="E6EDF3"/>
                </a:solidFill>
                <a:latin typeface="Inconsolata"/>
              </a:rPr>
              <a:t>,), retry_backoff=</a:t>
            </a:r>
            <a:r>
              <a:rPr sz="650" i="0">
                <a:solidFill>
                  <a:srgbClr val="FF8E6E"/>
                </a:solidFill>
                <a:latin typeface="Inconsolata"/>
              </a:rPr>
              <a:t>True</a:t>
            </a:r>
            <a:r>
              <a:rPr sz="650" i="0">
                <a:solidFill>
                  <a:srgbClr val="E6EDF3"/>
                </a:solidFill>
                <a:latin typeface="Inconsolata"/>
              </a:rPr>
              <a:t>,</a:t>
            </a:r>
          </a:p>
          <a:p>
            <a:pPr>
              <a:lnSpc>
                <a:spcPct val="102564"/>
              </a:lnSpc>
              <a:spcAft>
                <a:spcPts val="0"/>
              </a:spcAft>
            </a:pPr>
            <a:r>
              <a:rPr sz="650" i="0">
                <a:solidFill>
                  <a:srgbClr val="E6EDF3"/>
                </a:solidFill>
                <a:latin typeface="Inconsolata"/>
              </a:rPr>
              <a:t>                 max_retries=</a:t>
            </a:r>
            <a:r>
              <a:rPr sz="650" i="0">
                <a:solidFill>
                  <a:srgbClr val="F9C97A"/>
                </a:solidFill>
                <a:latin typeface="Inconsolata"/>
              </a:rPr>
              <a:t>3</a:t>
            </a:r>
            <a:r>
              <a:rPr sz="650" i="0">
                <a:solidFill>
                  <a:srgbClr val="E6EDF3"/>
                </a:solidFill>
                <a:latin typeface="Inconsolata"/>
              </a:rPr>
              <a:t>, soft_time_limit=</a:t>
            </a:r>
            <a:r>
              <a:rPr sz="650" i="0">
                <a:solidFill>
                  <a:srgbClr val="F9C97A"/>
                </a:solidFill>
                <a:latin typeface="Inconsolata"/>
              </a:rPr>
              <a:t>30</a:t>
            </a:r>
            <a:r>
              <a:rPr sz="650" i="0">
                <a:solidFill>
                  <a:srgbClr val="E6EDF3"/>
                </a:solidFill>
                <a:latin typeface="Inconsolata"/>
              </a:rPr>
              <a:t>, time_limit=</a:t>
            </a:r>
            <a:r>
              <a:rPr sz="650" i="0">
                <a:solidFill>
                  <a:srgbClr val="F9C97A"/>
                </a:solidFill>
                <a:latin typeface="Inconsolata"/>
              </a:rPr>
              <a:t>60</a:t>
            </a:r>
            <a:r>
              <a:rPr sz="650" i="0">
                <a:solidFill>
                  <a:srgbClr val="E6EDF3"/>
                </a:solidFill>
                <a:latin typeface="Inconsolata"/>
              </a:rPr>
              <a:t>)</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send_notification</a:t>
            </a:r>
            <a:r>
              <a:rPr sz="650" i="0">
                <a:solidFill>
                  <a:srgbClr val="E6EDF3"/>
                </a:solidFill>
                <a:latin typeface="Inconsolata"/>
              </a:rPr>
              <a:t>(key: </a:t>
            </a:r>
            <a:r>
              <a:rPr sz="650" i="0">
                <a:solidFill>
                  <a:srgbClr val="C3A6FF"/>
                </a:solidFill>
                <a:latin typeface="Inconsolata"/>
              </a:rPr>
              <a:t>str</a:t>
            </a:r>
            <a:r>
              <a:rPr sz="650" i="0">
                <a:solidFill>
                  <a:srgbClr val="E6EDF3"/>
                </a:solidFill>
                <a:latin typeface="Inconsolata"/>
              </a:rPr>
              <a:t>, to: </a:t>
            </a:r>
            <a:r>
              <a:rPr sz="650" i="0">
                <a:solidFill>
                  <a:srgbClr val="C3A6FF"/>
                </a:solidFill>
                <a:latin typeface="Inconsolata"/>
              </a:rPr>
              <a:t>str</a:t>
            </a:r>
            <a:r>
              <a:rPr sz="650" i="0">
                <a:solidFill>
                  <a:srgbClr val="E6EDF3"/>
                </a:solidFill>
                <a:latin typeface="Inconsolata"/>
              </a:rPr>
              <a:t>, message: </a:t>
            </a:r>
            <a:r>
              <a:rPr sz="650" i="0">
                <a:solidFill>
                  <a:srgbClr val="C3A6FF"/>
                </a:solidFill>
                <a:latin typeface="Inconsolata"/>
              </a:rPr>
              <a:t>str</a:t>
            </a:r>
            <a:r>
              <a:rPr sz="650" i="0">
                <a:solidFill>
                  <a:srgbClr val="E6EDF3"/>
                </a:solidFill>
                <a:latin typeface="Inconsolata"/>
              </a:rPr>
              <a:t>) -&gt; </a:t>
            </a:r>
            <a:r>
              <a:rPr sz="650" i="0">
                <a:solidFill>
                  <a:srgbClr val="C3A6FF"/>
                </a:solidFill>
                <a:latin typeface="Inconsolata"/>
              </a:rPr>
              <a:t>str</a:t>
            </a:r>
            <a:r>
              <a:rPr sz="650" i="0">
                <a:solidFill>
                  <a:srgbClr val="E6EDF3"/>
                </a:solidFill>
                <a:latin typeface="Inconsolata"/>
              </a:rPr>
              <a:t>:</a:t>
            </a:r>
          </a:p>
          <a:p>
            <a:pPr>
              <a:lnSpc>
                <a:spcPct val="102564"/>
              </a:lnSpc>
              <a:spcAft>
                <a:spcPts val="0"/>
              </a:spcAft>
            </a:pPr>
            <a:r>
              <a:rPr sz="650" i="0">
                <a:solidFill>
                  <a:srgbClr val="E6EDF3"/>
                </a:solidFill>
                <a:latin typeface="Inconsolata"/>
              </a:rPr>
              <a:t>    settings = get_settings()</a:t>
            </a:r>
          </a:p>
          <a:p>
            <a:pPr>
              <a:lnSpc>
                <a:spcPct val="102564"/>
              </a:lnSpc>
              <a:spcAft>
                <a:spcPts val="0"/>
              </a:spcAft>
            </a:pPr>
            <a:r>
              <a:rPr sz="650" i="0">
                <a:solidFill>
                  <a:srgbClr val="E6EDF3"/>
                </a:solidFill>
                <a:latin typeface="Inconsolata"/>
              </a:rPr>
              <a:t>    log = </a:t>
            </a:r>
            <a:r>
              <a:rPr sz="650" i="0">
                <a:solidFill>
                  <a:srgbClr val="7FDBCA"/>
                </a:solidFill>
                <a:latin typeface="Inconsolata"/>
              </a:rPr>
              <a:t>SqlAlchemyNotificationLog</a:t>
            </a:r>
            <a:r>
              <a:rPr sz="650" i="0">
                <a:solidFill>
                  <a:srgbClr val="E6EDF3"/>
                </a:solidFill>
                <a:latin typeface="Inconsolata"/>
              </a:rPr>
              <a:t>(get_session_factory())</a:t>
            </a:r>
          </a:p>
          <a:p>
            <a:pPr>
              <a:lnSpc>
                <a:spcPct val="102564"/>
              </a:lnSpc>
              <a:spcAft>
                <a:spcPts val="0"/>
              </a:spcAft>
            </a:pPr>
            <a:r>
              <a:rPr sz="650" i="0">
                <a:solidFill>
                  <a:srgbClr val="E6EDF3"/>
                </a:solidFill>
                <a:latin typeface="Inconsolata"/>
              </a:rPr>
              <a:t>    </a:t>
            </a:r>
            <a:r>
              <a:rPr sz="650" i="0">
                <a:solidFill>
                  <a:srgbClr val="FF8E6E"/>
                </a:solidFill>
                <a:latin typeface="Inconsolata"/>
              </a:rPr>
              <a:t>if</a:t>
            </a:r>
            <a:r>
              <a:rPr sz="650" i="0">
                <a:solidFill>
                  <a:srgbClr val="E6EDF3"/>
                </a:solidFill>
                <a:latin typeface="Inconsolata"/>
              </a:rPr>
              <a:t> log.already_sent(key):</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A5D6A7"/>
                </a:solidFill>
                <a:latin typeface="Inconsolata"/>
              </a:rPr>
              <a:t>"skipped"</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create_notifier(settings.notification_channel, settings.notification_fail_rate).send(to, message)</a:t>
            </a:r>
          </a:p>
          <a:p>
            <a:pPr>
              <a:lnSpc>
                <a:spcPct val="102564"/>
              </a:lnSpc>
              <a:spcAft>
                <a:spcPts val="0"/>
              </a:spcAft>
            </a:pPr>
            <a:r>
              <a:rPr sz="650" i="0">
                <a:solidFill>
                  <a:srgbClr val="E6EDF3"/>
                </a:solidFill>
                <a:latin typeface="Inconsolata"/>
              </a:rPr>
              <a:t>    log.mark_sent(key)</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A5D6A7"/>
                </a:solidFill>
                <a:latin typeface="Inconsolata"/>
              </a:rPr>
              <a:t>"sent"</a:t>
            </a:r>
          </a:p>
        </p:txBody>
      </p:sp>
      <p:sp>
        <p:nvSpPr>
          <p:cNvPr id="29" name="Box 12"/>
          <p:cNvSpPr/>
          <p:nvPr/>
        </p:nvSpPr>
        <p:spPr>
          <a:xfrm>
            <a:off x="704088" y="1823720"/>
            <a:ext cx="5230368" cy="705103"/>
          </a:xfrm>
          <a:prstGeom prst="roundRect">
            <a:avLst>
              <a:gd name="adj" fmla="val 648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0574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636520"/>
            <a:ext cx="5230368" cy="197104"/>
          </a:xfrm>
          <a:prstGeom prst="roundRect">
            <a:avLst>
              <a:gd name="adj" fmla="val 2319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616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144520"/>
            <a:ext cx="5230368" cy="197104"/>
          </a:xfrm>
          <a:prstGeom prst="roundRect">
            <a:avLst>
              <a:gd name="adj" fmla="val 2319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124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AlertingTask</a:t>
            </a:r>
            <a:r>
              <a:rPr sz="900" b="0" i="0">
                <a:solidFill>
                  <a:srgbClr val="434343"/>
                </a:solidFill>
                <a:latin typeface="Inter"/>
              </a:rPr>
              <a:t>: retry dan kegagalan permanen tercatat di log worker (contoh 07)</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Retry dengan backoff dan time limit (contoh 05)</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Idempotency: key yang sudah terkirim dilewati (contoh 06)</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Semua konsep di bagian 3 dipakai di satu task.</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7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worker/notifier.py: Notifier lewat queue</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app/worker/notifier.py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527"/>
              </a:lnSpc>
              <a:spcAft>
                <a:spcPts val="0"/>
              </a:spcAft>
            </a:pPr>
            <a:r>
              <a:rPr sz="775" i="0">
                <a:solidFill>
                  <a:srgbClr val="FF8E6E"/>
                </a:solidFill>
                <a:latin typeface="Inconsolata"/>
              </a:rPr>
              <a:t>import</a:t>
            </a:r>
            <a:r>
              <a:rPr sz="775" i="0">
                <a:solidFill>
                  <a:srgbClr val="E6EDF3"/>
                </a:solidFill>
                <a:latin typeface="Inconsolata"/>
              </a:rPr>
              <a:t> hashlib</a:t>
            </a:r>
          </a:p>
          <a:p>
            <a:pPr>
              <a:lnSpc>
                <a:spcPct val="107527"/>
              </a:lnSpc>
              <a:spcAft>
                <a:spcPts val="0"/>
              </a:spcAft>
            </a:pPr>
            <a:r>
              <a:rPr sz="775" i="0">
                <a:solidFill>
                  <a:srgbClr val="E6EDF3"/>
                </a:solidFill>
                <a:latin typeface="Inconsolata"/>
              </a:rPr>
              <a:t> </a:t>
            </a:r>
          </a:p>
          <a:p>
            <a:pPr>
              <a:lnSpc>
                <a:spcPct val="107527"/>
              </a:lnSpc>
              <a:spcAft>
                <a:spcPts val="0"/>
              </a:spcAft>
            </a:pPr>
            <a:r>
              <a:rPr sz="775" i="0">
                <a:solidFill>
                  <a:srgbClr val="FF8E6E"/>
                </a:solidFill>
                <a:latin typeface="Inconsolata"/>
              </a:rPr>
              <a:t>from</a:t>
            </a:r>
            <a:r>
              <a:rPr sz="775" i="0">
                <a:solidFill>
                  <a:srgbClr val="E6EDF3"/>
                </a:solidFill>
                <a:latin typeface="Inconsolata"/>
              </a:rPr>
              <a:t> app.worker.tasks </a:t>
            </a:r>
            <a:r>
              <a:rPr sz="775" i="0">
                <a:solidFill>
                  <a:srgbClr val="FF8E6E"/>
                </a:solidFill>
                <a:latin typeface="Inconsolata"/>
              </a:rPr>
              <a:t>import</a:t>
            </a:r>
            <a:r>
              <a:rPr sz="775" i="0">
                <a:solidFill>
                  <a:srgbClr val="E6EDF3"/>
                </a:solidFill>
                <a:latin typeface="Inconsolata"/>
              </a:rPr>
              <a:t> send_notification</a:t>
            </a:r>
          </a:p>
          <a:p>
            <a:pPr>
              <a:lnSpc>
                <a:spcPct val="107527"/>
              </a:lnSpc>
              <a:spcAft>
                <a:spcPts val="0"/>
              </a:spcAft>
            </a:pPr>
            <a:r>
              <a:rPr sz="775" i="0">
                <a:solidFill>
                  <a:srgbClr val="E6EDF3"/>
                </a:solidFill>
                <a:latin typeface="Inconsolata"/>
              </a:rPr>
              <a:t> </a:t>
            </a:r>
          </a:p>
          <a:p>
            <a:pPr>
              <a:lnSpc>
                <a:spcPct val="107527"/>
              </a:lnSpc>
              <a:spcAft>
                <a:spcPts val="0"/>
              </a:spcAft>
            </a:pPr>
            <a:r>
              <a:rPr sz="775" i="0">
                <a:solidFill>
                  <a:srgbClr val="FF8E6E"/>
                </a:solidFill>
                <a:latin typeface="Inconsolata"/>
              </a:rPr>
              <a:t>class</a:t>
            </a:r>
            <a:r>
              <a:rPr sz="775" i="0">
                <a:solidFill>
                  <a:srgbClr val="E6EDF3"/>
                </a:solidFill>
                <a:latin typeface="Inconsolata"/>
              </a:rPr>
              <a:t> </a:t>
            </a:r>
            <a:r>
              <a:rPr sz="775" i="0">
                <a:solidFill>
                  <a:srgbClr val="7FDBCA"/>
                </a:solidFill>
                <a:latin typeface="Inconsolata"/>
              </a:rPr>
              <a:t>QueuedNotifier</a:t>
            </a:r>
            <a:r>
              <a:rPr sz="775" i="0">
                <a:solidFill>
                  <a:srgbClr val="E6EDF3"/>
                </a:solidFill>
                <a:latin typeface="Inconsolata"/>
              </a:rPr>
              <a:t>:</a:t>
            </a:r>
          </a:p>
          <a:p>
            <a:pPr>
              <a:lnSpc>
                <a:spcPct val="107527"/>
              </a:lnSpc>
              <a:spcAft>
                <a:spcPts val="0"/>
              </a:spcAft>
            </a:pPr>
            <a:r>
              <a:rPr sz="775" i="0">
                <a:solidFill>
                  <a:srgbClr val="E6EDF3"/>
                </a:solidFill>
                <a:latin typeface="Inconsolata"/>
              </a:rPr>
              <a:t>    </a:t>
            </a:r>
            <a:r>
              <a:rPr sz="775" i="0">
                <a:solidFill>
                  <a:srgbClr val="FF8E6E"/>
                </a:solidFill>
                <a:latin typeface="Inconsolata"/>
              </a:rPr>
              <a:t>def</a:t>
            </a:r>
            <a:r>
              <a:rPr sz="775" i="0">
                <a:solidFill>
                  <a:srgbClr val="E6EDF3"/>
                </a:solidFill>
                <a:latin typeface="Inconsolata"/>
              </a:rPr>
              <a:t> </a:t>
            </a:r>
            <a:r>
              <a:rPr sz="775" i="0">
                <a:solidFill>
                  <a:srgbClr val="82B1FF"/>
                </a:solidFill>
                <a:latin typeface="Inconsolata"/>
              </a:rPr>
              <a:t>send</a:t>
            </a:r>
            <a:r>
              <a:rPr sz="775" i="0">
                <a:solidFill>
                  <a:srgbClr val="E6EDF3"/>
                </a:solidFill>
                <a:latin typeface="Inconsolata"/>
              </a:rPr>
              <a:t>(</a:t>
            </a:r>
            <a:r>
              <a:rPr sz="775" i="0">
                <a:solidFill>
                  <a:srgbClr val="C3A6FF"/>
                </a:solidFill>
                <a:latin typeface="Inconsolata"/>
              </a:rPr>
              <a:t>self</a:t>
            </a:r>
            <a:r>
              <a:rPr sz="775" i="0">
                <a:solidFill>
                  <a:srgbClr val="E6EDF3"/>
                </a:solidFill>
                <a:latin typeface="Inconsolata"/>
              </a:rPr>
              <a:t>, to: </a:t>
            </a:r>
            <a:r>
              <a:rPr sz="775" i="0">
                <a:solidFill>
                  <a:srgbClr val="C3A6FF"/>
                </a:solidFill>
                <a:latin typeface="Inconsolata"/>
              </a:rPr>
              <a:t>str</a:t>
            </a:r>
            <a:r>
              <a:rPr sz="775" i="0">
                <a:solidFill>
                  <a:srgbClr val="E6EDF3"/>
                </a:solidFill>
                <a:latin typeface="Inconsolata"/>
              </a:rPr>
              <a:t>, message: </a:t>
            </a:r>
            <a:r>
              <a:rPr sz="775" i="0">
                <a:solidFill>
                  <a:srgbClr val="C3A6FF"/>
                </a:solidFill>
                <a:latin typeface="Inconsolata"/>
              </a:rPr>
              <a:t>str</a:t>
            </a:r>
            <a:r>
              <a:rPr sz="775" i="0">
                <a:solidFill>
                  <a:srgbClr val="E6EDF3"/>
                </a:solidFill>
                <a:latin typeface="Inconsolata"/>
              </a:rPr>
              <a:t>) -&gt; </a:t>
            </a:r>
            <a:r>
              <a:rPr sz="775" i="0">
                <a:solidFill>
                  <a:srgbClr val="FF8E6E"/>
                </a:solidFill>
                <a:latin typeface="Inconsolata"/>
              </a:rPr>
              <a:t>None</a:t>
            </a:r>
            <a:r>
              <a:rPr sz="775" i="0">
                <a:solidFill>
                  <a:srgbClr val="E6EDF3"/>
                </a:solidFill>
                <a:latin typeface="Inconsolata"/>
              </a:rPr>
              <a:t>:</a:t>
            </a:r>
          </a:p>
          <a:p>
            <a:pPr>
              <a:lnSpc>
                <a:spcPct val="107527"/>
              </a:lnSpc>
              <a:spcAft>
                <a:spcPts val="0"/>
              </a:spcAft>
            </a:pPr>
            <a:r>
              <a:rPr sz="775" i="0">
                <a:solidFill>
                  <a:srgbClr val="E6EDF3"/>
                </a:solidFill>
                <a:latin typeface="Inconsolata"/>
              </a:rPr>
              <a:t>        key = hashlib.sha256(</a:t>
            </a:r>
            <a:r>
              <a:rPr sz="775" i="0">
                <a:solidFill>
                  <a:srgbClr val="A5D6A7"/>
                </a:solidFill>
                <a:latin typeface="Inconsolata"/>
              </a:rPr>
              <a:t>f"{to}|{message}"</a:t>
            </a:r>
            <a:r>
              <a:rPr sz="775" i="0">
                <a:solidFill>
                  <a:srgbClr val="E6EDF3"/>
                </a:solidFill>
                <a:latin typeface="Inconsolata"/>
              </a:rPr>
              <a:t>.encode()).hexdigest()   </a:t>
            </a:r>
            <a:r>
              <a:rPr sz="775" i="1">
                <a:solidFill>
                  <a:srgbClr val="8B98A8"/>
                </a:solidFill>
                <a:latin typeface="Inconsolata"/>
              </a:rPr>
              <a:t># notifikasi sama = key sama</a:t>
            </a:r>
          </a:p>
          <a:p>
            <a:pPr>
              <a:lnSpc>
                <a:spcPct val="107527"/>
              </a:lnSpc>
              <a:spcAft>
                <a:spcPts val="0"/>
              </a:spcAft>
            </a:pPr>
            <a:r>
              <a:rPr sz="775" i="0">
                <a:solidFill>
                  <a:srgbClr val="E6EDF3"/>
                </a:solidFill>
                <a:latin typeface="Inconsolata"/>
              </a:rPr>
              <a:t>        send_notification.delay(key, to, message)</a:t>
            </a:r>
          </a:p>
        </p:txBody>
      </p:sp>
      <p:sp>
        <p:nvSpPr>
          <p:cNvPr id="29" name="Box 12"/>
          <p:cNvSpPr/>
          <p:nvPr/>
        </p:nvSpPr>
        <p:spPr>
          <a:xfrm>
            <a:off x="704088" y="2335022"/>
            <a:ext cx="5230368" cy="246380"/>
          </a:xfrm>
          <a:prstGeom prst="roundRect">
            <a:avLst>
              <a:gd name="adj" fmla="val 1855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3393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589022"/>
            <a:ext cx="5230368" cy="246380"/>
          </a:xfrm>
          <a:prstGeom prst="roundRect">
            <a:avLst>
              <a:gd name="adj" fmla="val 1855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5933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QueuedNotifier</a:t>
            </a:r>
            <a:r>
              <a:rPr sz="900" b="0" i="0">
                <a:solidFill>
                  <a:srgbClr val="434343"/>
                </a:solidFill>
                <a:latin typeface="Inter"/>
              </a:rPr>
              <a:t> punya method </a:t>
            </a:r>
            <a:r>
              <a:rPr sz="900" b="0" i="0">
                <a:solidFill>
                  <a:srgbClr val="B5482A"/>
                </a:solidFill>
                <a:latin typeface="Inconsolata"/>
              </a:rPr>
              <a:t>send()</a:t>
            </a:r>
            <a:r>
              <a:rPr sz="900" b="0" i="0">
                <a:solidFill>
                  <a:srgbClr val="434343"/>
                </a:solidFill>
                <a:latin typeface="Inter"/>
              </a:rPr>
              <a:t> yang sama dengan port </a:t>
            </a:r>
            <a:r>
              <a:rPr sz="900" b="0" i="0">
                <a:solidFill>
                  <a:srgbClr val="B5482A"/>
                </a:solidFill>
                <a:latin typeface="Inconsolata"/>
              </a:rPr>
              <a:t>Notifier</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Isinya hanya membuat idempotency key lalu menaruh job ke queue</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get_notifier()</a:t>
            </a:r>
            <a:r>
              <a:rPr sz="900" b="0" i="0">
                <a:solidFill>
                  <a:srgbClr val="434343"/>
                </a:solidFill>
                <a:latin typeface="Inter"/>
              </a:rPr>
              <a:t> mengembalikan </a:t>
            </a:r>
            <a:r>
              <a:rPr sz="900" b="0" i="0">
                <a:solidFill>
                  <a:srgbClr val="B5482A"/>
                </a:solidFill>
                <a:latin typeface="Inconsolata"/>
              </a:rPr>
              <a:t>QueuedNotifier()</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B5482A"/>
                </a:solidFill>
                <a:latin typeface="Inconsolata"/>
              </a:rPr>
              <a:t>OrderService</a:t>
            </a:r>
            <a:r>
              <a:rPr sz="900" b="0" i="0">
                <a:solidFill>
                  <a:srgbClr val="434343"/>
                </a:solidFill>
                <a:latin typeface="Inter"/>
              </a:rPr>
              <a:t> tidak diubah sama sekali.</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8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Report penjualan dikerjakan worker</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report_service.py  +  tasks.py  +  jobs.py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1">
                <a:solidFill>
                  <a:srgbClr val="8B98A8"/>
                </a:solidFill>
                <a:latin typeface="Inconsolata"/>
              </a:rPr>
              <a:t># app/application/report_service.py</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ReportService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__init__</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uow: </a:t>
            </a:r>
            <a:r>
              <a:rPr sz="650" i="0">
                <a:solidFill>
                  <a:srgbClr val="7FDBCA"/>
                </a:solidFill>
                <a:latin typeface="Inconsolata"/>
              </a:rPr>
              <a:t>UnitOfWork</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 = uow</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sales_summary</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-&gt; </a:t>
            </a:r>
            <a:r>
              <a:rPr sz="650" i="0">
                <a:solidFill>
                  <a:srgbClr val="C3A6FF"/>
                </a:solidFill>
                <a:latin typeface="Inconsolata"/>
              </a:rPr>
              <a:t>dict</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with</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a:t>
            </a:r>
          </a:p>
          <a:p>
            <a:pPr>
              <a:lnSpc>
                <a:spcPct val="102564"/>
              </a:lnSpc>
              <a:spcAft>
                <a:spcPts val="0"/>
              </a:spcAft>
            </a:pPr>
            <a:r>
              <a:rPr sz="650" i="0">
                <a:solidFill>
                  <a:srgbClr val="E6EDF3"/>
                </a:solidFill>
                <a:latin typeface="Inconsolata"/>
              </a:rPr>
              <a:t>            orders = </a:t>
            </a:r>
            <a:r>
              <a:rPr sz="650" i="0">
                <a:solidFill>
                  <a:srgbClr val="C3A6FF"/>
                </a:solidFill>
                <a:latin typeface="Inconsolata"/>
              </a:rPr>
              <a:t>self</a:t>
            </a:r>
            <a:r>
              <a:rPr sz="650" i="0">
                <a:solidFill>
                  <a:srgbClr val="E6EDF3"/>
                </a:solidFill>
                <a:latin typeface="Inconsolata"/>
              </a:rPr>
              <a:t>.uow.orders.</a:t>
            </a:r>
            <a:r>
              <a:rPr sz="650" i="0">
                <a:solidFill>
                  <a:srgbClr val="C3A6FF"/>
                </a:solidFill>
                <a:latin typeface="Inconsolata"/>
              </a:rPr>
              <a:t>list</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app/worker/tasks.py</a:t>
            </a:r>
          </a:p>
          <a:p>
            <a:pPr>
              <a:lnSpc>
                <a:spcPct val="102564"/>
              </a:lnSpc>
              <a:spcAft>
                <a:spcPts val="0"/>
              </a:spcAft>
            </a:pPr>
            <a:r>
              <a:rPr sz="650" i="0">
                <a:solidFill>
                  <a:srgbClr val="F9C97A"/>
                </a:solidFill>
                <a:latin typeface="Inconsolata"/>
              </a:rPr>
              <a:t>@celery_app.task</a:t>
            </a:r>
            <a:r>
              <a:rPr sz="650" i="0">
                <a:solidFill>
                  <a:srgbClr val="E6EDF3"/>
                </a:solidFill>
                <a:latin typeface="Inconsolata"/>
              </a:rPr>
              <a:t>(base=</a:t>
            </a:r>
            <a:r>
              <a:rPr sz="650" i="0">
                <a:solidFill>
                  <a:srgbClr val="7FDBCA"/>
                </a:solidFill>
                <a:latin typeface="Inconsolata"/>
              </a:rPr>
              <a:t>AlertingTask</a:t>
            </a:r>
            <a:r>
              <a:rPr sz="650" i="0">
                <a:solidFill>
                  <a:srgbClr val="E6EDF3"/>
                </a:solidFill>
                <a:latin typeface="Inconsolata"/>
              </a:rPr>
              <a:t>, soft_time_limit=</a:t>
            </a:r>
            <a:r>
              <a:rPr sz="650" i="0">
                <a:solidFill>
                  <a:srgbClr val="F9C97A"/>
                </a:solidFill>
                <a:latin typeface="Inconsolata"/>
              </a:rPr>
              <a:t>120</a:t>
            </a:r>
            <a:r>
              <a:rPr sz="650" i="0">
                <a:solidFill>
                  <a:srgbClr val="E6EDF3"/>
                </a:solidFill>
                <a:latin typeface="Inconsolata"/>
              </a:rPr>
              <a:t>, time_limit=</a:t>
            </a:r>
            <a:r>
              <a:rPr sz="650" i="0">
                <a:solidFill>
                  <a:srgbClr val="F9C97A"/>
                </a:solidFill>
                <a:latin typeface="Inconsolata"/>
              </a:rPr>
              <a:t>150</a:t>
            </a:r>
            <a:r>
              <a:rPr sz="650" i="0">
                <a:solidFill>
                  <a:srgbClr val="E6EDF3"/>
                </a:solidFill>
                <a:latin typeface="Inconsolata"/>
              </a:rPr>
              <a:t>)</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generate_sales_report</a:t>
            </a:r>
            <a:r>
              <a:rPr sz="650" i="0">
                <a:solidFill>
                  <a:srgbClr val="E6EDF3"/>
                </a:solidFill>
                <a:latin typeface="Inconsolata"/>
              </a:rPr>
              <a:t>() -&gt; </a:t>
            </a:r>
            <a:r>
              <a:rPr sz="650" i="0">
                <a:solidFill>
                  <a:srgbClr val="C3A6FF"/>
                </a:solidFill>
                <a:latin typeface="Inconsolata"/>
              </a:rPr>
              <a:t>dict</a:t>
            </a:r>
            <a:r>
              <a:rPr sz="650" i="0">
                <a:solidFill>
                  <a:srgbClr val="E6EDF3"/>
                </a:solidFill>
                <a:latin typeface="Inconsolata"/>
              </a:rPr>
              <a:t>:</a:t>
            </a:r>
          </a:p>
          <a:p>
            <a:pPr>
              <a:lnSpc>
                <a:spcPct val="102564"/>
              </a:lnSpc>
              <a:spcAft>
                <a:spcPts val="0"/>
              </a:spcAft>
            </a:pPr>
            <a:r>
              <a:rPr sz="650" i="0">
                <a:solidFill>
                  <a:srgbClr val="E6EDF3"/>
                </a:solidFill>
                <a:latin typeface="Inconsolata"/>
              </a:rPr>
              <a:t>    time.sleep(get_settings().report_delay)       </a:t>
            </a:r>
            <a:r>
              <a:rPr sz="650" i="1">
                <a:solidFill>
                  <a:srgbClr val="8B98A8"/>
                </a:solidFill>
                <a:latin typeface="Inconsolata"/>
              </a:rPr>
              <a:t># simulasi query &amp; perhitungan yang lama</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7FDBCA"/>
                </a:solidFill>
                <a:latin typeface="Inconsolata"/>
              </a:rPr>
              <a:t>ReportService</a:t>
            </a:r>
            <a:r>
              <a:rPr sz="650" i="0">
                <a:solidFill>
                  <a:srgbClr val="E6EDF3"/>
                </a:solidFill>
                <a:latin typeface="Inconsolata"/>
              </a:rPr>
              <a:t>(</a:t>
            </a:r>
            <a:r>
              <a:rPr sz="650" i="0">
                <a:solidFill>
                  <a:srgbClr val="7FDBCA"/>
                </a:solidFill>
                <a:latin typeface="Inconsolata"/>
              </a:rPr>
              <a:t>SqlAlchemyUnitOfWork</a:t>
            </a:r>
            <a:r>
              <a:rPr sz="650" i="0">
                <a:solidFill>
                  <a:srgbClr val="E6EDF3"/>
                </a:solidFill>
                <a:latin typeface="Inconsolata"/>
              </a:rPr>
              <a:t>(get_session_factory())).sales_summary()</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app/worker/jobs.py</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start_sales_report</a:t>
            </a:r>
            <a:r>
              <a:rPr sz="650" i="0">
                <a:solidFill>
                  <a:srgbClr val="E6EDF3"/>
                </a:solidFill>
                <a:latin typeface="Inconsolata"/>
              </a:rPr>
              <a:t>() -&gt; </a:t>
            </a:r>
            <a:r>
              <a:rPr sz="650" i="0">
                <a:solidFill>
                  <a:srgbClr val="C3A6FF"/>
                </a:solidFill>
                <a:latin typeface="Inconsolata"/>
              </a:rPr>
              <a:t>str</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generate_sales_report.delay().id</a:t>
            </a:r>
          </a:p>
        </p:txBody>
      </p:sp>
      <p:sp>
        <p:nvSpPr>
          <p:cNvPr id="29" name="Box 12"/>
          <p:cNvSpPr/>
          <p:nvPr/>
        </p:nvSpPr>
        <p:spPr>
          <a:xfrm>
            <a:off x="704088" y="23317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362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0429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0734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3" name="Box 16"/>
          <p:cNvSpPr/>
          <p:nvPr/>
        </p:nvSpPr>
        <p:spPr>
          <a:xfrm>
            <a:off x="704088" y="3550920"/>
            <a:ext cx="5230368" cy="197104"/>
          </a:xfrm>
          <a:prstGeom prst="roundRect">
            <a:avLst>
              <a:gd name="adj" fmla="val 2319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530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ReportService</a:t>
            </a:r>
            <a:r>
              <a:rPr sz="900" b="0" i="0">
                <a:solidFill>
                  <a:srgbClr val="434343"/>
                </a:solidFill>
                <a:latin typeface="Inter"/>
              </a:rPr>
              <a:t> di application: total order, order dibayar, dibatalkan, dan revenue</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Repository order ditambah method </a:t>
            </a:r>
            <a:r>
              <a:rPr sz="900" b="0" i="0">
                <a:solidFill>
                  <a:srgbClr val="B5482A"/>
                </a:solidFill>
                <a:latin typeface="Inconsolata"/>
              </a:rPr>
              <a:t>list()</a:t>
            </a:r>
            <a:r>
              <a:rPr sz="900" b="0" i="0">
                <a:solidFill>
                  <a:srgbClr val="434343"/>
                </a:solidFill>
                <a:latin typeface="Inter"/>
              </a:rPr>
              <a:t> (juga di </a:t>
            </a:r>
            <a:r>
              <a:rPr sz="900" b="0" i="0">
                <a:solidFill>
                  <a:srgbClr val="B5482A"/>
                </a:solidFill>
                <a:latin typeface="Inconsolata"/>
              </a:rPr>
              <a:t>ports.py</a:t>
            </a:r>
            <a:r>
              <a:rPr sz="900" b="0" i="0">
                <a:solidFill>
                  <a:srgbClr val="434343"/>
                </a:solidFill>
                <a:latin typeface="Inter"/>
              </a:rPr>
              <a: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Task </a:t>
            </a:r>
            <a:r>
              <a:rPr sz="900" b="0" i="0">
                <a:solidFill>
                  <a:srgbClr val="B5482A"/>
                </a:solidFill>
                <a:latin typeface="Inconsolata"/>
              </a:rPr>
              <a:t>generate_sales_report</a:t>
            </a:r>
            <a:r>
              <a:rPr sz="900" b="0" i="0">
                <a:solidFill>
                  <a:srgbClr val="434343"/>
                </a:solidFill>
                <a:latin typeface="Inter"/>
              </a:rPr>
              <a:t> memanggil use case</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jobs.py</a:t>
            </a:r>
            <a:r>
              <a:rPr sz="900" b="0" i="0">
                <a:solidFill>
                  <a:srgbClr val="434343"/>
                </a:solidFill>
                <a:latin typeface="Inter"/>
              </a:rPr>
              <a:t>: mulai job dan baca status dengan </a:t>
            </a:r>
            <a:r>
              <a:rPr sz="900" b="0" i="0">
                <a:solidFill>
                  <a:srgbClr val="B5482A"/>
                </a:solidFill>
                <a:latin typeface="Inconsolata"/>
              </a:rPr>
              <a:t>AsyncResult</a:t>
            </a:r>
            <a:r>
              <a:rPr sz="900" b="0" i="0">
                <a:solidFill>
                  <a:srgbClr val="434343"/>
                </a:solidFill>
                <a:latin typeface="Inter"/>
              </a:rPr>
              <a:t> (contoh 04)</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Use case tetap di application, worker hanya memanggilnya.</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9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api/routers/reports.py: endpoint report</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app/api/routers/reports.py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11111"/>
              </a:lnSpc>
              <a:spcAft>
                <a:spcPts val="0"/>
              </a:spcAft>
            </a:pPr>
            <a:r>
              <a:rPr sz="675" i="0">
                <a:solidFill>
                  <a:srgbClr val="E6EDF3"/>
                </a:solidFill>
                <a:latin typeface="Inconsolata"/>
              </a:rPr>
              <a:t>router = </a:t>
            </a:r>
            <a:r>
              <a:rPr sz="675" i="0">
                <a:solidFill>
                  <a:srgbClr val="7FDBCA"/>
                </a:solidFill>
                <a:latin typeface="Inconsolata"/>
              </a:rPr>
              <a:t>APIRouter</a:t>
            </a:r>
            <a:r>
              <a:rPr sz="675" i="0">
                <a:solidFill>
                  <a:srgbClr val="E6EDF3"/>
                </a:solidFill>
                <a:latin typeface="Inconsolata"/>
              </a:rPr>
              <a:t>(prefix=</a:t>
            </a:r>
            <a:r>
              <a:rPr sz="675" i="0">
                <a:solidFill>
                  <a:srgbClr val="A5D6A7"/>
                </a:solidFill>
                <a:latin typeface="Inconsolata"/>
              </a:rPr>
              <a:t>"/reports"</a:t>
            </a:r>
            <a:r>
              <a:rPr sz="675" i="0">
                <a:solidFill>
                  <a:srgbClr val="E6EDF3"/>
                </a:solidFill>
                <a:latin typeface="Inconsolata"/>
              </a:rPr>
              <a:t>, tags=[</a:t>
            </a:r>
            <a:r>
              <a:rPr sz="675" i="0">
                <a:solidFill>
                  <a:srgbClr val="A5D6A7"/>
                </a:solidFill>
                <a:latin typeface="Inconsolata"/>
              </a:rPr>
              <a:t>"reports"</a:t>
            </a:r>
            <a:r>
              <a:rPr sz="675" i="0">
                <a:solidFill>
                  <a:srgbClr val="E6EDF3"/>
                </a:solidFill>
                <a:latin typeface="Inconsolata"/>
              </a:rPr>
              <a:t>])</a:t>
            </a:r>
          </a:p>
          <a:p>
            <a:pPr>
              <a:lnSpc>
                <a:spcPct val="111111"/>
              </a:lnSpc>
              <a:spcAft>
                <a:spcPts val="0"/>
              </a:spcAft>
            </a:pPr>
            <a:r>
              <a:rPr sz="675" i="0">
                <a:solidFill>
                  <a:srgbClr val="E6EDF3"/>
                </a:solidFill>
                <a:latin typeface="Inconsolata"/>
              </a:rPr>
              <a:t> </a:t>
            </a:r>
          </a:p>
          <a:p>
            <a:pPr>
              <a:lnSpc>
                <a:spcPct val="111111"/>
              </a:lnSpc>
              <a:spcAft>
                <a:spcPts val="0"/>
              </a:spcAft>
            </a:pPr>
            <a:r>
              <a:rPr sz="675" i="0">
                <a:solidFill>
                  <a:srgbClr val="F9C97A"/>
                </a:solidFill>
                <a:latin typeface="Inconsolata"/>
              </a:rPr>
              <a:t>@router.post</a:t>
            </a:r>
            <a:r>
              <a:rPr sz="675" i="0">
                <a:solidFill>
                  <a:srgbClr val="E6EDF3"/>
                </a:solidFill>
                <a:latin typeface="Inconsolata"/>
              </a:rPr>
              <a:t>(</a:t>
            </a:r>
            <a:r>
              <a:rPr sz="675" i="0">
                <a:solidFill>
                  <a:srgbClr val="A5D6A7"/>
                </a:solidFill>
                <a:latin typeface="Inconsolata"/>
              </a:rPr>
              <a:t>"/sales"</a:t>
            </a:r>
            <a:r>
              <a:rPr sz="675" i="0">
                <a:solidFill>
                  <a:srgbClr val="E6EDF3"/>
                </a:solidFill>
                <a:latin typeface="Inconsolata"/>
              </a:rPr>
              <a:t>, status_code=</a:t>
            </a:r>
            <a:r>
              <a:rPr sz="675" i="0">
                <a:solidFill>
                  <a:srgbClr val="F9C97A"/>
                </a:solidFill>
                <a:latin typeface="Inconsolata"/>
              </a:rPr>
              <a:t>202</a:t>
            </a:r>
            <a:r>
              <a:rPr sz="675" i="0">
                <a:solidFill>
                  <a:srgbClr val="E6EDF3"/>
                </a:solidFill>
                <a:latin typeface="Inconsolata"/>
              </a:rPr>
              <a:t>, response_model=</a:t>
            </a:r>
            <a:r>
              <a:rPr sz="675" i="0">
                <a:solidFill>
                  <a:srgbClr val="7FDBCA"/>
                </a:solidFill>
                <a:latin typeface="Inconsolata"/>
              </a:rPr>
              <a:t>JobOut</a:t>
            </a:r>
            <a:r>
              <a:rPr sz="675" i="0">
                <a:solidFill>
                  <a:srgbClr val="E6EDF3"/>
                </a:solidFill>
                <a:latin typeface="Inconsolata"/>
              </a:rPr>
              <a:t>, summary=</a:t>
            </a:r>
            <a:r>
              <a:rPr sz="675" i="0">
                <a:solidFill>
                  <a:srgbClr val="A5D6A7"/>
                </a:solidFill>
                <a:latin typeface="Inconsolata"/>
              </a:rPr>
              <a:t>"Buat report penjualan (background job)"</a:t>
            </a:r>
            <a:r>
              <a:rPr sz="675" i="0">
                <a:solidFill>
                  <a:srgbClr val="E6EDF3"/>
                </a:solidFill>
                <a:latin typeface="Inconsolata"/>
              </a:rPr>
              <a:t>)</a:t>
            </a:r>
          </a:p>
          <a:p>
            <a:pPr>
              <a:lnSpc>
                <a:spcPct val="111111"/>
              </a:lnSpc>
              <a:spcAft>
                <a:spcPts val="0"/>
              </a:spcAft>
            </a:pPr>
            <a:r>
              <a:rPr sz="675" i="0">
                <a:solidFill>
                  <a:srgbClr val="FF8E6E"/>
                </a:solidFill>
                <a:latin typeface="Inconsolata"/>
              </a:rPr>
              <a:t>def</a:t>
            </a:r>
            <a:r>
              <a:rPr sz="675" i="0">
                <a:solidFill>
                  <a:srgbClr val="E6EDF3"/>
                </a:solidFill>
                <a:latin typeface="Inconsolata"/>
              </a:rPr>
              <a:t> </a:t>
            </a:r>
            <a:r>
              <a:rPr sz="675" i="0">
                <a:solidFill>
                  <a:srgbClr val="82B1FF"/>
                </a:solidFill>
                <a:latin typeface="Inconsolata"/>
              </a:rPr>
              <a:t>create_sales_report</a:t>
            </a:r>
            <a:r>
              <a:rPr sz="675" i="0">
                <a:solidFill>
                  <a:srgbClr val="E6EDF3"/>
                </a:solidFill>
                <a:latin typeface="Inconsolata"/>
              </a:rPr>
              <a:t>():</a:t>
            </a:r>
          </a:p>
          <a:p>
            <a:pPr>
              <a:lnSpc>
                <a:spcPct val="111111"/>
              </a:lnSpc>
              <a:spcAft>
                <a:spcPts val="0"/>
              </a:spcAft>
            </a:pPr>
            <a:r>
              <a:rPr sz="675" i="0">
                <a:solidFill>
                  <a:srgbClr val="E6EDF3"/>
                </a:solidFill>
                <a:latin typeface="Inconsolata"/>
              </a:rPr>
              <a:t>    task_id = start_sales_report()</a:t>
            </a:r>
          </a:p>
          <a:p>
            <a:pPr>
              <a:lnSpc>
                <a:spcPct val="111111"/>
              </a:lnSpc>
              <a:spcAft>
                <a:spcPts val="0"/>
              </a:spcAft>
            </a:pPr>
            <a:r>
              <a:rPr sz="675" i="0">
                <a:solidFill>
                  <a:srgbClr val="E6EDF3"/>
                </a:solidFill>
                <a:latin typeface="Inconsolata"/>
              </a:rPr>
              <a:t>    </a:t>
            </a:r>
            <a:r>
              <a:rPr sz="675" i="0">
                <a:solidFill>
                  <a:srgbClr val="FF8E6E"/>
                </a:solidFill>
                <a:latin typeface="Inconsolata"/>
              </a:rPr>
              <a:t>return</a:t>
            </a:r>
            <a:r>
              <a:rPr sz="675" i="0">
                <a:solidFill>
                  <a:srgbClr val="E6EDF3"/>
                </a:solidFill>
                <a:latin typeface="Inconsolata"/>
              </a:rPr>
              <a:t> </a:t>
            </a:r>
            <a:r>
              <a:rPr sz="675" i="0">
                <a:solidFill>
                  <a:srgbClr val="7FDBCA"/>
                </a:solidFill>
                <a:latin typeface="Inconsolata"/>
              </a:rPr>
              <a:t>JobOut</a:t>
            </a:r>
            <a:r>
              <a:rPr sz="675" i="0">
                <a:solidFill>
                  <a:srgbClr val="E6EDF3"/>
                </a:solidFill>
                <a:latin typeface="Inconsolata"/>
              </a:rPr>
              <a:t>(task_id=task_id, status=</a:t>
            </a:r>
            <a:r>
              <a:rPr sz="675" i="0">
                <a:solidFill>
                  <a:srgbClr val="A5D6A7"/>
                </a:solidFill>
                <a:latin typeface="Inconsolata"/>
              </a:rPr>
              <a:t>"pending"</a:t>
            </a:r>
            <a:r>
              <a:rPr sz="675" i="0">
                <a:solidFill>
                  <a:srgbClr val="E6EDF3"/>
                </a:solidFill>
                <a:latin typeface="Inconsolata"/>
              </a:rPr>
              <a:t>, status_url=</a:t>
            </a:r>
            <a:r>
              <a:rPr sz="675" i="0">
                <a:solidFill>
                  <a:srgbClr val="A5D6A7"/>
                </a:solidFill>
                <a:latin typeface="Inconsolata"/>
              </a:rPr>
              <a:t>f"/reports/{task_id}"</a:t>
            </a:r>
            <a:r>
              <a:rPr sz="675" i="0">
                <a:solidFill>
                  <a:srgbClr val="E6EDF3"/>
                </a:solidFill>
                <a:latin typeface="Inconsolata"/>
              </a:rPr>
              <a:t>)</a:t>
            </a:r>
          </a:p>
          <a:p>
            <a:pPr>
              <a:lnSpc>
                <a:spcPct val="111111"/>
              </a:lnSpc>
              <a:spcAft>
                <a:spcPts val="0"/>
              </a:spcAft>
            </a:pPr>
            <a:r>
              <a:rPr sz="675" i="0">
                <a:solidFill>
                  <a:srgbClr val="E6EDF3"/>
                </a:solidFill>
                <a:latin typeface="Inconsolata"/>
              </a:rPr>
              <a:t> </a:t>
            </a:r>
          </a:p>
          <a:p>
            <a:pPr>
              <a:lnSpc>
                <a:spcPct val="111111"/>
              </a:lnSpc>
              <a:spcAft>
                <a:spcPts val="0"/>
              </a:spcAft>
            </a:pPr>
            <a:r>
              <a:rPr sz="675" i="0">
                <a:solidFill>
                  <a:srgbClr val="F9C97A"/>
                </a:solidFill>
                <a:latin typeface="Inconsolata"/>
              </a:rPr>
              <a:t>@router.get</a:t>
            </a:r>
            <a:r>
              <a:rPr sz="675" i="0">
                <a:solidFill>
                  <a:srgbClr val="E6EDF3"/>
                </a:solidFill>
                <a:latin typeface="Inconsolata"/>
              </a:rPr>
              <a:t>(</a:t>
            </a:r>
            <a:r>
              <a:rPr sz="675" i="0">
                <a:solidFill>
                  <a:srgbClr val="A5D6A7"/>
                </a:solidFill>
                <a:latin typeface="Inconsolata"/>
              </a:rPr>
              <a:t>"/{task_id}"</a:t>
            </a:r>
            <a:r>
              <a:rPr sz="675" i="0">
                <a:solidFill>
                  <a:srgbClr val="E6EDF3"/>
                </a:solidFill>
                <a:latin typeface="Inconsolata"/>
              </a:rPr>
              <a:t>, response_model=</a:t>
            </a:r>
            <a:r>
              <a:rPr sz="675" i="0">
                <a:solidFill>
                  <a:srgbClr val="7FDBCA"/>
                </a:solidFill>
                <a:latin typeface="Inconsolata"/>
              </a:rPr>
              <a:t>ReportStatusOut</a:t>
            </a:r>
            <a:r>
              <a:rPr sz="675" i="0">
                <a:solidFill>
                  <a:srgbClr val="E6EDF3"/>
                </a:solidFill>
                <a:latin typeface="Inconsolata"/>
              </a:rPr>
              <a:t>, summary=</a:t>
            </a:r>
            <a:r>
              <a:rPr sz="675" i="0">
                <a:solidFill>
                  <a:srgbClr val="A5D6A7"/>
                </a:solidFill>
                <a:latin typeface="Inconsolata"/>
              </a:rPr>
              <a:t>"Cek status dan hasil report"</a:t>
            </a:r>
            <a:r>
              <a:rPr sz="675" i="0">
                <a:solidFill>
                  <a:srgbClr val="E6EDF3"/>
                </a:solidFill>
                <a:latin typeface="Inconsolata"/>
              </a:rPr>
              <a:t>)</a:t>
            </a:r>
          </a:p>
          <a:p>
            <a:pPr>
              <a:lnSpc>
                <a:spcPct val="111111"/>
              </a:lnSpc>
              <a:spcAft>
                <a:spcPts val="0"/>
              </a:spcAft>
            </a:pPr>
            <a:r>
              <a:rPr sz="675" i="0">
                <a:solidFill>
                  <a:srgbClr val="FF8E6E"/>
                </a:solidFill>
                <a:latin typeface="Inconsolata"/>
              </a:rPr>
              <a:t>def</a:t>
            </a:r>
            <a:r>
              <a:rPr sz="675" i="0">
                <a:solidFill>
                  <a:srgbClr val="E6EDF3"/>
                </a:solidFill>
                <a:latin typeface="Inconsolata"/>
              </a:rPr>
              <a:t> </a:t>
            </a:r>
            <a:r>
              <a:rPr sz="675" i="0">
                <a:solidFill>
                  <a:srgbClr val="82B1FF"/>
                </a:solidFill>
                <a:latin typeface="Inconsolata"/>
              </a:rPr>
              <a:t>get_sales_report</a:t>
            </a:r>
            <a:r>
              <a:rPr sz="675" i="0">
                <a:solidFill>
                  <a:srgbClr val="E6EDF3"/>
                </a:solidFill>
                <a:latin typeface="Inconsolata"/>
              </a:rPr>
              <a:t>(task_id: </a:t>
            </a:r>
            <a:r>
              <a:rPr sz="675" i="0">
                <a:solidFill>
                  <a:srgbClr val="C3A6FF"/>
                </a:solidFill>
                <a:latin typeface="Inconsolata"/>
              </a:rPr>
              <a:t>str</a:t>
            </a:r>
            <a:r>
              <a:rPr sz="675" i="0">
                <a:solidFill>
                  <a:srgbClr val="E6EDF3"/>
                </a:solidFill>
                <a:latin typeface="Inconsolata"/>
              </a:rPr>
              <a:t>):</a:t>
            </a:r>
          </a:p>
          <a:p>
            <a:pPr>
              <a:lnSpc>
                <a:spcPct val="111111"/>
              </a:lnSpc>
              <a:spcAft>
                <a:spcPts val="0"/>
              </a:spcAft>
            </a:pPr>
            <a:r>
              <a:rPr sz="675" i="0">
                <a:solidFill>
                  <a:srgbClr val="E6EDF3"/>
                </a:solidFill>
                <a:latin typeface="Inconsolata"/>
              </a:rPr>
              <a:t>    </a:t>
            </a:r>
            <a:r>
              <a:rPr sz="675" i="0">
                <a:solidFill>
                  <a:srgbClr val="FF8E6E"/>
                </a:solidFill>
                <a:latin typeface="Inconsolata"/>
              </a:rPr>
              <a:t>return</a:t>
            </a:r>
            <a:r>
              <a:rPr sz="675" i="0">
                <a:solidFill>
                  <a:srgbClr val="E6EDF3"/>
                </a:solidFill>
                <a:latin typeface="Inconsolata"/>
              </a:rPr>
              <a:t> get_job_status(task_id)</a:t>
            </a:r>
          </a:p>
        </p:txBody>
      </p:sp>
      <p:sp>
        <p:nvSpPr>
          <p:cNvPr id="29" name="Box 12"/>
          <p:cNvSpPr/>
          <p:nvPr/>
        </p:nvSpPr>
        <p:spPr>
          <a:xfrm>
            <a:off x="704088" y="2053971"/>
            <a:ext cx="5230368" cy="450342"/>
          </a:xfrm>
          <a:prstGeom prst="roundRect">
            <a:avLst>
              <a:gd name="adj" fmla="val 1015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1602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625471"/>
            <a:ext cx="5230368" cy="336042"/>
          </a:xfrm>
          <a:prstGeom prst="roundRect">
            <a:avLst>
              <a:gd name="adj" fmla="val 1360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6746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POST /reports/sales</a:t>
            </a:r>
            <a:r>
              <a:rPr sz="900" b="0" i="0">
                <a:solidFill>
                  <a:srgbClr val="434343"/>
                </a:solidFill>
                <a:latin typeface="Inter"/>
              </a:rPr>
              <a:t> menjawab </a:t>
            </a:r>
            <a:r>
              <a:rPr sz="900" b="1" i="0">
                <a:solidFill>
                  <a:srgbClr val="434343"/>
                </a:solidFill>
                <a:latin typeface="Inter"/>
              </a:rPr>
              <a:t>202 Accepted</a:t>
            </a:r>
            <a:r>
              <a:rPr sz="900" b="0" i="0">
                <a:solidFill>
                  <a:srgbClr val="434343"/>
                </a:solidFill>
                <a:latin typeface="Inter"/>
              </a:rPr>
              <a:t> dengan </a:t>
            </a:r>
            <a:r>
              <a:rPr sz="900" b="0" i="0">
                <a:solidFill>
                  <a:srgbClr val="B5482A"/>
                </a:solidFill>
                <a:latin typeface="Inconsolata"/>
              </a:rPr>
              <a:t>task_id</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 /reports/{task_id}</a:t>
            </a:r>
            <a:r>
              <a:rPr sz="900" b="0" i="0">
                <a:solidFill>
                  <a:srgbClr val="434343"/>
                </a:solidFill>
                <a:latin typeface="Inter"/>
              </a:rPr>
              <a:t> menampilkan status dan hasil</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Tambahkan </a:t>
            </a:r>
            <a:r>
              <a:rPr sz="900" b="0" i="0">
                <a:solidFill>
                  <a:srgbClr val="B5482A"/>
                </a:solidFill>
                <a:latin typeface="Inconsolata"/>
              </a:rPr>
              <a:t>JobOut</a:t>
            </a:r>
            <a:r>
              <a:rPr sz="900" b="0" i="0">
                <a:solidFill>
                  <a:srgbClr val="434343"/>
                </a:solidFill>
                <a:latin typeface="Inter"/>
              </a:rPr>
              <a:t> dan </a:t>
            </a:r>
            <a:r>
              <a:rPr sz="900" b="0" i="0">
                <a:solidFill>
                  <a:srgbClr val="B5482A"/>
                </a:solidFill>
                <a:latin typeface="Inconsolata"/>
              </a:rPr>
              <a:t>ReportStatusOut</a:t>
            </a:r>
            <a:r>
              <a:rPr sz="900" b="0" i="0">
                <a:solidFill>
                  <a:srgbClr val="434343"/>
                </a:solidFill>
                <a:latin typeface="Inter"/>
              </a:rPr>
              <a:t> di </a:t>
            </a:r>
            <a:r>
              <a:rPr sz="900" b="0" i="0">
                <a:solidFill>
                  <a:srgbClr val="B5482A"/>
                </a:solidFill>
                <a:latin typeface="Inconsolata"/>
              </a:rPr>
              <a:t>schemas.py</a:t>
            </a:r>
            <a:r>
              <a:rPr sz="900" b="0" i="0">
                <a:solidFill>
                  <a:srgbClr val="434343"/>
                </a:solidFill>
                <a:latin typeface="Inter"/>
              </a:rPr>
              <a:t>, lalu daftarkan router di </a:t>
            </a:r>
            <a:r>
              <a:rPr sz="900" b="0" i="0">
                <a:solidFill>
                  <a:srgbClr val="B5482A"/>
                </a:solidFill>
                <a:latin typeface="Inconsolata"/>
              </a:rPr>
              <a:t>main.py</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Endpoint report muncul di /docs dengan tag reports.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10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tests/: Celery mode eager</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tests/conftest.py  +  test_tasks.py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11111"/>
              </a:lnSpc>
              <a:spcAft>
                <a:spcPts val="0"/>
              </a:spcAft>
            </a:pPr>
            <a:r>
              <a:rPr sz="750" i="1">
                <a:solidFill>
                  <a:srgbClr val="8B98A8"/>
                </a:solidFill>
                <a:latin typeface="Inconsolata"/>
              </a:rPr>
              <a:t># tests/conftest.py</a:t>
            </a:r>
          </a:p>
          <a:p>
            <a:pPr>
              <a:lnSpc>
                <a:spcPct val="111111"/>
              </a:lnSpc>
              <a:spcAft>
                <a:spcPts val="0"/>
              </a:spcAft>
            </a:pPr>
            <a:r>
              <a:rPr sz="750" i="0">
                <a:solidFill>
                  <a:srgbClr val="E6EDF3"/>
                </a:solidFill>
                <a:latin typeface="Inconsolata"/>
              </a:rPr>
              <a:t>os.environ.update(</a:t>
            </a:r>
          </a:p>
          <a:p>
            <a:pPr>
              <a:lnSpc>
                <a:spcPct val="111111"/>
              </a:lnSpc>
              <a:spcAft>
                <a:spcPts val="0"/>
              </a:spcAft>
            </a:pPr>
            <a:r>
              <a:rPr sz="750" i="0">
                <a:solidFill>
                  <a:srgbClr val="E6EDF3"/>
                </a:solidFill>
                <a:latin typeface="Inconsolata"/>
              </a:rPr>
              <a:t>    </a:t>
            </a:r>
            <a:r>
              <a:rPr sz="750" i="0">
                <a:solidFill>
                  <a:srgbClr val="7FDBCA"/>
                </a:solidFill>
                <a:latin typeface="Inconsolata"/>
              </a:rPr>
              <a:t>DATABASE_URL</a:t>
            </a:r>
            <a:r>
              <a:rPr sz="750" i="0">
                <a:solidFill>
                  <a:srgbClr val="E6EDF3"/>
                </a:solidFill>
                <a:latin typeface="Inconsolata"/>
              </a:rPr>
              <a:t>=</a:t>
            </a:r>
            <a:r>
              <a:rPr sz="750" i="0">
                <a:solidFill>
                  <a:srgbClr val="A5D6A7"/>
                </a:solidFill>
                <a:latin typeface="Inconsolata"/>
              </a:rPr>
              <a:t>"sqlite://"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7FDBCA"/>
                </a:solidFill>
                <a:latin typeface="Inconsolata"/>
              </a:rPr>
              <a:t>CELERY_TASK_ALWAYS_EAGER</a:t>
            </a:r>
            <a:r>
              <a:rPr sz="750" i="0">
                <a:solidFill>
                  <a:srgbClr val="E6EDF3"/>
                </a:solidFill>
                <a:latin typeface="Inconsolata"/>
              </a:rPr>
              <a:t>=</a:t>
            </a:r>
            <a:r>
              <a:rPr sz="750" i="0">
                <a:solidFill>
                  <a:srgbClr val="A5D6A7"/>
                </a:solidFill>
                <a:latin typeface="Inconsolata"/>
              </a:rPr>
              <a:t>"1"</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7FDBCA"/>
                </a:solidFill>
                <a:latin typeface="Inconsolata"/>
              </a:rPr>
              <a:t>CELERY_BROKER_URL</a:t>
            </a:r>
            <a:r>
              <a:rPr sz="750" i="0">
                <a:solidFill>
                  <a:srgbClr val="E6EDF3"/>
                </a:solidFill>
                <a:latin typeface="Inconsolata"/>
              </a:rPr>
              <a:t>=</a:t>
            </a:r>
            <a:r>
              <a:rPr sz="750" i="0">
                <a:solidFill>
                  <a:srgbClr val="A5D6A7"/>
                </a:solidFill>
                <a:latin typeface="Inconsolata"/>
              </a:rPr>
              <a:t>"memory://"</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7FDBCA"/>
                </a:solidFill>
                <a:latin typeface="Inconsolata"/>
              </a:rPr>
              <a:t>CELERY_RESULT_BACKEND</a:t>
            </a:r>
            <a:r>
              <a:rPr sz="750" i="0">
                <a:solidFill>
                  <a:srgbClr val="E6EDF3"/>
                </a:solidFill>
                <a:latin typeface="Inconsolata"/>
              </a:rPr>
              <a:t>=</a:t>
            </a:r>
            <a:r>
              <a:rPr sz="750" i="0">
                <a:solidFill>
                  <a:srgbClr val="A5D6A7"/>
                </a:solidFill>
                <a:latin typeface="Inconsolata"/>
              </a:rPr>
              <a:t>"cache+memory://"</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7FDBCA"/>
                </a:solidFill>
                <a:latin typeface="Inconsolata"/>
              </a:rPr>
              <a:t>NOTIFICATION_FAIL_RATE</a:t>
            </a:r>
            <a:r>
              <a:rPr sz="750" i="0">
                <a:solidFill>
                  <a:srgbClr val="E6EDF3"/>
                </a:solidFill>
                <a:latin typeface="Inconsolata"/>
              </a:rPr>
              <a:t>=</a:t>
            </a:r>
            <a:r>
              <a:rPr sz="750" i="0">
                <a:solidFill>
                  <a:srgbClr val="A5D6A7"/>
                </a:solidFill>
                <a:latin typeface="Inconsolata"/>
              </a:rPr>
              <a:t>"0"</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7FDBCA"/>
                </a:solidFill>
                <a:latin typeface="Inconsolata"/>
              </a:rPr>
              <a:t>REPORT_DELAY</a:t>
            </a:r>
            <a:r>
              <a:rPr sz="750" i="0">
                <a:solidFill>
                  <a:srgbClr val="E6EDF3"/>
                </a:solidFill>
                <a:latin typeface="Inconsolata"/>
              </a:rPr>
              <a:t>=</a:t>
            </a:r>
            <a:r>
              <a:rPr sz="750" i="0">
                <a:solidFill>
                  <a:srgbClr val="A5D6A7"/>
                </a:solidFill>
                <a:latin typeface="Inconsolata"/>
              </a:rPr>
              <a:t>"0"</a:t>
            </a:r>
            <a:r>
              <a:rPr sz="750" i="0">
                <a:solidFill>
                  <a:srgbClr val="E6EDF3"/>
                </a:solidFill>
                <a:latin typeface="Inconsolata"/>
              </a:rPr>
              <a:t>,</a:t>
            </a:r>
          </a:p>
          <a:p>
            <a:pPr>
              <a:lnSpc>
                <a:spcPct val="111111"/>
              </a:lnSpc>
              <a:spcAft>
                <a:spcPts val="0"/>
              </a:spcAft>
            </a:pPr>
            <a:r>
              <a:rPr sz="750" i="0">
                <a:solidFill>
                  <a:srgbClr val="E6EDF3"/>
                </a:solidFill>
                <a:latin typeface="Inconsolata"/>
              </a:rPr>
              <a:t>)</a:t>
            </a:r>
          </a:p>
          <a:p>
            <a:pPr>
              <a:lnSpc>
                <a:spcPct val="111111"/>
              </a:lnSpc>
              <a:spcAft>
                <a:spcPts val="0"/>
              </a:spcAft>
            </a:pPr>
            <a:r>
              <a:rPr sz="750" i="0">
                <a:solidFill>
                  <a:srgbClr val="E6EDF3"/>
                </a:solidFill>
                <a:latin typeface="Inconsolata"/>
              </a:rPr>
              <a:t> </a:t>
            </a:r>
          </a:p>
          <a:p>
            <a:pPr>
              <a:lnSpc>
                <a:spcPct val="111111"/>
              </a:lnSpc>
              <a:spcAft>
                <a:spcPts val="0"/>
              </a:spcAft>
            </a:pPr>
            <a:r>
              <a:rPr sz="750" i="1">
                <a:solidFill>
                  <a:srgbClr val="8B98A8"/>
                </a:solidFill>
                <a:latin typeface="Inconsolata"/>
              </a:rPr>
              <a:t># tests/test_tasks.py</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test_retry_sampai_berhasil</a:t>
            </a:r>
            <a:r>
              <a:rPr sz="750" i="0">
                <a:solidFill>
                  <a:srgbClr val="E6EDF3"/>
                </a:solidFill>
                <a:latin typeface="Inconsolata"/>
              </a:rPr>
              <a:t>(notifier):</a:t>
            </a:r>
          </a:p>
          <a:p>
            <a:pPr>
              <a:lnSpc>
                <a:spcPct val="111111"/>
              </a:lnSpc>
              <a:spcAft>
                <a:spcPts val="0"/>
              </a:spcAft>
            </a:pPr>
            <a:r>
              <a:rPr sz="750" i="0">
                <a:solidFill>
                  <a:srgbClr val="E6EDF3"/>
                </a:solidFill>
                <a:latin typeface="Inconsolata"/>
              </a:rPr>
              <a:t>    fake = notifier(failures=</a:t>
            </a:r>
            <a:r>
              <a:rPr sz="750" i="0">
                <a:solidFill>
                  <a:srgbClr val="F9C97A"/>
                </a:solidFill>
                <a:latin typeface="Inconsolata"/>
              </a:rPr>
              <a:t>2</a:t>
            </a:r>
            <a:r>
              <a:rPr sz="750" i="0">
                <a:solidFill>
                  <a:srgbClr val="E6EDF3"/>
                </a:solidFill>
                <a:latin typeface="Inconsolata"/>
              </a:rPr>
              <a:t>)</a:t>
            </a:r>
          </a:p>
          <a:p>
            <a:pPr>
              <a:lnSpc>
                <a:spcPct val="111111"/>
              </a:lnSpc>
              <a:spcAft>
                <a:spcPts val="0"/>
              </a:spcAft>
            </a:pPr>
            <a:r>
              <a:rPr sz="750" i="0">
                <a:solidFill>
                  <a:srgbClr val="E6EDF3"/>
                </a:solidFill>
                <a:latin typeface="Inconsolata"/>
              </a:rPr>
              <a:t>    result = tasks.send_notification.delay(</a:t>
            </a:r>
            <a:r>
              <a:rPr sz="750" i="0">
                <a:solidFill>
                  <a:srgbClr val="A5D6A7"/>
                </a:solidFill>
                <a:latin typeface="Inconsolata"/>
              </a:rPr>
              <a:t>"key-1"</a:t>
            </a:r>
            <a:r>
              <a:rPr sz="750" i="0">
                <a:solidFill>
                  <a:srgbClr val="E6EDF3"/>
                </a:solidFill>
                <a:latin typeface="Inconsolata"/>
              </a:rPr>
              <a:t>, </a:t>
            </a:r>
            <a:r>
              <a:rPr sz="750" i="0">
                <a:solidFill>
                  <a:srgbClr val="A5D6A7"/>
                </a:solidFill>
                <a:latin typeface="Inconsolata"/>
              </a:rPr>
              <a:t>"budi@mail.com"</a:t>
            </a:r>
            <a:r>
              <a:rPr sz="750" i="0">
                <a:solidFill>
                  <a:srgbClr val="E6EDF3"/>
                </a:solidFill>
                <a:latin typeface="Inconsolata"/>
              </a:rPr>
              <a:t>, </a:t>
            </a:r>
            <a:r>
              <a:rPr sz="750" i="0">
                <a:solidFill>
                  <a:srgbClr val="A5D6A7"/>
                </a:solidFill>
                <a:latin typeface="Inconsolata"/>
              </a:rPr>
              <a:t>"Order #1 berhasil"</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assert</a:t>
            </a:r>
            <a:r>
              <a:rPr sz="750" i="0">
                <a:solidFill>
                  <a:srgbClr val="E6EDF3"/>
                </a:solidFill>
                <a:latin typeface="Inconsolata"/>
              </a:rPr>
              <a:t> result.state == </a:t>
            </a:r>
            <a:r>
              <a:rPr sz="750" i="0">
                <a:solidFill>
                  <a:srgbClr val="A5D6A7"/>
                </a:solidFill>
                <a:latin typeface="Inconsolata"/>
              </a:rPr>
              <a:t>"SUCCESS"</a:t>
            </a:r>
          </a:p>
          <a:p>
            <a:pPr>
              <a:lnSpc>
                <a:spcPct val="111111"/>
              </a:lnSpc>
              <a:spcAft>
                <a:spcPts val="0"/>
              </a:spcAft>
            </a:pPr>
            <a:r>
              <a:rPr sz="750" i="0">
                <a:solidFill>
                  <a:srgbClr val="E6EDF3"/>
                </a:solidFill>
                <a:latin typeface="Inconsolata"/>
              </a:rPr>
              <a:t>    </a:t>
            </a:r>
            <a:r>
              <a:rPr sz="750" i="0">
                <a:solidFill>
                  <a:srgbClr val="FF8E6E"/>
                </a:solidFill>
                <a:latin typeface="Inconsolata"/>
              </a:rPr>
              <a:t>assert</a:t>
            </a:r>
            <a:r>
              <a:rPr sz="750" i="0">
                <a:solidFill>
                  <a:srgbClr val="E6EDF3"/>
                </a:solidFill>
                <a:latin typeface="Inconsolata"/>
              </a:rPr>
              <a:t> fake.sent == [(</a:t>
            </a:r>
            <a:r>
              <a:rPr sz="750" i="0">
                <a:solidFill>
                  <a:srgbClr val="A5D6A7"/>
                </a:solidFill>
                <a:latin typeface="Inconsolata"/>
              </a:rPr>
              <a:t>"budi@mail.com"</a:t>
            </a:r>
            <a:r>
              <a:rPr sz="750" i="0">
                <a:solidFill>
                  <a:srgbClr val="E6EDF3"/>
                </a:solidFill>
                <a:latin typeface="Inconsolata"/>
              </a:rPr>
              <a:t>, </a:t>
            </a:r>
            <a:r>
              <a:rPr sz="750" i="0">
                <a:solidFill>
                  <a:srgbClr val="A5D6A7"/>
                </a:solidFill>
                <a:latin typeface="Inconsolata"/>
              </a:rPr>
              <a:t>"Order #1 berhasil"</a:t>
            </a:r>
            <a:r>
              <a:rPr sz="750" i="0">
                <a:solidFill>
                  <a:srgbClr val="E6EDF3"/>
                </a:solidFill>
                <a:latin typeface="Inconsolata"/>
              </a:rPr>
              <a:t>)]</a:t>
            </a:r>
          </a:p>
        </p:txBody>
      </p:sp>
      <p:sp>
        <p:nvSpPr>
          <p:cNvPr id="29" name="Box 12"/>
          <p:cNvSpPr/>
          <p:nvPr/>
        </p:nvSpPr>
        <p:spPr>
          <a:xfrm>
            <a:off x="704088" y="2208022"/>
            <a:ext cx="52303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14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224022"/>
            <a:ext cx="5230368" cy="627380"/>
          </a:xfrm>
          <a:prstGeom prst="roundRect">
            <a:avLst>
              <a:gd name="adj" fmla="val 728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41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Test tidak butuh Redis dan worker: task dijalankan langsung (eager)</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test_tasks.py</a:t>
            </a:r>
            <a:r>
              <a:rPr sz="900" b="0" i="0">
                <a:solidFill>
                  <a:srgbClr val="434343"/>
                </a:solidFill>
                <a:latin typeface="Inter"/>
              </a:rPr>
              <a:t>: retry sampai berhasil, notifikasi tidak terkirim dua kali, dan gagal permanen</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test_api.py</a:t>
            </a:r>
            <a:r>
              <a:rPr sz="900" b="0" i="0">
                <a:solidFill>
                  <a:srgbClr val="434343"/>
                </a:solidFill>
                <a:latin typeface="Inter"/>
              </a:rPr>
              <a:t>: ditambah test report penjualan</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Ada 16 test.</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Jalankan Test</a:t>
            </a:r>
          </a:p>
        </p:txBody>
      </p:sp>
      <p:pic>
        <p:nvPicPr>
          <p:cNvPr id="22" name="Image 3" descr="s05-pytest.png"/>
          <p:cNvPicPr>
            <a:picLocks noChangeAspect="1"/>
          </p:cNvPicPr>
          <p:nvPr/>
        </p:nvPicPr>
        <p:blipFill>
          <a:blip r:embed="rId2"/>
          <a:stretch>
            <a:fillRect/>
          </a:stretch>
        </p:blipFill>
        <p:spPr>
          <a:xfrm>
            <a:off x="621792" y="1481328"/>
            <a:ext cx="5212080" cy="3109480"/>
          </a:xfrm>
          <a:prstGeom prst="rect">
            <a:avLst/>
          </a:prstGeom>
          <a:ln w="9525">
            <a:solidFill>
              <a:srgbClr val="D0D5DD"/>
            </a:solidFill>
          </a:ln>
        </p:spPr>
      </p:pic>
      <p:sp>
        <p:nvSpPr>
          <p:cNvPr id="23" name="Box 4"/>
          <p:cNvSpPr/>
          <p:nvPr/>
        </p:nvSpPr>
        <p:spPr>
          <a:xfrm>
            <a:off x="5989320" y="1481328"/>
            <a:ext cx="2496312" cy="3218688"/>
          </a:xfrm>
          <a:prstGeom prst="roundRect">
            <a:avLst>
              <a:gd name="adj" fmla="val 4395"/>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Text 5"/>
          <p:cNvSpPr txBox="1"/>
          <p:nvPr/>
        </p:nvSpPr>
        <p:spPr>
          <a:xfrm>
            <a:off x="6126480" y="1572768"/>
            <a:ext cx="2221992" cy="310896"/>
          </a:xfrm>
          <a:prstGeom prst="rect">
            <a:avLst/>
          </a:prstGeom>
          <a:noFill/>
        </p:spPr>
        <p:txBody>
          <a:bodyPr wrap="square" lIns="45720" rIns="45720" anchor="t">
            <a:spAutoFit/>
          </a:bodyPr>
          <a:lstStyle/>
          <a:p>
            <a:pPr algn="l">
              <a:lnSpc>
                <a:spcPct val="115000"/>
              </a:lnSpc>
              <a:spcAft>
                <a:spcPts val="400"/>
              </a:spcAft>
            </a:pPr>
            <a:r>
              <a:rPr sz="1100" b="1" i="0">
                <a:solidFill>
                  <a:srgbClr val="E0764F"/>
                </a:solidFill>
                <a:latin typeface="Inter"/>
              </a:rPr>
              <a:t>Yang dikerjakan</a:t>
            </a:r>
          </a:p>
        </p:txBody>
      </p:sp>
      <p:sp>
        <p:nvSpPr>
          <p:cNvPr id="25" name="Text 6"/>
          <p:cNvSpPr txBox="1"/>
          <p:nvPr/>
        </p:nvSpPr>
        <p:spPr>
          <a:xfrm>
            <a:off x="6126480" y="1892808"/>
            <a:ext cx="22219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Hapus </a:t>
            </a:r>
            <a:r>
              <a:rPr sz="950" b="0" i="0">
                <a:solidFill>
                  <a:srgbClr val="B5482A"/>
                </a:solidFill>
                <a:latin typeface="Inconsolata"/>
              </a:rPr>
              <a:t>orders.db</a:t>
            </a:r>
            <a:r>
              <a:rPr sz="950" b="0" i="0">
                <a:solidFill>
                  <a:srgbClr val="434343"/>
                </a:solidFill>
                <a:latin typeface="Inter"/>
              </a:rPr>
              <a:t> lama</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Masuk ke folder </a:t>
            </a:r>
            <a:r>
              <a:rPr sz="950" b="0" i="0">
                <a:solidFill>
                  <a:srgbClr val="B5482A"/>
                </a:solidFill>
                <a:latin typeface="Inconsolata"/>
              </a:rPr>
              <a:t>latihan/</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Jalankan </a:t>
            </a:r>
            <a:r>
              <a:rPr sz="950" b="0" i="0">
                <a:solidFill>
                  <a:srgbClr val="B5482A"/>
                </a:solidFill>
                <a:latin typeface="Inconsolata"/>
              </a:rPr>
              <a:t>pytest -v</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Semua test harus </a:t>
            </a:r>
            <a:r>
              <a:rPr sz="950" b="1" i="0">
                <a:solidFill>
                  <a:srgbClr val="434343"/>
                </a:solidFill>
                <a:latin typeface="Inter"/>
              </a:rPr>
              <a:t>PASSED</a:t>
            </a:r>
          </a:p>
          <a:p>
            <a:pPr algn="l">
              <a:lnSpc>
                <a:spcPct val="115000"/>
              </a:lnSpc>
              <a:spcAft>
                <a:spcPts val="0"/>
              </a:spcAft>
            </a:pPr>
            <a:endParaRPr sz="950" b="1" i="0">
              <a:solidFill>
                <a:srgbClr val="434343"/>
              </a:solidFill>
              <a:latin typeface="Inter"/>
            </a:endParaRPr>
          </a:p>
          <a:p>
            <a:pPr algn="l">
              <a:lnSpc>
                <a:spcPct val="115000"/>
              </a:lnSpc>
              <a:spcAft>
                <a:spcPts val="400"/>
              </a:spcAft>
            </a:pPr>
            <a:r>
              <a:rPr sz="950" b="0" i="0">
                <a:solidFill>
                  <a:srgbClr val="434343"/>
                </a:solidFill>
                <a:latin typeface="Inter"/>
              </a:rPr>
              <a:t>Test berjalan tanpa Redis, karena Celery memakai mode eager.</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Jalankan Worker dan API</a:t>
            </a:r>
          </a:p>
        </p:txBody>
      </p:sp>
      <p:sp>
        <p:nvSpPr>
          <p:cNvPr id="22" name="CodeTab 4"/>
          <p:cNvSpPr/>
          <p:nvPr/>
        </p:nvSpPr>
        <p:spPr>
          <a:xfrm>
            <a:off x="621792" y="1481328"/>
            <a:ext cx="38404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004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a:t>
            </a:r>
          </a:p>
        </p:txBody>
      </p:sp>
      <p:sp>
        <p:nvSpPr>
          <p:cNvPr id="27" name="CodeBg 10"/>
          <p:cNvSpPr/>
          <p:nvPr/>
        </p:nvSpPr>
        <p:spPr>
          <a:xfrm>
            <a:off x="621792" y="1719072"/>
            <a:ext cx="3840480" cy="1133856"/>
          </a:xfrm>
          <a:prstGeom prst="roundRect">
            <a:avLst>
              <a:gd name="adj" fmla="val 1612"/>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40480" cy="1133856"/>
          </a:xfrm>
          <a:prstGeom prst="rect">
            <a:avLst/>
          </a:prstGeom>
          <a:noFill/>
        </p:spPr>
        <p:txBody>
          <a:bodyPr wrap="none" lIns="146304" tIns="91440" rIns="146304" bIns="54864">
            <a:spAutoFit/>
          </a:bodyPr>
          <a:lstStyle/>
          <a:p>
            <a:pPr>
              <a:lnSpc>
                <a:spcPct val="111111"/>
              </a:lnSpc>
              <a:spcAft>
                <a:spcPts val="0"/>
              </a:spcAft>
            </a:pPr>
            <a:r>
              <a:rPr sz="750" i="1">
                <a:solidFill>
                  <a:srgbClr val="8B98A8"/>
                </a:solidFill>
                <a:latin typeface="Inconsolata"/>
              </a:rPr>
              <a:t># terminal 1 (worker), dari folder latihan/</a:t>
            </a:r>
          </a:p>
          <a:p>
            <a:pPr>
              <a:lnSpc>
                <a:spcPct val="111111"/>
              </a:lnSpc>
              <a:spcAft>
                <a:spcPts val="0"/>
              </a:spcAft>
            </a:pPr>
            <a:r>
              <a:rPr sz="750" i="0">
                <a:solidFill>
                  <a:srgbClr val="82B1FF"/>
                </a:solidFill>
                <a:latin typeface="Inconsolata"/>
              </a:rPr>
              <a:t>$env:NOTIFICATION_FAIL_RATE="0.5"     # PowerShell</a:t>
            </a:r>
          </a:p>
          <a:p>
            <a:pPr>
              <a:lnSpc>
                <a:spcPct val="111111"/>
              </a:lnSpc>
              <a:spcAft>
                <a:spcPts val="0"/>
              </a:spcAft>
            </a:pPr>
            <a:r>
              <a:rPr sz="750" i="0">
                <a:solidFill>
                  <a:srgbClr val="E6EDF3"/>
                </a:solidFill>
                <a:latin typeface="Inconsolata"/>
              </a:rPr>
              <a:t>celery -A app.worker.celery_app worker --loglevel=info --pool=solo</a:t>
            </a:r>
          </a:p>
          <a:p>
            <a:pPr>
              <a:lnSpc>
                <a:spcPct val="111111"/>
              </a:lnSpc>
              <a:spcAft>
                <a:spcPts val="0"/>
              </a:spcAft>
            </a:pPr>
            <a:endParaRPr sz="750" i="0">
              <a:solidFill>
                <a:srgbClr val="E6EDF3"/>
              </a:solidFill>
              <a:latin typeface="Inconsolata"/>
            </a:endParaRPr>
          </a:p>
          <a:p>
            <a:pPr>
              <a:lnSpc>
                <a:spcPct val="111111"/>
              </a:lnSpc>
              <a:spcAft>
                <a:spcPts val="0"/>
              </a:spcAft>
            </a:pPr>
            <a:r>
              <a:rPr sz="750" i="1">
                <a:solidFill>
                  <a:srgbClr val="8B98A8"/>
                </a:solidFill>
                <a:latin typeface="Inconsolata"/>
              </a:rPr>
              <a:t># terminal 2 (API)</a:t>
            </a:r>
          </a:p>
          <a:p>
            <a:pPr>
              <a:lnSpc>
                <a:spcPct val="111111"/>
              </a:lnSpc>
              <a:spcAft>
                <a:spcPts val="0"/>
              </a:spcAft>
            </a:pPr>
            <a:r>
              <a:rPr sz="750" i="0">
                <a:solidFill>
                  <a:srgbClr val="E6EDF3"/>
                </a:solidFill>
                <a:latin typeface="Inconsolata"/>
              </a:rPr>
              <a:t>uvicorn app.main:app --reload</a:t>
            </a:r>
          </a:p>
        </p:txBody>
      </p:sp>
      <p:pic>
        <p:nvPicPr>
          <p:cNvPr id="29" name="Image 12" descr="s05-post-resp.png"/>
          <p:cNvPicPr>
            <a:picLocks noChangeAspect="1"/>
          </p:cNvPicPr>
          <p:nvPr/>
        </p:nvPicPr>
        <p:blipFill>
          <a:blip r:embed="rId2"/>
          <a:stretch>
            <a:fillRect/>
          </a:stretch>
        </p:blipFill>
        <p:spPr>
          <a:xfrm>
            <a:off x="621792" y="2944368"/>
            <a:ext cx="3108960" cy="1554480"/>
          </a:xfrm>
          <a:prstGeom prst="rect">
            <a:avLst/>
          </a:prstGeom>
          <a:ln w="9525">
            <a:solidFill>
              <a:srgbClr val="D0D5DD"/>
            </a:solidFill>
          </a:ln>
        </p:spPr>
      </p:pic>
      <p:sp>
        <p:nvSpPr>
          <p:cNvPr id="30" name="Text 13"/>
          <p:cNvSpPr txBox="1"/>
          <p:nvPr/>
        </p:nvSpPr>
        <p:spPr>
          <a:xfrm>
            <a:off x="621792" y="4526280"/>
            <a:ext cx="3840480"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POST /orders: response 201 langsung keluar</a:t>
            </a:r>
          </a:p>
        </p:txBody>
      </p:sp>
      <p:pic>
        <p:nvPicPr>
          <p:cNvPr id="31" name="Image 14" descr="s05-worker-notif.png"/>
          <p:cNvPicPr>
            <a:picLocks noChangeAspect="1"/>
          </p:cNvPicPr>
          <p:nvPr/>
        </p:nvPicPr>
        <p:blipFill>
          <a:blip r:embed="rId3"/>
          <a:stretch>
            <a:fillRect/>
          </a:stretch>
        </p:blipFill>
        <p:spPr>
          <a:xfrm>
            <a:off x="4645152" y="1481328"/>
            <a:ext cx="3840480" cy="1116771"/>
          </a:xfrm>
          <a:prstGeom prst="rect">
            <a:avLst/>
          </a:prstGeom>
          <a:ln w="9525">
            <a:solidFill>
              <a:srgbClr val="D0D5DD"/>
            </a:solidFill>
          </a:ln>
        </p:spPr>
      </p:pic>
      <p:sp>
        <p:nvSpPr>
          <p:cNvPr id="32" name="Text 15"/>
          <p:cNvSpPr txBox="1"/>
          <p:nvPr/>
        </p:nvSpPr>
        <p:spPr>
          <a:xfrm>
            <a:off x="4645152" y="2643819"/>
            <a:ext cx="3840480" cy="8229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Log worker (diringkas): server email gagal sekali, task di-retry, lalu email terkirim.</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11 dari 11</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Coba di Swagger: Report Penjualan</a:t>
            </a:r>
          </a:p>
        </p:txBody>
      </p:sp>
      <p:pic>
        <p:nvPicPr>
          <p:cNvPr id="22" name="Image 3" descr="s05-report-resp.png"/>
          <p:cNvPicPr>
            <a:picLocks noChangeAspect="1"/>
          </p:cNvPicPr>
          <p:nvPr/>
        </p:nvPicPr>
        <p:blipFill>
          <a:blip r:embed="rId2"/>
          <a:stretch>
            <a:fillRect/>
          </a:stretch>
        </p:blipFill>
        <p:spPr>
          <a:xfrm>
            <a:off x="621792" y="1481328"/>
            <a:ext cx="3840480" cy="945617"/>
          </a:xfrm>
          <a:prstGeom prst="rect">
            <a:avLst/>
          </a:prstGeom>
          <a:ln w="9525">
            <a:solidFill>
              <a:srgbClr val="D0D5DD"/>
            </a:solidFill>
          </a:ln>
        </p:spPr>
      </p:pic>
      <p:sp>
        <p:nvSpPr>
          <p:cNvPr id="23" name="Text 4"/>
          <p:cNvSpPr txBox="1"/>
          <p:nvPr/>
        </p:nvSpPr>
        <p:spPr>
          <a:xfrm>
            <a:off x="621792" y="2454376"/>
            <a:ext cx="3840480"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POST /reports/sales: 202 dengan task_id (setelah order #1 dibayar)</a:t>
            </a:r>
          </a:p>
        </p:txBody>
      </p:sp>
      <p:pic>
        <p:nvPicPr>
          <p:cNvPr id="24" name="Image 5" descr="s05-report-running-resp.png"/>
          <p:cNvPicPr>
            <a:picLocks noChangeAspect="1"/>
          </p:cNvPicPr>
          <p:nvPr/>
        </p:nvPicPr>
        <p:blipFill>
          <a:blip r:embed="rId3"/>
          <a:stretch>
            <a:fillRect/>
          </a:stretch>
        </p:blipFill>
        <p:spPr>
          <a:xfrm>
            <a:off x="621792" y="2838424"/>
            <a:ext cx="3840480" cy="1026835"/>
          </a:xfrm>
          <a:prstGeom prst="rect">
            <a:avLst/>
          </a:prstGeom>
          <a:ln w="9525">
            <a:solidFill>
              <a:srgbClr val="D0D5DD"/>
            </a:solidFill>
          </a:ln>
        </p:spPr>
      </p:pic>
      <p:sp>
        <p:nvSpPr>
          <p:cNvPr id="25" name="Text 6"/>
          <p:cNvSpPr txBox="1"/>
          <p:nvPr/>
        </p:nvSpPr>
        <p:spPr>
          <a:xfrm>
            <a:off x="621792" y="3892691"/>
            <a:ext cx="3840480"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GET /reports/{task_id}: masih running</a:t>
            </a:r>
          </a:p>
        </p:txBody>
      </p:sp>
      <p:pic>
        <p:nvPicPr>
          <p:cNvPr id="26" name="Image 7" descr="s05-report-done-resp.png"/>
          <p:cNvPicPr>
            <a:picLocks noChangeAspect="1"/>
          </p:cNvPicPr>
          <p:nvPr/>
        </p:nvPicPr>
        <p:blipFill>
          <a:blip r:embed="rId4"/>
          <a:stretch>
            <a:fillRect/>
          </a:stretch>
        </p:blipFill>
        <p:spPr>
          <a:xfrm>
            <a:off x="4645152" y="1481328"/>
            <a:ext cx="3840480" cy="1432928"/>
          </a:xfrm>
          <a:prstGeom prst="rect">
            <a:avLst/>
          </a:prstGeom>
          <a:ln w="9525">
            <a:solidFill>
              <a:srgbClr val="D0D5DD"/>
            </a:solidFill>
          </a:ln>
        </p:spPr>
      </p:pic>
      <p:sp>
        <p:nvSpPr>
          <p:cNvPr id="27" name="Text 8"/>
          <p:cNvSpPr txBox="1"/>
          <p:nvPr/>
        </p:nvSpPr>
        <p:spPr>
          <a:xfrm>
            <a:off x="4645152" y="2941688"/>
            <a:ext cx="3840480" cy="45720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6 detik kemudian: status done, lengkap dengan hasil report.</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Cek Kriteria Selesai</a:t>
            </a:r>
          </a:p>
        </p:txBody>
      </p:sp>
      <p:graphicFrame>
        <p:nvGraphicFramePr>
          <p:cNvPr id="22" name="Table 3"/>
          <p:cNvGraphicFramePr>
            <a:graphicFrameLocks noGrp="1"/>
          </p:cNvGraphicFramePr>
          <p:nvPr/>
        </p:nvGraphicFramePr>
        <p:xfrm>
          <a:off x="621792" y="1481328"/>
          <a:ext cx="7863840" cy="288036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tblGrid>
              <a:tr h="411480">
                <a:tc>
                  <a:txBody>
                    <a:bodyPr/>
                    <a:lstStyle/>
                    <a:p>
                      <a:pPr algn="l">
                        <a:lnSpc>
                          <a:spcPct val="100000"/>
                        </a:lnSpc>
                        <a:spcAft>
                          <a:spcPts val="0"/>
                        </a:spcAft>
                      </a:pPr>
                      <a:r>
                        <a:rPr sz="900" b="1" i="0">
                          <a:solidFill>
                            <a:srgbClr val="FFFFFF"/>
                          </a:solidFill>
                          <a:latin typeface="Inter"/>
                        </a:rPr>
                        <a:t>Kriteria</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Cara mengecek</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900" b="1" i="0">
                          <a:solidFill>
                            <a:srgbClr val="1C4587"/>
                          </a:solidFill>
                          <a:latin typeface="Inter"/>
                        </a:rPr>
                        <a:t>Notifikasi lewat Celery, response tidak menunggu</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Log [EMAIL] muncul di terminal worker, bukan uvicorn</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900" b="1" i="0">
                          <a:solidFill>
                            <a:srgbClr val="1C4587"/>
                          </a:solidFill>
                          <a:latin typeface="Inter"/>
                        </a:rPr>
                        <a:t>OrderService tidak berubah</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order_service.py sama dengan before/</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900" b="1" i="0">
                          <a:solidFill>
                            <a:srgbClr val="1C4587"/>
                          </a:solidFill>
                          <a:latin typeface="Inter"/>
                        </a:rPr>
                        <a:t>POST /reports/sales menjawab 202</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Swagger: response 202 dengan task_id</a:t>
                      </a:r>
                    </a:p>
                  </a:txBody>
                  <a:tcPr marL="73152" marR="73152" marT="36576" marB="36576"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Aft>
                          <a:spcPts val="0"/>
                        </a:spcAft>
                      </a:pPr>
                      <a:r>
                        <a:rPr sz="900" b="1" i="0">
                          <a:solidFill>
                            <a:srgbClr val="1C4587"/>
                          </a:solidFill>
                          <a:latin typeface="Inter"/>
                        </a:rPr>
                        <a:t>GET /reports/{task_id} menampilkan status</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running, lalu done dengan hasil report</a:t>
                      </a:r>
                    </a:p>
                  </a:txBody>
                  <a:tcPr marL="73152" marR="73152" marT="36576" marB="36576" anchor="ctr">
                    <a:solidFill>
                      <a:srgbClr val="F3F4F6"/>
                    </a:solidFill>
                  </a:tcPr>
                </a:tc>
                <a:extLst>
                  <a:ext uri="{0D108BD9-81ED-4DB2-BD59-A6C34878D82A}">
                    <a16:rowId xmlns:a16="http://schemas.microsoft.com/office/drawing/2014/main" val="10004"/>
                  </a:ext>
                </a:extLst>
              </a:tr>
              <a:tr h="411480">
                <a:tc>
                  <a:txBody>
                    <a:bodyPr/>
                    <a:lstStyle/>
                    <a:p>
                      <a:pPr algn="l">
                        <a:lnSpc>
                          <a:spcPct val="100000"/>
                        </a:lnSpc>
                        <a:spcAft>
                          <a:spcPts val="0"/>
                        </a:spcAft>
                      </a:pPr>
                      <a:r>
                        <a:rPr sz="900" b="1" i="0">
                          <a:solidFill>
                            <a:srgbClr val="1C4587"/>
                          </a:solidFill>
                          <a:latin typeface="Inter"/>
                        </a:rPr>
                        <a:t>Retry dan tidak terkirim dua kali</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NOTIFICATION_FAIL_RATE=0.5: retry di log, email tetap 1</a:t>
                      </a:r>
                    </a:p>
                  </a:txBody>
                  <a:tcPr marL="73152" marR="73152" marT="36576" marB="36576" anchor="ctr">
                    <a:solidFill>
                      <a:srgbClr val="FFFFFF"/>
                    </a:solidFill>
                  </a:tcPr>
                </a:tc>
                <a:extLst>
                  <a:ext uri="{0D108BD9-81ED-4DB2-BD59-A6C34878D82A}">
                    <a16:rowId xmlns:a16="http://schemas.microsoft.com/office/drawing/2014/main" val="10005"/>
                  </a:ext>
                </a:extLst>
              </a:tr>
              <a:tr h="411480">
                <a:tc>
                  <a:txBody>
                    <a:bodyPr/>
                    <a:lstStyle/>
                    <a:p>
                      <a:pPr algn="l">
                        <a:lnSpc>
                          <a:spcPct val="100000"/>
                        </a:lnSpc>
                        <a:spcAft>
                          <a:spcPts val="0"/>
                        </a:spcAft>
                      </a:pPr>
                      <a:r>
                        <a:rPr sz="900" b="1" i="0">
                          <a:solidFill>
                            <a:srgbClr val="1C4587"/>
                          </a:solidFill>
                          <a:latin typeface="Inter"/>
                        </a:rPr>
                        <a:t>Gagal permanen tercatat, pytest hijau</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Log [ALERT] di worker, pytest -v → 16 passed</a:t>
                      </a:r>
                    </a:p>
                  </a:txBody>
                  <a:tcPr marL="73152" marR="73152" marT="36576" marB="36576" anchor="ctr">
                    <a:solidFill>
                      <a:srgbClr val="F3F4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Request Flow: Buat Order lalu Notifikasi</a:t>
            </a:r>
          </a:p>
        </p:txBody>
      </p:sp>
      <p:sp>
        <p:nvSpPr>
          <p:cNvPr id="22" name="CodeTab 4"/>
          <p:cNvSpPr/>
          <p:nvPr/>
        </p:nvSpPr>
        <p:spPr>
          <a:xfrm>
            <a:off x="621792" y="1481328"/>
            <a:ext cx="525780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61772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latihan/app: order_service.py → worker/notifier.py → worker/tasks.py</a:t>
            </a:r>
          </a:p>
        </p:txBody>
      </p:sp>
      <p:sp>
        <p:nvSpPr>
          <p:cNvPr id="27" name="CodeBg 10"/>
          <p:cNvSpPr/>
          <p:nvPr/>
        </p:nvSpPr>
        <p:spPr>
          <a:xfrm>
            <a:off x="621792" y="1719072"/>
            <a:ext cx="525780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257800" cy="2980944"/>
          </a:xfrm>
          <a:prstGeom prst="rect">
            <a:avLst/>
          </a:prstGeom>
          <a:noFill/>
        </p:spPr>
        <p:txBody>
          <a:bodyPr wrap="none" lIns="146304" tIns="91440" rIns="146304" bIns="54864">
            <a:spAutoFit/>
          </a:bodyPr>
          <a:lstStyle/>
          <a:p>
            <a:pPr>
              <a:lnSpc>
                <a:spcPct val="102564"/>
              </a:lnSpc>
              <a:spcAft>
                <a:spcPts val="0"/>
              </a:spcAft>
            </a:pPr>
            <a:r>
              <a:rPr sz="650" i="1">
                <a:solidFill>
                  <a:srgbClr val="8B98A8"/>
                </a:solidFill>
                <a:latin typeface="Inconsolata"/>
              </a:rPr>
              <a:t># application/order_service.py</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.uow.commit()</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.notifier.send(customer, </a:t>
            </a:r>
            <a:r>
              <a:rPr sz="650" i="0">
                <a:solidFill>
                  <a:srgbClr val="A5D6A7"/>
                </a:solidFill>
                <a:latin typeface="Inconsolata"/>
              </a:rPr>
              <a:t>f"Order #{order.id} total Rp{order.total.amount:,}"</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order</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worker/notifier.py</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send</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to: </a:t>
            </a:r>
            <a:r>
              <a:rPr sz="650" i="0">
                <a:solidFill>
                  <a:srgbClr val="C3A6FF"/>
                </a:solidFill>
                <a:latin typeface="Inconsolata"/>
              </a:rPr>
              <a:t>str</a:t>
            </a:r>
            <a:r>
              <a:rPr sz="650" i="0">
                <a:solidFill>
                  <a:srgbClr val="E6EDF3"/>
                </a:solidFill>
                <a:latin typeface="Inconsolata"/>
              </a:rPr>
              <a:t>, message: </a:t>
            </a:r>
            <a:r>
              <a:rPr sz="650" i="0">
                <a:solidFill>
                  <a:srgbClr val="C3A6FF"/>
                </a:solidFill>
                <a:latin typeface="Inconsolata"/>
              </a:rPr>
              <a:t>str</a:t>
            </a:r>
            <a:r>
              <a:rPr sz="650" i="0">
                <a:solidFill>
                  <a:srgbClr val="E6EDF3"/>
                </a:solidFill>
                <a:latin typeface="Inconsolata"/>
              </a:rPr>
              <a:t>) -&gt; </a:t>
            </a:r>
            <a:r>
              <a:rPr sz="650" i="0">
                <a:solidFill>
                  <a:srgbClr val="FF8E6E"/>
                </a:solidFill>
                <a:latin typeface="Inconsolata"/>
              </a:rPr>
              <a:t>None</a:t>
            </a:r>
            <a:r>
              <a:rPr sz="650" i="0">
                <a:solidFill>
                  <a:srgbClr val="E6EDF3"/>
                </a:solidFill>
                <a:latin typeface="Inconsolata"/>
              </a:rPr>
              <a:t>:</a:t>
            </a:r>
          </a:p>
          <a:p>
            <a:pPr>
              <a:lnSpc>
                <a:spcPct val="102564"/>
              </a:lnSpc>
              <a:spcAft>
                <a:spcPts val="0"/>
              </a:spcAft>
            </a:pPr>
            <a:r>
              <a:rPr sz="650" i="0">
                <a:solidFill>
                  <a:srgbClr val="E6EDF3"/>
                </a:solidFill>
                <a:latin typeface="Inconsolata"/>
              </a:rPr>
              <a:t>        key = hashlib.sha256(</a:t>
            </a:r>
            <a:r>
              <a:rPr sz="650" i="0">
                <a:solidFill>
                  <a:srgbClr val="A5D6A7"/>
                </a:solidFill>
                <a:latin typeface="Inconsolata"/>
              </a:rPr>
              <a:t>f"{to}|{message}"</a:t>
            </a:r>
            <a:r>
              <a:rPr sz="650" i="0">
                <a:solidFill>
                  <a:srgbClr val="E6EDF3"/>
                </a:solidFill>
                <a:latin typeface="Inconsolata"/>
              </a:rPr>
              <a:t>.encode()).hexdigest()   </a:t>
            </a:r>
            <a:r>
              <a:rPr sz="650" i="1">
                <a:solidFill>
                  <a:srgbClr val="8B98A8"/>
                </a:solidFill>
                <a:latin typeface="Inconsolata"/>
              </a:rPr>
              <a:t># notifikasi sama = key sama</a:t>
            </a:r>
          </a:p>
          <a:p>
            <a:pPr>
              <a:lnSpc>
                <a:spcPct val="102564"/>
              </a:lnSpc>
              <a:spcAft>
                <a:spcPts val="0"/>
              </a:spcAft>
            </a:pPr>
            <a:r>
              <a:rPr sz="650" i="0">
                <a:solidFill>
                  <a:srgbClr val="E6EDF3"/>
                </a:solidFill>
                <a:latin typeface="Inconsolata"/>
              </a:rPr>
              <a:t>        send_notification.delay(key, to, message)</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worker/tasks.py</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send_notification</a:t>
            </a:r>
            <a:r>
              <a:rPr sz="650" i="0">
                <a:solidFill>
                  <a:srgbClr val="E6EDF3"/>
                </a:solidFill>
                <a:latin typeface="Inconsolata"/>
              </a:rPr>
              <a:t>(key: </a:t>
            </a:r>
            <a:r>
              <a:rPr sz="650" i="0">
                <a:solidFill>
                  <a:srgbClr val="C3A6FF"/>
                </a:solidFill>
                <a:latin typeface="Inconsolata"/>
              </a:rPr>
              <a:t>str</a:t>
            </a:r>
            <a:r>
              <a:rPr sz="650" i="0">
                <a:solidFill>
                  <a:srgbClr val="E6EDF3"/>
                </a:solidFill>
                <a:latin typeface="Inconsolata"/>
              </a:rPr>
              <a:t>, to: </a:t>
            </a:r>
            <a:r>
              <a:rPr sz="650" i="0">
                <a:solidFill>
                  <a:srgbClr val="C3A6FF"/>
                </a:solidFill>
                <a:latin typeface="Inconsolata"/>
              </a:rPr>
              <a:t>str</a:t>
            </a:r>
            <a:r>
              <a:rPr sz="650" i="0">
                <a:solidFill>
                  <a:srgbClr val="E6EDF3"/>
                </a:solidFill>
                <a:latin typeface="Inconsolata"/>
              </a:rPr>
              <a:t>, message: </a:t>
            </a:r>
            <a:r>
              <a:rPr sz="650" i="0">
                <a:solidFill>
                  <a:srgbClr val="C3A6FF"/>
                </a:solidFill>
                <a:latin typeface="Inconsolata"/>
              </a:rPr>
              <a:t>str</a:t>
            </a:r>
            <a:r>
              <a:rPr sz="650" i="0">
                <a:solidFill>
                  <a:srgbClr val="E6EDF3"/>
                </a:solidFill>
                <a:latin typeface="Inconsolata"/>
              </a:rPr>
              <a:t>) -&gt; </a:t>
            </a:r>
            <a:r>
              <a:rPr sz="650" i="0">
                <a:solidFill>
                  <a:srgbClr val="C3A6FF"/>
                </a:solidFill>
                <a:latin typeface="Inconsolata"/>
              </a:rPr>
              <a:t>str</a:t>
            </a:r>
            <a:r>
              <a:rPr sz="650" i="0">
                <a:solidFill>
                  <a:srgbClr val="E6EDF3"/>
                </a:solidFill>
                <a:latin typeface="Inconsolata"/>
              </a:rPr>
              <a:t>:</a:t>
            </a:r>
          </a:p>
          <a:p>
            <a:pPr>
              <a:lnSpc>
                <a:spcPct val="102564"/>
              </a:lnSpc>
              <a:spcAft>
                <a:spcPts val="0"/>
              </a:spcAft>
            </a:pPr>
            <a:r>
              <a:rPr sz="650" i="0">
                <a:solidFill>
                  <a:srgbClr val="E6EDF3"/>
                </a:solidFill>
                <a:latin typeface="Inconsolata"/>
              </a:rPr>
              <a:t>    settings = get_settings()</a:t>
            </a:r>
          </a:p>
          <a:p>
            <a:pPr>
              <a:lnSpc>
                <a:spcPct val="102564"/>
              </a:lnSpc>
              <a:spcAft>
                <a:spcPts val="0"/>
              </a:spcAft>
            </a:pPr>
            <a:r>
              <a:rPr sz="650" i="0">
                <a:solidFill>
                  <a:srgbClr val="E6EDF3"/>
                </a:solidFill>
                <a:latin typeface="Inconsolata"/>
              </a:rPr>
              <a:t>    log = </a:t>
            </a:r>
            <a:r>
              <a:rPr sz="650" i="0">
                <a:solidFill>
                  <a:srgbClr val="7FDBCA"/>
                </a:solidFill>
                <a:latin typeface="Inconsolata"/>
              </a:rPr>
              <a:t>SqlAlchemyNotificationLog</a:t>
            </a:r>
            <a:r>
              <a:rPr sz="650" i="0">
                <a:solidFill>
                  <a:srgbClr val="E6EDF3"/>
                </a:solidFill>
                <a:latin typeface="Inconsolata"/>
              </a:rPr>
              <a:t>(get_session_factory())</a:t>
            </a:r>
          </a:p>
          <a:p>
            <a:pPr>
              <a:lnSpc>
                <a:spcPct val="102564"/>
              </a:lnSpc>
              <a:spcAft>
                <a:spcPts val="0"/>
              </a:spcAft>
            </a:pPr>
            <a:r>
              <a:rPr sz="650" i="0">
                <a:solidFill>
                  <a:srgbClr val="E6EDF3"/>
                </a:solidFill>
                <a:latin typeface="Inconsolata"/>
              </a:rPr>
              <a:t>    </a:t>
            </a:r>
            <a:r>
              <a:rPr sz="650" i="0">
                <a:solidFill>
                  <a:srgbClr val="FF8E6E"/>
                </a:solidFill>
                <a:latin typeface="Inconsolata"/>
              </a:rPr>
              <a:t>if</a:t>
            </a:r>
            <a:r>
              <a:rPr sz="650" i="0">
                <a:solidFill>
                  <a:srgbClr val="E6EDF3"/>
                </a:solidFill>
                <a:latin typeface="Inconsolata"/>
              </a:rPr>
              <a:t> log.already_sent(key):</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A5D6A7"/>
                </a:solidFill>
                <a:latin typeface="Inconsolata"/>
              </a:rPr>
              <a:t>"skipped"</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create_notifier(settings.notification_channel, settings.notification_fail_rate).send(to, message)</a:t>
            </a:r>
          </a:p>
          <a:p>
            <a:pPr>
              <a:lnSpc>
                <a:spcPct val="102564"/>
              </a:lnSpc>
              <a:spcAft>
                <a:spcPts val="0"/>
              </a:spcAft>
            </a:pPr>
            <a:r>
              <a:rPr sz="650" i="0">
                <a:solidFill>
                  <a:srgbClr val="E6EDF3"/>
                </a:solidFill>
                <a:latin typeface="Inconsolata"/>
              </a:rPr>
              <a:t>    log.mark_sent(key)</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A5D6A7"/>
                </a:solidFill>
                <a:latin typeface="Inconsolata"/>
              </a:rPr>
              <a:t>"sent"</a:t>
            </a:r>
          </a:p>
        </p:txBody>
      </p:sp>
      <p:sp>
        <p:nvSpPr>
          <p:cNvPr id="29" name="Box 12"/>
          <p:cNvSpPr/>
          <p:nvPr/>
        </p:nvSpPr>
        <p:spPr>
          <a:xfrm>
            <a:off x="704088" y="21285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678424" y="20574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7381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678424" y="26670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3477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678424" y="3276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704088" y="36525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Box 19"/>
          <p:cNvSpPr/>
          <p:nvPr/>
        </p:nvSpPr>
        <p:spPr>
          <a:xfrm>
            <a:off x="5678424" y="35814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7" name="Box 20"/>
          <p:cNvSpPr/>
          <p:nvPr/>
        </p:nvSpPr>
        <p:spPr>
          <a:xfrm>
            <a:off x="704088" y="3754119"/>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1"/>
          <p:cNvSpPr/>
          <p:nvPr/>
        </p:nvSpPr>
        <p:spPr>
          <a:xfrm>
            <a:off x="5385816" y="36830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5</a:t>
            </a:r>
          </a:p>
        </p:txBody>
      </p:sp>
      <p:sp>
        <p:nvSpPr>
          <p:cNvPr id="39" name="Box 22"/>
          <p:cNvSpPr/>
          <p:nvPr/>
        </p:nvSpPr>
        <p:spPr>
          <a:xfrm>
            <a:off x="606247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40" name="Text 23"/>
          <p:cNvSpPr txBox="1"/>
          <p:nvPr/>
        </p:nvSpPr>
        <p:spPr>
          <a:xfrm>
            <a:off x="6391656" y="1463040"/>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Setelah commit, </a:t>
            </a:r>
            <a:r>
              <a:rPr sz="850" b="0" i="0">
                <a:solidFill>
                  <a:srgbClr val="B5482A"/>
                </a:solidFill>
                <a:latin typeface="Inconsolata"/>
              </a:rPr>
              <a:t>OrderService</a:t>
            </a:r>
            <a:r>
              <a:rPr sz="850" b="0" i="0">
                <a:solidFill>
                  <a:srgbClr val="434343"/>
                </a:solidFill>
                <a:latin typeface="Inter"/>
              </a:rPr>
              <a:t> memanggil </a:t>
            </a:r>
            <a:r>
              <a:rPr sz="850" b="0" i="0">
                <a:solidFill>
                  <a:srgbClr val="B5482A"/>
                </a:solidFill>
                <a:latin typeface="Inconsolata"/>
              </a:rPr>
              <a:t>notifier.send()</a:t>
            </a:r>
            <a:r>
              <a:rPr sz="850" b="0" i="0">
                <a:solidFill>
                  <a:srgbClr val="434343"/>
                </a:solidFill>
                <a:latin typeface="Inter"/>
              </a:rPr>
              <a:t> seperti biasa</a:t>
            </a:r>
          </a:p>
        </p:txBody>
      </p:sp>
      <p:sp>
        <p:nvSpPr>
          <p:cNvPr id="41" name="Box 24"/>
          <p:cNvSpPr/>
          <p:nvPr/>
        </p:nvSpPr>
        <p:spPr>
          <a:xfrm>
            <a:off x="606247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42" name="Text 25"/>
          <p:cNvSpPr txBox="1"/>
          <p:nvPr/>
        </p:nvSpPr>
        <p:spPr>
          <a:xfrm>
            <a:off x="6391656" y="2106777"/>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QueuedNotifier</a:t>
            </a:r>
            <a:r>
              <a:rPr sz="850" b="0" i="0">
                <a:solidFill>
                  <a:srgbClr val="434343"/>
                </a:solidFill>
                <a:latin typeface="Inter"/>
              </a:rPr>
              <a:t> menaruh job ke queue Redis, response langsung dikirim</a:t>
            </a:r>
          </a:p>
        </p:txBody>
      </p:sp>
      <p:sp>
        <p:nvSpPr>
          <p:cNvPr id="43" name="Box 26"/>
          <p:cNvSpPr/>
          <p:nvPr/>
        </p:nvSpPr>
        <p:spPr>
          <a:xfrm>
            <a:off x="606247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44" name="Text 27"/>
          <p:cNvSpPr txBox="1"/>
          <p:nvPr/>
        </p:nvSpPr>
        <p:spPr>
          <a:xfrm>
            <a:off x="6391656" y="2750515"/>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Worker mengambil job. Key sudah ada = dilewati (idempotency)</a:t>
            </a:r>
          </a:p>
        </p:txBody>
      </p:sp>
      <p:sp>
        <p:nvSpPr>
          <p:cNvPr id="45" name="Box 28"/>
          <p:cNvSpPr/>
          <p:nvPr/>
        </p:nvSpPr>
        <p:spPr>
          <a:xfrm>
            <a:off x="606247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46" name="Text 29"/>
          <p:cNvSpPr txBox="1"/>
          <p:nvPr/>
        </p:nvSpPr>
        <p:spPr>
          <a:xfrm>
            <a:off x="6391656" y="3394252"/>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Email dikirim. Gagal </a:t>
            </a:r>
            <a:r>
              <a:rPr sz="850" b="0" i="0">
                <a:solidFill>
                  <a:srgbClr val="B5482A"/>
                </a:solidFill>
                <a:latin typeface="Inconsolata"/>
              </a:rPr>
              <a:t>NotificationServiceDown</a:t>
            </a:r>
            <a:r>
              <a:rPr sz="850" b="0" i="0">
                <a:solidFill>
                  <a:srgbClr val="434343"/>
                </a:solidFill>
                <a:latin typeface="Inter"/>
              </a:rPr>
              <a:t> = di-retry dengan backoff</a:t>
            </a:r>
          </a:p>
        </p:txBody>
      </p:sp>
      <p:sp>
        <p:nvSpPr>
          <p:cNvPr id="47" name="Box 30"/>
          <p:cNvSpPr/>
          <p:nvPr/>
        </p:nvSpPr>
        <p:spPr>
          <a:xfrm>
            <a:off x="606247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48" name="Text 31"/>
          <p:cNvSpPr txBox="1"/>
          <p:nvPr/>
        </p:nvSpPr>
        <p:spPr>
          <a:xfrm>
            <a:off x="6391656" y="4037990"/>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Berhasil: key dicatat, supaya tidak terkirim dua kali</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Penutup</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Rangkuman</a:t>
            </a:r>
          </a:p>
        </p:txBody>
      </p:sp>
      <p:sp>
        <p:nvSpPr>
          <p:cNvPr id="22" name="Box 3"/>
          <p:cNvSpPr/>
          <p:nvPr/>
        </p:nvSpPr>
        <p:spPr>
          <a:xfrm>
            <a:off x="621792"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Async IO</a:t>
            </a:r>
          </a:p>
        </p:txBody>
      </p:sp>
      <p:sp>
        <p:nvSpPr>
          <p:cNvPr id="24" name="Text 5"/>
          <p:cNvSpPr txBox="1"/>
          <p:nvPr/>
        </p:nvSpPr>
        <p:spPr>
          <a:xfrm>
            <a:off x="758952"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B5482A"/>
                </a:solidFill>
                <a:latin typeface="Inconsolata"/>
              </a:rPr>
              <a:t>await</a:t>
            </a:r>
            <a:r>
              <a:rPr sz="1000" b="0" i="0">
                <a:solidFill>
                  <a:srgbClr val="434343"/>
                </a:solidFill>
                <a:latin typeface="Inter"/>
              </a:rPr>
              <a:t> saat menunggu IO, jangan blocking di </a:t>
            </a:r>
            <a:r>
              <a:rPr sz="1000" b="0" i="0">
                <a:solidFill>
                  <a:srgbClr val="B5482A"/>
                </a:solidFill>
                <a:latin typeface="Inconsolata"/>
              </a:rPr>
              <a:t>async def</a:t>
            </a:r>
          </a:p>
        </p:txBody>
      </p:sp>
      <p:sp>
        <p:nvSpPr>
          <p:cNvPr id="25" name="Box 6"/>
          <p:cNvSpPr/>
          <p:nvPr/>
        </p:nvSpPr>
        <p:spPr>
          <a:xfrm>
            <a:off x="3291840"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Text 7"/>
          <p:cNvSpPr txBox="1"/>
          <p:nvPr/>
        </p:nvSpPr>
        <p:spPr>
          <a:xfrm>
            <a:off x="3429000"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Background Job</a:t>
            </a:r>
          </a:p>
        </p:txBody>
      </p:sp>
      <p:sp>
        <p:nvSpPr>
          <p:cNvPr id="27" name="Text 8"/>
          <p:cNvSpPr txBox="1"/>
          <p:nvPr/>
        </p:nvSpPr>
        <p:spPr>
          <a:xfrm>
            <a:off x="3429000"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Proses yang tidak perlu ditunggu client</a:t>
            </a:r>
          </a:p>
        </p:txBody>
      </p:sp>
      <p:sp>
        <p:nvSpPr>
          <p:cNvPr id="28" name="Box 9"/>
          <p:cNvSpPr/>
          <p:nvPr/>
        </p:nvSpPr>
        <p:spPr>
          <a:xfrm>
            <a:off x="5961888"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Text 10"/>
          <p:cNvSpPr txBox="1"/>
          <p:nvPr/>
        </p:nvSpPr>
        <p:spPr>
          <a:xfrm>
            <a:off x="6099048"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Celery &amp; Redis</a:t>
            </a:r>
          </a:p>
        </p:txBody>
      </p:sp>
      <p:sp>
        <p:nvSpPr>
          <p:cNvPr id="30" name="Text 11"/>
          <p:cNvSpPr txBox="1"/>
          <p:nvPr/>
        </p:nvSpPr>
        <p:spPr>
          <a:xfrm>
            <a:off x="6099048"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Broker untuk queue, worker mengerjakan, result backend menyimpan hasil</a:t>
            </a:r>
          </a:p>
        </p:txBody>
      </p:sp>
      <p:sp>
        <p:nvSpPr>
          <p:cNvPr id="31" name="Box 12"/>
          <p:cNvSpPr/>
          <p:nvPr/>
        </p:nvSpPr>
        <p:spPr>
          <a:xfrm>
            <a:off x="621792"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3"/>
          <p:cNvSpPr txBox="1"/>
          <p:nvPr/>
        </p:nvSpPr>
        <p:spPr>
          <a:xfrm>
            <a:off x="758952"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Task Status</a:t>
            </a:r>
          </a:p>
        </p:txBody>
      </p:sp>
      <p:sp>
        <p:nvSpPr>
          <p:cNvPr id="33" name="Text 14"/>
          <p:cNvSpPr txBox="1"/>
          <p:nvPr/>
        </p:nvSpPr>
        <p:spPr>
          <a:xfrm>
            <a:off x="758952"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B5482A"/>
                </a:solidFill>
                <a:latin typeface="Inconsolata"/>
              </a:rPr>
              <a:t>AsyncResult</a:t>
            </a:r>
            <a:r>
              <a:rPr sz="1000" b="0" i="0">
                <a:solidFill>
                  <a:srgbClr val="434343"/>
                </a:solidFill>
                <a:latin typeface="Inter"/>
              </a:rPr>
              <a:t>: pending, running, done, failed</a:t>
            </a:r>
          </a:p>
        </p:txBody>
      </p:sp>
      <p:sp>
        <p:nvSpPr>
          <p:cNvPr id="34" name="Box 15"/>
          <p:cNvSpPr/>
          <p:nvPr/>
        </p:nvSpPr>
        <p:spPr>
          <a:xfrm>
            <a:off x="3291840"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Text 16"/>
          <p:cNvSpPr txBox="1"/>
          <p:nvPr/>
        </p:nvSpPr>
        <p:spPr>
          <a:xfrm>
            <a:off x="3429000"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Retry &amp; Timeout</a:t>
            </a:r>
          </a:p>
        </p:txBody>
      </p:sp>
      <p:sp>
        <p:nvSpPr>
          <p:cNvPr id="36" name="Text 17"/>
          <p:cNvSpPr txBox="1"/>
          <p:nvPr/>
        </p:nvSpPr>
        <p:spPr>
          <a:xfrm>
            <a:off x="3429000"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Retry untuk error sementara, time limit untuk task yang terlalu lama</a:t>
            </a:r>
          </a:p>
        </p:txBody>
      </p:sp>
      <p:sp>
        <p:nvSpPr>
          <p:cNvPr id="37" name="Box 18"/>
          <p:cNvSpPr/>
          <p:nvPr/>
        </p:nvSpPr>
        <p:spPr>
          <a:xfrm>
            <a:off x="5961888"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Text 19"/>
          <p:cNvSpPr txBox="1"/>
          <p:nvPr/>
        </p:nvSpPr>
        <p:spPr>
          <a:xfrm>
            <a:off x="6099048"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Idempotency &amp; Failure</a:t>
            </a:r>
          </a:p>
        </p:txBody>
      </p:sp>
      <p:sp>
        <p:nvSpPr>
          <p:cNvPr id="39" name="Text 20"/>
          <p:cNvSpPr txBox="1"/>
          <p:nvPr/>
        </p:nvSpPr>
        <p:spPr>
          <a:xfrm>
            <a:off x="6099048"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Key supaya tidak dikerjakan dua kali, </a:t>
            </a:r>
            <a:r>
              <a:rPr sz="1000" b="0" i="0">
                <a:solidFill>
                  <a:srgbClr val="B5482A"/>
                </a:solidFill>
                <a:latin typeface="Inconsolata"/>
              </a:rPr>
              <a:t>on_failure</a:t>
            </a:r>
            <a:r>
              <a:rPr sz="1000" b="0" i="0">
                <a:solidFill>
                  <a:srgbClr val="434343"/>
                </a:solidFill>
                <a:latin typeface="Inter"/>
              </a:rPr>
              <a:t> supaya kegagalan tercatat</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pic>
        <p:nvPicPr>
          <p:cNvPr id="253" name="Google Shape;253;g2907dbd8723_0_0"/>
          <p:cNvPicPr preferRelativeResize="0"/>
          <p:nvPr/>
        </p:nvPicPr>
        <p:blipFill rotWithShape="1">
          <a:blip r:embed="rId3">
            <a:alphaModFix/>
          </a:blip>
          <a:srcRect/>
          <a:stretch/>
        </p:blipFill>
        <p:spPr>
          <a:xfrm>
            <a:off x="2843401" y="4399825"/>
            <a:ext cx="244986" cy="201168"/>
          </a:xfrm>
          <a:prstGeom prst="rect">
            <a:avLst/>
          </a:prstGeom>
          <a:noFill/>
          <a:ln>
            <a:noFill/>
          </a:ln>
        </p:spPr>
      </p:pic>
      <p:sp>
        <p:nvSpPr>
          <p:cNvPr id="254" name="Google Shape;254;g2907dbd8723_0_0"/>
          <p:cNvSpPr txBox="1"/>
          <p:nvPr/>
        </p:nvSpPr>
        <p:spPr>
          <a:xfrm>
            <a:off x="843350" y="1097280"/>
            <a:ext cx="4977000" cy="6348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7200"/>
              <a:buFont typeface="Arial"/>
              <a:buNone/>
            </a:pPr>
            <a:r>
              <a:rPr lang="en" sz="3000" b="0" i="0" u="none" strike="noStrike" cap="none">
                <a:solidFill>
                  <a:srgbClr val="FFFFFF"/>
                </a:solidFill>
                <a:latin typeface="Work Sans ExtraBold"/>
                <a:ea typeface="Work Sans ExtraBold"/>
                <a:cs typeface="Work Sans ExtraBold"/>
                <a:sym typeface="Work Sans ExtraBold"/>
              </a:rPr>
              <a:t>Source Code</a:t>
            </a:r>
            <a:endParaRPr sz="3000" b="0" i="0" u="none" strike="noStrike" cap="none">
              <a:solidFill>
                <a:srgbClr val="FFFFFF"/>
              </a:solidFill>
              <a:latin typeface="Work Sans ExtraBold"/>
              <a:ea typeface="Work Sans ExtraBold"/>
              <a:cs typeface="Work Sans ExtraBold"/>
              <a:sym typeface="Work Sans ExtraBold"/>
            </a:endParaRPr>
          </a:p>
        </p:txBody>
      </p:sp>
      <p:sp>
        <p:nvSpPr>
          <p:cNvPr id="255" name="Google Shape;255;g2907dbd8723_0_0"/>
          <p:cNvSpPr txBox="1"/>
          <p:nvPr/>
        </p:nvSpPr>
        <p:spPr>
          <a:xfrm>
            <a:off x="1230650" y="1934520"/>
            <a:ext cx="1920240" cy="451500"/>
          </a:xfrm>
          <a:prstGeom prst="rect">
            <a:avLst/>
          </a:prstGeom>
          <a:noFill/>
          <a:ln>
            <a:noFill/>
          </a:ln>
        </p:spPr>
        <p:txBody>
          <a:bodyPr spcFirstLastPara="1" wrap="non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300" b="1" i="0" u="none" strike="noStrike" cap="none">
                <a:solidFill>
                  <a:srgbClr val="FFFFFF"/>
                </a:solidFill>
                <a:latin typeface="Inter"/>
                <a:ea typeface="Inter"/>
                <a:cs typeface="Inter"/>
                <a:sym typeface="Inter"/>
              </a:rPr>
              <a:t>Sesi 5</a:t>
            </a:r>
            <a:endParaRPr sz="1500" b="0" i="1" u="none" strike="noStrike" cap="none">
              <a:solidFill>
                <a:srgbClr val="000000"/>
              </a:solidFill>
              <a:latin typeface="Inter"/>
              <a:ea typeface="Inter"/>
              <a:cs typeface="Inter"/>
              <a:sym typeface="Inter"/>
            </a:endParaRPr>
          </a:p>
        </p:txBody>
      </p:sp>
      <p:sp>
        <p:nvSpPr>
          <p:cNvPr id="256" name="Google Shape;256;g2907dbd8723_0_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76</a:t>
            </a:fld>
            <a:endParaRPr/>
          </a:p>
        </p:txBody>
      </p:sp>
      <p:pic>
        <p:nvPicPr>
          <p:cNvPr id="257" name="Google Shape;257;g2907dbd8723_0_0"/>
          <p:cNvPicPr preferRelativeResize="0"/>
          <p:nvPr/>
        </p:nvPicPr>
        <p:blipFill rotWithShape="1">
          <a:blip r:embed="rId4">
            <a:alphaModFix/>
          </a:blip>
          <a:srcRect/>
          <a:stretch/>
        </p:blipFill>
        <p:spPr>
          <a:xfrm>
            <a:off x="4654775" y="4399825"/>
            <a:ext cx="284713" cy="201168"/>
          </a:xfrm>
          <a:prstGeom prst="rect">
            <a:avLst/>
          </a:prstGeom>
          <a:noFill/>
          <a:ln>
            <a:noFill/>
          </a:ln>
        </p:spPr>
      </p:pic>
      <p:pic>
        <p:nvPicPr>
          <p:cNvPr id="258" name="Google Shape;258;g2907dbd8723_0_0"/>
          <p:cNvPicPr preferRelativeResize="0"/>
          <p:nvPr/>
        </p:nvPicPr>
        <p:blipFill rotWithShape="1">
          <a:blip r:embed="rId5">
            <a:alphaModFix/>
          </a:blip>
          <a:srcRect/>
          <a:stretch/>
        </p:blipFill>
        <p:spPr>
          <a:xfrm>
            <a:off x="6505899" y="4399825"/>
            <a:ext cx="198637" cy="201168"/>
          </a:xfrm>
          <a:prstGeom prst="rect">
            <a:avLst/>
          </a:prstGeom>
          <a:noFill/>
          <a:ln>
            <a:noFill/>
          </a:ln>
        </p:spPr>
      </p:pic>
      <p:pic>
        <p:nvPicPr>
          <p:cNvPr id="259" name="Google Shape;259;g2907dbd8723_0_0"/>
          <p:cNvPicPr preferRelativeResize="0"/>
          <p:nvPr/>
        </p:nvPicPr>
        <p:blipFill rotWithShape="1">
          <a:blip r:embed="rId6">
            <a:alphaModFix/>
          </a:blip>
          <a:srcRect/>
          <a:stretch/>
        </p:blipFill>
        <p:spPr>
          <a:xfrm>
            <a:off x="1028695" y="4399825"/>
            <a:ext cx="201948" cy="201168"/>
          </a:xfrm>
          <a:prstGeom prst="rect">
            <a:avLst/>
          </a:prstGeom>
          <a:noFill/>
          <a:ln>
            <a:noFill/>
          </a:ln>
        </p:spPr>
      </p:pic>
      <p:sp>
        <p:nvSpPr>
          <p:cNvPr id="260" name="Google Shape;260;g2907dbd8723_0_0"/>
          <p:cNvSpPr txBox="1"/>
          <p:nvPr/>
        </p:nvSpPr>
        <p:spPr>
          <a:xfrm>
            <a:off x="1230650"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Hacktiv8id</a:t>
            </a:r>
            <a:endParaRPr sz="900" b="0" i="0" u="none" strike="noStrike" cap="none">
              <a:solidFill>
                <a:srgbClr val="000000"/>
              </a:solidFill>
              <a:latin typeface="Arial"/>
              <a:ea typeface="Arial"/>
              <a:cs typeface="Arial"/>
              <a:sym typeface="Arial"/>
            </a:endParaRPr>
          </a:p>
        </p:txBody>
      </p:sp>
      <p:sp>
        <p:nvSpPr>
          <p:cNvPr id="261" name="Google Shape;261;g2907dbd8723_0_0"/>
          <p:cNvSpPr txBox="1"/>
          <p:nvPr/>
        </p:nvSpPr>
        <p:spPr>
          <a:xfrm>
            <a:off x="3088375"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Hacktiv8id</a:t>
            </a:r>
            <a:endParaRPr sz="900" b="0" i="0" u="none" strike="noStrike" cap="none">
              <a:solidFill>
                <a:srgbClr val="000000"/>
              </a:solidFill>
              <a:latin typeface="Arial"/>
              <a:ea typeface="Arial"/>
              <a:cs typeface="Arial"/>
              <a:sym typeface="Arial"/>
            </a:endParaRPr>
          </a:p>
        </p:txBody>
      </p:sp>
      <p:sp>
        <p:nvSpPr>
          <p:cNvPr id="262" name="Google Shape;262;g2907dbd8723_0_0"/>
          <p:cNvSpPr txBox="1"/>
          <p:nvPr/>
        </p:nvSpPr>
        <p:spPr>
          <a:xfrm>
            <a:off x="4946100"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a:t>
            </a:r>
            <a:endParaRPr sz="900" b="0" i="0" u="none" strike="noStrike" cap="none">
              <a:solidFill>
                <a:srgbClr val="000000"/>
              </a:solidFill>
              <a:latin typeface="Arial"/>
              <a:ea typeface="Arial"/>
              <a:cs typeface="Arial"/>
              <a:sym typeface="Arial"/>
            </a:endParaRPr>
          </a:p>
        </p:txBody>
      </p:sp>
      <p:sp>
        <p:nvSpPr>
          <p:cNvPr id="263" name="Google Shape;263;g2907dbd8723_0_0"/>
          <p:cNvSpPr txBox="1"/>
          <p:nvPr/>
        </p:nvSpPr>
        <p:spPr>
          <a:xfrm>
            <a:off x="6704525" y="4338875"/>
            <a:ext cx="14235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 Indonesia</a:t>
            </a:r>
            <a:endParaRPr sz="900" b="0" i="0" u="none" strike="noStrike" cap="none">
              <a:solidFill>
                <a:srgbClr val="000000"/>
              </a:solidFill>
              <a:latin typeface="Arial"/>
              <a:ea typeface="Arial"/>
              <a:cs typeface="Arial"/>
              <a:sym typeface="Arial"/>
            </a:endParaRPr>
          </a:p>
        </p:txBody>
      </p:sp>
      <p:cxnSp>
        <p:nvCxnSpPr>
          <p:cNvPr id="264" name="Google Shape;264;g2907dbd8723_0_0"/>
          <p:cNvCxnSpPr/>
          <p:nvPr/>
        </p:nvCxnSpPr>
        <p:spPr>
          <a:xfrm>
            <a:off x="3063240" y="2160270"/>
            <a:ext cx="914400" cy="9600"/>
          </a:xfrm>
          <a:prstGeom prst="straightConnector1">
            <a:avLst/>
          </a:prstGeom>
          <a:noFill/>
          <a:ln w="19050" cap="flat" cmpd="sng">
            <a:solidFill>
              <a:srgbClr val="FFF5D8"/>
            </a:solidFill>
            <a:prstDash val="solid"/>
            <a:round/>
            <a:headEnd type="none" w="sm" len="sm"/>
            <a:tailEnd type="none" w="sm" len="sm"/>
          </a:ln>
        </p:spPr>
      </p:cxnSp>
      <p:sp>
        <p:nvSpPr>
          <p:cNvPr id="265" name="Google Shape;265;g2907dbd8723_0_0">
            <a:hlinkClick r:id="rId7"/>
          </p:cNvPr>
          <p:cNvSpPr txBox="1"/>
          <p:nvPr/>
        </p:nvSpPr>
        <p:spPr>
          <a:xfrm>
            <a:off x="4206240" y="1934520"/>
            <a:ext cx="4023360" cy="451500"/>
          </a:xfrm>
          <a:prstGeom prst="rect">
            <a:avLst/>
          </a:prstGeom>
          <a:noFill/>
          <a:ln>
            <a:noFill/>
          </a:ln>
        </p:spPr>
        <p:txBody>
          <a:bodyPr spcFirstLastPara="1" wrap="non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200" b="0" i="1" u="sng" strike="noStrike" cap="none">
                <a:solidFill>
                  <a:schemeClr val="hlink"/>
                </a:solidFill>
                <a:latin typeface="Inter"/>
                <a:ea typeface="Inter"/>
                <a:cs typeface="Inter"/>
                <a:sym typeface="Inter"/>
                <a:hlinkClick r:id="rId8"/>
              </a:rPr>
              <a:t>github.com/bagusedghar/fastapi-intermediate</a:t>
            </a:r>
            <a:endParaRPr sz="1500" b="0" i="1" u="sng" strike="noStrike" cap="none">
              <a:solidFill>
                <a:schemeClr val="lt1"/>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TotalTime>
  <Words>12225</Words>
  <Application>Microsoft Office PowerPoint</Application>
  <PresentationFormat>On-screen Show (16:9)</PresentationFormat>
  <Paragraphs>1672</Paragraphs>
  <Slides>76</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76</vt:i4>
      </vt:variant>
    </vt:vector>
  </HeadingPairs>
  <TitlesOfParts>
    <vt:vector size="82" baseType="lpstr">
      <vt:lpstr>Inter</vt:lpstr>
      <vt:lpstr>Work Sans ExtraBold</vt:lpstr>
      <vt:lpstr>Work Sans Medium</vt:lpstr>
      <vt:lpstr>Inconsolata</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Bagus Edghar</cp:lastModifiedBy>
  <cp:revision>7</cp:revision>
  <dcterms:modified xsi:type="dcterms:W3CDTF">2026-10-27T20:16:17Z</dcterms:modified>
</cp:coreProperties>
</file>