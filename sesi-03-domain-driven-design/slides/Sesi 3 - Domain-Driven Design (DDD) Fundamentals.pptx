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78"/>
  </p:notesMasterIdLst>
  <p:sldIdLst>
    <p:sldId id="256" r:id="rId2"/>
    <p:sldId id="257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0" r:id="rId37"/>
    <p:sldId id="311" r:id="rId38"/>
    <p:sldId id="312" r:id="rId39"/>
    <p:sldId id="313" r:id="rId40"/>
    <p:sldId id="314" r:id="rId41"/>
    <p:sldId id="315" r:id="rId42"/>
    <p:sldId id="316" r:id="rId43"/>
    <p:sldId id="317" r:id="rId44"/>
    <p:sldId id="318" r:id="rId45"/>
    <p:sldId id="319" r:id="rId46"/>
    <p:sldId id="320" r:id="rId47"/>
    <p:sldId id="321" r:id="rId48"/>
    <p:sldId id="322" r:id="rId49"/>
    <p:sldId id="323" r:id="rId50"/>
    <p:sldId id="324" r:id="rId51"/>
    <p:sldId id="325" r:id="rId52"/>
    <p:sldId id="326" r:id="rId53"/>
    <p:sldId id="327" r:id="rId54"/>
    <p:sldId id="328" r:id="rId55"/>
    <p:sldId id="329" r:id="rId56"/>
    <p:sldId id="330" r:id="rId57"/>
    <p:sldId id="331" r:id="rId58"/>
    <p:sldId id="332" r:id="rId59"/>
    <p:sldId id="333" r:id="rId60"/>
    <p:sldId id="334" r:id="rId61"/>
    <p:sldId id="335" r:id="rId62"/>
    <p:sldId id="336" r:id="rId63"/>
    <p:sldId id="337" r:id="rId64"/>
    <p:sldId id="338" r:id="rId65"/>
    <p:sldId id="339" r:id="rId66"/>
    <p:sldId id="340" r:id="rId67"/>
    <p:sldId id="341" r:id="rId68"/>
    <p:sldId id="342" r:id="rId69"/>
    <p:sldId id="343" r:id="rId70"/>
    <p:sldId id="344" r:id="rId71"/>
    <p:sldId id="345" r:id="rId72"/>
    <p:sldId id="346" r:id="rId73"/>
    <p:sldId id="347" r:id="rId74"/>
    <p:sldId id="348" r:id="rId75"/>
    <p:sldId id="349" r:id="rId76"/>
    <p:sldId id="276" r:id="rId77"/>
  </p:sldIdLst>
  <p:sldSz cx="9144000" cy="5143500" type="screen16x9"/>
  <p:notesSz cx="6858000" cy="9144000"/>
  <p:embeddedFontLst>
    <p:embeddedFont>
      <p:font typeface="Inconsolata" pitchFamily="1" charset="0"/>
      <p:regular r:id="rId79"/>
      <p:bold r:id="rId80"/>
    </p:embeddedFont>
    <p:embeddedFont>
      <p:font typeface="Inter" panose="02000503000000020004" pitchFamily="2" charset="0"/>
      <p:regular r:id="rId81"/>
      <p:bold r:id="rId82"/>
      <p:italic r:id="rId83"/>
      <p:boldItalic r:id="rId84"/>
    </p:embeddedFont>
    <p:embeddedFont>
      <p:font typeface="Work Sans ExtraBold" pitchFamily="2" charset="0"/>
      <p:bold r:id="rId85"/>
      <p:boldItalic r:id="rId86"/>
    </p:embeddedFont>
    <p:embeddedFont>
      <p:font typeface="Work Sans Medium" pitchFamily="2" charset="0"/>
      <p:regular r:id="rId87"/>
      <p:italic r:id="rId8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9" roundtripDataSignature="AMtx7misuxx245f/qKiEmR3PX6YRe0tI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6.fntdata"/><Relationship Id="rId89" Type="http://customschemas.google.com/relationships/presentationmetadata" Target="meta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font" Target="fonts/font1.fntdata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2.fntdata"/><Relationship Id="rId85" Type="http://schemas.openxmlformats.org/officeDocument/2006/relationships/font" Target="fonts/font7.fntdata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5.fntdata"/><Relationship Id="rId88" Type="http://schemas.openxmlformats.org/officeDocument/2006/relationships/font" Target="fonts/font10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font" Target="fonts/font3.fntdata"/><Relationship Id="rId86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9.fntdata"/><Relationship Id="rId61" Type="http://schemas.openxmlformats.org/officeDocument/2006/relationships/slide" Target="slides/slide60.xml"/><Relationship Id="rId82" Type="http://schemas.openxmlformats.org/officeDocument/2006/relationships/font" Target="fonts/font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442ffe4c8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g2442ffe4c8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Peserta mengerjakan hands-on bersama mentor.</a:t>
            </a:r>
          </a:p>
        </p:txBody>
      </p:sp>
    </p:spTree>
    <p:extLst>
      <p:ext uri="{BB962C8B-B14F-4D97-AF65-F5344CB8AC3E}">
        <p14:creationId xmlns:p14="http://schemas.microsoft.com/office/powerpoint/2010/main" val="29797836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907dbd872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907dbd872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5351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7200" y="-15150"/>
            <a:ext cx="9190446" cy="516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" name="Google Shape;12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" name="Google Shape;16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3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6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9206026" cy="5178401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" name="Google Shape;20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_HEADER_4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9143992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" name="Google Shape;28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 1">
  <p:cSld name="TITLE_2_1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7200" y="-7175"/>
            <a:ext cx="9204623" cy="5177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21"/>
          <p:cNvPicPr preferRelativeResize="0"/>
          <p:nvPr/>
        </p:nvPicPr>
        <p:blipFill rotWithShape="1">
          <a:blip r:embed="rId3">
            <a:alphaModFix/>
          </a:blip>
          <a:srcRect l="-11869" r="-10498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>
  <p:cSld name="TITLE_2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350" y="-6375"/>
            <a:ext cx="9160668" cy="515287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6" name="Google Shape;36;p22"/>
          <p:cNvPicPr preferRelativeResize="0"/>
          <p:nvPr/>
        </p:nvPicPr>
        <p:blipFill rotWithShape="1">
          <a:blip r:embed="rId3">
            <a:alphaModFix/>
          </a:blip>
          <a:srcRect l="-11869" r="-10498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5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4" name="Google Shape;44;p51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5" name="Google Shape;45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" name="Google Shape;51;p53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" name="Google Shape;52;p5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5" name="Google Shape;55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5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9" name="Google Shape;59;p55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0" name="Google Shape;60;p55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6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4" name="Google Shape;6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7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7" name="Google Shape;67;p57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5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5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3" name="Google Shape;73;p59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 1">
  <p:cSld name="TITLE_1_1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6" name="Google Shape;76;p60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2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pic>
        <p:nvPicPr>
          <p:cNvPr id="79" name="Google Shape;79;p61"/>
          <p:cNvPicPr preferRelativeResize="0"/>
          <p:nvPr/>
        </p:nvPicPr>
        <p:blipFill rotWithShape="1">
          <a:blip r:embed="rId2">
            <a:alphaModFix/>
          </a:blip>
          <a:srcRect t="31469" b="34000"/>
          <a:stretch/>
        </p:blipFill>
        <p:spPr>
          <a:xfrm>
            <a:off x="134750" y="4589275"/>
            <a:ext cx="1410576" cy="3443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 1 1">
  <p:cSld name="Title slide 2 1 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" name="Google Shape;23;p49"/>
          <p:cNvPicPr preferRelativeResize="0"/>
          <p:nvPr/>
        </p:nvPicPr>
        <p:blipFill rotWithShape="1">
          <a:blip r:embed="rId2">
            <a:alphaModFix/>
          </a:blip>
          <a:srcRect l="-11869" r="-10498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3992" cy="51435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1060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agusedghar/fastapi-intermediate/tree/main/sesi-03-domain-driven-design" TargetMode="External"/><Relationship Id="rId3" Type="http://schemas.openxmlformats.org/officeDocument/2006/relationships/image" Target="../media/image30.png"/><Relationship Id="rId7" Type="http://schemas.openxmlformats.org/officeDocument/2006/relationships/hyperlink" Target="https://colab.research.google.com/github/FTDS-learning-materials/phase-2/blob/master/w2/P2W2D1PM%20-%20Data%20Ethics%20&amp;%20Data%20Validation.ipynb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63050" y="2010750"/>
            <a:ext cx="8258100" cy="11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en" sz="3500">
                <a:solidFill>
                  <a:srgbClr val="F06634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Domain-Driven Design (DDD) Fundamentals</a:t>
            </a:r>
            <a:endParaRPr sz="3500" b="0" i="0" u="none" strike="noStrike" cap="none">
              <a:solidFill>
                <a:srgbClr val="F06634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63050" y="3157225"/>
            <a:ext cx="7315200" cy="5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 b="0" i="0" u="none" strike="noStrike" cap="none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Intermediate Backend Developer with FastAPI  -  Sesi 3</a:t>
            </a:r>
            <a:endParaRPr sz="1500" b="0" i="0" u="none" strike="noStrike" cap="none">
              <a:solidFill>
                <a:schemeClr val="dk2"/>
              </a:solidFill>
              <a:latin typeface="Work Sans Medium"/>
              <a:ea typeface="Work Sans Medium"/>
              <a:cs typeface="Work Sans Medium"/>
              <a:sym typeface="Work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442ffe4c8e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92" name="Google Shape;92;g2442ffe4c8e_0_0"/>
          <p:cNvSpPr txBox="1"/>
          <p:nvPr/>
        </p:nvSpPr>
        <p:spPr>
          <a:xfrm>
            <a:off x="310675" y="249275"/>
            <a:ext cx="44568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300" b="0" i="0" u="none" strike="noStrike" cap="none">
                <a:solidFill>
                  <a:srgbClr val="1D3D70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Contents</a:t>
            </a:r>
            <a:endParaRPr sz="2300" b="0" i="0" u="none" strike="noStrike" cap="none">
              <a:solidFill>
                <a:srgbClr val="1D3D70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93" name="Text 1"/>
          <p:cNvSpPr txBox="1"/>
          <p:nvPr/>
        </p:nvSpPr>
        <p:spPr>
          <a:xfrm>
            <a:off x="548640" y="1143000"/>
            <a:ext cx="566928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Ubiquitous Language &amp; Bounded Context</a:t>
            </a:r>
          </a:p>
        </p:txBody>
      </p:sp>
      <p:cxnSp>
        <p:nvCxnSpPr>
          <p:cNvPr id="94" name="Arrow 2"/>
          <p:cNvCxnSpPr/>
          <p:nvPr/>
        </p:nvCxnSpPr>
        <p:spPr>
          <a:xfrm>
            <a:off x="6318504" y="1325880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 3"/>
          <p:cNvSpPr txBox="1"/>
          <p:nvPr/>
        </p:nvSpPr>
        <p:spPr>
          <a:xfrm>
            <a:off x="8266175" y="1143000"/>
            <a:ext cx="5486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1">
                <a:solidFill>
                  <a:srgbClr val="E0764F"/>
                </a:solidFill>
                <a:latin typeface="Inter"/>
              </a:rPr>
              <a:t>09</a:t>
            </a:r>
          </a:p>
        </p:txBody>
      </p:sp>
      <p:sp>
        <p:nvSpPr>
          <p:cNvPr id="96" name="Text 4"/>
          <p:cNvSpPr txBox="1"/>
          <p:nvPr/>
        </p:nvSpPr>
        <p:spPr>
          <a:xfrm>
            <a:off x="548640" y="1527048"/>
            <a:ext cx="566928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Value Object, Entity, Aggregate &amp; Domain Service</a:t>
            </a:r>
          </a:p>
        </p:txBody>
      </p:sp>
      <p:cxnSp>
        <p:nvCxnSpPr>
          <p:cNvPr id="97" name="Arrow 5"/>
          <p:cNvCxnSpPr/>
          <p:nvPr/>
        </p:nvCxnSpPr>
        <p:spPr>
          <a:xfrm>
            <a:off x="6318504" y="1709928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 6"/>
          <p:cNvSpPr txBox="1"/>
          <p:nvPr/>
        </p:nvSpPr>
        <p:spPr>
          <a:xfrm>
            <a:off x="8266175" y="1527048"/>
            <a:ext cx="5486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1">
                <a:solidFill>
                  <a:srgbClr val="E0764F"/>
                </a:solidFill>
                <a:latin typeface="Inter"/>
              </a:rPr>
              <a:t>22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548640" y="1911095"/>
            <a:ext cx="566928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Domain Model vs ORM Model</a:t>
            </a:r>
          </a:p>
        </p:txBody>
      </p:sp>
      <p:cxnSp>
        <p:nvCxnSpPr>
          <p:cNvPr id="100" name="Arrow 8"/>
          <p:cNvCxnSpPr/>
          <p:nvPr/>
        </p:nvCxnSpPr>
        <p:spPr>
          <a:xfrm>
            <a:off x="6318504" y="2093976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 9"/>
          <p:cNvSpPr txBox="1"/>
          <p:nvPr/>
        </p:nvSpPr>
        <p:spPr>
          <a:xfrm>
            <a:off x="8266175" y="1911095"/>
            <a:ext cx="5486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1">
                <a:solidFill>
                  <a:srgbClr val="E0764F"/>
                </a:solidFill>
                <a:latin typeface="Inter"/>
              </a:rPr>
              <a:t>48</a:t>
            </a:r>
          </a:p>
        </p:txBody>
      </p:sp>
      <p:sp>
        <p:nvSpPr>
          <p:cNvPr id="102" name="Text 10"/>
          <p:cNvSpPr txBox="1"/>
          <p:nvPr/>
        </p:nvSpPr>
        <p:spPr>
          <a:xfrm>
            <a:off x="548640" y="2295144"/>
            <a:ext cx="566928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Hands-on: Modeling Domain dengan DDD Dasar</a:t>
            </a:r>
          </a:p>
        </p:txBody>
      </p:sp>
      <p:cxnSp>
        <p:nvCxnSpPr>
          <p:cNvPr id="103" name="Arrow 11"/>
          <p:cNvCxnSpPr/>
          <p:nvPr/>
        </p:nvCxnSpPr>
        <p:spPr>
          <a:xfrm>
            <a:off x="6318504" y="2478024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 12"/>
          <p:cNvSpPr txBox="1"/>
          <p:nvPr/>
        </p:nvSpPr>
        <p:spPr>
          <a:xfrm>
            <a:off x="8266175" y="2295144"/>
            <a:ext cx="5486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1">
                <a:solidFill>
                  <a:srgbClr val="E0764F"/>
                </a:solidFill>
                <a:latin typeface="Inter"/>
              </a:rPr>
              <a:t>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Sesi 3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Learning Outcome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Box 4"/>
          <p:cNvSpPr/>
          <p:nvPr/>
        </p:nvSpPr>
        <p:spPr>
          <a:xfrm>
            <a:off x="758952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1170432" y="1709928"/>
            <a:ext cx="1883663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C4587"/>
                </a:solidFill>
                <a:latin typeface="Inter"/>
              </a:rPr>
              <a:t>Bahasa &amp; batas</a:t>
            </a:r>
          </a:p>
        </p:txBody>
      </p:sp>
      <p:sp>
        <p:nvSpPr>
          <p:cNvPr id="25" name="Text 6"/>
          <p:cNvSpPr txBox="1"/>
          <p:nvPr/>
        </p:nvSpPr>
        <p:spPr>
          <a:xfrm>
            <a:off x="758952" y="2148840"/>
            <a:ext cx="2249424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34343"/>
                </a:solidFill>
                <a:latin typeface="Inter"/>
              </a:rPr>
              <a:t>Menyusun ubiquitous language dan mengidentifikasi bounded context dari use case bisnis.</a:t>
            </a:r>
          </a:p>
        </p:txBody>
      </p:sp>
      <p:sp>
        <p:nvSpPr>
          <p:cNvPr id="26" name="Box 7"/>
          <p:cNvSpPr/>
          <p:nvPr/>
        </p:nvSpPr>
        <p:spPr>
          <a:xfrm>
            <a:off x="3291840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7" name="Box 8"/>
          <p:cNvSpPr/>
          <p:nvPr/>
        </p:nvSpPr>
        <p:spPr>
          <a:xfrm>
            <a:off x="3429000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8" name="Text 9"/>
          <p:cNvSpPr txBox="1"/>
          <p:nvPr/>
        </p:nvSpPr>
        <p:spPr>
          <a:xfrm>
            <a:off x="3840480" y="1709928"/>
            <a:ext cx="1883663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C4587"/>
                </a:solidFill>
                <a:latin typeface="Inter"/>
              </a:rPr>
              <a:t>Building blocks</a:t>
            </a:r>
          </a:p>
        </p:txBody>
      </p:sp>
      <p:sp>
        <p:nvSpPr>
          <p:cNvPr id="29" name="Text 10"/>
          <p:cNvSpPr txBox="1"/>
          <p:nvPr/>
        </p:nvSpPr>
        <p:spPr>
          <a:xfrm>
            <a:off x="3429000" y="2148840"/>
            <a:ext cx="2249424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34343"/>
                </a:solidFill>
                <a:latin typeface="Inter"/>
              </a:rPr>
              <a:t>Membedakan entity, value object, aggregate, dan domain service beserta tanggung jawabnya.</a:t>
            </a:r>
          </a:p>
        </p:txBody>
      </p:sp>
      <p:sp>
        <p:nvSpPr>
          <p:cNvPr id="30" name="Box 11"/>
          <p:cNvSpPr/>
          <p:nvPr/>
        </p:nvSpPr>
        <p:spPr>
          <a:xfrm>
            <a:off x="5961888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Box 12"/>
          <p:cNvSpPr/>
          <p:nvPr/>
        </p:nvSpPr>
        <p:spPr>
          <a:xfrm>
            <a:off x="6099048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2" name="Text 13"/>
          <p:cNvSpPr txBox="1"/>
          <p:nvPr/>
        </p:nvSpPr>
        <p:spPr>
          <a:xfrm>
            <a:off x="6510527" y="1709928"/>
            <a:ext cx="1883664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C4587"/>
                </a:solidFill>
                <a:latin typeface="Inter"/>
              </a:rPr>
              <a:t>Domain terpisah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6099048" y="2148840"/>
            <a:ext cx="2249424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34343"/>
                </a:solidFill>
                <a:latin typeface="Inter"/>
              </a:rPr>
              <a:t>Memisahkan domain rules dari FastAPI routes dan persistence implementation.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Tema Training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Order Management API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297680" cy="3246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dirty="0">
                <a:solidFill>
                  <a:srgbClr val="434343"/>
                </a:solidFill>
                <a:latin typeface="Inter"/>
              </a:rPr>
              <a:t>Pada training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ini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kita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akan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memakai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tema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sama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dari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awal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sampai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akhir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yaitu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Order Management API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: API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sederhana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untuk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menerima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order,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menghitung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diskon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menyimpan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data order, dan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mengirim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notifikasi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ke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customer.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1000" b="0" i="0" dirty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dirty="0" err="1">
                <a:solidFill>
                  <a:srgbClr val="434343"/>
                </a:solidFill>
                <a:latin typeface="Inter"/>
              </a:rPr>
              <a:t>Aplikasi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ini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kita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kembangkan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sedikit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demi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sedikit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di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setiap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. Di Sesi 1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kita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mulai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dari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kode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masih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ditulis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di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file,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lalu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merapikannya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. Hasil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akhir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setiap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menjadi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titik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awal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berikutnya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sampai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di Sesi 12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menjadi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Order API yang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siap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production.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1000" b="0" i="0" dirty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dirty="0">
                <a:solidFill>
                  <a:srgbClr val="434343"/>
                </a:solidFill>
                <a:latin typeface="Inter"/>
              </a:rPr>
              <a:t>Di Sesi 3 (Domain-Driven Design): order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jadi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aggregate, Money value object,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aturan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bayar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&amp;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batal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.</a:t>
            </a:r>
          </a:p>
        </p:txBody>
      </p:sp>
      <p:sp>
        <p:nvSpPr>
          <p:cNvPr id="23" name="Box 4"/>
          <p:cNvSpPr/>
          <p:nvPr/>
        </p:nvSpPr>
        <p:spPr>
          <a:xfrm>
            <a:off x="5120640" y="1600200"/>
            <a:ext cx="1828800" cy="402336"/>
          </a:xfrm>
          <a:prstGeom prst="roundRect">
            <a:avLst>
              <a:gd name="adj" fmla="val 27272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Terima order</a:t>
            </a:r>
          </a:p>
        </p:txBody>
      </p:sp>
      <p:sp>
        <p:nvSpPr>
          <p:cNvPr id="24" name="Box 5"/>
          <p:cNvSpPr/>
          <p:nvPr/>
        </p:nvSpPr>
        <p:spPr>
          <a:xfrm>
            <a:off x="5120640" y="2167128"/>
            <a:ext cx="1828800" cy="402336"/>
          </a:xfrm>
          <a:prstGeom prst="roundRect">
            <a:avLst>
              <a:gd name="adj" fmla="val 27272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Hitung diskon</a:t>
            </a:r>
          </a:p>
        </p:txBody>
      </p:sp>
      <p:cxnSp>
        <p:nvCxnSpPr>
          <p:cNvPr id="25" name="Arrow 6"/>
          <p:cNvCxnSpPr/>
          <p:nvPr/>
        </p:nvCxnSpPr>
        <p:spPr>
          <a:xfrm>
            <a:off x="6035040" y="2002536"/>
            <a:ext cx="0" cy="16459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ox 7"/>
          <p:cNvSpPr/>
          <p:nvPr/>
        </p:nvSpPr>
        <p:spPr>
          <a:xfrm>
            <a:off x="5120640" y="2734056"/>
            <a:ext cx="1828800" cy="402336"/>
          </a:xfrm>
          <a:prstGeom prst="roundRect">
            <a:avLst>
              <a:gd name="adj" fmla="val 27272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Simpan ke database</a:t>
            </a:r>
          </a:p>
        </p:txBody>
      </p:sp>
      <p:cxnSp>
        <p:nvCxnSpPr>
          <p:cNvPr id="27" name="Arrow 8"/>
          <p:cNvCxnSpPr/>
          <p:nvPr/>
        </p:nvCxnSpPr>
        <p:spPr>
          <a:xfrm>
            <a:off x="6035040" y="2569464"/>
            <a:ext cx="0" cy="16459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Box 9"/>
          <p:cNvSpPr/>
          <p:nvPr/>
        </p:nvSpPr>
        <p:spPr>
          <a:xfrm>
            <a:off x="5120640" y="3300984"/>
            <a:ext cx="1828800" cy="402336"/>
          </a:xfrm>
          <a:prstGeom prst="roundRect">
            <a:avLst>
              <a:gd name="adj" fmla="val 27272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Kirim notifikasi</a:t>
            </a:r>
          </a:p>
        </p:txBody>
      </p:sp>
      <p:cxnSp>
        <p:nvCxnSpPr>
          <p:cNvPr id="29" name="Arrow 10"/>
          <p:cNvCxnSpPr/>
          <p:nvPr/>
        </p:nvCxnSpPr>
        <p:spPr>
          <a:xfrm>
            <a:off x="6035040" y="3136391"/>
            <a:ext cx="0" cy="164593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 11"/>
          <p:cNvSpPr txBox="1"/>
          <p:nvPr/>
        </p:nvSpPr>
        <p:spPr>
          <a:xfrm>
            <a:off x="7086600" y="1600200"/>
            <a:ext cx="1417320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>
                <a:solidFill>
                  <a:srgbClr val="7A7A7A"/>
                </a:solidFill>
                <a:latin typeface="Inter"/>
              </a:rPr>
              <a:t>Aturan diskon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regular: 0%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member: 5%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vip: 10%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7A7A7A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>
                <a:solidFill>
                  <a:srgbClr val="7A7A7A"/>
                </a:solidFill>
                <a:latin typeface="Inter"/>
              </a:rPr>
              <a:t>Notifikasi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email atau SMS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Tema Training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Tahapan Pengembangan Order API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463040"/>
          <a:ext cx="7863840" cy="3031236"/>
        </p:xfrm>
        <a:graphic>
          <a:graphicData uri="http://schemas.openxmlformats.org/drawingml/2006/table">
            <a:tbl>
              <a:tblPr firstRow="1" bandRow="1"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Inter"/>
                        </a:rPr>
                        <a:t>Sesi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Inter"/>
                        </a:rPr>
                        <a:t>Topik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Inter"/>
                        </a:rPr>
                        <a:t>Yang ditambahkan ke Order API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Design Patterns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Kode didalam satu file diperbaiki: Factory, Singleton, Strategy, Repository, Service Layer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SOLID &amp; Clean Architecture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Dipisah per layer: domain, application, infrastructure, api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3  (sesi ini)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Domain-Driven Design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Order jadi aggregate, Money value object, aturan bayar &amp; batal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Modular FastAPI &amp; ORM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Router per modul, SQLAlchemy, Unit of Work, format error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Celery &amp; Redis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Notifikasi dan report dikerjakan di background job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Caching &amp; Rate Limiting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Data produk di-cache di Redis, request dibatasi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Database Optimization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PostgreSQL, index, tanpa N+1, pagination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RabbitMQ &amp; Kafka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Event order, consumer notifikasi yang retry-safe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Observability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Log terstruktur, metrics, dan tracing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API Security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Login OAuth2/JWT, hak akses per role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11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Docker &amp; CI/CD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Docker image, Compose, dan pipeline otomatis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12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Final Project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Order API yang siap production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Pengantar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Domain-Driven Design Itu Apa?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11480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Domain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Bidang bisnis yang diurus aplikasi. Untuk Order API, domainnya adalah </a:t>
            </a:r>
            <a:r>
              <a:rPr sz="950" b="1" i="0">
                <a:solidFill>
                  <a:srgbClr val="434343"/>
                </a:solidFill>
                <a:latin typeface="Inter"/>
              </a:rPr>
              <a:t>penjualan online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yaitu order, item, diskon, dan pembayaran.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Domain-Driven Design (DDD)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Pendekatan desain software yang diperkenalkan </a:t>
            </a:r>
            <a:r>
              <a:rPr sz="950" b="1" i="0">
                <a:solidFill>
                  <a:srgbClr val="434343"/>
                </a:solidFill>
                <a:latin typeface="Inter"/>
              </a:rPr>
              <a:t>Eric Evans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lewat buku "Domain-Driven Design" (2003). Kode disusun mengikuti cara tim bisnis memahami bisnisnya, bukan mengikuti bentuk tabel database atau framework.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Hubungannya dengan Sesi 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Di Clean Architecture, layer </a:t>
            </a:r>
            <a:r>
              <a:rPr sz="950" b="1" i="0">
                <a:solidFill>
                  <a:srgbClr val="434343"/>
                </a:solidFill>
                <a:latin typeface="Inter"/>
              </a:rPr>
              <a:t>domain</a:t>
            </a:r>
            <a:r>
              <a:rPr sz="950" b="0" i="0">
                <a:solidFill>
                  <a:srgbClr val="434343"/>
                </a:solidFill>
                <a:latin typeface="Inter"/>
              </a:rPr>
              <a:t> adalah inti aplikasi. DDD membantu kita mengisi layer itu, yaitu folder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app/domain/</a:t>
            </a:r>
            <a:r>
              <a:rPr sz="95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  <p:graphicFrame>
        <p:nvGraphicFramePr>
          <p:cNvPr id="23" name="Table 4"/>
          <p:cNvGraphicFramePr>
            <a:graphicFrameLocks noGrp="1"/>
          </p:cNvGraphicFramePr>
          <p:nvPr/>
        </p:nvGraphicFramePr>
        <p:xfrm>
          <a:off x="4892040" y="1481328"/>
          <a:ext cx="3593592" cy="1920240"/>
        </p:xfrm>
        <a:graphic>
          <a:graphicData uri="http://schemas.openxmlformats.org/drawingml/2006/table">
            <a:tbl>
              <a:tblPr firstRow="1" bandRow="1"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Bagian DDD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Isinya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Strategic design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Menentukan bahasa dan batas model: Ubiquitous Language, Bounded Context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Tactical design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Menulis model di kode: Value Object, Entity, Aggregate, Domain Service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 5"/>
          <p:cNvSpPr txBox="1"/>
          <p:nvPr/>
        </p:nvSpPr>
        <p:spPr>
          <a:xfrm>
            <a:off x="4892040" y="3566160"/>
            <a:ext cx="359359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1C4587"/>
                </a:solidFill>
                <a:latin typeface="Inter"/>
              </a:rPr>
              <a:t>DDD bukan library dan bukan fitur FastAPI, melainkan </a:t>
            </a:r>
            <a:r>
              <a:rPr sz="950" b="1" i="0">
                <a:solidFill>
                  <a:srgbClr val="1C4587"/>
                </a:solidFill>
                <a:latin typeface="Inter"/>
              </a:rPr>
              <a:t>cara memodelkan</a:t>
            </a:r>
            <a:r>
              <a:rPr sz="950" b="0" i="0">
                <a:solidFill>
                  <a:srgbClr val="1C4587"/>
                </a:solidFill>
                <a:latin typeface="Inter"/>
              </a:rPr>
              <a:t> business logic. Kodenya tetap Python biasa.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Pengantar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Konsep DDD dan Fitur Python yang Dipakai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072263"/>
              </p:ext>
            </p:extLst>
          </p:nvPr>
        </p:nvGraphicFramePr>
        <p:xfrm>
          <a:off x="621792" y="1481328"/>
          <a:ext cx="7863840" cy="2523744"/>
        </p:xfrm>
        <a:graphic>
          <a:graphicData uri="http://schemas.openxmlformats.org/drawingml/2006/table">
            <a:tbl>
              <a:tblPr firstRow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Inter"/>
                        </a:rPr>
                        <a:t>Konsep DDD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Inter"/>
                        </a:rPr>
                        <a:t>Ditulis dengan fitur Python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 dirty="0" err="1">
                          <a:solidFill>
                            <a:srgbClr val="FFFFFF"/>
                          </a:solidFill>
                          <a:latin typeface="Inter"/>
                        </a:rPr>
                        <a:t>Fungsi</a:t>
                      </a:r>
                      <a:endParaRPr sz="950" b="1" i="0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Value Object (Money)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@dataclass(frozen=True)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Object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tidak</a:t>
                      </a: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bisa</a:t>
                      </a: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diubah</a:t>
                      </a: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setelah</a:t>
                      </a: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dibuat</a:t>
                      </a: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,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dibandingkan</a:t>
                      </a: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dari</a:t>
                      </a: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nilainya</a:t>
                      </a:r>
                      <a:endParaRPr sz="95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Status order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Enum: OrderStatus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Daftar nilai yang sudah pasti: pending, paid, cancelled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Entity (Order)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__eq__ dan __hash__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Mengatur kapan dua object dianggap sama, yaitu dari idnya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Aggregate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@property + tuple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Data bisa dibaca dari luar, tapi tidak bisa diubah langsung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Domain vs ORM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SQLAlchemy (library)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Hanya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dipakai</a:t>
                      </a: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 di infrastructure, domain </a:t>
                      </a:r>
                      <a:r>
                        <a:rPr sz="9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tidak</a:t>
                      </a:r>
                      <a:r>
                        <a:rPr sz="950" b="0" i="0" dirty="0">
                          <a:solidFill>
                            <a:srgbClr val="434343"/>
                          </a:solidFill>
                          <a:latin typeface="Inter"/>
                        </a:rPr>
                        <a:t> import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 4"/>
          <p:cNvSpPr txBox="1"/>
          <p:nvPr/>
        </p:nvSpPr>
        <p:spPr>
          <a:xfrm>
            <a:off x="621792" y="4160520"/>
            <a:ext cx="7863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1C4587"/>
                </a:solidFill>
                <a:latin typeface="Inter"/>
              </a:rPr>
              <a:t>Konsepnya berasal dari DDD, lalu ditulis dengan fitur Python di atas. Di aplikasi FastAPI, file domain </a:t>
            </a:r>
            <a:r>
              <a:rPr sz="1000" b="1" i="0">
                <a:solidFill>
                  <a:srgbClr val="1C4587"/>
                </a:solidFill>
                <a:latin typeface="Inter"/>
              </a:rPr>
              <a:t>tidak import</a:t>
            </a:r>
            <a:r>
              <a:rPr sz="1000" b="0" i="0">
                <a:solidFill>
                  <a:srgbClr val="1C4587"/>
                </a:solidFill>
                <a:latin typeface="Inter"/>
              </a:rPr>
              <a:t> FastAPI, Pydantic, maupun library database.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CFE0FA"/>
                </a:solidFill>
                <a:latin typeface="Inter"/>
              </a:rPr>
              <a:t>Bagian 01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Work Sans ExtraBold"/>
              </a:rPr>
              <a:t>Ubiquitous Language &amp; Bounded Context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3246120"/>
            <a:ext cx="65836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E3ECFA"/>
                </a:solidFill>
                <a:latin typeface="Inter"/>
              </a:rPr>
              <a:t>Menyamakan bahasa dengan tim bisnis dan menentukan batas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Ubiquitous Language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 dirty="0">
                <a:solidFill>
                  <a:srgbClr val="1C4587"/>
                </a:solidFill>
                <a:latin typeface="Work Sans ExtraBold"/>
              </a:rPr>
              <a:t>Apa Itu Ubiquitous Language?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383280" cy="21240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 dirty="0">
                <a:solidFill>
                  <a:srgbClr val="1C4587"/>
                </a:solidFill>
                <a:latin typeface="Inter"/>
              </a:rPr>
              <a:t>Ubiquitous Language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adalah</a:t>
            </a:r>
            <a:endParaRPr sz="1000" b="1" i="0" dirty="0">
              <a:solidFill>
                <a:srgbClr val="1C4587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Konsep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DDD yang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menekankan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pada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s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atu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bahasa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dipakai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1" i="0" dirty="0" err="1">
                <a:solidFill>
                  <a:srgbClr val="434343"/>
                </a:solidFill>
                <a:latin typeface="Inter"/>
              </a:rPr>
              <a:t>bersama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oleh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seluruh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anggota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tim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baik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pada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saat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diskusi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pembuatan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dokumen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maupun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di source code.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Sehingga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penerapan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istilah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diucapkan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tim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bisnis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1" i="0" dirty="0" err="1">
                <a:solidFill>
                  <a:srgbClr val="434343"/>
                </a:solidFill>
                <a:latin typeface="Inter"/>
              </a:rPr>
              <a:t>sama</a:t>
            </a:r>
            <a:r>
              <a:rPr lang="en-US" sz="9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1" i="0" dirty="0" err="1">
                <a:solidFill>
                  <a:srgbClr val="434343"/>
                </a:solidFill>
                <a:latin typeface="Inter"/>
              </a:rPr>
              <a:t>persis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dengan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nama class, method, dan status di source code.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 dirty="0" err="1">
                <a:solidFill>
                  <a:srgbClr val="1C4587"/>
                </a:solidFill>
                <a:latin typeface="Inter"/>
              </a:rPr>
              <a:t>Untuk</a:t>
            </a:r>
            <a:r>
              <a:rPr sz="1000" b="1" i="0" dirty="0">
                <a:solidFill>
                  <a:srgbClr val="1C4587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apa</a:t>
            </a:r>
            <a:endParaRPr sz="1000" b="1" i="0" dirty="0">
              <a:solidFill>
                <a:srgbClr val="1C4587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Menjembatani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kebutuhan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bisnis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ke dalam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source code</a:t>
            </a:r>
            <a:endParaRPr sz="900" b="0" i="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Menghilangkan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kesalahpahaman</a:t>
            </a:r>
            <a:endParaRPr lang="en-US" sz="900" b="0" i="0" dirty="0">
              <a:solidFill>
                <a:srgbClr val="434343"/>
              </a:solidFill>
              <a:latin typeface="Inter"/>
            </a:endParaRPr>
          </a:p>
          <a:p>
            <a:pPr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lang="en-US" sz="900" dirty="0" err="1">
                <a:solidFill>
                  <a:srgbClr val="434343"/>
                </a:solidFill>
                <a:latin typeface="Inter"/>
              </a:rPr>
              <a:t>Mempercepat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proses integrasi (onboarding) anggota tim baru</a:t>
            </a:r>
          </a:p>
        </p:txBody>
      </p:sp>
      <p:sp>
        <p:nvSpPr>
          <p:cNvPr id="23" name="CodeTab 5"/>
          <p:cNvSpPr/>
          <p:nvPr/>
        </p:nvSpPr>
        <p:spPr>
          <a:xfrm>
            <a:off x="4160520" y="1481328"/>
            <a:ext cx="432511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27024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709159" y="1490472"/>
            <a:ext cx="368503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ubiquitous language: 01-ubiquitous-language/before.py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160520" y="1719072"/>
            <a:ext cx="4325112" cy="1161288"/>
          </a:xfrm>
          <a:prstGeom prst="roundRect">
            <a:avLst>
              <a:gd name="adj" fmla="val 1574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160520" y="1719072"/>
            <a:ext cx="4325112" cy="116128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process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(data: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flag: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flag ==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     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1 = baru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data[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"st"</a:t>
            </a:r>
            <a:r>
              <a:rPr sz="850" i="0">
                <a:solidFill>
                  <a:srgbClr val="E6EDF3"/>
                </a:solidFill>
                <a:latin typeface="Inconsolata"/>
              </a:rPr>
              <a:t>] =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flag == </a:t>
            </a:r>
            <a:r>
              <a:rPr sz="850" i="0">
                <a:solidFill>
                  <a:srgbClr val="F9C97A"/>
                </a:solidFill>
                <a:latin typeface="Inconsolata"/>
              </a:rPr>
              <a:t>2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   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2 = bayar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data[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"st"</a:t>
            </a:r>
            <a:r>
              <a:rPr sz="850" i="0">
                <a:solidFill>
                  <a:srgbClr val="E6EDF3"/>
                </a:solidFill>
                <a:latin typeface="Inconsolata"/>
              </a:rPr>
              <a:t>] !=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"gagal"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data[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"st"</a:t>
            </a:r>
            <a:r>
              <a:rPr sz="850" i="0">
                <a:solidFill>
                  <a:srgbClr val="E6EDF3"/>
                </a:solidFill>
                <a:latin typeface="Inconsolata"/>
              </a:rPr>
              <a:t>] = </a:t>
            </a:r>
            <a:r>
              <a:rPr sz="850" i="0">
                <a:solidFill>
                  <a:srgbClr val="F9C97A"/>
                </a:solidFill>
                <a:latin typeface="Inconsolata"/>
              </a:rPr>
              <a:t>2</a:t>
            </a:r>
          </a:p>
        </p:txBody>
      </p:sp>
      <p:sp>
        <p:nvSpPr>
          <p:cNvPr id="30" name="Box 13"/>
          <p:cNvSpPr/>
          <p:nvPr/>
        </p:nvSpPr>
        <p:spPr>
          <a:xfrm>
            <a:off x="4242816" y="1828673"/>
            <a:ext cx="4160520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Box 14"/>
          <p:cNvSpPr/>
          <p:nvPr/>
        </p:nvSpPr>
        <p:spPr>
          <a:xfrm>
            <a:off x="4242816" y="2247773"/>
            <a:ext cx="4160520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CodeTab 16"/>
          <p:cNvSpPr/>
          <p:nvPr/>
        </p:nvSpPr>
        <p:spPr>
          <a:xfrm>
            <a:off x="4160520" y="2971800"/>
            <a:ext cx="432511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270248" y="3049524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407408" y="3049524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Dot 19"/>
          <p:cNvSpPr/>
          <p:nvPr/>
        </p:nvSpPr>
        <p:spPr>
          <a:xfrm>
            <a:off x="4544568" y="3049524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20"/>
          <p:cNvSpPr txBox="1"/>
          <p:nvPr/>
        </p:nvSpPr>
        <p:spPr>
          <a:xfrm>
            <a:off x="4709159" y="2980944"/>
            <a:ext cx="368503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ubiquitous language: 01-ubiquitous-language/after.py</a:t>
            </a:r>
          </a:p>
        </p:txBody>
      </p:sp>
      <p:sp>
        <p:nvSpPr>
          <p:cNvPr id="37" name="CodeBg 22"/>
          <p:cNvSpPr/>
          <p:nvPr/>
        </p:nvSpPr>
        <p:spPr>
          <a:xfrm>
            <a:off x="4160520" y="3209544"/>
            <a:ext cx="4325112" cy="987551"/>
          </a:xfrm>
          <a:prstGeom prst="roundRect">
            <a:avLst>
              <a:gd name="adj" fmla="val 1851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Code 23"/>
          <p:cNvSpPr txBox="1"/>
          <p:nvPr/>
        </p:nvSpPr>
        <p:spPr>
          <a:xfrm>
            <a:off x="4160520" y="3209544"/>
            <a:ext cx="4325112" cy="987551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pay_order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(order: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order.status !=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0" i="0">
                <a:solidFill>
                  <a:srgbClr val="E6EDF3"/>
                </a:solidFill>
                <a:latin typeface="Inconsolata"/>
              </a:rPr>
              <a:t>.</a:t>
            </a:r>
            <a:r>
              <a:rPr sz="850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"Hanya order pending yang bisa dibayar"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order.status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0" i="0">
                <a:solidFill>
                  <a:srgbClr val="E6EDF3"/>
                </a:solidFill>
                <a:latin typeface="Inconsolata"/>
              </a:rPr>
              <a:t>.</a:t>
            </a:r>
            <a:r>
              <a:rPr sz="850" i="0">
                <a:solidFill>
                  <a:srgbClr val="7FDBCA"/>
                </a:solidFill>
                <a:latin typeface="Inconsolata"/>
              </a:rPr>
              <a:t>PAID</a:t>
            </a:r>
          </a:p>
        </p:txBody>
      </p:sp>
      <p:sp>
        <p:nvSpPr>
          <p:cNvPr id="39" name="Box 24"/>
          <p:cNvSpPr/>
          <p:nvPr/>
        </p:nvSpPr>
        <p:spPr>
          <a:xfrm>
            <a:off x="4242816" y="3319145"/>
            <a:ext cx="4160520" cy="131318"/>
          </a:xfrm>
          <a:prstGeom prst="roundRect">
            <a:avLst>
              <a:gd name="adj" fmla="val 3481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Box 25"/>
          <p:cNvSpPr/>
          <p:nvPr/>
        </p:nvSpPr>
        <p:spPr>
          <a:xfrm>
            <a:off x="4242816" y="4017645"/>
            <a:ext cx="4160520" cy="131318"/>
          </a:xfrm>
          <a:prstGeom prst="roundRect">
            <a:avLst>
              <a:gd name="adj" fmla="val 3481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Text 26"/>
          <p:cNvSpPr txBox="1"/>
          <p:nvPr/>
        </p:nvSpPr>
        <p:spPr>
          <a:xfrm>
            <a:off x="4160520" y="4288536"/>
            <a:ext cx="43251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"A language structured around the domain model and used by all team members to connect all the activities of the team with the software."  Eric Evans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Ubiquitous Language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Ubiquitous Language?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2625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 dirty="0" err="1">
                <a:solidFill>
                  <a:srgbClr val="1C4587"/>
                </a:solidFill>
                <a:latin typeface="Inter"/>
              </a:rPr>
              <a:t>Tanpa</a:t>
            </a:r>
            <a:r>
              <a:rPr sz="1050" b="1" i="0" dirty="0">
                <a:solidFill>
                  <a:srgbClr val="1C4587"/>
                </a:solidFill>
                <a:latin typeface="Inter"/>
              </a:rPr>
              <a:t> Ubiquitous Language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Developer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menamai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kode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sesuai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selera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sendiri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misalnya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>
                <a:solidFill>
                  <a:srgbClr val="B5482A"/>
                </a:solidFill>
                <a:latin typeface="Inconsolata"/>
              </a:rPr>
              <a:t>process(data, flag)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,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lalu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menandakan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status order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sudah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dibayar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dengan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angka</a:t>
            </a:r>
            <a:r>
              <a:rPr lang="en-US" sz="950" dirty="0">
                <a:solidFill>
                  <a:srgbClr val="434343"/>
                </a:solidFill>
                <a:latin typeface="Inter"/>
              </a:rPr>
              <a:t> 2 (</a:t>
            </a:r>
            <a:r>
              <a:rPr lang="en-US" sz="950" dirty="0">
                <a:solidFill>
                  <a:srgbClr val="B5482A"/>
                </a:solidFill>
                <a:latin typeface="Inconsolata"/>
              </a:rPr>
              <a:t>flag == 2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).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Sedangkan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t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im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bisnis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umumnya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menggunakan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istilah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dirty="0">
                <a:solidFill>
                  <a:srgbClr val="434343"/>
                </a:solidFill>
                <a:latin typeface="Inter"/>
              </a:rPr>
              <a:t>“order </a:t>
            </a:r>
            <a:r>
              <a:rPr lang="en-US" sz="950" dirty="0" err="1">
                <a:solidFill>
                  <a:srgbClr val="434343"/>
                </a:solidFill>
                <a:latin typeface="Inter"/>
              </a:rPr>
              <a:t>dibayar</a:t>
            </a:r>
            <a:r>
              <a:rPr lang="en-US" sz="950" dirty="0">
                <a:solidFill>
                  <a:srgbClr val="434343"/>
                </a:solidFill>
                <a:latin typeface="Inter"/>
              </a:rPr>
              <a:t>” atau “status p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aid”.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i="0" dirty="0">
                <a:solidFill>
                  <a:srgbClr val="1C4587"/>
                </a:solidFill>
                <a:latin typeface="Inter"/>
              </a:rPr>
              <a:t>Jika </a:t>
            </a:r>
            <a:r>
              <a:rPr lang="en-US" sz="1050" b="1" i="0" dirty="0" err="1">
                <a:solidFill>
                  <a:srgbClr val="1C4587"/>
                </a:solidFill>
                <a:latin typeface="Inter"/>
              </a:rPr>
              <a:t>timnya</a:t>
            </a:r>
            <a:r>
              <a:rPr lang="en-US" sz="1050" b="1" i="0" dirty="0">
                <a:solidFill>
                  <a:srgbClr val="1C4587"/>
                </a:solidFill>
                <a:latin typeface="Inter"/>
              </a:rPr>
              <a:t> </a:t>
            </a:r>
            <a:r>
              <a:rPr lang="en-US" sz="1050" b="1" i="0" dirty="0" err="1">
                <a:solidFill>
                  <a:srgbClr val="1C4587"/>
                </a:solidFill>
                <a:latin typeface="Inter"/>
              </a:rPr>
              <a:t>makin</a:t>
            </a:r>
            <a:r>
              <a:rPr lang="en-US" sz="1050" b="1" i="0" dirty="0">
                <a:solidFill>
                  <a:srgbClr val="1C4587"/>
                </a:solidFill>
                <a:latin typeface="Inter"/>
              </a:rPr>
              <a:t> </a:t>
            </a:r>
            <a:r>
              <a:rPr lang="en-US" sz="1050" b="1" i="0" dirty="0" err="1">
                <a:solidFill>
                  <a:srgbClr val="1C4587"/>
                </a:solidFill>
                <a:latin typeface="Inter"/>
              </a:rPr>
              <a:t>besar</a:t>
            </a:r>
            <a:endParaRPr lang="en-US" sz="1050" b="1" i="0" dirty="0">
              <a:solidFill>
                <a:srgbClr val="1C4587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 dirty="0" err="1">
                <a:solidFill>
                  <a:srgbClr val="434343"/>
                </a:solidFill>
                <a:latin typeface="Inter"/>
              </a:rPr>
              <a:t>Setiap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diskusi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harus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diterjemahkan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dulu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. 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Developer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menjelaskan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bahwa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status 1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adalah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order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baru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dirty="0">
                <a:solidFill>
                  <a:srgbClr val="434343"/>
                </a:solidFill>
                <a:latin typeface="Inter"/>
              </a:rPr>
              <a:t>dan status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2 </a:t>
            </a:r>
            <a:r>
              <a:rPr lang="en-US" sz="950" dirty="0" err="1">
                <a:solidFill>
                  <a:srgbClr val="434343"/>
                </a:solidFill>
                <a:latin typeface="Inter"/>
              </a:rPr>
              <a:t>a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dalah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order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sudah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dibayar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, dan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seterusnya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en-US" sz="950" b="0" i="0" dirty="0">
                <a:solidFill>
                  <a:srgbClr val="434343"/>
                </a:solidFill>
                <a:latin typeface="Inter"/>
              </a:rPr>
              <a:t>Hal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ini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menimbulkan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potensi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kesalahpahaman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antar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anggota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tim.</a:t>
            </a:r>
            <a:endParaRPr lang="en-US" sz="950" b="0" i="0" dirty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 dirty="0">
                <a:solidFill>
                  <a:srgbClr val="1C4587"/>
                </a:solidFill>
                <a:latin typeface="Inter"/>
              </a:rPr>
              <a:t>Yang </a:t>
            </a:r>
            <a:r>
              <a:rPr sz="1050" b="1" i="0" dirty="0" err="1">
                <a:solidFill>
                  <a:srgbClr val="1C4587"/>
                </a:solidFill>
                <a:latin typeface="Inter"/>
              </a:rPr>
              <a:t>dipakai</a:t>
            </a:r>
            <a:r>
              <a:rPr sz="1050" b="1" i="0" dirty="0">
                <a:solidFill>
                  <a:srgbClr val="1C4587"/>
                </a:solidFill>
                <a:latin typeface="Inter"/>
              </a:rPr>
              <a:t> </a:t>
            </a:r>
            <a:r>
              <a:rPr sz="1050" b="1" i="0" dirty="0" err="1">
                <a:solidFill>
                  <a:srgbClr val="1C4587"/>
                </a:solidFill>
                <a:latin typeface="Inter"/>
              </a:rPr>
              <a:t>dari</a:t>
            </a:r>
            <a:r>
              <a:rPr sz="1050" b="1" i="0" dirty="0">
                <a:solidFill>
                  <a:srgbClr val="1C4587"/>
                </a:solidFill>
                <a:latin typeface="Inter"/>
              </a:rPr>
              <a:t> Python: Enum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Status order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ditulis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dengan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>
                <a:solidFill>
                  <a:srgbClr val="B5482A"/>
                </a:solidFill>
                <a:latin typeface="Inconsolata"/>
              </a:rPr>
              <a:t>Enum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sehingga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setiap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status punya nama yang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sama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dengan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istilah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bisnis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bukan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angka</a:t>
            </a:r>
            <a:r>
              <a:rPr lang="en-US" sz="950" dirty="0">
                <a:solidFill>
                  <a:srgbClr val="434343"/>
                </a:solidFill>
                <a:latin typeface="Inter"/>
              </a:rPr>
              <a:t>.</a:t>
            </a:r>
            <a:endParaRPr sz="950" b="0" i="0" dirty="0">
              <a:solidFill>
                <a:srgbClr val="434343"/>
              </a:solidFill>
              <a:latin typeface="Inter"/>
            </a:endParaRPr>
          </a:p>
        </p:txBody>
      </p:sp>
      <p:sp>
        <p:nvSpPr>
          <p:cNvPr id="23" name="CodeTab 5"/>
          <p:cNvSpPr/>
          <p:nvPr/>
        </p:nvSpPr>
        <p:spPr>
          <a:xfrm>
            <a:off x="4800600" y="1481328"/>
            <a:ext cx="368503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91032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504748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518464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5349240" y="1490472"/>
            <a:ext cx="304495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 dirty="0">
                <a:solidFill>
                  <a:srgbClr val="AEB8C4"/>
                </a:solidFill>
                <a:latin typeface="Inconsolata"/>
              </a:rPr>
              <a:t>01-ubiquitous-language/after.py (baris 11-14)</a:t>
            </a:r>
          </a:p>
        </p:txBody>
      </p:sp>
      <p:sp>
        <p:nvSpPr>
          <p:cNvPr id="28" name="CodeBg 11"/>
          <p:cNvSpPr/>
          <p:nvPr/>
        </p:nvSpPr>
        <p:spPr>
          <a:xfrm>
            <a:off x="4800600" y="1719072"/>
            <a:ext cx="3685032" cy="758952"/>
          </a:xfrm>
          <a:prstGeom prst="roundRect">
            <a:avLst>
              <a:gd name="adj" fmla="val 2409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800600" y="1719072"/>
            <a:ext cx="3685032" cy="758952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7FDBCA"/>
                </a:solidFill>
                <a:latin typeface="Inconsolata"/>
              </a:rPr>
              <a:t>Enum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8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"pending"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7FDBCA"/>
                </a:solidFill>
                <a:latin typeface="Inconsolata"/>
              </a:rPr>
              <a:t>PAID</a:t>
            </a:r>
            <a:r>
              <a:rPr sz="8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"paid"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7FDBCA"/>
                </a:solidFill>
                <a:latin typeface="Inconsolata"/>
              </a:rPr>
              <a:t>CANCELLED</a:t>
            </a:r>
            <a:r>
              <a:rPr sz="8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"cancelled"</a:t>
            </a:r>
          </a:p>
        </p:txBody>
      </p:sp>
      <p:graphicFrame>
        <p:nvGraphicFramePr>
          <p:cNvPr id="30" name="Table 13"/>
          <p:cNvGraphicFramePr>
            <a:graphicFrameLocks noGrp="1"/>
          </p:cNvGraphicFramePr>
          <p:nvPr/>
        </p:nvGraphicFramePr>
        <p:xfrm>
          <a:off x="4800600" y="2642616"/>
          <a:ext cx="3685032" cy="1828800"/>
        </p:xfrm>
        <a:graphic>
          <a:graphicData uri="http://schemas.openxmlformats.org/drawingml/2006/table">
            <a:tbl>
              <a:tblPr firstRow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Ditulis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 dirty="0" err="1">
                          <a:solidFill>
                            <a:srgbClr val="FFFFFF"/>
                          </a:solidFill>
                          <a:latin typeface="Inter"/>
                        </a:rPr>
                        <a:t>Hasilnya</a:t>
                      </a:r>
                      <a:endParaRPr sz="850" b="1" i="0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OrderStatus.PAID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 dirty="0">
                          <a:solidFill>
                            <a:srgbClr val="434343"/>
                          </a:solidFill>
                          <a:latin typeface="Inter"/>
                        </a:rPr>
                        <a:t>status paid, punya nama yang </a:t>
                      </a:r>
                      <a:r>
                        <a:rPr sz="8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jelas</a:t>
                      </a:r>
                      <a:endParaRPr sz="85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OrderStatus.PAID.value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"paid"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OrderStatus("paid")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OrderStatus.PAID</a:t>
                      </a:r>
                      <a:endParaRPr sz="85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Ubiquitous Language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Menyusun Ubiquitous Language dari Use Case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840480" cy="3200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 dirty="0" err="1">
                <a:solidFill>
                  <a:srgbClr val="1C4587"/>
                </a:solidFill>
                <a:latin typeface="Inter"/>
              </a:rPr>
              <a:t>Langkahnya</a:t>
            </a:r>
            <a:endParaRPr sz="1050" b="1" i="0" dirty="0">
              <a:solidFill>
                <a:srgbClr val="1C4587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 err="1">
                <a:solidFill>
                  <a:srgbClr val="434343"/>
                </a:solidFill>
                <a:latin typeface="Inter"/>
              </a:rPr>
              <a:t>Dengarkan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cara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tim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bisnis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menceritakan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prosesnya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misalnya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: "Customer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membuat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1" i="0" dirty="0">
                <a:solidFill>
                  <a:srgbClr val="434343"/>
                </a:solidFill>
                <a:latin typeface="Inter"/>
              </a:rPr>
              <a:t>order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lalu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order </a:t>
            </a:r>
            <a:r>
              <a:rPr sz="950" b="1" i="0" dirty="0" err="1">
                <a:solidFill>
                  <a:srgbClr val="434343"/>
                </a:solidFill>
                <a:latin typeface="Inter"/>
              </a:rPr>
              <a:t>dibayar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. Order yang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belum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dibayar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boleh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1" i="0" dirty="0" err="1">
                <a:solidFill>
                  <a:srgbClr val="434343"/>
                </a:solidFill>
                <a:latin typeface="Inter"/>
              </a:rPr>
              <a:t>dibatalkan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."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Catat kata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benda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dan kata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kerjanya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di </a:t>
            </a:r>
            <a:r>
              <a:rPr sz="950" b="1" i="0" dirty="0" err="1">
                <a:solidFill>
                  <a:srgbClr val="434343"/>
                </a:solidFill>
                <a:latin typeface="Inter"/>
              </a:rPr>
              <a:t>glosarium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(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kamus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istilah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Pakai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istilah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sama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untuk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nama class, method, status, dan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pesan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error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Jika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istilah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bisnis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berubah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kodenya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ikut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diganti</a:t>
            </a:r>
            <a:endParaRPr sz="950" b="0" i="0" dirty="0">
              <a:solidFill>
                <a:srgbClr val="434343"/>
              </a:solidFill>
              <a:latin typeface="Inter"/>
            </a:endParaRPr>
          </a:p>
        </p:txBody>
      </p:sp>
      <p:graphicFrame>
        <p:nvGraphicFramePr>
          <p:cNvPr id="23" name="Table 4"/>
          <p:cNvGraphicFramePr>
            <a:graphicFrameLocks noGrp="1"/>
          </p:cNvGraphicFramePr>
          <p:nvPr/>
        </p:nvGraphicFramePr>
        <p:xfrm>
          <a:off x="4617720" y="1481328"/>
          <a:ext cx="3867911" cy="2468880"/>
        </p:xfrm>
        <a:graphic>
          <a:graphicData uri="http://schemas.openxmlformats.org/drawingml/2006/table">
            <a:tbl>
              <a:tblPr firstRow="1" bandRow="1"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48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Inter"/>
                        </a:rPr>
                        <a:t>Tim bisnis bilang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Inter"/>
                        </a:rPr>
                        <a:t>Di kode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Order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class Order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Menunggu pembayaran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OrderStatus.PENDING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Order dibayar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pay_order(order)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Order dibatalkan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cancel_order(order)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Order tidak bisa diubah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OrderCannotBeChanged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Text 5"/>
          <p:cNvSpPr txBox="1"/>
          <p:nvPr/>
        </p:nvSpPr>
        <p:spPr>
          <a:xfrm>
            <a:off x="4617720" y="4114800"/>
            <a:ext cx="386791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Tabel seperti ini disimpan bersama dokumentasi project dan dipakai bersama.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Ubiquitous Language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Kode harus diterjemahkan dulu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50799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86791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01-ubiquitous-language/before.py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507992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507992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  <a:r>
              <a:rPr sz="900" i="0">
                <a:solidFill>
                  <a:srgbClr val="82B1FF"/>
                </a:solidFill>
                <a:latin typeface="Inconsolata"/>
              </a:rPr>
              <a:t>process</a:t>
            </a:r>
            <a:r>
              <a:rPr sz="900" i="0">
                <a:solidFill>
                  <a:srgbClr val="E6EDF3"/>
                </a:solidFill>
                <a:latin typeface="Inconsolata"/>
              </a:rPr>
              <a:t>(data: </a:t>
            </a:r>
            <a:r>
              <a:rPr sz="9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flag: </a:t>
            </a:r>
            <a:r>
              <a:rPr sz="9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9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flag == </a:t>
            </a:r>
            <a:r>
              <a:rPr sz="900" i="0">
                <a:solidFill>
                  <a:srgbClr val="F9C97A"/>
                </a:solidFill>
                <a:latin typeface="Inconsolata"/>
              </a:rPr>
              <a:t>1</a:t>
            </a:r>
            <a:r>
              <a:rPr sz="900" i="0">
                <a:solidFill>
                  <a:srgbClr val="E6EDF3"/>
                </a:solidFill>
                <a:latin typeface="Inconsolata"/>
              </a:rPr>
              <a:t>:        </a:t>
            </a:r>
            <a:r>
              <a:rPr sz="900" i="1">
                <a:solidFill>
                  <a:srgbClr val="8B98A8"/>
                </a:solidFill>
                <a:latin typeface="Inconsolata"/>
              </a:rPr>
              <a:t># 1 = baru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data[</a:t>
            </a:r>
            <a:r>
              <a:rPr sz="900" i="0">
                <a:solidFill>
                  <a:srgbClr val="A5D6A7"/>
                </a:solidFill>
                <a:latin typeface="Inconsolata"/>
              </a:rPr>
              <a:t>"st"</a:t>
            </a:r>
            <a:r>
              <a:rPr sz="900" i="0">
                <a:solidFill>
                  <a:srgbClr val="E6EDF3"/>
                </a:solidFill>
                <a:latin typeface="Inconsolata"/>
              </a:rPr>
              <a:t>] = </a:t>
            </a:r>
            <a:r>
              <a:rPr sz="900" i="0">
                <a:solidFill>
                  <a:srgbClr val="F9C97A"/>
                </a:solidFill>
                <a:latin typeface="Inconsolata"/>
              </a:rPr>
              <a:t>1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flag == </a:t>
            </a:r>
            <a:r>
              <a:rPr sz="900" i="0">
                <a:solidFill>
                  <a:srgbClr val="F9C97A"/>
                </a:solidFill>
                <a:latin typeface="Inconsolata"/>
              </a:rPr>
              <a:t>2</a:t>
            </a:r>
            <a:r>
              <a:rPr sz="900" i="0">
                <a:solidFill>
                  <a:srgbClr val="E6EDF3"/>
                </a:solidFill>
                <a:latin typeface="Inconsolata"/>
              </a:rPr>
              <a:t>:      </a:t>
            </a:r>
            <a:r>
              <a:rPr sz="900" i="1">
                <a:solidFill>
                  <a:srgbClr val="8B98A8"/>
                </a:solidFill>
                <a:latin typeface="Inconsolata"/>
              </a:rPr>
              <a:t># 2 = bayar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data[</a:t>
            </a:r>
            <a:r>
              <a:rPr sz="900" i="0">
                <a:solidFill>
                  <a:srgbClr val="A5D6A7"/>
                </a:solidFill>
                <a:latin typeface="Inconsolata"/>
              </a:rPr>
              <a:t>"st"</a:t>
            </a:r>
            <a:r>
              <a:rPr sz="900" i="0">
                <a:solidFill>
                  <a:srgbClr val="E6EDF3"/>
                </a:solidFill>
                <a:latin typeface="Inconsolata"/>
              </a:rPr>
              <a:t>] != </a:t>
            </a:r>
            <a:r>
              <a:rPr sz="900" i="0">
                <a:solidFill>
                  <a:srgbClr val="F9C97A"/>
                </a:solidFill>
                <a:latin typeface="Inconsolata"/>
              </a:rPr>
              <a:t>1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  <a:r>
              <a:rPr sz="900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900" i="0">
                <a:solidFill>
                  <a:srgbClr val="E6EDF3"/>
                </a:solidFill>
                <a:latin typeface="Inconsolata"/>
              </a:rPr>
              <a:t>(</a:t>
            </a:r>
            <a:r>
              <a:rPr sz="900" i="0">
                <a:solidFill>
                  <a:srgbClr val="A5D6A7"/>
                </a:solidFill>
                <a:latin typeface="Inconsolata"/>
              </a:rPr>
              <a:t>"gagal"</a:t>
            </a:r>
            <a:r>
              <a:rPr sz="9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data[</a:t>
            </a:r>
            <a:r>
              <a:rPr sz="900" i="0">
                <a:solidFill>
                  <a:srgbClr val="A5D6A7"/>
                </a:solidFill>
                <a:latin typeface="Inconsolata"/>
              </a:rPr>
              <a:t>"st"</a:t>
            </a:r>
            <a:r>
              <a:rPr sz="900" i="0">
                <a:solidFill>
                  <a:srgbClr val="E6EDF3"/>
                </a:solidFill>
                <a:latin typeface="Inconsolata"/>
              </a:rPr>
              <a:t>] = </a:t>
            </a:r>
            <a:r>
              <a:rPr sz="900" i="0">
                <a:solidFill>
                  <a:srgbClr val="F9C97A"/>
                </a:solidFill>
                <a:latin typeface="Inconsolata"/>
              </a:rPr>
              <a:t>2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flag == </a:t>
            </a:r>
            <a:r>
              <a:rPr sz="900" i="0">
                <a:solidFill>
                  <a:srgbClr val="F9C97A"/>
                </a:solidFill>
                <a:latin typeface="Inconsolata"/>
              </a:rPr>
              <a:t>3</a:t>
            </a:r>
            <a:r>
              <a:rPr sz="900" i="0">
                <a:solidFill>
                  <a:srgbClr val="E6EDF3"/>
                </a:solidFill>
                <a:latin typeface="Inconsolata"/>
              </a:rPr>
              <a:t>:      </a:t>
            </a:r>
            <a:r>
              <a:rPr sz="900" i="1">
                <a:solidFill>
                  <a:srgbClr val="8B98A8"/>
                </a:solidFill>
                <a:latin typeface="Inconsolata"/>
              </a:rPr>
              <a:t># 3 = batal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data[</a:t>
            </a:r>
            <a:r>
              <a:rPr sz="900" i="0">
                <a:solidFill>
                  <a:srgbClr val="A5D6A7"/>
                </a:solidFill>
                <a:latin typeface="Inconsolata"/>
              </a:rPr>
              <a:t>"st"</a:t>
            </a:r>
            <a:r>
              <a:rPr sz="900" i="0">
                <a:solidFill>
                  <a:srgbClr val="E6EDF3"/>
                </a:solidFill>
                <a:latin typeface="Inconsolata"/>
              </a:rPr>
              <a:t>] != </a:t>
            </a:r>
            <a:r>
              <a:rPr sz="900" i="0">
                <a:solidFill>
                  <a:srgbClr val="F9C97A"/>
                </a:solidFill>
                <a:latin typeface="Inconsolata"/>
              </a:rPr>
              <a:t>1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  <a:r>
              <a:rPr sz="900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900" i="0">
                <a:solidFill>
                  <a:srgbClr val="E6EDF3"/>
                </a:solidFill>
                <a:latin typeface="Inconsolata"/>
              </a:rPr>
              <a:t>(</a:t>
            </a:r>
            <a:r>
              <a:rPr sz="900" i="0">
                <a:solidFill>
                  <a:srgbClr val="A5D6A7"/>
                </a:solidFill>
                <a:latin typeface="Inconsolata"/>
              </a:rPr>
              <a:t>"gagal"</a:t>
            </a:r>
            <a:r>
              <a:rPr sz="9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data[</a:t>
            </a:r>
            <a:r>
              <a:rPr sz="900" i="0">
                <a:solidFill>
                  <a:srgbClr val="A5D6A7"/>
                </a:solidFill>
                <a:latin typeface="Inconsolata"/>
              </a:rPr>
              <a:t>"st"</a:t>
            </a:r>
            <a:r>
              <a:rPr sz="900" i="0">
                <a:solidFill>
                  <a:srgbClr val="E6EDF3"/>
                </a:solidFill>
                <a:latin typeface="Inconsolata"/>
              </a:rPr>
              <a:t>] = </a:t>
            </a:r>
            <a:r>
              <a:rPr sz="900" i="0">
                <a:solidFill>
                  <a:srgbClr val="F9C97A"/>
                </a:solidFill>
                <a:latin typeface="Inconsolata"/>
              </a:rPr>
              <a:t>3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900" i="0">
                <a:solidFill>
                  <a:srgbClr val="E6EDF3"/>
                </a:solidFill>
                <a:latin typeface="Inconsolata"/>
              </a:rPr>
              <a:t> data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trx = {</a:t>
            </a:r>
            <a:r>
              <a:rPr sz="900" i="0">
                <a:solidFill>
                  <a:srgbClr val="A5D6A7"/>
                </a:solidFill>
                <a:latin typeface="Inconsolata"/>
              </a:rPr>
              <a:t>"cust"</a:t>
            </a:r>
            <a:r>
              <a:rPr sz="900" i="0">
                <a:solidFill>
                  <a:srgbClr val="E6EDF3"/>
                </a:solidFill>
                <a:latin typeface="Inconsolata"/>
              </a:rPr>
              <a:t>: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"amt"</a:t>
            </a:r>
            <a:r>
              <a:rPr sz="900" i="0">
                <a:solidFill>
                  <a:srgbClr val="E6EDF3"/>
                </a:solidFill>
                <a:latin typeface="Inconsolata"/>
              </a:rPr>
              <a:t>: </a:t>
            </a:r>
            <a:r>
              <a:rPr sz="900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900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trx = process(trx, </a:t>
            </a:r>
            <a:r>
              <a:rPr sz="900" i="0">
                <a:solidFill>
                  <a:srgbClr val="F9C97A"/>
                </a:solidFill>
                <a:latin typeface="Inconsolata"/>
              </a:rPr>
              <a:t>1</a:t>
            </a:r>
            <a:r>
              <a:rPr sz="9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trx = process(trx, </a:t>
            </a:r>
            <a:r>
              <a:rPr sz="900" i="0">
                <a:solidFill>
                  <a:srgbClr val="F9C97A"/>
                </a:solidFill>
                <a:latin typeface="Inconsolata"/>
              </a:rPr>
              <a:t>2</a:t>
            </a:r>
            <a:r>
              <a:rPr sz="9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(trx)  </a:t>
            </a:r>
            <a:r>
              <a:rPr sz="900" i="1">
                <a:solidFill>
                  <a:srgbClr val="8B98A8"/>
                </a:solidFill>
                <a:latin typeface="Inconsolata"/>
              </a:rPr>
              <a:t># {'cust': ..., 'amt': ..., 'st': 2} -&gt; 2 itu apa?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830324"/>
            <a:ext cx="4343400" cy="143255"/>
          </a:xfrm>
          <a:prstGeom prst="roundRect">
            <a:avLst>
              <a:gd name="adj" fmla="val 3191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4928616" y="178308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1982724"/>
            <a:ext cx="4343400" cy="295656"/>
          </a:xfrm>
          <a:prstGeom prst="roundRect">
            <a:avLst>
              <a:gd name="adj" fmla="val 15463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4928616" y="201168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2592324"/>
            <a:ext cx="4343400" cy="143255"/>
          </a:xfrm>
          <a:prstGeom prst="roundRect">
            <a:avLst>
              <a:gd name="adj" fmla="val 3191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4928616" y="254508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704088" y="4421124"/>
            <a:ext cx="4343400" cy="295656"/>
          </a:xfrm>
          <a:prstGeom prst="roundRect">
            <a:avLst>
              <a:gd name="adj" fmla="val 15463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Box 19"/>
          <p:cNvSpPr/>
          <p:nvPr/>
        </p:nvSpPr>
        <p:spPr>
          <a:xfrm>
            <a:off x="4928616" y="445008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7" name="CodeTab 21"/>
          <p:cNvSpPr/>
          <p:nvPr/>
        </p:nvSpPr>
        <p:spPr>
          <a:xfrm>
            <a:off x="5285231" y="1481328"/>
            <a:ext cx="320040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Dot 22"/>
          <p:cNvSpPr/>
          <p:nvPr/>
        </p:nvSpPr>
        <p:spPr>
          <a:xfrm>
            <a:off x="5394959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Dot 23"/>
          <p:cNvSpPr/>
          <p:nvPr/>
        </p:nvSpPr>
        <p:spPr>
          <a:xfrm>
            <a:off x="553212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Dot 24"/>
          <p:cNvSpPr/>
          <p:nvPr/>
        </p:nvSpPr>
        <p:spPr>
          <a:xfrm>
            <a:off x="5669279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25"/>
          <p:cNvSpPr txBox="1"/>
          <p:nvPr/>
        </p:nvSpPr>
        <p:spPr>
          <a:xfrm>
            <a:off x="5833871" y="1490472"/>
            <a:ext cx="256032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42" name="CodeBg 27"/>
          <p:cNvSpPr/>
          <p:nvPr/>
        </p:nvSpPr>
        <p:spPr>
          <a:xfrm>
            <a:off x="5285231" y="1719072"/>
            <a:ext cx="3200400" cy="420623"/>
          </a:xfrm>
          <a:prstGeom prst="roundRect">
            <a:avLst>
              <a:gd name="adj" fmla="val 4347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3" name="Code 28"/>
          <p:cNvSpPr txBox="1"/>
          <p:nvPr/>
        </p:nvSpPr>
        <p:spPr>
          <a:xfrm>
            <a:off x="5285231" y="1719072"/>
            <a:ext cx="3200400" cy="420623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82B1FF"/>
                </a:solidFill>
                <a:latin typeface="Inconsolata"/>
              </a:rPr>
              <a:t>$ cd sesi-03-domain-driven-design/01-ubiquitous-language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44" name="Image 29" descr="s03-01-ubiquitous-language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1" y="2212848"/>
            <a:ext cx="3200400" cy="674127"/>
          </a:xfrm>
          <a:prstGeom prst="rect">
            <a:avLst/>
          </a:prstGeom>
        </p:spPr>
      </p:pic>
      <p:sp>
        <p:nvSpPr>
          <p:cNvPr id="45" name="Box 30"/>
          <p:cNvSpPr/>
          <p:nvPr/>
        </p:nvSpPr>
        <p:spPr>
          <a:xfrm>
            <a:off x="5285231" y="2978414"/>
            <a:ext cx="3200400" cy="1721601"/>
          </a:xfrm>
          <a:prstGeom prst="roundRect">
            <a:avLst>
              <a:gd name="adj" fmla="val 6373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6" name="Text 31"/>
          <p:cNvSpPr txBox="1"/>
          <p:nvPr/>
        </p:nvSpPr>
        <p:spPr>
          <a:xfrm>
            <a:off x="5422392" y="3069854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47" name="Text 32"/>
          <p:cNvSpPr txBox="1"/>
          <p:nvPr/>
        </p:nvSpPr>
        <p:spPr>
          <a:xfrm>
            <a:off x="5422392" y="3389894"/>
            <a:ext cx="2926080" cy="121868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Nama function tidak menjelaskan proses bisnisnya (baris 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Status berupa angka, artinya cuma ada di komentar (baris 10-11)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Pesan error "gagal" tidak jelas (baris 14)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Hasil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'st': 2</a:t>
            </a:r>
            <a:r>
              <a:rPr sz="850" b="0" i="0">
                <a:solidFill>
                  <a:srgbClr val="434343"/>
                </a:solidFill>
                <a:latin typeface="Inter"/>
              </a:rPr>
              <a:t> harus diterjemahkan dulu (baris 26-27)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Ubiquitous Language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Nama di kode sama dengan istilah bisnis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01-ubiquitous-language/after.py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 7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58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858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8" i="0">
                <a:solidFill>
                  <a:srgbClr val="E6EDF3"/>
                </a:solidFill>
                <a:latin typeface="Inconsolata"/>
              </a:rPr>
              <a:t> dataclass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58" i="0">
                <a:solidFill>
                  <a:srgbClr val="E6EDF3"/>
                </a:solidFill>
                <a:latin typeface="Inconsolata"/>
              </a:rPr>
              <a:t> enum </a:t>
            </a:r>
            <a:r>
              <a:rPr sz="858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  <a:r>
              <a:rPr sz="858" i="0">
                <a:solidFill>
                  <a:srgbClr val="7FDBCA"/>
                </a:solidFill>
                <a:latin typeface="Inconsolata"/>
              </a:rPr>
              <a:t>Enum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8" i="0">
                <a:solidFill>
                  <a:srgbClr val="E6EDF3"/>
                </a:solidFill>
                <a:latin typeface="Inconsolata"/>
              </a:rPr>
              <a:t>(</a:t>
            </a:r>
            <a:r>
              <a:rPr sz="858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8" i="0">
                <a:solidFill>
                  <a:srgbClr val="E6EDF3"/>
                </a:solidFill>
                <a:latin typeface="Inconsolata"/>
              </a:rPr>
              <a:t>, </a:t>
            </a:r>
            <a:r>
              <a:rPr sz="858" i="0">
                <a:solidFill>
                  <a:srgbClr val="7FDBCA"/>
                </a:solidFill>
                <a:latin typeface="Inconsolata"/>
              </a:rPr>
              <a:t>Enum</a:t>
            </a:r>
            <a:r>
              <a:rPr sz="858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8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858" i="0">
                <a:solidFill>
                  <a:srgbClr val="E6EDF3"/>
                </a:solidFill>
                <a:latin typeface="Inconsolata"/>
              </a:rPr>
              <a:t> = </a:t>
            </a:r>
            <a:r>
              <a:rPr sz="858" i="0">
                <a:solidFill>
                  <a:srgbClr val="A5D6A7"/>
                </a:solidFill>
                <a:latin typeface="Inconsolata"/>
              </a:rPr>
              <a:t>"pending"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8" i="0">
                <a:solidFill>
                  <a:srgbClr val="7FDBCA"/>
                </a:solidFill>
                <a:latin typeface="Inconsolata"/>
              </a:rPr>
              <a:t>PAID</a:t>
            </a:r>
            <a:r>
              <a:rPr sz="858" i="0">
                <a:solidFill>
                  <a:srgbClr val="E6EDF3"/>
                </a:solidFill>
                <a:latin typeface="Inconsolata"/>
              </a:rPr>
              <a:t> = </a:t>
            </a:r>
            <a:r>
              <a:rPr sz="858" i="0">
                <a:solidFill>
                  <a:srgbClr val="A5D6A7"/>
                </a:solidFill>
                <a:latin typeface="Inconsolata"/>
              </a:rPr>
              <a:t>"paid"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8" i="0">
                <a:solidFill>
                  <a:srgbClr val="7FDBCA"/>
                </a:solidFill>
                <a:latin typeface="Inconsolata"/>
              </a:rPr>
              <a:t>CANCELLED</a:t>
            </a:r>
            <a:r>
              <a:rPr sz="858" i="0">
                <a:solidFill>
                  <a:srgbClr val="E6EDF3"/>
                </a:solidFill>
                <a:latin typeface="Inconsolata"/>
              </a:rPr>
              <a:t> = </a:t>
            </a:r>
            <a:r>
              <a:rPr sz="858" i="0">
                <a:solidFill>
                  <a:srgbClr val="A5D6A7"/>
                </a:solidFill>
                <a:latin typeface="Inconsolata"/>
              </a:rPr>
              <a:t>"cancelled"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58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58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858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total: </a:t>
            </a:r>
            <a:r>
              <a:rPr sz="858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status: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8" i="0">
                <a:solidFill>
                  <a:srgbClr val="E6EDF3"/>
                </a:solidFill>
                <a:latin typeface="Inconsolata"/>
              </a:rPr>
              <a:t> =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8" i="0">
                <a:solidFill>
                  <a:srgbClr val="E6EDF3"/>
                </a:solidFill>
                <a:latin typeface="Inconsolata"/>
              </a:rPr>
              <a:t>.</a:t>
            </a:r>
            <a:r>
              <a:rPr sz="858" i="0">
                <a:solidFill>
                  <a:srgbClr val="7FDBCA"/>
                </a:solidFill>
                <a:latin typeface="Inconsolata"/>
              </a:rPr>
              <a:t>PENDING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858" i="0">
                <a:solidFill>
                  <a:srgbClr val="E6EDF3"/>
                </a:solidFill>
                <a:latin typeface="Inconsolata"/>
              </a:rPr>
              <a:t>(</a:t>
            </a:r>
            <a:r>
              <a:rPr sz="858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858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pass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01-ubiquitous-language/after.py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  <a:r>
              <a:rPr sz="858" i="0">
                <a:solidFill>
                  <a:srgbClr val="82B1FF"/>
                </a:solidFill>
                <a:latin typeface="Inconsolata"/>
              </a:rPr>
              <a:t>pay_order</a:t>
            </a:r>
            <a:r>
              <a:rPr sz="858" i="0">
                <a:solidFill>
                  <a:srgbClr val="E6EDF3"/>
                </a:solidFill>
                <a:latin typeface="Inconsolata"/>
              </a:rPr>
              <a:t>(order: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58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8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8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if</a:t>
            </a:r>
            <a:r>
              <a:rPr sz="858" i="0">
                <a:solidFill>
                  <a:srgbClr val="E6EDF3"/>
                </a:solidFill>
                <a:latin typeface="Inconsolata"/>
              </a:rPr>
              <a:t> order.status !=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8" i="0">
                <a:solidFill>
                  <a:srgbClr val="E6EDF3"/>
                </a:solidFill>
                <a:latin typeface="Inconsolata"/>
              </a:rPr>
              <a:t>.</a:t>
            </a:r>
            <a:r>
              <a:rPr sz="858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858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858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8" i="0">
                <a:solidFill>
                  <a:srgbClr val="A5D6A7"/>
                </a:solidFill>
                <a:latin typeface="Inconsolata"/>
              </a:rPr>
              <a:t>"Hanya order pending yang bisa dibayar"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order.status =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8" i="0">
                <a:solidFill>
                  <a:srgbClr val="E6EDF3"/>
                </a:solidFill>
                <a:latin typeface="Inconsolata"/>
              </a:rPr>
              <a:t>.</a:t>
            </a:r>
            <a:r>
              <a:rPr sz="858" i="0">
                <a:solidFill>
                  <a:srgbClr val="7FDBCA"/>
                </a:solidFill>
                <a:latin typeface="Inconsolata"/>
              </a:rPr>
              <a:t>PAID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36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  <a:r>
              <a:rPr sz="858" i="0">
                <a:solidFill>
                  <a:srgbClr val="82B1FF"/>
                </a:solidFill>
                <a:latin typeface="Inconsolata"/>
              </a:rPr>
              <a:t>cancel_order</a:t>
            </a:r>
            <a:r>
              <a:rPr sz="858" i="0">
                <a:solidFill>
                  <a:srgbClr val="E6EDF3"/>
                </a:solidFill>
                <a:latin typeface="Inconsolata"/>
              </a:rPr>
              <a:t>(order: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58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8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8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37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if</a:t>
            </a:r>
            <a:r>
              <a:rPr sz="858" i="0">
                <a:solidFill>
                  <a:srgbClr val="E6EDF3"/>
                </a:solidFill>
                <a:latin typeface="Inconsolata"/>
              </a:rPr>
              <a:t> order.status !=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8" i="0">
                <a:solidFill>
                  <a:srgbClr val="E6EDF3"/>
                </a:solidFill>
                <a:latin typeface="Inconsolata"/>
              </a:rPr>
              <a:t>.</a:t>
            </a:r>
            <a:r>
              <a:rPr sz="858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858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38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858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39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8" i="0">
                <a:solidFill>
                  <a:srgbClr val="A5D6A7"/>
                </a:solidFill>
                <a:latin typeface="Inconsolata"/>
              </a:rPr>
              <a:t>"Hanya order pending yang bisa dibatalkan"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40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41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order.status =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858" i="0">
                <a:solidFill>
                  <a:srgbClr val="E6EDF3"/>
                </a:solidFill>
                <a:latin typeface="Inconsolata"/>
              </a:rPr>
              <a:t>.</a:t>
            </a:r>
            <a:r>
              <a:rPr sz="858" i="0">
                <a:solidFill>
                  <a:srgbClr val="7FDBCA"/>
                </a:solidFill>
                <a:latin typeface="Inconsolata"/>
              </a:rPr>
              <a:t>CANCELLED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42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43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44  </a:t>
            </a:r>
            <a:r>
              <a:rPr sz="858" i="0">
                <a:solidFill>
                  <a:srgbClr val="FF8E6E"/>
                </a:solidFill>
                <a:latin typeface="Inconsolata"/>
              </a:rPr>
              <a:t>if</a:t>
            </a:r>
            <a:r>
              <a:rPr sz="858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58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58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45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858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58" i="0">
                <a:solidFill>
                  <a:srgbClr val="E6EDF3"/>
                </a:solidFill>
                <a:latin typeface="Inconsolata"/>
              </a:rPr>
              <a:t>(customer=</a:t>
            </a:r>
            <a:r>
              <a:rPr sz="858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58" i="0">
                <a:solidFill>
                  <a:srgbClr val="E6EDF3"/>
                </a:solidFill>
                <a:latin typeface="Inconsolata"/>
              </a:rPr>
              <a:t>, total=</a:t>
            </a:r>
            <a:r>
              <a:rPr sz="858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858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46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pay_order(order)</a:t>
            </a:r>
          </a:p>
          <a:p>
            <a:pPr>
              <a:lnSpc>
                <a:spcPct val="106782"/>
              </a:lnSpc>
              <a:spcAft>
                <a:spcPts val="0"/>
              </a:spcAft>
            </a:pPr>
            <a:r>
              <a:rPr sz="858" i="0">
                <a:solidFill>
                  <a:srgbClr val="5C6773"/>
                </a:solidFill>
                <a:latin typeface="Inconsolata"/>
              </a:rPr>
              <a:t>47  </a:t>
            </a:r>
            <a:r>
              <a:rPr sz="858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8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8" i="0">
                <a:solidFill>
                  <a:srgbClr val="E6EDF3"/>
                </a:solidFill>
                <a:latin typeface="Inconsolata"/>
              </a:rPr>
              <a:t>(order.status.value)  </a:t>
            </a:r>
            <a:r>
              <a:rPr sz="858" i="1">
                <a:solidFill>
                  <a:srgbClr val="8B98A8"/>
                </a:solidFill>
                <a:latin typeface="Inconsolata"/>
              </a:rPr>
              <a:t># paid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2387473"/>
            <a:ext cx="3694176" cy="550418"/>
          </a:xfrm>
          <a:prstGeom prst="roundRect">
            <a:avLst>
              <a:gd name="adj" fmla="val 830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254381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1828673"/>
            <a:ext cx="3694176" cy="131318"/>
          </a:xfrm>
          <a:prstGeom prst="roundRect">
            <a:avLst>
              <a:gd name="adj" fmla="val 3481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8284463" y="17754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Box 25"/>
          <p:cNvSpPr/>
          <p:nvPr/>
        </p:nvSpPr>
        <p:spPr>
          <a:xfrm>
            <a:off x="4709159" y="2946273"/>
            <a:ext cx="3694176" cy="131318"/>
          </a:xfrm>
          <a:prstGeom prst="roundRect">
            <a:avLst>
              <a:gd name="adj" fmla="val 3481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Box 26"/>
          <p:cNvSpPr/>
          <p:nvPr/>
        </p:nvSpPr>
        <p:spPr>
          <a:xfrm>
            <a:off x="4709159" y="2108073"/>
            <a:ext cx="3694176" cy="410718"/>
          </a:xfrm>
          <a:prstGeom prst="roundRect">
            <a:avLst>
              <a:gd name="adj" fmla="val 11131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2" name="Box 27"/>
          <p:cNvSpPr/>
          <p:nvPr/>
        </p:nvSpPr>
        <p:spPr>
          <a:xfrm>
            <a:off x="8284463" y="21945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Ubiquitous Language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01-ubiquitous-language/after.py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sesi-03-domain-driven-design/01-ubiquitous-language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3-01-ubiquitous-language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90525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Status punya nama: pending, paid, cancelled (baris 11-14)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Nama function sama dengan istilah bisnis: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pay_order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cancel_order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28, 36)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Pesan error menjelaskan aturan bisnisnya (baris 30-32)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Outputnya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paid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bukan angka 2.</a:t>
            </a:r>
          </a:p>
        </p:txBody>
      </p:sp>
    </p:spTree>
    <p:extLst>
      <p:ext uri="{BB962C8B-B14F-4D97-AF65-F5344CB8AC3E}">
        <p14:creationId xmlns:p14="http://schemas.microsoft.com/office/powerpoint/2010/main" val="29036190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Bounded Context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Bounded Context?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5204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Bounded Context adalah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Konsep DDD yang membagi aplikasi menjadi beberapa bagian, dan setiap bagian punya model serta istilahnya sendiri. Sehingga user yang sama bisa menjadi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Customer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 bagian penjualan dan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Recipient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(penerima) di bagian pengiriman, dengan data yang berbeda.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Untuk apa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Menjaga model setiap bagian tetap kecil dan fokus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Mencegah perubahan di satu bagian merusak bagian lain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Menjadi dasar pembagian module, bahkan service</a:t>
            </a:r>
          </a:p>
        </p:txBody>
      </p:sp>
      <p:sp>
        <p:nvSpPr>
          <p:cNvPr id="23" name="CodeTab 5"/>
          <p:cNvSpPr/>
          <p:nvPr/>
        </p:nvSpPr>
        <p:spPr>
          <a:xfrm>
            <a:off x="4297680" y="1481328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6817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846320" y="1490472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bounded context: 02-bounded-context/before.py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297680" y="1719072"/>
            <a:ext cx="4187951" cy="960120"/>
          </a:xfrm>
          <a:prstGeom prst="roundRect">
            <a:avLst>
              <a:gd name="adj" fmla="val 1904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297680" y="1719072"/>
            <a:ext cx="4187951" cy="960120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6061"/>
              </a:lnSpc>
              <a:spcAft>
                <a:spcPts val="0"/>
              </a:spcAft>
            </a:pPr>
            <a:r>
              <a:rPr sz="550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6061"/>
              </a:lnSpc>
              <a:spcAft>
                <a:spcPts val="0"/>
              </a:spcAft>
            </a:pPr>
            <a:r>
              <a:rPr sz="5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550" i="0">
                <a:solidFill>
                  <a:srgbClr val="E6EDF3"/>
                </a:solidFill>
                <a:latin typeface="Inconsolata"/>
              </a:rPr>
              <a:t> </a:t>
            </a:r>
            <a:r>
              <a:rPr sz="550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5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061"/>
              </a:lnSpc>
              <a:spcAft>
                <a:spcPts val="0"/>
              </a:spcAft>
            </a:pPr>
            <a:r>
              <a:rPr sz="550" i="0">
                <a:solidFill>
                  <a:srgbClr val="E6EDF3"/>
                </a:solidFill>
                <a:latin typeface="Inconsolata"/>
              </a:rPr>
              <a:t>    email: </a:t>
            </a:r>
            <a:r>
              <a:rPr sz="55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6061"/>
              </a:lnSpc>
              <a:spcAft>
                <a:spcPts val="0"/>
              </a:spcAft>
            </a:pPr>
            <a:r>
              <a:rPr sz="550" i="0">
                <a:solidFill>
                  <a:srgbClr val="E6EDF3"/>
                </a:solidFill>
                <a:latin typeface="Inconsolata"/>
              </a:rPr>
              <a:t>    name: </a:t>
            </a:r>
            <a:r>
              <a:rPr sz="55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6061"/>
              </a:lnSpc>
              <a:spcAft>
                <a:spcPts val="0"/>
              </a:spcAft>
            </a:pPr>
            <a:r>
              <a:rPr sz="550" i="0">
                <a:solidFill>
                  <a:srgbClr val="E6EDF3"/>
                </a:solidFill>
                <a:latin typeface="Inconsolata"/>
              </a:rPr>
              <a:t>    customer_type: </a:t>
            </a:r>
            <a:r>
              <a:rPr sz="5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550" i="0">
                <a:solidFill>
                  <a:srgbClr val="E6EDF3"/>
                </a:solidFill>
                <a:latin typeface="Inconsolata"/>
              </a:rPr>
              <a:t>      </a:t>
            </a:r>
            <a:r>
              <a:rPr sz="550" i="1">
                <a:solidFill>
                  <a:srgbClr val="8B98A8"/>
                </a:solidFill>
                <a:latin typeface="Inconsolata"/>
              </a:rPr>
              <a:t># dipakai Sales</a:t>
            </a:r>
          </a:p>
          <a:p>
            <a:pPr>
              <a:lnSpc>
                <a:spcPct val="106061"/>
              </a:lnSpc>
              <a:spcAft>
                <a:spcPts val="0"/>
              </a:spcAft>
            </a:pPr>
            <a:r>
              <a:rPr sz="550" i="0">
                <a:solidFill>
                  <a:srgbClr val="E6EDF3"/>
                </a:solidFill>
                <a:latin typeface="Inconsolata"/>
              </a:rPr>
              <a:t>    loyalty_points: </a:t>
            </a:r>
            <a:r>
              <a:rPr sz="5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550" i="0">
                <a:solidFill>
                  <a:srgbClr val="E6EDF3"/>
                </a:solidFill>
                <a:latin typeface="Inconsolata"/>
              </a:rPr>
              <a:t>     </a:t>
            </a:r>
            <a:r>
              <a:rPr sz="550" i="1">
                <a:solidFill>
                  <a:srgbClr val="8B98A8"/>
                </a:solidFill>
                <a:latin typeface="Inconsolata"/>
              </a:rPr>
              <a:t># dipakai Sales</a:t>
            </a:r>
          </a:p>
          <a:p>
            <a:pPr>
              <a:lnSpc>
                <a:spcPct val="106061"/>
              </a:lnSpc>
              <a:spcAft>
                <a:spcPts val="0"/>
              </a:spcAft>
            </a:pPr>
            <a:r>
              <a:rPr sz="550" i="0">
                <a:solidFill>
                  <a:srgbClr val="E6EDF3"/>
                </a:solidFill>
                <a:latin typeface="Inconsolata"/>
              </a:rPr>
              <a:t>    address: </a:t>
            </a:r>
            <a:r>
              <a:rPr sz="5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5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550" i="1">
                <a:solidFill>
                  <a:srgbClr val="8B98A8"/>
                </a:solidFill>
                <a:latin typeface="Inconsolata"/>
              </a:rPr>
              <a:t># dipakai Shipping</a:t>
            </a:r>
          </a:p>
          <a:p>
            <a:pPr>
              <a:lnSpc>
                <a:spcPct val="106061"/>
              </a:lnSpc>
              <a:spcAft>
                <a:spcPts val="0"/>
              </a:spcAft>
            </a:pPr>
            <a:r>
              <a:rPr sz="550" i="0">
                <a:solidFill>
                  <a:srgbClr val="E6EDF3"/>
                </a:solidFill>
                <a:latin typeface="Inconsolata"/>
              </a:rPr>
              <a:t>    phone: </a:t>
            </a:r>
            <a:r>
              <a:rPr sz="5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550" i="0">
                <a:solidFill>
                  <a:srgbClr val="E6EDF3"/>
                </a:solidFill>
                <a:latin typeface="Inconsolata"/>
              </a:rPr>
              <a:t>              </a:t>
            </a:r>
            <a:r>
              <a:rPr sz="550" i="1">
                <a:solidFill>
                  <a:srgbClr val="8B98A8"/>
                </a:solidFill>
                <a:latin typeface="Inconsolata"/>
              </a:rPr>
              <a:t># dipakai Shipping</a:t>
            </a:r>
          </a:p>
          <a:p>
            <a:pPr>
              <a:lnSpc>
                <a:spcPct val="106061"/>
              </a:lnSpc>
              <a:spcAft>
                <a:spcPts val="0"/>
              </a:spcAft>
            </a:pPr>
            <a:r>
              <a:rPr sz="550" i="0">
                <a:solidFill>
                  <a:srgbClr val="E6EDF3"/>
                </a:solidFill>
                <a:latin typeface="Inconsolata"/>
              </a:rPr>
              <a:t>    courier: </a:t>
            </a:r>
            <a:r>
              <a:rPr sz="5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5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550" i="1">
                <a:solidFill>
                  <a:srgbClr val="8B98A8"/>
                </a:solidFill>
                <a:latin typeface="Inconsolata"/>
              </a:rPr>
              <a:t># dipakai Shipping</a:t>
            </a:r>
          </a:p>
        </p:txBody>
      </p:sp>
      <p:sp>
        <p:nvSpPr>
          <p:cNvPr id="30" name="Box 13"/>
          <p:cNvSpPr/>
          <p:nvPr/>
        </p:nvSpPr>
        <p:spPr>
          <a:xfrm>
            <a:off x="4379976" y="2177669"/>
            <a:ext cx="4023359" cy="439166"/>
          </a:xfrm>
          <a:prstGeom prst="roundRect">
            <a:avLst>
              <a:gd name="adj" fmla="val 10410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Tab 15"/>
          <p:cNvSpPr/>
          <p:nvPr/>
        </p:nvSpPr>
        <p:spPr>
          <a:xfrm>
            <a:off x="4297680" y="2770632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4407408" y="284835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544568" y="284835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681728" y="284835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19"/>
          <p:cNvSpPr txBox="1"/>
          <p:nvPr/>
        </p:nvSpPr>
        <p:spPr>
          <a:xfrm>
            <a:off x="4846320" y="2779776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bounded context: 02-bounded-context/after.py</a:t>
            </a:r>
          </a:p>
        </p:txBody>
      </p:sp>
      <p:sp>
        <p:nvSpPr>
          <p:cNvPr id="36" name="CodeBg 21"/>
          <p:cNvSpPr/>
          <p:nvPr/>
        </p:nvSpPr>
        <p:spPr>
          <a:xfrm>
            <a:off x="4297680" y="3008376"/>
            <a:ext cx="4187951" cy="1188719"/>
          </a:xfrm>
          <a:prstGeom prst="roundRect">
            <a:avLst>
              <a:gd name="adj" fmla="val 1538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Code 22"/>
          <p:cNvSpPr txBox="1"/>
          <p:nvPr/>
        </p:nvSpPr>
        <p:spPr>
          <a:xfrm>
            <a:off x="4297680" y="3008376"/>
            <a:ext cx="4187951" cy="1188719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575" i="0">
                <a:solidFill>
                  <a:srgbClr val="E6EDF3"/>
                </a:solidFill>
                <a:latin typeface="Inconsolata"/>
              </a:rPr>
              <a:t> </a:t>
            </a:r>
            <a:r>
              <a:rPr sz="575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5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E6EDF3"/>
                </a:solidFill>
                <a:latin typeface="Inconsolata"/>
              </a:rPr>
              <a:t>    email: </a:t>
            </a:r>
            <a:r>
              <a:rPr sz="575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E6EDF3"/>
                </a:solidFill>
                <a:latin typeface="Inconsolata"/>
              </a:rPr>
              <a:t>    customer_type: </a:t>
            </a:r>
            <a:r>
              <a:rPr sz="575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E6EDF3"/>
                </a:solidFill>
                <a:latin typeface="Inconsolata"/>
              </a:rPr>
              <a:t>    loyalty_points: </a:t>
            </a:r>
            <a:r>
              <a:rPr sz="575" i="0">
                <a:solidFill>
                  <a:srgbClr val="C3A6FF"/>
                </a:solidFill>
                <a:latin typeface="Inconsolata"/>
              </a:rPr>
              <a:t>int</a:t>
            </a:r>
            <a:r>
              <a:rPr sz="575" i="0">
                <a:solidFill>
                  <a:srgbClr val="E6EDF3"/>
                </a:solidFill>
                <a:latin typeface="Inconsolata"/>
              </a:rPr>
              <a:t> = </a:t>
            </a:r>
            <a:r>
              <a:rPr sz="575" i="0">
                <a:solidFill>
                  <a:srgbClr val="F9C97A"/>
                </a:solidFill>
                <a:latin typeface="Inconsolata"/>
              </a:rPr>
              <a:t>0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E6EDF3"/>
                </a:solidFill>
                <a:latin typeface="Inconsolata"/>
              </a:rPr>
              <a:t>...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575" i="0">
                <a:solidFill>
                  <a:srgbClr val="E6EDF3"/>
                </a:solidFill>
                <a:latin typeface="Inconsolata"/>
              </a:rPr>
              <a:t> </a:t>
            </a:r>
            <a:r>
              <a:rPr sz="575" i="0">
                <a:solidFill>
                  <a:srgbClr val="7FDBCA"/>
                </a:solidFill>
                <a:latin typeface="Inconsolata"/>
              </a:rPr>
              <a:t>Recipient</a:t>
            </a:r>
            <a:r>
              <a:rPr sz="5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E6EDF3"/>
                </a:solidFill>
                <a:latin typeface="Inconsolata"/>
              </a:rPr>
              <a:t>    name: </a:t>
            </a:r>
            <a:r>
              <a:rPr sz="575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E6EDF3"/>
                </a:solidFill>
                <a:latin typeface="Inconsolata"/>
              </a:rPr>
              <a:t>    address: </a:t>
            </a:r>
            <a:r>
              <a:rPr sz="575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1449"/>
              </a:lnSpc>
              <a:spcAft>
                <a:spcPts val="0"/>
              </a:spcAft>
            </a:pPr>
            <a:r>
              <a:rPr sz="575" i="0">
                <a:solidFill>
                  <a:srgbClr val="E6EDF3"/>
                </a:solidFill>
                <a:latin typeface="Inconsolata"/>
              </a:rPr>
              <a:t>    phone: </a:t>
            </a:r>
            <a:r>
              <a:rPr sz="575" i="0">
                <a:solidFill>
                  <a:srgbClr val="C3A6FF"/>
                </a:solidFill>
                <a:latin typeface="Inconsolata"/>
              </a:rPr>
              <a:t>str</a:t>
            </a:r>
          </a:p>
        </p:txBody>
      </p:sp>
      <p:sp>
        <p:nvSpPr>
          <p:cNvPr id="38" name="Box 23"/>
          <p:cNvSpPr/>
          <p:nvPr/>
        </p:nvSpPr>
        <p:spPr>
          <a:xfrm>
            <a:off x="4379976" y="3200273"/>
            <a:ext cx="4023359" cy="350266"/>
          </a:xfrm>
          <a:prstGeom prst="roundRect">
            <a:avLst>
              <a:gd name="adj" fmla="val 13052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4379976" y="3733673"/>
            <a:ext cx="4023359" cy="350266"/>
          </a:xfrm>
          <a:prstGeom prst="roundRect">
            <a:avLst>
              <a:gd name="adj" fmla="val 13052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Text 25"/>
          <p:cNvSpPr txBox="1"/>
          <p:nvPr/>
        </p:nvSpPr>
        <p:spPr>
          <a:xfrm>
            <a:off x="4297680" y="4288536"/>
            <a:ext cx="4187951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"A description of a boundary within which a particular model is defined and applicable."  Eric Evans</a:t>
            </a:r>
          </a:p>
        </p:txBody>
      </p:sp>
    </p:spTree>
    <p:extLst>
      <p:ext uri="{BB962C8B-B14F-4D97-AF65-F5344CB8AC3E}">
        <p14:creationId xmlns:p14="http://schemas.microsoft.com/office/powerpoint/2010/main" val="14198166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Bounded Context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Bounded Context?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Bounded Context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Semua bagian aplikasi memakai satu class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Customer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. Bagian penjualan butuh tipe member, bagian pengiriman butuh alamat dan nomor HP, lalu semuanya ditaruh di class yang sama.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aplikasinya makin besar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Class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Customer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terus membesar dan tidak jelas lagi field mana milik bagian mana.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Hal ini membuat perubahan kecil dari tim pengiriman bisa merusak kode penjualan.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Tanda ada context yang berbeda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Kata yang sama punya arti berbeda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Data yang dibutuhkan berbeda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Diurus oleh tim yang berbeda</a:t>
            </a:r>
          </a:p>
        </p:txBody>
      </p:sp>
      <p:sp>
        <p:nvSpPr>
          <p:cNvPr id="23" name="Box 4"/>
          <p:cNvSpPr/>
          <p:nvPr/>
        </p:nvSpPr>
        <p:spPr>
          <a:xfrm>
            <a:off x="5806440" y="1554480"/>
            <a:ext cx="1645920" cy="411480"/>
          </a:xfrm>
          <a:prstGeom prst="roundRect">
            <a:avLst>
              <a:gd name="adj" fmla="val 26666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Inter"/>
              </a:rPr>
              <a:t>Budi</a:t>
            </a:r>
          </a:p>
        </p:txBody>
      </p:sp>
      <p:cxnSp>
        <p:nvCxnSpPr>
          <p:cNvPr id="24" name="Arrow 5"/>
          <p:cNvCxnSpPr/>
          <p:nvPr/>
        </p:nvCxnSpPr>
        <p:spPr>
          <a:xfrm flipH="1">
            <a:off x="5669280" y="1965960"/>
            <a:ext cx="960120" cy="54864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Box 6"/>
          <p:cNvSpPr/>
          <p:nvPr/>
        </p:nvSpPr>
        <p:spPr>
          <a:xfrm>
            <a:off x="4754880" y="2514600"/>
            <a:ext cx="1828800" cy="1463040"/>
          </a:xfrm>
          <a:prstGeom prst="roundRect">
            <a:avLst>
              <a:gd name="adj" fmla="val 7500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6" name="Text 7"/>
          <p:cNvSpPr txBox="1"/>
          <p:nvPr/>
        </p:nvSpPr>
        <p:spPr>
          <a:xfrm>
            <a:off x="4892040" y="2606040"/>
            <a:ext cx="15544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1C4587"/>
                </a:solidFill>
                <a:latin typeface="Inter"/>
              </a:rPr>
              <a:t>Sales context</a:t>
            </a:r>
          </a:p>
        </p:txBody>
      </p:sp>
      <p:sp>
        <p:nvSpPr>
          <p:cNvPr id="27" name="Text 8"/>
          <p:cNvSpPr txBox="1"/>
          <p:nvPr/>
        </p:nvSpPr>
        <p:spPr>
          <a:xfrm>
            <a:off x="4892040" y="2926080"/>
            <a:ext cx="1554480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Customer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email, tipe member</a:t>
            </a:r>
          </a:p>
        </p:txBody>
      </p:sp>
      <p:cxnSp>
        <p:nvCxnSpPr>
          <p:cNvPr id="28" name="Arrow 9"/>
          <p:cNvCxnSpPr/>
          <p:nvPr/>
        </p:nvCxnSpPr>
        <p:spPr>
          <a:xfrm>
            <a:off x="6629400" y="1965960"/>
            <a:ext cx="941832" cy="54864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x 10"/>
          <p:cNvSpPr/>
          <p:nvPr/>
        </p:nvSpPr>
        <p:spPr>
          <a:xfrm>
            <a:off x="6656832" y="2514600"/>
            <a:ext cx="1828800" cy="1463040"/>
          </a:xfrm>
          <a:prstGeom prst="roundRect">
            <a:avLst>
              <a:gd name="adj" fmla="val 75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Text 11"/>
          <p:cNvSpPr txBox="1"/>
          <p:nvPr/>
        </p:nvSpPr>
        <p:spPr>
          <a:xfrm>
            <a:off x="6793992" y="2606040"/>
            <a:ext cx="15544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1C4587"/>
                </a:solidFill>
                <a:latin typeface="Inter"/>
              </a:rPr>
              <a:t>Shipping context</a:t>
            </a:r>
          </a:p>
        </p:txBody>
      </p:sp>
      <p:sp>
        <p:nvSpPr>
          <p:cNvPr id="31" name="Text 12"/>
          <p:cNvSpPr txBox="1"/>
          <p:nvPr/>
        </p:nvSpPr>
        <p:spPr>
          <a:xfrm>
            <a:off x="6793992" y="2926080"/>
            <a:ext cx="1554480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Recipient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nama, alamat, no HP</a:t>
            </a:r>
          </a:p>
        </p:txBody>
      </p:sp>
      <p:sp>
        <p:nvSpPr>
          <p:cNvPr id="32" name="Text 13"/>
          <p:cNvSpPr txBox="1"/>
          <p:nvPr/>
        </p:nvSpPr>
        <p:spPr>
          <a:xfrm>
            <a:off x="4754880" y="4114800"/>
            <a:ext cx="3730752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User yang sama, model yang berbeda. Kedua context cukup berbagi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order_id</a:t>
            </a:r>
            <a:r>
              <a:rPr sz="900" b="0" i="0">
                <a:solidFill>
                  <a:srgbClr val="7A7A7A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957905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Bounded Context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Satu class Customer untuk semua bagian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02-bounded-context/before.py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72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872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72" i="0">
                <a:solidFill>
                  <a:srgbClr val="E6EDF3"/>
                </a:solidFill>
                <a:latin typeface="Inconsolata"/>
              </a:rPr>
              <a:t> dataclass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72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email: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name: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customer_type: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</a:t>
            </a:r>
            <a:r>
              <a:rPr sz="872" i="1">
                <a:solidFill>
                  <a:srgbClr val="8B98A8"/>
                </a:solidFill>
                <a:latin typeface="Inconsolata"/>
              </a:rPr>
              <a:t># dipakai Sales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loyalty_points: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int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</a:t>
            </a:r>
            <a:r>
              <a:rPr sz="872" i="1">
                <a:solidFill>
                  <a:srgbClr val="8B98A8"/>
                </a:solidFill>
                <a:latin typeface="Inconsolata"/>
              </a:rPr>
              <a:t># dipakai Sales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address: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72" i="1">
                <a:solidFill>
                  <a:srgbClr val="8B98A8"/>
                </a:solidFill>
                <a:latin typeface="Inconsolata"/>
              </a:rPr>
              <a:t># dipakai Shipping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phone: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      </a:t>
            </a:r>
            <a:r>
              <a:rPr sz="872" i="1">
                <a:solidFill>
                  <a:srgbClr val="8B98A8"/>
                </a:solidFill>
                <a:latin typeface="Inconsolata"/>
              </a:rPr>
              <a:t># dipakai Shipping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courier: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72" i="1">
                <a:solidFill>
                  <a:srgbClr val="8B98A8"/>
                </a:solidFill>
                <a:latin typeface="Inconsolata"/>
              </a:rPr>
              <a:t># dipakai Shipping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def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82B1FF"/>
                </a:solidFill>
                <a:latin typeface="Inconsolata"/>
              </a:rPr>
              <a:t>discount_percent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(customer: </a:t>
            </a:r>
            <a:r>
              <a:rPr sz="872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872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72" i="0">
                <a:solidFill>
                  <a:srgbClr val="C3A6FF"/>
                </a:solidFill>
                <a:latin typeface="Inconsolata"/>
              </a:rPr>
              <a:t>int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rates = {</a:t>
            </a:r>
            <a:r>
              <a:rPr sz="872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872" i="0">
                <a:solidFill>
                  <a:srgbClr val="E6EDF3"/>
                </a:solidFill>
                <a:latin typeface="Inconsolata"/>
              </a:rPr>
              <a:t>: </a:t>
            </a:r>
            <a:r>
              <a:rPr sz="872" i="0">
                <a:solidFill>
                  <a:srgbClr val="F9C97A"/>
                </a:solidFill>
                <a:latin typeface="Inconsolata"/>
              </a:rPr>
              <a:t>0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872" i="0">
                <a:solidFill>
                  <a:srgbClr val="E6EDF3"/>
                </a:solidFill>
                <a:latin typeface="Inconsolata"/>
              </a:rPr>
              <a:t>: </a:t>
            </a:r>
            <a:r>
              <a:rPr sz="872" i="0">
                <a:solidFill>
                  <a:srgbClr val="F9C97A"/>
                </a:solidFill>
                <a:latin typeface="Inconsolata"/>
              </a:rPr>
              <a:t>5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872" i="0">
                <a:solidFill>
                  <a:srgbClr val="E6EDF3"/>
                </a:solidFill>
                <a:latin typeface="Inconsolata"/>
              </a:rPr>
              <a:t>: </a:t>
            </a:r>
            <a:r>
              <a:rPr sz="872" i="0">
                <a:solidFill>
                  <a:srgbClr val="F9C97A"/>
                </a:solidFill>
                <a:latin typeface="Inconsolata"/>
              </a:rPr>
              <a:t>10</a:t>
            </a:r>
            <a:r>
              <a:rPr sz="872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72" i="0">
                <a:solidFill>
                  <a:srgbClr val="E6EDF3"/>
                </a:solidFill>
                <a:latin typeface="Inconsolata"/>
              </a:rPr>
              <a:t> rates[customer.customer_type]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02-bounded-context/before.py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def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82B1FF"/>
                </a:solidFill>
                <a:latin typeface="Inconsolata"/>
              </a:rPr>
              <a:t>shipping_label</a:t>
            </a:r>
            <a:r>
              <a:rPr sz="872" i="0">
                <a:solidFill>
                  <a:srgbClr val="E6EDF3"/>
                </a:solidFill>
                <a:latin typeface="Inconsolata"/>
              </a:rPr>
              <a:t>(customer: </a:t>
            </a:r>
            <a:r>
              <a:rPr sz="872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872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c = customer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A5D6A7"/>
                </a:solidFill>
                <a:latin typeface="Inconsolata"/>
              </a:rPr>
              <a:t>f"{c.name} | {c.address} | {c.phone}"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if</a:t>
            </a:r>
            <a:r>
              <a:rPr sz="872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budi = </a:t>
            </a:r>
            <a:r>
              <a:rPr sz="872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"Budi"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F9C97A"/>
                </a:solidFill>
                <a:latin typeface="Inconsolata"/>
              </a:rPr>
              <a:t>120</a:t>
            </a:r>
            <a:r>
              <a:rPr sz="872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36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"Jl. Merdeka 1, Bandung"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"0812-1111"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"express"</a:t>
            </a:r>
            <a:r>
              <a:rPr sz="872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37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)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38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(discount_percent(budi))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39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(shipping_label(budi))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2806573"/>
            <a:ext cx="3694176" cy="690118"/>
          </a:xfrm>
          <a:prstGeom prst="roundRect">
            <a:avLst>
              <a:gd name="adj" fmla="val 662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30327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704088" y="3784473"/>
            <a:ext cx="3694176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4279392" y="37312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Box 25"/>
          <p:cNvSpPr/>
          <p:nvPr/>
        </p:nvSpPr>
        <p:spPr>
          <a:xfrm>
            <a:off x="4709159" y="1828673"/>
            <a:ext cx="3694176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Box 26"/>
          <p:cNvSpPr/>
          <p:nvPr/>
        </p:nvSpPr>
        <p:spPr>
          <a:xfrm>
            <a:off x="4709159" y="2666873"/>
            <a:ext cx="3694176" cy="550418"/>
          </a:xfrm>
          <a:prstGeom prst="roundRect">
            <a:avLst>
              <a:gd name="adj" fmla="val 830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2" name="Box 27"/>
          <p:cNvSpPr/>
          <p:nvPr/>
        </p:nvSpPr>
        <p:spPr>
          <a:xfrm>
            <a:off x="8284463" y="282321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18646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Bounded Context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02-bounded-context/before.py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sesi-03-domain-driven-design/02-bounded-context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29" name="Image 12" descr="s03-02-bounded-context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08813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Satu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Customer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berisi data untuk dua bagian sekaligus (baris 16-20)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Sales dan Shipping memakai class yang sama (baris 23, 28)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Membuat customer wajib mengisi 7 field, termasuk yang tidak dibutuhkan (baris 34-37)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Tim Shipping mengubah field, tim Sales ikut terdampak</a:t>
            </a:r>
          </a:p>
        </p:txBody>
      </p:sp>
    </p:spTree>
    <p:extLst>
      <p:ext uri="{BB962C8B-B14F-4D97-AF65-F5344CB8AC3E}">
        <p14:creationId xmlns:p14="http://schemas.microsoft.com/office/powerpoint/2010/main" val="2713447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Bounded Context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Setiap context punya model sendiri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02-bounded-context/after.py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 8  </a:t>
            </a:r>
            <a:r>
              <a:rPr sz="792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92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792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92" i="0">
                <a:solidFill>
                  <a:srgbClr val="E6EDF3"/>
                </a:solidFill>
                <a:latin typeface="Inconsolata"/>
              </a:rPr>
              <a:t> dataclass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 9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10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11  </a:t>
            </a:r>
            <a:r>
              <a:rPr sz="792" i="1">
                <a:solidFill>
                  <a:srgbClr val="8B98A8"/>
                </a:solidFill>
                <a:latin typeface="Inconsolata"/>
              </a:rPr>
              <a:t># ===================== Sales context =====================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12  </a:t>
            </a:r>
            <a:r>
              <a:rPr sz="792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13  </a:t>
            </a:r>
            <a:r>
              <a:rPr sz="792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  <a:r>
              <a:rPr sz="792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79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14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email: </a:t>
            </a:r>
            <a:r>
              <a:rPr sz="79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15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customer_type: </a:t>
            </a:r>
            <a:r>
              <a:rPr sz="79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16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loyalty_points: </a:t>
            </a:r>
            <a:r>
              <a:rPr sz="792" i="0">
                <a:solidFill>
                  <a:srgbClr val="C3A6FF"/>
                </a:solidFill>
                <a:latin typeface="Inconsolata"/>
              </a:rPr>
              <a:t>int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 = </a:t>
            </a:r>
            <a:r>
              <a:rPr sz="792" i="0">
                <a:solidFill>
                  <a:srgbClr val="F9C97A"/>
                </a:solidFill>
                <a:latin typeface="Inconsolata"/>
              </a:rPr>
              <a:t>0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17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18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19  </a:t>
            </a:r>
            <a:r>
              <a:rPr sz="792" i="0">
                <a:solidFill>
                  <a:srgbClr val="FF8E6E"/>
                </a:solidFill>
                <a:latin typeface="Inconsolata"/>
              </a:rPr>
              <a:t>def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  <a:r>
              <a:rPr sz="792" i="0">
                <a:solidFill>
                  <a:srgbClr val="82B1FF"/>
                </a:solidFill>
                <a:latin typeface="Inconsolata"/>
              </a:rPr>
              <a:t>discount_percent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(customer: </a:t>
            </a:r>
            <a:r>
              <a:rPr sz="792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792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92" i="0">
                <a:solidFill>
                  <a:srgbClr val="C3A6FF"/>
                </a:solidFill>
                <a:latin typeface="Inconsolata"/>
              </a:rPr>
              <a:t>int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20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rates = {</a:t>
            </a:r>
            <a:r>
              <a:rPr sz="792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792" i="0">
                <a:solidFill>
                  <a:srgbClr val="E6EDF3"/>
                </a:solidFill>
                <a:latin typeface="Inconsolata"/>
              </a:rPr>
              <a:t>: </a:t>
            </a:r>
            <a:r>
              <a:rPr sz="792" i="0">
                <a:solidFill>
                  <a:srgbClr val="F9C97A"/>
                </a:solidFill>
                <a:latin typeface="Inconsolata"/>
              </a:rPr>
              <a:t>0</a:t>
            </a:r>
            <a:r>
              <a:rPr sz="792" i="0">
                <a:solidFill>
                  <a:srgbClr val="E6EDF3"/>
                </a:solidFill>
                <a:latin typeface="Inconsolata"/>
              </a:rPr>
              <a:t>, </a:t>
            </a:r>
            <a:r>
              <a:rPr sz="792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792" i="0">
                <a:solidFill>
                  <a:srgbClr val="E6EDF3"/>
                </a:solidFill>
                <a:latin typeface="Inconsolata"/>
              </a:rPr>
              <a:t>: </a:t>
            </a:r>
            <a:r>
              <a:rPr sz="792" i="0">
                <a:solidFill>
                  <a:srgbClr val="F9C97A"/>
                </a:solidFill>
                <a:latin typeface="Inconsolata"/>
              </a:rPr>
              <a:t>5</a:t>
            </a:r>
            <a:r>
              <a:rPr sz="792" i="0">
                <a:solidFill>
                  <a:srgbClr val="E6EDF3"/>
                </a:solidFill>
                <a:latin typeface="Inconsolata"/>
              </a:rPr>
              <a:t>, </a:t>
            </a:r>
            <a:r>
              <a:rPr sz="792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792" i="0">
                <a:solidFill>
                  <a:srgbClr val="E6EDF3"/>
                </a:solidFill>
                <a:latin typeface="Inconsolata"/>
              </a:rPr>
              <a:t>: </a:t>
            </a:r>
            <a:r>
              <a:rPr sz="792" i="0">
                <a:solidFill>
                  <a:srgbClr val="F9C97A"/>
                </a:solidFill>
                <a:latin typeface="Inconsolata"/>
              </a:rPr>
              <a:t>10</a:t>
            </a:r>
            <a:r>
              <a:rPr sz="792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21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92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92" i="0">
                <a:solidFill>
                  <a:srgbClr val="E6EDF3"/>
                </a:solidFill>
                <a:latin typeface="Inconsolata"/>
              </a:rPr>
              <a:t> rates[customer.customer_type]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22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23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24  </a:t>
            </a:r>
            <a:r>
              <a:rPr sz="792" i="1">
                <a:solidFill>
                  <a:srgbClr val="8B98A8"/>
                </a:solidFill>
                <a:latin typeface="Inconsolata"/>
              </a:rPr>
              <a:t># ===================== Shipping context =====================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25  </a:t>
            </a:r>
            <a:r>
              <a:rPr sz="792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26  </a:t>
            </a:r>
            <a:r>
              <a:rPr sz="792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  <a:r>
              <a:rPr sz="792" i="0">
                <a:solidFill>
                  <a:srgbClr val="7FDBCA"/>
                </a:solidFill>
                <a:latin typeface="Inconsolata"/>
              </a:rPr>
              <a:t>Recipient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27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name: </a:t>
            </a:r>
            <a:r>
              <a:rPr sz="79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28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address: </a:t>
            </a:r>
            <a:r>
              <a:rPr sz="79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29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phone: </a:t>
            </a:r>
            <a:r>
              <a:rPr sz="792" i="0">
                <a:solidFill>
                  <a:srgbClr val="C3A6FF"/>
                </a:solidFill>
                <a:latin typeface="Inconsolata"/>
              </a:rPr>
              <a:t>str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02-bounded-context/after.py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32  </a:t>
            </a:r>
            <a:r>
              <a:rPr sz="792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33  </a:t>
            </a:r>
            <a:r>
              <a:rPr sz="792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  <a:r>
              <a:rPr sz="792" i="0">
                <a:solidFill>
                  <a:srgbClr val="7FDBCA"/>
                </a:solidFill>
                <a:latin typeface="Inconsolata"/>
              </a:rPr>
              <a:t>Shipment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34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order_id: </a:t>
            </a:r>
            <a:r>
              <a:rPr sz="792" i="0">
                <a:solidFill>
                  <a:srgbClr val="C3A6FF"/>
                </a:solidFill>
                <a:latin typeface="Inconsolata"/>
              </a:rPr>
              <a:t>int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</a:t>
            </a:r>
            <a:r>
              <a:rPr sz="792" i="1">
                <a:solidFill>
                  <a:srgbClr val="8B98A8"/>
                </a:solidFill>
                <a:latin typeface="Inconsolata"/>
              </a:rPr>
              <a:t># yang dibagi antar context cukup id-nya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35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recipient: </a:t>
            </a:r>
            <a:r>
              <a:rPr sz="792" i="0">
                <a:solidFill>
                  <a:srgbClr val="7FDBCA"/>
                </a:solidFill>
                <a:latin typeface="Inconsolata"/>
              </a:rPr>
              <a:t>Recipient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36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courier: </a:t>
            </a:r>
            <a:r>
              <a:rPr sz="79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37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38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39  </a:t>
            </a:r>
            <a:r>
              <a:rPr sz="792" i="0">
                <a:solidFill>
                  <a:srgbClr val="FF8E6E"/>
                </a:solidFill>
                <a:latin typeface="Inconsolata"/>
              </a:rPr>
              <a:t>def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  <a:r>
              <a:rPr sz="792" i="0">
                <a:solidFill>
                  <a:srgbClr val="82B1FF"/>
                </a:solidFill>
                <a:latin typeface="Inconsolata"/>
              </a:rPr>
              <a:t>shipping_label</a:t>
            </a:r>
            <a:r>
              <a:rPr sz="792" i="0">
                <a:solidFill>
                  <a:srgbClr val="E6EDF3"/>
                </a:solidFill>
                <a:latin typeface="Inconsolata"/>
              </a:rPr>
              <a:t>(shipment: </a:t>
            </a:r>
            <a:r>
              <a:rPr sz="792" i="0">
                <a:solidFill>
                  <a:srgbClr val="7FDBCA"/>
                </a:solidFill>
                <a:latin typeface="Inconsolata"/>
              </a:rPr>
              <a:t>Shipment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92" i="0">
                <a:solidFill>
                  <a:srgbClr val="C3A6FF"/>
                </a:solidFill>
                <a:latin typeface="Inconsolata"/>
              </a:rPr>
              <a:t>str</a:t>
            </a:r>
            <a:r>
              <a:rPr sz="79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40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r = shipment.recipient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41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792" i="0">
                <a:solidFill>
                  <a:srgbClr val="A5D6A7"/>
                </a:solidFill>
                <a:latin typeface="Inconsolata"/>
              </a:rPr>
              <a:t>f"Order #{shipment.order_id}"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42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92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  <a:r>
              <a:rPr sz="792" i="0">
                <a:solidFill>
                  <a:srgbClr val="A5D6A7"/>
                </a:solidFill>
                <a:latin typeface="Inconsolata"/>
              </a:rPr>
              <a:t>f"{order} | {r.name} | {r.address} | {r.phone}"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43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44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45  </a:t>
            </a:r>
            <a:r>
              <a:rPr sz="792" i="0">
                <a:solidFill>
                  <a:srgbClr val="FF8E6E"/>
                </a:solidFill>
                <a:latin typeface="Inconsolata"/>
              </a:rPr>
              <a:t>if</a:t>
            </a:r>
            <a:r>
              <a:rPr sz="792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792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79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46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92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(discount_percent(</a:t>
            </a:r>
            <a:r>
              <a:rPr sz="792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792" i="0">
                <a:solidFill>
                  <a:srgbClr val="E6EDF3"/>
                </a:solidFill>
                <a:latin typeface="Inconsolata"/>
              </a:rPr>
              <a:t>(</a:t>
            </a:r>
            <a:r>
              <a:rPr sz="792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92" i="0">
                <a:solidFill>
                  <a:srgbClr val="E6EDF3"/>
                </a:solidFill>
                <a:latin typeface="Inconsolata"/>
              </a:rPr>
              <a:t>, </a:t>
            </a:r>
            <a:r>
              <a:rPr sz="792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792" i="0">
                <a:solidFill>
                  <a:srgbClr val="E6EDF3"/>
                </a:solidFill>
                <a:latin typeface="Inconsolata"/>
              </a:rPr>
              <a:t>)))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47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recipient = </a:t>
            </a:r>
            <a:r>
              <a:rPr sz="792" i="0">
                <a:solidFill>
                  <a:srgbClr val="7FDBCA"/>
                </a:solidFill>
                <a:latin typeface="Inconsolata"/>
              </a:rPr>
              <a:t>Recipient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48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92" i="0">
                <a:solidFill>
                  <a:srgbClr val="A5D6A7"/>
                </a:solidFill>
                <a:latin typeface="Inconsolata"/>
              </a:rPr>
              <a:t>"Budi"</a:t>
            </a:r>
            <a:r>
              <a:rPr sz="792" i="0">
                <a:solidFill>
                  <a:srgbClr val="E6EDF3"/>
                </a:solidFill>
                <a:latin typeface="Inconsolata"/>
              </a:rPr>
              <a:t>, </a:t>
            </a:r>
            <a:r>
              <a:rPr sz="792" i="0">
                <a:solidFill>
                  <a:srgbClr val="A5D6A7"/>
                </a:solidFill>
                <a:latin typeface="Inconsolata"/>
              </a:rPr>
              <a:t>"Jl. Merdeka 1, Bandung"</a:t>
            </a:r>
            <a:r>
              <a:rPr sz="792" i="0">
                <a:solidFill>
                  <a:srgbClr val="E6EDF3"/>
                </a:solidFill>
                <a:latin typeface="Inconsolata"/>
              </a:rPr>
              <a:t>, </a:t>
            </a:r>
            <a:r>
              <a:rPr sz="792" i="0">
                <a:solidFill>
                  <a:srgbClr val="A5D6A7"/>
                </a:solidFill>
                <a:latin typeface="Inconsolata"/>
              </a:rPr>
              <a:t>"0812-1111"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49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)</a:t>
            </a:r>
          </a:p>
          <a:p>
            <a:pPr>
              <a:lnSpc>
                <a:spcPct val="105137"/>
              </a:lnSpc>
              <a:spcAft>
                <a:spcPts val="0"/>
              </a:spcAft>
            </a:pPr>
            <a:r>
              <a:rPr sz="792" i="0">
                <a:solidFill>
                  <a:srgbClr val="5C6773"/>
                </a:solidFill>
                <a:latin typeface="Inconsolata"/>
              </a:rPr>
              <a:t>50  </a:t>
            </a:r>
            <a:r>
              <a:rPr sz="79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92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(shipping_label(</a:t>
            </a:r>
            <a:r>
              <a:rPr sz="792" i="0">
                <a:solidFill>
                  <a:srgbClr val="7FDBCA"/>
                </a:solidFill>
                <a:latin typeface="Inconsolata"/>
              </a:rPr>
              <a:t>Shipment</a:t>
            </a:r>
            <a:r>
              <a:rPr sz="792" i="0">
                <a:solidFill>
                  <a:srgbClr val="E6EDF3"/>
                </a:solidFill>
                <a:latin typeface="Inconsolata"/>
              </a:rPr>
              <a:t>(</a:t>
            </a:r>
            <a:r>
              <a:rPr sz="792" i="0">
                <a:solidFill>
                  <a:srgbClr val="F9C97A"/>
                </a:solidFill>
                <a:latin typeface="Inconsolata"/>
              </a:rPr>
              <a:t>1</a:t>
            </a:r>
            <a:r>
              <a:rPr sz="792" i="0">
                <a:solidFill>
                  <a:srgbClr val="E6EDF3"/>
                </a:solidFill>
                <a:latin typeface="Inconsolata"/>
              </a:rPr>
              <a:t>, recipient, </a:t>
            </a:r>
            <a:r>
              <a:rPr sz="792" i="0">
                <a:solidFill>
                  <a:srgbClr val="A5D6A7"/>
                </a:solidFill>
                <a:latin typeface="Inconsolata"/>
              </a:rPr>
              <a:t>"express"</a:t>
            </a:r>
            <a:r>
              <a:rPr sz="792" i="0">
                <a:solidFill>
                  <a:srgbClr val="E6EDF3"/>
                </a:solidFill>
                <a:latin typeface="Inconsolata"/>
              </a:rPr>
              <a:t>)))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2462022"/>
            <a:ext cx="3694176" cy="500380"/>
          </a:xfrm>
          <a:prstGeom prst="roundRect">
            <a:avLst>
              <a:gd name="adj" fmla="val 913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25933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704088" y="4113022"/>
            <a:ext cx="3694176" cy="500380"/>
          </a:xfrm>
          <a:prstGeom prst="roundRect">
            <a:avLst>
              <a:gd name="adj" fmla="val 913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4279392" y="42443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Box 25"/>
          <p:cNvSpPr/>
          <p:nvPr/>
        </p:nvSpPr>
        <p:spPr>
          <a:xfrm>
            <a:off x="4709159" y="2081022"/>
            <a:ext cx="3694176" cy="119380"/>
          </a:xfrm>
          <a:prstGeom prst="roundRect">
            <a:avLst>
              <a:gd name="adj" fmla="val 3829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Box 26"/>
          <p:cNvSpPr/>
          <p:nvPr/>
        </p:nvSpPr>
        <p:spPr>
          <a:xfrm>
            <a:off x="8284463" y="20218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2236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Bounded Context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02-bounded-context/after.py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sesi-03-domain-driven-design/02-bounded-context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3-02-bounded-context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08813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Sales context: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Customer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cukup berisi email dan tipe (baris 13-16)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Shipping context punya model sendiri: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Recipient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26-29)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Antar context cukup berbagi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order_id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34)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Outputnya sama, tapi setiap bagian hanya memegang data yang dibutuhkan.</a:t>
            </a:r>
          </a:p>
        </p:txBody>
      </p:sp>
    </p:spTree>
    <p:extLst>
      <p:ext uri="{BB962C8B-B14F-4D97-AF65-F5344CB8AC3E}">
        <p14:creationId xmlns:p14="http://schemas.microsoft.com/office/powerpoint/2010/main" val="1127202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CFE0FA"/>
                </a:solidFill>
                <a:latin typeface="Inter"/>
              </a:rPr>
              <a:t>Bagian 02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Work Sans ExtraBold"/>
              </a:rPr>
              <a:t>Value Object, Entity, Aggregate &amp; Domain Service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3246120"/>
            <a:ext cx="65836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E3ECFA"/>
                </a:solidFill>
                <a:latin typeface="Inter"/>
              </a:rPr>
              <a:t>Building blocks untuk menulis domain model di kode.</a:t>
            </a:r>
          </a:p>
        </p:txBody>
      </p:sp>
    </p:spTree>
    <p:extLst>
      <p:ext uri="{BB962C8B-B14F-4D97-AF65-F5344CB8AC3E}">
        <p14:creationId xmlns:p14="http://schemas.microsoft.com/office/powerpoint/2010/main" val="12201036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Building Blocks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Empat Building Block DDD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481328"/>
          <a:ext cx="7863840" cy="2514600"/>
        </p:xfrm>
        <a:graphic>
          <a:graphicData uri="http://schemas.openxmlformats.org/drawingml/2006/table">
            <a:tbl>
              <a:tblPr firstRow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Inter"/>
                        </a:rPr>
                        <a:t>Building block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Inter"/>
                        </a:rPr>
                        <a:t>Ciri utama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Inter"/>
                        </a:rPr>
                        <a:t>Contoh di Order API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C4587"/>
                          </a:solidFill>
                          <a:latin typeface="Inter"/>
                        </a:rPr>
                        <a:t>Value Object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434343"/>
                          </a:solidFill>
                          <a:latin typeface="Inter"/>
                        </a:rPr>
                        <a:t>Dikenali dari nilainya, tidak bisa diubah (immutable)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434343"/>
                          </a:solidFill>
                          <a:latin typeface="Inter"/>
                        </a:rPr>
                        <a:t>Money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C4587"/>
                          </a:solidFill>
                          <a:latin typeface="Inter"/>
                        </a:rPr>
                        <a:t>Entity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434343"/>
                          </a:solidFill>
                          <a:latin typeface="Inter"/>
                        </a:rPr>
                        <a:t>Punya identitas (id), datanya berubah dari waktu ke waktu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434343"/>
                          </a:solidFill>
                          <a:latin typeface="Inter"/>
                        </a:rPr>
                        <a:t>Order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C4587"/>
                          </a:solidFill>
                          <a:latin typeface="Inter"/>
                        </a:rPr>
                        <a:t>Aggregate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434343"/>
                          </a:solidFill>
                          <a:latin typeface="Inter"/>
                        </a:rPr>
                        <a:t>Kumpulan object yang diubah lewat satu pintu (root)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434343"/>
                          </a:solidFill>
                          <a:latin typeface="Inter"/>
                        </a:rPr>
                        <a:t>Order + OrderLine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C4587"/>
                          </a:solidFill>
                          <a:latin typeface="Inter"/>
                        </a:rPr>
                        <a:t>Domain Service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434343"/>
                          </a:solidFill>
                          <a:latin typeface="Inter"/>
                        </a:rPr>
                        <a:t>Business logic yang tidak pas ditaruh di satu entity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434343"/>
                          </a:solidFill>
                          <a:latin typeface="Inter"/>
                        </a:rPr>
                        <a:t>DiscountPolicy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Text 4"/>
          <p:cNvSpPr txBox="1"/>
          <p:nvPr/>
        </p:nvSpPr>
        <p:spPr>
          <a:xfrm>
            <a:off x="621792" y="4206240"/>
            <a:ext cx="7863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C4587"/>
                </a:solidFill>
                <a:latin typeface="Inter"/>
              </a:rPr>
              <a:t>Semuanya Python biasa: </a:t>
            </a:r>
            <a:r>
              <a:rPr sz="1100" b="1" i="0">
                <a:solidFill>
                  <a:srgbClr val="1C4587"/>
                </a:solidFill>
                <a:latin typeface="Inter"/>
              </a:rPr>
              <a:t>tidak</a:t>
            </a:r>
            <a:r>
              <a:rPr sz="1100" b="0" i="0">
                <a:solidFill>
                  <a:srgbClr val="1C4587"/>
                </a:solidFill>
                <a:latin typeface="Inter"/>
              </a:rPr>
              <a:t> import FastAPI, SQLite, atau SQLAlchemy.</a:t>
            </a:r>
          </a:p>
        </p:txBody>
      </p:sp>
    </p:spTree>
    <p:extLst>
      <p:ext uri="{BB962C8B-B14F-4D97-AF65-F5344CB8AC3E}">
        <p14:creationId xmlns:p14="http://schemas.microsoft.com/office/powerpoint/2010/main" val="2369605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Value Object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Value Object?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5204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Value Object adalah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Object dalam konsep DDD yang merepresentasikan suatu nilai atau karakteristik tertentu, tetapi tidak memiliki identitas unik. Setelah dibuat, nilainya </a:t>
            </a:r>
            <a:r>
              <a:rPr sz="900" b="1" i="0">
                <a:solidFill>
                  <a:srgbClr val="434343"/>
                </a:solidFill>
                <a:latin typeface="Inter"/>
              </a:rPr>
              <a:t>tidak bisa diubah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(immutable), dan object ini memvalidasi dirinya sendiri. Contohnya uang, alamat, atau rentang tanggal.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Untuk apa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Mencegah nilai yang tidak valid, misalnya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Money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negatif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Menyatukan aturan uang di satu class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Money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Membedakan persen dan rupiah dengan jelas</a:t>
            </a:r>
          </a:p>
        </p:txBody>
      </p:sp>
      <p:sp>
        <p:nvSpPr>
          <p:cNvPr id="23" name="CodeTab 5"/>
          <p:cNvSpPr/>
          <p:nvPr/>
        </p:nvSpPr>
        <p:spPr>
          <a:xfrm>
            <a:off x="4297680" y="1481328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6817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846320" y="1490472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value object: 03-value-object/before.py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297680" y="1719072"/>
            <a:ext cx="4187951" cy="1069848"/>
          </a:xfrm>
          <a:prstGeom prst="roundRect">
            <a:avLst>
              <a:gd name="adj" fmla="val 1709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297680" y="1719072"/>
            <a:ext cx="4187951" cy="106984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apply_discount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(subtotal: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discount: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subtotal - discount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(apply_discount(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100_000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</a:t>
            </a:r>
            <a:r>
              <a:rPr sz="800" i="0">
                <a:solidFill>
                  <a:srgbClr val="E6EDF3"/>
                </a:solidFill>
                <a:latin typeface="Inconsolata"/>
              </a:rPr>
              <a:t>))  </a:t>
            </a:r>
            <a:r>
              <a:rPr sz="800" i="1">
                <a:solidFill>
                  <a:srgbClr val="8B98A8"/>
                </a:solidFill>
                <a:latin typeface="Inconsolata"/>
              </a:rPr>
              <a:t># 99990, maksudnya 10%?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(apply_discount(-</a:t>
            </a:r>
            <a:r>
              <a:rPr sz="800" i="0">
                <a:solidFill>
                  <a:srgbClr val="F9C97A"/>
                </a:solidFill>
                <a:latin typeface="Inconsolata"/>
              </a:rPr>
              <a:t>50_000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F9C97A"/>
                </a:solidFill>
                <a:latin typeface="Inconsolata"/>
              </a:rPr>
              <a:t>0</a:t>
            </a:r>
            <a:r>
              <a:rPr sz="800" i="0">
                <a:solidFill>
                  <a:srgbClr val="E6EDF3"/>
                </a:solidFill>
                <a:latin typeface="Inconsolata"/>
              </a:rPr>
              <a:t>))  </a:t>
            </a:r>
            <a:r>
              <a:rPr sz="800" i="1">
                <a:solidFill>
                  <a:srgbClr val="8B98A8"/>
                </a:solidFill>
                <a:latin typeface="Inconsolata"/>
              </a:rPr>
              <a:t># harga negatif lolos</a:t>
            </a:r>
          </a:p>
        </p:txBody>
      </p:sp>
      <p:sp>
        <p:nvSpPr>
          <p:cNvPr id="30" name="Box 13"/>
          <p:cNvSpPr/>
          <p:nvPr/>
        </p:nvSpPr>
        <p:spPr>
          <a:xfrm>
            <a:off x="4379976" y="1827022"/>
            <a:ext cx="4023359" cy="119380"/>
          </a:xfrm>
          <a:prstGeom prst="roundRect">
            <a:avLst>
              <a:gd name="adj" fmla="val 38297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Box 14"/>
          <p:cNvSpPr/>
          <p:nvPr/>
        </p:nvSpPr>
        <p:spPr>
          <a:xfrm>
            <a:off x="4379976" y="2589022"/>
            <a:ext cx="4023359" cy="119380"/>
          </a:xfrm>
          <a:prstGeom prst="roundRect">
            <a:avLst>
              <a:gd name="adj" fmla="val 38297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CodeTab 16"/>
          <p:cNvSpPr/>
          <p:nvPr/>
        </p:nvSpPr>
        <p:spPr>
          <a:xfrm>
            <a:off x="4297680" y="2880360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407408" y="2958084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544568" y="2958084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Dot 19"/>
          <p:cNvSpPr/>
          <p:nvPr/>
        </p:nvSpPr>
        <p:spPr>
          <a:xfrm>
            <a:off x="4681728" y="2958084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20"/>
          <p:cNvSpPr txBox="1"/>
          <p:nvPr/>
        </p:nvSpPr>
        <p:spPr>
          <a:xfrm>
            <a:off x="4846320" y="2889504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value object: 03-value-object/after.py</a:t>
            </a:r>
          </a:p>
        </p:txBody>
      </p:sp>
      <p:sp>
        <p:nvSpPr>
          <p:cNvPr id="37" name="CodeBg 22"/>
          <p:cNvSpPr/>
          <p:nvPr/>
        </p:nvSpPr>
        <p:spPr>
          <a:xfrm>
            <a:off x="4297680" y="3118104"/>
            <a:ext cx="4187951" cy="1078992"/>
          </a:xfrm>
          <a:prstGeom prst="roundRect">
            <a:avLst>
              <a:gd name="adj" fmla="val 1694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Code 23"/>
          <p:cNvSpPr txBox="1"/>
          <p:nvPr/>
        </p:nvSpPr>
        <p:spPr>
          <a:xfrm>
            <a:off x="4297680" y="3118104"/>
            <a:ext cx="4187951" cy="1078992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9C97A"/>
                </a:solidFill>
                <a:latin typeface="Inconsolata"/>
              </a:rPr>
              <a:t>@dataclass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(frozen=</a:t>
            </a:r>
            <a:r>
              <a:rPr sz="800" i="0">
                <a:solidFill>
                  <a:srgbClr val="FF8E6E"/>
                </a:solidFill>
                <a:latin typeface="Inconsolata"/>
              </a:rPr>
              <a:t>True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amount: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__post_init__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.amount &lt; </a:t>
            </a:r>
            <a:r>
              <a:rPr sz="800" i="0">
                <a:solidFill>
                  <a:srgbClr val="F9C97A"/>
                </a:solidFill>
                <a:latin typeface="Inconsolata"/>
              </a:rPr>
              <a:t>0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"Money tidak boleh negatif"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39" name="Box 24"/>
          <p:cNvSpPr/>
          <p:nvPr/>
        </p:nvSpPr>
        <p:spPr>
          <a:xfrm>
            <a:off x="4379976" y="3226054"/>
            <a:ext cx="4023359" cy="119380"/>
          </a:xfrm>
          <a:prstGeom prst="roundRect">
            <a:avLst>
              <a:gd name="adj" fmla="val 3829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Box 25"/>
          <p:cNvSpPr/>
          <p:nvPr/>
        </p:nvSpPr>
        <p:spPr>
          <a:xfrm>
            <a:off x="4379976" y="3734054"/>
            <a:ext cx="4023359" cy="373380"/>
          </a:xfrm>
          <a:prstGeom prst="roundRect">
            <a:avLst>
              <a:gd name="adj" fmla="val 1224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Text 26"/>
          <p:cNvSpPr txBox="1"/>
          <p:nvPr/>
        </p:nvSpPr>
        <p:spPr>
          <a:xfrm>
            <a:off x="4297680" y="4288536"/>
            <a:ext cx="4187951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"An object that represents a descriptive aspect of the domain with no conceptual identity is called a Value Object."  Eric Evans</a:t>
            </a:r>
          </a:p>
        </p:txBody>
      </p:sp>
    </p:spTree>
    <p:extLst>
      <p:ext uri="{BB962C8B-B14F-4D97-AF65-F5344CB8AC3E}">
        <p14:creationId xmlns:p14="http://schemas.microsoft.com/office/powerpoint/2010/main" val="1167876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Value Object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Value Object?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Value Object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Harga, diskon, dan total hanya berupa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int</a:t>
            </a:r>
            <a:r>
              <a:rPr sz="950" b="0" i="0">
                <a:solidFill>
                  <a:srgbClr val="434343"/>
                </a:solidFill>
                <a:latin typeface="Inter"/>
              </a:rPr>
              <a:t>. Saat membaca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apply_discount(100_000, 10)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tidak jelas angka 10 itu persen atau rupiah.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hitungannya makin banyak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Pengecekan "tidak boleh negatif" harus ditulis ulang di setiap function yang menghitung uang.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Hal ini menimbulkan potensi harga negatif lolos sampai ke database jika satu tempat terlewat.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Yang dipakai dari Python: @dataclass(frozen=True)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frozen=True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membuat object tidak bisa diubah setelah dibuat.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__post_init__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dijalankan setiap object dibuat, jadi validasinya tidak pernah terlewat.</a:t>
            </a:r>
          </a:p>
        </p:txBody>
      </p:sp>
      <p:sp>
        <p:nvSpPr>
          <p:cNvPr id="23" name="CodeTab 5"/>
          <p:cNvSpPr/>
          <p:nvPr/>
        </p:nvSpPr>
        <p:spPr>
          <a:xfrm>
            <a:off x="4800600" y="1481328"/>
            <a:ext cx="368503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91032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504748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518464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5349240" y="1490472"/>
            <a:ext cx="304495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03-value-object/after.py (baris 11-17)</a:t>
            </a:r>
          </a:p>
        </p:txBody>
      </p:sp>
      <p:sp>
        <p:nvSpPr>
          <p:cNvPr id="28" name="CodeBg 11"/>
          <p:cNvSpPr/>
          <p:nvPr/>
        </p:nvSpPr>
        <p:spPr>
          <a:xfrm>
            <a:off x="4800600" y="1719072"/>
            <a:ext cx="3685032" cy="1179576"/>
          </a:xfrm>
          <a:prstGeom prst="roundRect">
            <a:avLst>
              <a:gd name="adj" fmla="val 1550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800600" y="1719072"/>
            <a:ext cx="3685032" cy="117957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Inconsolata"/>
              </a:rPr>
              <a:t>@dataclass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(frozen=</a:t>
            </a:r>
            <a:r>
              <a:rPr sz="850" i="0">
                <a:solidFill>
                  <a:srgbClr val="FF8E6E"/>
                </a:solidFill>
                <a:latin typeface="Inconsolata"/>
              </a:rPr>
              <a:t>True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amount: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__post_init__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.amount &lt; </a:t>
            </a:r>
            <a:r>
              <a:rPr sz="850" i="0">
                <a:solidFill>
                  <a:srgbClr val="F9C97A"/>
                </a:solidFill>
                <a:latin typeface="Inconsolata"/>
              </a:rPr>
              <a:t>0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"Money tidak boleh negatif"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graphicFrame>
        <p:nvGraphicFramePr>
          <p:cNvPr id="30" name="Table 13"/>
          <p:cNvGraphicFramePr>
            <a:graphicFrameLocks noGrp="1"/>
          </p:cNvGraphicFramePr>
          <p:nvPr/>
        </p:nvGraphicFramePr>
        <p:xfrm>
          <a:off x="4800600" y="3063240"/>
          <a:ext cx="3685032" cy="1828800"/>
        </p:xfrm>
        <a:graphic>
          <a:graphicData uri="http://schemas.openxmlformats.org/drawingml/2006/table">
            <a:tbl>
              <a:tblPr firstRow="1" bandRow="1"/>
              <a:tblGrid>
                <a:gridCol w="20391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Ditulis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Hasilnya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Money(100_000) == Money(100_000)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True, nilainya sama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Money(-50_000)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ValueError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money.amount = 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Error, object tidak bisa diubah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8289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Value Object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Harga hanya berupa angka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50799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86791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03-value-object/before.py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507992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507992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  <a:r>
              <a:rPr sz="900" i="0">
                <a:solidFill>
                  <a:srgbClr val="82B1FF"/>
                </a:solidFill>
                <a:latin typeface="Inconsolata"/>
              </a:rPr>
              <a:t>apply_discount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(subtotal: </a:t>
            </a:r>
            <a:r>
              <a:rPr sz="9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discount: </a:t>
            </a:r>
            <a:r>
              <a:rPr sz="9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9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900" i="0">
                <a:solidFill>
                  <a:srgbClr val="E6EDF3"/>
                </a:solidFill>
                <a:latin typeface="Inconsolata"/>
              </a:rPr>
              <a:t> subtotal - discount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(apply_discount(</a:t>
            </a:r>
            <a:r>
              <a:rPr sz="900" i="0">
                <a:solidFill>
                  <a:srgbClr val="F9C97A"/>
                </a:solidFill>
                <a:latin typeface="Inconsolata"/>
              </a:rPr>
              <a:t>100_000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</a:t>
            </a:r>
            <a:r>
              <a:rPr sz="900" i="0">
                <a:solidFill>
                  <a:srgbClr val="F9C97A"/>
                </a:solidFill>
                <a:latin typeface="Inconsolata"/>
              </a:rPr>
              <a:t>10</a:t>
            </a:r>
            <a:r>
              <a:rPr sz="900" i="0">
                <a:solidFill>
                  <a:srgbClr val="E6EDF3"/>
                </a:solidFill>
                <a:latin typeface="Inconsolata"/>
              </a:rPr>
              <a:t>))  </a:t>
            </a:r>
            <a:r>
              <a:rPr sz="900" i="1">
                <a:solidFill>
                  <a:srgbClr val="8B98A8"/>
                </a:solidFill>
                <a:latin typeface="Inconsolata"/>
              </a:rPr>
              <a:t># 99990, maksudnya 10%?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(apply_discount(-</a:t>
            </a:r>
            <a:r>
              <a:rPr sz="900" i="0">
                <a:solidFill>
                  <a:srgbClr val="F9C97A"/>
                </a:solidFill>
                <a:latin typeface="Inconsolata"/>
              </a:rPr>
              <a:t>50_000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</a:t>
            </a:r>
            <a:r>
              <a:rPr sz="900" i="0">
                <a:solidFill>
                  <a:srgbClr val="F9C97A"/>
                </a:solidFill>
                <a:latin typeface="Inconsolata"/>
              </a:rPr>
              <a:t>0</a:t>
            </a:r>
            <a:r>
              <a:rPr sz="900" i="0">
                <a:solidFill>
                  <a:srgbClr val="E6EDF3"/>
                </a:solidFill>
                <a:latin typeface="Inconsolata"/>
              </a:rPr>
              <a:t>))  </a:t>
            </a:r>
            <a:r>
              <a:rPr sz="900" i="1">
                <a:solidFill>
                  <a:srgbClr val="8B98A8"/>
                </a:solidFill>
                <a:latin typeface="Inconsolata"/>
              </a:rPr>
              <a:t># harga negatif lolos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830324"/>
            <a:ext cx="4343400" cy="143255"/>
          </a:xfrm>
          <a:prstGeom prst="roundRect">
            <a:avLst>
              <a:gd name="adj" fmla="val 3191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4928616" y="178308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592324"/>
            <a:ext cx="4343400" cy="143255"/>
          </a:xfrm>
          <a:prstGeom prst="roundRect">
            <a:avLst>
              <a:gd name="adj" fmla="val 3191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4928616" y="254508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2744724"/>
            <a:ext cx="4343400" cy="143255"/>
          </a:xfrm>
          <a:prstGeom prst="roundRect">
            <a:avLst>
              <a:gd name="adj" fmla="val 3191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4928616" y="269748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CodeTab 19"/>
          <p:cNvSpPr/>
          <p:nvPr/>
        </p:nvSpPr>
        <p:spPr>
          <a:xfrm>
            <a:off x="5285231" y="1481328"/>
            <a:ext cx="320040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Dot 20"/>
          <p:cNvSpPr/>
          <p:nvPr/>
        </p:nvSpPr>
        <p:spPr>
          <a:xfrm>
            <a:off x="5394959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Dot 21"/>
          <p:cNvSpPr/>
          <p:nvPr/>
        </p:nvSpPr>
        <p:spPr>
          <a:xfrm>
            <a:off x="553212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Dot 22"/>
          <p:cNvSpPr/>
          <p:nvPr/>
        </p:nvSpPr>
        <p:spPr>
          <a:xfrm>
            <a:off x="5669279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 23"/>
          <p:cNvSpPr txBox="1"/>
          <p:nvPr/>
        </p:nvSpPr>
        <p:spPr>
          <a:xfrm>
            <a:off x="5833871" y="1490472"/>
            <a:ext cx="256032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40" name="CodeBg 25"/>
          <p:cNvSpPr/>
          <p:nvPr/>
        </p:nvSpPr>
        <p:spPr>
          <a:xfrm>
            <a:off x="5285231" y="1719072"/>
            <a:ext cx="3200400" cy="420623"/>
          </a:xfrm>
          <a:prstGeom prst="roundRect">
            <a:avLst>
              <a:gd name="adj" fmla="val 4347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Code 26"/>
          <p:cNvSpPr txBox="1"/>
          <p:nvPr/>
        </p:nvSpPr>
        <p:spPr>
          <a:xfrm>
            <a:off x="5285231" y="1719072"/>
            <a:ext cx="3200400" cy="420623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82B1FF"/>
                </a:solidFill>
                <a:latin typeface="Inconsolata"/>
              </a:rPr>
              <a:t>$ cd sesi-03-domain-driven-design/03-value-object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42" name="Image 27" descr="s03-03-value-object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1" y="2212848"/>
            <a:ext cx="3200400" cy="810314"/>
          </a:xfrm>
          <a:prstGeom prst="rect">
            <a:avLst/>
          </a:prstGeom>
        </p:spPr>
      </p:pic>
      <p:sp>
        <p:nvSpPr>
          <p:cNvPr id="43" name="Box 28"/>
          <p:cNvSpPr/>
          <p:nvPr/>
        </p:nvSpPr>
        <p:spPr>
          <a:xfrm>
            <a:off x="5285231" y="3114602"/>
            <a:ext cx="3200400" cy="1585413"/>
          </a:xfrm>
          <a:prstGeom prst="roundRect">
            <a:avLst>
              <a:gd name="adj" fmla="val 6921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4" name="Text 29"/>
          <p:cNvSpPr txBox="1"/>
          <p:nvPr/>
        </p:nvSpPr>
        <p:spPr>
          <a:xfrm>
            <a:off x="5422392" y="3206042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45" name="Text 30"/>
          <p:cNvSpPr txBox="1"/>
          <p:nvPr/>
        </p:nvSpPr>
        <p:spPr>
          <a:xfrm>
            <a:off x="5422392" y="3526082"/>
            <a:ext cx="2926080" cy="108249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Harga dan diskon cuma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int</a:t>
            </a:r>
            <a:r>
              <a:rPr sz="850" b="0" i="0">
                <a:solidFill>
                  <a:srgbClr val="434343"/>
                </a:solidFill>
                <a:latin typeface="Inter"/>
              </a:rPr>
              <a:t> (baris 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Angka 10 dianggap Rp10, padahal maksudnya 10% (baris 14)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Harga negatif lolos tanpa error (baris 15)</a:t>
            </a:r>
          </a:p>
        </p:txBody>
      </p:sp>
    </p:spTree>
    <p:extLst>
      <p:ext uri="{BB962C8B-B14F-4D97-AF65-F5344CB8AC3E}">
        <p14:creationId xmlns:p14="http://schemas.microsoft.com/office/powerpoint/2010/main" val="33183925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Value Object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Harga ditulis sebagai Money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03-value-object/after.py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 8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60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76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60" i="0">
                <a:solidFill>
                  <a:srgbClr val="E6EDF3"/>
                </a:solidFill>
                <a:latin typeface="Inconsolata"/>
              </a:rPr>
              <a:t> dataclass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760" i="0">
                <a:solidFill>
                  <a:srgbClr val="F9C97A"/>
                </a:solidFill>
                <a:latin typeface="Inconsolata"/>
              </a:rPr>
              <a:t>@dataclass</a:t>
            </a:r>
            <a:r>
              <a:rPr sz="760" i="0">
                <a:solidFill>
                  <a:srgbClr val="E6EDF3"/>
                </a:solidFill>
                <a:latin typeface="Inconsolata"/>
              </a:rPr>
              <a:t>(frozen=</a:t>
            </a:r>
            <a:r>
              <a:rPr sz="760" i="0">
                <a:solidFill>
                  <a:srgbClr val="FF8E6E"/>
                </a:solidFill>
                <a:latin typeface="Inconsolata"/>
              </a:rPr>
              <a:t>True</a:t>
            </a:r>
            <a:r>
              <a:rPr sz="76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amount: </a:t>
            </a:r>
            <a:r>
              <a:rPr sz="76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82B1FF"/>
                </a:solidFill>
                <a:latin typeface="Inconsolata"/>
              </a:rPr>
              <a:t>__post_init__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if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.amount &lt; </a:t>
            </a:r>
            <a:r>
              <a:rPr sz="760" i="0">
                <a:solidFill>
                  <a:srgbClr val="F9C97A"/>
                </a:solidFill>
                <a:latin typeface="Inconsolata"/>
              </a:rPr>
              <a:t>0</a:t>
            </a:r>
            <a:r>
              <a:rPr sz="76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A5D6A7"/>
                </a:solidFill>
                <a:latin typeface="Inconsolata"/>
              </a:rPr>
              <a:t>"Money tidak boleh negatif"</a:t>
            </a:r>
            <a:r>
              <a:rPr sz="76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82B1FF"/>
                </a:solidFill>
                <a:latin typeface="Inconsolata"/>
              </a:rPr>
              <a:t>__add__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, other: </a:t>
            </a:r>
            <a:r>
              <a:rPr sz="76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76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6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76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.amount + other.amount)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82B1FF"/>
                </a:solidFill>
                <a:latin typeface="Inconsolata"/>
              </a:rPr>
              <a:t>__sub__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, other: </a:t>
            </a:r>
            <a:r>
              <a:rPr sz="76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76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6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76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.amount - other.amount)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82B1FF"/>
                </a:solidFill>
                <a:latin typeface="Inconsolata"/>
              </a:rPr>
              <a:t>times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, qty: </a:t>
            </a:r>
            <a:r>
              <a:rPr sz="76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6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6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76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.amount * qty)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03-value-object/after.py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28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82B1FF"/>
                </a:solidFill>
                <a:latin typeface="Inconsolata"/>
              </a:rPr>
              <a:t>percent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, value: </a:t>
            </a:r>
            <a:r>
              <a:rPr sz="76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6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6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76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29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60" i="0">
                <a:solidFill>
                  <a:srgbClr val="E6EDF3"/>
                </a:solidFill>
                <a:latin typeface="Inconsolata"/>
              </a:rPr>
              <a:t>.amount * value // </a:t>
            </a:r>
            <a:r>
              <a:rPr sz="760" i="0">
                <a:solidFill>
                  <a:srgbClr val="F9C97A"/>
                </a:solidFill>
                <a:latin typeface="Inconsolata"/>
              </a:rPr>
              <a:t>100</a:t>
            </a:r>
            <a:r>
              <a:rPr sz="76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30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31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32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82B1FF"/>
                </a:solidFill>
                <a:latin typeface="Inconsolata"/>
              </a:rPr>
              <a:t>apply_discount</a:t>
            </a:r>
            <a:r>
              <a:rPr sz="760" i="0">
                <a:solidFill>
                  <a:srgbClr val="E6EDF3"/>
                </a:solidFill>
                <a:latin typeface="Inconsolata"/>
              </a:rPr>
              <a:t>(subtotal: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, discount: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33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60" i="0">
                <a:solidFill>
                  <a:srgbClr val="E6EDF3"/>
                </a:solidFill>
                <a:latin typeface="Inconsolata"/>
              </a:rPr>
              <a:t> subtotal - discount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34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35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36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if</a:t>
            </a:r>
            <a:r>
              <a:rPr sz="76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76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76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37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subtotal =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F9C97A"/>
                </a:solidFill>
                <a:latin typeface="Inconsolata"/>
              </a:rPr>
              <a:t>100_000</a:t>
            </a:r>
            <a:r>
              <a:rPr sz="76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38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60" i="0">
                <a:solidFill>
                  <a:srgbClr val="E6EDF3"/>
                </a:solidFill>
                <a:latin typeface="Inconsolata"/>
              </a:rPr>
              <a:t>(apply_discount(subtotal, subtotal.percent(</a:t>
            </a:r>
            <a:r>
              <a:rPr sz="760" i="0">
                <a:solidFill>
                  <a:srgbClr val="F9C97A"/>
                </a:solidFill>
                <a:latin typeface="Inconsolata"/>
              </a:rPr>
              <a:t>10</a:t>
            </a:r>
            <a:r>
              <a:rPr sz="760" i="0">
                <a:solidFill>
                  <a:srgbClr val="E6EDF3"/>
                </a:solidFill>
                <a:latin typeface="Inconsolata"/>
              </a:rPr>
              <a:t>)))  </a:t>
            </a:r>
            <a:r>
              <a:rPr sz="760" i="1">
                <a:solidFill>
                  <a:srgbClr val="8B98A8"/>
                </a:solidFill>
                <a:latin typeface="Inconsolata"/>
              </a:rPr>
              <a:t># 90000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39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60" i="0">
                <a:solidFill>
                  <a:srgbClr val="E6EDF3"/>
                </a:solidFill>
                <a:latin typeface="Inconsolata"/>
              </a:rPr>
              <a:t>(apply_discount(subtotal,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F9C97A"/>
                </a:solidFill>
                <a:latin typeface="Inconsolata"/>
              </a:rPr>
              <a:t>10</a:t>
            </a:r>
            <a:r>
              <a:rPr sz="760" i="0">
                <a:solidFill>
                  <a:srgbClr val="E6EDF3"/>
                </a:solidFill>
                <a:latin typeface="Inconsolata"/>
              </a:rPr>
              <a:t>)))  </a:t>
            </a:r>
            <a:r>
              <a:rPr sz="760" i="1">
                <a:solidFill>
                  <a:srgbClr val="8B98A8"/>
                </a:solidFill>
                <a:latin typeface="Inconsolata"/>
              </a:rPr>
              <a:t># potongan Rp10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40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F9C97A"/>
                </a:solidFill>
                <a:latin typeface="Inconsolata"/>
              </a:rPr>
              <a:t>100_000</a:t>
            </a:r>
            <a:r>
              <a:rPr sz="760" i="0">
                <a:solidFill>
                  <a:srgbClr val="E6EDF3"/>
                </a:solidFill>
                <a:latin typeface="Inconsolata"/>
              </a:rPr>
              <a:t>) ==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F9C97A"/>
                </a:solidFill>
                <a:latin typeface="Inconsolata"/>
              </a:rPr>
              <a:t>100_000</a:t>
            </a:r>
            <a:r>
              <a:rPr sz="760" i="0">
                <a:solidFill>
                  <a:srgbClr val="E6EDF3"/>
                </a:solidFill>
                <a:latin typeface="Inconsolata"/>
              </a:rPr>
              <a:t>))  </a:t>
            </a:r>
            <a:r>
              <a:rPr sz="760" i="1">
                <a:solidFill>
                  <a:srgbClr val="8B98A8"/>
                </a:solidFill>
                <a:latin typeface="Inconsolata"/>
              </a:rPr>
              <a:t># True, nilainya sama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41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42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try</a:t>
            </a:r>
            <a:r>
              <a:rPr sz="76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43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6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60" i="0">
                <a:solidFill>
                  <a:srgbClr val="E6EDF3"/>
                </a:solidFill>
                <a:latin typeface="Inconsolata"/>
              </a:rPr>
              <a:t>(-</a:t>
            </a:r>
            <a:r>
              <a:rPr sz="760" i="0">
                <a:solidFill>
                  <a:srgbClr val="F9C97A"/>
                </a:solidFill>
                <a:latin typeface="Inconsolata"/>
              </a:rPr>
              <a:t>50_000</a:t>
            </a:r>
            <a:r>
              <a:rPr sz="76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44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60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60" i="0">
                <a:solidFill>
                  <a:srgbClr val="E6EDF3"/>
                </a:solidFill>
                <a:latin typeface="Inconsolata"/>
              </a:rPr>
              <a:t> </a:t>
            </a:r>
            <a:r>
              <a:rPr sz="760" i="0">
                <a:solidFill>
                  <a:srgbClr val="FF8E6E"/>
                </a:solidFill>
                <a:latin typeface="Inconsolata"/>
              </a:rPr>
              <a:t>as</a:t>
            </a:r>
            <a:r>
              <a:rPr sz="760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9601"/>
              </a:lnSpc>
              <a:spcAft>
                <a:spcPts val="0"/>
              </a:spcAft>
            </a:pPr>
            <a:r>
              <a:rPr sz="760" i="0">
                <a:solidFill>
                  <a:srgbClr val="5C6773"/>
                </a:solidFill>
                <a:latin typeface="Inconsolata"/>
              </a:rPr>
              <a:t>45  </a:t>
            </a:r>
            <a:r>
              <a:rPr sz="76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6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60" i="0">
                <a:solidFill>
                  <a:srgbClr val="E6EDF3"/>
                </a:solidFill>
                <a:latin typeface="Inconsolata"/>
              </a:rPr>
              <a:t>(</a:t>
            </a:r>
            <a:r>
              <a:rPr sz="760" i="0">
                <a:solidFill>
                  <a:srgbClr val="A5D6A7"/>
                </a:solidFill>
                <a:latin typeface="Inconsolata"/>
              </a:rPr>
              <a:t>"Ditolak:"</a:t>
            </a:r>
            <a:r>
              <a:rPr sz="760" i="0">
                <a:solidFill>
                  <a:srgbClr val="E6EDF3"/>
                </a:solidFill>
                <a:latin typeface="Inconsolata"/>
              </a:rPr>
              <a:t>, e)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2208022"/>
            <a:ext cx="3694176" cy="119380"/>
          </a:xfrm>
          <a:prstGeom prst="roundRect">
            <a:avLst>
              <a:gd name="adj" fmla="val 3829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21488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704088" y="2716022"/>
            <a:ext cx="3694176" cy="373380"/>
          </a:xfrm>
          <a:prstGeom prst="roundRect">
            <a:avLst>
              <a:gd name="adj" fmla="val 1224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4279392" y="27838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Box 25"/>
          <p:cNvSpPr/>
          <p:nvPr/>
        </p:nvSpPr>
        <p:spPr>
          <a:xfrm>
            <a:off x="704088" y="3224022"/>
            <a:ext cx="3694176" cy="1008380"/>
          </a:xfrm>
          <a:prstGeom prst="roundRect">
            <a:avLst>
              <a:gd name="adj" fmla="val 453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Box 26"/>
          <p:cNvSpPr/>
          <p:nvPr/>
        </p:nvSpPr>
        <p:spPr>
          <a:xfrm>
            <a:off x="4279392" y="36093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42" name="Box 27"/>
          <p:cNvSpPr/>
          <p:nvPr/>
        </p:nvSpPr>
        <p:spPr>
          <a:xfrm>
            <a:off x="4709159" y="1827022"/>
            <a:ext cx="3694176" cy="246380"/>
          </a:xfrm>
          <a:prstGeom prst="roundRect">
            <a:avLst>
              <a:gd name="adj" fmla="val 1855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3" name="Box 28"/>
          <p:cNvSpPr/>
          <p:nvPr/>
        </p:nvSpPr>
        <p:spPr>
          <a:xfrm>
            <a:off x="4709159" y="3097022"/>
            <a:ext cx="3694176" cy="373380"/>
          </a:xfrm>
          <a:prstGeom prst="roundRect">
            <a:avLst>
              <a:gd name="adj" fmla="val 1224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4" name="Box 29"/>
          <p:cNvSpPr/>
          <p:nvPr/>
        </p:nvSpPr>
        <p:spPr>
          <a:xfrm>
            <a:off x="8284463" y="31648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637060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Value Object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03-value-object/after.py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sesi-03-domain-driven-design/03-value-object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3-03-value-object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463040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frozen=True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membuat nilainya tidak bisa diubah setelah dibuat (baris 11)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__post_init__</a:t>
            </a:r>
            <a:r>
              <a:rPr sz="950" b="0" i="0">
                <a:solidFill>
                  <a:srgbClr val="434343"/>
                </a:solidFill>
                <a:latin typeface="Inter"/>
              </a:rPr>
              <a:t> jalan setiap object dibuat, jadi Money negatif langsung ditolak (baris 15-17)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Operasi uang ditulis sebagai method: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+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-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times()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percent()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19-29)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Persen dan rupiah jelas bedanya, dan Money dengan nilai sama dianggap sama (baris 38-40)</a:t>
            </a:r>
          </a:p>
        </p:txBody>
      </p:sp>
    </p:spTree>
    <p:extLst>
      <p:ext uri="{BB962C8B-B14F-4D97-AF65-F5344CB8AC3E}">
        <p14:creationId xmlns:p14="http://schemas.microsoft.com/office/powerpoint/2010/main" val="36663800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Entity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Entity?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5204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Entity adalah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Konsep DDD untuk object yang punya </a:t>
            </a:r>
            <a:r>
              <a:rPr sz="900" b="1" i="0">
                <a:solidFill>
                  <a:srgbClr val="434343"/>
                </a:solidFill>
                <a:latin typeface="Inter"/>
              </a:rPr>
              <a:t>identitas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(id) dan </a:t>
            </a:r>
            <a:r>
              <a:rPr sz="900" b="1" i="0">
                <a:solidFill>
                  <a:srgbClr val="434343"/>
                </a:solidFill>
                <a:latin typeface="Inter"/>
              </a:rPr>
              <a:t>lifecycle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(siklus hidup). Datanya bisa berubah dari waktu ke waktu, tapi tetap dianggap object yang sama. Sehingga order #1 tetap order #1 walaupun statusnya berubah dari pending menjadi paid.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Untuk apa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Menjaga perubahan status lewat method yang mengecek aturannya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Mengenali object dari idnya, bukan dari isi datanya</a:t>
            </a:r>
          </a:p>
        </p:txBody>
      </p:sp>
      <p:sp>
        <p:nvSpPr>
          <p:cNvPr id="23" name="CodeTab 5"/>
          <p:cNvSpPr/>
          <p:nvPr/>
        </p:nvSpPr>
        <p:spPr>
          <a:xfrm>
            <a:off x="4297680" y="1481328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6817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846320" y="1490472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entity: 04-entity/before.py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297680" y="1719072"/>
            <a:ext cx="4187951" cy="1298448"/>
          </a:xfrm>
          <a:prstGeom prst="roundRect">
            <a:avLst>
              <a:gd name="adj" fmla="val 1408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297680" y="1719072"/>
            <a:ext cx="4187951" cy="129844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id: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total: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status: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"pending"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...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order.status =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"paid"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order.status =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"cancelled"</a:t>
            </a: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1">
                <a:solidFill>
                  <a:srgbClr val="8B98A8"/>
                </a:solidFill>
                <a:latin typeface="Inconsolata"/>
              </a:rPr>
              <a:t># sudah dibayar, tapi tetap bisa dibatalkan</a:t>
            </a:r>
          </a:p>
        </p:txBody>
      </p:sp>
      <p:sp>
        <p:nvSpPr>
          <p:cNvPr id="30" name="Box 13"/>
          <p:cNvSpPr/>
          <p:nvPr/>
        </p:nvSpPr>
        <p:spPr>
          <a:xfrm>
            <a:off x="4379976" y="2625471"/>
            <a:ext cx="4023359" cy="221742"/>
          </a:xfrm>
          <a:prstGeom prst="roundRect">
            <a:avLst>
              <a:gd name="adj" fmla="val 20618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Tab 15"/>
          <p:cNvSpPr/>
          <p:nvPr/>
        </p:nvSpPr>
        <p:spPr>
          <a:xfrm>
            <a:off x="4297680" y="3108960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4407408" y="3186684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544568" y="3186684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681728" y="3186684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19"/>
          <p:cNvSpPr txBox="1"/>
          <p:nvPr/>
        </p:nvSpPr>
        <p:spPr>
          <a:xfrm>
            <a:off x="4846320" y="3118104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entity: 04-entity/after.py</a:t>
            </a:r>
          </a:p>
        </p:txBody>
      </p:sp>
      <p:sp>
        <p:nvSpPr>
          <p:cNvPr id="36" name="CodeBg 21"/>
          <p:cNvSpPr/>
          <p:nvPr/>
        </p:nvSpPr>
        <p:spPr>
          <a:xfrm>
            <a:off x="4297680" y="3346704"/>
            <a:ext cx="4187951" cy="850392"/>
          </a:xfrm>
          <a:prstGeom prst="roundRect">
            <a:avLst>
              <a:gd name="adj" fmla="val 2150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Code 22"/>
          <p:cNvSpPr txBox="1"/>
          <p:nvPr/>
        </p:nvSpPr>
        <p:spPr>
          <a:xfrm>
            <a:off x="4297680" y="3346704"/>
            <a:ext cx="4187951" cy="850392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cancel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0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._ensure_pending(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"dibatalkan"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700" i="0">
                <a:solidFill>
                  <a:srgbClr val="E6EDF3"/>
                </a:solidFill>
                <a:latin typeface="Inconsolata"/>
              </a:rPr>
              <a:t>.</a:t>
            </a:r>
            <a:r>
              <a:rPr sz="700" i="0">
                <a:solidFill>
                  <a:srgbClr val="7FDBCA"/>
                </a:solidFill>
                <a:latin typeface="Inconsolata"/>
              </a:rPr>
              <a:t>CANCELLED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...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__eq__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other) -&gt; </a:t>
            </a:r>
            <a:r>
              <a:rPr sz="700" i="0">
                <a:solidFill>
                  <a:srgbClr val="C3A6FF"/>
                </a:solidFill>
                <a:latin typeface="Inconsolata"/>
              </a:rPr>
              <a:t>bool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isinstance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(other,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</a:t>
            </a:r>
            <a:r>
              <a:rPr sz="700" i="0">
                <a:solidFill>
                  <a:srgbClr val="FF8E6E"/>
                </a:solidFill>
                <a:latin typeface="Inconsolata"/>
              </a:rPr>
              <a:t>and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.id == other.id</a:t>
            </a:r>
          </a:p>
        </p:txBody>
      </p:sp>
      <p:sp>
        <p:nvSpPr>
          <p:cNvPr id="38" name="Box 23"/>
          <p:cNvSpPr/>
          <p:nvPr/>
        </p:nvSpPr>
        <p:spPr>
          <a:xfrm>
            <a:off x="4379976" y="3567303"/>
            <a:ext cx="4023359" cy="107442"/>
          </a:xfrm>
          <a:prstGeom prst="roundRect">
            <a:avLst>
              <a:gd name="adj" fmla="val 42553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4379976" y="3910203"/>
            <a:ext cx="4023359" cy="221742"/>
          </a:xfrm>
          <a:prstGeom prst="roundRect">
            <a:avLst>
              <a:gd name="adj" fmla="val 20618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Text 25"/>
          <p:cNvSpPr txBox="1"/>
          <p:nvPr/>
        </p:nvSpPr>
        <p:spPr>
          <a:xfrm>
            <a:off x="4297680" y="4288536"/>
            <a:ext cx="4187951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"An object defined primarily by its identity is called an Entity."  Eric Evans</a:t>
            </a:r>
          </a:p>
        </p:txBody>
      </p:sp>
    </p:spTree>
    <p:extLst>
      <p:ext uri="{BB962C8B-B14F-4D97-AF65-F5344CB8AC3E}">
        <p14:creationId xmlns:p14="http://schemas.microsoft.com/office/powerpoint/2010/main" val="8591173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Entity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Entity?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Entity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Order hanya wadah data (dataclass). Status bisa diubah dari mana saja, misalnya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order.status = "cancelled"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walaupun order tersebut sudah dibayar.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aturannya makin banyak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Aturan "hanya order pending yang bisa dibatalkan" harus diingat oleh setiap developer yang mengubah status.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Hal ini menimbulkan potensi order yang sudah dibayar tercatat batal.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Yang dipakai dari Python: __eq__ dan __hash__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__eq__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mengatur kapan dua object dianggap sama, di sini jika idnya sama.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__hash__</a:t>
            </a:r>
            <a:r>
              <a:rPr sz="950" b="0" i="0">
                <a:solidFill>
                  <a:srgbClr val="434343"/>
                </a:solidFill>
                <a:latin typeface="Inter"/>
              </a:rPr>
              <a:t> ikut disesuaikan supaya object tetap bisa dipakai di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set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dan sebagai key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dict</a:t>
            </a:r>
            <a:r>
              <a:rPr sz="95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  <p:sp>
        <p:nvSpPr>
          <p:cNvPr id="23" name="CodeTab 5"/>
          <p:cNvSpPr/>
          <p:nvPr/>
        </p:nvSpPr>
        <p:spPr>
          <a:xfrm>
            <a:off x="4800600" y="1481328"/>
            <a:ext cx="368503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91032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504748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518464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5349240" y="1490472"/>
            <a:ext cx="304495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04-entity/after.py (baris 42-46)</a:t>
            </a:r>
          </a:p>
        </p:txBody>
      </p:sp>
      <p:sp>
        <p:nvSpPr>
          <p:cNvPr id="28" name="CodeBg 11"/>
          <p:cNvSpPr/>
          <p:nvPr/>
        </p:nvSpPr>
        <p:spPr>
          <a:xfrm>
            <a:off x="4800600" y="1719072"/>
            <a:ext cx="3685032" cy="896112"/>
          </a:xfrm>
          <a:prstGeom prst="roundRect">
            <a:avLst>
              <a:gd name="adj" fmla="val 2040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800600" y="1719072"/>
            <a:ext cx="3685032" cy="896112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__eq__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other) -&gt; </a:t>
            </a:r>
            <a:r>
              <a:rPr sz="800" i="0">
                <a:solidFill>
                  <a:srgbClr val="C3A6FF"/>
                </a:solidFill>
                <a:latin typeface="Inconsolata"/>
              </a:rPr>
              <a:t>bool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isinstance</a:t>
            </a:r>
            <a:r>
              <a:rPr sz="800" i="0">
                <a:solidFill>
                  <a:srgbClr val="E6EDF3"/>
                </a:solidFill>
                <a:latin typeface="Inconsolata"/>
              </a:rPr>
              <a:t>(other,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</a:t>
            </a:r>
            <a:r>
              <a:rPr sz="800" i="0">
                <a:solidFill>
                  <a:srgbClr val="FF8E6E"/>
                </a:solidFill>
                <a:latin typeface="Inconsolata"/>
              </a:rPr>
              <a:t>and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.id == other.id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__hash__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hash(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.id)</a:t>
            </a:r>
          </a:p>
        </p:txBody>
      </p:sp>
      <p:graphicFrame>
        <p:nvGraphicFramePr>
          <p:cNvPr id="30" name="Table 13"/>
          <p:cNvGraphicFramePr>
            <a:graphicFrameLocks noGrp="1"/>
          </p:cNvGraphicFramePr>
          <p:nvPr/>
        </p:nvGraphicFramePr>
        <p:xfrm>
          <a:off x="4800600" y="2779776"/>
          <a:ext cx="3685032" cy="1371600"/>
        </p:xfrm>
        <a:graphic>
          <a:graphicData uri="http://schemas.openxmlformats.org/drawingml/2006/table">
            <a:tbl>
              <a:tblPr firstRow="1" bandRow="1"/>
              <a:tblGrid>
                <a:gridCol w="25877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Ditulis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Hasilnya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Order(1, "budi", 100) == Order(1, "budi", 500)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True, idnya sama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Order(1, "budi", 100) == Order(2, "budi", 100)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False, idnya berbeda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2522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Entity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Status bisa diubah sembarangan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50799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86791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04-entity/before.py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507992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507992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50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dataclass, replace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50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id: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status: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"pending"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order.status 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"paid"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order.status 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"cancelled"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padahal sudah dibayar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(order.status)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before_paid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after_paid = replace(before_paid, status=</a:t>
            </a:r>
            <a:r>
              <a:rPr sz="850" i="0">
                <a:solidFill>
                  <a:srgbClr val="A5D6A7"/>
                </a:solidFill>
                <a:latin typeface="Inconsolata"/>
              </a:rPr>
              <a:t>"paid"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(before_paid == after_paid)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False, padahal order #1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946273"/>
            <a:ext cx="4343400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4928616" y="28930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644773"/>
            <a:ext cx="4343400" cy="271018"/>
          </a:xfrm>
          <a:prstGeom prst="roundRect">
            <a:avLst>
              <a:gd name="adj" fmla="val 16869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4928616" y="366141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4203573"/>
            <a:ext cx="4343400" cy="410718"/>
          </a:xfrm>
          <a:prstGeom prst="roundRect">
            <a:avLst>
              <a:gd name="adj" fmla="val 11131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4928616" y="42900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CodeTab 19"/>
          <p:cNvSpPr/>
          <p:nvPr/>
        </p:nvSpPr>
        <p:spPr>
          <a:xfrm>
            <a:off x="5285231" y="1481328"/>
            <a:ext cx="320040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Dot 20"/>
          <p:cNvSpPr/>
          <p:nvPr/>
        </p:nvSpPr>
        <p:spPr>
          <a:xfrm>
            <a:off x="5394959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Dot 21"/>
          <p:cNvSpPr/>
          <p:nvPr/>
        </p:nvSpPr>
        <p:spPr>
          <a:xfrm>
            <a:off x="553212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Dot 22"/>
          <p:cNvSpPr/>
          <p:nvPr/>
        </p:nvSpPr>
        <p:spPr>
          <a:xfrm>
            <a:off x="5669279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 23"/>
          <p:cNvSpPr txBox="1"/>
          <p:nvPr/>
        </p:nvSpPr>
        <p:spPr>
          <a:xfrm>
            <a:off x="5833871" y="1490472"/>
            <a:ext cx="256032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40" name="CodeBg 25"/>
          <p:cNvSpPr/>
          <p:nvPr/>
        </p:nvSpPr>
        <p:spPr>
          <a:xfrm>
            <a:off x="5285231" y="1719072"/>
            <a:ext cx="3200400" cy="420623"/>
          </a:xfrm>
          <a:prstGeom prst="roundRect">
            <a:avLst>
              <a:gd name="adj" fmla="val 4347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Code 26"/>
          <p:cNvSpPr txBox="1"/>
          <p:nvPr/>
        </p:nvSpPr>
        <p:spPr>
          <a:xfrm>
            <a:off x="5285231" y="1719072"/>
            <a:ext cx="3200400" cy="420623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82B1FF"/>
                </a:solidFill>
                <a:latin typeface="Inconsolata"/>
              </a:rPr>
              <a:t>$ cd sesi-03-domain-driven-design/04-entity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42" name="Image 27" descr="s03-04-entity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1" y="2212848"/>
            <a:ext cx="3200400" cy="810314"/>
          </a:xfrm>
          <a:prstGeom prst="rect">
            <a:avLst/>
          </a:prstGeom>
        </p:spPr>
      </p:pic>
      <p:sp>
        <p:nvSpPr>
          <p:cNvPr id="43" name="Box 28"/>
          <p:cNvSpPr/>
          <p:nvPr/>
        </p:nvSpPr>
        <p:spPr>
          <a:xfrm>
            <a:off x="5285231" y="3114602"/>
            <a:ext cx="3200400" cy="1585413"/>
          </a:xfrm>
          <a:prstGeom prst="roundRect">
            <a:avLst>
              <a:gd name="adj" fmla="val 6921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4" name="Text 29"/>
          <p:cNvSpPr txBox="1"/>
          <p:nvPr/>
        </p:nvSpPr>
        <p:spPr>
          <a:xfrm>
            <a:off x="5422392" y="3206042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45" name="Text 30"/>
          <p:cNvSpPr txBox="1"/>
          <p:nvPr/>
        </p:nvSpPr>
        <p:spPr>
          <a:xfrm>
            <a:off x="5422392" y="3526082"/>
            <a:ext cx="2926080" cy="108249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Status cuma string, bisa diisi apa saja dari luar (baris 16)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Order yang sudah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paid</a:t>
            </a:r>
            <a:r>
              <a:rPr sz="850" b="0" i="0">
                <a:solidFill>
                  <a:srgbClr val="434343"/>
                </a:solidFill>
                <a:latin typeface="Inter"/>
              </a:rPr>
              <a:t> tetap bisa diubah jadi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cancelled</a:t>
            </a:r>
            <a:r>
              <a:rPr sz="850" b="0" i="0">
                <a:solidFill>
                  <a:srgbClr val="434343"/>
                </a:solidFill>
                <a:latin typeface="Inter"/>
              </a:rPr>
              <a:t> (baris 21-22)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850" b="0" i="0">
                <a:solidFill>
                  <a:srgbClr val="434343"/>
                </a:solidFill>
                <a:latin typeface="Inter"/>
              </a:rPr>
              <a:t>Order #1 dianggap berbeda setelah statusnya berubah (baris 25-27)</a:t>
            </a:r>
          </a:p>
        </p:txBody>
      </p:sp>
    </p:spTree>
    <p:extLst>
      <p:ext uri="{BB962C8B-B14F-4D97-AF65-F5344CB8AC3E}">
        <p14:creationId xmlns:p14="http://schemas.microsoft.com/office/powerpoint/2010/main" val="2960563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Entity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Order punya identitas dan lifecycle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04-entity/after.py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 8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from</a:t>
            </a:r>
            <a:r>
              <a:rPr sz="645" i="0">
                <a:solidFill>
                  <a:srgbClr val="E6EDF3"/>
                </a:solidFill>
                <a:latin typeface="Inconsolata"/>
              </a:rPr>
              <a:t> enum </a:t>
            </a:r>
            <a:r>
              <a:rPr sz="645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7FDBCA"/>
                </a:solidFill>
                <a:latin typeface="Inconsolata"/>
              </a:rPr>
              <a:t>Enum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 9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10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11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C3A6FF"/>
                </a:solidFill>
                <a:latin typeface="Inconsolata"/>
              </a:rPr>
              <a:t>str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</a:t>
            </a:r>
            <a:r>
              <a:rPr sz="645" i="0">
                <a:solidFill>
                  <a:srgbClr val="7FDBCA"/>
                </a:solidFill>
                <a:latin typeface="Inconsolata"/>
              </a:rPr>
              <a:t>Enum</a:t>
            </a:r>
            <a:r>
              <a:rPr sz="645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12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645" i="0">
                <a:solidFill>
                  <a:srgbClr val="E6EDF3"/>
                </a:solidFill>
                <a:latin typeface="Inconsolata"/>
              </a:rPr>
              <a:t> = </a:t>
            </a:r>
            <a:r>
              <a:rPr sz="645" i="0">
                <a:solidFill>
                  <a:srgbClr val="A5D6A7"/>
                </a:solidFill>
                <a:latin typeface="Inconsolata"/>
              </a:rPr>
              <a:t>"pending"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13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7FDBCA"/>
                </a:solidFill>
                <a:latin typeface="Inconsolata"/>
              </a:rPr>
              <a:t>PAID</a:t>
            </a:r>
            <a:r>
              <a:rPr sz="645" i="0">
                <a:solidFill>
                  <a:srgbClr val="E6EDF3"/>
                </a:solidFill>
                <a:latin typeface="Inconsolata"/>
              </a:rPr>
              <a:t> = </a:t>
            </a:r>
            <a:r>
              <a:rPr sz="645" i="0">
                <a:solidFill>
                  <a:srgbClr val="A5D6A7"/>
                </a:solidFill>
                <a:latin typeface="Inconsolata"/>
              </a:rPr>
              <a:t>"paid"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14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7FDBCA"/>
                </a:solidFill>
                <a:latin typeface="Inconsolata"/>
              </a:rPr>
              <a:t>CANCELLED</a:t>
            </a:r>
            <a:r>
              <a:rPr sz="645" i="0">
                <a:solidFill>
                  <a:srgbClr val="E6EDF3"/>
                </a:solidFill>
                <a:latin typeface="Inconsolata"/>
              </a:rPr>
              <a:t> = </a:t>
            </a:r>
            <a:r>
              <a:rPr sz="645" i="0">
                <a:solidFill>
                  <a:srgbClr val="A5D6A7"/>
                </a:solidFill>
                <a:latin typeface="Inconsolata"/>
              </a:rPr>
              <a:t>"cancelled"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15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16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17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645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18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pass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19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20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21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4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22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def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id: </a:t>
            </a:r>
            <a:r>
              <a:rPr sz="645" i="0">
                <a:solidFill>
                  <a:srgbClr val="C3A6FF"/>
                </a:solidFill>
                <a:latin typeface="Inconsolata"/>
              </a:rPr>
              <a:t>int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str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total: </a:t>
            </a:r>
            <a:r>
              <a:rPr sz="645" i="0">
                <a:solidFill>
                  <a:srgbClr val="C3A6FF"/>
                </a:solidFill>
                <a:latin typeface="Inconsolata"/>
              </a:rPr>
              <a:t>int</a:t>
            </a:r>
            <a:r>
              <a:rPr sz="645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23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.id = id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24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.customer = customer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25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.total = total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26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645" i="0">
                <a:solidFill>
                  <a:srgbClr val="E6EDF3"/>
                </a:solidFill>
                <a:latin typeface="Inconsolata"/>
              </a:rPr>
              <a:t>.</a:t>
            </a:r>
            <a:r>
              <a:rPr sz="645" i="0">
                <a:solidFill>
                  <a:srgbClr val="7FDBCA"/>
                </a:solidFill>
                <a:latin typeface="Inconsolata"/>
              </a:rPr>
              <a:t>PENDING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27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28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def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82B1FF"/>
                </a:solidFill>
                <a:latin typeface="Inconsolata"/>
              </a:rPr>
              <a:t>pay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4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4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29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._ensure_pending(</a:t>
            </a:r>
            <a:r>
              <a:rPr sz="645" i="0">
                <a:solidFill>
                  <a:srgbClr val="A5D6A7"/>
                </a:solidFill>
                <a:latin typeface="Inconsolata"/>
              </a:rPr>
              <a:t>"dibayar"</a:t>
            </a:r>
            <a:r>
              <a:rPr sz="645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30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645" i="0">
                <a:solidFill>
                  <a:srgbClr val="E6EDF3"/>
                </a:solidFill>
                <a:latin typeface="Inconsolata"/>
              </a:rPr>
              <a:t>.</a:t>
            </a:r>
            <a:r>
              <a:rPr sz="645" i="0">
                <a:solidFill>
                  <a:srgbClr val="7FDBCA"/>
                </a:solidFill>
                <a:latin typeface="Inconsolata"/>
              </a:rPr>
              <a:t>PAID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31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32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def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82B1FF"/>
                </a:solidFill>
                <a:latin typeface="Inconsolata"/>
              </a:rPr>
              <a:t>cancel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4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4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33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._ensure_pending(</a:t>
            </a:r>
            <a:r>
              <a:rPr sz="645" i="0">
                <a:solidFill>
                  <a:srgbClr val="A5D6A7"/>
                </a:solidFill>
                <a:latin typeface="Inconsolata"/>
              </a:rPr>
              <a:t>"dibatalkan"</a:t>
            </a:r>
            <a:r>
              <a:rPr sz="645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34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645" i="0">
                <a:solidFill>
                  <a:srgbClr val="E6EDF3"/>
                </a:solidFill>
                <a:latin typeface="Inconsolata"/>
              </a:rPr>
              <a:t>.</a:t>
            </a:r>
            <a:r>
              <a:rPr sz="645" i="0">
                <a:solidFill>
                  <a:srgbClr val="7FDBCA"/>
                </a:solidFill>
                <a:latin typeface="Inconsolata"/>
              </a:rPr>
              <a:t>CANCELLED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04-entity/after.py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36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def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82B1FF"/>
                </a:solidFill>
                <a:latin typeface="Inconsolata"/>
              </a:rPr>
              <a:t>_ensure_pending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action: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str</a:t>
            </a:r>
            <a:r>
              <a:rPr sz="64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4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4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37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if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.status !=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645" i="0">
                <a:solidFill>
                  <a:srgbClr val="E6EDF3"/>
                </a:solidFill>
                <a:latin typeface="Inconsolata"/>
              </a:rPr>
              <a:t>.</a:t>
            </a:r>
            <a:r>
              <a:rPr sz="645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64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38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39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        </a:t>
            </a:r>
            <a:r>
              <a:rPr sz="645" i="0">
                <a:solidFill>
                  <a:srgbClr val="A5D6A7"/>
                </a:solidFill>
                <a:latin typeface="Inconsolata"/>
              </a:rPr>
              <a:t>f"Order {self.status.value} tidak bisa {action}"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40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    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41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42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def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82B1FF"/>
                </a:solidFill>
                <a:latin typeface="Inconsolata"/>
              </a:rPr>
              <a:t>__eq__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other) -&gt; </a:t>
            </a:r>
            <a:r>
              <a:rPr sz="645" i="0">
                <a:solidFill>
                  <a:srgbClr val="C3A6FF"/>
                </a:solidFill>
                <a:latin typeface="Inconsolata"/>
              </a:rPr>
              <a:t>bool</a:t>
            </a:r>
            <a:r>
              <a:rPr sz="64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43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C3A6FF"/>
                </a:solidFill>
                <a:latin typeface="Inconsolata"/>
              </a:rPr>
              <a:t>isinstance</a:t>
            </a:r>
            <a:r>
              <a:rPr sz="645" i="0">
                <a:solidFill>
                  <a:srgbClr val="E6EDF3"/>
                </a:solidFill>
                <a:latin typeface="Inconsolata"/>
              </a:rPr>
              <a:t>(other,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45" i="0">
                <a:solidFill>
                  <a:srgbClr val="E6EDF3"/>
                </a:solidFill>
                <a:latin typeface="Inconsolata"/>
              </a:rPr>
              <a:t>) </a:t>
            </a:r>
            <a:r>
              <a:rPr sz="645" i="0">
                <a:solidFill>
                  <a:srgbClr val="FF8E6E"/>
                </a:solidFill>
                <a:latin typeface="Inconsolata"/>
              </a:rPr>
              <a:t>and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.id == other.id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44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45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def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82B1FF"/>
                </a:solidFill>
                <a:latin typeface="Inconsolata"/>
              </a:rPr>
              <a:t>__hash__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45" i="0">
                <a:solidFill>
                  <a:srgbClr val="C3A6FF"/>
                </a:solidFill>
                <a:latin typeface="Inconsolata"/>
              </a:rPr>
              <a:t>int</a:t>
            </a:r>
            <a:r>
              <a:rPr sz="64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46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45" i="0">
                <a:solidFill>
                  <a:srgbClr val="E6EDF3"/>
                </a:solidFill>
                <a:latin typeface="Inconsolata"/>
              </a:rPr>
              <a:t> hash(</a:t>
            </a:r>
            <a:r>
              <a:rPr sz="64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45" i="0">
                <a:solidFill>
                  <a:srgbClr val="E6EDF3"/>
                </a:solidFill>
                <a:latin typeface="Inconsolata"/>
              </a:rPr>
              <a:t>.id)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47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48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49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if</a:t>
            </a:r>
            <a:r>
              <a:rPr sz="645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645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64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50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F9C97A"/>
                </a:solidFill>
                <a:latin typeface="Inconsolata"/>
              </a:rPr>
              <a:t>1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</a:t>
            </a:r>
            <a:r>
              <a:rPr sz="645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</a:t>
            </a:r>
            <a:r>
              <a:rPr sz="645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645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51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order.pay()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52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try</a:t>
            </a:r>
            <a:r>
              <a:rPr sz="64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53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order.cancel()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54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  <a:r>
              <a:rPr sz="645" i="0">
                <a:solidFill>
                  <a:srgbClr val="FF8E6E"/>
                </a:solidFill>
                <a:latin typeface="Inconsolata"/>
              </a:rPr>
              <a:t>as</a:t>
            </a:r>
            <a:r>
              <a:rPr sz="645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55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A5D6A7"/>
                </a:solidFill>
                <a:latin typeface="Inconsolata"/>
              </a:rPr>
              <a:t>"Ditolak:"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e)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56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57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1">
                <a:solidFill>
                  <a:srgbClr val="8B98A8"/>
                </a:solidFill>
                <a:latin typeface="Inconsolata"/>
              </a:rPr>
              <a:t># True: id-nya sama, walaupun statusnya berbeda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645" i="0">
                <a:solidFill>
                  <a:srgbClr val="5C6773"/>
                </a:solidFill>
                <a:latin typeface="Inconsolata"/>
              </a:rPr>
              <a:t>58  </a:t>
            </a:r>
            <a:r>
              <a:rPr sz="64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45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645" i="0">
                <a:solidFill>
                  <a:srgbClr val="E6EDF3"/>
                </a:solidFill>
                <a:latin typeface="Inconsolata"/>
              </a:rPr>
              <a:t>(order == </a:t>
            </a:r>
            <a:r>
              <a:rPr sz="64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45" i="0">
                <a:solidFill>
                  <a:srgbClr val="E6EDF3"/>
                </a:solidFill>
                <a:latin typeface="Inconsolata"/>
              </a:rPr>
              <a:t>(</a:t>
            </a:r>
            <a:r>
              <a:rPr sz="645" i="0">
                <a:solidFill>
                  <a:srgbClr val="F9C97A"/>
                </a:solidFill>
                <a:latin typeface="Inconsolata"/>
              </a:rPr>
              <a:t>1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</a:t>
            </a:r>
            <a:r>
              <a:rPr sz="645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645" i="0">
                <a:solidFill>
                  <a:srgbClr val="E6EDF3"/>
                </a:solidFill>
                <a:latin typeface="Inconsolata"/>
              </a:rPr>
              <a:t>, </a:t>
            </a:r>
            <a:r>
              <a:rPr sz="645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645" i="0">
                <a:solidFill>
                  <a:srgbClr val="E6EDF3"/>
                </a:solidFill>
                <a:latin typeface="Inconsolata"/>
              </a:rPr>
              <a:t>))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3855720"/>
            <a:ext cx="3694176" cy="705103"/>
          </a:xfrm>
          <a:prstGeom prst="roundRect">
            <a:avLst>
              <a:gd name="adj" fmla="val 648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408940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1823720"/>
            <a:ext cx="3694176" cy="501904"/>
          </a:xfrm>
          <a:prstGeom prst="roundRect">
            <a:avLst>
              <a:gd name="adj" fmla="val 9109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8284463" y="195580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Box 25"/>
          <p:cNvSpPr/>
          <p:nvPr/>
        </p:nvSpPr>
        <p:spPr>
          <a:xfrm>
            <a:off x="4709159" y="2433320"/>
            <a:ext cx="3694176" cy="501904"/>
          </a:xfrm>
          <a:prstGeom prst="roundRect">
            <a:avLst>
              <a:gd name="adj" fmla="val 9109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Box 26"/>
          <p:cNvSpPr/>
          <p:nvPr/>
        </p:nvSpPr>
        <p:spPr>
          <a:xfrm>
            <a:off x="8284463" y="256540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42" name="Box 27"/>
          <p:cNvSpPr/>
          <p:nvPr/>
        </p:nvSpPr>
        <p:spPr>
          <a:xfrm>
            <a:off x="4709159" y="3347720"/>
            <a:ext cx="3694176" cy="806703"/>
          </a:xfrm>
          <a:prstGeom prst="roundRect">
            <a:avLst>
              <a:gd name="adj" fmla="val 566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3" name="Box 28"/>
          <p:cNvSpPr/>
          <p:nvPr/>
        </p:nvSpPr>
        <p:spPr>
          <a:xfrm>
            <a:off x="8284463" y="363220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885429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Entity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04-entity/after.py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sesi-03-domain-driven-design/04-entity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3-04-entity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08813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Status hanya berubah lewat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pay()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cancel()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28-34)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_ensure_pending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menjaga aturan: hanya order pending yang bisa diubah (baris 36-40)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Identitas: dua order dianggap sama jika idnya sama (baris 42-46)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Batal setelah bayar ditolak, dan order #1 tetap dianggap sama (baris 51-58)</a:t>
            </a:r>
          </a:p>
        </p:txBody>
      </p:sp>
    </p:spTree>
    <p:extLst>
      <p:ext uri="{BB962C8B-B14F-4D97-AF65-F5344CB8AC3E}">
        <p14:creationId xmlns:p14="http://schemas.microsoft.com/office/powerpoint/2010/main" val="17437373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Aggregate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Aggregate?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5204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Aggregate adalah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Konsep DDD untuk kumpulan object yang selalu diubah </a:t>
            </a:r>
            <a:r>
              <a:rPr sz="900" b="1" i="0">
                <a:solidFill>
                  <a:srgbClr val="434343"/>
                </a:solidFill>
                <a:latin typeface="Inter"/>
              </a:rPr>
              <a:t>bersama sebagai satu unit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lewat satu pintu yang disebut </a:t>
            </a:r>
            <a:r>
              <a:rPr sz="900" b="1" i="0">
                <a:solidFill>
                  <a:srgbClr val="434343"/>
                </a:solidFill>
                <a:latin typeface="Inter"/>
              </a:rPr>
              <a:t>aggregate root</a:t>
            </a:r>
            <a:r>
              <a:rPr sz="900" b="0" i="0">
                <a:solidFill>
                  <a:srgbClr val="434343"/>
                </a:solidFill>
                <a:latin typeface="Inter"/>
              </a:rPr>
              <a:t>. Sehingga di contoh ini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menjadi root, dan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OrderLine</a:t>
            </a:r>
            <a:r>
              <a:rPr sz="900" b="0" i="0">
                <a:solidFill>
                  <a:srgbClr val="434343"/>
                </a:solidFill>
                <a:latin typeface="Inter"/>
              </a:rPr>
              <a:t> hanya bisa ditambah lewat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Untuk apa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Menjaga aturan order dan item di satu tempat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Memastikan data di dalamnya selalu konsisten, misalnya total selalu sesuai item</a:t>
            </a:r>
          </a:p>
        </p:txBody>
      </p:sp>
      <p:sp>
        <p:nvSpPr>
          <p:cNvPr id="23" name="CodeTab 5"/>
          <p:cNvSpPr/>
          <p:nvPr/>
        </p:nvSpPr>
        <p:spPr>
          <a:xfrm>
            <a:off x="4297680" y="1481328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6817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846320" y="1490472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aggregate: 05-aggregate/before.py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297680" y="1719072"/>
            <a:ext cx="4187951" cy="1069848"/>
          </a:xfrm>
          <a:prstGeom prst="roundRect">
            <a:avLst>
              <a:gd name="adj" fmla="val 1709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297680" y="1719072"/>
            <a:ext cx="4187951" cy="106984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25" i="0">
                <a:solidFill>
                  <a:srgbClr val="E6EDF3"/>
                </a:solidFill>
                <a:latin typeface="Inconsolata"/>
              </a:rPr>
              <a:t> </a:t>
            </a:r>
            <a:r>
              <a:rPr sz="62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2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625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lines: </a:t>
            </a:r>
            <a:r>
              <a:rPr sz="625" i="0">
                <a:solidFill>
                  <a:srgbClr val="C3A6FF"/>
                </a:solidFill>
                <a:latin typeface="Inconsolata"/>
              </a:rPr>
              <a:t>list</a:t>
            </a:r>
            <a:r>
              <a:rPr sz="625" i="0">
                <a:solidFill>
                  <a:srgbClr val="E6EDF3"/>
                </a:solidFill>
                <a:latin typeface="Inconsolata"/>
              </a:rPr>
              <a:t>[</a:t>
            </a:r>
            <a:r>
              <a:rPr sz="625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625" i="0">
                <a:solidFill>
                  <a:srgbClr val="E6EDF3"/>
                </a:solidFill>
                <a:latin typeface="Inconsolata"/>
              </a:rPr>
              <a:t>] = field(default_factory=</a:t>
            </a:r>
            <a:r>
              <a:rPr sz="625" i="0">
                <a:solidFill>
                  <a:srgbClr val="C3A6FF"/>
                </a:solidFill>
                <a:latin typeface="Inconsolata"/>
              </a:rPr>
              <a:t>list</a:t>
            </a:r>
            <a:r>
              <a:rPr sz="625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total: </a:t>
            </a:r>
            <a:r>
              <a:rPr sz="625" i="0">
                <a:solidFill>
                  <a:srgbClr val="C3A6FF"/>
                </a:solidFill>
                <a:latin typeface="Inconsolata"/>
              </a:rPr>
              <a:t>int</a:t>
            </a:r>
            <a:r>
              <a:rPr sz="625" i="0">
                <a:solidFill>
                  <a:srgbClr val="E6EDF3"/>
                </a:solidFill>
                <a:latin typeface="Inconsolata"/>
              </a:rPr>
              <a:t> = </a:t>
            </a:r>
            <a:r>
              <a:rPr sz="625" i="0">
                <a:solidFill>
                  <a:srgbClr val="F9C97A"/>
                </a:solidFill>
                <a:latin typeface="Inconsolata"/>
              </a:rPr>
              <a:t>0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status: </a:t>
            </a:r>
            <a:r>
              <a:rPr sz="625" i="0">
                <a:solidFill>
                  <a:srgbClr val="C3A6FF"/>
                </a:solidFill>
                <a:latin typeface="Inconsolata"/>
              </a:rPr>
              <a:t>str</a:t>
            </a:r>
            <a:r>
              <a:rPr sz="625" i="0">
                <a:solidFill>
                  <a:srgbClr val="E6EDF3"/>
                </a:solidFill>
                <a:latin typeface="Inconsolata"/>
              </a:rPr>
              <a:t> = </a:t>
            </a:r>
            <a:r>
              <a:rPr sz="625" i="0">
                <a:solidFill>
                  <a:srgbClr val="A5D6A7"/>
                </a:solidFill>
                <a:latin typeface="Inconsolata"/>
              </a:rPr>
              <a:t>"pending"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...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order.lines.append(</a:t>
            </a:r>
            <a:r>
              <a:rPr sz="625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625" i="0">
                <a:solidFill>
                  <a:srgbClr val="E6EDF3"/>
                </a:solidFill>
                <a:latin typeface="Inconsolata"/>
              </a:rPr>
              <a:t>(</a:t>
            </a:r>
            <a:r>
              <a:rPr sz="625" i="0">
                <a:solidFill>
                  <a:srgbClr val="A5D6A7"/>
                </a:solidFill>
                <a:latin typeface="Inconsolata"/>
              </a:rPr>
              <a:t>"Keyboard"</a:t>
            </a:r>
            <a:r>
              <a:rPr sz="625" i="0">
                <a:solidFill>
                  <a:srgbClr val="E6EDF3"/>
                </a:solidFill>
                <a:latin typeface="Inconsolata"/>
              </a:rPr>
              <a:t>, </a:t>
            </a:r>
            <a:r>
              <a:rPr sz="625" i="0">
                <a:solidFill>
                  <a:srgbClr val="F9C97A"/>
                </a:solidFill>
                <a:latin typeface="Inconsolata"/>
              </a:rPr>
              <a:t>500_000</a:t>
            </a:r>
            <a:r>
              <a:rPr sz="625" i="0">
                <a:solidFill>
                  <a:srgbClr val="E6EDF3"/>
                </a:solidFill>
                <a:latin typeface="Inconsolata"/>
              </a:rPr>
              <a:t>, </a:t>
            </a:r>
            <a:r>
              <a:rPr sz="625" i="0">
                <a:solidFill>
                  <a:srgbClr val="F9C97A"/>
                </a:solidFill>
                <a:latin typeface="Inconsolata"/>
              </a:rPr>
              <a:t>2</a:t>
            </a:r>
            <a:r>
              <a:rPr sz="625" i="0">
                <a:solidFill>
                  <a:srgbClr val="E6EDF3"/>
                </a:solidFill>
                <a:latin typeface="Inconsolata"/>
              </a:rPr>
              <a:t>))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25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625" i="0">
                <a:solidFill>
                  <a:srgbClr val="E6EDF3"/>
                </a:solidFill>
                <a:latin typeface="Inconsolata"/>
              </a:rPr>
              <a:t>(order.total)  </a:t>
            </a:r>
            <a:r>
              <a:rPr sz="625" i="1">
                <a:solidFill>
                  <a:srgbClr val="8B98A8"/>
                </a:solidFill>
                <a:latin typeface="Inconsolata"/>
              </a:rPr>
              <a:t># 0, total lupa dihitung</a:t>
            </a:r>
          </a:p>
        </p:txBody>
      </p:sp>
      <p:sp>
        <p:nvSpPr>
          <p:cNvPr id="30" name="Box 13"/>
          <p:cNvSpPr/>
          <p:nvPr/>
        </p:nvSpPr>
        <p:spPr>
          <a:xfrm>
            <a:off x="4379976" y="2534920"/>
            <a:ext cx="4023359" cy="197104"/>
          </a:xfrm>
          <a:prstGeom prst="roundRect">
            <a:avLst>
              <a:gd name="adj" fmla="val 23195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Tab 15"/>
          <p:cNvSpPr/>
          <p:nvPr/>
        </p:nvSpPr>
        <p:spPr>
          <a:xfrm>
            <a:off x="4297680" y="2880360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4407408" y="2958084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544568" y="2958084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681728" y="2958084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19"/>
          <p:cNvSpPr txBox="1"/>
          <p:nvPr/>
        </p:nvSpPr>
        <p:spPr>
          <a:xfrm>
            <a:off x="4846320" y="2889504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aggregate: 05-aggregate/after.py</a:t>
            </a:r>
          </a:p>
        </p:txBody>
      </p:sp>
      <p:sp>
        <p:nvSpPr>
          <p:cNvPr id="36" name="CodeBg 21"/>
          <p:cNvSpPr/>
          <p:nvPr/>
        </p:nvSpPr>
        <p:spPr>
          <a:xfrm>
            <a:off x="4297680" y="3118104"/>
            <a:ext cx="4187951" cy="1078992"/>
          </a:xfrm>
          <a:prstGeom prst="roundRect">
            <a:avLst>
              <a:gd name="adj" fmla="val 1694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Code 22"/>
          <p:cNvSpPr txBox="1"/>
          <p:nvPr/>
        </p:nvSpPr>
        <p:spPr>
          <a:xfrm>
            <a:off x="4297680" y="3118104"/>
            <a:ext cx="4187951" cy="1078992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25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25" i="0">
                <a:solidFill>
                  <a:srgbClr val="FF8E6E"/>
                </a:solidFill>
                <a:latin typeface="Inconsolata"/>
              </a:rPr>
              <a:t>def</a:t>
            </a:r>
            <a:r>
              <a:rPr sz="625" i="0">
                <a:solidFill>
                  <a:srgbClr val="E6EDF3"/>
                </a:solidFill>
                <a:latin typeface="Inconsolata"/>
              </a:rPr>
              <a:t> </a:t>
            </a:r>
            <a:r>
              <a:rPr sz="625" i="0">
                <a:solidFill>
                  <a:srgbClr val="82B1FF"/>
                </a:solidFill>
                <a:latin typeface="Inconsolata"/>
              </a:rPr>
              <a:t>lines</a:t>
            </a:r>
            <a:r>
              <a:rPr sz="625" i="0">
                <a:solidFill>
                  <a:srgbClr val="E6EDF3"/>
                </a:solidFill>
                <a:latin typeface="Inconsolata"/>
              </a:rPr>
              <a:t>(</a:t>
            </a:r>
            <a:r>
              <a:rPr sz="6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2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25" i="0">
                <a:solidFill>
                  <a:srgbClr val="C3A6FF"/>
                </a:solidFill>
                <a:latin typeface="Inconsolata"/>
              </a:rPr>
              <a:t>tuple</a:t>
            </a:r>
            <a:r>
              <a:rPr sz="625" i="0">
                <a:solidFill>
                  <a:srgbClr val="E6EDF3"/>
                </a:solidFill>
                <a:latin typeface="Inconsolata"/>
              </a:rPr>
              <a:t>[</a:t>
            </a:r>
            <a:r>
              <a:rPr sz="625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625" i="0">
                <a:solidFill>
                  <a:srgbClr val="E6EDF3"/>
                </a:solidFill>
                <a:latin typeface="Inconsolata"/>
              </a:rPr>
              <a:t>, ...]: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25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25" i="0">
                <a:solidFill>
                  <a:srgbClr val="E6EDF3"/>
                </a:solidFill>
                <a:latin typeface="Inconsolata"/>
              </a:rPr>
              <a:t> </a:t>
            </a:r>
            <a:r>
              <a:rPr sz="625" i="0">
                <a:solidFill>
                  <a:srgbClr val="C3A6FF"/>
                </a:solidFill>
                <a:latin typeface="Inconsolata"/>
              </a:rPr>
              <a:t>tuple</a:t>
            </a:r>
            <a:r>
              <a:rPr sz="625" i="0">
                <a:solidFill>
                  <a:srgbClr val="E6EDF3"/>
                </a:solidFill>
                <a:latin typeface="Inconsolata"/>
              </a:rPr>
              <a:t>(</a:t>
            </a:r>
            <a:r>
              <a:rPr sz="6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25" i="0">
                <a:solidFill>
                  <a:srgbClr val="E6EDF3"/>
                </a:solidFill>
                <a:latin typeface="Inconsolata"/>
              </a:rPr>
              <a:t>._lines)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...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25" i="0">
                <a:solidFill>
                  <a:srgbClr val="FF8E6E"/>
                </a:solidFill>
                <a:latin typeface="Inconsolata"/>
              </a:rPr>
              <a:t>def</a:t>
            </a:r>
            <a:r>
              <a:rPr sz="625" i="0">
                <a:solidFill>
                  <a:srgbClr val="E6EDF3"/>
                </a:solidFill>
                <a:latin typeface="Inconsolata"/>
              </a:rPr>
              <a:t> </a:t>
            </a:r>
            <a:r>
              <a:rPr sz="625" i="0">
                <a:solidFill>
                  <a:srgbClr val="82B1FF"/>
                </a:solidFill>
                <a:latin typeface="Inconsolata"/>
              </a:rPr>
              <a:t>add_item</a:t>
            </a:r>
            <a:r>
              <a:rPr sz="625" i="0">
                <a:solidFill>
                  <a:srgbClr val="E6EDF3"/>
                </a:solidFill>
                <a:latin typeface="Inconsolata"/>
              </a:rPr>
              <a:t>(</a:t>
            </a:r>
            <a:r>
              <a:rPr sz="6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25" i="0">
                <a:solidFill>
                  <a:srgbClr val="E6EDF3"/>
                </a:solidFill>
                <a:latin typeface="Inconsolata"/>
              </a:rPr>
              <a:t>, product: </a:t>
            </a:r>
            <a:r>
              <a:rPr sz="625" i="0">
                <a:solidFill>
                  <a:srgbClr val="C3A6FF"/>
                </a:solidFill>
                <a:latin typeface="Inconsolata"/>
              </a:rPr>
              <a:t>str</a:t>
            </a:r>
            <a:r>
              <a:rPr sz="625" i="0">
                <a:solidFill>
                  <a:srgbClr val="E6EDF3"/>
                </a:solidFill>
                <a:latin typeface="Inconsolata"/>
              </a:rPr>
              <a:t>, price: </a:t>
            </a:r>
            <a:r>
              <a:rPr sz="625" i="0">
                <a:solidFill>
                  <a:srgbClr val="C3A6FF"/>
                </a:solidFill>
                <a:latin typeface="Inconsolata"/>
              </a:rPr>
              <a:t>int</a:t>
            </a:r>
            <a:r>
              <a:rPr sz="625" i="0">
                <a:solidFill>
                  <a:srgbClr val="E6EDF3"/>
                </a:solidFill>
                <a:latin typeface="Inconsolata"/>
              </a:rPr>
              <a:t>, qty: </a:t>
            </a:r>
            <a:r>
              <a:rPr sz="625" i="0">
                <a:solidFill>
                  <a:srgbClr val="C3A6FF"/>
                </a:solidFill>
                <a:latin typeface="Inconsolata"/>
              </a:rPr>
              <a:t>int</a:t>
            </a:r>
            <a:r>
              <a:rPr sz="62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2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2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25" i="0">
                <a:solidFill>
                  <a:srgbClr val="FF8E6E"/>
                </a:solidFill>
                <a:latin typeface="Inconsolata"/>
              </a:rPr>
              <a:t>if</a:t>
            </a:r>
            <a:r>
              <a:rPr sz="625" i="0">
                <a:solidFill>
                  <a:srgbClr val="E6EDF3"/>
                </a:solidFill>
                <a:latin typeface="Inconsolata"/>
              </a:rPr>
              <a:t> </a:t>
            </a:r>
            <a:r>
              <a:rPr sz="6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25" i="0">
                <a:solidFill>
                  <a:srgbClr val="E6EDF3"/>
                </a:solidFill>
                <a:latin typeface="Inconsolata"/>
              </a:rPr>
              <a:t>.status != </a:t>
            </a:r>
            <a:r>
              <a:rPr sz="625" i="0">
                <a:solidFill>
                  <a:srgbClr val="A5D6A7"/>
                </a:solidFill>
                <a:latin typeface="Inconsolata"/>
              </a:rPr>
              <a:t>"pending"</a:t>
            </a:r>
            <a:r>
              <a:rPr sz="62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25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625" i="0">
                <a:solidFill>
                  <a:srgbClr val="E6EDF3"/>
                </a:solidFill>
                <a:latin typeface="Inconsolata"/>
              </a:rPr>
              <a:t> </a:t>
            </a:r>
            <a:r>
              <a:rPr sz="625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625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            </a:t>
            </a:r>
            <a:r>
              <a:rPr sz="625" i="0">
                <a:solidFill>
                  <a:srgbClr val="A5D6A7"/>
                </a:solidFill>
                <a:latin typeface="Inconsolata"/>
              </a:rPr>
              <a:t>"Item hanya bisa ditambah ke order pending"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        )</a:t>
            </a:r>
          </a:p>
        </p:txBody>
      </p:sp>
      <p:sp>
        <p:nvSpPr>
          <p:cNvPr id="38" name="Box 23"/>
          <p:cNvSpPr/>
          <p:nvPr/>
        </p:nvSpPr>
        <p:spPr>
          <a:xfrm>
            <a:off x="4379976" y="3324352"/>
            <a:ext cx="4023359" cy="197104"/>
          </a:xfrm>
          <a:prstGeom prst="roundRect">
            <a:avLst>
              <a:gd name="adj" fmla="val 23195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4379976" y="3629152"/>
            <a:ext cx="4023359" cy="501904"/>
          </a:xfrm>
          <a:prstGeom prst="roundRect">
            <a:avLst>
              <a:gd name="adj" fmla="val 9109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Text 25"/>
          <p:cNvSpPr txBox="1"/>
          <p:nvPr/>
        </p:nvSpPr>
        <p:spPr>
          <a:xfrm>
            <a:off x="4297680" y="4288536"/>
            <a:ext cx="4187951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"An Aggregate is a cluster of associated objects that we treat as a unit for the purpose of data changes."  Eric Evans</a:t>
            </a:r>
          </a:p>
        </p:txBody>
      </p:sp>
    </p:spTree>
    <p:extLst>
      <p:ext uri="{BB962C8B-B14F-4D97-AF65-F5344CB8AC3E}">
        <p14:creationId xmlns:p14="http://schemas.microsoft.com/office/powerpoint/2010/main" val="5034104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Aggregate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Aggregate?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Aggregate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dan itemnya (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OrderLine</a:t>
            </a:r>
            <a:r>
              <a:rPr sz="950" b="0" i="0">
                <a:solidFill>
                  <a:srgbClr val="434343"/>
                </a:solidFill>
                <a:latin typeface="Inter"/>
              </a:rPr>
              <a:t>) bisa diubah langsung dari luar, misalnya lewat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order.lines.append(...)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atau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order.total = ...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tanpa ada yang mengecek.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yang mengubah makin banyak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Setiap tempat harus ingat menghitung ulang total, mengecek qty, dan mengecek status order.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Hal ini menimbulkan potensi total yang tidak sesuai, qty negatif, atau item yang bertambah setelah order dibayar.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Yang dipakai dari Python: @property dan tuple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@property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membuat data bisa dibaca seperti atribut biasa, tapi nilainya dihitung oleh method.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lines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dikembalikan sebagai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tuple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sehingga tidak bisa di-append dari luar.</a:t>
            </a:r>
          </a:p>
        </p:txBody>
      </p:sp>
      <p:sp>
        <p:nvSpPr>
          <p:cNvPr id="23" name="CodeTab 5"/>
          <p:cNvSpPr/>
          <p:nvPr/>
        </p:nvSpPr>
        <p:spPr>
          <a:xfrm>
            <a:off x="4800600" y="1481328"/>
            <a:ext cx="368503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91032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504748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518464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5349240" y="1490472"/>
            <a:ext cx="304495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05-aggregate/after.py (baris 32-38)</a:t>
            </a:r>
          </a:p>
        </p:txBody>
      </p:sp>
      <p:sp>
        <p:nvSpPr>
          <p:cNvPr id="28" name="CodeBg 11"/>
          <p:cNvSpPr/>
          <p:nvPr/>
        </p:nvSpPr>
        <p:spPr>
          <a:xfrm>
            <a:off x="4800600" y="1719072"/>
            <a:ext cx="3685032" cy="1179576"/>
          </a:xfrm>
          <a:prstGeom prst="roundRect">
            <a:avLst>
              <a:gd name="adj" fmla="val 1550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800600" y="1719072"/>
            <a:ext cx="3685032" cy="117957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lines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tuple</a:t>
            </a:r>
            <a:r>
              <a:rPr sz="850" i="0">
                <a:solidFill>
                  <a:srgbClr val="E6EDF3"/>
                </a:solidFill>
                <a:latin typeface="Inconsolata"/>
              </a:rPr>
              <a:t>[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...]: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C3A6FF"/>
                </a:solidFill>
                <a:latin typeface="Inconsolata"/>
              </a:rPr>
              <a:t>tuple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._lines)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total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sum</a:t>
            </a:r>
            <a:r>
              <a:rPr sz="850" i="0">
                <a:solidFill>
                  <a:srgbClr val="E6EDF3"/>
                </a:solidFill>
                <a:latin typeface="Inconsolata"/>
              </a:rPr>
              <a:t>(line.subtotal </a:t>
            </a:r>
            <a:r>
              <a:rPr sz="8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850" i="0">
                <a:solidFill>
                  <a:srgbClr val="E6EDF3"/>
                </a:solidFill>
                <a:latin typeface="Inconsolata"/>
              </a:rPr>
              <a:t> line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._lines)</a:t>
            </a:r>
          </a:p>
        </p:txBody>
      </p:sp>
      <p:graphicFrame>
        <p:nvGraphicFramePr>
          <p:cNvPr id="30" name="Table 13"/>
          <p:cNvGraphicFramePr>
            <a:graphicFrameLocks noGrp="1"/>
          </p:cNvGraphicFramePr>
          <p:nvPr/>
        </p:nvGraphicFramePr>
        <p:xfrm>
          <a:off x="4800600" y="3063240"/>
          <a:ext cx="3685031" cy="1828800"/>
        </p:xfrm>
        <a:graphic>
          <a:graphicData uri="http://schemas.openxmlformats.org/drawingml/2006/table">
            <a:tbl>
              <a:tblPr firstRow="1" bandRow="1"/>
              <a:tblGrid>
                <a:gridCol w="18562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Ditulis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Hasilnya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order.lines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tuple, hanya bisa dibaca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order.lines.append(...)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AttributeError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order.total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dihitung dari semua item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6001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Aggregate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Item diubah dari luar Order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05-aggregate/before.py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 7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72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872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72" i="0">
                <a:solidFill>
                  <a:srgbClr val="E6EDF3"/>
                </a:solidFill>
                <a:latin typeface="Inconsolata"/>
              </a:rPr>
              <a:t> dataclass, field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72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product: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price: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qty: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72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lines: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list</a:t>
            </a:r>
            <a:r>
              <a:rPr sz="872" i="0">
                <a:solidFill>
                  <a:srgbClr val="E6EDF3"/>
                </a:solidFill>
                <a:latin typeface="Inconsolata"/>
              </a:rPr>
              <a:t>[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872" i="0">
                <a:solidFill>
                  <a:srgbClr val="E6EDF3"/>
                </a:solidFill>
                <a:latin typeface="Inconsolata"/>
              </a:rPr>
              <a:t>] = field(default_factory=</a:t>
            </a:r>
            <a:r>
              <a:rPr sz="872" i="0">
                <a:solidFill>
                  <a:srgbClr val="C3A6FF"/>
                </a:solidFill>
                <a:latin typeface="Inconsolata"/>
              </a:rPr>
              <a:t>list</a:t>
            </a:r>
            <a:r>
              <a:rPr sz="872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total: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int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 = </a:t>
            </a:r>
            <a:r>
              <a:rPr sz="872" i="0">
                <a:solidFill>
                  <a:srgbClr val="F9C97A"/>
                </a:solidFill>
                <a:latin typeface="Inconsolata"/>
              </a:rPr>
              <a:t>0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status: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  <a:r>
              <a:rPr sz="872" i="0">
                <a:solidFill>
                  <a:srgbClr val="E6EDF3"/>
                </a:solidFill>
                <a:latin typeface="Inconsolata"/>
              </a:rPr>
              <a:t> =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"pending"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05-aggregate/before.py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if</a:t>
            </a:r>
            <a:r>
              <a:rPr sz="872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72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order.lines.append(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A5D6A7"/>
                </a:solidFill>
                <a:latin typeface="Inconsolata"/>
              </a:rPr>
              <a:t>"Keyboard"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F9C97A"/>
                </a:solidFill>
                <a:latin typeface="Inconsolata"/>
              </a:rPr>
              <a:t>500_000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F9C97A"/>
                </a:solidFill>
                <a:latin typeface="Inconsolata"/>
              </a:rPr>
              <a:t>2</a:t>
            </a:r>
            <a:r>
              <a:rPr sz="872" i="0">
                <a:solidFill>
                  <a:srgbClr val="E6EDF3"/>
                </a:solidFill>
                <a:latin typeface="Inconsolata"/>
              </a:rPr>
              <a:t>))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(order.total)  </a:t>
            </a:r>
            <a:r>
              <a:rPr sz="872" i="1">
                <a:solidFill>
                  <a:srgbClr val="8B98A8"/>
                </a:solidFill>
                <a:latin typeface="Inconsolata"/>
              </a:rPr>
              <a:t># 0, total lupa dihitung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order.status =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"paid"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1">
                <a:solidFill>
                  <a:srgbClr val="8B98A8"/>
                </a:solidFill>
                <a:latin typeface="Inconsolata"/>
              </a:rPr>
              <a:t># qty negatif, setelah dibayar pula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order.lines.append(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A5D6A7"/>
                </a:solidFill>
                <a:latin typeface="Inconsolata"/>
              </a:rPr>
              <a:t>"Mouse"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</a:t>
            </a:r>
            <a:r>
              <a:rPr sz="872" i="0">
                <a:solidFill>
                  <a:srgbClr val="F9C97A"/>
                </a:solidFill>
                <a:latin typeface="Inconsolata"/>
              </a:rPr>
              <a:t>100_000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-</a:t>
            </a:r>
            <a:r>
              <a:rPr sz="872" i="0">
                <a:solidFill>
                  <a:srgbClr val="F9C97A"/>
                </a:solidFill>
                <a:latin typeface="Inconsolata"/>
              </a:rPr>
              <a:t>3</a:t>
            </a:r>
            <a:r>
              <a:rPr sz="872" i="0">
                <a:solidFill>
                  <a:srgbClr val="E6EDF3"/>
                </a:solidFill>
                <a:latin typeface="Inconsolata"/>
              </a:rPr>
              <a:t>))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C3A6FF"/>
                </a:solidFill>
                <a:latin typeface="Inconsolata"/>
              </a:rPr>
              <a:t>len</a:t>
            </a:r>
            <a:r>
              <a:rPr sz="872" i="0">
                <a:solidFill>
                  <a:srgbClr val="E6EDF3"/>
                </a:solidFill>
                <a:latin typeface="Inconsolata"/>
              </a:rPr>
              <a:t>(order.lines), order.status)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3644773"/>
            <a:ext cx="3694176" cy="271018"/>
          </a:xfrm>
          <a:prstGeom prst="roundRect">
            <a:avLst>
              <a:gd name="adj" fmla="val 16869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366141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2108073"/>
            <a:ext cx="3694176" cy="271018"/>
          </a:xfrm>
          <a:prstGeom prst="roundRect">
            <a:avLst>
              <a:gd name="adj" fmla="val 16869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8284463" y="212471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Box 25"/>
          <p:cNvSpPr/>
          <p:nvPr/>
        </p:nvSpPr>
        <p:spPr>
          <a:xfrm>
            <a:off x="4709159" y="2527173"/>
            <a:ext cx="3694176" cy="410718"/>
          </a:xfrm>
          <a:prstGeom prst="roundRect">
            <a:avLst>
              <a:gd name="adj" fmla="val 11131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Box 26"/>
          <p:cNvSpPr/>
          <p:nvPr/>
        </p:nvSpPr>
        <p:spPr>
          <a:xfrm>
            <a:off x="8284463" y="26136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729879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Aggregate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05-aggregate/before.py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sesi-03-domain-driven-design/05-aggregate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29" name="Image 12" descr="s03-05-aggregate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08813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lines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bisa diubah langsung dari luar (baris 20-21)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Item ditambah langsung ke list, total tidak ikut dihitung (baris 27-28)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Setelah dibayar, item dengan qty negatif tetap masuk (baris 30-32)</a:t>
            </a:r>
          </a:p>
        </p:txBody>
      </p:sp>
    </p:spTree>
    <p:extLst>
      <p:ext uri="{BB962C8B-B14F-4D97-AF65-F5344CB8AC3E}">
        <p14:creationId xmlns:p14="http://schemas.microsoft.com/office/powerpoint/2010/main" val="35177046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Aggregate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Semua perubahan lewat Order (1/2)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05-aggregate/after.py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72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872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72" i="0">
                <a:solidFill>
                  <a:srgbClr val="E6EDF3"/>
                </a:solidFill>
                <a:latin typeface="Inconsolata"/>
              </a:rPr>
              <a:t> dataclass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72" i="0">
                <a:solidFill>
                  <a:srgbClr val="F9C97A"/>
                </a:solidFill>
                <a:latin typeface="Inconsolata"/>
              </a:rPr>
              <a:t>@dataclass</a:t>
            </a:r>
            <a:r>
              <a:rPr sz="872" i="0">
                <a:solidFill>
                  <a:srgbClr val="E6EDF3"/>
                </a:solidFill>
                <a:latin typeface="Inconsolata"/>
              </a:rPr>
              <a:t>(frozen=</a:t>
            </a:r>
            <a:r>
              <a:rPr sz="872" i="0">
                <a:solidFill>
                  <a:srgbClr val="FF8E6E"/>
                </a:solidFill>
                <a:latin typeface="Inconsolata"/>
              </a:rPr>
              <a:t>True</a:t>
            </a:r>
            <a:r>
              <a:rPr sz="872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product: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price: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qty: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def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82B1FF"/>
                </a:solidFill>
                <a:latin typeface="Inconsolata"/>
              </a:rPr>
              <a:t>subtotal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72" i="0">
                <a:solidFill>
                  <a:srgbClr val="C3A6FF"/>
                </a:solidFill>
                <a:latin typeface="Inconsolata"/>
              </a:rPr>
              <a:t>int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.price *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.qty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872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pass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05-aggregate/after.py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def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str</a:t>
            </a:r>
            <a:r>
              <a:rPr sz="872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.customer = customer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872" i="0">
                <a:solidFill>
                  <a:srgbClr val="A5D6A7"/>
                </a:solidFill>
                <a:latin typeface="Inconsolata"/>
              </a:rPr>
              <a:t>"pending"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._lines: </a:t>
            </a:r>
            <a:r>
              <a:rPr sz="872" i="0">
                <a:solidFill>
                  <a:srgbClr val="C3A6FF"/>
                </a:solidFill>
                <a:latin typeface="Inconsolata"/>
              </a:rPr>
              <a:t>list</a:t>
            </a:r>
            <a:r>
              <a:rPr sz="872" i="0">
                <a:solidFill>
                  <a:srgbClr val="E6EDF3"/>
                </a:solidFill>
                <a:latin typeface="Inconsolata"/>
              </a:rPr>
              <a:t>[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872" i="0">
                <a:solidFill>
                  <a:srgbClr val="E6EDF3"/>
                </a:solidFill>
                <a:latin typeface="Inconsolata"/>
              </a:rPr>
              <a:t>] = []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def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82B1FF"/>
                </a:solidFill>
                <a:latin typeface="Inconsolata"/>
              </a:rPr>
              <a:t>lines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72" i="0">
                <a:solidFill>
                  <a:srgbClr val="C3A6FF"/>
                </a:solidFill>
                <a:latin typeface="Inconsolata"/>
              </a:rPr>
              <a:t>tuple</a:t>
            </a:r>
            <a:r>
              <a:rPr sz="872" i="0">
                <a:solidFill>
                  <a:srgbClr val="E6EDF3"/>
                </a:solidFill>
                <a:latin typeface="Inconsolata"/>
              </a:rPr>
              <a:t>[</a:t>
            </a:r>
            <a:r>
              <a:rPr sz="872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872" i="0">
                <a:solidFill>
                  <a:srgbClr val="E6EDF3"/>
                </a:solidFill>
                <a:latin typeface="Inconsolata"/>
              </a:rPr>
              <a:t>, ...]: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C3A6FF"/>
                </a:solidFill>
                <a:latin typeface="Inconsolata"/>
              </a:rPr>
              <a:t>tuple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._lines)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36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37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def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82B1FF"/>
                </a:solidFill>
                <a:latin typeface="Inconsolata"/>
              </a:rPr>
              <a:t>total</a:t>
            </a:r>
            <a:r>
              <a:rPr sz="872" i="0">
                <a:solidFill>
                  <a:srgbClr val="E6EDF3"/>
                </a:solidFill>
                <a:latin typeface="Inconsolata"/>
              </a:rPr>
              <a:t>(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72" i="0">
                <a:solidFill>
                  <a:srgbClr val="C3A6FF"/>
                </a:solidFill>
                <a:latin typeface="Inconsolata"/>
              </a:rPr>
              <a:t>int</a:t>
            </a:r>
            <a:r>
              <a:rPr sz="872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5060"/>
              </a:lnSpc>
              <a:spcAft>
                <a:spcPts val="0"/>
              </a:spcAft>
            </a:pPr>
            <a:r>
              <a:rPr sz="872" i="0">
                <a:solidFill>
                  <a:srgbClr val="5C6773"/>
                </a:solidFill>
                <a:latin typeface="Inconsolata"/>
              </a:rPr>
              <a:t>38  </a:t>
            </a:r>
            <a:r>
              <a:rPr sz="872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72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sum</a:t>
            </a:r>
            <a:r>
              <a:rPr sz="872" i="0">
                <a:solidFill>
                  <a:srgbClr val="E6EDF3"/>
                </a:solidFill>
                <a:latin typeface="Inconsolata"/>
              </a:rPr>
              <a:t>(line.subtotal </a:t>
            </a:r>
            <a:r>
              <a:rPr sz="872" i="0">
                <a:solidFill>
                  <a:srgbClr val="FF8E6E"/>
                </a:solidFill>
                <a:latin typeface="Inconsolata"/>
              </a:rPr>
              <a:t>for</a:t>
            </a:r>
            <a:r>
              <a:rPr sz="872" i="0">
                <a:solidFill>
                  <a:srgbClr val="E6EDF3"/>
                </a:solidFill>
                <a:latin typeface="Inconsolata"/>
              </a:rPr>
              <a:t> line </a:t>
            </a:r>
            <a:r>
              <a:rPr sz="872" i="0">
                <a:solidFill>
                  <a:srgbClr val="FF8E6E"/>
                </a:solidFill>
                <a:latin typeface="Inconsolata"/>
              </a:rPr>
              <a:t>in</a:t>
            </a:r>
            <a:r>
              <a:rPr sz="872" i="0">
                <a:solidFill>
                  <a:srgbClr val="E6EDF3"/>
                </a:solidFill>
                <a:latin typeface="Inconsolata"/>
              </a:rPr>
              <a:t> </a:t>
            </a:r>
            <a:r>
              <a:rPr sz="872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72" i="0">
                <a:solidFill>
                  <a:srgbClr val="E6EDF3"/>
                </a:solidFill>
                <a:latin typeface="Inconsolata"/>
              </a:rPr>
              <a:t>._lines)</a:t>
            </a:r>
          </a:p>
        </p:txBody>
      </p:sp>
      <p:sp>
        <p:nvSpPr>
          <p:cNvPr id="36" name="Box 21"/>
          <p:cNvSpPr/>
          <p:nvPr/>
        </p:nvSpPr>
        <p:spPr>
          <a:xfrm>
            <a:off x="4709159" y="2806573"/>
            <a:ext cx="3694176" cy="271018"/>
          </a:xfrm>
          <a:prstGeom prst="roundRect">
            <a:avLst>
              <a:gd name="adj" fmla="val 16869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8284463" y="282321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3365373"/>
            <a:ext cx="3694176" cy="271018"/>
          </a:xfrm>
          <a:prstGeom prst="roundRect">
            <a:avLst>
              <a:gd name="adj" fmla="val 16869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8284463" y="338201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056812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Aggregate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Semua perubahan lewat Order (2/2)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05-aggregate/after.py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40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def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82B1FF"/>
                </a:solidFill>
                <a:latin typeface="Inconsolata"/>
              </a:rPr>
              <a:t>add_item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product: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str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price: </a:t>
            </a:r>
            <a:r>
              <a:rPr sz="749" i="0">
                <a:solidFill>
                  <a:srgbClr val="C3A6FF"/>
                </a:solidFill>
                <a:latin typeface="Inconsolata"/>
              </a:rPr>
              <a:t>int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qty: </a:t>
            </a:r>
            <a:r>
              <a:rPr sz="749" i="0">
                <a:solidFill>
                  <a:srgbClr val="C3A6FF"/>
                </a:solidFill>
                <a:latin typeface="Inconsolata"/>
              </a:rPr>
              <a:t>int</a:t>
            </a:r>
            <a:r>
              <a:rPr sz="749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49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41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if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.status != </a:t>
            </a:r>
            <a:r>
              <a:rPr sz="749" i="0">
                <a:solidFill>
                  <a:srgbClr val="A5D6A7"/>
                </a:solidFill>
                <a:latin typeface="Inconsolata"/>
              </a:rPr>
              <a:t>"pending"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42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43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    </a:t>
            </a:r>
            <a:r>
              <a:rPr sz="749" i="0">
                <a:solidFill>
                  <a:srgbClr val="A5D6A7"/>
                </a:solidFill>
                <a:latin typeface="Inconsolata"/>
              </a:rPr>
              <a:t>"Item hanya bisa ditambah ke order pending"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44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45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if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qty &lt;= </a:t>
            </a:r>
            <a:r>
              <a:rPr sz="749" i="0">
                <a:solidFill>
                  <a:srgbClr val="F9C97A"/>
                </a:solidFill>
                <a:latin typeface="Inconsolata"/>
              </a:rPr>
              <a:t>0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46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  <a:r>
              <a:rPr sz="749" i="0">
                <a:solidFill>
                  <a:srgbClr val="A5D6A7"/>
                </a:solidFill>
                <a:latin typeface="Inconsolata"/>
              </a:rPr>
              <a:t>"Qty harus lebih dari 0"</a:t>
            </a:r>
            <a:r>
              <a:rPr sz="749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47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._lines.append(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749" i="0">
                <a:solidFill>
                  <a:srgbClr val="E6EDF3"/>
                </a:solidFill>
                <a:latin typeface="Inconsolata"/>
              </a:rPr>
              <a:t>(product, price, qty))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48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49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def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82B1FF"/>
                </a:solidFill>
                <a:latin typeface="Inconsolata"/>
              </a:rPr>
              <a:t>pay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49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50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if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FF8E6E"/>
                </a:solidFill>
                <a:latin typeface="Inconsolata"/>
              </a:rPr>
              <a:t>not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._lines: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51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52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    </a:t>
            </a:r>
            <a:r>
              <a:rPr sz="749" i="0">
                <a:solidFill>
                  <a:srgbClr val="A5D6A7"/>
                </a:solidFill>
                <a:latin typeface="Inconsolata"/>
              </a:rPr>
              <a:t>"Order kosong tidak bisa dibayar"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53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54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749" i="0">
                <a:solidFill>
                  <a:srgbClr val="A5D6A7"/>
                </a:solidFill>
                <a:latin typeface="Inconsolata"/>
              </a:rPr>
              <a:t>"paid"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05-aggregate/after.py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57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if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749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58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  <a:r>
              <a:rPr sz="749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49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59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order.add_item(</a:t>
            </a:r>
            <a:r>
              <a:rPr sz="749" i="0">
                <a:solidFill>
                  <a:srgbClr val="A5D6A7"/>
                </a:solidFill>
                <a:latin typeface="Inconsolata"/>
              </a:rPr>
              <a:t>"Keyboard"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</a:t>
            </a:r>
            <a:r>
              <a:rPr sz="749" i="0">
                <a:solidFill>
                  <a:srgbClr val="F9C97A"/>
                </a:solidFill>
                <a:latin typeface="Inconsolata"/>
              </a:rPr>
              <a:t>500_000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</a:t>
            </a:r>
            <a:r>
              <a:rPr sz="749" i="0">
                <a:solidFill>
                  <a:srgbClr val="F9C97A"/>
                </a:solidFill>
                <a:latin typeface="Inconsolata"/>
              </a:rPr>
              <a:t>2</a:t>
            </a:r>
            <a:r>
              <a:rPr sz="749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60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49" i="0">
                <a:solidFill>
                  <a:srgbClr val="E6EDF3"/>
                </a:solidFill>
                <a:latin typeface="Inconsolata"/>
              </a:rPr>
              <a:t>(order.total)              </a:t>
            </a:r>
            <a:r>
              <a:rPr sz="749" i="1">
                <a:solidFill>
                  <a:srgbClr val="8B98A8"/>
                </a:solidFill>
                <a:latin typeface="Inconsolata"/>
              </a:rPr>
              <a:t># 1000000, selalu sesuai item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61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62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order.pay()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63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try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64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order.add_item(</a:t>
            </a:r>
            <a:r>
              <a:rPr sz="749" i="0">
                <a:solidFill>
                  <a:srgbClr val="A5D6A7"/>
                </a:solidFill>
                <a:latin typeface="Inconsolata"/>
              </a:rPr>
              <a:t>"Mouse"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</a:t>
            </a:r>
            <a:r>
              <a:rPr sz="749" i="0">
                <a:solidFill>
                  <a:srgbClr val="F9C97A"/>
                </a:solidFill>
                <a:latin typeface="Inconsolata"/>
              </a:rPr>
              <a:t>100_000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</a:t>
            </a:r>
            <a:r>
              <a:rPr sz="749" i="0">
                <a:solidFill>
                  <a:srgbClr val="F9C97A"/>
                </a:solidFill>
                <a:latin typeface="Inconsolata"/>
              </a:rPr>
              <a:t>1</a:t>
            </a:r>
            <a:r>
              <a:rPr sz="749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65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FF8E6E"/>
                </a:solidFill>
                <a:latin typeface="Inconsolata"/>
              </a:rPr>
              <a:t>as</a:t>
            </a:r>
            <a:r>
              <a:rPr sz="749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66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  <a:r>
              <a:rPr sz="749" i="0">
                <a:solidFill>
                  <a:srgbClr val="A5D6A7"/>
                </a:solidFill>
                <a:latin typeface="Inconsolata"/>
              </a:rPr>
              <a:t>"Ditolak:"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e)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1827022"/>
            <a:ext cx="3694176" cy="1008380"/>
          </a:xfrm>
          <a:prstGeom prst="roundRect">
            <a:avLst>
              <a:gd name="adj" fmla="val 453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22123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2462022"/>
            <a:ext cx="3694176" cy="627380"/>
          </a:xfrm>
          <a:prstGeom prst="roundRect">
            <a:avLst>
              <a:gd name="adj" fmla="val 728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8284463" y="26568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260682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Aggregate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05-aggregate/after.py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sesi-03-domain-driven-design/05-aggregate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3-05-aggregate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08813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lines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hanya bisa dibaca: dikembalikan sebagai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tuple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33-34)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selalu dihitung dari item (baris 37-38)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Satu pintu untuk menambah item: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add_item()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mengecek status dan qty (baris 40-47)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Menambah item setelah dibayar ditolak (baris 62-66)</a:t>
            </a:r>
          </a:p>
        </p:txBody>
      </p:sp>
    </p:spTree>
    <p:extLst>
      <p:ext uri="{BB962C8B-B14F-4D97-AF65-F5344CB8AC3E}">
        <p14:creationId xmlns:p14="http://schemas.microsoft.com/office/powerpoint/2010/main" val="38967608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Aggregate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Cara Membaca Flow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07492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4348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05-aggregate/after.py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074920" cy="2231136"/>
          </a:xfrm>
          <a:prstGeom prst="roundRect">
            <a:avLst>
              <a:gd name="adj" fmla="val 819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074920" cy="223113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add_item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product: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price: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qty: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.status !=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"pending"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       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"Item hanya bisa ditambah ke order pending"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    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qty &lt;= </a:t>
            </a:r>
            <a:r>
              <a:rPr sz="750" i="0">
                <a:solidFill>
                  <a:srgbClr val="F9C97A"/>
                </a:solidFill>
                <a:latin typeface="Inconsolata"/>
              </a:rPr>
              <a:t>0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A5D6A7"/>
                </a:solidFill>
                <a:latin typeface="Inconsolata"/>
              </a:rPr>
              <a:t>"Qty harus lebih dari 0"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._lines.append(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(product, price, qty))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...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if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order.add_item(</a:t>
            </a:r>
            <a:r>
              <a:rPr sz="750" i="0">
                <a:solidFill>
                  <a:srgbClr val="A5D6A7"/>
                </a:solidFill>
                <a:latin typeface="Inconsolata"/>
              </a:rPr>
              <a:t>"Keyboard"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F9C97A"/>
                </a:solidFill>
                <a:latin typeface="Inconsolata"/>
              </a:rPr>
              <a:t>500_000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F9C97A"/>
                </a:solidFill>
                <a:latin typeface="Inconsolata"/>
              </a:rPr>
              <a:t>2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(order.total)              </a:t>
            </a:r>
            <a:r>
              <a:rPr sz="750" i="1">
                <a:solidFill>
                  <a:srgbClr val="8B98A8"/>
                </a:solidFill>
                <a:latin typeface="Inconsolata"/>
              </a:rPr>
              <a:t># 1000000, selalu sesuai item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order.pay()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try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order.add_item(</a:t>
            </a:r>
            <a:r>
              <a:rPr sz="750" i="0">
                <a:solidFill>
                  <a:srgbClr val="A5D6A7"/>
                </a:solidFill>
                <a:latin typeface="Inconsolata"/>
              </a:rPr>
              <a:t>"Mouse"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F9C97A"/>
                </a:solidFill>
                <a:latin typeface="Inconsolata"/>
              </a:rPr>
              <a:t>100_000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F9C97A"/>
                </a:solidFill>
                <a:latin typeface="Inconsolata"/>
              </a:rPr>
              <a:t>1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224022"/>
            <a:ext cx="49103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495544" y="3164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1954022"/>
            <a:ext cx="49103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495544" y="1894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2462022"/>
            <a:ext cx="49103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495544" y="2402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704088" y="3351022"/>
            <a:ext cx="49103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Box 19"/>
          <p:cNvSpPr/>
          <p:nvPr/>
        </p:nvSpPr>
        <p:spPr>
          <a:xfrm>
            <a:off x="5202936" y="3291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7" name="Box 20"/>
          <p:cNvSpPr/>
          <p:nvPr/>
        </p:nvSpPr>
        <p:spPr>
          <a:xfrm>
            <a:off x="704088" y="3859022"/>
            <a:ext cx="49103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Box 21"/>
          <p:cNvSpPr/>
          <p:nvPr/>
        </p:nvSpPr>
        <p:spPr>
          <a:xfrm>
            <a:off x="5495544" y="3799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9" name="CodeBg 23"/>
          <p:cNvSpPr/>
          <p:nvPr/>
        </p:nvSpPr>
        <p:spPr>
          <a:xfrm>
            <a:off x="621792" y="4041648"/>
            <a:ext cx="5074920" cy="658368"/>
          </a:xfrm>
          <a:prstGeom prst="roundRect">
            <a:avLst>
              <a:gd name="adj" fmla="val 11111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Code 24"/>
          <p:cNvSpPr txBox="1"/>
          <p:nvPr/>
        </p:nvSpPr>
        <p:spPr>
          <a:xfrm>
            <a:off x="621792" y="4041648"/>
            <a:ext cx="5074920" cy="65836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$ python after.py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1000000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Ditolak: Item hanya bisa ditambah ke order pending</a:t>
            </a:r>
          </a:p>
        </p:txBody>
      </p:sp>
      <p:sp>
        <p:nvSpPr>
          <p:cNvPr id="41" name="Box 25"/>
          <p:cNvSpPr/>
          <p:nvPr/>
        </p:nvSpPr>
        <p:spPr>
          <a:xfrm>
            <a:off x="5879592" y="149961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42" name="Text 26"/>
          <p:cNvSpPr txBox="1"/>
          <p:nvPr/>
        </p:nvSpPr>
        <p:spPr>
          <a:xfrm>
            <a:off x="6208776" y="1463040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Kode di luar menambah item lewat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add_item()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, tidak bisa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lines.append</a:t>
            </a:r>
          </a:p>
        </p:txBody>
      </p:sp>
      <p:sp>
        <p:nvSpPr>
          <p:cNvPr id="43" name="Box 27"/>
          <p:cNvSpPr/>
          <p:nvPr/>
        </p:nvSpPr>
        <p:spPr>
          <a:xfrm>
            <a:off x="5879592" y="2143353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4" name="Text 28"/>
          <p:cNvSpPr txBox="1"/>
          <p:nvPr/>
        </p:nvSpPr>
        <p:spPr>
          <a:xfrm>
            <a:off x="6208776" y="2106777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Order mengecek status. Masih pending, lanjut</a:t>
            </a:r>
          </a:p>
        </p:txBody>
      </p:sp>
      <p:sp>
        <p:nvSpPr>
          <p:cNvPr id="45" name="Box 29"/>
          <p:cNvSpPr/>
          <p:nvPr/>
        </p:nvSpPr>
        <p:spPr>
          <a:xfrm>
            <a:off x="5879592" y="2787091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46" name="Text 30"/>
          <p:cNvSpPr txBox="1"/>
          <p:nvPr/>
        </p:nvSpPr>
        <p:spPr>
          <a:xfrm>
            <a:off x="6208776" y="2750515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Qty 2 valid, item disimpan ke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_lines</a:t>
            </a:r>
            <a:r>
              <a:rPr sz="850" b="0" i="0">
                <a:solidFill>
                  <a:srgbClr val="434343"/>
                </a:solidFill>
                <a:latin typeface="Inter"/>
              </a:rPr>
              <a:t> (list di dalam Order)</a:t>
            </a:r>
          </a:p>
        </p:txBody>
      </p:sp>
      <p:sp>
        <p:nvSpPr>
          <p:cNvPr id="47" name="Box 31"/>
          <p:cNvSpPr/>
          <p:nvPr/>
        </p:nvSpPr>
        <p:spPr>
          <a:xfrm>
            <a:off x="5879592" y="3430828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48" name="Text 32"/>
          <p:cNvSpPr txBox="1"/>
          <p:nvPr/>
        </p:nvSpPr>
        <p:spPr>
          <a:xfrm>
            <a:off x="6208776" y="3394252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total</a:t>
            </a:r>
            <a:r>
              <a:rPr sz="850" b="0" i="0">
                <a:solidFill>
                  <a:srgbClr val="434343"/>
                </a:solidFill>
                <a:latin typeface="Inter"/>
              </a:rPr>
              <a:t> dihitung dari semua item: 1.000.000</a:t>
            </a:r>
          </a:p>
        </p:txBody>
      </p:sp>
      <p:sp>
        <p:nvSpPr>
          <p:cNvPr id="49" name="Box 33"/>
          <p:cNvSpPr/>
          <p:nvPr/>
        </p:nvSpPr>
        <p:spPr>
          <a:xfrm>
            <a:off x="5879592" y="407456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50" name="Text 34"/>
          <p:cNvSpPr txBox="1"/>
          <p:nvPr/>
        </p:nvSpPr>
        <p:spPr>
          <a:xfrm>
            <a:off x="6208776" y="4037990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Setelah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pay()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, pengecekan di langkah 2 menolak: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OrderCannotBeChanged</a:t>
            </a:r>
          </a:p>
        </p:txBody>
      </p:sp>
    </p:spTree>
    <p:extLst>
      <p:ext uri="{BB962C8B-B14F-4D97-AF65-F5344CB8AC3E}">
        <p14:creationId xmlns:p14="http://schemas.microsoft.com/office/powerpoint/2010/main" val="11643171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Service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Domain Service?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38328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Domain Service adalah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Konsep DDD berupa layanan atau business logic yang tidak logis jika dimasukkan ke dalam Entity ataupun Value Object.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Ketika ada proses atau aturan bisnis yang melibatkan interaksi antara banyak Entity, proses tersebut diekstrak menjadi function mandiri di dalam Domain Service.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Untuk apa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Menjaga entity tetap fokus pada aturannya sendiri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Memberi tempat khusus untuk aturan yang sering berubah, seperti promo</a:t>
            </a:r>
          </a:p>
        </p:txBody>
      </p:sp>
      <p:sp>
        <p:nvSpPr>
          <p:cNvPr id="23" name="CodeTab 5"/>
          <p:cNvSpPr/>
          <p:nvPr/>
        </p:nvSpPr>
        <p:spPr>
          <a:xfrm>
            <a:off x="4160520" y="1481328"/>
            <a:ext cx="432511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27024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709159" y="1490472"/>
            <a:ext cx="368503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domain service: 06-domain-service/before.py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160520" y="1719072"/>
            <a:ext cx="4325112" cy="877824"/>
          </a:xfrm>
          <a:prstGeom prst="roundRect">
            <a:avLst>
              <a:gd name="adj" fmla="val 208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160520" y="1719072"/>
            <a:ext cx="4325112" cy="87782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25" i="0">
                <a:solidFill>
                  <a:srgbClr val="E6EDF3"/>
                </a:solidFill>
                <a:latin typeface="Inconsolata"/>
              </a:rPr>
              <a:t> </a:t>
            </a:r>
            <a:r>
              <a:rPr sz="62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2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...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25" i="0">
                <a:solidFill>
                  <a:srgbClr val="FF8E6E"/>
                </a:solidFill>
                <a:latin typeface="Inconsolata"/>
              </a:rPr>
              <a:t>def</a:t>
            </a:r>
            <a:r>
              <a:rPr sz="625" i="0">
                <a:solidFill>
                  <a:srgbClr val="E6EDF3"/>
                </a:solidFill>
                <a:latin typeface="Inconsolata"/>
              </a:rPr>
              <a:t> </a:t>
            </a:r>
            <a:r>
              <a:rPr sz="625" i="0">
                <a:solidFill>
                  <a:srgbClr val="82B1FF"/>
                </a:solidFill>
                <a:latin typeface="Inconsolata"/>
              </a:rPr>
              <a:t>total</a:t>
            </a:r>
            <a:r>
              <a:rPr sz="625" i="0">
                <a:solidFill>
                  <a:srgbClr val="E6EDF3"/>
                </a:solidFill>
                <a:latin typeface="Inconsolata"/>
              </a:rPr>
              <a:t>(</a:t>
            </a:r>
            <a:r>
              <a:rPr sz="6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25" i="0">
                <a:solidFill>
                  <a:srgbClr val="E6EDF3"/>
                </a:solidFill>
                <a:latin typeface="Inconsolata"/>
              </a:rPr>
              <a:t>, today: date) -&gt; </a:t>
            </a:r>
            <a:r>
              <a:rPr sz="625" i="0">
                <a:solidFill>
                  <a:srgbClr val="C3A6FF"/>
                </a:solidFill>
                <a:latin typeface="Inconsolata"/>
              </a:rPr>
              <a:t>int</a:t>
            </a:r>
            <a:r>
              <a:rPr sz="62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    rates = {</a:t>
            </a:r>
            <a:r>
              <a:rPr sz="625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625" i="0">
                <a:solidFill>
                  <a:srgbClr val="E6EDF3"/>
                </a:solidFill>
                <a:latin typeface="Inconsolata"/>
              </a:rPr>
              <a:t>: </a:t>
            </a:r>
            <a:r>
              <a:rPr sz="625" i="0">
                <a:solidFill>
                  <a:srgbClr val="F9C97A"/>
                </a:solidFill>
                <a:latin typeface="Inconsolata"/>
              </a:rPr>
              <a:t>0</a:t>
            </a:r>
            <a:r>
              <a:rPr sz="625" i="0">
                <a:solidFill>
                  <a:srgbClr val="E6EDF3"/>
                </a:solidFill>
                <a:latin typeface="Inconsolata"/>
              </a:rPr>
              <a:t>, </a:t>
            </a:r>
            <a:r>
              <a:rPr sz="625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625" i="0">
                <a:solidFill>
                  <a:srgbClr val="E6EDF3"/>
                </a:solidFill>
                <a:latin typeface="Inconsolata"/>
              </a:rPr>
              <a:t>: </a:t>
            </a:r>
            <a:r>
              <a:rPr sz="625" i="0">
                <a:solidFill>
                  <a:srgbClr val="F9C97A"/>
                </a:solidFill>
                <a:latin typeface="Inconsolata"/>
              </a:rPr>
              <a:t>5</a:t>
            </a:r>
            <a:r>
              <a:rPr sz="625" i="0">
                <a:solidFill>
                  <a:srgbClr val="E6EDF3"/>
                </a:solidFill>
                <a:latin typeface="Inconsolata"/>
              </a:rPr>
              <a:t>, </a:t>
            </a:r>
            <a:r>
              <a:rPr sz="625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625" i="0">
                <a:solidFill>
                  <a:srgbClr val="E6EDF3"/>
                </a:solidFill>
                <a:latin typeface="Inconsolata"/>
              </a:rPr>
              <a:t>: </a:t>
            </a:r>
            <a:r>
              <a:rPr sz="625" i="0">
                <a:solidFill>
                  <a:srgbClr val="F9C97A"/>
                </a:solidFill>
                <a:latin typeface="Inconsolata"/>
              </a:rPr>
              <a:t>10</a:t>
            </a:r>
            <a:r>
              <a:rPr sz="625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    percent = rates[</a:t>
            </a:r>
            <a:r>
              <a:rPr sz="6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25" i="0">
                <a:solidFill>
                  <a:srgbClr val="E6EDF3"/>
                </a:solidFill>
                <a:latin typeface="Inconsolata"/>
              </a:rPr>
              <a:t>.customer.customer_type]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25" i="0">
                <a:solidFill>
                  <a:srgbClr val="FF8E6E"/>
                </a:solidFill>
                <a:latin typeface="Inconsolata"/>
              </a:rPr>
              <a:t>if</a:t>
            </a:r>
            <a:r>
              <a:rPr sz="625" i="0">
                <a:solidFill>
                  <a:srgbClr val="E6EDF3"/>
                </a:solidFill>
                <a:latin typeface="Inconsolata"/>
              </a:rPr>
              <a:t> today.month == </a:t>
            </a:r>
            <a:r>
              <a:rPr sz="625" i="0">
                <a:solidFill>
                  <a:srgbClr val="F9C97A"/>
                </a:solidFill>
                <a:latin typeface="Inconsolata"/>
              </a:rPr>
              <a:t>12</a:t>
            </a:r>
            <a:r>
              <a:rPr sz="625" i="0">
                <a:solidFill>
                  <a:srgbClr val="E6EDF3"/>
                </a:solidFill>
                <a:latin typeface="Inconsolata"/>
              </a:rPr>
              <a:t>:            </a:t>
            </a:r>
            <a:r>
              <a:rPr sz="625" i="1">
                <a:solidFill>
                  <a:srgbClr val="8B98A8"/>
                </a:solidFill>
                <a:latin typeface="Inconsolata"/>
              </a:rPr>
              <a:t># promo akhir tahun</a:t>
            </a:r>
          </a:p>
          <a:p>
            <a:pPr>
              <a:lnSpc>
                <a:spcPct val="106667"/>
              </a:lnSpc>
              <a:spcAft>
                <a:spcPts val="0"/>
              </a:spcAft>
            </a:pPr>
            <a:r>
              <a:rPr sz="625" i="0">
                <a:solidFill>
                  <a:srgbClr val="E6EDF3"/>
                </a:solidFill>
                <a:latin typeface="Inconsolata"/>
              </a:rPr>
              <a:t>            percent += </a:t>
            </a:r>
            <a:r>
              <a:rPr sz="625" i="0">
                <a:solidFill>
                  <a:srgbClr val="F9C97A"/>
                </a:solidFill>
                <a:latin typeface="Inconsolata"/>
              </a:rPr>
              <a:t>5</a:t>
            </a:r>
          </a:p>
        </p:txBody>
      </p:sp>
      <p:sp>
        <p:nvSpPr>
          <p:cNvPr id="30" name="Box 13"/>
          <p:cNvSpPr/>
          <p:nvPr/>
        </p:nvSpPr>
        <p:spPr>
          <a:xfrm>
            <a:off x="4242816" y="2128520"/>
            <a:ext cx="4160520" cy="400304"/>
          </a:xfrm>
          <a:prstGeom prst="roundRect">
            <a:avLst>
              <a:gd name="adj" fmla="val 11421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Tab 15"/>
          <p:cNvSpPr/>
          <p:nvPr/>
        </p:nvSpPr>
        <p:spPr>
          <a:xfrm>
            <a:off x="4160520" y="2688336"/>
            <a:ext cx="432511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4270248" y="2766060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407408" y="2766060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544568" y="2766060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19"/>
          <p:cNvSpPr txBox="1"/>
          <p:nvPr/>
        </p:nvSpPr>
        <p:spPr>
          <a:xfrm>
            <a:off x="4709159" y="2697480"/>
            <a:ext cx="368503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domain service: 06-domain-service/after.py</a:t>
            </a:r>
          </a:p>
        </p:txBody>
      </p:sp>
      <p:sp>
        <p:nvSpPr>
          <p:cNvPr id="36" name="CodeBg 21"/>
          <p:cNvSpPr/>
          <p:nvPr/>
        </p:nvSpPr>
        <p:spPr>
          <a:xfrm>
            <a:off x="4160520" y="2926080"/>
            <a:ext cx="4325112" cy="1271016"/>
          </a:xfrm>
          <a:prstGeom prst="roundRect">
            <a:avLst>
              <a:gd name="adj" fmla="val 1438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Code 22"/>
          <p:cNvSpPr txBox="1"/>
          <p:nvPr/>
        </p:nvSpPr>
        <p:spPr>
          <a:xfrm>
            <a:off x="4160520" y="2926080"/>
            <a:ext cx="4325112" cy="127101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DiscountPolicy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7FDBCA"/>
                </a:solidFill>
                <a:latin typeface="Inconsolata"/>
              </a:rPr>
              <a:t>RATES</a:t>
            </a:r>
            <a:r>
              <a:rPr sz="650" i="0">
                <a:solidFill>
                  <a:srgbClr val="E6EDF3"/>
                </a:solidFill>
                <a:latin typeface="Inconsolata"/>
              </a:rPr>
              <a:t> = {</a:t>
            </a:r>
            <a:r>
              <a:rPr sz="650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</a:t>
            </a:r>
            <a:r>
              <a:rPr sz="650" i="0">
                <a:solidFill>
                  <a:srgbClr val="F9C97A"/>
                </a:solidFill>
                <a:latin typeface="Inconsolata"/>
              </a:rPr>
              <a:t>0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</a:t>
            </a:r>
            <a:r>
              <a:rPr sz="650" i="0">
                <a:solidFill>
                  <a:srgbClr val="F9C97A"/>
                </a:solidFill>
                <a:latin typeface="Inconsolata"/>
              </a:rPr>
              <a:t>5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</a:t>
            </a:r>
            <a:r>
              <a:rPr sz="650" i="0">
                <a:solidFill>
                  <a:srgbClr val="F9C97A"/>
                </a:solidFill>
                <a:latin typeface="Inconsolata"/>
              </a:rPr>
              <a:t>10</a:t>
            </a:r>
            <a:r>
              <a:rPr sz="650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discount_for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today: date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) -&gt; </a:t>
            </a:r>
            <a:r>
              <a:rPr sz="6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percent =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</a:t>
            </a:r>
            <a:r>
              <a:rPr sz="650" i="0">
                <a:solidFill>
                  <a:srgbClr val="7FDBCA"/>
                </a:solidFill>
                <a:latin typeface="Inconsolata"/>
              </a:rPr>
              <a:t>RATES</a:t>
            </a:r>
            <a:r>
              <a:rPr sz="650" i="0">
                <a:solidFill>
                  <a:srgbClr val="E6EDF3"/>
                </a:solidFill>
                <a:latin typeface="Inconsolata"/>
              </a:rPr>
              <a:t>[customer.customer_type]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today.month == </a:t>
            </a:r>
            <a:r>
              <a:rPr sz="650" i="0">
                <a:solidFill>
                  <a:srgbClr val="F9C97A"/>
                </a:solidFill>
                <a:latin typeface="Inconsolata"/>
              </a:rPr>
              <a:t>12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           </a:t>
            </a:r>
            <a:r>
              <a:rPr sz="650" i="1">
                <a:solidFill>
                  <a:srgbClr val="8B98A8"/>
                </a:solidFill>
                <a:latin typeface="Inconsolata"/>
              </a:rPr>
              <a:t># promo akhir tahun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percent += </a:t>
            </a:r>
            <a:r>
              <a:rPr sz="650" i="0">
                <a:solidFill>
                  <a:srgbClr val="F9C97A"/>
                </a:solidFill>
                <a:latin typeface="Inconsolata"/>
              </a:rPr>
              <a:t>5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order.subtotal * percent // </a:t>
            </a:r>
            <a:r>
              <a:rPr sz="650" i="0">
                <a:solidFill>
                  <a:srgbClr val="F9C97A"/>
                </a:solidFill>
                <a:latin typeface="Inconsolata"/>
              </a:rPr>
              <a:t>100</a:t>
            </a:r>
          </a:p>
        </p:txBody>
      </p:sp>
      <p:sp>
        <p:nvSpPr>
          <p:cNvPr id="38" name="Box 23"/>
          <p:cNvSpPr/>
          <p:nvPr/>
        </p:nvSpPr>
        <p:spPr>
          <a:xfrm>
            <a:off x="4242816" y="3030728"/>
            <a:ext cx="4160520" cy="1009904"/>
          </a:xfrm>
          <a:prstGeom prst="roundRect">
            <a:avLst>
              <a:gd name="adj" fmla="val 452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Text 24"/>
          <p:cNvSpPr txBox="1"/>
          <p:nvPr/>
        </p:nvSpPr>
        <p:spPr>
          <a:xfrm>
            <a:off x="4160520" y="4288536"/>
            <a:ext cx="43251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"When a significant process or transformation in the domain is not a natural responsibility of an Entity or Value Object, add an operation to the model as a standalone interface declared as a Service."  Eric Evans</a:t>
            </a:r>
          </a:p>
        </p:txBody>
      </p:sp>
    </p:spTree>
    <p:extLst>
      <p:ext uri="{BB962C8B-B14F-4D97-AF65-F5344CB8AC3E}">
        <p14:creationId xmlns:p14="http://schemas.microsoft.com/office/powerpoint/2010/main" val="3535972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Service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Domain Service?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Domain Service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Aturan diskon ditulis di dalam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. Supaya bisa menghitung diskon,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harus memegang object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Customer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dan tahu kalender promo.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promonya makin banyak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Setiap promo baru, misalnya akhir tahun, 11.11, atau ulang tahun toko, berarti mengedit entity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Hal ini membuat class inti order terus berubah karena hal di luar urusannya.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Perbedaan dengan OrderService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DiscountPolicy</a:t>
            </a:r>
            <a:r>
              <a:rPr sz="950" b="0" i="0">
                <a:solidFill>
                  <a:srgbClr val="434343"/>
                </a:solidFill>
                <a:latin typeface="Inter"/>
              </a:rPr>
              <a:t> berisi aturan bisnis, jadi ada di layer domain.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OrderService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di layer application hanya mengatur urutan use case.</a:t>
            </a:r>
          </a:p>
        </p:txBody>
      </p:sp>
      <p:graphicFrame>
        <p:nvGraphicFramePr>
          <p:cNvPr id="23" name="Table 4"/>
          <p:cNvGraphicFramePr>
            <a:graphicFrameLocks noGrp="1"/>
          </p:cNvGraphicFramePr>
          <p:nvPr/>
        </p:nvGraphicFramePr>
        <p:xfrm>
          <a:off x="4800600" y="1481328"/>
          <a:ext cx="3685032" cy="2194560"/>
        </p:xfrm>
        <a:graphic>
          <a:graphicData uri="http://schemas.openxmlformats.org/drawingml/2006/table">
            <a:tbl>
              <a:tblPr firstRow="1" bandRow="1"/>
              <a:tblGrid>
                <a:gridCol w="20391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Aturan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Ditaruh di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Diskon tidak boleh melebihi subtotal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Order (entity)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Persen diskon per tipe customer dan promo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DiscountPolicy (domain service)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Urutan: buat order, hitung diskon, simpan, kirim notifikasi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OrderService (application)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36516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Service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Order memiliki logic terlalu banyak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06-domain-service/before.py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06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06" i="0">
                <a:solidFill>
                  <a:srgbClr val="E6EDF3"/>
                </a:solidFill>
                <a:latin typeface="Inconsolata"/>
              </a:rPr>
              <a:t> datetime </a:t>
            </a:r>
            <a:r>
              <a:rPr sz="806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06" i="0">
                <a:solidFill>
                  <a:srgbClr val="E6EDF3"/>
                </a:solidFill>
                <a:latin typeface="Inconsolata"/>
              </a:rPr>
              <a:t> date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06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  <a:r>
              <a:rPr sz="806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80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6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  <a:r>
              <a:rPr sz="806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806" i="0">
                <a:solidFill>
                  <a:srgbClr val="E6EDF3"/>
                </a:solidFill>
                <a:latin typeface="Inconsolata"/>
              </a:rPr>
              <a:t>(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email: </a:t>
            </a:r>
            <a:r>
              <a:rPr sz="806" i="0">
                <a:solidFill>
                  <a:srgbClr val="C3A6FF"/>
                </a:solidFill>
                <a:latin typeface="Inconsolata"/>
              </a:rPr>
              <a:t>str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customer_type: </a:t>
            </a:r>
            <a:r>
              <a:rPr sz="806" i="0">
                <a:solidFill>
                  <a:srgbClr val="C3A6FF"/>
                </a:solidFill>
                <a:latin typeface="Inconsolata"/>
              </a:rPr>
              <a:t>str</a:t>
            </a:r>
            <a:r>
              <a:rPr sz="806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.email = email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.customer_type = customer_type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06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  <a:r>
              <a:rPr sz="806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0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6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  <a:r>
              <a:rPr sz="806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806" i="0">
                <a:solidFill>
                  <a:srgbClr val="E6EDF3"/>
                </a:solidFill>
                <a:latin typeface="Inconsolata"/>
              </a:rPr>
              <a:t>(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06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06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6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.customer = customer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.subtotal = subtotal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06-domain-service/before.py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6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  <a:r>
              <a:rPr sz="806" i="0">
                <a:solidFill>
                  <a:srgbClr val="82B1FF"/>
                </a:solidFill>
                <a:latin typeface="Inconsolata"/>
              </a:rPr>
              <a:t>total</a:t>
            </a:r>
            <a:r>
              <a:rPr sz="806" i="0">
                <a:solidFill>
                  <a:srgbClr val="E6EDF3"/>
                </a:solidFill>
                <a:latin typeface="Inconsolata"/>
              </a:rPr>
              <a:t>(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today: date) -&gt; </a:t>
            </a:r>
            <a:r>
              <a:rPr sz="806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    rates = {</a:t>
            </a:r>
            <a:r>
              <a:rPr sz="806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806" i="0">
                <a:solidFill>
                  <a:srgbClr val="E6EDF3"/>
                </a:solidFill>
                <a:latin typeface="Inconsolata"/>
              </a:rPr>
              <a:t>: </a:t>
            </a:r>
            <a:r>
              <a:rPr sz="806" i="0">
                <a:solidFill>
                  <a:srgbClr val="F9C97A"/>
                </a:solidFill>
                <a:latin typeface="Inconsolata"/>
              </a:rPr>
              <a:t>0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</a:t>
            </a:r>
            <a:r>
              <a:rPr sz="806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806" i="0">
                <a:solidFill>
                  <a:srgbClr val="E6EDF3"/>
                </a:solidFill>
                <a:latin typeface="Inconsolata"/>
              </a:rPr>
              <a:t>: </a:t>
            </a:r>
            <a:r>
              <a:rPr sz="806" i="0">
                <a:solidFill>
                  <a:srgbClr val="F9C97A"/>
                </a:solidFill>
                <a:latin typeface="Inconsolata"/>
              </a:rPr>
              <a:t>5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</a:t>
            </a:r>
            <a:r>
              <a:rPr sz="806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806" i="0">
                <a:solidFill>
                  <a:srgbClr val="E6EDF3"/>
                </a:solidFill>
                <a:latin typeface="Inconsolata"/>
              </a:rPr>
              <a:t>: </a:t>
            </a:r>
            <a:r>
              <a:rPr sz="806" i="0">
                <a:solidFill>
                  <a:srgbClr val="F9C97A"/>
                </a:solidFill>
                <a:latin typeface="Inconsolata"/>
              </a:rPr>
              <a:t>10</a:t>
            </a:r>
            <a:r>
              <a:rPr sz="806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    percent = rates[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.customer.customer_type]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6" i="0">
                <a:solidFill>
                  <a:srgbClr val="FF8E6E"/>
                </a:solidFill>
                <a:latin typeface="Inconsolata"/>
              </a:rPr>
              <a:t>if</a:t>
            </a:r>
            <a:r>
              <a:rPr sz="806" i="0">
                <a:solidFill>
                  <a:srgbClr val="E6EDF3"/>
                </a:solidFill>
                <a:latin typeface="Inconsolata"/>
              </a:rPr>
              <a:t> today.month == </a:t>
            </a:r>
            <a:r>
              <a:rPr sz="806" i="0">
                <a:solidFill>
                  <a:srgbClr val="F9C97A"/>
                </a:solidFill>
                <a:latin typeface="Inconsolata"/>
              </a:rPr>
              <a:t>12</a:t>
            </a:r>
            <a:r>
              <a:rPr sz="806" i="0">
                <a:solidFill>
                  <a:srgbClr val="E6EDF3"/>
                </a:solidFill>
                <a:latin typeface="Inconsolata"/>
              </a:rPr>
              <a:t>:            </a:t>
            </a:r>
            <a:r>
              <a:rPr sz="806" i="1">
                <a:solidFill>
                  <a:srgbClr val="8B98A8"/>
                </a:solidFill>
                <a:latin typeface="Inconsolata"/>
              </a:rPr>
              <a:t># promo akhir tahun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        percent += </a:t>
            </a:r>
            <a:r>
              <a:rPr sz="806" i="0">
                <a:solidFill>
                  <a:srgbClr val="F9C97A"/>
                </a:solidFill>
                <a:latin typeface="Inconsolata"/>
              </a:rPr>
              <a:t>5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6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.subtotal - </a:t>
            </a:r>
            <a:r>
              <a:rPr sz="80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6" i="0">
                <a:solidFill>
                  <a:srgbClr val="E6EDF3"/>
                </a:solidFill>
                <a:latin typeface="Inconsolata"/>
              </a:rPr>
              <a:t>.subtotal * percent // </a:t>
            </a:r>
            <a:r>
              <a:rPr sz="806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06" i="0">
                <a:solidFill>
                  <a:srgbClr val="FF8E6E"/>
                </a:solidFill>
                <a:latin typeface="Inconsolata"/>
              </a:rPr>
              <a:t>if</a:t>
            </a:r>
            <a:r>
              <a:rPr sz="806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06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0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806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806" i="0">
                <a:solidFill>
                  <a:srgbClr val="E6EDF3"/>
                </a:solidFill>
                <a:latin typeface="Inconsolata"/>
              </a:rPr>
              <a:t>(</a:t>
            </a:r>
            <a:r>
              <a:rPr sz="806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806" i="0">
                <a:solidFill>
                  <a:srgbClr val="E6EDF3"/>
                </a:solidFill>
                <a:latin typeface="Inconsolata"/>
              </a:rPr>
              <a:t>(</a:t>
            </a:r>
            <a:r>
              <a:rPr sz="806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</a:t>
            </a:r>
            <a:r>
              <a:rPr sz="806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806" i="0">
                <a:solidFill>
                  <a:srgbClr val="E6EDF3"/>
                </a:solidFill>
                <a:latin typeface="Inconsolata"/>
              </a:rPr>
              <a:t>), </a:t>
            </a:r>
            <a:r>
              <a:rPr sz="806" i="0">
                <a:solidFill>
                  <a:srgbClr val="F9C97A"/>
                </a:solidFill>
                <a:latin typeface="Inconsolata"/>
              </a:rPr>
              <a:t>1_000_000</a:t>
            </a:r>
            <a:r>
              <a:rPr sz="806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338"/>
              </a:lnSpc>
              <a:spcAft>
                <a:spcPts val="0"/>
              </a:spcAft>
            </a:pPr>
            <a:r>
              <a:rPr sz="806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0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6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6" i="0">
                <a:solidFill>
                  <a:srgbClr val="E6EDF3"/>
                </a:solidFill>
                <a:latin typeface="Inconsolata"/>
              </a:rPr>
              <a:t>(order.total(date(</a:t>
            </a:r>
            <a:r>
              <a:rPr sz="806" i="0">
                <a:solidFill>
                  <a:srgbClr val="F9C97A"/>
                </a:solidFill>
                <a:latin typeface="Inconsolata"/>
              </a:rPr>
              <a:t>2026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</a:t>
            </a:r>
            <a:r>
              <a:rPr sz="806" i="0">
                <a:solidFill>
                  <a:srgbClr val="F9C97A"/>
                </a:solidFill>
                <a:latin typeface="Inconsolata"/>
              </a:rPr>
              <a:t>12</a:t>
            </a:r>
            <a:r>
              <a:rPr sz="806" i="0">
                <a:solidFill>
                  <a:srgbClr val="E6EDF3"/>
                </a:solidFill>
                <a:latin typeface="Inconsolata"/>
              </a:rPr>
              <a:t>, </a:t>
            </a:r>
            <a:r>
              <a:rPr sz="806" i="0">
                <a:solidFill>
                  <a:srgbClr val="F9C97A"/>
                </a:solidFill>
                <a:latin typeface="Inconsolata"/>
              </a:rPr>
              <a:t>1</a:t>
            </a:r>
            <a:r>
              <a:rPr sz="806" i="0">
                <a:solidFill>
                  <a:srgbClr val="E6EDF3"/>
                </a:solidFill>
                <a:latin typeface="Inconsolata"/>
              </a:rPr>
              <a:t>)))   </a:t>
            </a:r>
            <a:r>
              <a:rPr sz="806" i="1">
                <a:solidFill>
                  <a:srgbClr val="8B98A8"/>
                </a:solidFill>
                <a:latin typeface="Inconsolata"/>
              </a:rPr>
              <a:t># 850000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3097022"/>
            <a:ext cx="3694176" cy="246380"/>
          </a:xfrm>
          <a:prstGeom prst="roundRect">
            <a:avLst>
              <a:gd name="adj" fmla="val 1855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310134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1954022"/>
            <a:ext cx="3694176" cy="246380"/>
          </a:xfrm>
          <a:prstGeom prst="roundRect">
            <a:avLst>
              <a:gd name="adj" fmla="val 1855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8284463" y="195834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Box 25"/>
          <p:cNvSpPr/>
          <p:nvPr/>
        </p:nvSpPr>
        <p:spPr>
          <a:xfrm>
            <a:off x="4709159" y="2208022"/>
            <a:ext cx="3694176" cy="246380"/>
          </a:xfrm>
          <a:prstGeom prst="roundRect">
            <a:avLst>
              <a:gd name="adj" fmla="val 1855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Box 26"/>
          <p:cNvSpPr/>
          <p:nvPr/>
        </p:nvSpPr>
        <p:spPr>
          <a:xfrm>
            <a:off x="8284463" y="221234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616847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Service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06-domain-service/before.py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sesi-03-domain-driven-design/06-domain-service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29" name="Image 12" descr="s03-06-domain-service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90525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harus memegang object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Customer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18-19)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Tipe customer dibaca di dalam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23-24)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Kalender promo juga diurus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25-26)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Promo baru, misalnya 11.11, berarti mengedit entity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</a:p>
        </p:txBody>
      </p:sp>
    </p:spTree>
    <p:extLst>
      <p:ext uri="{BB962C8B-B14F-4D97-AF65-F5344CB8AC3E}">
        <p14:creationId xmlns:p14="http://schemas.microsoft.com/office/powerpoint/2010/main" val="34252119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Service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Aturan diskon dipindah ke DiscountPolicy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06-domain-service/after.py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 9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26" i="0">
                <a:solidFill>
                  <a:srgbClr val="E6EDF3"/>
                </a:solidFill>
                <a:latin typeface="Inconsolata"/>
              </a:rPr>
              <a:t> datetime </a:t>
            </a:r>
            <a:r>
              <a:rPr sz="726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26" i="0">
                <a:solidFill>
                  <a:srgbClr val="E6EDF3"/>
                </a:solidFill>
                <a:latin typeface="Inconsolata"/>
              </a:rPr>
              <a:t> date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10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11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12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13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email: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str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customer_type: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str</a:t>
            </a:r>
            <a:r>
              <a:rPr sz="726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14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.email = email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15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.customer_type = customer_type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16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17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18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19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customer_email: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str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726" i="0">
                <a:solidFill>
                  <a:srgbClr val="C3A6FF"/>
                </a:solidFill>
                <a:latin typeface="Inconsolata"/>
              </a:rPr>
              <a:t>int</a:t>
            </a:r>
            <a:r>
              <a:rPr sz="726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20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.customer_email = customer_email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21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.subtotal = subtotal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22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.discount = </a:t>
            </a:r>
            <a:r>
              <a:rPr sz="726" i="0">
                <a:solidFill>
                  <a:srgbClr val="F9C97A"/>
                </a:solidFill>
                <a:latin typeface="Inconsolata"/>
              </a:rPr>
              <a:t>0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23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24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82B1FF"/>
                </a:solidFill>
                <a:latin typeface="Inconsolata"/>
              </a:rPr>
              <a:t>apply_discount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amount: </a:t>
            </a:r>
            <a:r>
              <a:rPr sz="726" i="0">
                <a:solidFill>
                  <a:srgbClr val="C3A6FF"/>
                </a:solidFill>
                <a:latin typeface="Inconsolata"/>
              </a:rPr>
              <a:t>int</a:t>
            </a:r>
            <a:r>
              <a:rPr sz="726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26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25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if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amount &gt;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.subtotal: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26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27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       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"Diskon tidak boleh melebihi subtotal"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28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    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29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.discount = amount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06-domain-service/after.py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31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32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82B1FF"/>
                </a:solidFill>
                <a:latin typeface="Inconsolata"/>
              </a:rPr>
              <a:t>total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26" i="0">
                <a:solidFill>
                  <a:srgbClr val="C3A6FF"/>
                </a:solidFill>
                <a:latin typeface="Inconsolata"/>
              </a:rPr>
              <a:t>int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33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.subtotal -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.discount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34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35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36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7FDBCA"/>
                </a:solidFill>
                <a:latin typeface="Inconsolata"/>
              </a:rPr>
              <a:t>DiscountPolicy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37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7FDBCA"/>
                </a:solidFill>
                <a:latin typeface="Inconsolata"/>
              </a:rPr>
              <a:t>RATES</a:t>
            </a:r>
            <a:r>
              <a:rPr sz="726" i="0">
                <a:solidFill>
                  <a:srgbClr val="E6EDF3"/>
                </a:solidFill>
                <a:latin typeface="Inconsolata"/>
              </a:rPr>
              <a:t> = {</a:t>
            </a:r>
            <a:r>
              <a:rPr sz="726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726" i="0">
                <a:solidFill>
                  <a:srgbClr val="E6EDF3"/>
                </a:solidFill>
                <a:latin typeface="Inconsolata"/>
              </a:rPr>
              <a:t>: </a:t>
            </a:r>
            <a:r>
              <a:rPr sz="726" i="0">
                <a:solidFill>
                  <a:srgbClr val="F9C97A"/>
                </a:solidFill>
                <a:latin typeface="Inconsolata"/>
              </a:rPr>
              <a:t>0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726" i="0">
                <a:solidFill>
                  <a:srgbClr val="E6EDF3"/>
                </a:solidFill>
                <a:latin typeface="Inconsolata"/>
              </a:rPr>
              <a:t>: </a:t>
            </a:r>
            <a:r>
              <a:rPr sz="726" i="0">
                <a:solidFill>
                  <a:srgbClr val="F9C97A"/>
                </a:solidFill>
                <a:latin typeface="Inconsolata"/>
              </a:rPr>
              <a:t>5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726" i="0">
                <a:solidFill>
                  <a:srgbClr val="E6EDF3"/>
                </a:solidFill>
                <a:latin typeface="Inconsolata"/>
              </a:rPr>
              <a:t>: </a:t>
            </a:r>
            <a:r>
              <a:rPr sz="726" i="0">
                <a:solidFill>
                  <a:srgbClr val="F9C97A"/>
                </a:solidFill>
                <a:latin typeface="Inconsolata"/>
              </a:rPr>
              <a:t>10</a:t>
            </a:r>
            <a:r>
              <a:rPr sz="726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38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39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82B1FF"/>
                </a:solidFill>
                <a:latin typeface="Inconsolata"/>
              </a:rPr>
              <a:t>discount_for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40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26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726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today: date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41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) -&gt; </a:t>
            </a:r>
            <a:r>
              <a:rPr sz="726" i="0">
                <a:solidFill>
                  <a:srgbClr val="C3A6FF"/>
                </a:solidFill>
                <a:latin typeface="Inconsolata"/>
              </a:rPr>
              <a:t>int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42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percent =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</a:t>
            </a:r>
            <a:r>
              <a:rPr sz="726" i="0">
                <a:solidFill>
                  <a:srgbClr val="7FDBCA"/>
                </a:solidFill>
                <a:latin typeface="Inconsolata"/>
              </a:rPr>
              <a:t>RATES</a:t>
            </a:r>
            <a:r>
              <a:rPr sz="726" i="0">
                <a:solidFill>
                  <a:srgbClr val="E6EDF3"/>
                </a:solidFill>
                <a:latin typeface="Inconsolata"/>
              </a:rPr>
              <a:t>[customer.customer_type]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43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if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today.month == </a:t>
            </a:r>
            <a:r>
              <a:rPr sz="726" i="0">
                <a:solidFill>
                  <a:srgbClr val="F9C97A"/>
                </a:solidFill>
                <a:latin typeface="Inconsolata"/>
              </a:rPr>
              <a:t>12</a:t>
            </a:r>
            <a:r>
              <a:rPr sz="726" i="0">
                <a:solidFill>
                  <a:srgbClr val="E6EDF3"/>
                </a:solidFill>
                <a:latin typeface="Inconsolata"/>
              </a:rPr>
              <a:t>:            </a:t>
            </a:r>
            <a:r>
              <a:rPr sz="726" i="1">
                <a:solidFill>
                  <a:srgbClr val="8B98A8"/>
                </a:solidFill>
                <a:latin typeface="Inconsolata"/>
              </a:rPr>
              <a:t># promo akhir tahun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44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    percent += </a:t>
            </a:r>
            <a:r>
              <a:rPr sz="726" i="0">
                <a:solidFill>
                  <a:srgbClr val="F9C97A"/>
                </a:solidFill>
                <a:latin typeface="Inconsolata"/>
              </a:rPr>
              <a:t>5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45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26" i="0">
                <a:solidFill>
                  <a:srgbClr val="E6EDF3"/>
                </a:solidFill>
                <a:latin typeface="Inconsolata"/>
              </a:rPr>
              <a:t> order.subtotal * percent // </a:t>
            </a:r>
            <a:r>
              <a:rPr sz="726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46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47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48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if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49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budi = </a:t>
            </a:r>
            <a:r>
              <a:rPr sz="726" i="0">
                <a:solidFill>
                  <a:srgbClr val="7FDBCA"/>
                </a:solidFill>
                <a:latin typeface="Inconsolata"/>
              </a:rPr>
              <a:t>Customer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726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50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726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26" i="0">
                <a:solidFill>
                  <a:srgbClr val="E6EDF3"/>
                </a:solidFill>
                <a:latin typeface="Inconsolata"/>
              </a:rPr>
              <a:t>(budi.email, </a:t>
            </a:r>
            <a:r>
              <a:rPr sz="726" i="0">
                <a:solidFill>
                  <a:srgbClr val="F9C97A"/>
                </a:solidFill>
                <a:latin typeface="Inconsolata"/>
              </a:rPr>
              <a:t>1_000_000</a:t>
            </a:r>
            <a:r>
              <a:rPr sz="726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51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today = date(</a:t>
            </a:r>
            <a:r>
              <a:rPr sz="726" i="0">
                <a:solidFill>
                  <a:srgbClr val="F9C97A"/>
                </a:solidFill>
                <a:latin typeface="Inconsolata"/>
              </a:rPr>
              <a:t>2026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</a:t>
            </a:r>
            <a:r>
              <a:rPr sz="726" i="0">
                <a:solidFill>
                  <a:srgbClr val="F9C97A"/>
                </a:solidFill>
                <a:latin typeface="Inconsolata"/>
              </a:rPr>
              <a:t>12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</a:t>
            </a:r>
            <a:r>
              <a:rPr sz="726" i="0">
                <a:solidFill>
                  <a:srgbClr val="F9C97A"/>
                </a:solidFill>
                <a:latin typeface="Inconsolata"/>
              </a:rPr>
              <a:t>1</a:t>
            </a:r>
            <a:r>
              <a:rPr sz="726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52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discount = </a:t>
            </a:r>
            <a:r>
              <a:rPr sz="726" i="0">
                <a:solidFill>
                  <a:srgbClr val="7FDBCA"/>
                </a:solidFill>
                <a:latin typeface="Inconsolata"/>
              </a:rPr>
              <a:t>DiscountPolicy</a:t>
            </a:r>
            <a:r>
              <a:rPr sz="726" i="0">
                <a:solidFill>
                  <a:srgbClr val="E6EDF3"/>
                </a:solidFill>
                <a:latin typeface="Inconsolata"/>
              </a:rPr>
              <a:t>().discount_for(budi, order, today)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53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order.apply_discount(discount)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54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26" i="0">
                <a:solidFill>
                  <a:srgbClr val="E6EDF3"/>
                </a:solidFill>
                <a:latin typeface="Inconsolata"/>
              </a:rPr>
              <a:t>(order.total)   </a:t>
            </a:r>
            <a:r>
              <a:rPr sz="726" i="1">
                <a:solidFill>
                  <a:srgbClr val="8B98A8"/>
                </a:solidFill>
                <a:latin typeface="Inconsolata"/>
              </a:rPr>
              <a:t># 850000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3539871"/>
            <a:ext cx="3694176" cy="678942"/>
          </a:xfrm>
          <a:prstGeom prst="roundRect">
            <a:avLst>
              <a:gd name="adj" fmla="val 673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376047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2396871"/>
            <a:ext cx="3694176" cy="1136142"/>
          </a:xfrm>
          <a:prstGeom prst="roundRect">
            <a:avLst>
              <a:gd name="adj" fmla="val 402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8284463" y="284607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Box 25"/>
          <p:cNvSpPr/>
          <p:nvPr/>
        </p:nvSpPr>
        <p:spPr>
          <a:xfrm>
            <a:off x="4709159" y="4225671"/>
            <a:ext cx="3694176" cy="221742"/>
          </a:xfrm>
          <a:prstGeom prst="roundRect">
            <a:avLst>
              <a:gd name="adj" fmla="val 20618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Box 26"/>
          <p:cNvSpPr/>
          <p:nvPr/>
        </p:nvSpPr>
        <p:spPr>
          <a:xfrm>
            <a:off x="8284463" y="421767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283012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Service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06-domain-service/after.py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sesi-03-domain-driven-design/06-domain-service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3-06-domain-service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90525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cukup menjaga aturannya sendiri: diskon tidak boleh melebihi subtotal (baris 24-29)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DiscountPolicy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menghitung diskon dari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Customer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dan tanggal (baris 36-45)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Hitung di policy, lalu terapkan ke order (baris 52-53)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Hasilnya tetap 850000. Promo baru cukup mengubah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DiscountPolicy</a:t>
            </a:r>
            <a:r>
              <a:rPr sz="95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50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47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CFE0FA"/>
                </a:solidFill>
                <a:latin typeface="Inter"/>
              </a:rPr>
              <a:t>Bagian 03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Work Sans ExtraBold"/>
              </a:rPr>
              <a:t>Domain Model vs ORM Model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E3ECFA"/>
                </a:solidFill>
                <a:latin typeface="Inter"/>
              </a:rPr>
              <a:t>Memisahkan business logic dari detail database dan HTTP.</a:t>
            </a:r>
          </a:p>
        </p:txBody>
      </p:sp>
    </p:spTree>
    <p:extLst>
      <p:ext uri="{BB962C8B-B14F-4D97-AF65-F5344CB8AC3E}">
        <p14:creationId xmlns:p14="http://schemas.microsoft.com/office/powerpoint/2010/main" val="39732870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vs ORM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Domain Model dan ORM Model?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5204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ORM adalah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>
                <a:solidFill>
                  <a:srgbClr val="434343"/>
                </a:solidFill>
                <a:latin typeface="Inter"/>
              </a:rPr>
              <a:t>ORM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(Object-Relational Mapping) adalah library yang memetakan tabel database ke class Python, sehingga data bisa dibaca dan disimpan tanpa menulis SQL langsung. Contohnya SQLAlchemy.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Domain model dan ORM model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>
                <a:solidFill>
                  <a:srgbClr val="434343"/>
                </a:solidFill>
                <a:latin typeface="Inter"/>
              </a:rPr>
              <a:t>Domain model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) berisi business logic dan ditulis dengan Python biasa. </a:t>
            </a:r>
            <a:r>
              <a:rPr sz="900" b="1" i="0">
                <a:solidFill>
                  <a:srgbClr val="434343"/>
                </a:solidFill>
                <a:latin typeface="Inter"/>
              </a:rPr>
              <a:t>ORM model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OrderRecord</a:t>
            </a:r>
            <a:r>
              <a:rPr sz="900" b="0" i="0">
                <a:solidFill>
                  <a:srgbClr val="434343"/>
                </a:solidFill>
                <a:latin typeface="Inter"/>
              </a:rPr>
              <a:t>) hanya mewakili tabel. </a:t>
            </a:r>
            <a:r>
              <a:rPr sz="900" b="1" i="0">
                <a:solidFill>
                  <a:srgbClr val="434343"/>
                </a:solidFill>
                <a:latin typeface="Inter"/>
              </a:rPr>
              <a:t>Repository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yang menerjemahkan keduanya.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Untuk apa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Mengetes business logic tanpa database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Mengubah struktur tabel tanpa menyentuh domain</a:t>
            </a:r>
          </a:p>
        </p:txBody>
      </p:sp>
      <p:sp>
        <p:nvSpPr>
          <p:cNvPr id="23" name="CodeTab 5"/>
          <p:cNvSpPr/>
          <p:nvPr/>
        </p:nvSpPr>
        <p:spPr>
          <a:xfrm>
            <a:off x="4297680" y="1481328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6817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846320" y="1490472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pemisahan: 07-domain-vs-orm/before.py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297680" y="1719072"/>
            <a:ext cx="4187951" cy="1481328"/>
          </a:xfrm>
          <a:prstGeom prst="roundRect">
            <a:avLst>
              <a:gd name="adj" fmla="val 1234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297680" y="1719072"/>
            <a:ext cx="4187951" cy="148132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OrderModel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7FDBCA"/>
                </a:solidFill>
                <a:latin typeface="Inconsolata"/>
              </a:rPr>
              <a:t>Base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__tablename__ 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"orders"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...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1">
                <a:solidFill>
                  <a:srgbClr val="8B98A8"/>
                </a:solidFill>
                <a:latin typeface="Inconsolata"/>
              </a:rPr>
              <a:t># business logic menempel di class tabel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pay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.status !=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"pending"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       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"Hanya order pending yang bisa dibayar"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    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"paid"</a:t>
            </a:r>
          </a:p>
        </p:txBody>
      </p:sp>
      <p:sp>
        <p:nvSpPr>
          <p:cNvPr id="30" name="Box 13"/>
          <p:cNvSpPr/>
          <p:nvPr/>
        </p:nvSpPr>
        <p:spPr>
          <a:xfrm>
            <a:off x="4379976" y="2335022"/>
            <a:ext cx="4023359" cy="754380"/>
          </a:xfrm>
          <a:prstGeom prst="roundRect">
            <a:avLst>
              <a:gd name="adj" fmla="val 6060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Tab 15"/>
          <p:cNvSpPr/>
          <p:nvPr/>
        </p:nvSpPr>
        <p:spPr>
          <a:xfrm>
            <a:off x="4297680" y="3291840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4407408" y="3369564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544568" y="3369564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681728" y="3369564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19"/>
          <p:cNvSpPr txBox="1"/>
          <p:nvPr/>
        </p:nvSpPr>
        <p:spPr>
          <a:xfrm>
            <a:off x="4846320" y="3300984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pemisahan: 07-domain-vs-orm/after.py</a:t>
            </a:r>
          </a:p>
        </p:txBody>
      </p:sp>
      <p:sp>
        <p:nvSpPr>
          <p:cNvPr id="36" name="CodeBg 21"/>
          <p:cNvSpPr/>
          <p:nvPr/>
        </p:nvSpPr>
        <p:spPr>
          <a:xfrm>
            <a:off x="4297680" y="3529584"/>
            <a:ext cx="4187951" cy="1170431"/>
          </a:xfrm>
          <a:prstGeom prst="roundRect">
            <a:avLst>
              <a:gd name="adj" fmla="val 156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Code 22"/>
          <p:cNvSpPr txBox="1"/>
          <p:nvPr/>
        </p:nvSpPr>
        <p:spPr>
          <a:xfrm>
            <a:off x="4297680" y="3529584"/>
            <a:ext cx="4187951" cy="1170431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75" i="0">
                <a:solidFill>
                  <a:srgbClr val="E6EDF3"/>
                </a:solidFill>
                <a:latin typeface="Inconsolata"/>
              </a:rPr>
              <a:t>(</a:t>
            </a:r>
            <a:r>
              <a:rPr sz="775" i="0">
                <a:solidFill>
                  <a:srgbClr val="7FDBCA"/>
                </a:solidFill>
                <a:latin typeface="Inconsolata"/>
              </a:rPr>
              <a:t>Base</a:t>
            </a:r>
            <a:r>
              <a:rPr sz="775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__tablename__ = </a:t>
            </a:r>
            <a:r>
              <a:rPr sz="775" i="0">
                <a:solidFill>
                  <a:srgbClr val="A5D6A7"/>
                </a:solidFill>
                <a:latin typeface="Inconsolata"/>
              </a:rPr>
              <a:t>"orders"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...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7FDBCA"/>
                </a:solidFill>
                <a:latin typeface="Inconsolata"/>
              </a:rPr>
              <a:t>SqlAlchemyOrderRepository</a:t>
            </a:r>
            <a:r>
              <a:rPr sz="7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...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0">
                <a:solidFill>
                  <a:srgbClr val="FF8E6E"/>
                </a:solidFill>
                <a:latin typeface="Inconsolata"/>
              </a:rPr>
              <a:t>def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82B1FF"/>
                </a:solidFill>
                <a:latin typeface="Inconsolata"/>
              </a:rPr>
              <a:t>get</a:t>
            </a:r>
            <a:r>
              <a:rPr sz="775" i="0">
                <a:solidFill>
                  <a:srgbClr val="E6EDF3"/>
                </a:solidFill>
                <a:latin typeface="Inconsolata"/>
              </a:rPr>
              <a:t>(</a:t>
            </a:r>
            <a:r>
              <a:rPr sz="77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5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775" i="0">
                <a:solidFill>
                  <a:srgbClr val="C3A6FF"/>
                </a:solidFill>
                <a:latin typeface="Inconsolata"/>
              </a:rPr>
              <a:t>int</a:t>
            </a:r>
            <a:r>
              <a:rPr sz="77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7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75" i="0">
                <a:solidFill>
                  <a:srgbClr val="E6EDF3"/>
                </a:solidFill>
                <a:latin typeface="Inconsolata"/>
              </a:rPr>
              <a:t> | </a:t>
            </a:r>
            <a:r>
              <a:rPr sz="77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    record = </a:t>
            </a:r>
            <a:r>
              <a:rPr sz="77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5" i="0">
                <a:solidFill>
                  <a:srgbClr val="E6EDF3"/>
                </a:solidFill>
                <a:latin typeface="Inconsolata"/>
              </a:rPr>
              <a:t>.session.get(</a:t>
            </a:r>
            <a:r>
              <a:rPr sz="775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75" i="0">
                <a:solidFill>
                  <a:srgbClr val="E6EDF3"/>
                </a:solidFill>
                <a:latin typeface="Inconsolata"/>
              </a:rPr>
              <a:t>, order_id)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75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5" i="0">
                <a:solidFill>
                  <a:srgbClr val="E6EDF3"/>
                </a:solidFill>
                <a:latin typeface="Inconsolata"/>
              </a:rPr>
              <a:t>._to_domain(record) </a:t>
            </a:r>
            <a:r>
              <a:rPr sz="775" i="0">
                <a:solidFill>
                  <a:srgbClr val="FF8E6E"/>
                </a:solidFill>
                <a:latin typeface="Inconsolata"/>
              </a:rPr>
              <a:t>if</a:t>
            </a:r>
            <a:r>
              <a:rPr sz="775" i="0">
                <a:solidFill>
                  <a:srgbClr val="E6EDF3"/>
                </a:solidFill>
                <a:latin typeface="Inconsolata"/>
              </a:rPr>
              <a:t> record </a:t>
            </a:r>
            <a:r>
              <a:rPr sz="775" i="0">
                <a:solidFill>
                  <a:srgbClr val="FF8E6E"/>
                </a:solidFill>
                <a:latin typeface="Inconsolata"/>
              </a:rPr>
              <a:t>else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FF8E6E"/>
                </a:solidFill>
                <a:latin typeface="Inconsolata"/>
              </a:rPr>
              <a:t>None</a:t>
            </a:r>
          </a:p>
        </p:txBody>
      </p:sp>
      <p:sp>
        <p:nvSpPr>
          <p:cNvPr id="38" name="Box 23"/>
          <p:cNvSpPr/>
          <p:nvPr/>
        </p:nvSpPr>
        <p:spPr>
          <a:xfrm>
            <a:off x="4379976" y="4526534"/>
            <a:ext cx="4023359" cy="119380"/>
          </a:xfrm>
          <a:prstGeom prst="roundRect">
            <a:avLst>
              <a:gd name="adj" fmla="val 3829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0235958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vs ORM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memisahkan Domain Model dan ORM Model?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pemisahan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Satu class ORM dipakai untuk bentuk tabel </a:t>
            </a:r>
            <a:r>
              <a:rPr sz="950" b="1" i="0">
                <a:solidFill>
                  <a:srgbClr val="434343"/>
                </a:solidFill>
                <a:latin typeface="Inter"/>
              </a:rPr>
              <a:t>sekaligus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business logic, misalnya method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pay()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ditulis di dalam class tabel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OrderModel</a:t>
            </a:r>
            <a:r>
              <a:rPr sz="950" b="0" i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tabelnya makin sering berubah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Mengganti nama kolom berarti mengedit class yang berisi business logic. Untuk mengetes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pay()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saja harus menyiapkan engine, tabel, dan session.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Hal ini membuat test jadi lambat dan perubahan database berisiko merusak aturan bisnis.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Yang dipakai: SQLAlchemy, hanya di infrastructure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SQLAlchemy adalah library, bukan fitur bawaan Python. Library ini hanya di-import oleh ORM model dan repository, sedangkan domain tidak meng-import sama sekali.</a:t>
            </a:r>
          </a:p>
        </p:txBody>
      </p:sp>
      <p:graphicFrame>
        <p:nvGraphicFramePr>
          <p:cNvPr id="23" name="Table 4"/>
          <p:cNvGraphicFramePr>
            <a:graphicFrameLocks noGrp="1"/>
          </p:cNvGraphicFramePr>
          <p:nvPr/>
        </p:nvGraphicFramePr>
        <p:xfrm>
          <a:off x="4800600" y="1481328"/>
          <a:ext cx="3685032" cy="2011680"/>
        </p:xfrm>
        <a:graphic>
          <a:graphicData uri="http://schemas.openxmlformats.org/drawingml/2006/table">
            <a:tbl>
              <a:tblPr firstRow="1" bandRow="1"/>
              <a:tblGrid>
                <a:gridCol w="1673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Class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Isinya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SQLAlchemy?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business logic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tidak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OrderRecord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bentuk tabel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ya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SqlAlchemyOrderRepository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menerjemahkan keduanya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ya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60734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vs ORM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Class tabel sekaligus berisi business logic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07-domain-vs-orm/before.py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 9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26" i="0">
                <a:solidFill>
                  <a:srgbClr val="E6EDF3"/>
                </a:solidFill>
                <a:latin typeface="Inconsolata"/>
              </a:rPr>
              <a:t> sqlalchemy </a:t>
            </a:r>
            <a:r>
              <a:rPr sz="726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7FDBCA"/>
                </a:solidFill>
                <a:latin typeface="Inconsolata"/>
              </a:rPr>
              <a:t>String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create_engine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10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26" i="0">
                <a:solidFill>
                  <a:srgbClr val="E6EDF3"/>
                </a:solidFill>
                <a:latin typeface="Inconsolata"/>
              </a:rPr>
              <a:t> sqlalchemy.orm </a:t>
            </a:r>
            <a:r>
              <a:rPr sz="726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26" i="0">
                <a:solidFill>
                  <a:srgbClr val="E6EDF3"/>
                </a:solidFill>
                <a:latin typeface="Inconsolata"/>
              </a:rPr>
              <a:t> (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11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7FDBCA"/>
                </a:solidFill>
                <a:latin typeface="Inconsolata"/>
              </a:rPr>
              <a:t>DeclarativeBase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</a:t>
            </a:r>
            <a:r>
              <a:rPr sz="726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</a:t>
            </a:r>
            <a:r>
              <a:rPr sz="726" i="0">
                <a:solidFill>
                  <a:srgbClr val="7FDBCA"/>
                </a:solidFill>
                <a:latin typeface="Inconsolata"/>
              </a:rPr>
              <a:t>Session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mapped_column,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12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13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14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15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7FDBCA"/>
                </a:solidFill>
                <a:latin typeface="Inconsolata"/>
              </a:rPr>
              <a:t>Base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7FDBCA"/>
                </a:solidFill>
                <a:latin typeface="Inconsolata"/>
              </a:rPr>
              <a:t>DeclarativeBase</a:t>
            </a:r>
            <a:r>
              <a:rPr sz="726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16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pass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17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18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19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7FDBCA"/>
                </a:solidFill>
                <a:latin typeface="Inconsolata"/>
              </a:rPr>
              <a:t>OrderModel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7FDBCA"/>
                </a:solidFill>
                <a:latin typeface="Inconsolata"/>
              </a:rPr>
              <a:t>Base</a:t>
            </a:r>
            <a:r>
              <a:rPr sz="726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20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__tablename__ =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"orders"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21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22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id: </a:t>
            </a:r>
            <a:r>
              <a:rPr sz="726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26" i="0">
                <a:solidFill>
                  <a:srgbClr val="E6EDF3"/>
                </a:solidFill>
                <a:latin typeface="Inconsolata"/>
              </a:rPr>
              <a:t>[</a:t>
            </a:r>
            <a:r>
              <a:rPr sz="726" i="0">
                <a:solidFill>
                  <a:srgbClr val="C3A6FF"/>
                </a:solidFill>
                <a:latin typeface="Inconsolata"/>
              </a:rPr>
              <a:t>int</a:t>
            </a:r>
            <a:r>
              <a:rPr sz="726" i="0">
                <a:solidFill>
                  <a:srgbClr val="E6EDF3"/>
                </a:solidFill>
                <a:latin typeface="Inconsolata"/>
              </a:rPr>
              <a:t>] = mapped_column(primary_key=</a:t>
            </a:r>
            <a:r>
              <a:rPr sz="726" i="0">
                <a:solidFill>
                  <a:srgbClr val="FF8E6E"/>
                </a:solidFill>
                <a:latin typeface="Inconsolata"/>
              </a:rPr>
              <a:t>True</a:t>
            </a:r>
            <a:r>
              <a:rPr sz="726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23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726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26" i="0">
                <a:solidFill>
                  <a:srgbClr val="E6EDF3"/>
                </a:solidFill>
                <a:latin typeface="Inconsolata"/>
              </a:rPr>
              <a:t>[</a:t>
            </a:r>
            <a:r>
              <a:rPr sz="726" i="0">
                <a:solidFill>
                  <a:srgbClr val="C3A6FF"/>
                </a:solidFill>
                <a:latin typeface="Inconsolata"/>
              </a:rPr>
              <a:t>str</a:t>
            </a:r>
            <a:r>
              <a:rPr sz="726" i="0">
                <a:solidFill>
                  <a:srgbClr val="E6EDF3"/>
                </a:solidFill>
                <a:latin typeface="Inconsolata"/>
              </a:rPr>
              <a:t>] = mapped_column(</a:t>
            </a:r>
            <a:r>
              <a:rPr sz="726" i="0">
                <a:solidFill>
                  <a:srgbClr val="7FDBCA"/>
                </a:solidFill>
                <a:latin typeface="Inconsolata"/>
              </a:rPr>
              <a:t>String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F9C97A"/>
                </a:solidFill>
                <a:latin typeface="Inconsolata"/>
              </a:rPr>
              <a:t>100</a:t>
            </a:r>
            <a:r>
              <a:rPr sz="726" i="0">
                <a:solidFill>
                  <a:srgbClr val="E6EDF3"/>
                </a:solidFill>
                <a:latin typeface="Inconsolata"/>
              </a:rPr>
              <a:t>))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24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total: </a:t>
            </a:r>
            <a:r>
              <a:rPr sz="726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26" i="0">
                <a:solidFill>
                  <a:srgbClr val="E6EDF3"/>
                </a:solidFill>
                <a:latin typeface="Inconsolata"/>
              </a:rPr>
              <a:t>[</a:t>
            </a:r>
            <a:r>
              <a:rPr sz="726" i="0">
                <a:solidFill>
                  <a:srgbClr val="C3A6FF"/>
                </a:solidFill>
                <a:latin typeface="Inconsolata"/>
              </a:rPr>
              <a:t>int</a:t>
            </a:r>
            <a:r>
              <a:rPr sz="726" i="0">
                <a:solidFill>
                  <a:srgbClr val="E6EDF3"/>
                </a:solidFill>
                <a:latin typeface="Inconsolata"/>
              </a:rPr>
              <a:t>]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25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status: </a:t>
            </a:r>
            <a:r>
              <a:rPr sz="726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26" i="0">
                <a:solidFill>
                  <a:srgbClr val="E6EDF3"/>
                </a:solidFill>
                <a:latin typeface="Inconsolata"/>
              </a:rPr>
              <a:t>[</a:t>
            </a:r>
            <a:r>
              <a:rPr sz="726" i="0">
                <a:solidFill>
                  <a:srgbClr val="C3A6FF"/>
                </a:solidFill>
                <a:latin typeface="Inconsolata"/>
              </a:rPr>
              <a:t>str</a:t>
            </a:r>
            <a:r>
              <a:rPr sz="726" i="0">
                <a:solidFill>
                  <a:srgbClr val="E6EDF3"/>
                </a:solidFill>
                <a:latin typeface="Inconsolata"/>
              </a:rPr>
              <a:t>] = mapped_column(</a:t>
            </a:r>
            <a:r>
              <a:rPr sz="726" i="0">
                <a:solidFill>
                  <a:srgbClr val="7FDBCA"/>
                </a:solidFill>
                <a:latin typeface="Inconsolata"/>
              </a:rPr>
              <a:t>String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F9C97A"/>
                </a:solidFill>
                <a:latin typeface="Inconsolata"/>
              </a:rPr>
              <a:t>20</a:t>
            </a:r>
            <a:r>
              <a:rPr sz="726" i="0">
                <a:solidFill>
                  <a:srgbClr val="E6EDF3"/>
                </a:solidFill>
                <a:latin typeface="Inconsolata"/>
              </a:rPr>
              <a:t>))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07-domain-vs-orm/before.py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27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1">
                <a:solidFill>
                  <a:srgbClr val="8B98A8"/>
                </a:solidFill>
                <a:latin typeface="Inconsolata"/>
              </a:rPr>
              <a:t># business logic menempel di class tabel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28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82B1FF"/>
                </a:solidFill>
                <a:latin typeface="Inconsolata"/>
              </a:rPr>
              <a:t>pay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26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29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if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.status !=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"pending"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30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31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       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"Hanya order pending yang bisa dibayar"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32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    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33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6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"paid"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34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35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36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if</a:t>
            </a:r>
            <a:r>
              <a:rPr sz="726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726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726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37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engine = create_engine(</a:t>
            </a:r>
            <a:r>
              <a:rPr sz="726" i="0">
                <a:solidFill>
                  <a:srgbClr val="A5D6A7"/>
                </a:solidFill>
                <a:latin typeface="Inconsolata"/>
              </a:rPr>
              <a:t>"sqlite://"</a:t>
            </a:r>
            <a:r>
              <a:rPr sz="726" i="0">
                <a:solidFill>
                  <a:srgbClr val="E6EDF3"/>
                </a:solidFill>
                <a:latin typeface="Inconsolata"/>
              </a:rPr>
              <a:t>)      </a:t>
            </a:r>
            <a:r>
              <a:rPr sz="726" i="1">
                <a:solidFill>
                  <a:srgbClr val="8B98A8"/>
                </a:solidFill>
                <a:latin typeface="Inconsolata"/>
              </a:rPr>
              <a:t># database di memory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38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7FDBCA"/>
                </a:solidFill>
                <a:latin typeface="Inconsolata"/>
              </a:rPr>
              <a:t>Base</a:t>
            </a:r>
            <a:r>
              <a:rPr sz="726" i="0">
                <a:solidFill>
                  <a:srgbClr val="E6EDF3"/>
                </a:solidFill>
                <a:latin typeface="Inconsolata"/>
              </a:rPr>
              <a:t>.metadata.create_all(engine)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39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40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6" i="0">
                <a:solidFill>
                  <a:srgbClr val="FF8E6E"/>
                </a:solidFill>
                <a:latin typeface="Inconsolata"/>
              </a:rPr>
              <a:t>with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  <a:r>
              <a:rPr sz="726" i="0">
                <a:solidFill>
                  <a:srgbClr val="7FDBCA"/>
                </a:solidFill>
                <a:latin typeface="Inconsolata"/>
              </a:rPr>
              <a:t>Session</a:t>
            </a:r>
            <a:r>
              <a:rPr sz="726" i="0">
                <a:solidFill>
                  <a:srgbClr val="E6EDF3"/>
                </a:solidFill>
                <a:latin typeface="Inconsolata"/>
              </a:rPr>
              <a:t>(engine) </a:t>
            </a:r>
            <a:r>
              <a:rPr sz="726" i="0">
                <a:solidFill>
                  <a:srgbClr val="FF8E6E"/>
                </a:solidFill>
                <a:latin typeface="Inconsolata"/>
              </a:rPr>
              <a:t>as</a:t>
            </a:r>
            <a:r>
              <a:rPr sz="726" i="0">
                <a:solidFill>
                  <a:srgbClr val="E6EDF3"/>
                </a:solidFill>
                <a:latin typeface="Inconsolata"/>
              </a:rPr>
              <a:t> session: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41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order = </a:t>
            </a:r>
            <a:r>
              <a:rPr sz="726" i="0">
                <a:solidFill>
                  <a:srgbClr val="7FDBCA"/>
                </a:solidFill>
                <a:latin typeface="Inconsolata"/>
              </a:rPr>
              <a:t>OrderModel</a:t>
            </a:r>
            <a:r>
              <a:rPr sz="726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42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    customer=</a:t>
            </a:r>
            <a:r>
              <a:rPr sz="726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26" i="0">
                <a:solidFill>
                  <a:srgbClr val="E6EDF3"/>
                </a:solidFill>
                <a:latin typeface="Inconsolata"/>
              </a:rPr>
              <a:t>, total=</a:t>
            </a:r>
            <a:r>
              <a:rPr sz="726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726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43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    status=</a:t>
            </a:r>
            <a:r>
              <a:rPr sz="726" i="0">
                <a:solidFill>
                  <a:srgbClr val="A5D6A7"/>
                </a:solidFill>
                <a:latin typeface="Inconsolata"/>
              </a:rPr>
              <a:t>"pending"</a:t>
            </a:r>
            <a:r>
              <a:rPr sz="726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44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45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session.add(order)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46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session.commit()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47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48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order.pay()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49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session.commit()</a:t>
            </a:r>
          </a:p>
          <a:p>
            <a:pPr>
              <a:lnSpc>
                <a:spcPct val="103226"/>
              </a:lnSpc>
              <a:spcAft>
                <a:spcPts val="0"/>
              </a:spcAft>
            </a:pPr>
            <a:r>
              <a:rPr sz="726" i="0">
                <a:solidFill>
                  <a:srgbClr val="5C6773"/>
                </a:solidFill>
                <a:latin typeface="Inconsolata"/>
              </a:rPr>
              <a:t>50  </a:t>
            </a:r>
            <a:r>
              <a:rPr sz="726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6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26" i="0">
                <a:solidFill>
                  <a:srgbClr val="E6EDF3"/>
                </a:solidFill>
                <a:latin typeface="Inconsolata"/>
              </a:rPr>
              <a:t>(order.id, order.status)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2968371"/>
            <a:ext cx="3694176" cy="793242"/>
          </a:xfrm>
          <a:prstGeom prst="roundRect">
            <a:avLst>
              <a:gd name="adj" fmla="val 5763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324612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1939671"/>
            <a:ext cx="3694176" cy="678942"/>
          </a:xfrm>
          <a:prstGeom prst="roundRect">
            <a:avLst>
              <a:gd name="adj" fmla="val 673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8284463" y="216027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Box 25"/>
          <p:cNvSpPr/>
          <p:nvPr/>
        </p:nvSpPr>
        <p:spPr>
          <a:xfrm>
            <a:off x="4709159" y="2968371"/>
            <a:ext cx="3694176" cy="1136142"/>
          </a:xfrm>
          <a:prstGeom prst="roundRect">
            <a:avLst>
              <a:gd name="adj" fmla="val 402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Box 26"/>
          <p:cNvSpPr/>
          <p:nvPr/>
        </p:nvSpPr>
        <p:spPr>
          <a:xfrm>
            <a:off x="8284463" y="341757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803386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vs ORM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07-domain-vs-orm/before.py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sesi-03-domain-driven-design/07-domain-vs-orm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29" name="Image 12" descr="s03-07-domain-vs-orm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90525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OrderModel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adalah bentuk tabel (SQLAlchemy) (baris 19-25)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Business logic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pay()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menempel di class yang sama (baris 28-33)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Mau mengetes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pay()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saja tetap harus membuat engine, tabel, dan session (baris 37-46)</a:t>
            </a:r>
          </a:p>
        </p:txBody>
      </p:sp>
    </p:spTree>
    <p:extLst>
      <p:ext uri="{BB962C8B-B14F-4D97-AF65-F5344CB8AC3E}">
        <p14:creationId xmlns:p14="http://schemas.microsoft.com/office/powerpoint/2010/main" val="31435260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vs ORM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Domain model dan ORM model dipisah (1/2)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07-domain-vs-orm/after.py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 9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71" i="0">
                <a:solidFill>
                  <a:srgbClr val="E6EDF3"/>
                </a:solidFill>
                <a:latin typeface="Inconsolata"/>
              </a:rPr>
              <a:t> sqlalchemy </a:t>
            </a:r>
            <a:r>
              <a:rPr sz="771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7FDBCA"/>
                </a:solidFill>
                <a:latin typeface="Inconsolata"/>
              </a:rPr>
              <a:t>String</a:t>
            </a:r>
            <a:r>
              <a:rPr sz="771" i="0">
                <a:solidFill>
                  <a:srgbClr val="E6EDF3"/>
                </a:solidFill>
                <a:latin typeface="Inconsolata"/>
              </a:rPr>
              <a:t>, create_engine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10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71" i="0">
                <a:solidFill>
                  <a:srgbClr val="E6EDF3"/>
                </a:solidFill>
                <a:latin typeface="Inconsolata"/>
              </a:rPr>
              <a:t> sqlalchemy.orm </a:t>
            </a:r>
            <a:r>
              <a:rPr sz="771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71" i="0">
                <a:solidFill>
                  <a:srgbClr val="E6EDF3"/>
                </a:solidFill>
                <a:latin typeface="Inconsolata"/>
              </a:rPr>
              <a:t> (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11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1" i="0">
                <a:solidFill>
                  <a:srgbClr val="7FDBCA"/>
                </a:solidFill>
                <a:latin typeface="Inconsolata"/>
              </a:rPr>
              <a:t>DeclarativeBase</a:t>
            </a:r>
            <a:r>
              <a:rPr sz="771" i="0">
                <a:solidFill>
                  <a:srgbClr val="E6EDF3"/>
                </a:solidFill>
                <a:latin typeface="Inconsolata"/>
              </a:rPr>
              <a:t>, </a:t>
            </a:r>
            <a:r>
              <a:rPr sz="771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71" i="0">
                <a:solidFill>
                  <a:srgbClr val="E6EDF3"/>
                </a:solidFill>
                <a:latin typeface="Inconsolata"/>
              </a:rPr>
              <a:t>, </a:t>
            </a:r>
            <a:r>
              <a:rPr sz="771" i="0">
                <a:solidFill>
                  <a:srgbClr val="7FDBCA"/>
                </a:solidFill>
                <a:latin typeface="Inconsolata"/>
              </a:rPr>
              <a:t>Session</a:t>
            </a:r>
            <a:r>
              <a:rPr sz="771" i="0">
                <a:solidFill>
                  <a:srgbClr val="E6EDF3"/>
                </a:solidFill>
                <a:latin typeface="Inconsolata"/>
              </a:rPr>
              <a:t>, mapped_column,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12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13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14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15  </a:t>
            </a:r>
            <a:r>
              <a:rPr sz="771" i="1">
                <a:solidFill>
                  <a:srgbClr val="8B98A8"/>
                </a:solidFill>
                <a:latin typeface="Inconsolata"/>
              </a:rPr>
              <a:t># ---------- domain: tidak import SQLAlchemy ----------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16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71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17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def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771" i="0">
                <a:solidFill>
                  <a:srgbClr val="E6EDF3"/>
                </a:solidFill>
                <a:latin typeface="Inconsolata"/>
              </a:rPr>
              <a:t>(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71" i="0">
                <a:solidFill>
                  <a:srgbClr val="C3A6FF"/>
                </a:solidFill>
                <a:latin typeface="Inconsolata"/>
              </a:rPr>
              <a:t>str</a:t>
            </a:r>
            <a:r>
              <a:rPr sz="771" i="0">
                <a:solidFill>
                  <a:srgbClr val="E6EDF3"/>
                </a:solidFill>
                <a:latin typeface="Inconsolata"/>
              </a:rPr>
              <a:t>, total: </a:t>
            </a:r>
            <a:r>
              <a:rPr sz="771" i="0">
                <a:solidFill>
                  <a:srgbClr val="C3A6FF"/>
                </a:solidFill>
                <a:latin typeface="Inconsolata"/>
              </a:rPr>
              <a:t>int</a:t>
            </a:r>
            <a:r>
              <a:rPr sz="771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18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         status: </a:t>
            </a:r>
            <a:r>
              <a:rPr sz="771" i="0">
                <a:solidFill>
                  <a:srgbClr val="C3A6FF"/>
                </a:solidFill>
                <a:latin typeface="Inconsolata"/>
              </a:rPr>
              <a:t>str</a:t>
            </a:r>
            <a:r>
              <a:rPr sz="771" i="0">
                <a:solidFill>
                  <a:srgbClr val="E6EDF3"/>
                </a:solidFill>
                <a:latin typeface="Inconsolata"/>
              </a:rPr>
              <a:t> = </a:t>
            </a:r>
            <a:r>
              <a:rPr sz="771" i="0">
                <a:solidFill>
                  <a:srgbClr val="A5D6A7"/>
                </a:solidFill>
                <a:latin typeface="Inconsolata"/>
              </a:rPr>
              <a:t>"pending"</a:t>
            </a:r>
            <a:r>
              <a:rPr sz="771" i="0">
                <a:solidFill>
                  <a:srgbClr val="E6EDF3"/>
                </a:solidFill>
                <a:latin typeface="Inconsolata"/>
              </a:rPr>
              <a:t>, id: </a:t>
            </a:r>
            <a:r>
              <a:rPr sz="771" i="0">
                <a:solidFill>
                  <a:srgbClr val="C3A6FF"/>
                </a:solidFill>
                <a:latin typeface="Inconsolata"/>
              </a:rPr>
              <a:t>int</a:t>
            </a:r>
            <a:r>
              <a:rPr sz="771" i="0">
                <a:solidFill>
                  <a:srgbClr val="E6EDF3"/>
                </a:solidFill>
                <a:latin typeface="Inconsolata"/>
              </a:rPr>
              <a:t> | </a:t>
            </a:r>
            <a:r>
              <a:rPr sz="771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71" i="0">
                <a:solidFill>
                  <a:srgbClr val="E6EDF3"/>
                </a:solidFill>
                <a:latin typeface="Inconsolata"/>
              </a:rPr>
              <a:t> = </a:t>
            </a:r>
            <a:r>
              <a:rPr sz="771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71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19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.id = id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20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.customer = customer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21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.total = total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22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.status = status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23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24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def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82B1FF"/>
                </a:solidFill>
                <a:latin typeface="Inconsolata"/>
              </a:rPr>
              <a:t>pay</a:t>
            </a:r>
            <a:r>
              <a:rPr sz="771" i="0">
                <a:solidFill>
                  <a:srgbClr val="E6EDF3"/>
                </a:solidFill>
                <a:latin typeface="Inconsolata"/>
              </a:rPr>
              <a:t>(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71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71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25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if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.status != </a:t>
            </a:r>
            <a:r>
              <a:rPr sz="771" i="0">
                <a:solidFill>
                  <a:srgbClr val="A5D6A7"/>
                </a:solidFill>
                <a:latin typeface="Inconsolata"/>
              </a:rPr>
              <a:t>"pending"</a:t>
            </a:r>
            <a:r>
              <a:rPr sz="771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26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71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27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        </a:t>
            </a:r>
            <a:r>
              <a:rPr sz="771" i="0">
                <a:solidFill>
                  <a:srgbClr val="A5D6A7"/>
                </a:solidFill>
                <a:latin typeface="Inconsolata"/>
              </a:rPr>
              <a:t>"Hanya order pending yang bisa dibayar"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28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    )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29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771" i="0">
                <a:solidFill>
                  <a:srgbClr val="A5D6A7"/>
                </a:solidFill>
                <a:latin typeface="Inconsolata"/>
              </a:rPr>
              <a:t>"paid"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07-domain-vs-orm/after.py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32  </a:t>
            </a:r>
            <a:r>
              <a:rPr sz="771" i="1">
                <a:solidFill>
                  <a:srgbClr val="8B98A8"/>
                </a:solidFill>
                <a:latin typeface="Inconsolata"/>
              </a:rPr>
              <a:t># ---------- infrastructure: ORM model + repository ----------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33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7FDBCA"/>
                </a:solidFill>
                <a:latin typeface="Inconsolata"/>
              </a:rPr>
              <a:t>Base</a:t>
            </a:r>
            <a:r>
              <a:rPr sz="771" i="0">
                <a:solidFill>
                  <a:srgbClr val="E6EDF3"/>
                </a:solidFill>
                <a:latin typeface="Inconsolata"/>
              </a:rPr>
              <a:t>(</a:t>
            </a:r>
            <a:r>
              <a:rPr sz="771" i="0">
                <a:solidFill>
                  <a:srgbClr val="7FDBCA"/>
                </a:solidFill>
                <a:latin typeface="Inconsolata"/>
              </a:rPr>
              <a:t>DeclarativeBase</a:t>
            </a:r>
            <a:r>
              <a:rPr sz="771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34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pass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35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36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37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71" i="0">
                <a:solidFill>
                  <a:srgbClr val="E6EDF3"/>
                </a:solidFill>
                <a:latin typeface="Inconsolata"/>
              </a:rPr>
              <a:t>(</a:t>
            </a:r>
            <a:r>
              <a:rPr sz="771" i="0">
                <a:solidFill>
                  <a:srgbClr val="7FDBCA"/>
                </a:solidFill>
                <a:latin typeface="Inconsolata"/>
              </a:rPr>
              <a:t>Base</a:t>
            </a:r>
            <a:r>
              <a:rPr sz="771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38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__tablename__ = </a:t>
            </a:r>
            <a:r>
              <a:rPr sz="771" i="0">
                <a:solidFill>
                  <a:srgbClr val="A5D6A7"/>
                </a:solidFill>
                <a:latin typeface="Inconsolata"/>
              </a:rPr>
              <a:t>"orders"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39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40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id: </a:t>
            </a:r>
            <a:r>
              <a:rPr sz="771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71" i="0">
                <a:solidFill>
                  <a:srgbClr val="E6EDF3"/>
                </a:solidFill>
                <a:latin typeface="Inconsolata"/>
              </a:rPr>
              <a:t>[</a:t>
            </a:r>
            <a:r>
              <a:rPr sz="771" i="0">
                <a:solidFill>
                  <a:srgbClr val="C3A6FF"/>
                </a:solidFill>
                <a:latin typeface="Inconsolata"/>
              </a:rPr>
              <a:t>int</a:t>
            </a:r>
            <a:r>
              <a:rPr sz="771" i="0">
                <a:solidFill>
                  <a:srgbClr val="E6EDF3"/>
                </a:solidFill>
                <a:latin typeface="Inconsolata"/>
              </a:rPr>
              <a:t>] = mapped_column(primary_key=</a:t>
            </a:r>
            <a:r>
              <a:rPr sz="771" i="0">
                <a:solidFill>
                  <a:srgbClr val="FF8E6E"/>
                </a:solidFill>
                <a:latin typeface="Inconsolata"/>
              </a:rPr>
              <a:t>True</a:t>
            </a:r>
            <a:r>
              <a:rPr sz="771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41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771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71" i="0">
                <a:solidFill>
                  <a:srgbClr val="E6EDF3"/>
                </a:solidFill>
                <a:latin typeface="Inconsolata"/>
              </a:rPr>
              <a:t>[</a:t>
            </a:r>
            <a:r>
              <a:rPr sz="771" i="0">
                <a:solidFill>
                  <a:srgbClr val="C3A6FF"/>
                </a:solidFill>
                <a:latin typeface="Inconsolata"/>
              </a:rPr>
              <a:t>str</a:t>
            </a:r>
            <a:r>
              <a:rPr sz="771" i="0">
                <a:solidFill>
                  <a:srgbClr val="E6EDF3"/>
                </a:solidFill>
                <a:latin typeface="Inconsolata"/>
              </a:rPr>
              <a:t>] = mapped_column(</a:t>
            </a:r>
            <a:r>
              <a:rPr sz="771" i="0">
                <a:solidFill>
                  <a:srgbClr val="7FDBCA"/>
                </a:solidFill>
                <a:latin typeface="Inconsolata"/>
              </a:rPr>
              <a:t>String</a:t>
            </a:r>
            <a:r>
              <a:rPr sz="771" i="0">
                <a:solidFill>
                  <a:srgbClr val="E6EDF3"/>
                </a:solidFill>
                <a:latin typeface="Inconsolata"/>
              </a:rPr>
              <a:t>(</a:t>
            </a:r>
            <a:r>
              <a:rPr sz="771" i="0">
                <a:solidFill>
                  <a:srgbClr val="F9C97A"/>
                </a:solidFill>
                <a:latin typeface="Inconsolata"/>
              </a:rPr>
              <a:t>100</a:t>
            </a:r>
            <a:r>
              <a:rPr sz="771" i="0">
                <a:solidFill>
                  <a:srgbClr val="E6EDF3"/>
                </a:solidFill>
                <a:latin typeface="Inconsolata"/>
              </a:rPr>
              <a:t>))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42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total: </a:t>
            </a:r>
            <a:r>
              <a:rPr sz="771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71" i="0">
                <a:solidFill>
                  <a:srgbClr val="E6EDF3"/>
                </a:solidFill>
                <a:latin typeface="Inconsolata"/>
              </a:rPr>
              <a:t>[</a:t>
            </a:r>
            <a:r>
              <a:rPr sz="771" i="0">
                <a:solidFill>
                  <a:srgbClr val="C3A6FF"/>
                </a:solidFill>
                <a:latin typeface="Inconsolata"/>
              </a:rPr>
              <a:t>int</a:t>
            </a:r>
            <a:r>
              <a:rPr sz="771" i="0">
                <a:solidFill>
                  <a:srgbClr val="E6EDF3"/>
                </a:solidFill>
                <a:latin typeface="Inconsolata"/>
              </a:rPr>
              <a:t>]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43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status: </a:t>
            </a:r>
            <a:r>
              <a:rPr sz="771" i="0">
                <a:solidFill>
                  <a:srgbClr val="7FDBCA"/>
                </a:solidFill>
                <a:latin typeface="Inconsolata"/>
              </a:rPr>
              <a:t>Mapped</a:t>
            </a:r>
            <a:r>
              <a:rPr sz="771" i="0">
                <a:solidFill>
                  <a:srgbClr val="E6EDF3"/>
                </a:solidFill>
                <a:latin typeface="Inconsolata"/>
              </a:rPr>
              <a:t>[</a:t>
            </a:r>
            <a:r>
              <a:rPr sz="771" i="0">
                <a:solidFill>
                  <a:srgbClr val="C3A6FF"/>
                </a:solidFill>
                <a:latin typeface="Inconsolata"/>
              </a:rPr>
              <a:t>str</a:t>
            </a:r>
            <a:r>
              <a:rPr sz="771" i="0">
                <a:solidFill>
                  <a:srgbClr val="E6EDF3"/>
                </a:solidFill>
                <a:latin typeface="Inconsolata"/>
              </a:rPr>
              <a:t>] = mapped_column(</a:t>
            </a:r>
            <a:r>
              <a:rPr sz="771" i="0">
                <a:solidFill>
                  <a:srgbClr val="7FDBCA"/>
                </a:solidFill>
                <a:latin typeface="Inconsolata"/>
              </a:rPr>
              <a:t>String</a:t>
            </a:r>
            <a:r>
              <a:rPr sz="771" i="0">
                <a:solidFill>
                  <a:srgbClr val="E6EDF3"/>
                </a:solidFill>
                <a:latin typeface="Inconsolata"/>
              </a:rPr>
              <a:t>(</a:t>
            </a:r>
            <a:r>
              <a:rPr sz="771" i="0">
                <a:solidFill>
                  <a:srgbClr val="F9C97A"/>
                </a:solidFill>
                <a:latin typeface="Inconsolata"/>
              </a:rPr>
              <a:t>20</a:t>
            </a:r>
            <a:r>
              <a:rPr sz="771" i="0">
                <a:solidFill>
                  <a:srgbClr val="E6EDF3"/>
                </a:solidFill>
                <a:latin typeface="Inconsolata"/>
              </a:rPr>
              <a:t>))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44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45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46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7FDBCA"/>
                </a:solidFill>
                <a:latin typeface="Inconsolata"/>
              </a:rPr>
              <a:t>SqlAlchemyOrderRepository</a:t>
            </a:r>
            <a:r>
              <a:rPr sz="771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47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1" i="0">
                <a:solidFill>
                  <a:srgbClr val="FF8E6E"/>
                </a:solidFill>
                <a:latin typeface="Inconsolata"/>
              </a:rPr>
              <a:t>def</a:t>
            </a:r>
            <a:r>
              <a:rPr sz="771" i="0">
                <a:solidFill>
                  <a:srgbClr val="E6EDF3"/>
                </a:solidFill>
                <a:latin typeface="Inconsolata"/>
              </a:rPr>
              <a:t> </a:t>
            </a:r>
            <a:r>
              <a:rPr sz="771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771" i="0">
                <a:solidFill>
                  <a:srgbClr val="E6EDF3"/>
                </a:solidFill>
                <a:latin typeface="Inconsolata"/>
              </a:rPr>
              <a:t>(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, session: </a:t>
            </a:r>
            <a:r>
              <a:rPr sz="771" i="0">
                <a:solidFill>
                  <a:srgbClr val="7FDBCA"/>
                </a:solidFill>
                <a:latin typeface="Inconsolata"/>
              </a:rPr>
              <a:t>Session</a:t>
            </a:r>
            <a:r>
              <a:rPr sz="771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8035"/>
              </a:lnSpc>
              <a:spcAft>
                <a:spcPts val="0"/>
              </a:spcAft>
            </a:pPr>
            <a:r>
              <a:rPr sz="771" i="0">
                <a:solidFill>
                  <a:srgbClr val="5C6773"/>
                </a:solidFill>
                <a:latin typeface="Inconsolata"/>
              </a:rPr>
              <a:t>48  </a:t>
            </a:r>
            <a:r>
              <a:rPr sz="771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71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1" i="0">
                <a:solidFill>
                  <a:srgbClr val="E6EDF3"/>
                </a:solidFill>
                <a:latin typeface="Inconsolata"/>
              </a:rPr>
              <a:t>.session = session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2716022"/>
            <a:ext cx="3694176" cy="1770380"/>
          </a:xfrm>
          <a:prstGeom prst="roundRect">
            <a:avLst>
              <a:gd name="adj" fmla="val 2582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34823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2462022"/>
            <a:ext cx="3694176" cy="881380"/>
          </a:xfrm>
          <a:prstGeom prst="roundRect">
            <a:avLst>
              <a:gd name="adj" fmla="val 518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8284463" y="27838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152980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vs ORM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Domain model dan ORM model dipisah (2/2)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07-domain-vs-orm/after.py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50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def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82B1FF"/>
                </a:solidFill>
                <a:latin typeface="Inconsolata"/>
              </a:rPr>
              <a:t>add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49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51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record =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52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customer=order.customer,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53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total=order.total,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54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status=order.status,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55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56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.session.add(record)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57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.session.commit()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58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order.id = record.id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59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49" i="0">
                <a:solidFill>
                  <a:srgbClr val="E6EDF3"/>
                </a:solidFill>
                <a:latin typeface="Inconsolata"/>
              </a:rPr>
              <a:t> order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60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61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def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82B1FF"/>
                </a:solidFill>
                <a:latin typeface="Inconsolata"/>
              </a:rPr>
              <a:t>get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749" i="0">
                <a:solidFill>
                  <a:srgbClr val="C3A6FF"/>
                </a:solidFill>
                <a:latin typeface="Inconsolata"/>
              </a:rPr>
              <a:t>int</a:t>
            </a:r>
            <a:r>
              <a:rPr sz="749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49" i="0">
                <a:solidFill>
                  <a:srgbClr val="E6EDF3"/>
                </a:solidFill>
                <a:latin typeface="Inconsolata"/>
              </a:rPr>
              <a:t> | </a:t>
            </a:r>
            <a:r>
              <a:rPr sz="749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62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record =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.session.get(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order_id)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63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._to_domain(record) </a:t>
            </a:r>
            <a:r>
              <a:rPr sz="749" i="0">
                <a:solidFill>
                  <a:srgbClr val="FF8E6E"/>
                </a:solidFill>
                <a:latin typeface="Inconsolata"/>
              </a:rPr>
              <a:t>if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record </a:t>
            </a:r>
            <a:r>
              <a:rPr sz="749" i="0">
                <a:solidFill>
                  <a:srgbClr val="FF8E6E"/>
                </a:solidFill>
                <a:latin typeface="Inconsolata"/>
              </a:rPr>
              <a:t>else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FF8E6E"/>
                </a:solidFill>
                <a:latin typeface="Inconsolata"/>
              </a:rPr>
              <a:t>None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64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65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def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82B1FF"/>
                </a:solidFill>
                <a:latin typeface="Inconsolata"/>
              </a:rPr>
              <a:t>save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49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49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66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record =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.session.get(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order.id)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67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record.status = order.status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68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49" i="0">
                <a:solidFill>
                  <a:srgbClr val="E6EDF3"/>
                </a:solidFill>
                <a:latin typeface="Inconsolata"/>
              </a:rPr>
              <a:t>.session.commit()</a:t>
            </a:r>
          </a:p>
        </p:txBody>
      </p:sp>
      <p:sp>
        <p:nvSpPr>
          <p:cNvPr id="29" name="CodeTab 13"/>
          <p:cNvSpPr/>
          <p:nvPr/>
        </p:nvSpPr>
        <p:spPr>
          <a:xfrm>
            <a:off x="4626864" y="1481328"/>
            <a:ext cx="3858768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Dot 14"/>
          <p:cNvSpPr/>
          <p:nvPr/>
        </p:nvSpPr>
        <p:spPr>
          <a:xfrm>
            <a:off x="4736592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Dot 15"/>
          <p:cNvSpPr/>
          <p:nvPr/>
        </p:nvSpPr>
        <p:spPr>
          <a:xfrm>
            <a:off x="4873752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5010912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17"/>
          <p:cNvSpPr txBox="1"/>
          <p:nvPr/>
        </p:nvSpPr>
        <p:spPr>
          <a:xfrm>
            <a:off x="5175503" y="1490472"/>
            <a:ext cx="3218687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07-domain-vs-orm/after.py (lanjutan)</a:t>
            </a:r>
          </a:p>
        </p:txBody>
      </p:sp>
      <p:sp>
        <p:nvSpPr>
          <p:cNvPr id="34" name="CodeBg 19"/>
          <p:cNvSpPr/>
          <p:nvPr/>
        </p:nvSpPr>
        <p:spPr>
          <a:xfrm>
            <a:off x="4626864" y="1719072"/>
            <a:ext cx="3858768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Code 20"/>
          <p:cNvSpPr txBox="1"/>
          <p:nvPr/>
        </p:nvSpPr>
        <p:spPr>
          <a:xfrm>
            <a:off x="4626864" y="1719072"/>
            <a:ext cx="3858768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70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9C97A"/>
                </a:solidFill>
                <a:latin typeface="Inconsolata"/>
              </a:rPr>
              <a:t>@staticmethod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71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def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82B1FF"/>
                </a:solidFill>
                <a:latin typeface="Inconsolata"/>
              </a:rPr>
              <a:t>_to_domain</a:t>
            </a:r>
            <a:r>
              <a:rPr sz="749" i="0">
                <a:solidFill>
                  <a:srgbClr val="E6EDF3"/>
                </a:solidFill>
                <a:latin typeface="Inconsolata"/>
              </a:rPr>
              <a:t>(record: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49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72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73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    record.customer, record.total, record.status, record.id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74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75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76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77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if</a:t>
            </a:r>
            <a:r>
              <a:rPr sz="749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749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749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78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engine = create_engine(</a:t>
            </a:r>
            <a:r>
              <a:rPr sz="749" i="0">
                <a:solidFill>
                  <a:srgbClr val="A5D6A7"/>
                </a:solidFill>
                <a:latin typeface="Inconsolata"/>
              </a:rPr>
              <a:t>"sqlite://"</a:t>
            </a:r>
            <a:r>
              <a:rPr sz="749" i="0">
                <a:solidFill>
                  <a:srgbClr val="E6EDF3"/>
                </a:solidFill>
                <a:latin typeface="Inconsolata"/>
              </a:rPr>
              <a:t>)      </a:t>
            </a:r>
            <a:r>
              <a:rPr sz="749" i="1">
                <a:solidFill>
                  <a:srgbClr val="8B98A8"/>
                </a:solidFill>
                <a:latin typeface="Inconsolata"/>
              </a:rPr>
              <a:t># database di memory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79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7FDBCA"/>
                </a:solidFill>
                <a:latin typeface="Inconsolata"/>
              </a:rPr>
              <a:t>Base</a:t>
            </a:r>
            <a:r>
              <a:rPr sz="749" i="0">
                <a:solidFill>
                  <a:srgbClr val="E6EDF3"/>
                </a:solidFill>
                <a:latin typeface="Inconsolata"/>
              </a:rPr>
              <a:t>.metadata.create_all(engine)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80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81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49" i="0">
                <a:solidFill>
                  <a:srgbClr val="FF8E6E"/>
                </a:solidFill>
                <a:latin typeface="Inconsolata"/>
              </a:rPr>
              <a:t>with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  <a:r>
              <a:rPr sz="749" i="0">
                <a:solidFill>
                  <a:srgbClr val="7FDBCA"/>
                </a:solidFill>
                <a:latin typeface="Inconsolata"/>
              </a:rPr>
              <a:t>Session</a:t>
            </a:r>
            <a:r>
              <a:rPr sz="749" i="0">
                <a:solidFill>
                  <a:srgbClr val="E6EDF3"/>
                </a:solidFill>
                <a:latin typeface="Inconsolata"/>
              </a:rPr>
              <a:t>(engine) </a:t>
            </a:r>
            <a:r>
              <a:rPr sz="749" i="0">
                <a:solidFill>
                  <a:srgbClr val="FF8E6E"/>
                </a:solidFill>
                <a:latin typeface="Inconsolata"/>
              </a:rPr>
              <a:t>as</a:t>
            </a:r>
            <a:r>
              <a:rPr sz="749" i="0">
                <a:solidFill>
                  <a:srgbClr val="E6EDF3"/>
                </a:solidFill>
                <a:latin typeface="Inconsolata"/>
              </a:rPr>
              <a:t> session: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82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repo = </a:t>
            </a:r>
            <a:r>
              <a:rPr sz="749" i="0">
                <a:solidFill>
                  <a:srgbClr val="7FDBCA"/>
                </a:solidFill>
                <a:latin typeface="Inconsolata"/>
              </a:rPr>
              <a:t>SqlAlchemyOrderRepository</a:t>
            </a:r>
            <a:r>
              <a:rPr sz="749" i="0">
                <a:solidFill>
                  <a:srgbClr val="E6EDF3"/>
                </a:solidFill>
                <a:latin typeface="Inconsolata"/>
              </a:rPr>
              <a:t>(session)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83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order_id = repo.add(</a:t>
            </a:r>
            <a:r>
              <a:rPr sz="749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49" i="0">
                <a:solidFill>
                  <a:srgbClr val="E6EDF3"/>
                </a:solidFill>
                <a:latin typeface="Inconsolata"/>
              </a:rPr>
              <a:t>(</a:t>
            </a:r>
            <a:r>
              <a:rPr sz="749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49" i="0">
                <a:solidFill>
                  <a:srgbClr val="E6EDF3"/>
                </a:solidFill>
                <a:latin typeface="Inconsolata"/>
              </a:rPr>
              <a:t>, </a:t>
            </a:r>
            <a:r>
              <a:rPr sz="749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749" i="0">
                <a:solidFill>
                  <a:srgbClr val="E6EDF3"/>
                </a:solidFill>
                <a:latin typeface="Inconsolata"/>
              </a:rPr>
              <a:t>)).id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84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85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1">
                <a:solidFill>
                  <a:srgbClr val="8B98A8"/>
                </a:solidFill>
                <a:latin typeface="Inconsolata"/>
              </a:rPr>
              <a:t># dapat domain Order, bukan OrderRecord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86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order = repo.get(order_id)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87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order.pay()  </a:t>
            </a:r>
            <a:r>
              <a:rPr sz="749" i="1">
                <a:solidFill>
                  <a:srgbClr val="8B98A8"/>
                </a:solidFill>
                <a:latin typeface="Inconsolata"/>
              </a:rPr>
              <a:t># business logic tanpa tahu database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88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repo.save(order)</a:t>
            </a:r>
          </a:p>
          <a:p>
            <a:pPr>
              <a:lnSpc>
                <a:spcPct val="111166"/>
              </a:lnSpc>
              <a:spcAft>
                <a:spcPts val="0"/>
              </a:spcAft>
            </a:pPr>
            <a:r>
              <a:rPr sz="749" i="0">
                <a:solidFill>
                  <a:srgbClr val="5C6773"/>
                </a:solidFill>
                <a:latin typeface="Inconsolata"/>
              </a:rPr>
              <a:t>89  </a:t>
            </a:r>
            <a:r>
              <a:rPr sz="749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49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49" i="0">
                <a:solidFill>
                  <a:srgbClr val="E6EDF3"/>
                </a:solidFill>
                <a:latin typeface="Inconsolata"/>
              </a:rPr>
              <a:t>(repo.get(order_id).status)</a:t>
            </a:r>
          </a:p>
        </p:txBody>
      </p:sp>
      <p:sp>
        <p:nvSpPr>
          <p:cNvPr id="36" name="Box 21"/>
          <p:cNvSpPr/>
          <p:nvPr/>
        </p:nvSpPr>
        <p:spPr>
          <a:xfrm>
            <a:off x="704088" y="1827022"/>
            <a:ext cx="3694176" cy="2405380"/>
          </a:xfrm>
          <a:prstGeom prst="roundRect">
            <a:avLst>
              <a:gd name="adj" fmla="val 1900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Box 22"/>
          <p:cNvSpPr/>
          <p:nvPr/>
        </p:nvSpPr>
        <p:spPr>
          <a:xfrm>
            <a:off x="4279392" y="29108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8" name="Box 23"/>
          <p:cNvSpPr/>
          <p:nvPr/>
        </p:nvSpPr>
        <p:spPr>
          <a:xfrm>
            <a:off x="4709159" y="1827022"/>
            <a:ext cx="3694176" cy="500380"/>
          </a:xfrm>
          <a:prstGeom prst="roundRect">
            <a:avLst>
              <a:gd name="adj" fmla="val 913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4709159" y="3859022"/>
            <a:ext cx="3694176" cy="373380"/>
          </a:xfrm>
          <a:prstGeom prst="roundRect">
            <a:avLst>
              <a:gd name="adj" fmla="val 1224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Box 25"/>
          <p:cNvSpPr/>
          <p:nvPr/>
        </p:nvSpPr>
        <p:spPr>
          <a:xfrm>
            <a:off x="8284463" y="39268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84786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vs ORM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07-domain-vs-orm/after.py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sesi-03-domain-driven-design/07-domain-vs-orm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3-07-domain-vs-orm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90525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Domain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Python biasa, tanpa SQLAlchemy (baris 16-29)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ORM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OrderRecord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hanya bentuk tabel (baris 37-43)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Repository menerjemahkan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OrderRecord</a:t>
            </a:r>
            <a:r>
              <a:rPr sz="950" b="0" i="0">
                <a:solidFill>
                  <a:srgbClr val="434343"/>
                </a:solidFill>
                <a:latin typeface="Inter"/>
              </a:rPr>
              <a:t> bolak-balik (baris 50-73)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Pemakai mendapat domain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lalu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pay()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tanpa tahu soal database (baris 86-88)</a:t>
            </a:r>
          </a:p>
        </p:txBody>
      </p:sp>
    </p:spTree>
    <p:extLst>
      <p:ext uri="{BB962C8B-B14F-4D97-AF65-F5344CB8AC3E}">
        <p14:creationId xmlns:p14="http://schemas.microsoft.com/office/powerpoint/2010/main" val="9618207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Domain vs ORM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Cara Membaca Flow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07492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4348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07-domain-vs-orm/after.py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074920" cy="2386584"/>
          </a:xfrm>
          <a:prstGeom prst="roundRect">
            <a:avLst>
              <a:gd name="adj" fmla="val 766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074920" cy="238658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5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  <a:r>
              <a:rPr sz="725" i="0">
                <a:solidFill>
                  <a:srgbClr val="82B1FF"/>
                </a:solidFill>
                <a:latin typeface="Inconsolata"/>
              </a:rPr>
              <a:t>get</a:t>
            </a:r>
            <a:r>
              <a:rPr sz="725" i="0">
                <a:solidFill>
                  <a:srgbClr val="E6EDF3"/>
                </a:solidFill>
                <a:latin typeface="Inconsolata"/>
              </a:rPr>
              <a:t>(</a:t>
            </a:r>
            <a:r>
              <a:rPr sz="7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5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725" i="0">
                <a:solidFill>
                  <a:srgbClr val="C3A6FF"/>
                </a:solidFill>
                <a:latin typeface="Inconsolata"/>
              </a:rPr>
              <a:t>int</a:t>
            </a:r>
            <a:r>
              <a:rPr sz="72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2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25" i="0">
                <a:solidFill>
                  <a:srgbClr val="E6EDF3"/>
                </a:solidFill>
                <a:latin typeface="Inconsolata"/>
              </a:rPr>
              <a:t> | </a:t>
            </a:r>
            <a:r>
              <a:rPr sz="72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2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record = </a:t>
            </a:r>
            <a:r>
              <a:rPr sz="7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5" i="0">
                <a:solidFill>
                  <a:srgbClr val="E6EDF3"/>
                </a:solidFill>
                <a:latin typeface="Inconsolata"/>
              </a:rPr>
              <a:t>.session.get(</a:t>
            </a:r>
            <a:r>
              <a:rPr sz="725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25" i="0">
                <a:solidFill>
                  <a:srgbClr val="E6EDF3"/>
                </a:solidFill>
                <a:latin typeface="Inconsolata"/>
              </a:rPr>
              <a:t>, order_id)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5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  <a:r>
              <a:rPr sz="7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5" i="0">
                <a:solidFill>
                  <a:srgbClr val="E6EDF3"/>
                </a:solidFill>
                <a:latin typeface="Inconsolata"/>
              </a:rPr>
              <a:t>._to_domain(record) </a:t>
            </a:r>
            <a:r>
              <a:rPr sz="725" i="0">
                <a:solidFill>
                  <a:srgbClr val="FF8E6E"/>
                </a:solidFill>
                <a:latin typeface="Inconsolata"/>
              </a:rPr>
              <a:t>if</a:t>
            </a:r>
            <a:r>
              <a:rPr sz="725" i="0">
                <a:solidFill>
                  <a:srgbClr val="E6EDF3"/>
                </a:solidFill>
                <a:latin typeface="Inconsolata"/>
              </a:rPr>
              <a:t> record </a:t>
            </a:r>
            <a:r>
              <a:rPr sz="725" i="0">
                <a:solidFill>
                  <a:srgbClr val="FF8E6E"/>
                </a:solidFill>
                <a:latin typeface="Inconsolata"/>
              </a:rPr>
              <a:t>else</a:t>
            </a: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  <a:r>
              <a:rPr sz="725" i="0">
                <a:solidFill>
                  <a:srgbClr val="FF8E6E"/>
                </a:solidFill>
                <a:latin typeface="Inconsolata"/>
              </a:rPr>
              <a:t>None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5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  <a:r>
              <a:rPr sz="725" i="0">
                <a:solidFill>
                  <a:srgbClr val="82B1FF"/>
                </a:solidFill>
                <a:latin typeface="Inconsolata"/>
              </a:rPr>
              <a:t>save</a:t>
            </a:r>
            <a:r>
              <a:rPr sz="725" i="0">
                <a:solidFill>
                  <a:srgbClr val="E6EDF3"/>
                </a:solidFill>
                <a:latin typeface="Inconsolata"/>
              </a:rPr>
              <a:t>(</a:t>
            </a:r>
            <a:r>
              <a:rPr sz="7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5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72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2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2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2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record = </a:t>
            </a:r>
            <a:r>
              <a:rPr sz="7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5" i="0">
                <a:solidFill>
                  <a:srgbClr val="E6EDF3"/>
                </a:solidFill>
                <a:latin typeface="Inconsolata"/>
              </a:rPr>
              <a:t>.session.get(</a:t>
            </a:r>
            <a:r>
              <a:rPr sz="725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25" i="0">
                <a:solidFill>
                  <a:srgbClr val="E6EDF3"/>
                </a:solidFill>
                <a:latin typeface="Inconsolata"/>
              </a:rPr>
              <a:t>, order.id)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record.status = order.status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25" i="0">
                <a:solidFill>
                  <a:srgbClr val="E6EDF3"/>
                </a:solidFill>
                <a:latin typeface="Inconsolata"/>
              </a:rPr>
              <a:t>.session.commit()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5" i="0">
                <a:solidFill>
                  <a:srgbClr val="F9C97A"/>
                </a:solidFill>
                <a:latin typeface="Inconsolata"/>
              </a:rPr>
              <a:t>@staticmethod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5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  <a:r>
              <a:rPr sz="725" i="0">
                <a:solidFill>
                  <a:srgbClr val="82B1FF"/>
                </a:solidFill>
                <a:latin typeface="Inconsolata"/>
              </a:rPr>
              <a:t>_to_domain</a:t>
            </a:r>
            <a:r>
              <a:rPr sz="725" i="0">
                <a:solidFill>
                  <a:srgbClr val="E6EDF3"/>
                </a:solidFill>
                <a:latin typeface="Inconsolata"/>
              </a:rPr>
              <a:t>(record: </a:t>
            </a:r>
            <a:r>
              <a:rPr sz="725" i="0">
                <a:solidFill>
                  <a:srgbClr val="7FDBCA"/>
                </a:solidFill>
                <a:latin typeface="Inconsolata"/>
              </a:rPr>
              <a:t>OrderRecord</a:t>
            </a:r>
            <a:r>
              <a:rPr sz="72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2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2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5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  <a:r>
              <a:rPr sz="725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25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    record.customer, record.total, record.status, record.id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...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5" i="1">
                <a:solidFill>
                  <a:srgbClr val="8B98A8"/>
                </a:solidFill>
                <a:latin typeface="Inconsolata"/>
              </a:rPr>
              <a:t># dapat domain Order, bukan OrderRecord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order = repo.get(order_id)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order.pay()  </a:t>
            </a:r>
            <a:r>
              <a:rPr sz="725" i="1">
                <a:solidFill>
                  <a:srgbClr val="8B98A8"/>
                </a:solidFill>
                <a:latin typeface="Inconsolata"/>
              </a:rPr>
              <a:t># business logic tanpa tahu database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repo.save(order)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654171"/>
            <a:ext cx="491032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495544" y="35890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1939671"/>
            <a:ext cx="491032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495544" y="18745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082671"/>
            <a:ext cx="491032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495544" y="30175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704088" y="3768471"/>
            <a:ext cx="491032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Box 19"/>
          <p:cNvSpPr/>
          <p:nvPr/>
        </p:nvSpPr>
        <p:spPr>
          <a:xfrm>
            <a:off x="5202936" y="37033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7" name="Box 20"/>
          <p:cNvSpPr/>
          <p:nvPr/>
        </p:nvSpPr>
        <p:spPr>
          <a:xfrm>
            <a:off x="704088" y="2511171"/>
            <a:ext cx="491032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Box 21"/>
          <p:cNvSpPr/>
          <p:nvPr/>
        </p:nvSpPr>
        <p:spPr>
          <a:xfrm>
            <a:off x="5495544" y="24460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9" name="CodeBg 23"/>
          <p:cNvSpPr/>
          <p:nvPr/>
        </p:nvSpPr>
        <p:spPr>
          <a:xfrm>
            <a:off x="621792" y="4197096"/>
            <a:ext cx="5074920" cy="502920"/>
          </a:xfrm>
          <a:prstGeom prst="roundRect">
            <a:avLst>
              <a:gd name="adj" fmla="val 1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Code 24"/>
          <p:cNvSpPr txBox="1"/>
          <p:nvPr/>
        </p:nvSpPr>
        <p:spPr>
          <a:xfrm>
            <a:off x="621792" y="4197096"/>
            <a:ext cx="5074920" cy="502920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$ python after.py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paid</a:t>
            </a:r>
          </a:p>
        </p:txBody>
      </p:sp>
      <p:sp>
        <p:nvSpPr>
          <p:cNvPr id="41" name="Box 25"/>
          <p:cNvSpPr/>
          <p:nvPr/>
        </p:nvSpPr>
        <p:spPr>
          <a:xfrm>
            <a:off x="5879592" y="149961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42" name="Text 26"/>
          <p:cNvSpPr txBox="1"/>
          <p:nvPr/>
        </p:nvSpPr>
        <p:spPr>
          <a:xfrm>
            <a:off x="6208776" y="1463040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Kode pemakai minta order ke repository</a:t>
            </a:r>
          </a:p>
        </p:txBody>
      </p:sp>
      <p:sp>
        <p:nvSpPr>
          <p:cNvPr id="43" name="Box 27"/>
          <p:cNvSpPr/>
          <p:nvPr/>
        </p:nvSpPr>
        <p:spPr>
          <a:xfrm>
            <a:off x="5879592" y="2143353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4" name="Text 28"/>
          <p:cNvSpPr txBox="1"/>
          <p:nvPr/>
        </p:nvSpPr>
        <p:spPr>
          <a:xfrm>
            <a:off x="6208776" y="2106777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Repository membaca baris tabel lewat SQLAlchemy, hasilnya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OrderRecord</a:t>
            </a:r>
          </a:p>
        </p:txBody>
      </p:sp>
      <p:sp>
        <p:nvSpPr>
          <p:cNvPr id="45" name="Box 29"/>
          <p:cNvSpPr/>
          <p:nvPr/>
        </p:nvSpPr>
        <p:spPr>
          <a:xfrm>
            <a:off x="5879592" y="2787091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46" name="Text 30"/>
          <p:cNvSpPr txBox="1"/>
          <p:nvPr/>
        </p:nvSpPr>
        <p:spPr>
          <a:xfrm>
            <a:off x="6208776" y="2750515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_to_domain()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mengubah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OrderRecord</a:t>
            </a:r>
            <a:r>
              <a:rPr sz="850" b="0" i="0">
                <a:solidFill>
                  <a:srgbClr val="434343"/>
                </a:solidFill>
                <a:latin typeface="Inter"/>
              </a:rPr>
              <a:t> jadi domain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Order</a:t>
            </a:r>
          </a:p>
        </p:txBody>
      </p:sp>
      <p:sp>
        <p:nvSpPr>
          <p:cNvPr id="47" name="Box 31"/>
          <p:cNvSpPr/>
          <p:nvPr/>
        </p:nvSpPr>
        <p:spPr>
          <a:xfrm>
            <a:off x="5879592" y="3430828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48" name="Text 32"/>
          <p:cNvSpPr txBox="1"/>
          <p:nvPr/>
        </p:nvSpPr>
        <p:spPr>
          <a:xfrm>
            <a:off x="6208776" y="3394252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pay()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dijalankan di domain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850" b="0" i="0">
                <a:solidFill>
                  <a:srgbClr val="434343"/>
                </a:solidFill>
                <a:latin typeface="Inter"/>
              </a:rPr>
              <a:t>. Tidak ada SQLAlchemy di sini</a:t>
            </a:r>
          </a:p>
        </p:txBody>
      </p:sp>
      <p:sp>
        <p:nvSpPr>
          <p:cNvPr id="49" name="Box 33"/>
          <p:cNvSpPr/>
          <p:nvPr/>
        </p:nvSpPr>
        <p:spPr>
          <a:xfrm>
            <a:off x="5879592" y="407456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50" name="Text 34"/>
          <p:cNvSpPr txBox="1"/>
          <p:nvPr/>
        </p:nvSpPr>
        <p:spPr>
          <a:xfrm>
            <a:off x="6208776" y="4037990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save()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menyalin status baru ke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OrderRecord</a:t>
            </a:r>
            <a:r>
              <a:rPr sz="850" b="0" i="0">
                <a:solidFill>
                  <a:srgbClr val="434343"/>
                </a:solidFill>
                <a:latin typeface="Inter"/>
              </a:rPr>
              <a:t>, lalu commit</a:t>
            </a:r>
          </a:p>
        </p:txBody>
      </p:sp>
    </p:spTree>
    <p:extLst>
      <p:ext uri="{BB962C8B-B14F-4D97-AF65-F5344CB8AC3E}">
        <p14:creationId xmlns:p14="http://schemas.microsoft.com/office/powerpoint/2010/main" val="21775034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56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CFE0FA"/>
                </a:solidFill>
                <a:latin typeface="Inter"/>
              </a:rPr>
              <a:t>Bagian 04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Work Sans ExtraBold"/>
              </a:rPr>
              <a:t>Hands-on: Modeling Domain dengan DDD Dasar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3246120"/>
            <a:ext cx="65836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E3ECFA"/>
                </a:solidFill>
                <a:latin typeface="Inter"/>
              </a:rPr>
              <a:t>Dikerjakan bersama mentor, langkah demi langkah. Domain hasil Sesi 2 diperkaya.</a:t>
            </a:r>
          </a:p>
        </p:txBody>
      </p:sp>
    </p:spTree>
    <p:extLst>
      <p:ext uri="{BB962C8B-B14F-4D97-AF65-F5344CB8AC3E}">
        <p14:creationId xmlns:p14="http://schemas.microsoft.com/office/powerpoint/2010/main" val="35241606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Kondisi Awal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Hasil Sesi 2: Layer Sudah Rapi, Domain Masih Kosong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4805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08-ddd-order/before/app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1206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1206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1">
                <a:solidFill>
                  <a:srgbClr val="8B98A8"/>
                </a:solidFill>
                <a:latin typeface="Inconsolata"/>
              </a:rPr>
              <a:t># domain/order.py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9C97A"/>
                </a:solidFill>
                <a:latin typeface="Inconsolata"/>
              </a:rPr>
              <a:t>@dataclass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customer_type: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subtotal: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total: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id: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 |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1">
                <a:solidFill>
                  <a:srgbClr val="8B98A8"/>
                </a:solidFill>
                <a:latin typeface="Inconsolata"/>
              </a:rPr>
              <a:t># application/order_service.py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customer_type: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items: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list</a:t>
            </a:r>
            <a:r>
              <a:rPr sz="750" i="0">
                <a:solidFill>
                  <a:srgbClr val="E6EDF3"/>
                </a:solidFill>
                <a:latin typeface="Inconsolata"/>
              </a:rPr>
              <a:t>[</a:t>
            </a:r>
            <a:r>
              <a:rPr sz="7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750" i="0">
                <a:solidFill>
                  <a:srgbClr val="E6EDF3"/>
                </a:solidFill>
                <a:latin typeface="Inconsolata"/>
              </a:rPr>
              <a:t>]) -&gt;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subtotal =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sum</a:t>
            </a:r>
            <a:r>
              <a:rPr sz="750" i="0">
                <a:solidFill>
                  <a:srgbClr val="E6EDF3"/>
                </a:solidFill>
                <a:latin typeface="Inconsolata"/>
              </a:rPr>
              <a:t>(i[</a:t>
            </a:r>
            <a:r>
              <a:rPr sz="750" i="0">
                <a:solidFill>
                  <a:srgbClr val="A5D6A7"/>
                </a:solidFill>
                <a:latin typeface="Inconsolata"/>
              </a:rPr>
              <a:t>"price"</a:t>
            </a:r>
            <a:r>
              <a:rPr sz="750" i="0">
                <a:solidFill>
                  <a:srgbClr val="E6EDF3"/>
                </a:solidFill>
                <a:latin typeface="Inconsolata"/>
              </a:rPr>
              <a:t>] * i[</a:t>
            </a:r>
            <a:r>
              <a:rPr sz="750" i="0">
                <a:solidFill>
                  <a:srgbClr val="A5D6A7"/>
                </a:solidFill>
                <a:latin typeface="Inconsolata"/>
              </a:rPr>
              <a:t>"qty"</a:t>
            </a:r>
            <a:r>
              <a:rPr sz="750" i="0">
                <a:solidFill>
                  <a:srgbClr val="E6EDF3"/>
                </a:solidFill>
                <a:latin typeface="Inconsolata"/>
              </a:rPr>
              <a:t>] </a:t>
            </a:r>
            <a:r>
              <a:rPr sz="7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750" i="0">
                <a:solidFill>
                  <a:srgbClr val="E6EDF3"/>
                </a:solidFill>
                <a:latin typeface="Inconsolata"/>
              </a:rPr>
              <a:t> i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items)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total = subtotal - get_discount(customer_type).discount(subtotal)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order =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.repo.add(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(customer, customer_type, subtotal, total))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954022"/>
            <a:ext cx="4956048" cy="881380"/>
          </a:xfrm>
          <a:prstGeom prst="roundRect">
            <a:avLst>
              <a:gd name="adj" fmla="val 5187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541264" y="227584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224022"/>
            <a:ext cx="4956048" cy="246380"/>
          </a:xfrm>
          <a:prstGeom prst="roundRect">
            <a:avLst>
              <a:gd name="adj" fmla="val 1855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541264" y="322834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5897879" y="1481328"/>
            <a:ext cx="2587752" cy="321868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Text 17"/>
          <p:cNvSpPr txBox="1"/>
          <p:nvPr/>
        </p:nvSpPr>
        <p:spPr>
          <a:xfrm>
            <a:off x="6035040" y="1572768"/>
            <a:ext cx="23134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5" name="Text 18"/>
          <p:cNvSpPr txBox="1"/>
          <p:nvPr/>
        </p:nvSpPr>
        <p:spPr>
          <a:xfrm>
            <a:off x="6035040" y="1892808"/>
            <a:ext cx="231343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hanya wadah data,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Order(..., total=-5)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tetap lolos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Item dijumlah lalu dibuang, dan diskon dihitung di service, bukan di domain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Belum ada status, belum bisa bayar atau batalkan order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Domain inilah yang kita perkaya di hands-on.</a:t>
            </a:r>
          </a:p>
        </p:txBody>
      </p:sp>
    </p:spTree>
    <p:extLst>
      <p:ext uri="{BB962C8B-B14F-4D97-AF65-F5344CB8AC3E}">
        <p14:creationId xmlns:p14="http://schemas.microsoft.com/office/powerpoint/2010/main" val="2731903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mulai dari 08-ddd-order/before/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Tujuan &amp; Kriteria Selesai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481328"/>
            <a:ext cx="3840480" cy="3218688"/>
          </a:xfrm>
          <a:prstGeom prst="roundRect">
            <a:avLst>
              <a:gd name="adj" fmla="val 3409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Text 4"/>
          <p:cNvSpPr txBox="1"/>
          <p:nvPr/>
        </p:nvSpPr>
        <p:spPr>
          <a:xfrm>
            <a:off x="758952" y="1572768"/>
            <a:ext cx="356616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1C4587"/>
                </a:solidFill>
                <a:latin typeface="Inter"/>
              </a:rPr>
              <a:t>Kriteria selesai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892808"/>
            <a:ext cx="3566160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Harga dan diskon memakai value object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Money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Item hanya bisa ditambah lewat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Order.add_item()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Order yang sudah dibayar tidak bisa dibatalkan atau diubah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Aturan diskon ada di domain service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DiscountPolicy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Endpoint baru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POST /orders/{id}/pay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/cancel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Test domain tanpa FastAPI dan database,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pytest</a:t>
            </a:r>
            <a:r>
              <a:rPr sz="950" b="0" i="0">
                <a:solidFill>
                  <a:srgbClr val="434343"/>
                </a:solidFill>
                <a:latin typeface="Inter"/>
              </a:rPr>
              <a:t> hijau</a:t>
            </a:r>
          </a:p>
        </p:txBody>
      </p:sp>
      <p:sp>
        <p:nvSpPr>
          <p:cNvPr id="25" name="CodeTab 7"/>
          <p:cNvSpPr/>
          <p:nvPr/>
        </p:nvSpPr>
        <p:spPr>
          <a:xfrm>
            <a:off x="4617720" y="1481328"/>
            <a:ext cx="386791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72744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Dot 9"/>
          <p:cNvSpPr/>
          <p:nvPr/>
        </p:nvSpPr>
        <p:spPr>
          <a:xfrm>
            <a:off x="486460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Dot 10"/>
          <p:cNvSpPr/>
          <p:nvPr/>
        </p:nvSpPr>
        <p:spPr>
          <a:xfrm>
            <a:off x="500176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 11"/>
          <p:cNvSpPr txBox="1"/>
          <p:nvPr/>
        </p:nvSpPr>
        <p:spPr>
          <a:xfrm>
            <a:off x="5166359" y="1490472"/>
            <a:ext cx="322783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target struktur</a:t>
            </a:r>
          </a:p>
        </p:txBody>
      </p:sp>
      <p:sp>
        <p:nvSpPr>
          <p:cNvPr id="30" name="CodeBg 13"/>
          <p:cNvSpPr/>
          <p:nvPr/>
        </p:nvSpPr>
        <p:spPr>
          <a:xfrm>
            <a:off x="4617720" y="1719072"/>
            <a:ext cx="3867912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 14"/>
          <p:cNvSpPr txBox="1"/>
          <p:nvPr/>
        </p:nvSpPr>
        <p:spPr>
          <a:xfrm>
            <a:off x="4617720" y="1719072"/>
            <a:ext cx="3867912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latihan/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app/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domain/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money.py            # langkah 2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order.py            # langkah 3-5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discount_policy.py  # langkah 6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application/          # langkah 7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infrastructure/       # langkah 8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api/routes.py         # langkah 9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tests/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test_order.py         # langkah 10</a:t>
            </a:r>
          </a:p>
        </p:txBody>
      </p:sp>
    </p:spTree>
    <p:extLst>
      <p:ext uri="{BB962C8B-B14F-4D97-AF65-F5344CB8AC3E}">
        <p14:creationId xmlns:p14="http://schemas.microsoft.com/office/powerpoint/2010/main" val="31560072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1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Siapkan Folder Latihan &amp; Jalankan Kode Awal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terminal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82B1FF"/>
                </a:solidFill>
                <a:latin typeface="Inconsolata"/>
              </a:rPr>
              <a:t>$ cd sesi-03-domain-driven-design/08-ddd-order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82B1FF"/>
                </a:solidFill>
                <a:latin typeface="Inconsolata"/>
              </a:rPr>
              <a:t>$ cp -r before latihan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82B1FF"/>
                </a:solidFill>
                <a:latin typeface="Inconsolata"/>
              </a:rPr>
              <a:t>$ cd latihan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82B1FF"/>
                </a:solidFill>
                <a:latin typeface="Inconsolata"/>
              </a:rPr>
              <a:t>$ uvicorn app.main:app --reload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endParaRPr sz="850" i="0">
              <a:solidFill>
                <a:srgbClr val="82B1FF"/>
              </a:solidFill>
              <a:latin typeface="Inconsolata"/>
            </a:endParaRP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Inconsolata"/>
              </a:rPr>
              <a:t># buka http://127.0.0.1:8000/docs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Inconsolata"/>
              </a:rPr>
              <a:t># POST /orders -&gt; Try it out -&gt; isi body: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{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"customer": "budi@mail.com",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"customer_type": "vip",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"items": [{"name": "Keyboard", "price": 500000, "qty": 2}]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}</a:t>
            </a:r>
          </a:p>
        </p:txBody>
      </p:sp>
      <p:sp>
        <p:nvSpPr>
          <p:cNvPr id="29" name="Box 12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Text 13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Salin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before/</a:t>
            </a:r>
            <a:r>
              <a:rPr sz="900" b="0" i="0">
                <a:solidFill>
                  <a:srgbClr val="434343"/>
                </a:solidFill>
                <a:latin typeface="Inter"/>
              </a:rPr>
              <a:t> jadi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latihan/</a:t>
            </a:r>
            <a:r>
              <a:rPr sz="900" b="0" i="0">
                <a:solidFill>
                  <a:srgbClr val="434343"/>
                </a:solidFill>
                <a:latin typeface="Inter"/>
              </a:rPr>
              <a:t>. Folder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before/</a:t>
            </a:r>
            <a:r>
              <a:rPr sz="900" b="0" i="0">
                <a:solidFill>
                  <a:srgbClr val="434343"/>
                </a:solidFill>
                <a:latin typeface="Inter"/>
              </a:rPr>
              <a:t> tetap utuh sebagai pembanding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Jalankan aplikasi dari folder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latihan/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Kirim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POST /orders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dengan body di samping dan catat responsenya</a:t>
            </a:r>
          </a:p>
        </p:txBody>
      </p:sp>
      <p:sp>
        <p:nvSpPr>
          <p:cNvPr id="32" name="Box 15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3" name="Text 16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4" name="Text 17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Response 201 dengan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"total": 900000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25818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1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Response dari Kode Awal</a:t>
            </a:r>
          </a:p>
        </p:txBody>
      </p:sp>
      <p:pic>
        <p:nvPicPr>
          <p:cNvPr id="22" name="Image 3" descr="s03-before-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481328"/>
            <a:ext cx="2540310" cy="3218688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23" name="Text 4"/>
          <p:cNvSpPr txBox="1"/>
          <p:nvPr/>
        </p:nvSpPr>
        <p:spPr>
          <a:xfrm>
            <a:off x="3429000" y="1481328"/>
            <a:ext cx="2651760" cy="3200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Yang tampil sekarang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subtotal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saja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Belum ada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status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Item yang dibeli tidak tersimpan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Belum ada endpoint bayar dan batal</a:t>
            </a:r>
          </a:p>
        </p:txBody>
      </p:sp>
      <p:sp>
        <p:nvSpPr>
          <p:cNvPr id="24" name="Box 5"/>
          <p:cNvSpPr/>
          <p:nvPr/>
        </p:nvSpPr>
        <p:spPr>
          <a:xfrm>
            <a:off x="6217920" y="1481328"/>
            <a:ext cx="2267712" cy="3218688"/>
          </a:xfrm>
          <a:prstGeom prst="roundRect">
            <a:avLst>
              <a:gd name="adj" fmla="val 4838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5" name="Text 6"/>
          <p:cNvSpPr txBox="1"/>
          <p:nvPr/>
        </p:nvSpPr>
        <p:spPr>
          <a:xfrm>
            <a:off x="6355080" y="1572768"/>
            <a:ext cx="1993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Setelah hands-on</a:t>
            </a:r>
          </a:p>
        </p:txBody>
      </p:sp>
      <p:sp>
        <p:nvSpPr>
          <p:cNvPr id="26" name="Text 7"/>
          <p:cNvSpPr txBox="1"/>
          <p:nvPr/>
        </p:nvSpPr>
        <p:spPr>
          <a:xfrm>
            <a:off x="6355080" y="1892808"/>
            <a:ext cx="1993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Response bertambah: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status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pending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items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daftar item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discount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100.000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tetap 900.000.</a:t>
            </a:r>
          </a:p>
        </p:txBody>
      </p:sp>
    </p:spTree>
    <p:extLst>
      <p:ext uri="{BB962C8B-B14F-4D97-AF65-F5344CB8AC3E}">
        <p14:creationId xmlns:p14="http://schemas.microsoft.com/office/powerpoint/2010/main" val="25587188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2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domain/money.py: Value Object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app/domain/money.py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00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00" i="0">
                <a:solidFill>
                  <a:srgbClr val="E6EDF3"/>
                </a:solidFill>
                <a:latin typeface="Inconsolata"/>
              </a:rPr>
              <a:t> dataclass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9C97A"/>
                </a:solidFill>
                <a:latin typeface="Inconsolata"/>
              </a:rPr>
              <a:t>@dataclass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(frozen=</a:t>
            </a:r>
            <a:r>
              <a:rPr sz="800" i="0">
                <a:solidFill>
                  <a:srgbClr val="FF8E6E"/>
                </a:solidFill>
                <a:latin typeface="Inconsolata"/>
              </a:rPr>
              <a:t>True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amount: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__post_init__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.amount &lt; </a:t>
            </a:r>
            <a:r>
              <a:rPr sz="800" i="0">
                <a:solidFill>
                  <a:srgbClr val="F9C97A"/>
                </a:solidFill>
                <a:latin typeface="Inconsolata"/>
              </a:rPr>
              <a:t>0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"Money tidak boleh negatif"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__add__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other: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.amount + other.amount)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__sub__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other: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.amount - other.amount)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times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qty: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.amount * qty)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percent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value: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"Money"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.amount * value //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081022"/>
            <a:ext cx="472744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2021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589022"/>
            <a:ext cx="4727448" cy="373380"/>
          </a:xfrm>
          <a:prstGeom prst="roundRect">
            <a:avLst>
              <a:gd name="adj" fmla="val 12244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312664" y="2656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097022"/>
            <a:ext cx="4727448" cy="1389380"/>
          </a:xfrm>
          <a:prstGeom prst="roundRect">
            <a:avLst>
              <a:gd name="adj" fmla="val 3290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312664" y="3672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Text 19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7" name="Text 20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Buat file baru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app/domain/money.py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Isinya sama dengan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Money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 contoh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03-value-object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Mulai sekarang semua harga di domain memakai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Money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bukan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int</a:t>
            </a:r>
          </a:p>
        </p:txBody>
      </p:sp>
      <p:sp>
        <p:nvSpPr>
          <p:cNvPr id="38" name="Box 21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Text 22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40" name="Text 23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Money(-1)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langsung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ValueError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(dites di langkah 10).</a:t>
            </a:r>
          </a:p>
        </p:txBody>
      </p:sp>
    </p:spTree>
    <p:extLst>
      <p:ext uri="{BB962C8B-B14F-4D97-AF65-F5344CB8AC3E}">
        <p14:creationId xmlns:p14="http://schemas.microsoft.com/office/powerpoint/2010/main" val="26411816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3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domain/order.py: Status dan OrderLine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app/domain/order.py (1/3)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75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775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75" i="0">
                <a:solidFill>
                  <a:srgbClr val="E6EDF3"/>
                </a:solidFill>
                <a:latin typeface="Inconsolata"/>
              </a:rPr>
              <a:t> dataclass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75" i="0">
                <a:solidFill>
                  <a:srgbClr val="E6EDF3"/>
                </a:solidFill>
                <a:latin typeface="Inconsolata"/>
              </a:rPr>
              <a:t> enum </a:t>
            </a:r>
            <a:r>
              <a:rPr sz="775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7FDBCA"/>
                </a:solidFill>
                <a:latin typeface="Inconsolata"/>
              </a:rPr>
              <a:t>Enum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75" i="0">
                <a:solidFill>
                  <a:srgbClr val="E6EDF3"/>
                </a:solidFill>
                <a:latin typeface="Inconsolata"/>
              </a:rPr>
              <a:t> app.domain.money </a:t>
            </a:r>
            <a:r>
              <a:rPr sz="775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7FDBCA"/>
                </a:solidFill>
                <a:latin typeface="Inconsolata"/>
              </a:rPr>
              <a:t>Money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775" i="0">
                <a:solidFill>
                  <a:srgbClr val="E6EDF3"/>
                </a:solidFill>
                <a:latin typeface="Inconsolata"/>
              </a:rPr>
              <a:t>(</a:t>
            </a:r>
            <a:r>
              <a:rPr sz="775" i="0">
                <a:solidFill>
                  <a:srgbClr val="C3A6FF"/>
                </a:solidFill>
                <a:latin typeface="Inconsolata"/>
              </a:rPr>
              <a:t>str</a:t>
            </a:r>
            <a:r>
              <a:rPr sz="775" i="0">
                <a:solidFill>
                  <a:srgbClr val="E6EDF3"/>
                </a:solidFill>
                <a:latin typeface="Inconsolata"/>
              </a:rPr>
              <a:t>, </a:t>
            </a:r>
            <a:r>
              <a:rPr sz="775" i="0">
                <a:solidFill>
                  <a:srgbClr val="7FDBCA"/>
                </a:solidFill>
                <a:latin typeface="Inconsolata"/>
              </a:rPr>
              <a:t>Enum</a:t>
            </a:r>
            <a:r>
              <a:rPr sz="775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775" i="0">
                <a:solidFill>
                  <a:srgbClr val="E6EDF3"/>
                </a:solidFill>
                <a:latin typeface="Inconsolata"/>
              </a:rPr>
              <a:t> = </a:t>
            </a:r>
            <a:r>
              <a:rPr sz="775" i="0">
                <a:solidFill>
                  <a:srgbClr val="A5D6A7"/>
                </a:solidFill>
                <a:latin typeface="Inconsolata"/>
              </a:rPr>
              <a:t>"pending"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0">
                <a:solidFill>
                  <a:srgbClr val="7FDBCA"/>
                </a:solidFill>
                <a:latin typeface="Inconsolata"/>
              </a:rPr>
              <a:t>PAID</a:t>
            </a:r>
            <a:r>
              <a:rPr sz="775" i="0">
                <a:solidFill>
                  <a:srgbClr val="E6EDF3"/>
                </a:solidFill>
                <a:latin typeface="Inconsolata"/>
              </a:rPr>
              <a:t> = </a:t>
            </a:r>
            <a:r>
              <a:rPr sz="775" i="0">
                <a:solidFill>
                  <a:srgbClr val="A5D6A7"/>
                </a:solidFill>
                <a:latin typeface="Inconsolata"/>
              </a:rPr>
              <a:t>"paid"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0">
                <a:solidFill>
                  <a:srgbClr val="7FDBCA"/>
                </a:solidFill>
                <a:latin typeface="Inconsolata"/>
              </a:rPr>
              <a:t>CANCELLED</a:t>
            </a:r>
            <a:r>
              <a:rPr sz="775" i="0">
                <a:solidFill>
                  <a:srgbClr val="E6EDF3"/>
                </a:solidFill>
                <a:latin typeface="Inconsolata"/>
              </a:rPr>
              <a:t> = </a:t>
            </a:r>
            <a:r>
              <a:rPr sz="775" i="0">
                <a:solidFill>
                  <a:srgbClr val="A5D6A7"/>
                </a:solidFill>
                <a:latin typeface="Inconsolata"/>
              </a:rPr>
              <a:t>"cancelled"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775" i="0">
                <a:solidFill>
                  <a:srgbClr val="E6EDF3"/>
                </a:solidFill>
                <a:latin typeface="Inconsolata"/>
              </a:rPr>
              <a:t>(</a:t>
            </a:r>
            <a:r>
              <a:rPr sz="775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775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0">
                <a:solidFill>
                  <a:srgbClr val="FF8E6E"/>
                </a:solidFill>
                <a:latin typeface="Inconsolata"/>
              </a:rPr>
              <a:t>pass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9C97A"/>
                </a:solidFill>
                <a:latin typeface="Inconsolata"/>
              </a:rPr>
              <a:t>@dataclass</a:t>
            </a:r>
            <a:r>
              <a:rPr sz="775" i="0">
                <a:solidFill>
                  <a:srgbClr val="E6EDF3"/>
                </a:solidFill>
                <a:latin typeface="Inconsolata"/>
              </a:rPr>
              <a:t>(frozen=</a:t>
            </a:r>
            <a:r>
              <a:rPr sz="775" i="0">
                <a:solidFill>
                  <a:srgbClr val="FF8E6E"/>
                </a:solidFill>
                <a:latin typeface="Inconsolata"/>
              </a:rPr>
              <a:t>True</a:t>
            </a:r>
            <a:r>
              <a:rPr sz="775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7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product: </a:t>
            </a:r>
            <a:r>
              <a:rPr sz="775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price: </a:t>
            </a:r>
            <a:r>
              <a:rPr sz="775" i="0">
                <a:solidFill>
                  <a:srgbClr val="7FDBCA"/>
                </a:solidFill>
                <a:latin typeface="Inconsolata"/>
              </a:rPr>
              <a:t>Money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qty: </a:t>
            </a:r>
            <a:r>
              <a:rPr sz="775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0">
                <a:solidFill>
                  <a:srgbClr val="FF8E6E"/>
                </a:solidFill>
                <a:latin typeface="Inconsolata"/>
              </a:rPr>
              <a:t>def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82B1FF"/>
                </a:solidFill>
                <a:latin typeface="Inconsolata"/>
              </a:rPr>
              <a:t>subtotal</a:t>
            </a:r>
            <a:r>
              <a:rPr sz="775" i="0">
                <a:solidFill>
                  <a:srgbClr val="E6EDF3"/>
                </a:solidFill>
                <a:latin typeface="Inconsolata"/>
              </a:rPr>
              <a:t>(</a:t>
            </a:r>
            <a:r>
              <a:rPr sz="77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75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75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5" i="0">
                <a:solidFill>
                  <a:srgbClr val="E6EDF3"/>
                </a:solidFill>
                <a:latin typeface="Inconsolata"/>
              </a:rPr>
              <a:t>.price.times(</a:t>
            </a:r>
            <a:r>
              <a:rPr sz="77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75" i="0">
                <a:solidFill>
                  <a:srgbClr val="E6EDF3"/>
                </a:solidFill>
                <a:latin typeface="Inconsolata"/>
              </a:rPr>
              <a:t>.qty)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462022"/>
            <a:ext cx="4727448" cy="500380"/>
          </a:xfrm>
          <a:prstGeom prst="roundRect">
            <a:avLst>
              <a:gd name="adj" fmla="val 913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25933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097022"/>
            <a:ext cx="4727448" cy="246380"/>
          </a:xfrm>
          <a:prstGeom prst="roundRect">
            <a:avLst>
              <a:gd name="adj" fmla="val 18556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312664" y="31013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605022"/>
            <a:ext cx="4727448" cy="1008380"/>
          </a:xfrm>
          <a:prstGeom prst="roundRect">
            <a:avLst>
              <a:gd name="adj" fmla="val 4534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312664" y="39903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5" name="Box 18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Text 19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7" name="Text 20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Ganti isi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order.py</a:t>
            </a:r>
            <a:r>
              <a:rPr sz="900" b="0" i="0">
                <a:solidFill>
                  <a:srgbClr val="434343"/>
                </a:solidFill>
                <a:latin typeface="Inter"/>
              </a:rPr>
              <a:t>. Dataclass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lama dihapus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OrderStatus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status order pakai nama, bukan angka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OrderCannotBeChanged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error domain dengan nama sesuai istilah bisnis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OrderLine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satu item order, harganya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Money</a:t>
            </a:r>
          </a:p>
        </p:txBody>
      </p:sp>
      <p:sp>
        <p:nvSpPr>
          <p:cNvPr id="38" name="Box 21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Text 22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40" name="Text 23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File ini hanya import dari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app.domain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51938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4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domain/order.py: Order sebagai Aggregate Root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app/domain/order.py (2/3)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customer_type: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*, id: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 |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         status: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750" i="0">
                <a:solidFill>
                  <a:srgbClr val="E6EDF3"/>
                </a:solidFill>
                <a:latin typeface="Inconsolata"/>
              </a:rPr>
              <a:t>.</a:t>
            </a:r>
            <a:r>
              <a:rPr sz="750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7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         lines: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list</a:t>
            </a:r>
            <a:r>
              <a:rPr sz="750" i="0">
                <a:solidFill>
                  <a:srgbClr val="E6EDF3"/>
                </a:solidFill>
                <a:latin typeface="Inconsolata"/>
              </a:rPr>
              <a:t>[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] |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discount: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F9C97A"/>
                </a:solidFill>
                <a:latin typeface="Inconsolata"/>
              </a:rPr>
              <a:t>0</a:t>
            </a:r>
            <a:r>
              <a:rPr sz="750" i="0">
                <a:solidFill>
                  <a:srgbClr val="E6EDF3"/>
                </a:solidFill>
                <a:latin typeface="Inconsolata"/>
              </a:rPr>
              <a:t>)):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.id = id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.customer = customer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.customer_type = customer_type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.status = status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.discount = discount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._lines = </a:t>
            </a:r>
            <a:r>
              <a:rPr sz="750" i="0">
                <a:solidFill>
                  <a:srgbClr val="C3A6FF"/>
                </a:solidFill>
                <a:latin typeface="Inconsolata"/>
              </a:rPr>
              <a:t>list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(lines </a:t>
            </a:r>
            <a:r>
              <a:rPr sz="750" i="0">
                <a:solidFill>
                  <a:srgbClr val="FF8E6E"/>
                </a:solidFill>
                <a:latin typeface="Inconsolata"/>
              </a:rPr>
              <a:t>or</a:t>
            </a:r>
            <a:r>
              <a:rPr sz="750" i="0">
                <a:solidFill>
                  <a:srgbClr val="E6EDF3"/>
                </a:solidFill>
                <a:latin typeface="Inconsolata"/>
              </a:rPr>
              <a:t> [])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lines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C3A6FF"/>
                </a:solidFill>
                <a:latin typeface="Inconsolata"/>
              </a:rPr>
              <a:t>tuple</a:t>
            </a:r>
            <a:r>
              <a:rPr sz="750" i="0">
                <a:solidFill>
                  <a:srgbClr val="E6EDF3"/>
                </a:solidFill>
                <a:latin typeface="Inconsolata"/>
              </a:rPr>
              <a:t>[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...]: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C3A6FF"/>
                </a:solidFill>
                <a:latin typeface="Inconsolata"/>
              </a:rPr>
              <a:t>tuple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._lines)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subtotal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sum</a:t>
            </a:r>
            <a:r>
              <a:rPr sz="750" i="0">
                <a:solidFill>
                  <a:srgbClr val="E6EDF3"/>
                </a:solidFill>
                <a:latin typeface="Inconsolata"/>
              </a:rPr>
              <a:t>((line.subtotal </a:t>
            </a:r>
            <a:r>
              <a:rPr sz="7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750" i="0">
                <a:solidFill>
                  <a:srgbClr val="E6EDF3"/>
                </a:solidFill>
                <a:latin typeface="Inconsolata"/>
              </a:rPr>
              <a:t> line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._lines),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F9C97A"/>
                </a:solidFill>
                <a:latin typeface="Inconsolata"/>
              </a:rPr>
              <a:t>0</a:t>
            </a:r>
            <a:r>
              <a:rPr sz="750" i="0">
                <a:solidFill>
                  <a:srgbClr val="E6EDF3"/>
                </a:solidFill>
                <a:latin typeface="Inconsolata"/>
              </a:rPr>
              <a:t>))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9C97A"/>
                </a:solidFill>
                <a:latin typeface="Inconsolata"/>
              </a:rPr>
              <a:t>@property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total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.subtotal -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.discount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970022"/>
            <a:ext cx="472744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2910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351022"/>
            <a:ext cx="4727448" cy="246380"/>
          </a:xfrm>
          <a:prstGeom prst="roundRect">
            <a:avLst>
              <a:gd name="adj" fmla="val 18556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312664" y="33553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859022"/>
            <a:ext cx="4727448" cy="754380"/>
          </a:xfrm>
          <a:prstGeom prst="roundRect">
            <a:avLst>
              <a:gd name="adj" fmla="val 6060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312664" y="41173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Text 19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7" name="Text 20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Item disimpan 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_lines</a:t>
            </a:r>
            <a:r>
              <a:rPr sz="900" b="0" i="0">
                <a:solidFill>
                  <a:srgbClr val="434343"/>
                </a:solidFill>
                <a:latin typeface="Inter"/>
              </a:rPr>
              <a:t>. Garis bawah artinya jangan diubah dari luar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lines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dikembalikan sebagai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tuple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bisa dibaca, tidak bisa di-append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subtotal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total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dihitung dari item, tidak disimpan sebagai angka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Parameter setelah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*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dipakai repository saat membaca order dari database.</a:t>
            </a:r>
          </a:p>
        </p:txBody>
      </p:sp>
      <p:sp>
        <p:nvSpPr>
          <p:cNvPr id="38" name="Box 21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Text 22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40" name="Text 23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Order("budi@mail.com", "vip").total</a:t>
            </a:r>
            <a:r>
              <a:rPr sz="900" b="0" i="0">
                <a:solidFill>
                  <a:srgbClr val="434343"/>
                </a:solidFill>
                <a:latin typeface="Inter"/>
              </a:rPr>
              <a:t> =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Money(0)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090250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5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domain/order.py: Aturan Bisnis Order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app/domain/order.py (3/3)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add_item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product: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price: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qty: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._ensure_pending(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"diubah"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qty &lt;= </a:t>
            </a:r>
            <a:r>
              <a:rPr sz="650" i="0">
                <a:solidFill>
                  <a:srgbClr val="F9C97A"/>
                </a:solidFill>
                <a:latin typeface="Inconsolata"/>
              </a:rPr>
              <a:t>0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"Qty harus lebih dari 0"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._lines.append(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OrderLine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(product, price, qty))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apply_discount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amount: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._ensure_pending(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"diubah"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amount.amount &gt;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.subtotal.amount: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"Diskon tidak boleh melebihi subtotal"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.discount = amount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pay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._ensure_pending(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"dibayar"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not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._lines: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"Order kosong tidak bisa dibayar"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650" i="0">
                <a:solidFill>
                  <a:srgbClr val="E6EDF3"/>
                </a:solidFill>
                <a:latin typeface="Inconsolata"/>
              </a:rPr>
              <a:t>.</a:t>
            </a:r>
            <a:r>
              <a:rPr sz="650" i="0">
                <a:solidFill>
                  <a:srgbClr val="7FDBCA"/>
                </a:solidFill>
                <a:latin typeface="Inconsolata"/>
              </a:rPr>
              <a:t>PAID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cancel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._ensure_pending(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"dibatalkan"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650" i="0">
                <a:solidFill>
                  <a:srgbClr val="E6EDF3"/>
                </a:solidFill>
                <a:latin typeface="Inconsolata"/>
              </a:rPr>
              <a:t>.</a:t>
            </a:r>
            <a:r>
              <a:rPr sz="650" i="0">
                <a:solidFill>
                  <a:srgbClr val="7FDBCA"/>
                </a:solidFill>
                <a:latin typeface="Inconsolata"/>
              </a:rPr>
              <a:t>CANCELLED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_ensure_pending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action: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.status !=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650" i="0">
                <a:solidFill>
                  <a:srgbClr val="E6EDF3"/>
                </a:solidFill>
                <a:latin typeface="Inconsolata"/>
              </a:rPr>
              <a:t>.</a:t>
            </a:r>
            <a:r>
              <a:rPr sz="650" i="0">
                <a:solidFill>
                  <a:srgbClr val="7FDBCA"/>
                </a:solidFill>
                <a:latin typeface="Inconsolata"/>
              </a:rPr>
              <a:t>PENDING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A5D6A7"/>
                </a:solidFill>
                <a:latin typeface="Inconsolata"/>
              </a:rPr>
              <a:t>f"Order {self.status.value} tidak bisa {action}"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823720"/>
            <a:ext cx="4727448" cy="501904"/>
          </a:xfrm>
          <a:prstGeom prst="roundRect">
            <a:avLst>
              <a:gd name="adj" fmla="val 9109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19558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433320"/>
            <a:ext cx="4727448" cy="501904"/>
          </a:xfrm>
          <a:prstGeom prst="roundRect">
            <a:avLst>
              <a:gd name="adj" fmla="val 9109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312664" y="25654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042920"/>
            <a:ext cx="4727448" cy="908304"/>
          </a:xfrm>
          <a:prstGeom prst="roundRect">
            <a:avLst>
              <a:gd name="adj" fmla="val 503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312664" y="33782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704088" y="4058920"/>
            <a:ext cx="4727448" cy="298704"/>
          </a:xfrm>
          <a:prstGeom prst="roundRect">
            <a:avLst>
              <a:gd name="adj" fmla="val 15306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Box 19"/>
          <p:cNvSpPr/>
          <p:nvPr/>
        </p:nvSpPr>
        <p:spPr>
          <a:xfrm>
            <a:off x="5312664" y="40894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7" name="Box 20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Text 21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9" name="Text 22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add_item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satu-satunya pintu menambah item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apply_discount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diskon maksimal sebesar subtotal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pay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cancel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lifecycle order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_ensure_pending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aturan "hanya order pending yang bisa diubah</a:t>
            </a:r>
          </a:p>
        </p:txBody>
      </p:sp>
      <p:sp>
        <p:nvSpPr>
          <p:cNvPr id="40" name="Box 23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1" name="Text 24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42" name="Text 25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Tambahkan juga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__eq__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__hash__</a:t>
            </a:r>
            <a:r>
              <a:rPr sz="900" b="0" i="0">
                <a:solidFill>
                  <a:srgbClr val="434343"/>
                </a:solidFill>
                <a:latin typeface="Inter"/>
              </a:rPr>
              <a:t> seperti di contoh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04-entity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667104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6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domain/discount_policy.py: Domain Service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app/domain/discount_policy.py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percent: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.percent = percent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discount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subtotal.percent(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.percent)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750" i="0">
                <a:solidFill>
                  <a:srgbClr val="E6EDF3"/>
                </a:solidFill>
                <a:latin typeface="Inconsolata"/>
              </a:rPr>
              <a:t>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750" i="0">
                <a:solidFill>
                  <a:srgbClr val="E6EDF3"/>
                </a:solidFill>
                <a:latin typeface="Inconsolata"/>
              </a:rPr>
              <a:t>[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7FDBCA"/>
                </a:solidFill>
                <a:latin typeface="Inconsolata"/>
              </a:rPr>
              <a:t>DiscountStrategy</a:t>
            </a:r>
            <a:r>
              <a:rPr sz="750" i="0">
                <a:solidFill>
                  <a:srgbClr val="E6EDF3"/>
                </a:solidFill>
                <a:latin typeface="Inconsolata"/>
              </a:rPr>
              <a:t>] = {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750" i="0">
                <a:solidFill>
                  <a:srgbClr val="E6EDF3"/>
                </a:solidFill>
                <a:latin typeface="Inconsolata"/>
              </a:rPr>
              <a:t>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NoDiscount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(),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750" i="0">
                <a:solidFill>
                  <a:srgbClr val="E6EDF3"/>
                </a:solidFill>
                <a:latin typeface="Inconsolata"/>
              </a:rPr>
              <a:t>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F9C97A"/>
                </a:solidFill>
                <a:latin typeface="Inconsolata"/>
              </a:rPr>
              <a:t>5</a:t>
            </a:r>
            <a:r>
              <a:rPr sz="75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750" i="0">
                <a:solidFill>
                  <a:srgbClr val="E6EDF3"/>
                </a:solidFill>
                <a:latin typeface="Inconsolata"/>
              </a:rPr>
              <a:t>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F9C97A"/>
                </a:solidFill>
                <a:latin typeface="Inconsolata"/>
              </a:rPr>
              <a:t>10</a:t>
            </a:r>
            <a:r>
              <a:rPr sz="75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UnknownCustomerType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7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pass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DiscountPolicy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discount_for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order.customer_type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not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UnknownCustomerType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A5D6A7"/>
                </a:solidFill>
                <a:latin typeface="Inconsolata"/>
              </a:rPr>
              <a:t>"Tipe customer tidak dikenal"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750" i="0">
                <a:solidFill>
                  <a:srgbClr val="E6EDF3"/>
                </a:solidFill>
                <a:latin typeface="Inconsolata"/>
              </a:rPr>
              <a:t>[order.customer_type].discount(order.subtotal)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335022"/>
            <a:ext cx="4727448" cy="246380"/>
          </a:xfrm>
          <a:prstGeom prst="roundRect">
            <a:avLst>
              <a:gd name="adj" fmla="val 18556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23393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859022"/>
            <a:ext cx="4727448" cy="627380"/>
          </a:xfrm>
          <a:prstGeom prst="roundRect">
            <a:avLst>
              <a:gd name="adj" fmla="val 728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312664" y="4053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3" name="Box 16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Text 17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5" name="Text 18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Ganti nama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discounts.py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jadi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discount_policy.py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Strategy diskon dari Sesi 1 tetap dipakai, sekarang dengan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Money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DiscountPolicy.discount_for(order)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menghitung diskon dari tipe customer dan subtotal order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get_discount()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lama tidak dipakai lagi.</a:t>
            </a:r>
          </a:p>
        </p:txBody>
      </p:sp>
      <p:sp>
        <p:nvSpPr>
          <p:cNvPr id="36" name="Box 19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Text 20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8" name="Text 21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NoDiscount</a:t>
            </a:r>
            <a:r>
              <a:rPr sz="900" b="0" i="0">
                <a:solidFill>
                  <a:srgbClr val="434343"/>
                </a:solidFill>
                <a:latin typeface="Inter"/>
              </a:rPr>
              <a:t> tetap seperti di Sesi 1, hanya memakai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Money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69533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7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application/: Use Case Buat, Bayar, Batal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app/application/order_service.py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repo: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OrderRepository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notifier: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Notifier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.repo = repo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.notifier = notifier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.discount_policy =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DiscountPolicy</a:t>
            </a:r>
            <a:r>
              <a:rPr sz="70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customer_type: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items: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list</a:t>
            </a:r>
            <a:r>
              <a:rPr sz="700" i="0">
                <a:solidFill>
                  <a:srgbClr val="E6EDF3"/>
                </a:solidFill>
                <a:latin typeface="Inconsolata"/>
              </a:rPr>
              <a:t>[</a:t>
            </a:r>
            <a:r>
              <a:rPr sz="7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700" i="0">
                <a:solidFill>
                  <a:srgbClr val="E6EDF3"/>
                </a:solidFill>
                <a:latin typeface="Inconsolata"/>
              </a:rPr>
              <a:t>]) -&gt;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order =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(customer, customer_type)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for</a:t>
            </a:r>
            <a:r>
              <a:rPr sz="700" i="0">
                <a:solidFill>
                  <a:srgbClr val="E6EDF3"/>
                </a:solidFill>
                <a:latin typeface="Inconsolata"/>
              </a:rPr>
              <a:t> item </a:t>
            </a:r>
            <a:r>
              <a:rPr sz="700" i="0">
                <a:solidFill>
                  <a:srgbClr val="FF8E6E"/>
                </a:solidFill>
                <a:latin typeface="Inconsolata"/>
              </a:rPr>
              <a:t>in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items: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    order.add_item(item[</a:t>
            </a:r>
            <a:r>
              <a:rPr sz="700" i="0">
                <a:solidFill>
                  <a:srgbClr val="A5D6A7"/>
                </a:solidFill>
                <a:latin typeface="Inconsolata"/>
              </a:rPr>
              <a:t>"name"</a:t>
            </a:r>
            <a:r>
              <a:rPr sz="700" i="0">
                <a:solidFill>
                  <a:srgbClr val="E6EDF3"/>
                </a:solidFill>
                <a:latin typeface="Inconsolata"/>
              </a:rPr>
              <a:t>], </a:t>
            </a:r>
            <a:r>
              <a:rPr sz="70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00" i="0">
                <a:solidFill>
                  <a:srgbClr val="E6EDF3"/>
                </a:solidFill>
                <a:latin typeface="Inconsolata"/>
              </a:rPr>
              <a:t>(item[</a:t>
            </a:r>
            <a:r>
              <a:rPr sz="700" i="0">
                <a:solidFill>
                  <a:srgbClr val="A5D6A7"/>
                </a:solidFill>
                <a:latin typeface="Inconsolata"/>
              </a:rPr>
              <a:t>"price"</a:t>
            </a:r>
            <a:r>
              <a:rPr sz="700" i="0">
                <a:solidFill>
                  <a:srgbClr val="E6EDF3"/>
                </a:solidFill>
                <a:latin typeface="Inconsolata"/>
              </a:rPr>
              <a:t>]), item[</a:t>
            </a:r>
            <a:r>
              <a:rPr sz="700" i="0">
                <a:solidFill>
                  <a:srgbClr val="A5D6A7"/>
                </a:solidFill>
                <a:latin typeface="Inconsolata"/>
              </a:rPr>
              <a:t>"qty"</a:t>
            </a:r>
            <a:r>
              <a:rPr sz="700" i="0">
                <a:solidFill>
                  <a:srgbClr val="E6EDF3"/>
                </a:solidFill>
                <a:latin typeface="Inconsolata"/>
              </a:rPr>
              <a:t>])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order.apply_discount(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.discount_policy.discount_for(order))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order =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.repo.add(order)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.notifier.send(customer, </a:t>
            </a:r>
            <a:r>
              <a:rPr sz="700" i="0">
                <a:solidFill>
                  <a:srgbClr val="A5D6A7"/>
                </a:solidFill>
                <a:latin typeface="Inconsolata"/>
              </a:rPr>
              <a:t>f"Order #{order.id} total Rp{order.total.amount:,}"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order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pay_order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order =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.get_order(order_id)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order.pay()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.repo.save(order)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.notifier.send(order.customer, </a:t>
            </a:r>
            <a:r>
              <a:rPr sz="700" i="0">
                <a:solidFill>
                  <a:srgbClr val="A5D6A7"/>
                </a:solidFill>
                <a:latin typeface="Inconsolata"/>
              </a:rPr>
              <a:t>f"Order #{order.id} sudah dibayar"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order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625471"/>
            <a:ext cx="4727448" cy="450342"/>
          </a:xfrm>
          <a:prstGeom prst="roundRect">
            <a:avLst>
              <a:gd name="adj" fmla="val 10152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273177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654171"/>
            <a:ext cx="4727448" cy="678942"/>
          </a:xfrm>
          <a:prstGeom prst="roundRect">
            <a:avLst>
              <a:gd name="adj" fmla="val 6734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312664" y="387477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Text 17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5" name="Text 18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buat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tambah item lewat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add_item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terapkan diskon dari policy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pay_order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ambil order, panggil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order.pay()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simpan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cancel_order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sama polanya dengan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pay_order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ports.py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tambahkan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def save(self, order: Order) -&gt; None: ...</a:t>
            </a:r>
          </a:p>
        </p:txBody>
      </p:sp>
      <p:sp>
        <p:nvSpPr>
          <p:cNvPr id="36" name="Box 19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Text 20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8" name="Text 21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Service hanya mengatur urutan. Keputusannya ada di domain.</a:t>
            </a:r>
          </a:p>
        </p:txBody>
      </p:sp>
    </p:spTree>
    <p:extLst>
      <p:ext uri="{BB962C8B-B14F-4D97-AF65-F5344CB8AC3E}">
        <p14:creationId xmlns:p14="http://schemas.microsoft.com/office/powerpoint/2010/main" val="128886418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8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infrastructure/: Simpan Order dan Item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39496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754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app/infrastructure/sqlite_repository.py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39496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39496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add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cur =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.conn.execute(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"INSERT INTO orders (customer, customer_type, status, discount) VALUES (?, ?, ?, ?)"</a:t>
            </a:r>
            <a:r>
              <a:rPr sz="6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(order.customer, order.customer_type, order.status.value, order.discount.amount),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order.id = cur.lastrowid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.conn.executemany(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"INSERT INTO order_lines (order_id, product, price, qty) VALUES (?, ?, ?, ?)"</a:t>
            </a:r>
            <a:r>
              <a:rPr sz="6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[(order.id, line.product, line.price.amount, line.qty) </a:t>
            </a:r>
            <a:r>
              <a:rPr sz="6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650" i="0">
                <a:solidFill>
                  <a:srgbClr val="E6EDF3"/>
                </a:solidFill>
                <a:latin typeface="Inconsolata"/>
              </a:rPr>
              <a:t> line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order.lines],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.conn.commit()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order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get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 |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...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(customer, customer_type, id=order_id, status=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650" i="0">
                <a:solidFill>
                  <a:srgbClr val="E6EDF3"/>
                </a:solidFill>
                <a:latin typeface="Inconsolata"/>
              </a:rPr>
              <a:t>(status),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         lines=lines, discount=</a:t>
            </a:r>
            <a:r>
              <a:rPr sz="6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650" i="0">
                <a:solidFill>
                  <a:srgbClr val="E6EDF3"/>
                </a:solidFill>
                <a:latin typeface="Inconsolata"/>
              </a:rPr>
              <a:t>(discount))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save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1">
                <a:solidFill>
                  <a:srgbClr val="8B98A8"/>
                </a:solidFill>
                <a:latin typeface="Inconsolata"/>
              </a:rPr>
              <a:t># setelah dibuat, yang bisa berubah dari order cuma status-nya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.conn.execute(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"UPDATE orders SET status = ? WHERE id = ?"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(order.status.value, order.id))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.conn.commit()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925320"/>
            <a:ext cx="5230368" cy="806703"/>
          </a:xfrm>
          <a:prstGeom prst="roundRect">
            <a:avLst>
              <a:gd name="adj" fmla="val 566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815584" y="22098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347720"/>
            <a:ext cx="5230368" cy="197104"/>
          </a:xfrm>
          <a:prstGeom prst="roundRect">
            <a:avLst>
              <a:gd name="adj" fmla="val 23195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815584" y="33274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855720"/>
            <a:ext cx="5230368" cy="95504"/>
          </a:xfrm>
          <a:prstGeom prst="roundRect">
            <a:avLst>
              <a:gd name="adj" fmla="val 47872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815584" y="37846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5" name="Box 18"/>
          <p:cNvSpPr/>
          <p:nvPr/>
        </p:nvSpPr>
        <p:spPr>
          <a:xfrm>
            <a:off x="6172200" y="1481328"/>
            <a:ext cx="2313431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Text 19"/>
          <p:cNvSpPr txBox="1"/>
          <p:nvPr/>
        </p:nvSpPr>
        <p:spPr>
          <a:xfrm>
            <a:off x="6309360" y="1572768"/>
            <a:ext cx="203911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7" name="Text 20"/>
          <p:cNvSpPr txBox="1"/>
          <p:nvPr/>
        </p:nvSpPr>
        <p:spPr>
          <a:xfrm>
            <a:off x="6309360" y="1892808"/>
            <a:ext cx="2039111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Dua tabel: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orders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order_lines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add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simpan order, lalu itemnya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get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baca dua tabel, susun lagi jadi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save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update status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Hapus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orders.db</a:t>
            </a:r>
            <a:r>
              <a:rPr sz="900" b="0" i="0">
                <a:solidFill>
                  <a:srgbClr val="434343"/>
                </a:solidFill>
                <a:latin typeface="Inter"/>
              </a:rPr>
              <a:t> lama.</a:t>
            </a:r>
          </a:p>
        </p:txBody>
      </p:sp>
      <p:sp>
        <p:nvSpPr>
          <p:cNvPr id="38" name="Box 21"/>
          <p:cNvSpPr/>
          <p:nvPr/>
        </p:nvSpPr>
        <p:spPr>
          <a:xfrm>
            <a:off x="6172200" y="3721608"/>
            <a:ext cx="2313431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Text 22"/>
          <p:cNvSpPr txBox="1"/>
          <p:nvPr/>
        </p:nvSpPr>
        <p:spPr>
          <a:xfrm>
            <a:off x="6309360" y="3813048"/>
            <a:ext cx="203911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40" name="Text 23"/>
          <p:cNvSpPr txBox="1"/>
          <p:nvPr/>
        </p:nvSpPr>
        <p:spPr>
          <a:xfrm>
            <a:off x="6309360" y="4133088"/>
            <a:ext cx="2039111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Bentuk tabel hanya diketahui repository.</a:t>
            </a:r>
          </a:p>
        </p:txBody>
      </p:sp>
    </p:spTree>
    <p:extLst>
      <p:ext uri="{BB962C8B-B14F-4D97-AF65-F5344CB8AC3E}">
        <p14:creationId xmlns:p14="http://schemas.microsoft.com/office/powerpoint/2010/main" val="22934544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9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api/routes.py: Response Baru + Bayar &amp; Batal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app/api/routes.py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to_response</a:t>
            </a:r>
            <a:r>
              <a:rPr sz="700" i="0">
                <a:solidFill>
                  <a:srgbClr val="E6EDF3"/>
                </a:solidFill>
                <a:latin typeface="Inconsolata"/>
              </a:rPr>
              <a:t>(order: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{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order.id,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"customer"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order.customer,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"customer_type"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order.customer_type,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"status"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order.status.value,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"items"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[{</a:t>
            </a:r>
            <a:r>
              <a:rPr sz="700" i="0">
                <a:solidFill>
                  <a:srgbClr val="A5D6A7"/>
                </a:solidFill>
                <a:latin typeface="Inconsolata"/>
              </a:rPr>
              <a:t>"name"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line.product,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"price"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line.price.amount,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"qty"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line.qty}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  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for</a:t>
            </a:r>
            <a:r>
              <a:rPr sz="700" i="0">
                <a:solidFill>
                  <a:srgbClr val="E6EDF3"/>
                </a:solidFill>
                <a:latin typeface="Inconsolata"/>
              </a:rPr>
              <a:t> line </a:t>
            </a:r>
            <a:r>
              <a:rPr sz="700" i="0">
                <a:solidFill>
                  <a:srgbClr val="FF8E6E"/>
                </a:solidFill>
                <a:latin typeface="Inconsolata"/>
              </a:rPr>
              <a:t>in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order.lines],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"subtotal"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order.subtotal.amount,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"discount"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order.discount.amount,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"total"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order.total.amount,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}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9C97A"/>
                </a:solidFill>
                <a:latin typeface="Inconsolata"/>
              </a:rPr>
              <a:t>@router.post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"/{order_id}/pay"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pay_order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service: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Depends</a:t>
            </a:r>
            <a:r>
              <a:rPr sz="700" i="0">
                <a:solidFill>
                  <a:srgbClr val="E6EDF3"/>
                </a:solidFill>
                <a:latin typeface="Inconsolata"/>
              </a:rPr>
              <a:t>(get_order_service)):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try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to_response(service.pay_order(order_id))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OrderNotFound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FF8E6E"/>
                </a:solidFill>
                <a:latin typeface="Inconsolata"/>
              </a:rPr>
              <a:t>as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F9C97A"/>
                </a:solidFill>
                <a:latin typeface="Inconsolata"/>
              </a:rPr>
              <a:t>404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(e))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FF8E6E"/>
                </a:solidFill>
                <a:latin typeface="Inconsolata"/>
              </a:rPr>
              <a:t>as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F9C97A"/>
                </a:solidFill>
                <a:latin typeface="Inconsolata"/>
              </a:rPr>
              <a:t>409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(e))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825371"/>
            <a:ext cx="4727448" cy="793242"/>
          </a:xfrm>
          <a:prstGeom prst="roundRect">
            <a:avLst>
              <a:gd name="adj" fmla="val 576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21031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311271"/>
            <a:ext cx="4727448" cy="221742"/>
          </a:xfrm>
          <a:prstGeom prst="roundRect">
            <a:avLst>
              <a:gd name="adj" fmla="val 20618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312664" y="330327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997071"/>
            <a:ext cx="4727448" cy="221742"/>
          </a:xfrm>
          <a:prstGeom prst="roundRect">
            <a:avLst>
              <a:gd name="adj" fmla="val 20618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312664" y="398907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Text 19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7" name="Text 20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asdict()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tidak bisa lagi dipakai, karena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bukan dataclass.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to_response</a:t>
            </a:r>
            <a:r>
              <a:rPr sz="900" b="0" i="0">
                <a:solidFill>
                  <a:srgbClr val="434343"/>
                </a:solidFill>
                <a:latin typeface="Inter"/>
              </a:rPr>
              <a:t> yang menyusun isi JSON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Endpoint baru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POST /orders/{id}/pay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Error domain jadi HTTP </a:t>
            </a:r>
            <a:r>
              <a:rPr sz="900" b="1" i="0">
                <a:solidFill>
                  <a:srgbClr val="434343"/>
                </a:solidFill>
                <a:latin typeface="Inter"/>
              </a:rPr>
              <a:t>409 Conflict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Buat juga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/cancel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dengan pola yang sama</a:t>
            </a:r>
          </a:p>
        </p:txBody>
      </p:sp>
      <p:sp>
        <p:nvSpPr>
          <p:cNvPr id="38" name="Box 21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Text 22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40" name="Text 23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Swagger menampilkan 4 endpoint di tag orders.</a:t>
            </a:r>
          </a:p>
        </p:txBody>
      </p:sp>
    </p:spTree>
    <p:extLst>
      <p:ext uri="{BB962C8B-B14F-4D97-AF65-F5344CB8AC3E}">
        <p14:creationId xmlns:p14="http://schemas.microsoft.com/office/powerpoint/2010/main" val="25815745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10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tests/: Test Domain Tanpa Database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tests/test_order.py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make_order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() -&gt;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order =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order.add_item(</a:t>
            </a:r>
            <a:r>
              <a:rPr sz="750" i="0">
                <a:solidFill>
                  <a:srgbClr val="A5D6A7"/>
                </a:solidFill>
                <a:latin typeface="Inconsolata"/>
              </a:rPr>
              <a:t>"Keyboard"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F9C97A"/>
                </a:solidFill>
                <a:latin typeface="Inconsolata"/>
              </a:rPr>
              <a:t>500_000</a:t>
            </a:r>
            <a:r>
              <a:rPr sz="750" i="0">
                <a:solidFill>
                  <a:srgbClr val="E6EDF3"/>
                </a:solidFill>
                <a:latin typeface="Inconsolata"/>
              </a:rPr>
              <a:t>), </a:t>
            </a:r>
            <a:r>
              <a:rPr sz="750" i="0">
                <a:solidFill>
                  <a:srgbClr val="F9C97A"/>
                </a:solidFill>
                <a:latin typeface="Inconsolata"/>
              </a:rPr>
              <a:t>2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order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test_total_dihitung_dari_item_dan_diskon</a:t>
            </a:r>
            <a:r>
              <a:rPr sz="75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order = make_order()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order.apply_discount(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F9C97A"/>
                </a:solidFill>
                <a:latin typeface="Inconsolata"/>
              </a:rPr>
              <a:t>100_000</a:t>
            </a:r>
            <a:r>
              <a:rPr sz="750" i="0">
                <a:solidFill>
                  <a:srgbClr val="E6EDF3"/>
                </a:solidFill>
                <a:latin typeface="Inconsolata"/>
              </a:rPr>
              <a:t>))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assert</a:t>
            </a:r>
            <a:r>
              <a:rPr sz="750" i="0">
                <a:solidFill>
                  <a:srgbClr val="E6EDF3"/>
                </a:solidFill>
                <a:latin typeface="Inconsolata"/>
              </a:rPr>
              <a:t> order.subtotal ==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F9C97A"/>
                </a:solidFill>
                <a:latin typeface="Inconsolata"/>
              </a:rPr>
              <a:t>1_000_000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assert</a:t>
            </a:r>
            <a:r>
              <a:rPr sz="750" i="0">
                <a:solidFill>
                  <a:srgbClr val="E6EDF3"/>
                </a:solidFill>
                <a:latin typeface="Inconsolata"/>
              </a:rPr>
              <a:t> order.total == </a:t>
            </a:r>
            <a:r>
              <a:rPr sz="750" i="0">
                <a:solidFill>
                  <a:srgbClr val="7FDBCA"/>
                </a:solidFill>
                <a:latin typeface="Inconsolata"/>
              </a:rPr>
              <a:t>Money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F9C97A"/>
                </a:solidFill>
                <a:latin typeface="Inconsolata"/>
              </a:rPr>
              <a:t>900_000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test_order_dibayar_tidak_bisa_dibatalkan</a:t>
            </a:r>
            <a:r>
              <a:rPr sz="75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order = make_order()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order.pay()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assert</a:t>
            </a:r>
            <a:r>
              <a:rPr sz="750" i="0">
                <a:solidFill>
                  <a:srgbClr val="E6EDF3"/>
                </a:solidFill>
                <a:latin typeface="Inconsolata"/>
              </a:rPr>
              <a:t> order.status ==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750" i="0">
                <a:solidFill>
                  <a:srgbClr val="E6EDF3"/>
                </a:solidFill>
                <a:latin typeface="Inconsolata"/>
              </a:rPr>
              <a:t>.</a:t>
            </a:r>
            <a:r>
              <a:rPr sz="750" i="0">
                <a:solidFill>
                  <a:srgbClr val="7FDBCA"/>
                </a:solidFill>
                <a:latin typeface="Inconsolata"/>
              </a:rPr>
              <a:t>PAID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with</a:t>
            </a:r>
            <a:r>
              <a:rPr sz="750" i="0">
                <a:solidFill>
                  <a:srgbClr val="E6EDF3"/>
                </a:solidFill>
                <a:latin typeface="Inconsolata"/>
              </a:rPr>
              <a:t> pytest.raises(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7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order.cancel()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827022"/>
            <a:ext cx="4727448" cy="500380"/>
          </a:xfrm>
          <a:prstGeom prst="roundRect">
            <a:avLst>
              <a:gd name="adj" fmla="val 913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19583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224022"/>
            <a:ext cx="4727448" cy="754380"/>
          </a:xfrm>
          <a:prstGeom prst="roundRect">
            <a:avLst>
              <a:gd name="adj" fmla="val 6060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3" name="Text 16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4" name="Text 17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Test domain murni Python: tanpa service, FastAPI, maupun database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Tambahkan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save()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ke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FakeOrderRepository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tests/fakes.py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Sesuaikan test lama dengan response baru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Lengkapnya: 6 test domain, 5 test use case, 4 test API.</a:t>
            </a:r>
          </a:p>
        </p:txBody>
      </p:sp>
      <p:sp>
        <p:nvSpPr>
          <p:cNvPr id="35" name="Box 18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Text 19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7" name="Text 20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pytest -v</a:t>
            </a:r>
            <a:r>
              <a:rPr sz="900" b="0" i="0">
                <a:solidFill>
                  <a:srgbClr val="434343"/>
                </a:solidFill>
                <a:latin typeface="Inter"/>
              </a:rPr>
              <a:t> → 15 passed (langkah 11).</a:t>
            </a:r>
          </a:p>
        </p:txBody>
      </p:sp>
    </p:spTree>
    <p:extLst>
      <p:ext uri="{BB962C8B-B14F-4D97-AF65-F5344CB8AC3E}">
        <p14:creationId xmlns:p14="http://schemas.microsoft.com/office/powerpoint/2010/main" val="136114057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11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Jalankan Test</a:t>
            </a:r>
          </a:p>
        </p:txBody>
      </p:sp>
      <p:pic>
        <p:nvPicPr>
          <p:cNvPr id="22" name="Image 3" descr="s03-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481328"/>
            <a:ext cx="5212080" cy="2991023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23" name="Box 4"/>
          <p:cNvSpPr/>
          <p:nvPr/>
        </p:nvSpPr>
        <p:spPr>
          <a:xfrm>
            <a:off x="5989320" y="1481328"/>
            <a:ext cx="2496312" cy="3218688"/>
          </a:xfrm>
          <a:prstGeom prst="roundRect">
            <a:avLst>
              <a:gd name="adj" fmla="val 4395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Text 5"/>
          <p:cNvSpPr txBox="1"/>
          <p:nvPr/>
        </p:nvSpPr>
        <p:spPr>
          <a:xfrm>
            <a:off x="6126480" y="1572768"/>
            <a:ext cx="22219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25" name="Text 6"/>
          <p:cNvSpPr txBox="1"/>
          <p:nvPr/>
        </p:nvSpPr>
        <p:spPr>
          <a:xfrm>
            <a:off x="6126480" y="1892808"/>
            <a:ext cx="22219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Masuk ke folder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latihan/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Jalankan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pytest -v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Semua test harus </a:t>
            </a:r>
            <a:r>
              <a:rPr sz="950" b="1" i="0">
                <a:solidFill>
                  <a:srgbClr val="434343"/>
                </a:solidFill>
                <a:latin typeface="Inter"/>
              </a:rPr>
              <a:t>PASSED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1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test_order.py</a:t>
            </a:r>
            <a:r>
              <a:rPr sz="950" b="0" i="0">
                <a:solidFill>
                  <a:srgbClr val="434343"/>
                </a:solidFill>
                <a:latin typeface="Inter"/>
              </a:rPr>
              <a:t> berjalan tanpa server, tanpa database, bahkan tanpa service.</a:t>
            </a:r>
          </a:p>
        </p:txBody>
      </p:sp>
    </p:spTree>
    <p:extLst>
      <p:ext uri="{BB962C8B-B14F-4D97-AF65-F5344CB8AC3E}">
        <p14:creationId xmlns:p14="http://schemas.microsoft.com/office/powerpoint/2010/main" val="234806657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11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Coba di Swagger: Buat Order</a:t>
            </a:r>
          </a:p>
        </p:txBody>
      </p:sp>
      <p:pic>
        <p:nvPicPr>
          <p:cNvPr id="22" name="Image 3" descr="s03-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481328"/>
            <a:ext cx="2225890" cy="3218688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23" name="Text 4"/>
          <p:cNvSpPr txBox="1"/>
          <p:nvPr/>
        </p:nvSpPr>
        <p:spPr>
          <a:xfrm>
            <a:off x="3108960" y="1481328"/>
            <a:ext cx="5376672" cy="3200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Request yang sama dengan langkah 1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POST /orders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dengan customer vip, Keyboard 2 × 500.000.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Response sekarang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status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</a:t>
            </a:r>
            <a:r>
              <a:rPr sz="950" b="1" i="0">
                <a:solidFill>
                  <a:srgbClr val="434343"/>
                </a:solidFill>
                <a:latin typeface="Inter"/>
              </a:rPr>
              <a:t>pending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items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item yang dibeli ikut tersimpan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subtotal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1.000.000,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discount</a:t>
            </a:r>
            <a:r>
              <a:rPr sz="950" b="0" i="0">
                <a:solidFill>
                  <a:srgbClr val="434343"/>
                </a:solidFill>
                <a:latin typeface="Inter"/>
              </a:rPr>
              <a:t> 100.000,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900.000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sama dengan kode awal. Bedanya, angka itu sekarang dihitung oleh domain (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+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DiscountPolicy</a:t>
            </a:r>
            <a:r>
              <a:rPr sz="950" b="0" i="0">
                <a:solidFill>
                  <a:srgbClr val="434343"/>
                </a:solidFill>
                <a:latin typeface="Inter"/>
              </a:rPr>
              <a:t>), bukan oleh service.</a:t>
            </a:r>
          </a:p>
        </p:txBody>
      </p:sp>
    </p:spTree>
    <p:extLst>
      <p:ext uri="{BB962C8B-B14F-4D97-AF65-F5344CB8AC3E}">
        <p14:creationId xmlns:p14="http://schemas.microsoft.com/office/powerpoint/2010/main" val="313915947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11 dari 11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Coba di Swagger: Bayar, lalu Batalkan</a:t>
            </a:r>
          </a:p>
        </p:txBody>
      </p:sp>
      <p:pic>
        <p:nvPicPr>
          <p:cNvPr id="22" name="Image 3" descr="s03-pay-re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481328"/>
            <a:ext cx="3840480" cy="1839021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23" name="Text 4"/>
          <p:cNvSpPr txBox="1"/>
          <p:nvPr/>
        </p:nvSpPr>
        <p:spPr>
          <a:xfrm>
            <a:off x="621792" y="3366069"/>
            <a:ext cx="38404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POST /orders/1/pay: status jadi paid</a:t>
            </a:r>
          </a:p>
        </p:txBody>
      </p:sp>
      <p:pic>
        <p:nvPicPr>
          <p:cNvPr id="24" name="Image 5" descr="s03-cancel-re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481328"/>
            <a:ext cx="3840480" cy="986226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25" name="Text 6"/>
          <p:cNvSpPr txBox="1"/>
          <p:nvPr/>
        </p:nvSpPr>
        <p:spPr>
          <a:xfrm>
            <a:off x="4645152" y="2513273"/>
            <a:ext cx="38404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POST /orders/1/cancel: ditolak, 409</a:t>
            </a:r>
          </a:p>
        </p:txBody>
      </p:sp>
      <p:sp>
        <p:nvSpPr>
          <p:cNvPr id="26" name="Text 7"/>
          <p:cNvSpPr txBox="1"/>
          <p:nvPr/>
        </p:nvSpPr>
        <p:spPr>
          <a:xfrm>
            <a:off x="4645152" y="2743200"/>
            <a:ext cx="3840480" cy="1920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Kenapa 409?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Order #1 sudah </a:t>
            </a:r>
            <a:r>
              <a:rPr sz="950" b="1" i="0">
                <a:solidFill>
                  <a:srgbClr val="434343"/>
                </a:solidFill>
                <a:latin typeface="Inter"/>
              </a:rPr>
              <a:t>paid</a:t>
            </a:r>
            <a:r>
              <a:rPr sz="950" b="0" i="0">
                <a:solidFill>
                  <a:srgbClr val="434343"/>
                </a:solidFill>
                <a:latin typeface="Inter"/>
              </a:rPr>
              <a:t>.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cancel()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memanggil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_ensure_pending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yang menolak dengan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OrderCannotBeChanged</a:t>
            </a:r>
            <a:r>
              <a:rPr sz="950" b="0" i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Route mengubah error domain itu jadi </a:t>
            </a:r>
            <a:r>
              <a:rPr sz="950" b="1" i="0">
                <a:solidFill>
                  <a:srgbClr val="434343"/>
                </a:solidFill>
                <a:latin typeface="Inter"/>
              </a:rPr>
              <a:t>409 Conflict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artinya requestnya valid tapi bertentangan dengan kondisi data.</a:t>
            </a:r>
          </a:p>
        </p:txBody>
      </p:sp>
    </p:spTree>
    <p:extLst>
      <p:ext uri="{BB962C8B-B14F-4D97-AF65-F5344CB8AC3E}">
        <p14:creationId xmlns:p14="http://schemas.microsoft.com/office/powerpoint/2010/main" val="19346549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Cek Kriteria Selesai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481328"/>
          <a:ext cx="7863840" cy="3008376"/>
        </p:xfrm>
        <a:graphic>
          <a:graphicData uri="http://schemas.openxmlformats.org/drawingml/2006/table">
            <a:tbl>
              <a:tblPr firstRow="1" bandRow="1"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Inter"/>
                        </a:rPr>
                        <a:t>Kriteria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Inter"/>
                        </a:rPr>
                        <a:t>Cara mengecek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Harga dan diskon memakai Money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Buka domain/: subtotal, discount, total bertipe Money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Item hanya lewat Order.add_item()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Order.lines berupa tuple, tidak bisa di-append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Order dibayar tidak bisa dibatalkan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Swagger: pay lalu cancel → 409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Aturan diskon di DiscountPolicy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order_service.py memanggil discount_policy.discount_for()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Endpoint pay &amp; cancel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Swagger menampilkan POST /orders/{id}/pay dan /cancel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Test domain tanpa FastAPI &amp; database, pytest hijau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pytest -v → 15 passed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02129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Request Flow: Bayar Order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4805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latihan/app: routes.py → order_service.py → order.py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1206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1206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1">
                <a:solidFill>
                  <a:srgbClr val="8B98A8"/>
                </a:solidFill>
                <a:latin typeface="Inconsolata"/>
              </a:rPr>
              <a:t># api/routes.py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9C97A"/>
                </a:solidFill>
                <a:latin typeface="Inconsolata"/>
              </a:rPr>
              <a:t>@router.post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"/{order_id}/pay"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pay_order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service: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Depends</a:t>
            </a:r>
            <a:r>
              <a:rPr sz="700" i="0">
                <a:solidFill>
                  <a:srgbClr val="E6EDF3"/>
                </a:solidFill>
                <a:latin typeface="Inconsolata"/>
              </a:rPr>
              <a:t>(get_order_service)):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try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to_response(service.pay_order(order_id))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...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FF8E6E"/>
                </a:solidFill>
                <a:latin typeface="Inconsolata"/>
              </a:rPr>
              <a:t>as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F9C97A"/>
                </a:solidFill>
                <a:latin typeface="Inconsolata"/>
              </a:rPr>
              <a:t>409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(e))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1">
                <a:solidFill>
                  <a:srgbClr val="8B98A8"/>
                </a:solidFill>
                <a:latin typeface="Inconsolata"/>
              </a:rPr>
              <a:t># application/order_service.py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pay_order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order =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.get_order(order_id)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order.pay()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.repo.save(order)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.notifier.send(order.customer, </a:t>
            </a:r>
            <a:r>
              <a:rPr sz="700" i="0">
                <a:solidFill>
                  <a:srgbClr val="A5D6A7"/>
                </a:solidFill>
                <a:latin typeface="Inconsolata"/>
              </a:rPr>
              <a:t>f"Order #{order.id} sudah dibayar"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order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1">
                <a:solidFill>
                  <a:srgbClr val="8B98A8"/>
                </a:solidFill>
                <a:latin typeface="Inconsolata"/>
              </a:rPr>
              <a:t># domain/order.py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pay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0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._ensure_pending(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"dibayar"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if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FF8E6E"/>
                </a:solidFill>
                <a:latin typeface="Inconsolata"/>
              </a:rPr>
              <a:t>not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._lines: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OrderCannotBeChanged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"Order kosong tidak bisa dibayar"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.status =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OrderStatus</a:t>
            </a:r>
            <a:r>
              <a:rPr sz="700" i="0">
                <a:solidFill>
                  <a:srgbClr val="E6EDF3"/>
                </a:solidFill>
                <a:latin typeface="Inconsolata"/>
              </a:rPr>
              <a:t>.</a:t>
            </a:r>
            <a:r>
              <a:rPr sz="700" i="0">
                <a:solidFill>
                  <a:srgbClr val="7FDBCA"/>
                </a:solidFill>
                <a:latin typeface="Inconsolata"/>
              </a:rPr>
              <a:t>PAID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282571"/>
            <a:ext cx="495604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541264" y="22174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082671"/>
            <a:ext cx="495604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541264" y="30175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997071"/>
            <a:ext cx="495604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541264" y="39319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704088" y="3311271"/>
            <a:ext cx="495604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Box 19"/>
          <p:cNvSpPr/>
          <p:nvPr/>
        </p:nvSpPr>
        <p:spPr>
          <a:xfrm>
            <a:off x="5541264" y="32461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7" name="Box 20"/>
          <p:cNvSpPr/>
          <p:nvPr/>
        </p:nvSpPr>
        <p:spPr>
          <a:xfrm>
            <a:off x="704088" y="2625471"/>
            <a:ext cx="495604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Box 21"/>
          <p:cNvSpPr/>
          <p:nvPr/>
        </p:nvSpPr>
        <p:spPr>
          <a:xfrm>
            <a:off x="5541264" y="25603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9" name="Box 22"/>
          <p:cNvSpPr/>
          <p:nvPr/>
        </p:nvSpPr>
        <p:spPr>
          <a:xfrm>
            <a:off x="5925312" y="149961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40" name="Text 23"/>
          <p:cNvSpPr txBox="1"/>
          <p:nvPr/>
        </p:nvSpPr>
        <p:spPr>
          <a:xfrm>
            <a:off x="6254496" y="1463040"/>
            <a:ext cx="223113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Route menerima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POST /orders/1/pay</a:t>
            </a:r>
            <a:r>
              <a:rPr sz="850" b="0" i="0">
                <a:solidFill>
                  <a:srgbClr val="434343"/>
                </a:solidFill>
                <a:latin typeface="Inter"/>
              </a:rPr>
              <a:t>, lalu memanggil use case</a:t>
            </a:r>
          </a:p>
        </p:txBody>
      </p:sp>
      <p:sp>
        <p:nvSpPr>
          <p:cNvPr id="41" name="Box 24"/>
          <p:cNvSpPr/>
          <p:nvPr/>
        </p:nvSpPr>
        <p:spPr>
          <a:xfrm>
            <a:off x="5925312" y="2143353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2" name="Text 25"/>
          <p:cNvSpPr txBox="1"/>
          <p:nvPr/>
        </p:nvSpPr>
        <p:spPr>
          <a:xfrm>
            <a:off x="6254496" y="2106777"/>
            <a:ext cx="223113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Use case mengambil aggregate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Order</a:t>
            </a:r>
            <a:r>
              <a:rPr sz="850" b="0" i="0">
                <a:solidFill>
                  <a:srgbClr val="434343"/>
                </a:solidFill>
                <a:latin typeface="Inter"/>
              </a:rPr>
              <a:t> lewat repository</a:t>
            </a:r>
          </a:p>
        </p:txBody>
      </p:sp>
      <p:sp>
        <p:nvSpPr>
          <p:cNvPr id="43" name="Box 26"/>
          <p:cNvSpPr/>
          <p:nvPr/>
        </p:nvSpPr>
        <p:spPr>
          <a:xfrm>
            <a:off x="5925312" y="2787091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44" name="Text 27"/>
          <p:cNvSpPr txBox="1"/>
          <p:nvPr/>
        </p:nvSpPr>
        <p:spPr>
          <a:xfrm>
            <a:off x="6254496" y="2750515"/>
            <a:ext cx="223113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Domain yang memutuskan: hanya order pending yang punya item yang boleh dibayar</a:t>
            </a:r>
          </a:p>
        </p:txBody>
      </p:sp>
      <p:sp>
        <p:nvSpPr>
          <p:cNvPr id="45" name="Box 28"/>
          <p:cNvSpPr/>
          <p:nvPr/>
        </p:nvSpPr>
        <p:spPr>
          <a:xfrm>
            <a:off x="5925312" y="3430828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46" name="Text 29"/>
          <p:cNvSpPr txBox="1"/>
          <p:nvPr/>
        </p:nvSpPr>
        <p:spPr>
          <a:xfrm>
            <a:off x="6254496" y="3394252"/>
            <a:ext cx="223113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Status baru disimpan, lalu notifikasi dikirim</a:t>
            </a:r>
          </a:p>
        </p:txBody>
      </p:sp>
      <p:sp>
        <p:nvSpPr>
          <p:cNvPr id="47" name="Box 30"/>
          <p:cNvSpPr/>
          <p:nvPr/>
        </p:nvSpPr>
        <p:spPr>
          <a:xfrm>
            <a:off x="5925312" y="407456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48" name="Text 31"/>
          <p:cNvSpPr txBox="1"/>
          <p:nvPr/>
        </p:nvSpPr>
        <p:spPr>
          <a:xfrm>
            <a:off x="6254496" y="4037990"/>
            <a:ext cx="223113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Jika domain menolak, route mengubah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OrderCannotBeChanged</a:t>
            </a:r>
            <a:r>
              <a:rPr sz="850" b="0" i="0">
                <a:solidFill>
                  <a:srgbClr val="434343"/>
                </a:solidFill>
                <a:latin typeface="Inter"/>
              </a:rPr>
              <a:t> jadi HTTP 409</a:t>
            </a:r>
          </a:p>
        </p:txBody>
      </p:sp>
    </p:spTree>
    <p:extLst>
      <p:ext uri="{BB962C8B-B14F-4D97-AF65-F5344CB8AC3E}">
        <p14:creationId xmlns:p14="http://schemas.microsoft.com/office/powerpoint/2010/main" val="249876779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Penutup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Rangkuman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Text 4"/>
          <p:cNvSpPr txBox="1"/>
          <p:nvPr/>
        </p:nvSpPr>
        <p:spPr>
          <a:xfrm>
            <a:off x="758952" y="164592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Ubiquitous Language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96596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Nama di kode sama dengan istilah tim bisnis</a:t>
            </a:r>
          </a:p>
        </p:txBody>
      </p:sp>
      <p:sp>
        <p:nvSpPr>
          <p:cNvPr id="25" name="Box 6"/>
          <p:cNvSpPr/>
          <p:nvPr/>
        </p:nvSpPr>
        <p:spPr>
          <a:xfrm>
            <a:off x="3291840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6" name="Text 7"/>
          <p:cNvSpPr txBox="1"/>
          <p:nvPr/>
        </p:nvSpPr>
        <p:spPr>
          <a:xfrm>
            <a:off x="3429000" y="164592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Bounded Context</a:t>
            </a:r>
          </a:p>
        </p:txBody>
      </p:sp>
      <p:sp>
        <p:nvSpPr>
          <p:cNvPr id="27" name="Text 8"/>
          <p:cNvSpPr txBox="1"/>
          <p:nvPr/>
        </p:nvSpPr>
        <p:spPr>
          <a:xfrm>
            <a:off x="3429000" y="196596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Satu model per context, antar context terhubung lewat id</a:t>
            </a:r>
          </a:p>
        </p:txBody>
      </p:sp>
      <p:sp>
        <p:nvSpPr>
          <p:cNvPr id="28" name="Box 9"/>
          <p:cNvSpPr/>
          <p:nvPr/>
        </p:nvSpPr>
        <p:spPr>
          <a:xfrm>
            <a:off x="5961888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Text 10"/>
          <p:cNvSpPr txBox="1"/>
          <p:nvPr/>
        </p:nvSpPr>
        <p:spPr>
          <a:xfrm>
            <a:off x="6099048" y="164592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Value Object</a:t>
            </a:r>
          </a:p>
        </p:txBody>
      </p:sp>
      <p:sp>
        <p:nvSpPr>
          <p:cNvPr id="30" name="Text 11"/>
          <p:cNvSpPr txBox="1"/>
          <p:nvPr/>
        </p:nvSpPr>
        <p:spPr>
          <a:xfrm>
            <a:off x="6099048" y="196596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Dikenali dari nilainya, immutable: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Money</a:t>
            </a:r>
          </a:p>
        </p:txBody>
      </p:sp>
      <p:sp>
        <p:nvSpPr>
          <p:cNvPr id="31" name="Box 12"/>
          <p:cNvSpPr/>
          <p:nvPr/>
        </p:nvSpPr>
        <p:spPr>
          <a:xfrm>
            <a:off x="621792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Text 13"/>
          <p:cNvSpPr txBox="1"/>
          <p:nvPr/>
        </p:nvSpPr>
        <p:spPr>
          <a:xfrm>
            <a:off x="758952" y="320040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Entity &amp; Aggregate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758952" y="352044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Punya id, diubah lewat root: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Order.add_item()</a:t>
            </a:r>
            <a:r>
              <a:rPr sz="1000" b="0" i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pay()</a:t>
            </a:r>
          </a:p>
        </p:txBody>
      </p:sp>
      <p:sp>
        <p:nvSpPr>
          <p:cNvPr id="34" name="Box 15"/>
          <p:cNvSpPr/>
          <p:nvPr/>
        </p:nvSpPr>
        <p:spPr>
          <a:xfrm>
            <a:off x="3291840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Text 16"/>
          <p:cNvSpPr txBox="1"/>
          <p:nvPr/>
        </p:nvSpPr>
        <p:spPr>
          <a:xfrm>
            <a:off x="3429000" y="320040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Domain Service</a:t>
            </a:r>
          </a:p>
        </p:txBody>
      </p:sp>
      <p:sp>
        <p:nvSpPr>
          <p:cNvPr id="36" name="Text 17"/>
          <p:cNvSpPr txBox="1"/>
          <p:nvPr/>
        </p:nvSpPr>
        <p:spPr>
          <a:xfrm>
            <a:off x="3429000" y="352044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Logic yang melibatkan beberapa object: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DiscountPolicy</a:t>
            </a:r>
          </a:p>
        </p:txBody>
      </p:sp>
      <p:sp>
        <p:nvSpPr>
          <p:cNvPr id="37" name="Box 18"/>
          <p:cNvSpPr/>
          <p:nvPr/>
        </p:nvSpPr>
        <p:spPr>
          <a:xfrm>
            <a:off x="5961888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Text 19"/>
          <p:cNvSpPr txBox="1"/>
          <p:nvPr/>
        </p:nvSpPr>
        <p:spPr>
          <a:xfrm>
            <a:off x="6099048" y="320040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Domain vs ORM</a:t>
            </a:r>
          </a:p>
        </p:txBody>
      </p:sp>
      <p:sp>
        <p:nvSpPr>
          <p:cNvPr id="39" name="Text 20"/>
          <p:cNvSpPr txBox="1"/>
          <p:nvPr/>
        </p:nvSpPr>
        <p:spPr>
          <a:xfrm>
            <a:off x="6099048" y="352044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Business logic terpisah dari tabel, repository yang menerjemahkan</a:t>
            </a:r>
          </a:p>
        </p:txBody>
      </p:sp>
    </p:spTree>
    <p:extLst>
      <p:ext uri="{BB962C8B-B14F-4D97-AF65-F5344CB8AC3E}">
        <p14:creationId xmlns:p14="http://schemas.microsoft.com/office/powerpoint/2010/main" val="295898815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g2907dbd8723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43401" y="4399825"/>
            <a:ext cx="244986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907dbd8723_0_0"/>
          <p:cNvSpPr txBox="1"/>
          <p:nvPr/>
        </p:nvSpPr>
        <p:spPr>
          <a:xfrm>
            <a:off x="843350" y="1097280"/>
            <a:ext cx="49770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n" sz="3000" b="0" i="0" u="none" strike="noStrike" cap="none">
                <a:solidFill>
                  <a:srgbClr val="FFFFFF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Source Code</a:t>
            </a:r>
            <a:endParaRPr sz="3000" b="0" i="0" u="none" strike="noStrike" cap="none">
              <a:solidFill>
                <a:srgbClr val="FFFFFF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255" name="Google Shape;255;g2907dbd8723_0_0"/>
          <p:cNvSpPr txBox="1"/>
          <p:nvPr/>
        </p:nvSpPr>
        <p:spPr>
          <a:xfrm>
            <a:off x="1230650" y="1934520"/>
            <a:ext cx="1920240" cy="4515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3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Sesi 3</a:t>
            </a:r>
            <a:endParaRPr sz="1500" b="0" i="1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6" name="Google Shape;256;g2907dbd8723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76</a:t>
            </a:fld>
            <a:endParaRPr/>
          </a:p>
        </p:txBody>
      </p:sp>
      <p:pic>
        <p:nvPicPr>
          <p:cNvPr id="257" name="Google Shape;257;g2907dbd8723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54775" y="4399825"/>
            <a:ext cx="284713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g2907dbd8723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05899" y="4399825"/>
            <a:ext cx="198637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g2907dbd8723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28695" y="4399825"/>
            <a:ext cx="20194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g2907dbd8723_0_0"/>
          <p:cNvSpPr txBox="1"/>
          <p:nvPr/>
        </p:nvSpPr>
        <p:spPr>
          <a:xfrm>
            <a:off x="123065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sz="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g2907dbd8723_0_0"/>
          <p:cNvSpPr txBox="1"/>
          <p:nvPr/>
        </p:nvSpPr>
        <p:spPr>
          <a:xfrm>
            <a:off x="3088375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sz="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g2907dbd8723_0_0"/>
          <p:cNvSpPr txBox="1"/>
          <p:nvPr/>
        </p:nvSpPr>
        <p:spPr>
          <a:xfrm>
            <a:off x="494610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</a:t>
            </a:r>
            <a:endParaRPr sz="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g2907dbd8723_0_0"/>
          <p:cNvSpPr txBox="1"/>
          <p:nvPr/>
        </p:nvSpPr>
        <p:spPr>
          <a:xfrm>
            <a:off x="6704525" y="4338875"/>
            <a:ext cx="1423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 Indonesia</a:t>
            </a:r>
            <a:endParaRPr sz="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4" name="Google Shape;264;g2907dbd8723_0_0"/>
          <p:cNvCxnSpPr/>
          <p:nvPr/>
        </p:nvCxnSpPr>
        <p:spPr>
          <a:xfrm>
            <a:off x="3063240" y="2160270"/>
            <a:ext cx="914400" cy="9600"/>
          </a:xfrm>
          <a:prstGeom prst="straightConnector1">
            <a:avLst/>
          </a:prstGeom>
          <a:noFill/>
          <a:ln w="19050" cap="flat" cmpd="sng">
            <a:solidFill>
              <a:srgbClr val="FFF5D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5" name="Google Shape;265;g2907dbd8723_0_0">
            <a:hlinkClick r:id="rId7"/>
          </p:cNvPr>
          <p:cNvSpPr txBox="1"/>
          <p:nvPr/>
        </p:nvSpPr>
        <p:spPr>
          <a:xfrm>
            <a:off x="4206240" y="1934520"/>
            <a:ext cx="4023360" cy="4515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 b="0" i="1" u="sng" strike="noStrike" cap="non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8"/>
              </a:rPr>
              <a:t>github.com/bagusedghar/fastapi-intermediate</a:t>
            </a:r>
            <a:endParaRPr sz="1500" b="0" i="1" u="sng" strike="noStrike" cap="non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19305734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12763</Words>
  <Application>Microsoft Office PowerPoint</Application>
  <PresentationFormat>On-screen Show (16:9)</PresentationFormat>
  <Paragraphs>1908</Paragraphs>
  <Slides>76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2" baseType="lpstr">
      <vt:lpstr>Work Sans ExtraBold</vt:lpstr>
      <vt:lpstr>Work Sans Medium</vt:lpstr>
      <vt:lpstr>Inter</vt:lpstr>
      <vt:lpstr>Arial</vt:lpstr>
      <vt:lpstr>Inconsolata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Bagus Edghar</cp:lastModifiedBy>
  <cp:revision>22</cp:revision>
  <dcterms:modified xsi:type="dcterms:W3CDTF">2026-10-27T00:41:07Z</dcterms:modified>
</cp:coreProperties>
</file>