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17"/>
    <p:sldId id="286" r:id="rId16"/>
    <p:sldId id="287" r:id="rId15"/>
    <p:sldId id="288" r:id="rId14"/>
    <p:sldId id="289" r:id="rId13"/>
    <p:sldId id="290" r:id="rId12"/>
    <p:sldId id="291" r:id="rId11"/>
    <p:sldId id="292" r:id="rId10"/>
    <p:sldId id="293" r:id="rId9"/>
    <p:sldId id="294" r:id="rId8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276" r:id="rId26"/>
  </p:sldIdLst>
  <p:sldSz cy="5143500" cx="9144000"/>
  <p:notesSz cx="6858000" cy="9144000"/>
  <p:embeddedFontLst>
    <p:embeddedFont>
      <p:font typeface="Inter"/>
      <p:regular r:id="rId27"/>
      <p:bold r:id="rId28"/>
    </p:embeddedFont>
    <p:embeddedFont>
      <p:font typeface="Work Sans Medium"/>
      <p:regular r:id="rId29"/>
      <p:bold r:id="rId30"/>
      <p:italic r:id="rId31"/>
      <p:boldItalic r:id="rId32"/>
    </p:embeddedFont>
    <p:embeddedFont>
      <p:font typeface="Work Sans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5" roundtripDataSignature="AMtx7misuxx245f/qKiEmR3PX6YRe0tI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20.xml"/><Relationship Id="rId9" Type="http://schemas.openxmlformats.org/officeDocument/2006/relationships/slide" Target="slides/slide19.xml"/><Relationship Id="rId10" Type="http://schemas.openxmlformats.org/officeDocument/2006/relationships/slide" Target="slides/slide18.xml"/><Relationship Id="rId11" Type="http://schemas.openxmlformats.org/officeDocument/2006/relationships/slide" Target="slides/slide17.xml"/><Relationship Id="rId12" Type="http://schemas.openxmlformats.org/officeDocument/2006/relationships/slide" Target="slides/slide16.xml"/><Relationship Id="rId13" Type="http://schemas.openxmlformats.org/officeDocument/2006/relationships/slide" Target="slides/slide15.xml"/><Relationship Id="rId14" Type="http://schemas.openxmlformats.org/officeDocument/2006/relationships/slide" Target="slides/slide14.xml"/><Relationship Id="rId15" Type="http://schemas.openxmlformats.org/officeDocument/2006/relationships/slide" Target="slides/slide13.xml"/><Relationship Id="rId16" Type="http://schemas.openxmlformats.org/officeDocument/2006/relationships/slide" Target="slides/slide12.xml"/><Relationship Id="rId17" Type="http://schemas.openxmlformats.org/officeDocument/2006/relationships/slide" Target="slides/slide11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29.xml"/><Relationship Id="rId27" Type="http://schemas.openxmlformats.org/officeDocument/2006/relationships/font" Target="fonts/Inter-regular.fntdata"/><Relationship Id="rId28" Type="http://schemas.openxmlformats.org/officeDocument/2006/relationships/font" Target="fonts/Inter-bold.fntdata"/><Relationship Id="rId29" Type="http://schemas.openxmlformats.org/officeDocument/2006/relationships/font" Target="fonts/WorkSansMedium-regular.fntdata"/><Relationship Id="rId30" Type="http://schemas.openxmlformats.org/officeDocument/2006/relationships/font" Target="fonts/WorkSansMedium-bold.fntdata"/><Relationship Id="rId31" Type="http://schemas.openxmlformats.org/officeDocument/2006/relationships/font" Target="fonts/WorkSansMedium-italic.fntdata"/><Relationship Id="rId32" Type="http://schemas.openxmlformats.org/officeDocument/2006/relationships/font" Target="fonts/WorkSansMedium-boldItalic.fntdata"/><Relationship Id="rId33" Type="http://schemas.openxmlformats.org/officeDocument/2006/relationships/font" Target="fonts/WorkSansExtraBold-bold.fntdata"/><Relationship Id="rId34" Type="http://schemas.openxmlformats.org/officeDocument/2006/relationships/font" Target="fonts/WorkSansExtraBold-boldItalic.fntdata"/><Relationship Id="rId35" Type="http://customschemas.google.com/relationships/presentationmetadata" Target="metadata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442ffe4c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2442ffe4c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Peserta hands-on, jawaban sudah ada di folder after/.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907dbd87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2907dbd87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200" y="-15150"/>
            <a:ext cx="9190446" cy="51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" name="Google Shape;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206026" cy="5178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" name="Google Shape;2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1 1">
  <p:cSld name="TITLE_2_1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" name="Google Shape;23;p49"/>
          <p:cNvPicPr preferRelativeResize="0"/>
          <p:nvPr/>
        </p:nvPicPr>
        <p:blipFill rotWithShape="1">
          <a:blip r:embed="rId2">
            <a:alphaModFix/>
          </a:blip>
          <a:srcRect b="0" l="-11869" r="-10498" t="0"/>
          <a:stretch/>
        </p:blipFill>
        <p:spPr>
          <a:xfrm>
            <a:off x="7614450" y="286450"/>
            <a:ext cx="1372051" cy="2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4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" name="Google Shape;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176" y="286450"/>
            <a:ext cx="1080001" cy="24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1">
  <p:cSld name="TITLE_2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200" y="-7175"/>
            <a:ext cx="9204623" cy="51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1"/>
          <p:cNvPicPr preferRelativeResize="0"/>
          <p:nvPr/>
        </p:nvPicPr>
        <p:blipFill rotWithShape="1">
          <a:blip r:embed="rId3">
            <a:alphaModFix/>
          </a:blip>
          <a:srcRect b="0" l="-11869" r="-10498" t="0"/>
          <a:stretch/>
        </p:blipFill>
        <p:spPr>
          <a:xfrm>
            <a:off x="7614450" y="286450"/>
            <a:ext cx="1372051" cy="2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4350" y="-6375"/>
            <a:ext cx="9160668" cy="515287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" name="Google Shape;36;p22"/>
          <p:cNvPicPr preferRelativeResize="0"/>
          <p:nvPr/>
        </p:nvPicPr>
        <p:blipFill rotWithShape="1">
          <a:blip r:embed="rId3">
            <a:alphaModFix/>
          </a:blip>
          <a:srcRect b="0" l="-11869" r="-10498" t="0"/>
          <a:stretch/>
        </p:blipFill>
        <p:spPr>
          <a:xfrm>
            <a:off x="7614450" y="286450"/>
            <a:ext cx="1372051" cy="2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5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5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" name="Google Shape;51;p5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" name="Google Shape;5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" name="Google Shape;5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9" name="Google Shape;59;p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4" name="Google Shape;6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5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3" name="Google Shape;73;p59"/>
          <p:cNvCxnSpPr/>
          <p:nvPr/>
        </p:nvCxnSpPr>
        <p:spPr>
          <a:xfrm>
            <a:off x="2740288" y="3545850"/>
            <a:ext cx="3824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6" name="Google Shape;76;p60"/>
          <p:cNvCxnSpPr/>
          <p:nvPr/>
        </p:nvCxnSpPr>
        <p:spPr>
          <a:xfrm>
            <a:off x="2740288" y="3545850"/>
            <a:ext cx="3824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79" name="Google Shape;79;p61"/>
          <p:cNvPicPr preferRelativeResize="0"/>
          <p:nvPr/>
        </p:nvPicPr>
        <p:blipFill rotWithShape="1">
          <a:blip r:embed="rId2">
            <a:alphaModFix/>
          </a:blip>
          <a:srcRect b="34000" l="0" r="0" t="31469"/>
          <a:stretch/>
        </p:blipFill>
        <p:spPr>
          <a:xfrm>
            <a:off x="134750" y="4589275"/>
            <a:ext cx="1410576" cy="344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hyperlink" Target="https://colab.research.google.com/github/FTDS-learning-materials/phase-2/blob/master/w2/P2W2D1PM%20-%20Data%20Ethics%20&amp;%20Data%20Validation.ipynb" TargetMode="External"/><Relationship Id="rId8" Type="http://schemas.openxmlformats.org/officeDocument/2006/relationships/hyperlink" Target="https://github.com/bagusedghar/fastapi-intermediate/tree/main/sesi-03-domain-driven-desig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763050" y="2010750"/>
            <a:ext cx="82581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" sz="3500">
                <a:solidFill>
                  <a:srgbClr val="F06634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Domain-Driven Design (DDD) Fundamentals</a:t>
            </a:r>
            <a:endParaRPr b="0" i="0" sz="3500" u="none" cap="none" strike="noStrike">
              <a:solidFill>
                <a:srgbClr val="F06634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63050" y="3157225"/>
            <a:ext cx="7315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Intermediate Backend Developer with FastAPI  -  Sesi 3</a:t>
            </a:r>
            <a:endParaRPr b="0" i="0" sz="1500" u="none" cap="none" strike="noStrike">
              <a:solidFill>
                <a:schemeClr val="dk2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442ffe4c8e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g2442ffe4c8e_0_0"/>
          <p:cNvSpPr txBox="1"/>
          <p:nvPr/>
        </p:nvSpPr>
        <p:spPr>
          <a:xfrm>
            <a:off x="310675" y="249275"/>
            <a:ext cx="44568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1D3D70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Contents</a:t>
            </a:r>
            <a:endParaRPr b="0" i="0" sz="2300" u="none" cap="none" strike="noStrike">
              <a:solidFill>
                <a:srgbClr val="1D3D70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93" name="Text 1"/>
          <p:cNvSpPr txBox="1"/>
          <p:nvPr/>
        </p:nvSpPr>
        <p:spPr>
          <a:xfrm>
            <a:off x="548640" y="1143000"/>
            <a:ext cx="56692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Ubiquitous Language &amp; Bounded Context</a:t>
            </a:r>
          </a:p>
        </p:txBody>
      </p:sp>
      <p:cxnSp>
        <p:nvCxnSpPr>
          <p:cNvPr id="94" name="Arrow 2"/>
          <p:cNvCxnSpPr/>
          <p:nvPr/>
        </p:nvCxnSpPr>
        <p:spPr>
          <a:xfrm>
            <a:off x="6318504" y="1325880"/>
            <a:ext cx="1947671" cy="0"/>
          </a:xfrm>
          <a:prstGeom prst="line">
            <a:avLst/>
          </a:prstGeom>
          <a:ln w="12700">
            <a:solidFill>
              <a:srgbClr val="1C4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 3"/>
          <p:cNvSpPr txBox="1"/>
          <p:nvPr/>
        </p:nvSpPr>
        <p:spPr>
          <a:xfrm>
            <a:off x="8266175" y="1143000"/>
            <a:ext cx="54864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1" b="1">
                <a:solidFill>
                  <a:srgbClr val="E0764F"/>
                </a:solidFill>
                <a:latin typeface="Inter"/>
              </a:rPr>
              <a:t>06</a:t>
            </a:r>
          </a:p>
        </p:txBody>
      </p:sp>
      <p:sp>
        <p:nvSpPr>
          <p:cNvPr id="96" name="Text 4"/>
          <p:cNvSpPr txBox="1"/>
          <p:nvPr/>
        </p:nvSpPr>
        <p:spPr>
          <a:xfrm>
            <a:off x="548640" y="1527048"/>
            <a:ext cx="56692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Entity, Value Object, Aggregate &amp; Domain Service</a:t>
            </a:r>
          </a:p>
        </p:txBody>
      </p:sp>
      <p:cxnSp>
        <p:nvCxnSpPr>
          <p:cNvPr id="97" name="Arrow 5"/>
          <p:cNvCxnSpPr/>
          <p:nvPr/>
        </p:nvCxnSpPr>
        <p:spPr>
          <a:xfrm>
            <a:off x="6318504" y="1709928"/>
            <a:ext cx="1947671" cy="0"/>
          </a:xfrm>
          <a:prstGeom prst="line">
            <a:avLst/>
          </a:prstGeom>
          <a:ln w="12700">
            <a:solidFill>
              <a:srgbClr val="1C4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 6"/>
          <p:cNvSpPr txBox="1"/>
          <p:nvPr/>
        </p:nvSpPr>
        <p:spPr>
          <a:xfrm>
            <a:off x="8266175" y="1527048"/>
            <a:ext cx="54864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1" b="1">
                <a:solidFill>
                  <a:srgbClr val="E0764F"/>
                </a:solidFill>
                <a:latin typeface="Inter"/>
              </a:rPr>
              <a:t>13</a:t>
            </a:r>
          </a:p>
        </p:txBody>
      </p:sp>
      <p:sp>
        <p:nvSpPr>
          <p:cNvPr id="99" name="Text 7"/>
          <p:cNvSpPr txBox="1"/>
          <p:nvPr/>
        </p:nvSpPr>
        <p:spPr>
          <a:xfrm>
            <a:off x="548640" y="1911095"/>
            <a:ext cx="56692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Domain Model vs ORM Model</a:t>
            </a:r>
          </a:p>
        </p:txBody>
      </p:sp>
      <p:cxnSp>
        <p:nvCxnSpPr>
          <p:cNvPr id="100" name="Arrow 8"/>
          <p:cNvCxnSpPr/>
          <p:nvPr/>
        </p:nvCxnSpPr>
        <p:spPr>
          <a:xfrm>
            <a:off x="6318504" y="2093976"/>
            <a:ext cx="1947671" cy="0"/>
          </a:xfrm>
          <a:prstGeom prst="line">
            <a:avLst/>
          </a:prstGeom>
          <a:ln w="12700">
            <a:solidFill>
              <a:srgbClr val="1C4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 9"/>
          <p:cNvSpPr txBox="1"/>
          <p:nvPr/>
        </p:nvSpPr>
        <p:spPr>
          <a:xfrm>
            <a:off x="8266175" y="1911095"/>
            <a:ext cx="54864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1" b="1">
                <a:solidFill>
                  <a:srgbClr val="E0764F"/>
                </a:solidFill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Sesi 3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Learning Outcome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600200"/>
            <a:ext cx="2523744" cy="2011680"/>
          </a:xfrm>
          <a:prstGeom prst="roundRect">
            <a:avLst>
              <a:gd name="adj" fmla="val 5454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Box 4"/>
          <p:cNvSpPr/>
          <p:nvPr/>
        </p:nvSpPr>
        <p:spPr>
          <a:xfrm>
            <a:off x="758952" y="1737360"/>
            <a:ext cx="329184" cy="329184"/>
          </a:xfrm>
          <a:prstGeom prst="ellipse">
            <a:avLst/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i="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1170432" y="1709928"/>
            <a:ext cx="1883663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1">
                <a:solidFill>
                  <a:srgbClr val="1C4587"/>
                </a:solidFill>
                <a:latin typeface="Inter"/>
              </a:rPr>
              <a:t>Bahasa &amp; batas</a:t>
            </a:r>
          </a:p>
        </p:txBody>
      </p:sp>
      <p:sp>
        <p:nvSpPr>
          <p:cNvPr id="25" name="Text 6"/>
          <p:cNvSpPr txBox="1"/>
          <p:nvPr/>
        </p:nvSpPr>
        <p:spPr>
          <a:xfrm>
            <a:off x="758952" y="2148840"/>
            <a:ext cx="2249424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Menyusun ubiquitous language dan mengidentifikasi bounded context dari use case bisnis.</a:t>
            </a:r>
          </a:p>
        </p:txBody>
      </p:sp>
      <p:sp>
        <p:nvSpPr>
          <p:cNvPr id="26" name="Box 7"/>
          <p:cNvSpPr/>
          <p:nvPr/>
        </p:nvSpPr>
        <p:spPr>
          <a:xfrm>
            <a:off x="3291840" y="1600200"/>
            <a:ext cx="2523744" cy="2011680"/>
          </a:xfrm>
          <a:prstGeom prst="roundRect">
            <a:avLst>
              <a:gd name="adj" fmla="val 5454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7" name="Box 8"/>
          <p:cNvSpPr/>
          <p:nvPr/>
        </p:nvSpPr>
        <p:spPr>
          <a:xfrm>
            <a:off x="3429000" y="1737360"/>
            <a:ext cx="329184" cy="329184"/>
          </a:xfrm>
          <a:prstGeom prst="ellipse">
            <a:avLst/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i="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8" name="Text 9"/>
          <p:cNvSpPr txBox="1"/>
          <p:nvPr/>
        </p:nvSpPr>
        <p:spPr>
          <a:xfrm>
            <a:off x="3840480" y="1709928"/>
            <a:ext cx="1883663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1">
                <a:solidFill>
                  <a:srgbClr val="1C4587"/>
                </a:solidFill>
                <a:latin typeface="Inter"/>
              </a:rPr>
              <a:t>Building blocks</a:t>
            </a:r>
          </a:p>
        </p:txBody>
      </p:sp>
      <p:sp>
        <p:nvSpPr>
          <p:cNvPr id="29" name="Text 10"/>
          <p:cNvSpPr txBox="1"/>
          <p:nvPr/>
        </p:nvSpPr>
        <p:spPr>
          <a:xfrm>
            <a:off x="3429000" y="2148840"/>
            <a:ext cx="2249424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Membedakan entity, value object, aggregate, dan domain service beserta tanggung jawabnya.</a:t>
            </a:r>
          </a:p>
        </p:txBody>
      </p:sp>
      <p:sp>
        <p:nvSpPr>
          <p:cNvPr id="30" name="Box 11"/>
          <p:cNvSpPr/>
          <p:nvPr/>
        </p:nvSpPr>
        <p:spPr>
          <a:xfrm>
            <a:off x="5961888" y="1600200"/>
            <a:ext cx="2523744" cy="2011680"/>
          </a:xfrm>
          <a:prstGeom prst="roundRect">
            <a:avLst>
              <a:gd name="adj" fmla="val 5454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Box 12"/>
          <p:cNvSpPr/>
          <p:nvPr/>
        </p:nvSpPr>
        <p:spPr>
          <a:xfrm>
            <a:off x="6099048" y="1737360"/>
            <a:ext cx="329184" cy="329184"/>
          </a:xfrm>
          <a:prstGeom prst="ellipse">
            <a:avLst/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i="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2" name="Text 13"/>
          <p:cNvSpPr txBox="1"/>
          <p:nvPr/>
        </p:nvSpPr>
        <p:spPr>
          <a:xfrm>
            <a:off x="6510527" y="1709928"/>
            <a:ext cx="1883664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1">
                <a:solidFill>
                  <a:srgbClr val="1C4587"/>
                </a:solidFill>
                <a:latin typeface="Inter"/>
              </a:rPr>
              <a:t>Domain terpisah</a:t>
            </a:r>
          </a:p>
        </p:txBody>
      </p:sp>
      <p:sp>
        <p:nvSpPr>
          <p:cNvPr id="33" name="Text 14"/>
          <p:cNvSpPr txBox="1"/>
          <p:nvPr/>
        </p:nvSpPr>
        <p:spPr>
          <a:xfrm>
            <a:off x="6099048" y="2148840"/>
            <a:ext cx="2249424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Memisahkan domain rules dari FastAPI routes dan persistence implementation.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Titik Awal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Hasil Sesi 2: Layer Sudah Rapi, Domain Masih Kosong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365760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301752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app/domain/order.py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3657600" cy="1956815"/>
          </a:xfrm>
          <a:prstGeom prst="roundRect">
            <a:avLst>
              <a:gd name="adj" fmla="val 934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3657600" cy="1956815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F9C97A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FF8E6E"/>
                </a:solidFill>
                <a:latin typeface="Consolas"/>
              </a:rPr>
              <a:t>class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7FDBCA"/>
                </a:solidFill>
                <a:latin typeface="Consolas"/>
              </a:rPr>
              <a:t>Order</a:t>
            </a:r>
            <a:r>
              <a:rPr sz="10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1000" i="0">
                <a:solidFill>
                  <a:srgbClr val="E6EDF3"/>
                </a:solidFill>
                <a:latin typeface="Consolas"/>
              </a:rPr>
              <a:t>: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C3A6FF"/>
                </a:solidFill>
                <a:latin typeface="Consolas"/>
              </a:rPr>
              <a:t>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0">
                <a:solidFill>
                  <a:srgbClr val="E6EDF3"/>
                </a:solidFill>
                <a:latin typeface="Consolas"/>
              </a:rPr>
              <a:t>customer_type</a:t>
            </a:r>
            <a:r>
              <a:rPr sz="1000" i="0">
                <a:solidFill>
                  <a:srgbClr val="E6EDF3"/>
                </a:solidFill>
                <a:latin typeface="Consolas"/>
              </a:rPr>
              <a:t>: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C3A6FF"/>
                </a:solidFill>
                <a:latin typeface="Consolas"/>
              </a:rPr>
              <a:t>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1000" i="0">
                <a:solidFill>
                  <a:srgbClr val="E6EDF3"/>
                </a:solidFill>
                <a:latin typeface="Consolas"/>
              </a:rPr>
              <a:t>: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C3A6FF"/>
                </a:solidFill>
                <a:latin typeface="Consolas"/>
              </a:rPr>
              <a:t>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0">
                <a:solidFill>
                  <a:srgbClr val="E6EDF3"/>
                </a:solidFill>
                <a:latin typeface="Consolas"/>
              </a:rPr>
              <a:t>total</a:t>
            </a:r>
            <a:r>
              <a:rPr sz="1000" i="0">
                <a:solidFill>
                  <a:srgbClr val="E6EDF3"/>
                </a:solidFill>
                <a:latin typeface="Consolas"/>
              </a:rPr>
              <a:t>: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C3A6FF"/>
                </a:solidFill>
                <a:latin typeface="Consolas"/>
              </a:rPr>
              <a:t>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i="0">
                <a:solidFill>
                  <a:srgbClr val="E6EDF3"/>
                </a:solidFill>
                <a:latin typeface="Consolas"/>
              </a:rPr>
              <a:t>    </a:t>
            </a:r>
            <a:r>
              <a:rPr sz="1000" i="0">
                <a:solidFill>
                  <a:srgbClr val="E6EDF3"/>
                </a:solidFill>
                <a:latin typeface="Consolas"/>
              </a:rPr>
              <a:t>id</a:t>
            </a:r>
            <a:r>
              <a:rPr sz="1000" i="0">
                <a:solidFill>
                  <a:srgbClr val="E6EDF3"/>
                </a:solidFill>
                <a:latin typeface="Consolas"/>
              </a:rPr>
              <a:t>: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C3A6FF"/>
                </a:solidFill>
                <a:latin typeface="Consolas"/>
              </a:rPr>
              <a:t>int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|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FF8E6E"/>
                </a:solidFill>
                <a:latin typeface="Consolas"/>
              </a:rPr>
              <a:t>None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E6EDF3"/>
                </a:solidFill>
                <a:latin typeface="Consolas"/>
              </a:rPr>
              <a:t>=</a:t>
            </a:r>
            <a:r>
              <a:rPr sz="1000" i="0">
                <a:solidFill>
                  <a:srgbClr val="E6EDF3"/>
                </a:solidFill>
                <a:latin typeface="Consolas"/>
              </a:rPr>
              <a:t> </a:t>
            </a:r>
            <a:r>
              <a:rPr sz="1000" i="0">
                <a:solidFill>
                  <a:srgbClr val="FF8E6E"/>
                </a:solidFill>
                <a:latin typeface="Consolas"/>
              </a:rPr>
              <a:t>None</a:t>
            </a:r>
          </a:p>
        </p:txBody>
      </p:sp>
      <p:sp>
        <p:nvSpPr>
          <p:cNvPr id="29" name="Box 12"/>
          <p:cNvSpPr/>
          <p:nvPr/>
        </p:nvSpPr>
        <p:spPr>
          <a:xfrm>
            <a:off x="4480560" y="1536192"/>
            <a:ext cx="4005072" cy="3127248"/>
          </a:xfrm>
          <a:prstGeom prst="roundRect">
            <a:avLst>
              <a:gd name="adj" fmla="val 3508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4617720" y="1627632"/>
            <a:ext cx="373075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1">
                <a:solidFill>
                  <a:srgbClr val="C0392B"/>
                </a:solidFill>
                <a:latin typeface="Inter"/>
              </a:rPr>
              <a:t>Yang masih jadi masalah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4617720" y="1947672"/>
            <a:ext cx="373075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B5482A"/>
                </a:solidFill>
                <a:latin typeface="Consolas"/>
              </a:rPr>
              <a:t>Order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cuma wadah data, semua logic ada di service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B5482A"/>
                </a:solidFill>
                <a:latin typeface="Consolas"/>
              </a:rPr>
              <a:t>order.total = -5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tetap lolos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Belum ada item, belum ada status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Belum bisa bayar atau batalkan 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Text 1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i="0" b="0">
                <a:solidFill>
                  <a:srgbClr val="CFE0FA"/>
                </a:solidFill>
                <a:latin typeface="Inter"/>
              </a:rPr>
              <a:t>Bagian 01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i="0" b="0">
                <a:solidFill>
                  <a:srgbClr val="FFFFFF"/>
                </a:solidFill>
                <a:latin typeface="Work Sans ExtraBold"/>
              </a:rPr>
              <a:t>Ubiquitous Language &amp; Bounded Context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822960" y="324612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0">
                <a:solidFill>
                  <a:srgbClr val="E3ECFA"/>
                </a:solidFill>
                <a:latin typeface="Inter"/>
              </a:rPr>
              <a:t>Menyamakan bahasa dengan tim bisnis dan menentukan batas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Ubiquitous Language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Apa Itu Ubiquitous Language?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39319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Satu bahasa yang dipakai bersama oleh tim bisnis dan developer. Istilah yang diucapkan di meeting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sama persis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dengan nama di kode.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Kode bisa dibaca bareng tim bisnis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Tidak ada salah paham karena istilah beda-beda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Developer baru cepat paham alur bisnis</a:t>
            </a:r>
          </a:p>
        </p:txBody>
      </p:sp>
      <p:graphicFrame>
        <p:nvGraphicFramePr>
          <p:cNvPr id="23" name="Table 4"/>
          <p:cNvGraphicFramePr>
            <a:graphicFrameLocks noGrp="1"/>
          </p:cNvGraphicFramePr>
          <p:nvPr/>
        </p:nvGraphicFramePr>
        <p:xfrm>
          <a:off x="4754880" y="1600200"/>
          <a:ext cx="3730752" cy="2057400"/>
        </p:xfrm>
        <a:graphic>
          <a:graphicData uri="http://schemas.openxmlformats.org/drawingml/2006/table">
            <a:tbl>
              <a:tblPr firstRow="1" bandRow="1"/>
              <a:tblGrid>
                <a:gridCol w="1737360"/>
                <a:gridCol w="1993392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FFFFFF"/>
                          </a:solidFill>
                          <a:latin typeface="Inter"/>
                        </a:rPr>
                        <a:t>Tim bisnis bilang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FFFFFF"/>
                          </a:solidFill>
                          <a:latin typeface="Inter"/>
                        </a:rPr>
                        <a:t>Di kode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C4587"/>
                          </a:solidFill>
                          <a:latin typeface="Inter"/>
                        </a:rPr>
                        <a:t>Order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434343"/>
                          </a:solidFill>
                          <a:latin typeface="Inter"/>
                        </a:rPr>
                        <a:t>Order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C4587"/>
                          </a:solidFill>
                          <a:latin typeface="Inter"/>
                        </a:rPr>
                        <a:t>Menunggu pembayaran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434343"/>
                          </a:solidFill>
                          <a:latin typeface="Inter"/>
                        </a:rPr>
                        <a:t>OrderStatus.PENDING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C4587"/>
                          </a:solidFill>
                          <a:latin typeface="Inter"/>
                        </a:rPr>
                        <a:t>Order dibayar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434343"/>
                          </a:solidFill>
                          <a:latin typeface="Inter"/>
                        </a:rPr>
                        <a:t>pay_order(order)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C4587"/>
                          </a:solidFill>
                          <a:latin typeface="Inter"/>
                        </a:rPr>
                        <a:t>Order dibatalkan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434343"/>
                          </a:solidFill>
                          <a:latin typeface="Inter"/>
                        </a:rPr>
                        <a:t>cancel_order(order)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Ubiquitous Language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Kode Harus Diterjemahkan Dulu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01-ubiquitous-language/before.py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process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data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flag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if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flag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1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1 = baru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E6EDF3"/>
                </a:solidFill>
                <a:latin typeface="Consolas"/>
              </a:rPr>
              <a:t>data</a:t>
            </a:r>
            <a:r>
              <a:rPr sz="950" i="0">
                <a:solidFill>
                  <a:srgbClr val="E6EDF3"/>
                </a:solidFill>
                <a:latin typeface="Consolas"/>
              </a:rPr>
              <a:t>[</a:t>
            </a:r>
            <a:r>
              <a:rPr sz="950" i="0">
                <a:solidFill>
                  <a:srgbClr val="A5D6A7"/>
                </a:solidFill>
                <a:latin typeface="Consolas"/>
              </a:rPr>
              <a:t>"st"</a:t>
            </a:r>
            <a:r>
              <a:rPr sz="950" i="0">
                <a:solidFill>
                  <a:srgbClr val="E6EDF3"/>
                </a:solidFill>
                <a:latin typeface="Consolas"/>
              </a:rPr>
              <a:t>]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elif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flag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2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2 = bayar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FF8E6E"/>
                </a:solidFill>
                <a:latin typeface="Consolas"/>
              </a:rPr>
              <a:t>if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data</a:t>
            </a:r>
            <a:r>
              <a:rPr sz="950" i="0">
                <a:solidFill>
                  <a:srgbClr val="E6EDF3"/>
                </a:solidFill>
                <a:latin typeface="Consolas"/>
              </a:rPr>
              <a:t>[</a:t>
            </a:r>
            <a:r>
              <a:rPr sz="950" i="0">
                <a:solidFill>
                  <a:srgbClr val="A5D6A7"/>
                </a:solidFill>
                <a:latin typeface="Consolas"/>
              </a:rPr>
              <a:t>"st"</a:t>
            </a:r>
            <a:r>
              <a:rPr sz="950" i="0">
                <a:solidFill>
                  <a:srgbClr val="E6EDF3"/>
                </a:solidFill>
                <a:latin typeface="Consolas"/>
              </a:rPr>
              <a:t>]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!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1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raise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Exception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A5D6A7"/>
                </a:solidFill>
                <a:latin typeface="Consolas"/>
              </a:rPr>
              <a:t>"gagal"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E6EDF3"/>
                </a:solidFill>
                <a:latin typeface="Consolas"/>
              </a:rPr>
              <a:t>data</a:t>
            </a:r>
            <a:r>
              <a:rPr sz="950" i="0">
                <a:solidFill>
                  <a:srgbClr val="E6EDF3"/>
                </a:solidFill>
                <a:latin typeface="Consolas"/>
              </a:rPr>
              <a:t>[</a:t>
            </a:r>
            <a:r>
              <a:rPr sz="950" i="0">
                <a:solidFill>
                  <a:srgbClr val="A5D6A7"/>
                </a:solidFill>
                <a:latin typeface="Consolas"/>
              </a:rPr>
              <a:t>"st"</a:t>
            </a:r>
            <a:r>
              <a:rPr sz="950" i="0">
                <a:solidFill>
                  <a:srgbClr val="E6EDF3"/>
                </a:solidFill>
                <a:latin typeface="Consolas"/>
              </a:rPr>
              <a:t>]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trx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{</a:t>
            </a:r>
            <a:r>
              <a:rPr sz="950" i="0">
                <a:solidFill>
                  <a:srgbClr val="A5D6A7"/>
                </a:solidFill>
                <a:latin typeface="Consolas"/>
              </a:rPr>
              <a:t>"cust"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A5D6A7"/>
                </a:solidFill>
                <a:latin typeface="Consolas"/>
              </a:rPr>
              <a:t>"budi@mail.com"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A5D6A7"/>
                </a:solidFill>
                <a:latin typeface="Consolas"/>
              </a:rPr>
              <a:t>"amt"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200_000</a:t>
            </a:r>
            <a:r>
              <a:rPr sz="950" i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process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trx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2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2 itu apa?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Bisnis bilang "dibayar", kode bilang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flag=2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Harus buka komentar untuk paham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Error "gagal" tidak menjelaskan apa-apa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Ubiquitous Language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Nama Kode = Istilah Bisnis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01-ubiquitous-language/after.py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class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OrderStatus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Enum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7FDBCA"/>
                </a:solidFill>
                <a:latin typeface="Consolas"/>
              </a:rPr>
              <a:t>PENDING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A5D6A7"/>
                </a:solidFill>
                <a:latin typeface="Consolas"/>
              </a:rPr>
              <a:t>"pending"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7FDBCA"/>
                </a:solidFill>
                <a:latin typeface="Consolas"/>
              </a:rPr>
              <a:t>PAID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A5D6A7"/>
                </a:solidFill>
                <a:latin typeface="Consolas"/>
              </a:rPr>
              <a:t>"paid"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7FDBCA"/>
                </a:solidFill>
                <a:latin typeface="Consolas"/>
              </a:rPr>
              <a:t>CANCELLED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A5D6A7"/>
                </a:solidFill>
                <a:latin typeface="Consolas"/>
              </a:rPr>
              <a:t>"cancelled"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pay_order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-</a:t>
            </a:r>
            <a:r>
              <a:rPr sz="950" i="0">
                <a:solidFill>
                  <a:srgbClr val="E6EDF3"/>
                </a:solidFill>
                <a:latin typeface="Consolas"/>
              </a:rPr>
              <a:t>&gt;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F8E6E"/>
                </a:solidFill>
                <a:latin typeface="Consolas"/>
              </a:rPr>
              <a:t>None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if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status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!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OrderStatus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7FDBCA"/>
                </a:solidFill>
                <a:latin typeface="Consolas"/>
              </a:rPr>
              <a:t>PENDING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raise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OrderCannotBeChanged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50" i="0">
                <a:solidFill>
                  <a:srgbClr val="A5D6A7"/>
                </a:solidFill>
                <a:latin typeface="Consolas"/>
              </a:rPr>
              <a:t>"Hanya order pending yang bisa dibayar"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order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status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=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OrderStatus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7FDBCA"/>
                </a:solidFill>
                <a:latin typeface="Consolas"/>
              </a:rPr>
              <a:t>PAID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Kode terbaca seperti kalimat bisnis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Status punya nama, bukan angka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Pesan error jelas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Bounded Context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Apa Itu Bounded Context?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39319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0">
                <a:solidFill>
                  <a:srgbClr val="434343"/>
                </a:solidFill>
                <a:latin typeface="Inter"/>
              </a:rPr>
              <a:t>Batas tempat sebuah model dan istilahnya berlaku. Kata yang sama bisa punya arti berbeda di tiap context.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Model tiap bagian tetap kecil dan fokus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Perubahan di satu context tidak merusak context lain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Jadi dasar pembagian module, bahkan service</a:t>
            </a:r>
          </a:p>
        </p:txBody>
      </p:sp>
      <p:sp>
        <p:nvSpPr>
          <p:cNvPr id="23" name="Box 4"/>
          <p:cNvSpPr/>
          <p:nvPr/>
        </p:nvSpPr>
        <p:spPr>
          <a:xfrm>
            <a:off x="5806440" y="1554480"/>
            <a:ext cx="1645920" cy="411480"/>
          </a:xfrm>
          <a:prstGeom prst="roundRect">
            <a:avLst>
              <a:gd name="adj" fmla="val 26666"/>
            </a:avLst>
          </a:prstGeom>
          <a:solidFill>
            <a:srgbClr val="1C4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i="0" b="1">
                <a:solidFill>
                  <a:srgbClr val="FFFFFF"/>
                </a:solidFill>
                <a:latin typeface="Inter"/>
              </a:rPr>
              <a:t>Budi</a:t>
            </a:r>
          </a:p>
        </p:txBody>
      </p:sp>
      <p:cxnSp>
        <p:nvCxnSpPr>
          <p:cNvPr id="24" name="Arrow 5"/>
          <p:cNvCxnSpPr/>
          <p:nvPr/>
        </p:nvCxnSpPr>
        <p:spPr>
          <a:xfrm flipH="1">
            <a:off x="5669280" y="1965960"/>
            <a:ext cx="960120" cy="54864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ox 6"/>
          <p:cNvSpPr/>
          <p:nvPr/>
        </p:nvSpPr>
        <p:spPr>
          <a:xfrm>
            <a:off x="4754880" y="251460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6" name="Text 7"/>
          <p:cNvSpPr txBox="1"/>
          <p:nvPr/>
        </p:nvSpPr>
        <p:spPr>
          <a:xfrm>
            <a:off x="4892040" y="2606040"/>
            <a:ext cx="1554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i="0" b="1">
                <a:solidFill>
                  <a:srgbClr val="1C4587"/>
                </a:solidFill>
                <a:latin typeface="Inter"/>
              </a:rPr>
              <a:t>Sales context</a:t>
            </a:r>
          </a:p>
        </p:txBody>
      </p:sp>
      <p:sp>
        <p:nvSpPr>
          <p:cNvPr id="27" name="Text 8"/>
          <p:cNvSpPr txBox="1"/>
          <p:nvPr/>
        </p:nvSpPr>
        <p:spPr>
          <a:xfrm>
            <a:off x="4892040" y="2926080"/>
            <a:ext cx="1554480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i="0" b="0">
                <a:solidFill>
                  <a:srgbClr val="434343"/>
                </a:solidFill>
                <a:latin typeface="Inter"/>
              </a:rPr>
              <a:t>Customer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i="0" b="0">
                <a:solidFill>
                  <a:srgbClr val="434343"/>
                </a:solidFill>
                <a:latin typeface="Inter"/>
              </a:rPr>
              <a:t>email, tipe member</a:t>
            </a:r>
          </a:p>
        </p:txBody>
      </p:sp>
      <p:cxnSp>
        <p:nvCxnSpPr>
          <p:cNvPr id="28" name="Arrow 9"/>
          <p:cNvCxnSpPr/>
          <p:nvPr/>
        </p:nvCxnSpPr>
        <p:spPr>
          <a:xfrm>
            <a:off x="6629400" y="1965960"/>
            <a:ext cx="941832" cy="54864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Box 10"/>
          <p:cNvSpPr/>
          <p:nvPr/>
        </p:nvSpPr>
        <p:spPr>
          <a:xfrm>
            <a:off x="6656832" y="251460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1"/>
          <p:cNvSpPr txBox="1"/>
          <p:nvPr/>
        </p:nvSpPr>
        <p:spPr>
          <a:xfrm>
            <a:off x="6793992" y="2606040"/>
            <a:ext cx="15544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i="0" b="1">
                <a:solidFill>
                  <a:srgbClr val="1C4587"/>
                </a:solidFill>
                <a:latin typeface="Inter"/>
              </a:rPr>
              <a:t>Shipping context</a:t>
            </a:r>
          </a:p>
        </p:txBody>
      </p:sp>
      <p:sp>
        <p:nvSpPr>
          <p:cNvPr id="31" name="Text 12"/>
          <p:cNvSpPr txBox="1"/>
          <p:nvPr/>
        </p:nvSpPr>
        <p:spPr>
          <a:xfrm>
            <a:off x="6793992" y="2926080"/>
            <a:ext cx="1554480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i="0" b="0">
                <a:solidFill>
                  <a:srgbClr val="434343"/>
                </a:solidFill>
                <a:latin typeface="Inter"/>
              </a:rPr>
              <a:t>Recipient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i="0" b="0">
                <a:solidFill>
                  <a:srgbClr val="434343"/>
                </a:solidFill>
                <a:latin typeface="Inter"/>
              </a:rPr>
              <a:t>nama, alamat, no HP</a:t>
            </a:r>
          </a:p>
        </p:txBody>
      </p:sp>
      <p:sp>
        <p:nvSpPr>
          <p:cNvPr id="32" name="Text 13"/>
          <p:cNvSpPr txBox="1"/>
          <p:nvPr/>
        </p:nvSpPr>
        <p:spPr>
          <a:xfrm>
            <a:off x="4754880" y="4114800"/>
            <a:ext cx="37307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i="0" b="0">
                <a:solidFill>
                  <a:srgbClr val="7A7A7A"/>
                </a:solidFill>
                <a:latin typeface="Inter"/>
              </a:rPr>
              <a:t>Orang yang sama, model yang berbeda.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Bounded Context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Satu Customer untuk Semua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02-bounded-context/before.py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9C97A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class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Customer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email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name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customer_type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dipakai Sales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loyalty_points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dipakai Sales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address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dipakai Shipping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phone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dipakai Shipping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E6EDF3"/>
                </a:solidFill>
                <a:latin typeface="Consolas"/>
              </a:rPr>
              <a:t>courier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str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dipakai Shipping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discount_percent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Customer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shipping_label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7FDBCA"/>
                </a:solidFill>
                <a:latin typeface="Consolas"/>
              </a:rPr>
              <a:t>Customer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  <a:r>
              <a:rPr sz="950" i="0">
                <a:solidFill>
                  <a:srgbClr val="E6EDF3"/>
                </a:solidFill>
                <a:latin typeface="Consolas"/>
              </a:rPr>
              <a:t>.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Class makin gemuk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Ubah field untuk Shipping bisa merusak Sales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Tidak jelas field mana milik siapa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Bounded Context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Model per Context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02-bounded-context/after.py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========== Sales context ==========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email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customer_type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1">
                <a:solidFill>
                  <a:srgbClr val="8B98A8"/>
                </a:solidFill>
                <a:latin typeface="Consolas"/>
              </a:rPr>
              <a:t># ========== Shipping context ==========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Recipient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name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address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phone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Shipment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antar context cukup 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recipient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Recipient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Tiap context hanya punya data yang dibutuhkan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Context terhubung lewat id, bukan object yang sama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Text 1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i="0" b="0">
                <a:solidFill>
                  <a:srgbClr val="CFE0FA"/>
                </a:solidFill>
                <a:latin typeface="Inter"/>
              </a:rPr>
              <a:t>Bagian 02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i="0" b="0">
                <a:solidFill>
                  <a:srgbClr val="FFFFFF"/>
                </a:solidFill>
                <a:latin typeface="Work Sans ExtraBold"/>
              </a:rPr>
              <a:t>Entity, Value Object, Aggregate &amp; Domain Service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822960" y="324612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0">
                <a:solidFill>
                  <a:srgbClr val="E3ECFA"/>
                </a:solidFill>
                <a:latin typeface="Inter"/>
              </a:rPr>
              <a:t>Building blocks untuk menyusun domain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Building Blocks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Empat Building Block DDD</a:t>
            </a:r>
          </a:p>
        </p:txBody>
      </p:sp>
      <p:graphicFrame>
        <p:nvGraphicFramePr>
          <p:cNvPr id="22" name="Table 3"/>
          <p:cNvGraphicFramePr>
            <a:graphicFrameLocks noGrp="1"/>
          </p:cNvGraphicFramePr>
          <p:nvPr/>
        </p:nvGraphicFramePr>
        <p:xfrm>
          <a:off x="621792" y="1554480"/>
          <a:ext cx="7863840" cy="2514600"/>
        </p:xfrm>
        <a:graphic>
          <a:graphicData uri="http://schemas.openxmlformats.org/drawingml/2006/table">
            <a:tbl>
              <a:tblPr firstRow="1" bandRow="1"/>
              <a:tblGrid>
                <a:gridCol w="1737360"/>
                <a:gridCol w="3840480"/>
                <a:gridCol w="228600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Inter"/>
                        </a:rPr>
                        <a:t>Building block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Inter"/>
                        </a:rPr>
                        <a:t>Ciri utama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Inter"/>
                        </a:rPr>
                        <a:t>Contoh di Order API</a:t>
                      </a:r>
                    </a:p>
                  </a:txBody>
                  <a:tcPr marL="73152" marR="73152" marT="36576" marB="36576" anchor="ctr">
                    <a:solidFill>
                      <a:srgbClr val="1C458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1C4587"/>
                          </a:solidFill>
                          <a:latin typeface="Inter"/>
                        </a:rPr>
                        <a:t>Value Object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434343"/>
                          </a:solidFill>
                          <a:latin typeface="Inter"/>
                        </a:rPr>
                        <a:t>Dikenali dari nilainya, immutable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434343"/>
                          </a:solidFill>
                          <a:latin typeface="Inter"/>
                        </a:rPr>
                        <a:t>Money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1C4587"/>
                          </a:solidFill>
                          <a:latin typeface="Inter"/>
                        </a:rPr>
                        <a:t>Entity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434343"/>
                          </a:solidFill>
                          <a:latin typeface="Inter"/>
                        </a:rPr>
                        <a:t>Punya identitas (id), statusnya berubah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434343"/>
                          </a:solidFill>
                          <a:latin typeface="Inter"/>
                        </a:rPr>
                        <a:t>Order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1C4587"/>
                          </a:solidFill>
                          <a:latin typeface="Inter"/>
                        </a:rPr>
                        <a:t>Aggregate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434343"/>
                          </a:solidFill>
                          <a:latin typeface="Inter"/>
                        </a:rPr>
                        <a:t>Kumpulan object yang diubah lewat satu pintu (root)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434343"/>
                          </a:solidFill>
                          <a:latin typeface="Inter"/>
                        </a:rPr>
                        <a:t>Order + OrderLine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1C4587"/>
                          </a:solidFill>
                          <a:latin typeface="Inter"/>
                        </a:rPr>
                        <a:t>Domain Service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434343"/>
                          </a:solidFill>
                          <a:latin typeface="Inter"/>
                        </a:rPr>
                        <a:t>Business logic yang tidak pas di satu entity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434343"/>
                          </a:solidFill>
                          <a:latin typeface="Inter"/>
                        </a:rPr>
                        <a:t>DiscountPolicy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3" name="Text 4"/>
          <p:cNvSpPr txBox="1"/>
          <p:nvPr/>
        </p:nvSpPr>
        <p:spPr>
          <a:xfrm>
            <a:off x="621792" y="4297680"/>
            <a:ext cx="7863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i="0" b="0">
                <a:solidFill>
                  <a:srgbClr val="1C4587"/>
                </a:solidFill>
                <a:latin typeface="Inter"/>
              </a:rPr>
              <a:t>Semuanya Python biasa: </a:t>
            </a:r>
            <a:r>
              <a:rPr sz="1100" i="0" b="1">
                <a:solidFill>
                  <a:srgbClr val="1C4587"/>
                </a:solidFill>
                <a:latin typeface="Inter"/>
              </a:rPr>
              <a:t>tidak</a:t>
            </a:r>
            <a:r>
              <a:rPr sz="1100" i="0" b="0">
                <a:solidFill>
                  <a:srgbClr val="1C4587"/>
                </a:solidFill>
                <a:latin typeface="Inter"/>
              </a:rPr>
              <a:t> import FastAPI, SQLite, atau SQLAlchemy.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Value Object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Harga Cuma Angka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03-value-object/before.py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FF8E6E"/>
                </a:solidFill>
                <a:latin typeface="Consolas"/>
              </a:rPr>
              <a:t>def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82B1FF"/>
                </a:solidFill>
                <a:latin typeface="Consolas"/>
              </a:rPr>
              <a:t>apply_discount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discount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-</a:t>
            </a:r>
            <a:r>
              <a:rPr sz="950" i="0">
                <a:solidFill>
                  <a:srgbClr val="E6EDF3"/>
                </a:solidFill>
                <a:latin typeface="Consolas"/>
              </a:rPr>
              <a:t>&gt;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C3A6FF"/>
                </a:solidFill>
                <a:latin typeface="Consolas"/>
              </a:rPr>
              <a:t>int</a:t>
            </a:r>
            <a:r>
              <a:rPr sz="95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-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E6EDF3"/>
                </a:solidFill>
                <a:latin typeface="Consolas"/>
              </a:rPr>
              <a:t>discount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apply_discount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F9C97A"/>
                </a:solidFill>
                <a:latin typeface="Consolas"/>
              </a:rPr>
              <a:t>100_000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10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99990, maksudnya 10%?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i="0">
                <a:solidFill>
                  <a:srgbClr val="E6EDF3"/>
                </a:solidFill>
                <a:latin typeface="Consolas"/>
              </a:rPr>
              <a:t>apply_discount</a:t>
            </a:r>
            <a:r>
              <a:rPr sz="950" i="0">
                <a:solidFill>
                  <a:srgbClr val="E6EDF3"/>
                </a:solidFill>
                <a:latin typeface="Consolas"/>
              </a:rPr>
              <a:t>(</a:t>
            </a:r>
            <a:r>
              <a:rPr sz="950" i="0">
                <a:solidFill>
                  <a:srgbClr val="E6EDF3"/>
                </a:solidFill>
                <a:latin typeface="Consolas"/>
              </a:rPr>
              <a:t>-</a:t>
            </a:r>
            <a:r>
              <a:rPr sz="950" i="0">
                <a:solidFill>
                  <a:srgbClr val="F9C97A"/>
                </a:solidFill>
                <a:latin typeface="Consolas"/>
              </a:rPr>
              <a:t>50_000</a:t>
            </a:r>
            <a:r>
              <a:rPr sz="950" i="0">
                <a:solidFill>
                  <a:srgbClr val="E6EDF3"/>
                </a:solidFill>
                <a:latin typeface="Consolas"/>
              </a:rPr>
              <a:t>,</a:t>
            </a:r>
            <a:r>
              <a:rPr sz="950" i="0">
                <a:solidFill>
                  <a:srgbClr val="E6EDF3"/>
                </a:solidFill>
                <a:latin typeface="Consolas"/>
              </a:rPr>
              <a:t> </a:t>
            </a:r>
            <a:r>
              <a:rPr sz="950" i="0">
                <a:solidFill>
                  <a:srgbClr val="F9C97A"/>
                </a:solidFill>
                <a:latin typeface="Consolas"/>
              </a:rPr>
              <a:t>0</a:t>
            </a:r>
            <a:r>
              <a:rPr sz="950" i="0">
                <a:solidFill>
                  <a:srgbClr val="E6EDF3"/>
                </a:solidFill>
                <a:latin typeface="Consolas"/>
              </a:rPr>
              <a:t>)</a:t>
            </a:r>
            <a:r>
              <a:rPr sz="950" i="0">
                <a:solidFill>
                  <a:srgbClr val="E6EDF3"/>
                </a:solidFill>
                <a:latin typeface="Consolas"/>
              </a:rPr>
              <a:t>     </a:t>
            </a:r>
            <a:r>
              <a:rPr sz="950" i="1">
                <a:solidFill>
                  <a:srgbClr val="8B98A8"/>
                </a:solidFill>
                <a:latin typeface="Consolas"/>
              </a:rPr>
              <a:t># harga negatif lolos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1463040"/>
          </a:xfrm>
          <a:prstGeom prst="roundRect">
            <a:avLst>
              <a:gd name="adj" fmla="val 75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 wrap="square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434343"/>
                </a:solidFill>
                <a:latin typeface="Inter"/>
              </a:rPr>
              <a:t>Definisi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i="0" b="0">
                <a:solidFill>
                  <a:srgbClr val="434343"/>
                </a:solidFill>
                <a:latin typeface="Inter"/>
              </a:rPr>
              <a:t>“An object that represents a descriptive aspect of the domain with no conceptual identity is called a Value Object.”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i="0" b="0">
                <a:solidFill>
                  <a:srgbClr val="434343"/>
                </a:solidFill>
                <a:latin typeface="Inter"/>
              </a:rPr>
              <a:t>— Eric Evans</a:t>
            </a:r>
          </a:p>
        </p:txBody>
      </p:sp>
      <p:sp>
        <p:nvSpPr>
          <p:cNvPr id="30" name="Box 13"/>
          <p:cNvSpPr/>
          <p:nvPr/>
        </p:nvSpPr>
        <p:spPr>
          <a:xfrm>
            <a:off x="5897880" y="3108960"/>
            <a:ext cx="2587752" cy="1554479"/>
          </a:xfrm>
          <a:prstGeom prst="roundRect">
            <a:avLst>
              <a:gd name="adj" fmla="val 7058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Text 14"/>
          <p:cNvSpPr txBox="1"/>
          <p:nvPr/>
        </p:nvSpPr>
        <p:spPr>
          <a:xfrm>
            <a:off x="6035040" y="3200400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2" name="Text 15"/>
          <p:cNvSpPr txBox="1"/>
          <p:nvPr/>
        </p:nvSpPr>
        <p:spPr>
          <a:xfrm>
            <a:off x="6035040" y="3520440"/>
            <a:ext cx="2313432" cy="1051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Harga negatif tidak ditolak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Tidak jelas 10 itu persen atau rupiah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Value Object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Money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03-value-object/after.py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@dataclass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frozen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FF8E6E"/>
                </a:solidFill>
                <a:latin typeface="Consolas"/>
              </a:rPr>
              <a:t>True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Money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amount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__post_init__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amount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&lt;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0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raise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ValueError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"Money tidak boleh negatif"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__sub__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other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Money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amount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other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amount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percent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value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Money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amount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*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value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/</a:t>
            </a:r>
            <a:r>
              <a:rPr sz="900" i="0">
                <a:solidFill>
                  <a:srgbClr val="E6EDF3"/>
                </a:solidFill>
                <a:latin typeface="Consolas"/>
              </a:rPr>
              <a:t>/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100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Money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100_000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percent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10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Money(90000)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7FDBCA"/>
                </a:solidFill>
                <a:latin typeface="Consolas"/>
              </a:rPr>
              <a:t>Money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100_000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Money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100_000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True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Tidak mungkin ada Money negatif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Immutable, aman dipakai di mana saja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Sama nilai = sama object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Entity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Status Bisa Diubah Sembarangan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04-entity/before.py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id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status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"pending"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1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"budi@mail.com"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200_000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status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"paid"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status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"cancelled"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sudah dibayar, tetap bisa batal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before_paid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after_paid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False, padahal sama-sama order #1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1051560"/>
          </a:xfrm>
          <a:prstGeom prst="roundRect">
            <a:avLst>
              <a:gd name="adj" fmla="val 10434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 wrap="square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434343"/>
                </a:solidFill>
                <a:latin typeface="Inter"/>
              </a:rPr>
              <a:t>Definisi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i="0" b="0">
                <a:solidFill>
                  <a:srgbClr val="434343"/>
                </a:solidFill>
                <a:latin typeface="Inter"/>
              </a:rPr>
              <a:t>“An object defined primarily by its identity is called an Entity.”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i="0" b="0">
                <a:solidFill>
                  <a:srgbClr val="434343"/>
                </a:solidFill>
                <a:latin typeface="Inter"/>
              </a:rPr>
              <a:t>— Eric Evans</a:t>
            </a:r>
          </a:p>
        </p:txBody>
      </p:sp>
      <p:sp>
        <p:nvSpPr>
          <p:cNvPr id="30" name="Box 13"/>
          <p:cNvSpPr/>
          <p:nvPr/>
        </p:nvSpPr>
        <p:spPr>
          <a:xfrm>
            <a:off x="5897880" y="2697480"/>
            <a:ext cx="2587752" cy="1965959"/>
          </a:xfrm>
          <a:prstGeom prst="roundRect">
            <a:avLst>
              <a:gd name="adj" fmla="val 5581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Text 14"/>
          <p:cNvSpPr txBox="1"/>
          <p:nvPr/>
        </p:nvSpPr>
        <p:spPr>
          <a:xfrm>
            <a:off x="6035040" y="2788920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2" name="Text 15"/>
          <p:cNvSpPr txBox="1"/>
          <p:nvPr/>
        </p:nvSpPr>
        <p:spPr>
          <a:xfrm>
            <a:off x="6035040" y="3108960"/>
            <a:ext cx="2313432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Tidak ada yang menjaga aturan status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Order yang sama dianggap berbeda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Entity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Identitas + Lifecycle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04-entity/after.py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pay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_ensure_pending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"dibayar"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status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OrderStatus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7FDBCA"/>
                </a:solidFill>
                <a:latin typeface="Consolas"/>
              </a:rPr>
              <a:t>PAID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cancel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_ensure_pending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"dibatalkan"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status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OrderStatus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7FDBCA"/>
                </a:solidFill>
                <a:latin typeface="Consolas"/>
              </a:rPr>
              <a:t>CANCELLED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__eq__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other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isinstance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other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and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id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other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pay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cancel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OrderCannotBeChanged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Status hanya berubah lewat method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Business logic dijaga oleh entity sendiri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Sama id = order yang sama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Aggregate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Item Diubah dari Luar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05-aggregate/before.py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9C97A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lines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list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OrderLine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field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default_factory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C3A6FF"/>
                </a:solidFill>
                <a:latin typeface="Consolas"/>
              </a:rPr>
              <a:t>list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status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"pending"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lines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append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OrderLine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"Keyboard"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500_000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2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 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0, lupa dihitung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status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"paid"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lines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append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OrderLine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"Mouse"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100_000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F9C97A"/>
                </a:solidFill>
                <a:latin typeface="Consolas"/>
              </a:rPr>
              <a:t>3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1325880"/>
          </a:xfrm>
          <a:prstGeom prst="roundRect">
            <a:avLst>
              <a:gd name="adj" fmla="val 8275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 wrap="square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434343"/>
                </a:solidFill>
                <a:latin typeface="Inter"/>
              </a:rPr>
              <a:t>Definisi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i="0" b="0">
                <a:solidFill>
                  <a:srgbClr val="434343"/>
                </a:solidFill>
                <a:latin typeface="Inter"/>
              </a:rPr>
              <a:t>“An Aggregate is a cluster of associated objects that we treat as a unit for the purpose of data changes.”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i="0" b="0">
                <a:solidFill>
                  <a:srgbClr val="434343"/>
                </a:solidFill>
                <a:latin typeface="Inter"/>
              </a:rPr>
              <a:t>— Eric Evans</a:t>
            </a:r>
          </a:p>
        </p:txBody>
      </p:sp>
      <p:sp>
        <p:nvSpPr>
          <p:cNvPr id="30" name="Box 13"/>
          <p:cNvSpPr/>
          <p:nvPr/>
        </p:nvSpPr>
        <p:spPr>
          <a:xfrm>
            <a:off x="5897880" y="2971800"/>
            <a:ext cx="2587752" cy="1691639"/>
          </a:xfrm>
          <a:prstGeom prst="roundRect">
            <a:avLst>
              <a:gd name="adj" fmla="val 6486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Text 14"/>
          <p:cNvSpPr txBox="1"/>
          <p:nvPr/>
        </p:nvSpPr>
        <p:spPr>
          <a:xfrm>
            <a:off x="6035040" y="3063240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2" name="Text 15"/>
          <p:cNvSpPr txBox="1"/>
          <p:nvPr/>
        </p:nvSpPr>
        <p:spPr>
          <a:xfrm>
            <a:off x="6035040" y="3383280"/>
            <a:ext cx="2313432" cy="11887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Total bisa basi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Qty negatif lolos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Item bisa ditambah setelah dibayar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Aggregate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Semua Lewat Order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05-aggregate/after.py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           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aggregate root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9C97A"/>
                </a:solidFill>
                <a:latin typeface="Consolas"/>
              </a:rPr>
              <a:t>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lines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tuple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_lines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hanya bisa dibaca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9C97A"/>
                </a:solidFill>
                <a:latin typeface="Consolas"/>
              </a:rPr>
              <a:t>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sum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line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for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line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in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_lines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add_item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price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qty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status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!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"pending"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raise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OrderCannotBeChanged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"..."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qty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&lt;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0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raise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ValueError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"Qty harus lebih dari 0"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_lines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append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OrderLine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product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price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qty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Satu pintu untuk mengubah item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Total selalu sesuai item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Aturan order dijaga di satu tempat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Domain Service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Order Tahu Terlalu Banyak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06-domain-service/before.py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__init__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today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date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E6EDF3"/>
                </a:solidFill>
                <a:latin typeface="Consolas"/>
              </a:rPr>
              <a:t>&gt;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percent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{</a:t>
            </a:r>
            <a:r>
              <a:rPr sz="900" i="0">
                <a:solidFill>
                  <a:srgbClr val="A5D6A7"/>
                </a:solidFill>
                <a:latin typeface="Consolas"/>
              </a:rPr>
              <a:t>"regular"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0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"member"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5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       </a:t>
            </a:r>
            <a:r>
              <a:rPr sz="900" i="0">
                <a:solidFill>
                  <a:srgbClr val="A5D6A7"/>
                </a:solidFill>
                <a:latin typeface="Consolas"/>
              </a:rPr>
              <a:t>"vip"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10</a:t>
            </a:r>
            <a:r>
              <a:rPr sz="900" i="0">
                <a:solidFill>
                  <a:srgbClr val="E6EDF3"/>
                </a:solidFill>
                <a:latin typeface="Consolas"/>
              </a:rPr>
              <a:t>}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customer_type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today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month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12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promo akhir tahun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percent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+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*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percent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/</a:t>
            </a:r>
            <a:r>
              <a:rPr sz="900" i="0">
                <a:solidFill>
                  <a:srgbClr val="E6EDF3"/>
                </a:solidFill>
                <a:latin typeface="Consolas"/>
              </a:rPr>
              <a:t>/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100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1874519"/>
          </a:xfrm>
          <a:prstGeom prst="roundRect">
            <a:avLst>
              <a:gd name="adj" fmla="val 5853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 wrap="square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434343"/>
                </a:solidFill>
                <a:latin typeface="Inter"/>
              </a:rPr>
              <a:t>Definisi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i="0" b="0">
                <a:solidFill>
                  <a:srgbClr val="434343"/>
                </a:solidFill>
                <a:latin typeface="Inter"/>
              </a:rPr>
              <a:t>“When a significant process or transformation in the domain is not a natural responsibility of an Entity or Value Object, add an operation to the model as a standalone interface declared as a Service.”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i="0" b="0">
                <a:solidFill>
                  <a:srgbClr val="434343"/>
                </a:solidFill>
                <a:latin typeface="Inter"/>
              </a:rPr>
              <a:t>— Eric Evans</a:t>
            </a:r>
          </a:p>
        </p:txBody>
      </p:sp>
      <p:sp>
        <p:nvSpPr>
          <p:cNvPr id="30" name="Box 13"/>
          <p:cNvSpPr/>
          <p:nvPr/>
        </p:nvSpPr>
        <p:spPr>
          <a:xfrm>
            <a:off x="5897880" y="3520439"/>
            <a:ext cx="2587752" cy="1143000"/>
          </a:xfrm>
          <a:prstGeom prst="roundRect">
            <a:avLst>
              <a:gd name="adj" fmla="val 96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Text 14"/>
          <p:cNvSpPr txBox="1"/>
          <p:nvPr/>
        </p:nvSpPr>
        <p:spPr>
          <a:xfrm>
            <a:off x="6035040" y="3611879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2" name="Text 15"/>
          <p:cNvSpPr txBox="1"/>
          <p:nvPr/>
        </p:nvSpPr>
        <p:spPr>
          <a:xfrm>
            <a:off x="6035040" y="3931920"/>
            <a:ext cx="231343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Order harus tahu tipe customer dan kalender promo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Promo baru = edit entity Order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Domain Service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DiscountPolicy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06-domain-service/after.py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DiscountPolicy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7FDBCA"/>
                </a:solidFill>
                <a:latin typeface="Consolas"/>
              </a:rPr>
              <a:t>RATES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{</a:t>
            </a:r>
            <a:r>
              <a:rPr sz="900" i="0">
                <a:solidFill>
                  <a:srgbClr val="A5D6A7"/>
                </a:solidFill>
                <a:latin typeface="Consolas"/>
              </a:rPr>
              <a:t>"regular"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0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"member"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5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"vip"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10</a:t>
            </a:r>
            <a:r>
              <a:rPr sz="900" i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discount_for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today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E6EDF3"/>
                </a:solidFill>
                <a:latin typeface="Consolas"/>
              </a:rPr>
              <a:t>&gt;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percent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7FDBCA"/>
                </a:solidFill>
                <a:latin typeface="Consolas"/>
              </a:rPr>
              <a:t>RATES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customer_type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today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month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12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percent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+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*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percent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/</a:t>
            </a:r>
            <a:r>
              <a:rPr sz="900" i="0">
                <a:solidFill>
                  <a:srgbClr val="E6EDF3"/>
                </a:solidFill>
                <a:latin typeface="Consolas"/>
              </a:rPr>
              <a:t>/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9C97A"/>
                </a:solidFill>
                <a:latin typeface="Consolas"/>
              </a:rPr>
              <a:t>100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apply_discount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amount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amount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&gt;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subtotal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raise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ValueError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"Diskon tidak boleh melebihi subtotal"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discount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amount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Aturan promo punya tempat sendiri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Order cukup menjaga aturannya sendiri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Tetap di domain: tanpa DB, tanpa HTTP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Text 1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i="0" b="0">
                <a:solidFill>
                  <a:srgbClr val="CFE0FA"/>
                </a:solidFill>
                <a:latin typeface="Inter"/>
              </a:rPr>
              <a:t>Bagian 03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i="0" b="0">
                <a:solidFill>
                  <a:srgbClr val="FFFFFF"/>
                </a:solidFill>
                <a:latin typeface="Work Sans ExtraBold"/>
              </a:rPr>
              <a:t>Domain Model vs ORM Model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822960" y="274320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i="0" b="0">
                <a:solidFill>
                  <a:srgbClr val="E3ECFA"/>
                </a:solidFill>
                <a:latin typeface="Inter"/>
              </a:rPr>
              <a:t>Memisahkan business logic dari detail database dan HTTP.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Domain vs ORM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Domain Model vs ORM Model</a:t>
            </a:r>
          </a:p>
        </p:txBody>
      </p:sp>
      <p:sp>
        <p:nvSpPr>
          <p:cNvPr id="22" name="Text 3"/>
          <p:cNvSpPr txBox="1"/>
          <p:nvPr/>
        </p:nvSpPr>
        <p:spPr>
          <a:xfrm>
            <a:off x="621792" y="1536192"/>
            <a:ext cx="39319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Apa itu?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i="0" b="1">
                <a:solidFill>
                  <a:srgbClr val="434343"/>
                </a:solidFill>
                <a:latin typeface="Inter"/>
              </a:rPr>
              <a:t>Domain model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(</a:t>
            </a:r>
            <a:r>
              <a:rPr sz="1050" i="0" b="0">
                <a:solidFill>
                  <a:srgbClr val="B5482A"/>
                </a:solidFill>
                <a:latin typeface="Consolas"/>
              </a:rPr>
              <a:t>Order</a:t>
            </a:r>
            <a:r>
              <a:rPr sz="1050" i="0" b="0">
                <a:solidFill>
                  <a:srgbClr val="434343"/>
                </a:solidFill>
                <a:latin typeface="Inter"/>
              </a:rPr>
              <a:t>) berisi business logic. </a:t>
            </a:r>
            <a:r>
              <a:rPr sz="1050" i="0" b="1">
                <a:solidFill>
                  <a:srgbClr val="434343"/>
                </a:solidFill>
                <a:latin typeface="Inter"/>
              </a:rPr>
              <a:t>ORM model</a:t>
            </a:r>
            <a:r>
              <a:rPr sz="1050" i="0" b="0">
                <a:solidFill>
                  <a:srgbClr val="434343"/>
                </a:solidFill>
                <a:latin typeface="Inter"/>
              </a:rPr>
              <a:t> (</a:t>
            </a:r>
            <a:r>
              <a:rPr sz="1050" i="0" b="0">
                <a:solidFill>
                  <a:srgbClr val="B5482A"/>
                </a:solidFill>
                <a:latin typeface="Consolas"/>
              </a:rPr>
              <a:t>OrderRecord</a:t>
            </a:r>
            <a:r>
              <a:rPr sz="1050" i="0" b="0">
                <a:solidFill>
                  <a:srgbClr val="434343"/>
                </a:solidFill>
                <a:latin typeface="Inter"/>
              </a:rPr>
              <a:t>) cuma mewakili tabel. Repository yang menerjemahkan keduanya.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Untuk apa?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Business logic bisa dites tanpa database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Struktur tabel bisa berubah tanpa menyentuh domain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50" i="0" b="0">
                <a:solidFill>
                  <a:srgbClr val="434343"/>
                </a:solidFill>
                <a:latin typeface="Inter"/>
              </a:rPr>
              <a:t>Domain tidak ikut berubah saat ganti ORM</a:t>
            </a:r>
          </a:p>
        </p:txBody>
      </p:sp>
      <p:sp>
        <p:nvSpPr>
          <p:cNvPr id="23" name="Box 4"/>
          <p:cNvSpPr/>
          <p:nvPr/>
        </p:nvSpPr>
        <p:spPr>
          <a:xfrm>
            <a:off x="5120640" y="1554480"/>
            <a:ext cx="3200400" cy="438912"/>
          </a:xfrm>
          <a:prstGeom prst="roundRect">
            <a:avLst>
              <a:gd name="adj" fmla="val 25000"/>
            </a:avLst>
          </a:prstGeom>
          <a:solidFill>
            <a:srgbClr val="1C4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FFFFFF"/>
                </a:solidFill>
                <a:latin typeface="Inter"/>
              </a:rPr>
              <a:t>Order  ·  domain model</a:t>
            </a:r>
          </a:p>
        </p:txBody>
      </p:sp>
      <p:sp>
        <p:nvSpPr>
          <p:cNvPr id="24" name="Box 5"/>
          <p:cNvSpPr/>
          <p:nvPr/>
        </p:nvSpPr>
        <p:spPr>
          <a:xfrm>
            <a:off x="5120640" y="2267712"/>
            <a:ext cx="3200400" cy="438912"/>
          </a:xfrm>
          <a:prstGeom prst="roundRect">
            <a:avLst>
              <a:gd name="adj" fmla="val 25000"/>
            </a:avLst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FFFFFF"/>
                </a:solidFill>
                <a:latin typeface="Inter"/>
              </a:rPr>
              <a:t>Repository  ·  menerjemahkan</a:t>
            </a:r>
          </a:p>
        </p:txBody>
      </p:sp>
      <p:cxnSp>
        <p:nvCxnSpPr>
          <p:cNvPr id="25" name="Arrow 6"/>
          <p:cNvCxnSpPr/>
          <p:nvPr/>
        </p:nvCxnSpPr>
        <p:spPr>
          <a:xfrm>
            <a:off x="6720840" y="1993392"/>
            <a:ext cx="0" cy="27432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Box 7"/>
          <p:cNvSpPr/>
          <p:nvPr/>
        </p:nvSpPr>
        <p:spPr>
          <a:xfrm>
            <a:off x="5120640" y="2980944"/>
            <a:ext cx="3200400" cy="438912"/>
          </a:xfrm>
          <a:prstGeom prst="roundRect">
            <a:avLst>
              <a:gd name="adj" fmla="val 25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1C4587"/>
                </a:solidFill>
                <a:latin typeface="Inter"/>
              </a:rPr>
              <a:t>OrderRecord  ·  ORM model</a:t>
            </a:r>
          </a:p>
        </p:txBody>
      </p:sp>
      <p:cxnSp>
        <p:nvCxnSpPr>
          <p:cNvPr id="27" name="Arrow 8"/>
          <p:cNvCxnSpPr/>
          <p:nvPr/>
        </p:nvCxnSpPr>
        <p:spPr>
          <a:xfrm>
            <a:off x="6720840" y="2706624"/>
            <a:ext cx="0" cy="27432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Box 9"/>
          <p:cNvSpPr/>
          <p:nvPr/>
        </p:nvSpPr>
        <p:spPr>
          <a:xfrm>
            <a:off x="5120640" y="3694176"/>
            <a:ext cx="3200400" cy="438912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i="0" b="1">
                <a:solidFill>
                  <a:srgbClr val="1C4587"/>
                </a:solidFill>
                <a:latin typeface="Inter"/>
              </a:rPr>
              <a:t>tabel orders</a:t>
            </a:r>
          </a:p>
        </p:txBody>
      </p:sp>
      <p:cxnSp>
        <p:nvCxnSpPr>
          <p:cNvPr id="29" name="Arrow 10"/>
          <p:cNvCxnSpPr/>
          <p:nvPr/>
        </p:nvCxnSpPr>
        <p:spPr>
          <a:xfrm>
            <a:off x="6720840" y="3419856"/>
            <a:ext cx="0" cy="27432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Domain vs ORM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Before: Tabel Sekaligus Business Logic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07-domain-vs-orm/before.py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OrderModel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7FDBCA"/>
                </a:solidFill>
                <a:latin typeface="Consolas"/>
              </a:rPr>
              <a:t>Base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__tablename__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"orders"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id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Mapped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mapped_column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primary_key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FF8E6E"/>
                </a:solidFill>
                <a:latin typeface="Consolas"/>
              </a:rPr>
              <a:t>True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Mapped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mapped_column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7FDBCA"/>
                </a:solidFill>
                <a:latin typeface="Consolas"/>
              </a:rPr>
              <a:t>String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100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total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Mapped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status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Mapped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C3A6FF"/>
                </a:solidFill>
                <a:latin typeface="Consolas"/>
              </a:rPr>
              <a:t>str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mapped_column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7FDBCA"/>
                </a:solidFill>
                <a:latin typeface="Consolas"/>
              </a:rPr>
              <a:t>String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F9C97A"/>
                </a:solidFill>
                <a:latin typeface="Consolas"/>
              </a:rPr>
              <a:t>20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pay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E6EDF3"/>
                </a:solidFill>
                <a:latin typeface="Consolas"/>
              </a:rPr>
              <a:t>&gt;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None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logic menempel di tabel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status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!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"pending"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raise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ValueError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A5D6A7"/>
                </a:solidFill>
                <a:latin typeface="Consolas"/>
              </a:rPr>
              <a:t>"Hanya order pending yang bisa dibayar"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status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"paid"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C0392B"/>
                </a:solidFill>
                <a:latin typeface="Inter"/>
              </a:rPr>
              <a:t>Masalahnya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Business logic bergantung ke SQLAlchemy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Ganti kolom, ikut mengedit logic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Test logic terasa harus lewat DB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Domain vs ORM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After: Dua Class, Dua Tugas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512064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448055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07-domain-vs-orm/after.py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512064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512064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           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domain, Python biasa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pay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OrderRecord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7FDBCA"/>
                </a:solidFill>
                <a:latin typeface="Consolas"/>
              </a:rPr>
              <a:t>Base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ORM, cuma tabel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__tablename__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"orders"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id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Mapped</a:t>
            </a:r>
            <a:r>
              <a:rPr sz="900" i="0">
                <a:solidFill>
                  <a:srgbClr val="E6EDF3"/>
                </a:solidFill>
                <a:latin typeface="Consolas"/>
              </a:rPr>
              <a:t>[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]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mapped_column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primary_key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FF8E6E"/>
                </a:solidFill>
                <a:latin typeface="Consolas"/>
              </a:rPr>
              <a:t>True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SqlAlchemyOrderRepository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get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E6EDF3"/>
                </a:solidFill>
                <a:latin typeface="Consolas"/>
              </a:rPr>
              <a:t>&gt;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|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None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record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session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get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OrderRecord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_to_domain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record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if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record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else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FF8E6E"/>
                </a:solidFill>
                <a:latin typeface="Consolas"/>
              </a:rPr>
              <a:t>None</a:t>
            </a:r>
          </a:p>
        </p:txBody>
      </p:sp>
      <p:sp>
        <p:nvSpPr>
          <p:cNvPr id="29" name="Box 12"/>
          <p:cNvSpPr/>
          <p:nvPr/>
        </p:nvSpPr>
        <p:spPr>
          <a:xfrm>
            <a:off x="5897880" y="1536192"/>
            <a:ext cx="2587752" cy="3127248"/>
          </a:xfrm>
          <a:prstGeom prst="roundRect">
            <a:avLst>
              <a:gd name="adj" fmla="val 424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 13"/>
          <p:cNvSpPr txBox="1"/>
          <p:nvPr/>
        </p:nvSpPr>
        <p:spPr>
          <a:xfrm>
            <a:off x="6035040" y="1627632"/>
            <a:ext cx="2313432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2E7D5B"/>
                </a:solidFill>
                <a:latin typeface="Inter"/>
              </a:rPr>
              <a:t>Yang membaik</a:t>
            </a:r>
          </a:p>
        </p:txBody>
      </p:sp>
      <p:sp>
        <p:nvSpPr>
          <p:cNvPr id="31" name="Text 14"/>
          <p:cNvSpPr txBox="1"/>
          <p:nvPr/>
        </p:nvSpPr>
        <p:spPr>
          <a:xfrm>
            <a:off x="6035040" y="1947672"/>
            <a:ext cx="2313432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B5482A"/>
                </a:solidFill>
                <a:latin typeface="Consolas"/>
              </a:rPr>
              <a:t>Order</a:t>
            </a:r>
            <a:r>
              <a:rPr sz="1000" i="0" b="0">
                <a:solidFill>
                  <a:srgbClr val="434343"/>
                </a:solidFill>
                <a:latin typeface="Inter"/>
              </a:rPr>
              <a:t> tidak tahu ada SQLAlchemy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Repository yang menerjemahkan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434343"/>
                </a:solidFill>
                <a:latin typeface="Inter"/>
              </a:rPr>
              <a:t>Tiap class punya satu tugas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Use Case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Alur Use Case: Route → Use Case → Domain</a:t>
            </a:r>
          </a:p>
        </p:txBody>
      </p:sp>
      <p:sp>
        <p:nvSpPr>
          <p:cNvPr id="22" name="CodeTab 4"/>
          <p:cNvSpPr/>
          <p:nvPr/>
        </p:nvSpPr>
        <p:spPr>
          <a:xfrm>
            <a:off x="621792" y="1536192"/>
            <a:ext cx="4480560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Dot 5"/>
          <p:cNvSpPr/>
          <p:nvPr/>
        </p:nvSpPr>
        <p:spPr>
          <a:xfrm>
            <a:off x="731520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 6"/>
          <p:cNvSpPr/>
          <p:nvPr/>
        </p:nvSpPr>
        <p:spPr>
          <a:xfrm>
            <a:off x="868680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 7"/>
          <p:cNvSpPr/>
          <p:nvPr/>
        </p:nvSpPr>
        <p:spPr>
          <a:xfrm>
            <a:off x="1005840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 8"/>
          <p:cNvSpPr txBox="1"/>
          <p:nvPr/>
        </p:nvSpPr>
        <p:spPr>
          <a:xfrm>
            <a:off x="1170432" y="1545336"/>
            <a:ext cx="384048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application/order_service.py</a:t>
            </a:r>
          </a:p>
        </p:txBody>
      </p:sp>
      <p:sp>
        <p:nvSpPr>
          <p:cNvPr id="27" name="CodeBg 10"/>
          <p:cNvSpPr/>
          <p:nvPr/>
        </p:nvSpPr>
        <p:spPr>
          <a:xfrm>
            <a:off x="621792" y="1773936"/>
            <a:ext cx="4480560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8" name="Code 11"/>
          <p:cNvSpPr txBox="1"/>
          <p:nvPr/>
        </p:nvSpPr>
        <p:spPr>
          <a:xfrm>
            <a:off x="621792" y="1773936"/>
            <a:ext cx="4480560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FF8E6E"/>
                </a:solidFill>
                <a:latin typeface="Consolas"/>
              </a:rPr>
              <a:t>class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OrderService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</a:t>
            </a:r>
            <a:r>
              <a:rPr sz="900" i="0">
                <a:solidFill>
                  <a:srgbClr val="FF8E6E"/>
                </a:solidFill>
                <a:latin typeface="Consolas"/>
              </a:rPr>
              <a:t>def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82B1FF"/>
                </a:solidFill>
                <a:latin typeface="Consolas"/>
              </a:rPr>
              <a:t>pay_order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int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-</a:t>
            </a:r>
            <a:r>
              <a:rPr sz="900" i="0">
                <a:solidFill>
                  <a:srgbClr val="E6EDF3"/>
                </a:solidFill>
                <a:latin typeface="Consolas"/>
              </a:rPr>
              <a:t>&gt;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7FDBCA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=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get_order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order_id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pay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  <a:r>
              <a:rPr sz="900" i="0">
                <a:solidFill>
                  <a:srgbClr val="E6EDF3"/>
                </a:solidFill>
                <a:latin typeface="Consolas"/>
              </a:rPr>
              <a:t>                    </a:t>
            </a:r>
            <a:r>
              <a:rPr sz="900" i="1">
                <a:solidFill>
                  <a:srgbClr val="8B98A8"/>
                </a:solidFill>
                <a:latin typeface="Consolas"/>
              </a:rPr>
              <a:t># business logic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repo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save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C3A6FF"/>
                </a:solidFill>
                <a:latin typeface="Consolas"/>
              </a:rPr>
              <a:t>self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notifier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send</a:t>
            </a:r>
            <a:r>
              <a:rPr sz="900" i="0">
                <a:solidFill>
                  <a:srgbClr val="E6EDF3"/>
                </a:solidFill>
                <a:latin typeface="Consolas"/>
              </a:rPr>
              <a:t>(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  <a:r>
              <a:rPr sz="900" i="0">
                <a:solidFill>
                  <a:srgbClr val="E6EDF3"/>
                </a:solidFill>
                <a:latin typeface="Consolas"/>
              </a:rPr>
              <a:t>.</a:t>
            </a:r>
            <a:r>
              <a:rPr sz="900" i="0">
                <a:solidFill>
                  <a:srgbClr val="E6EDF3"/>
                </a:solidFill>
                <a:latin typeface="Consolas"/>
              </a:rPr>
              <a:t>customer</a:t>
            </a:r>
            <a:r>
              <a:rPr sz="900" i="0">
                <a:solidFill>
                  <a:srgbClr val="E6EDF3"/>
                </a:solidFill>
                <a:latin typeface="Consolas"/>
              </a:rPr>
              <a:t>,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A5D6A7"/>
                </a:solidFill>
                <a:latin typeface="Consolas"/>
              </a:rPr>
              <a:t>"..."</a:t>
            </a:r>
            <a:r>
              <a:rPr sz="90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900" i="0">
                <a:solidFill>
                  <a:srgbClr val="FF8E6E"/>
                </a:solidFill>
                <a:latin typeface="Consolas"/>
              </a:rPr>
              <a:t>return</a:t>
            </a:r>
            <a:r>
              <a:rPr sz="900" i="0">
                <a:solidFill>
                  <a:srgbClr val="E6EDF3"/>
                </a:solidFill>
                <a:latin typeface="Consolas"/>
              </a:rPr>
              <a:t> </a:t>
            </a:r>
            <a:r>
              <a:rPr sz="900" i="0">
                <a:solidFill>
                  <a:srgbClr val="E6EDF3"/>
                </a:solidFill>
                <a:latin typeface="Consolas"/>
              </a:rPr>
              <a:t>order</a:t>
            </a:r>
          </a:p>
        </p:txBody>
      </p:sp>
      <p:sp>
        <p:nvSpPr>
          <p:cNvPr id="29" name="Box 12"/>
          <p:cNvSpPr/>
          <p:nvPr/>
        </p:nvSpPr>
        <p:spPr>
          <a:xfrm>
            <a:off x="5349240" y="1554480"/>
            <a:ext cx="3136392" cy="438912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1C4587"/>
                </a:solidFill>
                <a:latin typeface="Inter"/>
              </a:rPr>
              <a:t>POST /orders/{id}/pay  ·  route</a:t>
            </a:r>
          </a:p>
        </p:txBody>
      </p:sp>
      <p:sp>
        <p:nvSpPr>
          <p:cNvPr id="30" name="Box 13"/>
          <p:cNvSpPr/>
          <p:nvPr/>
        </p:nvSpPr>
        <p:spPr>
          <a:xfrm>
            <a:off x="5349240" y="2267712"/>
            <a:ext cx="3136392" cy="438912"/>
          </a:xfrm>
          <a:prstGeom prst="roundRect">
            <a:avLst>
              <a:gd name="adj" fmla="val 25000"/>
            </a:avLst>
          </a:prstGeom>
          <a:solidFill>
            <a:srgbClr val="E07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FFFFFF"/>
                </a:solidFill>
                <a:latin typeface="Inter"/>
              </a:rPr>
              <a:t>OrderService.pay_order  ·  use case</a:t>
            </a:r>
          </a:p>
        </p:txBody>
      </p:sp>
      <p:cxnSp>
        <p:nvCxnSpPr>
          <p:cNvPr id="31" name="Arrow 14"/>
          <p:cNvCxnSpPr/>
          <p:nvPr/>
        </p:nvCxnSpPr>
        <p:spPr>
          <a:xfrm>
            <a:off x="6917436" y="1993392"/>
            <a:ext cx="0" cy="27432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Box 15"/>
          <p:cNvSpPr/>
          <p:nvPr/>
        </p:nvSpPr>
        <p:spPr>
          <a:xfrm>
            <a:off x="5349240" y="2980944"/>
            <a:ext cx="3136392" cy="438912"/>
          </a:xfrm>
          <a:prstGeom prst="roundRect">
            <a:avLst>
              <a:gd name="adj" fmla="val 25000"/>
            </a:avLst>
          </a:prstGeom>
          <a:solidFill>
            <a:srgbClr val="1C4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FFFFFF"/>
                </a:solidFill>
                <a:latin typeface="Inter"/>
              </a:rPr>
              <a:t>order.pay()  ·  domain</a:t>
            </a:r>
          </a:p>
        </p:txBody>
      </p:sp>
      <p:cxnSp>
        <p:nvCxnSpPr>
          <p:cNvPr id="33" name="Arrow 16"/>
          <p:cNvCxnSpPr/>
          <p:nvPr/>
        </p:nvCxnSpPr>
        <p:spPr>
          <a:xfrm>
            <a:off x="6917436" y="2706624"/>
            <a:ext cx="0" cy="27432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Box 17"/>
          <p:cNvSpPr/>
          <p:nvPr/>
        </p:nvSpPr>
        <p:spPr>
          <a:xfrm>
            <a:off x="5349240" y="3694176"/>
            <a:ext cx="3136392" cy="438912"/>
          </a:xfrm>
          <a:prstGeom prst="roundRect">
            <a:avLst>
              <a:gd name="adj" fmla="val 25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i="0" b="1">
                <a:solidFill>
                  <a:srgbClr val="1C4587"/>
                </a:solidFill>
                <a:latin typeface="Inter"/>
              </a:rPr>
              <a:t>repo.save(order)  ·  infrastructure</a:t>
            </a:r>
          </a:p>
        </p:txBody>
      </p:sp>
      <p:cxnSp>
        <p:nvCxnSpPr>
          <p:cNvPr id="35" name="Arrow 18"/>
          <p:cNvCxnSpPr/>
          <p:nvPr/>
        </p:nvCxnSpPr>
        <p:spPr>
          <a:xfrm>
            <a:off x="6917436" y="3419856"/>
            <a:ext cx="0" cy="274320"/>
          </a:xfrm>
          <a:prstGeom prst="line">
            <a:avLst/>
          </a:prstGeom>
          <a:ln w="19050">
            <a:solidFill>
              <a:srgbClr val="7A7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19"/>
          <p:cNvSpPr txBox="1"/>
          <p:nvPr/>
        </p:nvSpPr>
        <p:spPr>
          <a:xfrm>
            <a:off x="5349240" y="4343400"/>
            <a:ext cx="313639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i="0" b="0">
                <a:solidFill>
                  <a:srgbClr val="7A7A7A"/>
                </a:solidFill>
                <a:latin typeface="Inter"/>
              </a:rPr>
              <a:t>Use case mengatur urutan, domain yang memutuskan.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Hands-on  ·  mulai dari 08-ddd-order/before/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Modeling Domain dengan DDD Dasar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536192"/>
            <a:ext cx="4023360" cy="3127248"/>
          </a:xfrm>
          <a:prstGeom prst="roundRect">
            <a:avLst>
              <a:gd name="adj" fmla="val 3508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Text 4"/>
          <p:cNvSpPr txBox="1"/>
          <p:nvPr/>
        </p:nvSpPr>
        <p:spPr>
          <a:xfrm>
            <a:off x="758952" y="1627632"/>
            <a:ext cx="374904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i="0" b="1">
                <a:solidFill>
                  <a:srgbClr val="1C4587"/>
                </a:solidFill>
                <a:latin typeface="Inter"/>
              </a:rPr>
              <a:t>Kriteria selesai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758952" y="1947672"/>
            <a:ext cx="3749040" cy="26243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Harga dan diskon memakai value object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Money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Item hanya bisa ditambah lewat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Order.add_item()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Order yang sudah dibayar tidak bisa dibatalkan atau diubah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Aturan diskon ada di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DiscountPolicy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Endpoint baru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POST /orders/{id}/pay</a:t>
            </a:r>
            <a:r>
              <a:rPr sz="950" i="0" b="0">
                <a:solidFill>
                  <a:srgbClr val="434343"/>
                </a:solidFill>
                <a:latin typeface="Inter"/>
              </a:rPr>
              <a:t> dan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/cancel</a:t>
            </a:r>
          </a:p>
          <a:p>
            <a:pPr algn="l" marL="182880" indent="-182880">
              <a:lnSpc>
                <a:spcPct val="115000"/>
              </a:lnSpc>
              <a:spcAft>
                <a:spcPts val="400"/>
              </a:spcAft>
              <a:buClr>
                <a:srgbClr val="E0764F"/>
              </a:buClr>
              <a:buSzPct val="100000"/>
              <a:buFont typeface="Arial"/>
              <a:buChar char="•"/>
            </a:pPr>
            <a:r>
              <a:rPr sz="950" i="0" b="0">
                <a:solidFill>
                  <a:srgbClr val="434343"/>
                </a:solidFill>
                <a:latin typeface="Inter"/>
              </a:rPr>
              <a:t>Test domain tanpa FastAPI dan database, </a:t>
            </a:r>
            <a:r>
              <a:rPr sz="950" i="0" b="0">
                <a:solidFill>
                  <a:srgbClr val="B5482A"/>
                </a:solidFill>
                <a:latin typeface="Consolas"/>
              </a:rPr>
              <a:t>pytest</a:t>
            </a:r>
            <a:r>
              <a:rPr sz="950" i="0" b="0">
                <a:solidFill>
                  <a:srgbClr val="434343"/>
                </a:solidFill>
                <a:latin typeface="Inter"/>
              </a:rPr>
              <a:t> hijau</a:t>
            </a:r>
          </a:p>
        </p:txBody>
      </p:sp>
      <p:sp>
        <p:nvSpPr>
          <p:cNvPr id="25" name="CodeTab 7"/>
          <p:cNvSpPr/>
          <p:nvPr/>
        </p:nvSpPr>
        <p:spPr>
          <a:xfrm>
            <a:off x="4800600" y="1536192"/>
            <a:ext cx="3685032" cy="237744"/>
          </a:xfrm>
          <a:prstGeom prst="roundRect">
            <a:avLst>
              <a:gd name="adj" fmla="val 30769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6" name="Dot 8"/>
          <p:cNvSpPr/>
          <p:nvPr/>
        </p:nvSpPr>
        <p:spPr>
          <a:xfrm>
            <a:off x="4910328" y="1613916"/>
            <a:ext cx="82296" cy="8229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t 9"/>
          <p:cNvSpPr/>
          <p:nvPr/>
        </p:nvSpPr>
        <p:spPr>
          <a:xfrm>
            <a:off x="5047488" y="1613916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t 10"/>
          <p:cNvSpPr/>
          <p:nvPr/>
        </p:nvSpPr>
        <p:spPr>
          <a:xfrm>
            <a:off x="5184648" y="1613916"/>
            <a:ext cx="82296" cy="8229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 11"/>
          <p:cNvSpPr txBox="1"/>
          <p:nvPr/>
        </p:nvSpPr>
        <p:spPr>
          <a:xfrm>
            <a:off x="5349240" y="1545336"/>
            <a:ext cx="3044952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i="0" b="0">
                <a:solidFill>
                  <a:srgbClr val="AEB8C4"/>
                </a:solidFill>
                <a:latin typeface="Consolas"/>
              </a:rPr>
              <a:t>target struktur</a:t>
            </a:r>
          </a:p>
        </p:txBody>
      </p:sp>
      <p:sp>
        <p:nvSpPr>
          <p:cNvPr id="30" name="CodeBg 13"/>
          <p:cNvSpPr/>
          <p:nvPr/>
        </p:nvSpPr>
        <p:spPr>
          <a:xfrm>
            <a:off x="4800600" y="1773936"/>
            <a:ext cx="3685032" cy="2889504"/>
          </a:xfrm>
          <a:prstGeom prst="roundRect">
            <a:avLst>
              <a:gd name="adj" fmla="val 632"/>
            </a:avLst>
          </a:prstGeom>
          <a:solidFill>
            <a:srgbClr val="1E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Code 14"/>
          <p:cNvSpPr txBox="1"/>
          <p:nvPr/>
        </p:nvSpPr>
        <p:spPr>
          <a:xfrm>
            <a:off x="4800600" y="1773936"/>
            <a:ext cx="3685032" cy="2889504"/>
          </a:xfrm>
          <a:prstGeom prst="rect">
            <a:avLst/>
          </a:prstGeom>
          <a:noFill/>
        </p:spPr>
        <p:txBody>
          <a:bodyPr wrap="none" lIns="146304" rIns="146304" tIns="91440" bIns="54864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after/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app/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domain/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money.py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order.py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  discount_policy.py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application/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infrastructure/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api/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main.py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tests/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test_order.py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test_order_service.py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i="0">
                <a:solidFill>
                  <a:srgbClr val="E6EDF3"/>
                </a:solidFill>
                <a:latin typeface="Consolas"/>
              </a:rPr>
              <a:t>    test_api.py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1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Text 1"/>
          <p:cNvSpPr txBox="1"/>
          <p:nvPr/>
        </p:nvSpPr>
        <p:spPr>
          <a:xfrm>
            <a:off x="621792" y="731520"/>
            <a:ext cx="7863840" cy="292608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i="1" b="0">
                <a:solidFill>
                  <a:srgbClr val="E0764F"/>
                </a:solidFill>
                <a:latin typeface="Inter"/>
              </a:rPr>
              <a:t>Penutup</a:t>
            </a:r>
          </a:p>
        </p:txBody>
      </p:sp>
      <p:sp>
        <p:nvSpPr>
          <p:cNvPr id="21" name="Text 2"/>
          <p:cNvSpPr txBox="1"/>
          <p:nvPr/>
        </p:nvSpPr>
        <p:spPr>
          <a:xfrm>
            <a:off x="621792" y="969264"/>
            <a:ext cx="7863840" cy="45720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i="0" b="0">
                <a:solidFill>
                  <a:srgbClr val="1C4587"/>
                </a:solidFill>
                <a:latin typeface="Work Sans ExtraBold"/>
              </a:rPr>
              <a:t>Rangkuman</a:t>
            </a:r>
          </a:p>
        </p:txBody>
      </p:sp>
      <p:sp>
        <p:nvSpPr>
          <p:cNvPr id="22" name="Box 3"/>
          <p:cNvSpPr/>
          <p:nvPr/>
        </p:nvSpPr>
        <p:spPr>
          <a:xfrm>
            <a:off x="621792" y="1554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3" name="Text 4"/>
          <p:cNvSpPr txBox="1"/>
          <p:nvPr/>
        </p:nvSpPr>
        <p:spPr>
          <a:xfrm>
            <a:off x="758952" y="164592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Ubiquitous Language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758952" y="196596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Nama di kode sama dengan istilah tim bisnis</a:t>
            </a:r>
          </a:p>
        </p:txBody>
      </p:sp>
      <p:sp>
        <p:nvSpPr>
          <p:cNvPr id="25" name="Box 6"/>
          <p:cNvSpPr/>
          <p:nvPr/>
        </p:nvSpPr>
        <p:spPr>
          <a:xfrm>
            <a:off x="3291840" y="1554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6" name="Text 7"/>
          <p:cNvSpPr txBox="1"/>
          <p:nvPr/>
        </p:nvSpPr>
        <p:spPr>
          <a:xfrm>
            <a:off x="3429000" y="164592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Bounded Context</a:t>
            </a:r>
          </a:p>
        </p:txBody>
      </p:sp>
      <p:sp>
        <p:nvSpPr>
          <p:cNvPr id="27" name="Text 8"/>
          <p:cNvSpPr txBox="1"/>
          <p:nvPr/>
        </p:nvSpPr>
        <p:spPr>
          <a:xfrm>
            <a:off x="3429000" y="196596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Satu model per context, terhubung lewat id</a:t>
            </a:r>
          </a:p>
        </p:txBody>
      </p:sp>
      <p:sp>
        <p:nvSpPr>
          <p:cNvPr id="28" name="Box 9"/>
          <p:cNvSpPr/>
          <p:nvPr/>
        </p:nvSpPr>
        <p:spPr>
          <a:xfrm>
            <a:off x="5961888" y="155448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9" name="Text 10"/>
          <p:cNvSpPr txBox="1"/>
          <p:nvPr/>
        </p:nvSpPr>
        <p:spPr>
          <a:xfrm>
            <a:off x="6099048" y="164592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Value Object</a:t>
            </a:r>
          </a:p>
        </p:txBody>
      </p:sp>
      <p:sp>
        <p:nvSpPr>
          <p:cNvPr id="30" name="Text 11"/>
          <p:cNvSpPr txBox="1"/>
          <p:nvPr/>
        </p:nvSpPr>
        <p:spPr>
          <a:xfrm>
            <a:off x="6099048" y="196596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Dikenali dari nilainya, immutable: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Money</a:t>
            </a:r>
          </a:p>
        </p:txBody>
      </p:sp>
      <p:sp>
        <p:nvSpPr>
          <p:cNvPr id="31" name="Box 12"/>
          <p:cNvSpPr/>
          <p:nvPr/>
        </p:nvSpPr>
        <p:spPr>
          <a:xfrm>
            <a:off x="621792" y="310896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2" name="Text 13"/>
          <p:cNvSpPr txBox="1"/>
          <p:nvPr/>
        </p:nvSpPr>
        <p:spPr>
          <a:xfrm>
            <a:off x="758952" y="320040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Entity &amp; Aggregate</a:t>
            </a:r>
          </a:p>
        </p:txBody>
      </p:sp>
      <p:sp>
        <p:nvSpPr>
          <p:cNvPr id="33" name="Text 14"/>
          <p:cNvSpPr txBox="1"/>
          <p:nvPr/>
        </p:nvSpPr>
        <p:spPr>
          <a:xfrm>
            <a:off x="758952" y="352044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Punya id, diubah lewat root: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Order.add_item()</a:t>
            </a:r>
            <a:r>
              <a:rPr sz="1000" i="0" b="0">
                <a:solidFill>
                  <a:srgbClr val="434343"/>
                </a:solidFill>
                <a:latin typeface="Inter"/>
              </a:rPr>
              <a:t>,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pay()</a:t>
            </a:r>
          </a:p>
        </p:txBody>
      </p:sp>
      <p:sp>
        <p:nvSpPr>
          <p:cNvPr id="34" name="Box 15"/>
          <p:cNvSpPr/>
          <p:nvPr/>
        </p:nvSpPr>
        <p:spPr>
          <a:xfrm>
            <a:off x="3291840" y="310896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5" name="Text 16"/>
          <p:cNvSpPr txBox="1"/>
          <p:nvPr/>
        </p:nvSpPr>
        <p:spPr>
          <a:xfrm>
            <a:off x="3429000" y="320040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Domain Service</a:t>
            </a:r>
          </a:p>
        </p:txBody>
      </p:sp>
      <p:sp>
        <p:nvSpPr>
          <p:cNvPr id="36" name="Text 17"/>
          <p:cNvSpPr txBox="1"/>
          <p:nvPr/>
        </p:nvSpPr>
        <p:spPr>
          <a:xfrm>
            <a:off x="3429000" y="352044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Logic lintas object: </a:t>
            </a:r>
            <a:r>
              <a:rPr sz="1000" i="0" b="0">
                <a:solidFill>
                  <a:srgbClr val="B5482A"/>
                </a:solidFill>
                <a:latin typeface="Consolas"/>
              </a:rPr>
              <a:t>DiscountPolicy</a:t>
            </a:r>
          </a:p>
        </p:txBody>
      </p:sp>
      <p:sp>
        <p:nvSpPr>
          <p:cNvPr id="37" name="Box 18"/>
          <p:cNvSpPr/>
          <p:nvPr/>
        </p:nvSpPr>
        <p:spPr>
          <a:xfrm>
            <a:off x="5961888" y="3108960"/>
            <a:ext cx="2523744" cy="137160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8" name="Text 19"/>
          <p:cNvSpPr txBox="1"/>
          <p:nvPr/>
        </p:nvSpPr>
        <p:spPr>
          <a:xfrm>
            <a:off x="6099048" y="3200400"/>
            <a:ext cx="2249424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i="0" b="1">
                <a:solidFill>
                  <a:srgbClr val="1C4587"/>
                </a:solidFill>
                <a:latin typeface="Inter"/>
              </a:rPr>
              <a:t>Domain vs ORM</a:t>
            </a:r>
          </a:p>
        </p:txBody>
      </p:sp>
      <p:sp>
        <p:nvSpPr>
          <p:cNvPr id="39" name="Text 20"/>
          <p:cNvSpPr txBox="1"/>
          <p:nvPr/>
        </p:nvSpPr>
        <p:spPr>
          <a:xfrm>
            <a:off x="6099048" y="3520440"/>
            <a:ext cx="2249424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i="0" b="0">
                <a:solidFill>
                  <a:srgbClr val="434343"/>
                </a:solidFill>
                <a:latin typeface="Inter"/>
              </a:rPr>
              <a:t>Business logic terpisah dari tabel, repository yang menerjemahkan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2907dbd872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401" y="4399825"/>
            <a:ext cx="24498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2907dbd8723_0_0"/>
          <p:cNvSpPr txBox="1"/>
          <p:nvPr/>
        </p:nvSpPr>
        <p:spPr>
          <a:xfrm>
            <a:off x="843350" y="1097280"/>
            <a:ext cx="4977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Source Code</a:t>
            </a:r>
            <a:endParaRPr b="0" i="0" sz="3000" u="none" cap="none" strike="noStrike">
              <a:solidFill>
                <a:srgbClr val="FFFFFF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255" name="Google Shape;255;g2907dbd8723_0_0"/>
          <p:cNvSpPr txBox="1"/>
          <p:nvPr/>
        </p:nvSpPr>
        <p:spPr>
          <a:xfrm>
            <a:off x="1230650" y="1934520"/>
            <a:ext cx="192024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Sesi 3</a:t>
            </a:r>
            <a:endParaRPr b="0" i="1" sz="1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g2907dbd872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7" name="Google Shape;257;g2907dbd872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4775" y="4399825"/>
            <a:ext cx="284713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2907dbd8723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5899" y="4399825"/>
            <a:ext cx="198637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2907dbd8723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695" y="4399825"/>
            <a:ext cx="20194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2907dbd8723_0_0"/>
          <p:cNvSpPr txBox="1"/>
          <p:nvPr/>
        </p:nvSpPr>
        <p:spPr>
          <a:xfrm>
            <a:off x="1230650" y="4338863"/>
            <a:ext cx="8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Hacktiv8id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2907dbd8723_0_0"/>
          <p:cNvSpPr txBox="1"/>
          <p:nvPr/>
        </p:nvSpPr>
        <p:spPr>
          <a:xfrm>
            <a:off x="3088375" y="4338863"/>
            <a:ext cx="8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Hacktiv8id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2907dbd8723_0_0"/>
          <p:cNvSpPr txBox="1"/>
          <p:nvPr/>
        </p:nvSpPr>
        <p:spPr>
          <a:xfrm>
            <a:off x="4946100" y="4338863"/>
            <a:ext cx="8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2907dbd8723_0_0"/>
          <p:cNvSpPr txBox="1"/>
          <p:nvPr/>
        </p:nvSpPr>
        <p:spPr>
          <a:xfrm>
            <a:off x="6704525" y="4338875"/>
            <a:ext cx="142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Hacktiv8 Indonesia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g2907dbd8723_0_0"/>
          <p:cNvCxnSpPr/>
          <p:nvPr/>
        </p:nvCxnSpPr>
        <p:spPr>
          <a:xfrm>
            <a:off x="3063240" y="2160270"/>
            <a:ext cx="914400" cy="9600"/>
          </a:xfrm>
          <a:prstGeom prst="straightConnector1">
            <a:avLst/>
          </a:prstGeom>
          <a:noFill/>
          <a:ln cap="flat" cmpd="sng" w="19050">
            <a:solidFill>
              <a:srgbClr val="FFF5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g2907dbd8723_0_0">
            <a:hlinkClick r:id="rId7"/>
          </p:cNvPr>
          <p:cNvSpPr txBox="1"/>
          <p:nvPr/>
        </p:nvSpPr>
        <p:spPr>
          <a:xfrm>
            <a:off x="4206240" y="1934520"/>
            <a:ext cx="402336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non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8"/>
              </a:rPr>
              <a:t>github.com/bagusedghar/fastapi-intermediate</a:t>
            </a:r>
            <a:endParaRPr b="0" i="1" sz="1500" u="sng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