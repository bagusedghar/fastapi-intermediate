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17"/>
    <p:sldId id="286" r:id="rId16"/>
    <p:sldId id="287" r:id="rId15"/>
    <p:sldId id="288" r:id="rId14"/>
    <p:sldId id="289" r:id="rId13"/>
    <p:sldId id="290" r:id="rId12"/>
    <p:sldId id="291" r:id="rId11"/>
    <p:sldId id="292" r:id="rId10"/>
    <p:sldId id="293" r:id="rId9"/>
    <p:sldId id="294" r:id="rId8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276" r:id="rId26"/>
  </p:sldIdLst>
  <p:sldSz cy="5143500" cx="9144000"/>
  <p:notesSz cx="6858000" cy="9144000"/>
  <p:embeddedFontLst>
    <p:embeddedFont>
      <p:font typeface="Inter"/>
      <p:regular r:id="rId27"/>
      <p:bold r:id="rId28"/>
    </p:embeddedFont>
    <p:embeddedFont>
      <p:font typeface="Work Sans Medium"/>
      <p:regular r:id="rId29"/>
      <p:bold r:id="rId30"/>
      <p:italic r:id="rId31"/>
      <p:boldItalic r:id="rId32"/>
    </p:embeddedFont>
    <p:embeddedFont>
      <p:font typeface="Work Sans ExtraBold"/>
      <p:bold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r:id="rId35" roundtripDataSignature="AMtx7misuxx245f/qKiEmR3PX6YRe0tI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20.xml"/><Relationship Id="rId9" Type="http://schemas.openxmlformats.org/officeDocument/2006/relationships/slide" Target="slides/slide19.xml"/><Relationship Id="rId10" Type="http://schemas.openxmlformats.org/officeDocument/2006/relationships/slide" Target="slides/slide18.xml"/><Relationship Id="rId11" Type="http://schemas.openxmlformats.org/officeDocument/2006/relationships/slide" Target="slides/slide17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14.xml"/><Relationship Id="rId15" Type="http://schemas.openxmlformats.org/officeDocument/2006/relationships/slide" Target="slides/slide13.xml"/><Relationship Id="rId16" Type="http://schemas.openxmlformats.org/officeDocument/2006/relationships/slide" Target="slides/slide12.xml"/><Relationship Id="rId17" Type="http://schemas.openxmlformats.org/officeDocument/2006/relationships/slide" Target="slides/slide11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30.xml"/><Relationship Id="rId27" Type="http://schemas.openxmlformats.org/officeDocument/2006/relationships/font" Target="fonts/Inter-regular.fntdata"/><Relationship Id="rId28" Type="http://schemas.openxmlformats.org/officeDocument/2006/relationships/font" Target="fonts/Inter-bold.fntdata"/><Relationship Id="rId29" Type="http://schemas.openxmlformats.org/officeDocument/2006/relationships/font" Target="fonts/WorkSansMedium-regular.fntdata"/><Relationship Id="rId30" Type="http://schemas.openxmlformats.org/officeDocument/2006/relationships/font" Target="fonts/WorkSansMedium-bold.fntdata"/><Relationship Id="rId31" Type="http://schemas.openxmlformats.org/officeDocument/2006/relationships/font" Target="fonts/WorkSansMedium-italic.fntdata"/><Relationship Id="rId32" Type="http://schemas.openxmlformats.org/officeDocument/2006/relationships/font" Target="fonts/WorkSansMedium-boldItalic.fntdata"/><Relationship Id="rId33" Type="http://schemas.openxmlformats.org/officeDocument/2006/relationships/font" Target="fonts/WorkSansExtraBold-bold.fntdata"/><Relationship Id="rId34" Type="http://schemas.openxmlformats.org/officeDocument/2006/relationships/font" Target="fonts/WorkSansExtraBold-boldItalic.fntdata"/><Relationship Id="rId35" Type="http://customschemas.google.com/relationships/presentationmetadata" Target="metadata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442ffe4c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2442ffe4c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Peserta hands-on, jawaban sudah ada di folder after/.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907dbd872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g2907dbd872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200" y="-15150"/>
            <a:ext cx="9190446" cy="516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3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206026" cy="517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 1">
  <p:cSld name="TITLE_2_1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" name="Google Shape;23;p49"/>
          <p:cNvPicPr preferRelativeResize="0"/>
          <p:nvPr/>
        </p:nvPicPr>
        <p:blipFill rotWithShape="1">
          <a:blip r:embed="rId2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_HEADER_4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39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" name="Google Shape;2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_2_1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200" y="-7175"/>
            <a:ext cx="9204623" cy="517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21"/>
          <p:cNvPicPr preferRelativeResize="0"/>
          <p:nvPr/>
        </p:nvPicPr>
        <p:blipFill rotWithShape="1">
          <a:blip r:embed="rId3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350" y="-6375"/>
            <a:ext cx="9160668" cy="5152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6" name="Google Shape;36;p22"/>
          <p:cNvPicPr preferRelativeResize="0"/>
          <p:nvPr/>
        </p:nvPicPr>
        <p:blipFill rotWithShape="1">
          <a:blip r:embed="rId3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5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4" name="Google Shape;44;p5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" name="Google Shape;48;p5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1" name="Google Shape;51;p5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2" name="Google Shape;52;p5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4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5" name="Google Shape;55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5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9" name="Google Shape;59;p55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0" name="Google Shape;60;p55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5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6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4" name="Google Shape;64;p5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7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57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8" name="Google Shape;68;p5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3" name="Google Shape;73;p59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6" name="Google Shape;76;p60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79" name="Google Shape;79;p61"/>
          <p:cNvPicPr preferRelativeResize="0"/>
          <p:nvPr/>
        </p:nvPicPr>
        <p:blipFill rotWithShape="1">
          <a:blip r:embed="rId2">
            <a:alphaModFix/>
          </a:blip>
          <a:srcRect b="34000" l="0" r="0" t="31469"/>
          <a:stretch/>
        </p:blipFill>
        <p:spPr>
          <a:xfrm>
            <a:off x="134750" y="4589275"/>
            <a:ext cx="1410576" cy="3443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hyperlink" Target="https://colab.research.google.com/github/FTDS-learning-materials/phase-2/blob/master/w2/P2W2D1PM%20-%20Data%20Ethics%20&amp;%20Data%20Validation.ipynb" TargetMode="External"/><Relationship Id="rId8" Type="http://schemas.openxmlformats.org/officeDocument/2006/relationships/hyperlink" Target="https://github.com/bagusedghar/fastapi-intermediate/tree/main/sesi-07-database-optimiz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63050" y="2010750"/>
            <a:ext cx="8258100" cy="11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" sz="3500">
                <a:solidFill>
                  <a:srgbClr val="F06634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Database Optimization, Replication &amp; Sharding</a:t>
            </a:r>
            <a:endParaRPr b="0" i="0" sz="3500" u="none" cap="none" strike="noStrike">
              <a:solidFill>
                <a:srgbClr val="F06634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63050" y="3157225"/>
            <a:ext cx="7315200" cy="5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Intermediate Backend Developer with FastAPI  -  Sesi 7</a:t>
            </a:r>
            <a:endParaRPr b="0" i="0" sz="1500" u="none" cap="none" strike="noStrike">
              <a:solidFill>
                <a:schemeClr val="dk2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442ffe4c8e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2" name="Google Shape;92;g2442ffe4c8e_0_0"/>
          <p:cNvSpPr txBox="1"/>
          <p:nvPr/>
        </p:nvSpPr>
        <p:spPr>
          <a:xfrm>
            <a:off x="310675" y="249275"/>
            <a:ext cx="44568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" sz="2300" u="none" cap="none" strike="noStrike">
                <a:solidFill>
                  <a:srgbClr val="1D3D70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Contents</a:t>
            </a:r>
            <a:endParaRPr b="0" i="0" sz="2300" u="none" cap="none" strike="noStrike">
              <a:solidFill>
                <a:srgbClr val="1D3D70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93" name="Text 1"/>
          <p:cNvSpPr txBox="1"/>
          <p:nvPr/>
        </p:nvSpPr>
        <p:spPr>
          <a:xfrm>
            <a:off x="548640" y="1143000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SQL/ORM Optimization</a:t>
            </a:r>
          </a:p>
        </p:txBody>
      </p:sp>
      <p:cxnSp>
        <p:nvCxnSpPr>
          <p:cNvPr id="94" name="Arrow 2"/>
          <p:cNvCxnSpPr/>
          <p:nvPr/>
        </p:nvCxnSpPr>
        <p:spPr>
          <a:xfrm>
            <a:off x="6318504" y="1325880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 3"/>
          <p:cNvSpPr txBox="1"/>
          <p:nvPr/>
        </p:nvSpPr>
        <p:spPr>
          <a:xfrm>
            <a:off x="8266175" y="1143000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06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548640" y="1527048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Pagination, Connection Pool &amp; Query Tuning</a:t>
            </a:r>
          </a:p>
        </p:txBody>
      </p:sp>
      <p:cxnSp>
        <p:nvCxnSpPr>
          <p:cNvPr id="97" name="Arrow 5"/>
          <p:cNvCxnSpPr/>
          <p:nvPr/>
        </p:nvCxnSpPr>
        <p:spPr>
          <a:xfrm>
            <a:off x="6318504" y="1709928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 6"/>
          <p:cNvSpPr txBox="1"/>
          <p:nvPr/>
        </p:nvSpPr>
        <p:spPr>
          <a:xfrm>
            <a:off x="8266175" y="1527048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16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548640" y="1911095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Replication &amp; Sharding</a:t>
            </a:r>
          </a:p>
        </p:txBody>
      </p:sp>
      <p:cxnSp>
        <p:nvCxnSpPr>
          <p:cNvPr id="100" name="Arrow 8"/>
          <p:cNvCxnSpPr/>
          <p:nvPr/>
        </p:nvCxnSpPr>
        <p:spPr>
          <a:xfrm>
            <a:off x="6318504" y="2093976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 9"/>
          <p:cNvSpPr txBox="1"/>
          <p:nvPr/>
        </p:nvSpPr>
        <p:spPr>
          <a:xfrm>
            <a:off x="8266175" y="1911095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Sesi 7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Learning Outcome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Box 4"/>
          <p:cNvSpPr/>
          <p:nvPr/>
        </p:nvSpPr>
        <p:spPr>
          <a:xfrm>
            <a:off x="758952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1170432" y="1709928"/>
            <a:ext cx="1883663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Execution plan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758952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Menggunakan execution plan untuk mengidentifikasi slow query, N+1, dan kebutuhan indexing.</a:t>
            </a:r>
          </a:p>
        </p:txBody>
      </p:sp>
      <p:sp>
        <p:nvSpPr>
          <p:cNvPr id="26" name="Box 7"/>
          <p:cNvSpPr/>
          <p:nvPr/>
        </p:nvSpPr>
        <p:spPr>
          <a:xfrm>
            <a:off x="3291840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7" name="Box 8"/>
          <p:cNvSpPr/>
          <p:nvPr/>
        </p:nvSpPr>
        <p:spPr>
          <a:xfrm>
            <a:off x="3429000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8" name="Text 9"/>
          <p:cNvSpPr txBox="1"/>
          <p:nvPr/>
        </p:nvSpPr>
        <p:spPr>
          <a:xfrm>
            <a:off x="3840480" y="1709928"/>
            <a:ext cx="1883663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Query optimization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3429000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Melakukan query optimization dan membandingkan metrik performa sebelum dan sesudah perbaikan.</a:t>
            </a:r>
          </a:p>
        </p:txBody>
      </p:sp>
      <p:sp>
        <p:nvSpPr>
          <p:cNvPr id="30" name="Box 11"/>
          <p:cNvSpPr/>
          <p:nvPr/>
        </p:nvSpPr>
        <p:spPr>
          <a:xfrm>
            <a:off x="5961888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Box 12"/>
          <p:cNvSpPr/>
          <p:nvPr/>
        </p:nvSpPr>
        <p:spPr>
          <a:xfrm>
            <a:off x="6099048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6510527" y="1709928"/>
            <a:ext cx="1883664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Replication &amp; sharding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6099048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Menjelaskan kapan replication atau sharding relevan, termasuk risiko consistency dan operational complexity.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Titik Awal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Hasil Sesi 6: Report Memuat Semua Order Satu per Satu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42062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35661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hasil Sesi 6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42062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42062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app/application/report_service.py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sales_summary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dict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with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uow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uow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C3A6FF"/>
                </a:solidFill>
                <a:latin typeface="Consolas"/>
              </a:rPr>
              <a:t>list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semua order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                                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loop di Python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app/infrastructure/repositories.py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_to_domain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record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OrderRecord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lines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for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line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in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record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lines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  </a:t>
            </a:r>
            <a:r>
              <a:rPr sz="850" i="1">
                <a:solidFill>
                  <a:srgbClr val="8B98A8"/>
                </a:solidFill>
                <a:latin typeface="Consolas"/>
              </a:rPr>
              <a:t># 1 query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                                  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per order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app/infrastructure/models.py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Mapped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mapped_column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7FDBCA"/>
                </a:solidFill>
                <a:latin typeface="Consolas"/>
              </a:rPr>
              <a:t>ForeignKey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"orders.id"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          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tanpa index</a:t>
            </a:r>
          </a:p>
        </p:txBody>
      </p:sp>
      <p:sp>
        <p:nvSpPr>
          <p:cNvPr id="29" name="Box 12"/>
          <p:cNvSpPr/>
          <p:nvPr/>
        </p:nvSpPr>
        <p:spPr>
          <a:xfrm>
            <a:off x="4983480" y="1536192"/>
            <a:ext cx="3502152" cy="3127248"/>
          </a:xfrm>
          <a:prstGeom prst="roundRect">
            <a:avLst>
              <a:gd name="adj" fmla="val 3508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5120640" y="1627632"/>
            <a:ext cx="32278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Diukur dengan 20.000 order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5120640" y="1947672"/>
            <a:ext cx="32278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Report penjualan: </a:t>
            </a:r>
            <a:r>
              <a:rPr sz="1000" i="0" b="1">
                <a:solidFill>
                  <a:srgbClr val="434343"/>
                </a:solidFill>
                <a:latin typeface="Inter"/>
              </a:rPr>
              <a:t>32 detik, 20.001 query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Setiap order query item-nya sendiri (N+1)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order_lines.order_id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tanpa index, setiap query membaca seluruh tabel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Belum ada endpoint riwayat order per customer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01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SQL/ORM Optimization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Execution plan, index, dan N+1 query.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EXPLAIN ANALYZE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Execution Plan?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Rencana langkah yang dipilih database untuk menjalankan sebuah query.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EXPLAIN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menampilkan rencananya,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EXPLAIN ANALYZE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menjalankan query-nya lalu menampilkan waktu dan jumlah baris yang sebenarnya.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Tahu PENYEBAB query lambat, bukan cuma waktunya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Tahu index dipakai atau tidak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Membuktikan hasil optimasi dengan angka</a:t>
            </a:r>
          </a:p>
        </p:txBody>
      </p:sp>
      <p:graphicFrame>
        <p:nvGraphicFramePr>
          <p:cNvPr id="23" name="Table 4"/>
          <p:cNvGraphicFramePr>
            <a:graphicFrameLocks noGrp="1"/>
          </p:cNvGraphicFramePr>
          <p:nvPr/>
        </p:nvGraphicFramePr>
        <p:xfrm>
          <a:off x="4892040" y="1554480"/>
          <a:ext cx="3593592" cy="2560320"/>
        </p:xfrm>
        <a:graphic>
          <a:graphicData uri="http://schemas.openxmlformats.org/drawingml/2006/table">
            <a:tbl>
              <a:tblPr firstRow="1" bandRow="1"/>
              <a:tblGrid>
                <a:gridCol w="1600200"/>
                <a:gridCol w="199339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Di plan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Artinya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Seq Scan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Membaca seluruh tabel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Index Scan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Loncat lewat index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Rows Removed by Filter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Dibaca lalu dibuang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Sort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Mengurutkan hasil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actual time / rows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Waktu (ms) dan jumlah baris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Execution Time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Total waktu di database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EXPLAIN ANALYZE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Cuma Tahu Query-nya Lambat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01-explain-analyze/before.py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HISTORY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SELECT id, status, created_at FROM orders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WHERE customer = :customer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ORDER BY created_at DESC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LIMIT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"""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start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time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perf_counter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rows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order_history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"customer42@mail.com"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10 order, 15.6 ms. Kenapa lambat? Tidak tahu.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Angka waktu tidak menunjukkan penyebab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Optimasi jadi tebak-tebakan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"Tambah server" belum tentu menyelesaikan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EXPLAIN ANALYZE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Baca Execution Plan-nya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01-explain-analyze/after.py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explain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conn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sql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str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params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dict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-</a:t>
            </a:r>
            <a:r>
              <a:rPr sz="900" i="0">
                <a:solidFill>
                  <a:srgbClr val="E6EDF3"/>
                </a:solidFill>
                <a:latin typeface="Consolas"/>
              </a:rPr>
              <a:t>&gt;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list</a:t>
            </a:r>
            <a:r>
              <a:rPr sz="900" i="0">
                <a:solidFill>
                  <a:srgbClr val="E6EDF3"/>
                </a:solidFill>
                <a:latin typeface="Consolas"/>
              </a:rPr>
              <a:t>[</a:t>
            </a:r>
            <a:r>
              <a:rPr sz="900" i="0">
                <a:solidFill>
                  <a:srgbClr val="C3A6FF"/>
                </a:solidFill>
                <a:latin typeface="Consolas"/>
              </a:rPr>
              <a:t>str</a:t>
            </a:r>
            <a:r>
              <a:rPr sz="900" i="0">
                <a:solidFill>
                  <a:srgbClr val="E6EDF3"/>
                </a:solidFill>
                <a:latin typeface="Consolas"/>
              </a:rPr>
              <a:t>]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conn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text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"EXPLAIN ANALYZE "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+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sql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                </a:t>
            </a:r>
            <a:r>
              <a:rPr sz="900" i="0">
                <a:solidFill>
                  <a:srgbClr val="E6EDF3"/>
                </a:solidFill>
                <a:latin typeface="Consolas"/>
              </a:rPr>
              <a:t>params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scalars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all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Limit (actual time=7.024..8.714 rows=10)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  -&gt;  Gather Merge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    -&gt;  Sort   Sort Key: created_at DESC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      -&gt;  Parallel Seq Scan on orders (rows=20 loops=2)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            Filter: customer = 'customer42@mail.com'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            Rows Removed by Filter: 99980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Execution Time: 8.789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Seq Scan: seluruh tabel dibaca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200.000 baris dibaca untuk dapat 40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Kesimpulan: butuh index di kolom customer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Index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Index?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Struktur data terurut (B-tree) yang menunjuk ke baris di tabel, seperti indeks di belakang buku. Database bisa langsung loncat ke baris yang dicari tanpa membaca seluruh tabel.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Mempercepat WHERE, JOIN, dan ORDER BY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Urutan kolom penting: sesuaikan dengan query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Harganya: storage, dan INSERT/UPDATE jadi sedikit lebih lambat</a:t>
            </a:r>
          </a:p>
        </p:txBody>
      </p:sp>
      <p:sp>
        <p:nvSpPr>
          <p:cNvPr id="23" name="CodeTab 5"/>
          <p:cNvSpPr/>
          <p:nvPr/>
        </p:nvSpPr>
        <p:spPr>
          <a:xfrm>
            <a:off x="4937760" y="1536192"/>
            <a:ext cx="354787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504748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518464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t 8"/>
          <p:cNvSpPr/>
          <p:nvPr/>
        </p:nvSpPr>
        <p:spPr>
          <a:xfrm>
            <a:off x="532180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 9"/>
          <p:cNvSpPr txBox="1"/>
          <p:nvPr/>
        </p:nvSpPr>
        <p:spPr>
          <a:xfrm>
            <a:off x="5486400" y="1545336"/>
            <a:ext cx="2907791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contoh index</a:t>
            </a:r>
          </a:p>
        </p:txBody>
      </p:sp>
      <p:sp>
        <p:nvSpPr>
          <p:cNvPr id="28" name="CodeBg 11"/>
          <p:cNvSpPr/>
          <p:nvPr/>
        </p:nvSpPr>
        <p:spPr>
          <a:xfrm>
            <a:off x="4937760" y="1773936"/>
            <a:ext cx="3547872" cy="2276856"/>
          </a:xfrm>
          <a:prstGeom prst="roundRect">
            <a:avLst>
              <a:gd name="adj" fmla="val 80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9" name="Code 12"/>
          <p:cNvSpPr txBox="1"/>
          <p:nvPr/>
        </p:nvSpPr>
        <p:spPr>
          <a:xfrm>
            <a:off x="4937760" y="1773936"/>
            <a:ext cx="3547872" cy="2276856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-- riwayat order customer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CREATE INDEX ix_orders_customer_created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ON orders (customer, created_at DESC);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-- foreign key: TIDAK dibuat otomatis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-- oleh PostgreSQL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CREATE INDEX ix_order_lines_order_id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ON order_lines (order_id);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Index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Seq Scan di 200.000 Order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02-index/before.py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"DROP INDEX IF EXISTS ix_orders_customer_created"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plan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explain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HISTORY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"customer"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"customer42@mail.com"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summary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plan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C3A6FF"/>
                </a:solidFill>
                <a:latin typeface="Consolas"/>
              </a:rPr>
              <a:t>print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-&gt;  Parallel Seq Scan on orders (actual time=0.036..4.718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                                 rows=20 loops=2)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Execution Time: 9.582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Waktu naik seiring jumlah order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Setiap request membaca seluruh tabel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Saat traffic tinggi, CPU database penuh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Index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Index Sesuai Query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02-index/after.py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CREATE INDEX IF NOT EXISTS ix_orders_customer_created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ON orders (customer, created_at DESC)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"""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plan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explain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HISTORY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"customer"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"customer42@mail.com"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-&gt;  Index Scan using ix_orders_customer_created on orders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        (actual time=0.026..0.036 rows=10 loops=1)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Execution Time: 0.056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Langsung loncat ke order customer itu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Sudah urut, tidak perlu Sort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9.6 ms jadi 0.06 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N+1 Query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N+1 Query?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1 query untuk mengambil daftar data, lalu N query tambahan untuk relasi masing-masing data. Sering terjadi di ORM karena relasi di-load secara lazy, baru diambil saat diakses.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Jumlah query naik seiring jumlah data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Setiap query menambah round trip ke database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Tidak terlihat dari kode, harus dihitung</a:t>
            </a:r>
          </a:p>
        </p:txBody>
      </p:sp>
      <p:sp>
        <p:nvSpPr>
          <p:cNvPr id="23" name="Box 4"/>
          <p:cNvSpPr/>
          <p:nvPr/>
        </p:nvSpPr>
        <p:spPr>
          <a:xfrm>
            <a:off x="4892040" y="1554480"/>
            <a:ext cx="3593592" cy="365760"/>
          </a:xfrm>
          <a:prstGeom prst="roundRect">
            <a:avLst>
              <a:gd name="adj" fmla="val 30000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SELECT * FROM orders LIMIT 100</a:t>
            </a:r>
          </a:p>
        </p:txBody>
      </p:sp>
      <p:sp>
        <p:nvSpPr>
          <p:cNvPr id="24" name="Box 5"/>
          <p:cNvSpPr/>
          <p:nvPr/>
        </p:nvSpPr>
        <p:spPr>
          <a:xfrm>
            <a:off x="4892040" y="2103120"/>
            <a:ext cx="2743200" cy="274320"/>
          </a:xfrm>
          <a:prstGeom prst="roundRect">
            <a:avLst>
              <a:gd name="adj" fmla="val 4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C0392B"/>
                </a:solidFill>
                <a:latin typeface="Inter"/>
              </a:rPr>
              <a:t>SELECT lines WHERE order_id = 1</a:t>
            </a:r>
          </a:p>
        </p:txBody>
      </p:sp>
      <p:sp>
        <p:nvSpPr>
          <p:cNvPr id="25" name="Box 6"/>
          <p:cNvSpPr/>
          <p:nvPr/>
        </p:nvSpPr>
        <p:spPr>
          <a:xfrm>
            <a:off x="4892040" y="2432303"/>
            <a:ext cx="2743200" cy="274320"/>
          </a:xfrm>
          <a:prstGeom prst="roundRect">
            <a:avLst>
              <a:gd name="adj" fmla="val 4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C0392B"/>
                </a:solidFill>
                <a:latin typeface="Inter"/>
              </a:rPr>
              <a:t>SELECT lines WHERE order_id = 2</a:t>
            </a:r>
          </a:p>
        </p:txBody>
      </p:sp>
      <p:sp>
        <p:nvSpPr>
          <p:cNvPr id="26" name="Box 7"/>
          <p:cNvSpPr/>
          <p:nvPr/>
        </p:nvSpPr>
        <p:spPr>
          <a:xfrm>
            <a:off x="4892040" y="2761487"/>
            <a:ext cx="2743200" cy="274320"/>
          </a:xfrm>
          <a:prstGeom prst="roundRect">
            <a:avLst>
              <a:gd name="adj" fmla="val 4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C0392B"/>
                </a:solidFill>
                <a:latin typeface="Inter"/>
              </a:rPr>
              <a:t>SELECT lines WHERE order_id = 3</a:t>
            </a:r>
          </a:p>
        </p:txBody>
      </p:sp>
      <p:sp>
        <p:nvSpPr>
          <p:cNvPr id="27" name="Box 8"/>
          <p:cNvSpPr/>
          <p:nvPr/>
        </p:nvSpPr>
        <p:spPr>
          <a:xfrm>
            <a:off x="4892040" y="3090672"/>
            <a:ext cx="2743200" cy="274320"/>
          </a:xfrm>
          <a:prstGeom prst="roundRect">
            <a:avLst>
              <a:gd name="adj" fmla="val 4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C0392B"/>
                </a:solidFill>
                <a:latin typeface="Inter"/>
              </a:rPr>
              <a:t>...</a:t>
            </a:r>
          </a:p>
        </p:txBody>
      </p:sp>
      <p:sp>
        <p:nvSpPr>
          <p:cNvPr id="28" name="Box 9"/>
          <p:cNvSpPr/>
          <p:nvPr/>
        </p:nvSpPr>
        <p:spPr>
          <a:xfrm>
            <a:off x="4892040" y="3419856"/>
            <a:ext cx="2743200" cy="274320"/>
          </a:xfrm>
          <a:prstGeom prst="roundRect">
            <a:avLst>
              <a:gd name="adj" fmla="val 4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C0392B"/>
                </a:solidFill>
                <a:latin typeface="Inter"/>
              </a:rPr>
              <a:t>SELECT lines WHERE order_id = 100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7680960" y="2103120"/>
            <a:ext cx="822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C0392B"/>
                </a:solidFill>
                <a:latin typeface="Inter"/>
              </a:rPr>
              <a:t>100 query tambahan</a:t>
            </a:r>
          </a:p>
        </p:txBody>
      </p:sp>
      <p:sp>
        <p:nvSpPr>
          <p:cNvPr id="30" name="Box 11"/>
          <p:cNvSpPr/>
          <p:nvPr/>
        </p:nvSpPr>
        <p:spPr>
          <a:xfrm>
            <a:off x="4892040" y="3886200"/>
            <a:ext cx="3593592" cy="384048"/>
          </a:xfrm>
          <a:prstGeom prst="roundRect">
            <a:avLst>
              <a:gd name="adj" fmla="val 28571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2E7D5B"/>
                </a:solidFill>
                <a:latin typeface="Inter"/>
              </a:rPr>
              <a:t>selectinload: 1 query untuk semua item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N+1 Query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100 Order = 101 Query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03-n-plus-one/before.py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Base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lines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Mapped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C3A6FF"/>
                </a:solidFill>
                <a:latin typeface="Consolas"/>
              </a:rPr>
              <a:t>list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OrderLine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relationship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</a:t>
            </a:r>
            <a:r>
              <a:rPr sz="950" i="1">
                <a:solidFill>
                  <a:srgbClr val="8B98A8"/>
                </a:solidFill>
                <a:latin typeface="Consolas"/>
              </a:rPr>
              <a:t># lazy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latest_orders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session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Session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list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session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scalars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select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order_by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id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desc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limit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100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"id"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id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sum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qty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lines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query lagi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100 order, 101 query, 43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Kode terlihat wajar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1000 order = 1001 query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Makin jauh database, makin lambat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N+1 Query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selectinload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03-n-plus-one/after.py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latest_orders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session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Session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list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session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scalars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select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options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selectinload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lines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order_by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id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desc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limit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100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"id"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id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sum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qty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lines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SELECT ... FROM order_lines WHERE order_id IN (...)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100 order, 2 query, 9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Selalu 2 query, berapa pun jumlah order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Kode yang memakai hasilnya tidak berubah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joinedload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untuk relasi many-to-one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02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Pagination, Connection Pool &amp; Query Tuning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324612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Query yang tetap cepat saat data dan traffic bertambah.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Pagination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OFFSET vs Keyset Pagination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554480"/>
          <a:ext cx="7863840" cy="2852928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154680"/>
                <a:gridCol w="3154680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540"/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OFFSET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Keyset (cursor)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Query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ORDER BY id DESC LIMIT 20 OFFSET 179980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WHERE id &lt; :after ORDER BY id DESC LIMIT 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Halaman jauh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Makin lambat, baris sebelumnya tetap dibaca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Sama cepatnya dengan halaman pertama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Ada data baru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Data bergeser: dobel atau terlewat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Tidak bergeser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Loncat ke halaman 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Bisa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Tidak bisa, cuma halaman berikutnya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Cocok untuk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Tabel admin dengan nomor halaman, data kecil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API, infinite scroll, data besar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Pagination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OFFSET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04-pagination/before.py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PAGE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"SELECT id, customer, created_at FROM orders 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"ORDER BY id DESC LIMIT 20 OFFSET :offset"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list_orders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page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list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PAGE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"offset"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page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20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Halaman    1:   0.4 ms, id 200000..199981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Halaman 9000:  24.9 ms, id 20020..20001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Baca 180.000 baris, buang 179.980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Halaman makin jauh, makin lambat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Order baru membuat data bergeser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Pagination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Keyset Pagination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04-pagination/after.py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NEXT_PAGE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"SELECT id, customer, created_at FROM orders 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"WHERE id &lt; :after ORDER BY id DESC LIMIT 20"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list_orders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after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|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rows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FIRST_PAGE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after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else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NEXT_PAGE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"after"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after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next_after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rows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F9C97A"/>
                </a:solidFill>
                <a:latin typeface="Consolas"/>
              </a:rPr>
              <a:t>1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id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len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rows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20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else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rows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next_after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Halaman    1:   0.5 ms, ..., next_after=199981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Halaman 9000:   1.4 ms, ..., next_after=20001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Langsung loncat lewat index primary key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Client mengirim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next_after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untuk halaman berikutnya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Tidak ada data dobel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Connection Pool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Connection Pool?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Kumpulan koneksi database yang sudah terbuka dan dipakai bergantian. Request meminjam koneksi dari pool, lalu mengembalikannya setelah selesai, bukan menutupnya.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Tidak membayar biaya membuka koneksi di setiap request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Jumlah koneksi ke database terkendali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Koneksi yang putus dideteksi (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pool_pre_ping</a:t>
            </a:r>
            <a:r>
              <a:rPr sz="1050" i="0" b="0">
                <a:solidFill>
                  <a:srgbClr val="434343"/>
                </a:solidFill>
                <a:latin typeface="Inter"/>
              </a:rPr>
              <a:t>)</a:t>
            </a:r>
          </a:p>
        </p:txBody>
      </p:sp>
      <p:sp>
        <p:nvSpPr>
          <p:cNvPr id="23" name="Box 4"/>
          <p:cNvSpPr/>
          <p:nvPr/>
        </p:nvSpPr>
        <p:spPr>
          <a:xfrm>
            <a:off x="4892040" y="1600200"/>
            <a:ext cx="1005840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request 1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5897880" y="1792224"/>
            <a:ext cx="36576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4892040" y="2148840"/>
            <a:ext cx="1005840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request 2</a:t>
            </a:r>
          </a:p>
        </p:txBody>
      </p:sp>
      <p:cxnSp>
        <p:nvCxnSpPr>
          <p:cNvPr id="26" name="Arrow 7"/>
          <p:cNvCxnSpPr/>
          <p:nvPr/>
        </p:nvCxnSpPr>
        <p:spPr>
          <a:xfrm>
            <a:off x="5897880" y="2340864"/>
            <a:ext cx="36576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Box 8"/>
          <p:cNvSpPr/>
          <p:nvPr/>
        </p:nvSpPr>
        <p:spPr>
          <a:xfrm>
            <a:off x="4892040" y="2697480"/>
            <a:ext cx="1005840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request 3</a:t>
            </a:r>
          </a:p>
        </p:txBody>
      </p:sp>
      <p:cxnSp>
        <p:nvCxnSpPr>
          <p:cNvPr id="28" name="Arrow 9"/>
          <p:cNvCxnSpPr/>
          <p:nvPr/>
        </p:nvCxnSpPr>
        <p:spPr>
          <a:xfrm>
            <a:off x="5897880" y="2889504"/>
            <a:ext cx="36576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6263640" y="1554480"/>
            <a:ext cx="1143000" cy="1600200"/>
          </a:xfrm>
          <a:prstGeom prst="roundRect">
            <a:avLst>
              <a:gd name="adj" fmla="val 96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pool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40"/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koneksi 1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koneksi 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...</a:t>
            </a:r>
          </a:p>
        </p:txBody>
      </p:sp>
      <p:cxnSp>
        <p:nvCxnSpPr>
          <p:cNvPr id="30" name="Arrow 11"/>
          <p:cNvCxnSpPr/>
          <p:nvPr/>
        </p:nvCxnSpPr>
        <p:spPr>
          <a:xfrm>
            <a:off x="7406640" y="2350008"/>
            <a:ext cx="27432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x 12"/>
          <p:cNvSpPr/>
          <p:nvPr/>
        </p:nvSpPr>
        <p:spPr>
          <a:xfrm>
            <a:off x="7680960" y="1965960"/>
            <a:ext cx="804672" cy="777240"/>
          </a:xfrm>
          <a:prstGeom prst="roundRect">
            <a:avLst>
              <a:gd name="adj" fmla="val 14117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FFFFFF"/>
                </a:solidFill>
                <a:latin typeface="Inter"/>
              </a:rPr>
              <a:t>Postgre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4892040" y="3337560"/>
            <a:ext cx="3593592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7A7A7A"/>
                </a:solidFill>
                <a:latin typeface="Inter"/>
              </a:rPr>
              <a:t>Batas koneksi = (pool_size + max_overflow) x jumlah proses aplikasi. Harus di bawah max_connections PostgreSQL (default 100).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Connection Pool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Koneksi Baru Setiap Request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05-connection-pool/before.py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engine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create_engine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DATABASE_URL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poolclass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7FDBCA"/>
                </a:solidFill>
                <a:latin typeface="Consolas"/>
              </a:rPr>
              <a:t>NullPool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with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engine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connect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as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buka koneksi baru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"SELECT * FROM orders WHERE id = :id"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"id"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one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with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ThreadPoolExecutor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max_workers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10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as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pool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C3A6FF"/>
                </a:solidFill>
                <a:latin typeface="Consolas"/>
              </a:rPr>
              <a:t>list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pool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map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get_order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range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1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501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500 request: 925 ms, koneksi dibuka: 500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TCP, autentikasi, dan proses baru setiap request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Traffic tinggi bisa melewati max_connections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Request mulai ditolak database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Connection Pool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Koneksi Dipakai Ulang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05-connection-pool/after.py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engine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create_engine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DATABASE_URL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pool_size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10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max_overflow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5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pool_timeout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30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pool_pre_ping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F8E6E"/>
                </a:solidFill>
                <a:latin typeface="Consolas"/>
              </a:rPr>
              <a:t>True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pool_recycle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1800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with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engine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connect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as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pinjam dari pool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500 request: 527 ms, koneksi dibuka: 10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500 request cukup 10 koneksi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Lebih cepat, terutama kalau database jauh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Jumlah koneksi bisa dihitung dari config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Query Tuning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Hitung di Python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06-query-tuning/before.py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sales_by_status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"SELECT * FROM orders"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"SELECT * FROM order_lines"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status_of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report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defaultdict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F8E6E"/>
                </a:solidFill>
                <a:latin typeface="Consolas"/>
              </a:rPr>
              <a:t>lambda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"orders"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"revenue"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0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report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"orders"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+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lines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report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status_of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"revenue"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+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\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line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qty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600000 baris ke Python, 1314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600.000 baris lewat jaringan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Memory aplikasi terpakai banyak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Hasil akhirnya cuma 3 baris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Query Tuning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GROUP BY di Database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06-query-tuning/after.py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SALES_BY_STATUS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text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SELECT o.status, count(*) AS orders, sum(t.total) AS revenue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FROM orders AS 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JOIN (SELECT order_id, sum(price * qty) AS total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      FROM order_lines GROUP BY order_id) AS 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  ON t.order_id = o.id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    GROUP BY o.status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A5D6A7"/>
                </a:solidFill>
                <a:latin typeface="Consolas"/>
              </a:rPr>
              <a:t>"""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sales_by_status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rows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conn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execute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SALES_BY_STATUS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3 baris ke Python, 109 ms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Agregasi di dekat datanya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Hindari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count(DISTINCT)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di tabel besar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SELECT kolom yang dibutuhkan saja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03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Replication &amp; Sharding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Saat satu database tidak cukup lagi.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Replication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Replication?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Menyalin data dari satu database utama (</a:t>
            </a:r>
            <a:r>
              <a:rPr sz="1050" i="0" b="1">
                <a:solidFill>
                  <a:srgbClr val="434343"/>
                </a:solidFill>
                <a:latin typeface="Inter"/>
              </a:rPr>
              <a:t>primary</a:t>
            </a:r>
            <a:r>
              <a:rPr sz="1050" i="0" b="0">
                <a:solidFill>
                  <a:srgbClr val="434343"/>
                </a:solidFill>
                <a:latin typeface="Inter"/>
              </a:rPr>
              <a:t>) ke beberapa salinan (</a:t>
            </a:r>
            <a:r>
              <a:rPr sz="1050" i="0" b="1">
                <a:solidFill>
                  <a:srgbClr val="434343"/>
                </a:solidFill>
                <a:latin typeface="Inter"/>
              </a:rPr>
              <a:t>replica</a:t>
            </a:r>
            <a:r>
              <a:rPr sz="1050" i="0" b="0">
                <a:solidFill>
                  <a:srgbClr val="434343"/>
                </a:solidFill>
                <a:latin typeface="Inter"/>
              </a:rPr>
              <a:t>). Semua write ke primary, read bisa dibagi ke replica.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Membagi beban read yang tinggi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Replica bisa jadi pengganti kalau primary mati (failover)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Risiko: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replica lag</a:t>
            </a:r>
            <a:r>
              <a:rPr sz="1050" i="0" b="0">
                <a:solidFill>
                  <a:srgbClr val="434343"/>
                </a:solidFill>
                <a:latin typeface="Inter"/>
              </a:rPr>
              <a:t>, data di replica tertinggal beberapa ms sampai detik</a:t>
            </a:r>
          </a:p>
        </p:txBody>
      </p:sp>
      <p:sp>
        <p:nvSpPr>
          <p:cNvPr id="23" name="Box 4"/>
          <p:cNvSpPr/>
          <p:nvPr/>
        </p:nvSpPr>
        <p:spPr>
          <a:xfrm>
            <a:off x="4892040" y="1554480"/>
            <a:ext cx="3593592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FastAPI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5669280" y="1938528"/>
            <a:ext cx="0" cy="34747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 6"/>
          <p:cNvSpPr txBox="1"/>
          <p:nvPr/>
        </p:nvSpPr>
        <p:spPr>
          <a:xfrm>
            <a:off x="5715000" y="196596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i="0" b="0">
                <a:solidFill>
                  <a:srgbClr val="7A7A7A"/>
                </a:solidFill>
                <a:latin typeface="Inter"/>
              </a:rPr>
              <a:t>write</a:t>
            </a:r>
          </a:p>
        </p:txBody>
      </p:sp>
      <p:sp>
        <p:nvSpPr>
          <p:cNvPr id="26" name="Box 7"/>
          <p:cNvSpPr/>
          <p:nvPr/>
        </p:nvSpPr>
        <p:spPr>
          <a:xfrm>
            <a:off x="4892040" y="2286000"/>
            <a:ext cx="1554480" cy="548640"/>
          </a:xfrm>
          <a:prstGeom prst="roundRect">
            <a:avLst>
              <a:gd name="adj" fmla="val 20000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Primary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(read + write)</a:t>
            </a:r>
          </a:p>
        </p:txBody>
      </p:sp>
      <p:cxnSp>
        <p:nvCxnSpPr>
          <p:cNvPr id="27" name="Arrow 8"/>
          <p:cNvCxnSpPr/>
          <p:nvPr/>
        </p:nvCxnSpPr>
        <p:spPr>
          <a:xfrm>
            <a:off x="7708392" y="1938528"/>
            <a:ext cx="0" cy="34747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9"/>
          <p:cNvSpPr txBox="1"/>
          <p:nvPr/>
        </p:nvSpPr>
        <p:spPr>
          <a:xfrm>
            <a:off x="7754112" y="196596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i="0" b="0">
                <a:solidFill>
                  <a:srgbClr val="7A7A7A"/>
                </a:solidFill>
                <a:latin typeface="Inter"/>
              </a:rPr>
              <a:t>read</a:t>
            </a:r>
          </a:p>
        </p:txBody>
      </p:sp>
      <p:sp>
        <p:nvSpPr>
          <p:cNvPr id="29" name="Box 10"/>
          <p:cNvSpPr/>
          <p:nvPr/>
        </p:nvSpPr>
        <p:spPr>
          <a:xfrm>
            <a:off x="6931152" y="2286000"/>
            <a:ext cx="1554480" cy="548640"/>
          </a:xfrm>
          <a:prstGeom prst="roundRect">
            <a:avLst>
              <a:gd name="adj" fmla="val 20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Replica 1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(read only)</a:t>
            </a:r>
          </a:p>
        </p:txBody>
      </p:sp>
      <p:sp>
        <p:nvSpPr>
          <p:cNvPr id="30" name="Box 11"/>
          <p:cNvSpPr/>
          <p:nvPr/>
        </p:nvSpPr>
        <p:spPr>
          <a:xfrm>
            <a:off x="6931152" y="3017520"/>
            <a:ext cx="1554480" cy="548640"/>
          </a:xfrm>
          <a:prstGeom prst="roundRect">
            <a:avLst>
              <a:gd name="adj" fmla="val 20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Replica 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(read only)</a:t>
            </a:r>
          </a:p>
        </p:txBody>
      </p:sp>
      <p:cxnSp>
        <p:nvCxnSpPr>
          <p:cNvPr id="31" name="Arrow 12"/>
          <p:cNvCxnSpPr/>
          <p:nvPr/>
        </p:nvCxnSpPr>
        <p:spPr>
          <a:xfrm>
            <a:off x="6446520" y="2560320"/>
            <a:ext cx="484632" cy="0"/>
          </a:xfrm>
          <a:prstGeom prst="line">
            <a:avLst/>
          </a:prstGeom>
          <a:ln w="19050">
            <a:solidFill>
              <a:srgbClr val="7A7A7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rrow 13"/>
          <p:cNvCxnSpPr/>
          <p:nvPr/>
        </p:nvCxnSpPr>
        <p:spPr>
          <a:xfrm>
            <a:off x="6446520" y="2697480"/>
            <a:ext cx="484632" cy="594360"/>
          </a:xfrm>
          <a:prstGeom prst="line">
            <a:avLst/>
          </a:prstGeom>
          <a:ln w="19050">
            <a:solidFill>
              <a:srgbClr val="7A7A7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 14"/>
          <p:cNvSpPr txBox="1"/>
          <p:nvPr/>
        </p:nvSpPr>
        <p:spPr>
          <a:xfrm>
            <a:off x="4892040" y="3017520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i="0" b="0">
                <a:solidFill>
                  <a:srgbClr val="7A7A7A"/>
                </a:solidFill>
                <a:latin typeface="Inter"/>
              </a:rPr>
              <a:t>replikasi (async)</a:t>
            </a:r>
          </a:p>
        </p:txBody>
      </p:sp>
      <p:sp>
        <p:nvSpPr>
          <p:cNvPr id="34" name="Text 15"/>
          <p:cNvSpPr txBox="1"/>
          <p:nvPr/>
        </p:nvSpPr>
        <p:spPr>
          <a:xfrm>
            <a:off x="4892040" y="3749039"/>
            <a:ext cx="359359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7A7A7A"/>
                </a:solidFill>
                <a:latin typeface="Inter"/>
              </a:rPr>
              <a:t>Contoh lag: user baru buat order, lalu riwayat order dibaca dari replica dan order-nya belum muncul.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Sharding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Sharding?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Memecah data satu tabel ke beberapa database berdasarkan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shard key</a:t>
            </a:r>
            <a:r>
              <a:rPr sz="1050" i="0" b="0">
                <a:solidFill>
                  <a:srgbClr val="434343"/>
                </a:solidFill>
                <a:latin typeface="Inter"/>
              </a:rPr>
              <a:t>, misalnya customer. Setiap shard menyimpan sebagian data dan menerima sebagian write.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Data dan write terlalu besar untuk satu server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Setiap shard lebih kecil, query lebih cepat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Risiko: query lintas shard, rebalancing, transaksi antar shard</a:t>
            </a:r>
          </a:p>
        </p:txBody>
      </p:sp>
      <p:sp>
        <p:nvSpPr>
          <p:cNvPr id="23" name="Box 4"/>
          <p:cNvSpPr/>
          <p:nvPr/>
        </p:nvSpPr>
        <p:spPr>
          <a:xfrm>
            <a:off x="4892040" y="1554480"/>
            <a:ext cx="3593592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FastAPI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6684264" y="1938528"/>
            <a:ext cx="0" cy="25603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4892040" y="2194560"/>
            <a:ext cx="3593592" cy="457200"/>
          </a:xfrm>
          <a:prstGeom prst="roundRect">
            <a:avLst>
              <a:gd name="adj" fmla="val 24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shard = hash(customer) % 3</a:t>
            </a:r>
          </a:p>
        </p:txBody>
      </p:sp>
      <p:cxnSp>
        <p:nvCxnSpPr>
          <p:cNvPr id="26" name="Arrow 7"/>
          <p:cNvCxnSpPr/>
          <p:nvPr/>
        </p:nvCxnSpPr>
        <p:spPr>
          <a:xfrm flipH="1">
            <a:off x="5458968" y="2651760"/>
            <a:ext cx="1225296" cy="3200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Box 8"/>
          <p:cNvSpPr/>
          <p:nvPr/>
        </p:nvSpPr>
        <p:spPr>
          <a:xfrm>
            <a:off x="4892040" y="2971800"/>
            <a:ext cx="1143000" cy="548640"/>
          </a:xfrm>
          <a:prstGeom prst="roundRect">
            <a:avLst>
              <a:gd name="adj" fmla="val 20000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Shard 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1/3 customer</a:t>
            </a:r>
          </a:p>
        </p:txBody>
      </p:sp>
      <p:cxnSp>
        <p:nvCxnSpPr>
          <p:cNvPr id="28" name="Arrow 9"/>
          <p:cNvCxnSpPr/>
          <p:nvPr/>
        </p:nvCxnSpPr>
        <p:spPr>
          <a:xfrm>
            <a:off x="6684264" y="2651760"/>
            <a:ext cx="0" cy="3200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6117336" y="2971800"/>
            <a:ext cx="1143000" cy="548640"/>
          </a:xfrm>
          <a:prstGeom prst="roundRect">
            <a:avLst>
              <a:gd name="adj" fmla="val 20000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Shard 1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1/3 customer</a:t>
            </a:r>
          </a:p>
        </p:txBody>
      </p:sp>
      <p:cxnSp>
        <p:nvCxnSpPr>
          <p:cNvPr id="30" name="Arrow 11"/>
          <p:cNvCxnSpPr/>
          <p:nvPr/>
        </p:nvCxnSpPr>
        <p:spPr>
          <a:xfrm>
            <a:off x="6684264" y="2651760"/>
            <a:ext cx="1225295" cy="3200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x 12"/>
          <p:cNvSpPr/>
          <p:nvPr/>
        </p:nvSpPr>
        <p:spPr>
          <a:xfrm>
            <a:off x="7342631" y="2971800"/>
            <a:ext cx="1143000" cy="548640"/>
          </a:xfrm>
          <a:prstGeom prst="roundRect">
            <a:avLst>
              <a:gd name="adj" fmla="val 20000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Shard 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1/3 customer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4892040" y="3703320"/>
            <a:ext cx="359359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7A7A7A"/>
                </a:solidFill>
                <a:latin typeface="Inter"/>
              </a:rPr>
              <a:t>Report semua customer harus bertanya ke 3 shard lalu digabung di aplikasi.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Trade-off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Kapan Replication atau Sharding?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554480"/>
          <a:ext cx="7863840" cy="2743200"/>
        </p:xfrm>
        <a:graphic>
          <a:graphicData uri="http://schemas.openxmlformats.org/drawingml/2006/table">
            <a:tbl>
              <a:tblPr firstRow="1" bandRow="1"/>
              <a:tblGrid>
                <a:gridCol w="1828800"/>
                <a:gridCol w="2194560"/>
                <a:gridCol w="1737360"/>
                <a:gridCol w="210312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Masalah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Coba dulu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Lalu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Risiko yang ditambah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Query lambat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EXPLAIN ANALYZE, index, perbaiki N+1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Query tuning, pagination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Hampir tidak ada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Read sangat tinggi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Cache (Sesi 6)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Read replica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Replica lag, data bisa tertinggal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Satu tabel terlalu besar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Hapus/arsipkan data lama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Partitioning di satu 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Query harus menyertakan partition key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Write terlalu besar untuk satu server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Upgrade server (vertical scaling)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Sharding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Query lintas shard, rebalancing, operasional berat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4343400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7A7A7A"/>
                </a:solidFill>
                <a:latin typeface="Inter"/>
              </a:rPr>
              <a:t>Makin ke bawah, makin mahal dan rumit. Kebanyakan aplikasi cukup sampai index dan read replica.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Hands-on  ·  mulai dari 07-query-optimization/before/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Profiling &amp; Optimasi Query PostgreSQL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36192"/>
            <a:ext cx="4160520" cy="3127248"/>
          </a:xfrm>
          <a:prstGeom prst="roundRect">
            <a:avLst>
              <a:gd name="adj" fmla="val 350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Text 4"/>
          <p:cNvSpPr txBox="1"/>
          <p:nvPr/>
        </p:nvSpPr>
        <p:spPr>
          <a:xfrm>
            <a:off x="758952" y="1627632"/>
            <a:ext cx="388620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i="0" b="1">
                <a:solidFill>
                  <a:srgbClr val="1C4587"/>
                </a:solidFill>
                <a:latin typeface="Inter"/>
              </a:rPr>
              <a:t>Kriteria selesai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47672"/>
            <a:ext cx="3886200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Aplikasi memakai PostgreSQL, connection pool diatur lewat config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B5482A"/>
                </a:solidFill>
                <a:latin typeface="Consolas"/>
              </a:rPr>
              <a:t>profile_queries.py</a:t>
            </a:r>
            <a:r>
              <a:rPr sz="950" i="0" b="0">
                <a:solidFill>
                  <a:srgbClr val="434343"/>
                </a:solidFill>
                <a:latin typeface="Inter"/>
              </a:rPr>
              <a:t> di before/ dan after/, hasilnya dibandingkan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Report penjualan dihitung di database dengan satu query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Index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order_lines (order_id)</a:t>
            </a:r>
            <a:r>
              <a:rPr sz="950" i="0" b="0">
                <a:solidFill>
                  <a:srgbClr val="434343"/>
                </a:solidFill>
                <a:latin typeface="Inter"/>
              </a:rPr>
              <a:t> dan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orders (customer, id)</a:t>
            </a:r>
            <a:r>
              <a:rPr sz="950" i="0" b="0">
                <a:solidFill>
                  <a:srgbClr val="434343"/>
                </a:solidFill>
                <a:latin typeface="Inter"/>
              </a:rPr>
              <a:t>, dicek dengan EXPLAIN ANALYZE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B5482A"/>
                </a:solidFill>
                <a:latin typeface="Consolas"/>
              </a:rPr>
              <a:t>GET /orders?customer=</a:t>
            </a:r>
            <a:r>
              <a:rPr sz="950" i="0" b="0">
                <a:solidFill>
                  <a:srgbClr val="434343"/>
                </a:solidFill>
                <a:latin typeface="Inter"/>
              </a:rPr>
              <a:t> dengan keyset pagination dan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selectinload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B5482A"/>
                </a:solidFill>
                <a:latin typeface="Consolas"/>
              </a:rPr>
              <a:t>pytest</a:t>
            </a:r>
            <a:r>
              <a:rPr sz="950" i="0" b="0">
                <a:solidFill>
                  <a:srgbClr val="434343"/>
                </a:solidFill>
                <a:latin typeface="Inter"/>
              </a:rPr>
              <a:t> hijau, termasuk test jumlah query</a:t>
            </a:r>
          </a:p>
        </p:txBody>
      </p:sp>
      <p:sp>
        <p:nvSpPr>
          <p:cNvPr id="25" name="CodeTab 7"/>
          <p:cNvSpPr/>
          <p:nvPr/>
        </p:nvSpPr>
        <p:spPr>
          <a:xfrm>
            <a:off x="4937760" y="1536192"/>
            <a:ext cx="354787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Dot 8"/>
          <p:cNvSpPr/>
          <p:nvPr/>
        </p:nvSpPr>
        <p:spPr>
          <a:xfrm>
            <a:off x="504748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t 9"/>
          <p:cNvSpPr/>
          <p:nvPr/>
        </p:nvSpPr>
        <p:spPr>
          <a:xfrm>
            <a:off x="518464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t 10"/>
          <p:cNvSpPr/>
          <p:nvPr/>
        </p:nvSpPr>
        <p:spPr>
          <a:xfrm>
            <a:off x="532180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 11"/>
          <p:cNvSpPr txBox="1"/>
          <p:nvPr/>
        </p:nvSpPr>
        <p:spPr>
          <a:xfrm>
            <a:off x="5486400" y="1545336"/>
            <a:ext cx="2907791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target struktur</a:t>
            </a:r>
          </a:p>
        </p:txBody>
      </p:sp>
      <p:sp>
        <p:nvSpPr>
          <p:cNvPr id="30" name="CodeBg 13"/>
          <p:cNvSpPr/>
          <p:nvPr/>
        </p:nvSpPr>
        <p:spPr>
          <a:xfrm>
            <a:off x="4937760" y="1773936"/>
            <a:ext cx="3547872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Code 14"/>
          <p:cNvSpPr txBox="1"/>
          <p:nvPr/>
        </p:nvSpPr>
        <p:spPr>
          <a:xfrm>
            <a:off x="4937760" y="1773936"/>
            <a:ext cx="3547872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after/app/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application/     ports.py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order_service.py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report_service.py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infrastructure/  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database.py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models.py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repositories.py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api/             schemas.py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routers/orders.py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after/seed.py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after/profile_queries.py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after/tests/       test_query_performance.py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Penutup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Rangkuman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Text 4"/>
          <p:cNvSpPr txBox="1"/>
          <p:nvPr/>
        </p:nvSpPr>
        <p:spPr>
          <a:xfrm>
            <a:off x="758952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EXPLAIN ANALYZE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Cari penyebab query lambat dari execution plan, bukan menebak</a:t>
            </a:r>
          </a:p>
        </p:txBody>
      </p:sp>
      <p:sp>
        <p:nvSpPr>
          <p:cNvPr id="25" name="Box 6"/>
          <p:cNvSpPr/>
          <p:nvPr/>
        </p:nvSpPr>
        <p:spPr>
          <a:xfrm>
            <a:off x="3291840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Text 7"/>
          <p:cNvSpPr txBox="1"/>
          <p:nvPr/>
        </p:nvSpPr>
        <p:spPr>
          <a:xfrm>
            <a:off x="3429000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Index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3429000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Sesuai WHERE dan ORDER BY, jangan lupa foreign key</a:t>
            </a:r>
          </a:p>
        </p:txBody>
      </p:sp>
      <p:sp>
        <p:nvSpPr>
          <p:cNvPr id="28" name="Box 9"/>
          <p:cNvSpPr/>
          <p:nvPr/>
        </p:nvSpPr>
        <p:spPr>
          <a:xfrm>
            <a:off x="5961888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9" name="Text 10"/>
          <p:cNvSpPr txBox="1"/>
          <p:nvPr/>
        </p:nvSpPr>
        <p:spPr>
          <a:xfrm>
            <a:off x="6099048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N+1 Query</a:t>
            </a:r>
          </a:p>
        </p:txBody>
      </p:sp>
      <p:sp>
        <p:nvSpPr>
          <p:cNvPr id="30" name="Text 11"/>
          <p:cNvSpPr txBox="1"/>
          <p:nvPr/>
        </p:nvSpPr>
        <p:spPr>
          <a:xfrm>
            <a:off x="6099048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Hitung jumlah query, pakai selectinload</a:t>
            </a:r>
          </a:p>
        </p:txBody>
      </p:sp>
      <p:sp>
        <p:nvSpPr>
          <p:cNvPr id="31" name="Box 12"/>
          <p:cNvSpPr/>
          <p:nvPr/>
        </p:nvSpPr>
        <p:spPr>
          <a:xfrm>
            <a:off x="621792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2" name="Text 13"/>
          <p:cNvSpPr txBox="1"/>
          <p:nvPr/>
        </p:nvSpPr>
        <p:spPr>
          <a:xfrm>
            <a:off x="758952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Pagination &amp; Pool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758952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Keyset untuk data besar, koneksi dipakai ulang</a:t>
            </a:r>
          </a:p>
        </p:txBody>
      </p:sp>
      <p:sp>
        <p:nvSpPr>
          <p:cNvPr id="34" name="Box 15"/>
          <p:cNvSpPr/>
          <p:nvPr/>
        </p:nvSpPr>
        <p:spPr>
          <a:xfrm>
            <a:off x="3291840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5" name="Text 16"/>
          <p:cNvSpPr txBox="1"/>
          <p:nvPr/>
        </p:nvSpPr>
        <p:spPr>
          <a:xfrm>
            <a:off x="3429000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Query Tuning</a:t>
            </a:r>
          </a:p>
        </p:txBody>
      </p:sp>
      <p:sp>
        <p:nvSpPr>
          <p:cNvPr id="36" name="Text 17"/>
          <p:cNvSpPr txBox="1"/>
          <p:nvPr/>
        </p:nvSpPr>
        <p:spPr>
          <a:xfrm>
            <a:off x="3429000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Agregasi di database, ambil kolom yang dibutuhkan saja</a:t>
            </a:r>
          </a:p>
        </p:txBody>
      </p:sp>
      <p:sp>
        <p:nvSpPr>
          <p:cNvPr id="37" name="Box 18"/>
          <p:cNvSpPr/>
          <p:nvPr/>
        </p:nvSpPr>
        <p:spPr>
          <a:xfrm>
            <a:off x="5961888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8" name="Text 19"/>
          <p:cNvSpPr txBox="1"/>
          <p:nvPr/>
        </p:nvSpPr>
        <p:spPr>
          <a:xfrm>
            <a:off x="6099048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Replication &amp; Sharding</a:t>
            </a:r>
          </a:p>
        </p:txBody>
      </p:sp>
      <p:sp>
        <p:nvSpPr>
          <p:cNvPr id="39" name="Text 20"/>
          <p:cNvSpPr txBox="1"/>
          <p:nvPr/>
        </p:nvSpPr>
        <p:spPr>
          <a:xfrm>
            <a:off x="6099048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Read replica untuk read tinggi, sharding paling terakhir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g2907dbd8723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43401" y="4399825"/>
            <a:ext cx="244986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907dbd8723_0_0"/>
          <p:cNvSpPr txBox="1"/>
          <p:nvPr/>
        </p:nvSpPr>
        <p:spPr>
          <a:xfrm>
            <a:off x="843350" y="1097280"/>
            <a:ext cx="4977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0" i="0" lang="en" sz="3000" u="none" cap="none" strike="noStrike">
                <a:solidFill>
                  <a:srgbClr val="FFFFFF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Source Code</a:t>
            </a:r>
            <a:endParaRPr b="0" i="0" sz="3000" u="none" cap="none" strike="noStrike">
              <a:solidFill>
                <a:srgbClr val="FFFFFF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255" name="Google Shape;255;g2907dbd8723_0_0"/>
          <p:cNvSpPr txBox="1"/>
          <p:nvPr/>
        </p:nvSpPr>
        <p:spPr>
          <a:xfrm>
            <a:off x="1230650" y="1934520"/>
            <a:ext cx="192024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Sesi 7</a:t>
            </a:r>
            <a:endParaRPr b="0" i="1" sz="15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6" name="Google Shape;256;g2907dbd8723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7" name="Google Shape;257;g2907dbd872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54775" y="4399825"/>
            <a:ext cx="284713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g2907dbd8723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05899" y="4399825"/>
            <a:ext cx="198637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g2907dbd8723_0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8695" y="4399825"/>
            <a:ext cx="20194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g2907dbd8723_0_0"/>
          <p:cNvSpPr txBox="1"/>
          <p:nvPr/>
        </p:nvSpPr>
        <p:spPr>
          <a:xfrm>
            <a:off x="123065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2907dbd8723_0_0"/>
          <p:cNvSpPr txBox="1"/>
          <p:nvPr/>
        </p:nvSpPr>
        <p:spPr>
          <a:xfrm>
            <a:off x="3088375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g2907dbd8723_0_0"/>
          <p:cNvSpPr txBox="1"/>
          <p:nvPr/>
        </p:nvSpPr>
        <p:spPr>
          <a:xfrm>
            <a:off x="494610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2907dbd8723_0_0"/>
          <p:cNvSpPr txBox="1"/>
          <p:nvPr/>
        </p:nvSpPr>
        <p:spPr>
          <a:xfrm>
            <a:off x="6704525" y="4338875"/>
            <a:ext cx="1423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 Indonesia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" name="Google Shape;264;g2907dbd8723_0_0"/>
          <p:cNvCxnSpPr/>
          <p:nvPr/>
        </p:nvCxnSpPr>
        <p:spPr>
          <a:xfrm>
            <a:off x="3063240" y="2160270"/>
            <a:ext cx="914400" cy="9600"/>
          </a:xfrm>
          <a:prstGeom prst="straightConnector1">
            <a:avLst/>
          </a:prstGeom>
          <a:noFill/>
          <a:ln cap="flat" cmpd="sng" w="19050">
            <a:solidFill>
              <a:srgbClr val="FFF5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g2907dbd8723_0_0">
            <a:hlinkClick r:id="rId7"/>
          </p:cNvPr>
          <p:cNvSpPr txBox="1"/>
          <p:nvPr/>
        </p:nvSpPr>
        <p:spPr>
          <a:xfrm>
            <a:off x="4206240" y="1934520"/>
            <a:ext cx="402336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1" lang="en" sz="12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github.com/bagusedghar/fastapi-intermediate</a:t>
            </a:r>
            <a:endParaRPr b="0" i="1" sz="1500" u="sng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