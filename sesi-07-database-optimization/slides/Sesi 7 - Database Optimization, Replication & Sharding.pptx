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74"/>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276" r:id="rId73"/>
  </p:sldIdLst>
  <p:sldSz cx="9144000" cy="5143500" type="screen16x9"/>
  <p:notesSz cx="6858000" cy="9144000"/>
  <p:embeddedFontLst>
    <p:embeddedFont>
      <p:font typeface="Inconsolata" pitchFamily="1" charset="0"/>
      <p:regular r:id="rId75"/>
      <p:bold r:id="rId76"/>
    </p:embeddedFont>
    <p:embeddedFont>
      <p:font typeface="Inter" panose="02000503000000020004" pitchFamily="2" charset="0"/>
      <p:regular r:id="rId77"/>
      <p:bold r:id="rId78"/>
      <p:italic r:id="rId79"/>
      <p:boldItalic r:id="rId80"/>
    </p:embeddedFont>
    <p:embeddedFont>
      <p:font typeface="Work Sans ExtraBold" pitchFamily="2" charset="0"/>
      <p:bold r:id="rId81"/>
    </p:embeddedFont>
    <p:embeddedFont>
      <p:font typeface="Work Sans Medium" pitchFamily="2" charset="0"/>
      <p:regular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6.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8" Type="http://schemas.openxmlformats.org/officeDocument/2006/relationships/hyperlink" Target="https://github.com/bagusedghar/fastapi-intermediate/tree/main/sesi-07-database-optimization" TargetMode="External"/><Relationship Id="rId3" Type="http://schemas.openxmlformats.org/officeDocument/2006/relationships/image" Target="../media/image29.png"/><Relationship Id="rId7" Type="http://schemas.openxmlformats.org/officeDocument/2006/relationships/hyperlink" Target="https://colab.research.google.com/github/FTDS-learning-materials/phase-2/blob/master/w2/P2W2D1PM%20-%20Data%20Ethics%20&amp;%20Data%20Validation.ipynb"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Database Optimization, Replication &amp; Sharding</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7</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SQL/ORM Optimization</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12</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Pagination, Connection Pool &amp; Query Tuning</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33</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Replication &amp; Sharding</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52</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Profiling &amp; Optimasi Query</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Execution plan</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Menggunakan execution plan untuk mengidentifikasi slow query, N+1, dan kebutuhan indexing.</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Query optimization</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Melakukan query optimization dan membandingkan metrik performa sebelum dan sesudah perbaikan.</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Replication &amp; sharding</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Menjelaskan kapan replication atau sharding relevan, termasuk risiko consistency dan operational complexity.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7 (Database Optimization): postgreSQL, index, tanpa N+1, pagination.</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  (sesi ini)</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Fitur Database, Library, dan Pattern di Sesi Ini</a:t>
            </a:r>
          </a:p>
        </p:txBody>
      </p:sp>
      <p:graphicFrame>
        <p:nvGraphicFramePr>
          <p:cNvPr id="22" name="Table 3"/>
          <p:cNvGraphicFramePr>
            <a:graphicFrameLocks noGrp="1"/>
          </p:cNvGraphicFramePr>
          <p:nvPr/>
        </p:nvGraphicFramePr>
        <p:xfrm>
          <a:off x="621792" y="1481328"/>
          <a:ext cx="7863840" cy="26670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329184">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Disediakan oleh</a:t>
                      </a:r>
                    </a:p>
                  </a:txBody>
                  <a:tcPr marL="73152" marR="73152" marT="36576" marB="36576" anchor="ctr">
                    <a:solidFill>
                      <a:srgbClr val="1C4587"/>
                    </a:solidFill>
                  </a:tcPr>
                </a:tc>
                <a:extLst>
                  <a:ext uri="{0D108BD9-81ED-4DB2-BD59-A6C34878D82A}">
                    <a16:rowId xmlns:a16="http://schemas.microsoft.com/office/drawing/2014/main" val="10000"/>
                  </a:ext>
                </a:extLst>
              </a:tr>
              <a:tr h="329184">
                <a:tc>
                  <a:txBody>
                    <a:bodyPr/>
                    <a:lstStyle/>
                    <a:p>
                      <a:pPr algn="l">
                        <a:lnSpc>
                          <a:spcPct val="100000"/>
                        </a:lnSpc>
                        <a:spcAft>
                          <a:spcPts val="0"/>
                        </a:spcAft>
                      </a:pPr>
                      <a:r>
                        <a:rPr sz="950" b="1" i="0">
                          <a:solidFill>
                            <a:srgbClr val="1C4587"/>
                          </a:solidFill>
                          <a:latin typeface="Inter"/>
                        </a:rPr>
                        <a:t>EXPLAIN ANALYZE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database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PostgreSQL: menampilkan execution plan sebuah query</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gn="l">
                        <a:lnSpc>
                          <a:spcPct val="100000"/>
                        </a:lnSpc>
                        <a:spcAft>
                          <a:spcPts val="0"/>
                        </a:spcAft>
                      </a:pPr>
                      <a:r>
                        <a:rPr sz="950" b="1" i="0">
                          <a:solidFill>
                            <a:srgbClr val="1C4587"/>
                          </a:solidFill>
                          <a:latin typeface="Inter"/>
                        </a:rPr>
                        <a:t>Index</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database</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PostgreSQL: CREATE INDEX, atau index=True di model SQLAlchemy</a:t>
                      </a:r>
                    </a:p>
                  </a:txBody>
                  <a:tcPr marL="73152" marR="73152" marT="36576" marB="36576" anchor="ctr">
                    <a:solidFill>
                      <a:srgbClr val="F3F4F6"/>
                    </a:solidFill>
                  </a:tcPr>
                </a:tc>
                <a:extLst>
                  <a:ext uri="{0D108BD9-81ED-4DB2-BD59-A6C34878D82A}">
                    <a16:rowId xmlns:a16="http://schemas.microsoft.com/office/drawing/2014/main" val="10002"/>
                  </a:ext>
                </a:extLst>
              </a:tr>
              <a:tr h="329184">
                <a:tc>
                  <a:txBody>
                    <a:bodyPr/>
                    <a:lstStyle/>
                    <a:p>
                      <a:pPr algn="l">
                        <a:lnSpc>
                          <a:spcPct val="100000"/>
                        </a:lnSpc>
                        <a:spcAft>
                          <a:spcPts val="0"/>
                        </a:spcAft>
                      </a:pPr>
                      <a:r>
                        <a:rPr sz="950" b="1" i="0">
                          <a:solidFill>
                            <a:srgbClr val="1C4587"/>
                          </a:solidFill>
                          <a:latin typeface="Inter"/>
                        </a:rPr>
                        <a:t>N+1 query dan selectinload</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SQLAlchemy: cara memuat relationship</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gn="l">
                        <a:lnSpc>
                          <a:spcPct val="100000"/>
                        </a:lnSpc>
                        <a:spcAft>
                          <a:spcPts val="0"/>
                        </a:spcAft>
                      </a:pPr>
                      <a:r>
                        <a:rPr sz="950" b="1" i="0">
                          <a:solidFill>
                            <a:srgbClr val="1C4587"/>
                          </a:solidFill>
                          <a:latin typeface="Inter"/>
                        </a:rPr>
                        <a:t>Keyset pagination</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Pola query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Ditulis sendiri: WHERE id &lt; :after ORDER BY id DESC</a:t>
                      </a:r>
                    </a:p>
                  </a:txBody>
                  <a:tcPr marL="73152" marR="73152" marT="36576" marB="36576" anchor="ctr">
                    <a:solidFill>
                      <a:srgbClr val="F3F4F6"/>
                    </a:solidFill>
                  </a:tcPr>
                </a:tc>
                <a:extLst>
                  <a:ext uri="{0D108BD9-81ED-4DB2-BD59-A6C34878D82A}">
                    <a16:rowId xmlns:a16="http://schemas.microsoft.com/office/drawing/2014/main" val="10004"/>
                  </a:ext>
                </a:extLst>
              </a:tr>
              <a:tr h="329184">
                <a:tc>
                  <a:txBody>
                    <a:bodyPr/>
                    <a:lstStyle/>
                    <a:p>
                      <a:pPr algn="l">
                        <a:lnSpc>
                          <a:spcPct val="100000"/>
                        </a:lnSpc>
                        <a:spcAft>
                          <a:spcPts val="0"/>
                        </a:spcAft>
                      </a:pPr>
                      <a:r>
                        <a:rPr sz="950" b="1" i="0">
                          <a:solidFill>
                            <a:srgbClr val="1C4587"/>
                          </a:solidFill>
                          <a:latin typeface="Inter"/>
                        </a:rPr>
                        <a:t>Connection pool</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SQLAlchemy: QueuePool, diatur lewat create_engine()</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gn="l">
                        <a:lnSpc>
                          <a:spcPct val="100000"/>
                        </a:lnSpc>
                        <a:spcAft>
                          <a:spcPts val="0"/>
                        </a:spcAft>
                      </a:pPr>
                      <a:r>
                        <a:rPr sz="950" b="1" i="0">
                          <a:solidFill>
                            <a:srgbClr val="1C4587"/>
                          </a:solidFill>
                          <a:latin typeface="Inter"/>
                        </a:rPr>
                        <a:t>Query tuning (GROUP BY)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SQL</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Agregasi dihitung di database, bukan di Python</a:t>
                      </a:r>
                    </a:p>
                  </a:txBody>
                  <a:tcPr marL="73152" marR="73152" marT="36576" marB="36576" anchor="ctr">
                    <a:solidFill>
                      <a:srgbClr val="F3F4F6"/>
                    </a:solidFill>
                  </a:tcPr>
                </a:tc>
                <a:extLst>
                  <a:ext uri="{0D108BD9-81ED-4DB2-BD59-A6C34878D82A}">
                    <a16:rowId xmlns:a16="http://schemas.microsoft.com/office/drawing/2014/main" val="10006"/>
                  </a:ext>
                </a:extLst>
              </a:tr>
              <a:tr h="329184">
                <a:tc>
                  <a:txBody>
                    <a:bodyPr/>
                    <a:lstStyle/>
                    <a:p>
                      <a:pPr algn="l">
                        <a:lnSpc>
                          <a:spcPct val="100000"/>
                        </a:lnSpc>
                        <a:spcAft>
                          <a:spcPts val="0"/>
                        </a:spcAft>
                      </a:pPr>
                      <a:r>
                        <a:rPr sz="950" b="1" i="0">
                          <a:solidFill>
                            <a:srgbClr val="1C4587"/>
                          </a:solidFill>
                          <a:latin typeface="Inter"/>
                        </a:rPr>
                        <a:t>Replication dan sharding</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Arsitektur database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Diatur di server database, bukan di kode aplikasi</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23" name="Text 4"/>
          <p:cNvSpPr txBox="1"/>
          <p:nvPr/>
        </p:nvSpPr>
        <p:spPr>
          <a:xfrm>
            <a:off x="621792" y="4526280"/>
            <a:ext cx="7863840" cy="247568"/>
          </a:xfrm>
          <a:prstGeom prst="rect">
            <a:avLst/>
          </a:prstGeom>
          <a:noFill/>
        </p:spPr>
        <p:txBody>
          <a:bodyPr wrap="square" lIns="45720" rIns="45720" anchor="t">
            <a:spAutoFit/>
          </a:bodyPr>
          <a:lstStyle/>
          <a:p>
            <a:pPr algn="l">
              <a:lnSpc>
                <a:spcPct val="115000"/>
              </a:lnSpc>
              <a:spcAft>
                <a:spcPts val="400"/>
              </a:spcAft>
            </a:pPr>
            <a:r>
              <a:rPr sz="950" b="0" i="0" dirty="0">
                <a:solidFill>
                  <a:srgbClr val="1C4587"/>
                </a:solidFill>
                <a:latin typeface="Inter"/>
              </a:rPr>
              <a:t>Bagian 1 dan 2 </a:t>
            </a:r>
            <a:r>
              <a:rPr sz="950" b="0" i="0" dirty="0" err="1">
                <a:solidFill>
                  <a:srgbClr val="1C4587"/>
                </a:solidFill>
                <a:latin typeface="Inter"/>
              </a:rPr>
              <a:t>membuat</a:t>
            </a:r>
            <a:r>
              <a:rPr sz="950" b="0" i="0" dirty="0">
                <a:solidFill>
                  <a:srgbClr val="1C4587"/>
                </a:solidFill>
                <a:latin typeface="Inter"/>
              </a:rPr>
              <a:t> query </a:t>
            </a:r>
            <a:r>
              <a:rPr lang="en-US" sz="950" b="0" i="0" dirty="0" err="1">
                <a:solidFill>
                  <a:srgbClr val="1C4587"/>
                </a:solidFill>
                <a:latin typeface="Inter"/>
              </a:rPr>
              <a:t>lebih</a:t>
            </a:r>
            <a:r>
              <a:rPr lang="en-US" sz="950" b="0" i="0" dirty="0">
                <a:solidFill>
                  <a:srgbClr val="1C4587"/>
                </a:solidFill>
                <a:latin typeface="Inter"/>
              </a:rPr>
              <a:t> </a:t>
            </a:r>
            <a:r>
              <a:rPr sz="950" b="0" i="0" dirty="0" err="1">
                <a:solidFill>
                  <a:srgbClr val="1C4587"/>
                </a:solidFill>
                <a:latin typeface="Inter"/>
              </a:rPr>
              <a:t>cepat</a:t>
            </a:r>
            <a:r>
              <a:rPr sz="950" b="0" i="0" dirty="0">
                <a:solidFill>
                  <a:srgbClr val="1C4587"/>
                </a:solidFill>
                <a:latin typeface="Inter"/>
              </a:rPr>
              <a:t> di </a:t>
            </a:r>
            <a:r>
              <a:rPr sz="950" b="0" i="0" dirty="0" err="1">
                <a:solidFill>
                  <a:srgbClr val="1C4587"/>
                </a:solidFill>
                <a:latin typeface="Inter"/>
              </a:rPr>
              <a:t>satu</a:t>
            </a:r>
            <a:r>
              <a:rPr sz="950" b="0" i="0" dirty="0">
                <a:solidFill>
                  <a:srgbClr val="1C4587"/>
                </a:solidFill>
                <a:latin typeface="Inter"/>
              </a:rPr>
              <a:t> database. Bagian 3 </a:t>
            </a:r>
            <a:r>
              <a:rPr sz="950" b="0" i="0" dirty="0" err="1">
                <a:solidFill>
                  <a:srgbClr val="1C4587"/>
                </a:solidFill>
                <a:latin typeface="Inter"/>
              </a:rPr>
              <a:t>membahas</a:t>
            </a:r>
            <a:r>
              <a:rPr sz="950" b="0" i="0" dirty="0">
                <a:solidFill>
                  <a:srgbClr val="1C4587"/>
                </a:solidFill>
                <a:latin typeface="Inter"/>
              </a:rPr>
              <a:t> </a:t>
            </a:r>
            <a:r>
              <a:rPr sz="950" b="0" i="0" dirty="0" err="1">
                <a:solidFill>
                  <a:srgbClr val="1C4587"/>
                </a:solidFill>
                <a:latin typeface="Inter"/>
              </a:rPr>
              <a:t>pilihan</a:t>
            </a:r>
            <a:r>
              <a:rPr sz="950" b="0" i="0" dirty="0">
                <a:solidFill>
                  <a:srgbClr val="1C4587"/>
                </a:solidFill>
                <a:latin typeface="Inter"/>
              </a:rPr>
              <a:t> </a:t>
            </a:r>
            <a:r>
              <a:rPr sz="950" b="0" i="0" dirty="0" err="1">
                <a:solidFill>
                  <a:srgbClr val="1C4587"/>
                </a:solidFill>
                <a:latin typeface="Inter"/>
              </a:rPr>
              <a:t>saat</a:t>
            </a:r>
            <a:r>
              <a:rPr sz="950" b="0" i="0" dirty="0">
                <a:solidFill>
                  <a:srgbClr val="1C4587"/>
                </a:solidFill>
                <a:latin typeface="Inter"/>
              </a:rPr>
              <a:t> </a:t>
            </a:r>
            <a:r>
              <a:rPr sz="950" b="0" i="0" dirty="0" err="1">
                <a:solidFill>
                  <a:srgbClr val="1C4587"/>
                </a:solidFill>
                <a:latin typeface="Inter"/>
              </a:rPr>
              <a:t>satu</a:t>
            </a:r>
            <a:r>
              <a:rPr sz="950" b="0" i="0" dirty="0">
                <a:solidFill>
                  <a:srgbClr val="1C4587"/>
                </a:solidFill>
                <a:latin typeface="Inter"/>
              </a:rPr>
              <a:t> database </a:t>
            </a:r>
            <a:r>
              <a:rPr sz="950" b="0" i="0" dirty="0" err="1">
                <a:solidFill>
                  <a:srgbClr val="1C4587"/>
                </a:solidFill>
                <a:latin typeface="Inter"/>
              </a:rPr>
              <a:t>tidak</a:t>
            </a:r>
            <a:r>
              <a:rPr sz="950" b="0" i="0" dirty="0">
                <a:solidFill>
                  <a:srgbClr val="1C4587"/>
                </a:solidFill>
                <a:latin typeface="Inter"/>
              </a:rPr>
              <a:t> </a:t>
            </a:r>
            <a:r>
              <a:rPr sz="950" b="0" i="0" dirty="0" err="1">
                <a:solidFill>
                  <a:srgbClr val="1C4587"/>
                </a:solidFill>
                <a:latin typeface="Inter"/>
              </a:rPr>
              <a:t>cukup</a:t>
            </a:r>
            <a:r>
              <a:rPr sz="950" b="0" i="0" dirty="0">
                <a:solidFill>
                  <a:srgbClr val="1C4587"/>
                </a:solidFill>
                <a:latin typeface="Inter"/>
              </a:rPr>
              <a:t> </a:t>
            </a:r>
            <a:r>
              <a:rPr sz="950" b="0" i="0" dirty="0" err="1">
                <a:solidFill>
                  <a:srgbClr val="1C4587"/>
                </a:solidFill>
                <a:latin typeface="Inter"/>
              </a:rPr>
              <a:t>lagi</a:t>
            </a:r>
            <a:r>
              <a:rPr sz="950" b="0" i="0" dirty="0">
                <a:solidFill>
                  <a:srgbClr val="1C4587"/>
                </a:solidFill>
                <a:latin typeface="Inter"/>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530338"/>
          </a:xfrm>
          <a:prstGeom prst="rect">
            <a:avLst/>
          </a:prstGeom>
          <a:noFill/>
        </p:spPr>
        <p:txBody>
          <a:bodyPr wrap="square" tIns="91440" bIns="91440" anchor="t">
            <a:spAutoFit/>
          </a:bodyPr>
          <a:lstStyle/>
          <a:p>
            <a:pPr algn="l">
              <a:lnSpc>
                <a:spcPct val="115000"/>
              </a:lnSpc>
              <a:spcAft>
                <a:spcPts val="400"/>
              </a:spcAft>
            </a:pPr>
            <a:r>
              <a:rPr sz="2100" b="0" i="0" dirty="0">
                <a:solidFill>
                  <a:srgbClr val="1C4587"/>
                </a:solidFill>
                <a:latin typeface="Work Sans ExtraBold"/>
              </a:rPr>
              <a:t>Data</a:t>
            </a:r>
            <a:r>
              <a:rPr lang="en-US" sz="2100" b="0" i="0" dirty="0">
                <a:solidFill>
                  <a:srgbClr val="1C4587"/>
                </a:solidFill>
                <a:latin typeface="Work Sans ExtraBold"/>
              </a:rPr>
              <a:t> Dummy</a:t>
            </a:r>
            <a:endParaRPr sz="2100" b="0" i="0" dirty="0">
              <a:solidFill>
                <a:srgbClr val="1C4587"/>
              </a:solidFill>
              <a:latin typeface="Work Sans ExtraBold"/>
            </a:endParaRPr>
          </a:p>
        </p:txBody>
      </p:sp>
      <p:sp>
        <p:nvSpPr>
          <p:cNvPr id="22" name="Text 3"/>
          <p:cNvSpPr txBox="1"/>
          <p:nvPr/>
        </p:nvSpPr>
        <p:spPr>
          <a:xfrm>
            <a:off x="621792" y="1481328"/>
            <a:ext cx="4114800" cy="1712841"/>
          </a:xfrm>
          <a:prstGeom prst="rect">
            <a:avLst/>
          </a:prstGeom>
          <a:noFill/>
        </p:spPr>
        <p:txBody>
          <a:bodyPr wrap="square" lIns="45720" rIns="45720" anchor="t">
            <a:spAutoFit/>
          </a:bodyPr>
          <a:lstStyle/>
          <a:p>
            <a:pPr algn="l">
              <a:lnSpc>
                <a:spcPct val="115000"/>
              </a:lnSpc>
              <a:spcAft>
                <a:spcPts val="400"/>
              </a:spcAft>
            </a:pPr>
            <a:r>
              <a:rPr sz="1050" b="1" i="0" dirty="0">
                <a:solidFill>
                  <a:srgbClr val="1C4587"/>
                </a:solidFill>
                <a:latin typeface="Inter"/>
              </a:rPr>
              <a:t>Data dummy </a:t>
            </a:r>
            <a:r>
              <a:rPr sz="1050" b="1" i="0" dirty="0" err="1">
                <a:solidFill>
                  <a:srgbClr val="1C4587"/>
                </a:solidFill>
                <a:latin typeface="Inter"/>
              </a:rPr>
              <a:t>adalah</a:t>
            </a:r>
            <a:endParaRPr sz="1050" b="1" i="0" dirty="0">
              <a:solidFill>
                <a:srgbClr val="1C4587"/>
              </a:solidFill>
              <a:latin typeface="Inter"/>
            </a:endParaRPr>
          </a:p>
          <a:p>
            <a:pPr algn="l">
              <a:lnSpc>
                <a:spcPct val="115000"/>
              </a:lnSpc>
              <a:spcAft>
                <a:spcPts val="400"/>
              </a:spcAft>
            </a:pPr>
            <a:r>
              <a:rPr sz="950" b="0" i="0" dirty="0">
                <a:solidFill>
                  <a:srgbClr val="434343"/>
                </a:solidFill>
                <a:latin typeface="Inter"/>
              </a:rPr>
              <a:t>Data </a:t>
            </a:r>
            <a:r>
              <a:rPr sz="950" b="0" i="0" dirty="0" err="1">
                <a:solidFill>
                  <a:srgbClr val="434343"/>
                </a:solidFill>
                <a:latin typeface="Inter"/>
              </a:rPr>
              <a:t>palsu</a:t>
            </a:r>
            <a:r>
              <a:rPr sz="950" b="0" i="0" dirty="0">
                <a:solidFill>
                  <a:srgbClr val="434343"/>
                </a:solidFill>
                <a:latin typeface="Inter"/>
              </a:rPr>
              <a:t> yang </a:t>
            </a:r>
            <a:r>
              <a:rPr sz="950" b="0" i="0" dirty="0" err="1">
                <a:solidFill>
                  <a:srgbClr val="434343"/>
                </a:solidFill>
                <a:latin typeface="Inter"/>
              </a:rPr>
              <a:t>dibuat</a:t>
            </a:r>
            <a:r>
              <a:rPr sz="950" b="0" i="0" dirty="0">
                <a:solidFill>
                  <a:srgbClr val="434343"/>
                </a:solidFill>
                <a:latin typeface="Inter"/>
              </a:rPr>
              <a:t> </a:t>
            </a:r>
            <a:r>
              <a:rPr sz="950" b="0" i="0" dirty="0" err="1">
                <a:solidFill>
                  <a:srgbClr val="434343"/>
                </a:solidFill>
                <a:latin typeface="Inter"/>
              </a:rPr>
              <a:t>otomatis</a:t>
            </a:r>
            <a:r>
              <a:rPr sz="950" b="0" i="0" dirty="0">
                <a:solidFill>
                  <a:srgbClr val="434343"/>
                </a:solidFill>
                <a:latin typeface="Inter"/>
              </a:rPr>
              <a:t> oleh script </a:t>
            </a:r>
            <a:r>
              <a:rPr sz="950" b="0" i="0" dirty="0" err="1">
                <a:solidFill>
                  <a:srgbClr val="434343"/>
                </a:solidFill>
                <a:latin typeface="Inter"/>
              </a:rPr>
              <a:t>untuk</a:t>
            </a:r>
            <a:r>
              <a:rPr sz="950" b="0" i="0" dirty="0">
                <a:solidFill>
                  <a:srgbClr val="434343"/>
                </a:solidFill>
                <a:latin typeface="Inter"/>
              </a:rPr>
              <a:t> </a:t>
            </a:r>
            <a:r>
              <a:rPr sz="950" b="0" i="0" dirty="0" err="1">
                <a:solidFill>
                  <a:srgbClr val="434343"/>
                </a:solidFill>
                <a:latin typeface="Inter"/>
              </a:rPr>
              <a:t>simulasi</a:t>
            </a:r>
            <a:r>
              <a:rPr sz="950" b="0" i="0" dirty="0">
                <a:solidFill>
                  <a:srgbClr val="434343"/>
                </a:solidFill>
                <a:latin typeface="Inter"/>
              </a:rPr>
              <a:t>, </a:t>
            </a:r>
            <a:r>
              <a:rPr sz="950" b="0" i="0" dirty="0" err="1">
                <a:solidFill>
                  <a:srgbClr val="434343"/>
                </a:solidFill>
                <a:latin typeface="Inter"/>
              </a:rPr>
              <a:t>bukan</a:t>
            </a:r>
            <a:r>
              <a:rPr sz="950" b="0" i="0" dirty="0">
                <a:solidFill>
                  <a:srgbClr val="434343"/>
                </a:solidFill>
                <a:latin typeface="Inter"/>
              </a:rPr>
              <a:t> data customer </a:t>
            </a:r>
            <a:r>
              <a:rPr sz="950" b="0" i="0" dirty="0" err="1">
                <a:solidFill>
                  <a:srgbClr val="434343"/>
                </a:solidFill>
                <a:latin typeface="Inter"/>
              </a:rPr>
              <a:t>sungguhan</a:t>
            </a:r>
            <a:r>
              <a:rPr sz="950" b="0" i="0" dirty="0">
                <a:solidFill>
                  <a:srgbClr val="434343"/>
                </a:solidFill>
                <a:latin typeface="Inter"/>
              </a:rPr>
              <a:t>. Proses </a:t>
            </a:r>
            <a:r>
              <a:rPr sz="950" b="0" i="0" dirty="0" err="1">
                <a:solidFill>
                  <a:srgbClr val="434343"/>
                </a:solidFill>
                <a:latin typeface="Inter"/>
              </a:rPr>
              <a:t>mengisi</a:t>
            </a:r>
            <a:r>
              <a:rPr sz="950" b="0" i="0" dirty="0">
                <a:solidFill>
                  <a:srgbClr val="434343"/>
                </a:solidFill>
                <a:latin typeface="Inter"/>
              </a:rPr>
              <a:t> data dummy </a:t>
            </a:r>
            <a:r>
              <a:rPr sz="950" b="0" i="0" dirty="0" err="1">
                <a:solidFill>
                  <a:srgbClr val="434343"/>
                </a:solidFill>
                <a:latin typeface="Inter"/>
              </a:rPr>
              <a:t>ke</a:t>
            </a:r>
            <a:r>
              <a:rPr sz="950" b="0" i="0" dirty="0">
                <a:solidFill>
                  <a:srgbClr val="434343"/>
                </a:solidFill>
                <a:latin typeface="Inter"/>
              </a:rPr>
              <a:t> database </a:t>
            </a:r>
            <a:r>
              <a:rPr sz="950" b="0" i="0" dirty="0" err="1">
                <a:solidFill>
                  <a:srgbClr val="434343"/>
                </a:solidFill>
                <a:latin typeface="Inter"/>
              </a:rPr>
              <a:t>disebut</a:t>
            </a:r>
            <a:r>
              <a:rPr sz="950" b="0" i="0" dirty="0">
                <a:solidFill>
                  <a:srgbClr val="434343"/>
                </a:solidFill>
                <a:latin typeface="Inter"/>
              </a:rPr>
              <a:t> </a:t>
            </a:r>
            <a:r>
              <a:rPr sz="950" b="1" i="0" dirty="0">
                <a:solidFill>
                  <a:srgbClr val="434343"/>
                </a:solidFill>
                <a:latin typeface="Inter"/>
              </a:rPr>
              <a:t>seeding</a:t>
            </a:r>
            <a:r>
              <a:rPr sz="950" b="0" i="0" dirty="0">
                <a:solidFill>
                  <a:srgbClr val="434343"/>
                </a:solidFill>
                <a:latin typeface="Inter"/>
              </a:rPr>
              <a:t>. </a:t>
            </a:r>
            <a:endParaRPr lang="en-US" sz="950" b="0" i="0" dirty="0">
              <a:solidFill>
                <a:srgbClr val="434343"/>
              </a:solidFill>
              <a:latin typeface="Inter"/>
            </a:endParaRPr>
          </a:p>
          <a:p>
            <a:pPr algn="l">
              <a:lnSpc>
                <a:spcPct val="115000"/>
              </a:lnSpc>
              <a:spcAft>
                <a:spcPts val="400"/>
              </a:spcAft>
            </a:pPr>
            <a:r>
              <a:rPr sz="950" b="0" i="0" dirty="0">
                <a:solidFill>
                  <a:srgbClr val="434343"/>
                </a:solidFill>
                <a:latin typeface="Inter"/>
              </a:rPr>
              <a:t>Pada </a:t>
            </a:r>
            <a:r>
              <a:rPr sz="950" b="0" i="0" dirty="0" err="1">
                <a:solidFill>
                  <a:srgbClr val="434343"/>
                </a:solidFill>
                <a:latin typeface="Inter"/>
              </a:rPr>
              <a:t>sesi</a:t>
            </a:r>
            <a:r>
              <a:rPr sz="950" b="0" i="0" dirty="0">
                <a:solidFill>
                  <a:srgbClr val="434343"/>
                </a:solidFill>
                <a:latin typeface="Inter"/>
              </a:rPr>
              <a:t> </a:t>
            </a:r>
            <a:r>
              <a:rPr sz="950" b="0" i="0" dirty="0" err="1">
                <a:solidFill>
                  <a:srgbClr val="434343"/>
                </a:solidFill>
                <a:latin typeface="Inter"/>
              </a:rPr>
              <a:t>ini</a:t>
            </a:r>
            <a:r>
              <a:rPr sz="950" b="0" i="0" dirty="0">
                <a:solidFill>
                  <a:srgbClr val="434343"/>
                </a:solidFill>
                <a:latin typeface="Inter"/>
              </a:rPr>
              <a:t> </a:t>
            </a:r>
            <a:r>
              <a:rPr sz="950" b="0" i="0" dirty="0" err="1">
                <a:solidFill>
                  <a:srgbClr val="434343"/>
                </a:solidFill>
                <a:latin typeface="Inter"/>
              </a:rPr>
              <a:t>kita</a:t>
            </a:r>
            <a:r>
              <a:rPr sz="950" b="0" i="0" dirty="0">
                <a:solidFill>
                  <a:srgbClr val="434343"/>
                </a:solidFill>
                <a:latin typeface="Inter"/>
              </a:rPr>
              <a:t> </a:t>
            </a:r>
            <a:r>
              <a:rPr sz="950" b="0" i="0" dirty="0" err="1">
                <a:solidFill>
                  <a:srgbClr val="434343"/>
                </a:solidFill>
                <a:latin typeface="Inter"/>
              </a:rPr>
              <a:t>akan</a:t>
            </a:r>
            <a:r>
              <a:rPr sz="950" b="0" i="0" dirty="0">
                <a:solidFill>
                  <a:srgbClr val="434343"/>
                </a:solidFill>
                <a:latin typeface="Inter"/>
              </a:rPr>
              <a:t> </a:t>
            </a:r>
            <a:r>
              <a:rPr sz="950" b="0" i="0" dirty="0" err="1">
                <a:solidFill>
                  <a:srgbClr val="434343"/>
                </a:solidFill>
                <a:latin typeface="Inter"/>
              </a:rPr>
              <a:t>mengecek</a:t>
            </a:r>
            <a:r>
              <a:rPr sz="950" b="0" i="0" dirty="0">
                <a:solidFill>
                  <a:srgbClr val="434343"/>
                </a:solidFill>
                <a:latin typeface="Inter"/>
              </a:rPr>
              <a:t> query yang </a:t>
            </a:r>
            <a:r>
              <a:rPr sz="950" b="0" i="0" dirty="0" err="1">
                <a:solidFill>
                  <a:srgbClr val="434343"/>
                </a:solidFill>
                <a:latin typeface="Inter"/>
              </a:rPr>
              <a:t>lambat</a:t>
            </a:r>
            <a:r>
              <a:rPr sz="950" b="0" i="0" dirty="0">
                <a:solidFill>
                  <a:srgbClr val="434343"/>
                </a:solidFill>
                <a:latin typeface="Inter"/>
              </a:rPr>
              <a:t>. Jika </a:t>
            </a:r>
            <a:r>
              <a:rPr sz="950" b="0" i="0" dirty="0" err="1">
                <a:solidFill>
                  <a:srgbClr val="434343"/>
                </a:solidFill>
                <a:latin typeface="Inter"/>
              </a:rPr>
              <a:t>tabel</a:t>
            </a:r>
            <a:r>
              <a:rPr sz="950" b="0" i="0" dirty="0">
                <a:solidFill>
                  <a:srgbClr val="434343"/>
                </a:solidFill>
                <a:latin typeface="Inter"/>
              </a:rPr>
              <a:t> </a:t>
            </a:r>
            <a:r>
              <a:rPr sz="950" b="0" i="0" dirty="0" err="1">
                <a:solidFill>
                  <a:srgbClr val="434343"/>
                </a:solidFill>
                <a:latin typeface="Inter"/>
              </a:rPr>
              <a:t>hanya</a:t>
            </a:r>
            <a:r>
              <a:rPr sz="950" b="0" i="0" dirty="0">
                <a:solidFill>
                  <a:srgbClr val="434343"/>
                </a:solidFill>
                <a:latin typeface="Inter"/>
              </a:rPr>
              <a:t> </a:t>
            </a:r>
            <a:r>
              <a:rPr sz="950" b="0" i="0" dirty="0" err="1">
                <a:solidFill>
                  <a:srgbClr val="434343"/>
                </a:solidFill>
                <a:latin typeface="Inter"/>
              </a:rPr>
              <a:t>berisi</a:t>
            </a:r>
            <a:r>
              <a:rPr sz="950" b="0" i="0" dirty="0">
                <a:solidFill>
                  <a:srgbClr val="434343"/>
                </a:solidFill>
                <a:latin typeface="Inter"/>
              </a:rPr>
              <a:t> 10 order, </a:t>
            </a:r>
            <a:r>
              <a:rPr sz="950" b="0" i="0" dirty="0" err="1">
                <a:solidFill>
                  <a:srgbClr val="434343"/>
                </a:solidFill>
                <a:latin typeface="Inter"/>
              </a:rPr>
              <a:t>semua</a:t>
            </a:r>
            <a:r>
              <a:rPr sz="950" b="0" i="0" dirty="0">
                <a:solidFill>
                  <a:srgbClr val="434343"/>
                </a:solidFill>
                <a:latin typeface="Inter"/>
              </a:rPr>
              <a:t> query </a:t>
            </a:r>
            <a:r>
              <a:rPr sz="950" b="0" i="0" dirty="0" err="1">
                <a:solidFill>
                  <a:srgbClr val="434343"/>
                </a:solidFill>
                <a:latin typeface="Inter"/>
              </a:rPr>
              <a:t>terlihat</a:t>
            </a:r>
            <a:r>
              <a:rPr sz="950" b="0" i="0" dirty="0">
                <a:solidFill>
                  <a:srgbClr val="434343"/>
                </a:solidFill>
                <a:latin typeface="Inter"/>
              </a:rPr>
              <a:t> </a:t>
            </a:r>
            <a:r>
              <a:rPr sz="950" b="0" i="0" dirty="0" err="1">
                <a:solidFill>
                  <a:srgbClr val="434343"/>
                </a:solidFill>
                <a:latin typeface="Inter"/>
              </a:rPr>
              <a:t>cepat</a:t>
            </a:r>
            <a:r>
              <a:rPr sz="950" b="0" i="0" dirty="0">
                <a:solidFill>
                  <a:srgbClr val="434343"/>
                </a:solidFill>
                <a:latin typeface="Inter"/>
              </a:rPr>
              <a:t> dan </a:t>
            </a:r>
            <a:r>
              <a:rPr sz="950" b="0" i="0" dirty="0" err="1">
                <a:solidFill>
                  <a:srgbClr val="434343"/>
                </a:solidFill>
                <a:latin typeface="Inter"/>
              </a:rPr>
              <a:t>masalahnya</a:t>
            </a:r>
            <a:r>
              <a:rPr sz="950" b="0" i="0" dirty="0">
                <a:solidFill>
                  <a:srgbClr val="434343"/>
                </a:solidFill>
                <a:latin typeface="Inter"/>
              </a:rPr>
              <a:t> </a:t>
            </a:r>
            <a:r>
              <a:rPr sz="950" b="0" i="0" dirty="0" err="1">
                <a:solidFill>
                  <a:srgbClr val="434343"/>
                </a:solidFill>
                <a:latin typeface="Inter"/>
              </a:rPr>
              <a:t>tidak</a:t>
            </a:r>
            <a:r>
              <a:rPr sz="950" b="0" i="0" dirty="0">
                <a:solidFill>
                  <a:srgbClr val="434343"/>
                </a:solidFill>
                <a:latin typeface="Inter"/>
              </a:rPr>
              <a:t> </a:t>
            </a:r>
            <a:r>
              <a:rPr sz="950" b="0" i="0" dirty="0" err="1">
                <a:solidFill>
                  <a:srgbClr val="434343"/>
                </a:solidFill>
                <a:latin typeface="Inter"/>
              </a:rPr>
              <a:t>terlihat</a:t>
            </a:r>
            <a:r>
              <a:rPr sz="950" b="0" i="0" dirty="0">
                <a:solidFill>
                  <a:srgbClr val="434343"/>
                </a:solidFill>
                <a:latin typeface="Inter"/>
              </a:rPr>
              <a:t>. Karena </a:t>
            </a:r>
            <a:r>
              <a:rPr sz="950" b="0" i="0" dirty="0" err="1">
                <a:solidFill>
                  <a:srgbClr val="434343"/>
                </a:solidFill>
                <a:latin typeface="Inter"/>
              </a:rPr>
              <a:t>itu</a:t>
            </a:r>
            <a:r>
              <a:rPr sz="950" b="0" i="0" dirty="0">
                <a:solidFill>
                  <a:srgbClr val="434343"/>
                </a:solidFill>
                <a:latin typeface="Inter"/>
              </a:rPr>
              <a:t> </a:t>
            </a:r>
            <a:r>
              <a:rPr sz="950" b="0" i="0" dirty="0" err="1">
                <a:solidFill>
                  <a:srgbClr val="434343"/>
                </a:solidFill>
                <a:latin typeface="Inter"/>
              </a:rPr>
              <a:t>kita</a:t>
            </a:r>
            <a:r>
              <a:rPr lang="en-US" sz="950" b="0" i="0" dirty="0">
                <a:solidFill>
                  <a:srgbClr val="434343"/>
                </a:solidFill>
                <a:latin typeface="Inter"/>
              </a:rPr>
              <a:t> </a:t>
            </a:r>
            <a:r>
              <a:rPr lang="en-US" sz="950" b="0" i="0" dirty="0" err="1">
                <a:solidFill>
                  <a:srgbClr val="434343"/>
                </a:solidFill>
                <a:latin typeface="Inter"/>
              </a:rPr>
              <a:t>perlu</a:t>
            </a:r>
            <a:r>
              <a:rPr sz="950" b="0" i="0" dirty="0">
                <a:solidFill>
                  <a:srgbClr val="434343"/>
                </a:solidFill>
                <a:latin typeface="Inter"/>
              </a:rPr>
              <a:t> </a:t>
            </a:r>
            <a:r>
              <a:rPr sz="950" b="0" i="0" dirty="0" err="1">
                <a:solidFill>
                  <a:srgbClr val="434343"/>
                </a:solidFill>
                <a:latin typeface="Inter"/>
              </a:rPr>
              <a:t>melakukan</a:t>
            </a:r>
            <a:r>
              <a:rPr sz="950" b="0" i="0" dirty="0">
                <a:solidFill>
                  <a:srgbClr val="434343"/>
                </a:solidFill>
                <a:latin typeface="Inter"/>
              </a:rPr>
              <a:t> seeding 200.000 order dan 400.000 item order, </a:t>
            </a:r>
            <a:r>
              <a:rPr sz="950" b="0" i="0" dirty="0" err="1">
                <a:solidFill>
                  <a:srgbClr val="434343"/>
                </a:solidFill>
                <a:latin typeface="Inter"/>
              </a:rPr>
              <a:t>supaya</a:t>
            </a:r>
            <a:r>
              <a:rPr sz="950" b="0" i="0" dirty="0">
                <a:solidFill>
                  <a:srgbClr val="434343"/>
                </a:solidFill>
                <a:latin typeface="Inter"/>
              </a:rPr>
              <a:t> </a:t>
            </a:r>
            <a:r>
              <a:rPr lang="en-US" sz="950" b="0" i="0" dirty="0" err="1">
                <a:solidFill>
                  <a:srgbClr val="434343"/>
                </a:solidFill>
                <a:latin typeface="Inter"/>
              </a:rPr>
              <a:t>bisa</a:t>
            </a:r>
            <a:r>
              <a:rPr lang="en-US" sz="950" b="0" i="0" dirty="0">
                <a:solidFill>
                  <a:srgbClr val="434343"/>
                </a:solidFill>
                <a:latin typeface="Inter"/>
              </a:rPr>
              <a:t> </a:t>
            </a:r>
            <a:r>
              <a:rPr lang="en-US" sz="950" b="0" i="0" dirty="0" err="1">
                <a:solidFill>
                  <a:srgbClr val="434343"/>
                </a:solidFill>
                <a:latin typeface="Inter"/>
              </a:rPr>
              <a:t>mensimulasikan</a:t>
            </a:r>
            <a:r>
              <a:rPr lang="en-US" sz="950" b="0" i="0" dirty="0">
                <a:solidFill>
                  <a:srgbClr val="434343"/>
                </a:solidFill>
                <a:latin typeface="Inter"/>
              </a:rPr>
              <a:t> query </a:t>
            </a:r>
            <a:r>
              <a:rPr lang="en-US" sz="950" b="0" i="0" dirty="0" err="1">
                <a:solidFill>
                  <a:srgbClr val="434343"/>
                </a:solidFill>
                <a:latin typeface="Inter"/>
              </a:rPr>
              <a:t>lambat</a:t>
            </a:r>
            <a:r>
              <a:rPr lang="en-US" sz="950" b="0" i="0" dirty="0">
                <a:solidFill>
                  <a:srgbClr val="434343"/>
                </a:solidFill>
                <a:latin typeface="Inter"/>
              </a:rPr>
              <a:t> </a:t>
            </a:r>
            <a:r>
              <a:rPr lang="en-US" sz="950" b="0" i="0" dirty="0" err="1">
                <a:solidFill>
                  <a:srgbClr val="434343"/>
                </a:solidFill>
                <a:latin typeface="Inter"/>
              </a:rPr>
              <a:t>seperti</a:t>
            </a:r>
            <a:r>
              <a:rPr lang="en-US" sz="950" b="0" i="0" dirty="0">
                <a:solidFill>
                  <a:srgbClr val="434343"/>
                </a:solidFill>
                <a:latin typeface="Inter"/>
              </a:rPr>
              <a:t> </a:t>
            </a:r>
            <a:r>
              <a:rPr sz="950" b="0" i="0" dirty="0">
                <a:solidFill>
                  <a:srgbClr val="434343"/>
                </a:solidFill>
                <a:latin typeface="Inter"/>
              </a:rPr>
              <a:t>di production.</a:t>
            </a:r>
          </a:p>
        </p:txBody>
      </p:sp>
      <p:graphicFrame>
        <p:nvGraphicFramePr>
          <p:cNvPr id="23" name="Table 4"/>
          <p:cNvGraphicFramePr>
            <a:graphicFrameLocks noGrp="1"/>
          </p:cNvGraphicFramePr>
          <p:nvPr/>
        </p:nvGraphicFramePr>
        <p:xfrm>
          <a:off x="4892040" y="1481328"/>
          <a:ext cx="3593592" cy="146304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2404872">
                  <a:extLst>
                    <a:ext uri="{9D8B030D-6E8A-4147-A177-3AD203B41FA5}">
                      <a16:colId xmlns:a16="http://schemas.microsoft.com/office/drawing/2014/main" val="20001"/>
                    </a:ext>
                  </a:extLst>
                </a:gridCol>
              </a:tblGrid>
              <a:tr h="365760">
                <a:tc>
                  <a:txBody>
                    <a:bodyPr/>
                    <a:lstStyle/>
                    <a:p>
                      <a:pPr algn="l">
                        <a:lnSpc>
                          <a:spcPct val="100000"/>
                        </a:lnSpc>
                        <a:spcAft>
                          <a:spcPts val="0"/>
                        </a:spcAft>
                      </a:pPr>
                      <a:r>
                        <a:rPr sz="900" b="1" i="0">
                          <a:solidFill>
                            <a:srgbClr val="FFFFFF"/>
                          </a:solidFill>
                          <a:latin typeface="Inter"/>
                        </a:rPr>
                        <a:t>Tabel</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Jumlah baris</a:t>
                      </a:r>
                    </a:p>
                  </a:txBody>
                  <a:tcPr marL="73152" marR="73152" marT="36576" marB="36576" anchor="ctr">
                    <a:solidFill>
                      <a:srgbClr val="1C4587"/>
                    </a:solidFill>
                  </a:tcPr>
                </a:tc>
                <a:extLst>
                  <a:ext uri="{0D108BD9-81ED-4DB2-BD59-A6C34878D82A}">
                    <a16:rowId xmlns:a16="http://schemas.microsoft.com/office/drawing/2014/main" val="10000"/>
                  </a:ext>
                </a:extLst>
              </a:tr>
              <a:tr h="365760">
                <a:tc>
                  <a:txBody>
                    <a:bodyPr/>
                    <a:lstStyle/>
                    <a:p>
                      <a:pPr algn="l">
                        <a:lnSpc>
                          <a:spcPct val="100000"/>
                        </a:lnSpc>
                        <a:spcAft>
                          <a:spcPts val="0"/>
                        </a:spcAft>
                      </a:pPr>
                      <a:r>
                        <a:rPr sz="900" b="1" i="0">
                          <a:solidFill>
                            <a:srgbClr val="1C4587"/>
                          </a:solidFill>
                          <a:latin typeface="Inter"/>
                        </a:rPr>
                        <a:t>products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200</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pPr algn="l">
                        <a:lnSpc>
                          <a:spcPct val="100000"/>
                        </a:lnSpc>
                        <a:spcAft>
                          <a:spcPts val="0"/>
                        </a:spcAft>
                      </a:pPr>
                      <a:r>
                        <a:rPr sz="900" b="1" i="0">
                          <a:solidFill>
                            <a:srgbClr val="1C4587"/>
                          </a:solidFill>
                          <a:latin typeface="Inter"/>
                        </a:rPr>
                        <a:t>orders</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200.000 (5.000 customer)</a:t>
                      </a:r>
                    </a:p>
                  </a:txBody>
                  <a:tcPr marL="73152" marR="73152" marT="36576" marB="36576" anchor="ctr">
                    <a:solidFill>
                      <a:srgbClr val="F3F4F6"/>
                    </a:solidFill>
                  </a:tcPr>
                </a:tc>
                <a:extLst>
                  <a:ext uri="{0D108BD9-81ED-4DB2-BD59-A6C34878D82A}">
                    <a16:rowId xmlns:a16="http://schemas.microsoft.com/office/drawing/2014/main" val="10002"/>
                  </a:ext>
                </a:extLst>
              </a:tr>
              <a:tr h="365760">
                <a:tc>
                  <a:txBody>
                    <a:bodyPr/>
                    <a:lstStyle/>
                    <a:p>
                      <a:pPr algn="l">
                        <a:lnSpc>
                          <a:spcPct val="100000"/>
                        </a:lnSpc>
                        <a:spcAft>
                          <a:spcPts val="0"/>
                        </a:spcAft>
                      </a:pPr>
                      <a:r>
                        <a:rPr sz="900" b="1" i="0">
                          <a:solidFill>
                            <a:srgbClr val="1C4587"/>
                          </a:solidFill>
                          <a:latin typeface="Inter"/>
                        </a:rPr>
                        <a:t>order_lines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400.000 (2 item per order)</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24" name="Text 5"/>
          <p:cNvSpPr txBox="1"/>
          <p:nvPr/>
        </p:nvSpPr>
        <p:spPr>
          <a:xfrm>
            <a:off x="4892040" y="3063240"/>
            <a:ext cx="3593592" cy="398699"/>
          </a:xfrm>
          <a:prstGeom prst="rect">
            <a:avLst/>
          </a:prstGeom>
          <a:noFill/>
        </p:spPr>
        <p:txBody>
          <a:bodyPr wrap="square" lIns="45720" rIns="45720" anchor="t">
            <a:spAutoFit/>
          </a:bodyPr>
          <a:lstStyle/>
          <a:p>
            <a:pPr algn="l">
              <a:lnSpc>
                <a:spcPct val="115000"/>
              </a:lnSpc>
              <a:spcAft>
                <a:spcPts val="400"/>
              </a:spcAft>
            </a:pPr>
            <a:r>
              <a:rPr sz="900" b="0" i="0" dirty="0">
                <a:solidFill>
                  <a:srgbClr val="7A7A7A"/>
                </a:solidFill>
                <a:latin typeface="Inter"/>
              </a:rPr>
              <a:t>Data dummy </a:t>
            </a:r>
            <a:r>
              <a:rPr sz="900" b="0" i="0" dirty="0" err="1">
                <a:solidFill>
                  <a:srgbClr val="7A7A7A"/>
                </a:solidFill>
                <a:latin typeface="Inter"/>
              </a:rPr>
              <a:t>diisi</a:t>
            </a:r>
            <a:r>
              <a:rPr sz="900" b="0" i="0" dirty="0">
                <a:solidFill>
                  <a:srgbClr val="7A7A7A"/>
                </a:solidFill>
                <a:latin typeface="Inter"/>
              </a:rPr>
              <a:t> </a:t>
            </a:r>
            <a:r>
              <a:rPr sz="900" b="0" i="0" dirty="0" err="1">
                <a:solidFill>
                  <a:srgbClr val="7A7A7A"/>
                </a:solidFill>
                <a:latin typeface="Inter"/>
              </a:rPr>
              <a:t>ke</a:t>
            </a:r>
            <a:r>
              <a:rPr sz="900" b="0" i="0" dirty="0">
                <a:solidFill>
                  <a:srgbClr val="7A7A7A"/>
                </a:solidFill>
                <a:latin typeface="Inter"/>
              </a:rPr>
              <a:t> database </a:t>
            </a:r>
            <a:r>
              <a:rPr sz="900" b="0" i="0" dirty="0">
                <a:solidFill>
                  <a:srgbClr val="B5482A"/>
                </a:solidFill>
                <a:latin typeface="Inconsolata"/>
              </a:rPr>
              <a:t>demo</a:t>
            </a:r>
            <a:r>
              <a:rPr sz="900" b="0" i="0" dirty="0">
                <a:solidFill>
                  <a:srgbClr val="7A7A7A"/>
                </a:solidFill>
                <a:latin typeface="Inter"/>
              </a:rPr>
              <a:t>, </a:t>
            </a:r>
            <a:r>
              <a:rPr sz="900" b="0" i="0" dirty="0" err="1">
                <a:solidFill>
                  <a:srgbClr val="7A7A7A"/>
                </a:solidFill>
                <a:latin typeface="Inter"/>
              </a:rPr>
              <a:t>terpisah</a:t>
            </a:r>
            <a:r>
              <a:rPr sz="900" b="0" i="0" dirty="0">
                <a:solidFill>
                  <a:srgbClr val="7A7A7A"/>
                </a:solidFill>
                <a:latin typeface="Inter"/>
              </a:rPr>
              <a:t> </a:t>
            </a:r>
            <a:r>
              <a:rPr sz="900" b="0" i="0" dirty="0" err="1">
                <a:solidFill>
                  <a:srgbClr val="7A7A7A"/>
                </a:solidFill>
                <a:latin typeface="Inter"/>
              </a:rPr>
              <a:t>dari</a:t>
            </a:r>
            <a:r>
              <a:rPr sz="900" b="0" i="0" dirty="0">
                <a:solidFill>
                  <a:srgbClr val="7A7A7A"/>
                </a:solidFill>
                <a:latin typeface="Inter"/>
              </a:rPr>
              <a:t> database </a:t>
            </a:r>
            <a:r>
              <a:rPr sz="900" b="0" i="0" dirty="0" err="1">
                <a:solidFill>
                  <a:srgbClr val="7A7A7A"/>
                </a:solidFill>
                <a:latin typeface="Inter"/>
              </a:rPr>
              <a:t>aplikasi</a:t>
            </a:r>
            <a:endParaRPr sz="900" b="0" i="0" dirty="0">
              <a:solidFill>
                <a:srgbClr val="7A7A7A"/>
              </a:solidFill>
              <a:latin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Script seed_demo.py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seed_demo.py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12  </a:t>
            </a:r>
            <a:r>
              <a:rPr sz="719" i="0">
                <a:solidFill>
                  <a:srgbClr val="E6EDF3"/>
                </a:solidFill>
                <a:latin typeface="Inconsolata"/>
              </a:rPr>
              <a:t> </a:t>
            </a:r>
          </a:p>
          <a:p>
            <a:pPr>
              <a:lnSpc>
                <a:spcPct val="104277"/>
              </a:lnSpc>
              <a:spcAft>
                <a:spcPts val="0"/>
              </a:spcAft>
            </a:pPr>
            <a:r>
              <a:rPr sz="719" i="0">
                <a:solidFill>
                  <a:srgbClr val="5C6773"/>
                </a:solidFill>
                <a:latin typeface="Inconsolata"/>
              </a:rPr>
              <a:t>13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14  </a:t>
            </a:r>
            <a:r>
              <a:rPr sz="719" i="0">
                <a:solidFill>
                  <a:srgbClr val="E6EDF3"/>
                </a:solidFill>
                <a:latin typeface="Inconsolata"/>
              </a:rPr>
              <a:t> </a:t>
            </a:r>
          </a:p>
          <a:p>
            <a:pPr>
              <a:lnSpc>
                <a:spcPct val="104277"/>
              </a:lnSpc>
              <a:spcAft>
                <a:spcPts val="0"/>
              </a:spcAft>
            </a:pPr>
            <a:r>
              <a:rPr sz="719" i="0">
                <a:solidFill>
                  <a:srgbClr val="5C6773"/>
                </a:solidFill>
                <a:latin typeface="Inconsolata"/>
              </a:rPr>
              <a:t>15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7FDBCA"/>
                </a:solidFill>
                <a:latin typeface="Inconsolata"/>
              </a:rPr>
              <a:t>SCHEMA</a:t>
            </a:r>
            <a:r>
              <a:rPr sz="719" i="0">
                <a:solidFill>
                  <a:srgbClr val="E6EDF3"/>
                </a:solidFill>
                <a:latin typeface="Inconsolata"/>
              </a:rPr>
              <a:t> = </a:t>
            </a:r>
            <a:r>
              <a:rPr sz="719" i="0">
                <a:solidFill>
                  <a:srgbClr val="A5D6A7"/>
                </a:solidFill>
                <a:latin typeface="Inconsolata"/>
              </a:rPr>
              <a:t>""</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7FDBCA"/>
                </a:solidFill>
                <a:latin typeface="Inconsolata"/>
              </a:rPr>
              <a:t>DROP</a:t>
            </a:r>
            <a:r>
              <a:rPr sz="719" i="0">
                <a:solidFill>
                  <a:srgbClr val="E6EDF3"/>
                </a:solidFill>
                <a:latin typeface="Inconsolata"/>
              </a:rPr>
              <a:t> </a:t>
            </a:r>
            <a:r>
              <a:rPr sz="719" i="0">
                <a:solidFill>
                  <a:srgbClr val="7FDBCA"/>
                </a:solidFill>
                <a:latin typeface="Inconsolata"/>
              </a:rPr>
              <a:t>TABLE</a:t>
            </a:r>
            <a:r>
              <a:rPr sz="719" i="0">
                <a:solidFill>
                  <a:srgbClr val="E6EDF3"/>
                </a:solidFill>
                <a:latin typeface="Inconsolata"/>
              </a:rPr>
              <a:t> </a:t>
            </a:r>
            <a:r>
              <a:rPr sz="719" i="0">
                <a:solidFill>
                  <a:srgbClr val="7FDBCA"/>
                </a:solidFill>
                <a:latin typeface="Inconsolata"/>
              </a:rPr>
              <a:t>IF</a:t>
            </a:r>
            <a:r>
              <a:rPr sz="719" i="0">
                <a:solidFill>
                  <a:srgbClr val="E6EDF3"/>
                </a:solidFill>
                <a:latin typeface="Inconsolata"/>
              </a:rPr>
              <a:t> </a:t>
            </a:r>
            <a:r>
              <a:rPr sz="719" i="0">
                <a:solidFill>
                  <a:srgbClr val="7FDBCA"/>
                </a:solidFill>
                <a:latin typeface="Inconsolata"/>
              </a:rPr>
              <a:t>EXISTS</a:t>
            </a:r>
            <a:r>
              <a:rPr sz="719" i="0">
                <a:solidFill>
                  <a:srgbClr val="E6EDF3"/>
                </a:solidFill>
                <a:latin typeface="Inconsolata"/>
              </a:rPr>
              <a:t> order_lines, orders, products;</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p>
          <a:p>
            <a:pPr>
              <a:lnSpc>
                <a:spcPct val="104277"/>
              </a:lnSpc>
              <a:spcAft>
                <a:spcPts val="0"/>
              </a:spcAft>
            </a:pPr>
            <a:r>
              <a:rPr sz="719" i="0">
                <a:solidFill>
                  <a:srgbClr val="5C6773"/>
                </a:solidFill>
                <a:latin typeface="Inconsolata"/>
              </a:rPr>
              <a:t>21  </a:t>
            </a:r>
            <a:r>
              <a:rPr sz="719" i="0">
                <a:solidFill>
                  <a:srgbClr val="7FDBCA"/>
                </a:solidFill>
                <a:latin typeface="Inconsolata"/>
              </a:rPr>
              <a:t>CREATE</a:t>
            </a:r>
            <a:r>
              <a:rPr sz="719" i="0">
                <a:solidFill>
                  <a:srgbClr val="E6EDF3"/>
                </a:solidFill>
                <a:latin typeface="Inconsolata"/>
              </a:rPr>
              <a:t> </a:t>
            </a:r>
            <a:r>
              <a:rPr sz="719" i="0">
                <a:solidFill>
                  <a:srgbClr val="7FDBCA"/>
                </a:solidFill>
                <a:latin typeface="Inconsolata"/>
              </a:rPr>
              <a:t>TABLE</a:t>
            </a:r>
            <a:r>
              <a:rPr sz="719" i="0">
                <a:solidFill>
                  <a:srgbClr val="E6EDF3"/>
                </a:solidFill>
                <a:latin typeface="Inconsolata"/>
              </a:rPr>
              <a:t> products (</a:t>
            </a:r>
          </a:p>
          <a:p>
            <a:pPr>
              <a:lnSpc>
                <a:spcPct val="104277"/>
              </a:lnSpc>
              <a:spcAft>
                <a:spcPts val="0"/>
              </a:spcAft>
            </a:pPr>
            <a:r>
              <a:rPr sz="719" i="0">
                <a:solidFill>
                  <a:srgbClr val="5C6773"/>
                </a:solidFill>
                <a:latin typeface="Inconsolata"/>
              </a:rPr>
              <a:t>22  </a:t>
            </a:r>
            <a:r>
              <a:rPr sz="719" i="0">
                <a:solidFill>
                  <a:srgbClr val="E6EDF3"/>
                </a:solidFill>
                <a:latin typeface="Inconsolata"/>
              </a:rPr>
              <a:t>    id    serial </a:t>
            </a:r>
            <a:r>
              <a:rPr sz="719" i="0">
                <a:solidFill>
                  <a:srgbClr val="7FDBCA"/>
                </a:solidFill>
                <a:latin typeface="Inconsolata"/>
              </a:rPr>
              <a:t>PRIMARY</a:t>
            </a:r>
            <a:r>
              <a:rPr sz="719" i="0">
                <a:solidFill>
                  <a:srgbClr val="E6EDF3"/>
                </a:solidFill>
                <a:latin typeface="Inconsolata"/>
              </a:rPr>
              <a:t> </a:t>
            </a:r>
            <a:r>
              <a:rPr sz="719" i="0">
                <a:solidFill>
                  <a:srgbClr val="7FDBCA"/>
                </a:solidFill>
                <a:latin typeface="Inconsolata"/>
              </a:rPr>
              <a:t>KEY</a:t>
            </a:r>
            <a:r>
              <a:rPr sz="719" i="0">
                <a:solidFill>
                  <a:srgbClr val="E6EDF3"/>
                </a:solidFill>
                <a:latin typeface="Inconsolata"/>
              </a:rPr>
              <a:t>,</a:t>
            </a:r>
          </a:p>
          <a:p>
            <a:pPr>
              <a:lnSpc>
                <a:spcPct val="104277"/>
              </a:lnSpc>
              <a:spcAft>
                <a:spcPts val="0"/>
              </a:spcAft>
            </a:pPr>
            <a:r>
              <a:rPr sz="719" i="0">
                <a:solidFill>
                  <a:srgbClr val="5C6773"/>
                </a:solidFill>
                <a:latin typeface="Inconsolata"/>
              </a:rPr>
              <a:t>23  </a:t>
            </a:r>
            <a:r>
              <a:rPr sz="719" i="0">
                <a:solidFill>
                  <a:srgbClr val="E6EDF3"/>
                </a:solidFill>
                <a:latin typeface="Inconsolata"/>
              </a:rPr>
              <a:t>    name  varchar(</a:t>
            </a:r>
            <a:r>
              <a:rPr sz="719" i="0">
                <a:solidFill>
                  <a:srgbClr val="F9C97A"/>
                </a:solidFill>
                <a:latin typeface="Inconsolata"/>
              </a:rPr>
              <a:t>100</a:t>
            </a:r>
            <a:r>
              <a:rPr sz="719" i="0">
                <a:solidFill>
                  <a:srgbClr val="E6EDF3"/>
                </a:solidFill>
                <a:latin typeface="Inconsolata"/>
              </a:rPr>
              <a:t>)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price integer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p>
          <a:p>
            <a:pPr>
              <a:lnSpc>
                <a:spcPct val="104277"/>
              </a:lnSpc>
              <a:spcAft>
                <a:spcPts val="0"/>
              </a:spcAft>
            </a:pPr>
            <a:r>
              <a:rPr sz="719" i="0">
                <a:solidFill>
                  <a:srgbClr val="5C6773"/>
                </a:solidFill>
                <a:latin typeface="Inconsolata"/>
              </a:rPr>
              <a:t>25  </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seed_demo.py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27  </a:t>
            </a:r>
            <a:r>
              <a:rPr sz="719" i="0">
                <a:solidFill>
                  <a:srgbClr val="7FDBCA"/>
                </a:solidFill>
                <a:latin typeface="Inconsolata"/>
              </a:rPr>
              <a:t>CREATE</a:t>
            </a:r>
            <a:r>
              <a:rPr sz="719" i="0">
                <a:solidFill>
                  <a:srgbClr val="E6EDF3"/>
                </a:solidFill>
                <a:latin typeface="Inconsolata"/>
              </a:rPr>
              <a:t> </a:t>
            </a:r>
            <a:r>
              <a:rPr sz="719" i="0">
                <a:solidFill>
                  <a:srgbClr val="7FDBCA"/>
                </a:solidFill>
                <a:latin typeface="Inconsolata"/>
              </a:rPr>
              <a:t>TABLE</a:t>
            </a:r>
            <a:r>
              <a:rPr sz="719" i="0">
                <a:solidFill>
                  <a:srgbClr val="E6EDF3"/>
                </a:solidFill>
                <a:latin typeface="Inconsolata"/>
              </a:rPr>
              <a:t> orders (</a:t>
            </a:r>
          </a:p>
          <a:p>
            <a:pPr>
              <a:lnSpc>
                <a:spcPct val="104277"/>
              </a:lnSpc>
              <a:spcAft>
                <a:spcPts val="0"/>
              </a:spcAft>
            </a:pPr>
            <a:r>
              <a:rPr sz="719" i="0">
                <a:solidFill>
                  <a:srgbClr val="5C6773"/>
                </a:solidFill>
                <a:latin typeface="Inconsolata"/>
              </a:rPr>
              <a:t>28  </a:t>
            </a:r>
            <a:r>
              <a:rPr sz="719" i="0">
                <a:solidFill>
                  <a:srgbClr val="E6EDF3"/>
                </a:solidFill>
                <a:latin typeface="Inconsolata"/>
              </a:rPr>
              <a:t>    id         serial </a:t>
            </a:r>
            <a:r>
              <a:rPr sz="719" i="0">
                <a:solidFill>
                  <a:srgbClr val="7FDBCA"/>
                </a:solidFill>
                <a:latin typeface="Inconsolata"/>
              </a:rPr>
              <a:t>PRIMARY</a:t>
            </a:r>
            <a:r>
              <a:rPr sz="719" i="0">
                <a:solidFill>
                  <a:srgbClr val="E6EDF3"/>
                </a:solidFill>
                <a:latin typeface="Inconsolata"/>
              </a:rPr>
              <a:t> </a:t>
            </a:r>
            <a:r>
              <a:rPr sz="719" i="0">
                <a:solidFill>
                  <a:srgbClr val="7FDBCA"/>
                </a:solidFill>
                <a:latin typeface="Inconsolata"/>
              </a:rPr>
              <a:t>KEY</a:t>
            </a:r>
            <a:r>
              <a:rPr sz="719" i="0">
                <a:solidFill>
                  <a:srgbClr val="E6EDF3"/>
                </a:solidFill>
                <a:latin typeface="Inconsolata"/>
              </a:rPr>
              <a:t>,</a:t>
            </a:r>
          </a:p>
          <a:p>
            <a:pPr>
              <a:lnSpc>
                <a:spcPct val="104277"/>
              </a:lnSpc>
              <a:spcAft>
                <a:spcPts val="0"/>
              </a:spcAft>
            </a:pPr>
            <a:r>
              <a:rPr sz="719" i="0">
                <a:solidFill>
                  <a:srgbClr val="5C6773"/>
                </a:solidFill>
                <a:latin typeface="Inconsolata"/>
              </a:rPr>
              <a:t>29  </a:t>
            </a:r>
            <a:r>
              <a:rPr sz="719" i="0">
                <a:solidFill>
                  <a:srgbClr val="E6EDF3"/>
                </a:solidFill>
                <a:latin typeface="Inconsolata"/>
              </a:rPr>
              <a:t>    customer   varchar(</a:t>
            </a:r>
            <a:r>
              <a:rPr sz="719" i="0">
                <a:solidFill>
                  <a:srgbClr val="F9C97A"/>
                </a:solidFill>
                <a:latin typeface="Inconsolata"/>
              </a:rPr>
              <a:t>100</a:t>
            </a:r>
            <a:r>
              <a:rPr sz="719" i="0">
                <a:solidFill>
                  <a:srgbClr val="E6EDF3"/>
                </a:solidFill>
                <a:latin typeface="Inconsolata"/>
              </a:rPr>
              <a:t>)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a:t>
            </a:r>
          </a:p>
          <a:p>
            <a:pPr>
              <a:lnSpc>
                <a:spcPct val="104277"/>
              </a:lnSpc>
              <a:spcAft>
                <a:spcPts val="0"/>
              </a:spcAft>
            </a:pPr>
            <a:r>
              <a:rPr sz="719" i="0">
                <a:solidFill>
                  <a:srgbClr val="5C6773"/>
                </a:solidFill>
                <a:latin typeface="Inconsolata"/>
              </a:rPr>
              <a:t>30  </a:t>
            </a:r>
            <a:r>
              <a:rPr sz="719" i="0">
                <a:solidFill>
                  <a:srgbClr val="E6EDF3"/>
                </a:solidFill>
                <a:latin typeface="Inconsolata"/>
              </a:rPr>
              <a:t>    status     varchar(</a:t>
            </a:r>
            <a:r>
              <a:rPr sz="719" i="0">
                <a:solidFill>
                  <a:srgbClr val="F9C97A"/>
                </a:solidFill>
                <a:latin typeface="Inconsolata"/>
              </a:rPr>
              <a:t>20</a:t>
            </a:r>
            <a:r>
              <a:rPr sz="719" i="0">
                <a:solidFill>
                  <a:srgbClr val="E6EDF3"/>
                </a:solidFill>
                <a:latin typeface="Inconsolata"/>
              </a:rPr>
              <a:t>)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a:t>
            </a:r>
          </a:p>
          <a:p>
            <a:pPr>
              <a:lnSpc>
                <a:spcPct val="104277"/>
              </a:lnSpc>
              <a:spcAft>
                <a:spcPts val="0"/>
              </a:spcAft>
            </a:pPr>
            <a:r>
              <a:rPr sz="719" i="0">
                <a:solidFill>
                  <a:srgbClr val="5C6773"/>
                </a:solidFill>
                <a:latin typeface="Inconsolata"/>
              </a:rPr>
              <a:t>31  </a:t>
            </a:r>
            <a:r>
              <a:rPr sz="719" i="0">
                <a:solidFill>
                  <a:srgbClr val="E6EDF3"/>
                </a:solidFill>
                <a:latin typeface="Inconsolata"/>
              </a:rPr>
              <a:t>    created_at timestamp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p>
          <a:p>
            <a:pPr>
              <a:lnSpc>
                <a:spcPct val="104277"/>
              </a:lnSpc>
              <a:spcAft>
                <a:spcPts val="0"/>
              </a:spcAft>
            </a:pPr>
            <a:r>
              <a:rPr sz="719" i="0">
                <a:solidFill>
                  <a:srgbClr val="5C6773"/>
                </a:solidFill>
                <a:latin typeface="Inconsolata"/>
              </a:rPr>
              <a:t>32  </a:t>
            </a:r>
            <a:r>
              <a:rPr sz="719" i="0">
                <a:solidFill>
                  <a:srgbClr val="E6EDF3"/>
                </a:solidFill>
                <a:latin typeface="Inconsolata"/>
              </a:rPr>
              <a:t>);</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p>
          <a:p>
            <a:pPr>
              <a:lnSpc>
                <a:spcPct val="104277"/>
              </a:lnSpc>
              <a:spcAft>
                <a:spcPts val="0"/>
              </a:spcAft>
            </a:pPr>
            <a:r>
              <a:rPr sz="719" i="0">
                <a:solidFill>
                  <a:srgbClr val="5C6773"/>
                </a:solidFill>
                <a:latin typeface="Inconsolata"/>
              </a:rPr>
              <a:t>34  </a:t>
            </a:r>
            <a:r>
              <a:rPr sz="719" i="0">
                <a:solidFill>
                  <a:srgbClr val="7FDBCA"/>
                </a:solidFill>
                <a:latin typeface="Inconsolata"/>
              </a:rPr>
              <a:t>CREATE</a:t>
            </a:r>
            <a:r>
              <a:rPr sz="719" i="0">
                <a:solidFill>
                  <a:srgbClr val="E6EDF3"/>
                </a:solidFill>
                <a:latin typeface="Inconsolata"/>
              </a:rPr>
              <a:t> </a:t>
            </a:r>
            <a:r>
              <a:rPr sz="719" i="0">
                <a:solidFill>
                  <a:srgbClr val="7FDBCA"/>
                </a:solidFill>
                <a:latin typeface="Inconsolata"/>
              </a:rPr>
              <a:t>TABLE</a:t>
            </a:r>
            <a:r>
              <a:rPr sz="719" i="0">
                <a:solidFill>
                  <a:srgbClr val="E6EDF3"/>
                </a:solidFill>
                <a:latin typeface="Inconsolata"/>
              </a:rPr>
              <a:t> order_lines (</a:t>
            </a:r>
          </a:p>
          <a:p>
            <a:pPr>
              <a:lnSpc>
                <a:spcPct val="104277"/>
              </a:lnSpc>
              <a:spcAft>
                <a:spcPts val="0"/>
              </a:spcAft>
            </a:pPr>
            <a:r>
              <a:rPr sz="719" i="0">
                <a:solidFill>
                  <a:srgbClr val="5C6773"/>
                </a:solidFill>
                <a:latin typeface="Inconsolata"/>
              </a:rPr>
              <a:t>35  </a:t>
            </a:r>
            <a:r>
              <a:rPr sz="719" i="0">
                <a:solidFill>
                  <a:srgbClr val="E6EDF3"/>
                </a:solidFill>
                <a:latin typeface="Inconsolata"/>
              </a:rPr>
              <a:t>    id         serial </a:t>
            </a:r>
            <a:r>
              <a:rPr sz="719" i="0">
                <a:solidFill>
                  <a:srgbClr val="7FDBCA"/>
                </a:solidFill>
                <a:latin typeface="Inconsolata"/>
              </a:rPr>
              <a:t>PRIMARY</a:t>
            </a:r>
            <a:r>
              <a:rPr sz="719" i="0">
                <a:solidFill>
                  <a:srgbClr val="E6EDF3"/>
                </a:solidFill>
                <a:latin typeface="Inconsolata"/>
              </a:rPr>
              <a:t> </a:t>
            </a:r>
            <a:r>
              <a:rPr sz="719" i="0">
                <a:solidFill>
                  <a:srgbClr val="7FDBCA"/>
                </a:solidFill>
                <a:latin typeface="Inconsolata"/>
              </a:rPr>
              <a:t>KEY</a:t>
            </a:r>
            <a:r>
              <a:rPr sz="719" i="0">
                <a:solidFill>
                  <a:srgbClr val="E6EDF3"/>
                </a:solidFill>
                <a:latin typeface="Inconsolata"/>
              </a:rPr>
              <a:t>,</a:t>
            </a:r>
          </a:p>
          <a:p>
            <a:pPr>
              <a:lnSpc>
                <a:spcPct val="104277"/>
              </a:lnSpc>
              <a:spcAft>
                <a:spcPts val="0"/>
              </a:spcAft>
            </a:pPr>
            <a:r>
              <a:rPr sz="719" i="0">
                <a:solidFill>
                  <a:srgbClr val="5C6773"/>
                </a:solidFill>
                <a:latin typeface="Inconsolata"/>
              </a:rPr>
              <a:t>36  </a:t>
            </a:r>
            <a:r>
              <a:rPr sz="719" i="0">
                <a:solidFill>
                  <a:srgbClr val="E6EDF3"/>
                </a:solidFill>
                <a:latin typeface="Inconsolata"/>
              </a:rPr>
              <a:t>    order_id   integer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 </a:t>
            </a:r>
            <a:r>
              <a:rPr sz="719" i="0">
                <a:solidFill>
                  <a:srgbClr val="7FDBCA"/>
                </a:solidFill>
                <a:latin typeface="Inconsolata"/>
              </a:rPr>
              <a:t>REFERENCES</a:t>
            </a:r>
            <a:r>
              <a:rPr sz="719" i="0">
                <a:solidFill>
                  <a:srgbClr val="E6EDF3"/>
                </a:solidFill>
                <a:latin typeface="Inconsolata"/>
              </a:rPr>
              <a:t> orders (id),</a:t>
            </a:r>
          </a:p>
          <a:p>
            <a:pPr>
              <a:lnSpc>
                <a:spcPct val="104277"/>
              </a:lnSpc>
              <a:spcAft>
                <a:spcPts val="0"/>
              </a:spcAft>
            </a:pPr>
            <a:r>
              <a:rPr sz="719" i="0">
                <a:solidFill>
                  <a:srgbClr val="5C6773"/>
                </a:solidFill>
                <a:latin typeface="Inconsolata"/>
              </a:rPr>
              <a:t>37  </a:t>
            </a:r>
            <a:r>
              <a:rPr sz="719" i="0">
                <a:solidFill>
                  <a:srgbClr val="E6EDF3"/>
                </a:solidFill>
                <a:latin typeface="Inconsolata"/>
              </a:rPr>
              <a:t>    product_id integer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 </a:t>
            </a:r>
            <a:r>
              <a:rPr sz="719" i="0">
                <a:solidFill>
                  <a:srgbClr val="7FDBCA"/>
                </a:solidFill>
                <a:latin typeface="Inconsolata"/>
              </a:rPr>
              <a:t>REFERENCES</a:t>
            </a:r>
            <a:r>
              <a:rPr sz="719" i="0">
                <a:solidFill>
                  <a:srgbClr val="E6EDF3"/>
                </a:solidFill>
                <a:latin typeface="Inconsolata"/>
              </a:rPr>
              <a:t> products (id),</a:t>
            </a:r>
          </a:p>
          <a:p>
            <a:pPr>
              <a:lnSpc>
                <a:spcPct val="104277"/>
              </a:lnSpc>
              <a:spcAft>
                <a:spcPts val="0"/>
              </a:spcAft>
            </a:pPr>
            <a:r>
              <a:rPr sz="719" i="0">
                <a:solidFill>
                  <a:srgbClr val="5C6773"/>
                </a:solidFill>
                <a:latin typeface="Inconsolata"/>
              </a:rPr>
              <a:t>38  </a:t>
            </a:r>
            <a:r>
              <a:rPr sz="719" i="0">
                <a:solidFill>
                  <a:srgbClr val="E6EDF3"/>
                </a:solidFill>
                <a:latin typeface="Inconsolata"/>
              </a:rPr>
              <a:t>    price      integer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r>
              <a:rPr sz="719" i="0">
                <a:solidFill>
                  <a:srgbClr val="E6EDF3"/>
                </a:solidFill>
                <a:latin typeface="Inconsolata"/>
              </a:rPr>
              <a:t>,</a:t>
            </a:r>
          </a:p>
          <a:p>
            <a:pPr>
              <a:lnSpc>
                <a:spcPct val="104277"/>
              </a:lnSpc>
              <a:spcAft>
                <a:spcPts val="0"/>
              </a:spcAft>
            </a:pPr>
            <a:r>
              <a:rPr sz="719" i="0">
                <a:solidFill>
                  <a:srgbClr val="5C6773"/>
                </a:solidFill>
                <a:latin typeface="Inconsolata"/>
              </a:rPr>
              <a:t>39  </a:t>
            </a:r>
            <a:r>
              <a:rPr sz="719" i="0">
                <a:solidFill>
                  <a:srgbClr val="E6EDF3"/>
                </a:solidFill>
                <a:latin typeface="Inconsolata"/>
              </a:rPr>
              <a:t>    qty        integer </a:t>
            </a:r>
            <a:r>
              <a:rPr sz="719" i="0">
                <a:solidFill>
                  <a:srgbClr val="7FDBCA"/>
                </a:solidFill>
                <a:latin typeface="Inconsolata"/>
              </a:rPr>
              <a:t>NOT</a:t>
            </a:r>
            <a:r>
              <a:rPr sz="719" i="0">
                <a:solidFill>
                  <a:srgbClr val="E6EDF3"/>
                </a:solidFill>
                <a:latin typeface="Inconsolata"/>
              </a:rPr>
              <a:t> </a:t>
            </a:r>
            <a:r>
              <a:rPr sz="719" i="0">
                <a:solidFill>
                  <a:srgbClr val="7FDBCA"/>
                </a:solidFill>
                <a:latin typeface="Inconsolata"/>
              </a:rPr>
              <a:t>NULL</a:t>
            </a:r>
          </a:p>
          <a:p>
            <a:pPr>
              <a:lnSpc>
                <a:spcPct val="104277"/>
              </a:lnSpc>
              <a:spcAft>
                <a:spcPts val="0"/>
              </a:spcAft>
            </a:pPr>
            <a:r>
              <a:rPr sz="719" i="0">
                <a:solidFill>
                  <a:srgbClr val="5C6773"/>
                </a:solidFill>
                <a:latin typeface="Inconsolata"/>
              </a:rPr>
              <a:t>40  </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A5D6A7"/>
                </a:solidFill>
                <a:latin typeface="Inconsolata"/>
              </a:rPr>
              <a:t>""</a:t>
            </a:r>
            <a:r>
              <a:rPr sz="719" i="0">
                <a:solidFill>
                  <a:srgbClr val="E6EDF3"/>
                </a:solidFill>
                <a:latin typeface="Inconsolata"/>
              </a:rPr>
              <a:t>"</a:t>
            </a:r>
          </a:p>
        </p:txBody>
      </p:sp>
      <p:sp>
        <p:nvSpPr>
          <p:cNvPr id="36" name="Box 21"/>
          <p:cNvSpPr/>
          <p:nvPr/>
        </p:nvSpPr>
        <p:spPr>
          <a:xfrm>
            <a:off x="704088" y="2854071"/>
            <a:ext cx="3694176"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131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1479042"/>
          </a:xfrm>
          <a:prstGeom prst="roundRect">
            <a:avLst>
              <a:gd name="adj" fmla="val 309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Script seed_demo.py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seed_demo.py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9601"/>
              </a:lnSpc>
              <a:spcAft>
                <a:spcPts val="0"/>
              </a:spcAft>
            </a:pPr>
            <a:r>
              <a:rPr sz="760" i="0">
                <a:solidFill>
                  <a:srgbClr val="5C6773"/>
                </a:solidFill>
                <a:latin typeface="Inconsolata"/>
              </a:rPr>
              <a:t>43  </a:t>
            </a:r>
            <a:r>
              <a:rPr sz="760" i="0">
                <a:solidFill>
                  <a:srgbClr val="7FDBCA"/>
                </a:solidFill>
                <a:latin typeface="Inconsolata"/>
              </a:rPr>
              <a:t>SEED</a:t>
            </a:r>
            <a:r>
              <a:rPr sz="760" i="0">
                <a:solidFill>
                  <a:srgbClr val="E6EDF3"/>
                </a:solidFill>
                <a:latin typeface="Inconsolata"/>
              </a:rPr>
              <a:t> = </a:t>
            </a:r>
            <a:r>
              <a:rPr sz="760" i="0">
                <a:solidFill>
                  <a:srgbClr val="A5D6A7"/>
                </a:solidFill>
                <a:latin typeface="Inconsolata"/>
              </a:rPr>
              <a:t>""</a:t>
            </a:r>
            <a:r>
              <a:rPr sz="760" i="0">
                <a:solidFill>
                  <a:srgbClr val="E6EDF3"/>
                </a:solidFill>
                <a:latin typeface="Inconsolata"/>
              </a:rPr>
              <a:t>"</a:t>
            </a:r>
          </a:p>
          <a:p>
            <a:pPr>
              <a:lnSpc>
                <a:spcPct val="109601"/>
              </a:lnSpc>
              <a:spcAft>
                <a:spcPts val="0"/>
              </a:spcAft>
            </a:pPr>
            <a:r>
              <a:rPr sz="760" i="0">
                <a:solidFill>
                  <a:srgbClr val="5C6773"/>
                </a:solidFill>
                <a:latin typeface="Inconsolata"/>
              </a:rPr>
              <a:t>44  </a:t>
            </a:r>
            <a:r>
              <a:rPr sz="760" i="0">
                <a:solidFill>
                  <a:srgbClr val="E6EDF3"/>
                </a:solidFill>
                <a:latin typeface="Inconsolata"/>
              </a:rPr>
              <a:t>-- </a:t>
            </a:r>
            <a:r>
              <a:rPr sz="760" i="0">
                <a:solidFill>
                  <a:srgbClr val="F9C97A"/>
                </a:solidFill>
                <a:latin typeface="Inconsolata"/>
              </a:rPr>
              <a:t>200</a:t>
            </a:r>
            <a:r>
              <a:rPr sz="760" i="0">
                <a:solidFill>
                  <a:srgbClr val="E6EDF3"/>
                </a:solidFill>
                <a:latin typeface="Inconsolata"/>
              </a:rPr>
              <a:t> produk, g = </a:t>
            </a:r>
            <a:r>
              <a:rPr sz="760" i="0">
                <a:solidFill>
                  <a:srgbClr val="F9C97A"/>
                </a:solidFill>
                <a:latin typeface="Inconsolata"/>
              </a:rPr>
              <a:t>1</a:t>
            </a:r>
            <a:r>
              <a:rPr sz="760" i="0">
                <a:solidFill>
                  <a:srgbClr val="E6EDF3"/>
                </a:solidFill>
                <a:latin typeface="Inconsolata"/>
              </a:rPr>
              <a:t>, </a:t>
            </a:r>
            <a:r>
              <a:rPr sz="760" i="0">
                <a:solidFill>
                  <a:srgbClr val="F9C97A"/>
                </a:solidFill>
                <a:latin typeface="Inconsolata"/>
              </a:rPr>
              <a:t>2</a:t>
            </a:r>
            <a:r>
              <a:rPr sz="760" i="0">
                <a:solidFill>
                  <a:srgbClr val="E6EDF3"/>
                </a:solidFill>
                <a:latin typeface="Inconsolata"/>
              </a:rPr>
              <a:t>, ..., </a:t>
            </a:r>
            <a:r>
              <a:rPr sz="760" i="0">
                <a:solidFill>
                  <a:srgbClr val="F9C97A"/>
                </a:solidFill>
                <a:latin typeface="Inconsolata"/>
              </a:rPr>
              <a:t>200</a:t>
            </a:r>
          </a:p>
          <a:p>
            <a:pPr>
              <a:lnSpc>
                <a:spcPct val="109601"/>
              </a:lnSpc>
              <a:spcAft>
                <a:spcPts val="0"/>
              </a:spcAft>
            </a:pPr>
            <a:r>
              <a:rPr sz="760" i="0">
                <a:solidFill>
                  <a:srgbClr val="5C6773"/>
                </a:solidFill>
                <a:latin typeface="Inconsolata"/>
              </a:rPr>
              <a:t>45  </a:t>
            </a:r>
            <a:r>
              <a:rPr sz="760" i="0">
                <a:solidFill>
                  <a:srgbClr val="7FDBCA"/>
                </a:solidFill>
                <a:latin typeface="Inconsolata"/>
              </a:rPr>
              <a:t>INSERT</a:t>
            </a:r>
            <a:r>
              <a:rPr sz="760" i="0">
                <a:solidFill>
                  <a:srgbClr val="E6EDF3"/>
                </a:solidFill>
                <a:latin typeface="Inconsolata"/>
              </a:rPr>
              <a:t> </a:t>
            </a:r>
            <a:r>
              <a:rPr sz="760" i="0">
                <a:solidFill>
                  <a:srgbClr val="7FDBCA"/>
                </a:solidFill>
                <a:latin typeface="Inconsolata"/>
              </a:rPr>
              <a:t>INTO</a:t>
            </a:r>
            <a:r>
              <a:rPr sz="760" i="0">
                <a:solidFill>
                  <a:srgbClr val="E6EDF3"/>
                </a:solidFill>
                <a:latin typeface="Inconsolata"/>
              </a:rPr>
              <a:t> products (name, price)</a:t>
            </a:r>
          </a:p>
          <a:p>
            <a:pPr>
              <a:lnSpc>
                <a:spcPct val="109601"/>
              </a:lnSpc>
              <a:spcAft>
                <a:spcPts val="0"/>
              </a:spcAft>
            </a:pPr>
            <a:r>
              <a:rPr sz="760" i="0">
                <a:solidFill>
                  <a:srgbClr val="5C6773"/>
                </a:solidFill>
                <a:latin typeface="Inconsolata"/>
              </a:rPr>
              <a:t>46  </a:t>
            </a:r>
            <a:r>
              <a:rPr sz="760" i="0">
                <a:solidFill>
                  <a:srgbClr val="7FDBCA"/>
                </a:solidFill>
                <a:latin typeface="Inconsolata"/>
              </a:rPr>
              <a:t>SELECT</a:t>
            </a:r>
            <a:r>
              <a:rPr sz="760" i="0">
                <a:solidFill>
                  <a:srgbClr val="E6EDF3"/>
                </a:solidFill>
                <a:latin typeface="Inconsolata"/>
              </a:rPr>
              <a:t> </a:t>
            </a:r>
            <a:r>
              <a:rPr sz="760" i="0">
                <a:solidFill>
                  <a:srgbClr val="A5D6A7"/>
                </a:solidFill>
                <a:latin typeface="Inconsolata"/>
              </a:rPr>
              <a:t>'Produk '</a:t>
            </a:r>
            <a:r>
              <a:rPr sz="760" i="0">
                <a:solidFill>
                  <a:srgbClr val="E6EDF3"/>
                </a:solidFill>
                <a:latin typeface="Inconsolata"/>
              </a:rPr>
              <a:t> || g, </a:t>
            </a:r>
            <a:r>
              <a:rPr sz="760" i="0">
                <a:solidFill>
                  <a:srgbClr val="F9C97A"/>
                </a:solidFill>
                <a:latin typeface="Inconsolata"/>
              </a:rPr>
              <a:t>10000</a:t>
            </a:r>
            <a:r>
              <a:rPr sz="760" i="0">
                <a:solidFill>
                  <a:srgbClr val="E6EDF3"/>
                </a:solidFill>
                <a:latin typeface="Inconsolata"/>
              </a:rPr>
              <a:t> + (g * </a:t>
            </a:r>
            <a:r>
              <a:rPr sz="760" i="0">
                <a:solidFill>
                  <a:srgbClr val="F9C97A"/>
                </a:solidFill>
                <a:latin typeface="Inconsolata"/>
              </a:rPr>
              <a:t>7919</a:t>
            </a:r>
            <a:r>
              <a:rPr sz="760" i="0">
                <a:solidFill>
                  <a:srgbClr val="E6EDF3"/>
                </a:solidFill>
                <a:latin typeface="Inconsolata"/>
              </a:rPr>
              <a:t>) % </a:t>
            </a:r>
            <a:r>
              <a:rPr sz="760" i="0">
                <a:solidFill>
                  <a:srgbClr val="F9C97A"/>
                </a:solidFill>
                <a:latin typeface="Inconsolata"/>
              </a:rPr>
              <a:t>990000</a:t>
            </a:r>
          </a:p>
          <a:p>
            <a:pPr>
              <a:lnSpc>
                <a:spcPct val="109601"/>
              </a:lnSpc>
              <a:spcAft>
                <a:spcPts val="0"/>
              </a:spcAft>
            </a:pPr>
            <a:r>
              <a:rPr sz="760" i="0">
                <a:solidFill>
                  <a:srgbClr val="5C6773"/>
                </a:solidFill>
                <a:latin typeface="Inconsolata"/>
              </a:rPr>
              <a:t>47  </a:t>
            </a:r>
            <a:r>
              <a:rPr sz="760" i="0">
                <a:solidFill>
                  <a:srgbClr val="7FDBCA"/>
                </a:solidFill>
                <a:latin typeface="Inconsolata"/>
              </a:rPr>
              <a:t>FROM</a:t>
            </a:r>
            <a:r>
              <a:rPr sz="760" i="0">
                <a:solidFill>
                  <a:srgbClr val="E6EDF3"/>
                </a:solidFill>
                <a:latin typeface="Inconsolata"/>
              </a:rPr>
              <a:t> generate_series(</a:t>
            </a:r>
            <a:r>
              <a:rPr sz="760" i="0">
                <a:solidFill>
                  <a:srgbClr val="F9C97A"/>
                </a:solidFill>
                <a:latin typeface="Inconsolata"/>
              </a:rPr>
              <a:t>1</a:t>
            </a:r>
            <a:r>
              <a:rPr sz="760" i="0">
                <a:solidFill>
                  <a:srgbClr val="E6EDF3"/>
                </a:solidFill>
                <a:latin typeface="Inconsolata"/>
              </a:rPr>
              <a:t>, </a:t>
            </a:r>
            <a:r>
              <a:rPr sz="760" i="0">
                <a:solidFill>
                  <a:srgbClr val="F9C97A"/>
                </a:solidFill>
                <a:latin typeface="Inconsolata"/>
              </a:rPr>
              <a:t>200</a:t>
            </a:r>
            <a:r>
              <a:rPr sz="760" i="0">
                <a:solidFill>
                  <a:srgbClr val="E6EDF3"/>
                </a:solidFill>
                <a:latin typeface="Inconsolata"/>
              </a:rPr>
              <a:t>) </a:t>
            </a:r>
            <a:r>
              <a:rPr sz="760" i="0">
                <a:solidFill>
                  <a:srgbClr val="7FDBCA"/>
                </a:solidFill>
                <a:latin typeface="Inconsolata"/>
              </a:rPr>
              <a:t>AS</a:t>
            </a:r>
            <a:r>
              <a:rPr sz="760" i="0">
                <a:solidFill>
                  <a:srgbClr val="E6EDF3"/>
                </a:solidFill>
                <a:latin typeface="Inconsolata"/>
              </a:rPr>
              <a:t> g;</a:t>
            </a:r>
          </a:p>
          <a:p>
            <a:pPr>
              <a:lnSpc>
                <a:spcPct val="109601"/>
              </a:lnSpc>
              <a:spcAft>
                <a:spcPts val="0"/>
              </a:spcAft>
            </a:pPr>
            <a:r>
              <a:rPr sz="760" i="0">
                <a:solidFill>
                  <a:srgbClr val="5C6773"/>
                </a:solidFill>
                <a:latin typeface="Inconsolata"/>
              </a:rPr>
              <a:t>48  </a:t>
            </a:r>
            <a:r>
              <a:rPr sz="760" i="0">
                <a:solidFill>
                  <a:srgbClr val="E6EDF3"/>
                </a:solidFill>
                <a:latin typeface="Inconsolata"/>
              </a:rPr>
              <a:t> </a:t>
            </a:r>
          </a:p>
          <a:p>
            <a:pPr>
              <a:lnSpc>
                <a:spcPct val="109601"/>
              </a:lnSpc>
              <a:spcAft>
                <a:spcPts val="0"/>
              </a:spcAft>
            </a:pPr>
            <a:r>
              <a:rPr sz="760" i="0">
                <a:solidFill>
                  <a:srgbClr val="5C6773"/>
                </a:solidFill>
                <a:latin typeface="Inconsolata"/>
              </a:rPr>
              <a:t>49  </a:t>
            </a:r>
            <a:r>
              <a:rPr sz="760" i="0">
                <a:solidFill>
                  <a:srgbClr val="E6EDF3"/>
                </a:solidFill>
                <a:latin typeface="Inconsolata"/>
              </a:rPr>
              <a:t>-- </a:t>
            </a:r>
            <a:r>
              <a:rPr sz="760" i="0">
                <a:solidFill>
                  <a:srgbClr val="F9C97A"/>
                </a:solidFill>
                <a:latin typeface="Inconsolata"/>
              </a:rPr>
              <a:t>200</a:t>
            </a:r>
            <a:r>
              <a:rPr sz="760" i="0">
                <a:solidFill>
                  <a:srgbClr val="E6EDF3"/>
                </a:solidFill>
                <a:latin typeface="Inconsolata"/>
              </a:rPr>
              <a:t>.</a:t>
            </a:r>
            <a:r>
              <a:rPr sz="760" i="0">
                <a:solidFill>
                  <a:srgbClr val="F9C97A"/>
                </a:solidFill>
                <a:latin typeface="Inconsolata"/>
              </a:rPr>
              <a:t>000</a:t>
            </a:r>
            <a:r>
              <a:rPr sz="760" i="0">
                <a:solidFill>
                  <a:srgbClr val="E6EDF3"/>
                </a:solidFill>
                <a:latin typeface="Inconsolata"/>
              </a:rPr>
              <a:t> order dari </a:t>
            </a:r>
            <a:r>
              <a:rPr sz="760" i="0">
                <a:solidFill>
                  <a:srgbClr val="F9C97A"/>
                </a:solidFill>
                <a:latin typeface="Inconsolata"/>
              </a:rPr>
              <a:t>5</a:t>
            </a:r>
            <a:r>
              <a:rPr sz="760" i="0">
                <a:solidFill>
                  <a:srgbClr val="E6EDF3"/>
                </a:solidFill>
                <a:latin typeface="Inconsolata"/>
              </a:rPr>
              <a:t>.</a:t>
            </a:r>
            <a:r>
              <a:rPr sz="760" i="0">
                <a:solidFill>
                  <a:srgbClr val="F9C97A"/>
                </a:solidFill>
                <a:latin typeface="Inconsolata"/>
              </a:rPr>
              <a:t>000</a:t>
            </a:r>
            <a:r>
              <a:rPr sz="760" i="0">
                <a:solidFill>
                  <a:srgbClr val="E6EDF3"/>
                </a:solidFill>
                <a:latin typeface="Inconsolata"/>
              </a:rPr>
              <a:t> customer, </a:t>
            </a:r>
            <a:r>
              <a:rPr sz="760" i="0">
                <a:solidFill>
                  <a:srgbClr val="F9C97A"/>
                </a:solidFill>
                <a:latin typeface="Inconsolata"/>
              </a:rPr>
              <a:t>1</a:t>
            </a:r>
            <a:r>
              <a:rPr sz="760" i="0">
                <a:solidFill>
                  <a:srgbClr val="E6EDF3"/>
                </a:solidFill>
                <a:latin typeface="Inconsolata"/>
              </a:rPr>
              <a:t> order per menit</a:t>
            </a:r>
          </a:p>
          <a:p>
            <a:pPr>
              <a:lnSpc>
                <a:spcPct val="109601"/>
              </a:lnSpc>
              <a:spcAft>
                <a:spcPts val="0"/>
              </a:spcAft>
            </a:pPr>
            <a:r>
              <a:rPr sz="760" i="0">
                <a:solidFill>
                  <a:srgbClr val="5C6773"/>
                </a:solidFill>
                <a:latin typeface="Inconsolata"/>
              </a:rPr>
              <a:t>50  </a:t>
            </a:r>
            <a:r>
              <a:rPr sz="760" i="0">
                <a:solidFill>
                  <a:srgbClr val="7FDBCA"/>
                </a:solidFill>
                <a:latin typeface="Inconsolata"/>
              </a:rPr>
              <a:t>INSERT</a:t>
            </a:r>
            <a:r>
              <a:rPr sz="760" i="0">
                <a:solidFill>
                  <a:srgbClr val="E6EDF3"/>
                </a:solidFill>
                <a:latin typeface="Inconsolata"/>
              </a:rPr>
              <a:t> </a:t>
            </a:r>
            <a:r>
              <a:rPr sz="760" i="0">
                <a:solidFill>
                  <a:srgbClr val="7FDBCA"/>
                </a:solidFill>
                <a:latin typeface="Inconsolata"/>
              </a:rPr>
              <a:t>INTO</a:t>
            </a:r>
            <a:r>
              <a:rPr sz="760" i="0">
                <a:solidFill>
                  <a:srgbClr val="E6EDF3"/>
                </a:solidFill>
                <a:latin typeface="Inconsolata"/>
              </a:rPr>
              <a:t> orders (customer, status, created_at)</a:t>
            </a:r>
          </a:p>
          <a:p>
            <a:pPr>
              <a:lnSpc>
                <a:spcPct val="109601"/>
              </a:lnSpc>
              <a:spcAft>
                <a:spcPts val="0"/>
              </a:spcAft>
            </a:pPr>
            <a:r>
              <a:rPr sz="760" i="0">
                <a:solidFill>
                  <a:srgbClr val="5C6773"/>
                </a:solidFill>
                <a:latin typeface="Inconsolata"/>
              </a:rPr>
              <a:t>51  </a:t>
            </a:r>
            <a:r>
              <a:rPr sz="760" i="0">
                <a:solidFill>
                  <a:srgbClr val="7FDBCA"/>
                </a:solidFill>
                <a:latin typeface="Inconsolata"/>
              </a:rPr>
              <a:t>SELECT</a:t>
            </a:r>
            <a:r>
              <a:rPr sz="760" i="0">
                <a:solidFill>
                  <a:srgbClr val="E6EDF3"/>
                </a:solidFill>
                <a:latin typeface="Inconsolata"/>
              </a:rPr>
              <a:t> </a:t>
            </a:r>
            <a:r>
              <a:rPr sz="760" i="0">
                <a:solidFill>
                  <a:srgbClr val="A5D6A7"/>
                </a:solidFill>
                <a:latin typeface="Inconsolata"/>
              </a:rPr>
              <a:t>'customer'</a:t>
            </a:r>
            <a:r>
              <a:rPr sz="760" i="0">
                <a:solidFill>
                  <a:srgbClr val="E6EDF3"/>
                </a:solidFill>
                <a:latin typeface="Inconsolata"/>
              </a:rPr>
              <a:t> || (g % </a:t>
            </a:r>
            <a:r>
              <a:rPr sz="760" i="0">
                <a:solidFill>
                  <a:srgbClr val="F9C97A"/>
                </a:solidFill>
                <a:latin typeface="Inconsolata"/>
              </a:rPr>
              <a:t>5000</a:t>
            </a:r>
            <a:r>
              <a:rPr sz="760" i="0">
                <a:solidFill>
                  <a:srgbClr val="E6EDF3"/>
                </a:solidFill>
                <a:latin typeface="Inconsolata"/>
              </a:rPr>
              <a:t>) || </a:t>
            </a:r>
            <a:r>
              <a:rPr sz="760" i="0">
                <a:solidFill>
                  <a:srgbClr val="A5D6A7"/>
                </a:solidFill>
                <a:latin typeface="Inconsolata"/>
              </a:rPr>
              <a:t>'@mail.com'</a:t>
            </a:r>
            <a:r>
              <a:rPr sz="760" i="0">
                <a:solidFill>
                  <a:srgbClr val="E6EDF3"/>
                </a:solidFill>
                <a:latin typeface="Inconsolata"/>
              </a:rPr>
              <a:t>,</a:t>
            </a:r>
          </a:p>
          <a:p>
            <a:pPr>
              <a:lnSpc>
                <a:spcPct val="109601"/>
              </a:lnSpc>
              <a:spcAft>
                <a:spcPts val="0"/>
              </a:spcAft>
            </a:pPr>
            <a:r>
              <a:rPr sz="760" i="0">
                <a:solidFill>
                  <a:srgbClr val="5C6773"/>
                </a:solidFill>
                <a:latin typeface="Inconsolata"/>
              </a:rPr>
              <a:t>52  </a:t>
            </a:r>
            <a:r>
              <a:rPr sz="760" i="0">
                <a:solidFill>
                  <a:srgbClr val="E6EDF3"/>
                </a:solidFill>
                <a:latin typeface="Inconsolata"/>
              </a:rPr>
              <a:t>       (</a:t>
            </a:r>
            <a:r>
              <a:rPr sz="760" i="0">
                <a:solidFill>
                  <a:srgbClr val="7FDBCA"/>
                </a:solidFill>
                <a:latin typeface="Inconsolata"/>
              </a:rPr>
              <a:t>ARRAY</a:t>
            </a:r>
            <a:r>
              <a:rPr sz="760" i="0">
                <a:solidFill>
                  <a:srgbClr val="E6EDF3"/>
                </a:solidFill>
                <a:latin typeface="Inconsolata"/>
              </a:rPr>
              <a:t>[</a:t>
            </a:r>
            <a:r>
              <a:rPr sz="760" i="0">
                <a:solidFill>
                  <a:srgbClr val="A5D6A7"/>
                </a:solidFill>
                <a:latin typeface="Inconsolata"/>
              </a:rPr>
              <a:t>'pending'</a:t>
            </a:r>
            <a:r>
              <a:rPr sz="760" i="0">
                <a:solidFill>
                  <a:srgbClr val="E6EDF3"/>
                </a:solidFill>
                <a:latin typeface="Inconsolata"/>
              </a:rPr>
              <a:t>, </a:t>
            </a:r>
            <a:r>
              <a:rPr sz="760" i="0">
                <a:solidFill>
                  <a:srgbClr val="A5D6A7"/>
                </a:solidFill>
                <a:latin typeface="Inconsolata"/>
              </a:rPr>
              <a:t>'paid'</a:t>
            </a:r>
            <a:r>
              <a:rPr sz="760" i="0">
                <a:solidFill>
                  <a:srgbClr val="E6EDF3"/>
                </a:solidFill>
                <a:latin typeface="Inconsolata"/>
              </a:rPr>
              <a:t>, </a:t>
            </a:r>
            <a:r>
              <a:rPr sz="760" i="0">
                <a:solidFill>
                  <a:srgbClr val="A5D6A7"/>
                </a:solidFill>
                <a:latin typeface="Inconsolata"/>
              </a:rPr>
              <a:t>'paid'</a:t>
            </a:r>
            <a:r>
              <a:rPr sz="760" i="0">
                <a:solidFill>
                  <a:srgbClr val="E6EDF3"/>
                </a:solidFill>
                <a:latin typeface="Inconsolata"/>
              </a:rPr>
              <a:t>, </a:t>
            </a:r>
            <a:r>
              <a:rPr sz="760" i="0">
                <a:solidFill>
                  <a:srgbClr val="A5D6A7"/>
                </a:solidFill>
                <a:latin typeface="Inconsolata"/>
              </a:rPr>
              <a:t>'cancelled'</a:t>
            </a:r>
            <a:r>
              <a:rPr sz="760" i="0">
                <a:solidFill>
                  <a:srgbClr val="E6EDF3"/>
                </a:solidFill>
                <a:latin typeface="Inconsolata"/>
              </a:rPr>
              <a:t>])[</a:t>
            </a:r>
            <a:r>
              <a:rPr sz="760" i="0">
                <a:solidFill>
                  <a:srgbClr val="F9C97A"/>
                </a:solidFill>
                <a:latin typeface="Inconsolata"/>
              </a:rPr>
              <a:t>1</a:t>
            </a:r>
            <a:r>
              <a:rPr sz="760" i="0">
                <a:solidFill>
                  <a:srgbClr val="E6EDF3"/>
                </a:solidFill>
                <a:latin typeface="Inconsolata"/>
              </a:rPr>
              <a:t> + g % </a:t>
            </a:r>
            <a:r>
              <a:rPr sz="760" i="0">
                <a:solidFill>
                  <a:srgbClr val="F9C97A"/>
                </a:solidFill>
                <a:latin typeface="Inconsolata"/>
              </a:rPr>
              <a:t>4</a:t>
            </a:r>
            <a:r>
              <a:rPr sz="760" i="0">
                <a:solidFill>
                  <a:srgbClr val="E6EDF3"/>
                </a:solidFill>
                <a:latin typeface="Inconsolata"/>
              </a:rPr>
              <a:t>],</a:t>
            </a:r>
          </a:p>
          <a:p>
            <a:pPr>
              <a:lnSpc>
                <a:spcPct val="109601"/>
              </a:lnSpc>
              <a:spcAft>
                <a:spcPts val="0"/>
              </a:spcAft>
            </a:pPr>
            <a:r>
              <a:rPr sz="760" i="0">
                <a:solidFill>
                  <a:srgbClr val="5C6773"/>
                </a:solidFill>
                <a:latin typeface="Inconsolata"/>
              </a:rPr>
              <a:t>53  </a:t>
            </a:r>
            <a:r>
              <a:rPr sz="760" i="0">
                <a:solidFill>
                  <a:srgbClr val="E6EDF3"/>
                </a:solidFill>
                <a:latin typeface="Inconsolata"/>
              </a:rPr>
              <a:t>       timestamp </a:t>
            </a:r>
            <a:r>
              <a:rPr sz="760" i="0">
                <a:solidFill>
                  <a:srgbClr val="A5D6A7"/>
                </a:solidFill>
                <a:latin typeface="Inconsolata"/>
              </a:rPr>
              <a:t>'2026-01-01'</a:t>
            </a:r>
            <a:r>
              <a:rPr sz="760" i="0">
                <a:solidFill>
                  <a:srgbClr val="E6EDF3"/>
                </a:solidFill>
                <a:latin typeface="Inconsolata"/>
              </a:rPr>
              <a:t> + g * interval </a:t>
            </a:r>
            <a:r>
              <a:rPr sz="760" i="0">
                <a:solidFill>
                  <a:srgbClr val="A5D6A7"/>
                </a:solidFill>
                <a:latin typeface="Inconsolata"/>
              </a:rPr>
              <a:t>'1 minute'</a:t>
            </a:r>
          </a:p>
          <a:p>
            <a:pPr>
              <a:lnSpc>
                <a:spcPct val="109601"/>
              </a:lnSpc>
              <a:spcAft>
                <a:spcPts val="0"/>
              </a:spcAft>
            </a:pPr>
            <a:r>
              <a:rPr sz="760" i="0">
                <a:solidFill>
                  <a:srgbClr val="5C6773"/>
                </a:solidFill>
                <a:latin typeface="Inconsolata"/>
              </a:rPr>
              <a:t>54  </a:t>
            </a:r>
            <a:r>
              <a:rPr sz="760" i="0">
                <a:solidFill>
                  <a:srgbClr val="7FDBCA"/>
                </a:solidFill>
                <a:latin typeface="Inconsolata"/>
              </a:rPr>
              <a:t>FROM</a:t>
            </a:r>
            <a:r>
              <a:rPr sz="760" i="0">
                <a:solidFill>
                  <a:srgbClr val="E6EDF3"/>
                </a:solidFill>
                <a:latin typeface="Inconsolata"/>
              </a:rPr>
              <a:t> generate_series(</a:t>
            </a:r>
            <a:r>
              <a:rPr sz="760" i="0">
                <a:solidFill>
                  <a:srgbClr val="F9C97A"/>
                </a:solidFill>
                <a:latin typeface="Inconsolata"/>
              </a:rPr>
              <a:t>1</a:t>
            </a:r>
            <a:r>
              <a:rPr sz="760" i="0">
                <a:solidFill>
                  <a:srgbClr val="E6EDF3"/>
                </a:solidFill>
                <a:latin typeface="Inconsolata"/>
              </a:rPr>
              <a:t>, </a:t>
            </a:r>
            <a:r>
              <a:rPr sz="760" i="0">
                <a:solidFill>
                  <a:srgbClr val="F9C97A"/>
                </a:solidFill>
                <a:latin typeface="Inconsolata"/>
              </a:rPr>
              <a:t>200000</a:t>
            </a:r>
            <a:r>
              <a:rPr sz="760" i="0">
                <a:solidFill>
                  <a:srgbClr val="E6EDF3"/>
                </a:solidFill>
                <a:latin typeface="Inconsolata"/>
              </a:rPr>
              <a:t>) </a:t>
            </a:r>
            <a:r>
              <a:rPr sz="760" i="0">
                <a:solidFill>
                  <a:srgbClr val="7FDBCA"/>
                </a:solidFill>
                <a:latin typeface="Inconsolata"/>
              </a:rPr>
              <a:t>AS</a:t>
            </a:r>
            <a:r>
              <a:rPr sz="760" i="0">
                <a:solidFill>
                  <a:srgbClr val="E6EDF3"/>
                </a:solidFill>
                <a:latin typeface="Inconsolata"/>
              </a:rPr>
              <a:t> g;</a:t>
            </a:r>
          </a:p>
          <a:p>
            <a:pPr>
              <a:lnSpc>
                <a:spcPct val="109601"/>
              </a:lnSpc>
              <a:spcAft>
                <a:spcPts val="0"/>
              </a:spcAft>
            </a:pPr>
            <a:r>
              <a:rPr sz="760" i="0">
                <a:solidFill>
                  <a:srgbClr val="5C6773"/>
                </a:solidFill>
                <a:latin typeface="Inconsolata"/>
              </a:rPr>
              <a:t>55  </a:t>
            </a:r>
            <a:r>
              <a:rPr sz="760" i="0">
                <a:solidFill>
                  <a:srgbClr val="E6EDF3"/>
                </a:solidFill>
                <a:latin typeface="Inconsolata"/>
              </a:rPr>
              <a:t> </a:t>
            </a:r>
          </a:p>
          <a:p>
            <a:pPr>
              <a:lnSpc>
                <a:spcPct val="109601"/>
              </a:lnSpc>
              <a:spcAft>
                <a:spcPts val="0"/>
              </a:spcAft>
            </a:pPr>
            <a:r>
              <a:rPr sz="760" i="0">
                <a:solidFill>
                  <a:srgbClr val="5C6773"/>
                </a:solidFill>
                <a:latin typeface="Inconsolata"/>
              </a:rPr>
              <a:t>56  </a:t>
            </a:r>
            <a:r>
              <a:rPr sz="760" i="0">
                <a:solidFill>
                  <a:srgbClr val="E6EDF3"/>
                </a:solidFill>
                <a:latin typeface="Inconsolata"/>
              </a:rPr>
              <a:t>-- </a:t>
            </a:r>
            <a:r>
              <a:rPr sz="760" i="0">
                <a:solidFill>
                  <a:srgbClr val="F9C97A"/>
                </a:solidFill>
                <a:latin typeface="Inconsolata"/>
              </a:rPr>
              <a:t>2</a:t>
            </a:r>
            <a:r>
              <a:rPr sz="760" i="0">
                <a:solidFill>
                  <a:srgbClr val="E6EDF3"/>
                </a:solidFill>
                <a:latin typeface="Inconsolata"/>
              </a:rPr>
              <a:t> item untuk setiap order (n = </a:t>
            </a:r>
            <a:r>
              <a:rPr sz="760" i="0">
                <a:solidFill>
                  <a:srgbClr val="F9C97A"/>
                </a:solidFill>
                <a:latin typeface="Inconsolata"/>
              </a:rPr>
              <a:t>1</a:t>
            </a:r>
            <a:r>
              <a:rPr sz="760" i="0">
                <a:solidFill>
                  <a:srgbClr val="E6EDF3"/>
                </a:solidFill>
                <a:latin typeface="Inconsolata"/>
              </a:rPr>
              <a:t> dan n = </a:t>
            </a:r>
            <a:r>
              <a:rPr sz="760" i="0">
                <a:solidFill>
                  <a:srgbClr val="F9C97A"/>
                </a:solidFill>
                <a:latin typeface="Inconsolata"/>
              </a:rPr>
              <a:t>2</a:t>
            </a:r>
            <a:r>
              <a:rPr sz="760" i="0">
                <a:solidFill>
                  <a:srgbClr val="E6EDF3"/>
                </a:solidFill>
                <a:latin typeface="Inconsolata"/>
              </a:rPr>
              <a:t>)</a:t>
            </a:r>
          </a:p>
          <a:p>
            <a:pPr>
              <a:lnSpc>
                <a:spcPct val="109601"/>
              </a:lnSpc>
              <a:spcAft>
                <a:spcPts val="0"/>
              </a:spcAft>
            </a:pPr>
            <a:r>
              <a:rPr sz="760" i="0">
                <a:solidFill>
                  <a:srgbClr val="5C6773"/>
                </a:solidFill>
                <a:latin typeface="Inconsolata"/>
              </a:rPr>
              <a:t>57  </a:t>
            </a:r>
            <a:r>
              <a:rPr sz="760" i="0">
                <a:solidFill>
                  <a:srgbClr val="7FDBCA"/>
                </a:solidFill>
                <a:latin typeface="Inconsolata"/>
              </a:rPr>
              <a:t>INSERT</a:t>
            </a:r>
            <a:r>
              <a:rPr sz="760" i="0">
                <a:solidFill>
                  <a:srgbClr val="E6EDF3"/>
                </a:solidFill>
                <a:latin typeface="Inconsolata"/>
              </a:rPr>
              <a:t> </a:t>
            </a:r>
            <a:r>
              <a:rPr sz="760" i="0">
                <a:solidFill>
                  <a:srgbClr val="7FDBCA"/>
                </a:solidFill>
                <a:latin typeface="Inconsolata"/>
              </a:rPr>
              <a:t>INTO</a:t>
            </a:r>
            <a:r>
              <a:rPr sz="760" i="0">
                <a:solidFill>
                  <a:srgbClr val="E6EDF3"/>
                </a:solidFill>
                <a:latin typeface="Inconsolata"/>
              </a:rPr>
              <a:t> order_lines (order_id, product_id, price, qty)</a:t>
            </a:r>
          </a:p>
          <a:p>
            <a:pPr>
              <a:lnSpc>
                <a:spcPct val="109601"/>
              </a:lnSpc>
              <a:spcAft>
                <a:spcPts val="0"/>
              </a:spcAft>
            </a:pPr>
            <a:r>
              <a:rPr sz="760" i="0">
                <a:solidFill>
                  <a:srgbClr val="5C6773"/>
                </a:solidFill>
                <a:latin typeface="Inconsolata"/>
              </a:rPr>
              <a:t>58  </a:t>
            </a:r>
            <a:r>
              <a:rPr sz="760" i="0">
                <a:solidFill>
                  <a:srgbClr val="7FDBCA"/>
                </a:solidFill>
                <a:latin typeface="Inconsolata"/>
              </a:rPr>
              <a:t>SELECT</a:t>
            </a:r>
            <a:r>
              <a:rPr sz="760" i="0">
                <a:solidFill>
                  <a:srgbClr val="E6EDF3"/>
                </a:solidFill>
                <a:latin typeface="Inconsolata"/>
              </a:rPr>
              <a:t> o.id, p.id, p.price, </a:t>
            </a:r>
            <a:r>
              <a:rPr sz="760" i="0">
                <a:solidFill>
                  <a:srgbClr val="F9C97A"/>
                </a:solidFill>
                <a:latin typeface="Inconsolata"/>
              </a:rPr>
              <a:t>1</a:t>
            </a:r>
            <a:r>
              <a:rPr sz="760" i="0">
                <a:solidFill>
                  <a:srgbClr val="E6EDF3"/>
                </a:solidFill>
                <a:latin typeface="Inconsolata"/>
              </a:rPr>
              <a:t> + (o.id + n) % </a:t>
            </a:r>
            <a:r>
              <a:rPr sz="760" i="0">
                <a:solidFill>
                  <a:srgbClr val="F9C97A"/>
                </a:solidFill>
                <a:latin typeface="Inconsolata"/>
              </a:rPr>
              <a:t>3</a:t>
            </a:r>
          </a:p>
          <a:p>
            <a:pPr>
              <a:lnSpc>
                <a:spcPct val="109601"/>
              </a:lnSpc>
              <a:spcAft>
                <a:spcPts val="0"/>
              </a:spcAft>
            </a:pPr>
            <a:r>
              <a:rPr sz="760" i="0">
                <a:solidFill>
                  <a:srgbClr val="5C6773"/>
                </a:solidFill>
                <a:latin typeface="Inconsolata"/>
              </a:rPr>
              <a:t>59  </a:t>
            </a:r>
            <a:r>
              <a:rPr sz="760" i="0">
                <a:solidFill>
                  <a:srgbClr val="7FDBCA"/>
                </a:solidFill>
                <a:latin typeface="Inconsolata"/>
              </a:rPr>
              <a:t>FROM</a:t>
            </a:r>
            <a:r>
              <a:rPr sz="760" i="0">
                <a:solidFill>
                  <a:srgbClr val="E6EDF3"/>
                </a:solidFill>
                <a:latin typeface="Inconsolata"/>
              </a:rPr>
              <a:t> orders </a:t>
            </a:r>
            <a:r>
              <a:rPr sz="760" i="0">
                <a:solidFill>
                  <a:srgbClr val="7FDBCA"/>
                </a:solidFill>
                <a:latin typeface="Inconsolata"/>
              </a:rPr>
              <a:t>AS</a:t>
            </a:r>
            <a:r>
              <a:rPr sz="760" i="0">
                <a:solidFill>
                  <a:srgbClr val="E6EDF3"/>
                </a:solidFill>
                <a:latin typeface="Inconsolata"/>
              </a:rPr>
              <a:t> o</a:t>
            </a:r>
          </a:p>
          <a:p>
            <a:pPr>
              <a:lnSpc>
                <a:spcPct val="109601"/>
              </a:lnSpc>
              <a:spcAft>
                <a:spcPts val="0"/>
              </a:spcAft>
            </a:pPr>
            <a:r>
              <a:rPr sz="760" i="0">
                <a:solidFill>
                  <a:srgbClr val="5C6773"/>
                </a:solidFill>
                <a:latin typeface="Inconsolata"/>
              </a:rPr>
              <a:t>60  </a:t>
            </a:r>
            <a:r>
              <a:rPr sz="760" i="0">
                <a:solidFill>
                  <a:srgbClr val="7FDBCA"/>
                </a:solidFill>
                <a:latin typeface="Inconsolata"/>
              </a:rPr>
              <a:t>CROSS</a:t>
            </a:r>
            <a:r>
              <a:rPr sz="760" i="0">
                <a:solidFill>
                  <a:srgbClr val="E6EDF3"/>
                </a:solidFill>
                <a:latin typeface="Inconsolata"/>
              </a:rPr>
              <a:t> </a:t>
            </a:r>
            <a:r>
              <a:rPr sz="760" i="0">
                <a:solidFill>
                  <a:srgbClr val="7FDBCA"/>
                </a:solidFill>
                <a:latin typeface="Inconsolata"/>
              </a:rPr>
              <a:t>JOIN</a:t>
            </a:r>
            <a:r>
              <a:rPr sz="760" i="0">
                <a:solidFill>
                  <a:srgbClr val="E6EDF3"/>
                </a:solidFill>
                <a:latin typeface="Inconsolata"/>
              </a:rPr>
              <a:t> generate_series(</a:t>
            </a:r>
            <a:r>
              <a:rPr sz="760" i="0">
                <a:solidFill>
                  <a:srgbClr val="F9C97A"/>
                </a:solidFill>
                <a:latin typeface="Inconsolata"/>
              </a:rPr>
              <a:t>1</a:t>
            </a:r>
            <a:r>
              <a:rPr sz="760" i="0">
                <a:solidFill>
                  <a:srgbClr val="E6EDF3"/>
                </a:solidFill>
                <a:latin typeface="Inconsolata"/>
              </a:rPr>
              <a:t>, </a:t>
            </a:r>
            <a:r>
              <a:rPr sz="760" i="0">
                <a:solidFill>
                  <a:srgbClr val="F9C97A"/>
                </a:solidFill>
                <a:latin typeface="Inconsolata"/>
              </a:rPr>
              <a:t>2</a:t>
            </a:r>
            <a:r>
              <a:rPr sz="760" i="0">
                <a:solidFill>
                  <a:srgbClr val="E6EDF3"/>
                </a:solidFill>
                <a:latin typeface="Inconsolata"/>
              </a:rPr>
              <a:t>) </a:t>
            </a:r>
            <a:r>
              <a:rPr sz="760" i="0">
                <a:solidFill>
                  <a:srgbClr val="7FDBCA"/>
                </a:solidFill>
                <a:latin typeface="Inconsolata"/>
              </a:rPr>
              <a:t>AS</a:t>
            </a:r>
            <a:r>
              <a:rPr sz="760" i="0">
                <a:solidFill>
                  <a:srgbClr val="E6EDF3"/>
                </a:solidFill>
                <a:latin typeface="Inconsolata"/>
              </a:rPr>
              <a:t> n</a:t>
            </a:r>
          </a:p>
          <a:p>
            <a:pPr>
              <a:lnSpc>
                <a:spcPct val="109601"/>
              </a:lnSpc>
              <a:spcAft>
                <a:spcPts val="0"/>
              </a:spcAft>
            </a:pPr>
            <a:r>
              <a:rPr sz="760" i="0">
                <a:solidFill>
                  <a:srgbClr val="5C6773"/>
                </a:solidFill>
                <a:latin typeface="Inconsolata"/>
              </a:rPr>
              <a:t>61  </a:t>
            </a:r>
            <a:r>
              <a:rPr sz="760" i="0">
                <a:solidFill>
                  <a:srgbClr val="7FDBCA"/>
                </a:solidFill>
                <a:latin typeface="Inconsolata"/>
              </a:rPr>
              <a:t>JOIN</a:t>
            </a:r>
            <a:r>
              <a:rPr sz="760" i="0">
                <a:solidFill>
                  <a:srgbClr val="E6EDF3"/>
                </a:solidFill>
                <a:latin typeface="Inconsolata"/>
              </a:rPr>
              <a:t> products </a:t>
            </a:r>
            <a:r>
              <a:rPr sz="760" i="0">
                <a:solidFill>
                  <a:srgbClr val="7FDBCA"/>
                </a:solidFill>
                <a:latin typeface="Inconsolata"/>
              </a:rPr>
              <a:t>AS</a:t>
            </a:r>
            <a:r>
              <a:rPr sz="760" i="0">
                <a:solidFill>
                  <a:srgbClr val="E6EDF3"/>
                </a:solidFill>
                <a:latin typeface="Inconsolata"/>
              </a:rPr>
              <a:t> p </a:t>
            </a:r>
            <a:r>
              <a:rPr sz="760" i="0">
                <a:solidFill>
                  <a:srgbClr val="7FDBCA"/>
                </a:solidFill>
                <a:latin typeface="Inconsolata"/>
              </a:rPr>
              <a:t>ON</a:t>
            </a:r>
            <a:r>
              <a:rPr sz="760" i="0">
                <a:solidFill>
                  <a:srgbClr val="E6EDF3"/>
                </a:solidFill>
                <a:latin typeface="Inconsolata"/>
              </a:rPr>
              <a:t> p.id = </a:t>
            </a:r>
            <a:r>
              <a:rPr sz="760" i="0">
                <a:solidFill>
                  <a:srgbClr val="F9C97A"/>
                </a:solidFill>
                <a:latin typeface="Inconsolata"/>
              </a:rPr>
              <a:t>1</a:t>
            </a:r>
            <a:r>
              <a:rPr sz="760" i="0">
                <a:solidFill>
                  <a:srgbClr val="E6EDF3"/>
                </a:solidFill>
                <a:latin typeface="Inconsolata"/>
              </a:rPr>
              <a:t> + (o.id * </a:t>
            </a:r>
            <a:r>
              <a:rPr sz="760" i="0">
                <a:solidFill>
                  <a:srgbClr val="F9C97A"/>
                </a:solidFill>
                <a:latin typeface="Inconsolata"/>
              </a:rPr>
              <a:t>7</a:t>
            </a:r>
            <a:r>
              <a:rPr sz="760" i="0">
                <a:solidFill>
                  <a:srgbClr val="E6EDF3"/>
                </a:solidFill>
                <a:latin typeface="Inconsolata"/>
              </a:rPr>
              <a:t> + n) % </a:t>
            </a:r>
            <a:r>
              <a:rPr sz="760" i="0">
                <a:solidFill>
                  <a:srgbClr val="F9C97A"/>
                </a:solidFill>
                <a:latin typeface="Inconsolata"/>
              </a:rPr>
              <a:t>200</a:t>
            </a:r>
            <a:r>
              <a:rPr sz="760"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seed_demo.py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9601"/>
              </a:lnSpc>
              <a:spcAft>
                <a:spcPts val="0"/>
              </a:spcAft>
            </a:pPr>
            <a:r>
              <a:rPr sz="760" i="0">
                <a:solidFill>
                  <a:srgbClr val="5C6773"/>
                </a:solidFill>
                <a:latin typeface="Inconsolata"/>
              </a:rPr>
              <a:t>63  </a:t>
            </a:r>
            <a:r>
              <a:rPr sz="760" i="0">
                <a:solidFill>
                  <a:srgbClr val="E6EDF3"/>
                </a:solidFill>
                <a:latin typeface="Inconsolata"/>
              </a:rPr>
              <a:t>-- perbarui statistik tabel untuk execution plan</a:t>
            </a:r>
          </a:p>
          <a:p>
            <a:pPr>
              <a:lnSpc>
                <a:spcPct val="109601"/>
              </a:lnSpc>
              <a:spcAft>
                <a:spcPts val="0"/>
              </a:spcAft>
            </a:pPr>
            <a:r>
              <a:rPr sz="760" i="0">
                <a:solidFill>
                  <a:srgbClr val="5C6773"/>
                </a:solidFill>
                <a:latin typeface="Inconsolata"/>
              </a:rPr>
              <a:t>64  </a:t>
            </a:r>
            <a:r>
              <a:rPr sz="760" i="0">
                <a:solidFill>
                  <a:srgbClr val="7FDBCA"/>
                </a:solidFill>
                <a:latin typeface="Inconsolata"/>
              </a:rPr>
              <a:t>ANALYZE</a:t>
            </a:r>
            <a:r>
              <a:rPr sz="760" i="0">
                <a:solidFill>
                  <a:srgbClr val="E6EDF3"/>
                </a:solidFill>
                <a:latin typeface="Inconsolata"/>
              </a:rPr>
              <a:t>;</a:t>
            </a:r>
          </a:p>
          <a:p>
            <a:pPr>
              <a:lnSpc>
                <a:spcPct val="109601"/>
              </a:lnSpc>
              <a:spcAft>
                <a:spcPts val="0"/>
              </a:spcAft>
            </a:pPr>
            <a:r>
              <a:rPr sz="760" i="0">
                <a:solidFill>
                  <a:srgbClr val="5C6773"/>
                </a:solidFill>
                <a:latin typeface="Inconsolata"/>
              </a:rPr>
              <a:t>65  </a:t>
            </a:r>
            <a:r>
              <a:rPr sz="760" i="0">
                <a:solidFill>
                  <a:srgbClr val="A5D6A7"/>
                </a:solidFill>
                <a:latin typeface="Inconsolata"/>
              </a:rPr>
              <a:t>""</a:t>
            </a:r>
            <a:r>
              <a:rPr sz="760" i="0">
                <a:solidFill>
                  <a:srgbClr val="E6EDF3"/>
                </a:solidFill>
                <a:latin typeface="Inconsolata"/>
              </a:rPr>
              <a:t>"</a:t>
            </a:r>
          </a:p>
          <a:p>
            <a:pPr>
              <a:lnSpc>
                <a:spcPct val="109601"/>
              </a:lnSpc>
              <a:spcAft>
                <a:spcPts val="0"/>
              </a:spcAft>
            </a:pPr>
            <a:r>
              <a:rPr sz="760" i="0">
                <a:solidFill>
                  <a:srgbClr val="5C6773"/>
                </a:solidFill>
                <a:latin typeface="Inconsolata"/>
              </a:rPr>
              <a:t>66  </a:t>
            </a:r>
            <a:r>
              <a:rPr sz="760" i="0">
                <a:solidFill>
                  <a:srgbClr val="E6EDF3"/>
                </a:solidFill>
                <a:latin typeface="Inconsolata"/>
              </a:rPr>
              <a:t> </a:t>
            </a:r>
          </a:p>
          <a:p>
            <a:pPr>
              <a:lnSpc>
                <a:spcPct val="109601"/>
              </a:lnSpc>
              <a:spcAft>
                <a:spcPts val="0"/>
              </a:spcAft>
            </a:pPr>
            <a:r>
              <a:rPr sz="760" i="0">
                <a:solidFill>
                  <a:srgbClr val="5C6773"/>
                </a:solidFill>
                <a:latin typeface="Inconsolata"/>
              </a:rPr>
              <a:t>67  </a:t>
            </a:r>
            <a:r>
              <a:rPr sz="760" i="0">
                <a:solidFill>
                  <a:srgbClr val="FF8E6E"/>
                </a:solidFill>
                <a:latin typeface="Inconsolata"/>
              </a:rPr>
              <a:t>if</a:t>
            </a:r>
            <a:r>
              <a:rPr sz="760" i="0">
                <a:solidFill>
                  <a:srgbClr val="E6EDF3"/>
                </a:solidFill>
                <a:latin typeface="Inconsolata"/>
              </a:rPr>
              <a:t> __name__ == </a:t>
            </a:r>
            <a:r>
              <a:rPr sz="760" i="0">
                <a:solidFill>
                  <a:srgbClr val="A5D6A7"/>
                </a:solidFill>
                <a:latin typeface="Inconsolata"/>
              </a:rPr>
              <a:t>"__main__"</a:t>
            </a:r>
            <a:r>
              <a:rPr sz="760" i="0">
                <a:solidFill>
                  <a:srgbClr val="E6EDF3"/>
                </a:solidFill>
                <a:latin typeface="Inconsolata"/>
              </a:rPr>
              <a:t>:</a:t>
            </a:r>
          </a:p>
          <a:p>
            <a:pPr>
              <a:lnSpc>
                <a:spcPct val="109601"/>
              </a:lnSpc>
              <a:spcAft>
                <a:spcPts val="0"/>
              </a:spcAft>
            </a:pPr>
            <a:r>
              <a:rPr sz="760" i="0">
                <a:solidFill>
                  <a:srgbClr val="5C6773"/>
                </a:solidFill>
                <a:latin typeface="Inconsolata"/>
              </a:rPr>
              <a:t>68  </a:t>
            </a:r>
            <a:r>
              <a:rPr sz="760" i="0">
                <a:solidFill>
                  <a:srgbClr val="E6EDF3"/>
                </a:solidFill>
                <a:latin typeface="Inconsolata"/>
              </a:rPr>
              <a:t>    start = time.perf_counter()</a:t>
            </a:r>
          </a:p>
          <a:p>
            <a:pPr>
              <a:lnSpc>
                <a:spcPct val="109601"/>
              </a:lnSpc>
              <a:spcAft>
                <a:spcPts val="0"/>
              </a:spcAft>
            </a:pPr>
            <a:r>
              <a:rPr sz="760" i="0">
                <a:solidFill>
                  <a:srgbClr val="5C6773"/>
                </a:solidFill>
                <a:latin typeface="Inconsolata"/>
              </a:rPr>
              <a:t>69  </a:t>
            </a:r>
            <a:r>
              <a:rPr sz="760" i="0">
                <a:solidFill>
                  <a:srgbClr val="E6EDF3"/>
                </a:solidFill>
                <a:latin typeface="Inconsolata"/>
              </a:rPr>
              <a:t>    engine = create_engine(</a:t>
            </a:r>
            <a:r>
              <a:rPr sz="760" i="0">
                <a:solidFill>
                  <a:srgbClr val="7FDBCA"/>
                </a:solidFill>
                <a:latin typeface="Inconsolata"/>
              </a:rPr>
              <a:t>DB_URL</a:t>
            </a:r>
            <a:r>
              <a:rPr sz="760" i="0">
                <a:solidFill>
                  <a:srgbClr val="E6EDF3"/>
                </a:solidFill>
                <a:latin typeface="Inconsolata"/>
              </a:rPr>
              <a:t>)</a:t>
            </a:r>
          </a:p>
          <a:p>
            <a:pPr>
              <a:lnSpc>
                <a:spcPct val="109601"/>
              </a:lnSpc>
              <a:spcAft>
                <a:spcPts val="0"/>
              </a:spcAft>
            </a:pPr>
            <a:r>
              <a:rPr sz="760" i="0">
                <a:solidFill>
                  <a:srgbClr val="5C6773"/>
                </a:solidFill>
                <a:latin typeface="Inconsolata"/>
              </a:rPr>
              <a:t>70  </a:t>
            </a:r>
            <a:r>
              <a:rPr sz="760" i="0">
                <a:solidFill>
                  <a:srgbClr val="E6EDF3"/>
                </a:solidFill>
                <a:latin typeface="Inconsolata"/>
              </a:rPr>
              <a:t>    </a:t>
            </a:r>
            <a:r>
              <a:rPr sz="760" i="0">
                <a:solidFill>
                  <a:srgbClr val="FF8E6E"/>
                </a:solidFill>
                <a:latin typeface="Inconsolata"/>
              </a:rPr>
              <a:t>with</a:t>
            </a:r>
            <a:r>
              <a:rPr sz="760" i="0">
                <a:solidFill>
                  <a:srgbClr val="E6EDF3"/>
                </a:solidFill>
                <a:latin typeface="Inconsolata"/>
              </a:rPr>
              <a:t> engine.begin() </a:t>
            </a:r>
            <a:r>
              <a:rPr sz="760" i="0">
                <a:solidFill>
                  <a:srgbClr val="FF8E6E"/>
                </a:solidFill>
                <a:latin typeface="Inconsolata"/>
              </a:rPr>
              <a:t>as</a:t>
            </a:r>
            <a:r>
              <a:rPr sz="760" i="0">
                <a:solidFill>
                  <a:srgbClr val="E6EDF3"/>
                </a:solidFill>
                <a:latin typeface="Inconsolata"/>
              </a:rPr>
              <a:t> conn:</a:t>
            </a:r>
          </a:p>
          <a:p>
            <a:pPr>
              <a:lnSpc>
                <a:spcPct val="109601"/>
              </a:lnSpc>
              <a:spcAft>
                <a:spcPts val="0"/>
              </a:spcAft>
            </a:pPr>
            <a:r>
              <a:rPr sz="760" i="0">
                <a:solidFill>
                  <a:srgbClr val="5C6773"/>
                </a:solidFill>
                <a:latin typeface="Inconsolata"/>
              </a:rPr>
              <a:t>71  </a:t>
            </a:r>
            <a:r>
              <a:rPr sz="760" i="0">
                <a:solidFill>
                  <a:srgbClr val="E6EDF3"/>
                </a:solidFill>
                <a:latin typeface="Inconsolata"/>
              </a:rPr>
              <a:t>        conn.execute(text(</a:t>
            </a:r>
            <a:r>
              <a:rPr sz="760" i="0">
                <a:solidFill>
                  <a:srgbClr val="7FDBCA"/>
                </a:solidFill>
                <a:latin typeface="Inconsolata"/>
              </a:rPr>
              <a:t>SCHEMA</a:t>
            </a:r>
            <a:r>
              <a:rPr sz="760" i="0">
                <a:solidFill>
                  <a:srgbClr val="E6EDF3"/>
                </a:solidFill>
                <a:latin typeface="Inconsolata"/>
              </a:rPr>
              <a:t>))</a:t>
            </a:r>
          </a:p>
          <a:p>
            <a:pPr>
              <a:lnSpc>
                <a:spcPct val="109601"/>
              </a:lnSpc>
              <a:spcAft>
                <a:spcPts val="0"/>
              </a:spcAft>
            </a:pPr>
            <a:r>
              <a:rPr sz="760" i="0">
                <a:solidFill>
                  <a:srgbClr val="5C6773"/>
                </a:solidFill>
                <a:latin typeface="Inconsolata"/>
              </a:rPr>
              <a:t>72  </a:t>
            </a:r>
            <a:r>
              <a:rPr sz="760" i="0">
                <a:solidFill>
                  <a:srgbClr val="E6EDF3"/>
                </a:solidFill>
                <a:latin typeface="Inconsolata"/>
              </a:rPr>
              <a:t>        conn.execute(text(</a:t>
            </a:r>
            <a:r>
              <a:rPr sz="760" i="0">
                <a:solidFill>
                  <a:srgbClr val="7FDBCA"/>
                </a:solidFill>
                <a:latin typeface="Inconsolata"/>
              </a:rPr>
              <a:t>SEED</a:t>
            </a:r>
            <a:r>
              <a:rPr sz="760" i="0">
                <a:solidFill>
                  <a:srgbClr val="E6EDF3"/>
                </a:solidFill>
                <a:latin typeface="Inconsolata"/>
              </a:rPr>
              <a:t>))</a:t>
            </a:r>
          </a:p>
          <a:p>
            <a:pPr>
              <a:lnSpc>
                <a:spcPct val="109601"/>
              </a:lnSpc>
              <a:spcAft>
                <a:spcPts val="0"/>
              </a:spcAft>
            </a:pPr>
            <a:r>
              <a:rPr sz="760" i="0">
                <a:solidFill>
                  <a:srgbClr val="5C6773"/>
                </a:solidFill>
                <a:latin typeface="Inconsolata"/>
              </a:rPr>
              <a:t>73  </a:t>
            </a:r>
            <a:r>
              <a:rPr sz="760" i="0">
                <a:solidFill>
                  <a:srgbClr val="E6EDF3"/>
                </a:solidFill>
                <a:latin typeface="Inconsolata"/>
              </a:rPr>
              <a:t>        counts = {}</a:t>
            </a:r>
          </a:p>
          <a:p>
            <a:pPr>
              <a:lnSpc>
                <a:spcPct val="109601"/>
              </a:lnSpc>
              <a:spcAft>
                <a:spcPts val="0"/>
              </a:spcAft>
            </a:pPr>
            <a:r>
              <a:rPr sz="760" i="0">
                <a:solidFill>
                  <a:srgbClr val="5C6773"/>
                </a:solidFill>
                <a:latin typeface="Inconsolata"/>
              </a:rPr>
              <a:t>74  </a:t>
            </a:r>
            <a:r>
              <a:rPr sz="760" i="0">
                <a:solidFill>
                  <a:srgbClr val="E6EDF3"/>
                </a:solidFill>
                <a:latin typeface="Inconsolata"/>
              </a:rPr>
              <a:t>        </a:t>
            </a:r>
            <a:r>
              <a:rPr sz="760" i="0">
                <a:solidFill>
                  <a:srgbClr val="FF8E6E"/>
                </a:solidFill>
                <a:latin typeface="Inconsolata"/>
              </a:rPr>
              <a:t>for</a:t>
            </a:r>
            <a:r>
              <a:rPr sz="760" i="0">
                <a:solidFill>
                  <a:srgbClr val="E6EDF3"/>
                </a:solidFill>
                <a:latin typeface="Inconsolata"/>
              </a:rPr>
              <a:t> table </a:t>
            </a:r>
            <a:r>
              <a:rPr sz="760" i="0">
                <a:solidFill>
                  <a:srgbClr val="FF8E6E"/>
                </a:solidFill>
                <a:latin typeface="Inconsolata"/>
              </a:rPr>
              <a:t>in</a:t>
            </a:r>
            <a:r>
              <a:rPr sz="760" i="0">
                <a:solidFill>
                  <a:srgbClr val="E6EDF3"/>
                </a:solidFill>
                <a:latin typeface="Inconsolata"/>
              </a:rPr>
              <a:t> (</a:t>
            </a:r>
            <a:r>
              <a:rPr sz="760" i="0">
                <a:solidFill>
                  <a:srgbClr val="A5D6A7"/>
                </a:solidFill>
                <a:latin typeface="Inconsolata"/>
              </a:rPr>
              <a:t>"products"</a:t>
            </a:r>
            <a:r>
              <a:rPr sz="760" i="0">
                <a:solidFill>
                  <a:srgbClr val="E6EDF3"/>
                </a:solidFill>
                <a:latin typeface="Inconsolata"/>
              </a:rPr>
              <a:t>, </a:t>
            </a:r>
            <a:r>
              <a:rPr sz="760" i="0">
                <a:solidFill>
                  <a:srgbClr val="A5D6A7"/>
                </a:solidFill>
                <a:latin typeface="Inconsolata"/>
              </a:rPr>
              <a:t>"orders"</a:t>
            </a:r>
            <a:r>
              <a:rPr sz="760" i="0">
                <a:solidFill>
                  <a:srgbClr val="E6EDF3"/>
                </a:solidFill>
                <a:latin typeface="Inconsolata"/>
              </a:rPr>
              <a:t>, </a:t>
            </a:r>
            <a:r>
              <a:rPr sz="760" i="0">
                <a:solidFill>
                  <a:srgbClr val="A5D6A7"/>
                </a:solidFill>
                <a:latin typeface="Inconsolata"/>
              </a:rPr>
              <a:t>"order_lines"</a:t>
            </a:r>
            <a:r>
              <a:rPr sz="760" i="0">
                <a:solidFill>
                  <a:srgbClr val="E6EDF3"/>
                </a:solidFill>
                <a:latin typeface="Inconsolata"/>
              </a:rPr>
              <a:t>):</a:t>
            </a:r>
          </a:p>
          <a:p>
            <a:pPr>
              <a:lnSpc>
                <a:spcPct val="109601"/>
              </a:lnSpc>
              <a:spcAft>
                <a:spcPts val="0"/>
              </a:spcAft>
            </a:pPr>
            <a:r>
              <a:rPr sz="760" i="0">
                <a:solidFill>
                  <a:srgbClr val="5C6773"/>
                </a:solidFill>
                <a:latin typeface="Inconsolata"/>
              </a:rPr>
              <a:t>75  </a:t>
            </a:r>
            <a:r>
              <a:rPr sz="760" i="0">
                <a:solidFill>
                  <a:srgbClr val="E6EDF3"/>
                </a:solidFill>
                <a:latin typeface="Inconsolata"/>
              </a:rPr>
              <a:t>            counts[table] = conn.execute(</a:t>
            </a:r>
          </a:p>
          <a:p>
            <a:pPr>
              <a:lnSpc>
                <a:spcPct val="109601"/>
              </a:lnSpc>
              <a:spcAft>
                <a:spcPts val="0"/>
              </a:spcAft>
            </a:pPr>
            <a:r>
              <a:rPr sz="760" i="0">
                <a:solidFill>
                  <a:srgbClr val="5C6773"/>
                </a:solidFill>
                <a:latin typeface="Inconsolata"/>
              </a:rPr>
              <a:t>76  </a:t>
            </a:r>
            <a:r>
              <a:rPr sz="760" i="0">
                <a:solidFill>
                  <a:srgbClr val="E6EDF3"/>
                </a:solidFill>
                <a:latin typeface="Inconsolata"/>
              </a:rPr>
              <a:t>                text(</a:t>
            </a:r>
            <a:r>
              <a:rPr sz="760" i="0">
                <a:solidFill>
                  <a:srgbClr val="A5D6A7"/>
                </a:solidFill>
                <a:latin typeface="Inconsolata"/>
              </a:rPr>
              <a:t>f"SELECT count(*) FROM {table}"</a:t>
            </a:r>
            <a:r>
              <a:rPr sz="760" i="0">
                <a:solidFill>
                  <a:srgbClr val="E6EDF3"/>
                </a:solidFill>
                <a:latin typeface="Inconsolata"/>
              </a:rPr>
              <a:t>)).scalar()</a:t>
            </a:r>
          </a:p>
          <a:p>
            <a:pPr>
              <a:lnSpc>
                <a:spcPct val="109601"/>
              </a:lnSpc>
              <a:spcAft>
                <a:spcPts val="0"/>
              </a:spcAft>
            </a:pPr>
            <a:r>
              <a:rPr sz="760" i="0">
                <a:solidFill>
                  <a:srgbClr val="5C6773"/>
                </a:solidFill>
                <a:latin typeface="Inconsolata"/>
              </a:rPr>
              <a:t>77  </a:t>
            </a:r>
            <a:r>
              <a:rPr sz="760" i="0">
                <a:solidFill>
                  <a:srgbClr val="E6EDF3"/>
                </a:solidFill>
                <a:latin typeface="Inconsolata"/>
              </a:rPr>
              <a:t>    seconds = time.perf_counter() - start</a:t>
            </a:r>
          </a:p>
          <a:p>
            <a:pPr>
              <a:lnSpc>
                <a:spcPct val="109601"/>
              </a:lnSpc>
              <a:spcAft>
                <a:spcPts val="0"/>
              </a:spcAft>
            </a:pPr>
            <a:r>
              <a:rPr sz="760" i="0">
                <a:solidFill>
                  <a:srgbClr val="5C6773"/>
                </a:solidFill>
                <a:latin typeface="Inconsolata"/>
              </a:rPr>
              <a:t>78  </a:t>
            </a:r>
            <a:r>
              <a:rPr sz="760" i="0">
                <a:solidFill>
                  <a:srgbClr val="E6EDF3"/>
                </a:solidFill>
                <a:latin typeface="Inconsolata"/>
              </a:rPr>
              <a:t>    </a:t>
            </a:r>
            <a:r>
              <a:rPr sz="760" i="0">
                <a:solidFill>
                  <a:srgbClr val="C3A6FF"/>
                </a:solidFill>
                <a:latin typeface="Inconsolata"/>
              </a:rPr>
              <a:t>print</a:t>
            </a:r>
            <a:r>
              <a:rPr sz="760" i="0">
                <a:solidFill>
                  <a:srgbClr val="E6EDF3"/>
                </a:solidFill>
                <a:latin typeface="Inconsolata"/>
              </a:rPr>
              <a:t>(counts, </a:t>
            </a:r>
            <a:r>
              <a:rPr sz="760" i="0">
                <a:solidFill>
                  <a:srgbClr val="A5D6A7"/>
                </a:solidFill>
                <a:latin typeface="Inconsolata"/>
              </a:rPr>
              <a:t>f"selesai dalam {seconds:.1f} detik"</a:t>
            </a:r>
            <a:r>
              <a:rPr sz="760" i="0">
                <a:solidFill>
                  <a:srgbClr val="E6EDF3"/>
                </a:solidFill>
                <a:latin typeface="Inconsolata"/>
              </a:rPr>
              <a:t>)</a:t>
            </a:r>
          </a:p>
        </p:txBody>
      </p:sp>
      <p:sp>
        <p:nvSpPr>
          <p:cNvPr id="36" name="Box 21"/>
          <p:cNvSpPr/>
          <p:nvPr/>
        </p:nvSpPr>
        <p:spPr>
          <a:xfrm>
            <a:off x="704088" y="2589022"/>
            <a:ext cx="3694176"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847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8" name="Box 23"/>
          <p:cNvSpPr/>
          <p:nvPr/>
        </p:nvSpPr>
        <p:spPr>
          <a:xfrm>
            <a:off x="704088" y="3478022"/>
            <a:ext cx="3694176"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736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0" name="Box 25"/>
          <p:cNvSpPr/>
          <p:nvPr/>
        </p:nvSpPr>
        <p:spPr>
          <a:xfrm>
            <a:off x="4709159" y="1954022"/>
            <a:ext cx="3694176"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1894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42" name="Box 27"/>
          <p:cNvSpPr/>
          <p:nvPr/>
        </p:nvSpPr>
        <p:spPr>
          <a:xfrm>
            <a:off x="4709159" y="3097022"/>
            <a:ext cx="3694176"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3" name="Box 28"/>
          <p:cNvSpPr/>
          <p:nvPr/>
        </p:nvSpPr>
        <p:spPr>
          <a:xfrm>
            <a:off x="8284463" y="3355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seed_demo.py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621792"/>
          </a:xfrm>
          <a:prstGeom prst="roundRect">
            <a:avLst>
              <a:gd name="adj" fmla="val 294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62179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sesi-07-database-optimization</a:t>
            </a:r>
          </a:p>
          <a:p>
            <a:pPr>
              <a:lnSpc>
                <a:spcPct val="107843"/>
              </a:lnSpc>
              <a:spcAft>
                <a:spcPts val="0"/>
              </a:spcAft>
            </a:pPr>
            <a:r>
              <a:rPr sz="850" i="0">
                <a:solidFill>
                  <a:srgbClr val="82B1FF"/>
                </a:solidFill>
                <a:latin typeface="Inconsolata"/>
              </a:rPr>
              <a:t>$ docker compose up -d</a:t>
            </a:r>
          </a:p>
          <a:p>
            <a:pPr>
              <a:lnSpc>
                <a:spcPct val="107843"/>
              </a:lnSpc>
              <a:spcAft>
                <a:spcPts val="0"/>
              </a:spcAft>
            </a:pPr>
            <a:r>
              <a:rPr sz="850" i="0">
                <a:solidFill>
                  <a:srgbClr val="82B1FF"/>
                </a:solidFill>
                <a:latin typeface="Inconsolata"/>
              </a:rPr>
              <a:t>$ python seed_demo.py</a:t>
            </a:r>
          </a:p>
        </p:txBody>
      </p:sp>
      <p:pic>
        <p:nvPicPr>
          <p:cNvPr id="29" name="Image 12" descr="s07-seed.png"/>
          <p:cNvPicPr>
            <a:picLocks noChangeAspect="1"/>
          </p:cNvPicPr>
          <p:nvPr/>
        </p:nvPicPr>
        <p:blipFill>
          <a:blip r:embed="rId2"/>
          <a:stretch>
            <a:fillRect/>
          </a:stretch>
        </p:blipFill>
        <p:spPr>
          <a:xfrm>
            <a:off x="621792" y="2459736"/>
            <a:ext cx="4297680" cy="60781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Yang dilakukan script</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Tiga tabel dibuat ulang </a:t>
            </a:r>
            <a:r>
              <a:rPr sz="950" b="1" i="0">
                <a:solidFill>
                  <a:srgbClr val="434343"/>
                </a:solidFill>
                <a:latin typeface="Inter"/>
              </a:rPr>
              <a:t>tanpa index</a:t>
            </a:r>
            <a:r>
              <a:rPr sz="950" b="0" i="0">
                <a:solidFill>
                  <a:srgbClr val="434343"/>
                </a:solidFill>
                <a:latin typeface="Inter"/>
              </a:rPr>
              <a:t> selain primary key, supaya query lambatnya terlihat (baris 19-39)</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generate_series(1, 200000)</a:t>
            </a:r>
            <a:r>
              <a:rPr sz="950" b="0" i="0">
                <a:solidFill>
                  <a:srgbClr val="434343"/>
                </a:solidFill>
                <a:latin typeface="Inter"/>
              </a:rPr>
              <a:t> membuat angka 1 sampai 200.000. Satu angka menjadi satu order. Customer, status, dan tanggal dihitung dari angka itu (baris 49-54)</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CROSS JOIN generate_series(1, 2)</a:t>
            </a:r>
            <a:r>
              <a:rPr sz="950" b="0" i="0">
                <a:solidFill>
                  <a:srgbClr val="434343"/>
                </a:solidFill>
                <a:latin typeface="Inter"/>
              </a:rPr>
              <a:t> membuat 2 item untuk setiap order (baris 56-61)</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ANALYZE</a:t>
            </a:r>
            <a:r>
              <a:rPr sz="950" b="0" i="0">
                <a:solidFill>
                  <a:srgbClr val="434343"/>
                </a:solidFill>
                <a:latin typeface="Inter"/>
              </a:rPr>
              <a:t> memperbarui statistik tabel yang dipakai PostgreSQL untuk menyusun execution plan (baris 64)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Jumlah baris tiap tabel dicetak di akhir (baris 73-78)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SQL/ORM Optimization</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Execution plan, index, dan N+1 query.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Execution Plan?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Execution plan adalah</a:t>
            </a:r>
          </a:p>
          <a:p>
            <a:pPr algn="l">
              <a:lnSpc>
                <a:spcPct val="115000"/>
              </a:lnSpc>
              <a:spcAft>
                <a:spcPts val="400"/>
              </a:spcAft>
            </a:pPr>
            <a:r>
              <a:rPr sz="900" b="0" i="0">
                <a:solidFill>
                  <a:srgbClr val="434343"/>
                </a:solidFill>
                <a:latin typeface="Inter"/>
              </a:rPr>
              <a:t>Langkah-langkah yang dipilih database untuk menjalankan sebuah query: tabel mana yang dibaca, lewat index atau tidak, dan berapa baris yang diproses. Di PostgreSQL, execution plan ditampilkan dengan </a:t>
            </a:r>
            <a:r>
              <a:rPr sz="900" b="1" i="0">
                <a:solidFill>
                  <a:srgbClr val="434343"/>
                </a:solidFill>
                <a:latin typeface="Inter"/>
              </a:rPr>
              <a:t>EXPLAIN ANALYZE</a:t>
            </a:r>
            <a:r>
              <a:rPr sz="900" b="0" i="0">
                <a:solidFill>
                  <a:srgbClr val="434343"/>
                </a:solidFill>
                <a:latin typeface="Inter"/>
              </a:rPr>
              <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Mencari penyebab query lambat berdasarkan data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Mengetahui apakah index benar-benar dipakai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Membandingkan query sebelum dan sesudah diperbaiki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hanya mengukur waktu: 01-explain-analyze/before.py</a:t>
            </a:r>
          </a:p>
        </p:txBody>
      </p:sp>
      <p:sp>
        <p:nvSpPr>
          <p:cNvPr id="28" name="CodeBg 11"/>
          <p:cNvSpPr/>
          <p:nvPr/>
        </p:nvSpPr>
        <p:spPr>
          <a:xfrm>
            <a:off x="4297680" y="1719072"/>
            <a:ext cx="4187951" cy="1664208"/>
          </a:xfrm>
          <a:prstGeom prst="roundRect">
            <a:avLst>
              <a:gd name="adj" fmla="val 1098"/>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664208"/>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start = time.perf_counter()</a:t>
            </a:r>
          </a:p>
          <a:p>
            <a:pPr>
              <a:lnSpc>
                <a:spcPct val="107843"/>
              </a:lnSpc>
              <a:spcAft>
                <a:spcPts val="0"/>
              </a:spcAft>
            </a:pPr>
            <a:r>
              <a:rPr sz="850" i="0">
                <a:solidFill>
                  <a:srgbClr val="E6EDF3"/>
                </a:solidFill>
                <a:latin typeface="Inconsolata"/>
              </a:rPr>
              <a:t>        rows = order_history(conn, </a:t>
            </a:r>
            <a:r>
              <a:rPr sz="850" i="0">
                <a:solidFill>
                  <a:srgbClr val="A5D6A7"/>
                </a:solidFill>
                <a:latin typeface="Inconsolata"/>
              </a:rPr>
              <a:t>"customer42@mail.com"</a:t>
            </a:r>
            <a:r>
              <a:rPr sz="850" i="0">
                <a:solidFill>
                  <a:srgbClr val="E6EDF3"/>
                </a:solidFill>
                <a:latin typeface="Inconsolata"/>
              </a:rPr>
              <a:t>)</a:t>
            </a:r>
          </a:p>
          <a:p>
            <a:pPr>
              <a:lnSpc>
                <a:spcPct val="107843"/>
              </a:lnSpc>
              <a:spcAft>
                <a:spcPts val="0"/>
              </a:spcAft>
            </a:pPr>
            <a:r>
              <a:rPr sz="850" i="0">
                <a:solidFill>
                  <a:srgbClr val="E6EDF3"/>
                </a:solidFill>
                <a:latin typeface="Inconsolata"/>
              </a:rPr>
              <a:t>        ms = (time.perf_counter() - start) * </a:t>
            </a:r>
            <a:r>
              <a:rPr sz="850" i="0">
                <a:solidFill>
                  <a:srgbClr val="F9C97A"/>
                </a:solidFill>
                <a:latin typeface="Inconsolata"/>
              </a:rPr>
              <a:t>1000</a:t>
            </a:r>
          </a:p>
          <a:p>
            <a:pPr>
              <a:lnSpc>
                <a:spcPct val="107843"/>
              </a:lnSpc>
              <a:spcAft>
                <a:spcPts val="0"/>
              </a:spcAft>
            </a:pPr>
            <a:r>
              <a:rPr sz="850" i="0">
                <a:solidFill>
                  <a:srgbClr val="E6EDF3"/>
                </a:solidFill>
                <a:latin typeface="Inconsolata"/>
              </a:rPr>
              <a:t>        </a:t>
            </a:r>
            <a:r>
              <a:rPr sz="850" i="0">
                <a:solidFill>
                  <a:srgbClr val="C3A6FF"/>
                </a:solidFill>
                <a:latin typeface="Inconsolata"/>
              </a:rPr>
              <a:t>print</a:t>
            </a:r>
            <a:r>
              <a:rPr sz="850" i="0">
                <a:solidFill>
                  <a:srgbClr val="E6EDF3"/>
                </a:solidFill>
                <a:latin typeface="Inconsolata"/>
              </a:rPr>
              <a:t>(</a:t>
            </a:r>
            <a:r>
              <a:rPr sz="850" i="0">
                <a:solidFill>
                  <a:srgbClr val="A5D6A7"/>
                </a:solidFill>
                <a:latin typeface="Inconsolata"/>
              </a:rPr>
              <a:t>f"{len(rows)} order, {ms:.1f} ms. "</a:t>
            </a:r>
          </a:p>
          <a:p>
            <a:pPr>
              <a:lnSpc>
                <a:spcPct val="107843"/>
              </a:lnSpc>
              <a:spcAft>
                <a:spcPts val="0"/>
              </a:spcAft>
            </a:pPr>
            <a:r>
              <a:rPr sz="850" i="0">
                <a:solidFill>
                  <a:srgbClr val="E6EDF3"/>
                </a:solidFill>
                <a:latin typeface="Inconsolata"/>
              </a:rPr>
              <a:t>              </a:t>
            </a:r>
            <a:r>
              <a:rPr sz="850" i="0">
                <a:solidFill>
                  <a:srgbClr val="A5D6A7"/>
                </a:solidFill>
                <a:latin typeface="Inconsolata"/>
              </a:rPr>
              <a:t>"Kita belum mengetahui penyebab lambatnya query."</a:t>
            </a:r>
            <a:r>
              <a:rPr sz="850" i="0">
                <a:solidFill>
                  <a:srgbClr val="E6EDF3"/>
                </a:solidFill>
                <a:latin typeface="Inconsolata"/>
              </a:rPr>
              <a:t>)</a:t>
            </a:r>
          </a:p>
        </p:txBody>
      </p:sp>
      <p:sp>
        <p:nvSpPr>
          <p:cNvPr id="30" name="Box 13"/>
          <p:cNvSpPr/>
          <p:nvPr/>
        </p:nvSpPr>
        <p:spPr>
          <a:xfrm>
            <a:off x="4379976" y="1828673"/>
            <a:ext cx="4023359" cy="410718"/>
          </a:xfrm>
          <a:prstGeom prst="roundRect">
            <a:avLst>
              <a:gd name="adj" fmla="val 11131"/>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4747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5524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5524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5524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48386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execution plan: 01-explain-analyze/after.py</a:t>
            </a:r>
          </a:p>
        </p:txBody>
      </p:sp>
      <p:sp>
        <p:nvSpPr>
          <p:cNvPr id="36" name="CodeBg 21"/>
          <p:cNvSpPr/>
          <p:nvPr/>
        </p:nvSpPr>
        <p:spPr>
          <a:xfrm>
            <a:off x="4297680" y="3712464"/>
            <a:ext cx="4187951" cy="987551"/>
          </a:xfrm>
          <a:prstGeom prst="roundRect">
            <a:avLst>
              <a:gd name="adj" fmla="val 185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712464"/>
            <a:ext cx="4187951" cy="987551"/>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explain</a:t>
            </a:r>
            <a:r>
              <a:rPr sz="850" i="0">
                <a:solidFill>
                  <a:srgbClr val="E6EDF3"/>
                </a:solidFill>
                <a:latin typeface="Inconsolata"/>
              </a:rPr>
              <a:t>(conn, sql: </a:t>
            </a:r>
            <a:r>
              <a:rPr sz="850" i="0">
                <a:solidFill>
                  <a:srgbClr val="C3A6FF"/>
                </a:solidFill>
                <a:latin typeface="Inconsolata"/>
              </a:rPr>
              <a:t>str</a:t>
            </a:r>
            <a:r>
              <a:rPr sz="850" i="0">
                <a:solidFill>
                  <a:srgbClr val="E6EDF3"/>
                </a:solidFill>
                <a:latin typeface="Inconsolata"/>
              </a:rPr>
              <a:t>, params: </a:t>
            </a:r>
            <a:r>
              <a:rPr sz="850" i="0">
                <a:solidFill>
                  <a:srgbClr val="C3A6FF"/>
                </a:solidFill>
                <a:latin typeface="Inconsolata"/>
              </a:rPr>
              <a:t>dict</a:t>
            </a:r>
            <a:r>
              <a:rPr sz="850" i="0">
                <a:solidFill>
                  <a:srgbClr val="E6EDF3"/>
                </a:solidFill>
                <a:latin typeface="Inconsolata"/>
              </a:rPr>
              <a:t>) -&gt; </a:t>
            </a:r>
            <a:r>
              <a:rPr sz="850" i="0">
                <a:solidFill>
                  <a:srgbClr val="C3A6FF"/>
                </a:solidFill>
                <a:latin typeface="Inconsolata"/>
              </a:rPr>
              <a:t>list</a:t>
            </a:r>
            <a:r>
              <a:rPr sz="850" i="0">
                <a:solidFill>
                  <a:srgbClr val="E6EDF3"/>
                </a:solidFill>
                <a:latin typeface="Inconsolata"/>
              </a:rPr>
              <a:t>[</a:t>
            </a:r>
            <a:r>
              <a:rPr sz="850" i="0">
                <a:solidFill>
                  <a:srgbClr val="C3A6FF"/>
                </a:solidFill>
                <a:latin typeface="Inconsolata"/>
              </a:rPr>
              <a:t>str</a:t>
            </a:r>
            <a:r>
              <a:rPr sz="850" i="0">
                <a:solidFill>
                  <a:srgbClr val="E6EDF3"/>
                </a:solidFill>
                <a:latin typeface="Inconsolata"/>
              </a:rPr>
              <a:t>]:</a:t>
            </a:r>
          </a:p>
          <a:p>
            <a:pPr>
              <a:lnSpc>
                <a:spcPct val="107843"/>
              </a:lnSpc>
              <a:spcAft>
                <a:spcPts val="0"/>
              </a:spcAft>
            </a:pPr>
            <a:r>
              <a:rPr sz="850" i="0">
                <a:solidFill>
                  <a:srgbClr val="E6EDF3"/>
                </a:solidFill>
                <a:latin typeface="Inconsolata"/>
              </a:rPr>
              <a:t>    plan = conn.execute(text(</a:t>
            </a:r>
            <a:r>
              <a:rPr sz="850" i="0">
                <a:solidFill>
                  <a:srgbClr val="A5D6A7"/>
                </a:solidFill>
                <a:latin typeface="Inconsolata"/>
              </a:rPr>
              <a:t>"EXPLAIN ANALYZE "</a:t>
            </a:r>
            <a:r>
              <a:rPr sz="850" i="0">
                <a:solidFill>
                  <a:srgbClr val="E6EDF3"/>
                </a:solidFill>
                <a:latin typeface="Inconsolata"/>
              </a:rPr>
              <a:t> + sql), params)</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plan.scalars().all()</a:t>
            </a:r>
          </a:p>
        </p:txBody>
      </p:sp>
      <p:sp>
        <p:nvSpPr>
          <p:cNvPr id="38" name="Box 23"/>
          <p:cNvSpPr/>
          <p:nvPr/>
        </p:nvSpPr>
        <p:spPr>
          <a:xfrm>
            <a:off x="4379976" y="3961765"/>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EXPLAIN ANALYZE?</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EXPLAIN ANALYZE</a:t>
            </a:r>
          </a:p>
          <a:p>
            <a:pPr algn="l">
              <a:lnSpc>
                <a:spcPct val="115000"/>
              </a:lnSpc>
              <a:spcAft>
                <a:spcPts val="400"/>
              </a:spcAft>
            </a:pPr>
            <a:r>
              <a:rPr sz="950" b="0" i="0">
                <a:solidFill>
                  <a:srgbClr val="434343"/>
                </a:solidFill>
                <a:latin typeface="Inter"/>
              </a:rPr>
              <a:t>Kita hanya tahu endpoint riwayat order lambat, tanpa tahu langkah mana yang lambat. Solusinya ditebak, misalnya menambah server atau memasang cache.</a:t>
            </a:r>
          </a:p>
          <a:p>
            <a:pPr algn="l">
              <a:lnSpc>
                <a:spcPct val="115000"/>
              </a:lnSpc>
              <a:spcAft>
                <a:spcPts val="400"/>
              </a:spcAft>
            </a:pPr>
            <a:r>
              <a:rPr sz="1050" b="1" i="0">
                <a:solidFill>
                  <a:srgbClr val="1C4587"/>
                </a:solidFill>
                <a:latin typeface="Inter"/>
              </a:rPr>
              <a:t>Jika datanya makin banyak</a:t>
            </a:r>
          </a:p>
          <a:p>
            <a:pPr algn="l">
              <a:lnSpc>
                <a:spcPct val="115000"/>
              </a:lnSpc>
              <a:spcAft>
                <a:spcPts val="400"/>
              </a:spcAft>
            </a:pPr>
            <a:r>
              <a:rPr sz="950" b="0" i="0">
                <a:solidFill>
                  <a:srgbClr val="434343"/>
                </a:solidFill>
                <a:latin typeface="Inter"/>
              </a:rPr>
              <a:t>Query yang dulu cepat menjadi lambat, dan tebakan yang salah tidak menyelesaikan masalah.</a:t>
            </a:r>
          </a:p>
          <a:p>
            <a:pPr algn="l">
              <a:lnSpc>
                <a:spcPct val="115000"/>
              </a:lnSpc>
              <a:spcAft>
                <a:spcPts val="400"/>
              </a:spcAft>
            </a:pPr>
            <a:r>
              <a:rPr sz="950" b="0" i="0">
                <a:solidFill>
                  <a:srgbClr val="434343"/>
                </a:solidFill>
                <a:latin typeface="Inter"/>
              </a:rPr>
              <a:t>Hal ini membuat waktu dan biaya habis untuk perbaikan yang tidak tepat sasaran.</a:t>
            </a:r>
          </a:p>
          <a:p>
            <a:pPr algn="l">
              <a:lnSpc>
                <a:spcPct val="115000"/>
              </a:lnSpc>
              <a:spcAft>
                <a:spcPts val="400"/>
              </a:spcAft>
            </a:pPr>
            <a:r>
              <a:rPr sz="1050" b="1" i="0">
                <a:solidFill>
                  <a:srgbClr val="1C4587"/>
                </a:solidFill>
                <a:latin typeface="Inter"/>
              </a:rPr>
              <a:t>Yang dipakai dari PostgreSQL: EXPLAIN ANALYZE</a:t>
            </a:r>
          </a:p>
          <a:p>
            <a:pPr algn="l">
              <a:lnSpc>
                <a:spcPct val="115000"/>
              </a:lnSpc>
              <a:spcAft>
                <a:spcPts val="400"/>
              </a:spcAft>
            </a:pPr>
            <a:r>
              <a:rPr sz="950" b="0" i="0">
                <a:solidFill>
                  <a:srgbClr val="434343"/>
                </a:solidFill>
                <a:latin typeface="Inter"/>
              </a:rPr>
              <a:t>Ditulis sebelum query. PostgreSQL menjalankan query itu, lalu mengembalikan execution plan beserta waktu sebenarnya.</a:t>
            </a:r>
          </a:p>
        </p:txBody>
      </p:sp>
      <p:graphicFrame>
        <p:nvGraphicFramePr>
          <p:cNvPr id="23" name="Table 4"/>
          <p:cNvGraphicFramePr>
            <a:graphicFrameLocks noGrp="1"/>
          </p:cNvGraphicFramePr>
          <p:nvPr/>
        </p:nvGraphicFramePr>
        <p:xfrm>
          <a:off x="4800600" y="1481328"/>
          <a:ext cx="3685032" cy="2304288"/>
        </p:xfrm>
        <a:graphic>
          <a:graphicData uri="http://schemas.openxmlformats.org/drawingml/2006/table">
            <a:tbl>
              <a:tblPr firstRow="1" bandRow="1"/>
              <a:tblGrid>
                <a:gridCol w="176479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850" b="1" i="0">
                          <a:solidFill>
                            <a:srgbClr val="FFFFFF"/>
                          </a:solidFill>
                          <a:latin typeface="Inter"/>
                        </a:rPr>
                        <a:t>Di execution plan</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850" b="1" i="0">
                          <a:solidFill>
                            <a:srgbClr val="1C4587"/>
                          </a:solidFill>
                          <a:latin typeface="Inter"/>
                        </a:rPr>
                        <a:t>Seq Scan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Membaca seluruh tabel, baris demi baris</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850" b="1" i="0">
                          <a:solidFill>
                            <a:srgbClr val="1C4587"/>
                          </a:solidFill>
                          <a:latin typeface="Inter"/>
                        </a:rPr>
                        <a:t>Index Scan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Langsung ke baris yang dicari lewat index</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850" b="1" i="0">
                          <a:solidFill>
                            <a:srgbClr val="1C4587"/>
                          </a:solidFill>
                          <a:latin typeface="Inter"/>
                        </a:rPr>
                        <a:t>Rows Removed by Filter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Baris yang dibaca lalu dibuang</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850" b="1" i="0">
                          <a:solidFill>
                            <a:srgbClr val="1C4587"/>
                          </a:solidFill>
                          <a:latin typeface="Inter"/>
                        </a:rPr>
                        <a:t>Sort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Hasil diurutkan setelah dibaca</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850" b="1" i="0">
                          <a:solidFill>
                            <a:srgbClr val="1C4587"/>
                          </a:solidFill>
                          <a:latin typeface="Inter"/>
                        </a:rPr>
                        <a:t>Execution Time</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Total waktu query di database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hanya tahu query lambat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01-explain-analyze/before.py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12  </a:t>
            </a:r>
            <a:r>
              <a:rPr sz="719" i="0">
                <a:solidFill>
                  <a:srgbClr val="E6EDF3"/>
                </a:solidFill>
                <a:latin typeface="Inconsolata"/>
              </a:rPr>
              <a:t> </a:t>
            </a:r>
          </a:p>
          <a:p>
            <a:pPr>
              <a:lnSpc>
                <a:spcPct val="104277"/>
              </a:lnSpc>
              <a:spcAft>
                <a:spcPts val="0"/>
              </a:spcAft>
            </a:pPr>
            <a:r>
              <a:rPr sz="719" i="0">
                <a:solidFill>
                  <a:srgbClr val="5C6773"/>
                </a:solidFill>
                <a:latin typeface="Inconsolata"/>
              </a:rPr>
              <a:t>13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14  </a:t>
            </a:r>
            <a:r>
              <a:rPr sz="719" i="0">
                <a:solidFill>
                  <a:srgbClr val="E6EDF3"/>
                </a:solidFill>
                <a:latin typeface="Inconsolata"/>
              </a:rPr>
              <a:t> </a:t>
            </a:r>
          </a:p>
          <a:p>
            <a:pPr>
              <a:lnSpc>
                <a:spcPct val="104277"/>
              </a:lnSpc>
              <a:spcAft>
                <a:spcPts val="0"/>
              </a:spcAft>
            </a:pPr>
            <a:r>
              <a:rPr sz="719" i="0">
                <a:solidFill>
                  <a:srgbClr val="5C6773"/>
                </a:solidFill>
                <a:latin typeface="Inconsolata"/>
              </a:rPr>
              <a:t>15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7FDBCA"/>
                </a:solidFill>
                <a:latin typeface="Inconsolata"/>
              </a:rPr>
              <a:t>HISTORY</a:t>
            </a:r>
            <a:r>
              <a:rPr sz="719" i="0">
                <a:solidFill>
                  <a:srgbClr val="E6EDF3"/>
                </a:solidFill>
                <a:latin typeface="Inconsolata"/>
              </a:rPr>
              <a:t> = text(</a:t>
            </a:r>
            <a:r>
              <a:rPr sz="719" i="0">
                <a:solidFill>
                  <a:srgbClr val="A5D6A7"/>
                </a:solidFill>
                <a:latin typeface="Inconsolata"/>
              </a:rPr>
              <a:t>"""</a:t>
            </a:r>
          </a:p>
          <a:p>
            <a:pPr>
              <a:lnSpc>
                <a:spcPct val="104277"/>
              </a:lnSpc>
              <a:spcAft>
                <a:spcPts val="0"/>
              </a:spcAft>
            </a:pPr>
            <a:r>
              <a:rPr sz="719" i="0">
                <a:solidFill>
                  <a:srgbClr val="5C6773"/>
                </a:solidFill>
                <a:latin typeface="Inconsolata"/>
              </a:rPr>
              <a:t>20  </a:t>
            </a:r>
            <a:r>
              <a:rPr sz="719" i="0">
                <a:solidFill>
                  <a:srgbClr val="A5D6A7"/>
                </a:solidFill>
                <a:latin typeface="Inconsolata"/>
              </a:rPr>
              <a:t>    SELECT id, status, created_at FROM orders</a:t>
            </a:r>
          </a:p>
          <a:p>
            <a:pPr>
              <a:lnSpc>
                <a:spcPct val="104277"/>
              </a:lnSpc>
              <a:spcAft>
                <a:spcPts val="0"/>
              </a:spcAft>
            </a:pPr>
            <a:r>
              <a:rPr sz="719" i="0">
                <a:solidFill>
                  <a:srgbClr val="5C6773"/>
                </a:solidFill>
                <a:latin typeface="Inconsolata"/>
              </a:rPr>
              <a:t>21  </a:t>
            </a:r>
            <a:r>
              <a:rPr sz="719" i="0">
                <a:solidFill>
                  <a:srgbClr val="A5D6A7"/>
                </a:solidFill>
                <a:latin typeface="Inconsolata"/>
              </a:rPr>
              <a:t>    WHERE customer = :customer</a:t>
            </a:r>
          </a:p>
          <a:p>
            <a:pPr>
              <a:lnSpc>
                <a:spcPct val="104277"/>
              </a:lnSpc>
              <a:spcAft>
                <a:spcPts val="0"/>
              </a:spcAft>
            </a:pPr>
            <a:r>
              <a:rPr sz="719" i="0">
                <a:solidFill>
                  <a:srgbClr val="5C6773"/>
                </a:solidFill>
                <a:latin typeface="Inconsolata"/>
              </a:rPr>
              <a:t>22  </a:t>
            </a:r>
            <a:r>
              <a:rPr sz="719" i="0">
                <a:solidFill>
                  <a:srgbClr val="A5D6A7"/>
                </a:solidFill>
                <a:latin typeface="Inconsolata"/>
              </a:rPr>
              <a:t>    ORDER BY created_at DESC</a:t>
            </a:r>
          </a:p>
          <a:p>
            <a:pPr>
              <a:lnSpc>
                <a:spcPct val="104277"/>
              </a:lnSpc>
              <a:spcAft>
                <a:spcPts val="0"/>
              </a:spcAft>
            </a:pPr>
            <a:r>
              <a:rPr sz="719" i="0">
                <a:solidFill>
                  <a:srgbClr val="5C6773"/>
                </a:solidFill>
                <a:latin typeface="Inconsolata"/>
              </a:rPr>
              <a:t>23  </a:t>
            </a:r>
            <a:r>
              <a:rPr sz="719" i="0">
                <a:solidFill>
                  <a:srgbClr val="A5D6A7"/>
                </a:solidFill>
                <a:latin typeface="Inconsolata"/>
              </a:rPr>
              <a:t>    LIMIT 10</a:t>
            </a:r>
          </a:p>
          <a:p>
            <a:pPr>
              <a:lnSpc>
                <a:spcPct val="104277"/>
              </a:lnSpc>
              <a:spcAft>
                <a:spcPts val="0"/>
              </a:spcAft>
            </a:pPr>
            <a:r>
              <a:rPr sz="719" i="0">
                <a:solidFill>
                  <a:srgbClr val="5C6773"/>
                </a:solidFill>
                <a:latin typeface="Inconsolata"/>
              </a:rPr>
              <a:t>24  </a:t>
            </a:r>
            <a:r>
              <a:rPr sz="719" i="0">
                <a:solidFill>
                  <a:srgbClr val="A5D6A7"/>
                </a:solidFill>
                <a:latin typeface="Inconsolata"/>
              </a:rPr>
              <a:t>"""</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01-explain-analyze/before.py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27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order_history</a:t>
            </a:r>
            <a:r>
              <a:rPr sz="719" i="0">
                <a:solidFill>
                  <a:srgbClr val="E6EDF3"/>
                </a:solidFill>
                <a:latin typeface="Inconsolata"/>
              </a:rPr>
              <a:t>(conn, customer: </a:t>
            </a:r>
            <a:r>
              <a:rPr sz="719" i="0">
                <a:solidFill>
                  <a:srgbClr val="C3A6FF"/>
                </a:solidFill>
                <a:latin typeface="Inconsolata"/>
              </a:rPr>
              <a:t>str</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conn.execute(</a:t>
            </a:r>
            <a:r>
              <a:rPr sz="719" i="0">
                <a:solidFill>
                  <a:srgbClr val="7FDBCA"/>
                </a:solidFill>
                <a:latin typeface="Inconsolata"/>
              </a:rPr>
              <a:t>HISTORY</a:t>
            </a:r>
            <a:r>
              <a:rPr sz="719" i="0">
                <a:solidFill>
                  <a:srgbClr val="E6EDF3"/>
                </a:solidFill>
                <a:latin typeface="Inconsolata"/>
              </a:rPr>
              <a:t>, {</a:t>
            </a:r>
            <a:r>
              <a:rPr sz="719" i="0">
                <a:solidFill>
                  <a:srgbClr val="A5D6A7"/>
                </a:solidFill>
                <a:latin typeface="Inconsolata"/>
              </a:rPr>
              <a:t>"customer"</a:t>
            </a:r>
            <a:r>
              <a:rPr sz="719" i="0">
                <a:solidFill>
                  <a:srgbClr val="E6EDF3"/>
                </a:solidFill>
                <a:latin typeface="Inconsolata"/>
              </a:rPr>
              <a:t>: customer}).all()</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p>
          <a:p>
            <a:pPr>
              <a:lnSpc>
                <a:spcPct val="104277"/>
              </a:lnSpc>
              <a:spcAft>
                <a:spcPts val="0"/>
              </a:spcAft>
            </a:pPr>
            <a:r>
              <a:rPr sz="719" i="0">
                <a:solidFill>
                  <a:srgbClr val="5C6773"/>
                </a:solidFill>
                <a:latin typeface="Inconsolata"/>
              </a:rPr>
              <a:t>31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engine.begin()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33  </a:t>
            </a:r>
            <a:r>
              <a:rPr sz="719" i="0">
                <a:solidFill>
                  <a:srgbClr val="E6EDF3"/>
                </a:solidFill>
                <a:latin typeface="Inconsolata"/>
              </a:rPr>
              <a:t>        conn.execute(text(               </a:t>
            </a:r>
            <a:r>
              <a:rPr sz="719" i="1">
                <a:solidFill>
                  <a:srgbClr val="8B98A8"/>
                </a:solidFill>
                <a:latin typeface="Inconsolata"/>
              </a:rPr>
              <a:t># mulai tanpa index</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A5D6A7"/>
                </a:solidFill>
                <a:latin typeface="Inconsolata"/>
              </a:rPr>
              <a:t>"DROP INDEX IF EXISTS ix_orders_customer_created"</a:t>
            </a:r>
            <a:r>
              <a:rPr sz="719" i="0">
                <a:solidFill>
                  <a:srgbClr val="E6EDF3"/>
                </a:solidFill>
                <a:latin typeface="Inconsolata"/>
              </a:rPr>
              <a:t>))</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37  </a:t>
            </a:r>
            <a:r>
              <a:rPr sz="719" i="0">
                <a:solidFill>
                  <a:srgbClr val="E6EDF3"/>
                </a:solidFill>
                <a:latin typeface="Inconsolata"/>
              </a:rPr>
              <a:t>        rows = order_history(conn, </a:t>
            </a:r>
            <a:r>
              <a:rPr sz="719" i="0">
                <a:solidFill>
                  <a:srgbClr val="A5D6A7"/>
                </a:solidFill>
                <a:latin typeface="Inconsolata"/>
              </a:rPr>
              <a:t>"customer42@mail.com"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ms = (time.perf_counter() - start) * </a:t>
            </a:r>
            <a:r>
              <a:rPr sz="719" i="0">
                <a:solidFill>
                  <a:srgbClr val="F9C97A"/>
                </a:solidFill>
                <a:latin typeface="Inconsolata"/>
              </a:rPr>
              <a:t>1000</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f"{len(rows)} order, {ms:.1f} ms. "</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A5D6A7"/>
                </a:solidFill>
                <a:latin typeface="Inconsolata"/>
              </a:rPr>
              <a:t>"Kita belum mengetahui penyebab lambatnya query."</a:t>
            </a:r>
            <a:r>
              <a:rPr sz="719" i="0">
                <a:solidFill>
                  <a:srgbClr val="E6EDF3"/>
                </a:solidFill>
                <a:latin typeface="Inconsolata"/>
              </a:rPr>
              <a:t>)</a:t>
            </a:r>
          </a:p>
        </p:txBody>
      </p:sp>
      <p:sp>
        <p:nvSpPr>
          <p:cNvPr id="36" name="Box 21"/>
          <p:cNvSpPr/>
          <p:nvPr/>
        </p:nvSpPr>
        <p:spPr>
          <a:xfrm>
            <a:off x="704088" y="2854071"/>
            <a:ext cx="3694176" cy="564642"/>
          </a:xfrm>
          <a:prstGeom prst="roundRect">
            <a:avLst>
              <a:gd name="adj" fmla="val 80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0175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6254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5603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8540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9603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01-explain-analyze/before.py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sesi-07-database-optimization/01-explain-analyze</a:t>
            </a:r>
          </a:p>
          <a:p>
            <a:pPr>
              <a:lnSpc>
                <a:spcPct val="111111"/>
              </a:lnSpc>
              <a:spcAft>
                <a:spcPts val="0"/>
              </a:spcAft>
            </a:pPr>
            <a:r>
              <a:rPr sz="900" i="0">
                <a:solidFill>
                  <a:srgbClr val="82B1FF"/>
                </a:solidFill>
                <a:latin typeface="Inconsolata"/>
              </a:rPr>
              <a:t>$ python before.py</a:t>
            </a:r>
          </a:p>
        </p:txBody>
      </p:sp>
      <p:pic>
        <p:nvPicPr>
          <p:cNvPr id="29" name="Image 12" descr="s07-01-explain-analyze-before.png"/>
          <p:cNvPicPr>
            <a:picLocks noChangeAspect="1"/>
          </p:cNvPicPr>
          <p:nvPr/>
        </p:nvPicPr>
        <p:blipFill>
          <a:blip r:embed="rId2"/>
          <a:stretch>
            <a:fillRect/>
          </a:stretch>
        </p:blipFill>
        <p:spPr>
          <a:xfrm>
            <a:off x="621792" y="2322576"/>
            <a:ext cx="4297680" cy="709117"/>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Query riwayat order customer, 10 terbaru (baris 19-23)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Index dihapus dulu, supaya kondisinya sama dengan tabel baru (baris 34)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Yang diukur hanya waktunya (baris 36-39)</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Hasilnya hanya angka milidetik, tanpa tahu penyebabnya.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membaca execution plan</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01-explain-analyze/after.py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15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p>
          <a:p>
            <a:pPr>
              <a:lnSpc>
                <a:spcPct val="104277"/>
              </a:lnSpc>
              <a:spcAft>
                <a:spcPts val="0"/>
              </a:spcAft>
            </a:pPr>
            <a:r>
              <a:rPr sz="719" i="0">
                <a:solidFill>
                  <a:srgbClr val="5C6773"/>
                </a:solidFill>
                <a:latin typeface="Inconsolata"/>
              </a:rPr>
              <a:t>17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p>
          <a:p>
            <a:pPr>
              <a:lnSpc>
                <a:spcPct val="104277"/>
              </a:lnSpc>
              <a:spcAft>
                <a:spcPts val="0"/>
              </a:spcAft>
            </a:pPr>
            <a:r>
              <a:rPr sz="719" i="0">
                <a:solidFill>
                  <a:srgbClr val="5C6773"/>
                </a:solidFill>
                <a:latin typeface="Inconsolata"/>
              </a:rPr>
              <a:t>23  </a:t>
            </a:r>
            <a:r>
              <a:rPr sz="719" i="0">
                <a:solidFill>
                  <a:srgbClr val="7FDBCA"/>
                </a:solidFill>
                <a:latin typeface="Inconsolata"/>
              </a:rPr>
              <a:t>HISTORY</a:t>
            </a:r>
            <a:r>
              <a:rPr sz="719" i="0">
                <a:solidFill>
                  <a:srgbClr val="E6EDF3"/>
                </a:solidFill>
                <a:latin typeface="Inconsolata"/>
              </a:rPr>
              <a:t> = </a:t>
            </a:r>
            <a:r>
              <a:rPr sz="719" i="0">
                <a:solidFill>
                  <a:srgbClr val="A5D6A7"/>
                </a:solidFill>
                <a:latin typeface="Inconsolata"/>
              </a:rPr>
              <a:t>"""</a:t>
            </a:r>
          </a:p>
          <a:p>
            <a:pPr>
              <a:lnSpc>
                <a:spcPct val="104277"/>
              </a:lnSpc>
              <a:spcAft>
                <a:spcPts val="0"/>
              </a:spcAft>
            </a:pPr>
            <a:r>
              <a:rPr sz="719" i="0">
                <a:solidFill>
                  <a:srgbClr val="5C6773"/>
                </a:solidFill>
                <a:latin typeface="Inconsolata"/>
              </a:rPr>
              <a:t>24  </a:t>
            </a:r>
            <a:r>
              <a:rPr sz="719" i="0">
                <a:solidFill>
                  <a:srgbClr val="A5D6A7"/>
                </a:solidFill>
                <a:latin typeface="Inconsolata"/>
              </a:rPr>
              <a:t>    SELECT id, status, created_at FROM orders</a:t>
            </a:r>
          </a:p>
          <a:p>
            <a:pPr>
              <a:lnSpc>
                <a:spcPct val="104277"/>
              </a:lnSpc>
              <a:spcAft>
                <a:spcPts val="0"/>
              </a:spcAft>
            </a:pPr>
            <a:r>
              <a:rPr sz="719" i="0">
                <a:solidFill>
                  <a:srgbClr val="5C6773"/>
                </a:solidFill>
                <a:latin typeface="Inconsolata"/>
              </a:rPr>
              <a:t>25  </a:t>
            </a:r>
            <a:r>
              <a:rPr sz="719" i="0">
                <a:solidFill>
                  <a:srgbClr val="A5D6A7"/>
                </a:solidFill>
                <a:latin typeface="Inconsolata"/>
              </a:rPr>
              <a:t>    WHERE customer = :customer</a:t>
            </a:r>
          </a:p>
          <a:p>
            <a:pPr>
              <a:lnSpc>
                <a:spcPct val="104277"/>
              </a:lnSpc>
              <a:spcAft>
                <a:spcPts val="0"/>
              </a:spcAft>
            </a:pPr>
            <a:r>
              <a:rPr sz="719" i="0">
                <a:solidFill>
                  <a:srgbClr val="5C6773"/>
                </a:solidFill>
                <a:latin typeface="Inconsolata"/>
              </a:rPr>
              <a:t>26  </a:t>
            </a:r>
            <a:r>
              <a:rPr sz="719" i="0">
                <a:solidFill>
                  <a:srgbClr val="A5D6A7"/>
                </a:solidFill>
                <a:latin typeface="Inconsolata"/>
              </a:rPr>
              <a:t>    ORDER BY created_at DESC</a:t>
            </a:r>
          </a:p>
          <a:p>
            <a:pPr>
              <a:lnSpc>
                <a:spcPct val="104277"/>
              </a:lnSpc>
              <a:spcAft>
                <a:spcPts val="0"/>
              </a:spcAft>
            </a:pPr>
            <a:r>
              <a:rPr sz="719" i="0">
                <a:solidFill>
                  <a:srgbClr val="5C6773"/>
                </a:solidFill>
                <a:latin typeface="Inconsolata"/>
              </a:rPr>
              <a:t>27  </a:t>
            </a:r>
            <a:r>
              <a:rPr sz="719" i="0">
                <a:solidFill>
                  <a:srgbClr val="A5D6A7"/>
                </a:solidFill>
                <a:latin typeface="Inconsolata"/>
              </a:rPr>
              <a:t>    LIMIT 10</a:t>
            </a:r>
          </a:p>
          <a:p>
            <a:pPr>
              <a:lnSpc>
                <a:spcPct val="104277"/>
              </a:lnSpc>
              <a:spcAft>
                <a:spcPts val="0"/>
              </a:spcAft>
            </a:pPr>
            <a:r>
              <a:rPr sz="719" i="0">
                <a:solidFill>
                  <a:srgbClr val="5C6773"/>
                </a:solidFill>
                <a:latin typeface="Inconsolata"/>
              </a:rPr>
              <a:t>28  </a:t>
            </a:r>
            <a:r>
              <a:rPr sz="719" i="0">
                <a:solidFill>
                  <a:srgbClr val="A5D6A7"/>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01-explain-analyze/after.py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explain</a:t>
            </a:r>
            <a:r>
              <a:rPr sz="719" i="0">
                <a:solidFill>
                  <a:srgbClr val="E6EDF3"/>
                </a:solidFill>
                <a:latin typeface="Inconsolata"/>
              </a:rPr>
              <a:t>(conn, sql: </a:t>
            </a:r>
            <a:r>
              <a:rPr sz="719" i="0">
                <a:solidFill>
                  <a:srgbClr val="C3A6FF"/>
                </a:solidFill>
                <a:latin typeface="Inconsolata"/>
              </a:rPr>
              <a:t>str</a:t>
            </a:r>
            <a:r>
              <a:rPr sz="719" i="0">
                <a:solidFill>
                  <a:srgbClr val="E6EDF3"/>
                </a:solidFill>
                <a:latin typeface="Inconsolata"/>
              </a:rPr>
              <a:t>, params: </a:t>
            </a:r>
            <a:r>
              <a:rPr sz="719" i="0">
                <a:solidFill>
                  <a:srgbClr val="C3A6FF"/>
                </a:solidFill>
                <a:latin typeface="Inconsolata"/>
              </a:rPr>
              <a:t>dict</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plan = conn.execute(text(</a:t>
            </a:r>
            <a:r>
              <a:rPr sz="719" i="0">
                <a:solidFill>
                  <a:srgbClr val="A5D6A7"/>
                </a:solidFill>
                <a:latin typeface="Inconsolata"/>
              </a:rPr>
              <a:t>"EXPLAIN ANALYZE "</a:t>
            </a:r>
            <a:r>
              <a:rPr sz="719" i="0">
                <a:solidFill>
                  <a:srgbClr val="E6EDF3"/>
                </a:solidFill>
                <a:latin typeface="Inconsolata"/>
              </a:rPr>
              <a:t> + sql), params)</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plan.scalars().all()</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engine.begin()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38  </a:t>
            </a:r>
            <a:r>
              <a:rPr sz="719" i="0">
                <a:solidFill>
                  <a:srgbClr val="E6EDF3"/>
                </a:solidFill>
                <a:latin typeface="Inconsolata"/>
              </a:rPr>
              <a:t>        conn.execute(text(               </a:t>
            </a:r>
            <a:r>
              <a:rPr sz="719" i="1">
                <a:solidFill>
                  <a:srgbClr val="8B98A8"/>
                </a:solidFill>
                <a:latin typeface="Inconsolata"/>
              </a:rPr>
              <a:t># mulai tanpa index</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A5D6A7"/>
                </a:solidFill>
                <a:latin typeface="Inconsolata"/>
              </a:rPr>
              <a:t>"DROP INDEX IF EXISTS ix_orders_customer_created"</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p>
          <a:p>
            <a:pPr>
              <a:lnSpc>
                <a:spcPct val="104277"/>
              </a:lnSpc>
              <a:spcAft>
                <a:spcPts val="0"/>
              </a:spcAft>
            </a:pPr>
            <a:r>
              <a:rPr sz="719" i="0">
                <a:solidFill>
                  <a:srgbClr val="5C6773"/>
                </a:solidFill>
                <a:latin typeface="Inconsolata"/>
              </a:rPr>
              <a:t>41  </a:t>
            </a:r>
            <a:r>
              <a:rPr sz="719" i="0">
                <a:solidFill>
                  <a:srgbClr val="E6EDF3"/>
                </a:solidFill>
                <a:latin typeface="Inconsolata"/>
              </a:rPr>
              <a:t>        params = {</a:t>
            </a:r>
            <a:r>
              <a:rPr sz="719" i="0">
                <a:solidFill>
                  <a:srgbClr val="A5D6A7"/>
                </a:solidFill>
                <a:latin typeface="Inconsolata"/>
              </a:rPr>
              <a:t>"customer"</a:t>
            </a:r>
            <a:r>
              <a:rPr sz="719" i="0">
                <a:solidFill>
                  <a:srgbClr val="E6EDF3"/>
                </a:solidFill>
                <a:latin typeface="Inconsolata"/>
              </a:rPr>
              <a:t>: </a:t>
            </a:r>
            <a:r>
              <a:rPr sz="719" i="0">
                <a:solidFill>
                  <a:srgbClr val="A5D6A7"/>
                </a:solidFill>
                <a:latin typeface="Inconsolata"/>
              </a:rPr>
              <a:t>"customer42@mail.com"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explain(conn, </a:t>
            </a:r>
            <a:r>
              <a:rPr sz="719" i="0">
                <a:solidFill>
                  <a:srgbClr val="7FDBCA"/>
                </a:solidFill>
                <a:latin typeface="Inconsolata"/>
              </a:rPr>
              <a:t>HISTORY</a:t>
            </a:r>
            <a:r>
              <a:rPr sz="719" i="0">
                <a:solidFill>
                  <a:srgbClr val="E6EDF3"/>
                </a:solidFill>
                <a:latin typeface="Inconsolata"/>
              </a:rPr>
              <a:t>, params):</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(line)</a:t>
            </a:r>
          </a:p>
        </p:txBody>
      </p:sp>
      <p:sp>
        <p:nvSpPr>
          <p:cNvPr id="36" name="Box 21"/>
          <p:cNvSpPr/>
          <p:nvPr/>
        </p:nvSpPr>
        <p:spPr>
          <a:xfrm>
            <a:off x="4709159" y="18253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18745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30826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3074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EXPLAIN ANALYZE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01-explain-analyze/after.py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sesi-07-database-optimization/01-explain-analyze</a:t>
            </a:r>
          </a:p>
          <a:p>
            <a:pPr>
              <a:lnSpc>
                <a:spcPct val="111111"/>
              </a:lnSpc>
              <a:spcAft>
                <a:spcPts val="0"/>
              </a:spcAft>
            </a:pPr>
            <a:r>
              <a:rPr sz="900" i="0">
                <a:solidFill>
                  <a:srgbClr val="82B1FF"/>
                </a:solidFill>
                <a:latin typeface="Inconsolata"/>
              </a:rPr>
              <a:t>$ python after.py</a:t>
            </a:r>
          </a:p>
        </p:txBody>
      </p:sp>
      <p:pic>
        <p:nvPicPr>
          <p:cNvPr id="29" name="Image 12" descr="s07-01-explain-analyze-after.png"/>
          <p:cNvPicPr>
            <a:picLocks noChangeAspect="1"/>
          </p:cNvPicPr>
          <p:nvPr/>
        </p:nvPicPr>
        <p:blipFill>
          <a:blip r:embed="rId2"/>
          <a:stretch>
            <a:fillRect/>
          </a:stretch>
        </p:blipFill>
        <p:spPr>
          <a:xfrm>
            <a:off x="621792" y="2322576"/>
            <a:ext cx="4297680" cy="1591896"/>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Query yang sama, ditambah </a:t>
            </a:r>
            <a:r>
              <a:rPr sz="950" b="0" i="0">
                <a:solidFill>
                  <a:srgbClr val="B5482A"/>
                </a:solidFill>
                <a:latin typeface="Inconsolata"/>
              </a:rPr>
              <a:t>EXPLAIN ANALYZE</a:t>
            </a:r>
            <a:r>
              <a:rPr sz="950" b="0" i="0">
                <a:solidFill>
                  <a:srgbClr val="434343"/>
                </a:solidFill>
                <a:latin typeface="Inter"/>
              </a:rPr>
              <a:t> di depannya (baris 31-33)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Execution plan dicetak baris demi baris (baris 42-43)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Terlihat </a:t>
            </a:r>
            <a:r>
              <a:rPr sz="950" b="0" i="0">
                <a:solidFill>
                  <a:srgbClr val="B5482A"/>
                </a:solidFill>
                <a:latin typeface="Inconsolata"/>
              </a:rPr>
              <a:t>Seq Scan on orders</a:t>
            </a:r>
            <a:r>
              <a:rPr sz="950" b="0" i="0">
                <a:solidFill>
                  <a:srgbClr val="434343"/>
                </a:solidFill>
                <a:latin typeface="Inter"/>
              </a:rPr>
              <a:t>: seluruh tabel dibaca, 99.980 baris dibuang (</a:t>
            </a:r>
            <a:r>
              <a:rPr sz="950" b="0" i="0">
                <a:solidFill>
                  <a:srgbClr val="B5482A"/>
                </a:solidFill>
                <a:latin typeface="Inconsolata"/>
              </a:rPr>
              <a:t>Rows Removed by Filter</a:t>
            </a:r>
            <a:r>
              <a:rPr sz="950" b="0" i="0">
                <a:solidFill>
                  <a:srgbClr val="434343"/>
                </a:solidFill>
                <a:latin typeface="Inter"/>
              </a:rPr>
              <a:t>), lalu diurutkan (</a:t>
            </a:r>
            <a:r>
              <a:rPr sz="950" b="0" i="0">
                <a:solidFill>
                  <a:srgbClr val="B5482A"/>
                </a:solidFill>
                <a:latin typeface="Inconsolata"/>
              </a:rPr>
              <a:t>Sort</a:t>
            </a:r>
            <a:r>
              <a:rPr sz="950" b="0" i="0">
                <a:solidFill>
                  <a:srgbClr val="434343"/>
                </a:solidFill>
                <a:latin typeface="Inter"/>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Index?</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Index adalah</a:t>
            </a:r>
          </a:p>
          <a:p>
            <a:pPr algn="l">
              <a:lnSpc>
                <a:spcPct val="115000"/>
              </a:lnSpc>
              <a:spcAft>
                <a:spcPts val="400"/>
              </a:spcAft>
            </a:pPr>
            <a:r>
              <a:rPr sz="900" b="0" i="0">
                <a:solidFill>
                  <a:srgbClr val="434343"/>
                </a:solidFill>
                <a:latin typeface="Inter"/>
              </a:rPr>
              <a:t>Struktur data tambahan di database, biasanya </a:t>
            </a:r>
            <a:r>
              <a:rPr sz="900" b="1" i="0">
                <a:solidFill>
                  <a:srgbClr val="434343"/>
                </a:solidFill>
                <a:latin typeface="Inter"/>
              </a:rPr>
              <a:t>B-tree</a:t>
            </a:r>
            <a:r>
              <a:rPr sz="900" b="0" i="0">
                <a:solidFill>
                  <a:srgbClr val="434343"/>
                </a:solidFill>
                <a:latin typeface="Inter"/>
              </a:rPr>
              <a:t> (daftar terurut), yang menunjuk ke baris di tabel. Dengan index, database bisa langsung menuju baris yang dicari tanpa membaca seluruh tabel.</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Mempercepat query dengan WHERE dan ORDER BY</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Mengurangi jumlah baris yang dibaca database</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Menghindari Sort, karena data di index sudah urut</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index: 02-index/before.py</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conn.execute(text(               </a:t>
            </a:r>
            <a:r>
              <a:rPr sz="850" i="1">
                <a:solidFill>
                  <a:srgbClr val="8B98A8"/>
                </a:solidFill>
                <a:latin typeface="Inconsolata"/>
              </a:rPr>
              <a:t># tanpa index</a:t>
            </a:r>
          </a:p>
          <a:p>
            <a:pPr>
              <a:lnSpc>
                <a:spcPct val="107843"/>
              </a:lnSpc>
              <a:spcAft>
                <a:spcPts val="0"/>
              </a:spcAft>
            </a:pPr>
            <a:r>
              <a:rPr sz="850" i="0">
                <a:solidFill>
                  <a:srgbClr val="E6EDF3"/>
                </a:solidFill>
                <a:latin typeface="Inconsolata"/>
              </a:rPr>
              <a:t>            </a:t>
            </a:r>
            <a:r>
              <a:rPr sz="850" i="0">
                <a:solidFill>
                  <a:srgbClr val="A5D6A7"/>
                </a:solidFill>
                <a:latin typeface="Inconsolata"/>
              </a:rPr>
              <a:t>"DROP INDEX IF EXISTS ix_orders_customer_created"</a:t>
            </a:r>
            <a:r>
              <a:rPr sz="850" i="0">
                <a:solidFill>
                  <a:srgbClr val="E6EDF3"/>
                </a:solidFill>
                <a:latin typeface="Inconsolata"/>
              </a:rPr>
              <a:t>))</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index: 02-index/after.py</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conn.execute(text(</a:t>
            </a:r>
            <a:r>
              <a:rPr sz="850" i="0">
                <a:solidFill>
                  <a:srgbClr val="A5D6A7"/>
                </a:solidFill>
                <a:latin typeface="Inconsolata"/>
              </a:rPr>
              <a:t>"""</a:t>
            </a:r>
          </a:p>
          <a:p>
            <a:pPr>
              <a:lnSpc>
                <a:spcPct val="107843"/>
              </a:lnSpc>
              <a:spcAft>
                <a:spcPts val="0"/>
              </a:spcAft>
            </a:pPr>
            <a:r>
              <a:rPr sz="850" i="0">
                <a:solidFill>
                  <a:srgbClr val="A5D6A7"/>
                </a:solidFill>
                <a:latin typeface="Inconsolata"/>
              </a:rPr>
              <a:t>            CREATE INDEX IF NOT EXISTS ix_orders_customer_created</a:t>
            </a:r>
          </a:p>
          <a:p>
            <a:pPr>
              <a:lnSpc>
                <a:spcPct val="107843"/>
              </a:lnSpc>
              <a:spcAft>
                <a:spcPts val="0"/>
              </a:spcAft>
            </a:pPr>
            <a:r>
              <a:rPr sz="850" i="0">
                <a:solidFill>
                  <a:srgbClr val="A5D6A7"/>
                </a:solidFill>
                <a:latin typeface="Inconsolata"/>
              </a:rPr>
              <a:t>            ON orders (customer, created_at DESC)</a:t>
            </a:r>
          </a:p>
          <a:p>
            <a:pPr>
              <a:lnSpc>
                <a:spcPct val="107843"/>
              </a:lnSpc>
              <a:spcAft>
                <a:spcPts val="0"/>
              </a:spcAft>
            </a:pPr>
            <a:r>
              <a:rPr sz="850" i="0">
                <a:solidFill>
                  <a:srgbClr val="A5D6A7"/>
                </a:solidFill>
                <a:latin typeface="Inconsolata"/>
              </a:rPr>
              <a:t>        """</a:t>
            </a:r>
            <a:r>
              <a:rPr sz="850" i="0">
                <a:solidFill>
                  <a:srgbClr val="E6EDF3"/>
                </a:solidFill>
                <a:latin typeface="Inconsolata"/>
              </a:rPr>
              <a:t>))</a:t>
            </a:r>
          </a:p>
        </p:txBody>
      </p:sp>
      <p:sp>
        <p:nvSpPr>
          <p:cNvPr id="38" name="Box 23"/>
          <p:cNvSpPr/>
          <p:nvPr/>
        </p:nvSpPr>
        <p:spPr>
          <a:xfrm>
            <a:off x="4379976" y="316623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Index?</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index</a:t>
            </a:r>
          </a:p>
          <a:p>
            <a:pPr algn="l">
              <a:lnSpc>
                <a:spcPct val="115000"/>
              </a:lnSpc>
              <a:spcAft>
                <a:spcPts val="400"/>
              </a:spcAft>
            </a:pPr>
            <a:r>
              <a:rPr sz="950" b="0" i="0">
                <a:solidFill>
                  <a:srgbClr val="434343"/>
                </a:solidFill>
                <a:latin typeface="Inter"/>
              </a:rPr>
              <a:t>Mencari 10 order milik satu customer berarti membaca seluruh 200.000 order, membuang yang tidak cocok, lalu mengurutkan sisanya.</a:t>
            </a:r>
          </a:p>
          <a:p>
            <a:pPr algn="l">
              <a:lnSpc>
                <a:spcPct val="115000"/>
              </a:lnSpc>
              <a:spcAft>
                <a:spcPts val="400"/>
              </a:spcAft>
            </a:pPr>
            <a:r>
              <a:rPr sz="1050" b="1" i="0">
                <a:solidFill>
                  <a:srgbClr val="1C4587"/>
                </a:solidFill>
                <a:latin typeface="Inter"/>
              </a:rPr>
              <a:t>Jika ordernya makin banyak</a:t>
            </a:r>
          </a:p>
          <a:p>
            <a:pPr algn="l">
              <a:lnSpc>
                <a:spcPct val="115000"/>
              </a:lnSpc>
              <a:spcAft>
                <a:spcPts val="400"/>
              </a:spcAft>
            </a:pPr>
            <a:r>
              <a:rPr sz="950" b="0" i="0">
                <a:solidFill>
                  <a:srgbClr val="434343"/>
                </a:solidFill>
                <a:latin typeface="Inter"/>
              </a:rPr>
              <a:t>Waktu query naik sebanding dengan jumlah data, walaupun hasilnya tetap 10 baris.</a:t>
            </a:r>
          </a:p>
          <a:p>
            <a:pPr algn="l">
              <a:lnSpc>
                <a:spcPct val="115000"/>
              </a:lnSpc>
              <a:spcAft>
                <a:spcPts val="400"/>
              </a:spcAft>
            </a:pPr>
            <a:r>
              <a:rPr sz="950" b="0" i="0">
                <a:solidFill>
                  <a:srgbClr val="434343"/>
                </a:solidFill>
                <a:latin typeface="Inter"/>
              </a:rPr>
              <a:t>Hal ini membuat endpoint riwayat order makin lambat setiap bulan.</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Index dibuat sesuai query: kolom di WHERE dulu, lalu kolom di ORDER BY. Setiap index menambah storage dan memperlambat INSERT/UPDATE, jadi buat hanya untuk query yang sering dipakai.</a:t>
            </a:r>
          </a:p>
        </p:txBody>
      </p:sp>
      <p:graphicFrame>
        <p:nvGraphicFramePr>
          <p:cNvPr id="23" name="Table 4"/>
          <p:cNvGraphicFramePr>
            <a:graphicFrameLocks noGrp="1"/>
          </p:cNvGraphicFramePr>
          <p:nvPr/>
        </p:nvGraphicFramePr>
        <p:xfrm>
          <a:off x="4800600" y="1481328"/>
          <a:ext cx="3685032" cy="2194560"/>
        </p:xfrm>
        <a:graphic>
          <a:graphicData uri="http://schemas.openxmlformats.org/drawingml/2006/table">
            <a:tbl>
              <a:tblPr firstRow="1" bandRow="1"/>
              <a:tblGrid>
                <a:gridCol w="2176272">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54864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548640">
                <a:tc>
                  <a:txBody>
                    <a:bodyPr/>
                    <a:lstStyle/>
                    <a:p>
                      <a:pPr algn="l">
                        <a:lnSpc>
                          <a:spcPct val="100000"/>
                        </a:lnSpc>
                        <a:spcAft>
                          <a:spcPts val="0"/>
                        </a:spcAft>
                      </a:pPr>
                      <a:r>
                        <a:rPr sz="850" b="1" i="0">
                          <a:solidFill>
                            <a:srgbClr val="1C4587"/>
                          </a:solidFill>
                          <a:latin typeface="Inter"/>
                        </a:rPr>
                        <a:t>CREATE INDEX ... ON orders (customer, created_at DESC)</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Index untuk WHERE customer + ORDER BY created_at</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pPr algn="l">
                        <a:lnSpc>
                          <a:spcPct val="100000"/>
                        </a:lnSpc>
                        <a:spcAft>
                          <a:spcPts val="0"/>
                        </a:spcAft>
                      </a:pPr>
                      <a:r>
                        <a:rPr sz="850" b="1" i="0">
                          <a:solidFill>
                            <a:srgbClr val="1C4587"/>
                          </a:solidFill>
                          <a:latin typeface="Inter"/>
                        </a:rPr>
                        <a:t>mapped_column(..., index=True)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Index satu kolom dari model SQLAlchemy</a:t>
                      </a:r>
                    </a:p>
                  </a:txBody>
                  <a:tcPr marL="73152" marR="73152" marT="36576" marB="36576" anchor="ctr">
                    <a:solidFill>
                      <a:srgbClr val="F3F4F6"/>
                    </a:solidFill>
                  </a:tcPr>
                </a:tc>
                <a:extLst>
                  <a:ext uri="{0D108BD9-81ED-4DB2-BD59-A6C34878D82A}">
                    <a16:rowId xmlns:a16="http://schemas.microsoft.com/office/drawing/2014/main" val="10002"/>
                  </a:ext>
                </a:extLst>
              </a:tr>
              <a:tr h="548640">
                <a:tc>
                  <a:txBody>
                    <a:bodyPr/>
                    <a:lstStyle/>
                    <a:p>
                      <a:pPr algn="l">
                        <a:lnSpc>
                          <a:spcPct val="100000"/>
                        </a:lnSpc>
                        <a:spcAft>
                          <a:spcPts val="0"/>
                        </a:spcAft>
                      </a:pPr>
                      <a:r>
                        <a:rPr sz="850" b="1" i="0">
                          <a:solidFill>
                            <a:srgbClr val="1C4587"/>
                          </a:solidFill>
                          <a:latin typeface="Inter"/>
                        </a:rPr>
                        <a:t>Index("ix_...", "customer", "id")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Index beberapa kolom di __table_args__</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Seq Scan di 200.000 order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02-index/before.py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11  </a:t>
            </a:r>
            <a:r>
              <a:rPr sz="719" i="0">
                <a:solidFill>
                  <a:srgbClr val="E6EDF3"/>
                </a:solidFill>
                <a:latin typeface="Inconsolata"/>
              </a:rPr>
              <a:t> </a:t>
            </a:r>
          </a:p>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15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7FDBCA"/>
                </a:solidFill>
                <a:latin typeface="Inconsolata"/>
              </a:rPr>
              <a:t>HISTORY</a:t>
            </a:r>
            <a:r>
              <a:rPr sz="719" i="0">
                <a:solidFill>
                  <a:srgbClr val="E6EDF3"/>
                </a:solidFill>
                <a:latin typeface="Inconsolata"/>
              </a:rPr>
              <a:t> = </a:t>
            </a:r>
            <a:r>
              <a:rPr sz="719" i="0">
                <a:solidFill>
                  <a:srgbClr val="A5D6A7"/>
                </a:solidFill>
                <a:latin typeface="Inconsolata"/>
              </a:rPr>
              <a:t>"""</a:t>
            </a:r>
          </a:p>
          <a:p>
            <a:pPr>
              <a:lnSpc>
                <a:spcPct val="104277"/>
              </a:lnSpc>
              <a:spcAft>
                <a:spcPts val="0"/>
              </a:spcAft>
            </a:pPr>
            <a:r>
              <a:rPr sz="719" i="0">
                <a:solidFill>
                  <a:srgbClr val="5C6773"/>
                </a:solidFill>
                <a:latin typeface="Inconsolata"/>
              </a:rPr>
              <a:t>19  </a:t>
            </a:r>
            <a:r>
              <a:rPr sz="719" i="0">
                <a:solidFill>
                  <a:srgbClr val="A5D6A7"/>
                </a:solidFill>
                <a:latin typeface="Inconsolata"/>
              </a:rPr>
              <a:t>    SELECT id, status, created_at FROM orders</a:t>
            </a:r>
          </a:p>
          <a:p>
            <a:pPr>
              <a:lnSpc>
                <a:spcPct val="104277"/>
              </a:lnSpc>
              <a:spcAft>
                <a:spcPts val="0"/>
              </a:spcAft>
            </a:pPr>
            <a:r>
              <a:rPr sz="719" i="0">
                <a:solidFill>
                  <a:srgbClr val="5C6773"/>
                </a:solidFill>
                <a:latin typeface="Inconsolata"/>
              </a:rPr>
              <a:t>20  </a:t>
            </a:r>
            <a:r>
              <a:rPr sz="719" i="0">
                <a:solidFill>
                  <a:srgbClr val="A5D6A7"/>
                </a:solidFill>
                <a:latin typeface="Inconsolata"/>
              </a:rPr>
              <a:t>    WHERE customer = :customer</a:t>
            </a:r>
          </a:p>
          <a:p>
            <a:pPr>
              <a:lnSpc>
                <a:spcPct val="104277"/>
              </a:lnSpc>
              <a:spcAft>
                <a:spcPts val="0"/>
              </a:spcAft>
            </a:pPr>
            <a:r>
              <a:rPr sz="719" i="0">
                <a:solidFill>
                  <a:srgbClr val="5C6773"/>
                </a:solidFill>
                <a:latin typeface="Inconsolata"/>
              </a:rPr>
              <a:t>21  </a:t>
            </a:r>
            <a:r>
              <a:rPr sz="719" i="0">
                <a:solidFill>
                  <a:srgbClr val="A5D6A7"/>
                </a:solidFill>
                <a:latin typeface="Inconsolata"/>
              </a:rPr>
              <a:t>    ORDER BY created_at DESC</a:t>
            </a:r>
          </a:p>
          <a:p>
            <a:pPr>
              <a:lnSpc>
                <a:spcPct val="104277"/>
              </a:lnSpc>
              <a:spcAft>
                <a:spcPts val="0"/>
              </a:spcAft>
            </a:pPr>
            <a:r>
              <a:rPr sz="719" i="0">
                <a:solidFill>
                  <a:srgbClr val="5C6773"/>
                </a:solidFill>
                <a:latin typeface="Inconsolata"/>
              </a:rPr>
              <a:t>22  </a:t>
            </a:r>
            <a:r>
              <a:rPr sz="719" i="0">
                <a:solidFill>
                  <a:srgbClr val="A5D6A7"/>
                </a:solidFill>
                <a:latin typeface="Inconsolata"/>
              </a:rPr>
              <a:t>    LIMIT 10</a:t>
            </a:r>
          </a:p>
          <a:p>
            <a:pPr>
              <a:lnSpc>
                <a:spcPct val="104277"/>
              </a:lnSpc>
              <a:spcAft>
                <a:spcPts val="0"/>
              </a:spcAft>
            </a:pPr>
            <a:r>
              <a:rPr sz="719" i="0">
                <a:solidFill>
                  <a:srgbClr val="5C6773"/>
                </a:solidFill>
                <a:latin typeface="Inconsolata"/>
              </a:rPr>
              <a:t>23  </a:t>
            </a:r>
            <a:r>
              <a:rPr sz="719" i="0">
                <a:solidFill>
                  <a:srgbClr val="A5D6A7"/>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p>
          <a:p>
            <a:pPr>
              <a:lnSpc>
                <a:spcPct val="104277"/>
              </a:lnSpc>
              <a:spcAft>
                <a:spcPts val="0"/>
              </a:spcAft>
            </a:pPr>
            <a:r>
              <a:rPr sz="719" i="0">
                <a:solidFill>
                  <a:srgbClr val="5C6773"/>
                </a:solidFill>
                <a:latin typeface="Inconsolata"/>
              </a:rPr>
              <a:t>25  </a:t>
            </a:r>
            <a:r>
              <a:rPr sz="719" i="0">
                <a:solidFill>
                  <a:srgbClr val="E6EDF3"/>
                </a:solidFill>
                <a:latin typeface="Inconsolata"/>
              </a:rPr>
              <a:t> </a:t>
            </a:r>
          </a:p>
          <a:p>
            <a:pPr>
              <a:lnSpc>
                <a:spcPct val="104277"/>
              </a:lnSpc>
              <a:spcAft>
                <a:spcPts val="0"/>
              </a:spcAft>
            </a:pPr>
            <a:r>
              <a:rPr sz="719" i="0">
                <a:solidFill>
                  <a:srgbClr val="5C6773"/>
                </a:solidFill>
                <a:latin typeface="Inconsolata"/>
              </a:rPr>
              <a:t>26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explain</a:t>
            </a:r>
            <a:r>
              <a:rPr sz="719" i="0">
                <a:solidFill>
                  <a:srgbClr val="E6EDF3"/>
                </a:solidFill>
                <a:latin typeface="Inconsolata"/>
              </a:rPr>
              <a:t>(conn, sql: </a:t>
            </a:r>
            <a:r>
              <a:rPr sz="719" i="0">
                <a:solidFill>
                  <a:srgbClr val="C3A6FF"/>
                </a:solidFill>
                <a:latin typeface="Inconsolata"/>
              </a:rPr>
              <a:t>str</a:t>
            </a:r>
            <a:r>
              <a:rPr sz="719" i="0">
                <a:solidFill>
                  <a:srgbClr val="E6EDF3"/>
                </a:solidFill>
                <a:latin typeface="Inconsolata"/>
              </a:rPr>
              <a:t>, params: </a:t>
            </a:r>
            <a:r>
              <a:rPr sz="719" i="0">
                <a:solidFill>
                  <a:srgbClr val="C3A6FF"/>
                </a:solidFill>
                <a:latin typeface="Inconsolata"/>
              </a:rPr>
              <a:t>dict</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plan = conn.execute(text(</a:t>
            </a:r>
            <a:r>
              <a:rPr sz="719" i="0">
                <a:solidFill>
                  <a:srgbClr val="A5D6A7"/>
                </a:solidFill>
                <a:latin typeface="Inconsolata"/>
              </a:rPr>
              <a:t>"EXPLAIN ANALYZE "</a:t>
            </a:r>
            <a:r>
              <a:rPr sz="719" i="0">
                <a:solidFill>
                  <a:srgbClr val="E6EDF3"/>
                </a:solidFill>
                <a:latin typeface="Inconsolata"/>
              </a:rPr>
              <a:t> + sql), params)</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plan.scalars().all()</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02-index/before.py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summary</a:t>
            </a:r>
            <a:r>
              <a:rPr sz="719" i="0">
                <a:solidFill>
                  <a:srgbClr val="E6EDF3"/>
                </a:solidFill>
                <a:latin typeface="Inconsolata"/>
              </a:rPr>
              <a:t>(plan: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A5D6A7"/>
                </a:solidFill>
                <a:latin typeface="Inconsolata"/>
              </a:rPr>
              <a:t>"""Ambil baris penting saja: jenis scan dan total waktu."""</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[line.strip()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plan</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a:t>
            </a:r>
            <a:r>
              <a:rPr sz="719" i="0">
                <a:solidFill>
                  <a:srgbClr val="A5D6A7"/>
                </a:solidFill>
                <a:latin typeface="Inconsolata"/>
              </a:rPr>
              <a:t>"Scan"</a:t>
            </a:r>
            <a:r>
              <a:rPr sz="719" i="0">
                <a:solidFill>
                  <a:srgbClr val="E6EDF3"/>
                </a:solidFill>
                <a:latin typeface="Inconsolata"/>
              </a:rPr>
              <a:t> </a:t>
            </a:r>
            <a:r>
              <a:rPr sz="719" i="0">
                <a:solidFill>
                  <a:srgbClr val="FF8E6E"/>
                </a:solidFill>
                <a:latin typeface="Inconsolata"/>
              </a:rPr>
              <a:t>in</a:t>
            </a:r>
            <a:r>
              <a:rPr sz="719" i="0">
                <a:solidFill>
                  <a:srgbClr val="E6EDF3"/>
                </a:solidFill>
                <a:latin typeface="Inconsolata"/>
              </a:rPr>
              <a:t> line </a:t>
            </a:r>
            <a:r>
              <a:rPr sz="719" i="0">
                <a:solidFill>
                  <a:srgbClr val="FF8E6E"/>
                </a:solidFill>
                <a:latin typeface="Inconsolata"/>
              </a:rPr>
              <a:t>or</a:t>
            </a:r>
            <a:r>
              <a:rPr sz="719" i="0">
                <a:solidFill>
                  <a:srgbClr val="E6EDF3"/>
                </a:solidFill>
                <a:latin typeface="Inconsolata"/>
              </a:rPr>
              <a:t> </a:t>
            </a:r>
            <a:r>
              <a:rPr sz="719" i="0">
                <a:solidFill>
                  <a:srgbClr val="A5D6A7"/>
                </a:solidFill>
                <a:latin typeface="Inconsolata"/>
              </a:rPr>
              <a:t>"Execution Time"</a:t>
            </a:r>
            <a:r>
              <a:rPr sz="719" i="0">
                <a:solidFill>
                  <a:srgbClr val="E6EDF3"/>
                </a:solidFill>
                <a:latin typeface="Inconsolata"/>
              </a:rPr>
              <a:t> </a:t>
            </a:r>
            <a:r>
              <a:rPr sz="719" i="0">
                <a:solidFill>
                  <a:srgbClr val="FF8E6E"/>
                </a:solidFill>
                <a:latin typeface="Inconsolata"/>
              </a:rPr>
              <a:t>in</a:t>
            </a:r>
            <a:r>
              <a:rPr sz="719" i="0">
                <a:solidFill>
                  <a:srgbClr val="E6EDF3"/>
                </a:solidFill>
                <a:latin typeface="Inconsolata"/>
              </a:rPr>
              <a:t> line]</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p>
          <a:p>
            <a:pPr>
              <a:lnSpc>
                <a:spcPct val="104277"/>
              </a:lnSpc>
              <a:spcAft>
                <a:spcPts val="0"/>
              </a:spcAft>
            </a:pPr>
            <a:r>
              <a:rPr sz="719" i="0">
                <a:solidFill>
                  <a:srgbClr val="5C6773"/>
                </a:solidFill>
                <a:latin typeface="Inconsolata"/>
              </a:rPr>
              <a:t>37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engine.begin()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39  </a:t>
            </a:r>
            <a:r>
              <a:rPr sz="719" i="0">
                <a:solidFill>
                  <a:srgbClr val="E6EDF3"/>
                </a:solidFill>
                <a:latin typeface="Inconsolata"/>
              </a:rPr>
              <a:t>        conn.execute(text(               </a:t>
            </a:r>
            <a:r>
              <a:rPr sz="719" i="1">
                <a:solidFill>
                  <a:srgbClr val="8B98A8"/>
                </a:solidFill>
                <a:latin typeface="Inconsolata"/>
              </a:rPr>
              <a:t># tanpa index</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A5D6A7"/>
                </a:solidFill>
                <a:latin typeface="Inconsolata"/>
              </a:rPr>
              <a:t>"DROP INDEX IF EXISTS ix_orders_customer_created"</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p>
          <a:p>
            <a:pPr>
              <a:lnSpc>
                <a:spcPct val="104277"/>
              </a:lnSpc>
              <a:spcAft>
                <a:spcPts val="0"/>
              </a:spcAft>
            </a:pPr>
            <a:r>
              <a:rPr sz="719" i="0">
                <a:solidFill>
                  <a:srgbClr val="5C6773"/>
                </a:solidFill>
                <a:latin typeface="Inconsolata"/>
              </a:rPr>
              <a:t>42  </a:t>
            </a:r>
            <a:r>
              <a:rPr sz="719" i="0">
                <a:solidFill>
                  <a:srgbClr val="E6EDF3"/>
                </a:solidFill>
                <a:latin typeface="Inconsolata"/>
              </a:rPr>
              <a:t>        params = {</a:t>
            </a:r>
            <a:r>
              <a:rPr sz="719" i="0">
                <a:solidFill>
                  <a:srgbClr val="A5D6A7"/>
                </a:solidFill>
                <a:latin typeface="Inconsolata"/>
              </a:rPr>
              <a:t>"customer"</a:t>
            </a:r>
            <a:r>
              <a:rPr sz="719" i="0">
                <a:solidFill>
                  <a:srgbClr val="E6EDF3"/>
                </a:solidFill>
                <a:latin typeface="Inconsolata"/>
              </a:rPr>
              <a:t>: </a:t>
            </a:r>
            <a:r>
              <a:rPr sz="719" i="0">
                <a:solidFill>
                  <a:srgbClr val="A5D6A7"/>
                </a:solidFill>
                <a:latin typeface="Inconsolata"/>
              </a:rPr>
              <a:t>"customer42@mail.com"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summary(explain(conn, </a:t>
            </a:r>
            <a:r>
              <a:rPr sz="719" i="0">
                <a:solidFill>
                  <a:srgbClr val="7FDBCA"/>
                </a:solidFill>
                <a:latin typeface="Inconsolata"/>
              </a:rPr>
              <a:t>HISTORY</a:t>
            </a:r>
            <a:r>
              <a:rPr sz="719" i="0">
                <a:solidFill>
                  <a:srgbClr val="E6EDF3"/>
                </a:solidFill>
                <a:latin typeface="Inconsolata"/>
              </a:rPr>
              <a:t>, params)):</a:t>
            </a:r>
          </a:p>
          <a:p>
            <a:pPr>
              <a:lnSpc>
                <a:spcPct val="104277"/>
              </a:lnSpc>
              <a:spcAft>
                <a:spcPts val="0"/>
              </a:spcAft>
            </a:pPr>
            <a:r>
              <a:rPr sz="719" i="0">
                <a:solidFill>
                  <a:srgbClr val="5C6773"/>
                </a:solidFill>
                <a:latin typeface="Inconsolata"/>
              </a:rPr>
              <a:t>44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(line)</a:t>
            </a:r>
          </a:p>
        </p:txBody>
      </p:sp>
      <p:sp>
        <p:nvSpPr>
          <p:cNvPr id="36" name="Box 21"/>
          <p:cNvSpPr/>
          <p:nvPr/>
        </p:nvSpPr>
        <p:spPr>
          <a:xfrm>
            <a:off x="4709159" y="28540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788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31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02-index/before.py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sesi-07-database-optimization/02-index</a:t>
            </a:r>
          </a:p>
          <a:p>
            <a:pPr>
              <a:lnSpc>
                <a:spcPct val="111111"/>
              </a:lnSpc>
              <a:spcAft>
                <a:spcPts val="0"/>
              </a:spcAft>
            </a:pPr>
            <a:r>
              <a:rPr sz="900" i="0">
                <a:solidFill>
                  <a:srgbClr val="82B1FF"/>
                </a:solidFill>
                <a:latin typeface="Inconsolata"/>
              </a:rPr>
              <a:t>$ python before.py</a:t>
            </a:r>
          </a:p>
        </p:txBody>
      </p:sp>
      <p:pic>
        <p:nvPicPr>
          <p:cNvPr id="29" name="Image 12" descr="s07-02-index-before.png"/>
          <p:cNvPicPr>
            <a:picLocks noChangeAspect="1"/>
          </p:cNvPicPr>
          <p:nvPr/>
        </p:nvPicPr>
        <p:blipFill>
          <a:blip r:embed="rId2"/>
          <a:stretch>
            <a:fillRect/>
          </a:stretch>
        </p:blipFill>
        <p:spPr>
          <a:xfrm>
            <a:off x="621792" y="2322576"/>
            <a:ext cx="4297680" cy="1002792"/>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Index dihapus, tabel hanya punya index primary key (baris 40)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Hanya baris penting dari plan yang dicetak: jenis scan dan waktu (baris 31-34)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Parallel Seq Scan</a:t>
            </a:r>
            <a:r>
              <a:rPr sz="950" b="0" i="0">
                <a:solidFill>
                  <a:srgbClr val="434343"/>
                </a:solidFill>
                <a:latin typeface="Inter"/>
              </a:rPr>
              <a:t>: seluruh tabel dibaca, sekitar 7 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index sesuai query</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02-index/after.py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15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p>
          <a:p>
            <a:pPr>
              <a:lnSpc>
                <a:spcPct val="104277"/>
              </a:lnSpc>
              <a:spcAft>
                <a:spcPts val="0"/>
              </a:spcAft>
            </a:pPr>
            <a:r>
              <a:rPr sz="719" i="0">
                <a:solidFill>
                  <a:srgbClr val="5C6773"/>
                </a:solidFill>
                <a:latin typeface="Inconsolata"/>
              </a:rPr>
              <a:t>17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p>
          <a:p>
            <a:pPr>
              <a:lnSpc>
                <a:spcPct val="104277"/>
              </a:lnSpc>
              <a:spcAft>
                <a:spcPts val="0"/>
              </a:spcAft>
            </a:pPr>
            <a:r>
              <a:rPr sz="719" i="0">
                <a:solidFill>
                  <a:srgbClr val="5C6773"/>
                </a:solidFill>
                <a:latin typeface="Inconsolata"/>
              </a:rPr>
              <a:t>23  </a:t>
            </a:r>
            <a:r>
              <a:rPr sz="719" i="0">
                <a:solidFill>
                  <a:srgbClr val="7FDBCA"/>
                </a:solidFill>
                <a:latin typeface="Inconsolata"/>
              </a:rPr>
              <a:t>HISTORY</a:t>
            </a:r>
            <a:r>
              <a:rPr sz="719" i="0">
                <a:solidFill>
                  <a:srgbClr val="E6EDF3"/>
                </a:solidFill>
                <a:latin typeface="Inconsolata"/>
              </a:rPr>
              <a:t> = </a:t>
            </a:r>
            <a:r>
              <a:rPr sz="719" i="0">
                <a:solidFill>
                  <a:srgbClr val="A5D6A7"/>
                </a:solidFill>
                <a:latin typeface="Inconsolata"/>
              </a:rPr>
              <a:t>"""</a:t>
            </a:r>
          </a:p>
          <a:p>
            <a:pPr>
              <a:lnSpc>
                <a:spcPct val="104277"/>
              </a:lnSpc>
              <a:spcAft>
                <a:spcPts val="0"/>
              </a:spcAft>
            </a:pPr>
            <a:r>
              <a:rPr sz="719" i="0">
                <a:solidFill>
                  <a:srgbClr val="5C6773"/>
                </a:solidFill>
                <a:latin typeface="Inconsolata"/>
              </a:rPr>
              <a:t>24  </a:t>
            </a:r>
            <a:r>
              <a:rPr sz="719" i="0">
                <a:solidFill>
                  <a:srgbClr val="A5D6A7"/>
                </a:solidFill>
                <a:latin typeface="Inconsolata"/>
              </a:rPr>
              <a:t>    SELECT id, status, created_at FROM orders</a:t>
            </a:r>
          </a:p>
          <a:p>
            <a:pPr>
              <a:lnSpc>
                <a:spcPct val="104277"/>
              </a:lnSpc>
              <a:spcAft>
                <a:spcPts val="0"/>
              </a:spcAft>
            </a:pPr>
            <a:r>
              <a:rPr sz="719" i="0">
                <a:solidFill>
                  <a:srgbClr val="5C6773"/>
                </a:solidFill>
                <a:latin typeface="Inconsolata"/>
              </a:rPr>
              <a:t>25  </a:t>
            </a:r>
            <a:r>
              <a:rPr sz="719" i="0">
                <a:solidFill>
                  <a:srgbClr val="A5D6A7"/>
                </a:solidFill>
                <a:latin typeface="Inconsolata"/>
              </a:rPr>
              <a:t>    WHERE customer = :customer</a:t>
            </a:r>
          </a:p>
          <a:p>
            <a:pPr>
              <a:lnSpc>
                <a:spcPct val="104277"/>
              </a:lnSpc>
              <a:spcAft>
                <a:spcPts val="0"/>
              </a:spcAft>
            </a:pPr>
            <a:r>
              <a:rPr sz="719" i="0">
                <a:solidFill>
                  <a:srgbClr val="5C6773"/>
                </a:solidFill>
                <a:latin typeface="Inconsolata"/>
              </a:rPr>
              <a:t>26  </a:t>
            </a:r>
            <a:r>
              <a:rPr sz="719" i="0">
                <a:solidFill>
                  <a:srgbClr val="A5D6A7"/>
                </a:solidFill>
                <a:latin typeface="Inconsolata"/>
              </a:rPr>
              <a:t>    ORDER BY created_at DESC</a:t>
            </a:r>
          </a:p>
          <a:p>
            <a:pPr>
              <a:lnSpc>
                <a:spcPct val="104277"/>
              </a:lnSpc>
              <a:spcAft>
                <a:spcPts val="0"/>
              </a:spcAft>
            </a:pPr>
            <a:r>
              <a:rPr sz="719" i="0">
                <a:solidFill>
                  <a:srgbClr val="5C6773"/>
                </a:solidFill>
                <a:latin typeface="Inconsolata"/>
              </a:rPr>
              <a:t>27  </a:t>
            </a:r>
            <a:r>
              <a:rPr sz="719" i="0">
                <a:solidFill>
                  <a:srgbClr val="A5D6A7"/>
                </a:solidFill>
                <a:latin typeface="Inconsolata"/>
              </a:rPr>
              <a:t>    LIMIT 10</a:t>
            </a:r>
          </a:p>
          <a:p>
            <a:pPr>
              <a:lnSpc>
                <a:spcPct val="104277"/>
              </a:lnSpc>
              <a:spcAft>
                <a:spcPts val="0"/>
              </a:spcAft>
            </a:pPr>
            <a:r>
              <a:rPr sz="719" i="0">
                <a:solidFill>
                  <a:srgbClr val="5C6773"/>
                </a:solidFill>
                <a:latin typeface="Inconsolata"/>
              </a:rPr>
              <a:t>28  </a:t>
            </a:r>
            <a:r>
              <a:rPr sz="719" i="0">
                <a:solidFill>
                  <a:srgbClr val="A5D6A7"/>
                </a:solidFill>
                <a:latin typeface="Inconsolata"/>
              </a:rPr>
              <a:t>"""</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p>
          <a:p>
            <a:pPr>
              <a:lnSpc>
                <a:spcPct val="104277"/>
              </a:lnSpc>
              <a:spcAft>
                <a:spcPts val="0"/>
              </a:spcAft>
            </a:pPr>
            <a:r>
              <a:rPr sz="719" i="0">
                <a:solidFill>
                  <a:srgbClr val="5C6773"/>
                </a:solidFill>
                <a:latin typeface="Inconsolata"/>
              </a:rPr>
              <a:t>31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explain</a:t>
            </a:r>
            <a:r>
              <a:rPr sz="719" i="0">
                <a:solidFill>
                  <a:srgbClr val="E6EDF3"/>
                </a:solidFill>
                <a:latin typeface="Inconsolata"/>
              </a:rPr>
              <a:t>(conn, sql: </a:t>
            </a:r>
            <a:r>
              <a:rPr sz="719" i="0">
                <a:solidFill>
                  <a:srgbClr val="C3A6FF"/>
                </a:solidFill>
                <a:latin typeface="Inconsolata"/>
              </a:rPr>
              <a:t>str</a:t>
            </a:r>
            <a:r>
              <a:rPr sz="719" i="0">
                <a:solidFill>
                  <a:srgbClr val="E6EDF3"/>
                </a:solidFill>
                <a:latin typeface="Inconsolata"/>
              </a:rPr>
              <a:t>, params: </a:t>
            </a:r>
            <a:r>
              <a:rPr sz="719" i="0">
                <a:solidFill>
                  <a:srgbClr val="C3A6FF"/>
                </a:solidFill>
                <a:latin typeface="Inconsolata"/>
              </a:rPr>
              <a:t>dict</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plan = conn.execute(text(</a:t>
            </a:r>
            <a:r>
              <a:rPr sz="719" i="0">
                <a:solidFill>
                  <a:srgbClr val="A5D6A7"/>
                </a:solidFill>
                <a:latin typeface="Inconsolata"/>
              </a:rPr>
              <a:t>"EXPLAIN ANALYZE "</a:t>
            </a:r>
            <a:r>
              <a:rPr sz="719" i="0">
                <a:solidFill>
                  <a:srgbClr val="E6EDF3"/>
                </a:solidFill>
                <a:latin typeface="Inconsolata"/>
              </a:rPr>
              <a:t> + sql), params)</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plan.scalars().all()</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02-index/after.py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summary</a:t>
            </a:r>
            <a:r>
              <a:rPr sz="719" i="0">
                <a:solidFill>
                  <a:srgbClr val="E6EDF3"/>
                </a:solidFill>
                <a:latin typeface="Inconsolata"/>
              </a:rPr>
              <a:t>(plan: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r>
              <a:rPr sz="719" i="0">
                <a:solidFill>
                  <a:srgbClr val="A5D6A7"/>
                </a:solidFill>
                <a:latin typeface="Inconsolata"/>
              </a:rPr>
              <a:t>"""Ambil baris penting saja: jenis scan dan total waktu."""</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[line.strip()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plan</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a:t>
            </a:r>
            <a:r>
              <a:rPr sz="719" i="0">
                <a:solidFill>
                  <a:srgbClr val="A5D6A7"/>
                </a:solidFill>
                <a:latin typeface="Inconsolata"/>
              </a:rPr>
              <a:t>"Scan"</a:t>
            </a:r>
            <a:r>
              <a:rPr sz="719" i="0">
                <a:solidFill>
                  <a:srgbClr val="E6EDF3"/>
                </a:solidFill>
                <a:latin typeface="Inconsolata"/>
              </a:rPr>
              <a:t> </a:t>
            </a:r>
            <a:r>
              <a:rPr sz="719" i="0">
                <a:solidFill>
                  <a:srgbClr val="FF8E6E"/>
                </a:solidFill>
                <a:latin typeface="Inconsolata"/>
              </a:rPr>
              <a:t>in</a:t>
            </a:r>
            <a:r>
              <a:rPr sz="719" i="0">
                <a:solidFill>
                  <a:srgbClr val="E6EDF3"/>
                </a:solidFill>
                <a:latin typeface="Inconsolata"/>
              </a:rPr>
              <a:t> line </a:t>
            </a:r>
            <a:r>
              <a:rPr sz="719" i="0">
                <a:solidFill>
                  <a:srgbClr val="FF8E6E"/>
                </a:solidFill>
                <a:latin typeface="Inconsolata"/>
              </a:rPr>
              <a:t>or</a:t>
            </a:r>
            <a:r>
              <a:rPr sz="719" i="0">
                <a:solidFill>
                  <a:srgbClr val="E6EDF3"/>
                </a:solidFill>
                <a:latin typeface="Inconsolata"/>
              </a:rPr>
              <a:t> </a:t>
            </a:r>
            <a:r>
              <a:rPr sz="719" i="0">
                <a:solidFill>
                  <a:srgbClr val="A5D6A7"/>
                </a:solidFill>
                <a:latin typeface="Inconsolata"/>
              </a:rPr>
              <a:t>"Execution Time"</a:t>
            </a:r>
            <a:r>
              <a:rPr sz="719" i="0">
                <a:solidFill>
                  <a:srgbClr val="E6EDF3"/>
                </a:solidFill>
                <a:latin typeface="Inconsolata"/>
              </a:rPr>
              <a:t> </a:t>
            </a:r>
            <a:r>
              <a:rPr sz="719" i="0">
                <a:solidFill>
                  <a:srgbClr val="FF8E6E"/>
                </a:solidFill>
                <a:latin typeface="Inconsolata"/>
              </a:rPr>
              <a:t>in</a:t>
            </a:r>
            <a:r>
              <a:rPr sz="719" i="0">
                <a:solidFill>
                  <a:srgbClr val="E6EDF3"/>
                </a:solidFill>
                <a:latin typeface="Inconsolata"/>
              </a:rPr>
              <a:t> line]</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p>
          <a:p>
            <a:pPr>
              <a:lnSpc>
                <a:spcPct val="104277"/>
              </a:lnSpc>
              <a:spcAft>
                <a:spcPts val="0"/>
              </a:spcAft>
            </a:pPr>
            <a:r>
              <a:rPr sz="719" i="0">
                <a:solidFill>
                  <a:srgbClr val="5C6773"/>
                </a:solidFill>
                <a:latin typeface="Inconsolata"/>
              </a:rPr>
              <a:t>42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engine.begin()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44  </a:t>
            </a:r>
            <a:r>
              <a:rPr sz="719" i="0">
                <a:solidFill>
                  <a:srgbClr val="E6EDF3"/>
                </a:solidFill>
                <a:latin typeface="Inconsolata"/>
              </a:rPr>
              <a:t>        conn.execute(text(</a:t>
            </a:r>
            <a:r>
              <a:rPr sz="719" i="0">
                <a:solidFill>
                  <a:srgbClr val="A5D6A7"/>
                </a:solidFill>
                <a:latin typeface="Inconsolata"/>
              </a:rPr>
              <a:t>"""</a:t>
            </a:r>
          </a:p>
          <a:p>
            <a:pPr>
              <a:lnSpc>
                <a:spcPct val="104277"/>
              </a:lnSpc>
              <a:spcAft>
                <a:spcPts val="0"/>
              </a:spcAft>
            </a:pPr>
            <a:r>
              <a:rPr sz="719" i="0">
                <a:solidFill>
                  <a:srgbClr val="5C6773"/>
                </a:solidFill>
                <a:latin typeface="Inconsolata"/>
              </a:rPr>
              <a:t>45  </a:t>
            </a:r>
            <a:r>
              <a:rPr sz="719" i="0">
                <a:solidFill>
                  <a:srgbClr val="A5D6A7"/>
                </a:solidFill>
                <a:latin typeface="Inconsolata"/>
              </a:rPr>
              <a:t>            CREATE INDEX IF NOT EXISTS ix_orders_customer_created</a:t>
            </a:r>
          </a:p>
          <a:p>
            <a:pPr>
              <a:lnSpc>
                <a:spcPct val="104277"/>
              </a:lnSpc>
              <a:spcAft>
                <a:spcPts val="0"/>
              </a:spcAft>
            </a:pPr>
            <a:r>
              <a:rPr sz="719" i="0">
                <a:solidFill>
                  <a:srgbClr val="5C6773"/>
                </a:solidFill>
                <a:latin typeface="Inconsolata"/>
              </a:rPr>
              <a:t>46  </a:t>
            </a:r>
            <a:r>
              <a:rPr sz="719" i="0">
                <a:solidFill>
                  <a:srgbClr val="A5D6A7"/>
                </a:solidFill>
                <a:latin typeface="Inconsolata"/>
              </a:rPr>
              <a:t>            ON orders (customer, created_at DESC)</a:t>
            </a:r>
          </a:p>
          <a:p>
            <a:pPr>
              <a:lnSpc>
                <a:spcPct val="104277"/>
              </a:lnSpc>
              <a:spcAft>
                <a:spcPts val="0"/>
              </a:spcAft>
            </a:pPr>
            <a:r>
              <a:rPr sz="719" i="0">
                <a:solidFill>
                  <a:srgbClr val="5C6773"/>
                </a:solidFill>
                <a:latin typeface="Inconsolata"/>
              </a:rPr>
              <a:t>47  </a:t>
            </a:r>
            <a:r>
              <a:rPr sz="719" i="0">
                <a:solidFill>
                  <a:srgbClr val="A5D6A7"/>
                </a:solidFill>
                <a:latin typeface="Inconsolata"/>
              </a:rPr>
              <a:t>        """</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a:t>
            </a:r>
          </a:p>
          <a:p>
            <a:pPr>
              <a:lnSpc>
                <a:spcPct val="104277"/>
              </a:lnSpc>
              <a:spcAft>
                <a:spcPts val="0"/>
              </a:spcAft>
            </a:pPr>
            <a:r>
              <a:rPr sz="719" i="0">
                <a:solidFill>
                  <a:srgbClr val="5C6773"/>
                </a:solidFill>
                <a:latin typeface="Inconsolata"/>
              </a:rPr>
              <a:t>49  </a:t>
            </a:r>
            <a:r>
              <a:rPr sz="719" i="0">
                <a:solidFill>
                  <a:srgbClr val="E6EDF3"/>
                </a:solidFill>
                <a:latin typeface="Inconsolata"/>
              </a:rPr>
              <a:t>        params = {</a:t>
            </a:r>
            <a:r>
              <a:rPr sz="719" i="0">
                <a:solidFill>
                  <a:srgbClr val="A5D6A7"/>
                </a:solidFill>
                <a:latin typeface="Inconsolata"/>
              </a:rPr>
              <a:t>"customer"</a:t>
            </a:r>
            <a:r>
              <a:rPr sz="719" i="0">
                <a:solidFill>
                  <a:srgbClr val="E6EDF3"/>
                </a:solidFill>
                <a:latin typeface="Inconsolata"/>
              </a:rPr>
              <a:t>: </a:t>
            </a:r>
            <a:r>
              <a:rPr sz="719" i="0">
                <a:solidFill>
                  <a:srgbClr val="A5D6A7"/>
                </a:solidFill>
                <a:latin typeface="Inconsolata"/>
              </a:rPr>
              <a:t>"customer42@mail.com"</a:t>
            </a:r>
            <a:r>
              <a:rPr sz="719" i="0">
                <a:solidFill>
                  <a:srgbClr val="E6EDF3"/>
                </a:solidFill>
                <a:latin typeface="Inconsolata"/>
              </a:rPr>
              <a:t>}</a:t>
            </a:r>
          </a:p>
          <a:p>
            <a:pPr>
              <a:lnSpc>
                <a:spcPct val="104277"/>
              </a:lnSpc>
              <a:spcAft>
                <a:spcPts val="0"/>
              </a:spcAft>
            </a:pPr>
            <a:r>
              <a:rPr sz="719" i="0">
                <a:solidFill>
                  <a:srgbClr val="5C6773"/>
                </a:solidFill>
                <a:latin typeface="Inconsolata"/>
              </a:rPr>
              <a:t>50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summary(explain(conn, </a:t>
            </a:r>
            <a:r>
              <a:rPr sz="719" i="0">
                <a:solidFill>
                  <a:srgbClr val="7FDBCA"/>
                </a:solidFill>
                <a:latin typeface="Inconsolata"/>
              </a:rPr>
              <a:t>HISTORY</a:t>
            </a:r>
            <a:r>
              <a:rPr sz="719" i="0">
                <a:solidFill>
                  <a:srgbClr val="E6EDF3"/>
                </a:solidFill>
                <a:latin typeface="Inconsolata"/>
              </a:rPr>
              <a:t>, params)):</a:t>
            </a:r>
          </a:p>
          <a:p>
            <a:pPr>
              <a:lnSpc>
                <a:spcPct val="104277"/>
              </a:lnSpc>
              <a:spcAft>
                <a:spcPts val="0"/>
              </a:spcAft>
            </a:pPr>
            <a:r>
              <a:rPr sz="719" i="0">
                <a:solidFill>
                  <a:srgbClr val="5C6773"/>
                </a:solidFill>
                <a:latin typeface="Inconsolata"/>
              </a:rPr>
              <a:t>51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(line)</a:t>
            </a:r>
          </a:p>
        </p:txBody>
      </p:sp>
      <p:sp>
        <p:nvSpPr>
          <p:cNvPr id="36" name="Box 21"/>
          <p:cNvSpPr/>
          <p:nvPr/>
        </p:nvSpPr>
        <p:spPr>
          <a:xfrm>
            <a:off x="4709159" y="28540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8460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34255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33604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Index</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02-index/after.py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sesi-07-database-optimization/02-index</a:t>
            </a:r>
          </a:p>
          <a:p>
            <a:pPr>
              <a:lnSpc>
                <a:spcPct val="111111"/>
              </a:lnSpc>
              <a:spcAft>
                <a:spcPts val="0"/>
              </a:spcAft>
            </a:pPr>
            <a:r>
              <a:rPr sz="900" i="0">
                <a:solidFill>
                  <a:srgbClr val="82B1FF"/>
                </a:solidFill>
                <a:latin typeface="Inconsolata"/>
              </a:rPr>
              <a:t>$ python after.py</a:t>
            </a:r>
          </a:p>
        </p:txBody>
      </p:sp>
      <p:pic>
        <p:nvPicPr>
          <p:cNvPr id="29" name="Image 12" descr="s07-02-index-after.png"/>
          <p:cNvPicPr>
            <a:picLocks noChangeAspect="1"/>
          </p:cNvPicPr>
          <p:nvPr/>
        </p:nvPicPr>
        <p:blipFill>
          <a:blip r:embed="rId2"/>
          <a:stretch>
            <a:fillRect/>
          </a:stretch>
        </p:blipFill>
        <p:spPr>
          <a:xfrm>
            <a:off x="621792" y="2322576"/>
            <a:ext cx="4297680" cy="114604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Index </a:t>
            </a:r>
            <a:r>
              <a:rPr sz="950" b="0" i="0">
                <a:solidFill>
                  <a:srgbClr val="B5482A"/>
                </a:solidFill>
                <a:latin typeface="Inconsolata"/>
              </a:rPr>
              <a:t>(customer, created_at DESC)</a:t>
            </a:r>
            <a:r>
              <a:rPr sz="950" b="0" i="0">
                <a:solidFill>
                  <a:srgbClr val="434343"/>
                </a:solidFill>
                <a:latin typeface="Inter"/>
              </a:rPr>
              <a:t> sesuai WHERE dan ORDER BY (baris 45-46)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Query dan cara mengukurnya sama dengan before (baris 50)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Index Scan</a:t>
            </a:r>
            <a:r>
              <a:rPr sz="950" b="0" i="0">
                <a:solidFill>
                  <a:srgbClr val="434343"/>
                </a:solidFill>
                <a:latin typeface="Inter"/>
              </a:rPr>
              <a:t>: langsung ke 10 baris yang dicari, sekitar 0.05 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N+1 Query?</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N+1 query adalah</a:t>
            </a:r>
          </a:p>
          <a:p>
            <a:pPr algn="l">
              <a:lnSpc>
                <a:spcPct val="115000"/>
              </a:lnSpc>
              <a:spcAft>
                <a:spcPts val="400"/>
              </a:spcAft>
            </a:pPr>
            <a:r>
              <a:rPr sz="900" b="0" i="0">
                <a:solidFill>
                  <a:srgbClr val="434343"/>
                </a:solidFill>
                <a:latin typeface="Inter"/>
              </a:rPr>
              <a:t>Masalah performa di ORM: </a:t>
            </a:r>
            <a:r>
              <a:rPr sz="900" b="1" i="0">
                <a:solidFill>
                  <a:srgbClr val="434343"/>
                </a:solidFill>
                <a:latin typeface="Inter"/>
              </a:rPr>
              <a:t>1 query</a:t>
            </a:r>
            <a:r>
              <a:rPr sz="900" b="0" i="0">
                <a:solidFill>
                  <a:srgbClr val="434343"/>
                </a:solidFill>
                <a:latin typeface="Inter"/>
              </a:rPr>
              <a:t> untuk mengambil daftar data, lalu </a:t>
            </a:r>
            <a:r>
              <a:rPr sz="900" b="1" i="0">
                <a:solidFill>
                  <a:srgbClr val="434343"/>
                </a:solidFill>
                <a:latin typeface="Inter"/>
              </a:rPr>
              <a:t>N query</a:t>
            </a:r>
            <a:r>
              <a:rPr sz="900" b="0" i="0">
                <a:solidFill>
                  <a:srgbClr val="434343"/>
                </a:solidFill>
                <a:latin typeface="Inter"/>
              </a:rPr>
              <a:t> tambahan untuk mengambil relasi setiap data satu per satu. Penyebabnya relationship yang dimuat secara </a:t>
            </a:r>
            <a:r>
              <a:rPr sz="900" b="1" i="0">
                <a:solidFill>
                  <a:srgbClr val="434343"/>
                </a:solidFill>
                <a:latin typeface="Inter"/>
              </a:rPr>
              <a:t>lazy</a:t>
            </a:r>
            <a:r>
              <a:rPr sz="900" b="0" i="0">
                <a:solidFill>
                  <a:srgbClr val="434343"/>
                </a:solidFill>
                <a:latin typeface="Inter"/>
              </a:rPr>
              <a:t>, yaitu baru diambil saat diakses.</a:t>
            </a:r>
          </a:p>
          <a:p>
            <a:pPr algn="l">
              <a:lnSpc>
                <a:spcPct val="115000"/>
              </a:lnSpc>
              <a:spcAft>
                <a:spcPts val="400"/>
              </a:spcAft>
            </a:pPr>
            <a:r>
              <a:rPr sz="1000" b="1" i="0">
                <a:solidFill>
                  <a:srgbClr val="1C4587"/>
                </a:solidFill>
                <a:latin typeface="Inter"/>
              </a:rPr>
              <a:t>Untuk apa dikenali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jumlah query naik sebanding dengan jumlah data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Mengurangi bolak-balik antara aplikasi dan database</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lazy load: 03-n-plus-one/before.py</a:t>
            </a:r>
          </a:p>
        </p:txBody>
      </p:sp>
      <p:sp>
        <p:nvSpPr>
          <p:cNvPr id="28" name="CodeBg 11"/>
          <p:cNvSpPr/>
          <p:nvPr/>
        </p:nvSpPr>
        <p:spPr>
          <a:xfrm>
            <a:off x="4297680" y="1719072"/>
            <a:ext cx="4187951" cy="1911095"/>
          </a:xfrm>
          <a:prstGeom prst="roundRect">
            <a:avLst>
              <a:gd name="adj" fmla="val 95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911095"/>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lines: </a:t>
            </a:r>
            <a:r>
              <a:rPr sz="850" i="0">
                <a:solidFill>
                  <a:srgbClr val="7FDBCA"/>
                </a:solidFill>
                <a:latin typeface="Inconsolata"/>
              </a:rPr>
              <a:t>Mapped</a:t>
            </a:r>
            <a:r>
              <a:rPr sz="850" i="0">
                <a:solidFill>
                  <a:srgbClr val="E6EDF3"/>
                </a:solidFill>
                <a:latin typeface="Inconsolata"/>
              </a:rPr>
              <a:t>[</a:t>
            </a:r>
            <a:r>
              <a:rPr sz="850" i="0">
                <a:solidFill>
                  <a:srgbClr val="C3A6FF"/>
                </a:solidFill>
                <a:latin typeface="Inconsolata"/>
              </a:rPr>
              <a:t>list</a:t>
            </a:r>
            <a:r>
              <a:rPr sz="850" i="0">
                <a:solidFill>
                  <a:srgbClr val="E6EDF3"/>
                </a:solidFill>
                <a:latin typeface="Inconsolata"/>
              </a:rPr>
              <a:t>[</a:t>
            </a:r>
            <a:r>
              <a:rPr sz="850" i="0">
                <a:solidFill>
                  <a:srgbClr val="7FDBCA"/>
                </a:solidFill>
                <a:latin typeface="Inconsolata"/>
              </a:rPr>
              <a:t>OrderLine</a:t>
            </a:r>
            <a:r>
              <a:rPr sz="850" i="0">
                <a:solidFill>
                  <a:srgbClr val="E6EDF3"/>
                </a:solidFill>
                <a:latin typeface="Inconsolata"/>
              </a:rPr>
              <a:t>]] = relationship()   </a:t>
            </a:r>
            <a:r>
              <a:rPr sz="850" i="1">
                <a:solidFill>
                  <a:srgbClr val="8B98A8"/>
                </a:solidFill>
                <a:latin typeface="Inconsolata"/>
              </a:rPr>
              <a:t># lazy load</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a:t>
            </a:r>
            <a:r>
              <a:rPr sz="850" i="0">
                <a:solidFill>
                  <a:srgbClr val="A5D6A7"/>
                </a:solidFill>
                <a:latin typeface="Inconsolata"/>
              </a:rPr>
              <a:t>"id"</a:t>
            </a:r>
            <a:r>
              <a:rPr sz="850" i="0">
                <a:solidFill>
                  <a:srgbClr val="E6EDF3"/>
                </a:solidFill>
                <a:latin typeface="Inconsolata"/>
              </a:rPr>
              <a:t>: o.id,</a:t>
            </a:r>
          </a:p>
          <a:p>
            <a:pPr>
              <a:lnSpc>
                <a:spcPct val="107843"/>
              </a:lnSpc>
              <a:spcAft>
                <a:spcPts val="0"/>
              </a:spcAft>
            </a:pPr>
            <a:r>
              <a:rPr sz="850" i="0">
                <a:solidFill>
                  <a:srgbClr val="E6EDF3"/>
                </a:solidFill>
                <a:latin typeface="Inconsolata"/>
              </a:rPr>
              <a:t>             </a:t>
            </a:r>
            <a:r>
              <a:rPr sz="850" i="0">
                <a:solidFill>
                  <a:srgbClr val="A5D6A7"/>
                </a:solidFill>
                <a:latin typeface="Inconsolata"/>
              </a:rPr>
              <a:t>"total"</a:t>
            </a:r>
            <a:r>
              <a:rPr sz="850" i="0">
                <a:solidFill>
                  <a:srgbClr val="E6EDF3"/>
                </a:solidFill>
                <a:latin typeface="Inconsolata"/>
              </a:rPr>
              <a:t>: </a:t>
            </a:r>
            <a:r>
              <a:rPr sz="850" i="0">
                <a:solidFill>
                  <a:srgbClr val="C3A6FF"/>
                </a:solidFill>
                <a:latin typeface="Inconsolata"/>
              </a:rPr>
              <a:t>sum</a:t>
            </a:r>
            <a:r>
              <a:rPr sz="850" i="0">
                <a:solidFill>
                  <a:srgbClr val="E6EDF3"/>
                </a:solidFill>
                <a:latin typeface="Inconsolata"/>
              </a:rPr>
              <a:t>(line.price * line.qty   </a:t>
            </a:r>
            <a:r>
              <a:rPr sz="850" i="1">
                <a:solidFill>
                  <a:srgbClr val="8B98A8"/>
                </a:solidFill>
                <a:latin typeface="Inconsolata"/>
              </a:rPr>
              <a:t># query lagi</a:t>
            </a:r>
          </a:p>
          <a:p>
            <a:pPr>
              <a:lnSpc>
                <a:spcPct val="107843"/>
              </a:lnSpc>
              <a:spcAft>
                <a:spcPts val="0"/>
              </a:spcAft>
            </a:pPr>
            <a:r>
              <a:rPr sz="850" i="0">
                <a:solidFill>
                  <a:srgbClr val="E6EDF3"/>
                </a:solidFill>
                <a:latin typeface="Inconsolata"/>
              </a:rPr>
              <a:t>                          </a:t>
            </a:r>
            <a:r>
              <a:rPr sz="850" i="0">
                <a:solidFill>
                  <a:srgbClr val="FF8E6E"/>
                </a:solidFill>
                <a:latin typeface="Inconsolata"/>
              </a:rPr>
              <a:t>for</a:t>
            </a:r>
            <a:r>
              <a:rPr sz="850" i="0">
                <a:solidFill>
                  <a:srgbClr val="E6EDF3"/>
                </a:solidFill>
                <a:latin typeface="Inconsolata"/>
              </a:rPr>
              <a:t> line </a:t>
            </a:r>
            <a:r>
              <a:rPr sz="850" i="0">
                <a:solidFill>
                  <a:srgbClr val="FF8E6E"/>
                </a:solidFill>
                <a:latin typeface="Inconsolata"/>
              </a:rPr>
              <a:t>in</a:t>
            </a:r>
            <a:r>
              <a:rPr sz="850" i="0">
                <a:solidFill>
                  <a:srgbClr val="E6EDF3"/>
                </a:solidFill>
                <a:latin typeface="Inconsolata"/>
              </a:rPr>
              <a:t> o.lines)}</a:t>
            </a:r>
          </a:p>
        </p:txBody>
      </p:sp>
      <p:sp>
        <p:nvSpPr>
          <p:cNvPr id="30" name="Box 13"/>
          <p:cNvSpPr/>
          <p:nvPr/>
        </p:nvSpPr>
        <p:spPr>
          <a:xfrm>
            <a:off x="4379976" y="18286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4"/>
          <p:cNvSpPr/>
          <p:nvPr/>
        </p:nvSpPr>
        <p:spPr>
          <a:xfrm>
            <a:off x="4379976" y="2247773"/>
            <a:ext cx="4023359"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Tab 16"/>
          <p:cNvSpPr/>
          <p:nvPr/>
        </p:nvSpPr>
        <p:spPr>
          <a:xfrm>
            <a:off x="4297680" y="372160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Dot 17"/>
          <p:cNvSpPr/>
          <p:nvPr/>
        </p:nvSpPr>
        <p:spPr>
          <a:xfrm>
            <a:off x="4407408" y="379933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544568" y="379933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4681728" y="379933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20"/>
          <p:cNvSpPr txBox="1"/>
          <p:nvPr/>
        </p:nvSpPr>
        <p:spPr>
          <a:xfrm>
            <a:off x="4846320" y="373075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selectinload: 03-n-plus-one/after.py</a:t>
            </a:r>
          </a:p>
        </p:txBody>
      </p:sp>
      <p:sp>
        <p:nvSpPr>
          <p:cNvPr id="37" name="CodeBg 22"/>
          <p:cNvSpPr/>
          <p:nvPr/>
        </p:nvSpPr>
        <p:spPr>
          <a:xfrm>
            <a:off x="4297680" y="3959352"/>
            <a:ext cx="4187951" cy="740664"/>
          </a:xfrm>
          <a:prstGeom prst="roundRect">
            <a:avLst>
              <a:gd name="adj" fmla="val 24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Code 23"/>
          <p:cNvSpPr txBox="1"/>
          <p:nvPr/>
        </p:nvSpPr>
        <p:spPr>
          <a:xfrm>
            <a:off x="4297680" y="3959352"/>
            <a:ext cx="4187951" cy="740664"/>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query = (select(</a:t>
            </a:r>
            <a:r>
              <a:rPr sz="850" i="0">
                <a:solidFill>
                  <a:srgbClr val="7FDBCA"/>
                </a:solidFill>
                <a:latin typeface="Inconsolata"/>
              </a:rPr>
              <a:t>Order</a:t>
            </a:r>
            <a:r>
              <a:rPr sz="850" i="0">
                <a:solidFill>
                  <a:srgbClr val="E6EDF3"/>
                </a:solidFill>
                <a:latin typeface="Inconsolata"/>
              </a:rPr>
              <a:t>).options(selectinload(</a:t>
            </a:r>
            <a:r>
              <a:rPr sz="850" i="0">
                <a:solidFill>
                  <a:srgbClr val="7FDBCA"/>
                </a:solidFill>
                <a:latin typeface="Inconsolata"/>
              </a:rPr>
              <a:t>Order</a:t>
            </a:r>
            <a:r>
              <a:rPr sz="850" i="0">
                <a:solidFill>
                  <a:srgbClr val="E6EDF3"/>
                </a:solidFill>
                <a:latin typeface="Inconsolata"/>
              </a:rPr>
              <a:t>.lines))</a:t>
            </a:r>
          </a:p>
          <a:p>
            <a:pPr>
              <a:lnSpc>
                <a:spcPct val="107843"/>
              </a:lnSpc>
              <a:spcAft>
                <a:spcPts val="0"/>
              </a:spcAft>
            </a:pPr>
            <a:r>
              <a:rPr sz="850" i="0">
                <a:solidFill>
                  <a:srgbClr val="E6EDF3"/>
                </a:solidFill>
                <a:latin typeface="Inconsolata"/>
              </a:rPr>
              <a:t>             .order_by(</a:t>
            </a:r>
            <a:r>
              <a:rPr sz="850" i="0">
                <a:solidFill>
                  <a:srgbClr val="7FDBCA"/>
                </a:solidFill>
                <a:latin typeface="Inconsolata"/>
              </a:rPr>
              <a:t>Order</a:t>
            </a:r>
            <a:r>
              <a:rPr sz="850" i="0">
                <a:solidFill>
                  <a:srgbClr val="E6EDF3"/>
                </a:solidFill>
                <a:latin typeface="Inconsolata"/>
              </a:rPr>
              <a:t>.id.desc()).limit(</a:t>
            </a:r>
            <a:r>
              <a:rPr sz="850" i="0">
                <a:solidFill>
                  <a:srgbClr val="F9C97A"/>
                </a:solidFill>
                <a:latin typeface="Inconsolata"/>
              </a:rPr>
              <a:t>100</a:t>
            </a:r>
            <a:r>
              <a:rPr sz="850" i="0">
                <a:solidFill>
                  <a:srgbClr val="E6EDF3"/>
                </a:solidFill>
                <a:latin typeface="Inconsolata"/>
              </a:rPr>
              <a:t>))</a:t>
            </a:r>
          </a:p>
        </p:txBody>
      </p:sp>
      <p:sp>
        <p:nvSpPr>
          <p:cNvPr id="39" name="Box 24"/>
          <p:cNvSpPr/>
          <p:nvPr/>
        </p:nvSpPr>
        <p:spPr>
          <a:xfrm>
            <a:off x="4379976" y="4068952"/>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selectinload?</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selectinload</a:t>
            </a:r>
          </a:p>
          <a:p>
            <a:pPr algn="l">
              <a:lnSpc>
                <a:spcPct val="115000"/>
              </a:lnSpc>
              <a:spcAft>
                <a:spcPts val="400"/>
              </a:spcAft>
            </a:pPr>
            <a:r>
              <a:rPr sz="950" b="0" i="0">
                <a:solidFill>
                  <a:srgbClr val="434343"/>
                </a:solidFill>
                <a:latin typeface="Inter"/>
              </a:rPr>
              <a:t>Menampilkan 100 order beserta itemnya. Setiap kali </a:t>
            </a:r>
            <a:r>
              <a:rPr sz="950" b="0" i="0">
                <a:solidFill>
                  <a:srgbClr val="B5482A"/>
                </a:solidFill>
                <a:latin typeface="Inconsolata"/>
              </a:rPr>
              <a:t>order.lines</a:t>
            </a:r>
            <a:r>
              <a:rPr sz="950" b="0" i="0">
                <a:solidFill>
                  <a:srgbClr val="434343"/>
                </a:solidFill>
                <a:latin typeface="Inter"/>
              </a:rPr>
              <a:t> diakses, SQLAlchemy mengirim satu query baru: totalnya 101 query.</a:t>
            </a:r>
          </a:p>
          <a:p>
            <a:pPr algn="l">
              <a:lnSpc>
                <a:spcPct val="115000"/>
              </a:lnSpc>
              <a:spcAft>
                <a:spcPts val="400"/>
              </a:spcAft>
            </a:pPr>
            <a:r>
              <a:rPr sz="1050" b="1" i="0">
                <a:solidFill>
                  <a:srgbClr val="1C4587"/>
                </a:solidFill>
                <a:latin typeface="Inter"/>
              </a:rPr>
              <a:t>Jika ordernya makin banyak</a:t>
            </a:r>
          </a:p>
          <a:p>
            <a:pPr algn="l">
              <a:lnSpc>
                <a:spcPct val="115000"/>
              </a:lnSpc>
              <a:spcAft>
                <a:spcPts val="400"/>
              </a:spcAft>
            </a:pPr>
            <a:r>
              <a:rPr sz="950" b="0" i="0">
                <a:solidFill>
                  <a:srgbClr val="434343"/>
                </a:solidFill>
                <a:latin typeface="Inter"/>
              </a:rPr>
              <a:t>1.000 order berarti 1.001 query. Kodenya terlihat wajar, masalahnya baru terlihat jika jumlah query dihitung.</a:t>
            </a:r>
          </a:p>
          <a:p>
            <a:pPr algn="l">
              <a:lnSpc>
                <a:spcPct val="115000"/>
              </a:lnSpc>
              <a:spcAft>
                <a:spcPts val="400"/>
              </a:spcAft>
            </a:pPr>
            <a:r>
              <a:rPr sz="950" b="0" i="0">
                <a:solidFill>
                  <a:srgbClr val="434343"/>
                </a:solidFill>
                <a:latin typeface="Inter"/>
              </a:rPr>
              <a:t>Hal ini membuat endpoint lambat walaupun setiap query-nya sendiri cepat.</a:t>
            </a:r>
          </a:p>
          <a:p>
            <a:pPr algn="l">
              <a:lnSpc>
                <a:spcPct val="115000"/>
              </a:lnSpc>
              <a:spcAft>
                <a:spcPts val="400"/>
              </a:spcAft>
            </a:pPr>
            <a:r>
              <a:rPr sz="1050" b="1" i="0">
                <a:solidFill>
                  <a:srgbClr val="1C4587"/>
                </a:solidFill>
                <a:latin typeface="Inter"/>
              </a:rPr>
              <a:t>Yang dipakai dari SQLAlchemy: selectinload</a:t>
            </a:r>
          </a:p>
          <a:p>
            <a:pPr algn="l">
              <a:lnSpc>
                <a:spcPct val="115000"/>
              </a:lnSpc>
              <a:spcAft>
                <a:spcPts val="400"/>
              </a:spcAft>
            </a:pPr>
            <a:r>
              <a:rPr sz="950" b="0" i="0">
                <a:solidFill>
                  <a:srgbClr val="B5482A"/>
                </a:solidFill>
                <a:latin typeface="Inconsolata"/>
              </a:rPr>
              <a:t>selectinload</a:t>
            </a:r>
            <a:r>
              <a:rPr sz="950" b="0" i="0">
                <a:solidFill>
                  <a:srgbClr val="434343"/>
                </a:solidFill>
                <a:latin typeface="Inter"/>
              </a:rPr>
              <a:t> mengambil relasi semua data sekaligus dengan satu query tambahan memakai </a:t>
            </a:r>
            <a:r>
              <a:rPr sz="950" b="0" i="0">
                <a:solidFill>
                  <a:srgbClr val="B5482A"/>
                </a:solidFill>
                <a:latin typeface="Inconsolata"/>
              </a:rPr>
              <a:t>WHERE ... IN (...)</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2286000"/>
        </p:xfrm>
        <a:graphic>
          <a:graphicData uri="http://schemas.openxmlformats.org/drawingml/2006/table">
            <a:tbl>
              <a:tblPr firstRow="1" bandRow="1"/>
              <a:tblGrid>
                <a:gridCol w="203911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relationship()</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Default lazy: relasi diambil saat diakses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.options(selectinload(Order.lines))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Relasi semua order diambil dengan 1 query</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.options(joinedload(...))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Relasi diambil dengan JOIN, cocok untuk many-to-one</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Aft>
                          <a:spcPts val="0"/>
                        </a:spcAft>
                      </a:pPr>
                      <a:r>
                        <a:rPr sz="850" b="1" i="0">
                          <a:solidFill>
                            <a:srgbClr val="1C4587"/>
                          </a:solidFill>
                          <a:latin typeface="Inter"/>
                        </a:rPr>
                        <a:t>event before_cursor_execute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Menghitung query yang dikirim ke database</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100 order = 101 query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12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ForeignKey</a:t>
            </a:r>
            <a:r>
              <a:rPr sz="719" i="0">
                <a:solidFill>
                  <a:srgbClr val="E6EDF3"/>
                </a:solidFill>
                <a:latin typeface="Inconsolata"/>
              </a:rPr>
              <a:t>, create_engine, event, select, text</a:t>
            </a:r>
          </a:p>
          <a:p>
            <a:pPr>
              <a:lnSpc>
                <a:spcPct val="104277"/>
              </a:lnSpc>
              <a:spcAft>
                <a:spcPts val="0"/>
              </a:spcAft>
            </a:pPr>
            <a:r>
              <a:rPr sz="719" i="0">
                <a:solidFill>
                  <a:srgbClr val="5C6773"/>
                </a:solidFill>
                <a:latin typeface="Inconsolata"/>
              </a:rPr>
              <a:t>15  </a:t>
            </a:r>
            <a:r>
              <a:rPr sz="719" i="0">
                <a:solidFill>
                  <a:srgbClr val="FF8E6E"/>
                </a:solidFill>
                <a:latin typeface="Inconsolata"/>
              </a:rPr>
              <a:t>from</a:t>
            </a:r>
            <a:r>
              <a:rPr sz="719" i="0">
                <a:solidFill>
                  <a:srgbClr val="E6EDF3"/>
                </a:solidFill>
                <a:latin typeface="Inconsolata"/>
              </a:rPr>
              <a:t> sqlalchemy.orm </a:t>
            </a:r>
            <a:r>
              <a:rPr sz="719" i="0">
                <a:solidFill>
                  <a:srgbClr val="FF8E6E"/>
                </a:solidFill>
                <a:latin typeface="Inconsolata"/>
              </a:rPr>
              <a:t>import</a:t>
            </a:r>
            <a:r>
              <a:rPr sz="719" i="0">
                <a:solidFill>
                  <a:srgbClr val="E6EDF3"/>
                </a:solidFill>
                <a:latin typeface="Inconsolata"/>
              </a:rPr>
              <a:t> (</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r>
              <a:rPr sz="719" i="0">
                <a:solidFill>
                  <a:srgbClr val="7FDBCA"/>
                </a:solidFill>
                <a:latin typeface="Inconsolata"/>
              </a:rPr>
              <a:t>DeclarativeBase</a:t>
            </a:r>
            <a:r>
              <a:rPr sz="719" i="0">
                <a:solidFill>
                  <a:srgbClr val="E6EDF3"/>
                </a:solidFill>
                <a:latin typeface="Inconsolata"/>
              </a:rPr>
              <a:t>, </a:t>
            </a:r>
            <a:r>
              <a:rPr sz="719" i="0">
                <a:solidFill>
                  <a:srgbClr val="7FDBCA"/>
                </a:solidFill>
                <a:latin typeface="Inconsolata"/>
              </a:rPr>
              <a:t>Mapped</a:t>
            </a:r>
            <a:r>
              <a:rPr sz="719" i="0">
                <a:solidFill>
                  <a:srgbClr val="E6EDF3"/>
                </a:solidFill>
                <a:latin typeface="Inconsolata"/>
              </a:rPr>
              <a:t>, </a:t>
            </a:r>
            <a:r>
              <a:rPr sz="719" i="0">
                <a:solidFill>
                  <a:srgbClr val="7FDBCA"/>
                </a:solidFill>
                <a:latin typeface="Inconsolata"/>
              </a:rPr>
              <a:t>Session</a:t>
            </a:r>
            <a:r>
              <a:rPr sz="719" i="0">
                <a:solidFill>
                  <a:srgbClr val="E6EDF3"/>
                </a:solidFill>
                <a:latin typeface="Inconsolata"/>
              </a:rPr>
              <a:t>, mapped_column, relationship,</a:t>
            </a:r>
          </a:p>
          <a:p>
            <a:pPr>
              <a:lnSpc>
                <a:spcPct val="104277"/>
              </a:lnSpc>
              <a:spcAft>
                <a:spcPts val="0"/>
              </a:spcAft>
            </a:pPr>
            <a:r>
              <a:rPr sz="719" i="0">
                <a:solidFill>
                  <a:srgbClr val="5C6773"/>
                </a:solidFill>
                <a:latin typeface="Inconsolata"/>
              </a:rPr>
              <a:t>17  </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queries = </a:t>
            </a:r>
            <a:r>
              <a:rPr sz="719" i="0">
                <a:solidFill>
                  <a:srgbClr val="F9C97A"/>
                </a:solidFill>
                <a:latin typeface="Inconsolata"/>
              </a:rPr>
              <a:t>0</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25  </a:t>
            </a:r>
            <a:r>
              <a:rPr sz="719" i="0">
                <a:solidFill>
                  <a:srgbClr val="F9C97A"/>
                </a:solidFill>
                <a:latin typeface="Inconsolata"/>
              </a:rPr>
              <a:t>@event.listens_for</a:t>
            </a:r>
            <a:r>
              <a:rPr sz="719" i="0">
                <a:solidFill>
                  <a:srgbClr val="E6EDF3"/>
                </a:solidFill>
                <a:latin typeface="Inconsolata"/>
              </a:rPr>
              <a:t>(engine, </a:t>
            </a:r>
            <a:r>
              <a:rPr sz="719" i="0">
                <a:solidFill>
                  <a:srgbClr val="A5D6A7"/>
                </a:solidFill>
                <a:latin typeface="Inconsolata"/>
              </a:rPr>
              <a:t>"before_cursor_execute"</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count_query</a:t>
            </a:r>
            <a:r>
              <a:rPr sz="719" i="0">
                <a:solidFill>
                  <a:srgbClr val="E6EDF3"/>
                </a:solidFill>
                <a:latin typeface="Inconsolata"/>
              </a:rPr>
              <a:t>(*args):</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r>
              <a:rPr sz="719" i="0">
                <a:solidFill>
                  <a:srgbClr val="FF8E6E"/>
                </a:solidFill>
                <a:latin typeface="Inconsolata"/>
              </a:rPr>
              <a:t>global</a:t>
            </a:r>
            <a:r>
              <a:rPr sz="719" i="0">
                <a:solidFill>
                  <a:srgbClr val="E6EDF3"/>
                </a:solidFill>
                <a:latin typeface="Inconsolata"/>
              </a:rPr>
              <a:t> queries</a:t>
            </a:r>
          </a:p>
          <a:p>
            <a:pPr>
              <a:lnSpc>
                <a:spcPct val="104277"/>
              </a:lnSpc>
              <a:spcAft>
                <a:spcPts val="0"/>
              </a:spcAft>
            </a:pPr>
            <a:r>
              <a:rPr sz="719" i="0">
                <a:solidFill>
                  <a:srgbClr val="5C6773"/>
                </a:solidFill>
                <a:latin typeface="Inconsolata"/>
              </a:rPr>
              <a:t>28  </a:t>
            </a:r>
            <a:r>
              <a:rPr sz="719" i="0">
                <a:solidFill>
                  <a:srgbClr val="E6EDF3"/>
                </a:solidFill>
                <a:latin typeface="Inconsolata"/>
              </a:rPr>
              <a:t>    queries += </a:t>
            </a:r>
            <a:r>
              <a:rPr sz="719" i="0">
                <a:solidFill>
                  <a:srgbClr val="F9C97A"/>
                </a:solidFill>
                <a:latin typeface="Inconsolata"/>
              </a:rPr>
              <a:t>1</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p>
          <a:p>
            <a:pPr>
              <a:lnSpc>
                <a:spcPct val="104277"/>
              </a:lnSpc>
              <a:spcAft>
                <a:spcPts val="0"/>
              </a:spcAft>
            </a:pPr>
            <a:r>
              <a:rPr sz="719" i="0">
                <a:solidFill>
                  <a:srgbClr val="5C6773"/>
                </a:solidFill>
                <a:latin typeface="Inconsolata"/>
              </a:rPr>
              <a:t>31  </a:t>
            </a:r>
            <a:r>
              <a:rPr sz="719" i="0">
                <a:solidFill>
                  <a:srgbClr val="FF8E6E"/>
                </a:solidFill>
                <a:latin typeface="Inconsolata"/>
              </a:rPr>
              <a:t>class</a:t>
            </a:r>
            <a:r>
              <a:rPr sz="719" i="0">
                <a:solidFill>
                  <a:srgbClr val="E6EDF3"/>
                </a:solidFill>
                <a:latin typeface="Inconsolata"/>
              </a:rPr>
              <a:t> </a:t>
            </a:r>
            <a:r>
              <a:rPr sz="719" i="0">
                <a:solidFill>
                  <a:srgbClr val="7FDBCA"/>
                </a:solidFill>
                <a:latin typeface="Inconsolata"/>
              </a:rPr>
              <a:t>Base</a:t>
            </a:r>
            <a:r>
              <a:rPr sz="719" i="0">
                <a:solidFill>
                  <a:srgbClr val="E6EDF3"/>
                </a:solidFill>
                <a:latin typeface="Inconsolata"/>
              </a:rPr>
              <a:t>(</a:t>
            </a:r>
            <a:r>
              <a:rPr sz="719" i="0">
                <a:solidFill>
                  <a:srgbClr val="7FDBCA"/>
                </a:solidFill>
                <a:latin typeface="Inconsolata"/>
              </a:rPr>
              <a:t>DeclarativeBase</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FF8E6E"/>
                </a:solidFill>
                <a:latin typeface="Inconsolata"/>
              </a:rPr>
              <a:t>pass</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p>
          <a:p>
            <a:pPr>
              <a:lnSpc>
                <a:spcPct val="104277"/>
              </a:lnSpc>
              <a:spcAft>
                <a:spcPts val="0"/>
              </a:spcAft>
            </a:pPr>
            <a:r>
              <a:rPr sz="719" i="0">
                <a:solidFill>
                  <a:srgbClr val="5C6773"/>
                </a:solidFill>
                <a:latin typeface="Inconsolata"/>
              </a:rPr>
              <a:t>35  </a:t>
            </a:r>
            <a:r>
              <a:rPr sz="719" i="0">
                <a:solidFill>
                  <a:srgbClr val="FF8E6E"/>
                </a:solidFill>
                <a:latin typeface="Inconsolata"/>
              </a:rPr>
              <a:t>class</a:t>
            </a:r>
            <a:r>
              <a:rPr sz="719" i="0">
                <a:solidFill>
                  <a:srgbClr val="E6EDF3"/>
                </a:solidFill>
                <a:latin typeface="Inconsolata"/>
              </a:rPr>
              <a:t> </a:t>
            </a:r>
            <a:r>
              <a:rPr sz="719" i="0">
                <a:solidFill>
                  <a:srgbClr val="7FDBCA"/>
                </a:solidFill>
                <a:latin typeface="Inconsolata"/>
              </a:rPr>
              <a:t>OrderLine</a:t>
            </a:r>
            <a:r>
              <a:rPr sz="719" i="0">
                <a:solidFill>
                  <a:srgbClr val="E6EDF3"/>
                </a:solidFill>
                <a:latin typeface="Inconsolata"/>
              </a:rPr>
              <a:t>(</a:t>
            </a:r>
            <a:r>
              <a:rPr sz="719" i="0">
                <a:solidFill>
                  <a:srgbClr val="7FDBCA"/>
                </a:solidFill>
                <a:latin typeface="Inconsolata"/>
              </a:rPr>
              <a:t>Base</a:t>
            </a:r>
            <a:r>
              <a:rPr sz="719" i="0">
                <a:solidFill>
                  <a:srgbClr val="E6EDF3"/>
                </a:solidFill>
                <a:latin typeface="Inconsolata"/>
              </a:rPr>
              <a:t>):</a:t>
            </a:r>
          </a:p>
          <a:p>
            <a:pPr>
              <a:lnSpc>
                <a:spcPct val="104277"/>
              </a:lnSpc>
              <a:spcAft>
                <a:spcPts val="0"/>
              </a:spcAft>
            </a:pPr>
            <a:r>
              <a:rPr sz="719" i="0">
                <a:solidFill>
                  <a:srgbClr val="5C6773"/>
                </a:solidFill>
                <a:latin typeface="Inconsolata"/>
              </a:rPr>
              <a:t>36  </a:t>
            </a:r>
            <a:r>
              <a:rPr sz="719" i="0">
                <a:solidFill>
                  <a:srgbClr val="E6EDF3"/>
                </a:solidFill>
                <a:latin typeface="Inconsolata"/>
              </a:rPr>
              <a:t>    __tablename__ = </a:t>
            </a:r>
            <a:r>
              <a:rPr sz="719" i="0">
                <a:solidFill>
                  <a:srgbClr val="A5D6A7"/>
                </a:solidFill>
                <a:latin typeface="Inconsolata"/>
              </a:rPr>
              <a:t>"order_lines"</a:t>
            </a:r>
          </a:p>
          <a:p>
            <a:pPr>
              <a:lnSpc>
                <a:spcPct val="104277"/>
              </a:lnSpc>
              <a:spcAft>
                <a:spcPts val="0"/>
              </a:spcAft>
            </a:pPr>
            <a:r>
              <a:rPr sz="719" i="0">
                <a:solidFill>
                  <a:srgbClr val="5C6773"/>
                </a:solidFill>
                <a:latin typeface="Inconsolata"/>
              </a:rPr>
              <a:t>37  </a:t>
            </a:r>
            <a:r>
              <a:rPr sz="719" i="0">
                <a:solidFill>
                  <a:srgbClr val="E6EDF3"/>
                </a:solidFill>
                <a:latin typeface="Inconsolata"/>
              </a:rPr>
              <a:t>    id: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 = mapped_column(primary_key=</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order_id: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 = mapped_column(</a:t>
            </a:r>
            <a:r>
              <a:rPr sz="719" i="0">
                <a:solidFill>
                  <a:srgbClr val="7FDBCA"/>
                </a:solidFill>
                <a:latin typeface="Inconsolata"/>
              </a:rPr>
              <a:t>ForeignKey</a:t>
            </a:r>
            <a:r>
              <a:rPr sz="719" i="0">
                <a:solidFill>
                  <a:srgbClr val="E6EDF3"/>
                </a:solidFill>
                <a:latin typeface="Inconsolata"/>
              </a:rPr>
              <a:t>(</a:t>
            </a:r>
            <a:r>
              <a:rPr sz="719" i="0">
                <a:solidFill>
                  <a:srgbClr val="A5D6A7"/>
                </a:solidFill>
                <a:latin typeface="Inconsolata"/>
              </a:rPr>
              <a:t>"orders.id"</a:t>
            </a:r>
            <a:r>
              <a:rPr sz="719" i="0">
                <a:solidFill>
                  <a:srgbClr val="E6EDF3"/>
                </a:solidFill>
                <a:latin typeface="Inconsolata"/>
              </a:rPr>
              <a:t>))</a:t>
            </a:r>
          </a:p>
          <a:p>
            <a:pPr>
              <a:lnSpc>
                <a:spcPct val="104277"/>
              </a:lnSpc>
              <a:spcAft>
                <a:spcPts val="0"/>
              </a:spcAft>
            </a:pPr>
            <a:r>
              <a:rPr sz="719" i="0">
                <a:solidFill>
                  <a:srgbClr val="5C6773"/>
                </a:solidFill>
                <a:latin typeface="Inconsolata"/>
              </a:rPr>
              <a:t>39  </a:t>
            </a:r>
            <a:r>
              <a:rPr sz="719" i="0">
                <a:solidFill>
                  <a:srgbClr val="E6EDF3"/>
                </a:solidFill>
                <a:latin typeface="Inconsolata"/>
              </a:rPr>
              <a:t>    price: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qty: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a:t>
            </a:r>
          </a:p>
        </p:txBody>
      </p:sp>
      <p:sp>
        <p:nvSpPr>
          <p:cNvPr id="36" name="Box 21"/>
          <p:cNvSpPr/>
          <p:nvPr/>
        </p:nvSpPr>
        <p:spPr>
          <a:xfrm>
            <a:off x="4709159" y="18253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1931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100 order = 101 query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1459"/>
              </a:lnSpc>
              <a:spcAft>
                <a:spcPts val="0"/>
              </a:spcAft>
            </a:pPr>
            <a:r>
              <a:rPr sz="739" i="0">
                <a:solidFill>
                  <a:srgbClr val="5C6773"/>
                </a:solidFill>
                <a:latin typeface="Inconsolata"/>
              </a:rPr>
              <a:t>43  </a:t>
            </a:r>
            <a:r>
              <a:rPr sz="739" i="0">
                <a:solidFill>
                  <a:srgbClr val="FF8E6E"/>
                </a:solidFill>
                <a:latin typeface="Inconsolata"/>
              </a:rPr>
              <a:t>class</a:t>
            </a:r>
            <a:r>
              <a:rPr sz="739" i="0">
                <a:solidFill>
                  <a:srgbClr val="E6EDF3"/>
                </a:solidFill>
                <a:latin typeface="Inconsolata"/>
              </a:rPr>
              <a:t> </a:t>
            </a:r>
            <a:r>
              <a:rPr sz="739" i="0">
                <a:solidFill>
                  <a:srgbClr val="7FDBCA"/>
                </a:solidFill>
                <a:latin typeface="Inconsolata"/>
              </a:rPr>
              <a:t>Order</a:t>
            </a:r>
            <a:r>
              <a:rPr sz="739" i="0">
                <a:solidFill>
                  <a:srgbClr val="E6EDF3"/>
                </a:solidFill>
                <a:latin typeface="Inconsolata"/>
              </a:rPr>
              <a:t>(</a:t>
            </a:r>
            <a:r>
              <a:rPr sz="739" i="0">
                <a:solidFill>
                  <a:srgbClr val="7FDBCA"/>
                </a:solidFill>
                <a:latin typeface="Inconsolata"/>
              </a:rPr>
              <a:t>Base</a:t>
            </a:r>
            <a:r>
              <a:rPr sz="739" i="0">
                <a:solidFill>
                  <a:srgbClr val="E6EDF3"/>
                </a:solidFill>
                <a:latin typeface="Inconsolata"/>
              </a:rPr>
              <a:t>):</a:t>
            </a:r>
          </a:p>
          <a:p>
            <a:pPr>
              <a:lnSpc>
                <a:spcPct val="101459"/>
              </a:lnSpc>
              <a:spcAft>
                <a:spcPts val="0"/>
              </a:spcAft>
            </a:pPr>
            <a:r>
              <a:rPr sz="739" i="0">
                <a:solidFill>
                  <a:srgbClr val="5C6773"/>
                </a:solidFill>
                <a:latin typeface="Inconsolata"/>
              </a:rPr>
              <a:t>44  </a:t>
            </a:r>
            <a:r>
              <a:rPr sz="739" i="0">
                <a:solidFill>
                  <a:srgbClr val="E6EDF3"/>
                </a:solidFill>
                <a:latin typeface="Inconsolata"/>
              </a:rPr>
              <a:t>    __tablename__ = </a:t>
            </a:r>
            <a:r>
              <a:rPr sz="739" i="0">
                <a:solidFill>
                  <a:srgbClr val="A5D6A7"/>
                </a:solidFill>
                <a:latin typeface="Inconsolata"/>
              </a:rPr>
              <a:t>"orders"</a:t>
            </a:r>
          </a:p>
          <a:p>
            <a:pPr>
              <a:lnSpc>
                <a:spcPct val="101459"/>
              </a:lnSpc>
              <a:spcAft>
                <a:spcPts val="0"/>
              </a:spcAft>
            </a:pPr>
            <a:r>
              <a:rPr sz="739" i="0">
                <a:solidFill>
                  <a:srgbClr val="5C6773"/>
                </a:solidFill>
                <a:latin typeface="Inconsolata"/>
              </a:rPr>
              <a:t>45  </a:t>
            </a:r>
            <a:r>
              <a:rPr sz="739" i="0">
                <a:solidFill>
                  <a:srgbClr val="E6EDF3"/>
                </a:solidFill>
                <a:latin typeface="Inconsolata"/>
              </a:rPr>
              <a:t>    id: </a:t>
            </a:r>
            <a:r>
              <a:rPr sz="739" i="0">
                <a:solidFill>
                  <a:srgbClr val="7FDBCA"/>
                </a:solidFill>
                <a:latin typeface="Inconsolata"/>
              </a:rPr>
              <a:t>Mapped</a:t>
            </a:r>
            <a:r>
              <a:rPr sz="739" i="0">
                <a:solidFill>
                  <a:srgbClr val="E6EDF3"/>
                </a:solidFill>
                <a:latin typeface="Inconsolata"/>
              </a:rPr>
              <a:t>[</a:t>
            </a:r>
            <a:r>
              <a:rPr sz="739" i="0">
                <a:solidFill>
                  <a:srgbClr val="C3A6FF"/>
                </a:solidFill>
                <a:latin typeface="Inconsolata"/>
              </a:rPr>
              <a:t>int</a:t>
            </a:r>
            <a:r>
              <a:rPr sz="739" i="0">
                <a:solidFill>
                  <a:srgbClr val="E6EDF3"/>
                </a:solidFill>
                <a:latin typeface="Inconsolata"/>
              </a:rPr>
              <a:t>] = mapped_column(primary_key=</a:t>
            </a:r>
            <a:r>
              <a:rPr sz="739" i="0">
                <a:solidFill>
                  <a:srgbClr val="FF8E6E"/>
                </a:solidFill>
                <a:latin typeface="Inconsolata"/>
              </a:rPr>
              <a:t>True</a:t>
            </a:r>
            <a:r>
              <a:rPr sz="739" i="0">
                <a:solidFill>
                  <a:srgbClr val="E6EDF3"/>
                </a:solidFill>
                <a:latin typeface="Inconsolata"/>
              </a:rPr>
              <a:t>)</a:t>
            </a:r>
          </a:p>
          <a:p>
            <a:pPr>
              <a:lnSpc>
                <a:spcPct val="101459"/>
              </a:lnSpc>
              <a:spcAft>
                <a:spcPts val="0"/>
              </a:spcAft>
            </a:pPr>
            <a:r>
              <a:rPr sz="739" i="0">
                <a:solidFill>
                  <a:srgbClr val="5C6773"/>
                </a:solidFill>
                <a:latin typeface="Inconsolata"/>
              </a:rPr>
              <a:t>46  </a:t>
            </a:r>
            <a:r>
              <a:rPr sz="739" i="0">
                <a:solidFill>
                  <a:srgbClr val="E6EDF3"/>
                </a:solidFill>
                <a:latin typeface="Inconsolata"/>
              </a:rPr>
              <a:t>    customer: </a:t>
            </a:r>
            <a:r>
              <a:rPr sz="739" i="0">
                <a:solidFill>
                  <a:srgbClr val="7FDBCA"/>
                </a:solidFill>
                <a:latin typeface="Inconsolata"/>
              </a:rPr>
              <a:t>Mapped</a:t>
            </a:r>
            <a:r>
              <a:rPr sz="739" i="0">
                <a:solidFill>
                  <a:srgbClr val="E6EDF3"/>
                </a:solidFill>
                <a:latin typeface="Inconsolata"/>
              </a:rPr>
              <a:t>[</a:t>
            </a:r>
            <a:r>
              <a:rPr sz="739" i="0">
                <a:solidFill>
                  <a:srgbClr val="C3A6FF"/>
                </a:solidFill>
                <a:latin typeface="Inconsolata"/>
              </a:rPr>
              <a:t>str</a:t>
            </a:r>
            <a:r>
              <a:rPr sz="739" i="0">
                <a:solidFill>
                  <a:srgbClr val="E6EDF3"/>
                </a:solidFill>
                <a:latin typeface="Inconsolata"/>
              </a:rPr>
              <a:t>]</a:t>
            </a:r>
          </a:p>
          <a:p>
            <a:pPr>
              <a:lnSpc>
                <a:spcPct val="101459"/>
              </a:lnSpc>
              <a:spcAft>
                <a:spcPts val="0"/>
              </a:spcAft>
            </a:pPr>
            <a:r>
              <a:rPr sz="739" i="0">
                <a:solidFill>
                  <a:srgbClr val="5C6773"/>
                </a:solidFill>
                <a:latin typeface="Inconsolata"/>
              </a:rPr>
              <a:t>47  </a:t>
            </a:r>
            <a:r>
              <a:rPr sz="739" i="0">
                <a:solidFill>
                  <a:srgbClr val="E6EDF3"/>
                </a:solidFill>
                <a:latin typeface="Inconsolata"/>
              </a:rPr>
              <a:t>    lines: </a:t>
            </a:r>
            <a:r>
              <a:rPr sz="739" i="0">
                <a:solidFill>
                  <a:srgbClr val="7FDBCA"/>
                </a:solidFill>
                <a:latin typeface="Inconsolata"/>
              </a:rPr>
              <a:t>Mapped</a:t>
            </a:r>
            <a:r>
              <a:rPr sz="739" i="0">
                <a:solidFill>
                  <a:srgbClr val="E6EDF3"/>
                </a:solidFill>
                <a:latin typeface="Inconsolata"/>
              </a:rPr>
              <a:t>[</a:t>
            </a:r>
            <a:r>
              <a:rPr sz="739" i="0">
                <a:solidFill>
                  <a:srgbClr val="C3A6FF"/>
                </a:solidFill>
                <a:latin typeface="Inconsolata"/>
              </a:rPr>
              <a:t>list</a:t>
            </a:r>
            <a:r>
              <a:rPr sz="739" i="0">
                <a:solidFill>
                  <a:srgbClr val="E6EDF3"/>
                </a:solidFill>
                <a:latin typeface="Inconsolata"/>
              </a:rPr>
              <a:t>[</a:t>
            </a:r>
            <a:r>
              <a:rPr sz="739" i="0">
                <a:solidFill>
                  <a:srgbClr val="7FDBCA"/>
                </a:solidFill>
                <a:latin typeface="Inconsolata"/>
              </a:rPr>
              <a:t>OrderLine</a:t>
            </a:r>
            <a:r>
              <a:rPr sz="739" i="0">
                <a:solidFill>
                  <a:srgbClr val="E6EDF3"/>
                </a:solidFill>
                <a:latin typeface="Inconsolata"/>
              </a:rPr>
              <a:t>]] = relationship()   </a:t>
            </a:r>
            <a:r>
              <a:rPr sz="739" i="1">
                <a:solidFill>
                  <a:srgbClr val="8B98A8"/>
                </a:solidFill>
                <a:latin typeface="Inconsolata"/>
              </a:rPr>
              <a:t># lazy load</a:t>
            </a:r>
          </a:p>
          <a:p>
            <a:pPr>
              <a:lnSpc>
                <a:spcPct val="101459"/>
              </a:lnSpc>
              <a:spcAft>
                <a:spcPts val="0"/>
              </a:spcAft>
            </a:pPr>
            <a:r>
              <a:rPr sz="739" i="0">
                <a:solidFill>
                  <a:srgbClr val="5C6773"/>
                </a:solidFill>
                <a:latin typeface="Inconsolata"/>
              </a:rPr>
              <a:t>48  </a:t>
            </a:r>
            <a:r>
              <a:rPr sz="739" i="0">
                <a:solidFill>
                  <a:srgbClr val="E6EDF3"/>
                </a:solidFill>
                <a:latin typeface="Inconsolata"/>
              </a:rPr>
              <a:t> </a:t>
            </a:r>
          </a:p>
          <a:p>
            <a:pPr>
              <a:lnSpc>
                <a:spcPct val="101459"/>
              </a:lnSpc>
              <a:spcAft>
                <a:spcPts val="0"/>
              </a:spcAft>
            </a:pPr>
            <a:r>
              <a:rPr sz="739" i="0">
                <a:solidFill>
                  <a:srgbClr val="5C6773"/>
                </a:solidFill>
                <a:latin typeface="Inconsolata"/>
              </a:rPr>
              <a:t>49  </a:t>
            </a:r>
            <a:r>
              <a:rPr sz="739" i="0">
                <a:solidFill>
                  <a:srgbClr val="E6EDF3"/>
                </a:solidFill>
                <a:latin typeface="Inconsolata"/>
              </a:rPr>
              <a:t> </a:t>
            </a:r>
          </a:p>
          <a:p>
            <a:pPr>
              <a:lnSpc>
                <a:spcPct val="101459"/>
              </a:lnSpc>
              <a:spcAft>
                <a:spcPts val="0"/>
              </a:spcAft>
            </a:pPr>
            <a:r>
              <a:rPr sz="739" i="0">
                <a:solidFill>
                  <a:srgbClr val="5C6773"/>
                </a:solidFill>
                <a:latin typeface="Inconsolata"/>
              </a:rPr>
              <a:t>50  </a:t>
            </a:r>
            <a:r>
              <a:rPr sz="739" i="0">
                <a:solidFill>
                  <a:srgbClr val="FF8E6E"/>
                </a:solidFill>
                <a:latin typeface="Inconsolata"/>
              </a:rPr>
              <a:t>def</a:t>
            </a:r>
            <a:r>
              <a:rPr sz="739" i="0">
                <a:solidFill>
                  <a:srgbClr val="E6EDF3"/>
                </a:solidFill>
                <a:latin typeface="Inconsolata"/>
              </a:rPr>
              <a:t> </a:t>
            </a:r>
            <a:r>
              <a:rPr sz="739" i="0">
                <a:solidFill>
                  <a:srgbClr val="82B1FF"/>
                </a:solidFill>
                <a:latin typeface="Inconsolata"/>
              </a:rPr>
              <a:t>latest_orders</a:t>
            </a:r>
            <a:r>
              <a:rPr sz="739" i="0">
                <a:solidFill>
                  <a:srgbClr val="E6EDF3"/>
                </a:solidFill>
                <a:latin typeface="Inconsolata"/>
              </a:rPr>
              <a:t>(session: </a:t>
            </a:r>
            <a:r>
              <a:rPr sz="739" i="0">
                <a:solidFill>
                  <a:srgbClr val="7FDBCA"/>
                </a:solidFill>
                <a:latin typeface="Inconsolata"/>
              </a:rPr>
              <a:t>Session</a:t>
            </a:r>
            <a:r>
              <a:rPr sz="739" i="0">
                <a:solidFill>
                  <a:srgbClr val="E6EDF3"/>
                </a:solidFill>
                <a:latin typeface="Inconsolata"/>
              </a:rPr>
              <a:t>) -&gt; </a:t>
            </a:r>
            <a:r>
              <a:rPr sz="739" i="0">
                <a:solidFill>
                  <a:srgbClr val="C3A6FF"/>
                </a:solidFill>
                <a:latin typeface="Inconsolata"/>
              </a:rPr>
              <a:t>list</a:t>
            </a:r>
            <a:r>
              <a:rPr sz="739" i="0">
                <a:solidFill>
                  <a:srgbClr val="E6EDF3"/>
                </a:solidFill>
                <a:latin typeface="Inconsolata"/>
              </a:rPr>
              <a:t>[</a:t>
            </a:r>
            <a:r>
              <a:rPr sz="739" i="0">
                <a:solidFill>
                  <a:srgbClr val="C3A6FF"/>
                </a:solidFill>
                <a:latin typeface="Inconsolata"/>
              </a:rPr>
              <a:t>dict</a:t>
            </a:r>
            <a:r>
              <a:rPr sz="739" i="0">
                <a:solidFill>
                  <a:srgbClr val="E6EDF3"/>
                </a:solidFill>
                <a:latin typeface="Inconsolata"/>
              </a:rPr>
              <a:t>]:</a:t>
            </a:r>
          </a:p>
          <a:p>
            <a:pPr>
              <a:lnSpc>
                <a:spcPct val="101459"/>
              </a:lnSpc>
              <a:spcAft>
                <a:spcPts val="0"/>
              </a:spcAft>
            </a:pPr>
            <a:r>
              <a:rPr sz="739" i="0">
                <a:solidFill>
                  <a:srgbClr val="5C6773"/>
                </a:solidFill>
                <a:latin typeface="Inconsolata"/>
              </a:rPr>
              <a:t>51  </a:t>
            </a:r>
            <a:r>
              <a:rPr sz="739" i="0">
                <a:solidFill>
                  <a:srgbClr val="E6EDF3"/>
                </a:solidFill>
                <a:latin typeface="Inconsolata"/>
              </a:rPr>
              <a:t>    query = select(</a:t>
            </a:r>
            <a:r>
              <a:rPr sz="739" i="0">
                <a:solidFill>
                  <a:srgbClr val="7FDBCA"/>
                </a:solidFill>
                <a:latin typeface="Inconsolata"/>
              </a:rPr>
              <a:t>Order</a:t>
            </a:r>
            <a:r>
              <a:rPr sz="739" i="0">
                <a:solidFill>
                  <a:srgbClr val="E6EDF3"/>
                </a:solidFill>
                <a:latin typeface="Inconsolata"/>
              </a:rPr>
              <a:t>).order_by(</a:t>
            </a:r>
            <a:r>
              <a:rPr sz="739" i="0">
                <a:solidFill>
                  <a:srgbClr val="7FDBCA"/>
                </a:solidFill>
                <a:latin typeface="Inconsolata"/>
              </a:rPr>
              <a:t>Order</a:t>
            </a:r>
            <a:r>
              <a:rPr sz="739" i="0">
                <a:solidFill>
                  <a:srgbClr val="E6EDF3"/>
                </a:solidFill>
                <a:latin typeface="Inconsolata"/>
              </a:rPr>
              <a:t>.id.desc()).limit(</a:t>
            </a:r>
            <a:r>
              <a:rPr sz="739" i="0">
                <a:solidFill>
                  <a:srgbClr val="F9C97A"/>
                </a:solidFill>
                <a:latin typeface="Inconsolata"/>
              </a:rPr>
              <a:t>100</a:t>
            </a:r>
            <a:r>
              <a:rPr sz="739" i="0">
                <a:solidFill>
                  <a:srgbClr val="E6EDF3"/>
                </a:solidFill>
                <a:latin typeface="Inconsolata"/>
              </a:rPr>
              <a:t>)</a:t>
            </a:r>
          </a:p>
          <a:p>
            <a:pPr>
              <a:lnSpc>
                <a:spcPct val="101459"/>
              </a:lnSpc>
              <a:spcAft>
                <a:spcPts val="0"/>
              </a:spcAft>
            </a:pPr>
            <a:r>
              <a:rPr sz="739" i="0">
                <a:solidFill>
                  <a:srgbClr val="5C6773"/>
                </a:solidFill>
                <a:latin typeface="Inconsolata"/>
              </a:rPr>
              <a:t>52  </a:t>
            </a:r>
            <a:r>
              <a:rPr sz="739" i="0">
                <a:solidFill>
                  <a:srgbClr val="E6EDF3"/>
                </a:solidFill>
                <a:latin typeface="Inconsolata"/>
              </a:rPr>
              <a:t>    orders = session.scalars(query)</a:t>
            </a:r>
          </a:p>
          <a:p>
            <a:pPr>
              <a:lnSpc>
                <a:spcPct val="101459"/>
              </a:lnSpc>
              <a:spcAft>
                <a:spcPts val="0"/>
              </a:spcAft>
            </a:pPr>
            <a:r>
              <a:rPr sz="739" i="0">
                <a:solidFill>
                  <a:srgbClr val="5C6773"/>
                </a:solidFill>
                <a:latin typeface="Inconsolata"/>
              </a:rPr>
              <a:t>53  </a:t>
            </a:r>
            <a:r>
              <a:rPr sz="739" i="0">
                <a:solidFill>
                  <a:srgbClr val="E6EDF3"/>
                </a:solidFill>
                <a:latin typeface="Inconsolata"/>
              </a:rPr>
              <a:t>    </a:t>
            </a:r>
            <a:r>
              <a:rPr sz="739" i="0">
                <a:solidFill>
                  <a:srgbClr val="FF8E6E"/>
                </a:solidFill>
                <a:latin typeface="Inconsolata"/>
              </a:rPr>
              <a:t>return</a:t>
            </a:r>
            <a:r>
              <a:rPr sz="739" i="0">
                <a:solidFill>
                  <a:srgbClr val="E6EDF3"/>
                </a:solidFill>
                <a:latin typeface="Inconsolata"/>
              </a:rPr>
              <a:t> [{</a:t>
            </a:r>
            <a:r>
              <a:rPr sz="739" i="0">
                <a:solidFill>
                  <a:srgbClr val="A5D6A7"/>
                </a:solidFill>
                <a:latin typeface="Inconsolata"/>
              </a:rPr>
              <a:t>"id"</a:t>
            </a:r>
            <a:r>
              <a:rPr sz="739" i="0">
                <a:solidFill>
                  <a:srgbClr val="E6EDF3"/>
                </a:solidFill>
                <a:latin typeface="Inconsolata"/>
              </a:rPr>
              <a:t>: o.id,</a:t>
            </a:r>
          </a:p>
          <a:p>
            <a:pPr>
              <a:lnSpc>
                <a:spcPct val="101459"/>
              </a:lnSpc>
              <a:spcAft>
                <a:spcPts val="0"/>
              </a:spcAft>
            </a:pPr>
            <a:r>
              <a:rPr sz="739" i="0">
                <a:solidFill>
                  <a:srgbClr val="5C6773"/>
                </a:solidFill>
                <a:latin typeface="Inconsolata"/>
              </a:rPr>
              <a:t>54  </a:t>
            </a:r>
            <a:r>
              <a:rPr sz="739" i="0">
                <a:solidFill>
                  <a:srgbClr val="E6EDF3"/>
                </a:solidFill>
                <a:latin typeface="Inconsolata"/>
              </a:rPr>
              <a:t>             </a:t>
            </a:r>
            <a:r>
              <a:rPr sz="739" i="0">
                <a:solidFill>
                  <a:srgbClr val="A5D6A7"/>
                </a:solidFill>
                <a:latin typeface="Inconsolata"/>
              </a:rPr>
              <a:t>"total"</a:t>
            </a:r>
            <a:r>
              <a:rPr sz="739" i="0">
                <a:solidFill>
                  <a:srgbClr val="E6EDF3"/>
                </a:solidFill>
                <a:latin typeface="Inconsolata"/>
              </a:rPr>
              <a:t>: </a:t>
            </a:r>
            <a:r>
              <a:rPr sz="739" i="0">
                <a:solidFill>
                  <a:srgbClr val="C3A6FF"/>
                </a:solidFill>
                <a:latin typeface="Inconsolata"/>
              </a:rPr>
              <a:t>sum</a:t>
            </a:r>
            <a:r>
              <a:rPr sz="739" i="0">
                <a:solidFill>
                  <a:srgbClr val="E6EDF3"/>
                </a:solidFill>
                <a:latin typeface="Inconsolata"/>
              </a:rPr>
              <a:t>(line.price * line.qty   </a:t>
            </a:r>
            <a:r>
              <a:rPr sz="739" i="1">
                <a:solidFill>
                  <a:srgbClr val="8B98A8"/>
                </a:solidFill>
                <a:latin typeface="Inconsolata"/>
              </a:rPr>
              <a:t># query lagi</a:t>
            </a:r>
          </a:p>
          <a:p>
            <a:pPr>
              <a:lnSpc>
                <a:spcPct val="101459"/>
              </a:lnSpc>
              <a:spcAft>
                <a:spcPts val="0"/>
              </a:spcAft>
            </a:pPr>
            <a:r>
              <a:rPr sz="739" i="0">
                <a:solidFill>
                  <a:srgbClr val="5C6773"/>
                </a:solidFill>
                <a:latin typeface="Inconsolata"/>
              </a:rPr>
              <a:t>55  </a:t>
            </a:r>
            <a:r>
              <a:rPr sz="739" i="0">
                <a:solidFill>
                  <a:srgbClr val="E6EDF3"/>
                </a:solidFill>
                <a:latin typeface="Inconsolata"/>
              </a:rPr>
              <a:t>                          </a:t>
            </a:r>
            <a:r>
              <a:rPr sz="739" i="0">
                <a:solidFill>
                  <a:srgbClr val="FF8E6E"/>
                </a:solidFill>
                <a:latin typeface="Inconsolata"/>
              </a:rPr>
              <a:t>for</a:t>
            </a:r>
            <a:r>
              <a:rPr sz="739" i="0">
                <a:solidFill>
                  <a:srgbClr val="E6EDF3"/>
                </a:solidFill>
                <a:latin typeface="Inconsolata"/>
              </a:rPr>
              <a:t> line </a:t>
            </a:r>
            <a:r>
              <a:rPr sz="739" i="0">
                <a:solidFill>
                  <a:srgbClr val="FF8E6E"/>
                </a:solidFill>
                <a:latin typeface="Inconsolata"/>
              </a:rPr>
              <a:t>in</a:t>
            </a:r>
            <a:r>
              <a:rPr sz="739" i="0">
                <a:solidFill>
                  <a:srgbClr val="E6EDF3"/>
                </a:solidFill>
                <a:latin typeface="Inconsolata"/>
              </a:rPr>
              <a:t> o.lines)}</a:t>
            </a:r>
          </a:p>
          <a:p>
            <a:pPr>
              <a:lnSpc>
                <a:spcPct val="101459"/>
              </a:lnSpc>
              <a:spcAft>
                <a:spcPts val="0"/>
              </a:spcAft>
            </a:pPr>
            <a:r>
              <a:rPr sz="739" i="0">
                <a:solidFill>
                  <a:srgbClr val="5C6773"/>
                </a:solidFill>
                <a:latin typeface="Inconsolata"/>
              </a:rPr>
              <a:t>56  </a:t>
            </a:r>
            <a:r>
              <a:rPr sz="739" i="0">
                <a:solidFill>
                  <a:srgbClr val="E6EDF3"/>
                </a:solidFill>
                <a:latin typeface="Inconsolata"/>
              </a:rPr>
              <a:t>            </a:t>
            </a:r>
            <a:r>
              <a:rPr sz="739" i="0">
                <a:solidFill>
                  <a:srgbClr val="FF8E6E"/>
                </a:solidFill>
                <a:latin typeface="Inconsolata"/>
              </a:rPr>
              <a:t>for</a:t>
            </a:r>
            <a:r>
              <a:rPr sz="739" i="0">
                <a:solidFill>
                  <a:srgbClr val="E6EDF3"/>
                </a:solidFill>
                <a:latin typeface="Inconsolata"/>
              </a:rPr>
              <a:t> o </a:t>
            </a:r>
            <a:r>
              <a:rPr sz="739" i="0">
                <a:solidFill>
                  <a:srgbClr val="FF8E6E"/>
                </a:solidFill>
                <a:latin typeface="Inconsolata"/>
              </a:rPr>
              <a:t>in</a:t>
            </a:r>
            <a:r>
              <a:rPr sz="739" i="0">
                <a:solidFill>
                  <a:srgbClr val="E6EDF3"/>
                </a:solidFill>
                <a:latin typeface="Inconsolata"/>
              </a:rPr>
              <a:t> orders]</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1459"/>
              </a:lnSpc>
              <a:spcAft>
                <a:spcPts val="0"/>
              </a:spcAft>
            </a:pPr>
            <a:r>
              <a:rPr sz="739" i="0">
                <a:solidFill>
                  <a:srgbClr val="5C6773"/>
                </a:solidFill>
                <a:latin typeface="Inconsolata"/>
              </a:rPr>
              <a:t>59  </a:t>
            </a:r>
            <a:r>
              <a:rPr sz="739" i="0">
                <a:solidFill>
                  <a:srgbClr val="FF8E6E"/>
                </a:solidFill>
                <a:latin typeface="Inconsolata"/>
              </a:rPr>
              <a:t>if</a:t>
            </a:r>
            <a:r>
              <a:rPr sz="739" i="0">
                <a:solidFill>
                  <a:srgbClr val="E6EDF3"/>
                </a:solidFill>
                <a:latin typeface="Inconsolata"/>
              </a:rPr>
              <a:t> __name__ == </a:t>
            </a:r>
            <a:r>
              <a:rPr sz="739" i="0">
                <a:solidFill>
                  <a:srgbClr val="A5D6A7"/>
                </a:solidFill>
                <a:latin typeface="Inconsolata"/>
              </a:rPr>
              <a:t>"__main__"</a:t>
            </a:r>
            <a:r>
              <a:rPr sz="739" i="0">
                <a:solidFill>
                  <a:srgbClr val="E6EDF3"/>
                </a:solidFill>
                <a:latin typeface="Inconsolata"/>
              </a:rPr>
              <a:t>:</a:t>
            </a:r>
          </a:p>
          <a:p>
            <a:pPr>
              <a:lnSpc>
                <a:spcPct val="101459"/>
              </a:lnSpc>
              <a:spcAft>
                <a:spcPts val="0"/>
              </a:spcAft>
            </a:pPr>
            <a:r>
              <a:rPr sz="739" i="0">
                <a:solidFill>
                  <a:srgbClr val="5C6773"/>
                </a:solidFill>
                <a:latin typeface="Inconsolata"/>
              </a:rPr>
              <a:t>60  </a:t>
            </a:r>
            <a:r>
              <a:rPr sz="739" i="0">
                <a:solidFill>
                  <a:srgbClr val="E6EDF3"/>
                </a:solidFill>
                <a:latin typeface="Inconsolata"/>
              </a:rPr>
              <a:t>    </a:t>
            </a:r>
            <a:r>
              <a:rPr sz="739" i="0">
                <a:solidFill>
                  <a:srgbClr val="FF8E6E"/>
                </a:solidFill>
                <a:latin typeface="Inconsolata"/>
              </a:rPr>
              <a:t>with</a:t>
            </a:r>
            <a:r>
              <a:rPr sz="739" i="0">
                <a:solidFill>
                  <a:srgbClr val="E6EDF3"/>
                </a:solidFill>
                <a:latin typeface="Inconsolata"/>
              </a:rPr>
              <a:t> engine.begin() </a:t>
            </a:r>
            <a:r>
              <a:rPr sz="739" i="0">
                <a:solidFill>
                  <a:srgbClr val="FF8E6E"/>
                </a:solidFill>
                <a:latin typeface="Inconsolata"/>
              </a:rPr>
              <a:t>as</a:t>
            </a:r>
            <a:r>
              <a:rPr sz="739" i="0">
                <a:solidFill>
                  <a:srgbClr val="E6EDF3"/>
                </a:solidFill>
                <a:latin typeface="Inconsolata"/>
              </a:rPr>
              <a:t> conn:  </a:t>
            </a:r>
            <a:r>
              <a:rPr sz="739" i="1">
                <a:solidFill>
                  <a:srgbClr val="8B98A8"/>
                </a:solidFill>
                <a:latin typeface="Inconsolata"/>
              </a:rPr>
              <a:t># index FK, yang dibandingkan cuma</a:t>
            </a:r>
          </a:p>
          <a:p>
            <a:pPr>
              <a:lnSpc>
                <a:spcPct val="101459"/>
              </a:lnSpc>
              <a:spcAft>
                <a:spcPts val="0"/>
              </a:spcAft>
            </a:pPr>
            <a:r>
              <a:rPr sz="739" i="0">
                <a:solidFill>
                  <a:srgbClr val="5C6773"/>
                </a:solidFill>
                <a:latin typeface="Inconsolata"/>
              </a:rPr>
              <a:t>61  </a:t>
            </a:r>
            <a:r>
              <a:rPr sz="739" i="0">
                <a:solidFill>
                  <a:srgbClr val="E6EDF3"/>
                </a:solidFill>
                <a:latin typeface="Inconsolata"/>
              </a:rPr>
              <a:t>        conn.execute(text(        </a:t>
            </a:r>
            <a:r>
              <a:rPr sz="739" i="1">
                <a:solidFill>
                  <a:srgbClr val="8B98A8"/>
                </a:solidFill>
                <a:latin typeface="Inconsolata"/>
              </a:rPr>
              <a:t># jumlah query</a:t>
            </a:r>
          </a:p>
          <a:p>
            <a:pPr>
              <a:lnSpc>
                <a:spcPct val="101459"/>
              </a:lnSpc>
              <a:spcAft>
                <a:spcPts val="0"/>
              </a:spcAft>
            </a:pPr>
            <a:r>
              <a:rPr sz="739" i="0">
                <a:solidFill>
                  <a:srgbClr val="5C6773"/>
                </a:solidFill>
                <a:latin typeface="Inconsolata"/>
              </a:rPr>
              <a:t>62  </a:t>
            </a:r>
            <a:r>
              <a:rPr sz="739" i="0">
                <a:solidFill>
                  <a:srgbClr val="E6EDF3"/>
                </a:solidFill>
                <a:latin typeface="Inconsolata"/>
              </a:rPr>
              <a:t>            </a:t>
            </a:r>
            <a:r>
              <a:rPr sz="739" i="0">
                <a:solidFill>
                  <a:srgbClr val="A5D6A7"/>
                </a:solidFill>
                <a:latin typeface="Inconsolata"/>
              </a:rPr>
              <a:t>"CREATE INDEX IF NOT EXISTS ix_order_lines_order_id"</a:t>
            </a:r>
          </a:p>
          <a:p>
            <a:pPr>
              <a:lnSpc>
                <a:spcPct val="101459"/>
              </a:lnSpc>
              <a:spcAft>
                <a:spcPts val="0"/>
              </a:spcAft>
            </a:pPr>
            <a:r>
              <a:rPr sz="739" i="0">
                <a:solidFill>
                  <a:srgbClr val="5C6773"/>
                </a:solidFill>
                <a:latin typeface="Inconsolata"/>
              </a:rPr>
              <a:t>63  </a:t>
            </a:r>
            <a:r>
              <a:rPr sz="739" i="0">
                <a:solidFill>
                  <a:srgbClr val="E6EDF3"/>
                </a:solidFill>
                <a:latin typeface="Inconsolata"/>
              </a:rPr>
              <a:t>            </a:t>
            </a:r>
            <a:r>
              <a:rPr sz="739" i="0">
                <a:solidFill>
                  <a:srgbClr val="A5D6A7"/>
                </a:solidFill>
                <a:latin typeface="Inconsolata"/>
              </a:rPr>
              <a:t>" ON order_lines (order_id)"</a:t>
            </a:r>
            <a:r>
              <a:rPr sz="739" i="0">
                <a:solidFill>
                  <a:srgbClr val="E6EDF3"/>
                </a:solidFill>
                <a:latin typeface="Inconsolata"/>
              </a:rPr>
              <a:t>))</a:t>
            </a:r>
          </a:p>
          <a:p>
            <a:pPr>
              <a:lnSpc>
                <a:spcPct val="101459"/>
              </a:lnSpc>
              <a:spcAft>
                <a:spcPts val="0"/>
              </a:spcAft>
            </a:pPr>
            <a:r>
              <a:rPr sz="739" i="0">
                <a:solidFill>
                  <a:srgbClr val="5C6773"/>
                </a:solidFill>
                <a:latin typeface="Inconsolata"/>
              </a:rPr>
              <a:t>64  </a:t>
            </a:r>
            <a:r>
              <a:rPr sz="739" i="0">
                <a:solidFill>
                  <a:srgbClr val="E6EDF3"/>
                </a:solidFill>
                <a:latin typeface="Inconsolata"/>
              </a:rPr>
              <a:t>    queries = </a:t>
            </a:r>
            <a:r>
              <a:rPr sz="739" i="0">
                <a:solidFill>
                  <a:srgbClr val="F9C97A"/>
                </a:solidFill>
                <a:latin typeface="Inconsolata"/>
              </a:rPr>
              <a:t>0</a:t>
            </a:r>
          </a:p>
          <a:p>
            <a:pPr>
              <a:lnSpc>
                <a:spcPct val="101459"/>
              </a:lnSpc>
              <a:spcAft>
                <a:spcPts val="0"/>
              </a:spcAft>
            </a:pPr>
            <a:r>
              <a:rPr sz="739" i="0">
                <a:solidFill>
                  <a:srgbClr val="5C6773"/>
                </a:solidFill>
                <a:latin typeface="Inconsolata"/>
              </a:rPr>
              <a:t>65  </a:t>
            </a:r>
            <a:r>
              <a:rPr sz="739" i="0">
                <a:solidFill>
                  <a:srgbClr val="E6EDF3"/>
                </a:solidFill>
                <a:latin typeface="Inconsolata"/>
              </a:rPr>
              <a:t> </a:t>
            </a:r>
          </a:p>
          <a:p>
            <a:pPr>
              <a:lnSpc>
                <a:spcPct val="101459"/>
              </a:lnSpc>
              <a:spcAft>
                <a:spcPts val="0"/>
              </a:spcAft>
            </a:pPr>
            <a:r>
              <a:rPr sz="739" i="0">
                <a:solidFill>
                  <a:srgbClr val="5C6773"/>
                </a:solidFill>
                <a:latin typeface="Inconsolata"/>
              </a:rPr>
              <a:t>66  </a:t>
            </a:r>
            <a:r>
              <a:rPr sz="739" i="0">
                <a:solidFill>
                  <a:srgbClr val="E6EDF3"/>
                </a:solidFill>
                <a:latin typeface="Inconsolata"/>
              </a:rPr>
              <a:t>    </a:t>
            </a:r>
            <a:r>
              <a:rPr sz="739" i="0">
                <a:solidFill>
                  <a:srgbClr val="FF8E6E"/>
                </a:solidFill>
                <a:latin typeface="Inconsolata"/>
              </a:rPr>
              <a:t>with</a:t>
            </a:r>
            <a:r>
              <a:rPr sz="739" i="0">
                <a:solidFill>
                  <a:srgbClr val="E6EDF3"/>
                </a:solidFill>
                <a:latin typeface="Inconsolata"/>
              </a:rPr>
              <a:t> </a:t>
            </a:r>
            <a:r>
              <a:rPr sz="739" i="0">
                <a:solidFill>
                  <a:srgbClr val="7FDBCA"/>
                </a:solidFill>
                <a:latin typeface="Inconsolata"/>
              </a:rPr>
              <a:t>Session</a:t>
            </a:r>
            <a:r>
              <a:rPr sz="739" i="0">
                <a:solidFill>
                  <a:srgbClr val="E6EDF3"/>
                </a:solidFill>
                <a:latin typeface="Inconsolata"/>
              </a:rPr>
              <a:t>(engine) </a:t>
            </a:r>
            <a:r>
              <a:rPr sz="739" i="0">
                <a:solidFill>
                  <a:srgbClr val="FF8E6E"/>
                </a:solidFill>
                <a:latin typeface="Inconsolata"/>
              </a:rPr>
              <a:t>as</a:t>
            </a:r>
            <a:r>
              <a:rPr sz="739" i="0">
                <a:solidFill>
                  <a:srgbClr val="E6EDF3"/>
                </a:solidFill>
                <a:latin typeface="Inconsolata"/>
              </a:rPr>
              <a:t> session:</a:t>
            </a:r>
          </a:p>
          <a:p>
            <a:pPr>
              <a:lnSpc>
                <a:spcPct val="101459"/>
              </a:lnSpc>
              <a:spcAft>
                <a:spcPts val="0"/>
              </a:spcAft>
            </a:pPr>
            <a:r>
              <a:rPr sz="739" i="0">
                <a:solidFill>
                  <a:srgbClr val="5C6773"/>
                </a:solidFill>
                <a:latin typeface="Inconsolata"/>
              </a:rPr>
              <a:t>67  </a:t>
            </a:r>
            <a:r>
              <a:rPr sz="739" i="0">
                <a:solidFill>
                  <a:srgbClr val="E6EDF3"/>
                </a:solidFill>
                <a:latin typeface="Inconsolata"/>
              </a:rPr>
              <a:t>        start = time.perf_counter()</a:t>
            </a:r>
          </a:p>
          <a:p>
            <a:pPr>
              <a:lnSpc>
                <a:spcPct val="101459"/>
              </a:lnSpc>
              <a:spcAft>
                <a:spcPts val="0"/>
              </a:spcAft>
            </a:pPr>
            <a:r>
              <a:rPr sz="739" i="0">
                <a:solidFill>
                  <a:srgbClr val="5C6773"/>
                </a:solidFill>
                <a:latin typeface="Inconsolata"/>
              </a:rPr>
              <a:t>68  </a:t>
            </a:r>
            <a:r>
              <a:rPr sz="739" i="0">
                <a:solidFill>
                  <a:srgbClr val="E6EDF3"/>
                </a:solidFill>
                <a:latin typeface="Inconsolata"/>
              </a:rPr>
              <a:t>        result = latest_orders(session)</a:t>
            </a:r>
          </a:p>
          <a:p>
            <a:pPr>
              <a:lnSpc>
                <a:spcPct val="101459"/>
              </a:lnSpc>
              <a:spcAft>
                <a:spcPts val="0"/>
              </a:spcAft>
            </a:pPr>
            <a:r>
              <a:rPr sz="739" i="0">
                <a:solidFill>
                  <a:srgbClr val="5C6773"/>
                </a:solidFill>
                <a:latin typeface="Inconsolata"/>
              </a:rPr>
              <a:t>69  </a:t>
            </a:r>
            <a:r>
              <a:rPr sz="739" i="0">
                <a:solidFill>
                  <a:srgbClr val="E6EDF3"/>
                </a:solidFill>
                <a:latin typeface="Inconsolata"/>
              </a:rPr>
              <a:t>        ms = (time.perf_counter() - start) * </a:t>
            </a:r>
            <a:r>
              <a:rPr sz="739" i="0">
                <a:solidFill>
                  <a:srgbClr val="F9C97A"/>
                </a:solidFill>
                <a:latin typeface="Inconsolata"/>
              </a:rPr>
              <a:t>1000</a:t>
            </a:r>
          </a:p>
          <a:p>
            <a:pPr>
              <a:lnSpc>
                <a:spcPct val="101459"/>
              </a:lnSpc>
              <a:spcAft>
                <a:spcPts val="0"/>
              </a:spcAft>
            </a:pPr>
            <a:r>
              <a:rPr sz="739" i="0">
                <a:solidFill>
                  <a:srgbClr val="5C6773"/>
                </a:solidFill>
                <a:latin typeface="Inconsolata"/>
              </a:rPr>
              <a:t>70  </a:t>
            </a:r>
            <a:r>
              <a:rPr sz="739" i="0">
                <a:solidFill>
                  <a:srgbClr val="E6EDF3"/>
                </a:solidFill>
                <a:latin typeface="Inconsolata"/>
              </a:rPr>
              <a:t>        </a:t>
            </a:r>
            <a:r>
              <a:rPr sz="739" i="0">
                <a:solidFill>
                  <a:srgbClr val="C3A6FF"/>
                </a:solidFill>
                <a:latin typeface="Inconsolata"/>
              </a:rPr>
              <a:t>print</a:t>
            </a:r>
            <a:r>
              <a:rPr sz="739" i="0">
                <a:solidFill>
                  <a:srgbClr val="E6EDF3"/>
                </a:solidFill>
                <a:latin typeface="Inconsolata"/>
              </a:rPr>
              <a:t>(</a:t>
            </a:r>
            <a:r>
              <a:rPr sz="739" i="0">
                <a:solidFill>
                  <a:srgbClr val="A5D6A7"/>
                </a:solidFill>
                <a:latin typeface="Inconsolata"/>
              </a:rPr>
              <a:t>f"{len(result)} order, {queries} query, {ms:.0f} ms"</a:t>
            </a:r>
            <a:r>
              <a:rPr sz="739" i="0">
                <a:solidFill>
                  <a:srgbClr val="E6EDF3"/>
                </a:solidFill>
                <a:latin typeface="Inconsolata"/>
              </a:rPr>
              <a:t>)</a:t>
            </a:r>
          </a:p>
        </p:txBody>
      </p:sp>
      <p:sp>
        <p:nvSpPr>
          <p:cNvPr id="36" name="Box 21"/>
          <p:cNvSpPr/>
          <p:nvPr/>
        </p:nvSpPr>
        <p:spPr>
          <a:xfrm>
            <a:off x="704088" y="22825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217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8" name="Box 23"/>
          <p:cNvSpPr/>
          <p:nvPr/>
        </p:nvSpPr>
        <p:spPr>
          <a:xfrm>
            <a:off x="704088" y="29683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074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03-n-plus-one/before.py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sesi-07-database-optimization/03-n-plus-one</a:t>
            </a:r>
          </a:p>
          <a:p>
            <a:pPr>
              <a:lnSpc>
                <a:spcPct val="111111"/>
              </a:lnSpc>
              <a:spcAft>
                <a:spcPts val="0"/>
              </a:spcAft>
            </a:pPr>
            <a:r>
              <a:rPr sz="900" i="0">
                <a:solidFill>
                  <a:srgbClr val="82B1FF"/>
                </a:solidFill>
                <a:latin typeface="Inconsolata"/>
              </a:rPr>
              <a:t>$ python before.py</a:t>
            </a:r>
          </a:p>
        </p:txBody>
      </p:sp>
      <p:pic>
        <p:nvPicPr>
          <p:cNvPr id="29" name="Image 12" descr="s07-03-n-plus-one-before.png"/>
          <p:cNvPicPr>
            <a:picLocks noChangeAspect="1"/>
          </p:cNvPicPr>
          <p:nvPr/>
        </p:nvPicPr>
        <p:blipFill>
          <a:blip r:embed="rId2"/>
          <a:stretch>
            <a:fillRect/>
          </a:stretch>
        </p:blipFill>
        <p:spPr>
          <a:xfrm>
            <a:off x="621792" y="2322576"/>
            <a:ext cx="4297680" cy="709117"/>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query yang dikirim ke database dihitung (baris 25-28)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Relationship </a:t>
            </a:r>
            <a:r>
              <a:rPr sz="950" b="0" i="0">
                <a:solidFill>
                  <a:srgbClr val="B5482A"/>
                </a:solidFill>
                <a:latin typeface="Inconsolata"/>
              </a:rPr>
              <a:t>lines</a:t>
            </a:r>
            <a:r>
              <a:rPr sz="950" b="0" i="0">
                <a:solidFill>
                  <a:srgbClr val="434343"/>
                </a:solidFill>
                <a:latin typeface="Inter"/>
              </a:rPr>
              <a:t> memakai lazy load (baris 47)</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o.lines</a:t>
            </a:r>
            <a:r>
              <a:rPr sz="950" b="0" i="0">
                <a:solidFill>
                  <a:srgbClr val="434343"/>
                </a:solidFill>
                <a:latin typeface="Inter"/>
              </a:rPr>
              <a:t> diakses di dalam loop, satu query per order (baris 53-56)</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100 order, 101 query.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selectinload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16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17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ForeignKey</a:t>
            </a:r>
            <a:r>
              <a:rPr sz="719" i="0">
                <a:solidFill>
                  <a:srgbClr val="E6EDF3"/>
                </a:solidFill>
                <a:latin typeface="Inconsolata"/>
              </a:rPr>
              <a:t>, create_engine, event, select, text</a:t>
            </a:r>
          </a:p>
          <a:p>
            <a:pPr>
              <a:lnSpc>
                <a:spcPct val="104277"/>
              </a:lnSpc>
              <a:spcAft>
                <a:spcPts val="0"/>
              </a:spcAft>
            </a:pPr>
            <a:r>
              <a:rPr sz="719" i="0">
                <a:solidFill>
                  <a:srgbClr val="5C6773"/>
                </a:solidFill>
                <a:latin typeface="Inconsolata"/>
              </a:rPr>
              <a:t>20  </a:t>
            </a:r>
            <a:r>
              <a:rPr sz="719" i="0">
                <a:solidFill>
                  <a:srgbClr val="FF8E6E"/>
                </a:solidFill>
                <a:latin typeface="Inconsolata"/>
              </a:rPr>
              <a:t>from</a:t>
            </a:r>
            <a:r>
              <a:rPr sz="719" i="0">
                <a:solidFill>
                  <a:srgbClr val="E6EDF3"/>
                </a:solidFill>
                <a:latin typeface="Inconsolata"/>
              </a:rPr>
              <a:t> sqlalchemy.orm </a:t>
            </a:r>
            <a:r>
              <a:rPr sz="719" i="0">
                <a:solidFill>
                  <a:srgbClr val="FF8E6E"/>
                </a:solidFill>
                <a:latin typeface="Inconsolata"/>
              </a:rPr>
              <a:t>import</a:t>
            </a:r>
            <a:r>
              <a:rPr sz="719" i="0">
                <a:solidFill>
                  <a:srgbClr val="E6EDF3"/>
                </a:solidFill>
                <a:latin typeface="Inconsolata"/>
              </a:rPr>
              <a:t> (</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r>
              <a:rPr sz="719" i="0">
                <a:solidFill>
                  <a:srgbClr val="7FDBCA"/>
                </a:solidFill>
                <a:latin typeface="Inconsolata"/>
              </a:rPr>
              <a:t>DeclarativeBase</a:t>
            </a:r>
            <a:r>
              <a:rPr sz="719" i="0">
                <a:solidFill>
                  <a:srgbClr val="E6EDF3"/>
                </a:solidFill>
                <a:latin typeface="Inconsolata"/>
              </a:rPr>
              <a:t>, </a:t>
            </a:r>
            <a:r>
              <a:rPr sz="719" i="0">
                <a:solidFill>
                  <a:srgbClr val="7FDBCA"/>
                </a:solidFill>
                <a:latin typeface="Inconsolata"/>
              </a:rPr>
              <a:t>Mapped</a:t>
            </a:r>
            <a:r>
              <a:rPr sz="719" i="0">
                <a:solidFill>
                  <a:srgbClr val="E6EDF3"/>
                </a:solidFill>
                <a:latin typeface="Inconsolata"/>
              </a:rPr>
              <a:t>, </a:t>
            </a:r>
            <a:r>
              <a:rPr sz="719" i="0">
                <a:solidFill>
                  <a:srgbClr val="7FDBCA"/>
                </a:solidFill>
                <a:latin typeface="Inconsolata"/>
              </a:rPr>
              <a:t>Session</a:t>
            </a:r>
            <a:r>
              <a:rPr sz="719" i="0">
                <a:solidFill>
                  <a:srgbClr val="E6EDF3"/>
                </a:solidFill>
                <a:latin typeface="Inconsolata"/>
              </a:rPr>
              <a:t>, mapped_column, relationship,</a:t>
            </a:r>
          </a:p>
          <a:p>
            <a:pPr>
              <a:lnSpc>
                <a:spcPct val="104277"/>
              </a:lnSpc>
              <a:spcAft>
                <a:spcPts val="0"/>
              </a:spcAft>
            </a:pPr>
            <a:r>
              <a:rPr sz="719" i="0">
                <a:solidFill>
                  <a:srgbClr val="5C6773"/>
                </a:solidFill>
                <a:latin typeface="Inconsolata"/>
              </a:rPr>
              <a:t>22  </a:t>
            </a:r>
            <a:r>
              <a:rPr sz="719" i="0">
                <a:solidFill>
                  <a:srgbClr val="E6EDF3"/>
                </a:solidFill>
                <a:latin typeface="Inconsolata"/>
              </a:rPr>
              <a:t>    selectinload,</a:t>
            </a:r>
          </a:p>
          <a:p>
            <a:pPr>
              <a:lnSpc>
                <a:spcPct val="104277"/>
              </a:lnSpc>
              <a:spcAft>
                <a:spcPts val="0"/>
              </a:spcAft>
            </a:pPr>
            <a:r>
              <a:rPr sz="719" i="0">
                <a:solidFill>
                  <a:srgbClr val="5C6773"/>
                </a:solidFill>
                <a:latin typeface="Inconsolata"/>
              </a:rPr>
              <a:t>23  </a:t>
            </a:r>
            <a:r>
              <a:rPr sz="719" i="0">
                <a:solidFill>
                  <a:srgbClr val="E6EDF3"/>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p>
          <a:p>
            <a:pPr>
              <a:lnSpc>
                <a:spcPct val="104277"/>
              </a:lnSpc>
              <a:spcAft>
                <a:spcPts val="0"/>
              </a:spcAft>
            </a:pPr>
            <a:r>
              <a:rPr sz="719" i="0">
                <a:solidFill>
                  <a:srgbClr val="5C6773"/>
                </a:solidFill>
                <a:latin typeface="Inconsolata"/>
              </a:rPr>
              <a:t>25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E6EDF3"/>
                </a:solidFill>
                <a:latin typeface="Inconsolata"/>
              </a:rPr>
              <a:t>queries = </a:t>
            </a:r>
            <a:r>
              <a:rPr sz="719" i="0">
                <a:solidFill>
                  <a:srgbClr val="F9C97A"/>
                </a:solidFill>
                <a:latin typeface="Inconsolata"/>
              </a:rPr>
              <a:t>0</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31  </a:t>
            </a:r>
            <a:r>
              <a:rPr sz="719" i="0">
                <a:solidFill>
                  <a:srgbClr val="F9C97A"/>
                </a:solidFill>
                <a:latin typeface="Inconsolata"/>
              </a:rPr>
              <a:t>@event.listens_for</a:t>
            </a:r>
            <a:r>
              <a:rPr sz="719" i="0">
                <a:solidFill>
                  <a:srgbClr val="E6EDF3"/>
                </a:solidFill>
                <a:latin typeface="Inconsolata"/>
              </a:rPr>
              <a:t>(engine, </a:t>
            </a:r>
            <a:r>
              <a:rPr sz="719" i="0">
                <a:solidFill>
                  <a:srgbClr val="A5D6A7"/>
                </a:solidFill>
                <a:latin typeface="Inconsolata"/>
              </a:rPr>
              <a:t>"before_cursor_execute"</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count_query</a:t>
            </a:r>
            <a:r>
              <a:rPr sz="719" i="0">
                <a:solidFill>
                  <a:srgbClr val="E6EDF3"/>
                </a:solidFill>
                <a:latin typeface="Inconsolata"/>
              </a:rPr>
              <a:t>(*args):</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global</a:t>
            </a:r>
            <a:r>
              <a:rPr sz="719" i="0">
                <a:solidFill>
                  <a:srgbClr val="E6EDF3"/>
                </a:solidFill>
                <a:latin typeface="Inconsolata"/>
              </a:rPr>
              <a:t> queries</a:t>
            </a:r>
          </a:p>
          <a:p>
            <a:pPr>
              <a:lnSpc>
                <a:spcPct val="104277"/>
              </a:lnSpc>
              <a:spcAft>
                <a:spcPts val="0"/>
              </a:spcAft>
            </a:pPr>
            <a:r>
              <a:rPr sz="719" i="0">
                <a:solidFill>
                  <a:srgbClr val="5C6773"/>
                </a:solidFill>
                <a:latin typeface="Inconsolata"/>
              </a:rPr>
              <a:t>34  </a:t>
            </a:r>
            <a:r>
              <a:rPr sz="719" i="0">
                <a:solidFill>
                  <a:srgbClr val="E6EDF3"/>
                </a:solidFill>
                <a:latin typeface="Inconsolata"/>
              </a:rPr>
              <a:t>    queries += </a:t>
            </a:r>
            <a:r>
              <a:rPr sz="719" i="0">
                <a:solidFill>
                  <a:srgbClr val="F9C97A"/>
                </a:solidFill>
                <a:latin typeface="Inconsolata"/>
              </a:rPr>
              <a:t>1</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p>
          <a:p>
            <a:pPr>
              <a:lnSpc>
                <a:spcPct val="104277"/>
              </a:lnSpc>
              <a:spcAft>
                <a:spcPts val="0"/>
              </a:spcAft>
            </a:pPr>
            <a:r>
              <a:rPr sz="719" i="0">
                <a:solidFill>
                  <a:srgbClr val="5C6773"/>
                </a:solidFill>
                <a:latin typeface="Inconsolata"/>
              </a:rPr>
              <a:t>37  </a:t>
            </a:r>
            <a:r>
              <a:rPr sz="719" i="0">
                <a:solidFill>
                  <a:srgbClr val="FF8E6E"/>
                </a:solidFill>
                <a:latin typeface="Inconsolata"/>
              </a:rPr>
              <a:t>class</a:t>
            </a:r>
            <a:r>
              <a:rPr sz="719" i="0">
                <a:solidFill>
                  <a:srgbClr val="E6EDF3"/>
                </a:solidFill>
                <a:latin typeface="Inconsolata"/>
              </a:rPr>
              <a:t> </a:t>
            </a:r>
            <a:r>
              <a:rPr sz="719" i="0">
                <a:solidFill>
                  <a:srgbClr val="7FDBCA"/>
                </a:solidFill>
                <a:latin typeface="Inconsolata"/>
              </a:rPr>
              <a:t>Base</a:t>
            </a:r>
            <a:r>
              <a:rPr sz="719" i="0">
                <a:solidFill>
                  <a:srgbClr val="E6EDF3"/>
                </a:solidFill>
                <a:latin typeface="Inconsolata"/>
              </a:rPr>
              <a:t>(</a:t>
            </a:r>
            <a:r>
              <a:rPr sz="719" i="0">
                <a:solidFill>
                  <a:srgbClr val="7FDBCA"/>
                </a:solidFill>
                <a:latin typeface="Inconsolata"/>
              </a:rPr>
              <a:t>DeclarativeBase</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pass</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p>
          <a:p>
            <a:pPr>
              <a:lnSpc>
                <a:spcPct val="104277"/>
              </a:lnSpc>
              <a:spcAft>
                <a:spcPts val="0"/>
              </a:spcAft>
            </a:pPr>
            <a:r>
              <a:rPr sz="719" i="0">
                <a:solidFill>
                  <a:srgbClr val="5C6773"/>
                </a:solidFill>
                <a:latin typeface="Inconsolata"/>
              </a:rPr>
              <a:t>41  </a:t>
            </a:r>
            <a:r>
              <a:rPr sz="719" i="0">
                <a:solidFill>
                  <a:srgbClr val="FF8E6E"/>
                </a:solidFill>
                <a:latin typeface="Inconsolata"/>
              </a:rPr>
              <a:t>class</a:t>
            </a:r>
            <a:r>
              <a:rPr sz="719" i="0">
                <a:solidFill>
                  <a:srgbClr val="E6EDF3"/>
                </a:solidFill>
                <a:latin typeface="Inconsolata"/>
              </a:rPr>
              <a:t> </a:t>
            </a:r>
            <a:r>
              <a:rPr sz="719" i="0">
                <a:solidFill>
                  <a:srgbClr val="7FDBCA"/>
                </a:solidFill>
                <a:latin typeface="Inconsolata"/>
              </a:rPr>
              <a:t>OrderLine</a:t>
            </a:r>
            <a:r>
              <a:rPr sz="719" i="0">
                <a:solidFill>
                  <a:srgbClr val="E6EDF3"/>
                </a:solidFill>
                <a:latin typeface="Inconsolata"/>
              </a:rPr>
              <a:t>(</a:t>
            </a:r>
            <a:r>
              <a:rPr sz="719" i="0">
                <a:solidFill>
                  <a:srgbClr val="7FDBCA"/>
                </a:solidFill>
                <a:latin typeface="Inconsolata"/>
              </a:rPr>
              <a:t>Base</a:t>
            </a:r>
            <a:r>
              <a:rPr sz="719" i="0">
                <a:solidFill>
                  <a:srgbClr val="E6EDF3"/>
                </a:solidFill>
                <a:latin typeface="Inconsolata"/>
              </a:rPr>
              <a:t>):</a:t>
            </a:r>
          </a:p>
          <a:p>
            <a:pPr>
              <a:lnSpc>
                <a:spcPct val="104277"/>
              </a:lnSpc>
              <a:spcAft>
                <a:spcPts val="0"/>
              </a:spcAft>
            </a:pPr>
            <a:r>
              <a:rPr sz="719" i="0">
                <a:solidFill>
                  <a:srgbClr val="5C6773"/>
                </a:solidFill>
                <a:latin typeface="Inconsolata"/>
              </a:rPr>
              <a:t>42  </a:t>
            </a:r>
            <a:r>
              <a:rPr sz="719" i="0">
                <a:solidFill>
                  <a:srgbClr val="E6EDF3"/>
                </a:solidFill>
                <a:latin typeface="Inconsolata"/>
              </a:rPr>
              <a:t>    __tablename__ = </a:t>
            </a:r>
            <a:r>
              <a:rPr sz="719" i="0">
                <a:solidFill>
                  <a:srgbClr val="A5D6A7"/>
                </a:solidFill>
                <a:latin typeface="Inconsolata"/>
              </a:rPr>
              <a:t>"order_lines"</a:t>
            </a:r>
          </a:p>
          <a:p>
            <a:pPr>
              <a:lnSpc>
                <a:spcPct val="104277"/>
              </a:lnSpc>
              <a:spcAft>
                <a:spcPts val="0"/>
              </a:spcAft>
            </a:pPr>
            <a:r>
              <a:rPr sz="719" i="0">
                <a:solidFill>
                  <a:srgbClr val="5C6773"/>
                </a:solidFill>
                <a:latin typeface="Inconsolata"/>
              </a:rPr>
              <a:t>43  </a:t>
            </a:r>
            <a:r>
              <a:rPr sz="719" i="0">
                <a:solidFill>
                  <a:srgbClr val="E6EDF3"/>
                </a:solidFill>
                <a:latin typeface="Inconsolata"/>
              </a:rPr>
              <a:t>    id: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 = mapped_column(primary_key=</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44  </a:t>
            </a:r>
            <a:r>
              <a:rPr sz="719" i="0">
                <a:solidFill>
                  <a:srgbClr val="E6EDF3"/>
                </a:solidFill>
                <a:latin typeface="Inconsolata"/>
              </a:rPr>
              <a:t>    order_id: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 = mapped_column(</a:t>
            </a:r>
            <a:r>
              <a:rPr sz="719" i="0">
                <a:solidFill>
                  <a:srgbClr val="7FDBCA"/>
                </a:solidFill>
                <a:latin typeface="Inconsolata"/>
              </a:rPr>
              <a:t>ForeignKey</a:t>
            </a:r>
            <a:r>
              <a:rPr sz="719" i="0">
                <a:solidFill>
                  <a:srgbClr val="E6EDF3"/>
                </a:solidFill>
                <a:latin typeface="Inconsolata"/>
              </a:rPr>
              <a:t>(</a:t>
            </a:r>
            <a:r>
              <a:rPr sz="719" i="0">
                <a:solidFill>
                  <a:srgbClr val="A5D6A7"/>
                </a:solidFill>
                <a:latin typeface="Inconsolata"/>
              </a:rPr>
              <a:t>"orders.id"</a:t>
            </a:r>
            <a:r>
              <a:rPr sz="719" i="0">
                <a:solidFill>
                  <a:srgbClr val="E6EDF3"/>
                </a:solidFill>
                <a:latin typeface="Inconsolata"/>
              </a:rPr>
              <a:t>),</a:t>
            </a:r>
          </a:p>
          <a:p>
            <a:pPr>
              <a:lnSpc>
                <a:spcPct val="104277"/>
              </a:lnSpc>
              <a:spcAft>
                <a:spcPts val="0"/>
              </a:spcAft>
            </a:pPr>
            <a:r>
              <a:rPr sz="719" i="0">
                <a:solidFill>
                  <a:srgbClr val="5C6773"/>
                </a:solidFill>
                <a:latin typeface="Inconsolata"/>
              </a:rPr>
              <a:t>45  </a:t>
            </a:r>
            <a:r>
              <a:rPr sz="719" i="0">
                <a:solidFill>
                  <a:srgbClr val="E6EDF3"/>
                </a:solidFill>
                <a:latin typeface="Inconsolata"/>
              </a:rPr>
              <a:t>                                          index=</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46  </a:t>
            </a:r>
            <a:r>
              <a:rPr sz="719" i="0">
                <a:solidFill>
                  <a:srgbClr val="E6EDF3"/>
                </a:solidFill>
                <a:latin typeface="Inconsolata"/>
              </a:rPr>
              <a:t>    price: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a:t>
            </a:r>
          </a:p>
          <a:p>
            <a:pPr>
              <a:lnSpc>
                <a:spcPct val="104277"/>
              </a:lnSpc>
              <a:spcAft>
                <a:spcPts val="0"/>
              </a:spcAft>
            </a:pPr>
            <a:r>
              <a:rPr sz="719" i="0">
                <a:solidFill>
                  <a:srgbClr val="5C6773"/>
                </a:solidFill>
                <a:latin typeface="Inconsolata"/>
              </a:rPr>
              <a:t>47  </a:t>
            </a:r>
            <a:r>
              <a:rPr sz="719" i="0">
                <a:solidFill>
                  <a:srgbClr val="E6EDF3"/>
                </a:solidFill>
                <a:latin typeface="Inconsolata"/>
              </a:rPr>
              <a:t>    qty: </a:t>
            </a:r>
            <a:r>
              <a:rPr sz="719" i="0">
                <a:solidFill>
                  <a:srgbClr val="7FDBCA"/>
                </a:solidFill>
                <a:latin typeface="Inconsolata"/>
              </a:rPr>
              <a:t>Mapped</a:t>
            </a:r>
            <a:r>
              <a:rPr sz="719" i="0">
                <a:solidFill>
                  <a:srgbClr val="E6EDF3"/>
                </a:solidFill>
                <a:latin typeface="Inconsolata"/>
              </a:rPr>
              <a:t>[</a:t>
            </a:r>
            <a:r>
              <a:rPr sz="719" i="0">
                <a:solidFill>
                  <a:srgbClr val="C3A6FF"/>
                </a:solidFill>
                <a:latin typeface="Inconsolata"/>
              </a:rPr>
              <a:t>int</a:t>
            </a:r>
            <a:r>
              <a:rPr sz="719" i="0">
                <a:solidFill>
                  <a:srgbClr val="E6EDF3"/>
                </a:solidFill>
                <a:latin typeface="Inconsolata"/>
              </a:rPr>
              <a:t>]</a:t>
            </a:r>
          </a:p>
        </p:txBody>
      </p:sp>
      <p:sp>
        <p:nvSpPr>
          <p:cNvPr id="36" name="Box 21"/>
          <p:cNvSpPr/>
          <p:nvPr/>
        </p:nvSpPr>
        <p:spPr>
          <a:xfrm>
            <a:off x="4709159" y="33112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33032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selectinload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50  </a:t>
            </a:r>
            <a:r>
              <a:rPr sz="749" i="0">
                <a:solidFill>
                  <a:srgbClr val="FF8E6E"/>
                </a:solidFill>
                <a:latin typeface="Inconsolata"/>
              </a:rPr>
              <a:t>class</a:t>
            </a:r>
            <a:r>
              <a:rPr sz="749" i="0">
                <a:solidFill>
                  <a:srgbClr val="E6EDF3"/>
                </a:solidFill>
                <a:latin typeface="Inconsolata"/>
              </a:rPr>
              <a:t> </a:t>
            </a:r>
            <a:r>
              <a:rPr sz="749" i="0">
                <a:solidFill>
                  <a:srgbClr val="7FDBCA"/>
                </a:solidFill>
                <a:latin typeface="Inconsolata"/>
              </a:rPr>
              <a:t>Order</a:t>
            </a:r>
            <a:r>
              <a:rPr sz="749" i="0">
                <a:solidFill>
                  <a:srgbClr val="E6EDF3"/>
                </a:solidFill>
                <a:latin typeface="Inconsolata"/>
              </a:rPr>
              <a:t>(</a:t>
            </a:r>
            <a:r>
              <a:rPr sz="749" i="0">
                <a:solidFill>
                  <a:srgbClr val="7FDBCA"/>
                </a:solidFill>
                <a:latin typeface="Inconsolata"/>
              </a:rPr>
              <a:t>Base</a:t>
            </a:r>
            <a:r>
              <a:rPr sz="749" i="0">
                <a:solidFill>
                  <a:srgbClr val="E6EDF3"/>
                </a:solidFill>
                <a:latin typeface="Inconsolata"/>
              </a:rPr>
              <a:t>):</a:t>
            </a:r>
          </a:p>
          <a:p>
            <a:pPr>
              <a:lnSpc>
                <a:spcPct val="111166"/>
              </a:lnSpc>
              <a:spcAft>
                <a:spcPts val="0"/>
              </a:spcAft>
            </a:pPr>
            <a:r>
              <a:rPr sz="749" i="0">
                <a:solidFill>
                  <a:srgbClr val="5C6773"/>
                </a:solidFill>
                <a:latin typeface="Inconsolata"/>
              </a:rPr>
              <a:t>51  </a:t>
            </a:r>
            <a:r>
              <a:rPr sz="749" i="0">
                <a:solidFill>
                  <a:srgbClr val="E6EDF3"/>
                </a:solidFill>
                <a:latin typeface="Inconsolata"/>
              </a:rPr>
              <a:t>    __tablename__ = </a:t>
            </a:r>
            <a:r>
              <a:rPr sz="749" i="0">
                <a:solidFill>
                  <a:srgbClr val="A5D6A7"/>
                </a:solidFill>
                <a:latin typeface="Inconsolata"/>
              </a:rPr>
              <a:t>"orders"</a:t>
            </a:r>
          </a:p>
          <a:p>
            <a:pPr>
              <a:lnSpc>
                <a:spcPct val="111166"/>
              </a:lnSpc>
              <a:spcAft>
                <a:spcPts val="0"/>
              </a:spcAft>
            </a:pPr>
            <a:r>
              <a:rPr sz="749" i="0">
                <a:solidFill>
                  <a:srgbClr val="5C6773"/>
                </a:solidFill>
                <a:latin typeface="Inconsolata"/>
              </a:rPr>
              <a:t>52  </a:t>
            </a:r>
            <a:r>
              <a:rPr sz="749" i="0">
                <a:solidFill>
                  <a:srgbClr val="E6EDF3"/>
                </a:solidFill>
                <a:latin typeface="Inconsolata"/>
              </a:rPr>
              <a:t>    id: </a:t>
            </a:r>
            <a:r>
              <a:rPr sz="749" i="0">
                <a:solidFill>
                  <a:srgbClr val="7FDBCA"/>
                </a:solidFill>
                <a:latin typeface="Inconsolata"/>
              </a:rPr>
              <a:t>Mapped</a:t>
            </a:r>
            <a:r>
              <a:rPr sz="749" i="0">
                <a:solidFill>
                  <a:srgbClr val="E6EDF3"/>
                </a:solidFill>
                <a:latin typeface="Inconsolata"/>
              </a:rPr>
              <a:t>[</a:t>
            </a:r>
            <a:r>
              <a:rPr sz="749" i="0">
                <a:solidFill>
                  <a:srgbClr val="C3A6FF"/>
                </a:solidFill>
                <a:latin typeface="Inconsolata"/>
              </a:rPr>
              <a:t>int</a:t>
            </a:r>
            <a:r>
              <a:rPr sz="749" i="0">
                <a:solidFill>
                  <a:srgbClr val="E6EDF3"/>
                </a:solidFill>
                <a:latin typeface="Inconsolata"/>
              </a:rPr>
              <a:t>] = mapped_column(primary_key=</a:t>
            </a:r>
            <a:r>
              <a:rPr sz="749" i="0">
                <a:solidFill>
                  <a:srgbClr val="FF8E6E"/>
                </a:solidFill>
                <a:latin typeface="Inconsolata"/>
              </a:rPr>
              <a:t>True</a:t>
            </a:r>
            <a:r>
              <a:rPr sz="749" i="0">
                <a:solidFill>
                  <a:srgbClr val="E6EDF3"/>
                </a:solidFill>
                <a:latin typeface="Inconsolata"/>
              </a:rPr>
              <a:t>)</a:t>
            </a:r>
          </a:p>
          <a:p>
            <a:pPr>
              <a:lnSpc>
                <a:spcPct val="111166"/>
              </a:lnSpc>
              <a:spcAft>
                <a:spcPts val="0"/>
              </a:spcAft>
            </a:pPr>
            <a:r>
              <a:rPr sz="749" i="0">
                <a:solidFill>
                  <a:srgbClr val="5C6773"/>
                </a:solidFill>
                <a:latin typeface="Inconsolata"/>
              </a:rPr>
              <a:t>53  </a:t>
            </a:r>
            <a:r>
              <a:rPr sz="749" i="0">
                <a:solidFill>
                  <a:srgbClr val="E6EDF3"/>
                </a:solidFill>
                <a:latin typeface="Inconsolata"/>
              </a:rPr>
              <a:t>    customer: </a:t>
            </a:r>
            <a:r>
              <a:rPr sz="749" i="0">
                <a:solidFill>
                  <a:srgbClr val="7FDBCA"/>
                </a:solidFill>
                <a:latin typeface="Inconsolata"/>
              </a:rPr>
              <a:t>Mapped</a:t>
            </a:r>
            <a:r>
              <a:rPr sz="749" i="0">
                <a:solidFill>
                  <a:srgbClr val="E6EDF3"/>
                </a:solidFill>
                <a:latin typeface="Inconsolata"/>
              </a:rPr>
              <a:t>[</a:t>
            </a:r>
            <a:r>
              <a:rPr sz="749" i="0">
                <a:solidFill>
                  <a:srgbClr val="C3A6FF"/>
                </a:solidFill>
                <a:latin typeface="Inconsolata"/>
              </a:rPr>
              <a:t>str</a:t>
            </a:r>
            <a:r>
              <a:rPr sz="749" i="0">
                <a:solidFill>
                  <a:srgbClr val="E6EDF3"/>
                </a:solidFill>
                <a:latin typeface="Inconsolata"/>
              </a:rPr>
              <a:t>]</a:t>
            </a:r>
          </a:p>
          <a:p>
            <a:pPr>
              <a:lnSpc>
                <a:spcPct val="111166"/>
              </a:lnSpc>
              <a:spcAft>
                <a:spcPts val="0"/>
              </a:spcAft>
            </a:pPr>
            <a:r>
              <a:rPr sz="749" i="0">
                <a:solidFill>
                  <a:srgbClr val="5C6773"/>
                </a:solidFill>
                <a:latin typeface="Inconsolata"/>
              </a:rPr>
              <a:t>54  </a:t>
            </a:r>
            <a:r>
              <a:rPr sz="749" i="0">
                <a:solidFill>
                  <a:srgbClr val="E6EDF3"/>
                </a:solidFill>
                <a:latin typeface="Inconsolata"/>
              </a:rPr>
              <a:t>    lines: </a:t>
            </a:r>
            <a:r>
              <a:rPr sz="749" i="0">
                <a:solidFill>
                  <a:srgbClr val="7FDBCA"/>
                </a:solidFill>
                <a:latin typeface="Inconsolata"/>
              </a:rPr>
              <a:t>Mapped</a:t>
            </a:r>
            <a:r>
              <a:rPr sz="749" i="0">
                <a:solidFill>
                  <a:srgbClr val="E6EDF3"/>
                </a:solidFill>
                <a:latin typeface="Inconsolata"/>
              </a:rPr>
              <a:t>[</a:t>
            </a:r>
            <a:r>
              <a:rPr sz="749" i="0">
                <a:solidFill>
                  <a:srgbClr val="C3A6FF"/>
                </a:solidFill>
                <a:latin typeface="Inconsolata"/>
              </a:rPr>
              <a:t>list</a:t>
            </a:r>
            <a:r>
              <a:rPr sz="749" i="0">
                <a:solidFill>
                  <a:srgbClr val="E6EDF3"/>
                </a:solidFill>
                <a:latin typeface="Inconsolata"/>
              </a:rPr>
              <a:t>[</a:t>
            </a:r>
            <a:r>
              <a:rPr sz="749" i="0">
                <a:solidFill>
                  <a:srgbClr val="7FDBCA"/>
                </a:solidFill>
                <a:latin typeface="Inconsolata"/>
              </a:rPr>
              <a:t>OrderLine</a:t>
            </a:r>
            <a:r>
              <a:rPr sz="749" i="0">
                <a:solidFill>
                  <a:srgbClr val="E6EDF3"/>
                </a:solidFill>
                <a:latin typeface="Inconsolata"/>
              </a:rPr>
              <a:t>]] = relationship()</a:t>
            </a:r>
          </a:p>
          <a:p>
            <a:pPr>
              <a:lnSpc>
                <a:spcPct val="111166"/>
              </a:lnSpc>
              <a:spcAft>
                <a:spcPts val="0"/>
              </a:spcAft>
            </a:pPr>
            <a:r>
              <a:rPr sz="749" i="0">
                <a:solidFill>
                  <a:srgbClr val="5C6773"/>
                </a:solidFill>
                <a:latin typeface="Inconsolata"/>
              </a:rPr>
              <a:t>55  </a:t>
            </a:r>
            <a:r>
              <a:rPr sz="749" i="0">
                <a:solidFill>
                  <a:srgbClr val="E6EDF3"/>
                </a:solidFill>
                <a:latin typeface="Inconsolata"/>
              </a:rPr>
              <a:t> </a:t>
            </a:r>
          </a:p>
          <a:p>
            <a:pPr>
              <a:lnSpc>
                <a:spcPct val="111166"/>
              </a:lnSpc>
              <a:spcAft>
                <a:spcPts val="0"/>
              </a:spcAft>
            </a:pPr>
            <a:r>
              <a:rPr sz="749" i="0">
                <a:solidFill>
                  <a:srgbClr val="5C6773"/>
                </a:solidFill>
                <a:latin typeface="Inconsolata"/>
              </a:rPr>
              <a:t>56  </a:t>
            </a:r>
            <a:r>
              <a:rPr sz="749" i="0">
                <a:solidFill>
                  <a:srgbClr val="E6EDF3"/>
                </a:solidFill>
                <a:latin typeface="Inconsolata"/>
              </a:rPr>
              <a:t> </a:t>
            </a:r>
          </a:p>
          <a:p>
            <a:pPr>
              <a:lnSpc>
                <a:spcPct val="111166"/>
              </a:lnSpc>
              <a:spcAft>
                <a:spcPts val="0"/>
              </a:spcAft>
            </a:pPr>
            <a:r>
              <a:rPr sz="749" i="0">
                <a:solidFill>
                  <a:srgbClr val="5C6773"/>
                </a:solidFill>
                <a:latin typeface="Inconsolata"/>
              </a:rPr>
              <a:t>57  </a:t>
            </a:r>
            <a:r>
              <a:rPr sz="749" i="0">
                <a:solidFill>
                  <a:srgbClr val="FF8E6E"/>
                </a:solidFill>
                <a:latin typeface="Inconsolata"/>
              </a:rPr>
              <a:t>def</a:t>
            </a:r>
            <a:r>
              <a:rPr sz="749" i="0">
                <a:solidFill>
                  <a:srgbClr val="E6EDF3"/>
                </a:solidFill>
                <a:latin typeface="Inconsolata"/>
              </a:rPr>
              <a:t> </a:t>
            </a:r>
            <a:r>
              <a:rPr sz="749" i="0">
                <a:solidFill>
                  <a:srgbClr val="82B1FF"/>
                </a:solidFill>
                <a:latin typeface="Inconsolata"/>
              </a:rPr>
              <a:t>latest_orders</a:t>
            </a:r>
            <a:r>
              <a:rPr sz="749" i="0">
                <a:solidFill>
                  <a:srgbClr val="E6EDF3"/>
                </a:solidFill>
                <a:latin typeface="Inconsolata"/>
              </a:rPr>
              <a:t>(session: </a:t>
            </a:r>
            <a:r>
              <a:rPr sz="749" i="0">
                <a:solidFill>
                  <a:srgbClr val="7FDBCA"/>
                </a:solidFill>
                <a:latin typeface="Inconsolata"/>
              </a:rPr>
              <a:t>Session</a:t>
            </a:r>
            <a:r>
              <a:rPr sz="749" i="0">
                <a:solidFill>
                  <a:srgbClr val="E6EDF3"/>
                </a:solidFill>
                <a:latin typeface="Inconsolata"/>
              </a:rPr>
              <a:t>) -&gt; </a:t>
            </a:r>
            <a:r>
              <a:rPr sz="749" i="0">
                <a:solidFill>
                  <a:srgbClr val="C3A6FF"/>
                </a:solidFill>
                <a:latin typeface="Inconsolata"/>
              </a:rPr>
              <a:t>list</a:t>
            </a:r>
            <a:r>
              <a:rPr sz="749" i="0">
                <a:solidFill>
                  <a:srgbClr val="E6EDF3"/>
                </a:solidFill>
                <a:latin typeface="Inconsolata"/>
              </a:rPr>
              <a:t>[</a:t>
            </a:r>
            <a:r>
              <a:rPr sz="749" i="0">
                <a:solidFill>
                  <a:srgbClr val="C3A6FF"/>
                </a:solidFill>
                <a:latin typeface="Inconsolata"/>
              </a:rPr>
              <a:t>dict</a:t>
            </a:r>
            <a:r>
              <a:rPr sz="749" i="0">
                <a:solidFill>
                  <a:srgbClr val="E6EDF3"/>
                </a:solidFill>
                <a:latin typeface="Inconsolata"/>
              </a:rPr>
              <a:t>]:</a:t>
            </a:r>
          </a:p>
          <a:p>
            <a:pPr>
              <a:lnSpc>
                <a:spcPct val="111166"/>
              </a:lnSpc>
              <a:spcAft>
                <a:spcPts val="0"/>
              </a:spcAft>
            </a:pPr>
            <a:r>
              <a:rPr sz="749" i="0">
                <a:solidFill>
                  <a:srgbClr val="5C6773"/>
                </a:solidFill>
                <a:latin typeface="Inconsolata"/>
              </a:rPr>
              <a:t>58  </a:t>
            </a:r>
            <a:r>
              <a:rPr sz="749" i="0">
                <a:solidFill>
                  <a:srgbClr val="E6EDF3"/>
                </a:solidFill>
                <a:latin typeface="Inconsolata"/>
              </a:rPr>
              <a:t>    query = (select(</a:t>
            </a:r>
            <a:r>
              <a:rPr sz="749" i="0">
                <a:solidFill>
                  <a:srgbClr val="7FDBCA"/>
                </a:solidFill>
                <a:latin typeface="Inconsolata"/>
              </a:rPr>
              <a:t>Order</a:t>
            </a:r>
            <a:r>
              <a:rPr sz="749" i="0">
                <a:solidFill>
                  <a:srgbClr val="E6EDF3"/>
                </a:solidFill>
                <a:latin typeface="Inconsolata"/>
              </a:rPr>
              <a:t>).options(selectinload(</a:t>
            </a:r>
            <a:r>
              <a:rPr sz="749" i="0">
                <a:solidFill>
                  <a:srgbClr val="7FDBCA"/>
                </a:solidFill>
                <a:latin typeface="Inconsolata"/>
              </a:rPr>
              <a:t>Order</a:t>
            </a:r>
            <a:r>
              <a:rPr sz="749" i="0">
                <a:solidFill>
                  <a:srgbClr val="E6EDF3"/>
                </a:solidFill>
                <a:latin typeface="Inconsolata"/>
              </a:rPr>
              <a:t>.lines))</a:t>
            </a:r>
          </a:p>
          <a:p>
            <a:pPr>
              <a:lnSpc>
                <a:spcPct val="111166"/>
              </a:lnSpc>
              <a:spcAft>
                <a:spcPts val="0"/>
              </a:spcAft>
            </a:pPr>
            <a:r>
              <a:rPr sz="749" i="0">
                <a:solidFill>
                  <a:srgbClr val="5C6773"/>
                </a:solidFill>
                <a:latin typeface="Inconsolata"/>
              </a:rPr>
              <a:t>59  </a:t>
            </a:r>
            <a:r>
              <a:rPr sz="749" i="0">
                <a:solidFill>
                  <a:srgbClr val="E6EDF3"/>
                </a:solidFill>
                <a:latin typeface="Inconsolata"/>
              </a:rPr>
              <a:t>             .order_by(</a:t>
            </a:r>
            <a:r>
              <a:rPr sz="749" i="0">
                <a:solidFill>
                  <a:srgbClr val="7FDBCA"/>
                </a:solidFill>
                <a:latin typeface="Inconsolata"/>
              </a:rPr>
              <a:t>Order</a:t>
            </a:r>
            <a:r>
              <a:rPr sz="749" i="0">
                <a:solidFill>
                  <a:srgbClr val="E6EDF3"/>
                </a:solidFill>
                <a:latin typeface="Inconsolata"/>
              </a:rPr>
              <a:t>.id.desc()).limit(</a:t>
            </a:r>
            <a:r>
              <a:rPr sz="749" i="0">
                <a:solidFill>
                  <a:srgbClr val="F9C97A"/>
                </a:solidFill>
                <a:latin typeface="Inconsolata"/>
              </a:rPr>
              <a:t>100</a:t>
            </a:r>
            <a:r>
              <a:rPr sz="749" i="0">
                <a:solidFill>
                  <a:srgbClr val="E6EDF3"/>
                </a:solidFill>
                <a:latin typeface="Inconsolata"/>
              </a:rPr>
              <a:t>))</a:t>
            </a:r>
          </a:p>
          <a:p>
            <a:pPr>
              <a:lnSpc>
                <a:spcPct val="111166"/>
              </a:lnSpc>
              <a:spcAft>
                <a:spcPts val="0"/>
              </a:spcAft>
            </a:pPr>
            <a:r>
              <a:rPr sz="749" i="0">
                <a:solidFill>
                  <a:srgbClr val="5C6773"/>
                </a:solidFill>
                <a:latin typeface="Inconsolata"/>
              </a:rPr>
              <a:t>60  </a:t>
            </a:r>
            <a:r>
              <a:rPr sz="749" i="0">
                <a:solidFill>
                  <a:srgbClr val="E6EDF3"/>
                </a:solidFill>
                <a:latin typeface="Inconsolata"/>
              </a:rPr>
              <a:t>    orders = session.scalars(query)</a:t>
            </a:r>
          </a:p>
          <a:p>
            <a:pPr>
              <a:lnSpc>
                <a:spcPct val="111166"/>
              </a:lnSpc>
              <a:spcAft>
                <a:spcPts val="0"/>
              </a:spcAft>
            </a:pPr>
            <a:r>
              <a:rPr sz="749" i="0">
                <a:solidFill>
                  <a:srgbClr val="5C6773"/>
                </a:solidFill>
                <a:latin typeface="Inconsolata"/>
              </a:rPr>
              <a:t>61  </a:t>
            </a:r>
            <a:r>
              <a:rPr sz="749" i="0">
                <a:solidFill>
                  <a:srgbClr val="E6EDF3"/>
                </a:solidFill>
                <a:latin typeface="Inconsolata"/>
              </a:rPr>
              <a:t>    </a:t>
            </a:r>
            <a:r>
              <a:rPr sz="749" i="0">
                <a:solidFill>
                  <a:srgbClr val="FF8E6E"/>
                </a:solidFill>
                <a:latin typeface="Inconsolata"/>
              </a:rPr>
              <a:t>return</a:t>
            </a:r>
            <a:r>
              <a:rPr sz="749" i="0">
                <a:solidFill>
                  <a:srgbClr val="E6EDF3"/>
                </a:solidFill>
                <a:latin typeface="Inconsolata"/>
              </a:rPr>
              <a:t> [{</a:t>
            </a:r>
            <a:r>
              <a:rPr sz="749" i="0">
                <a:solidFill>
                  <a:srgbClr val="A5D6A7"/>
                </a:solidFill>
                <a:latin typeface="Inconsolata"/>
              </a:rPr>
              <a:t>"id"</a:t>
            </a:r>
            <a:r>
              <a:rPr sz="749" i="0">
                <a:solidFill>
                  <a:srgbClr val="E6EDF3"/>
                </a:solidFill>
                <a:latin typeface="Inconsolata"/>
              </a:rPr>
              <a:t>: o.id,</a:t>
            </a:r>
          </a:p>
          <a:p>
            <a:pPr>
              <a:lnSpc>
                <a:spcPct val="111166"/>
              </a:lnSpc>
              <a:spcAft>
                <a:spcPts val="0"/>
              </a:spcAft>
            </a:pPr>
            <a:r>
              <a:rPr sz="749" i="0">
                <a:solidFill>
                  <a:srgbClr val="5C6773"/>
                </a:solidFill>
                <a:latin typeface="Inconsolata"/>
              </a:rPr>
              <a:t>62  </a:t>
            </a:r>
            <a:r>
              <a:rPr sz="749" i="0">
                <a:solidFill>
                  <a:srgbClr val="E6EDF3"/>
                </a:solidFill>
                <a:latin typeface="Inconsolata"/>
              </a:rPr>
              <a:t>             </a:t>
            </a:r>
            <a:r>
              <a:rPr sz="749" i="0">
                <a:solidFill>
                  <a:srgbClr val="A5D6A7"/>
                </a:solidFill>
                <a:latin typeface="Inconsolata"/>
              </a:rPr>
              <a:t>"total"</a:t>
            </a:r>
            <a:r>
              <a:rPr sz="749" i="0">
                <a:solidFill>
                  <a:srgbClr val="E6EDF3"/>
                </a:solidFill>
                <a:latin typeface="Inconsolata"/>
              </a:rPr>
              <a:t>: </a:t>
            </a:r>
            <a:r>
              <a:rPr sz="749" i="0">
                <a:solidFill>
                  <a:srgbClr val="C3A6FF"/>
                </a:solidFill>
                <a:latin typeface="Inconsolata"/>
              </a:rPr>
              <a:t>sum</a:t>
            </a:r>
            <a:r>
              <a:rPr sz="749" i="0">
                <a:solidFill>
                  <a:srgbClr val="E6EDF3"/>
                </a:solidFill>
                <a:latin typeface="Inconsolata"/>
              </a:rPr>
              <a:t>(line.price * line.qty</a:t>
            </a:r>
          </a:p>
          <a:p>
            <a:pPr>
              <a:lnSpc>
                <a:spcPct val="111166"/>
              </a:lnSpc>
              <a:spcAft>
                <a:spcPts val="0"/>
              </a:spcAft>
            </a:pPr>
            <a:r>
              <a:rPr sz="749" i="0">
                <a:solidFill>
                  <a:srgbClr val="5C6773"/>
                </a:solidFill>
                <a:latin typeface="Inconsolata"/>
              </a:rPr>
              <a:t>63  </a:t>
            </a:r>
            <a:r>
              <a:rPr sz="749" i="0">
                <a:solidFill>
                  <a:srgbClr val="E6EDF3"/>
                </a:solidFill>
                <a:latin typeface="Inconsolata"/>
              </a:rPr>
              <a:t>                          </a:t>
            </a:r>
            <a:r>
              <a:rPr sz="749" i="0">
                <a:solidFill>
                  <a:srgbClr val="FF8E6E"/>
                </a:solidFill>
                <a:latin typeface="Inconsolata"/>
              </a:rPr>
              <a:t>for</a:t>
            </a:r>
            <a:r>
              <a:rPr sz="749" i="0">
                <a:solidFill>
                  <a:srgbClr val="E6EDF3"/>
                </a:solidFill>
                <a:latin typeface="Inconsolata"/>
              </a:rPr>
              <a:t> line </a:t>
            </a:r>
            <a:r>
              <a:rPr sz="749" i="0">
                <a:solidFill>
                  <a:srgbClr val="FF8E6E"/>
                </a:solidFill>
                <a:latin typeface="Inconsolata"/>
              </a:rPr>
              <a:t>in</a:t>
            </a:r>
            <a:r>
              <a:rPr sz="749" i="0">
                <a:solidFill>
                  <a:srgbClr val="E6EDF3"/>
                </a:solidFill>
                <a:latin typeface="Inconsolata"/>
              </a:rPr>
              <a:t> o.lines)}</a:t>
            </a:r>
          </a:p>
          <a:p>
            <a:pPr>
              <a:lnSpc>
                <a:spcPct val="111166"/>
              </a:lnSpc>
              <a:spcAft>
                <a:spcPts val="0"/>
              </a:spcAft>
            </a:pPr>
            <a:r>
              <a:rPr sz="749" i="0">
                <a:solidFill>
                  <a:srgbClr val="5C6773"/>
                </a:solidFill>
                <a:latin typeface="Inconsolata"/>
              </a:rPr>
              <a:t>64  </a:t>
            </a:r>
            <a:r>
              <a:rPr sz="749" i="0">
                <a:solidFill>
                  <a:srgbClr val="E6EDF3"/>
                </a:solidFill>
                <a:latin typeface="Inconsolata"/>
              </a:rPr>
              <a:t>            </a:t>
            </a:r>
            <a:r>
              <a:rPr sz="749" i="0">
                <a:solidFill>
                  <a:srgbClr val="FF8E6E"/>
                </a:solidFill>
                <a:latin typeface="Inconsolata"/>
              </a:rPr>
              <a:t>for</a:t>
            </a:r>
            <a:r>
              <a:rPr sz="749" i="0">
                <a:solidFill>
                  <a:srgbClr val="E6EDF3"/>
                </a:solidFill>
                <a:latin typeface="Inconsolata"/>
              </a:rPr>
              <a:t> o </a:t>
            </a:r>
            <a:r>
              <a:rPr sz="749" i="0">
                <a:solidFill>
                  <a:srgbClr val="FF8E6E"/>
                </a:solidFill>
                <a:latin typeface="Inconsolata"/>
              </a:rPr>
              <a:t>in</a:t>
            </a:r>
            <a:r>
              <a:rPr sz="749" i="0">
                <a:solidFill>
                  <a:srgbClr val="E6EDF3"/>
                </a:solidFill>
                <a:latin typeface="Inconsolata"/>
              </a:rPr>
              <a:t> orders]</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03-n-plus-one/after.py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11166"/>
              </a:lnSpc>
              <a:spcAft>
                <a:spcPts val="0"/>
              </a:spcAft>
            </a:pPr>
            <a:r>
              <a:rPr sz="749" i="0">
                <a:solidFill>
                  <a:srgbClr val="5C6773"/>
                </a:solidFill>
                <a:latin typeface="Inconsolata"/>
              </a:rPr>
              <a:t>67  </a:t>
            </a:r>
            <a:r>
              <a:rPr sz="749" i="0">
                <a:solidFill>
                  <a:srgbClr val="FF8E6E"/>
                </a:solidFill>
                <a:latin typeface="Inconsolata"/>
              </a:rPr>
              <a:t>if</a:t>
            </a:r>
            <a:r>
              <a:rPr sz="749" i="0">
                <a:solidFill>
                  <a:srgbClr val="E6EDF3"/>
                </a:solidFill>
                <a:latin typeface="Inconsolata"/>
              </a:rPr>
              <a:t> __name__ == </a:t>
            </a:r>
            <a:r>
              <a:rPr sz="749" i="0">
                <a:solidFill>
                  <a:srgbClr val="A5D6A7"/>
                </a:solidFill>
                <a:latin typeface="Inconsolata"/>
              </a:rPr>
              <a:t>"__main__"</a:t>
            </a:r>
            <a:r>
              <a:rPr sz="749" i="0">
                <a:solidFill>
                  <a:srgbClr val="E6EDF3"/>
                </a:solidFill>
                <a:latin typeface="Inconsolata"/>
              </a:rPr>
              <a:t>:</a:t>
            </a:r>
          </a:p>
          <a:p>
            <a:pPr>
              <a:lnSpc>
                <a:spcPct val="111166"/>
              </a:lnSpc>
              <a:spcAft>
                <a:spcPts val="0"/>
              </a:spcAft>
            </a:pPr>
            <a:r>
              <a:rPr sz="749" i="0">
                <a:solidFill>
                  <a:srgbClr val="5C6773"/>
                </a:solidFill>
                <a:latin typeface="Inconsolata"/>
              </a:rPr>
              <a:t>68  </a:t>
            </a:r>
            <a:r>
              <a:rPr sz="749" i="0">
                <a:solidFill>
                  <a:srgbClr val="E6EDF3"/>
                </a:solidFill>
                <a:latin typeface="Inconsolata"/>
              </a:rPr>
              <a:t>    </a:t>
            </a:r>
            <a:r>
              <a:rPr sz="749" i="0">
                <a:solidFill>
                  <a:srgbClr val="FF8E6E"/>
                </a:solidFill>
                <a:latin typeface="Inconsolata"/>
              </a:rPr>
              <a:t>with</a:t>
            </a:r>
            <a:r>
              <a:rPr sz="749" i="0">
                <a:solidFill>
                  <a:srgbClr val="E6EDF3"/>
                </a:solidFill>
                <a:latin typeface="Inconsolata"/>
              </a:rPr>
              <a:t> engine.begin() </a:t>
            </a:r>
            <a:r>
              <a:rPr sz="749" i="0">
                <a:solidFill>
                  <a:srgbClr val="FF8E6E"/>
                </a:solidFill>
                <a:latin typeface="Inconsolata"/>
              </a:rPr>
              <a:t>as</a:t>
            </a:r>
            <a:r>
              <a:rPr sz="749" i="0">
                <a:solidFill>
                  <a:srgbClr val="E6EDF3"/>
                </a:solidFill>
                <a:latin typeface="Inconsolata"/>
              </a:rPr>
              <a:t> conn:  </a:t>
            </a:r>
            <a:r>
              <a:rPr sz="749" i="1">
                <a:solidFill>
                  <a:srgbClr val="8B98A8"/>
                </a:solidFill>
                <a:latin typeface="Inconsolata"/>
              </a:rPr>
              <a:t># index FK, lihat catatan di atas</a:t>
            </a:r>
          </a:p>
          <a:p>
            <a:pPr>
              <a:lnSpc>
                <a:spcPct val="111166"/>
              </a:lnSpc>
              <a:spcAft>
                <a:spcPts val="0"/>
              </a:spcAft>
            </a:pPr>
            <a:r>
              <a:rPr sz="749" i="0">
                <a:solidFill>
                  <a:srgbClr val="5C6773"/>
                </a:solidFill>
                <a:latin typeface="Inconsolata"/>
              </a:rPr>
              <a:t>69  </a:t>
            </a:r>
            <a:r>
              <a:rPr sz="749" i="0">
                <a:solidFill>
                  <a:srgbClr val="E6EDF3"/>
                </a:solidFill>
                <a:latin typeface="Inconsolata"/>
              </a:rPr>
              <a:t>        conn.execute(text(</a:t>
            </a:r>
          </a:p>
          <a:p>
            <a:pPr>
              <a:lnSpc>
                <a:spcPct val="111166"/>
              </a:lnSpc>
              <a:spcAft>
                <a:spcPts val="0"/>
              </a:spcAft>
            </a:pPr>
            <a:r>
              <a:rPr sz="749" i="0">
                <a:solidFill>
                  <a:srgbClr val="5C6773"/>
                </a:solidFill>
                <a:latin typeface="Inconsolata"/>
              </a:rPr>
              <a:t>70  </a:t>
            </a:r>
            <a:r>
              <a:rPr sz="749" i="0">
                <a:solidFill>
                  <a:srgbClr val="E6EDF3"/>
                </a:solidFill>
                <a:latin typeface="Inconsolata"/>
              </a:rPr>
              <a:t>            </a:t>
            </a:r>
            <a:r>
              <a:rPr sz="749" i="0">
                <a:solidFill>
                  <a:srgbClr val="A5D6A7"/>
                </a:solidFill>
                <a:latin typeface="Inconsolata"/>
              </a:rPr>
              <a:t>"CREATE INDEX IF NOT EXISTS ix_order_lines_order_id"</a:t>
            </a:r>
          </a:p>
          <a:p>
            <a:pPr>
              <a:lnSpc>
                <a:spcPct val="111166"/>
              </a:lnSpc>
              <a:spcAft>
                <a:spcPts val="0"/>
              </a:spcAft>
            </a:pPr>
            <a:r>
              <a:rPr sz="749" i="0">
                <a:solidFill>
                  <a:srgbClr val="5C6773"/>
                </a:solidFill>
                <a:latin typeface="Inconsolata"/>
              </a:rPr>
              <a:t>71  </a:t>
            </a:r>
            <a:r>
              <a:rPr sz="749" i="0">
                <a:solidFill>
                  <a:srgbClr val="E6EDF3"/>
                </a:solidFill>
                <a:latin typeface="Inconsolata"/>
              </a:rPr>
              <a:t>            </a:t>
            </a:r>
            <a:r>
              <a:rPr sz="749" i="0">
                <a:solidFill>
                  <a:srgbClr val="A5D6A7"/>
                </a:solidFill>
                <a:latin typeface="Inconsolata"/>
              </a:rPr>
              <a:t>" ON order_lines (order_id)"</a:t>
            </a:r>
            <a:r>
              <a:rPr sz="749" i="0">
                <a:solidFill>
                  <a:srgbClr val="E6EDF3"/>
                </a:solidFill>
                <a:latin typeface="Inconsolata"/>
              </a:rPr>
              <a:t>))</a:t>
            </a:r>
          </a:p>
          <a:p>
            <a:pPr>
              <a:lnSpc>
                <a:spcPct val="111166"/>
              </a:lnSpc>
              <a:spcAft>
                <a:spcPts val="0"/>
              </a:spcAft>
            </a:pPr>
            <a:r>
              <a:rPr sz="749" i="0">
                <a:solidFill>
                  <a:srgbClr val="5C6773"/>
                </a:solidFill>
                <a:latin typeface="Inconsolata"/>
              </a:rPr>
              <a:t>72  </a:t>
            </a:r>
            <a:r>
              <a:rPr sz="749" i="0">
                <a:solidFill>
                  <a:srgbClr val="E6EDF3"/>
                </a:solidFill>
                <a:latin typeface="Inconsolata"/>
              </a:rPr>
              <a:t>    queries = </a:t>
            </a:r>
            <a:r>
              <a:rPr sz="749" i="0">
                <a:solidFill>
                  <a:srgbClr val="F9C97A"/>
                </a:solidFill>
                <a:latin typeface="Inconsolata"/>
              </a:rPr>
              <a:t>0</a:t>
            </a:r>
          </a:p>
          <a:p>
            <a:pPr>
              <a:lnSpc>
                <a:spcPct val="111166"/>
              </a:lnSpc>
              <a:spcAft>
                <a:spcPts val="0"/>
              </a:spcAft>
            </a:pPr>
            <a:r>
              <a:rPr sz="749" i="0">
                <a:solidFill>
                  <a:srgbClr val="5C6773"/>
                </a:solidFill>
                <a:latin typeface="Inconsolata"/>
              </a:rPr>
              <a:t>73  </a:t>
            </a:r>
            <a:r>
              <a:rPr sz="749" i="0">
                <a:solidFill>
                  <a:srgbClr val="E6EDF3"/>
                </a:solidFill>
                <a:latin typeface="Inconsolata"/>
              </a:rPr>
              <a:t> </a:t>
            </a:r>
          </a:p>
          <a:p>
            <a:pPr>
              <a:lnSpc>
                <a:spcPct val="111166"/>
              </a:lnSpc>
              <a:spcAft>
                <a:spcPts val="0"/>
              </a:spcAft>
            </a:pPr>
            <a:r>
              <a:rPr sz="749" i="0">
                <a:solidFill>
                  <a:srgbClr val="5C6773"/>
                </a:solidFill>
                <a:latin typeface="Inconsolata"/>
              </a:rPr>
              <a:t>74  </a:t>
            </a:r>
            <a:r>
              <a:rPr sz="749" i="0">
                <a:solidFill>
                  <a:srgbClr val="E6EDF3"/>
                </a:solidFill>
                <a:latin typeface="Inconsolata"/>
              </a:rPr>
              <a:t>    </a:t>
            </a:r>
            <a:r>
              <a:rPr sz="749" i="0">
                <a:solidFill>
                  <a:srgbClr val="FF8E6E"/>
                </a:solidFill>
                <a:latin typeface="Inconsolata"/>
              </a:rPr>
              <a:t>with</a:t>
            </a:r>
            <a:r>
              <a:rPr sz="749" i="0">
                <a:solidFill>
                  <a:srgbClr val="E6EDF3"/>
                </a:solidFill>
                <a:latin typeface="Inconsolata"/>
              </a:rPr>
              <a:t> </a:t>
            </a:r>
            <a:r>
              <a:rPr sz="749" i="0">
                <a:solidFill>
                  <a:srgbClr val="7FDBCA"/>
                </a:solidFill>
                <a:latin typeface="Inconsolata"/>
              </a:rPr>
              <a:t>Session</a:t>
            </a:r>
            <a:r>
              <a:rPr sz="749" i="0">
                <a:solidFill>
                  <a:srgbClr val="E6EDF3"/>
                </a:solidFill>
                <a:latin typeface="Inconsolata"/>
              </a:rPr>
              <a:t>(engine) </a:t>
            </a:r>
            <a:r>
              <a:rPr sz="749" i="0">
                <a:solidFill>
                  <a:srgbClr val="FF8E6E"/>
                </a:solidFill>
                <a:latin typeface="Inconsolata"/>
              </a:rPr>
              <a:t>as</a:t>
            </a:r>
            <a:r>
              <a:rPr sz="749" i="0">
                <a:solidFill>
                  <a:srgbClr val="E6EDF3"/>
                </a:solidFill>
                <a:latin typeface="Inconsolata"/>
              </a:rPr>
              <a:t> session:</a:t>
            </a:r>
          </a:p>
          <a:p>
            <a:pPr>
              <a:lnSpc>
                <a:spcPct val="111166"/>
              </a:lnSpc>
              <a:spcAft>
                <a:spcPts val="0"/>
              </a:spcAft>
            </a:pPr>
            <a:r>
              <a:rPr sz="749" i="0">
                <a:solidFill>
                  <a:srgbClr val="5C6773"/>
                </a:solidFill>
                <a:latin typeface="Inconsolata"/>
              </a:rPr>
              <a:t>75  </a:t>
            </a:r>
            <a:r>
              <a:rPr sz="749" i="0">
                <a:solidFill>
                  <a:srgbClr val="E6EDF3"/>
                </a:solidFill>
                <a:latin typeface="Inconsolata"/>
              </a:rPr>
              <a:t>        start = time.perf_counter()</a:t>
            </a:r>
          </a:p>
          <a:p>
            <a:pPr>
              <a:lnSpc>
                <a:spcPct val="111166"/>
              </a:lnSpc>
              <a:spcAft>
                <a:spcPts val="0"/>
              </a:spcAft>
            </a:pPr>
            <a:r>
              <a:rPr sz="749" i="0">
                <a:solidFill>
                  <a:srgbClr val="5C6773"/>
                </a:solidFill>
                <a:latin typeface="Inconsolata"/>
              </a:rPr>
              <a:t>76  </a:t>
            </a:r>
            <a:r>
              <a:rPr sz="749" i="0">
                <a:solidFill>
                  <a:srgbClr val="E6EDF3"/>
                </a:solidFill>
                <a:latin typeface="Inconsolata"/>
              </a:rPr>
              <a:t>        result = latest_orders(session)</a:t>
            </a:r>
          </a:p>
          <a:p>
            <a:pPr>
              <a:lnSpc>
                <a:spcPct val="111166"/>
              </a:lnSpc>
              <a:spcAft>
                <a:spcPts val="0"/>
              </a:spcAft>
            </a:pPr>
            <a:r>
              <a:rPr sz="749" i="0">
                <a:solidFill>
                  <a:srgbClr val="5C6773"/>
                </a:solidFill>
                <a:latin typeface="Inconsolata"/>
              </a:rPr>
              <a:t>77  </a:t>
            </a:r>
            <a:r>
              <a:rPr sz="749" i="0">
                <a:solidFill>
                  <a:srgbClr val="E6EDF3"/>
                </a:solidFill>
                <a:latin typeface="Inconsolata"/>
              </a:rPr>
              <a:t>        ms = (time.perf_counter() - start) * </a:t>
            </a:r>
            <a:r>
              <a:rPr sz="749" i="0">
                <a:solidFill>
                  <a:srgbClr val="F9C97A"/>
                </a:solidFill>
                <a:latin typeface="Inconsolata"/>
              </a:rPr>
              <a:t>1000</a:t>
            </a:r>
          </a:p>
          <a:p>
            <a:pPr>
              <a:lnSpc>
                <a:spcPct val="111166"/>
              </a:lnSpc>
              <a:spcAft>
                <a:spcPts val="0"/>
              </a:spcAft>
            </a:pPr>
            <a:r>
              <a:rPr sz="749" i="0">
                <a:solidFill>
                  <a:srgbClr val="5C6773"/>
                </a:solidFill>
                <a:latin typeface="Inconsolata"/>
              </a:rPr>
              <a:t>78  </a:t>
            </a:r>
            <a:r>
              <a:rPr sz="749" i="0">
                <a:solidFill>
                  <a:srgbClr val="E6EDF3"/>
                </a:solidFill>
                <a:latin typeface="Inconsolata"/>
              </a:rPr>
              <a:t>        </a:t>
            </a:r>
            <a:r>
              <a:rPr sz="749" i="0">
                <a:solidFill>
                  <a:srgbClr val="C3A6FF"/>
                </a:solidFill>
                <a:latin typeface="Inconsolata"/>
              </a:rPr>
              <a:t>print</a:t>
            </a:r>
            <a:r>
              <a:rPr sz="749" i="0">
                <a:solidFill>
                  <a:srgbClr val="E6EDF3"/>
                </a:solidFill>
                <a:latin typeface="Inconsolata"/>
              </a:rPr>
              <a:t>(</a:t>
            </a:r>
            <a:r>
              <a:rPr sz="749" i="0">
                <a:solidFill>
                  <a:srgbClr val="A5D6A7"/>
                </a:solidFill>
                <a:latin typeface="Inconsolata"/>
              </a:rPr>
              <a:t>f"{len(result)} order, {queries} query, {ms:.0f} ms"</a:t>
            </a:r>
            <a:r>
              <a:rPr sz="749" i="0">
                <a:solidFill>
                  <a:srgbClr val="E6EDF3"/>
                </a:solidFill>
                <a:latin typeface="Inconsolata"/>
              </a:rPr>
              <a:t>)</a:t>
            </a:r>
          </a:p>
        </p:txBody>
      </p:sp>
      <p:sp>
        <p:nvSpPr>
          <p:cNvPr id="36" name="Box 21"/>
          <p:cNvSpPr/>
          <p:nvPr/>
        </p:nvSpPr>
        <p:spPr>
          <a:xfrm>
            <a:off x="704088" y="2843022"/>
            <a:ext cx="3694176" cy="246380"/>
          </a:xfrm>
          <a:prstGeom prst="roundRect">
            <a:avLst>
              <a:gd name="adj" fmla="val 1855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847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8" name="Box 23"/>
          <p:cNvSpPr/>
          <p:nvPr/>
        </p:nvSpPr>
        <p:spPr>
          <a:xfrm>
            <a:off x="704088" y="3224022"/>
            <a:ext cx="3694176" cy="500380"/>
          </a:xfrm>
          <a:prstGeom prst="roundRect">
            <a:avLst>
              <a:gd name="adj" fmla="val 91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355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N+1 Query</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03-n-plus-one/after.py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sesi-07-database-optimization/03-n-plus-one</a:t>
            </a:r>
          </a:p>
          <a:p>
            <a:pPr>
              <a:lnSpc>
                <a:spcPct val="111111"/>
              </a:lnSpc>
              <a:spcAft>
                <a:spcPts val="0"/>
              </a:spcAft>
            </a:pPr>
            <a:r>
              <a:rPr sz="900" i="0">
                <a:solidFill>
                  <a:srgbClr val="82B1FF"/>
                </a:solidFill>
                <a:latin typeface="Inconsolata"/>
              </a:rPr>
              <a:t>$ python after.py</a:t>
            </a:r>
          </a:p>
        </p:txBody>
      </p:sp>
      <p:pic>
        <p:nvPicPr>
          <p:cNvPr id="29" name="Image 12" descr="s07-03-n-plus-one-after.png"/>
          <p:cNvPicPr>
            <a:picLocks noChangeAspect="1"/>
          </p:cNvPicPr>
          <p:nvPr/>
        </p:nvPicPr>
        <p:blipFill>
          <a:blip r:embed="rId2"/>
          <a:stretch>
            <a:fillRect/>
          </a:stretch>
        </p:blipFill>
        <p:spPr>
          <a:xfrm>
            <a:off x="621792" y="2322576"/>
            <a:ext cx="4297680" cy="709117"/>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order_id</a:t>
            </a:r>
            <a:r>
              <a:rPr sz="950" b="0" i="0">
                <a:solidFill>
                  <a:srgbClr val="434343"/>
                </a:solidFill>
                <a:latin typeface="Inter"/>
              </a:rPr>
              <a:t> diberi index, karena dipakai di </a:t>
            </a:r>
            <a:r>
              <a:rPr sz="950" b="0" i="0">
                <a:solidFill>
                  <a:srgbClr val="B5482A"/>
                </a:solidFill>
                <a:latin typeface="Inconsolata"/>
              </a:rPr>
              <a:t>WHERE order_id IN (...)</a:t>
            </a:r>
            <a:r>
              <a:rPr sz="950" b="0" i="0">
                <a:solidFill>
                  <a:srgbClr val="434343"/>
                </a:solidFill>
                <a:latin typeface="Inter"/>
              </a:rPr>
              <a:t> (baris 44-45)</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selectinload(Order.lines)</a:t>
            </a:r>
            <a:r>
              <a:rPr sz="950" b="0" i="0">
                <a:solidFill>
                  <a:srgbClr val="434343"/>
                </a:solidFill>
                <a:latin typeface="Inter"/>
              </a:rPr>
              <a:t>: item semua order diambil sekaligus (baris 58-59)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Loop yang sama, tanpa query tambahan (baris 61-64)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100 order, 2 query.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Pagination, Connection Pool &amp; Query Tuning</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Query yang tetap cepat saat data dan traffic bertambah.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Keyset Pagination?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Pagination adalah</a:t>
            </a:r>
          </a:p>
          <a:p>
            <a:pPr algn="l">
              <a:lnSpc>
                <a:spcPct val="115000"/>
              </a:lnSpc>
              <a:spcAft>
                <a:spcPts val="400"/>
              </a:spcAft>
            </a:pPr>
            <a:r>
              <a:rPr sz="900" b="0" i="0">
                <a:solidFill>
                  <a:srgbClr val="434343"/>
                </a:solidFill>
                <a:latin typeface="Inter"/>
              </a:rPr>
              <a:t>Membagi data yang banyak menjadi beberapa halaman. Cara umum memakai </a:t>
            </a:r>
            <a:r>
              <a:rPr sz="900" b="1" i="0">
                <a:solidFill>
                  <a:srgbClr val="434343"/>
                </a:solidFill>
                <a:latin typeface="Inter"/>
              </a:rPr>
              <a:t>OFFSET</a:t>
            </a:r>
            <a:r>
              <a:rPr sz="900" b="0" i="0">
                <a:solidFill>
                  <a:srgbClr val="434343"/>
                </a:solidFill>
                <a:latin typeface="Inter"/>
              </a:rPr>
              <a:t>: lewati N baris pertama.</a:t>
            </a:r>
          </a:p>
          <a:p>
            <a:pPr algn="l">
              <a:lnSpc>
                <a:spcPct val="115000"/>
              </a:lnSpc>
              <a:spcAft>
                <a:spcPts val="400"/>
              </a:spcAft>
            </a:pPr>
            <a:r>
              <a:rPr sz="1000" b="1" i="0">
                <a:solidFill>
                  <a:srgbClr val="1C4587"/>
                </a:solidFill>
                <a:latin typeface="Inter"/>
              </a:rPr>
              <a:t>Keyset pagination adalah</a:t>
            </a:r>
          </a:p>
          <a:p>
            <a:pPr algn="l">
              <a:lnSpc>
                <a:spcPct val="115000"/>
              </a:lnSpc>
              <a:spcAft>
                <a:spcPts val="400"/>
              </a:spcAft>
            </a:pPr>
            <a:r>
              <a:rPr sz="900" b="0" i="0">
                <a:solidFill>
                  <a:srgbClr val="434343"/>
                </a:solidFill>
                <a:latin typeface="Inter"/>
              </a:rPr>
              <a:t>Pagination yang memakai </a:t>
            </a:r>
            <a:r>
              <a:rPr sz="900" b="1" i="0">
                <a:solidFill>
                  <a:srgbClr val="434343"/>
                </a:solidFill>
                <a:latin typeface="Inter"/>
              </a:rPr>
              <a:t>id terakhir</a:t>
            </a:r>
            <a:r>
              <a:rPr sz="900" b="0" i="0">
                <a:solidFill>
                  <a:srgbClr val="434343"/>
                </a:solidFill>
                <a:latin typeface="Inter"/>
              </a:rPr>
              <a:t> dari halaman sebelumnya sebagai titik lanjut (cursor): </a:t>
            </a:r>
            <a:r>
              <a:rPr sz="900" b="0" i="0">
                <a:solidFill>
                  <a:srgbClr val="B5482A"/>
                </a:solidFill>
                <a:latin typeface="Inconsolata"/>
              </a:rPr>
              <a:t>WHERE id &lt; :after</a:t>
            </a:r>
            <a:r>
              <a:rPr sz="900" b="0" i="0">
                <a:solidFill>
                  <a:srgbClr val="434343"/>
                </a:solidFill>
                <a:latin typeface="Inter"/>
              </a:rPr>
              <a:t>. Database langsung menuju posisi itu lewat index.</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halaman jauh tetap secepat halaman pertama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data bergeser saat ada data baru</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OFFSET: 04-pagination/before.py</a:t>
            </a:r>
          </a:p>
        </p:txBody>
      </p:sp>
      <p:sp>
        <p:nvSpPr>
          <p:cNvPr id="28" name="CodeBg 11"/>
          <p:cNvSpPr/>
          <p:nvPr/>
        </p:nvSpPr>
        <p:spPr>
          <a:xfrm>
            <a:off x="4297680" y="1719072"/>
            <a:ext cx="4187951" cy="1325880"/>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325880"/>
          </a:xfrm>
          <a:prstGeom prst="rect">
            <a:avLst/>
          </a:prstGeom>
          <a:noFill/>
        </p:spPr>
        <p:txBody>
          <a:bodyPr wrap="none" lIns="146304" tIns="91440" rIns="146304" bIns="54864">
            <a:spAutoFit/>
          </a:bodyPr>
          <a:lstStyle/>
          <a:p>
            <a:pPr>
              <a:lnSpc>
                <a:spcPct val="107843"/>
              </a:lnSpc>
              <a:spcAft>
                <a:spcPts val="0"/>
              </a:spcAft>
            </a:pPr>
            <a:r>
              <a:rPr sz="850" i="0">
                <a:solidFill>
                  <a:srgbClr val="7FDBCA"/>
                </a:solidFill>
                <a:latin typeface="Inconsolata"/>
              </a:rPr>
              <a:t>PAGE</a:t>
            </a:r>
            <a:r>
              <a:rPr sz="850" i="0">
                <a:solidFill>
                  <a:srgbClr val="E6EDF3"/>
                </a:solidFill>
                <a:latin typeface="Inconsolata"/>
              </a:rPr>
              <a:t> = text(</a:t>
            </a:r>
            <a:r>
              <a:rPr sz="850" i="0">
                <a:solidFill>
                  <a:srgbClr val="A5D6A7"/>
                </a:solidFill>
                <a:latin typeface="Inconsolata"/>
              </a:rPr>
              <a:t>"SELECT id, customer, created_at FROM orders "</a:t>
            </a:r>
          </a:p>
          <a:p>
            <a:pPr>
              <a:lnSpc>
                <a:spcPct val="107843"/>
              </a:lnSpc>
              <a:spcAft>
                <a:spcPts val="0"/>
              </a:spcAft>
            </a:pPr>
            <a:r>
              <a:rPr sz="850" i="0">
                <a:solidFill>
                  <a:srgbClr val="E6EDF3"/>
                </a:solidFill>
                <a:latin typeface="Inconsolata"/>
              </a:rPr>
              <a:t>            </a:t>
            </a:r>
            <a:r>
              <a:rPr sz="850" i="0">
                <a:solidFill>
                  <a:srgbClr val="A5D6A7"/>
                </a:solidFill>
                <a:latin typeface="Inconsolata"/>
              </a:rPr>
              <a:t>"ORDER BY id DESC LIMIT 20 OFFSET :offset"</a:t>
            </a:r>
            <a:r>
              <a:rPr sz="850" i="0">
                <a:solidFill>
                  <a:srgbClr val="E6EDF3"/>
                </a:solidFill>
                <a:latin typeface="Inconsolata"/>
              </a:rPr>
              <a:t>)</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1363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2141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2141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2141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1455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keyset: 04-pagination/after.py</a:t>
            </a:r>
          </a:p>
        </p:txBody>
      </p:sp>
      <p:sp>
        <p:nvSpPr>
          <p:cNvPr id="36" name="CodeBg 21"/>
          <p:cNvSpPr/>
          <p:nvPr/>
        </p:nvSpPr>
        <p:spPr>
          <a:xfrm>
            <a:off x="4297680" y="3374136"/>
            <a:ext cx="4187951" cy="1325879"/>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374136"/>
            <a:ext cx="4187951" cy="1325879"/>
          </a:xfrm>
          <a:prstGeom prst="rect">
            <a:avLst/>
          </a:prstGeom>
          <a:noFill/>
        </p:spPr>
        <p:txBody>
          <a:bodyPr wrap="none" lIns="146304" tIns="91440" rIns="146304" bIns="54864">
            <a:spAutoFit/>
          </a:bodyPr>
          <a:lstStyle/>
          <a:p>
            <a:pPr>
              <a:lnSpc>
                <a:spcPct val="107843"/>
              </a:lnSpc>
              <a:spcAft>
                <a:spcPts val="0"/>
              </a:spcAft>
            </a:pPr>
            <a:r>
              <a:rPr sz="850" i="0">
                <a:solidFill>
                  <a:srgbClr val="7FDBCA"/>
                </a:solidFill>
                <a:latin typeface="Inconsolata"/>
              </a:rPr>
              <a:t>NEXT_PAGE</a:t>
            </a:r>
            <a:r>
              <a:rPr sz="850" i="0">
                <a:solidFill>
                  <a:srgbClr val="E6EDF3"/>
                </a:solidFill>
                <a:latin typeface="Inconsolata"/>
              </a:rPr>
              <a:t> = text(</a:t>
            </a:r>
            <a:r>
              <a:rPr sz="850" i="0">
                <a:solidFill>
                  <a:srgbClr val="A5D6A7"/>
                </a:solidFill>
                <a:latin typeface="Inconsolata"/>
              </a:rPr>
              <a:t>"SELECT id, customer, created_at FROM orders "</a:t>
            </a:r>
          </a:p>
          <a:p>
            <a:pPr>
              <a:lnSpc>
                <a:spcPct val="107843"/>
              </a:lnSpc>
              <a:spcAft>
                <a:spcPts val="0"/>
              </a:spcAft>
            </a:pPr>
            <a:r>
              <a:rPr sz="850" i="0">
                <a:solidFill>
                  <a:srgbClr val="E6EDF3"/>
                </a:solidFill>
                <a:latin typeface="Inconsolata"/>
              </a:rPr>
              <a:t>                 </a:t>
            </a:r>
            <a:r>
              <a:rPr sz="850" i="0">
                <a:solidFill>
                  <a:srgbClr val="A5D6A7"/>
                </a:solidFill>
                <a:latin typeface="Inconsolata"/>
              </a:rPr>
              <a:t>"WHERE id &lt; :after ORDER BY id DESC LIMIT 20"</a:t>
            </a:r>
            <a:r>
              <a:rPr sz="850" i="0">
                <a:solidFill>
                  <a:srgbClr val="E6EDF3"/>
                </a:solidFill>
                <a:latin typeface="Inconsolata"/>
              </a:rPr>
              <a:t>)</a:t>
            </a:r>
          </a:p>
        </p:txBody>
      </p:sp>
      <p:sp>
        <p:nvSpPr>
          <p:cNvPr id="38" name="Box 23"/>
          <p:cNvSpPr/>
          <p:nvPr/>
        </p:nvSpPr>
        <p:spPr>
          <a:xfrm>
            <a:off x="4379976" y="36234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Keyset Pagination?</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OFFSET</a:t>
            </a:r>
          </a:p>
          <a:p>
            <a:pPr algn="l">
              <a:lnSpc>
                <a:spcPct val="115000"/>
              </a:lnSpc>
              <a:spcAft>
                <a:spcPts val="400"/>
              </a:spcAft>
            </a:pPr>
            <a:r>
              <a:rPr sz="950" b="0" i="0">
                <a:solidFill>
                  <a:srgbClr val="B5482A"/>
                </a:solidFill>
                <a:latin typeface="Inconsolata"/>
              </a:rPr>
              <a:t>LIMIT 20 OFFSET 179980</a:t>
            </a:r>
            <a:r>
              <a:rPr sz="950" b="0" i="0">
                <a:solidFill>
                  <a:srgbClr val="434343"/>
                </a:solidFill>
                <a:latin typeface="Inter"/>
              </a:rPr>
              <a:t> artinya database membaca 180.000 baris, membuang 179.980, lalu mengembalikan 20.</a:t>
            </a:r>
          </a:p>
          <a:p>
            <a:pPr algn="l">
              <a:lnSpc>
                <a:spcPct val="115000"/>
              </a:lnSpc>
              <a:spcAft>
                <a:spcPts val="400"/>
              </a:spcAft>
            </a:pPr>
            <a:r>
              <a:rPr sz="1050" b="1" i="0">
                <a:solidFill>
                  <a:srgbClr val="1C4587"/>
                </a:solidFill>
                <a:latin typeface="Inter"/>
              </a:rPr>
              <a:t>Jika datanya makin banyak</a:t>
            </a:r>
          </a:p>
          <a:p>
            <a:pPr algn="l">
              <a:lnSpc>
                <a:spcPct val="115000"/>
              </a:lnSpc>
              <a:spcAft>
                <a:spcPts val="400"/>
              </a:spcAft>
            </a:pPr>
            <a:r>
              <a:rPr sz="950" b="0" i="0">
                <a:solidFill>
                  <a:srgbClr val="434343"/>
                </a:solidFill>
                <a:latin typeface="Inter"/>
              </a:rPr>
              <a:t>Halaman yang jauh makin lambat. Jika ada order baru saat user pindah halaman, datanya bergeser: ada order yang tampil dua kali atau terlewat.</a:t>
            </a:r>
          </a:p>
          <a:p>
            <a:pPr algn="l">
              <a:lnSpc>
                <a:spcPct val="115000"/>
              </a:lnSpc>
              <a:spcAft>
                <a:spcPts val="400"/>
              </a:spcAft>
            </a:pPr>
            <a:r>
              <a:rPr sz="950" b="0" i="0">
                <a:solidFill>
                  <a:srgbClr val="434343"/>
                </a:solidFill>
                <a:latin typeface="Inter"/>
              </a:rPr>
              <a:t>Hal ini membuat API lambat dan datanya tidak konsisten.</a:t>
            </a:r>
          </a:p>
          <a:p>
            <a:pPr algn="l">
              <a:lnSpc>
                <a:spcPct val="115000"/>
              </a:lnSpc>
              <a:spcAft>
                <a:spcPts val="400"/>
              </a:spcAft>
            </a:pPr>
            <a:r>
              <a:rPr sz="1050" b="1" i="0">
                <a:solidFill>
                  <a:srgbClr val="1C4587"/>
                </a:solidFill>
                <a:latin typeface="Inter"/>
              </a:rPr>
              <a:t>Trade-off keyset pagination</a:t>
            </a:r>
          </a:p>
          <a:p>
            <a:pPr algn="l">
              <a:lnSpc>
                <a:spcPct val="115000"/>
              </a:lnSpc>
              <a:spcAft>
                <a:spcPts val="400"/>
              </a:spcAft>
            </a:pPr>
            <a:r>
              <a:rPr sz="950" b="0" i="0">
                <a:solidFill>
                  <a:srgbClr val="434343"/>
                </a:solidFill>
                <a:latin typeface="Inter"/>
              </a:rPr>
              <a:t>Tidak bisa langsung loncat ke halaman tertentu, hanya bisa lanjut ke halaman berikutnya. Cocok untuk API dan infinite scroll.</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307592">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11480">
                <a:tc>
                  <a:txBody>
                    <a:bodyPr/>
                    <a:lstStyle/>
                    <a:p>
                      <a:pPr algn="l">
                        <a:lnSpc>
                          <a:spcPct val="100000"/>
                        </a:lnSpc>
                        <a:spcAft>
                          <a:spcPts val="0"/>
                        </a:spcAft>
                      </a:pPr>
                      <a:endParaRP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OFFSET</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Keyset</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Halaman jauh</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Makin lambat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Tetap cepat</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Data baru masuk</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Data bergeser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Tidak bergeser</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Loncat ke halaman 50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Bisa</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Tidak bisa</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Parameter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page atau offset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after (id terakhir)</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OFFSET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04-pagination/before.py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12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15  </a:t>
            </a:r>
            <a:r>
              <a:rPr sz="719" i="0">
                <a:solidFill>
                  <a:srgbClr val="E6EDF3"/>
                </a:solidFill>
                <a:latin typeface="Inconsolata"/>
              </a:rPr>
              <a:t> </a:t>
            </a:r>
          </a:p>
          <a:p>
            <a:pPr>
              <a:lnSpc>
                <a:spcPct val="104277"/>
              </a:lnSpc>
              <a:spcAft>
                <a:spcPts val="0"/>
              </a:spcAft>
            </a:pPr>
            <a:r>
              <a:rPr sz="719" i="0">
                <a:solidFill>
                  <a:srgbClr val="5C6773"/>
                </a:solidFill>
                <a:latin typeface="Inconsolata"/>
              </a:rPr>
              <a:t>16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E6EDF3"/>
                </a:solidFill>
                <a:latin typeface="Inconsolata"/>
              </a:rPr>
              <a:t> </a:t>
            </a:r>
          </a:p>
          <a:p>
            <a:pPr>
              <a:lnSpc>
                <a:spcPct val="104277"/>
              </a:lnSpc>
              <a:spcAft>
                <a:spcPts val="0"/>
              </a:spcAft>
            </a:pPr>
            <a:r>
              <a:rPr sz="719" i="0">
                <a:solidFill>
                  <a:srgbClr val="5C6773"/>
                </a:solidFill>
                <a:latin typeface="Inconsolata"/>
              </a:rPr>
              <a:t>20  </a:t>
            </a:r>
            <a:r>
              <a:rPr sz="719" i="0">
                <a:solidFill>
                  <a:srgbClr val="7FDBCA"/>
                </a:solidFill>
                <a:latin typeface="Inconsolata"/>
              </a:rPr>
              <a:t>PAGE</a:t>
            </a:r>
            <a:r>
              <a:rPr sz="719" i="0">
                <a:solidFill>
                  <a:srgbClr val="E6EDF3"/>
                </a:solidFill>
                <a:latin typeface="Inconsolata"/>
              </a:rPr>
              <a:t> = text(</a:t>
            </a:r>
            <a:r>
              <a:rPr sz="719" i="0">
                <a:solidFill>
                  <a:srgbClr val="A5D6A7"/>
                </a:solidFill>
                <a:latin typeface="Inconsolata"/>
              </a:rPr>
              <a:t>"SELECT id, customer, created_at FROM orders "</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r>
              <a:rPr sz="719" i="0">
                <a:solidFill>
                  <a:srgbClr val="A5D6A7"/>
                </a:solidFill>
                <a:latin typeface="Inconsolata"/>
              </a:rPr>
              <a:t>"ORDER BY id DESC LIMIT 20 OFFSET :offset"</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p>
          <a:p>
            <a:pPr>
              <a:lnSpc>
                <a:spcPct val="104277"/>
              </a:lnSpc>
              <a:spcAft>
                <a:spcPts val="0"/>
              </a:spcAft>
            </a:pPr>
            <a:r>
              <a:rPr sz="719" i="0">
                <a:solidFill>
                  <a:srgbClr val="5C6773"/>
                </a:solidFill>
                <a:latin typeface="Inconsolata"/>
              </a:rPr>
              <a:t>23  </a:t>
            </a:r>
            <a:r>
              <a:rPr sz="719" i="0">
                <a:solidFill>
                  <a:srgbClr val="E6EDF3"/>
                </a:solidFill>
                <a:latin typeface="Inconsolata"/>
              </a:rPr>
              <a:t> </a:t>
            </a:r>
          </a:p>
          <a:p>
            <a:pPr>
              <a:lnSpc>
                <a:spcPct val="104277"/>
              </a:lnSpc>
              <a:spcAft>
                <a:spcPts val="0"/>
              </a:spcAft>
            </a:pPr>
            <a:r>
              <a:rPr sz="719" i="0">
                <a:solidFill>
                  <a:srgbClr val="5C6773"/>
                </a:solidFill>
                <a:latin typeface="Inconsolata"/>
              </a:rPr>
              <a:t>24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list_orders</a:t>
            </a:r>
            <a:r>
              <a:rPr sz="719" i="0">
                <a:solidFill>
                  <a:srgbClr val="E6EDF3"/>
                </a:solidFill>
                <a:latin typeface="Inconsolata"/>
              </a:rPr>
              <a:t>(conn, page: </a:t>
            </a:r>
            <a:r>
              <a:rPr sz="719" i="0">
                <a:solidFill>
                  <a:srgbClr val="C3A6FF"/>
                </a:solidFill>
                <a:latin typeface="Inconsolata"/>
              </a:rPr>
              <a:t>int</a:t>
            </a:r>
            <a:r>
              <a:rPr sz="719" i="0">
                <a:solidFill>
                  <a:srgbClr val="E6EDF3"/>
                </a:solidFill>
                <a:latin typeface="Inconsolata"/>
              </a:rPr>
              <a:t>) -&gt; </a:t>
            </a:r>
            <a:r>
              <a:rPr sz="719" i="0">
                <a:solidFill>
                  <a:srgbClr val="C3A6FF"/>
                </a:solidFill>
                <a:latin typeface="Inconsolata"/>
              </a:rPr>
              <a:t>list</a:t>
            </a:r>
            <a:r>
              <a:rPr sz="719" i="0">
                <a:solidFill>
                  <a:srgbClr val="E6EDF3"/>
                </a:solidFill>
                <a:latin typeface="Inconsolata"/>
              </a:rPr>
              <a:t>:</a:t>
            </a:r>
          </a:p>
          <a:p>
            <a:pPr>
              <a:lnSpc>
                <a:spcPct val="104277"/>
              </a:lnSpc>
              <a:spcAft>
                <a:spcPts val="0"/>
              </a:spcAft>
            </a:pPr>
            <a:r>
              <a:rPr sz="719" i="0">
                <a:solidFill>
                  <a:srgbClr val="5C6773"/>
                </a:solidFill>
                <a:latin typeface="Inconsolata"/>
              </a:rPr>
              <a:t>25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conn.execute(</a:t>
            </a:r>
            <a:r>
              <a:rPr sz="719" i="0">
                <a:solidFill>
                  <a:srgbClr val="7FDBCA"/>
                </a:solidFill>
                <a:latin typeface="Inconsolata"/>
              </a:rPr>
              <a:t>PAGE</a:t>
            </a:r>
            <a:r>
              <a:rPr sz="719" i="0">
                <a:solidFill>
                  <a:srgbClr val="E6EDF3"/>
                </a:solidFill>
                <a:latin typeface="Inconsolata"/>
              </a:rPr>
              <a:t>, {</a:t>
            </a:r>
            <a:r>
              <a:rPr sz="719" i="0">
                <a:solidFill>
                  <a:srgbClr val="A5D6A7"/>
                </a:solidFill>
                <a:latin typeface="Inconsolata"/>
              </a:rPr>
              <a:t>"offset"</a:t>
            </a:r>
            <a:r>
              <a:rPr sz="719" i="0">
                <a:solidFill>
                  <a:srgbClr val="E6EDF3"/>
                </a:solidFill>
                <a:latin typeface="Inconsolata"/>
              </a:rPr>
              <a:t>: (page - </a:t>
            </a:r>
            <a:r>
              <a:rPr sz="719" i="0">
                <a:solidFill>
                  <a:srgbClr val="F9C97A"/>
                </a:solidFill>
                <a:latin typeface="Inconsolata"/>
              </a:rPr>
              <a:t>1</a:t>
            </a:r>
            <a:r>
              <a:rPr sz="719" i="0">
                <a:solidFill>
                  <a:srgbClr val="E6EDF3"/>
                </a:solidFill>
                <a:latin typeface="Inconsolata"/>
              </a:rPr>
              <a:t>) * </a:t>
            </a:r>
            <a:r>
              <a:rPr sz="719" i="0">
                <a:solidFill>
                  <a:srgbClr val="F9C97A"/>
                </a:solidFill>
                <a:latin typeface="Inconsolata"/>
              </a:rPr>
              <a:t>20</a:t>
            </a:r>
            <a:r>
              <a:rPr sz="719" i="0">
                <a:solidFill>
                  <a:srgbClr val="E6EDF3"/>
                </a:solidFill>
                <a:latin typeface="Inconsolata"/>
              </a:rPr>
              <a:t>}).all()</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04-pagination/before.py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28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timed</a:t>
            </a:r>
            <a:r>
              <a:rPr sz="719" i="0">
                <a:solidFill>
                  <a:srgbClr val="E6EDF3"/>
                </a:solidFill>
                <a:latin typeface="Inconsolata"/>
              </a:rPr>
              <a:t>(fn, *args):</a:t>
            </a:r>
          </a:p>
          <a:p>
            <a:pPr>
              <a:lnSpc>
                <a:spcPct val="104277"/>
              </a:lnSpc>
              <a:spcAft>
                <a:spcPts val="0"/>
              </a:spcAft>
            </a:pPr>
            <a:r>
              <a:rPr sz="719" i="0">
                <a:solidFill>
                  <a:srgbClr val="5C6773"/>
                </a:solidFill>
                <a:latin typeface="Inconsolata"/>
              </a:rPr>
              <a:t>29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30  </a:t>
            </a:r>
            <a:r>
              <a:rPr sz="719" i="0">
                <a:solidFill>
                  <a:srgbClr val="E6EDF3"/>
                </a:solidFill>
                <a:latin typeface="Inconsolata"/>
              </a:rPr>
              <a:t>    result = fn(*args)</a:t>
            </a:r>
          </a:p>
          <a:p>
            <a:pPr>
              <a:lnSpc>
                <a:spcPct val="104277"/>
              </a:lnSpc>
              <a:spcAft>
                <a:spcPts val="0"/>
              </a:spcAft>
            </a:pPr>
            <a:r>
              <a:rPr sz="719" i="0">
                <a:solidFill>
                  <a:srgbClr val="5C6773"/>
                </a:solidFill>
                <a:latin typeface="Inconsolata"/>
              </a:rPr>
              <a:t>31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(time.perf_counter() - start) * </a:t>
            </a:r>
            <a:r>
              <a:rPr sz="719" i="0">
                <a:solidFill>
                  <a:srgbClr val="F9C97A"/>
                </a:solidFill>
                <a:latin typeface="Inconsolata"/>
              </a:rPr>
              <a:t>1000</a:t>
            </a:r>
            <a:r>
              <a:rPr sz="719" i="0">
                <a:solidFill>
                  <a:srgbClr val="E6EDF3"/>
                </a:solidFill>
                <a:latin typeface="Inconsolata"/>
              </a:rPr>
              <a:t>, result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p>
          <a:p>
            <a:pPr>
              <a:lnSpc>
                <a:spcPct val="104277"/>
              </a:lnSpc>
              <a:spcAft>
                <a:spcPts val="0"/>
              </a:spcAft>
            </a:pPr>
            <a:r>
              <a:rPr sz="719" i="0">
                <a:solidFill>
                  <a:srgbClr val="5C6773"/>
                </a:solidFill>
                <a:latin typeface="Inconsolata"/>
              </a:rPr>
              <a:t>34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engine.connect()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36  </a:t>
            </a:r>
            <a:r>
              <a:rPr sz="719" i="0">
                <a:solidFill>
                  <a:srgbClr val="E6EDF3"/>
                </a:solidFill>
                <a:latin typeface="Inconsolata"/>
              </a:rPr>
              <a:t>        list_orders(conn, </a:t>
            </a:r>
            <a:r>
              <a:rPr sz="719" i="0">
                <a:solidFill>
                  <a:srgbClr val="F9C97A"/>
                </a:solidFill>
                <a:latin typeface="Inconsolata"/>
              </a:rPr>
              <a:t>1</a:t>
            </a:r>
            <a:r>
              <a:rPr sz="719" i="0">
                <a:solidFill>
                  <a:srgbClr val="E6EDF3"/>
                </a:solidFill>
                <a:latin typeface="Inconsolata"/>
              </a:rPr>
              <a:t>)                    </a:t>
            </a:r>
            <a:r>
              <a:rPr sz="719" i="1">
                <a:solidFill>
                  <a:srgbClr val="8B98A8"/>
                </a:solidFill>
                <a:latin typeface="Inconsolata"/>
              </a:rPr>
              <a:t># pemanasan</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page </a:t>
            </a:r>
            <a:r>
              <a:rPr sz="719" i="0">
                <a:solidFill>
                  <a:srgbClr val="FF8E6E"/>
                </a:solidFill>
                <a:latin typeface="Inconsolata"/>
              </a:rPr>
              <a:t>in</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9000</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ms, rows = timed(list_orders, conn, page)</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f"Halaman {page:&gt;4}: {ms:5.1f} ms, "</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A5D6A7"/>
                </a:solidFill>
                <a:latin typeface="Inconsolata"/>
              </a:rPr>
              <a:t>f"id {rows[0].id}..{rows[-1].id}"</a:t>
            </a:r>
            <a:r>
              <a:rPr sz="719" i="0">
                <a:solidFill>
                  <a:srgbClr val="E6EDF3"/>
                </a:solidFill>
                <a:latin typeface="Inconsolata"/>
              </a:rPr>
              <a:t>)</a:t>
            </a:r>
          </a:p>
        </p:txBody>
      </p:sp>
      <p:sp>
        <p:nvSpPr>
          <p:cNvPr id="36" name="Box 21"/>
          <p:cNvSpPr/>
          <p:nvPr/>
        </p:nvSpPr>
        <p:spPr>
          <a:xfrm>
            <a:off x="704088" y="28540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8460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4255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360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04-pagination/before.py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sesi-07-database-optimization/04-pagination</a:t>
            </a:r>
          </a:p>
          <a:p>
            <a:pPr>
              <a:lnSpc>
                <a:spcPct val="111111"/>
              </a:lnSpc>
              <a:spcAft>
                <a:spcPts val="0"/>
              </a:spcAft>
            </a:pPr>
            <a:r>
              <a:rPr sz="900" i="0">
                <a:solidFill>
                  <a:srgbClr val="82B1FF"/>
                </a:solidFill>
                <a:latin typeface="Inconsolata"/>
              </a:rPr>
              <a:t>$ python before.py</a:t>
            </a:r>
          </a:p>
        </p:txBody>
      </p:sp>
      <p:pic>
        <p:nvPicPr>
          <p:cNvPr id="29" name="Image 12" descr="s07-04-pagination-before.png"/>
          <p:cNvPicPr>
            <a:picLocks noChangeAspect="1"/>
          </p:cNvPicPr>
          <p:nvPr/>
        </p:nvPicPr>
        <p:blipFill>
          <a:blip r:embed="rId2"/>
          <a:stretch>
            <a:fillRect/>
          </a:stretch>
        </p:blipFill>
        <p:spPr>
          <a:xfrm>
            <a:off x="621792" y="2322576"/>
            <a:ext cx="4297680" cy="852373"/>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Halaman dihitung dengan </a:t>
            </a:r>
            <a:r>
              <a:rPr sz="950" b="0" i="0">
                <a:solidFill>
                  <a:srgbClr val="B5482A"/>
                </a:solidFill>
                <a:latin typeface="Inconsolata"/>
              </a:rPr>
              <a:t>OFFSET</a:t>
            </a:r>
            <a:r>
              <a:rPr sz="950" b="0" i="0">
                <a:solidFill>
                  <a:srgbClr val="434343"/>
                </a:solidFill>
                <a:latin typeface="Inter"/>
              </a:rPr>
              <a:t> (baris 20-21)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Halaman 9000 = lewati 179.980 baris (baris 25)</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Halaman 1: 0.5 ms. Halaman 9000: sekitar 12 ms.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keyset pagination</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04-pagination/after.py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14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15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p>
          <a:p>
            <a:pPr>
              <a:lnSpc>
                <a:spcPct val="104277"/>
              </a:lnSpc>
              <a:spcAft>
                <a:spcPts val="0"/>
              </a:spcAft>
            </a:pPr>
            <a:r>
              <a:rPr sz="719" i="0">
                <a:solidFill>
                  <a:srgbClr val="5C6773"/>
                </a:solidFill>
                <a:latin typeface="Inconsolata"/>
              </a:rPr>
              <a:t>17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p>
          <a:p>
            <a:pPr>
              <a:lnSpc>
                <a:spcPct val="104277"/>
              </a:lnSpc>
              <a:spcAft>
                <a:spcPts val="0"/>
              </a:spcAft>
            </a:pPr>
            <a:r>
              <a:rPr sz="719" i="0">
                <a:solidFill>
                  <a:srgbClr val="5C6773"/>
                </a:solidFill>
                <a:latin typeface="Inconsolata"/>
              </a:rPr>
              <a:t>23  </a:t>
            </a:r>
            <a:r>
              <a:rPr sz="719" i="0">
                <a:solidFill>
                  <a:srgbClr val="7FDBCA"/>
                </a:solidFill>
                <a:latin typeface="Inconsolata"/>
              </a:rPr>
              <a:t>FIRST_PAGE</a:t>
            </a:r>
            <a:r>
              <a:rPr sz="719" i="0">
                <a:solidFill>
                  <a:srgbClr val="E6EDF3"/>
                </a:solidFill>
                <a:latin typeface="Inconsolata"/>
              </a:rPr>
              <a:t> = text(</a:t>
            </a:r>
            <a:r>
              <a:rPr sz="719" i="0">
                <a:solidFill>
                  <a:srgbClr val="A5D6A7"/>
                </a:solidFill>
                <a:latin typeface="Inconsolata"/>
              </a:rPr>
              <a:t>"SELECT id, customer, created_at FROM orders "</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r>
              <a:rPr sz="719" i="0">
                <a:solidFill>
                  <a:srgbClr val="A5D6A7"/>
                </a:solidFill>
                <a:latin typeface="Inconsolata"/>
              </a:rPr>
              <a:t>"ORDER BY id DESC LIMIT 20"</a:t>
            </a:r>
            <a:r>
              <a:rPr sz="719" i="0">
                <a:solidFill>
                  <a:srgbClr val="E6EDF3"/>
                </a:solidFill>
                <a:latin typeface="Inconsolata"/>
              </a:rPr>
              <a:t>)</a:t>
            </a:r>
          </a:p>
          <a:p>
            <a:pPr>
              <a:lnSpc>
                <a:spcPct val="104277"/>
              </a:lnSpc>
              <a:spcAft>
                <a:spcPts val="0"/>
              </a:spcAft>
            </a:pPr>
            <a:r>
              <a:rPr sz="719" i="0">
                <a:solidFill>
                  <a:srgbClr val="5C6773"/>
                </a:solidFill>
                <a:latin typeface="Inconsolata"/>
              </a:rPr>
              <a:t>25  </a:t>
            </a:r>
            <a:r>
              <a:rPr sz="719" i="0">
                <a:solidFill>
                  <a:srgbClr val="7FDBCA"/>
                </a:solidFill>
                <a:latin typeface="Inconsolata"/>
              </a:rPr>
              <a:t>NEXT_PAGE</a:t>
            </a:r>
            <a:r>
              <a:rPr sz="719" i="0">
                <a:solidFill>
                  <a:srgbClr val="E6EDF3"/>
                </a:solidFill>
                <a:latin typeface="Inconsolata"/>
              </a:rPr>
              <a:t> = text(</a:t>
            </a:r>
            <a:r>
              <a:rPr sz="719" i="0">
                <a:solidFill>
                  <a:srgbClr val="A5D6A7"/>
                </a:solidFill>
                <a:latin typeface="Inconsolata"/>
              </a:rPr>
              <a:t>"SELECT id, customer, created_at FROM orders "</a:t>
            </a:r>
          </a:p>
          <a:p>
            <a:pPr>
              <a:lnSpc>
                <a:spcPct val="104277"/>
              </a:lnSpc>
              <a:spcAft>
                <a:spcPts val="0"/>
              </a:spcAft>
            </a:pPr>
            <a:r>
              <a:rPr sz="719" i="0">
                <a:solidFill>
                  <a:srgbClr val="5C6773"/>
                </a:solidFill>
                <a:latin typeface="Inconsolata"/>
              </a:rPr>
              <a:t>26  </a:t>
            </a:r>
            <a:r>
              <a:rPr sz="719" i="0">
                <a:solidFill>
                  <a:srgbClr val="E6EDF3"/>
                </a:solidFill>
                <a:latin typeface="Inconsolata"/>
              </a:rPr>
              <a:t>                 </a:t>
            </a:r>
            <a:r>
              <a:rPr sz="719" i="0">
                <a:solidFill>
                  <a:srgbClr val="A5D6A7"/>
                </a:solidFill>
                <a:latin typeface="Inconsolata"/>
              </a:rPr>
              <a:t>"WHERE id &lt; :after ORDER BY id DESC LIMIT 20"</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p>
          <a:p>
            <a:pPr>
              <a:lnSpc>
                <a:spcPct val="104277"/>
              </a:lnSpc>
              <a:spcAft>
                <a:spcPts val="0"/>
              </a:spcAft>
            </a:pPr>
            <a:r>
              <a:rPr sz="719" i="0">
                <a:solidFill>
                  <a:srgbClr val="5C6773"/>
                </a:solidFill>
                <a:latin typeface="Inconsolata"/>
              </a:rPr>
              <a:t>29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list_orders</a:t>
            </a:r>
            <a:r>
              <a:rPr sz="719" i="0">
                <a:solidFill>
                  <a:srgbClr val="E6EDF3"/>
                </a:solidFill>
                <a:latin typeface="Inconsolata"/>
              </a:rPr>
              <a:t>(conn, after: </a:t>
            </a:r>
            <a:r>
              <a:rPr sz="719" i="0">
                <a:solidFill>
                  <a:srgbClr val="C3A6FF"/>
                </a:solidFill>
                <a:latin typeface="Inconsolata"/>
              </a:rPr>
              <a:t>int</a:t>
            </a:r>
            <a:r>
              <a:rPr sz="719" i="0">
                <a:solidFill>
                  <a:srgbClr val="E6EDF3"/>
                </a:solidFill>
                <a:latin typeface="Inconsolata"/>
              </a:rPr>
              <a:t> | </a:t>
            </a:r>
            <a:r>
              <a:rPr sz="719" i="0">
                <a:solidFill>
                  <a:srgbClr val="FF8E6E"/>
                </a:solidFill>
                <a:latin typeface="Inconsolata"/>
              </a:rPr>
              <a:t>None</a:t>
            </a:r>
            <a:r>
              <a:rPr sz="719" i="0">
                <a:solidFill>
                  <a:srgbClr val="E6EDF3"/>
                </a:solidFill>
                <a:latin typeface="Inconsolata"/>
              </a:rPr>
              <a:t> = </a:t>
            </a:r>
            <a:r>
              <a:rPr sz="719" i="0">
                <a:solidFill>
                  <a:srgbClr val="FF8E6E"/>
                </a:solidFill>
                <a:latin typeface="Inconsolata"/>
              </a:rPr>
              <a:t>None</a:t>
            </a:r>
            <a:r>
              <a:rPr sz="719" i="0">
                <a:solidFill>
                  <a:srgbClr val="E6EDF3"/>
                </a:solidFill>
                <a:latin typeface="Inconsolata"/>
              </a:rPr>
              <a:t>):</a:t>
            </a:r>
          </a:p>
          <a:p>
            <a:pPr>
              <a:lnSpc>
                <a:spcPct val="104277"/>
              </a:lnSpc>
              <a:spcAft>
                <a:spcPts val="0"/>
              </a:spcAft>
            </a:pPr>
            <a:r>
              <a:rPr sz="719" i="0">
                <a:solidFill>
                  <a:srgbClr val="5C6773"/>
                </a:solidFill>
                <a:latin typeface="Inconsolata"/>
              </a:rPr>
              <a:t>30  </a:t>
            </a:r>
            <a:r>
              <a:rPr sz="719" i="0">
                <a:solidFill>
                  <a:srgbClr val="E6EDF3"/>
                </a:solidFill>
                <a:latin typeface="Inconsolata"/>
              </a:rPr>
              <a:t>    query = </a:t>
            </a:r>
            <a:r>
              <a:rPr sz="719" i="0">
                <a:solidFill>
                  <a:srgbClr val="7FDBCA"/>
                </a:solidFill>
                <a:latin typeface="Inconsolata"/>
              </a:rPr>
              <a:t>FIRST_PAGE</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after </a:t>
            </a:r>
            <a:r>
              <a:rPr sz="719" i="0">
                <a:solidFill>
                  <a:srgbClr val="FF8E6E"/>
                </a:solidFill>
                <a:latin typeface="Inconsolata"/>
              </a:rPr>
              <a:t>is</a:t>
            </a:r>
            <a:r>
              <a:rPr sz="719" i="0">
                <a:solidFill>
                  <a:srgbClr val="E6EDF3"/>
                </a:solidFill>
                <a:latin typeface="Inconsolata"/>
              </a:rPr>
              <a:t> </a:t>
            </a:r>
            <a:r>
              <a:rPr sz="719" i="0">
                <a:solidFill>
                  <a:srgbClr val="FF8E6E"/>
                </a:solidFill>
                <a:latin typeface="Inconsolata"/>
              </a:rPr>
              <a:t>None</a:t>
            </a:r>
            <a:r>
              <a:rPr sz="719" i="0">
                <a:solidFill>
                  <a:srgbClr val="E6EDF3"/>
                </a:solidFill>
                <a:latin typeface="Inconsolata"/>
              </a:rPr>
              <a:t> </a:t>
            </a:r>
            <a:r>
              <a:rPr sz="719" i="0">
                <a:solidFill>
                  <a:srgbClr val="FF8E6E"/>
                </a:solidFill>
                <a:latin typeface="Inconsolata"/>
              </a:rPr>
              <a:t>else</a:t>
            </a:r>
            <a:r>
              <a:rPr sz="719" i="0">
                <a:solidFill>
                  <a:srgbClr val="E6EDF3"/>
                </a:solidFill>
                <a:latin typeface="Inconsolata"/>
              </a:rPr>
              <a:t> </a:t>
            </a:r>
            <a:r>
              <a:rPr sz="719" i="0">
                <a:solidFill>
                  <a:srgbClr val="7FDBCA"/>
                </a:solidFill>
                <a:latin typeface="Inconsolata"/>
              </a:rPr>
              <a:t>NEXT_PAGE</a:t>
            </a:r>
          </a:p>
          <a:p>
            <a:pPr>
              <a:lnSpc>
                <a:spcPct val="104277"/>
              </a:lnSpc>
              <a:spcAft>
                <a:spcPts val="0"/>
              </a:spcAft>
            </a:pPr>
            <a:r>
              <a:rPr sz="719" i="0">
                <a:solidFill>
                  <a:srgbClr val="5C6773"/>
                </a:solidFill>
                <a:latin typeface="Inconsolata"/>
              </a:rPr>
              <a:t>31  </a:t>
            </a:r>
            <a:r>
              <a:rPr sz="719" i="0">
                <a:solidFill>
                  <a:srgbClr val="E6EDF3"/>
                </a:solidFill>
                <a:latin typeface="Inconsolata"/>
              </a:rPr>
              <a:t>    rows = conn.execute(query, {</a:t>
            </a:r>
            <a:r>
              <a:rPr sz="719" i="0">
                <a:solidFill>
                  <a:srgbClr val="A5D6A7"/>
                </a:solidFill>
                <a:latin typeface="Inconsolata"/>
              </a:rPr>
              <a:t>"after"</a:t>
            </a:r>
            <a:r>
              <a:rPr sz="719" i="0">
                <a:solidFill>
                  <a:srgbClr val="E6EDF3"/>
                </a:solidFill>
                <a:latin typeface="Inconsolata"/>
              </a:rPr>
              <a:t>: after}).all()</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1">
                <a:solidFill>
                  <a:srgbClr val="8B98A8"/>
                </a:solidFill>
                <a:latin typeface="Inconsolata"/>
              </a:rPr>
              <a:t># cursor untuk halaman berikutnya</a:t>
            </a:r>
          </a:p>
          <a:p>
            <a:pPr>
              <a:lnSpc>
                <a:spcPct val="104277"/>
              </a:lnSpc>
              <a:spcAft>
                <a:spcPts val="0"/>
              </a:spcAft>
            </a:pPr>
            <a:r>
              <a:rPr sz="719" i="0">
                <a:solidFill>
                  <a:srgbClr val="5C6773"/>
                </a:solidFill>
                <a:latin typeface="Inconsolata"/>
              </a:rPr>
              <a:t>33  </a:t>
            </a:r>
            <a:r>
              <a:rPr sz="719" i="0">
                <a:solidFill>
                  <a:srgbClr val="E6EDF3"/>
                </a:solidFill>
                <a:latin typeface="Inconsolata"/>
              </a:rPr>
              <a:t>    next_after = rows[-</a:t>
            </a:r>
            <a:r>
              <a:rPr sz="719" i="0">
                <a:solidFill>
                  <a:srgbClr val="F9C97A"/>
                </a:solidFill>
                <a:latin typeface="Inconsolata"/>
              </a:rPr>
              <a:t>1</a:t>
            </a:r>
            <a:r>
              <a:rPr sz="719" i="0">
                <a:solidFill>
                  <a:srgbClr val="E6EDF3"/>
                </a:solidFill>
                <a:latin typeface="Inconsolata"/>
              </a:rPr>
              <a:t>].id </a:t>
            </a:r>
            <a:r>
              <a:rPr sz="719" i="0">
                <a:solidFill>
                  <a:srgbClr val="FF8E6E"/>
                </a:solidFill>
                <a:latin typeface="Inconsolata"/>
              </a:rPr>
              <a:t>if</a:t>
            </a:r>
            <a:r>
              <a:rPr sz="719" i="0">
                <a:solidFill>
                  <a:srgbClr val="E6EDF3"/>
                </a:solidFill>
                <a:latin typeface="Inconsolata"/>
              </a:rPr>
              <a:t> </a:t>
            </a:r>
            <a:r>
              <a:rPr sz="719" i="0">
                <a:solidFill>
                  <a:srgbClr val="C3A6FF"/>
                </a:solidFill>
                <a:latin typeface="Inconsolata"/>
              </a:rPr>
              <a:t>len</a:t>
            </a:r>
            <a:r>
              <a:rPr sz="719" i="0">
                <a:solidFill>
                  <a:srgbClr val="E6EDF3"/>
                </a:solidFill>
                <a:latin typeface="Inconsolata"/>
              </a:rPr>
              <a:t>(rows) == </a:t>
            </a:r>
            <a:r>
              <a:rPr sz="719" i="0">
                <a:solidFill>
                  <a:srgbClr val="F9C97A"/>
                </a:solidFill>
                <a:latin typeface="Inconsolata"/>
              </a:rPr>
              <a:t>20</a:t>
            </a:r>
            <a:r>
              <a:rPr sz="719" i="0">
                <a:solidFill>
                  <a:srgbClr val="E6EDF3"/>
                </a:solidFill>
                <a:latin typeface="Inconsolata"/>
              </a:rPr>
              <a:t> </a:t>
            </a:r>
            <a:r>
              <a:rPr sz="719" i="0">
                <a:solidFill>
                  <a:srgbClr val="FF8E6E"/>
                </a:solidFill>
                <a:latin typeface="Inconsolata"/>
              </a:rPr>
              <a:t>else</a:t>
            </a:r>
            <a:r>
              <a:rPr sz="719" i="0">
                <a:solidFill>
                  <a:srgbClr val="E6EDF3"/>
                </a:solidFill>
                <a:latin typeface="Inconsolata"/>
              </a:rPr>
              <a:t> </a:t>
            </a:r>
            <a:r>
              <a:rPr sz="719" i="0">
                <a:solidFill>
                  <a:srgbClr val="FF8E6E"/>
                </a:solidFill>
                <a:latin typeface="Inconsolata"/>
              </a:rPr>
              <a:t>None</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rows, next_after</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04-pagination/after.py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37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timed</a:t>
            </a:r>
            <a:r>
              <a:rPr sz="719" i="0">
                <a:solidFill>
                  <a:srgbClr val="E6EDF3"/>
                </a:solidFill>
                <a:latin typeface="Inconsolata"/>
              </a:rPr>
              <a:t>(fn, *args):</a:t>
            </a:r>
          </a:p>
          <a:p>
            <a:pPr>
              <a:lnSpc>
                <a:spcPct val="104277"/>
              </a:lnSpc>
              <a:spcAft>
                <a:spcPts val="0"/>
              </a:spcAft>
            </a:pPr>
            <a:r>
              <a:rPr sz="719" i="0">
                <a:solidFill>
                  <a:srgbClr val="5C6773"/>
                </a:solidFill>
                <a:latin typeface="Inconsolata"/>
              </a:rPr>
              <a:t>38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39  </a:t>
            </a:r>
            <a:r>
              <a:rPr sz="719" i="0">
                <a:solidFill>
                  <a:srgbClr val="E6EDF3"/>
                </a:solidFill>
                <a:latin typeface="Inconsolata"/>
              </a:rPr>
              <a:t>    result = fn(*args)</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(time.perf_counter() - start) * </a:t>
            </a:r>
            <a:r>
              <a:rPr sz="719" i="0">
                <a:solidFill>
                  <a:srgbClr val="F9C97A"/>
                </a:solidFill>
                <a:latin typeface="Inconsolata"/>
              </a:rPr>
              <a:t>1000</a:t>
            </a:r>
            <a:r>
              <a:rPr sz="719" i="0">
                <a:solidFill>
                  <a:srgbClr val="E6EDF3"/>
                </a:solidFill>
                <a:latin typeface="Inconsolata"/>
              </a:rPr>
              <a:t>, result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p>
          <a:p>
            <a:pPr>
              <a:lnSpc>
                <a:spcPct val="104277"/>
              </a:lnSpc>
              <a:spcAft>
                <a:spcPts val="0"/>
              </a:spcAft>
            </a:pPr>
            <a:r>
              <a:rPr sz="719" i="0">
                <a:solidFill>
                  <a:srgbClr val="5C6773"/>
                </a:solidFill>
                <a:latin typeface="Inconsolata"/>
              </a:rPr>
              <a:t>43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44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engine.connect()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45  </a:t>
            </a:r>
            <a:r>
              <a:rPr sz="719" i="0">
                <a:solidFill>
                  <a:srgbClr val="E6EDF3"/>
                </a:solidFill>
                <a:latin typeface="Inconsolata"/>
              </a:rPr>
              <a:t>        list_orders(conn)                       </a:t>
            </a:r>
            <a:r>
              <a:rPr sz="719" i="1">
                <a:solidFill>
                  <a:srgbClr val="8B98A8"/>
                </a:solidFill>
                <a:latin typeface="Inconsolata"/>
              </a:rPr>
              <a:t># pemanasan</a:t>
            </a:r>
          </a:p>
          <a:p>
            <a:pPr>
              <a:lnSpc>
                <a:spcPct val="104277"/>
              </a:lnSpc>
              <a:spcAft>
                <a:spcPts val="0"/>
              </a:spcAft>
            </a:pPr>
            <a:r>
              <a:rPr sz="719" i="0">
                <a:solidFill>
                  <a:srgbClr val="5C6773"/>
                </a:solidFill>
                <a:latin typeface="Inconsolata"/>
              </a:rPr>
              <a:t>46  </a:t>
            </a:r>
            <a:r>
              <a:rPr sz="719" i="0">
                <a:solidFill>
                  <a:srgbClr val="E6EDF3"/>
                </a:solidFill>
                <a:latin typeface="Inconsolata"/>
              </a:rPr>
              <a:t>        </a:t>
            </a:r>
            <a:r>
              <a:rPr sz="719" i="1">
                <a:solidFill>
                  <a:srgbClr val="8B98A8"/>
                </a:solidFill>
                <a:latin typeface="Inconsolata"/>
              </a:rPr>
              <a:t># 20021 = id terakhir di halaman 8999</a:t>
            </a:r>
          </a:p>
          <a:p>
            <a:pPr>
              <a:lnSpc>
                <a:spcPct val="104277"/>
              </a:lnSpc>
              <a:spcAft>
                <a:spcPts val="0"/>
              </a:spcAft>
            </a:pPr>
            <a:r>
              <a:rPr sz="719" i="0">
                <a:solidFill>
                  <a:srgbClr val="5C6773"/>
                </a:solidFill>
                <a:latin typeface="Inconsolata"/>
              </a:rPr>
              <a:t>47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page, after </a:t>
            </a:r>
            <a:r>
              <a:rPr sz="719" i="0">
                <a:solidFill>
                  <a:srgbClr val="FF8E6E"/>
                </a:solidFill>
                <a:latin typeface="Inconsolata"/>
              </a:rPr>
              <a:t>in</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FF8E6E"/>
                </a:solidFill>
                <a:latin typeface="Inconsolata"/>
              </a:rPr>
              <a:t>None</a:t>
            </a:r>
            <a:r>
              <a:rPr sz="719" i="0">
                <a:solidFill>
                  <a:srgbClr val="E6EDF3"/>
                </a:solidFill>
                <a:latin typeface="Inconsolata"/>
              </a:rPr>
              <a:t>), (</a:t>
            </a:r>
            <a:r>
              <a:rPr sz="719" i="0">
                <a:solidFill>
                  <a:srgbClr val="F9C97A"/>
                </a:solidFill>
                <a:latin typeface="Inconsolata"/>
              </a:rPr>
              <a:t>9000</a:t>
            </a:r>
            <a:r>
              <a:rPr sz="719" i="0">
                <a:solidFill>
                  <a:srgbClr val="E6EDF3"/>
                </a:solidFill>
                <a:latin typeface="Inconsolata"/>
              </a:rPr>
              <a:t>, </a:t>
            </a:r>
            <a:r>
              <a:rPr sz="719" i="0">
                <a:solidFill>
                  <a:srgbClr val="F9C97A"/>
                </a:solidFill>
                <a:latin typeface="Inconsolata"/>
              </a:rPr>
              <a:t>20021</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ms, (rows, next_after) = timed(list_orders, conn, after)</a:t>
            </a:r>
          </a:p>
          <a:p>
            <a:pPr>
              <a:lnSpc>
                <a:spcPct val="104277"/>
              </a:lnSpc>
              <a:spcAft>
                <a:spcPts val="0"/>
              </a:spcAft>
            </a:pPr>
            <a:r>
              <a:rPr sz="719" i="0">
                <a:solidFill>
                  <a:srgbClr val="5C6773"/>
                </a:solidFill>
                <a:latin typeface="Inconsolata"/>
              </a:rPr>
              <a:t>49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f"Halaman {page:&gt;4}: {ms:5.1f} ms, "</a:t>
            </a:r>
          </a:p>
          <a:p>
            <a:pPr>
              <a:lnSpc>
                <a:spcPct val="104277"/>
              </a:lnSpc>
              <a:spcAft>
                <a:spcPts val="0"/>
              </a:spcAft>
            </a:pPr>
            <a:r>
              <a:rPr sz="719" i="0">
                <a:solidFill>
                  <a:srgbClr val="5C6773"/>
                </a:solidFill>
                <a:latin typeface="Inconsolata"/>
              </a:rPr>
              <a:t>50  </a:t>
            </a:r>
            <a:r>
              <a:rPr sz="719" i="0">
                <a:solidFill>
                  <a:srgbClr val="E6EDF3"/>
                </a:solidFill>
                <a:latin typeface="Inconsolata"/>
              </a:rPr>
              <a:t>                  </a:t>
            </a:r>
            <a:r>
              <a:rPr sz="719" i="0">
                <a:solidFill>
                  <a:srgbClr val="A5D6A7"/>
                </a:solidFill>
                <a:latin typeface="Inconsolata"/>
              </a:rPr>
              <a:t>f"id {rows[0].id}..{rows[-1].id}, "</a:t>
            </a:r>
          </a:p>
          <a:p>
            <a:pPr>
              <a:lnSpc>
                <a:spcPct val="104277"/>
              </a:lnSpc>
              <a:spcAft>
                <a:spcPts val="0"/>
              </a:spcAft>
            </a:pPr>
            <a:r>
              <a:rPr sz="719" i="0">
                <a:solidFill>
                  <a:srgbClr val="5C6773"/>
                </a:solidFill>
                <a:latin typeface="Inconsolata"/>
              </a:rPr>
              <a:t>51  </a:t>
            </a:r>
            <a:r>
              <a:rPr sz="719" i="0">
                <a:solidFill>
                  <a:srgbClr val="E6EDF3"/>
                </a:solidFill>
                <a:latin typeface="Inconsolata"/>
              </a:rPr>
              <a:t>                  </a:t>
            </a:r>
            <a:r>
              <a:rPr sz="719" i="0">
                <a:solidFill>
                  <a:srgbClr val="A5D6A7"/>
                </a:solidFill>
                <a:latin typeface="Inconsolata"/>
              </a:rPr>
              <a:t>f"next_after={next_after}"</a:t>
            </a:r>
            <a:r>
              <a:rPr sz="719" i="0">
                <a:solidFill>
                  <a:srgbClr val="E6EDF3"/>
                </a:solidFill>
                <a:latin typeface="Inconsolata"/>
              </a:rPr>
              <a:t>)</a:t>
            </a:r>
          </a:p>
        </p:txBody>
      </p:sp>
      <p:sp>
        <p:nvSpPr>
          <p:cNvPr id="36" name="Box 21"/>
          <p:cNvSpPr/>
          <p:nvPr/>
        </p:nvSpPr>
        <p:spPr>
          <a:xfrm>
            <a:off x="704088" y="30826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074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9970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9319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9683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903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Pagination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04-pagination/after.py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sesi-07-database-optimization/04-pagination</a:t>
            </a:r>
          </a:p>
          <a:p>
            <a:pPr>
              <a:lnSpc>
                <a:spcPct val="111111"/>
              </a:lnSpc>
              <a:spcAft>
                <a:spcPts val="0"/>
              </a:spcAft>
            </a:pPr>
            <a:r>
              <a:rPr sz="900" i="0">
                <a:solidFill>
                  <a:srgbClr val="82B1FF"/>
                </a:solidFill>
                <a:latin typeface="Inconsolata"/>
              </a:rPr>
              <a:t>$ python after.py</a:t>
            </a:r>
          </a:p>
        </p:txBody>
      </p:sp>
      <p:pic>
        <p:nvPicPr>
          <p:cNvPr id="29" name="Image 12" descr="s07-04-pagination-after.png"/>
          <p:cNvPicPr>
            <a:picLocks noChangeAspect="1"/>
          </p:cNvPicPr>
          <p:nvPr/>
        </p:nvPicPr>
        <p:blipFill>
          <a:blip r:embed="rId2"/>
          <a:stretch>
            <a:fillRect/>
          </a:stretch>
        </p:blipFill>
        <p:spPr>
          <a:xfrm>
            <a:off x="621792" y="2322576"/>
            <a:ext cx="4297680" cy="852373"/>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Halaman berikutnya dimulai setelah id terakhir (baris 25-26)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Response menyertakan cursor </a:t>
            </a:r>
            <a:r>
              <a:rPr sz="950" b="0" i="0">
                <a:solidFill>
                  <a:srgbClr val="B5482A"/>
                </a:solidFill>
                <a:latin typeface="Inconsolata"/>
              </a:rPr>
              <a:t>next_after</a:t>
            </a:r>
            <a:r>
              <a:rPr sz="950" b="0" i="0">
                <a:solidFill>
                  <a:srgbClr val="434343"/>
                </a:solidFill>
                <a:latin typeface="Inter"/>
              </a:rPr>
              <a:t> (baris 33)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Halaman 9000 diminta dengan </a:t>
            </a:r>
            <a:r>
              <a:rPr sz="950" b="0" i="0">
                <a:solidFill>
                  <a:srgbClr val="B5482A"/>
                </a:solidFill>
                <a:latin typeface="Inconsolata"/>
              </a:rPr>
              <a:t>after=20021</a:t>
            </a:r>
            <a:r>
              <a:rPr sz="950" b="0" i="0">
                <a:solidFill>
                  <a:srgbClr val="434343"/>
                </a:solidFill>
                <a:latin typeface="Inter"/>
              </a:rPr>
              <a:t> (baris 47)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Halaman 9000 tetap sekitar 1 ms.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Connection Pool?</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Connection pool adalah</a:t>
            </a:r>
          </a:p>
          <a:p>
            <a:pPr algn="l">
              <a:lnSpc>
                <a:spcPct val="115000"/>
              </a:lnSpc>
              <a:spcAft>
                <a:spcPts val="400"/>
              </a:spcAft>
            </a:pPr>
            <a:r>
              <a:rPr sz="900" b="0" i="0">
                <a:solidFill>
                  <a:srgbClr val="434343"/>
                </a:solidFill>
                <a:latin typeface="Inter"/>
              </a:rPr>
              <a:t>Kumpulan koneksi database yang sudah terbuka dan </a:t>
            </a:r>
            <a:r>
              <a:rPr sz="900" b="1" i="0">
                <a:solidFill>
                  <a:srgbClr val="434343"/>
                </a:solidFill>
                <a:latin typeface="Inter"/>
              </a:rPr>
              <a:t>dipakai ulang</a:t>
            </a:r>
            <a:r>
              <a:rPr sz="900" b="0" i="0">
                <a:solidFill>
                  <a:srgbClr val="434343"/>
                </a:solidFill>
                <a:latin typeface="Inter"/>
              </a:rPr>
              <a:t>. Request meminjam koneksi dari pool, lalu mengembalikannya setelah selesai. Di SQLAlchemy, pool sudah aktif secara default di </a:t>
            </a:r>
            <a:r>
              <a:rPr sz="900" b="0" i="0">
                <a:solidFill>
                  <a:srgbClr val="B5482A"/>
                </a:solidFill>
                <a:latin typeface="Inconsolata"/>
              </a:rPr>
              <a:t>create_engine()</a:t>
            </a:r>
            <a:r>
              <a:rPr sz="900" b="0" i="0">
                <a:solidFill>
                  <a:srgbClr val="434343"/>
                </a:solidFill>
                <a:latin typeface="Inter"/>
              </a:rPr>
              <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Menghindari biaya membuka koneksi baru di setiap request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Membatasi jumlah koneksi ke database</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Mendeteksi koneksi yang sudah mati sebelum dipakai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pool: 05-connection-pool/before.py</a:t>
            </a:r>
          </a:p>
        </p:txBody>
      </p:sp>
      <p:sp>
        <p:nvSpPr>
          <p:cNvPr id="28" name="CodeBg 11"/>
          <p:cNvSpPr/>
          <p:nvPr/>
        </p:nvSpPr>
        <p:spPr>
          <a:xfrm>
            <a:off x="4297680" y="1719072"/>
            <a:ext cx="4187951" cy="978408"/>
          </a:xfrm>
          <a:prstGeom prst="roundRect">
            <a:avLst>
              <a:gd name="adj" fmla="val 18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978408"/>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engine = create_engine(</a:t>
            </a:r>
            <a:r>
              <a:rPr sz="850" i="0">
                <a:solidFill>
                  <a:srgbClr val="7FDBCA"/>
                </a:solidFill>
                <a:latin typeface="Inconsolata"/>
              </a:rPr>
              <a:t>DB_URL</a:t>
            </a:r>
            <a:r>
              <a:rPr sz="850" i="0">
                <a:solidFill>
                  <a:srgbClr val="E6EDF3"/>
                </a:solidFill>
                <a:latin typeface="Inconsolata"/>
              </a:rPr>
              <a:t>, poolclass=</a:t>
            </a:r>
            <a:r>
              <a:rPr sz="850" i="0">
                <a:solidFill>
                  <a:srgbClr val="7FDBCA"/>
                </a:solidFill>
                <a:latin typeface="Inconsolata"/>
              </a:rPr>
              <a:t>NullPool</a:t>
            </a:r>
            <a:r>
              <a:rPr sz="850" i="0">
                <a:solidFill>
                  <a:srgbClr val="E6EDF3"/>
                </a:solidFill>
                <a:latin typeface="Inconsolata"/>
              </a:rPr>
              <a:t>)</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with</a:t>
            </a:r>
            <a:r>
              <a:rPr sz="850" i="0">
                <a:solidFill>
                  <a:srgbClr val="E6EDF3"/>
                </a:solidFill>
                <a:latin typeface="Inconsolata"/>
              </a:rPr>
              <a:t> engine.connect() </a:t>
            </a:r>
            <a:r>
              <a:rPr sz="850" i="0">
                <a:solidFill>
                  <a:srgbClr val="FF8E6E"/>
                </a:solidFill>
                <a:latin typeface="Inconsolata"/>
              </a:rPr>
              <a:t>as</a:t>
            </a:r>
            <a:r>
              <a:rPr sz="850" i="0">
                <a:solidFill>
                  <a:srgbClr val="E6EDF3"/>
                </a:solidFill>
                <a:latin typeface="Inconsolata"/>
              </a:rPr>
              <a:t> conn:          </a:t>
            </a:r>
            <a:r>
              <a:rPr sz="850" i="1">
                <a:solidFill>
                  <a:srgbClr val="8B98A8"/>
                </a:solidFill>
                <a:latin typeface="Inconsolata"/>
              </a:rPr>
              <a:t># buka koneksi baru</a:t>
            </a:r>
          </a:p>
        </p:txBody>
      </p:sp>
      <p:sp>
        <p:nvSpPr>
          <p:cNvPr id="30" name="Box 13"/>
          <p:cNvSpPr/>
          <p:nvPr/>
        </p:nvSpPr>
        <p:spPr>
          <a:xfrm>
            <a:off x="4379976" y="18286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7889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8666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8666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8666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79806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pool: 05-connection-pool/after.py</a:t>
            </a:r>
          </a:p>
        </p:txBody>
      </p:sp>
      <p:sp>
        <p:nvSpPr>
          <p:cNvPr id="36" name="CodeBg 21"/>
          <p:cNvSpPr/>
          <p:nvPr/>
        </p:nvSpPr>
        <p:spPr>
          <a:xfrm>
            <a:off x="4297680" y="3026664"/>
            <a:ext cx="4187951" cy="1673351"/>
          </a:xfrm>
          <a:prstGeom prst="roundRect">
            <a:avLst>
              <a:gd name="adj" fmla="val 10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026664"/>
            <a:ext cx="4187951" cy="1673351"/>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engine = create_engine(</a:t>
            </a:r>
            <a:r>
              <a:rPr sz="850" i="0">
                <a:solidFill>
                  <a:srgbClr val="7FDBCA"/>
                </a:solidFill>
                <a:latin typeface="Inconsolata"/>
              </a:rPr>
              <a:t>DB_URL</a:t>
            </a:r>
            <a:r>
              <a:rPr sz="850" i="0">
                <a:solidFill>
                  <a:srgbClr val="E6EDF3"/>
                </a:solidFill>
                <a:latin typeface="Inconsolata"/>
              </a:rPr>
              <a:t>,</a:t>
            </a:r>
          </a:p>
          <a:p>
            <a:pPr>
              <a:lnSpc>
                <a:spcPct val="107843"/>
              </a:lnSpc>
              <a:spcAft>
                <a:spcPts val="0"/>
              </a:spcAft>
            </a:pPr>
            <a:r>
              <a:rPr sz="850" i="0">
                <a:solidFill>
                  <a:srgbClr val="E6EDF3"/>
                </a:solidFill>
                <a:latin typeface="Inconsolata"/>
              </a:rPr>
              <a:t>                       pool_size=</a:t>
            </a:r>
            <a:r>
              <a:rPr sz="850" i="0">
                <a:solidFill>
                  <a:srgbClr val="F9C97A"/>
                </a:solidFill>
                <a:latin typeface="Inconsolata"/>
              </a:rPr>
              <a:t>10</a:t>
            </a:r>
            <a:r>
              <a:rPr sz="850" i="0">
                <a:solidFill>
                  <a:srgbClr val="E6EDF3"/>
                </a:solidFill>
                <a:latin typeface="Inconsolata"/>
              </a:rPr>
              <a:t>, max_overflow=</a:t>
            </a:r>
            <a:r>
              <a:rPr sz="850" i="0">
                <a:solidFill>
                  <a:srgbClr val="F9C97A"/>
                </a:solidFill>
                <a:latin typeface="Inconsolata"/>
              </a:rPr>
              <a:t>5</a:t>
            </a:r>
            <a:r>
              <a:rPr sz="850" i="0">
                <a:solidFill>
                  <a:srgbClr val="E6EDF3"/>
                </a:solidFill>
                <a:latin typeface="Inconsolata"/>
              </a:rPr>
              <a:t>,</a:t>
            </a:r>
          </a:p>
          <a:p>
            <a:pPr>
              <a:lnSpc>
                <a:spcPct val="107843"/>
              </a:lnSpc>
              <a:spcAft>
                <a:spcPts val="0"/>
              </a:spcAft>
            </a:pPr>
            <a:r>
              <a:rPr sz="850" i="0">
                <a:solidFill>
                  <a:srgbClr val="E6EDF3"/>
                </a:solidFill>
                <a:latin typeface="Inconsolata"/>
              </a:rPr>
              <a:t>                       pool_timeout=</a:t>
            </a:r>
            <a:r>
              <a:rPr sz="850" i="0">
                <a:solidFill>
                  <a:srgbClr val="F9C97A"/>
                </a:solidFill>
                <a:latin typeface="Inconsolata"/>
              </a:rPr>
              <a:t>30</a:t>
            </a:r>
            <a:r>
              <a:rPr sz="850" i="0">
                <a:solidFill>
                  <a:srgbClr val="E6EDF3"/>
                </a:solidFill>
                <a:latin typeface="Inconsolata"/>
              </a:rPr>
              <a:t>,</a:t>
            </a:r>
          </a:p>
          <a:p>
            <a:pPr>
              <a:lnSpc>
                <a:spcPct val="107843"/>
              </a:lnSpc>
              <a:spcAft>
                <a:spcPts val="0"/>
              </a:spcAft>
            </a:pPr>
            <a:r>
              <a:rPr sz="850" i="0">
                <a:solidFill>
                  <a:srgbClr val="E6EDF3"/>
                </a:solidFill>
                <a:latin typeface="Inconsolata"/>
              </a:rPr>
              <a:t>                       pool_pre_ping=</a:t>
            </a:r>
            <a:r>
              <a:rPr sz="850" i="0">
                <a:solidFill>
                  <a:srgbClr val="FF8E6E"/>
                </a:solidFill>
                <a:latin typeface="Inconsolata"/>
              </a:rPr>
              <a:t>True</a:t>
            </a:r>
            <a:r>
              <a:rPr sz="850" i="0">
                <a:solidFill>
                  <a:srgbClr val="E6EDF3"/>
                </a:solidFill>
                <a:latin typeface="Inconsolata"/>
              </a:rPr>
              <a:t>,</a:t>
            </a:r>
          </a:p>
          <a:p>
            <a:pPr>
              <a:lnSpc>
                <a:spcPct val="107843"/>
              </a:lnSpc>
              <a:spcAft>
                <a:spcPts val="0"/>
              </a:spcAft>
            </a:pPr>
            <a:r>
              <a:rPr sz="850" i="0">
                <a:solidFill>
                  <a:srgbClr val="E6EDF3"/>
                </a:solidFill>
                <a:latin typeface="Inconsolata"/>
              </a:rPr>
              <a:t>                       pool_recycle=</a:t>
            </a:r>
            <a:r>
              <a:rPr sz="850" i="0">
                <a:solidFill>
                  <a:srgbClr val="F9C97A"/>
                </a:solidFill>
                <a:latin typeface="Inconsolata"/>
              </a:rPr>
              <a:t>1800</a:t>
            </a:r>
            <a:r>
              <a:rPr sz="850" i="0">
                <a:solidFill>
                  <a:srgbClr val="E6EDF3"/>
                </a:solidFill>
                <a:latin typeface="Inconsolata"/>
              </a:rPr>
              <a:t>)</a:t>
            </a:r>
          </a:p>
        </p:txBody>
      </p:sp>
      <p:sp>
        <p:nvSpPr>
          <p:cNvPr id="38" name="Box 23"/>
          <p:cNvSpPr/>
          <p:nvPr/>
        </p:nvSpPr>
        <p:spPr>
          <a:xfrm>
            <a:off x="4379976" y="3275965"/>
            <a:ext cx="4023359" cy="550418"/>
          </a:xfrm>
          <a:prstGeom prst="roundRect">
            <a:avLst>
              <a:gd name="adj" fmla="val 8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mengatur Connection Pool?</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pool</a:t>
            </a:r>
          </a:p>
          <a:p>
            <a:pPr algn="l">
              <a:lnSpc>
                <a:spcPct val="115000"/>
              </a:lnSpc>
              <a:spcAft>
                <a:spcPts val="400"/>
              </a:spcAft>
            </a:pPr>
            <a:r>
              <a:rPr sz="950" b="0" i="0">
                <a:solidFill>
                  <a:srgbClr val="434343"/>
                </a:solidFill>
                <a:latin typeface="Inter"/>
              </a:rPr>
              <a:t>Setiap request membuka koneksi baru ke PostgreSQL lalu menutupnya. Membuka koneksi butuh TCP handshake, autentikasi, dan proses baru di PostgreSQL.</a:t>
            </a:r>
          </a:p>
          <a:p>
            <a:pPr algn="l">
              <a:lnSpc>
                <a:spcPct val="115000"/>
              </a:lnSpc>
              <a:spcAft>
                <a:spcPts val="400"/>
              </a:spcAft>
            </a:pPr>
            <a:r>
              <a:rPr sz="1050" b="1" i="0">
                <a:solidFill>
                  <a:srgbClr val="1C4587"/>
                </a:solidFill>
                <a:latin typeface="Inter"/>
              </a:rPr>
              <a:t>Jika trafficnya makin tinggi</a:t>
            </a:r>
          </a:p>
          <a:p>
            <a:pPr algn="l">
              <a:lnSpc>
                <a:spcPct val="115000"/>
              </a:lnSpc>
              <a:spcAft>
                <a:spcPts val="400"/>
              </a:spcAft>
            </a:pPr>
            <a:r>
              <a:rPr sz="950" b="0" i="0">
                <a:solidFill>
                  <a:srgbClr val="434343"/>
                </a:solidFill>
                <a:latin typeface="Inter"/>
              </a:rPr>
              <a:t>Waktu habis untuk membuka koneksi, dan jumlah koneksi bisa melewati </a:t>
            </a:r>
            <a:r>
              <a:rPr sz="950" b="0" i="0">
                <a:solidFill>
                  <a:srgbClr val="B5482A"/>
                </a:solidFill>
                <a:latin typeface="Inconsolata"/>
              </a:rPr>
              <a:t>max_connections</a:t>
            </a:r>
            <a:r>
              <a:rPr sz="950" b="0" i="0">
                <a:solidFill>
                  <a:srgbClr val="434343"/>
                </a:solidFill>
                <a:latin typeface="Inter"/>
              </a:rPr>
              <a:t> PostgreSQL (default 100).</a:t>
            </a:r>
          </a:p>
          <a:p>
            <a:pPr algn="l">
              <a:lnSpc>
                <a:spcPct val="115000"/>
              </a:lnSpc>
              <a:spcAft>
                <a:spcPts val="400"/>
              </a:spcAft>
            </a:pPr>
            <a:r>
              <a:rPr sz="950" b="0" i="0">
                <a:solidFill>
                  <a:srgbClr val="434343"/>
                </a:solidFill>
                <a:latin typeface="Inter"/>
              </a:rPr>
              <a:t>Hal ini membuat request mulai ditolak database.</a:t>
            </a:r>
          </a:p>
          <a:p>
            <a:pPr algn="l">
              <a:lnSpc>
                <a:spcPct val="115000"/>
              </a:lnSpc>
              <a:spcAft>
                <a:spcPts val="400"/>
              </a:spcAft>
            </a:pPr>
            <a:r>
              <a:rPr sz="1050" b="1" i="0">
                <a:solidFill>
                  <a:srgbClr val="1C4587"/>
                </a:solidFill>
                <a:latin typeface="Inter"/>
              </a:rPr>
              <a:t>Yang dipakai dari SQLAlchemy: parameter create_engine</a:t>
            </a:r>
          </a:p>
          <a:p>
            <a:pPr algn="l">
              <a:lnSpc>
                <a:spcPct val="115000"/>
              </a:lnSpc>
              <a:spcAft>
                <a:spcPts val="400"/>
              </a:spcAft>
            </a:pPr>
            <a:r>
              <a:rPr sz="950" b="0" i="0">
                <a:solidFill>
                  <a:srgbClr val="434343"/>
                </a:solidFill>
                <a:latin typeface="Inter"/>
              </a:rPr>
              <a:t>Total koneksi ke database = (pool_size + max_overflow) x jumlah proses aplikasi. Pastikan masih di bawah </a:t>
            </a:r>
            <a:r>
              <a:rPr sz="950" b="0" i="0">
                <a:solidFill>
                  <a:srgbClr val="B5482A"/>
                </a:solidFill>
                <a:latin typeface="Inconsolata"/>
              </a:rPr>
              <a:t>max_connections</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2304288"/>
        </p:xfrm>
        <a:graphic>
          <a:graphicData uri="http://schemas.openxmlformats.org/drawingml/2006/table">
            <a:tbl>
              <a:tblPr firstRow="1" bandRow="1"/>
              <a:tblGrid>
                <a:gridCol w="1581912">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850" b="1" i="0">
                          <a:solidFill>
                            <a:srgbClr val="1C4587"/>
                          </a:solidFill>
                          <a:latin typeface="Inter"/>
                        </a:rPr>
                        <a:t>pool_size=10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Koneksi yang disimpan di pool</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850" b="1" i="0">
                          <a:solidFill>
                            <a:srgbClr val="1C4587"/>
                          </a:solidFill>
                          <a:latin typeface="Inter"/>
                        </a:rPr>
                        <a:t>max_overflow=5</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Koneksi tambahan saat sibuk</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850" b="1" i="0">
                          <a:solidFill>
                            <a:srgbClr val="1C4587"/>
                          </a:solidFill>
                          <a:latin typeface="Inter"/>
                        </a:rPr>
                        <a:t>pool_timeout=30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Detik menunggu koneksi kosong</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850" b="1" i="0">
                          <a:solidFill>
                            <a:srgbClr val="1C4587"/>
                          </a:solidFill>
                          <a:latin typeface="Inter"/>
                        </a:rPr>
                        <a:t>pool_pre_ping=True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Cek koneksi masih hidup sebelum dipakai</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850" b="1" i="0">
                          <a:solidFill>
                            <a:srgbClr val="1C4587"/>
                          </a:solidFill>
                          <a:latin typeface="Inter"/>
                        </a:rPr>
                        <a:t>pool_recycle=1800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Ganti koneksi yang sudah 30 menit terbuka</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koneksi baru setiap request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05-connection-pool/before.py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concurrent.futures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ThreadPoolExecutor</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event, text</a:t>
            </a:r>
          </a:p>
          <a:p>
            <a:pPr>
              <a:lnSpc>
                <a:spcPct val="104277"/>
              </a:lnSpc>
              <a:spcAft>
                <a:spcPts val="0"/>
              </a:spcAft>
            </a:pPr>
            <a:r>
              <a:rPr sz="719" i="0">
                <a:solidFill>
                  <a:srgbClr val="5C6773"/>
                </a:solidFill>
                <a:latin typeface="Inconsolata"/>
              </a:rPr>
              <a:t>15  </a:t>
            </a:r>
            <a:r>
              <a:rPr sz="719" i="0">
                <a:solidFill>
                  <a:srgbClr val="FF8E6E"/>
                </a:solidFill>
                <a:latin typeface="Inconsolata"/>
              </a:rPr>
              <a:t>from</a:t>
            </a:r>
            <a:r>
              <a:rPr sz="719" i="0">
                <a:solidFill>
                  <a:srgbClr val="E6EDF3"/>
                </a:solidFill>
                <a:latin typeface="Inconsolata"/>
              </a:rPr>
              <a:t> sqlalchemy.pool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NullPool</a:t>
            </a:r>
          </a:p>
          <a:p>
            <a:pPr>
              <a:lnSpc>
                <a:spcPct val="104277"/>
              </a:lnSpc>
              <a:spcAft>
                <a:spcPts val="0"/>
              </a:spcAft>
            </a:pPr>
            <a:r>
              <a:rPr sz="719" i="0">
                <a:solidFill>
                  <a:srgbClr val="5C6773"/>
                </a:solidFill>
                <a:latin typeface="Inconsolata"/>
              </a:rPr>
              <a:t>16  </a:t>
            </a:r>
            <a:r>
              <a:rPr sz="719" i="0">
                <a:solidFill>
                  <a:srgbClr val="E6EDF3"/>
                </a:solidFill>
                <a:latin typeface="Inconsolata"/>
              </a:rPr>
              <a:t> </a:t>
            </a:r>
          </a:p>
          <a:p>
            <a:pPr>
              <a:lnSpc>
                <a:spcPct val="104277"/>
              </a:lnSpc>
              <a:spcAft>
                <a:spcPts val="0"/>
              </a:spcAft>
            </a:pPr>
            <a:r>
              <a:rPr sz="719" i="0">
                <a:solidFill>
                  <a:srgbClr val="5C6773"/>
                </a:solidFill>
                <a:latin typeface="Inconsolata"/>
              </a:rPr>
              <a:t>17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 poolclass=</a:t>
            </a:r>
            <a:r>
              <a:rPr sz="719" i="0">
                <a:solidFill>
                  <a:srgbClr val="7FDBCA"/>
                </a:solidFill>
                <a:latin typeface="Inconsolata"/>
              </a:rPr>
              <a:t>NullPool</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connections_opened = </a:t>
            </a:r>
            <a:r>
              <a:rPr sz="719" i="0">
                <a:solidFill>
                  <a:srgbClr val="F9C97A"/>
                </a:solidFill>
                <a:latin typeface="Inconsolata"/>
              </a:rPr>
              <a:t>0</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p>
          <a:p>
            <a:pPr>
              <a:lnSpc>
                <a:spcPct val="104277"/>
              </a:lnSpc>
              <a:spcAft>
                <a:spcPts val="0"/>
              </a:spcAft>
            </a:pPr>
            <a:r>
              <a:rPr sz="719" i="0">
                <a:solidFill>
                  <a:srgbClr val="5C6773"/>
                </a:solidFill>
                <a:latin typeface="Inconsolata"/>
              </a:rPr>
              <a:t>22  </a:t>
            </a:r>
            <a:r>
              <a:rPr sz="719" i="0">
                <a:solidFill>
                  <a:srgbClr val="7FDBCA"/>
                </a:solidFill>
                <a:latin typeface="Inconsolata"/>
              </a:rPr>
              <a:t>GET_ORDER</a:t>
            </a:r>
            <a:r>
              <a:rPr sz="719" i="0">
                <a:solidFill>
                  <a:srgbClr val="E6EDF3"/>
                </a:solidFill>
                <a:latin typeface="Inconsolata"/>
              </a:rPr>
              <a:t> = text(</a:t>
            </a:r>
            <a:r>
              <a:rPr sz="719" i="0">
                <a:solidFill>
                  <a:srgbClr val="A5D6A7"/>
                </a:solidFill>
                <a:latin typeface="Inconsolata"/>
              </a:rPr>
              <a:t>"SELECT * FROM orders WHERE id = :id"</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05-connection-pool/before.py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25  </a:t>
            </a:r>
            <a:r>
              <a:rPr sz="719" i="0">
                <a:solidFill>
                  <a:srgbClr val="F9C97A"/>
                </a:solidFill>
                <a:latin typeface="Inconsolata"/>
              </a:rPr>
              <a:t>@event.listens_for</a:t>
            </a:r>
            <a:r>
              <a:rPr sz="719" i="0">
                <a:solidFill>
                  <a:srgbClr val="E6EDF3"/>
                </a:solidFill>
                <a:latin typeface="Inconsolata"/>
              </a:rPr>
              <a:t>(engine, </a:t>
            </a:r>
            <a:r>
              <a:rPr sz="719" i="0">
                <a:solidFill>
                  <a:srgbClr val="A5D6A7"/>
                </a:solidFill>
                <a:latin typeface="Inconsolata"/>
              </a:rPr>
              <a:t>"connect"</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count_connection</a:t>
            </a:r>
            <a:r>
              <a:rPr sz="719" i="0">
                <a:solidFill>
                  <a:srgbClr val="E6EDF3"/>
                </a:solidFill>
                <a:latin typeface="Inconsolata"/>
              </a:rPr>
              <a:t>(*args):</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r>
              <a:rPr sz="719" i="0">
                <a:solidFill>
                  <a:srgbClr val="FF8E6E"/>
                </a:solidFill>
                <a:latin typeface="Inconsolata"/>
              </a:rPr>
              <a:t>global</a:t>
            </a:r>
            <a:r>
              <a:rPr sz="719" i="0">
                <a:solidFill>
                  <a:srgbClr val="E6EDF3"/>
                </a:solidFill>
                <a:latin typeface="Inconsolata"/>
              </a:rPr>
              <a:t> connections_opened</a:t>
            </a:r>
          </a:p>
          <a:p>
            <a:pPr>
              <a:lnSpc>
                <a:spcPct val="104277"/>
              </a:lnSpc>
              <a:spcAft>
                <a:spcPts val="0"/>
              </a:spcAft>
            </a:pPr>
            <a:r>
              <a:rPr sz="719" i="0">
                <a:solidFill>
                  <a:srgbClr val="5C6773"/>
                </a:solidFill>
                <a:latin typeface="Inconsolata"/>
              </a:rPr>
              <a:t>28  </a:t>
            </a:r>
            <a:r>
              <a:rPr sz="719" i="0">
                <a:solidFill>
                  <a:srgbClr val="E6EDF3"/>
                </a:solidFill>
                <a:latin typeface="Inconsolata"/>
              </a:rPr>
              <a:t>    connections_opened += </a:t>
            </a:r>
            <a:r>
              <a:rPr sz="719" i="0">
                <a:solidFill>
                  <a:srgbClr val="F9C97A"/>
                </a:solidFill>
                <a:latin typeface="Inconsolata"/>
              </a:rPr>
              <a:t>1</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p>
          <a:p>
            <a:pPr>
              <a:lnSpc>
                <a:spcPct val="104277"/>
              </a:lnSpc>
              <a:spcAft>
                <a:spcPts val="0"/>
              </a:spcAft>
            </a:pPr>
            <a:r>
              <a:rPr sz="719" i="0">
                <a:solidFill>
                  <a:srgbClr val="5C6773"/>
                </a:solidFill>
                <a:latin typeface="Inconsolata"/>
              </a:rPr>
              <a:t>31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get_order</a:t>
            </a:r>
            <a:r>
              <a:rPr sz="719" i="0">
                <a:solidFill>
                  <a:srgbClr val="E6EDF3"/>
                </a:solidFill>
                <a:latin typeface="Inconsolata"/>
              </a:rPr>
              <a:t>(order_id: </a:t>
            </a:r>
            <a:r>
              <a:rPr sz="719" i="0">
                <a:solidFill>
                  <a:srgbClr val="C3A6FF"/>
                </a:solidFill>
                <a:latin typeface="Inconsolata"/>
              </a:rPr>
              <a:t>int</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engine.connect() </a:t>
            </a:r>
            <a:r>
              <a:rPr sz="719" i="0">
                <a:solidFill>
                  <a:srgbClr val="FF8E6E"/>
                </a:solidFill>
                <a:latin typeface="Inconsolata"/>
              </a:rPr>
              <a:t>as</a:t>
            </a:r>
            <a:r>
              <a:rPr sz="719" i="0">
                <a:solidFill>
                  <a:srgbClr val="E6EDF3"/>
                </a:solidFill>
                <a:latin typeface="Inconsolata"/>
              </a:rPr>
              <a:t> conn:          </a:t>
            </a:r>
            <a:r>
              <a:rPr sz="719" i="1">
                <a:solidFill>
                  <a:srgbClr val="8B98A8"/>
                </a:solidFill>
                <a:latin typeface="Inconsolata"/>
              </a:rPr>
              <a:t># buka koneksi baru</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conn.execute(</a:t>
            </a:r>
            <a:r>
              <a:rPr sz="719" i="0">
                <a:solidFill>
                  <a:srgbClr val="7FDBCA"/>
                </a:solidFill>
                <a:latin typeface="Inconsolata"/>
              </a:rPr>
              <a:t>GET_ORDER</a:t>
            </a:r>
            <a:r>
              <a:rPr sz="719" i="0">
                <a:solidFill>
                  <a:srgbClr val="E6EDF3"/>
                </a:solidFill>
                <a:latin typeface="Inconsolata"/>
              </a:rPr>
              <a:t>, {</a:t>
            </a:r>
            <a:r>
              <a:rPr sz="719" i="0">
                <a:solidFill>
                  <a:srgbClr val="A5D6A7"/>
                </a:solidFill>
                <a:latin typeface="Inconsolata"/>
              </a:rPr>
              <a:t>"id"</a:t>
            </a:r>
            <a:r>
              <a:rPr sz="719" i="0">
                <a:solidFill>
                  <a:srgbClr val="E6EDF3"/>
                </a:solidFill>
                <a:latin typeface="Inconsolata"/>
              </a:rPr>
              <a:t>: order_id}).one()</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37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a:t>
            </a:r>
            <a:r>
              <a:rPr sz="719" i="0">
                <a:solidFill>
                  <a:srgbClr val="7FDBCA"/>
                </a:solidFill>
                <a:latin typeface="Inconsolata"/>
              </a:rPr>
              <a:t>ThreadPoolExecutor</a:t>
            </a:r>
            <a:r>
              <a:rPr sz="719" i="0">
                <a:solidFill>
                  <a:srgbClr val="E6EDF3"/>
                </a:solidFill>
                <a:latin typeface="Inconsolata"/>
              </a:rPr>
              <a:t>(max_workers=</a:t>
            </a:r>
            <a:r>
              <a:rPr sz="719" i="0">
                <a:solidFill>
                  <a:srgbClr val="F9C97A"/>
                </a:solidFill>
                <a:latin typeface="Inconsolata"/>
              </a:rPr>
              <a:t>10</a:t>
            </a:r>
            <a:r>
              <a:rPr sz="719" i="0">
                <a:solidFill>
                  <a:srgbClr val="E6EDF3"/>
                </a:solidFill>
                <a:latin typeface="Inconsolata"/>
              </a:rPr>
              <a:t>) </a:t>
            </a:r>
            <a:r>
              <a:rPr sz="719" i="0">
                <a:solidFill>
                  <a:srgbClr val="FF8E6E"/>
                </a:solidFill>
                <a:latin typeface="Inconsolata"/>
              </a:rPr>
              <a:t>as</a:t>
            </a:r>
            <a:r>
              <a:rPr sz="719" i="0">
                <a:solidFill>
                  <a:srgbClr val="E6EDF3"/>
                </a:solidFill>
                <a:latin typeface="Inconsolata"/>
              </a:rPr>
              <a:t> pool:  </a:t>
            </a:r>
            <a:r>
              <a:rPr sz="719" i="1">
                <a:solidFill>
                  <a:srgbClr val="8B98A8"/>
                </a:solidFill>
                <a:latin typeface="Inconsolata"/>
              </a:rPr>
              <a:t># 10 bersamaan</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C3A6FF"/>
                </a:solidFill>
                <a:latin typeface="Inconsolata"/>
              </a:rPr>
              <a:t>list</a:t>
            </a:r>
            <a:r>
              <a:rPr sz="719" i="0">
                <a:solidFill>
                  <a:srgbClr val="E6EDF3"/>
                </a:solidFill>
                <a:latin typeface="Inconsolata"/>
              </a:rPr>
              <a:t>(pool.map(get_order, </a:t>
            </a:r>
            <a:r>
              <a:rPr sz="719" i="0">
                <a:solidFill>
                  <a:srgbClr val="C3A6FF"/>
                </a:solidFill>
                <a:latin typeface="Inconsolata"/>
              </a:rPr>
              <a:t>range</a:t>
            </a:r>
            <a:r>
              <a:rPr sz="719" i="0">
                <a:solidFill>
                  <a:srgbClr val="E6EDF3"/>
                </a:solidFill>
                <a:latin typeface="Inconsolata"/>
              </a:rPr>
              <a:t>(</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501</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ms = (time.perf_counter() - start) * </a:t>
            </a:r>
            <a:r>
              <a:rPr sz="719" i="0">
                <a:solidFill>
                  <a:srgbClr val="F9C97A"/>
                </a:solidFill>
                <a:latin typeface="Inconsolata"/>
              </a:rPr>
              <a:t>1000</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f"500 request: {ms:.0f} ms, "</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r>
              <a:rPr sz="719" i="0">
                <a:solidFill>
                  <a:srgbClr val="A5D6A7"/>
                </a:solidFill>
                <a:latin typeface="Inconsolata"/>
              </a:rPr>
              <a:t>f"koneksi dibuka: {connections_opened}"</a:t>
            </a:r>
            <a:r>
              <a:rPr sz="719" i="0">
                <a:solidFill>
                  <a:srgbClr val="E6EDF3"/>
                </a:solidFill>
                <a:latin typeface="Inconsolata"/>
              </a:rPr>
              <a:t>)</a:t>
            </a:r>
          </a:p>
        </p:txBody>
      </p:sp>
      <p:sp>
        <p:nvSpPr>
          <p:cNvPr id="36" name="Box 21"/>
          <p:cNvSpPr/>
          <p:nvPr/>
        </p:nvSpPr>
        <p:spPr>
          <a:xfrm>
            <a:off x="704088" y="28540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788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31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3112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3032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05-connection-pool/before.py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sesi-07-database-optimization/05-connection-pool</a:t>
            </a:r>
          </a:p>
          <a:p>
            <a:pPr>
              <a:lnSpc>
                <a:spcPct val="111111"/>
              </a:lnSpc>
              <a:spcAft>
                <a:spcPts val="0"/>
              </a:spcAft>
            </a:pPr>
            <a:r>
              <a:rPr sz="900" i="0">
                <a:solidFill>
                  <a:srgbClr val="82B1FF"/>
                </a:solidFill>
                <a:latin typeface="Inconsolata"/>
              </a:rPr>
              <a:t>$ python before.py</a:t>
            </a:r>
          </a:p>
        </p:txBody>
      </p:sp>
      <p:pic>
        <p:nvPicPr>
          <p:cNvPr id="29" name="Image 12" descr="s07-05-connection-pool-before.png"/>
          <p:cNvPicPr>
            <a:picLocks noChangeAspect="1"/>
          </p:cNvPicPr>
          <p:nvPr/>
        </p:nvPicPr>
        <p:blipFill>
          <a:blip r:embed="rId2"/>
          <a:stretch>
            <a:fillRect/>
          </a:stretch>
        </p:blipFill>
        <p:spPr>
          <a:xfrm>
            <a:off x="621792" y="2322576"/>
            <a:ext cx="4297680" cy="709117"/>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NullPool</a:t>
            </a:r>
            <a:r>
              <a:rPr sz="950" b="0" i="0">
                <a:solidFill>
                  <a:srgbClr val="434343"/>
                </a:solidFill>
                <a:latin typeface="Inter"/>
              </a:rPr>
              <a:t>: tanpa pool (baris 19)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koneksi baru dihitung (baris 25-28)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500 request, 10 bersamaan (baris 38-39)</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500 request membuka 500 koneksi, sekitar 1.2 detik.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koneksi dipakai ulang</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05-connection-pool/after.py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18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19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20  </a:t>
            </a:r>
            <a:r>
              <a:rPr sz="719" i="0">
                <a:solidFill>
                  <a:srgbClr val="FF8E6E"/>
                </a:solidFill>
                <a:latin typeface="Inconsolata"/>
              </a:rPr>
              <a:t>from</a:t>
            </a:r>
            <a:r>
              <a:rPr sz="719" i="0">
                <a:solidFill>
                  <a:srgbClr val="E6EDF3"/>
                </a:solidFill>
                <a:latin typeface="Inconsolata"/>
              </a:rPr>
              <a:t> concurrent.futures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ThreadPoolExecutor</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p>
          <a:p>
            <a:pPr>
              <a:lnSpc>
                <a:spcPct val="104277"/>
              </a:lnSpc>
              <a:spcAft>
                <a:spcPts val="0"/>
              </a:spcAft>
            </a:pPr>
            <a:r>
              <a:rPr sz="719" i="0">
                <a:solidFill>
                  <a:srgbClr val="5C6773"/>
                </a:solidFill>
                <a:latin typeface="Inconsolata"/>
              </a:rPr>
              <a:t>22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event, text</a:t>
            </a:r>
          </a:p>
          <a:p>
            <a:pPr>
              <a:lnSpc>
                <a:spcPct val="104277"/>
              </a:lnSpc>
              <a:spcAft>
                <a:spcPts val="0"/>
              </a:spcAft>
            </a:pPr>
            <a:r>
              <a:rPr sz="719" i="0">
                <a:solidFill>
                  <a:srgbClr val="5C6773"/>
                </a:solidFill>
                <a:latin typeface="Inconsolata"/>
              </a:rPr>
              <a:t>23  </a:t>
            </a:r>
            <a:r>
              <a:rPr sz="719" i="0">
                <a:solidFill>
                  <a:srgbClr val="E6EDF3"/>
                </a:solidFill>
                <a:latin typeface="Inconsolata"/>
              </a:rPr>
              <a:t> </a:t>
            </a:r>
          </a:p>
          <a:p>
            <a:pPr>
              <a:lnSpc>
                <a:spcPct val="104277"/>
              </a:lnSpc>
              <a:spcAft>
                <a:spcPts val="0"/>
              </a:spcAft>
            </a:pPr>
            <a:r>
              <a:rPr sz="719" i="0">
                <a:solidFill>
                  <a:srgbClr val="5C6773"/>
                </a:solidFill>
                <a:latin typeface="Inconsolata"/>
              </a:rPr>
              <a:t>24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25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pool_size=</a:t>
            </a:r>
            <a:r>
              <a:rPr sz="719" i="0">
                <a:solidFill>
                  <a:srgbClr val="F9C97A"/>
                </a:solidFill>
                <a:latin typeface="Inconsolata"/>
              </a:rPr>
              <a:t>10</a:t>
            </a:r>
            <a:r>
              <a:rPr sz="719" i="0">
                <a:solidFill>
                  <a:srgbClr val="E6EDF3"/>
                </a:solidFill>
                <a:latin typeface="Inconsolata"/>
              </a:rPr>
              <a:t>, max_overflow=</a:t>
            </a:r>
            <a:r>
              <a:rPr sz="719" i="0">
                <a:solidFill>
                  <a:srgbClr val="F9C97A"/>
                </a:solidFill>
                <a:latin typeface="Inconsolata"/>
              </a:rPr>
              <a:t>5</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E6EDF3"/>
                </a:solidFill>
                <a:latin typeface="Inconsolata"/>
              </a:rPr>
              <a:t>                       pool_timeout=</a:t>
            </a:r>
            <a:r>
              <a:rPr sz="719" i="0">
                <a:solidFill>
                  <a:srgbClr val="F9C97A"/>
                </a:solidFill>
                <a:latin typeface="Inconsolata"/>
              </a:rPr>
              <a:t>30</a:t>
            </a:r>
            <a:r>
              <a:rPr sz="719" i="0">
                <a:solidFill>
                  <a:srgbClr val="E6EDF3"/>
                </a:solidFill>
                <a:latin typeface="Inconsolata"/>
              </a:rPr>
              <a:t>,</a:t>
            </a:r>
          </a:p>
          <a:p>
            <a:pPr>
              <a:lnSpc>
                <a:spcPct val="104277"/>
              </a:lnSpc>
              <a:spcAft>
                <a:spcPts val="0"/>
              </a:spcAft>
            </a:pPr>
            <a:r>
              <a:rPr sz="719" i="0">
                <a:solidFill>
                  <a:srgbClr val="5C6773"/>
                </a:solidFill>
                <a:latin typeface="Inconsolata"/>
              </a:rPr>
              <a:t>29  </a:t>
            </a:r>
            <a:r>
              <a:rPr sz="719" i="0">
                <a:solidFill>
                  <a:srgbClr val="E6EDF3"/>
                </a:solidFill>
                <a:latin typeface="Inconsolata"/>
              </a:rPr>
              <a:t>                       pool_pre_ping=</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30  </a:t>
            </a:r>
            <a:r>
              <a:rPr sz="719" i="0">
                <a:solidFill>
                  <a:srgbClr val="E6EDF3"/>
                </a:solidFill>
                <a:latin typeface="Inconsolata"/>
              </a:rPr>
              <a:t>                       pool_recycle=</a:t>
            </a:r>
            <a:r>
              <a:rPr sz="719" i="0">
                <a:solidFill>
                  <a:srgbClr val="F9C97A"/>
                </a:solidFill>
                <a:latin typeface="Inconsolata"/>
              </a:rPr>
              <a:t>1800</a:t>
            </a:r>
            <a:r>
              <a:rPr sz="719" i="0">
                <a:solidFill>
                  <a:srgbClr val="E6EDF3"/>
                </a:solidFill>
                <a:latin typeface="Inconsolata"/>
              </a:rPr>
              <a:t>)</a:t>
            </a:r>
          </a:p>
          <a:p>
            <a:pPr>
              <a:lnSpc>
                <a:spcPct val="104277"/>
              </a:lnSpc>
              <a:spcAft>
                <a:spcPts val="0"/>
              </a:spcAft>
            </a:pPr>
            <a:r>
              <a:rPr sz="719" i="0">
                <a:solidFill>
                  <a:srgbClr val="5C6773"/>
                </a:solidFill>
                <a:latin typeface="Inconsolata"/>
              </a:rPr>
              <a:t>31  </a:t>
            </a:r>
            <a:r>
              <a:rPr sz="719" i="0">
                <a:solidFill>
                  <a:srgbClr val="E6EDF3"/>
                </a:solidFill>
                <a:latin typeface="Inconsolata"/>
              </a:rPr>
              <a:t>connections_opened = </a:t>
            </a:r>
            <a:r>
              <a:rPr sz="719" i="0">
                <a:solidFill>
                  <a:srgbClr val="F9C97A"/>
                </a:solidFill>
                <a:latin typeface="Inconsolata"/>
              </a:rPr>
              <a:t>0</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p>
          <a:p>
            <a:pPr>
              <a:lnSpc>
                <a:spcPct val="104277"/>
              </a:lnSpc>
              <a:spcAft>
                <a:spcPts val="0"/>
              </a:spcAft>
            </a:pPr>
            <a:r>
              <a:rPr sz="719" i="0">
                <a:solidFill>
                  <a:srgbClr val="5C6773"/>
                </a:solidFill>
                <a:latin typeface="Inconsolata"/>
              </a:rPr>
              <a:t>33  </a:t>
            </a:r>
            <a:r>
              <a:rPr sz="719" i="0">
                <a:solidFill>
                  <a:srgbClr val="7FDBCA"/>
                </a:solidFill>
                <a:latin typeface="Inconsolata"/>
              </a:rPr>
              <a:t>GET_ORDER</a:t>
            </a:r>
            <a:r>
              <a:rPr sz="719" i="0">
                <a:solidFill>
                  <a:srgbClr val="E6EDF3"/>
                </a:solidFill>
                <a:latin typeface="Inconsolata"/>
              </a:rPr>
              <a:t> = text(</a:t>
            </a:r>
            <a:r>
              <a:rPr sz="719" i="0">
                <a:solidFill>
                  <a:srgbClr val="A5D6A7"/>
                </a:solidFill>
                <a:latin typeface="Inconsolata"/>
              </a:rPr>
              <a:t>"SELECT * FROM orders WHERE id = :id"</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05-connection-pool/after.py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36  </a:t>
            </a:r>
            <a:r>
              <a:rPr sz="719" i="0">
                <a:solidFill>
                  <a:srgbClr val="F9C97A"/>
                </a:solidFill>
                <a:latin typeface="Inconsolata"/>
              </a:rPr>
              <a:t>@event.listens_for</a:t>
            </a:r>
            <a:r>
              <a:rPr sz="719" i="0">
                <a:solidFill>
                  <a:srgbClr val="E6EDF3"/>
                </a:solidFill>
                <a:latin typeface="Inconsolata"/>
              </a:rPr>
              <a:t>(engine, </a:t>
            </a:r>
            <a:r>
              <a:rPr sz="719" i="0">
                <a:solidFill>
                  <a:srgbClr val="A5D6A7"/>
                </a:solidFill>
                <a:latin typeface="Inconsolata"/>
              </a:rPr>
              <a:t>"connect"</a:t>
            </a:r>
            <a:r>
              <a:rPr sz="719" i="0">
                <a:solidFill>
                  <a:srgbClr val="E6EDF3"/>
                </a:solidFill>
                <a:latin typeface="Inconsolata"/>
              </a:rPr>
              <a:t>)</a:t>
            </a:r>
          </a:p>
          <a:p>
            <a:pPr>
              <a:lnSpc>
                <a:spcPct val="104277"/>
              </a:lnSpc>
              <a:spcAft>
                <a:spcPts val="0"/>
              </a:spcAft>
            </a:pPr>
            <a:r>
              <a:rPr sz="719" i="0">
                <a:solidFill>
                  <a:srgbClr val="5C6773"/>
                </a:solidFill>
                <a:latin typeface="Inconsolata"/>
              </a:rPr>
              <a:t>37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count_connection</a:t>
            </a:r>
            <a:r>
              <a:rPr sz="719" i="0">
                <a:solidFill>
                  <a:srgbClr val="E6EDF3"/>
                </a:solidFill>
                <a:latin typeface="Inconsolata"/>
              </a:rPr>
              <a:t>(*args):</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FF8E6E"/>
                </a:solidFill>
                <a:latin typeface="Inconsolata"/>
              </a:rPr>
              <a:t>global</a:t>
            </a:r>
            <a:r>
              <a:rPr sz="719" i="0">
                <a:solidFill>
                  <a:srgbClr val="E6EDF3"/>
                </a:solidFill>
                <a:latin typeface="Inconsolata"/>
              </a:rPr>
              <a:t> connections_opened</a:t>
            </a:r>
          </a:p>
          <a:p>
            <a:pPr>
              <a:lnSpc>
                <a:spcPct val="104277"/>
              </a:lnSpc>
              <a:spcAft>
                <a:spcPts val="0"/>
              </a:spcAft>
            </a:pPr>
            <a:r>
              <a:rPr sz="719" i="0">
                <a:solidFill>
                  <a:srgbClr val="5C6773"/>
                </a:solidFill>
                <a:latin typeface="Inconsolata"/>
              </a:rPr>
              <a:t>39  </a:t>
            </a:r>
            <a:r>
              <a:rPr sz="719" i="0">
                <a:solidFill>
                  <a:srgbClr val="E6EDF3"/>
                </a:solidFill>
                <a:latin typeface="Inconsolata"/>
              </a:rPr>
              <a:t>    connections_opened += </a:t>
            </a:r>
            <a:r>
              <a:rPr sz="719" i="0">
                <a:solidFill>
                  <a:srgbClr val="F9C97A"/>
                </a:solidFill>
                <a:latin typeface="Inconsolata"/>
              </a:rPr>
              <a:t>1</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p>
          <a:p>
            <a:pPr>
              <a:lnSpc>
                <a:spcPct val="104277"/>
              </a:lnSpc>
              <a:spcAft>
                <a:spcPts val="0"/>
              </a:spcAft>
            </a:pPr>
            <a:r>
              <a:rPr sz="719" i="0">
                <a:solidFill>
                  <a:srgbClr val="5C6773"/>
                </a:solidFill>
                <a:latin typeface="Inconsolata"/>
              </a:rPr>
              <a:t>42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get_order</a:t>
            </a:r>
            <a:r>
              <a:rPr sz="719" i="0">
                <a:solidFill>
                  <a:srgbClr val="E6EDF3"/>
                </a:solidFill>
                <a:latin typeface="Inconsolata"/>
              </a:rPr>
              <a:t>(order_id: </a:t>
            </a:r>
            <a:r>
              <a:rPr sz="719" i="0">
                <a:solidFill>
                  <a:srgbClr val="C3A6FF"/>
                </a:solidFill>
                <a:latin typeface="Inconsolata"/>
              </a:rPr>
              <a:t>int</a:t>
            </a:r>
            <a:r>
              <a:rPr sz="719" i="0">
                <a:solidFill>
                  <a:srgbClr val="E6EDF3"/>
                </a:solidFill>
                <a:latin typeface="Inconsolata"/>
              </a:rPr>
              <a:t>):</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engine.connect() </a:t>
            </a:r>
            <a:r>
              <a:rPr sz="719" i="0">
                <a:solidFill>
                  <a:srgbClr val="FF8E6E"/>
                </a:solidFill>
                <a:latin typeface="Inconsolata"/>
              </a:rPr>
              <a:t>as</a:t>
            </a:r>
            <a:r>
              <a:rPr sz="719" i="0">
                <a:solidFill>
                  <a:srgbClr val="E6EDF3"/>
                </a:solidFill>
                <a:latin typeface="Inconsolata"/>
              </a:rPr>
              <a:t> conn:          </a:t>
            </a:r>
            <a:r>
              <a:rPr sz="719" i="1">
                <a:solidFill>
                  <a:srgbClr val="8B98A8"/>
                </a:solidFill>
                <a:latin typeface="Inconsolata"/>
              </a:rPr>
              <a:t># pinjam dari pool</a:t>
            </a:r>
          </a:p>
          <a:p>
            <a:pPr>
              <a:lnSpc>
                <a:spcPct val="104277"/>
              </a:lnSpc>
              <a:spcAft>
                <a:spcPts val="0"/>
              </a:spcAft>
            </a:pPr>
            <a:r>
              <a:rPr sz="719" i="0">
                <a:solidFill>
                  <a:srgbClr val="5C6773"/>
                </a:solidFill>
                <a:latin typeface="Inconsolata"/>
              </a:rPr>
              <a:t>44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conn.execute(</a:t>
            </a:r>
            <a:r>
              <a:rPr sz="719" i="0">
                <a:solidFill>
                  <a:srgbClr val="7FDBCA"/>
                </a:solidFill>
                <a:latin typeface="Inconsolata"/>
              </a:rPr>
              <a:t>GET_ORDER</a:t>
            </a:r>
            <a:r>
              <a:rPr sz="719" i="0">
                <a:solidFill>
                  <a:srgbClr val="E6EDF3"/>
                </a:solidFill>
                <a:latin typeface="Inconsolata"/>
              </a:rPr>
              <a:t>, {</a:t>
            </a:r>
            <a:r>
              <a:rPr sz="719" i="0">
                <a:solidFill>
                  <a:srgbClr val="A5D6A7"/>
                </a:solidFill>
                <a:latin typeface="Inconsolata"/>
              </a:rPr>
              <a:t>"id"</a:t>
            </a:r>
            <a:r>
              <a:rPr sz="719" i="0">
                <a:solidFill>
                  <a:srgbClr val="E6EDF3"/>
                </a:solidFill>
                <a:latin typeface="Inconsolata"/>
              </a:rPr>
              <a:t>: order_id}).one()</a:t>
            </a:r>
          </a:p>
          <a:p>
            <a:pPr>
              <a:lnSpc>
                <a:spcPct val="104277"/>
              </a:lnSpc>
              <a:spcAft>
                <a:spcPts val="0"/>
              </a:spcAft>
            </a:pPr>
            <a:r>
              <a:rPr sz="719" i="0">
                <a:solidFill>
                  <a:srgbClr val="5C6773"/>
                </a:solidFill>
                <a:latin typeface="Inconsolata"/>
              </a:rPr>
              <a:t>45  </a:t>
            </a:r>
            <a:r>
              <a:rPr sz="719" i="0">
                <a:solidFill>
                  <a:srgbClr val="E6EDF3"/>
                </a:solidFill>
                <a:latin typeface="Inconsolata"/>
              </a:rPr>
              <a:t> </a:t>
            </a:r>
          </a:p>
          <a:p>
            <a:pPr>
              <a:lnSpc>
                <a:spcPct val="104277"/>
              </a:lnSpc>
              <a:spcAft>
                <a:spcPts val="0"/>
              </a:spcAft>
            </a:pPr>
            <a:r>
              <a:rPr sz="719" i="0">
                <a:solidFill>
                  <a:srgbClr val="5C6773"/>
                </a:solidFill>
                <a:latin typeface="Inconsolata"/>
              </a:rPr>
              <a:t>46  </a:t>
            </a:r>
            <a:r>
              <a:rPr sz="719" i="0">
                <a:solidFill>
                  <a:srgbClr val="E6EDF3"/>
                </a:solidFill>
                <a:latin typeface="Inconsolata"/>
              </a:rPr>
              <a:t> </a:t>
            </a:r>
          </a:p>
          <a:p>
            <a:pPr>
              <a:lnSpc>
                <a:spcPct val="104277"/>
              </a:lnSpc>
              <a:spcAft>
                <a:spcPts val="0"/>
              </a:spcAft>
            </a:pPr>
            <a:r>
              <a:rPr sz="719" i="0">
                <a:solidFill>
                  <a:srgbClr val="5C6773"/>
                </a:solidFill>
                <a:latin typeface="Inconsolata"/>
              </a:rPr>
              <a:t>47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49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a:t>
            </a:r>
            <a:r>
              <a:rPr sz="719" i="0">
                <a:solidFill>
                  <a:srgbClr val="7FDBCA"/>
                </a:solidFill>
                <a:latin typeface="Inconsolata"/>
              </a:rPr>
              <a:t>ThreadPoolExecutor</a:t>
            </a:r>
            <a:r>
              <a:rPr sz="719" i="0">
                <a:solidFill>
                  <a:srgbClr val="E6EDF3"/>
                </a:solidFill>
                <a:latin typeface="Inconsolata"/>
              </a:rPr>
              <a:t>(max_workers=</a:t>
            </a:r>
            <a:r>
              <a:rPr sz="719" i="0">
                <a:solidFill>
                  <a:srgbClr val="F9C97A"/>
                </a:solidFill>
                <a:latin typeface="Inconsolata"/>
              </a:rPr>
              <a:t>10</a:t>
            </a:r>
            <a:r>
              <a:rPr sz="719" i="0">
                <a:solidFill>
                  <a:srgbClr val="E6EDF3"/>
                </a:solidFill>
                <a:latin typeface="Inconsolata"/>
              </a:rPr>
              <a:t>) </a:t>
            </a:r>
            <a:r>
              <a:rPr sz="719" i="0">
                <a:solidFill>
                  <a:srgbClr val="FF8E6E"/>
                </a:solidFill>
                <a:latin typeface="Inconsolata"/>
              </a:rPr>
              <a:t>as</a:t>
            </a:r>
            <a:r>
              <a:rPr sz="719" i="0">
                <a:solidFill>
                  <a:srgbClr val="E6EDF3"/>
                </a:solidFill>
                <a:latin typeface="Inconsolata"/>
              </a:rPr>
              <a:t> pool:  </a:t>
            </a:r>
            <a:r>
              <a:rPr sz="719" i="1">
                <a:solidFill>
                  <a:srgbClr val="8B98A8"/>
                </a:solidFill>
                <a:latin typeface="Inconsolata"/>
              </a:rPr>
              <a:t># 10 bersamaan</a:t>
            </a:r>
          </a:p>
          <a:p>
            <a:pPr>
              <a:lnSpc>
                <a:spcPct val="104277"/>
              </a:lnSpc>
              <a:spcAft>
                <a:spcPts val="0"/>
              </a:spcAft>
            </a:pPr>
            <a:r>
              <a:rPr sz="719" i="0">
                <a:solidFill>
                  <a:srgbClr val="5C6773"/>
                </a:solidFill>
                <a:latin typeface="Inconsolata"/>
              </a:rPr>
              <a:t>50  </a:t>
            </a:r>
            <a:r>
              <a:rPr sz="719" i="0">
                <a:solidFill>
                  <a:srgbClr val="E6EDF3"/>
                </a:solidFill>
                <a:latin typeface="Inconsolata"/>
              </a:rPr>
              <a:t>        </a:t>
            </a:r>
            <a:r>
              <a:rPr sz="719" i="0">
                <a:solidFill>
                  <a:srgbClr val="C3A6FF"/>
                </a:solidFill>
                <a:latin typeface="Inconsolata"/>
              </a:rPr>
              <a:t>list</a:t>
            </a:r>
            <a:r>
              <a:rPr sz="719" i="0">
                <a:solidFill>
                  <a:srgbClr val="E6EDF3"/>
                </a:solidFill>
                <a:latin typeface="Inconsolata"/>
              </a:rPr>
              <a:t>(pool.map(get_order, </a:t>
            </a:r>
            <a:r>
              <a:rPr sz="719" i="0">
                <a:solidFill>
                  <a:srgbClr val="C3A6FF"/>
                </a:solidFill>
                <a:latin typeface="Inconsolata"/>
              </a:rPr>
              <a:t>range</a:t>
            </a:r>
            <a:r>
              <a:rPr sz="719" i="0">
                <a:solidFill>
                  <a:srgbClr val="E6EDF3"/>
                </a:solidFill>
                <a:latin typeface="Inconsolata"/>
              </a:rPr>
              <a:t>(</a:t>
            </a:r>
            <a:r>
              <a:rPr sz="719" i="0">
                <a:solidFill>
                  <a:srgbClr val="F9C97A"/>
                </a:solidFill>
                <a:latin typeface="Inconsolata"/>
              </a:rPr>
              <a:t>1</a:t>
            </a:r>
            <a:r>
              <a:rPr sz="719" i="0">
                <a:solidFill>
                  <a:srgbClr val="E6EDF3"/>
                </a:solidFill>
                <a:latin typeface="Inconsolata"/>
              </a:rPr>
              <a:t>, </a:t>
            </a:r>
            <a:r>
              <a:rPr sz="719" i="0">
                <a:solidFill>
                  <a:srgbClr val="F9C97A"/>
                </a:solidFill>
                <a:latin typeface="Inconsolata"/>
              </a:rPr>
              <a:t>501</a:t>
            </a:r>
            <a:r>
              <a:rPr sz="719" i="0">
                <a:solidFill>
                  <a:srgbClr val="E6EDF3"/>
                </a:solidFill>
                <a:latin typeface="Inconsolata"/>
              </a:rPr>
              <a:t>)))</a:t>
            </a:r>
          </a:p>
          <a:p>
            <a:pPr>
              <a:lnSpc>
                <a:spcPct val="104277"/>
              </a:lnSpc>
              <a:spcAft>
                <a:spcPts val="0"/>
              </a:spcAft>
            </a:pPr>
            <a:r>
              <a:rPr sz="719" i="0">
                <a:solidFill>
                  <a:srgbClr val="5C6773"/>
                </a:solidFill>
                <a:latin typeface="Inconsolata"/>
              </a:rPr>
              <a:t>51  </a:t>
            </a:r>
            <a:r>
              <a:rPr sz="719" i="0">
                <a:solidFill>
                  <a:srgbClr val="E6EDF3"/>
                </a:solidFill>
                <a:latin typeface="Inconsolata"/>
              </a:rPr>
              <a:t>    ms = (time.perf_counter() - start) * </a:t>
            </a:r>
            <a:r>
              <a:rPr sz="719" i="0">
                <a:solidFill>
                  <a:srgbClr val="F9C97A"/>
                </a:solidFill>
                <a:latin typeface="Inconsolata"/>
              </a:rPr>
              <a:t>1000</a:t>
            </a:r>
          </a:p>
          <a:p>
            <a:pPr>
              <a:lnSpc>
                <a:spcPct val="104277"/>
              </a:lnSpc>
              <a:spcAft>
                <a:spcPts val="0"/>
              </a:spcAft>
            </a:pPr>
            <a:r>
              <a:rPr sz="719" i="0">
                <a:solidFill>
                  <a:srgbClr val="5C6773"/>
                </a:solidFill>
                <a:latin typeface="Inconsolata"/>
              </a:rPr>
              <a:t>52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f"500 request: {ms:.0f} ms, "</a:t>
            </a:r>
          </a:p>
          <a:p>
            <a:pPr>
              <a:lnSpc>
                <a:spcPct val="104277"/>
              </a:lnSpc>
              <a:spcAft>
                <a:spcPts val="0"/>
              </a:spcAft>
            </a:pPr>
            <a:r>
              <a:rPr sz="719" i="0">
                <a:solidFill>
                  <a:srgbClr val="5C6773"/>
                </a:solidFill>
                <a:latin typeface="Inconsolata"/>
              </a:rPr>
              <a:t>53  </a:t>
            </a:r>
            <a:r>
              <a:rPr sz="719" i="0">
                <a:solidFill>
                  <a:srgbClr val="E6EDF3"/>
                </a:solidFill>
                <a:latin typeface="Inconsolata"/>
              </a:rPr>
              <a:t>          </a:t>
            </a:r>
            <a:r>
              <a:rPr sz="719" i="0">
                <a:solidFill>
                  <a:srgbClr val="A5D6A7"/>
                </a:solidFill>
                <a:latin typeface="Inconsolata"/>
              </a:rPr>
              <a:t>f"koneksi dibuka: {connections_opened}"</a:t>
            </a:r>
            <a:r>
              <a:rPr sz="719" i="0">
                <a:solidFill>
                  <a:srgbClr val="E6EDF3"/>
                </a:solidFill>
                <a:latin typeface="Inconsolata"/>
              </a:rPr>
              <a:t>)</a:t>
            </a:r>
          </a:p>
        </p:txBody>
      </p:sp>
      <p:sp>
        <p:nvSpPr>
          <p:cNvPr id="36" name="Box 21"/>
          <p:cNvSpPr/>
          <p:nvPr/>
        </p:nvSpPr>
        <p:spPr>
          <a:xfrm>
            <a:off x="704088" y="27397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903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6254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5603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Connection Pool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05-connection-pool/after.py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sesi-07-database-optimization/05-connection-pool</a:t>
            </a:r>
          </a:p>
          <a:p>
            <a:pPr>
              <a:lnSpc>
                <a:spcPct val="111111"/>
              </a:lnSpc>
              <a:spcAft>
                <a:spcPts val="0"/>
              </a:spcAft>
            </a:pPr>
            <a:r>
              <a:rPr sz="900" i="0">
                <a:solidFill>
                  <a:srgbClr val="82B1FF"/>
                </a:solidFill>
                <a:latin typeface="Inconsolata"/>
              </a:rPr>
              <a:t>$ python after.py</a:t>
            </a:r>
          </a:p>
        </p:txBody>
      </p:sp>
      <p:pic>
        <p:nvPicPr>
          <p:cNvPr id="29" name="Image 12" descr="s07-05-connection-pool-after.png"/>
          <p:cNvPicPr>
            <a:picLocks noChangeAspect="1"/>
          </p:cNvPicPr>
          <p:nvPr/>
        </p:nvPicPr>
        <p:blipFill>
          <a:blip r:embed="rId2"/>
          <a:stretch>
            <a:fillRect/>
          </a:stretch>
        </p:blipFill>
        <p:spPr>
          <a:xfrm>
            <a:off x="621792" y="2322576"/>
            <a:ext cx="4297680" cy="709117"/>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Pool 10 koneksi, cadangan 5, cek dan ganti koneksi lama (baris 26-30)</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engine.connect()</a:t>
            </a:r>
            <a:r>
              <a:rPr sz="950" b="0" i="0">
                <a:solidFill>
                  <a:srgbClr val="434343"/>
                </a:solidFill>
                <a:latin typeface="Inter"/>
              </a:rPr>
              <a:t> meminjam dari pool, lalu dikembalikan (baris 43)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500 request hanya membuka 10 koneksi, sekitar 0.26 detik.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Query Tuning?</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Query tuning adalah</a:t>
            </a:r>
          </a:p>
          <a:p>
            <a:pPr algn="l">
              <a:lnSpc>
                <a:spcPct val="115000"/>
              </a:lnSpc>
              <a:spcAft>
                <a:spcPts val="400"/>
              </a:spcAft>
            </a:pPr>
            <a:r>
              <a:rPr sz="900" b="0" i="0">
                <a:solidFill>
                  <a:srgbClr val="434343"/>
                </a:solidFill>
                <a:latin typeface="Inter"/>
              </a:rPr>
              <a:t>Memperbaiki query supaya database mengerjakan sesedikit mungkin dan hanya mengirim data yang dibutuhkan. Contohnya menghitung total dengan </a:t>
            </a:r>
            <a:r>
              <a:rPr sz="900" b="1" i="0">
                <a:solidFill>
                  <a:srgbClr val="434343"/>
                </a:solidFill>
                <a:latin typeface="Inter"/>
              </a:rPr>
              <a:t>GROUP BY</a:t>
            </a:r>
            <a:r>
              <a:rPr sz="900" b="0" i="0">
                <a:solidFill>
                  <a:srgbClr val="434343"/>
                </a:solidFill>
                <a:latin typeface="Inter"/>
              </a:rPr>
              <a:t> di database, bukan mengambil semua baris lalu menghitung di Python.</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Mengurangi data yang dikirim dari database ke aplikasi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Mengurangi memory yang dipakai aplikasi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Memanfaatkan database yang memang dibuat untuk filter dan agregasi</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hitung di python: 06-query-tuning/before.py</a:t>
            </a:r>
          </a:p>
        </p:txBody>
      </p:sp>
      <p:sp>
        <p:nvSpPr>
          <p:cNvPr id="28" name="CodeBg 11"/>
          <p:cNvSpPr/>
          <p:nvPr/>
        </p:nvSpPr>
        <p:spPr>
          <a:xfrm>
            <a:off x="4297680" y="1719072"/>
            <a:ext cx="4187951" cy="502920"/>
          </a:xfrm>
          <a:prstGeom prst="roundRect">
            <a:avLst>
              <a:gd name="adj" fmla="val 363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502920"/>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    orders = conn.execute(text(</a:t>
            </a:r>
            <a:r>
              <a:rPr sz="800" i="0">
                <a:solidFill>
                  <a:srgbClr val="A5D6A7"/>
                </a:solidFill>
                <a:latin typeface="Inconsolata"/>
              </a:rPr>
              <a:t>"SELECT * FROM orders"</a:t>
            </a:r>
            <a:r>
              <a:rPr sz="800" i="0">
                <a:solidFill>
                  <a:srgbClr val="E6EDF3"/>
                </a:solidFill>
                <a:latin typeface="Inconsolata"/>
              </a:rPr>
              <a:t>)).all()</a:t>
            </a:r>
          </a:p>
          <a:p>
            <a:pPr>
              <a:lnSpc>
                <a:spcPct val="104167"/>
              </a:lnSpc>
              <a:spcAft>
                <a:spcPts val="0"/>
              </a:spcAft>
            </a:pPr>
            <a:r>
              <a:rPr sz="800" i="0">
                <a:solidFill>
                  <a:srgbClr val="E6EDF3"/>
                </a:solidFill>
                <a:latin typeface="Inconsolata"/>
              </a:rPr>
              <a:t>    lines = conn.execute(text(</a:t>
            </a:r>
            <a:r>
              <a:rPr sz="800" i="0">
                <a:solidFill>
                  <a:srgbClr val="A5D6A7"/>
                </a:solidFill>
                <a:latin typeface="Inconsolata"/>
              </a:rPr>
              <a:t>"SELECT * FROM order_lines"</a:t>
            </a:r>
            <a:r>
              <a:rPr sz="800" i="0">
                <a:solidFill>
                  <a:srgbClr val="E6EDF3"/>
                </a:solidFill>
                <a:latin typeface="Inconsolata"/>
              </a:rPr>
              <a:t>)).all()</a:t>
            </a:r>
          </a:p>
        </p:txBody>
      </p:sp>
      <p:sp>
        <p:nvSpPr>
          <p:cNvPr id="30" name="Box 13"/>
          <p:cNvSpPr/>
          <p:nvPr/>
        </p:nvSpPr>
        <p:spPr>
          <a:xfrm>
            <a:off x="4379976" y="1827022"/>
            <a:ext cx="4023359"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31343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39115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39115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39115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32257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hitung di database: 06-query-tuning/after.py</a:t>
            </a:r>
          </a:p>
        </p:txBody>
      </p:sp>
      <p:sp>
        <p:nvSpPr>
          <p:cNvPr id="36" name="CodeBg 21"/>
          <p:cNvSpPr/>
          <p:nvPr/>
        </p:nvSpPr>
        <p:spPr>
          <a:xfrm>
            <a:off x="4297680" y="2551176"/>
            <a:ext cx="4187951" cy="2148840"/>
          </a:xfrm>
          <a:prstGeom prst="roundRect">
            <a:avLst>
              <a:gd name="adj" fmla="val 85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551176"/>
            <a:ext cx="4187951" cy="2148840"/>
          </a:xfrm>
          <a:prstGeom prst="rect">
            <a:avLst/>
          </a:prstGeom>
          <a:noFill/>
        </p:spPr>
        <p:txBody>
          <a:bodyPr wrap="none" lIns="146304" tIns="91440" rIns="146304" bIns="54864">
            <a:spAutoFit/>
          </a:bodyPr>
          <a:lstStyle/>
          <a:p>
            <a:pPr>
              <a:lnSpc>
                <a:spcPct val="104167"/>
              </a:lnSpc>
              <a:spcAft>
                <a:spcPts val="0"/>
              </a:spcAft>
            </a:pPr>
            <a:r>
              <a:rPr sz="800" i="0">
                <a:solidFill>
                  <a:srgbClr val="7FDBCA"/>
                </a:solidFill>
                <a:latin typeface="Inconsolata"/>
              </a:rPr>
              <a:t>SALES_BY_STATUS</a:t>
            </a:r>
            <a:r>
              <a:rPr sz="800" i="0">
                <a:solidFill>
                  <a:srgbClr val="E6EDF3"/>
                </a:solidFill>
                <a:latin typeface="Inconsolata"/>
              </a:rPr>
              <a:t> = text(</a:t>
            </a:r>
            <a:r>
              <a:rPr sz="800" i="0">
                <a:solidFill>
                  <a:srgbClr val="A5D6A7"/>
                </a:solidFill>
                <a:latin typeface="Inconsolata"/>
              </a:rPr>
              <a:t>"""</a:t>
            </a:r>
          </a:p>
          <a:p>
            <a:pPr>
              <a:lnSpc>
                <a:spcPct val="104167"/>
              </a:lnSpc>
              <a:spcAft>
                <a:spcPts val="0"/>
              </a:spcAft>
            </a:pPr>
            <a:r>
              <a:rPr sz="800" i="0">
                <a:solidFill>
                  <a:srgbClr val="A5D6A7"/>
                </a:solidFill>
                <a:latin typeface="Inconsolata"/>
              </a:rPr>
              <a:t>    SELECT o.status, count(*) AS orders, sum(t.total) AS revenue</a:t>
            </a:r>
          </a:p>
          <a:p>
            <a:pPr>
              <a:lnSpc>
                <a:spcPct val="104167"/>
              </a:lnSpc>
              <a:spcAft>
                <a:spcPts val="0"/>
              </a:spcAft>
            </a:pPr>
            <a:r>
              <a:rPr sz="800" i="0">
                <a:solidFill>
                  <a:srgbClr val="A5D6A7"/>
                </a:solidFill>
                <a:latin typeface="Inconsolata"/>
              </a:rPr>
              <a:t>    FROM orders AS o</a:t>
            </a:r>
          </a:p>
          <a:p>
            <a:pPr>
              <a:lnSpc>
                <a:spcPct val="104167"/>
              </a:lnSpc>
              <a:spcAft>
                <a:spcPts val="0"/>
              </a:spcAft>
            </a:pPr>
            <a:r>
              <a:rPr sz="800" i="0">
                <a:solidFill>
                  <a:srgbClr val="A5D6A7"/>
                </a:solidFill>
                <a:latin typeface="Inconsolata"/>
              </a:rPr>
              <a:t>    JOIN (SELECT order_id, sum(price * qty) AS total  -- per order</a:t>
            </a:r>
          </a:p>
          <a:p>
            <a:pPr>
              <a:lnSpc>
                <a:spcPct val="104167"/>
              </a:lnSpc>
              <a:spcAft>
                <a:spcPts val="0"/>
              </a:spcAft>
            </a:pPr>
            <a:r>
              <a:rPr sz="800" i="0">
                <a:solidFill>
                  <a:srgbClr val="A5D6A7"/>
                </a:solidFill>
                <a:latin typeface="Inconsolata"/>
              </a:rPr>
              <a:t>          FROM order_lines GROUP BY order_id) AS t</a:t>
            </a:r>
          </a:p>
          <a:p>
            <a:pPr>
              <a:lnSpc>
                <a:spcPct val="104167"/>
              </a:lnSpc>
              <a:spcAft>
                <a:spcPts val="0"/>
              </a:spcAft>
            </a:pPr>
            <a:r>
              <a:rPr sz="800" i="0">
                <a:solidFill>
                  <a:srgbClr val="A5D6A7"/>
                </a:solidFill>
                <a:latin typeface="Inconsolata"/>
              </a:rPr>
              <a:t>      ON t.order_id = o.id</a:t>
            </a:r>
          </a:p>
          <a:p>
            <a:pPr>
              <a:lnSpc>
                <a:spcPct val="104167"/>
              </a:lnSpc>
              <a:spcAft>
                <a:spcPts val="0"/>
              </a:spcAft>
            </a:pPr>
            <a:r>
              <a:rPr sz="800" i="0">
                <a:solidFill>
                  <a:srgbClr val="A5D6A7"/>
                </a:solidFill>
                <a:latin typeface="Inconsolata"/>
              </a:rPr>
              <a:t>    GROUP BY o.status</a:t>
            </a:r>
          </a:p>
          <a:p>
            <a:pPr>
              <a:lnSpc>
                <a:spcPct val="104167"/>
              </a:lnSpc>
              <a:spcAft>
                <a:spcPts val="0"/>
              </a:spcAft>
            </a:pPr>
            <a:r>
              <a:rPr sz="800" i="0">
                <a:solidFill>
                  <a:srgbClr val="A5D6A7"/>
                </a:solidFill>
                <a:latin typeface="Inconsolata"/>
              </a:rPr>
              <a:t>"""</a:t>
            </a:r>
            <a:r>
              <a:rPr sz="800" i="0">
                <a:solidFill>
                  <a:srgbClr val="E6EDF3"/>
                </a:solidFill>
                <a:latin typeface="Inconsolata"/>
              </a:rPr>
              <a:t>)</a:t>
            </a:r>
          </a:p>
        </p:txBody>
      </p:sp>
      <p:sp>
        <p:nvSpPr>
          <p:cNvPr id="38" name="Box 23"/>
          <p:cNvSpPr/>
          <p:nvPr/>
        </p:nvSpPr>
        <p:spPr>
          <a:xfrm>
            <a:off x="4379976" y="2786126"/>
            <a:ext cx="4023359"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melakukan Query Tuning?</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query tuning</a:t>
            </a:r>
          </a:p>
          <a:p>
            <a:pPr algn="l">
              <a:lnSpc>
                <a:spcPct val="115000"/>
              </a:lnSpc>
              <a:spcAft>
                <a:spcPts val="400"/>
              </a:spcAft>
            </a:pPr>
            <a:r>
              <a:rPr sz="950" b="0" i="0">
                <a:solidFill>
                  <a:srgbClr val="434343"/>
                </a:solidFill>
                <a:latin typeface="Inter"/>
              </a:rPr>
              <a:t>Report penjualan per status mengambil semua order dan semua item ke Python, lalu menghitungnya dengan loop.</a:t>
            </a:r>
          </a:p>
          <a:p>
            <a:pPr algn="l">
              <a:lnSpc>
                <a:spcPct val="115000"/>
              </a:lnSpc>
              <a:spcAft>
                <a:spcPts val="400"/>
              </a:spcAft>
            </a:pPr>
            <a:r>
              <a:rPr sz="1050" b="1" i="0">
                <a:solidFill>
                  <a:srgbClr val="1C4587"/>
                </a:solidFill>
                <a:latin typeface="Inter"/>
              </a:rPr>
              <a:t>Jika datanya makin banyak</a:t>
            </a:r>
          </a:p>
          <a:p>
            <a:pPr algn="l">
              <a:lnSpc>
                <a:spcPct val="115000"/>
              </a:lnSpc>
              <a:spcAft>
                <a:spcPts val="400"/>
              </a:spcAft>
            </a:pPr>
            <a:r>
              <a:rPr sz="950" b="0" i="0">
                <a:solidFill>
                  <a:srgbClr val="434343"/>
                </a:solidFill>
                <a:latin typeface="Inter"/>
              </a:rPr>
              <a:t>600.000 baris dikirim lewat jaringan dan disimpan di memory, padahal hasil akhirnya hanya 3 baris.</a:t>
            </a:r>
          </a:p>
          <a:p>
            <a:pPr algn="l">
              <a:lnSpc>
                <a:spcPct val="115000"/>
              </a:lnSpc>
              <a:spcAft>
                <a:spcPts val="400"/>
              </a:spcAft>
            </a:pPr>
            <a:r>
              <a:rPr sz="950" b="0" i="0">
                <a:solidFill>
                  <a:srgbClr val="434343"/>
                </a:solidFill>
                <a:latin typeface="Inter"/>
              </a:rPr>
              <a:t>Hal ini membuat report lambat dan memory aplikasi cepat penuh.</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Pilih kolom yang dibutuhkan saja, filter di WHERE, dan hitung dengan GROUP BY. Setelah diubah, cek lagi dengan EXPLAIN ANALYZE.</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76479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Sebelum</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Sesudah</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SELECT *</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SELECT kolom yang dibutuhkan</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Filter dengan if di Python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Filter dengan WHERE</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Hitung total dengan loop</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sum() dan GROUP BY</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Banyak query kecil</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Satu query dengan JOIN</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hitung di Python</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06-query-tuning/before.py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time</a:t>
            </a:r>
          </a:p>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collections </a:t>
            </a:r>
            <a:r>
              <a:rPr sz="719" i="0">
                <a:solidFill>
                  <a:srgbClr val="FF8E6E"/>
                </a:solidFill>
                <a:latin typeface="Inconsolata"/>
              </a:rPr>
              <a:t>import</a:t>
            </a:r>
            <a:r>
              <a:rPr sz="719" i="0">
                <a:solidFill>
                  <a:srgbClr val="E6EDF3"/>
                </a:solidFill>
                <a:latin typeface="Inconsolata"/>
              </a:rPr>
              <a:t> defaultdict</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sqlalchemy </a:t>
            </a:r>
            <a:r>
              <a:rPr sz="719" i="0">
                <a:solidFill>
                  <a:srgbClr val="FF8E6E"/>
                </a:solidFill>
                <a:latin typeface="Inconsolata"/>
              </a:rPr>
              <a:t>import</a:t>
            </a:r>
            <a:r>
              <a:rPr sz="719" i="0">
                <a:solidFill>
                  <a:srgbClr val="E6EDF3"/>
                </a:solidFill>
                <a:latin typeface="Inconsolata"/>
              </a:rPr>
              <a:t> create_engine, text</a:t>
            </a:r>
          </a:p>
          <a:p>
            <a:pPr>
              <a:lnSpc>
                <a:spcPct val="104277"/>
              </a:lnSpc>
              <a:spcAft>
                <a:spcPts val="0"/>
              </a:spcAft>
            </a:pPr>
            <a:r>
              <a:rPr sz="719" i="0">
                <a:solidFill>
                  <a:srgbClr val="5C6773"/>
                </a:solidFill>
                <a:latin typeface="Inconsolata"/>
              </a:rPr>
              <a:t>15  </a:t>
            </a:r>
            <a:r>
              <a:rPr sz="719" i="0">
                <a:solidFill>
                  <a:srgbClr val="E6EDF3"/>
                </a:solidFill>
                <a:latin typeface="Inconsolata"/>
              </a:rPr>
              <a:t> </a:t>
            </a:r>
          </a:p>
          <a:p>
            <a:pPr>
              <a:lnSpc>
                <a:spcPct val="104277"/>
              </a:lnSpc>
              <a:spcAft>
                <a:spcPts val="0"/>
              </a:spcAft>
            </a:pPr>
            <a:r>
              <a:rPr sz="719" i="0">
                <a:solidFill>
                  <a:srgbClr val="5C6773"/>
                </a:solidFill>
                <a:latin typeface="Inconsolata"/>
              </a:rPr>
              <a:t>16  </a:t>
            </a:r>
            <a:r>
              <a:rPr sz="719" i="0">
                <a:solidFill>
                  <a:srgbClr val="7FDBCA"/>
                </a:solidFill>
                <a:latin typeface="Inconsolata"/>
              </a:rPr>
              <a:t>DB_URL</a:t>
            </a:r>
            <a:r>
              <a:rPr sz="719" i="0">
                <a:solidFill>
                  <a:srgbClr val="E6EDF3"/>
                </a:solidFill>
                <a:latin typeface="Inconsolata"/>
              </a:rPr>
              <a:t> = os.getenv(</a:t>
            </a:r>
            <a:r>
              <a:rPr sz="719" i="0">
                <a:solidFill>
                  <a:srgbClr val="A5D6A7"/>
                </a:solidFill>
                <a:latin typeface="Inconsolata"/>
              </a:rPr>
              <a:t>"DEMO_DATABASE_URL"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r>
              <a:rPr sz="719" i="0">
                <a:solidFill>
                  <a:srgbClr val="A5D6A7"/>
                </a:solidFill>
                <a:latin typeface="Inconsolata"/>
              </a:rPr>
              <a:t>"postgresql+psycopg://app:app@localhost:5432/demo"</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engine = create_engine(</a:t>
            </a:r>
            <a:r>
              <a:rPr sz="719" i="0">
                <a:solidFill>
                  <a:srgbClr val="7FDBCA"/>
                </a:solidFill>
                <a:latin typeface="Inconsolata"/>
              </a:rPr>
              <a:t>DB_URL</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E6EDF3"/>
                </a:solidFill>
                <a:latin typeface="Inconsolata"/>
              </a:rPr>
              <a:t> </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p>
          <a:p>
            <a:pPr>
              <a:lnSpc>
                <a:spcPct val="104277"/>
              </a:lnSpc>
              <a:spcAft>
                <a:spcPts val="0"/>
              </a:spcAft>
            </a:pPr>
            <a:r>
              <a:rPr sz="719" i="0">
                <a:solidFill>
                  <a:srgbClr val="5C6773"/>
                </a:solidFill>
                <a:latin typeface="Inconsolata"/>
              </a:rPr>
              <a:t>21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sales_by_status</a:t>
            </a:r>
            <a:r>
              <a:rPr sz="719" i="0">
                <a:solidFill>
                  <a:srgbClr val="E6EDF3"/>
                </a:solidFill>
                <a:latin typeface="Inconsolata"/>
              </a:rPr>
              <a:t>(conn):</a:t>
            </a:r>
          </a:p>
          <a:p>
            <a:pPr>
              <a:lnSpc>
                <a:spcPct val="104277"/>
              </a:lnSpc>
              <a:spcAft>
                <a:spcPts val="0"/>
              </a:spcAft>
            </a:pPr>
            <a:r>
              <a:rPr sz="719" i="0">
                <a:solidFill>
                  <a:srgbClr val="5C6773"/>
                </a:solidFill>
                <a:latin typeface="Inconsolata"/>
              </a:rPr>
              <a:t>22  </a:t>
            </a:r>
            <a:r>
              <a:rPr sz="719" i="0">
                <a:solidFill>
                  <a:srgbClr val="E6EDF3"/>
                </a:solidFill>
                <a:latin typeface="Inconsolata"/>
              </a:rPr>
              <a:t>    orders = conn.execute(text(</a:t>
            </a:r>
            <a:r>
              <a:rPr sz="719" i="0">
                <a:solidFill>
                  <a:srgbClr val="A5D6A7"/>
                </a:solidFill>
                <a:latin typeface="Inconsolata"/>
              </a:rPr>
              <a:t>"SELECT * FROM orders"</a:t>
            </a:r>
            <a:r>
              <a:rPr sz="719" i="0">
                <a:solidFill>
                  <a:srgbClr val="E6EDF3"/>
                </a:solidFill>
                <a:latin typeface="Inconsolata"/>
              </a:rPr>
              <a:t>)).all()</a:t>
            </a:r>
          </a:p>
          <a:p>
            <a:pPr>
              <a:lnSpc>
                <a:spcPct val="104277"/>
              </a:lnSpc>
              <a:spcAft>
                <a:spcPts val="0"/>
              </a:spcAft>
            </a:pPr>
            <a:r>
              <a:rPr sz="719" i="0">
                <a:solidFill>
                  <a:srgbClr val="5C6773"/>
                </a:solidFill>
                <a:latin typeface="Inconsolata"/>
              </a:rPr>
              <a:t>23  </a:t>
            </a:r>
            <a:r>
              <a:rPr sz="719" i="0">
                <a:solidFill>
                  <a:srgbClr val="E6EDF3"/>
                </a:solidFill>
                <a:latin typeface="Inconsolata"/>
              </a:rPr>
              <a:t>    lines = conn.execute(text(</a:t>
            </a:r>
            <a:r>
              <a:rPr sz="719" i="0">
                <a:solidFill>
                  <a:srgbClr val="A5D6A7"/>
                </a:solidFill>
                <a:latin typeface="Inconsolata"/>
              </a:rPr>
              <a:t>"SELECT * FROM order_lines"</a:t>
            </a:r>
            <a:r>
              <a:rPr sz="719" i="0">
                <a:solidFill>
                  <a:srgbClr val="E6EDF3"/>
                </a:solidFill>
                <a:latin typeface="Inconsolata"/>
              </a:rPr>
              <a:t>)).all()</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06-query-tuning/before.py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25  </a:t>
            </a:r>
            <a:r>
              <a:rPr sz="719" i="0">
                <a:solidFill>
                  <a:srgbClr val="E6EDF3"/>
                </a:solidFill>
                <a:latin typeface="Inconsolata"/>
              </a:rPr>
              <a:t>    status_of = {o.id: o.status </a:t>
            </a:r>
            <a:r>
              <a:rPr sz="719" i="0">
                <a:solidFill>
                  <a:srgbClr val="FF8E6E"/>
                </a:solidFill>
                <a:latin typeface="Inconsolata"/>
              </a:rPr>
              <a:t>for</a:t>
            </a:r>
            <a:r>
              <a:rPr sz="719" i="0">
                <a:solidFill>
                  <a:srgbClr val="E6EDF3"/>
                </a:solidFill>
                <a:latin typeface="Inconsolata"/>
              </a:rPr>
              <a:t> o </a:t>
            </a:r>
            <a:r>
              <a:rPr sz="719" i="0">
                <a:solidFill>
                  <a:srgbClr val="FF8E6E"/>
                </a:solidFill>
                <a:latin typeface="Inconsolata"/>
              </a:rPr>
              <a:t>in</a:t>
            </a:r>
            <a:r>
              <a:rPr sz="719" i="0">
                <a:solidFill>
                  <a:srgbClr val="E6EDF3"/>
                </a:solidFill>
                <a:latin typeface="Inconsolata"/>
              </a:rPr>
              <a:t> orders}</a:t>
            </a:r>
          </a:p>
          <a:p>
            <a:pPr>
              <a:lnSpc>
                <a:spcPct val="104277"/>
              </a:lnSpc>
              <a:spcAft>
                <a:spcPts val="0"/>
              </a:spcAft>
            </a:pPr>
            <a:r>
              <a:rPr sz="719" i="0">
                <a:solidFill>
                  <a:srgbClr val="5C6773"/>
                </a:solidFill>
                <a:latin typeface="Inconsolata"/>
              </a:rPr>
              <a:t>26  </a:t>
            </a:r>
            <a:r>
              <a:rPr sz="719" i="0">
                <a:solidFill>
                  <a:srgbClr val="E6EDF3"/>
                </a:solidFill>
                <a:latin typeface="Inconsolata"/>
              </a:rPr>
              <a:t>    report = defaultdict(</a:t>
            </a:r>
            <a:r>
              <a:rPr sz="719" i="0">
                <a:solidFill>
                  <a:srgbClr val="FF8E6E"/>
                </a:solidFill>
                <a:latin typeface="Inconsolata"/>
              </a:rPr>
              <a:t>lambda</a:t>
            </a:r>
            <a:r>
              <a:rPr sz="719" i="0">
                <a:solidFill>
                  <a:srgbClr val="E6EDF3"/>
                </a:solidFill>
                <a:latin typeface="Inconsolata"/>
              </a:rPr>
              <a:t>: {</a:t>
            </a:r>
            <a:r>
              <a:rPr sz="719" i="0">
                <a:solidFill>
                  <a:srgbClr val="A5D6A7"/>
                </a:solidFill>
                <a:latin typeface="Inconsolata"/>
              </a:rPr>
              <a:t>"orders"</a:t>
            </a:r>
            <a:r>
              <a:rPr sz="719" i="0">
                <a:solidFill>
                  <a:srgbClr val="E6EDF3"/>
                </a:solidFill>
                <a:latin typeface="Inconsolata"/>
              </a:rPr>
              <a:t>: </a:t>
            </a:r>
            <a:r>
              <a:rPr sz="719" i="0">
                <a:solidFill>
                  <a:srgbClr val="F9C97A"/>
                </a:solidFill>
                <a:latin typeface="Inconsolata"/>
              </a:rPr>
              <a:t>0</a:t>
            </a:r>
            <a:r>
              <a:rPr sz="719" i="0">
                <a:solidFill>
                  <a:srgbClr val="E6EDF3"/>
                </a:solidFill>
                <a:latin typeface="Inconsolata"/>
              </a:rPr>
              <a:t>, </a:t>
            </a:r>
            <a:r>
              <a:rPr sz="719" i="0">
                <a:solidFill>
                  <a:srgbClr val="A5D6A7"/>
                </a:solidFill>
                <a:latin typeface="Inconsolata"/>
              </a:rPr>
              <a:t>"revenue"</a:t>
            </a:r>
            <a:r>
              <a:rPr sz="719" i="0">
                <a:solidFill>
                  <a:srgbClr val="E6EDF3"/>
                </a:solidFill>
                <a:latin typeface="Inconsolata"/>
              </a:rPr>
              <a:t>: </a:t>
            </a:r>
            <a:r>
              <a:rPr sz="719" i="0">
                <a:solidFill>
                  <a:srgbClr val="F9C97A"/>
                </a:solidFill>
                <a:latin typeface="Inconsolata"/>
              </a:rPr>
              <a:t>0</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o </a:t>
            </a:r>
            <a:r>
              <a:rPr sz="719" i="0">
                <a:solidFill>
                  <a:srgbClr val="FF8E6E"/>
                </a:solidFill>
                <a:latin typeface="Inconsolata"/>
              </a:rPr>
              <a:t>in</a:t>
            </a:r>
            <a:r>
              <a:rPr sz="719" i="0">
                <a:solidFill>
                  <a:srgbClr val="E6EDF3"/>
                </a:solidFill>
                <a:latin typeface="Inconsolata"/>
              </a:rPr>
              <a:t> orders:</a:t>
            </a:r>
          </a:p>
          <a:p>
            <a:pPr>
              <a:lnSpc>
                <a:spcPct val="104277"/>
              </a:lnSpc>
              <a:spcAft>
                <a:spcPts val="0"/>
              </a:spcAft>
            </a:pPr>
            <a:r>
              <a:rPr sz="719" i="0">
                <a:solidFill>
                  <a:srgbClr val="5C6773"/>
                </a:solidFill>
                <a:latin typeface="Inconsolata"/>
              </a:rPr>
              <a:t>28  </a:t>
            </a:r>
            <a:r>
              <a:rPr sz="719" i="0">
                <a:solidFill>
                  <a:srgbClr val="E6EDF3"/>
                </a:solidFill>
                <a:latin typeface="Inconsolata"/>
              </a:rPr>
              <a:t>        report[o.status][</a:t>
            </a:r>
            <a:r>
              <a:rPr sz="719" i="0">
                <a:solidFill>
                  <a:srgbClr val="A5D6A7"/>
                </a:solidFill>
                <a:latin typeface="Inconsolata"/>
              </a:rPr>
              <a:t>"orders"</a:t>
            </a:r>
            <a:r>
              <a:rPr sz="719" i="0">
                <a:solidFill>
                  <a:srgbClr val="E6EDF3"/>
                </a:solidFill>
                <a:latin typeface="Inconsolata"/>
              </a:rPr>
              <a:t>] += </a:t>
            </a:r>
            <a:r>
              <a:rPr sz="719" i="0">
                <a:solidFill>
                  <a:srgbClr val="F9C97A"/>
                </a:solidFill>
                <a:latin typeface="Inconsolata"/>
              </a:rPr>
              <a:t>1</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line </a:t>
            </a:r>
            <a:r>
              <a:rPr sz="719" i="0">
                <a:solidFill>
                  <a:srgbClr val="FF8E6E"/>
                </a:solidFill>
                <a:latin typeface="Inconsolata"/>
              </a:rPr>
              <a:t>in</a:t>
            </a:r>
            <a:r>
              <a:rPr sz="719" i="0">
                <a:solidFill>
                  <a:srgbClr val="E6EDF3"/>
                </a:solidFill>
                <a:latin typeface="Inconsolata"/>
              </a:rPr>
              <a:t> lines:</a:t>
            </a:r>
          </a:p>
          <a:p>
            <a:pPr>
              <a:lnSpc>
                <a:spcPct val="104277"/>
              </a:lnSpc>
              <a:spcAft>
                <a:spcPts val="0"/>
              </a:spcAft>
            </a:pPr>
            <a:r>
              <a:rPr sz="719" i="0">
                <a:solidFill>
                  <a:srgbClr val="5C6773"/>
                </a:solidFill>
                <a:latin typeface="Inconsolata"/>
              </a:rPr>
              <a:t>30  </a:t>
            </a:r>
            <a:r>
              <a:rPr sz="719" i="0">
                <a:solidFill>
                  <a:srgbClr val="E6EDF3"/>
                </a:solidFill>
                <a:latin typeface="Inconsolata"/>
              </a:rPr>
              <a:t>        status = status_of[line.order_id]</a:t>
            </a:r>
          </a:p>
          <a:p>
            <a:pPr>
              <a:lnSpc>
                <a:spcPct val="104277"/>
              </a:lnSpc>
              <a:spcAft>
                <a:spcPts val="0"/>
              </a:spcAft>
            </a:pPr>
            <a:r>
              <a:rPr sz="719" i="0">
                <a:solidFill>
                  <a:srgbClr val="5C6773"/>
                </a:solidFill>
                <a:latin typeface="Inconsolata"/>
              </a:rPr>
              <a:t>31  </a:t>
            </a:r>
            <a:r>
              <a:rPr sz="719" i="0">
                <a:solidFill>
                  <a:srgbClr val="E6EDF3"/>
                </a:solidFill>
                <a:latin typeface="Inconsolata"/>
              </a:rPr>
              <a:t>        report[status][</a:t>
            </a:r>
            <a:r>
              <a:rPr sz="719" i="0">
                <a:solidFill>
                  <a:srgbClr val="A5D6A7"/>
                </a:solidFill>
                <a:latin typeface="Inconsolata"/>
              </a:rPr>
              <a:t>"revenue"</a:t>
            </a:r>
            <a:r>
              <a:rPr sz="719" i="0">
                <a:solidFill>
                  <a:srgbClr val="E6EDF3"/>
                </a:solidFill>
                <a:latin typeface="Inconsolata"/>
              </a:rPr>
              <a:t>] += line.price * line.qty</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C3A6FF"/>
                </a:solidFill>
                <a:latin typeface="Inconsolata"/>
              </a:rPr>
              <a:t>dict</a:t>
            </a:r>
            <a:r>
              <a:rPr sz="719" i="0">
                <a:solidFill>
                  <a:srgbClr val="E6EDF3"/>
                </a:solidFill>
                <a:latin typeface="Inconsolata"/>
              </a:rPr>
              <a:t>(report), </a:t>
            </a:r>
            <a:r>
              <a:rPr sz="719" i="0">
                <a:solidFill>
                  <a:srgbClr val="C3A6FF"/>
                </a:solidFill>
                <a:latin typeface="Inconsolata"/>
              </a:rPr>
              <a:t>len</a:t>
            </a:r>
            <a:r>
              <a:rPr sz="719" i="0">
                <a:solidFill>
                  <a:srgbClr val="E6EDF3"/>
                </a:solidFill>
                <a:latin typeface="Inconsolata"/>
              </a:rPr>
              <a:t>(orders) + </a:t>
            </a:r>
            <a:r>
              <a:rPr sz="719" i="0">
                <a:solidFill>
                  <a:srgbClr val="C3A6FF"/>
                </a:solidFill>
                <a:latin typeface="Inconsolata"/>
              </a:rPr>
              <a:t>len</a:t>
            </a:r>
            <a:r>
              <a:rPr sz="719" i="0">
                <a:solidFill>
                  <a:srgbClr val="E6EDF3"/>
                </a:solidFill>
                <a:latin typeface="Inconsolata"/>
              </a:rPr>
              <a:t>(lines)</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p>
          <a:p>
            <a:pPr>
              <a:lnSpc>
                <a:spcPct val="104277"/>
              </a:lnSpc>
              <a:spcAft>
                <a:spcPts val="0"/>
              </a:spcAft>
            </a:pPr>
            <a:r>
              <a:rPr sz="719" i="0">
                <a:solidFill>
                  <a:srgbClr val="5C6773"/>
                </a:solidFill>
                <a:latin typeface="Inconsolata"/>
              </a:rPr>
              <a:t>35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r>
              <a:rPr sz="719" i="0">
                <a:solidFill>
                  <a:srgbClr val="FF8E6E"/>
                </a:solidFill>
                <a:latin typeface="Inconsolata"/>
              </a:rPr>
              <a:t>with</a:t>
            </a:r>
            <a:r>
              <a:rPr sz="719" i="0">
                <a:solidFill>
                  <a:srgbClr val="E6EDF3"/>
                </a:solidFill>
                <a:latin typeface="Inconsolata"/>
              </a:rPr>
              <a:t> engine.connect() </a:t>
            </a:r>
            <a:r>
              <a:rPr sz="719" i="0">
                <a:solidFill>
                  <a:srgbClr val="FF8E6E"/>
                </a:solidFill>
                <a:latin typeface="Inconsolata"/>
              </a:rPr>
              <a:t>as</a:t>
            </a:r>
            <a:r>
              <a:rPr sz="719" i="0">
                <a:solidFill>
                  <a:srgbClr val="E6EDF3"/>
                </a:solidFill>
                <a:latin typeface="Inconsolata"/>
              </a:rPr>
              <a:t> conn:</a:t>
            </a:r>
          </a:p>
          <a:p>
            <a:pPr>
              <a:lnSpc>
                <a:spcPct val="104277"/>
              </a:lnSpc>
              <a:spcAft>
                <a:spcPts val="0"/>
              </a:spcAft>
            </a:pPr>
            <a:r>
              <a:rPr sz="719" i="0">
                <a:solidFill>
                  <a:srgbClr val="5C6773"/>
                </a:solidFill>
                <a:latin typeface="Inconsolata"/>
              </a:rPr>
              <a:t>37  </a:t>
            </a:r>
            <a:r>
              <a:rPr sz="719" i="0">
                <a:solidFill>
                  <a:srgbClr val="E6EDF3"/>
                </a:solidFill>
                <a:latin typeface="Inconsolata"/>
              </a:rPr>
              <a:t>        start = time.perf_counter()</a:t>
            </a:r>
          </a:p>
          <a:p>
            <a:pPr>
              <a:lnSpc>
                <a:spcPct val="104277"/>
              </a:lnSpc>
              <a:spcAft>
                <a:spcPts val="0"/>
              </a:spcAft>
            </a:pPr>
            <a:r>
              <a:rPr sz="719" i="0">
                <a:solidFill>
                  <a:srgbClr val="5C6773"/>
                </a:solidFill>
                <a:latin typeface="Inconsolata"/>
              </a:rPr>
              <a:t>38  </a:t>
            </a:r>
            <a:r>
              <a:rPr sz="719" i="0">
                <a:solidFill>
                  <a:srgbClr val="E6EDF3"/>
                </a:solidFill>
                <a:latin typeface="Inconsolata"/>
              </a:rPr>
              <a:t>        report, rows = sales_by_status(conn)</a:t>
            </a:r>
          </a:p>
          <a:p>
            <a:pPr>
              <a:lnSpc>
                <a:spcPct val="104277"/>
              </a:lnSpc>
              <a:spcAft>
                <a:spcPts val="0"/>
              </a:spcAft>
            </a:pPr>
            <a:r>
              <a:rPr sz="719" i="0">
                <a:solidFill>
                  <a:srgbClr val="5C6773"/>
                </a:solidFill>
                <a:latin typeface="Inconsolata"/>
              </a:rPr>
              <a:t>39  </a:t>
            </a:r>
            <a:r>
              <a:rPr sz="719" i="0">
                <a:solidFill>
                  <a:srgbClr val="E6EDF3"/>
                </a:solidFill>
                <a:latin typeface="Inconsolata"/>
              </a:rPr>
              <a:t>        ms = (time.perf_counter() - start) * </a:t>
            </a:r>
            <a:r>
              <a:rPr sz="719" i="0">
                <a:solidFill>
                  <a:srgbClr val="F9C97A"/>
                </a:solidFill>
                <a:latin typeface="Inconsolata"/>
              </a:rPr>
              <a:t>1000</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f"{rows} baris ke Python, {ms:.0f} ms"</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"paid:"</a:t>
            </a:r>
            <a:r>
              <a:rPr sz="719" i="0">
                <a:solidFill>
                  <a:srgbClr val="E6EDF3"/>
                </a:solidFill>
                <a:latin typeface="Inconsolata"/>
              </a:rPr>
              <a:t>, report[</a:t>
            </a:r>
            <a:r>
              <a:rPr sz="719" i="0">
                <a:solidFill>
                  <a:srgbClr val="A5D6A7"/>
                </a:solidFill>
                <a:latin typeface="Inconsolata"/>
              </a:rPr>
              <a:t>"paid"</a:t>
            </a:r>
            <a:r>
              <a:rPr sz="719" i="0">
                <a:solidFill>
                  <a:srgbClr val="E6EDF3"/>
                </a:solidFill>
                <a:latin typeface="Inconsolata"/>
              </a:rPr>
              <a:t>])</a:t>
            </a:r>
          </a:p>
        </p:txBody>
      </p:sp>
      <p:sp>
        <p:nvSpPr>
          <p:cNvPr id="36" name="Box 21"/>
          <p:cNvSpPr/>
          <p:nvPr/>
        </p:nvSpPr>
        <p:spPr>
          <a:xfrm>
            <a:off x="704088" y="31969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1889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564642"/>
          </a:xfrm>
          <a:prstGeom prst="roundRect">
            <a:avLst>
              <a:gd name="adj" fmla="val 80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217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06-query-tuning/before.py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sesi-07-database-optimization/06-query-tuning</a:t>
            </a:r>
          </a:p>
          <a:p>
            <a:pPr>
              <a:lnSpc>
                <a:spcPct val="111111"/>
              </a:lnSpc>
              <a:spcAft>
                <a:spcPts val="0"/>
              </a:spcAft>
            </a:pPr>
            <a:r>
              <a:rPr sz="900" i="0">
                <a:solidFill>
                  <a:srgbClr val="82B1FF"/>
                </a:solidFill>
                <a:latin typeface="Inconsolata"/>
              </a:rPr>
              <a:t>$ python before.py</a:t>
            </a:r>
          </a:p>
        </p:txBody>
      </p:sp>
      <p:pic>
        <p:nvPicPr>
          <p:cNvPr id="29" name="Image 12" descr="s07-06-query-tuning-before.png"/>
          <p:cNvPicPr>
            <a:picLocks noChangeAspect="1"/>
          </p:cNvPicPr>
          <p:nvPr/>
        </p:nvPicPr>
        <p:blipFill>
          <a:blip r:embed="rId2"/>
          <a:stretch>
            <a:fillRect/>
          </a:stretch>
        </p:blipFill>
        <p:spPr>
          <a:xfrm>
            <a:off x="621792" y="2322576"/>
            <a:ext cx="4297680" cy="852373"/>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order dan semua item diambil (baris 22-23)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Total dihitung dengan loop di Python (baris 27-31)</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600.000 baris ke Python, sekitar 1 detik.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GROUP BY di database</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06-query-tuning/after.py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15  </a:t>
            </a:r>
            <a:r>
              <a:rPr sz="709" i="0">
                <a:solidFill>
                  <a:srgbClr val="FF8E6E"/>
                </a:solidFill>
                <a:latin typeface="Inconsolata"/>
              </a:rPr>
              <a:t>import</a:t>
            </a:r>
            <a:r>
              <a:rPr sz="709" i="0">
                <a:solidFill>
                  <a:srgbClr val="E6EDF3"/>
                </a:solidFill>
                <a:latin typeface="Inconsolata"/>
              </a:rPr>
              <a:t> os</a:t>
            </a:r>
          </a:p>
          <a:p>
            <a:pPr>
              <a:lnSpc>
                <a:spcPct val="105686"/>
              </a:lnSpc>
              <a:spcAft>
                <a:spcPts val="0"/>
              </a:spcAft>
            </a:pPr>
            <a:r>
              <a:rPr sz="709" i="0">
                <a:solidFill>
                  <a:srgbClr val="5C6773"/>
                </a:solidFill>
                <a:latin typeface="Inconsolata"/>
              </a:rPr>
              <a:t>16  </a:t>
            </a:r>
            <a:r>
              <a:rPr sz="709" i="0">
                <a:solidFill>
                  <a:srgbClr val="FF8E6E"/>
                </a:solidFill>
                <a:latin typeface="Inconsolata"/>
              </a:rPr>
              <a:t>import</a:t>
            </a:r>
            <a:r>
              <a:rPr sz="709" i="0">
                <a:solidFill>
                  <a:srgbClr val="E6EDF3"/>
                </a:solidFill>
                <a:latin typeface="Inconsolata"/>
              </a:rPr>
              <a:t> time</a:t>
            </a:r>
          </a:p>
          <a:p>
            <a:pPr>
              <a:lnSpc>
                <a:spcPct val="105686"/>
              </a:lnSpc>
              <a:spcAft>
                <a:spcPts val="0"/>
              </a:spcAft>
            </a:pPr>
            <a:r>
              <a:rPr sz="709" i="0">
                <a:solidFill>
                  <a:srgbClr val="5C6773"/>
                </a:solidFill>
                <a:latin typeface="Inconsolata"/>
              </a:rPr>
              <a:t>17  </a:t>
            </a:r>
            <a:r>
              <a:rPr sz="709" i="0">
                <a:solidFill>
                  <a:srgbClr val="E6EDF3"/>
                </a:solidFill>
                <a:latin typeface="Inconsolata"/>
              </a:rPr>
              <a:t> </a:t>
            </a:r>
          </a:p>
          <a:p>
            <a:pPr>
              <a:lnSpc>
                <a:spcPct val="105686"/>
              </a:lnSpc>
              <a:spcAft>
                <a:spcPts val="0"/>
              </a:spcAft>
            </a:pPr>
            <a:r>
              <a:rPr sz="709" i="0">
                <a:solidFill>
                  <a:srgbClr val="5C6773"/>
                </a:solidFill>
                <a:latin typeface="Inconsolata"/>
              </a:rPr>
              <a:t>18  </a:t>
            </a:r>
            <a:r>
              <a:rPr sz="709" i="0">
                <a:solidFill>
                  <a:srgbClr val="FF8E6E"/>
                </a:solidFill>
                <a:latin typeface="Inconsolata"/>
              </a:rPr>
              <a:t>from</a:t>
            </a:r>
            <a:r>
              <a:rPr sz="709" i="0">
                <a:solidFill>
                  <a:srgbClr val="E6EDF3"/>
                </a:solidFill>
                <a:latin typeface="Inconsolata"/>
              </a:rPr>
              <a:t> sqlalchemy </a:t>
            </a:r>
            <a:r>
              <a:rPr sz="709" i="0">
                <a:solidFill>
                  <a:srgbClr val="FF8E6E"/>
                </a:solidFill>
                <a:latin typeface="Inconsolata"/>
              </a:rPr>
              <a:t>import</a:t>
            </a:r>
            <a:r>
              <a:rPr sz="709" i="0">
                <a:solidFill>
                  <a:srgbClr val="E6EDF3"/>
                </a:solidFill>
                <a:latin typeface="Inconsolata"/>
              </a:rPr>
              <a:t> create_engine, text</a:t>
            </a:r>
          </a:p>
          <a:p>
            <a:pPr>
              <a:lnSpc>
                <a:spcPct val="105686"/>
              </a:lnSpc>
              <a:spcAft>
                <a:spcPts val="0"/>
              </a:spcAft>
            </a:pPr>
            <a:r>
              <a:rPr sz="709" i="0">
                <a:solidFill>
                  <a:srgbClr val="5C6773"/>
                </a:solidFill>
                <a:latin typeface="Inconsolata"/>
              </a:rPr>
              <a:t>19  </a:t>
            </a:r>
            <a:r>
              <a:rPr sz="709" i="0">
                <a:solidFill>
                  <a:srgbClr val="E6EDF3"/>
                </a:solidFill>
                <a:latin typeface="Inconsolata"/>
              </a:rPr>
              <a:t> </a:t>
            </a:r>
          </a:p>
          <a:p>
            <a:pPr>
              <a:lnSpc>
                <a:spcPct val="105686"/>
              </a:lnSpc>
              <a:spcAft>
                <a:spcPts val="0"/>
              </a:spcAft>
            </a:pPr>
            <a:r>
              <a:rPr sz="709" i="0">
                <a:solidFill>
                  <a:srgbClr val="5C6773"/>
                </a:solidFill>
                <a:latin typeface="Inconsolata"/>
              </a:rPr>
              <a:t>20  </a:t>
            </a:r>
            <a:r>
              <a:rPr sz="709" i="0">
                <a:solidFill>
                  <a:srgbClr val="7FDBCA"/>
                </a:solidFill>
                <a:latin typeface="Inconsolata"/>
              </a:rPr>
              <a:t>DB_URL</a:t>
            </a:r>
            <a:r>
              <a:rPr sz="709" i="0">
                <a:solidFill>
                  <a:srgbClr val="E6EDF3"/>
                </a:solidFill>
                <a:latin typeface="Inconsolata"/>
              </a:rPr>
              <a:t> = os.getenv(</a:t>
            </a:r>
            <a:r>
              <a:rPr sz="709" i="0">
                <a:solidFill>
                  <a:srgbClr val="A5D6A7"/>
                </a:solidFill>
                <a:latin typeface="Inconsolata"/>
              </a:rPr>
              <a:t>"DEMO_DATABASE_URL"</a:t>
            </a:r>
            <a:r>
              <a:rPr sz="709" i="0">
                <a:solidFill>
                  <a:srgbClr val="E6EDF3"/>
                </a:solidFill>
                <a:latin typeface="Inconsolata"/>
              </a:rPr>
              <a:t>,</a:t>
            </a:r>
          </a:p>
          <a:p>
            <a:pPr>
              <a:lnSpc>
                <a:spcPct val="105686"/>
              </a:lnSpc>
              <a:spcAft>
                <a:spcPts val="0"/>
              </a:spcAft>
            </a:pPr>
            <a:r>
              <a:rPr sz="709" i="0">
                <a:solidFill>
                  <a:srgbClr val="5C6773"/>
                </a:solidFill>
                <a:latin typeface="Inconsolata"/>
              </a:rPr>
              <a:t>21  </a:t>
            </a:r>
            <a:r>
              <a:rPr sz="709" i="0">
                <a:solidFill>
                  <a:srgbClr val="E6EDF3"/>
                </a:solidFill>
                <a:latin typeface="Inconsolata"/>
              </a:rPr>
              <a:t>                   </a:t>
            </a:r>
            <a:r>
              <a:rPr sz="709" i="0">
                <a:solidFill>
                  <a:srgbClr val="A5D6A7"/>
                </a:solidFill>
                <a:latin typeface="Inconsolata"/>
              </a:rPr>
              <a:t>"postgresql+psycopg://app:app@localhost:5432/demo"</a:t>
            </a:r>
            <a:r>
              <a:rPr sz="709" i="0">
                <a:solidFill>
                  <a:srgbClr val="E6EDF3"/>
                </a:solidFill>
                <a:latin typeface="Inconsolata"/>
              </a:rPr>
              <a:t>)</a:t>
            </a:r>
          </a:p>
          <a:p>
            <a:pPr>
              <a:lnSpc>
                <a:spcPct val="105686"/>
              </a:lnSpc>
              <a:spcAft>
                <a:spcPts val="0"/>
              </a:spcAft>
            </a:pPr>
            <a:r>
              <a:rPr sz="709" i="0">
                <a:solidFill>
                  <a:srgbClr val="5C6773"/>
                </a:solidFill>
                <a:latin typeface="Inconsolata"/>
              </a:rPr>
              <a:t>22  </a:t>
            </a:r>
            <a:r>
              <a:rPr sz="709" i="0">
                <a:solidFill>
                  <a:srgbClr val="E6EDF3"/>
                </a:solidFill>
                <a:latin typeface="Inconsolata"/>
              </a:rPr>
              <a:t>engine = create_engine(</a:t>
            </a:r>
            <a:r>
              <a:rPr sz="709" i="0">
                <a:solidFill>
                  <a:srgbClr val="7FDBCA"/>
                </a:solidFill>
                <a:latin typeface="Inconsolata"/>
              </a:rPr>
              <a:t>DB_URL</a:t>
            </a:r>
            <a:r>
              <a:rPr sz="709" i="0">
                <a:solidFill>
                  <a:srgbClr val="E6EDF3"/>
                </a:solidFill>
                <a:latin typeface="Inconsolata"/>
              </a:rPr>
              <a:t>)</a:t>
            </a:r>
          </a:p>
          <a:p>
            <a:pPr>
              <a:lnSpc>
                <a:spcPct val="105686"/>
              </a:lnSpc>
              <a:spcAft>
                <a:spcPts val="0"/>
              </a:spcAft>
            </a:pPr>
            <a:r>
              <a:rPr sz="709" i="0">
                <a:solidFill>
                  <a:srgbClr val="5C6773"/>
                </a:solidFill>
                <a:latin typeface="Inconsolata"/>
              </a:rPr>
              <a:t>23  </a:t>
            </a:r>
            <a:r>
              <a:rPr sz="709" i="0">
                <a:solidFill>
                  <a:srgbClr val="E6EDF3"/>
                </a:solidFill>
                <a:latin typeface="Inconsolata"/>
              </a:rPr>
              <a:t> </a:t>
            </a:r>
          </a:p>
          <a:p>
            <a:pPr>
              <a:lnSpc>
                <a:spcPct val="105686"/>
              </a:lnSpc>
              <a:spcAft>
                <a:spcPts val="0"/>
              </a:spcAft>
            </a:pPr>
            <a:r>
              <a:rPr sz="709" i="0">
                <a:solidFill>
                  <a:srgbClr val="5C6773"/>
                </a:solidFill>
                <a:latin typeface="Inconsolata"/>
              </a:rPr>
              <a:t>24  </a:t>
            </a:r>
            <a:r>
              <a:rPr sz="709" i="0">
                <a:solidFill>
                  <a:srgbClr val="7FDBCA"/>
                </a:solidFill>
                <a:latin typeface="Inconsolata"/>
              </a:rPr>
              <a:t>SALES_BY_STATUS</a:t>
            </a:r>
            <a:r>
              <a:rPr sz="709" i="0">
                <a:solidFill>
                  <a:srgbClr val="E6EDF3"/>
                </a:solidFill>
                <a:latin typeface="Inconsolata"/>
              </a:rPr>
              <a:t> = text(</a:t>
            </a:r>
            <a:r>
              <a:rPr sz="709" i="0">
                <a:solidFill>
                  <a:srgbClr val="A5D6A7"/>
                </a:solidFill>
                <a:latin typeface="Inconsolata"/>
              </a:rPr>
              <a:t>"""</a:t>
            </a:r>
          </a:p>
          <a:p>
            <a:pPr>
              <a:lnSpc>
                <a:spcPct val="105686"/>
              </a:lnSpc>
              <a:spcAft>
                <a:spcPts val="0"/>
              </a:spcAft>
            </a:pPr>
            <a:r>
              <a:rPr sz="709" i="0">
                <a:solidFill>
                  <a:srgbClr val="5C6773"/>
                </a:solidFill>
                <a:latin typeface="Inconsolata"/>
              </a:rPr>
              <a:t>25  </a:t>
            </a:r>
            <a:r>
              <a:rPr sz="709" i="0">
                <a:solidFill>
                  <a:srgbClr val="A5D6A7"/>
                </a:solidFill>
                <a:latin typeface="Inconsolata"/>
              </a:rPr>
              <a:t>    SELECT o.status, count(*) AS orders, sum(t.total) AS revenue</a:t>
            </a:r>
          </a:p>
          <a:p>
            <a:pPr>
              <a:lnSpc>
                <a:spcPct val="105686"/>
              </a:lnSpc>
              <a:spcAft>
                <a:spcPts val="0"/>
              </a:spcAft>
            </a:pPr>
            <a:r>
              <a:rPr sz="709" i="0">
                <a:solidFill>
                  <a:srgbClr val="5C6773"/>
                </a:solidFill>
                <a:latin typeface="Inconsolata"/>
              </a:rPr>
              <a:t>26  </a:t>
            </a:r>
            <a:r>
              <a:rPr sz="709" i="0">
                <a:solidFill>
                  <a:srgbClr val="A5D6A7"/>
                </a:solidFill>
                <a:latin typeface="Inconsolata"/>
              </a:rPr>
              <a:t>    FROM orders AS o</a:t>
            </a:r>
          </a:p>
          <a:p>
            <a:pPr>
              <a:lnSpc>
                <a:spcPct val="105686"/>
              </a:lnSpc>
              <a:spcAft>
                <a:spcPts val="0"/>
              </a:spcAft>
            </a:pPr>
            <a:r>
              <a:rPr sz="709" i="0">
                <a:solidFill>
                  <a:srgbClr val="5C6773"/>
                </a:solidFill>
                <a:latin typeface="Inconsolata"/>
              </a:rPr>
              <a:t>27  </a:t>
            </a:r>
            <a:r>
              <a:rPr sz="709" i="0">
                <a:solidFill>
                  <a:srgbClr val="A5D6A7"/>
                </a:solidFill>
                <a:latin typeface="Inconsolata"/>
              </a:rPr>
              <a:t>    JOIN (SELECT order_id, sum(price * qty) AS total  -- per order</a:t>
            </a:r>
          </a:p>
          <a:p>
            <a:pPr>
              <a:lnSpc>
                <a:spcPct val="105686"/>
              </a:lnSpc>
              <a:spcAft>
                <a:spcPts val="0"/>
              </a:spcAft>
            </a:pPr>
            <a:r>
              <a:rPr sz="709" i="0">
                <a:solidFill>
                  <a:srgbClr val="5C6773"/>
                </a:solidFill>
                <a:latin typeface="Inconsolata"/>
              </a:rPr>
              <a:t>28  </a:t>
            </a:r>
            <a:r>
              <a:rPr sz="709" i="0">
                <a:solidFill>
                  <a:srgbClr val="A5D6A7"/>
                </a:solidFill>
                <a:latin typeface="Inconsolata"/>
              </a:rPr>
              <a:t>          FROM order_lines GROUP BY order_id) AS t</a:t>
            </a:r>
          </a:p>
          <a:p>
            <a:pPr>
              <a:lnSpc>
                <a:spcPct val="105686"/>
              </a:lnSpc>
              <a:spcAft>
                <a:spcPts val="0"/>
              </a:spcAft>
            </a:pPr>
            <a:r>
              <a:rPr sz="709" i="0">
                <a:solidFill>
                  <a:srgbClr val="5C6773"/>
                </a:solidFill>
                <a:latin typeface="Inconsolata"/>
              </a:rPr>
              <a:t>29  </a:t>
            </a:r>
            <a:r>
              <a:rPr sz="709" i="0">
                <a:solidFill>
                  <a:srgbClr val="A5D6A7"/>
                </a:solidFill>
                <a:latin typeface="Inconsolata"/>
              </a:rPr>
              <a:t>      ON t.order_id = o.id</a:t>
            </a:r>
          </a:p>
          <a:p>
            <a:pPr>
              <a:lnSpc>
                <a:spcPct val="105686"/>
              </a:lnSpc>
              <a:spcAft>
                <a:spcPts val="0"/>
              </a:spcAft>
            </a:pPr>
            <a:r>
              <a:rPr sz="709" i="0">
                <a:solidFill>
                  <a:srgbClr val="5C6773"/>
                </a:solidFill>
                <a:latin typeface="Inconsolata"/>
              </a:rPr>
              <a:t>30  </a:t>
            </a:r>
            <a:r>
              <a:rPr sz="709" i="0">
                <a:solidFill>
                  <a:srgbClr val="A5D6A7"/>
                </a:solidFill>
                <a:latin typeface="Inconsolata"/>
              </a:rPr>
              <a:t>    GROUP BY o.status</a:t>
            </a:r>
          </a:p>
          <a:p>
            <a:pPr>
              <a:lnSpc>
                <a:spcPct val="105686"/>
              </a:lnSpc>
              <a:spcAft>
                <a:spcPts val="0"/>
              </a:spcAft>
            </a:pPr>
            <a:r>
              <a:rPr sz="709" i="0">
                <a:solidFill>
                  <a:srgbClr val="5C6773"/>
                </a:solidFill>
                <a:latin typeface="Inconsolata"/>
              </a:rPr>
              <a:t>31  </a:t>
            </a:r>
            <a:r>
              <a:rPr sz="709" i="0">
                <a:solidFill>
                  <a:srgbClr val="A5D6A7"/>
                </a:solidFill>
                <a:latin typeface="Inconsolata"/>
              </a:rPr>
              <a:t>"""</a:t>
            </a:r>
            <a:r>
              <a:rPr sz="70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06-query-tuning/after.py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34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sales_by_status</a:t>
            </a:r>
            <a:r>
              <a:rPr sz="709" i="0">
                <a:solidFill>
                  <a:srgbClr val="E6EDF3"/>
                </a:solidFill>
                <a:latin typeface="Inconsolata"/>
              </a:rPr>
              <a:t>(conn):</a:t>
            </a:r>
          </a:p>
          <a:p>
            <a:pPr>
              <a:lnSpc>
                <a:spcPct val="105686"/>
              </a:lnSpc>
              <a:spcAft>
                <a:spcPts val="0"/>
              </a:spcAft>
            </a:pPr>
            <a:r>
              <a:rPr sz="709" i="0">
                <a:solidFill>
                  <a:srgbClr val="5C6773"/>
                </a:solidFill>
                <a:latin typeface="Inconsolata"/>
              </a:rPr>
              <a:t>35  </a:t>
            </a:r>
            <a:r>
              <a:rPr sz="709" i="0">
                <a:solidFill>
                  <a:srgbClr val="E6EDF3"/>
                </a:solidFill>
                <a:latin typeface="Inconsolata"/>
              </a:rPr>
              <a:t>    rows = conn.execute(</a:t>
            </a:r>
            <a:r>
              <a:rPr sz="709" i="0">
                <a:solidFill>
                  <a:srgbClr val="7FDBCA"/>
                </a:solidFill>
                <a:latin typeface="Inconsolata"/>
              </a:rPr>
              <a:t>SALES_BY_STATUS</a:t>
            </a:r>
            <a:r>
              <a:rPr sz="709" i="0">
                <a:solidFill>
                  <a:srgbClr val="E6EDF3"/>
                </a:solidFill>
                <a:latin typeface="Inconsolata"/>
              </a:rPr>
              <a:t>).all()</a:t>
            </a:r>
          </a:p>
          <a:p>
            <a:pPr>
              <a:lnSpc>
                <a:spcPct val="105686"/>
              </a:lnSpc>
              <a:spcAft>
                <a:spcPts val="0"/>
              </a:spcAft>
            </a:pPr>
            <a:r>
              <a:rPr sz="709" i="0">
                <a:solidFill>
                  <a:srgbClr val="5C6773"/>
                </a:solidFill>
                <a:latin typeface="Inconsolata"/>
              </a:rPr>
              <a:t>36  </a:t>
            </a:r>
            <a:r>
              <a:rPr sz="709" i="0">
                <a:solidFill>
                  <a:srgbClr val="E6EDF3"/>
                </a:solidFill>
                <a:latin typeface="Inconsolata"/>
              </a:rPr>
              <a:t>    report = {r.status: {</a:t>
            </a:r>
            <a:r>
              <a:rPr sz="709" i="0">
                <a:solidFill>
                  <a:srgbClr val="A5D6A7"/>
                </a:solidFill>
                <a:latin typeface="Inconsolata"/>
              </a:rPr>
              <a:t>"orders"</a:t>
            </a:r>
            <a:r>
              <a:rPr sz="709" i="0">
                <a:solidFill>
                  <a:srgbClr val="E6EDF3"/>
                </a:solidFill>
                <a:latin typeface="Inconsolata"/>
              </a:rPr>
              <a:t>: r.orders, </a:t>
            </a:r>
            <a:r>
              <a:rPr sz="709" i="0">
                <a:solidFill>
                  <a:srgbClr val="A5D6A7"/>
                </a:solidFill>
                <a:latin typeface="Inconsolata"/>
              </a:rPr>
              <a:t>"revenue"</a:t>
            </a:r>
            <a:r>
              <a:rPr sz="709" i="0">
                <a:solidFill>
                  <a:srgbClr val="E6EDF3"/>
                </a:solidFill>
                <a:latin typeface="Inconsolata"/>
              </a:rPr>
              <a:t>: </a:t>
            </a:r>
            <a:r>
              <a:rPr sz="709" i="0">
                <a:solidFill>
                  <a:srgbClr val="C3A6FF"/>
                </a:solidFill>
                <a:latin typeface="Inconsolata"/>
              </a:rPr>
              <a:t>int</a:t>
            </a:r>
            <a:r>
              <a:rPr sz="709" i="0">
                <a:solidFill>
                  <a:srgbClr val="E6EDF3"/>
                </a:solidFill>
                <a:latin typeface="Inconsolata"/>
              </a:rPr>
              <a:t>(r.revenue)}</a:t>
            </a:r>
          </a:p>
          <a:p>
            <a:pPr>
              <a:lnSpc>
                <a:spcPct val="105686"/>
              </a:lnSpc>
              <a:spcAft>
                <a:spcPts val="0"/>
              </a:spcAft>
            </a:pPr>
            <a:r>
              <a:rPr sz="709" i="0">
                <a:solidFill>
                  <a:srgbClr val="5C6773"/>
                </a:solidFill>
                <a:latin typeface="Inconsolata"/>
              </a:rPr>
              <a:t>37  </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r </a:t>
            </a:r>
            <a:r>
              <a:rPr sz="709" i="0">
                <a:solidFill>
                  <a:srgbClr val="FF8E6E"/>
                </a:solidFill>
                <a:latin typeface="Inconsolata"/>
              </a:rPr>
              <a:t>in</a:t>
            </a:r>
            <a:r>
              <a:rPr sz="709" i="0">
                <a:solidFill>
                  <a:srgbClr val="E6EDF3"/>
                </a:solidFill>
                <a:latin typeface="Inconsolata"/>
              </a:rPr>
              <a:t> rows}</a:t>
            </a:r>
          </a:p>
          <a:p>
            <a:pPr>
              <a:lnSpc>
                <a:spcPct val="105686"/>
              </a:lnSpc>
              <a:spcAft>
                <a:spcPts val="0"/>
              </a:spcAft>
            </a:pPr>
            <a:r>
              <a:rPr sz="709" i="0">
                <a:solidFill>
                  <a:srgbClr val="5C6773"/>
                </a:solidFill>
                <a:latin typeface="Inconsolata"/>
              </a:rPr>
              <a:t>38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report, </a:t>
            </a:r>
            <a:r>
              <a:rPr sz="709" i="0">
                <a:solidFill>
                  <a:srgbClr val="C3A6FF"/>
                </a:solidFill>
                <a:latin typeface="Inconsolata"/>
              </a:rPr>
              <a:t>len</a:t>
            </a:r>
            <a:r>
              <a:rPr sz="709" i="0">
                <a:solidFill>
                  <a:srgbClr val="E6EDF3"/>
                </a:solidFill>
                <a:latin typeface="Inconsolata"/>
              </a:rPr>
              <a:t>(rows)</a:t>
            </a:r>
          </a:p>
          <a:p>
            <a:pPr>
              <a:lnSpc>
                <a:spcPct val="105686"/>
              </a:lnSpc>
              <a:spcAft>
                <a:spcPts val="0"/>
              </a:spcAft>
            </a:pPr>
            <a:r>
              <a:rPr sz="709" i="0">
                <a:solidFill>
                  <a:srgbClr val="5C6773"/>
                </a:solidFill>
                <a:latin typeface="Inconsolata"/>
              </a:rPr>
              <a:t>39  </a:t>
            </a:r>
            <a:r>
              <a:rPr sz="709" i="0">
                <a:solidFill>
                  <a:srgbClr val="E6EDF3"/>
                </a:solidFill>
                <a:latin typeface="Inconsolata"/>
              </a:rPr>
              <a:t> </a:t>
            </a:r>
          </a:p>
          <a:p>
            <a:pPr>
              <a:lnSpc>
                <a:spcPct val="105686"/>
              </a:lnSpc>
              <a:spcAft>
                <a:spcPts val="0"/>
              </a:spcAft>
            </a:pPr>
            <a:r>
              <a:rPr sz="709" i="0">
                <a:solidFill>
                  <a:srgbClr val="5C6773"/>
                </a:solidFill>
                <a:latin typeface="Inconsolata"/>
              </a:rPr>
              <a:t>40  </a:t>
            </a:r>
            <a:r>
              <a:rPr sz="709" i="0">
                <a:solidFill>
                  <a:srgbClr val="E6EDF3"/>
                </a:solidFill>
                <a:latin typeface="Inconsolata"/>
              </a:rPr>
              <a:t> </a:t>
            </a:r>
          </a:p>
          <a:p>
            <a:pPr>
              <a:lnSpc>
                <a:spcPct val="105686"/>
              </a:lnSpc>
              <a:spcAft>
                <a:spcPts val="0"/>
              </a:spcAft>
            </a:pPr>
            <a:r>
              <a:rPr sz="709" i="0">
                <a:solidFill>
                  <a:srgbClr val="5C6773"/>
                </a:solidFill>
                <a:latin typeface="Inconsolata"/>
              </a:rPr>
              <a:t>41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42  </a:t>
            </a:r>
            <a:r>
              <a:rPr sz="709" i="0">
                <a:solidFill>
                  <a:srgbClr val="E6EDF3"/>
                </a:solidFill>
                <a:latin typeface="Inconsolata"/>
              </a:rPr>
              <a:t>    </a:t>
            </a:r>
            <a:r>
              <a:rPr sz="709" i="0">
                <a:solidFill>
                  <a:srgbClr val="FF8E6E"/>
                </a:solidFill>
                <a:latin typeface="Inconsolata"/>
              </a:rPr>
              <a:t>with</a:t>
            </a:r>
            <a:r>
              <a:rPr sz="709" i="0">
                <a:solidFill>
                  <a:srgbClr val="E6EDF3"/>
                </a:solidFill>
                <a:latin typeface="Inconsolata"/>
              </a:rPr>
              <a:t> engine.connect() </a:t>
            </a:r>
            <a:r>
              <a:rPr sz="709" i="0">
                <a:solidFill>
                  <a:srgbClr val="FF8E6E"/>
                </a:solidFill>
                <a:latin typeface="Inconsolata"/>
              </a:rPr>
              <a:t>as</a:t>
            </a:r>
            <a:r>
              <a:rPr sz="709" i="0">
                <a:solidFill>
                  <a:srgbClr val="E6EDF3"/>
                </a:solidFill>
                <a:latin typeface="Inconsolata"/>
              </a:rPr>
              <a:t> conn:</a:t>
            </a:r>
          </a:p>
          <a:p>
            <a:pPr>
              <a:lnSpc>
                <a:spcPct val="105686"/>
              </a:lnSpc>
              <a:spcAft>
                <a:spcPts val="0"/>
              </a:spcAft>
            </a:pPr>
            <a:r>
              <a:rPr sz="709" i="0">
                <a:solidFill>
                  <a:srgbClr val="5C6773"/>
                </a:solidFill>
                <a:latin typeface="Inconsolata"/>
              </a:rPr>
              <a:t>43  </a:t>
            </a:r>
            <a:r>
              <a:rPr sz="709" i="0">
                <a:solidFill>
                  <a:srgbClr val="E6EDF3"/>
                </a:solidFill>
                <a:latin typeface="Inconsolata"/>
              </a:rPr>
              <a:t>        start = time.perf_counter()</a:t>
            </a:r>
          </a:p>
          <a:p>
            <a:pPr>
              <a:lnSpc>
                <a:spcPct val="105686"/>
              </a:lnSpc>
              <a:spcAft>
                <a:spcPts val="0"/>
              </a:spcAft>
            </a:pPr>
            <a:r>
              <a:rPr sz="709" i="0">
                <a:solidFill>
                  <a:srgbClr val="5C6773"/>
                </a:solidFill>
                <a:latin typeface="Inconsolata"/>
              </a:rPr>
              <a:t>44  </a:t>
            </a:r>
            <a:r>
              <a:rPr sz="709" i="0">
                <a:solidFill>
                  <a:srgbClr val="E6EDF3"/>
                </a:solidFill>
                <a:latin typeface="Inconsolata"/>
              </a:rPr>
              <a:t>        report, rows = sales_by_status(conn)</a:t>
            </a:r>
          </a:p>
          <a:p>
            <a:pPr>
              <a:lnSpc>
                <a:spcPct val="105686"/>
              </a:lnSpc>
              <a:spcAft>
                <a:spcPts val="0"/>
              </a:spcAft>
            </a:pPr>
            <a:r>
              <a:rPr sz="709" i="0">
                <a:solidFill>
                  <a:srgbClr val="5C6773"/>
                </a:solidFill>
                <a:latin typeface="Inconsolata"/>
              </a:rPr>
              <a:t>45  </a:t>
            </a:r>
            <a:r>
              <a:rPr sz="709" i="0">
                <a:solidFill>
                  <a:srgbClr val="E6EDF3"/>
                </a:solidFill>
                <a:latin typeface="Inconsolata"/>
              </a:rPr>
              <a:t>        ms = (time.perf_counter() - start) * </a:t>
            </a:r>
            <a:r>
              <a:rPr sz="709" i="0">
                <a:solidFill>
                  <a:srgbClr val="F9C97A"/>
                </a:solidFill>
                <a:latin typeface="Inconsolata"/>
              </a:rPr>
              <a:t>1000</a:t>
            </a:r>
          </a:p>
          <a:p>
            <a:pPr>
              <a:lnSpc>
                <a:spcPct val="105686"/>
              </a:lnSpc>
              <a:spcAft>
                <a:spcPts val="0"/>
              </a:spcAft>
            </a:pPr>
            <a:r>
              <a:rPr sz="709" i="0">
                <a:solidFill>
                  <a:srgbClr val="5C6773"/>
                </a:solidFill>
                <a:latin typeface="Inconsolata"/>
              </a:rPr>
              <a:t>46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f"{rows} baris ke Python, {ms:.0f} ms"</a:t>
            </a:r>
            <a:r>
              <a:rPr sz="709" i="0">
                <a:solidFill>
                  <a:srgbClr val="E6EDF3"/>
                </a:solidFill>
                <a:latin typeface="Inconsolata"/>
              </a:rPr>
              <a:t>)</a:t>
            </a:r>
          </a:p>
          <a:p>
            <a:pPr>
              <a:lnSpc>
                <a:spcPct val="105686"/>
              </a:lnSpc>
              <a:spcAft>
                <a:spcPts val="0"/>
              </a:spcAft>
            </a:pPr>
            <a:r>
              <a:rPr sz="709" i="0">
                <a:solidFill>
                  <a:srgbClr val="5C6773"/>
                </a:solidFill>
                <a:latin typeface="Inconsolata"/>
              </a:rPr>
              <a:t>47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"paid:"</a:t>
            </a:r>
            <a:r>
              <a:rPr sz="709" i="0">
                <a:solidFill>
                  <a:srgbClr val="E6EDF3"/>
                </a:solidFill>
                <a:latin typeface="Inconsolata"/>
              </a:rPr>
              <a:t>, report[</a:t>
            </a:r>
            <a:r>
              <a:rPr sz="709" i="0">
                <a:solidFill>
                  <a:srgbClr val="A5D6A7"/>
                </a:solidFill>
                <a:latin typeface="Inconsolata"/>
              </a:rPr>
              <a:t>"paid"</a:t>
            </a:r>
            <a:r>
              <a:rPr sz="709" i="0">
                <a:solidFill>
                  <a:srgbClr val="E6EDF3"/>
                </a:solidFill>
                <a:latin typeface="Inconsolata"/>
              </a:rPr>
              <a:t>])</a:t>
            </a:r>
          </a:p>
        </p:txBody>
      </p:sp>
      <p:sp>
        <p:nvSpPr>
          <p:cNvPr id="36" name="Box 21"/>
          <p:cNvSpPr/>
          <p:nvPr/>
        </p:nvSpPr>
        <p:spPr>
          <a:xfrm>
            <a:off x="704088" y="31969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246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29683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2903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704088" y="35398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4709159" y="19396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Box 27"/>
          <p:cNvSpPr/>
          <p:nvPr/>
        </p:nvSpPr>
        <p:spPr>
          <a:xfrm>
            <a:off x="8284463" y="18745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Query Tuning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06-query-tuning/after.py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sesi-07-database-optimization/06-query-tuning</a:t>
            </a:r>
          </a:p>
          <a:p>
            <a:pPr>
              <a:lnSpc>
                <a:spcPct val="111111"/>
              </a:lnSpc>
              <a:spcAft>
                <a:spcPts val="0"/>
              </a:spcAft>
            </a:pPr>
            <a:r>
              <a:rPr sz="900" i="0">
                <a:solidFill>
                  <a:srgbClr val="82B1FF"/>
                </a:solidFill>
                <a:latin typeface="Inconsolata"/>
              </a:rPr>
              <a:t>$ python after.py</a:t>
            </a:r>
          </a:p>
        </p:txBody>
      </p:sp>
      <p:pic>
        <p:nvPicPr>
          <p:cNvPr id="29" name="Image 12" descr="s07-06-query-tuning-after.png"/>
          <p:cNvPicPr>
            <a:picLocks noChangeAspect="1"/>
          </p:cNvPicPr>
          <p:nvPr/>
        </p:nvPicPr>
        <p:blipFill>
          <a:blip r:embed="rId2"/>
          <a:stretch>
            <a:fillRect/>
          </a:stretch>
        </p:blipFill>
        <p:spPr>
          <a:xfrm>
            <a:off x="621792" y="2322576"/>
            <a:ext cx="4297680" cy="852373"/>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Total per order dihitung dulu di subquery (baris 27-29)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Lalu dijumlahkan per status (baris 25, 30)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Python hanya menerima hasil akhirnya (baris 35)</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3 baris ke Python, sekitar 0.13 detik. Hasilnya sama dengan before.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51</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Replication &amp; Sharding</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Pilihan saat satu database tidak cukup lagi.</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Replication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Replication?</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Replication adalah</a:t>
            </a:r>
          </a:p>
          <a:p>
            <a:pPr algn="l">
              <a:lnSpc>
                <a:spcPct val="115000"/>
              </a:lnSpc>
              <a:spcAft>
                <a:spcPts val="400"/>
              </a:spcAft>
            </a:pPr>
            <a:r>
              <a:rPr sz="950" b="0" i="0">
                <a:solidFill>
                  <a:srgbClr val="434343"/>
                </a:solidFill>
                <a:latin typeface="Inter"/>
              </a:rPr>
              <a:t>Menyalin data dari satu database utama (</a:t>
            </a:r>
            <a:r>
              <a:rPr sz="950" b="1" i="0">
                <a:solidFill>
                  <a:srgbClr val="434343"/>
                </a:solidFill>
                <a:latin typeface="Inter"/>
              </a:rPr>
              <a:t>primary</a:t>
            </a:r>
            <a:r>
              <a:rPr sz="950" b="0" i="0">
                <a:solidFill>
                  <a:srgbClr val="434343"/>
                </a:solidFill>
                <a:latin typeface="Inter"/>
              </a:rPr>
              <a:t>) ke beberapa salinan (</a:t>
            </a:r>
            <a:r>
              <a:rPr sz="950" b="1" i="0">
                <a:solidFill>
                  <a:srgbClr val="434343"/>
                </a:solidFill>
                <a:latin typeface="Inter"/>
              </a:rPr>
              <a:t>replica</a:t>
            </a:r>
            <a:r>
              <a:rPr sz="950" b="0" i="0">
                <a:solidFill>
                  <a:srgbClr val="434343"/>
                </a:solidFill>
                <a:latin typeface="Inter"/>
              </a:rPr>
              <a:t>). Semua write dikirim ke primary, sedangkan read bisa dibagi ke replica.</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Membagi beban read yang tinggi</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Menyiapkan pengganti jika primary mati (failover)</a:t>
            </a:r>
          </a:p>
          <a:p>
            <a:pPr algn="l">
              <a:lnSpc>
                <a:spcPct val="115000"/>
              </a:lnSpc>
              <a:spcAft>
                <a:spcPts val="400"/>
              </a:spcAft>
            </a:pPr>
            <a:r>
              <a:rPr sz="1050" b="1" i="0">
                <a:solidFill>
                  <a:srgbClr val="1C4587"/>
                </a:solidFill>
                <a:latin typeface="Inter"/>
              </a:rPr>
              <a:t>Risikonya</a:t>
            </a:r>
          </a:p>
          <a:p>
            <a:pPr algn="l">
              <a:lnSpc>
                <a:spcPct val="115000"/>
              </a:lnSpc>
              <a:spcAft>
                <a:spcPts val="400"/>
              </a:spcAft>
            </a:pPr>
            <a:r>
              <a:rPr sz="950" b="1" i="0">
                <a:solidFill>
                  <a:srgbClr val="434343"/>
                </a:solidFill>
                <a:latin typeface="Inter"/>
              </a:rPr>
              <a:t>Replica lag</a:t>
            </a:r>
            <a:r>
              <a:rPr sz="950" b="0" i="0">
                <a:solidFill>
                  <a:srgbClr val="434343"/>
                </a:solidFill>
                <a:latin typeface="Inter"/>
              </a:rPr>
              <a:t>: data di replica tertinggal beberapa milidetik sampai detik dari primary.</a:t>
            </a:r>
          </a:p>
        </p:txBody>
      </p:sp>
      <p:sp>
        <p:nvSpPr>
          <p:cNvPr id="23" name="Box 4"/>
          <p:cNvSpPr/>
          <p:nvPr/>
        </p:nvSpPr>
        <p:spPr>
          <a:xfrm>
            <a:off x="4892040" y="1554480"/>
            <a:ext cx="3593592" cy="384048"/>
          </a:xfrm>
          <a:prstGeom prst="roundRect">
            <a:avLst>
              <a:gd name="adj" fmla="val 28571"/>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FastAPI</a:t>
            </a:r>
          </a:p>
        </p:txBody>
      </p:sp>
      <p:cxnSp>
        <p:nvCxnSpPr>
          <p:cNvPr id="24" name="Arrow 5"/>
          <p:cNvCxnSpPr/>
          <p:nvPr/>
        </p:nvCxnSpPr>
        <p:spPr>
          <a:xfrm>
            <a:off x="5669280" y="1938528"/>
            <a:ext cx="0" cy="34747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 6"/>
          <p:cNvSpPr txBox="1"/>
          <p:nvPr/>
        </p:nvSpPr>
        <p:spPr>
          <a:xfrm>
            <a:off x="5715000" y="1965960"/>
            <a:ext cx="731520"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write</a:t>
            </a:r>
          </a:p>
        </p:txBody>
      </p:sp>
      <p:sp>
        <p:nvSpPr>
          <p:cNvPr id="26" name="Box 7"/>
          <p:cNvSpPr/>
          <p:nvPr/>
        </p:nvSpPr>
        <p:spPr>
          <a:xfrm>
            <a:off x="4892040" y="2286000"/>
            <a:ext cx="1554480" cy="548640"/>
          </a:xfrm>
          <a:prstGeom prst="roundRect">
            <a:avLst>
              <a:gd name="adj" fmla="val 20000"/>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Primary</a:t>
            </a:r>
          </a:p>
          <a:p>
            <a:pPr algn="ctr">
              <a:lnSpc>
                <a:spcPct val="105000"/>
              </a:lnSpc>
              <a:spcAft>
                <a:spcPts val="200"/>
              </a:spcAft>
            </a:pPr>
            <a:r>
              <a:rPr sz="900" b="1" i="0">
                <a:solidFill>
                  <a:srgbClr val="FFFFFF"/>
                </a:solidFill>
                <a:latin typeface="Inter"/>
              </a:rPr>
              <a:t>(read + write)</a:t>
            </a:r>
          </a:p>
        </p:txBody>
      </p:sp>
      <p:cxnSp>
        <p:nvCxnSpPr>
          <p:cNvPr id="27" name="Arrow 8"/>
          <p:cNvCxnSpPr/>
          <p:nvPr/>
        </p:nvCxnSpPr>
        <p:spPr>
          <a:xfrm>
            <a:off x="7708392" y="1938528"/>
            <a:ext cx="0" cy="34747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 9"/>
          <p:cNvSpPr txBox="1"/>
          <p:nvPr/>
        </p:nvSpPr>
        <p:spPr>
          <a:xfrm>
            <a:off x="7754112" y="1965960"/>
            <a:ext cx="731520"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read</a:t>
            </a:r>
          </a:p>
        </p:txBody>
      </p:sp>
      <p:sp>
        <p:nvSpPr>
          <p:cNvPr id="29" name="Box 10"/>
          <p:cNvSpPr/>
          <p:nvPr/>
        </p:nvSpPr>
        <p:spPr>
          <a:xfrm>
            <a:off x="6931152" y="2286000"/>
            <a:ext cx="1554480" cy="548640"/>
          </a:xfrm>
          <a:prstGeom prst="roundRect">
            <a:avLst>
              <a:gd name="adj" fmla="val 20000"/>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Replica 1</a:t>
            </a:r>
          </a:p>
          <a:p>
            <a:pPr algn="ctr">
              <a:lnSpc>
                <a:spcPct val="105000"/>
              </a:lnSpc>
              <a:spcAft>
                <a:spcPts val="200"/>
              </a:spcAft>
            </a:pPr>
            <a:r>
              <a:rPr sz="900" b="1" i="0">
                <a:solidFill>
                  <a:srgbClr val="FFFFFF"/>
                </a:solidFill>
                <a:latin typeface="Inter"/>
              </a:rPr>
              <a:t>(read only)</a:t>
            </a:r>
          </a:p>
        </p:txBody>
      </p:sp>
      <p:sp>
        <p:nvSpPr>
          <p:cNvPr id="30" name="Box 11"/>
          <p:cNvSpPr/>
          <p:nvPr/>
        </p:nvSpPr>
        <p:spPr>
          <a:xfrm>
            <a:off x="6931152" y="3017520"/>
            <a:ext cx="1554480" cy="548640"/>
          </a:xfrm>
          <a:prstGeom prst="roundRect">
            <a:avLst>
              <a:gd name="adj" fmla="val 20000"/>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Replica 2</a:t>
            </a:r>
          </a:p>
          <a:p>
            <a:pPr algn="ctr">
              <a:lnSpc>
                <a:spcPct val="105000"/>
              </a:lnSpc>
              <a:spcAft>
                <a:spcPts val="200"/>
              </a:spcAft>
            </a:pPr>
            <a:r>
              <a:rPr sz="900" b="1" i="0">
                <a:solidFill>
                  <a:srgbClr val="FFFFFF"/>
                </a:solidFill>
                <a:latin typeface="Inter"/>
              </a:rPr>
              <a:t>(read only)</a:t>
            </a:r>
          </a:p>
        </p:txBody>
      </p:sp>
      <p:cxnSp>
        <p:nvCxnSpPr>
          <p:cNvPr id="31" name="Arrow 12"/>
          <p:cNvCxnSpPr/>
          <p:nvPr/>
        </p:nvCxnSpPr>
        <p:spPr>
          <a:xfrm>
            <a:off x="6446520" y="2560320"/>
            <a:ext cx="484632" cy="0"/>
          </a:xfrm>
          <a:prstGeom prst="line">
            <a:avLst/>
          </a:prstGeom>
          <a:ln w="19050">
            <a:solidFill>
              <a:srgbClr val="7A7A7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13"/>
          <p:cNvCxnSpPr/>
          <p:nvPr/>
        </p:nvCxnSpPr>
        <p:spPr>
          <a:xfrm>
            <a:off x="6446520" y="2697480"/>
            <a:ext cx="484632" cy="594360"/>
          </a:xfrm>
          <a:prstGeom prst="line">
            <a:avLst/>
          </a:prstGeom>
          <a:ln w="19050">
            <a:solidFill>
              <a:srgbClr val="7A7A7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 14"/>
          <p:cNvSpPr txBox="1"/>
          <p:nvPr/>
        </p:nvSpPr>
        <p:spPr>
          <a:xfrm>
            <a:off x="4892040" y="3017520"/>
            <a:ext cx="1554480" cy="457200"/>
          </a:xfrm>
          <a:prstGeom prst="rect">
            <a:avLst/>
          </a:prstGeom>
          <a:noFill/>
        </p:spPr>
        <p:txBody>
          <a:bodyPr wrap="square" lIns="45720" rIns="45720" anchor="t">
            <a:spAutoFit/>
          </a:bodyPr>
          <a:lstStyle/>
          <a:p>
            <a:pPr algn="ctr">
              <a:lnSpc>
                <a:spcPct val="115000"/>
              </a:lnSpc>
              <a:spcAft>
                <a:spcPts val="400"/>
              </a:spcAft>
            </a:pPr>
            <a:r>
              <a:rPr sz="850" b="0" i="0">
                <a:solidFill>
                  <a:srgbClr val="7A7A7A"/>
                </a:solidFill>
                <a:latin typeface="Inter"/>
              </a:rPr>
              <a:t>replikasi (async)</a:t>
            </a:r>
          </a:p>
        </p:txBody>
      </p:sp>
      <p:sp>
        <p:nvSpPr>
          <p:cNvPr id="34" name="Text 15"/>
          <p:cNvSpPr txBox="1"/>
          <p:nvPr/>
        </p:nvSpPr>
        <p:spPr>
          <a:xfrm>
            <a:off x="4892040" y="3749039"/>
            <a:ext cx="3593592" cy="64008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Contoh lag: user baru membuat order, lalu riwayat order dibaca dari replica dan ordernya belum muncul.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Sharding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Sharding?</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Sharding adalah</a:t>
            </a:r>
          </a:p>
          <a:p>
            <a:pPr algn="l">
              <a:lnSpc>
                <a:spcPct val="115000"/>
              </a:lnSpc>
              <a:spcAft>
                <a:spcPts val="400"/>
              </a:spcAft>
            </a:pPr>
            <a:r>
              <a:rPr sz="950" b="0" i="0">
                <a:solidFill>
                  <a:srgbClr val="434343"/>
                </a:solidFill>
                <a:latin typeface="Inter"/>
              </a:rPr>
              <a:t>Memecah data satu tabel ke beberapa database berdasarkan </a:t>
            </a:r>
            <a:r>
              <a:rPr sz="950" b="1" i="0">
                <a:solidFill>
                  <a:srgbClr val="434343"/>
                </a:solidFill>
                <a:latin typeface="Inter"/>
              </a:rPr>
              <a:t>shard key</a:t>
            </a:r>
            <a:r>
              <a:rPr sz="950" b="0" i="0">
                <a:solidFill>
                  <a:srgbClr val="434343"/>
                </a:solidFill>
                <a:latin typeface="Inter"/>
              </a:rPr>
              <a:t>, misalnya customer. Setiap shard menyimpan sebagian data dan menerima sebagian write.</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Menampung data dan write yang terlalu besar untuk satu server</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Membuat setiap database lebih kecil, sehingga query lebih cepat</a:t>
            </a:r>
          </a:p>
          <a:p>
            <a:pPr algn="l">
              <a:lnSpc>
                <a:spcPct val="115000"/>
              </a:lnSpc>
              <a:spcAft>
                <a:spcPts val="400"/>
              </a:spcAft>
            </a:pPr>
            <a:r>
              <a:rPr sz="1050" b="1" i="0">
                <a:solidFill>
                  <a:srgbClr val="1C4587"/>
                </a:solidFill>
                <a:latin typeface="Inter"/>
              </a:rPr>
              <a:t>Risikonya</a:t>
            </a:r>
          </a:p>
          <a:p>
            <a:pPr algn="l">
              <a:lnSpc>
                <a:spcPct val="115000"/>
              </a:lnSpc>
              <a:spcAft>
                <a:spcPts val="400"/>
              </a:spcAft>
            </a:pPr>
            <a:r>
              <a:rPr sz="950" b="0" i="0">
                <a:solidFill>
                  <a:srgbClr val="434343"/>
                </a:solidFill>
                <a:latin typeface="Inter"/>
              </a:rPr>
              <a:t>Query lintas shard, memindahkan data antar shard (rebalancing), dan transaksi antar shard menjadi rumit.</a:t>
            </a:r>
          </a:p>
        </p:txBody>
      </p:sp>
      <p:sp>
        <p:nvSpPr>
          <p:cNvPr id="23" name="Box 4"/>
          <p:cNvSpPr/>
          <p:nvPr/>
        </p:nvSpPr>
        <p:spPr>
          <a:xfrm>
            <a:off x="4892040" y="1554480"/>
            <a:ext cx="3593592" cy="384048"/>
          </a:xfrm>
          <a:prstGeom prst="roundRect">
            <a:avLst>
              <a:gd name="adj" fmla="val 28571"/>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FastAPI</a:t>
            </a:r>
          </a:p>
        </p:txBody>
      </p:sp>
      <p:cxnSp>
        <p:nvCxnSpPr>
          <p:cNvPr id="24" name="Arrow 5"/>
          <p:cNvCxnSpPr/>
          <p:nvPr/>
        </p:nvCxnSpPr>
        <p:spPr>
          <a:xfrm>
            <a:off x="6684264" y="1938528"/>
            <a:ext cx="0" cy="25603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Box 6"/>
          <p:cNvSpPr/>
          <p:nvPr/>
        </p:nvSpPr>
        <p:spPr>
          <a:xfrm>
            <a:off x="4892040" y="2194560"/>
            <a:ext cx="3593592" cy="457200"/>
          </a:xfrm>
          <a:prstGeom prst="roundRect">
            <a:avLst>
              <a:gd name="adj" fmla="val 24000"/>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shard = hash(customer) % 3</a:t>
            </a:r>
          </a:p>
        </p:txBody>
      </p:sp>
      <p:cxnSp>
        <p:nvCxnSpPr>
          <p:cNvPr id="26" name="Arrow 7"/>
          <p:cNvCxnSpPr/>
          <p:nvPr/>
        </p:nvCxnSpPr>
        <p:spPr>
          <a:xfrm flipH="1">
            <a:off x="5458968" y="2651760"/>
            <a:ext cx="1225296"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Box 8"/>
          <p:cNvSpPr/>
          <p:nvPr/>
        </p:nvSpPr>
        <p:spPr>
          <a:xfrm>
            <a:off x="4892040" y="2971800"/>
            <a:ext cx="1143000" cy="548640"/>
          </a:xfrm>
          <a:prstGeom prst="roundRect">
            <a:avLst>
              <a:gd name="adj" fmla="val 20000"/>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Shard 0</a:t>
            </a:r>
          </a:p>
          <a:p>
            <a:pPr algn="ctr">
              <a:lnSpc>
                <a:spcPct val="105000"/>
              </a:lnSpc>
              <a:spcAft>
                <a:spcPts val="200"/>
              </a:spcAft>
            </a:pPr>
            <a:r>
              <a:rPr sz="900" b="1" i="0">
                <a:solidFill>
                  <a:srgbClr val="FFFFFF"/>
                </a:solidFill>
                <a:latin typeface="Inter"/>
              </a:rPr>
              <a:t>1/3 customer</a:t>
            </a:r>
          </a:p>
        </p:txBody>
      </p:sp>
      <p:cxnSp>
        <p:nvCxnSpPr>
          <p:cNvPr id="28" name="Arrow 9"/>
          <p:cNvCxnSpPr/>
          <p:nvPr/>
        </p:nvCxnSpPr>
        <p:spPr>
          <a:xfrm>
            <a:off x="6684264" y="2651760"/>
            <a:ext cx="0"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Box 10"/>
          <p:cNvSpPr/>
          <p:nvPr/>
        </p:nvSpPr>
        <p:spPr>
          <a:xfrm>
            <a:off x="6117336" y="2971800"/>
            <a:ext cx="1143000" cy="548640"/>
          </a:xfrm>
          <a:prstGeom prst="roundRect">
            <a:avLst>
              <a:gd name="adj" fmla="val 20000"/>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Shard 1</a:t>
            </a:r>
          </a:p>
          <a:p>
            <a:pPr algn="ctr">
              <a:lnSpc>
                <a:spcPct val="105000"/>
              </a:lnSpc>
              <a:spcAft>
                <a:spcPts val="200"/>
              </a:spcAft>
            </a:pPr>
            <a:r>
              <a:rPr sz="900" b="1" i="0">
                <a:solidFill>
                  <a:srgbClr val="FFFFFF"/>
                </a:solidFill>
                <a:latin typeface="Inter"/>
              </a:rPr>
              <a:t>1/3 customer</a:t>
            </a:r>
          </a:p>
        </p:txBody>
      </p:sp>
      <p:cxnSp>
        <p:nvCxnSpPr>
          <p:cNvPr id="30" name="Arrow 11"/>
          <p:cNvCxnSpPr/>
          <p:nvPr/>
        </p:nvCxnSpPr>
        <p:spPr>
          <a:xfrm>
            <a:off x="6684264" y="2651760"/>
            <a:ext cx="1225295" cy="320040"/>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Box 12"/>
          <p:cNvSpPr/>
          <p:nvPr/>
        </p:nvSpPr>
        <p:spPr>
          <a:xfrm>
            <a:off x="7342631" y="2971800"/>
            <a:ext cx="1143000" cy="548640"/>
          </a:xfrm>
          <a:prstGeom prst="roundRect">
            <a:avLst>
              <a:gd name="adj" fmla="val 20000"/>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00" b="1" i="0">
                <a:solidFill>
                  <a:srgbClr val="FFFFFF"/>
                </a:solidFill>
                <a:latin typeface="Inter"/>
              </a:rPr>
              <a:t>Shard 2</a:t>
            </a:r>
          </a:p>
          <a:p>
            <a:pPr algn="ctr">
              <a:lnSpc>
                <a:spcPct val="105000"/>
              </a:lnSpc>
              <a:spcAft>
                <a:spcPts val="200"/>
              </a:spcAft>
            </a:pPr>
            <a:r>
              <a:rPr sz="900" b="1" i="0">
                <a:solidFill>
                  <a:srgbClr val="FFFFFF"/>
                </a:solidFill>
                <a:latin typeface="Inter"/>
              </a:rPr>
              <a:t>1/3 customer</a:t>
            </a:r>
          </a:p>
        </p:txBody>
      </p:sp>
      <p:sp>
        <p:nvSpPr>
          <p:cNvPr id="32" name="Text 13"/>
          <p:cNvSpPr txBox="1"/>
          <p:nvPr/>
        </p:nvSpPr>
        <p:spPr>
          <a:xfrm>
            <a:off x="4892040" y="3703320"/>
            <a:ext cx="3593592" cy="64008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Report semua customer harus bertanya ke 3 shard, lalu hasilnya digabung di aplikasi.</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Trade-off</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Replication atau Sharding?</a:t>
            </a:r>
          </a:p>
        </p:txBody>
      </p:sp>
      <p:graphicFrame>
        <p:nvGraphicFramePr>
          <p:cNvPr id="22" name="Table 3"/>
          <p:cNvGraphicFramePr>
            <a:graphicFrameLocks noGrp="1"/>
          </p:cNvGraphicFramePr>
          <p:nvPr/>
        </p:nvGraphicFramePr>
        <p:xfrm>
          <a:off x="621792" y="1481328"/>
          <a:ext cx="7863840" cy="27432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48640">
                <a:tc>
                  <a:txBody>
                    <a:bodyPr/>
                    <a:lstStyle/>
                    <a:p>
                      <a:pPr algn="l">
                        <a:lnSpc>
                          <a:spcPct val="100000"/>
                        </a:lnSpc>
                        <a:spcAft>
                          <a:spcPts val="0"/>
                        </a:spcAft>
                      </a:pPr>
                      <a:r>
                        <a:rPr sz="900" b="1" i="0">
                          <a:solidFill>
                            <a:srgbClr val="FFFFFF"/>
                          </a:solidFill>
                          <a:latin typeface="Inter"/>
                        </a:rPr>
                        <a:t>Masalah</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Langkah awal</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Langkah selanjutnya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Trade-off</a:t>
                      </a:r>
                    </a:p>
                  </a:txBody>
                  <a:tcPr marL="73152" marR="73152" marT="36576" marB="36576" anchor="ctr">
                    <a:solidFill>
                      <a:srgbClr val="1C4587"/>
                    </a:solidFill>
                  </a:tcPr>
                </a:tc>
                <a:extLst>
                  <a:ext uri="{0D108BD9-81ED-4DB2-BD59-A6C34878D82A}">
                    <a16:rowId xmlns:a16="http://schemas.microsoft.com/office/drawing/2014/main" val="10000"/>
                  </a:ext>
                </a:extLst>
              </a:tr>
              <a:tr h="548640">
                <a:tc>
                  <a:txBody>
                    <a:bodyPr/>
                    <a:lstStyle/>
                    <a:p>
                      <a:pPr algn="l">
                        <a:lnSpc>
                          <a:spcPct val="100000"/>
                        </a:lnSpc>
                        <a:spcAft>
                          <a:spcPts val="0"/>
                        </a:spcAft>
                      </a:pPr>
                      <a:r>
                        <a:rPr sz="900" b="1" i="0">
                          <a:solidFill>
                            <a:srgbClr val="1C4587"/>
                          </a:solidFill>
                          <a:latin typeface="Inter"/>
                        </a:rPr>
                        <a:t>Query lambat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EXPLAIN ANALYZE, index, perbaiki N+1</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Query tuning, pagination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Hampir tidak ada</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pPr algn="l">
                        <a:lnSpc>
                          <a:spcPct val="100000"/>
                        </a:lnSpc>
                        <a:spcAft>
                          <a:spcPts val="0"/>
                        </a:spcAft>
                      </a:pPr>
                      <a:r>
                        <a:rPr sz="900" b="1" i="0">
                          <a:solidFill>
                            <a:srgbClr val="1C4587"/>
                          </a:solidFill>
                          <a:latin typeface="Inter"/>
                        </a:rPr>
                        <a:t>Read sangat tinggi</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Cache (Sesi 6)</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Read replica</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Replica lag, data bisa tertinggal</a:t>
                      </a:r>
                    </a:p>
                  </a:txBody>
                  <a:tcPr marL="73152" marR="73152" marT="36576" marB="36576" anchor="ctr">
                    <a:solidFill>
                      <a:srgbClr val="F3F4F6"/>
                    </a:solidFill>
                  </a:tcPr>
                </a:tc>
                <a:extLst>
                  <a:ext uri="{0D108BD9-81ED-4DB2-BD59-A6C34878D82A}">
                    <a16:rowId xmlns:a16="http://schemas.microsoft.com/office/drawing/2014/main" val="10002"/>
                  </a:ext>
                </a:extLst>
              </a:tr>
              <a:tr h="548640">
                <a:tc>
                  <a:txBody>
                    <a:bodyPr/>
                    <a:lstStyle/>
                    <a:p>
                      <a:pPr algn="l">
                        <a:lnSpc>
                          <a:spcPct val="100000"/>
                        </a:lnSpc>
                        <a:spcAft>
                          <a:spcPts val="0"/>
                        </a:spcAft>
                      </a:pPr>
                      <a:r>
                        <a:rPr sz="900" b="1" i="0">
                          <a:solidFill>
                            <a:srgbClr val="1C4587"/>
                          </a:solidFill>
                          <a:latin typeface="Inter"/>
                        </a:rPr>
                        <a:t>Satu tabel terlalu besar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Hapus atau arsipkan data lama</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Partitioning di satu database</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Query harus menyertakan partition key</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pPr algn="l">
                        <a:lnSpc>
                          <a:spcPct val="100000"/>
                        </a:lnSpc>
                        <a:spcAft>
                          <a:spcPts val="0"/>
                        </a:spcAft>
                      </a:pPr>
                      <a:r>
                        <a:rPr sz="900" b="1" i="0">
                          <a:solidFill>
                            <a:srgbClr val="1C4587"/>
                          </a:solidFill>
                          <a:latin typeface="Inter"/>
                        </a:rPr>
                        <a:t>Write terlalu besar untuk satu server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Upgrade server (vertical scaling)</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Sharding</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Query lintas shard, rebalancing, operasional berat</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55</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Profiling &amp; Optimasi Query</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langkah demi langkah. Ditambah riwayat order per customer.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6: Report Memuat Semua Order Satu per Satu</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07-query-optimization/before/app</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07843"/>
              </a:lnSpc>
              <a:spcAft>
                <a:spcPts val="0"/>
              </a:spcAft>
            </a:pPr>
            <a:r>
              <a:rPr sz="850" i="1">
                <a:solidFill>
                  <a:srgbClr val="8B98A8"/>
                </a:solidFill>
                <a:latin typeface="Inconsolata"/>
              </a:rPr>
              <a:t># application/report_service.py</a:t>
            </a:r>
          </a:p>
          <a:p>
            <a:pPr>
              <a:lnSpc>
                <a:spcPct val="107843"/>
              </a:lnSpc>
              <a:spcAft>
                <a:spcPts val="0"/>
              </a:spcAft>
            </a:pPr>
            <a:r>
              <a:rPr sz="850" i="0">
                <a:solidFill>
                  <a:srgbClr val="E6EDF3"/>
                </a:solidFill>
                <a:latin typeface="Inconsolata"/>
              </a:rPr>
              <a:t>    </a:t>
            </a: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sales_summary</a:t>
            </a:r>
            <a:r>
              <a:rPr sz="850" i="0">
                <a:solidFill>
                  <a:srgbClr val="E6EDF3"/>
                </a:solidFill>
                <a:latin typeface="Inconsolata"/>
              </a:rPr>
              <a:t>(</a:t>
            </a:r>
            <a:r>
              <a:rPr sz="850" i="0">
                <a:solidFill>
                  <a:srgbClr val="C3A6FF"/>
                </a:solidFill>
                <a:latin typeface="Inconsolata"/>
              </a:rPr>
              <a:t>self</a:t>
            </a:r>
            <a:r>
              <a:rPr sz="850" i="0">
                <a:solidFill>
                  <a:srgbClr val="E6EDF3"/>
                </a:solidFill>
                <a:latin typeface="Inconsolata"/>
              </a:rPr>
              <a:t>) -&gt; </a:t>
            </a:r>
            <a:r>
              <a:rPr sz="850" i="0">
                <a:solidFill>
                  <a:srgbClr val="C3A6FF"/>
                </a:solidFill>
                <a:latin typeface="Inconsolata"/>
              </a:rPr>
              <a:t>dict</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with</a:t>
            </a:r>
            <a:r>
              <a:rPr sz="850" i="0">
                <a:solidFill>
                  <a:srgbClr val="E6EDF3"/>
                </a:solidFill>
                <a:latin typeface="Inconsolata"/>
              </a:rPr>
              <a:t> </a:t>
            </a:r>
            <a:r>
              <a:rPr sz="850" i="0">
                <a:solidFill>
                  <a:srgbClr val="C3A6FF"/>
                </a:solidFill>
                <a:latin typeface="Inconsolata"/>
              </a:rPr>
              <a:t>self</a:t>
            </a:r>
            <a:r>
              <a:rPr sz="850" i="0">
                <a:solidFill>
                  <a:srgbClr val="E6EDF3"/>
                </a:solidFill>
                <a:latin typeface="Inconsolata"/>
              </a:rPr>
              <a:t>.uow:</a:t>
            </a:r>
          </a:p>
          <a:p>
            <a:pPr>
              <a:lnSpc>
                <a:spcPct val="107843"/>
              </a:lnSpc>
              <a:spcAft>
                <a:spcPts val="0"/>
              </a:spcAft>
            </a:pPr>
            <a:r>
              <a:rPr sz="850" i="0">
                <a:solidFill>
                  <a:srgbClr val="E6EDF3"/>
                </a:solidFill>
                <a:latin typeface="Inconsolata"/>
              </a:rPr>
              <a:t>            orders = </a:t>
            </a:r>
            <a:r>
              <a:rPr sz="850" i="0">
                <a:solidFill>
                  <a:srgbClr val="C3A6FF"/>
                </a:solidFill>
                <a:latin typeface="Inconsolata"/>
              </a:rPr>
              <a:t>self</a:t>
            </a:r>
            <a:r>
              <a:rPr sz="850" i="0">
                <a:solidFill>
                  <a:srgbClr val="E6EDF3"/>
                </a:solidFill>
                <a:latin typeface="Inconsolata"/>
              </a:rPr>
              <a:t>.uow.orders.</a:t>
            </a:r>
            <a:r>
              <a:rPr sz="850" i="0">
                <a:solidFill>
                  <a:srgbClr val="C3A6FF"/>
                </a:solidFill>
                <a:latin typeface="Inconsolata"/>
              </a:rPr>
              <a:t>list</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paid = [o </a:t>
            </a:r>
            <a:r>
              <a:rPr sz="850" i="0">
                <a:solidFill>
                  <a:srgbClr val="FF8E6E"/>
                </a:solidFill>
                <a:latin typeface="Inconsolata"/>
              </a:rPr>
              <a:t>for</a:t>
            </a:r>
            <a:r>
              <a:rPr sz="850" i="0">
                <a:solidFill>
                  <a:srgbClr val="E6EDF3"/>
                </a:solidFill>
                <a:latin typeface="Inconsolata"/>
              </a:rPr>
              <a:t> o </a:t>
            </a:r>
            <a:r>
              <a:rPr sz="850" i="0">
                <a:solidFill>
                  <a:srgbClr val="FF8E6E"/>
                </a:solidFill>
                <a:latin typeface="Inconsolata"/>
              </a:rPr>
              <a:t>in</a:t>
            </a:r>
            <a:r>
              <a:rPr sz="850" i="0">
                <a:solidFill>
                  <a:srgbClr val="E6EDF3"/>
                </a:solidFill>
                <a:latin typeface="Inconsolata"/>
              </a:rPr>
              <a:t> orders </a:t>
            </a:r>
            <a:r>
              <a:rPr sz="850" i="0">
                <a:solidFill>
                  <a:srgbClr val="FF8E6E"/>
                </a:solidFill>
                <a:latin typeface="Inconsolata"/>
              </a:rPr>
              <a:t>if</a:t>
            </a:r>
            <a:r>
              <a:rPr sz="850" i="0">
                <a:solidFill>
                  <a:srgbClr val="E6EDF3"/>
                </a:solidFill>
                <a:latin typeface="Inconsolata"/>
              </a:rPr>
              <a:t> o.status == </a:t>
            </a:r>
            <a:r>
              <a:rPr sz="850" i="0">
                <a:solidFill>
                  <a:srgbClr val="7FDBCA"/>
                </a:solidFill>
                <a:latin typeface="Inconsolata"/>
              </a:rPr>
              <a:t>OrderStatus</a:t>
            </a:r>
            <a:r>
              <a:rPr sz="850" i="0">
                <a:solidFill>
                  <a:srgbClr val="E6EDF3"/>
                </a:solidFill>
                <a:latin typeface="Inconsolata"/>
              </a:rPr>
              <a:t>.</a:t>
            </a:r>
            <a:r>
              <a:rPr sz="850" i="0">
                <a:solidFill>
                  <a:srgbClr val="7FDBCA"/>
                </a:solidFill>
                <a:latin typeface="Inconsolata"/>
              </a:rPr>
              <a:t>PAID</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E6EDF3"/>
                </a:solidFill>
                <a:latin typeface="Inconsolata"/>
              </a:rPr>
              <a:t> </a:t>
            </a:r>
          </a:p>
          <a:p>
            <a:pPr>
              <a:lnSpc>
                <a:spcPct val="107843"/>
              </a:lnSpc>
              <a:spcAft>
                <a:spcPts val="0"/>
              </a:spcAft>
            </a:pPr>
            <a:r>
              <a:rPr sz="850" i="1">
                <a:solidFill>
                  <a:srgbClr val="8B98A8"/>
                </a:solidFill>
                <a:latin typeface="Inconsolata"/>
              </a:rPr>
              <a:t># infrastructure/models.py</a:t>
            </a:r>
          </a:p>
          <a:p>
            <a:pPr>
              <a:lnSpc>
                <a:spcPct val="107843"/>
              </a:lnSpc>
              <a:spcAft>
                <a:spcPts val="0"/>
              </a:spcAft>
            </a:pPr>
            <a:r>
              <a:rPr sz="850" i="0">
                <a:solidFill>
                  <a:srgbClr val="E6EDF3"/>
                </a:solidFill>
                <a:latin typeface="Inconsolata"/>
              </a:rPr>
              <a:t>    order_id: </a:t>
            </a:r>
            <a:r>
              <a:rPr sz="850" i="0">
                <a:solidFill>
                  <a:srgbClr val="7FDBCA"/>
                </a:solidFill>
                <a:latin typeface="Inconsolata"/>
              </a:rPr>
              <a:t>Mapped</a:t>
            </a:r>
            <a:r>
              <a:rPr sz="850" i="0">
                <a:solidFill>
                  <a:srgbClr val="E6EDF3"/>
                </a:solidFill>
                <a:latin typeface="Inconsolata"/>
              </a:rPr>
              <a:t>[</a:t>
            </a:r>
            <a:r>
              <a:rPr sz="850" i="0">
                <a:solidFill>
                  <a:srgbClr val="C3A6FF"/>
                </a:solidFill>
                <a:latin typeface="Inconsolata"/>
              </a:rPr>
              <a:t>int</a:t>
            </a:r>
            <a:r>
              <a:rPr sz="850" i="0">
                <a:solidFill>
                  <a:srgbClr val="E6EDF3"/>
                </a:solidFill>
                <a:latin typeface="Inconsolata"/>
              </a:rPr>
              <a:t>] = mapped_column(</a:t>
            </a:r>
            <a:r>
              <a:rPr sz="850" i="0">
                <a:solidFill>
                  <a:srgbClr val="7FDBCA"/>
                </a:solidFill>
                <a:latin typeface="Inconsolata"/>
              </a:rPr>
              <a:t>ForeignKey</a:t>
            </a:r>
            <a:r>
              <a:rPr sz="850" i="0">
                <a:solidFill>
                  <a:srgbClr val="E6EDF3"/>
                </a:solidFill>
                <a:latin typeface="Inconsolata"/>
              </a:rPr>
              <a:t>(</a:t>
            </a:r>
            <a:r>
              <a:rPr sz="850" i="0">
                <a:solidFill>
                  <a:srgbClr val="A5D6A7"/>
                </a:solidFill>
                <a:latin typeface="Inconsolata"/>
              </a:rPr>
              <a:t>"orders.id"</a:t>
            </a:r>
            <a:r>
              <a:rPr sz="850" i="0">
                <a:solidFill>
                  <a:srgbClr val="E6EDF3"/>
                </a:solidFill>
                <a:latin typeface="Inconsolata"/>
              </a:rPr>
              <a:t>))</a:t>
            </a:r>
          </a:p>
        </p:txBody>
      </p:sp>
      <p:sp>
        <p:nvSpPr>
          <p:cNvPr id="29" name="Box 12"/>
          <p:cNvSpPr/>
          <p:nvPr/>
        </p:nvSpPr>
        <p:spPr>
          <a:xfrm>
            <a:off x="704088" y="2247773"/>
            <a:ext cx="4956048"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21945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085973"/>
            <a:ext cx="4956048"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541264" y="30327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5897879" y="1481328"/>
            <a:ext cx="2587752" cy="3218688"/>
          </a:xfrm>
          <a:prstGeom prst="roundRect">
            <a:avLst>
              <a:gd name="adj" fmla="val 424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5" name="Text 18"/>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Report memuat semua order ke Python, lalu item setiap order diambil satu per satu (N+1)</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order_lines.order_id</a:t>
            </a:r>
            <a:r>
              <a:rPr sz="950" b="0" i="0">
                <a:solidFill>
                  <a:srgbClr val="434343"/>
                </a:solidFill>
                <a:latin typeface="Inter"/>
              </a:rPr>
              <a:t> tanpa index</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Belum ada endpoint riwayat order per customer</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Di </a:t>
            </a:r>
            <a:r>
              <a:rPr sz="950" b="0" i="0">
                <a:solidFill>
                  <a:srgbClr val="B5482A"/>
                </a:solidFill>
                <a:latin typeface="Inconsolata"/>
              </a:rPr>
              <a:t>before/</a:t>
            </a:r>
            <a:r>
              <a:rPr sz="950" b="0" i="0">
                <a:solidFill>
                  <a:srgbClr val="434343"/>
                </a:solidFill>
                <a:latin typeface="Inter"/>
              </a:rPr>
              <a:t> sudah ada </a:t>
            </a:r>
            <a:r>
              <a:rPr sz="950" b="0" i="0">
                <a:solidFill>
                  <a:srgbClr val="B5482A"/>
                </a:solidFill>
                <a:latin typeface="Inconsolata"/>
              </a:rPr>
              <a:t>seed.py</a:t>
            </a:r>
            <a:r>
              <a:rPr sz="950" b="0" i="0">
                <a:solidFill>
                  <a:srgbClr val="434343"/>
                </a:solidFill>
                <a:latin typeface="Inter"/>
              </a:rPr>
              <a:t> (isi 20.000 order) dan </a:t>
            </a:r>
            <a:r>
              <a:rPr sz="950" b="0" i="0">
                <a:solidFill>
                  <a:srgbClr val="B5482A"/>
                </a:solidFill>
                <a:latin typeface="Inconsolata"/>
              </a:rPr>
              <a:t>profile_queries.py</a:t>
            </a:r>
            <a:r>
              <a:rPr sz="950" b="0" i="0">
                <a:solidFill>
                  <a:srgbClr val="434343"/>
                </a:solidFill>
                <a:latin typeface="Inter"/>
              </a:rPr>
              <a:t> (ukur waktu dan jumlah query).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07-query-optimization/before/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10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Aplikasi memakai PostgreSQL, connection pool diatur lewat config</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Report penjualan dihitung di database dengan satu query</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Index </a:t>
            </a:r>
            <a:r>
              <a:rPr sz="950" b="0" i="0">
                <a:solidFill>
                  <a:srgbClr val="B5482A"/>
                </a:solidFill>
                <a:latin typeface="Inconsolata"/>
              </a:rPr>
              <a:t>order_lines (order_id)</a:t>
            </a:r>
            <a:r>
              <a:rPr sz="950" b="0" i="0">
                <a:solidFill>
                  <a:srgbClr val="434343"/>
                </a:solidFill>
                <a:latin typeface="Inter"/>
              </a:rPr>
              <a:t> dan </a:t>
            </a:r>
            <a:r>
              <a:rPr sz="950" b="0" i="0">
                <a:solidFill>
                  <a:srgbClr val="B5482A"/>
                </a:solidFill>
                <a:latin typeface="Inconsolata"/>
              </a:rPr>
              <a:t>orders (customer, id)</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GET /orders?customer=</a:t>
            </a:r>
            <a:r>
              <a:rPr sz="950" b="0" i="0">
                <a:solidFill>
                  <a:srgbClr val="434343"/>
                </a:solidFill>
                <a:latin typeface="Inter"/>
              </a:rPr>
              <a:t> dengan keyset pagination dan </a:t>
            </a:r>
            <a:r>
              <a:rPr sz="950" b="0" i="0">
                <a:solidFill>
                  <a:srgbClr val="B5482A"/>
                </a:solidFill>
                <a:latin typeface="Inconsolata"/>
              </a:rPr>
              <a:t>selectinload</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profile_queries.py</a:t>
            </a:r>
            <a:r>
              <a:rPr sz="950" b="0" i="0">
                <a:solidFill>
                  <a:srgbClr val="434343"/>
                </a:solidFill>
                <a:latin typeface="Inter"/>
              </a:rPr>
              <a:t> di awal dan di akhir dibandingkan</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pytest</a:t>
            </a:r>
            <a:r>
              <a:rPr sz="950" b="0" i="0">
                <a:solidFill>
                  <a:srgbClr val="434343"/>
                </a:solidFill>
                <a:latin typeface="Inter"/>
              </a:rPr>
              <a:t> hijau, termasuk test jumlah query</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latihan/</a:t>
            </a:r>
          </a:p>
          <a:p>
            <a:pPr>
              <a:lnSpc>
                <a:spcPct val="104167"/>
              </a:lnSpc>
              <a:spcAft>
                <a:spcPts val="0"/>
              </a:spcAft>
            </a:pPr>
            <a:r>
              <a:rPr sz="800" i="0">
                <a:solidFill>
                  <a:srgbClr val="E6EDF3"/>
                </a:solidFill>
                <a:latin typeface="Inconsolata"/>
              </a:rPr>
              <a:t>  app/</a:t>
            </a:r>
          </a:p>
          <a:p>
            <a:pPr>
              <a:lnSpc>
                <a:spcPct val="104167"/>
              </a:lnSpc>
              <a:spcAft>
                <a:spcPts val="0"/>
              </a:spcAft>
            </a:pPr>
            <a:r>
              <a:rPr sz="800" i="0">
                <a:solidFill>
                  <a:srgbClr val="E6EDF3"/>
                </a:solidFill>
                <a:latin typeface="Inconsolata"/>
              </a:rPr>
              <a:t>    infrastructure/</a:t>
            </a:r>
          </a:p>
          <a:p>
            <a:pPr>
              <a:lnSpc>
                <a:spcPct val="104167"/>
              </a:lnSpc>
              <a:spcAft>
                <a:spcPts val="0"/>
              </a:spcAft>
            </a:pPr>
            <a:r>
              <a:rPr sz="800" i="0">
                <a:solidFill>
                  <a:srgbClr val="E6EDF3"/>
                </a:solidFill>
                <a:latin typeface="Inconsolata"/>
              </a:rPr>
              <a:t>      config.py         # langkah 2</a:t>
            </a:r>
          </a:p>
          <a:p>
            <a:pPr>
              <a:lnSpc>
                <a:spcPct val="104167"/>
              </a:lnSpc>
              <a:spcAft>
                <a:spcPts val="0"/>
              </a:spcAft>
            </a:pPr>
            <a:r>
              <a:rPr sz="800" i="0">
                <a:solidFill>
                  <a:srgbClr val="E6EDF3"/>
                </a:solidFill>
                <a:latin typeface="Inconsolata"/>
              </a:rPr>
              <a:t>      database.py       # langkah 2</a:t>
            </a:r>
          </a:p>
          <a:p>
            <a:pPr>
              <a:lnSpc>
                <a:spcPct val="104167"/>
              </a:lnSpc>
              <a:spcAft>
                <a:spcPts val="0"/>
              </a:spcAft>
            </a:pPr>
            <a:r>
              <a:rPr sz="800" i="0">
                <a:solidFill>
                  <a:srgbClr val="E6EDF3"/>
                </a:solidFill>
                <a:latin typeface="Inconsolata"/>
              </a:rPr>
              <a:t>      models.py         # langkah 3</a:t>
            </a:r>
          </a:p>
          <a:p>
            <a:pPr>
              <a:lnSpc>
                <a:spcPct val="104167"/>
              </a:lnSpc>
              <a:spcAft>
                <a:spcPts val="0"/>
              </a:spcAft>
            </a:pPr>
            <a:r>
              <a:rPr sz="800" i="0">
                <a:solidFill>
                  <a:srgbClr val="E6EDF3"/>
                </a:solidFill>
                <a:latin typeface="Inconsolata"/>
              </a:rPr>
              <a:t>      repositories.py   # langkah 4, 5</a:t>
            </a:r>
          </a:p>
          <a:p>
            <a:pPr>
              <a:lnSpc>
                <a:spcPct val="104167"/>
              </a:lnSpc>
              <a:spcAft>
                <a:spcPts val="0"/>
              </a:spcAft>
            </a:pPr>
            <a:r>
              <a:rPr sz="800" i="0">
                <a:solidFill>
                  <a:srgbClr val="E6EDF3"/>
                </a:solidFill>
                <a:latin typeface="Inconsolata"/>
              </a:rPr>
              <a:t>    application/</a:t>
            </a:r>
          </a:p>
          <a:p>
            <a:pPr>
              <a:lnSpc>
                <a:spcPct val="104167"/>
              </a:lnSpc>
              <a:spcAft>
                <a:spcPts val="0"/>
              </a:spcAft>
            </a:pPr>
            <a:r>
              <a:rPr sz="800" i="0">
                <a:solidFill>
                  <a:srgbClr val="E6EDF3"/>
                </a:solidFill>
                <a:latin typeface="Inconsolata"/>
              </a:rPr>
              <a:t>      ports.py          # langkah 6</a:t>
            </a:r>
          </a:p>
          <a:p>
            <a:pPr>
              <a:lnSpc>
                <a:spcPct val="104167"/>
              </a:lnSpc>
              <a:spcAft>
                <a:spcPts val="0"/>
              </a:spcAft>
            </a:pPr>
            <a:r>
              <a:rPr sz="800" i="0">
                <a:solidFill>
                  <a:srgbClr val="E6EDF3"/>
                </a:solidFill>
                <a:latin typeface="Inconsolata"/>
              </a:rPr>
              <a:t>      order_service.py  # langkah 6</a:t>
            </a:r>
          </a:p>
          <a:p>
            <a:pPr>
              <a:lnSpc>
                <a:spcPct val="104167"/>
              </a:lnSpc>
              <a:spcAft>
                <a:spcPts val="0"/>
              </a:spcAft>
            </a:pPr>
            <a:r>
              <a:rPr sz="800" i="0">
                <a:solidFill>
                  <a:srgbClr val="E6EDF3"/>
                </a:solidFill>
                <a:latin typeface="Inconsolata"/>
              </a:rPr>
              <a:t>      report_service.py # langkah 6</a:t>
            </a:r>
          </a:p>
          <a:p>
            <a:pPr>
              <a:lnSpc>
                <a:spcPct val="104167"/>
              </a:lnSpc>
              <a:spcAft>
                <a:spcPts val="0"/>
              </a:spcAft>
            </a:pPr>
            <a:r>
              <a:rPr sz="800" i="0">
                <a:solidFill>
                  <a:srgbClr val="E6EDF3"/>
                </a:solidFill>
                <a:latin typeface="Inconsolata"/>
              </a:rPr>
              <a:t>    api/</a:t>
            </a:r>
          </a:p>
          <a:p>
            <a:pPr>
              <a:lnSpc>
                <a:spcPct val="104167"/>
              </a:lnSpc>
              <a:spcAft>
                <a:spcPts val="0"/>
              </a:spcAft>
            </a:pPr>
            <a:r>
              <a:rPr sz="800" i="0">
                <a:solidFill>
                  <a:srgbClr val="E6EDF3"/>
                </a:solidFill>
                <a:latin typeface="Inconsolata"/>
              </a:rPr>
              <a:t>      schemas.py        # langkah 7</a:t>
            </a:r>
          </a:p>
          <a:p>
            <a:pPr>
              <a:lnSpc>
                <a:spcPct val="104167"/>
              </a:lnSpc>
              <a:spcAft>
                <a:spcPts val="0"/>
              </a:spcAft>
            </a:pPr>
            <a:r>
              <a:rPr sz="800" i="0">
                <a:solidFill>
                  <a:srgbClr val="E6EDF3"/>
                </a:solidFill>
                <a:latin typeface="Inconsolata"/>
              </a:rPr>
              <a:t>      routers/orders.py # langkah 7</a:t>
            </a:r>
          </a:p>
          <a:p>
            <a:pPr>
              <a:lnSpc>
                <a:spcPct val="104167"/>
              </a:lnSpc>
              <a:spcAft>
                <a:spcPts val="0"/>
              </a:spcAft>
            </a:pPr>
            <a:r>
              <a:rPr sz="800" i="0">
                <a:solidFill>
                  <a:srgbClr val="E6EDF3"/>
                </a:solidFill>
                <a:latin typeface="Inconsolata"/>
              </a:rPr>
              <a:t>  tests/                # langkah 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 dan ukur kode awal</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sesi-07-database-optimization</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docker compose up -d                # PostgreSQL + Redis</a:t>
            </a:r>
          </a:p>
          <a:p>
            <a:pPr>
              <a:lnSpc>
                <a:spcPct val="107843"/>
              </a:lnSpc>
              <a:spcAft>
                <a:spcPts val="0"/>
              </a:spcAft>
            </a:pPr>
            <a:r>
              <a:rPr sz="850" i="0">
                <a:solidFill>
                  <a:srgbClr val="82B1FF"/>
                </a:solidFill>
                <a:latin typeface="Inconsolata"/>
              </a:rPr>
              <a:t>$ cd 07-query-optimization</a:t>
            </a:r>
          </a:p>
          <a:p>
            <a:pPr>
              <a:lnSpc>
                <a:spcPct val="107843"/>
              </a:lnSpc>
              <a:spcAft>
                <a:spcPts val="0"/>
              </a:spcAft>
            </a:pPr>
            <a:r>
              <a:rPr sz="850" i="0">
                <a:solidFill>
                  <a:srgbClr val="82B1FF"/>
                </a:solidFill>
                <a:latin typeface="Inconsolata"/>
              </a:rPr>
              <a:t>$ cp -r before latihan</a:t>
            </a:r>
          </a:p>
          <a:p>
            <a:pPr>
              <a:lnSpc>
                <a:spcPct val="107843"/>
              </a:lnSpc>
              <a:spcAft>
                <a:spcPts val="0"/>
              </a:spcAft>
            </a:pPr>
            <a:r>
              <a:rPr sz="850" i="0">
                <a:solidFill>
                  <a:srgbClr val="82B1FF"/>
                </a:solidFill>
                <a:latin typeface="Inconsolata"/>
              </a:rPr>
              <a:t>$ cd latihan</a:t>
            </a:r>
          </a:p>
          <a:p>
            <a:pPr>
              <a:lnSpc>
                <a:spcPct val="107843"/>
              </a:lnSpc>
              <a:spcAft>
                <a:spcPts val="0"/>
              </a:spcAft>
            </a:pPr>
            <a:r>
              <a:rPr sz="850" i="0">
                <a:solidFill>
                  <a:srgbClr val="82B1FF"/>
                </a:solidFill>
                <a:latin typeface="Inconsolata"/>
              </a:rPr>
              <a:t>$ python seed.py                      # 20.000 order</a:t>
            </a:r>
          </a:p>
          <a:p>
            <a:pPr>
              <a:lnSpc>
                <a:spcPct val="107843"/>
              </a:lnSpc>
              <a:spcAft>
                <a:spcPts val="0"/>
              </a:spcAft>
            </a:pPr>
            <a:r>
              <a:rPr sz="850" i="0">
                <a:solidFill>
                  <a:srgbClr val="82B1FF"/>
                </a:solidFill>
                <a:latin typeface="Inconsolata"/>
              </a:rPr>
              <a:t>$ python profile_queries.py</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 (driver PostgreSQL </a:t>
            </a:r>
            <a:r>
              <a:rPr sz="900" b="0" i="0">
                <a:solidFill>
                  <a:srgbClr val="B5482A"/>
                </a:solidFill>
                <a:latin typeface="Inconsolata"/>
              </a:rPr>
              <a:t>psycopg</a:t>
            </a:r>
            <a:r>
              <a:rPr sz="900" b="0" i="0">
                <a:solidFill>
                  <a:srgbClr val="434343"/>
                </a:solidFill>
                <a:latin typeface="Inter"/>
              </a:rPr>
              <a:t> sudah ada di </a:t>
            </a:r>
            <a:r>
              <a:rPr sz="900" b="0" i="0">
                <a:solidFill>
                  <a:srgbClr val="B5482A"/>
                </a:solidFill>
                <a:latin typeface="Inconsolata"/>
              </a:rPr>
              <a:t>requirements.txt</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Jalankan PostgreSQL dan Redis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isi data, lalu ukur waktu dan jumlah query</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Catat hasilnya untuk dibandingkan di akhir.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Pengukuran Kode Awal</a:t>
            </a:r>
          </a:p>
        </p:txBody>
      </p:sp>
      <p:pic>
        <p:nvPicPr>
          <p:cNvPr id="22" name="Image 3" descr="s07-profile-before.png"/>
          <p:cNvPicPr>
            <a:picLocks noChangeAspect="1"/>
          </p:cNvPicPr>
          <p:nvPr/>
        </p:nvPicPr>
        <p:blipFill>
          <a:blip r:embed="rId2"/>
          <a:stretch>
            <a:fillRect/>
          </a:stretch>
        </p:blipFill>
        <p:spPr>
          <a:xfrm>
            <a:off x="621792" y="1481328"/>
            <a:ext cx="4572000" cy="1285875"/>
          </a:xfrm>
          <a:prstGeom prst="rect">
            <a:avLst/>
          </a:prstGeom>
          <a:ln w="9525">
            <a:solidFill>
              <a:srgbClr val="D0D5DD"/>
            </a:solidFill>
          </a:ln>
        </p:spPr>
      </p:pic>
      <p:sp>
        <p:nvSpPr>
          <p:cNvPr id="23" name="Text 4"/>
          <p:cNvSpPr txBox="1"/>
          <p:nvPr/>
        </p:nvSpPr>
        <p:spPr>
          <a:xfrm>
            <a:off x="621792" y="2904363"/>
            <a:ext cx="4572000" cy="14630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Yang terlihat</a:t>
            </a:r>
          </a:p>
          <a:p>
            <a:pPr algn="l">
              <a:lnSpc>
                <a:spcPct val="115000"/>
              </a:lnSpc>
              <a:spcAft>
                <a:spcPts val="400"/>
              </a:spcAft>
            </a:pPr>
            <a:r>
              <a:rPr sz="950" b="0" i="0">
                <a:solidFill>
                  <a:srgbClr val="434343"/>
                </a:solidFill>
                <a:latin typeface="Inter"/>
              </a:rPr>
              <a:t>Report penjualan butuh sekitar </a:t>
            </a:r>
            <a:r>
              <a:rPr sz="950" b="1" i="0">
                <a:solidFill>
                  <a:srgbClr val="434343"/>
                </a:solidFill>
                <a:latin typeface="Inter"/>
              </a:rPr>
              <a:t>35 detik</a:t>
            </a:r>
            <a:r>
              <a:rPr sz="950" b="0" i="0">
                <a:solidFill>
                  <a:srgbClr val="434343"/>
                </a:solidFill>
                <a:latin typeface="Inter"/>
              </a:rPr>
              <a:t> dan </a:t>
            </a:r>
            <a:r>
              <a:rPr sz="950" b="1" i="0">
                <a:solidFill>
                  <a:srgbClr val="434343"/>
                </a:solidFill>
                <a:latin typeface="Inter"/>
              </a:rPr>
              <a:t>20.001 query</a:t>
            </a:r>
            <a:r>
              <a:rPr sz="950" b="0" i="0">
                <a:solidFill>
                  <a:srgbClr val="434343"/>
                </a:solidFill>
                <a:latin typeface="Inter"/>
              </a:rPr>
              <a:t>: 1 query untuk semua order, lalu 1 query item untuk setiap order (N+1).</a:t>
            </a:r>
          </a:p>
        </p:txBody>
      </p:sp>
      <p:sp>
        <p:nvSpPr>
          <p:cNvPr id="24" name="Box 5"/>
          <p:cNvSpPr/>
          <p:nvPr/>
        </p:nvSpPr>
        <p:spPr>
          <a:xfrm>
            <a:off x="5349240" y="1481328"/>
            <a:ext cx="3136392" cy="3218688"/>
          </a:xfrm>
          <a:prstGeom prst="roundRect">
            <a:avLst>
              <a:gd name="adj" fmla="val 3498"/>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5" name="Text 6"/>
          <p:cNvSpPr txBox="1"/>
          <p:nvPr/>
        </p:nvSpPr>
        <p:spPr>
          <a:xfrm>
            <a:off x="5486400" y="1572768"/>
            <a:ext cx="286207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Setelah hands-on</a:t>
            </a:r>
          </a:p>
        </p:txBody>
      </p:sp>
      <p:sp>
        <p:nvSpPr>
          <p:cNvPr id="26" name="Text 7"/>
          <p:cNvSpPr txBox="1"/>
          <p:nvPr/>
        </p:nvSpPr>
        <p:spPr>
          <a:xfrm>
            <a:off x="5486400" y="1892808"/>
            <a:ext cx="286207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Report: 1 query, dihitung di database</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Index untuk query yang sering dipakai</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Connection pool diatur lewat config</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Endpoint riwayat order dengan keyset pagination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PostgreSQL dan connection pool</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infrastructure/config.py  +  database.py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app/infrastructure/config.py</a:t>
            </a:r>
          </a:p>
          <a:p>
            <a:pPr>
              <a:lnSpc>
                <a:spcPct val="107143"/>
              </a:lnSpc>
              <a:spcAft>
                <a:spcPts val="0"/>
              </a:spcAft>
            </a:pPr>
            <a:r>
              <a:rPr sz="700" i="0">
                <a:solidFill>
                  <a:srgbClr val="E6EDF3"/>
                </a:solidFill>
                <a:latin typeface="Inconsolata"/>
              </a:rPr>
              <a:t>        database_url=os.getenv(</a:t>
            </a:r>
            <a:r>
              <a:rPr sz="700" i="0">
                <a:solidFill>
                  <a:srgbClr val="A5D6A7"/>
                </a:solidFill>
                <a:latin typeface="Inconsolata"/>
              </a:rPr>
              <a:t>"DATABASE_URL"</a:t>
            </a:r>
            <a:r>
              <a:rPr sz="700" i="0">
                <a:solidFill>
                  <a:srgbClr val="E6EDF3"/>
                </a:solidFill>
                <a:latin typeface="Inconsolata"/>
              </a:rPr>
              <a:t>, </a:t>
            </a:r>
            <a:r>
              <a:rPr sz="700" i="0">
                <a:solidFill>
                  <a:srgbClr val="A5D6A7"/>
                </a:solidFill>
                <a:latin typeface="Inconsolata"/>
              </a:rPr>
              <a:t>"postgresql+psycopg://app:app@localhost:5432/orders"</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db_pool_size=</a:t>
            </a:r>
            <a:r>
              <a:rPr sz="700" i="0">
                <a:solidFill>
                  <a:srgbClr val="C3A6FF"/>
                </a:solidFill>
                <a:latin typeface="Inconsolata"/>
              </a:rPr>
              <a:t>int</a:t>
            </a:r>
            <a:r>
              <a:rPr sz="700" i="0">
                <a:solidFill>
                  <a:srgbClr val="E6EDF3"/>
                </a:solidFill>
                <a:latin typeface="Inconsolata"/>
              </a:rPr>
              <a:t>(os.getenv(</a:t>
            </a:r>
            <a:r>
              <a:rPr sz="700" i="0">
                <a:solidFill>
                  <a:srgbClr val="A5D6A7"/>
                </a:solidFill>
                <a:latin typeface="Inconsolata"/>
              </a:rPr>
              <a:t>"DB_POOL_SIZE"</a:t>
            </a:r>
            <a:r>
              <a:rPr sz="700" i="0">
                <a:solidFill>
                  <a:srgbClr val="E6EDF3"/>
                </a:solidFill>
                <a:latin typeface="Inconsolata"/>
              </a:rPr>
              <a:t>, </a:t>
            </a:r>
            <a:r>
              <a:rPr sz="700" i="0">
                <a:solidFill>
                  <a:srgbClr val="A5D6A7"/>
                </a:solidFill>
                <a:latin typeface="Inconsolata"/>
              </a:rPr>
              <a:t>"5"</a:t>
            </a:r>
            <a:r>
              <a:rPr sz="700" i="0">
                <a:solidFill>
                  <a:srgbClr val="E6EDF3"/>
                </a:solidFill>
                <a:latin typeface="Inconsolata"/>
              </a:rPr>
              <a:t>)),</a:t>
            </a:r>
          </a:p>
          <a:p>
            <a:pPr>
              <a:lnSpc>
                <a:spcPct val="107143"/>
              </a:lnSpc>
              <a:spcAft>
                <a:spcPts val="0"/>
              </a:spcAft>
            </a:pPr>
            <a:r>
              <a:rPr sz="700" i="0">
                <a:solidFill>
                  <a:srgbClr val="E6EDF3"/>
                </a:solidFill>
                <a:latin typeface="Inconsolata"/>
              </a:rPr>
              <a:t>        db_max_overflow=</a:t>
            </a:r>
            <a:r>
              <a:rPr sz="700" i="0">
                <a:solidFill>
                  <a:srgbClr val="C3A6FF"/>
                </a:solidFill>
                <a:latin typeface="Inconsolata"/>
              </a:rPr>
              <a:t>int</a:t>
            </a:r>
            <a:r>
              <a:rPr sz="700" i="0">
                <a:solidFill>
                  <a:srgbClr val="E6EDF3"/>
                </a:solidFill>
                <a:latin typeface="Inconsolata"/>
              </a:rPr>
              <a:t>(os.getenv(</a:t>
            </a:r>
            <a:r>
              <a:rPr sz="700" i="0">
                <a:solidFill>
                  <a:srgbClr val="A5D6A7"/>
                </a:solidFill>
                <a:latin typeface="Inconsolata"/>
              </a:rPr>
              <a:t>"DB_MAX_OVERFLOW"</a:t>
            </a:r>
            <a:r>
              <a:rPr sz="700" i="0">
                <a:solidFill>
                  <a:srgbClr val="E6EDF3"/>
                </a:solidFill>
                <a:latin typeface="Inconsolata"/>
              </a:rPr>
              <a:t>, </a:t>
            </a:r>
            <a:r>
              <a:rPr sz="700" i="0">
                <a:solidFill>
                  <a:srgbClr val="A5D6A7"/>
                </a:solidFill>
                <a:latin typeface="Inconsolata"/>
              </a:rPr>
              <a:t>"10"</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1">
                <a:solidFill>
                  <a:srgbClr val="8B98A8"/>
                </a:solidFill>
                <a:latin typeface="Inconsolata"/>
              </a:rPr>
              <a:t># app/infrastructure/database.py</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create_session_factory</a:t>
            </a:r>
            <a:r>
              <a:rPr sz="700" i="0">
                <a:solidFill>
                  <a:srgbClr val="E6EDF3"/>
                </a:solidFill>
                <a:latin typeface="Inconsolata"/>
              </a:rPr>
              <a:t>(database_url: </a:t>
            </a:r>
            <a:r>
              <a:rPr sz="700" i="0">
                <a:solidFill>
                  <a:srgbClr val="C3A6FF"/>
                </a:solidFill>
                <a:latin typeface="Inconsolata"/>
              </a:rPr>
              <a:t>str</a:t>
            </a:r>
            <a:r>
              <a:rPr sz="700" i="0">
                <a:solidFill>
                  <a:srgbClr val="E6EDF3"/>
                </a:solidFill>
                <a:latin typeface="Inconsolata"/>
              </a:rPr>
              <a:t>, pool_size: </a:t>
            </a:r>
            <a:r>
              <a:rPr sz="700" i="0">
                <a:solidFill>
                  <a:srgbClr val="C3A6FF"/>
                </a:solidFill>
                <a:latin typeface="Inconsolata"/>
              </a:rPr>
              <a:t>int</a:t>
            </a:r>
            <a:r>
              <a:rPr sz="700" i="0">
                <a:solidFill>
                  <a:srgbClr val="E6EDF3"/>
                </a:solidFill>
                <a:latin typeface="Inconsolata"/>
              </a:rPr>
              <a:t> = </a:t>
            </a:r>
            <a:r>
              <a:rPr sz="700" i="0">
                <a:solidFill>
                  <a:srgbClr val="F9C97A"/>
                </a:solidFill>
                <a:latin typeface="Inconsolata"/>
              </a:rPr>
              <a:t>5</a:t>
            </a:r>
            <a:r>
              <a:rPr sz="700" i="0">
                <a:solidFill>
                  <a:srgbClr val="E6EDF3"/>
                </a:solidFill>
                <a:latin typeface="Inconsolata"/>
              </a:rPr>
              <a:t>, max_overflow: </a:t>
            </a:r>
            <a:r>
              <a:rPr sz="700" i="0">
                <a:solidFill>
                  <a:srgbClr val="C3A6FF"/>
                </a:solidFill>
                <a:latin typeface="Inconsolata"/>
              </a:rPr>
              <a:t>int</a:t>
            </a:r>
            <a:r>
              <a:rPr sz="700" i="0">
                <a:solidFill>
                  <a:srgbClr val="E6EDF3"/>
                </a:solidFill>
                <a:latin typeface="Inconsolata"/>
              </a:rPr>
              <a:t> = </a:t>
            </a:r>
            <a:r>
              <a:rPr sz="700" i="0">
                <a:solidFill>
                  <a:srgbClr val="F9C97A"/>
                </a:solidFill>
                <a:latin typeface="Inconsolata"/>
              </a:rPr>
              <a:t>10</a:t>
            </a:r>
            <a:r>
              <a:rPr sz="700" i="0">
                <a:solidFill>
                  <a:srgbClr val="E6EDF3"/>
                </a:solidFill>
                <a:latin typeface="Inconsolata"/>
              </a:rPr>
              <a:t>) -&gt; sessionmaker:</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database_url.startswith(</a:t>
            </a:r>
            <a:r>
              <a:rPr sz="700" i="0">
                <a:solidFill>
                  <a:srgbClr val="A5D6A7"/>
                </a:solidFill>
                <a:latin typeface="Inconsolata"/>
              </a:rPr>
              <a:t>"sqlite"</a:t>
            </a:r>
            <a:r>
              <a:rPr sz="700" i="0">
                <a:solidFill>
                  <a:srgbClr val="E6EDF3"/>
                </a:solidFill>
                <a:latin typeface="Inconsolata"/>
              </a:rPr>
              <a:t>):</a:t>
            </a:r>
          </a:p>
          <a:p>
            <a:pPr>
              <a:lnSpc>
                <a:spcPct val="107143"/>
              </a:lnSpc>
              <a:spcAft>
                <a:spcPts val="0"/>
              </a:spcAft>
            </a:pPr>
            <a:r>
              <a:rPr sz="700" i="0">
                <a:solidFill>
                  <a:srgbClr val="E6EDF3"/>
                </a:solidFill>
                <a:latin typeface="Inconsolata"/>
              </a:rPr>
              <a:t>        options.update(pool_size=pool_size, max_overflow=max_overflow,</a:t>
            </a:r>
          </a:p>
          <a:p>
            <a:pPr>
              <a:lnSpc>
                <a:spcPct val="107143"/>
              </a:lnSpc>
              <a:spcAft>
                <a:spcPts val="0"/>
              </a:spcAft>
            </a:pPr>
            <a:r>
              <a:rPr sz="700" i="0">
                <a:solidFill>
                  <a:srgbClr val="E6EDF3"/>
                </a:solidFill>
                <a:latin typeface="Inconsolata"/>
              </a:rPr>
              <a:t>                       pool_pre_ping=</a:t>
            </a:r>
            <a:r>
              <a:rPr sz="700" i="0">
                <a:solidFill>
                  <a:srgbClr val="FF8E6E"/>
                </a:solidFill>
                <a:latin typeface="Inconsolata"/>
              </a:rPr>
              <a:t>True</a:t>
            </a:r>
            <a:r>
              <a:rPr sz="700" i="0">
                <a:solidFill>
                  <a:srgbClr val="E6EDF3"/>
                </a:solidFill>
                <a:latin typeface="Inconsolata"/>
              </a:rPr>
              <a:t>,    </a:t>
            </a:r>
            <a:r>
              <a:rPr sz="700" i="1">
                <a:solidFill>
                  <a:srgbClr val="8B98A8"/>
                </a:solidFill>
                <a:latin typeface="Inconsolata"/>
              </a:rPr>
              <a:t># cek koneksi masih hidup, misalnya setelah database restart</a:t>
            </a:r>
          </a:p>
          <a:p>
            <a:pPr>
              <a:lnSpc>
                <a:spcPct val="107143"/>
              </a:lnSpc>
              <a:spcAft>
                <a:spcPts val="0"/>
              </a:spcAft>
            </a:pPr>
            <a:r>
              <a:rPr sz="700" i="0">
                <a:solidFill>
                  <a:srgbClr val="E6EDF3"/>
                </a:solidFill>
                <a:latin typeface="Inconsolata"/>
              </a:rPr>
              <a:t>                       pool_recycle=</a:t>
            </a:r>
            <a:r>
              <a:rPr sz="700" i="0">
                <a:solidFill>
                  <a:srgbClr val="F9C97A"/>
                </a:solidFill>
                <a:latin typeface="Inconsolata"/>
              </a:rPr>
              <a:t>1800</a:t>
            </a:r>
            <a:r>
              <a:rPr sz="700" i="0">
                <a:solidFill>
                  <a:srgbClr val="E6EDF3"/>
                </a:solidFill>
                <a:latin typeface="Inconsolata"/>
              </a:rPr>
              <a:t>)     </a:t>
            </a:r>
            <a:r>
              <a:rPr sz="700" i="1">
                <a:solidFill>
                  <a:srgbClr val="8B98A8"/>
                </a:solidFill>
                <a:latin typeface="Inconsolata"/>
              </a:rPr>
              <a:t># ganti koneksi yang sudah terbuka 30 menit</a:t>
            </a:r>
          </a:p>
        </p:txBody>
      </p:sp>
      <p:sp>
        <p:nvSpPr>
          <p:cNvPr id="29" name="Box 12"/>
          <p:cNvSpPr/>
          <p:nvPr/>
        </p:nvSpPr>
        <p:spPr>
          <a:xfrm>
            <a:off x="704088" y="19396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745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168271"/>
            <a:ext cx="5230368" cy="221742"/>
          </a:xfrm>
          <a:prstGeom prst="roundRect">
            <a:avLst>
              <a:gd name="adj" fmla="val 20618"/>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1602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854071"/>
            <a:ext cx="5230368" cy="450342"/>
          </a:xfrm>
          <a:prstGeom prst="roundRect">
            <a:avLst>
              <a:gd name="adj" fmla="val 1015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9603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Default database sekarang PostgreSQL</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Setting pool baru: </a:t>
            </a:r>
            <a:r>
              <a:rPr sz="900" b="0" i="0">
                <a:solidFill>
                  <a:srgbClr val="B5482A"/>
                </a:solidFill>
                <a:latin typeface="Inconsolata"/>
              </a:rPr>
              <a:t>db_pool_size</a:t>
            </a:r>
            <a:r>
              <a:rPr sz="900" b="0" i="0">
                <a:solidFill>
                  <a:srgbClr val="434343"/>
                </a:solidFill>
                <a:latin typeface="Inter"/>
              </a:rPr>
              <a:t> dan </a:t>
            </a:r>
            <a:r>
              <a:rPr sz="900" b="0" i="0">
                <a:solidFill>
                  <a:srgbClr val="B5482A"/>
                </a:solidFill>
                <a:latin typeface="Inconsolata"/>
              </a:rPr>
              <a:t>db_max_overflow</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Pool diatur di </a:t>
            </a:r>
            <a:r>
              <a:rPr sz="900" b="0" i="0">
                <a:solidFill>
                  <a:srgbClr val="B5482A"/>
                </a:solidFill>
                <a:latin typeface="Inconsolata"/>
              </a:rPr>
              <a:t>create_session_factory</a:t>
            </a:r>
            <a:r>
              <a:rPr sz="900" b="0" i="0">
                <a:solidFill>
                  <a:srgbClr val="434343"/>
                </a:solidFill>
                <a:latin typeface="Inter"/>
              </a:rPr>
              <a:t> (contoh 05)</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Hapus </a:t>
            </a:r>
            <a:r>
              <a:rPr sz="900" b="0" i="0">
                <a:solidFill>
                  <a:srgbClr val="B5482A"/>
                </a:solidFill>
                <a:latin typeface="Inconsolata"/>
              </a:rPr>
              <a:t>report_delay</a:t>
            </a:r>
            <a:r>
              <a:rPr sz="900" b="0" i="0">
                <a:solidFill>
                  <a:srgbClr val="434343"/>
                </a:solidFill>
                <a:latin typeface="Inter"/>
              </a:rPr>
              <a:t> dan </a:t>
            </a:r>
            <a:r>
              <a:rPr sz="900" b="0" i="0">
                <a:solidFill>
                  <a:srgbClr val="B5482A"/>
                </a:solidFill>
                <a:latin typeface="Inconsolata"/>
              </a:rPr>
              <a:t>query_delay</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Satu engine = satu pool per proses.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models.py: index sesuai query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app/infrastructure/models.py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4167"/>
              </a:lnSpc>
              <a:spcAft>
                <a:spcPts val="0"/>
              </a:spcAft>
            </a:pPr>
            <a:r>
              <a:rPr sz="800" i="0">
                <a:solidFill>
                  <a:srgbClr val="FF8E6E"/>
                </a:solidFill>
                <a:latin typeface="Inconsolata"/>
              </a:rPr>
              <a:t>class</a:t>
            </a:r>
            <a:r>
              <a:rPr sz="800" i="0">
                <a:solidFill>
                  <a:srgbClr val="E6EDF3"/>
                </a:solidFill>
                <a:latin typeface="Inconsolata"/>
              </a:rPr>
              <a:t> </a:t>
            </a:r>
            <a:r>
              <a:rPr sz="800" i="0">
                <a:solidFill>
                  <a:srgbClr val="7FDBCA"/>
                </a:solidFill>
                <a:latin typeface="Inconsolata"/>
              </a:rPr>
              <a:t>OrderRecord</a:t>
            </a:r>
            <a:r>
              <a:rPr sz="800" i="0">
                <a:solidFill>
                  <a:srgbClr val="E6EDF3"/>
                </a:solidFill>
                <a:latin typeface="Inconsolata"/>
              </a:rPr>
              <a:t>(</a:t>
            </a:r>
            <a:r>
              <a:rPr sz="800" i="0">
                <a:solidFill>
                  <a:srgbClr val="7FDBCA"/>
                </a:solidFill>
                <a:latin typeface="Inconsolata"/>
              </a:rPr>
              <a:t>Base</a:t>
            </a:r>
            <a:r>
              <a:rPr sz="800" i="0">
                <a:solidFill>
                  <a:srgbClr val="E6EDF3"/>
                </a:solidFill>
                <a:latin typeface="Inconsolata"/>
              </a:rPr>
              <a:t>):</a:t>
            </a:r>
          </a:p>
          <a:p>
            <a:pPr>
              <a:lnSpc>
                <a:spcPct val="104167"/>
              </a:lnSpc>
              <a:spcAft>
                <a:spcPts val="0"/>
              </a:spcAft>
            </a:pPr>
            <a:r>
              <a:rPr sz="800" i="0">
                <a:solidFill>
                  <a:srgbClr val="E6EDF3"/>
                </a:solidFill>
                <a:latin typeface="Inconsolata"/>
              </a:rPr>
              <a:t>    __tablename__ = </a:t>
            </a:r>
            <a:r>
              <a:rPr sz="800" i="0">
                <a:solidFill>
                  <a:srgbClr val="A5D6A7"/>
                </a:solidFill>
                <a:latin typeface="Inconsolata"/>
              </a:rPr>
              <a:t>"orders"</a:t>
            </a:r>
          </a:p>
          <a:p>
            <a:pPr>
              <a:lnSpc>
                <a:spcPct val="104167"/>
              </a:lnSpc>
              <a:spcAft>
                <a:spcPts val="0"/>
              </a:spcAft>
            </a:pPr>
            <a:r>
              <a:rPr sz="800" i="0">
                <a:solidFill>
                  <a:srgbClr val="E6EDF3"/>
                </a:solidFill>
                <a:latin typeface="Inconsolata"/>
              </a:rPr>
              <a:t>    __table_args__ = (</a:t>
            </a:r>
            <a:r>
              <a:rPr sz="800" i="0">
                <a:solidFill>
                  <a:srgbClr val="7FDBCA"/>
                </a:solidFill>
                <a:latin typeface="Inconsolata"/>
              </a:rPr>
              <a:t>Index</a:t>
            </a:r>
            <a:r>
              <a:rPr sz="800" i="0">
                <a:solidFill>
                  <a:srgbClr val="E6EDF3"/>
                </a:solidFill>
                <a:latin typeface="Inconsolata"/>
              </a:rPr>
              <a:t>(</a:t>
            </a:r>
            <a:r>
              <a:rPr sz="800" i="0">
                <a:solidFill>
                  <a:srgbClr val="A5D6A7"/>
                </a:solidFill>
                <a:latin typeface="Inconsolata"/>
              </a:rPr>
              <a:t>"ix_orders_customer_id"</a:t>
            </a:r>
            <a:r>
              <a:rPr sz="800" i="0">
                <a:solidFill>
                  <a:srgbClr val="E6EDF3"/>
                </a:solidFill>
                <a:latin typeface="Inconsolata"/>
              </a:rPr>
              <a:t>, </a:t>
            </a:r>
            <a:r>
              <a:rPr sz="800" i="0">
                <a:solidFill>
                  <a:srgbClr val="A5D6A7"/>
                </a:solidFill>
                <a:latin typeface="Inconsolata"/>
              </a:rPr>
              <a:t>"customer"</a:t>
            </a:r>
            <a:r>
              <a:rPr sz="800" i="0">
                <a:solidFill>
                  <a:srgbClr val="E6EDF3"/>
                </a:solidFill>
                <a:latin typeface="Inconsolata"/>
              </a:rPr>
              <a:t>, </a:t>
            </a:r>
            <a:r>
              <a:rPr sz="800" i="0">
                <a:solidFill>
                  <a:srgbClr val="A5D6A7"/>
                </a:solidFill>
                <a:latin typeface="Inconsolata"/>
              </a:rPr>
              <a:t>"id"</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E6EDF3"/>
                </a:solidFill>
                <a:latin typeface="Inconsolata"/>
              </a:rPr>
              <a:t>    id: </a:t>
            </a:r>
            <a:r>
              <a:rPr sz="800" i="0">
                <a:solidFill>
                  <a:srgbClr val="7FDBCA"/>
                </a:solidFill>
                <a:latin typeface="Inconsolata"/>
              </a:rPr>
              <a:t>Mapped</a:t>
            </a:r>
            <a:r>
              <a:rPr sz="800" i="0">
                <a:solidFill>
                  <a:srgbClr val="E6EDF3"/>
                </a:solidFill>
                <a:latin typeface="Inconsolata"/>
              </a:rPr>
              <a:t>[</a:t>
            </a:r>
            <a:r>
              <a:rPr sz="800" i="0">
                <a:solidFill>
                  <a:srgbClr val="C3A6FF"/>
                </a:solidFill>
                <a:latin typeface="Inconsolata"/>
              </a:rPr>
              <a:t>int</a:t>
            </a:r>
            <a:r>
              <a:rPr sz="800" i="0">
                <a:solidFill>
                  <a:srgbClr val="E6EDF3"/>
                </a:solidFill>
                <a:latin typeface="Inconsolata"/>
              </a:rPr>
              <a:t>] = mapped_column(primary_key=</a:t>
            </a:r>
            <a:r>
              <a:rPr sz="800" i="0">
                <a:solidFill>
                  <a:srgbClr val="FF8E6E"/>
                </a:solidFill>
                <a:latin typeface="Inconsolata"/>
              </a:rPr>
              <a:t>True</a:t>
            </a:r>
            <a:r>
              <a:rPr sz="800" i="0">
                <a:solidFill>
                  <a:srgbClr val="E6EDF3"/>
                </a:solidFill>
                <a:latin typeface="Inconsolata"/>
              </a:rPr>
              <a:t>)</a:t>
            </a:r>
          </a:p>
          <a:p>
            <a:pPr>
              <a:lnSpc>
                <a:spcPct val="104167"/>
              </a:lnSpc>
              <a:spcAft>
                <a:spcPts val="0"/>
              </a:spcAft>
            </a:pPr>
            <a:r>
              <a:rPr sz="800" i="0">
                <a:solidFill>
                  <a:srgbClr val="E6EDF3"/>
                </a:solidFill>
                <a:latin typeface="Inconsolata"/>
              </a:rPr>
              <a:t>    customer: </a:t>
            </a:r>
            <a:r>
              <a:rPr sz="800" i="0">
                <a:solidFill>
                  <a:srgbClr val="7FDBCA"/>
                </a:solidFill>
                <a:latin typeface="Inconsolata"/>
              </a:rPr>
              <a:t>Mapped</a:t>
            </a:r>
            <a:r>
              <a:rPr sz="800" i="0">
                <a:solidFill>
                  <a:srgbClr val="E6EDF3"/>
                </a:solidFill>
                <a:latin typeface="Inconsolata"/>
              </a:rPr>
              <a:t>[</a:t>
            </a:r>
            <a:r>
              <a:rPr sz="800" i="0">
                <a:solidFill>
                  <a:srgbClr val="C3A6FF"/>
                </a:solidFill>
                <a:latin typeface="Inconsolata"/>
              </a:rPr>
              <a:t>str</a:t>
            </a:r>
            <a:r>
              <a:rPr sz="800" i="0">
                <a:solidFill>
                  <a:srgbClr val="E6EDF3"/>
                </a:solidFill>
                <a:latin typeface="Inconsolata"/>
              </a:rPr>
              <a:t>] = mapped_column(</a:t>
            </a:r>
            <a:r>
              <a:rPr sz="800" i="0">
                <a:solidFill>
                  <a:srgbClr val="7FDBCA"/>
                </a:solidFill>
                <a:latin typeface="Inconsolata"/>
              </a:rPr>
              <a:t>String</a:t>
            </a:r>
            <a:r>
              <a:rPr sz="800" i="0">
                <a:solidFill>
                  <a:srgbClr val="E6EDF3"/>
                </a:solidFill>
                <a:latin typeface="Inconsolata"/>
              </a:rPr>
              <a:t>(</a:t>
            </a:r>
            <a:r>
              <a:rPr sz="800" i="0">
                <a:solidFill>
                  <a:srgbClr val="F9C97A"/>
                </a:solidFill>
                <a:latin typeface="Inconsolata"/>
              </a:rPr>
              <a:t>100</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FF8E6E"/>
                </a:solidFill>
                <a:latin typeface="Inconsolata"/>
              </a:rPr>
              <a:t>class</a:t>
            </a:r>
            <a:r>
              <a:rPr sz="800" i="0">
                <a:solidFill>
                  <a:srgbClr val="E6EDF3"/>
                </a:solidFill>
                <a:latin typeface="Inconsolata"/>
              </a:rPr>
              <a:t> </a:t>
            </a:r>
            <a:r>
              <a:rPr sz="800" i="0">
                <a:solidFill>
                  <a:srgbClr val="7FDBCA"/>
                </a:solidFill>
                <a:latin typeface="Inconsolata"/>
              </a:rPr>
              <a:t>OrderLineRecord</a:t>
            </a:r>
            <a:r>
              <a:rPr sz="800" i="0">
                <a:solidFill>
                  <a:srgbClr val="E6EDF3"/>
                </a:solidFill>
                <a:latin typeface="Inconsolata"/>
              </a:rPr>
              <a:t>(</a:t>
            </a:r>
            <a:r>
              <a:rPr sz="800" i="0">
                <a:solidFill>
                  <a:srgbClr val="7FDBCA"/>
                </a:solidFill>
                <a:latin typeface="Inconsolata"/>
              </a:rPr>
              <a:t>Base</a:t>
            </a:r>
            <a:r>
              <a:rPr sz="800" i="0">
                <a:solidFill>
                  <a:srgbClr val="E6EDF3"/>
                </a:solidFill>
                <a:latin typeface="Inconsolata"/>
              </a:rPr>
              <a:t>):</a:t>
            </a:r>
          </a:p>
          <a:p>
            <a:pPr>
              <a:lnSpc>
                <a:spcPct val="104167"/>
              </a:lnSpc>
              <a:spcAft>
                <a:spcPts val="0"/>
              </a:spcAft>
            </a:pPr>
            <a:r>
              <a:rPr sz="800" i="0">
                <a:solidFill>
                  <a:srgbClr val="E6EDF3"/>
                </a:solidFill>
                <a:latin typeface="Inconsolata"/>
              </a:rPr>
              <a:t>    __tablename__ = </a:t>
            </a:r>
            <a:r>
              <a:rPr sz="800" i="0">
                <a:solidFill>
                  <a:srgbClr val="A5D6A7"/>
                </a:solidFill>
                <a:latin typeface="Inconsolata"/>
              </a:rPr>
              <a:t>"order_lines"</a:t>
            </a:r>
          </a:p>
          <a:p>
            <a:pPr>
              <a:lnSpc>
                <a:spcPct val="104167"/>
              </a:lnSpc>
              <a:spcAft>
                <a:spcPts val="0"/>
              </a:spcAft>
            </a:pPr>
            <a:r>
              <a:rPr sz="800" i="0">
                <a:solidFill>
                  <a:srgbClr val="E6EDF3"/>
                </a:solidFill>
                <a:latin typeface="Inconsolata"/>
              </a:rPr>
              <a:t> </a:t>
            </a:r>
          </a:p>
          <a:p>
            <a:pPr>
              <a:lnSpc>
                <a:spcPct val="104167"/>
              </a:lnSpc>
              <a:spcAft>
                <a:spcPts val="0"/>
              </a:spcAft>
            </a:pPr>
            <a:r>
              <a:rPr sz="800" i="0">
                <a:solidFill>
                  <a:srgbClr val="E6EDF3"/>
                </a:solidFill>
                <a:latin typeface="Inconsolata"/>
              </a:rPr>
              <a:t>    id: </a:t>
            </a:r>
            <a:r>
              <a:rPr sz="800" i="0">
                <a:solidFill>
                  <a:srgbClr val="7FDBCA"/>
                </a:solidFill>
                <a:latin typeface="Inconsolata"/>
              </a:rPr>
              <a:t>Mapped</a:t>
            </a:r>
            <a:r>
              <a:rPr sz="800" i="0">
                <a:solidFill>
                  <a:srgbClr val="E6EDF3"/>
                </a:solidFill>
                <a:latin typeface="Inconsolata"/>
              </a:rPr>
              <a:t>[</a:t>
            </a:r>
            <a:r>
              <a:rPr sz="800" i="0">
                <a:solidFill>
                  <a:srgbClr val="C3A6FF"/>
                </a:solidFill>
                <a:latin typeface="Inconsolata"/>
              </a:rPr>
              <a:t>int</a:t>
            </a:r>
            <a:r>
              <a:rPr sz="800" i="0">
                <a:solidFill>
                  <a:srgbClr val="E6EDF3"/>
                </a:solidFill>
                <a:latin typeface="Inconsolata"/>
              </a:rPr>
              <a:t>] = mapped_column(primary_key=</a:t>
            </a:r>
            <a:r>
              <a:rPr sz="800" i="0">
                <a:solidFill>
                  <a:srgbClr val="FF8E6E"/>
                </a:solidFill>
                <a:latin typeface="Inconsolata"/>
              </a:rPr>
              <a:t>True</a:t>
            </a:r>
            <a:r>
              <a:rPr sz="800" i="0">
                <a:solidFill>
                  <a:srgbClr val="E6EDF3"/>
                </a:solidFill>
                <a:latin typeface="Inconsolata"/>
              </a:rPr>
              <a:t>)</a:t>
            </a:r>
          </a:p>
          <a:p>
            <a:pPr>
              <a:lnSpc>
                <a:spcPct val="104167"/>
              </a:lnSpc>
              <a:spcAft>
                <a:spcPts val="0"/>
              </a:spcAft>
            </a:pPr>
            <a:r>
              <a:rPr sz="800" i="0">
                <a:solidFill>
                  <a:srgbClr val="E6EDF3"/>
                </a:solidFill>
                <a:latin typeface="Inconsolata"/>
              </a:rPr>
              <a:t>    order_id: </a:t>
            </a:r>
            <a:r>
              <a:rPr sz="800" i="0">
                <a:solidFill>
                  <a:srgbClr val="7FDBCA"/>
                </a:solidFill>
                <a:latin typeface="Inconsolata"/>
              </a:rPr>
              <a:t>Mapped</a:t>
            </a:r>
            <a:r>
              <a:rPr sz="800" i="0">
                <a:solidFill>
                  <a:srgbClr val="E6EDF3"/>
                </a:solidFill>
                <a:latin typeface="Inconsolata"/>
              </a:rPr>
              <a:t>[</a:t>
            </a:r>
            <a:r>
              <a:rPr sz="800" i="0">
                <a:solidFill>
                  <a:srgbClr val="C3A6FF"/>
                </a:solidFill>
                <a:latin typeface="Inconsolata"/>
              </a:rPr>
              <a:t>int</a:t>
            </a:r>
            <a:r>
              <a:rPr sz="800" i="0">
                <a:solidFill>
                  <a:srgbClr val="E6EDF3"/>
                </a:solidFill>
                <a:latin typeface="Inconsolata"/>
              </a:rPr>
              <a:t>] = mapped_column(</a:t>
            </a:r>
            <a:r>
              <a:rPr sz="800" i="0">
                <a:solidFill>
                  <a:srgbClr val="7FDBCA"/>
                </a:solidFill>
                <a:latin typeface="Inconsolata"/>
              </a:rPr>
              <a:t>ForeignKey</a:t>
            </a:r>
            <a:r>
              <a:rPr sz="800" i="0">
                <a:solidFill>
                  <a:srgbClr val="E6EDF3"/>
                </a:solidFill>
                <a:latin typeface="Inconsolata"/>
              </a:rPr>
              <a:t>(</a:t>
            </a:r>
            <a:r>
              <a:rPr sz="800" i="0">
                <a:solidFill>
                  <a:srgbClr val="A5D6A7"/>
                </a:solidFill>
                <a:latin typeface="Inconsolata"/>
              </a:rPr>
              <a:t>"orders.id"</a:t>
            </a:r>
            <a:r>
              <a:rPr sz="800" i="0">
                <a:solidFill>
                  <a:srgbClr val="E6EDF3"/>
                </a:solidFill>
                <a:latin typeface="Inconsolata"/>
              </a:rPr>
              <a:t>), index=</a:t>
            </a:r>
            <a:r>
              <a:rPr sz="800" i="0">
                <a:solidFill>
                  <a:srgbClr val="FF8E6E"/>
                </a:solidFill>
                <a:latin typeface="Inconsolata"/>
              </a:rPr>
              <a:t>True</a:t>
            </a:r>
            <a:r>
              <a:rPr sz="800" i="0">
                <a:solidFill>
                  <a:srgbClr val="E6EDF3"/>
                </a:solidFill>
                <a:latin typeface="Inconsolata"/>
              </a:rPr>
              <a:t>)</a:t>
            </a:r>
          </a:p>
        </p:txBody>
      </p:sp>
      <p:sp>
        <p:nvSpPr>
          <p:cNvPr id="29" name="Box 12"/>
          <p:cNvSpPr/>
          <p:nvPr/>
        </p:nvSpPr>
        <p:spPr>
          <a:xfrm>
            <a:off x="704088" y="2081022"/>
            <a:ext cx="523036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021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351022"/>
            <a:ext cx="523036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291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Index </a:t>
            </a:r>
            <a:r>
              <a:rPr sz="900" b="0" i="0">
                <a:solidFill>
                  <a:srgbClr val="B5482A"/>
                </a:solidFill>
                <a:latin typeface="Inconsolata"/>
              </a:rPr>
              <a:t>(customer, id)</a:t>
            </a:r>
            <a:r>
              <a:rPr sz="900" b="0" i="0">
                <a:solidFill>
                  <a:srgbClr val="434343"/>
                </a:solidFill>
                <a:latin typeface="Inter"/>
              </a:rPr>
              <a:t> untuk riwayat order customer, urut dari terbaru</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Index </a:t>
            </a:r>
            <a:r>
              <a:rPr sz="900" b="0" i="0">
                <a:solidFill>
                  <a:srgbClr val="B5482A"/>
                </a:solidFill>
                <a:latin typeface="Inconsolata"/>
              </a:rPr>
              <a:t>order_id</a:t>
            </a:r>
            <a:r>
              <a:rPr sz="900" b="0" i="0">
                <a:solidFill>
                  <a:srgbClr val="434343"/>
                </a:solidFill>
                <a:latin typeface="Inter"/>
              </a:rPr>
              <a:t>: PostgreSQL tidak membuat index foreign key otomatis (contoh 03)</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Index dibuat ulang saat </a:t>
            </a:r>
            <a:r>
              <a:rPr sz="900" b="0" i="0">
                <a:solidFill>
                  <a:srgbClr val="B5482A"/>
                </a:solidFill>
                <a:latin typeface="Inconsolata"/>
              </a:rPr>
              <a:t>python seed.py</a:t>
            </a:r>
            <a:r>
              <a:rPr sz="900" b="0" i="0">
                <a:solidFill>
                  <a:srgbClr val="434343"/>
                </a:solidFill>
                <a:latin typeface="Inter"/>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repositories.py: riwayat order tanpa N+1</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app/infrastructure/repositories.py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list_for_customer</a:t>
            </a:r>
            <a:r>
              <a:rPr sz="700" i="0">
                <a:solidFill>
                  <a:srgbClr val="E6EDF3"/>
                </a:solidFill>
                <a:latin typeface="Inconsolata"/>
              </a:rPr>
              <a:t>(</a:t>
            </a:r>
            <a:r>
              <a:rPr sz="700" i="0">
                <a:solidFill>
                  <a:srgbClr val="C3A6FF"/>
                </a:solidFill>
                <a:latin typeface="Inconsolata"/>
              </a:rPr>
              <a:t>self</a:t>
            </a:r>
            <a:r>
              <a:rPr sz="700" i="0">
                <a:solidFill>
                  <a:srgbClr val="E6EDF3"/>
                </a:solidFill>
                <a:latin typeface="Inconsolata"/>
              </a:rPr>
              <a:t>, customer: </a:t>
            </a:r>
            <a:r>
              <a:rPr sz="700" i="0">
                <a:solidFill>
                  <a:srgbClr val="C3A6FF"/>
                </a:solidFill>
                <a:latin typeface="Inconsolata"/>
              </a:rPr>
              <a:t>str</a:t>
            </a:r>
            <a:r>
              <a:rPr sz="700" i="0">
                <a:solidFill>
                  <a:srgbClr val="E6EDF3"/>
                </a:solidFill>
                <a:latin typeface="Inconsolata"/>
              </a:rPr>
              <a:t>, limit: </a:t>
            </a:r>
            <a:r>
              <a:rPr sz="700" i="0">
                <a:solidFill>
                  <a:srgbClr val="C3A6FF"/>
                </a:solidFill>
                <a:latin typeface="Inconsolata"/>
              </a:rPr>
              <a:t>int</a:t>
            </a:r>
            <a:r>
              <a:rPr sz="700" i="0">
                <a:solidFill>
                  <a:srgbClr val="E6EDF3"/>
                </a:solidFill>
                <a:latin typeface="Inconsolata"/>
              </a:rPr>
              <a:t>, after: </a:t>
            </a:r>
            <a:r>
              <a:rPr sz="700" i="0">
                <a:solidFill>
                  <a:srgbClr val="C3A6FF"/>
                </a:solidFill>
                <a:latin typeface="Inconsolata"/>
              </a:rPr>
              <a:t>int</a:t>
            </a:r>
            <a:r>
              <a:rPr sz="700" i="0">
                <a:solidFill>
                  <a:srgbClr val="E6EDF3"/>
                </a:solidFill>
                <a:latin typeface="Inconsolata"/>
              </a:rPr>
              <a:t> | </a:t>
            </a:r>
            <a:r>
              <a:rPr sz="700" i="0">
                <a:solidFill>
                  <a:srgbClr val="FF8E6E"/>
                </a:solidFill>
                <a:latin typeface="Inconsolata"/>
              </a:rPr>
              <a:t>None</a:t>
            </a:r>
            <a:r>
              <a:rPr sz="700" i="0">
                <a:solidFill>
                  <a:srgbClr val="E6EDF3"/>
                </a:solidFill>
                <a:latin typeface="Inconsolata"/>
              </a:rPr>
              <a:t> = </a:t>
            </a:r>
            <a:r>
              <a:rPr sz="700" i="0">
                <a:solidFill>
                  <a:srgbClr val="FF8E6E"/>
                </a:solidFill>
                <a:latin typeface="Inconsolata"/>
              </a:rPr>
              <a:t>None</a:t>
            </a:r>
            <a:r>
              <a:rPr sz="700" i="0">
                <a:solidFill>
                  <a:srgbClr val="E6EDF3"/>
                </a:solidFill>
                <a:latin typeface="Inconsolata"/>
              </a:rPr>
              <a:t>) -&gt; </a:t>
            </a:r>
            <a:r>
              <a:rPr sz="700" i="0">
                <a:solidFill>
                  <a:srgbClr val="C3A6FF"/>
                </a:solidFill>
                <a:latin typeface="Inconsolata"/>
              </a:rPr>
              <a:t>list</a:t>
            </a:r>
            <a:r>
              <a:rPr sz="700" i="0">
                <a:solidFill>
                  <a:srgbClr val="E6EDF3"/>
                </a:solidFill>
                <a:latin typeface="Inconsolata"/>
              </a:rPr>
              <a:t>[</a:t>
            </a:r>
            <a:r>
              <a:rPr sz="700" i="0">
                <a:solidFill>
                  <a:srgbClr val="7FDBCA"/>
                </a:solidFill>
                <a:latin typeface="Inconsolata"/>
              </a:rPr>
              <a:t>Order</a:t>
            </a:r>
            <a:r>
              <a:rPr sz="700" i="0">
                <a:solidFill>
                  <a:srgbClr val="E6EDF3"/>
                </a:solidFill>
                <a:latin typeface="Inconsolata"/>
              </a:rPr>
              <a:t>]:</a:t>
            </a:r>
          </a:p>
          <a:p>
            <a:pPr>
              <a:lnSpc>
                <a:spcPct val="107143"/>
              </a:lnSpc>
              <a:spcAft>
                <a:spcPts val="0"/>
              </a:spcAft>
            </a:pPr>
            <a:r>
              <a:rPr sz="700" i="0">
                <a:solidFill>
                  <a:srgbClr val="E6EDF3"/>
                </a:solidFill>
                <a:latin typeface="Inconsolata"/>
              </a:rPr>
              <a:t>        query = (select(</a:t>
            </a:r>
            <a:r>
              <a:rPr sz="700" i="0">
                <a:solidFill>
                  <a:srgbClr val="7FDBCA"/>
                </a:solidFill>
                <a:latin typeface="Inconsolata"/>
              </a:rPr>
              <a:t>OrderRecord</a:t>
            </a:r>
            <a:r>
              <a:rPr sz="700" i="0">
                <a:solidFill>
                  <a:srgbClr val="E6EDF3"/>
                </a:solidFill>
                <a:latin typeface="Inconsolata"/>
              </a:rPr>
              <a:t>)</a:t>
            </a:r>
          </a:p>
          <a:p>
            <a:pPr>
              <a:lnSpc>
                <a:spcPct val="107143"/>
              </a:lnSpc>
              <a:spcAft>
                <a:spcPts val="0"/>
              </a:spcAft>
            </a:pPr>
            <a:r>
              <a:rPr sz="700" i="0">
                <a:solidFill>
                  <a:srgbClr val="E6EDF3"/>
                </a:solidFill>
                <a:latin typeface="Inconsolata"/>
              </a:rPr>
              <a:t>                 .options(selectinload(</a:t>
            </a:r>
            <a:r>
              <a:rPr sz="700" i="0">
                <a:solidFill>
                  <a:srgbClr val="7FDBCA"/>
                </a:solidFill>
                <a:latin typeface="Inconsolata"/>
              </a:rPr>
              <a:t>OrderRecord</a:t>
            </a:r>
            <a:r>
              <a:rPr sz="700" i="0">
                <a:solidFill>
                  <a:srgbClr val="E6EDF3"/>
                </a:solidFill>
                <a:latin typeface="Inconsolata"/>
              </a:rPr>
              <a:t>.lines))       </a:t>
            </a:r>
            <a:r>
              <a:rPr sz="700" i="1">
                <a:solidFill>
                  <a:srgbClr val="8B98A8"/>
                </a:solidFill>
                <a:latin typeface="Inconsolata"/>
              </a:rPr>
              <a:t># item semua order dalam 1 query</a:t>
            </a:r>
          </a:p>
          <a:p>
            <a:pPr>
              <a:lnSpc>
                <a:spcPct val="107143"/>
              </a:lnSpc>
              <a:spcAft>
                <a:spcPts val="0"/>
              </a:spcAft>
            </a:pPr>
            <a:r>
              <a:rPr sz="700" i="0">
                <a:solidFill>
                  <a:srgbClr val="E6EDF3"/>
                </a:solidFill>
                <a:latin typeface="Inconsolata"/>
              </a:rPr>
              <a:t>                 .where(</a:t>
            </a:r>
            <a:r>
              <a:rPr sz="700" i="0">
                <a:solidFill>
                  <a:srgbClr val="7FDBCA"/>
                </a:solidFill>
                <a:latin typeface="Inconsolata"/>
              </a:rPr>
              <a:t>OrderRecord</a:t>
            </a:r>
            <a:r>
              <a:rPr sz="700" i="0">
                <a:solidFill>
                  <a:srgbClr val="E6EDF3"/>
                </a:solidFill>
                <a:latin typeface="Inconsolata"/>
              </a:rPr>
              <a:t>.customer == customer)</a:t>
            </a:r>
          </a:p>
          <a:p>
            <a:pPr>
              <a:lnSpc>
                <a:spcPct val="107143"/>
              </a:lnSpc>
              <a:spcAft>
                <a:spcPts val="0"/>
              </a:spcAft>
            </a:pPr>
            <a:r>
              <a:rPr sz="700" i="0">
                <a:solidFill>
                  <a:srgbClr val="E6EDF3"/>
                </a:solidFill>
                <a:latin typeface="Inconsolata"/>
              </a:rPr>
              <a:t>                 .order_by(</a:t>
            </a:r>
            <a:r>
              <a:rPr sz="700" i="0">
                <a:solidFill>
                  <a:srgbClr val="7FDBCA"/>
                </a:solidFill>
                <a:latin typeface="Inconsolata"/>
              </a:rPr>
              <a:t>OrderRecord</a:t>
            </a:r>
            <a:r>
              <a:rPr sz="700" i="0">
                <a:solidFill>
                  <a:srgbClr val="E6EDF3"/>
                </a:solidFill>
                <a:latin typeface="Inconsolata"/>
              </a:rPr>
              <a:t>.id.desc())</a:t>
            </a:r>
          </a:p>
          <a:p>
            <a:pPr>
              <a:lnSpc>
                <a:spcPct val="107143"/>
              </a:lnSpc>
              <a:spcAft>
                <a:spcPts val="0"/>
              </a:spcAft>
            </a:pPr>
            <a:r>
              <a:rPr sz="700" i="0">
                <a:solidFill>
                  <a:srgbClr val="E6EDF3"/>
                </a:solidFill>
                <a:latin typeface="Inconsolata"/>
              </a:rPr>
              <a:t>                 .limit(limit))</a:t>
            </a:r>
          </a:p>
          <a:p>
            <a:pPr>
              <a:lnSpc>
                <a:spcPct val="107143"/>
              </a:lnSpc>
              <a:spcAft>
                <a:spcPts val="0"/>
              </a:spcAft>
            </a:pP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after </a:t>
            </a:r>
            <a:r>
              <a:rPr sz="700" i="0">
                <a:solidFill>
                  <a:srgbClr val="FF8E6E"/>
                </a:solidFill>
                <a:latin typeface="Inconsolata"/>
              </a:rPr>
              <a:t>is</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a:t>
            </a:r>
          </a:p>
          <a:p>
            <a:pPr>
              <a:lnSpc>
                <a:spcPct val="107143"/>
              </a:lnSpc>
              <a:spcAft>
                <a:spcPts val="0"/>
              </a:spcAft>
            </a:pPr>
            <a:r>
              <a:rPr sz="700" i="0">
                <a:solidFill>
                  <a:srgbClr val="E6EDF3"/>
                </a:solidFill>
                <a:latin typeface="Inconsolata"/>
              </a:rPr>
              <a:t>            query = query.where(</a:t>
            </a:r>
            <a:r>
              <a:rPr sz="700" i="0">
                <a:solidFill>
                  <a:srgbClr val="7FDBCA"/>
                </a:solidFill>
                <a:latin typeface="Inconsolata"/>
              </a:rPr>
              <a:t>OrderRecord</a:t>
            </a:r>
            <a:r>
              <a:rPr sz="700" i="0">
                <a:solidFill>
                  <a:srgbClr val="E6EDF3"/>
                </a:solidFill>
                <a:latin typeface="Inconsolata"/>
              </a:rPr>
              <a:t>.id &lt; after)          </a:t>
            </a:r>
            <a:r>
              <a:rPr sz="700" i="1">
                <a:solidFill>
                  <a:srgbClr val="8B98A8"/>
                </a:solidFill>
                <a:latin typeface="Inconsolata"/>
              </a:rPr>
              <a:t># keyset: lanjut setelah id terakhir</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._to_domain(r) </a:t>
            </a:r>
            <a:r>
              <a:rPr sz="700" i="0">
                <a:solidFill>
                  <a:srgbClr val="FF8E6E"/>
                </a:solidFill>
                <a:latin typeface="Inconsolata"/>
              </a:rPr>
              <a:t>for</a:t>
            </a:r>
            <a:r>
              <a:rPr sz="700" i="0">
                <a:solidFill>
                  <a:srgbClr val="E6EDF3"/>
                </a:solidFill>
                <a:latin typeface="Inconsolata"/>
              </a:rPr>
              <a:t> r </a:t>
            </a:r>
            <a:r>
              <a:rPr sz="700" i="0">
                <a:solidFill>
                  <a:srgbClr val="FF8E6E"/>
                </a:solidFill>
                <a:latin typeface="Inconsolata"/>
              </a:rPr>
              <a:t>in</a:t>
            </a:r>
            <a:r>
              <a:rPr sz="700" i="0">
                <a:solidFill>
                  <a:srgbClr val="E6EDF3"/>
                </a:solidFill>
                <a:latin typeface="Inconsolata"/>
              </a:rPr>
              <a:t> </a:t>
            </a:r>
            <a:r>
              <a:rPr sz="700" i="0">
                <a:solidFill>
                  <a:srgbClr val="C3A6FF"/>
                </a:solidFill>
                <a:latin typeface="Inconsolata"/>
              </a:rPr>
              <a:t>self</a:t>
            </a:r>
            <a:r>
              <a:rPr sz="700" i="0">
                <a:solidFill>
                  <a:srgbClr val="E6EDF3"/>
                </a:solidFill>
                <a:latin typeface="Inconsolata"/>
              </a:rPr>
              <a:t>.session.scalars(query)]</a:t>
            </a:r>
          </a:p>
        </p:txBody>
      </p:sp>
      <p:sp>
        <p:nvSpPr>
          <p:cNvPr id="29" name="Box 12"/>
          <p:cNvSpPr/>
          <p:nvPr/>
        </p:nvSpPr>
        <p:spPr>
          <a:xfrm>
            <a:off x="704088" y="2053971"/>
            <a:ext cx="523036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88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11171"/>
            <a:ext cx="5230368" cy="221742"/>
          </a:xfrm>
          <a:prstGeom prst="roundRect">
            <a:avLst>
              <a:gd name="adj" fmla="val 20618"/>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5031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selectinload</a:t>
            </a:r>
            <a:r>
              <a:rPr sz="900" b="0" i="0">
                <a:solidFill>
                  <a:srgbClr val="434343"/>
                </a:solidFill>
                <a:latin typeface="Inter"/>
              </a:rPr>
              <a:t>: item semua order diambil dengan 1 query (contoh 03)</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Keyset pagination: lanjut setelah id terakhir (contoh 04)</a:t>
            </a:r>
          </a:p>
          <a:p>
            <a:pPr algn="l">
              <a:lnSpc>
                <a:spcPct val="115000"/>
              </a:lnSpc>
              <a:spcAft>
                <a:spcPts val="0"/>
              </a:spcAft>
            </a:pPr>
            <a:endParaRPr sz="900" b="0" i="0">
              <a:solidFill>
                <a:srgbClr val="434343"/>
              </a:solidFill>
              <a:latin typeface="Inter"/>
            </a:endParaRPr>
          </a:p>
          <a:p>
            <a:pPr algn="l">
              <a:lnSpc>
                <a:spcPct val="115000"/>
              </a:lnSpc>
              <a:spcAft>
                <a:spcPts val="400"/>
              </a:spcAft>
            </a:pPr>
            <a:r>
              <a:rPr sz="900" b="0" i="0">
                <a:solidFill>
                  <a:srgbClr val="434343"/>
                </a:solidFill>
                <a:latin typeface="Inter"/>
              </a:rPr>
              <a:t>Method </a:t>
            </a:r>
            <a:r>
              <a:rPr sz="900" b="0" i="0">
                <a:solidFill>
                  <a:srgbClr val="B5482A"/>
                </a:solidFill>
                <a:latin typeface="Inconsolata"/>
              </a:rPr>
              <a:t>list()</a:t>
            </a:r>
            <a:r>
              <a:rPr sz="900" b="0" i="0">
                <a:solidFill>
                  <a:srgbClr val="434343"/>
                </a:solidFill>
                <a:latin typeface="Inter"/>
              </a:rPr>
              <a:t> lama dihapus, karena memuat semua order sekaligus.</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2 query, berapa pun jumlah order.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repositories.py: report dalam satu query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app/infrastructure/repositories.py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sales_summary</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-&gt; </a:t>
            </a:r>
            <a:r>
              <a:rPr sz="650" i="0">
                <a:solidFill>
                  <a:srgbClr val="C3A6FF"/>
                </a:solidFill>
                <a:latin typeface="Inconsolata"/>
              </a:rPr>
              <a:t>dict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1">
                <a:solidFill>
                  <a:srgbClr val="8B98A8"/>
                </a:solidFill>
                <a:latin typeface="Inconsolata"/>
              </a:rPr>
              <a:t># total order = subtotal - diskon, sama seperti Order.total di domain, tapi dihitung di database</a:t>
            </a:r>
          </a:p>
          <a:p>
            <a:pPr>
              <a:lnSpc>
                <a:spcPct val="102564"/>
              </a:lnSpc>
              <a:spcAft>
                <a:spcPts val="0"/>
              </a:spcAft>
            </a:pPr>
            <a:r>
              <a:rPr sz="650" i="0">
                <a:solidFill>
                  <a:srgbClr val="E6EDF3"/>
                </a:solidFill>
                <a:latin typeface="Inconsolata"/>
              </a:rPr>
              <a:t>        subtotals = (select(</a:t>
            </a:r>
            <a:r>
              <a:rPr sz="650" i="0">
                <a:solidFill>
                  <a:srgbClr val="7FDBCA"/>
                </a:solidFill>
                <a:latin typeface="Inconsolata"/>
              </a:rPr>
              <a:t>OrderLineRecord</a:t>
            </a:r>
            <a:r>
              <a:rPr sz="650" i="0">
                <a:solidFill>
                  <a:srgbClr val="E6EDF3"/>
                </a:solidFill>
                <a:latin typeface="Inconsolata"/>
              </a:rPr>
              <a:t>.order_id,</a:t>
            </a:r>
          </a:p>
          <a:p>
            <a:pPr>
              <a:lnSpc>
                <a:spcPct val="102564"/>
              </a:lnSpc>
              <a:spcAft>
                <a:spcPts val="0"/>
              </a:spcAft>
            </a:pPr>
            <a:r>
              <a:rPr sz="650" i="0">
                <a:solidFill>
                  <a:srgbClr val="E6EDF3"/>
                </a:solidFill>
                <a:latin typeface="Inconsolata"/>
              </a:rPr>
              <a:t>                            func.</a:t>
            </a:r>
            <a:r>
              <a:rPr sz="650" i="0">
                <a:solidFill>
                  <a:srgbClr val="C3A6FF"/>
                </a:solidFill>
                <a:latin typeface="Inconsolata"/>
              </a:rPr>
              <a:t>sum</a:t>
            </a:r>
            <a:r>
              <a:rPr sz="650" i="0">
                <a:solidFill>
                  <a:srgbClr val="E6EDF3"/>
                </a:solidFill>
                <a:latin typeface="Inconsolata"/>
              </a:rPr>
              <a:t>(</a:t>
            </a:r>
            <a:r>
              <a:rPr sz="650" i="0">
                <a:solidFill>
                  <a:srgbClr val="7FDBCA"/>
                </a:solidFill>
                <a:latin typeface="Inconsolata"/>
              </a:rPr>
              <a:t>OrderLineRecord</a:t>
            </a:r>
            <a:r>
              <a:rPr sz="650" i="0">
                <a:solidFill>
                  <a:srgbClr val="E6EDF3"/>
                </a:solidFill>
                <a:latin typeface="Inconsolata"/>
              </a:rPr>
              <a:t>.price * </a:t>
            </a:r>
            <a:r>
              <a:rPr sz="650" i="0">
                <a:solidFill>
                  <a:srgbClr val="7FDBCA"/>
                </a:solidFill>
                <a:latin typeface="Inconsolata"/>
              </a:rPr>
              <a:t>OrderLineRecord</a:t>
            </a:r>
            <a:r>
              <a:rPr sz="650" i="0">
                <a:solidFill>
                  <a:srgbClr val="E6EDF3"/>
                </a:solidFill>
                <a:latin typeface="Inconsolata"/>
              </a:rPr>
              <a:t>.qty).label(</a:t>
            </a:r>
            <a:r>
              <a:rPr sz="650" i="0">
                <a:solidFill>
                  <a:srgbClr val="A5D6A7"/>
                </a:solidFill>
                <a:latin typeface="Inconsolata"/>
              </a:rPr>
              <a:t>"subtotal"</a:t>
            </a:r>
            <a:r>
              <a:rPr sz="650" i="0">
                <a:solidFill>
                  <a:srgbClr val="E6EDF3"/>
                </a:solidFill>
                <a:latin typeface="Inconsolata"/>
              </a:rPr>
              <a:t>))</a:t>
            </a:r>
          </a:p>
          <a:p>
            <a:pPr>
              <a:lnSpc>
                <a:spcPct val="102564"/>
              </a:lnSpc>
              <a:spcAft>
                <a:spcPts val="0"/>
              </a:spcAft>
            </a:pPr>
            <a:r>
              <a:rPr sz="650" i="0">
                <a:solidFill>
                  <a:srgbClr val="E6EDF3"/>
                </a:solidFill>
                <a:latin typeface="Inconsolata"/>
              </a:rPr>
              <a:t>                     .group_by(</a:t>
            </a:r>
            <a:r>
              <a:rPr sz="650" i="0">
                <a:solidFill>
                  <a:srgbClr val="7FDBCA"/>
                </a:solidFill>
                <a:latin typeface="Inconsolata"/>
              </a:rPr>
              <a:t>OrderLineRecord</a:t>
            </a:r>
            <a:r>
              <a:rPr sz="650" i="0">
                <a:solidFill>
                  <a:srgbClr val="E6EDF3"/>
                </a:solidFill>
                <a:latin typeface="Inconsolata"/>
              </a:rPr>
              <a:t>.order_id)</a:t>
            </a:r>
          </a:p>
          <a:p>
            <a:pPr>
              <a:lnSpc>
                <a:spcPct val="102564"/>
              </a:lnSpc>
              <a:spcAft>
                <a:spcPts val="0"/>
              </a:spcAft>
            </a:pPr>
            <a:r>
              <a:rPr sz="650" i="0">
                <a:solidFill>
                  <a:srgbClr val="E6EDF3"/>
                </a:solidFill>
                <a:latin typeface="Inconsolata"/>
              </a:rPr>
              <a:t>                     .subquery())</a:t>
            </a:r>
          </a:p>
          <a:p>
            <a:pPr>
              <a:lnSpc>
                <a:spcPct val="102564"/>
              </a:lnSpc>
              <a:spcAft>
                <a:spcPts val="0"/>
              </a:spcAft>
            </a:pPr>
            <a:r>
              <a:rPr sz="650" i="0">
                <a:solidFill>
                  <a:srgbClr val="E6EDF3"/>
                </a:solidFill>
                <a:latin typeface="Inconsolata"/>
              </a:rPr>
              <a:t>        paid = </a:t>
            </a:r>
            <a:r>
              <a:rPr sz="650" i="0">
                <a:solidFill>
                  <a:srgbClr val="7FDBCA"/>
                </a:solidFill>
                <a:latin typeface="Inconsolata"/>
              </a:rPr>
              <a:t>OrderRecord</a:t>
            </a:r>
            <a:r>
              <a:rPr sz="650" i="0">
                <a:solidFill>
                  <a:srgbClr val="E6EDF3"/>
                </a:solidFill>
                <a:latin typeface="Inconsolata"/>
              </a:rPr>
              <a:t>.status == </a:t>
            </a:r>
            <a:r>
              <a:rPr sz="650" i="0">
                <a:solidFill>
                  <a:srgbClr val="7FDBCA"/>
                </a:solidFill>
                <a:latin typeface="Inconsolata"/>
              </a:rPr>
              <a:t>OrderStatus</a:t>
            </a:r>
            <a:r>
              <a:rPr sz="650" i="0">
                <a:solidFill>
                  <a:srgbClr val="E6EDF3"/>
                </a:solidFill>
                <a:latin typeface="Inconsolata"/>
              </a:rPr>
              <a:t>.</a:t>
            </a:r>
            <a:r>
              <a:rPr sz="650" i="0">
                <a:solidFill>
                  <a:srgbClr val="7FDBCA"/>
                </a:solidFill>
                <a:latin typeface="Inconsolata"/>
              </a:rPr>
              <a:t>PAID</a:t>
            </a:r>
            <a:r>
              <a:rPr sz="650" i="0">
                <a:solidFill>
                  <a:srgbClr val="E6EDF3"/>
                </a:solidFill>
                <a:latin typeface="Inconsolata"/>
              </a:rPr>
              <a:t>.value</a:t>
            </a:r>
          </a:p>
          <a:p>
            <a:pPr>
              <a:lnSpc>
                <a:spcPct val="102564"/>
              </a:lnSpc>
              <a:spcAft>
                <a:spcPts val="0"/>
              </a:spcAft>
            </a:pPr>
            <a:r>
              <a:rPr sz="650" i="0">
                <a:solidFill>
                  <a:srgbClr val="E6EDF3"/>
                </a:solidFill>
                <a:latin typeface="Inconsolata"/>
              </a:rPr>
              <a:t>        row = </a:t>
            </a:r>
            <a:r>
              <a:rPr sz="650" i="0">
                <a:solidFill>
                  <a:srgbClr val="C3A6FF"/>
                </a:solidFill>
                <a:latin typeface="Inconsolata"/>
              </a:rPr>
              <a:t>self</a:t>
            </a:r>
            <a:r>
              <a:rPr sz="650" i="0">
                <a:solidFill>
                  <a:srgbClr val="E6EDF3"/>
                </a:solidFill>
                <a:latin typeface="Inconsolata"/>
              </a:rPr>
              <a:t>.session.execute(</a:t>
            </a:r>
          </a:p>
          <a:p>
            <a:pPr>
              <a:lnSpc>
                <a:spcPct val="102564"/>
              </a:lnSpc>
              <a:spcAft>
                <a:spcPts val="0"/>
              </a:spcAft>
            </a:pPr>
            <a:r>
              <a:rPr sz="650" i="0">
                <a:solidFill>
                  <a:srgbClr val="E6EDF3"/>
                </a:solidFill>
                <a:latin typeface="Inconsolata"/>
              </a:rPr>
              <a:t>            select(func.count(),</a:t>
            </a:r>
          </a:p>
          <a:p>
            <a:pPr>
              <a:lnSpc>
                <a:spcPct val="102564"/>
              </a:lnSpc>
              <a:spcAft>
                <a:spcPts val="0"/>
              </a:spcAft>
            </a:pPr>
            <a:r>
              <a:rPr sz="650" i="0">
                <a:solidFill>
                  <a:srgbClr val="E6EDF3"/>
                </a:solidFill>
                <a:latin typeface="Inconsolata"/>
              </a:rPr>
              <a:t>                   func.count().filter(paid),</a:t>
            </a:r>
          </a:p>
          <a:p>
            <a:pPr>
              <a:lnSpc>
                <a:spcPct val="102564"/>
              </a:lnSpc>
              <a:spcAft>
                <a:spcPts val="0"/>
              </a:spcAft>
            </a:pPr>
            <a:r>
              <a:rPr sz="650" i="0">
                <a:solidFill>
                  <a:srgbClr val="E6EDF3"/>
                </a:solidFill>
                <a:latin typeface="Inconsolata"/>
              </a:rPr>
              <a:t>                   func.count().filter(</a:t>
            </a:r>
            <a:r>
              <a:rPr sz="650" i="0">
                <a:solidFill>
                  <a:srgbClr val="7FDBCA"/>
                </a:solidFill>
                <a:latin typeface="Inconsolata"/>
              </a:rPr>
              <a:t>OrderRecord</a:t>
            </a:r>
            <a:r>
              <a:rPr sz="650" i="0">
                <a:solidFill>
                  <a:srgbClr val="E6EDF3"/>
                </a:solidFill>
                <a:latin typeface="Inconsolata"/>
              </a:rPr>
              <a:t>.status == </a:t>
            </a:r>
            <a:r>
              <a:rPr sz="650" i="0">
                <a:solidFill>
                  <a:srgbClr val="7FDBCA"/>
                </a:solidFill>
                <a:latin typeface="Inconsolata"/>
              </a:rPr>
              <a:t>OrderStatus</a:t>
            </a:r>
            <a:r>
              <a:rPr sz="650" i="0">
                <a:solidFill>
                  <a:srgbClr val="E6EDF3"/>
                </a:solidFill>
                <a:latin typeface="Inconsolata"/>
              </a:rPr>
              <a:t>.</a:t>
            </a:r>
            <a:r>
              <a:rPr sz="650" i="0">
                <a:solidFill>
                  <a:srgbClr val="7FDBCA"/>
                </a:solidFill>
                <a:latin typeface="Inconsolata"/>
              </a:rPr>
              <a:t>CANCELLED</a:t>
            </a:r>
            <a:r>
              <a:rPr sz="650" i="0">
                <a:solidFill>
                  <a:srgbClr val="E6EDF3"/>
                </a:solidFill>
                <a:latin typeface="Inconsolata"/>
              </a:rPr>
              <a:t>.value),</a:t>
            </a:r>
          </a:p>
          <a:p>
            <a:pPr>
              <a:lnSpc>
                <a:spcPct val="102564"/>
              </a:lnSpc>
              <a:spcAft>
                <a:spcPts val="0"/>
              </a:spcAft>
            </a:pPr>
            <a:r>
              <a:rPr sz="650" i="0">
                <a:solidFill>
                  <a:srgbClr val="E6EDF3"/>
                </a:solidFill>
                <a:latin typeface="Inconsolata"/>
              </a:rPr>
              <a:t>                   func.</a:t>
            </a:r>
            <a:r>
              <a:rPr sz="650" i="0">
                <a:solidFill>
                  <a:srgbClr val="C3A6FF"/>
                </a:solidFill>
                <a:latin typeface="Inconsolata"/>
              </a:rPr>
              <a:t>sum</a:t>
            </a:r>
            <a:r>
              <a:rPr sz="650" i="0">
                <a:solidFill>
                  <a:srgbClr val="E6EDF3"/>
                </a:solidFill>
                <a:latin typeface="Inconsolata"/>
              </a:rPr>
              <a:t>(subtotals.c.subtotal - </a:t>
            </a:r>
            <a:r>
              <a:rPr sz="650" i="0">
                <a:solidFill>
                  <a:srgbClr val="7FDBCA"/>
                </a:solidFill>
                <a:latin typeface="Inconsolata"/>
              </a:rPr>
              <a:t>OrderRecord</a:t>
            </a:r>
            <a:r>
              <a:rPr sz="650" i="0">
                <a:solidFill>
                  <a:srgbClr val="E6EDF3"/>
                </a:solidFill>
                <a:latin typeface="Inconsolata"/>
              </a:rPr>
              <a:t>.discount).filter(paid))</a:t>
            </a:r>
          </a:p>
          <a:p>
            <a:pPr>
              <a:lnSpc>
                <a:spcPct val="102564"/>
              </a:lnSpc>
              <a:spcAft>
                <a:spcPts val="0"/>
              </a:spcAft>
            </a:pPr>
            <a:r>
              <a:rPr sz="650" i="0">
                <a:solidFill>
                  <a:srgbClr val="E6EDF3"/>
                </a:solidFill>
                <a:latin typeface="Inconsolata"/>
              </a:rPr>
              <a:t>            .select_from(</a:t>
            </a:r>
            <a:r>
              <a:rPr sz="650" i="0">
                <a:solidFill>
                  <a:srgbClr val="7FDBCA"/>
                </a:solidFill>
                <a:latin typeface="Inconsolata"/>
              </a:rPr>
              <a:t>OrderRecord</a:t>
            </a:r>
            <a:r>
              <a:rPr sz="650" i="0">
                <a:solidFill>
                  <a:srgbClr val="E6EDF3"/>
                </a:solidFill>
                <a:latin typeface="Inconsolata"/>
              </a:rPr>
              <a:t>)</a:t>
            </a:r>
          </a:p>
          <a:p>
            <a:pPr>
              <a:lnSpc>
                <a:spcPct val="102564"/>
              </a:lnSpc>
              <a:spcAft>
                <a:spcPts val="0"/>
              </a:spcAft>
            </a:pPr>
            <a:r>
              <a:rPr sz="650" i="0">
                <a:solidFill>
                  <a:srgbClr val="E6EDF3"/>
                </a:solidFill>
                <a:latin typeface="Inconsolata"/>
              </a:rPr>
              <a:t>            .outerjoin(subtotals, subtotals.c.order_id == </a:t>
            </a:r>
            <a:r>
              <a:rPr sz="650" i="0">
                <a:solidFill>
                  <a:srgbClr val="7FDBCA"/>
                </a:solidFill>
                <a:latin typeface="Inconsolata"/>
              </a:rPr>
              <a:t>OrderRecord</a:t>
            </a:r>
            <a:r>
              <a:rPr sz="650" i="0">
                <a:solidFill>
                  <a:srgbClr val="E6EDF3"/>
                </a:solidFill>
                <a:latin typeface="Inconsolata"/>
              </a:rPr>
              <a:t>.id)</a:t>
            </a:r>
          </a:p>
          <a:p>
            <a:pPr>
              <a:lnSpc>
                <a:spcPct val="102564"/>
              </a:lnSpc>
              <a:spcAft>
                <a:spcPts val="0"/>
              </a:spcAft>
            </a:pPr>
            <a:r>
              <a:rPr sz="650" i="0">
                <a:solidFill>
                  <a:srgbClr val="E6EDF3"/>
                </a:solidFill>
                <a:latin typeface="Inconsolata"/>
              </a:rPr>
              <a:t>        ).one()</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A5D6A7"/>
                </a:solidFill>
                <a:latin typeface="Inconsolata"/>
              </a:rPr>
              <a:t>"total_orders"</a:t>
            </a:r>
            <a:r>
              <a:rPr sz="650" i="0">
                <a:solidFill>
                  <a:srgbClr val="E6EDF3"/>
                </a:solidFill>
                <a:latin typeface="Inconsolata"/>
              </a:rPr>
              <a:t>: row[</a:t>
            </a:r>
            <a:r>
              <a:rPr sz="650" i="0">
                <a:solidFill>
                  <a:srgbClr val="F9C97A"/>
                </a:solidFill>
                <a:latin typeface="Inconsolata"/>
              </a:rPr>
              <a:t>0</a:t>
            </a:r>
            <a:r>
              <a:rPr sz="650" i="0">
                <a:solidFill>
                  <a:srgbClr val="E6EDF3"/>
                </a:solidFill>
                <a:latin typeface="Inconsolata"/>
              </a:rPr>
              <a:t>], </a:t>
            </a:r>
            <a:r>
              <a:rPr sz="650" i="0">
                <a:solidFill>
                  <a:srgbClr val="A5D6A7"/>
                </a:solidFill>
                <a:latin typeface="Inconsolata"/>
              </a:rPr>
              <a:t>"paid_orders"</a:t>
            </a:r>
            <a:r>
              <a:rPr sz="650" i="0">
                <a:solidFill>
                  <a:srgbClr val="E6EDF3"/>
                </a:solidFill>
                <a:latin typeface="Inconsolata"/>
              </a:rPr>
              <a:t>: row[</a:t>
            </a:r>
            <a:r>
              <a:rPr sz="650" i="0">
                <a:solidFill>
                  <a:srgbClr val="F9C97A"/>
                </a:solidFill>
                <a:latin typeface="Inconsolata"/>
              </a:rPr>
              <a:t>1</a:t>
            </a:r>
            <a:r>
              <a:rPr sz="650" i="0">
                <a:solidFill>
                  <a:srgbClr val="E6EDF3"/>
                </a:solidFill>
                <a:latin typeface="Inconsolata"/>
              </a:rPr>
              <a:t>], </a:t>
            </a:r>
            <a:r>
              <a:rPr sz="650" i="0">
                <a:solidFill>
                  <a:srgbClr val="A5D6A7"/>
                </a:solidFill>
                <a:latin typeface="Inconsolata"/>
              </a:rPr>
              <a:t>"cancelled_orders"</a:t>
            </a:r>
            <a:r>
              <a:rPr sz="650" i="0">
                <a:solidFill>
                  <a:srgbClr val="E6EDF3"/>
                </a:solidFill>
                <a:latin typeface="Inconsolata"/>
              </a:rPr>
              <a:t>: row[</a:t>
            </a:r>
            <a:r>
              <a:rPr sz="650" i="0">
                <a:solidFill>
                  <a:srgbClr val="F9C97A"/>
                </a:solidFill>
                <a:latin typeface="Inconsolata"/>
              </a:rPr>
              <a:t>2</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A5D6A7"/>
                </a:solidFill>
                <a:latin typeface="Inconsolata"/>
              </a:rPr>
              <a:t>"revenue"</a:t>
            </a:r>
            <a:r>
              <a:rPr sz="650" i="0">
                <a:solidFill>
                  <a:srgbClr val="E6EDF3"/>
                </a:solidFill>
                <a:latin typeface="Inconsolata"/>
              </a:rPr>
              <a:t>: </a:t>
            </a:r>
            <a:r>
              <a:rPr sz="650" i="0">
                <a:solidFill>
                  <a:srgbClr val="C3A6FF"/>
                </a:solidFill>
                <a:latin typeface="Inconsolata"/>
              </a:rPr>
              <a:t>int</a:t>
            </a:r>
            <a:r>
              <a:rPr sz="650" i="0">
                <a:solidFill>
                  <a:srgbClr val="E6EDF3"/>
                </a:solidFill>
                <a:latin typeface="Inconsolata"/>
              </a:rPr>
              <a:t>(row[</a:t>
            </a:r>
            <a:r>
              <a:rPr sz="650" i="0">
                <a:solidFill>
                  <a:srgbClr val="F9C97A"/>
                </a:solidFill>
                <a:latin typeface="Inconsolata"/>
              </a:rPr>
              <a:t>3</a:t>
            </a:r>
            <a:r>
              <a:rPr sz="650" i="0">
                <a:solidFill>
                  <a:srgbClr val="E6EDF3"/>
                </a:solidFill>
                <a:latin typeface="Inconsolata"/>
              </a:rPr>
              <a:t>] </a:t>
            </a:r>
            <a:r>
              <a:rPr sz="650" i="0">
                <a:solidFill>
                  <a:srgbClr val="FF8E6E"/>
                </a:solidFill>
                <a:latin typeface="Inconsolata"/>
              </a:rPr>
              <a:t>or</a:t>
            </a:r>
            <a:r>
              <a:rPr sz="650" i="0">
                <a:solidFill>
                  <a:srgbClr val="E6EDF3"/>
                </a:solidFill>
                <a:latin typeface="Inconsolata"/>
              </a:rPr>
              <a:t> </a:t>
            </a:r>
            <a:r>
              <a:rPr sz="650" i="0">
                <a:solidFill>
                  <a:srgbClr val="F9C97A"/>
                </a:solidFill>
                <a:latin typeface="Inconsolata"/>
              </a:rPr>
              <a:t>0</a:t>
            </a:r>
            <a:r>
              <a:rPr sz="650" i="0">
                <a:solidFill>
                  <a:srgbClr val="E6EDF3"/>
                </a:solidFill>
                <a:latin typeface="Inconsolata"/>
              </a:rPr>
              <a:t>)}</a:t>
            </a:r>
          </a:p>
        </p:txBody>
      </p:sp>
      <p:sp>
        <p:nvSpPr>
          <p:cNvPr id="29" name="Box 12"/>
          <p:cNvSpPr/>
          <p:nvPr/>
        </p:nvSpPr>
        <p:spPr>
          <a:xfrm>
            <a:off x="704088" y="20269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34920"/>
            <a:ext cx="5230368" cy="806703"/>
          </a:xfrm>
          <a:prstGeom prst="roundRect">
            <a:avLst>
              <a:gd name="adj" fmla="val 566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19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Subtotal per order dihitung dengan </a:t>
            </a:r>
            <a:r>
              <a:rPr sz="900" b="0" i="0">
                <a:solidFill>
                  <a:srgbClr val="B5482A"/>
                </a:solidFill>
                <a:latin typeface="Inconsolata"/>
              </a:rPr>
              <a:t>GROUP BY</a:t>
            </a:r>
            <a:r>
              <a:rPr sz="900" b="0" i="0">
                <a:solidFill>
                  <a:srgbClr val="434343"/>
                </a:solidFill>
                <a:latin typeface="Inter"/>
              </a:rPr>
              <a:t> (contoh 06)</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Jumlah order per status dan revenue dalam satu query, memakai </a:t>
            </a:r>
            <a:r>
              <a:rPr sz="900" b="0" i="0">
                <a:solidFill>
                  <a:srgbClr val="B5482A"/>
                </a:solidFill>
                <a:latin typeface="Inconsolata"/>
              </a:rPr>
              <a:t>filter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Hasilnya dict yang sama dengan report sebelumnya</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Report: 1 query, apa pun jumlah ordernya.</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Port dan use case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ports.py  +  order_service.py  +  report_service.py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app/application/ports.py</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OrderRepository</a:t>
            </a:r>
            <a:r>
              <a:rPr sz="650" i="0">
                <a:solidFill>
                  <a:srgbClr val="E6EDF3"/>
                </a:solidFill>
                <a:latin typeface="Inconsolata"/>
              </a:rPr>
              <a:t>(</a:t>
            </a:r>
            <a:r>
              <a:rPr sz="650" i="0">
                <a:solidFill>
                  <a:srgbClr val="7FDBCA"/>
                </a:solidFill>
                <a:latin typeface="Inconsolata"/>
              </a:rPr>
              <a:t>Protocol</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add</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order: </a:t>
            </a:r>
            <a:r>
              <a:rPr sz="650" i="0">
                <a:solidFill>
                  <a:srgbClr val="7FDBCA"/>
                </a:solidFill>
                <a:latin typeface="Inconsolata"/>
              </a:rPr>
              <a:t>Order</a:t>
            </a:r>
            <a:r>
              <a:rPr sz="650" i="0">
                <a:solidFill>
                  <a:srgbClr val="E6EDF3"/>
                </a:solidFill>
                <a:latin typeface="Inconsolata"/>
              </a:rPr>
              <a:t>) -&gt; </a:t>
            </a:r>
            <a:r>
              <a:rPr sz="650" i="0">
                <a:solidFill>
                  <a:srgbClr val="7FDBCA"/>
                </a:solidFill>
                <a:latin typeface="Inconsolata"/>
              </a:rPr>
              <a:t>Order</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get</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order_id: </a:t>
            </a:r>
            <a:r>
              <a:rPr sz="650" i="0">
                <a:solidFill>
                  <a:srgbClr val="C3A6FF"/>
                </a:solidFill>
                <a:latin typeface="Inconsolata"/>
              </a:rPr>
              <a:t>int</a:t>
            </a:r>
            <a:r>
              <a:rPr sz="650" i="0">
                <a:solidFill>
                  <a:srgbClr val="E6EDF3"/>
                </a:solidFill>
                <a:latin typeface="Inconsolata"/>
              </a:rPr>
              <a:t>) -&gt; </a:t>
            </a:r>
            <a:r>
              <a:rPr sz="650" i="0">
                <a:solidFill>
                  <a:srgbClr val="7FDBCA"/>
                </a:solidFill>
                <a:latin typeface="Inconsolata"/>
              </a:rPr>
              <a:t>Order</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list_for_customer</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customer: </a:t>
            </a:r>
            <a:r>
              <a:rPr sz="650" i="0">
                <a:solidFill>
                  <a:srgbClr val="C3A6FF"/>
                </a:solidFill>
                <a:latin typeface="Inconsolata"/>
              </a:rPr>
              <a:t>str</a:t>
            </a:r>
            <a:r>
              <a:rPr sz="650" i="0">
                <a:solidFill>
                  <a:srgbClr val="E6EDF3"/>
                </a:solidFill>
                <a:latin typeface="Inconsolata"/>
              </a:rPr>
              <a:t>, limit: </a:t>
            </a:r>
            <a:r>
              <a:rPr sz="650" i="0">
                <a:solidFill>
                  <a:srgbClr val="C3A6FF"/>
                </a:solidFill>
                <a:latin typeface="Inconsolata"/>
              </a:rPr>
              <a:t>int</a:t>
            </a:r>
            <a:r>
              <a:rPr sz="650" i="0">
                <a:solidFill>
                  <a:srgbClr val="E6EDF3"/>
                </a:solidFill>
                <a:latin typeface="Inconsolata"/>
              </a:rPr>
              <a:t>, after: </a:t>
            </a:r>
            <a:r>
              <a:rPr sz="650" i="0">
                <a:solidFill>
                  <a:srgbClr val="C3A6FF"/>
                </a:solidFill>
                <a:latin typeface="Inconsolata"/>
              </a:rPr>
              <a:t>int</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-&gt; </a:t>
            </a:r>
            <a:r>
              <a:rPr sz="650" i="0">
                <a:solidFill>
                  <a:srgbClr val="C3A6FF"/>
                </a:solidFill>
                <a:latin typeface="Inconsolata"/>
              </a:rPr>
              <a:t>list</a:t>
            </a:r>
            <a:r>
              <a:rPr sz="650" i="0">
                <a:solidFill>
                  <a:srgbClr val="E6EDF3"/>
                </a:solidFill>
                <a:latin typeface="Inconsolata"/>
              </a:rPr>
              <a:t>[</a:t>
            </a:r>
            <a:r>
              <a:rPr sz="650" i="0">
                <a:solidFill>
                  <a:srgbClr val="7FDBCA"/>
                </a:solidFill>
                <a:latin typeface="Inconsolata"/>
              </a:rPr>
              <a:t>Order</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sales_summary</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-&gt; </a:t>
            </a:r>
            <a:r>
              <a:rPr sz="650" i="0">
                <a:solidFill>
                  <a:srgbClr val="C3A6FF"/>
                </a:solidFill>
                <a:latin typeface="Inconsolata"/>
              </a:rPr>
              <a:t>dict</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save</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order: </a:t>
            </a:r>
            <a:r>
              <a:rPr sz="650" i="0">
                <a:solidFill>
                  <a:srgbClr val="7FDBCA"/>
                </a:solidFill>
                <a:latin typeface="Inconsolata"/>
              </a:rPr>
              <a:t>Order</a:t>
            </a:r>
            <a:r>
              <a:rPr sz="650" i="0">
                <a:solidFill>
                  <a:srgbClr val="E6EDF3"/>
                </a:solidFill>
                <a:latin typeface="Inconsolata"/>
              </a:rPr>
              <a:t>) -&gt; </a:t>
            </a:r>
            <a:r>
              <a:rPr sz="650" i="0">
                <a:solidFill>
                  <a:srgbClr val="FF8E6E"/>
                </a:solidFill>
                <a:latin typeface="Inconsolata"/>
              </a:rPr>
              <a:t>None</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app/application/order_service.py</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list_orders</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customer: </a:t>
            </a:r>
            <a:r>
              <a:rPr sz="650" i="0">
                <a:solidFill>
                  <a:srgbClr val="C3A6FF"/>
                </a:solidFill>
                <a:latin typeface="Inconsolata"/>
              </a:rPr>
              <a:t>str</a:t>
            </a:r>
            <a:r>
              <a:rPr sz="650" i="0">
                <a:solidFill>
                  <a:srgbClr val="E6EDF3"/>
                </a:solidFill>
                <a:latin typeface="Inconsolata"/>
              </a:rPr>
              <a:t>, limit: </a:t>
            </a:r>
            <a:r>
              <a:rPr sz="650" i="0">
                <a:solidFill>
                  <a:srgbClr val="C3A6FF"/>
                </a:solidFill>
                <a:latin typeface="Inconsolata"/>
              </a:rPr>
              <a:t>int</a:t>
            </a:r>
            <a:r>
              <a:rPr sz="650" i="0">
                <a:solidFill>
                  <a:srgbClr val="E6EDF3"/>
                </a:solidFill>
                <a:latin typeface="Inconsolata"/>
              </a:rPr>
              <a:t> = </a:t>
            </a:r>
            <a:r>
              <a:rPr sz="650" i="0">
                <a:solidFill>
                  <a:srgbClr val="F9C97A"/>
                </a:solidFill>
                <a:latin typeface="Inconsolata"/>
              </a:rPr>
              <a:t>20</a:t>
            </a:r>
            <a:r>
              <a:rPr sz="650" i="0">
                <a:solidFill>
                  <a:srgbClr val="E6EDF3"/>
                </a:solidFill>
                <a:latin typeface="Inconsolata"/>
              </a:rPr>
              <a:t>, after: </a:t>
            </a:r>
            <a:r>
              <a:rPr sz="650" i="0">
                <a:solidFill>
                  <a:srgbClr val="C3A6FF"/>
                </a:solidFill>
                <a:latin typeface="Inconsolata"/>
              </a:rPr>
              <a:t>int</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-&gt; </a:t>
            </a:r>
            <a:r>
              <a:rPr sz="650" i="0">
                <a:solidFill>
                  <a:srgbClr val="C3A6FF"/>
                </a:solidFill>
                <a:latin typeface="Inconsolata"/>
              </a:rPr>
              <a:t>list</a:t>
            </a:r>
            <a:r>
              <a:rPr sz="650" i="0">
                <a:solidFill>
                  <a:srgbClr val="E6EDF3"/>
                </a:solidFill>
                <a:latin typeface="Inconsolata"/>
              </a:rPr>
              <a:t>[</a:t>
            </a:r>
            <a:r>
              <a:rPr sz="650" i="0">
                <a:solidFill>
                  <a:srgbClr val="7FDBCA"/>
                </a:solidFill>
                <a:latin typeface="Inconsolata"/>
              </a:rPr>
              <a:t>Order</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.uow.orders.list_for_customer(customer, limit, after)</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app/application/report_service.py</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sales_summary</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-&gt; </a:t>
            </a:r>
            <a:r>
              <a:rPr sz="650" i="0">
                <a:solidFill>
                  <a:srgbClr val="C3A6FF"/>
                </a:solidFill>
                <a:latin typeface="Inconsolata"/>
              </a:rPr>
              <a:t>dict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.uow.orders.sales_summary()</a:t>
            </a:r>
          </a:p>
        </p:txBody>
      </p:sp>
      <p:sp>
        <p:nvSpPr>
          <p:cNvPr id="29" name="Box 12"/>
          <p:cNvSpPr/>
          <p:nvPr/>
        </p:nvSpPr>
        <p:spPr>
          <a:xfrm>
            <a:off x="704088" y="22301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209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81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449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37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Port </a:t>
            </a:r>
            <a:r>
              <a:rPr sz="900" b="0" i="0">
                <a:solidFill>
                  <a:srgbClr val="B5482A"/>
                </a:solidFill>
                <a:latin typeface="Inconsolata"/>
              </a:rPr>
              <a:t>OrderRepository</a:t>
            </a:r>
            <a:r>
              <a:rPr sz="900" b="0" i="0">
                <a:solidFill>
                  <a:srgbClr val="434343"/>
                </a:solidFill>
                <a:latin typeface="Inter"/>
              </a:rPr>
              <a:t>: </a:t>
            </a:r>
            <a:r>
              <a:rPr sz="900" b="0" i="0">
                <a:solidFill>
                  <a:srgbClr val="B5482A"/>
                </a:solidFill>
                <a:latin typeface="Inconsolata"/>
              </a:rPr>
              <a:t>list()</a:t>
            </a:r>
            <a:r>
              <a:rPr sz="900" b="0" i="0">
                <a:solidFill>
                  <a:srgbClr val="434343"/>
                </a:solidFill>
                <a:latin typeface="Inter"/>
              </a:rPr>
              <a:t> diganti </a:t>
            </a:r>
            <a:r>
              <a:rPr sz="900" b="0" i="0">
                <a:solidFill>
                  <a:srgbClr val="B5482A"/>
                </a:solidFill>
                <a:latin typeface="Inconsolata"/>
              </a:rPr>
              <a:t>list_for_customer()</a:t>
            </a:r>
            <a:r>
              <a:rPr sz="900" b="0" i="0">
                <a:solidFill>
                  <a:srgbClr val="434343"/>
                </a:solidFill>
                <a:latin typeface="Inter"/>
              </a:rPr>
              <a:t> dan </a:t>
            </a:r>
            <a:r>
              <a:rPr sz="900" b="0" i="0">
                <a:solidFill>
                  <a:srgbClr val="B5482A"/>
                </a:solidFill>
                <a:latin typeface="Inconsolata"/>
              </a:rPr>
              <a:t>sales_summary()</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OrderService.list_orders()</a:t>
            </a:r>
            <a:r>
              <a:rPr sz="900" b="0" i="0">
                <a:solidFill>
                  <a:srgbClr val="434343"/>
                </a:solidFill>
                <a:latin typeface="Inter"/>
              </a:rPr>
              <a:t> untuk riwayat order</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ReportService</a:t>
            </a:r>
            <a:r>
              <a:rPr sz="900" b="0" i="0">
                <a:solidFill>
                  <a:srgbClr val="434343"/>
                </a:solidFill>
                <a:latin typeface="Inter"/>
              </a:rPr>
              <a:t> cukup memanggil repository</a:t>
            </a:r>
          </a:p>
          <a:p>
            <a:pPr algn="l">
              <a:lnSpc>
                <a:spcPct val="115000"/>
              </a:lnSpc>
              <a:spcAft>
                <a:spcPts val="0"/>
              </a:spcAft>
            </a:pPr>
            <a:endParaRPr sz="900" b="0" i="0">
              <a:solidFill>
                <a:srgbClr val="434343"/>
              </a:solidFill>
              <a:latin typeface="Inter"/>
            </a:endParaRPr>
          </a:p>
          <a:p>
            <a:pPr algn="l">
              <a:lnSpc>
                <a:spcPct val="115000"/>
              </a:lnSpc>
              <a:spcAft>
                <a:spcPts val="400"/>
              </a:spcAft>
            </a:pPr>
            <a:r>
              <a:rPr sz="900" b="0" i="0">
                <a:solidFill>
                  <a:srgbClr val="434343"/>
                </a:solidFill>
                <a:latin typeface="Inter"/>
              </a:rPr>
              <a:t>Sesuaikan juga </a:t>
            </a:r>
            <a:r>
              <a:rPr sz="900" b="0" i="0">
                <a:solidFill>
                  <a:srgbClr val="B5482A"/>
                </a:solidFill>
                <a:latin typeface="Inconsolata"/>
              </a:rPr>
              <a:t>FakeOrderRepository</a:t>
            </a:r>
            <a:r>
              <a:rPr sz="900" b="0" i="0">
                <a:solidFill>
                  <a:srgbClr val="434343"/>
                </a:solidFill>
                <a:latin typeface="Inter"/>
              </a:rPr>
              <a:t> di </a:t>
            </a:r>
            <a:r>
              <a:rPr sz="900" b="0" i="0">
                <a:solidFill>
                  <a:srgbClr val="B5482A"/>
                </a:solidFill>
                <a:latin typeface="Inconsolata"/>
              </a:rPr>
              <a:t>tests/fakes.py</a:t>
            </a:r>
            <a:r>
              <a:rPr sz="900" b="0" i="0">
                <a:solidFill>
                  <a:srgbClr val="434343"/>
                </a:solidFill>
                <a:latin typeface="Inter"/>
              </a:rPr>
              <a:t>.</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Application tetap tanpa SQLAlchemy.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API: GET /orders dengan keyset pagination</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routers/orders.py  +  schemas.py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6667"/>
              </a:lnSpc>
              <a:spcAft>
                <a:spcPts val="0"/>
              </a:spcAft>
            </a:pPr>
            <a:r>
              <a:rPr sz="625" i="1">
                <a:solidFill>
                  <a:srgbClr val="8B98A8"/>
                </a:solidFill>
                <a:latin typeface="Inconsolata"/>
              </a:rPr>
              <a:t># app/api/routers/orders.py</a:t>
            </a:r>
          </a:p>
          <a:p>
            <a:pPr>
              <a:lnSpc>
                <a:spcPct val="106667"/>
              </a:lnSpc>
              <a:spcAft>
                <a:spcPts val="0"/>
              </a:spcAft>
            </a:pPr>
            <a:r>
              <a:rPr sz="625" i="0">
                <a:solidFill>
                  <a:srgbClr val="F9C97A"/>
                </a:solidFill>
                <a:latin typeface="Inconsolata"/>
              </a:rPr>
              <a:t>@router.get</a:t>
            </a:r>
            <a:r>
              <a:rPr sz="625" i="0">
                <a:solidFill>
                  <a:srgbClr val="E6EDF3"/>
                </a:solidFill>
                <a:latin typeface="Inconsolata"/>
              </a:rPr>
              <a:t>(</a:t>
            </a:r>
            <a:r>
              <a:rPr sz="625" i="0">
                <a:solidFill>
                  <a:srgbClr val="A5D6A7"/>
                </a:solidFill>
                <a:latin typeface="Inconsolata"/>
              </a:rPr>
              <a:t>""</a:t>
            </a:r>
            <a:r>
              <a:rPr sz="625" i="0">
                <a:solidFill>
                  <a:srgbClr val="E6EDF3"/>
                </a:solidFill>
                <a:latin typeface="Inconsolata"/>
              </a:rPr>
              <a:t>, response_model=</a:t>
            </a:r>
            <a:r>
              <a:rPr sz="625" i="0">
                <a:solidFill>
                  <a:srgbClr val="7FDBCA"/>
                </a:solidFill>
                <a:latin typeface="Inconsolata"/>
              </a:rPr>
              <a:t>OrderPageOut</a:t>
            </a:r>
            <a:r>
              <a:rPr sz="625" i="0">
                <a:solidFill>
                  <a:srgbClr val="E6EDF3"/>
                </a:solidFill>
                <a:latin typeface="Inconsolata"/>
              </a:rPr>
              <a:t>, summary=</a:t>
            </a:r>
            <a:r>
              <a:rPr sz="625" i="0">
                <a:solidFill>
                  <a:srgbClr val="A5D6A7"/>
                </a:solidFill>
                <a:latin typeface="Inconsolata"/>
              </a:rPr>
              <a:t>"Riwayat order customer (keyset pagination)"</a:t>
            </a:r>
            <a:r>
              <a:rPr sz="625" i="0">
                <a:solidFill>
                  <a:srgbClr val="E6EDF3"/>
                </a:solidFill>
                <a:latin typeface="Inconsolata"/>
              </a:rPr>
              <a:t>)</a:t>
            </a:r>
          </a:p>
          <a:p>
            <a:pPr>
              <a:lnSpc>
                <a:spcPct val="106667"/>
              </a:lnSpc>
              <a:spcAft>
                <a:spcPts val="0"/>
              </a:spcAft>
            </a:pPr>
            <a:r>
              <a:rPr sz="625" i="0">
                <a:solidFill>
                  <a:srgbClr val="FF8E6E"/>
                </a:solidFill>
                <a:latin typeface="Inconsolata"/>
              </a:rPr>
              <a:t>def</a:t>
            </a:r>
            <a:r>
              <a:rPr sz="625" i="0">
                <a:solidFill>
                  <a:srgbClr val="E6EDF3"/>
                </a:solidFill>
                <a:latin typeface="Inconsolata"/>
              </a:rPr>
              <a:t> </a:t>
            </a:r>
            <a:r>
              <a:rPr sz="625" i="0">
                <a:solidFill>
                  <a:srgbClr val="82B1FF"/>
                </a:solidFill>
                <a:latin typeface="Inconsolata"/>
              </a:rPr>
              <a:t>list_orders</a:t>
            </a:r>
            <a:r>
              <a:rPr sz="625" i="0">
                <a:solidFill>
                  <a:srgbClr val="E6EDF3"/>
                </a:solidFill>
                <a:latin typeface="Inconsolata"/>
              </a:rPr>
              <a:t>(customer: </a:t>
            </a:r>
            <a:r>
              <a:rPr sz="625" i="0">
                <a:solidFill>
                  <a:srgbClr val="C3A6FF"/>
                </a:solidFill>
                <a:latin typeface="Inconsolata"/>
              </a:rPr>
              <a:t>str</a:t>
            </a:r>
            <a:r>
              <a:rPr sz="625" i="0">
                <a:solidFill>
                  <a:srgbClr val="E6EDF3"/>
                </a:solidFill>
                <a:latin typeface="Inconsolata"/>
              </a:rPr>
              <a:t>, limit: </a:t>
            </a:r>
            <a:r>
              <a:rPr sz="625" i="0">
                <a:solidFill>
                  <a:srgbClr val="C3A6FF"/>
                </a:solidFill>
                <a:latin typeface="Inconsolata"/>
              </a:rPr>
              <a:t>int</a:t>
            </a:r>
            <a:r>
              <a:rPr sz="625" i="0">
                <a:solidFill>
                  <a:srgbClr val="E6EDF3"/>
                </a:solidFill>
                <a:latin typeface="Inconsolata"/>
              </a:rPr>
              <a:t> = </a:t>
            </a:r>
            <a:r>
              <a:rPr sz="625" i="0">
                <a:solidFill>
                  <a:srgbClr val="7FDBCA"/>
                </a:solidFill>
                <a:latin typeface="Inconsolata"/>
              </a:rPr>
              <a:t>Query</a:t>
            </a:r>
            <a:r>
              <a:rPr sz="625" i="0">
                <a:solidFill>
                  <a:srgbClr val="E6EDF3"/>
                </a:solidFill>
                <a:latin typeface="Inconsolata"/>
              </a:rPr>
              <a:t>(</a:t>
            </a:r>
            <a:r>
              <a:rPr sz="625" i="0">
                <a:solidFill>
                  <a:srgbClr val="F9C97A"/>
                </a:solidFill>
                <a:latin typeface="Inconsolata"/>
              </a:rPr>
              <a:t>20</a:t>
            </a:r>
            <a:r>
              <a:rPr sz="625" i="0">
                <a:solidFill>
                  <a:srgbClr val="E6EDF3"/>
                </a:solidFill>
                <a:latin typeface="Inconsolata"/>
              </a:rPr>
              <a:t>, ge=</a:t>
            </a:r>
            <a:r>
              <a:rPr sz="625" i="0">
                <a:solidFill>
                  <a:srgbClr val="F9C97A"/>
                </a:solidFill>
                <a:latin typeface="Inconsolata"/>
              </a:rPr>
              <a:t>1</a:t>
            </a:r>
            <a:r>
              <a:rPr sz="625" i="0">
                <a:solidFill>
                  <a:srgbClr val="E6EDF3"/>
                </a:solidFill>
                <a:latin typeface="Inconsolata"/>
              </a:rPr>
              <a:t>, le=</a:t>
            </a:r>
            <a:r>
              <a:rPr sz="625" i="0">
                <a:solidFill>
                  <a:srgbClr val="F9C97A"/>
                </a:solidFill>
                <a:latin typeface="Inconsolata"/>
              </a:rPr>
              <a:t>100</a:t>
            </a:r>
            <a:r>
              <a:rPr sz="625" i="0">
                <a:solidFill>
                  <a:srgbClr val="E6EDF3"/>
                </a:solidFill>
                <a:latin typeface="Inconsolata"/>
              </a:rPr>
              <a:t>),</a:t>
            </a:r>
          </a:p>
          <a:p>
            <a:pPr>
              <a:lnSpc>
                <a:spcPct val="106667"/>
              </a:lnSpc>
              <a:spcAft>
                <a:spcPts val="0"/>
              </a:spcAft>
            </a:pPr>
            <a:r>
              <a:rPr sz="625" i="0">
                <a:solidFill>
                  <a:srgbClr val="E6EDF3"/>
                </a:solidFill>
                <a:latin typeface="Inconsolata"/>
              </a:rPr>
              <a:t>                after: </a:t>
            </a:r>
            <a:r>
              <a:rPr sz="625" i="0">
                <a:solidFill>
                  <a:srgbClr val="C3A6FF"/>
                </a:solidFill>
                <a:latin typeface="Inconsolata"/>
              </a:rPr>
              <a:t>int</a:t>
            </a:r>
            <a:r>
              <a:rPr sz="625" i="0">
                <a:solidFill>
                  <a:srgbClr val="E6EDF3"/>
                </a:solidFill>
                <a:latin typeface="Inconsolata"/>
              </a:rPr>
              <a:t> | </a:t>
            </a:r>
            <a:r>
              <a:rPr sz="625" i="0">
                <a:solidFill>
                  <a:srgbClr val="FF8E6E"/>
                </a:solidFill>
                <a:latin typeface="Inconsolata"/>
              </a:rPr>
              <a:t>None</a:t>
            </a:r>
            <a:r>
              <a:rPr sz="625" i="0">
                <a:solidFill>
                  <a:srgbClr val="E6EDF3"/>
                </a:solidFill>
                <a:latin typeface="Inconsolata"/>
              </a:rPr>
              <a:t> = </a:t>
            </a:r>
            <a:r>
              <a:rPr sz="625" i="0">
                <a:solidFill>
                  <a:srgbClr val="7FDBCA"/>
                </a:solidFill>
                <a:latin typeface="Inconsolata"/>
              </a:rPr>
              <a:t>Query</a:t>
            </a:r>
            <a:r>
              <a:rPr sz="625" i="0">
                <a:solidFill>
                  <a:srgbClr val="E6EDF3"/>
                </a:solidFill>
                <a:latin typeface="Inconsolata"/>
              </a:rPr>
              <a:t>(</a:t>
            </a:r>
            <a:r>
              <a:rPr sz="625" i="0">
                <a:solidFill>
                  <a:srgbClr val="FF8E6E"/>
                </a:solidFill>
                <a:latin typeface="Inconsolata"/>
              </a:rPr>
              <a:t>None</a:t>
            </a:r>
            <a:r>
              <a:rPr sz="625" i="0">
                <a:solidFill>
                  <a:srgbClr val="E6EDF3"/>
                </a:solidFill>
                <a:latin typeface="Inconsolata"/>
              </a:rPr>
              <a:t>, description=</a:t>
            </a:r>
            <a:r>
              <a:rPr sz="625" i="0">
                <a:solidFill>
                  <a:srgbClr val="A5D6A7"/>
                </a:solidFill>
                <a:latin typeface="Inconsolata"/>
              </a:rPr>
              <a:t>"id order terakhir dari halaman sebelumnya"</a:t>
            </a:r>
            <a:r>
              <a:rPr sz="625" i="0">
                <a:solidFill>
                  <a:srgbClr val="E6EDF3"/>
                </a:solidFill>
                <a:latin typeface="Inconsolata"/>
              </a:rPr>
              <a:t>),</a:t>
            </a:r>
          </a:p>
          <a:p>
            <a:pPr>
              <a:lnSpc>
                <a:spcPct val="106667"/>
              </a:lnSpc>
              <a:spcAft>
                <a:spcPts val="0"/>
              </a:spcAft>
            </a:pPr>
            <a:r>
              <a:rPr sz="625" i="0">
                <a:solidFill>
                  <a:srgbClr val="E6EDF3"/>
                </a:solidFill>
                <a:latin typeface="Inconsolata"/>
              </a:rPr>
              <a:t>                service: </a:t>
            </a:r>
            <a:r>
              <a:rPr sz="625" i="0">
                <a:solidFill>
                  <a:srgbClr val="7FDBCA"/>
                </a:solidFill>
                <a:latin typeface="Inconsolata"/>
              </a:rPr>
              <a:t>OrderService</a:t>
            </a:r>
            <a:r>
              <a:rPr sz="625" i="0">
                <a:solidFill>
                  <a:srgbClr val="E6EDF3"/>
                </a:solidFill>
                <a:latin typeface="Inconsolata"/>
              </a:rPr>
              <a:t> = </a:t>
            </a:r>
            <a:r>
              <a:rPr sz="625" i="0">
                <a:solidFill>
                  <a:srgbClr val="7FDBCA"/>
                </a:solidFill>
                <a:latin typeface="Inconsolata"/>
              </a:rPr>
              <a:t>Depends</a:t>
            </a:r>
            <a:r>
              <a:rPr sz="625" i="0">
                <a:solidFill>
                  <a:srgbClr val="E6EDF3"/>
                </a:solidFill>
                <a:latin typeface="Inconsolata"/>
              </a:rPr>
              <a:t>(get_order_service)):</a:t>
            </a:r>
          </a:p>
          <a:p>
            <a:pPr>
              <a:lnSpc>
                <a:spcPct val="106667"/>
              </a:lnSpc>
              <a:spcAft>
                <a:spcPts val="0"/>
              </a:spcAft>
            </a:pPr>
            <a:r>
              <a:rPr sz="625" i="0">
                <a:solidFill>
                  <a:srgbClr val="E6EDF3"/>
                </a:solidFill>
                <a:latin typeface="Inconsolata"/>
              </a:rPr>
              <a:t>    orders = service.list_orders(customer, limit, after)</a:t>
            </a:r>
          </a:p>
          <a:p>
            <a:pPr>
              <a:lnSpc>
                <a:spcPct val="106667"/>
              </a:lnSpc>
              <a:spcAft>
                <a:spcPts val="0"/>
              </a:spcAft>
            </a:pPr>
            <a:r>
              <a:rPr sz="625" i="0">
                <a:solidFill>
                  <a:srgbClr val="E6EDF3"/>
                </a:solidFill>
                <a:latin typeface="Inconsolata"/>
              </a:rPr>
              <a:t>    next_after = orders[-</a:t>
            </a:r>
            <a:r>
              <a:rPr sz="625" i="0">
                <a:solidFill>
                  <a:srgbClr val="F9C97A"/>
                </a:solidFill>
                <a:latin typeface="Inconsolata"/>
              </a:rPr>
              <a:t>1</a:t>
            </a:r>
            <a:r>
              <a:rPr sz="625" i="0">
                <a:solidFill>
                  <a:srgbClr val="E6EDF3"/>
                </a:solidFill>
                <a:latin typeface="Inconsolata"/>
              </a:rPr>
              <a:t>].id </a:t>
            </a:r>
            <a:r>
              <a:rPr sz="625" i="0">
                <a:solidFill>
                  <a:srgbClr val="FF8E6E"/>
                </a:solidFill>
                <a:latin typeface="Inconsolata"/>
              </a:rPr>
              <a:t>if</a:t>
            </a:r>
            <a:r>
              <a:rPr sz="625" i="0">
                <a:solidFill>
                  <a:srgbClr val="E6EDF3"/>
                </a:solidFill>
                <a:latin typeface="Inconsolata"/>
              </a:rPr>
              <a:t> </a:t>
            </a:r>
            <a:r>
              <a:rPr sz="625" i="0">
                <a:solidFill>
                  <a:srgbClr val="C3A6FF"/>
                </a:solidFill>
                <a:latin typeface="Inconsolata"/>
              </a:rPr>
              <a:t>len</a:t>
            </a:r>
            <a:r>
              <a:rPr sz="625" i="0">
                <a:solidFill>
                  <a:srgbClr val="E6EDF3"/>
                </a:solidFill>
                <a:latin typeface="Inconsolata"/>
              </a:rPr>
              <a:t>(orders) == limit </a:t>
            </a:r>
            <a:r>
              <a:rPr sz="625" i="0">
                <a:solidFill>
                  <a:srgbClr val="FF8E6E"/>
                </a:solidFill>
                <a:latin typeface="Inconsolata"/>
              </a:rPr>
              <a:t>else</a:t>
            </a:r>
            <a:r>
              <a:rPr sz="625" i="0">
                <a:solidFill>
                  <a:srgbClr val="E6EDF3"/>
                </a:solidFill>
                <a:latin typeface="Inconsolata"/>
              </a:rPr>
              <a:t> </a:t>
            </a:r>
            <a:r>
              <a:rPr sz="625" i="0">
                <a:solidFill>
                  <a:srgbClr val="FF8E6E"/>
                </a:solidFill>
                <a:latin typeface="Inconsolata"/>
              </a:rPr>
              <a:t>None</a:t>
            </a:r>
          </a:p>
          <a:p>
            <a:pPr>
              <a:lnSpc>
                <a:spcPct val="106667"/>
              </a:lnSpc>
              <a:spcAft>
                <a:spcPts val="0"/>
              </a:spcAft>
            </a:pPr>
            <a:r>
              <a:rPr sz="625" i="0">
                <a:solidFill>
                  <a:srgbClr val="E6EDF3"/>
                </a:solidFill>
                <a:latin typeface="Inconsolata"/>
              </a:rPr>
              <a:t>    </a:t>
            </a:r>
            <a:r>
              <a:rPr sz="625" i="0">
                <a:solidFill>
                  <a:srgbClr val="FF8E6E"/>
                </a:solidFill>
                <a:latin typeface="Inconsolata"/>
              </a:rPr>
              <a:t>return</a:t>
            </a:r>
            <a:r>
              <a:rPr sz="625" i="0">
                <a:solidFill>
                  <a:srgbClr val="E6EDF3"/>
                </a:solidFill>
                <a:latin typeface="Inconsolata"/>
              </a:rPr>
              <a:t> </a:t>
            </a:r>
            <a:r>
              <a:rPr sz="625" i="0">
                <a:solidFill>
                  <a:srgbClr val="7FDBCA"/>
                </a:solidFill>
                <a:latin typeface="Inconsolata"/>
              </a:rPr>
              <a:t>OrderPageOut</a:t>
            </a:r>
            <a:r>
              <a:rPr sz="625" i="0">
                <a:solidFill>
                  <a:srgbClr val="E6EDF3"/>
                </a:solidFill>
                <a:latin typeface="Inconsolata"/>
              </a:rPr>
              <a:t>(items=[</a:t>
            </a:r>
            <a:r>
              <a:rPr sz="625" i="0">
                <a:solidFill>
                  <a:srgbClr val="7FDBCA"/>
                </a:solidFill>
                <a:latin typeface="Inconsolata"/>
              </a:rPr>
              <a:t>OrderOut</a:t>
            </a:r>
            <a:r>
              <a:rPr sz="625" i="0">
                <a:solidFill>
                  <a:srgbClr val="E6EDF3"/>
                </a:solidFill>
                <a:latin typeface="Inconsolata"/>
              </a:rPr>
              <a:t>.from_domain(o) </a:t>
            </a:r>
            <a:r>
              <a:rPr sz="625" i="0">
                <a:solidFill>
                  <a:srgbClr val="FF8E6E"/>
                </a:solidFill>
                <a:latin typeface="Inconsolata"/>
              </a:rPr>
              <a:t>for</a:t>
            </a:r>
            <a:r>
              <a:rPr sz="625" i="0">
                <a:solidFill>
                  <a:srgbClr val="E6EDF3"/>
                </a:solidFill>
                <a:latin typeface="Inconsolata"/>
              </a:rPr>
              <a:t> o </a:t>
            </a:r>
            <a:r>
              <a:rPr sz="625" i="0">
                <a:solidFill>
                  <a:srgbClr val="FF8E6E"/>
                </a:solidFill>
                <a:latin typeface="Inconsolata"/>
              </a:rPr>
              <a:t>in</a:t>
            </a:r>
            <a:r>
              <a:rPr sz="625" i="0">
                <a:solidFill>
                  <a:srgbClr val="E6EDF3"/>
                </a:solidFill>
                <a:latin typeface="Inconsolata"/>
              </a:rPr>
              <a:t> orders], next_after=next_after)</a:t>
            </a:r>
          </a:p>
          <a:p>
            <a:pPr>
              <a:lnSpc>
                <a:spcPct val="106667"/>
              </a:lnSpc>
              <a:spcAft>
                <a:spcPts val="0"/>
              </a:spcAft>
            </a:pPr>
            <a:r>
              <a:rPr sz="625" i="0">
                <a:solidFill>
                  <a:srgbClr val="E6EDF3"/>
                </a:solidFill>
                <a:latin typeface="Inconsolata"/>
              </a:rPr>
              <a:t> </a:t>
            </a:r>
          </a:p>
          <a:p>
            <a:pPr>
              <a:lnSpc>
                <a:spcPct val="106667"/>
              </a:lnSpc>
              <a:spcAft>
                <a:spcPts val="0"/>
              </a:spcAft>
            </a:pPr>
            <a:r>
              <a:rPr sz="625" i="1">
                <a:solidFill>
                  <a:srgbClr val="8B98A8"/>
                </a:solidFill>
                <a:latin typeface="Inconsolata"/>
              </a:rPr>
              <a:t># app/api/schemas.py</a:t>
            </a:r>
          </a:p>
          <a:p>
            <a:pPr>
              <a:lnSpc>
                <a:spcPct val="106667"/>
              </a:lnSpc>
              <a:spcAft>
                <a:spcPts val="0"/>
              </a:spcAft>
            </a:pPr>
            <a:r>
              <a:rPr sz="625" i="0">
                <a:solidFill>
                  <a:srgbClr val="FF8E6E"/>
                </a:solidFill>
                <a:latin typeface="Inconsolata"/>
              </a:rPr>
              <a:t>class</a:t>
            </a:r>
            <a:r>
              <a:rPr sz="625" i="0">
                <a:solidFill>
                  <a:srgbClr val="E6EDF3"/>
                </a:solidFill>
                <a:latin typeface="Inconsolata"/>
              </a:rPr>
              <a:t> </a:t>
            </a:r>
            <a:r>
              <a:rPr sz="625" i="0">
                <a:solidFill>
                  <a:srgbClr val="7FDBCA"/>
                </a:solidFill>
                <a:latin typeface="Inconsolata"/>
              </a:rPr>
              <a:t>OrderPageOut</a:t>
            </a:r>
            <a:r>
              <a:rPr sz="625" i="0">
                <a:solidFill>
                  <a:srgbClr val="E6EDF3"/>
                </a:solidFill>
                <a:latin typeface="Inconsolata"/>
              </a:rPr>
              <a:t>(</a:t>
            </a:r>
            <a:r>
              <a:rPr sz="625" i="0">
                <a:solidFill>
                  <a:srgbClr val="7FDBCA"/>
                </a:solidFill>
                <a:latin typeface="Inconsolata"/>
              </a:rPr>
              <a:t>BaseModel</a:t>
            </a:r>
            <a:r>
              <a:rPr sz="625" i="0">
                <a:solidFill>
                  <a:srgbClr val="E6EDF3"/>
                </a:solidFill>
                <a:latin typeface="Inconsolata"/>
              </a:rPr>
              <a:t>):</a:t>
            </a:r>
          </a:p>
          <a:p>
            <a:pPr>
              <a:lnSpc>
                <a:spcPct val="106667"/>
              </a:lnSpc>
              <a:spcAft>
                <a:spcPts val="0"/>
              </a:spcAft>
            </a:pPr>
            <a:r>
              <a:rPr sz="625" i="0">
                <a:solidFill>
                  <a:srgbClr val="E6EDF3"/>
                </a:solidFill>
                <a:latin typeface="Inconsolata"/>
              </a:rPr>
              <a:t>    items: </a:t>
            </a:r>
            <a:r>
              <a:rPr sz="625" i="0">
                <a:solidFill>
                  <a:srgbClr val="C3A6FF"/>
                </a:solidFill>
                <a:latin typeface="Inconsolata"/>
              </a:rPr>
              <a:t>list</a:t>
            </a:r>
            <a:r>
              <a:rPr sz="625" i="0">
                <a:solidFill>
                  <a:srgbClr val="E6EDF3"/>
                </a:solidFill>
                <a:latin typeface="Inconsolata"/>
              </a:rPr>
              <a:t>[</a:t>
            </a:r>
            <a:r>
              <a:rPr sz="625" i="0">
                <a:solidFill>
                  <a:srgbClr val="7FDBCA"/>
                </a:solidFill>
                <a:latin typeface="Inconsolata"/>
              </a:rPr>
              <a:t>OrderOut</a:t>
            </a:r>
            <a:r>
              <a:rPr sz="625" i="0">
                <a:solidFill>
                  <a:srgbClr val="E6EDF3"/>
                </a:solidFill>
                <a:latin typeface="Inconsolata"/>
              </a:rPr>
              <a:t>]</a:t>
            </a:r>
          </a:p>
          <a:p>
            <a:pPr>
              <a:lnSpc>
                <a:spcPct val="106667"/>
              </a:lnSpc>
              <a:spcAft>
                <a:spcPts val="0"/>
              </a:spcAft>
            </a:pPr>
            <a:r>
              <a:rPr sz="625" i="0">
                <a:solidFill>
                  <a:srgbClr val="E6EDF3"/>
                </a:solidFill>
                <a:latin typeface="Inconsolata"/>
              </a:rPr>
              <a:t>    next_after: </a:t>
            </a:r>
            <a:r>
              <a:rPr sz="625" i="0">
                <a:solidFill>
                  <a:srgbClr val="C3A6FF"/>
                </a:solidFill>
                <a:latin typeface="Inconsolata"/>
              </a:rPr>
              <a:t>int</a:t>
            </a:r>
            <a:r>
              <a:rPr sz="625" i="0">
                <a:solidFill>
                  <a:srgbClr val="E6EDF3"/>
                </a:solidFill>
                <a:latin typeface="Inconsolata"/>
              </a:rPr>
              <a:t> | </a:t>
            </a:r>
            <a:r>
              <a:rPr sz="625" i="0">
                <a:solidFill>
                  <a:srgbClr val="FF8E6E"/>
                </a:solidFill>
                <a:latin typeface="Inconsolata"/>
              </a:rPr>
              <a:t>None</a:t>
            </a:r>
            <a:r>
              <a:rPr sz="625" i="0">
                <a:solidFill>
                  <a:srgbClr val="E6EDF3"/>
                </a:solidFill>
                <a:latin typeface="Inconsolata"/>
              </a:rPr>
              <a:t> = </a:t>
            </a:r>
            <a:r>
              <a:rPr sz="625" i="0">
                <a:solidFill>
                  <a:srgbClr val="7FDBCA"/>
                </a:solidFill>
                <a:latin typeface="Inconsolata"/>
              </a:rPr>
              <a:t>Field</a:t>
            </a:r>
            <a:r>
              <a:rPr sz="625" i="0">
                <a:solidFill>
                  <a:srgbClr val="E6EDF3"/>
                </a:solidFill>
                <a:latin typeface="Inconsolata"/>
              </a:rPr>
              <a:t>(description=</a:t>
            </a:r>
            <a:r>
              <a:rPr sz="625" i="0">
                <a:solidFill>
                  <a:srgbClr val="A5D6A7"/>
                </a:solidFill>
                <a:latin typeface="Inconsolata"/>
              </a:rPr>
              <a:t>"Kirim sebagai ?after= untuk halaman berikutnya. null = halaman terakhir"</a:t>
            </a:r>
            <a:r>
              <a:rPr sz="625" i="0">
                <a:solidFill>
                  <a:srgbClr val="E6EDF3"/>
                </a:solidFill>
                <a:latin typeface="Inconsolata"/>
              </a:rPr>
              <a:t>)</a:t>
            </a:r>
          </a:p>
        </p:txBody>
      </p:sp>
      <p:sp>
        <p:nvSpPr>
          <p:cNvPr id="29" name="Box 12"/>
          <p:cNvSpPr/>
          <p:nvPr/>
        </p:nvSpPr>
        <p:spPr>
          <a:xfrm>
            <a:off x="704088" y="20269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057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433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362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839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870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limit</a:t>
            </a:r>
            <a:r>
              <a:rPr sz="900" b="0" i="0">
                <a:solidFill>
                  <a:srgbClr val="434343"/>
                </a:solidFill>
                <a:latin typeface="Inter"/>
              </a:rPr>
              <a:t> 1 sampai 100, </a:t>
            </a:r>
            <a:r>
              <a:rPr sz="900" b="0" i="0">
                <a:solidFill>
                  <a:srgbClr val="B5482A"/>
                </a:solidFill>
                <a:latin typeface="Inconsolata"/>
              </a:rPr>
              <a:t>after</a:t>
            </a:r>
            <a:r>
              <a:rPr sz="900" b="0" i="0">
                <a:solidFill>
                  <a:srgbClr val="434343"/>
                </a:solidFill>
                <a:latin typeface="Inter"/>
              </a:rPr>
              <a:t> boleh kosong untuk halaman pertama</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next_after</a:t>
            </a:r>
            <a:r>
              <a:rPr sz="900" b="0" i="0">
                <a:solidFill>
                  <a:srgbClr val="434343"/>
                </a:solidFill>
                <a:latin typeface="Inter"/>
              </a:rPr>
              <a:t> diisi id terakhir jika masih ada halaman berikutnya</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OrderPageOut</a:t>
            </a:r>
            <a:r>
              <a:rPr sz="900" b="0" i="0">
                <a:solidFill>
                  <a:srgbClr val="434343"/>
                </a:solidFill>
                <a:latin typeface="Inter"/>
              </a:rPr>
              <a:t>: daftar order dan cursor halaman berikutnya</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Endpoint baru muncul di /docs.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8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tests/: hitung jumlah query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tests/test_query_performance.py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F9C97A"/>
                </a:solidFill>
                <a:latin typeface="Inconsolata"/>
              </a:rPr>
              <a:t>@pytest.fixture</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queries</a:t>
            </a:r>
            <a:r>
              <a:rPr sz="700" i="0">
                <a:solidFill>
                  <a:srgbClr val="E6EDF3"/>
                </a:solidFill>
                <a:latin typeface="Inconsolata"/>
              </a:rPr>
              <a:t>(session_factory):</a:t>
            </a:r>
          </a:p>
          <a:p>
            <a:pPr>
              <a:lnSpc>
                <a:spcPct val="107143"/>
              </a:lnSpc>
              <a:spcAft>
                <a:spcPts val="0"/>
              </a:spcAft>
            </a:pPr>
            <a:r>
              <a:rPr sz="700" i="0">
                <a:solidFill>
                  <a:srgbClr val="E6EDF3"/>
                </a:solidFill>
                <a:latin typeface="Inconsolata"/>
              </a:rPr>
              <a:t>    executed = []</a:t>
            </a:r>
          </a:p>
          <a:p>
            <a:pPr>
              <a:lnSpc>
                <a:spcPct val="107143"/>
              </a:lnSpc>
              <a:spcAft>
                <a:spcPts val="0"/>
              </a:spcAft>
            </a:pPr>
            <a:r>
              <a:rPr sz="700" i="0">
                <a:solidFill>
                  <a:srgbClr val="E6EDF3"/>
                </a:solidFill>
                <a:latin typeface="Inconsolata"/>
              </a:rPr>
              <a:t>    event.listen(session_factory.kw[</a:t>
            </a:r>
            <a:r>
              <a:rPr sz="700" i="0">
                <a:solidFill>
                  <a:srgbClr val="A5D6A7"/>
                </a:solidFill>
                <a:latin typeface="Inconsolata"/>
              </a:rPr>
              <a:t>"bind"</a:t>
            </a:r>
            <a:r>
              <a:rPr sz="700" i="0">
                <a:solidFill>
                  <a:srgbClr val="E6EDF3"/>
                </a:solidFill>
                <a:latin typeface="Inconsolata"/>
              </a:rPr>
              <a:t>], </a:t>
            </a:r>
            <a:r>
              <a:rPr sz="700" i="0">
                <a:solidFill>
                  <a:srgbClr val="A5D6A7"/>
                </a:solidFill>
                <a:latin typeface="Inconsolata"/>
              </a:rPr>
              <a:t>"before_cursor_execute"</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lambda</a:t>
            </a:r>
            <a:r>
              <a:rPr sz="700" i="0">
                <a:solidFill>
                  <a:srgbClr val="E6EDF3"/>
                </a:solidFill>
                <a:latin typeface="Inconsolata"/>
              </a:rPr>
              <a:t> conn, cursor, statement, *args: executed.append(statement))</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executed</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F9C97A"/>
                </a:solidFill>
                <a:latin typeface="Inconsolata"/>
              </a:rPr>
              <a:t>@pytest.mark.parametrize</a:t>
            </a:r>
            <a:r>
              <a:rPr sz="700" i="0">
                <a:solidFill>
                  <a:srgbClr val="E6EDF3"/>
                </a:solidFill>
                <a:latin typeface="Inconsolata"/>
              </a:rPr>
              <a:t>(</a:t>
            </a:r>
            <a:r>
              <a:rPr sz="700" i="0">
                <a:solidFill>
                  <a:srgbClr val="A5D6A7"/>
                </a:solidFill>
                <a:latin typeface="Inconsolata"/>
              </a:rPr>
              <a:t>"count"</a:t>
            </a:r>
            <a:r>
              <a:rPr sz="700" i="0">
                <a:solidFill>
                  <a:srgbClr val="E6EDF3"/>
                </a:solidFill>
                <a:latin typeface="Inconsolata"/>
              </a:rPr>
              <a:t>, [</a:t>
            </a:r>
            <a:r>
              <a:rPr sz="700" i="0">
                <a:solidFill>
                  <a:srgbClr val="F9C97A"/>
                </a:solidFill>
                <a:latin typeface="Inconsolata"/>
              </a:rPr>
              <a:t>5</a:t>
            </a:r>
            <a:r>
              <a:rPr sz="700" i="0">
                <a:solidFill>
                  <a:srgbClr val="E6EDF3"/>
                </a:solidFill>
                <a:latin typeface="Inconsolata"/>
              </a:rPr>
              <a:t>, </a:t>
            </a:r>
            <a:r>
              <a:rPr sz="700" i="0">
                <a:solidFill>
                  <a:srgbClr val="F9C97A"/>
                </a:solidFill>
                <a:latin typeface="Inconsolata"/>
              </a:rPr>
              <a:t>30</a:t>
            </a:r>
            <a:r>
              <a:rPr sz="700" i="0">
                <a:solidFill>
                  <a:srgbClr val="E6EDF3"/>
                </a:solidFill>
                <a:latin typeface="Inconsolata"/>
              </a:rPr>
              <a:t>])</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test_report_selalu_satu_query</a:t>
            </a:r>
            <a:r>
              <a:rPr sz="700" i="0">
                <a:solidFill>
                  <a:srgbClr val="E6EDF3"/>
                </a:solidFill>
                <a:latin typeface="Inconsolata"/>
              </a:rPr>
              <a:t>(session_factory, queries, count):</a:t>
            </a:r>
          </a:p>
          <a:p>
            <a:pPr>
              <a:lnSpc>
                <a:spcPct val="107143"/>
              </a:lnSpc>
              <a:spcAft>
                <a:spcPts val="0"/>
              </a:spcAft>
            </a:pPr>
            <a:r>
              <a:rPr sz="700" i="0">
                <a:solidFill>
                  <a:srgbClr val="E6EDF3"/>
                </a:solidFill>
                <a:latin typeface="Inconsolata"/>
              </a:rPr>
              <a:t>    place_orders(session_factory, count)</a:t>
            </a:r>
          </a:p>
          <a:p>
            <a:pPr>
              <a:lnSpc>
                <a:spcPct val="107143"/>
              </a:lnSpc>
              <a:spcAft>
                <a:spcPts val="0"/>
              </a:spcAft>
            </a:pPr>
            <a:r>
              <a:rPr sz="700" i="0">
                <a:solidFill>
                  <a:srgbClr val="E6EDF3"/>
                </a:solidFill>
                <a:latin typeface="Inconsolata"/>
              </a:rPr>
              <a:t>    queries.clear()</a:t>
            </a:r>
          </a:p>
          <a:p>
            <a:pPr>
              <a:lnSpc>
                <a:spcPct val="107143"/>
              </a:lnSpc>
              <a:spcAft>
                <a:spcPts val="0"/>
              </a:spcAft>
            </a:pPr>
            <a:r>
              <a:rPr sz="700" i="0">
                <a:solidFill>
                  <a:srgbClr val="E6EDF3"/>
                </a:solidFill>
                <a:latin typeface="Inconsolata"/>
              </a:rPr>
              <a:t>    report = </a:t>
            </a:r>
            <a:r>
              <a:rPr sz="700" i="0">
                <a:solidFill>
                  <a:srgbClr val="7FDBCA"/>
                </a:solidFill>
                <a:latin typeface="Inconsolata"/>
              </a:rPr>
              <a:t>ReportService</a:t>
            </a:r>
            <a:r>
              <a:rPr sz="700" i="0">
                <a:solidFill>
                  <a:srgbClr val="E6EDF3"/>
                </a:solidFill>
                <a:latin typeface="Inconsolata"/>
              </a:rPr>
              <a:t>(</a:t>
            </a:r>
            <a:r>
              <a:rPr sz="700" i="0">
                <a:solidFill>
                  <a:srgbClr val="7FDBCA"/>
                </a:solidFill>
                <a:latin typeface="Inconsolata"/>
              </a:rPr>
              <a:t>SqlAlchemyUnitOfWork</a:t>
            </a:r>
            <a:r>
              <a:rPr sz="700" i="0">
                <a:solidFill>
                  <a:srgbClr val="E6EDF3"/>
                </a:solidFill>
                <a:latin typeface="Inconsolata"/>
              </a:rPr>
              <a:t>(session_factory)).sales_summary()</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report[</a:t>
            </a:r>
            <a:r>
              <a:rPr sz="700" i="0">
                <a:solidFill>
                  <a:srgbClr val="A5D6A7"/>
                </a:solidFill>
                <a:latin typeface="Inconsolata"/>
              </a:rPr>
              <a:t>"total_orders"</a:t>
            </a:r>
            <a:r>
              <a:rPr sz="700" i="0">
                <a:solidFill>
                  <a:srgbClr val="E6EDF3"/>
                </a:solidFill>
                <a:latin typeface="Inconsolata"/>
              </a:rPr>
              <a:t>] == count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a:t>
            </a:r>
            <a:r>
              <a:rPr sz="700" i="0">
                <a:solidFill>
                  <a:srgbClr val="C3A6FF"/>
                </a:solidFill>
                <a:latin typeface="Inconsolata"/>
              </a:rPr>
              <a:t>len</a:t>
            </a:r>
            <a:r>
              <a:rPr sz="700" i="0">
                <a:solidFill>
                  <a:srgbClr val="E6EDF3"/>
                </a:solidFill>
                <a:latin typeface="Inconsolata"/>
              </a:rPr>
              <a:t>(queries) == </a:t>
            </a:r>
            <a:r>
              <a:rPr sz="700" i="0">
                <a:solidFill>
                  <a:srgbClr val="F9C97A"/>
                </a:solidFill>
                <a:latin typeface="Inconsolata"/>
              </a:rPr>
              <a:t>1</a:t>
            </a:r>
            <a:r>
              <a:rPr sz="700" i="0">
                <a:solidFill>
                  <a:srgbClr val="E6EDF3"/>
                </a:solidFill>
                <a:latin typeface="Inconsolata"/>
              </a:rPr>
              <a:t>                       </a:t>
            </a:r>
            <a:r>
              <a:rPr sz="700" i="1">
                <a:solidFill>
                  <a:srgbClr val="8B98A8"/>
                </a:solidFill>
                <a:latin typeface="Inconsolata"/>
              </a:rPr>
              <a:t># tidak bertambah walaupun order makin banyak</a:t>
            </a:r>
          </a:p>
        </p:txBody>
      </p:sp>
      <p:sp>
        <p:nvSpPr>
          <p:cNvPr id="29" name="Box 12"/>
          <p:cNvSpPr/>
          <p:nvPr/>
        </p:nvSpPr>
        <p:spPr>
          <a:xfrm>
            <a:off x="704088" y="19396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31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5230368" cy="678942"/>
          </a:xfrm>
          <a:prstGeom prst="roundRect">
            <a:avLst>
              <a:gd name="adj" fmla="val 673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9603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Fixture </a:t>
            </a:r>
            <a:r>
              <a:rPr sz="900" b="0" i="0">
                <a:solidFill>
                  <a:srgbClr val="B5482A"/>
                </a:solidFill>
                <a:latin typeface="Inconsolata"/>
              </a:rPr>
              <a:t>queries</a:t>
            </a:r>
            <a:r>
              <a:rPr sz="900" b="0" i="0">
                <a:solidFill>
                  <a:srgbClr val="434343"/>
                </a:solidFill>
                <a:latin typeface="Inter"/>
              </a:rPr>
              <a:t> mencatat setiap SQL yang dikirim</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Report tetap 1 query, untuk 5 maupun 30 order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Test lain: riwayat order 2 query, pagination tanpa duplikat, index ada, dan API</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memakai SQLite di memory, tanpa PostgreSQL.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Ukur Ulang dan Jalankan Test</a:t>
            </a:r>
          </a:p>
        </p:txBody>
      </p:sp>
      <p:pic>
        <p:nvPicPr>
          <p:cNvPr id="22" name="Image 3" descr="s07-profile-after.png"/>
          <p:cNvPicPr>
            <a:picLocks noChangeAspect="1"/>
          </p:cNvPicPr>
          <p:nvPr/>
        </p:nvPicPr>
        <p:blipFill>
          <a:blip r:embed="rId2"/>
          <a:stretch>
            <a:fillRect/>
          </a:stretch>
        </p:blipFill>
        <p:spPr>
          <a:xfrm>
            <a:off x="621792" y="1481328"/>
            <a:ext cx="3931920" cy="1105852"/>
          </a:xfrm>
          <a:prstGeom prst="rect">
            <a:avLst/>
          </a:prstGeom>
          <a:ln w="9525">
            <a:solidFill>
              <a:srgbClr val="D0D5DD"/>
            </a:solidFill>
          </a:ln>
        </p:spPr>
      </p:pic>
      <p:sp>
        <p:nvSpPr>
          <p:cNvPr id="23" name="Text 4"/>
          <p:cNvSpPr txBox="1"/>
          <p:nvPr/>
        </p:nvSpPr>
        <p:spPr>
          <a:xfrm>
            <a:off x="621792" y="2632900"/>
            <a:ext cx="3931920" cy="54864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Report: dari sekitar 35 detik dan 20.001 query menjadi sekitar 21 ms dan 1 query.</a:t>
            </a:r>
          </a:p>
        </p:txBody>
      </p:sp>
      <p:pic>
        <p:nvPicPr>
          <p:cNvPr id="24" name="Image 5" descr="s07-pytest.png"/>
          <p:cNvPicPr>
            <a:picLocks noChangeAspect="1"/>
          </p:cNvPicPr>
          <p:nvPr/>
        </p:nvPicPr>
        <p:blipFill>
          <a:blip r:embed="rId3"/>
          <a:stretch>
            <a:fillRect/>
          </a:stretch>
        </p:blipFill>
        <p:spPr>
          <a:xfrm>
            <a:off x="5073047" y="1481328"/>
            <a:ext cx="3412584" cy="3218687"/>
          </a:xfrm>
          <a:prstGeom prst="rect">
            <a:avLst/>
          </a:prstGeom>
          <a:ln w="9525">
            <a:solidFill>
              <a:srgbClr val="D0D5DD"/>
            </a:solidFill>
          </a:ln>
        </p:spPr>
      </p:pic>
      <p:sp>
        <p:nvSpPr>
          <p:cNvPr id="25" name="Text 6"/>
          <p:cNvSpPr txBox="1"/>
          <p:nvPr/>
        </p:nvSpPr>
        <p:spPr>
          <a:xfrm>
            <a:off x="5073047" y="4745736"/>
            <a:ext cx="3412584"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pytest -v: semua PASSED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9</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Coba di Swagger: Riwayat Order</a:t>
            </a:r>
          </a:p>
        </p:txBody>
      </p:sp>
      <p:pic>
        <p:nvPicPr>
          <p:cNvPr id="22" name="Image 3" descr="s07-page1-resp.png"/>
          <p:cNvPicPr>
            <a:picLocks noChangeAspect="1"/>
          </p:cNvPicPr>
          <p:nvPr/>
        </p:nvPicPr>
        <p:blipFill>
          <a:blip r:embed="rId2"/>
          <a:stretch>
            <a:fillRect/>
          </a:stretch>
        </p:blipFill>
        <p:spPr>
          <a:xfrm>
            <a:off x="621792" y="1481328"/>
            <a:ext cx="3017520" cy="2192488"/>
          </a:xfrm>
          <a:prstGeom prst="rect">
            <a:avLst/>
          </a:prstGeom>
          <a:ln w="9525">
            <a:solidFill>
              <a:srgbClr val="D0D5DD"/>
            </a:solidFill>
          </a:ln>
        </p:spPr>
      </p:pic>
      <p:sp>
        <p:nvSpPr>
          <p:cNvPr id="23" name="Text 4"/>
          <p:cNvSpPr txBox="1"/>
          <p:nvPr/>
        </p:nvSpPr>
        <p:spPr>
          <a:xfrm>
            <a:off x="621792" y="3701248"/>
            <a:ext cx="3017520"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customer42@mail.com, limit=1</a:t>
            </a:r>
          </a:p>
        </p:txBody>
      </p:sp>
      <p:pic>
        <p:nvPicPr>
          <p:cNvPr id="24" name="Image 5" descr="s07-page2-resp.png"/>
          <p:cNvPicPr>
            <a:picLocks noChangeAspect="1"/>
          </p:cNvPicPr>
          <p:nvPr/>
        </p:nvPicPr>
        <p:blipFill>
          <a:blip r:embed="rId3"/>
          <a:stretch>
            <a:fillRect/>
          </a:stretch>
        </p:blipFill>
        <p:spPr>
          <a:xfrm>
            <a:off x="3822191" y="1481328"/>
            <a:ext cx="3017520" cy="2192488"/>
          </a:xfrm>
          <a:prstGeom prst="rect">
            <a:avLst/>
          </a:prstGeom>
          <a:ln w="9525">
            <a:solidFill>
              <a:srgbClr val="D0D5DD"/>
            </a:solidFill>
          </a:ln>
        </p:spPr>
      </p:pic>
      <p:sp>
        <p:nvSpPr>
          <p:cNvPr id="25" name="Text 6"/>
          <p:cNvSpPr txBox="1"/>
          <p:nvPr/>
        </p:nvSpPr>
        <p:spPr>
          <a:xfrm>
            <a:off x="3822191" y="3701248"/>
            <a:ext cx="3017520" cy="274320"/>
          </a:xfrm>
          <a:prstGeom prst="rect">
            <a:avLst/>
          </a:prstGeom>
          <a:noFill/>
        </p:spPr>
        <p:txBody>
          <a:bodyPr wrap="square" lIns="45720" rIns="45720" anchor="t">
            <a:spAutoFit/>
          </a:bodyPr>
          <a:lstStyle/>
          <a:p>
            <a:pPr algn="l">
              <a:lnSpc>
                <a:spcPct val="115000"/>
              </a:lnSpc>
              <a:spcAft>
                <a:spcPts val="400"/>
              </a:spcAft>
            </a:pPr>
            <a:r>
              <a:rPr sz="850" b="0" i="0">
                <a:solidFill>
                  <a:srgbClr val="7A7A7A"/>
                </a:solidFill>
                <a:latin typeface="Inter"/>
              </a:rPr>
              <a:t>after = next_after halaman pertama</a:t>
            </a:r>
          </a:p>
        </p:txBody>
      </p:sp>
      <p:sp>
        <p:nvSpPr>
          <p:cNvPr id="26" name="Text 7"/>
          <p:cNvSpPr txBox="1"/>
          <p:nvPr/>
        </p:nvSpPr>
        <p:spPr>
          <a:xfrm>
            <a:off x="7022592" y="1481328"/>
            <a:ext cx="1463039" cy="320040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Halaman pertama mengembalikan order terbaru dan </a:t>
            </a:r>
            <a:r>
              <a:rPr sz="950" b="0" i="0">
                <a:solidFill>
                  <a:srgbClr val="B5482A"/>
                </a:solidFill>
                <a:latin typeface="Inconsolata"/>
              </a:rPr>
              <a:t>next_after</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next_after</a:t>
            </a:r>
            <a:r>
              <a:rPr sz="950" b="0" i="0">
                <a:solidFill>
                  <a:srgbClr val="434343"/>
                </a:solidFill>
                <a:latin typeface="Inter"/>
              </a:rPr>
              <a:t> dikirim sebagai </a:t>
            </a:r>
            <a:r>
              <a:rPr sz="950" b="0" i="0">
                <a:solidFill>
                  <a:srgbClr val="B5482A"/>
                </a:solidFill>
                <a:latin typeface="Inconsolata"/>
              </a:rPr>
              <a:t>after</a:t>
            </a:r>
            <a:r>
              <a:rPr sz="950" b="0" i="0">
                <a:solidFill>
                  <a:srgbClr val="434343"/>
                </a:solidFill>
                <a:latin typeface="Inter"/>
              </a:rPr>
              <a:t> untuk halaman berikutnya</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Itemnya ikut terisi, tanpa N+1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288036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900" b="1" i="0">
                          <a:solidFill>
                            <a:srgbClr val="1C4587"/>
                          </a:solidFill>
                          <a:latin typeface="Inter"/>
                        </a:rPr>
                        <a:t>PostgreSQL dan connection pool</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config.py dan database.py, DB_POOL_SIZE dan DB_MAX_OVERFLOW</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900" b="1" i="0">
                          <a:solidFill>
                            <a:srgbClr val="1C4587"/>
                          </a:solidFill>
                          <a:latin typeface="Inter"/>
                        </a:rPr>
                        <a:t>Report dalam satu query</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profile_queries.py: 1 query, puluhan ms</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900" b="1" i="0">
                          <a:solidFill>
                            <a:srgbClr val="1C4587"/>
                          </a:solidFill>
                          <a:latin typeface="Inter"/>
                        </a:rPr>
                        <a:t>Index order_lines (order_id) dan orders (customer, id)</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test_index_sesuai_query</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900" b="1" i="0">
                          <a:solidFill>
                            <a:srgbClr val="1C4587"/>
                          </a:solidFill>
                          <a:latin typeface="Inter"/>
                        </a:rPr>
                        <a:t>GET /orders dengan keyset pagination</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Swagger: next_after dipakai sebagai after</a:t>
                      </a:r>
                    </a:p>
                  </a:txBody>
                  <a:tcPr marL="73152" marR="73152" marT="36576" marB="36576" anchor="ctr">
                    <a:solidFill>
                      <a:srgbClr val="F3F4F6"/>
                    </a:solidFill>
                  </a:tcPr>
                </a:tc>
                <a:extLst>
                  <a:ext uri="{0D108BD9-81ED-4DB2-BD59-A6C34878D82A}">
                    <a16:rowId xmlns:a16="http://schemas.microsoft.com/office/drawing/2014/main" val="10004"/>
                  </a:ext>
                </a:extLst>
              </a:tr>
              <a:tr h="411480">
                <a:tc>
                  <a:txBody>
                    <a:bodyPr/>
                    <a:lstStyle/>
                    <a:p>
                      <a:pPr algn="l">
                        <a:lnSpc>
                          <a:spcPct val="100000"/>
                        </a:lnSpc>
                        <a:spcAft>
                          <a:spcPts val="0"/>
                        </a:spcAft>
                      </a:pPr>
                      <a:r>
                        <a:rPr sz="900" b="1" i="0">
                          <a:solidFill>
                            <a:srgbClr val="1C4587"/>
                          </a:solidFill>
                          <a:latin typeface="Inter"/>
                        </a:rPr>
                        <a:t>Riwayat order tanpa N+1</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test_riwayat_order_tanpa_n_plus_1: 2 query</a:t>
                      </a:r>
                    </a:p>
                  </a:txBody>
                  <a:tcPr marL="73152" marR="73152" marT="36576" marB="36576" anchor="ctr">
                    <a:solidFill>
                      <a:srgbClr val="FFFFFF"/>
                    </a:solidFill>
                  </a:tcPr>
                </a:tc>
                <a:extLst>
                  <a:ext uri="{0D108BD9-81ED-4DB2-BD59-A6C34878D82A}">
                    <a16:rowId xmlns:a16="http://schemas.microsoft.com/office/drawing/2014/main" val="10005"/>
                  </a:ext>
                </a:extLst>
              </a:tr>
              <a:tr h="411480">
                <a:tc>
                  <a:txBody>
                    <a:bodyPr/>
                    <a:lstStyle/>
                    <a:p>
                      <a:pPr algn="l">
                        <a:lnSpc>
                          <a:spcPct val="100000"/>
                        </a:lnSpc>
                        <a:spcAft>
                          <a:spcPts val="0"/>
                        </a:spcAft>
                      </a:pPr>
                      <a:r>
                        <a:rPr sz="900" b="1" i="0">
                          <a:solidFill>
                            <a:srgbClr val="1C4587"/>
                          </a:solidFill>
                          <a:latin typeface="Inter"/>
                        </a:rPr>
                        <a:t>pytest hijau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pytest -v: semua PASSED</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Request Flow: Riwayat Order</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latihan/app: routers/orders.py → order_service.py → repositories.py</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api/routers/orders.py</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list_orders</a:t>
            </a:r>
            <a:r>
              <a:rPr sz="650" i="0">
                <a:solidFill>
                  <a:srgbClr val="E6EDF3"/>
                </a:solidFill>
                <a:latin typeface="Inconsolata"/>
              </a:rPr>
              <a:t>(customer: </a:t>
            </a:r>
            <a:r>
              <a:rPr sz="650" i="0">
                <a:solidFill>
                  <a:srgbClr val="C3A6FF"/>
                </a:solidFill>
                <a:latin typeface="Inconsolata"/>
              </a:rPr>
              <a:t>str</a:t>
            </a:r>
            <a:r>
              <a:rPr sz="650" i="0">
                <a:solidFill>
                  <a:srgbClr val="E6EDF3"/>
                </a:solidFill>
                <a:latin typeface="Inconsolata"/>
              </a:rPr>
              <a:t>, limit: </a:t>
            </a:r>
            <a:r>
              <a:rPr sz="650" i="0">
                <a:solidFill>
                  <a:srgbClr val="C3A6FF"/>
                </a:solidFill>
                <a:latin typeface="Inconsolata"/>
              </a:rPr>
              <a:t>int</a:t>
            </a:r>
            <a:r>
              <a:rPr sz="650" i="0">
                <a:solidFill>
                  <a:srgbClr val="E6EDF3"/>
                </a:solidFill>
                <a:latin typeface="Inconsolata"/>
              </a:rPr>
              <a:t> = </a:t>
            </a:r>
            <a:r>
              <a:rPr sz="650" i="0">
                <a:solidFill>
                  <a:srgbClr val="7FDBCA"/>
                </a:solidFill>
                <a:latin typeface="Inconsolata"/>
              </a:rPr>
              <a:t>Query</a:t>
            </a:r>
            <a:r>
              <a:rPr sz="650" i="0">
                <a:solidFill>
                  <a:srgbClr val="E6EDF3"/>
                </a:solidFill>
                <a:latin typeface="Inconsolata"/>
              </a:rPr>
              <a:t>(</a:t>
            </a:r>
            <a:r>
              <a:rPr sz="650" i="0">
                <a:solidFill>
                  <a:srgbClr val="F9C97A"/>
                </a:solidFill>
                <a:latin typeface="Inconsolata"/>
              </a:rPr>
              <a:t>20</a:t>
            </a:r>
            <a:r>
              <a:rPr sz="650" i="0">
                <a:solidFill>
                  <a:srgbClr val="E6EDF3"/>
                </a:solidFill>
                <a:latin typeface="Inconsolata"/>
              </a:rPr>
              <a:t>, ge=</a:t>
            </a:r>
            <a:r>
              <a:rPr sz="650" i="0">
                <a:solidFill>
                  <a:srgbClr val="F9C97A"/>
                </a:solidFill>
                <a:latin typeface="Inconsolata"/>
              </a:rPr>
              <a:t>1</a:t>
            </a:r>
            <a:r>
              <a:rPr sz="650" i="0">
                <a:solidFill>
                  <a:srgbClr val="E6EDF3"/>
                </a:solidFill>
                <a:latin typeface="Inconsolata"/>
              </a:rPr>
              <a:t>, le=</a:t>
            </a:r>
            <a:r>
              <a:rPr sz="650" i="0">
                <a:solidFill>
                  <a:srgbClr val="F9C97A"/>
                </a:solidFill>
                <a:latin typeface="Inconsolata"/>
              </a:rPr>
              <a:t>100</a:t>
            </a:r>
            <a:r>
              <a:rPr sz="650" i="0">
                <a:solidFill>
                  <a:srgbClr val="E6EDF3"/>
                </a:solidFill>
                <a:latin typeface="Inconsolata"/>
              </a:rPr>
              <a:t>),</a:t>
            </a:r>
          </a:p>
          <a:p>
            <a:pPr>
              <a:lnSpc>
                <a:spcPct val="102564"/>
              </a:lnSpc>
              <a:spcAft>
                <a:spcPts val="0"/>
              </a:spcAft>
            </a:pPr>
            <a:r>
              <a:rPr sz="650" i="0">
                <a:solidFill>
                  <a:srgbClr val="E6EDF3"/>
                </a:solidFill>
                <a:latin typeface="Inconsolata"/>
              </a:rPr>
              <a:t>                after: </a:t>
            </a:r>
            <a:r>
              <a:rPr sz="650" i="0">
                <a:solidFill>
                  <a:srgbClr val="C3A6FF"/>
                </a:solidFill>
                <a:latin typeface="Inconsolata"/>
              </a:rPr>
              <a:t>int</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7FDBCA"/>
                </a:solidFill>
                <a:latin typeface="Inconsolata"/>
              </a:rPr>
              <a:t>Query</a:t>
            </a:r>
            <a:r>
              <a:rPr sz="650" i="0">
                <a:solidFill>
                  <a:srgbClr val="E6EDF3"/>
                </a:solidFill>
                <a:latin typeface="Inconsolata"/>
              </a:rPr>
              <a:t>(</a:t>
            </a:r>
            <a:r>
              <a:rPr sz="650" i="0">
                <a:solidFill>
                  <a:srgbClr val="FF8E6E"/>
                </a:solidFill>
                <a:latin typeface="Inconsolata"/>
              </a:rPr>
              <a:t>None</a:t>
            </a:r>
            <a:r>
              <a:rPr sz="650" i="0">
                <a:solidFill>
                  <a:srgbClr val="E6EDF3"/>
                </a:solidFill>
                <a:latin typeface="Inconsolata"/>
              </a:rPr>
              <a:t>, description=</a:t>
            </a:r>
            <a:r>
              <a:rPr sz="650" i="0">
                <a:solidFill>
                  <a:srgbClr val="A5D6A7"/>
                </a:solidFill>
                <a:latin typeface="Inconsolata"/>
              </a:rPr>
              <a:t>"id order terakhir dari halaman sebelumnya"</a:t>
            </a:r>
            <a:r>
              <a:rPr sz="650" i="0">
                <a:solidFill>
                  <a:srgbClr val="E6EDF3"/>
                </a:solidFill>
                <a:latin typeface="Inconsolata"/>
              </a:rPr>
              <a:t>),</a:t>
            </a:r>
          </a:p>
          <a:p>
            <a:pPr>
              <a:lnSpc>
                <a:spcPct val="102564"/>
              </a:lnSpc>
              <a:spcAft>
                <a:spcPts val="0"/>
              </a:spcAft>
            </a:pPr>
            <a:r>
              <a:rPr sz="650" i="0">
                <a:solidFill>
                  <a:srgbClr val="E6EDF3"/>
                </a:solidFill>
                <a:latin typeface="Inconsolata"/>
              </a:rPr>
              <a:t>                service: </a:t>
            </a:r>
            <a:r>
              <a:rPr sz="650" i="0">
                <a:solidFill>
                  <a:srgbClr val="7FDBCA"/>
                </a:solidFill>
                <a:latin typeface="Inconsolata"/>
              </a:rPr>
              <a:t>OrderService</a:t>
            </a:r>
            <a:r>
              <a:rPr sz="650" i="0">
                <a:solidFill>
                  <a:srgbClr val="E6EDF3"/>
                </a:solidFill>
                <a:latin typeface="Inconsolata"/>
              </a:rPr>
              <a:t> = </a:t>
            </a:r>
            <a:r>
              <a:rPr sz="650" i="0">
                <a:solidFill>
                  <a:srgbClr val="7FDBCA"/>
                </a:solidFill>
                <a:latin typeface="Inconsolata"/>
              </a:rPr>
              <a:t>Depends</a:t>
            </a:r>
            <a:r>
              <a:rPr sz="650" i="0">
                <a:solidFill>
                  <a:srgbClr val="E6EDF3"/>
                </a:solidFill>
                <a:latin typeface="Inconsolata"/>
              </a:rPr>
              <a:t>(get_order_service)):</a:t>
            </a:r>
          </a:p>
          <a:p>
            <a:pPr>
              <a:lnSpc>
                <a:spcPct val="102564"/>
              </a:lnSpc>
              <a:spcAft>
                <a:spcPts val="0"/>
              </a:spcAft>
            </a:pPr>
            <a:r>
              <a:rPr sz="650" i="0">
                <a:solidFill>
                  <a:srgbClr val="E6EDF3"/>
                </a:solidFill>
                <a:latin typeface="Inconsolata"/>
              </a:rPr>
              <a:t>    orders = service.list_orders(customer, limit, after)</a:t>
            </a:r>
          </a:p>
          <a:p>
            <a:pPr>
              <a:lnSpc>
                <a:spcPct val="102564"/>
              </a:lnSpc>
              <a:spcAft>
                <a:spcPts val="0"/>
              </a:spcAft>
            </a:pPr>
            <a:r>
              <a:rPr sz="650" i="0">
                <a:solidFill>
                  <a:srgbClr val="E6EDF3"/>
                </a:solidFill>
                <a:latin typeface="Inconsolata"/>
              </a:rPr>
              <a:t>    next_after = orders[-</a:t>
            </a:r>
            <a:r>
              <a:rPr sz="650" i="0">
                <a:solidFill>
                  <a:srgbClr val="F9C97A"/>
                </a:solidFill>
                <a:latin typeface="Inconsolata"/>
              </a:rPr>
              <a:t>1</a:t>
            </a:r>
            <a:r>
              <a:rPr sz="650" i="0">
                <a:solidFill>
                  <a:srgbClr val="E6EDF3"/>
                </a:solidFill>
                <a:latin typeface="Inconsolata"/>
              </a:rPr>
              <a:t>].id </a:t>
            </a:r>
            <a:r>
              <a:rPr sz="650" i="0">
                <a:solidFill>
                  <a:srgbClr val="FF8E6E"/>
                </a:solidFill>
                <a:latin typeface="Inconsolata"/>
              </a:rPr>
              <a:t>if</a:t>
            </a:r>
            <a:r>
              <a:rPr sz="650" i="0">
                <a:solidFill>
                  <a:srgbClr val="E6EDF3"/>
                </a:solidFill>
                <a:latin typeface="Inconsolata"/>
              </a:rPr>
              <a:t> </a:t>
            </a:r>
            <a:r>
              <a:rPr sz="650" i="0">
                <a:solidFill>
                  <a:srgbClr val="C3A6FF"/>
                </a:solidFill>
                <a:latin typeface="Inconsolata"/>
              </a:rPr>
              <a:t>len</a:t>
            </a:r>
            <a:r>
              <a:rPr sz="650" i="0">
                <a:solidFill>
                  <a:srgbClr val="E6EDF3"/>
                </a:solidFill>
                <a:latin typeface="Inconsolata"/>
              </a:rPr>
              <a:t>(orders) == limit </a:t>
            </a:r>
            <a:r>
              <a:rPr sz="650" i="0">
                <a:solidFill>
                  <a:srgbClr val="FF8E6E"/>
                </a:solidFill>
                <a:latin typeface="Inconsolata"/>
              </a:rPr>
              <a:t>else</a:t>
            </a:r>
            <a:r>
              <a:rPr sz="650" i="0">
                <a:solidFill>
                  <a:srgbClr val="E6EDF3"/>
                </a:solidFill>
                <a:latin typeface="Inconsolata"/>
              </a:rPr>
              <a:t> </a:t>
            </a:r>
            <a:r>
              <a:rPr sz="650" i="0">
                <a:solidFill>
                  <a:srgbClr val="FF8E6E"/>
                </a:solidFill>
                <a:latin typeface="Inconsolata"/>
              </a:rPr>
              <a:t>None</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application/order_service.py</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.uow.orders.list_for_customer(customer, limit, after)</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infrastructure/repositories.py</a:t>
            </a:r>
          </a:p>
          <a:p>
            <a:pPr>
              <a:lnSpc>
                <a:spcPct val="102564"/>
              </a:lnSpc>
              <a:spcAft>
                <a:spcPts val="0"/>
              </a:spcAft>
            </a:pPr>
            <a:r>
              <a:rPr sz="650" i="0">
                <a:solidFill>
                  <a:srgbClr val="E6EDF3"/>
                </a:solidFill>
                <a:latin typeface="Inconsolata"/>
              </a:rPr>
              <a:t>        query = (select(</a:t>
            </a:r>
            <a:r>
              <a:rPr sz="650" i="0">
                <a:solidFill>
                  <a:srgbClr val="7FDBCA"/>
                </a:solidFill>
                <a:latin typeface="Inconsolata"/>
              </a:rPr>
              <a:t>OrderRecord</a:t>
            </a:r>
            <a:r>
              <a:rPr sz="650" i="0">
                <a:solidFill>
                  <a:srgbClr val="E6EDF3"/>
                </a:solidFill>
                <a:latin typeface="Inconsolata"/>
              </a:rPr>
              <a:t>)</a:t>
            </a:r>
          </a:p>
          <a:p>
            <a:pPr>
              <a:lnSpc>
                <a:spcPct val="102564"/>
              </a:lnSpc>
              <a:spcAft>
                <a:spcPts val="0"/>
              </a:spcAft>
            </a:pPr>
            <a:r>
              <a:rPr sz="650" i="0">
                <a:solidFill>
                  <a:srgbClr val="E6EDF3"/>
                </a:solidFill>
                <a:latin typeface="Inconsolata"/>
              </a:rPr>
              <a:t>                 .options(selectinload(</a:t>
            </a:r>
            <a:r>
              <a:rPr sz="650" i="0">
                <a:solidFill>
                  <a:srgbClr val="7FDBCA"/>
                </a:solidFill>
                <a:latin typeface="Inconsolata"/>
              </a:rPr>
              <a:t>OrderRecord</a:t>
            </a:r>
            <a:r>
              <a:rPr sz="650" i="0">
                <a:solidFill>
                  <a:srgbClr val="E6EDF3"/>
                </a:solidFill>
                <a:latin typeface="Inconsolata"/>
              </a:rPr>
              <a:t>.lines))       </a:t>
            </a:r>
            <a:r>
              <a:rPr sz="650" i="1">
                <a:solidFill>
                  <a:srgbClr val="8B98A8"/>
                </a:solidFill>
                <a:latin typeface="Inconsolata"/>
              </a:rPr>
              <a:t># item semua order dalam 1 query</a:t>
            </a:r>
          </a:p>
          <a:p>
            <a:pPr>
              <a:lnSpc>
                <a:spcPct val="102564"/>
              </a:lnSpc>
              <a:spcAft>
                <a:spcPts val="0"/>
              </a:spcAft>
            </a:pPr>
            <a:r>
              <a:rPr sz="650" i="0">
                <a:solidFill>
                  <a:srgbClr val="E6EDF3"/>
                </a:solidFill>
                <a:latin typeface="Inconsolata"/>
              </a:rPr>
              <a:t>                 .where(</a:t>
            </a:r>
            <a:r>
              <a:rPr sz="650" i="0">
                <a:solidFill>
                  <a:srgbClr val="7FDBCA"/>
                </a:solidFill>
                <a:latin typeface="Inconsolata"/>
              </a:rPr>
              <a:t>OrderRecord</a:t>
            </a:r>
            <a:r>
              <a:rPr sz="650" i="0">
                <a:solidFill>
                  <a:srgbClr val="E6EDF3"/>
                </a:solidFill>
                <a:latin typeface="Inconsolata"/>
              </a:rPr>
              <a:t>.customer == customer)</a:t>
            </a:r>
          </a:p>
          <a:p>
            <a:pPr>
              <a:lnSpc>
                <a:spcPct val="102564"/>
              </a:lnSpc>
              <a:spcAft>
                <a:spcPts val="0"/>
              </a:spcAft>
            </a:pPr>
            <a:r>
              <a:rPr sz="650" i="0">
                <a:solidFill>
                  <a:srgbClr val="E6EDF3"/>
                </a:solidFill>
                <a:latin typeface="Inconsolata"/>
              </a:rPr>
              <a:t>                 .order_by(</a:t>
            </a:r>
            <a:r>
              <a:rPr sz="650" i="0">
                <a:solidFill>
                  <a:srgbClr val="7FDBCA"/>
                </a:solidFill>
                <a:latin typeface="Inconsolata"/>
              </a:rPr>
              <a:t>OrderRecord</a:t>
            </a:r>
            <a:r>
              <a:rPr sz="650" i="0">
                <a:solidFill>
                  <a:srgbClr val="E6EDF3"/>
                </a:solidFill>
                <a:latin typeface="Inconsolata"/>
              </a:rPr>
              <a:t>.id.desc())</a:t>
            </a:r>
          </a:p>
          <a:p>
            <a:pPr>
              <a:lnSpc>
                <a:spcPct val="102564"/>
              </a:lnSpc>
              <a:spcAft>
                <a:spcPts val="0"/>
              </a:spcAft>
            </a:pPr>
            <a:r>
              <a:rPr sz="650" i="0">
                <a:solidFill>
                  <a:srgbClr val="E6EDF3"/>
                </a:solidFill>
                <a:latin typeface="Inconsolata"/>
              </a:rPr>
              <a:t>                 .limit(limit))</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after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a:t>
            </a:r>
          </a:p>
          <a:p>
            <a:pPr>
              <a:lnSpc>
                <a:spcPct val="102564"/>
              </a:lnSpc>
              <a:spcAft>
                <a:spcPts val="0"/>
              </a:spcAft>
            </a:pPr>
            <a:r>
              <a:rPr sz="650" i="0">
                <a:solidFill>
                  <a:srgbClr val="E6EDF3"/>
                </a:solidFill>
                <a:latin typeface="Inconsolata"/>
              </a:rPr>
              <a:t>            query = query.where(</a:t>
            </a:r>
            <a:r>
              <a:rPr sz="650" i="0">
                <a:solidFill>
                  <a:srgbClr val="7FDBCA"/>
                </a:solidFill>
                <a:latin typeface="Inconsolata"/>
              </a:rPr>
              <a:t>OrderRecord</a:t>
            </a:r>
            <a:r>
              <a:rPr sz="650" i="0">
                <a:solidFill>
                  <a:srgbClr val="E6EDF3"/>
                </a:solidFill>
                <a:latin typeface="Inconsolata"/>
              </a:rPr>
              <a:t>.id &lt; after)          </a:t>
            </a:r>
            <a:r>
              <a:rPr sz="650" i="1">
                <a:solidFill>
                  <a:srgbClr val="8B98A8"/>
                </a:solidFill>
                <a:latin typeface="Inconsolata"/>
              </a:rPr>
              <a:t># keyset: lanjut setelah id terakhir</a:t>
            </a:r>
          </a:p>
        </p:txBody>
      </p:sp>
      <p:sp>
        <p:nvSpPr>
          <p:cNvPr id="29" name="Box 12"/>
          <p:cNvSpPr/>
          <p:nvPr/>
        </p:nvSpPr>
        <p:spPr>
          <a:xfrm>
            <a:off x="704088" y="19253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81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667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461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3175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1445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385816" y="3073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23317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226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0" name="Text 23"/>
          <p:cNvSpPr txBox="1"/>
          <p:nvPr/>
        </p:nvSpPr>
        <p:spPr>
          <a:xfrm>
            <a:off x="6391656" y="1463040"/>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B5482A"/>
                </a:solidFill>
                <a:latin typeface="Inconsolata"/>
              </a:rPr>
              <a:t>GET /orders?customer=...&amp;limit=1</a:t>
            </a:r>
            <a:r>
              <a:rPr sz="850" b="0" i="0">
                <a:solidFill>
                  <a:srgbClr val="434343"/>
                </a:solidFill>
                <a:latin typeface="Inter"/>
              </a:rPr>
              <a:t> masuk ke route</a:t>
            </a:r>
          </a:p>
        </p:txBody>
      </p:sp>
      <p:sp>
        <p:nvSpPr>
          <p:cNvPr id="41" name="Box 24"/>
          <p:cNvSpPr/>
          <p:nvPr/>
        </p:nvSpPr>
        <p:spPr>
          <a:xfrm>
            <a:off x="6062472" y="2143353"/>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2" name="Text 25"/>
          <p:cNvSpPr txBox="1"/>
          <p:nvPr/>
        </p:nvSpPr>
        <p:spPr>
          <a:xfrm>
            <a:off x="6391656" y="2106777"/>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Use case meminta riwayat order ke repository</a:t>
            </a:r>
          </a:p>
        </p:txBody>
      </p:sp>
      <p:sp>
        <p:nvSpPr>
          <p:cNvPr id="43" name="Box 26"/>
          <p:cNvSpPr/>
          <p:nvPr/>
        </p:nvSpPr>
        <p:spPr>
          <a:xfrm>
            <a:off x="6062472" y="2787091"/>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4" name="Text 27"/>
          <p:cNvSpPr txBox="1"/>
          <p:nvPr/>
        </p:nvSpPr>
        <p:spPr>
          <a:xfrm>
            <a:off x="6391656" y="2750515"/>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Query 1: order customer, urut id terbaru, memakai index (customer, id)</a:t>
            </a:r>
          </a:p>
        </p:txBody>
      </p:sp>
      <p:sp>
        <p:nvSpPr>
          <p:cNvPr id="45" name="Box 28"/>
          <p:cNvSpPr/>
          <p:nvPr/>
        </p:nvSpPr>
        <p:spPr>
          <a:xfrm>
            <a:off x="6062472" y="343082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6" name="Text 29"/>
          <p:cNvSpPr txBox="1"/>
          <p:nvPr/>
        </p:nvSpPr>
        <p:spPr>
          <a:xfrm>
            <a:off x="6391656" y="3394252"/>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Query 2: item semua order sekaligus, memakai index order_id</a:t>
            </a:r>
          </a:p>
        </p:txBody>
      </p:sp>
      <p:sp>
        <p:nvSpPr>
          <p:cNvPr id="47" name="Box 30"/>
          <p:cNvSpPr/>
          <p:nvPr/>
        </p:nvSpPr>
        <p:spPr>
          <a:xfrm>
            <a:off x="6062472" y="407456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48" name="Text 31"/>
          <p:cNvSpPr txBox="1"/>
          <p:nvPr/>
        </p:nvSpPr>
        <p:spPr>
          <a:xfrm>
            <a:off x="6391656" y="4037990"/>
            <a:ext cx="2093975" cy="643737"/>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Route mengisi </a:t>
            </a:r>
            <a:r>
              <a:rPr sz="850" b="0" i="0">
                <a:solidFill>
                  <a:srgbClr val="B5482A"/>
                </a:solidFill>
                <a:latin typeface="Inconsolata"/>
              </a:rPr>
              <a:t>next_after</a:t>
            </a:r>
            <a:r>
              <a:rPr sz="850" b="0" i="0">
                <a:solidFill>
                  <a:srgbClr val="434343"/>
                </a:solidFill>
                <a:latin typeface="Inter"/>
              </a:rPr>
              <a:t>. Halaman berikutnya memakai </a:t>
            </a:r>
            <a:r>
              <a:rPr sz="850" b="0" i="0">
                <a:solidFill>
                  <a:srgbClr val="B5482A"/>
                </a:solidFill>
                <a:latin typeface="Inconsolata"/>
              </a:rPr>
              <a:t>after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EXPLAIN ANALYZE</a:t>
            </a:r>
          </a:p>
        </p:txBody>
      </p:sp>
      <p:sp>
        <p:nvSpPr>
          <p:cNvPr id="24" name="Text 5"/>
          <p:cNvSpPr txBox="1"/>
          <p:nvPr/>
        </p:nvSpPr>
        <p:spPr>
          <a:xfrm>
            <a:off x="758952"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Cari penyebab query lambat dari execution plan, bukan menebak</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Index</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Sesuai WHERE dan ORDER BY, termasuk foreign key</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N+1 Query</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Hitung jumlah query, pakai selectinload</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Pagination &amp; Pool</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Keyset untuk data besar, koneksi dipakai ulang</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Query Tuning</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Agregasi di database, ambil kolom yang dibutuhkan saja</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Replication &amp; Sharding</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Read replica untuk read tinggi, sharding paling terakhir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7</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72</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11304</Words>
  <Application>Microsoft Office PowerPoint</Application>
  <PresentationFormat>On-screen Show (16:9)</PresentationFormat>
  <Paragraphs>1556</Paragraphs>
  <Slides>72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72</vt:i4>
      </vt:variant>
    </vt:vector>
  </HeadingPairs>
  <TitlesOfParts>
    <vt:vector size="78" baseType="lpstr">
      <vt:lpstr>Inter</vt:lpstr>
      <vt:lpstr>Arial</vt:lpstr>
      <vt:lpstr>Work Sans ExtraBold</vt:lpstr>
      <vt:lpstr>Work Sans Medium</vt:lpstr>
      <vt:lpstr>Inconsolata</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4</cp:revision>
  <dcterms:modified xsi:type="dcterms:W3CDTF">2026-10-28T18:47:38Z</dcterms:modified>
</cp:coreProperties>
</file>