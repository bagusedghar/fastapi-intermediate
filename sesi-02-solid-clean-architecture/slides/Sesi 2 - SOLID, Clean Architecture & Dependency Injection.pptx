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17"/>
    <p:sldId id="286" r:id="rId16"/>
    <p:sldId id="287" r:id="rId15"/>
    <p:sldId id="288" r:id="rId14"/>
    <p:sldId id="289" r:id="rId13"/>
    <p:sldId id="290" r:id="rId12"/>
    <p:sldId id="291" r:id="rId11"/>
    <p:sldId id="292" r:id="rId10"/>
    <p:sldId id="293" r:id="rId9"/>
    <p:sldId id="294" r:id="rId8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276" r:id="rId26"/>
  </p:sldIdLst>
  <p:sldSz cy="5143500" cx="9144000"/>
  <p:notesSz cx="6858000" cy="9144000"/>
  <p:embeddedFontLst>
    <p:embeddedFont>
      <p:font typeface="Inter"/>
      <p:regular r:id="rId27"/>
      <p:bold r:id="rId28"/>
    </p:embeddedFont>
    <p:embeddedFont>
      <p:font typeface="Work Sans Medium"/>
      <p:regular r:id="rId29"/>
      <p:bold r:id="rId30"/>
      <p:italic r:id="rId31"/>
      <p:boldItalic r:id="rId32"/>
    </p:embeddedFont>
    <p:embeddedFont>
      <p:font typeface="Work Sans ExtraBold"/>
      <p:bold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r:id="rId35" roundtripDataSignature="AMtx7misuxx245f/qKiEmR3PX6YRe0tI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20.xml"/><Relationship Id="rId9" Type="http://schemas.openxmlformats.org/officeDocument/2006/relationships/slide" Target="slides/slide19.xml"/><Relationship Id="rId10" Type="http://schemas.openxmlformats.org/officeDocument/2006/relationships/slide" Target="slides/slide18.xml"/><Relationship Id="rId11" Type="http://schemas.openxmlformats.org/officeDocument/2006/relationships/slide" Target="slides/slide17.xml"/><Relationship Id="rId12" Type="http://schemas.openxmlformats.org/officeDocument/2006/relationships/slide" Target="slides/slide16.xml"/><Relationship Id="rId13" Type="http://schemas.openxmlformats.org/officeDocument/2006/relationships/slide" Target="slides/slide15.xml"/><Relationship Id="rId14" Type="http://schemas.openxmlformats.org/officeDocument/2006/relationships/slide" Target="slides/slide14.xml"/><Relationship Id="rId15" Type="http://schemas.openxmlformats.org/officeDocument/2006/relationships/slide" Target="slides/slide13.xml"/><Relationship Id="rId16" Type="http://schemas.openxmlformats.org/officeDocument/2006/relationships/slide" Target="slides/slide12.xml"/><Relationship Id="rId17" Type="http://schemas.openxmlformats.org/officeDocument/2006/relationships/slide" Target="slides/slide11.xml"/><Relationship Id="rId18" Type="http://schemas.openxmlformats.org/officeDocument/2006/relationships/slide" Target="slides/slide3.xml"/><Relationship Id="rId19" Type="http://schemas.openxmlformats.org/officeDocument/2006/relationships/slide" Target="slides/slide4.xml"/><Relationship Id="rId20" Type="http://schemas.openxmlformats.org/officeDocument/2006/relationships/slide" Target="slides/slide5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29.xml"/><Relationship Id="rId27" Type="http://schemas.openxmlformats.org/officeDocument/2006/relationships/font" Target="fonts/Inter-regular.fntdata"/><Relationship Id="rId28" Type="http://schemas.openxmlformats.org/officeDocument/2006/relationships/font" Target="fonts/Inter-bold.fntdata"/><Relationship Id="rId29" Type="http://schemas.openxmlformats.org/officeDocument/2006/relationships/font" Target="fonts/WorkSansMedium-regular.fntdata"/><Relationship Id="rId30" Type="http://schemas.openxmlformats.org/officeDocument/2006/relationships/font" Target="fonts/WorkSansMedium-bold.fntdata"/><Relationship Id="rId31" Type="http://schemas.openxmlformats.org/officeDocument/2006/relationships/font" Target="fonts/WorkSansMedium-italic.fntdata"/><Relationship Id="rId32" Type="http://schemas.openxmlformats.org/officeDocument/2006/relationships/font" Target="fonts/WorkSansMedium-boldItalic.fntdata"/><Relationship Id="rId33" Type="http://schemas.openxmlformats.org/officeDocument/2006/relationships/font" Target="fonts/WorkSansExtraBold-bold.fntdata"/><Relationship Id="rId34" Type="http://schemas.openxmlformats.org/officeDocument/2006/relationships/font" Target="fonts/WorkSansExtraBold-boldItalic.fntdata"/><Relationship Id="rId35" Type="http://customschemas.google.com/relationships/presentationmetadata" Target="metadata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2442ffe4c8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2442ffe4c8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Peserta hands-on, jawaban sudah ada di folder after/.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907dbd872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" name="Google Shape;251;g2907dbd872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7200" y="-15150"/>
            <a:ext cx="9190446" cy="516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" name="Google Shape;1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6" name="Google Shape;1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3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6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"/>
            <a:ext cx="9206026" cy="5178401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" name="Google Shape;20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 1">
  <p:cSld name="TITLE_2_1_1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3" name="Google Shape;23;p49"/>
          <p:cNvPicPr preferRelativeResize="0"/>
          <p:nvPr/>
        </p:nvPicPr>
        <p:blipFill rotWithShape="1">
          <a:blip r:embed="rId2">
            <a:alphaModFix/>
          </a:blip>
          <a:srcRect b="0" l="-11869" r="-10498" t="0"/>
          <a:stretch/>
        </p:blipFill>
        <p:spPr>
          <a:xfrm>
            <a:off x="7614450" y="286450"/>
            <a:ext cx="1372051" cy="247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2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3">
  <p:cSld name="SECTION_HEADER_4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"/>
            <a:ext cx="9143992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8" name="Google Shape;2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68176" y="286450"/>
            <a:ext cx="1080001" cy="247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_2_1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1" name="Google Shape;3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7200" y="-7175"/>
            <a:ext cx="9204623" cy="5177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21"/>
          <p:cNvPicPr preferRelativeResize="0"/>
          <p:nvPr/>
        </p:nvPicPr>
        <p:blipFill rotWithShape="1">
          <a:blip r:embed="rId3">
            <a:alphaModFix/>
          </a:blip>
          <a:srcRect b="0" l="-11869" r="-10498" t="0"/>
          <a:stretch/>
        </p:blipFill>
        <p:spPr>
          <a:xfrm>
            <a:off x="7614450" y="286450"/>
            <a:ext cx="1372051" cy="24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4350" y="-6375"/>
            <a:ext cx="9160668" cy="5152876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6" name="Google Shape;36;p22"/>
          <p:cNvPicPr preferRelativeResize="0"/>
          <p:nvPr/>
        </p:nvPicPr>
        <p:blipFill rotWithShape="1">
          <a:blip r:embed="rId3">
            <a:alphaModFix/>
          </a:blip>
          <a:srcRect b="0" l="-11869" r="-10498" t="0"/>
          <a:stretch/>
        </p:blipFill>
        <p:spPr>
          <a:xfrm>
            <a:off x="7614450" y="286450"/>
            <a:ext cx="1372051" cy="24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9" name="Google Shape;39;p5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5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3" name="Google Shape;43;p5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4" name="Google Shape;44;p5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5" name="Google Shape;45;p5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8" name="Google Shape;48;p5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3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1" name="Google Shape;51;p53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2" name="Google Shape;52;p5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4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55" name="Google Shape;55;p5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5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5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9" name="Google Shape;59;p55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0" name="Google Shape;60;p55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5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6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4" name="Google Shape;64;p5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7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7" name="Google Shape;67;p57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8" name="Google Shape;68;p5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5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3" name="Google Shape;73;p59"/>
          <p:cNvCxnSpPr/>
          <p:nvPr/>
        </p:nvCxnSpPr>
        <p:spPr>
          <a:xfrm>
            <a:off x="2740288" y="3545850"/>
            <a:ext cx="3824400" cy="0"/>
          </a:xfrm>
          <a:prstGeom prst="straightConnector1">
            <a:avLst/>
          </a:prstGeom>
          <a:noFill/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 1">
  <p:cSld name="TITLE_1_1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6" name="Google Shape;76;p60"/>
          <p:cNvCxnSpPr/>
          <p:nvPr/>
        </p:nvCxnSpPr>
        <p:spPr>
          <a:xfrm>
            <a:off x="2740288" y="3545850"/>
            <a:ext cx="3824400" cy="0"/>
          </a:xfrm>
          <a:prstGeom prst="straightConnector1">
            <a:avLst/>
          </a:prstGeom>
          <a:noFill/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_HEADER_2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pic>
        <p:nvPicPr>
          <p:cNvPr id="79" name="Google Shape;79;p61"/>
          <p:cNvPicPr preferRelativeResize="0"/>
          <p:nvPr/>
        </p:nvPicPr>
        <p:blipFill rotWithShape="1">
          <a:blip r:embed="rId2">
            <a:alphaModFix/>
          </a:blip>
          <a:srcRect b="34000" l="0" r="0" t="31469"/>
          <a:stretch/>
        </p:blipFill>
        <p:spPr>
          <a:xfrm>
            <a:off x="134750" y="4589275"/>
            <a:ext cx="1410576" cy="3443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hyperlink" Target="https://colab.research.google.com/github/FTDS-learning-materials/phase-2/blob/master/w2/P2W2D1PM%20-%20Data%20Ethics%20&amp;%20Data%20Validation.ipynb" TargetMode="External"/><Relationship Id="rId8" Type="http://schemas.openxmlformats.org/officeDocument/2006/relationships/hyperlink" Target="https://github.com/bagusedghar/fastapi-intermediate/tree/main/sesi-02-solid-clean-architectur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63050" y="2010750"/>
            <a:ext cx="8258100" cy="110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500"/>
              <a:buFont typeface="Arial"/>
              <a:buNone/>
            </a:pPr>
            <a:r>
              <a:rPr lang="en" sz="3500">
                <a:solidFill>
                  <a:srgbClr val="F06634"/>
                </a:solidFill>
                <a:latin typeface="Work Sans ExtraBold"/>
                <a:ea typeface="Work Sans ExtraBold"/>
                <a:cs typeface="Work Sans ExtraBold"/>
                <a:sym typeface="Work Sans ExtraBold"/>
              </a:rPr>
              <a:t>SOLID, Clean Architecture &amp; Dependency Injection</a:t>
            </a:r>
            <a:endParaRPr b="0" i="0" sz="3500" u="none" cap="none" strike="noStrike">
              <a:solidFill>
                <a:srgbClr val="F06634"/>
              </a:solidFill>
              <a:latin typeface="Work Sans ExtraBold"/>
              <a:ea typeface="Work Sans ExtraBold"/>
              <a:cs typeface="Work Sans ExtraBold"/>
              <a:sym typeface="Work Sans ExtraBold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63050" y="3157225"/>
            <a:ext cx="7315200" cy="5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rPr>
              <a:t>Intermediate Backend Developer with FastAPI  -  Sesi 2</a:t>
            </a:r>
            <a:endParaRPr b="0" i="0" sz="1500" u="none" cap="none" strike="noStrike">
              <a:solidFill>
                <a:schemeClr val="dk2"/>
              </a:solidFill>
              <a:latin typeface="Work Sans Medium"/>
              <a:ea typeface="Work Sans Medium"/>
              <a:cs typeface="Work Sans Medium"/>
              <a:sym typeface="Work Sans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442ffe4c8e_0_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2" name="Google Shape;92;g2442ffe4c8e_0_0"/>
          <p:cNvSpPr txBox="1"/>
          <p:nvPr/>
        </p:nvSpPr>
        <p:spPr>
          <a:xfrm>
            <a:off x="310675" y="249275"/>
            <a:ext cx="4456800" cy="4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en" sz="2300" u="none" cap="none" strike="noStrike">
                <a:solidFill>
                  <a:srgbClr val="1D3D70"/>
                </a:solidFill>
                <a:latin typeface="Work Sans ExtraBold"/>
                <a:ea typeface="Work Sans ExtraBold"/>
                <a:cs typeface="Work Sans ExtraBold"/>
                <a:sym typeface="Work Sans ExtraBold"/>
              </a:rPr>
              <a:t>Contents</a:t>
            </a:r>
            <a:endParaRPr b="0" i="0" sz="2300" u="none" cap="none" strike="noStrike">
              <a:solidFill>
                <a:srgbClr val="1D3D70"/>
              </a:solidFill>
              <a:latin typeface="Work Sans ExtraBold"/>
              <a:ea typeface="Work Sans ExtraBold"/>
              <a:cs typeface="Work Sans ExtraBold"/>
              <a:sym typeface="Work Sans ExtraBold"/>
            </a:endParaRPr>
          </a:p>
        </p:txBody>
      </p:sp>
      <p:sp>
        <p:nvSpPr>
          <p:cNvPr id="93" name="Text 1"/>
          <p:cNvSpPr txBox="1"/>
          <p:nvPr/>
        </p:nvSpPr>
        <p:spPr>
          <a:xfrm>
            <a:off x="548640" y="1143000"/>
            <a:ext cx="566928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SOLID &amp; Code Smell</a:t>
            </a:r>
          </a:p>
        </p:txBody>
      </p:sp>
      <p:cxnSp>
        <p:nvCxnSpPr>
          <p:cNvPr id="94" name="Arrow 2"/>
          <p:cNvCxnSpPr/>
          <p:nvPr/>
        </p:nvCxnSpPr>
        <p:spPr>
          <a:xfrm>
            <a:off x="6318504" y="1325880"/>
            <a:ext cx="1947671" cy="0"/>
          </a:xfrm>
          <a:prstGeom prst="line">
            <a:avLst/>
          </a:prstGeom>
          <a:ln w="12700">
            <a:solidFill>
              <a:srgbClr val="1C4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 3"/>
          <p:cNvSpPr txBox="1"/>
          <p:nvPr/>
        </p:nvSpPr>
        <p:spPr>
          <a:xfrm>
            <a:off x="8266175" y="1143000"/>
            <a:ext cx="54864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1" b="1">
                <a:solidFill>
                  <a:srgbClr val="E0764F"/>
                </a:solidFill>
                <a:latin typeface="Inter"/>
              </a:rPr>
              <a:t>06</a:t>
            </a:r>
          </a:p>
        </p:txBody>
      </p:sp>
      <p:sp>
        <p:nvSpPr>
          <p:cNvPr id="96" name="Text 4"/>
          <p:cNvSpPr txBox="1"/>
          <p:nvPr/>
        </p:nvSpPr>
        <p:spPr>
          <a:xfrm>
            <a:off x="548640" y="1527048"/>
            <a:ext cx="566928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Clean Architecture</a:t>
            </a:r>
          </a:p>
        </p:txBody>
      </p:sp>
      <p:cxnSp>
        <p:nvCxnSpPr>
          <p:cNvPr id="97" name="Arrow 5"/>
          <p:cNvCxnSpPr/>
          <p:nvPr/>
        </p:nvCxnSpPr>
        <p:spPr>
          <a:xfrm>
            <a:off x="6318504" y="1709928"/>
            <a:ext cx="1947671" cy="0"/>
          </a:xfrm>
          <a:prstGeom prst="line">
            <a:avLst/>
          </a:prstGeom>
          <a:ln w="12700">
            <a:solidFill>
              <a:srgbClr val="1C4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 6"/>
          <p:cNvSpPr txBox="1"/>
          <p:nvPr/>
        </p:nvSpPr>
        <p:spPr>
          <a:xfrm>
            <a:off x="8266175" y="1527048"/>
            <a:ext cx="54864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1" b="1">
                <a:solidFill>
                  <a:srgbClr val="E0764F"/>
                </a:solidFill>
                <a:latin typeface="Inter"/>
              </a:rPr>
              <a:t>18</a:t>
            </a:r>
          </a:p>
        </p:txBody>
      </p:sp>
      <p:sp>
        <p:nvSpPr>
          <p:cNvPr id="99" name="Text 7"/>
          <p:cNvSpPr txBox="1"/>
          <p:nvPr/>
        </p:nvSpPr>
        <p:spPr>
          <a:xfrm>
            <a:off x="548640" y="1911095"/>
            <a:ext cx="566928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Dependency Injection di FastAPI</a:t>
            </a:r>
          </a:p>
        </p:txBody>
      </p:sp>
      <p:cxnSp>
        <p:nvCxnSpPr>
          <p:cNvPr id="100" name="Arrow 8"/>
          <p:cNvCxnSpPr/>
          <p:nvPr/>
        </p:nvCxnSpPr>
        <p:spPr>
          <a:xfrm>
            <a:off x="6318504" y="2093976"/>
            <a:ext cx="1947671" cy="0"/>
          </a:xfrm>
          <a:prstGeom prst="line">
            <a:avLst/>
          </a:prstGeom>
          <a:ln w="12700">
            <a:solidFill>
              <a:srgbClr val="1C45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 9"/>
          <p:cNvSpPr txBox="1"/>
          <p:nvPr/>
        </p:nvSpPr>
        <p:spPr>
          <a:xfrm>
            <a:off x="8266175" y="1911095"/>
            <a:ext cx="548640" cy="2926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1" b="1">
                <a:solidFill>
                  <a:srgbClr val="E0764F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Sesi 2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Learning Outcome</a:t>
            </a:r>
          </a:p>
        </p:txBody>
      </p:sp>
      <p:sp>
        <p:nvSpPr>
          <p:cNvPr id="22" name="Box 3"/>
          <p:cNvSpPr/>
          <p:nvPr/>
        </p:nvSpPr>
        <p:spPr>
          <a:xfrm>
            <a:off x="621792" y="1600200"/>
            <a:ext cx="2523744" cy="2011680"/>
          </a:xfrm>
          <a:prstGeom prst="roundRect">
            <a:avLst>
              <a:gd name="adj" fmla="val 5454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Box 4"/>
          <p:cNvSpPr/>
          <p:nvPr/>
        </p:nvSpPr>
        <p:spPr>
          <a:xfrm>
            <a:off x="758952" y="1737360"/>
            <a:ext cx="329184" cy="32918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i="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1170432" y="1709928"/>
            <a:ext cx="1883663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1">
                <a:solidFill>
                  <a:srgbClr val="1C4587"/>
                </a:solidFill>
                <a:latin typeface="Inter"/>
              </a:rPr>
              <a:t>SOLID &amp; code smell</a:t>
            </a:r>
          </a:p>
        </p:txBody>
      </p:sp>
      <p:sp>
        <p:nvSpPr>
          <p:cNvPr id="25" name="Text 6"/>
          <p:cNvSpPr txBox="1"/>
          <p:nvPr/>
        </p:nvSpPr>
        <p:spPr>
          <a:xfrm>
            <a:off x="758952" y="2148840"/>
            <a:ext cx="2249424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Mengenali pelanggaran SOLID di codebase dan memperbaiki coupling antar modul.</a:t>
            </a:r>
          </a:p>
        </p:txBody>
      </p:sp>
      <p:sp>
        <p:nvSpPr>
          <p:cNvPr id="26" name="Box 7"/>
          <p:cNvSpPr/>
          <p:nvPr/>
        </p:nvSpPr>
        <p:spPr>
          <a:xfrm>
            <a:off x="3291840" y="1600200"/>
            <a:ext cx="2523744" cy="2011680"/>
          </a:xfrm>
          <a:prstGeom prst="roundRect">
            <a:avLst>
              <a:gd name="adj" fmla="val 5454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7" name="Box 8"/>
          <p:cNvSpPr/>
          <p:nvPr/>
        </p:nvSpPr>
        <p:spPr>
          <a:xfrm>
            <a:off x="3429000" y="1737360"/>
            <a:ext cx="329184" cy="32918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i="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8" name="Text 9"/>
          <p:cNvSpPr txBox="1"/>
          <p:nvPr/>
        </p:nvSpPr>
        <p:spPr>
          <a:xfrm>
            <a:off x="3840480" y="1709928"/>
            <a:ext cx="1883663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1">
                <a:solidFill>
                  <a:srgbClr val="1C4587"/>
                </a:solidFill>
                <a:latin typeface="Inter"/>
              </a:rPr>
              <a:t>Clean Architecture</a:t>
            </a:r>
          </a:p>
        </p:txBody>
      </p:sp>
      <p:sp>
        <p:nvSpPr>
          <p:cNvPr id="29" name="Text 10"/>
          <p:cNvSpPr txBox="1"/>
          <p:nvPr/>
        </p:nvSpPr>
        <p:spPr>
          <a:xfrm>
            <a:off x="3429000" y="2148840"/>
            <a:ext cx="2249424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Merancang batas dependency antar layer: domain, application, infrastructure, API.</a:t>
            </a:r>
          </a:p>
        </p:txBody>
      </p:sp>
      <p:sp>
        <p:nvSpPr>
          <p:cNvPr id="30" name="Box 11"/>
          <p:cNvSpPr/>
          <p:nvPr/>
        </p:nvSpPr>
        <p:spPr>
          <a:xfrm>
            <a:off x="5961888" y="1600200"/>
            <a:ext cx="2523744" cy="2011680"/>
          </a:xfrm>
          <a:prstGeom prst="roundRect">
            <a:avLst>
              <a:gd name="adj" fmla="val 5454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1" name="Box 12"/>
          <p:cNvSpPr/>
          <p:nvPr/>
        </p:nvSpPr>
        <p:spPr>
          <a:xfrm>
            <a:off x="6099048" y="1737360"/>
            <a:ext cx="329184" cy="329184"/>
          </a:xfrm>
          <a:prstGeom prst="ellipse">
            <a:avLst/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i="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2" name="Text 13"/>
          <p:cNvSpPr txBox="1"/>
          <p:nvPr/>
        </p:nvSpPr>
        <p:spPr>
          <a:xfrm>
            <a:off x="6510527" y="1709928"/>
            <a:ext cx="1883664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1">
                <a:solidFill>
                  <a:srgbClr val="1C4587"/>
                </a:solidFill>
                <a:latin typeface="Inter"/>
              </a:rPr>
              <a:t>Dependency Injection</a:t>
            </a:r>
          </a:p>
        </p:txBody>
      </p:sp>
      <p:sp>
        <p:nvSpPr>
          <p:cNvPr id="33" name="Text 14"/>
          <p:cNvSpPr txBox="1"/>
          <p:nvPr/>
        </p:nvSpPr>
        <p:spPr>
          <a:xfrm>
            <a:off x="6099048" y="2148840"/>
            <a:ext cx="2249424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Memakai </a:t>
            </a:r>
            <a:r>
              <a:rPr sz="1050" i="0" b="0">
                <a:solidFill>
                  <a:srgbClr val="B5482A"/>
                </a:solidFill>
                <a:latin typeface="Consolas"/>
              </a:rPr>
              <a:t>Depends</a:t>
            </a:r>
            <a:r>
              <a:rPr sz="1050" i="0" b="0">
                <a:solidFill>
                  <a:srgbClr val="434343"/>
                </a:solidFill>
                <a:latin typeface="Inter"/>
              </a:rPr>
              <a:t> FastAPI dan membuat unit test yang tidak bergantung ke database.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Titik Awal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Hasil Sesi 1: Sudah Rapi, Tapi...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32918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265176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07-clean-architecture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3291840" cy="2048256"/>
          </a:xfrm>
          <a:prstGeom prst="roundRect">
            <a:avLst>
              <a:gd name="adj" fmla="val 89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3291840" cy="2048256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before/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main.py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config.py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notifiers.py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discounts.py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repository.py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service.py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test_service.py</a:t>
            </a:r>
          </a:p>
        </p:txBody>
      </p:sp>
      <p:sp>
        <p:nvSpPr>
          <p:cNvPr id="29" name="Box 12"/>
          <p:cNvSpPr/>
          <p:nvPr/>
        </p:nvSpPr>
        <p:spPr>
          <a:xfrm>
            <a:off x="4114800" y="1536192"/>
            <a:ext cx="4370832" cy="3127248"/>
          </a:xfrm>
          <a:prstGeom prst="roundRect">
            <a:avLst>
              <a:gd name="adj" fmla="val 3508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4251960" y="1627632"/>
            <a:ext cx="409651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1">
                <a:solidFill>
                  <a:srgbClr val="C0392B"/>
                </a:solidFill>
                <a:latin typeface="Inter"/>
              </a:rPr>
              <a:t>Yang masih jadi masalah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4251960" y="1947672"/>
            <a:ext cx="409651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Semua file sejajar, tidak jelas mana </a:t>
            </a:r>
            <a:r>
              <a:rPr sz="1050" i="0" b="1">
                <a:solidFill>
                  <a:srgbClr val="434343"/>
                </a:solidFill>
                <a:latin typeface="Inter"/>
              </a:rPr>
              <a:t>inti bisnis</a:t>
            </a:r>
            <a:r>
              <a:rPr sz="1050" i="0" b="0">
                <a:solidFill>
                  <a:srgbClr val="434343"/>
                </a:solidFill>
                <a:latin typeface="Inter"/>
              </a:rPr>
              <a:t> dan mana </a:t>
            </a:r>
            <a:r>
              <a:rPr sz="1050" i="0" b="1">
                <a:solidFill>
                  <a:srgbClr val="434343"/>
                </a:solidFill>
                <a:latin typeface="Inter"/>
              </a:rPr>
              <a:t>detail teknis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Tidak ada aturan siapa boleh import siapa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Test API masih menulis ke database asli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Belum tahu "kenapa" desainnya begini: itu yang dijawab </a:t>
            </a:r>
            <a:r>
              <a:rPr sz="1050" i="0" b="1">
                <a:solidFill>
                  <a:srgbClr val="434343"/>
                </a:solidFill>
                <a:latin typeface="Inter"/>
              </a:rPr>
              <a:t>SOLID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" name="Google Shape;3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Text 1"/>
          <p:cNvSpPr txBox="1"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i="0" b="0">
                <a:solidFill>
                  <a:srgbClr val="CFE0FA"/>
                </a:solidFill>
                <a:latin typeface="Inter"/>
              </a:rPr>
              <a:t>Bagian 01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822960" y="192024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i="0" b="0">
                <a:solidFill>
                  <a:srgbClr val="FFFFFF"/>
                </a:solidFill>
                <a:latin typeface="Work Sans ExtraBold"/>
              </a:rPr>
              <a:t>SOLID &amp; Code Smell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822960" y="2743200"/>
            <a:ext cx="6583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0">
                <a:solidFill>
                  <a:srgbClr val="E3ECFA"/>
                </a:solidFill>
                <a:latin typeface="Inter"/>
              </a:rPr>
              <a:t>Lima prinsip supaya class mudah diubah tanpa merusak bagian lain.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SOLID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Lima Prinsip, Satu Tujuan</a:t>
            </a:r>
          </a:p>
        </p:txBody>
      </p:sp>
      <p:graphicFrame>
        <p:nvGraphicFramePr>
          <p:cNvPr id="22" name="Table 3"/>
          <p:cNvGraphicFramePr>
            <a:graphicFrameLocks noGrp="1"/>
          </p:cNvGraphicFramePr>
          <p:nvPr/>
        </p:nvGraphicFramePr>
        <p:xfrm>
          <a:off x="621792" y="1554480"/>
          <a:ext cx="7863840" cy="2743200"/>
        </p:xfrm>
        <a:graphic>
          <a:graphicData uri="http://schemas.openxmlformats.org/drawingml/2006/table">
            <a:tbl>
              <a:tblPr firstRow="1" bandRow="1"/>
              <a:tblGrid>
                <a:gridCol w="365760"/>
                <a:gridCol w="1737360"/>
                <a:gridCol w="2743200"/>
                <a:gridCol w="301752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570"/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FFFFFF"/>
                          </a:solidFill>
                          <a:latin typeface="Inter"/>
                        </a:rPr>
                        <a:t>Prinsip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FFFFFF"/>
                          </a:solidFill>
                          <a:latin typeface="Inter"/>
                        </a:rPr>
                        <a:t>Artinya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FFFFFF"/>
                          </a:solidFill>
                          <a:latin typeface="Inter"/>
                        </a:rPr>
                        <a:t>Code smell yang sering muncul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C4587"/>
                          </a:solidFill>
                          <a:latin typeface="Inter"/>
                        </a:rPr>
                        <a:t>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Single Responsibility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Satu class, satu tugas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Class "Manager" yang mengerjakan semuanya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C4587"/>
                          </a:solidFill>
                          <a:latin typeface="Inter"/>
                        </a:rPr>
                        <a:t>O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Open/Closed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Tambah fitur tanpa mengedit kode lama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If/elif yang terus bertambah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C4587"/>
                          </a:solidFill>
                          <a:latin typeface="Inter"/>
                        </a:rPr>
                        <a:t>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Liskov Substitution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Subclass bisa menggantikan parent-nya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Subclass yang hasilnya beda arti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C4587"/>
                          </a:solidFill>
                          <a:latin typeface="Inter"/>
                        </a:rPr>
                        <a:t>I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Interface Segregation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Interface kecil sesuai kebutuhan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Fake test wajib isi method yang tidak dipakai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C4587"/>
                          </a:solidFill>
                          <a:latin typeface="Inter"/>
                        </a:rPr>
                        <a:t>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Dependency Inversion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Bergantung ke interface, bukan class konkret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Class membuat dependency-nya sendiri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4"/>
          <p:cNvSpPr txBox="1"/>
          <p:nvPr/>
        </p:nvSpPr>
        <p:spPr>
          <a:xfrm>
            <a:off x="621792" y="4343400"/>
            <a:ext cx="7863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i="0" b="0">
                <a:solidFill>
                  <a:srgbClr val="1C4587"/>
                </a:solidFill>
                <a:latin typeface="Inter"/>
              </a:rPr>
              <a:t>Tujuannya satu: </a:t>
            </a:r>
            <a:r>
              <a:rPr sz="1100" i="0" b="1">
                <a:solidFill>
                  <a:srgbClr val="1C4587"/>
                </a:solidFill>
                <a:latin typeface="Inter"/>
              </a:rPr>
              <a:t>kode yang mudah diubah dan mudah dites</a:t>
            </a:r>
            <a:r>
              <a:rPr sz="1100" i="0" b="0">
                <a:solidFill>
                  <a:srgbClr val="1C4587"/>
                </a:solidFill>
                <a:latin typeface="Inter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S · Single Responsibility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Satu Class Mengerjakan Semuanya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01-srp/before.py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OrderManager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place_order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customer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items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1. hitung total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subtotal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sum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i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A5D6A7"/>
                </a:solidFill>
                <a:latin typeface="Consolas"/>
              </a:rPr>
              <a:t>"price"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*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i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A5D6A7"/>
                </a:solidFill>
                <a:latin typeface="Consolas"/>
              </a:rPr>
              <a:t>"qty"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for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i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in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items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subtotal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-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subtotal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*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5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/</a:t>
            </a:r>
            <a:r>
              <a:rPr sz="950" i="0">
                <a:solidFill>
                  <a:srgbClr val="E6EDF3"/>
                </a:solidFill>
                <a:latin typeface="Consolas"/>
              </a:rPr>
              <a:t>/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100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2. simpan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{</a:t>
            </a:r>
            <a:r>
              <a:rPr sz="950" i="0">
                <a:solidFill>
                  <a:srgbClr val="A5D6A7"/>
                </a:solidFill>
                <a:latin typeface="Consolas"/>
              </a:rPr>
              <a:t>"id"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len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orders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+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1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A5D6A7"/>
                </a:solidFill>
                <a:latin typeface="Consolas"/>
              </a:rPr>
              <a:t>"total"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orders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A5D6A7"/>
                </a:solidFill>
                <a:latin typeface="Consolas"/>
              </a:rPr>
              <a:t>"id"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3. kirim email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C3A6FF"/>
                </a:solidFill>
                <a:latin typeface="Consolas"/>
              </a:rPr>
              <a:t>print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A5D6A7"/>
                </a:solidFill>
                <a:latin typeface="Consolas"/>
              </a:rPr>
              <a:t>f"[EMAIL] ke {customer}: Order #{order['id']}"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1234440"/>
          </a:xfrm>
          <a:prstGeom prst="roundRect">
            <a:avLst>
              <a:gd name="adj" fmla="val 8888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 wrap="square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434343"/>
                </a:solidFill>
                <a:latin typeface="Inter"/>
              </a:rPr>
              <a:t>Prinsip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i="0" b="0">
                <a:solidFill>
                  <a:srgbClr val="434343"/>
                </a:solidFill>
                <a:latin typeface="Inter"/>
              </a:rPr>
              <a:t>“A class should have only one reason to change.”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i="0" b="0">
                <a:solidFill>
                  <a:srgbClr val="434343"/>
                </a:solidFill>
                <a:latin typeface="Inter"/>
              </a:rPr>
              <a:t>— Robert C. Martin</a:t>
            </a:r>
          </a:p>
        </p:txBody>
      </p:sp>
      <p:sp>
        <p:nvSpPr>
          <p:cNvPr id="30" name="Box 13"/>
          <p:cNvSpPr/>
          <p:nvPr/>
        </p:nvSpPr>
        <p:spPr>
          <a:xfrm>
            <a:off x="5897880" y="2880360"/>
            <a:ext cx="2587752" cy="1783080"/>
          </a:xfrm>
          <a:prstGeom prst="roundRect">
            <a:avLst>
              <a:gd name="adj" fmla="val 6153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1" name="Text 14"/>
          <p:cNvSpPr txBox="1"/>
          <p:nvPr/>
        </p:nvSpPr>
        <p:spPr>
          <a:xfrm>
            <a:off x="6035040" y="2971800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6035040" y="3291840"/>
            <a:ext cx="2313432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Ganti rumus, database, atau email: semuanya edit class ini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Susah dites per bagian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S · Single Responsibility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Satu Class, Satu Tugas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01-srp/after.py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PriceCalculator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items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OrderRepository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add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customer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EmailNotifier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send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to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message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OrderService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place_order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customer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items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calculator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items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repo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add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customer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notifier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send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customer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A5D6A7"/>
                </a:solidFill>
                <a:latin typeface="Consolas"/>
              </a:rPr>
              <a:t>f"Order #{order['id']}"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Tiap class kecil dan fokus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Ganti email tidak menyentuh perhitungan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B5482A"/>
                </a:solidFill>
                <a:latin typeface="Consolas"/>
              </a:rPr>
              <a:t>OrderService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cuma mengatur urutan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O · Open/Closed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Kurir Baru = Edit Function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02-ocp/before.py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FF8E6E"/>
                </a:solidFill>
                <a:latin typeface="Consolas"/>
              </a:rPr>
              <a:t>def</a:t>
            </a:r>
            <a:r>
              <a:rPr sz="1000" i="0">
                <a:solidFill>
                  <a:srgbClr val="E6EDF3"/>
                </a:solidFill>
                <a:latin typeface="Consolas"/>
              </a:rPr>
              <a:t> </a:t>
            </a:r>
            <a:r>
              <a:rPr sz="1000" i="0">
                <a:solidFill>
                  <a:srgbClr val="82B1FF"/>
                </a:solidFill>
                <a:latin typeface="Consolas"/>
              </a:rPr>
              <a:t>shipping_cost</a:t>
            </a:r>
            <a:r>
              <a:rPr sz="1000" i="0">
                <a:solidFill>
                  <a:srgbClr val="E6EDF3"/>
                </a:solidFill>
                <a:latin typeface="Consolas"/>
              </a:rPr>
              <a:t>(</a:t>
            </a:r>
            <a:r>
              <a:rPr sz="1000" i="0">
                <a:solidFill>
                  <a:srgbClr val="E6EDF3"/>
                </a:solidFill>
                <a:latin typeface="Consolas"/>
              </a:rPr>
              <a:t>courier</a:t>
            </a:r>
            <a:r>
              <a:rPr sz="1000" i="0">
                <a:solidFill>
                  <a:srgbClr val="E6EDF3"/>
                </a:solidFill>
                <a:latin typeface="Consolas"/>
              </a:rPr>
              <a:t>,</a:t>
            </a:r>
            <a:r>
              <a:rPr sz="1000" i="0">
                <a:solidFill>
                  <a:srgbClr val="E6EDF3"/>
                </a:solidFill>
                <a:latin typeface="Consolas"/>
              </a:rPr>
              <a:t> </a:t>
            </a:r>
            <a:r>
              <a:rPr sz="1000" i="0">
                <a:solidFill>
                  <a:srgbClr val="E6EDF3"/>
                </a:solidFill>
                <a:latin typeface="Consolas"/>
              </a:rPr>
              <a:t>weight_kg</a:t>
            </a:r>
            <a:r>
              <a:rPr sz="1000" i="0">
                <a:solidFill>
                  <a:srgbClr val="E6EDF3"/>
                </a:solidFill>
                <a:latin typeface="Consolas"/>
              </a:rPr>
              <a:t>)</a:t>
            </a:r>
            <a:r>
              <a:rPr sz="10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  </a:t>
            </a:r>
            <a:r>
              <a:rPr sz="1000" i="0">
                <a:solidFill>
                  <a:srgbClr val="FF8E6E"/>
                </a:solidFill>
                <a:latin typeface="Consolas"/>
              </a:rPr>
              <a:t>if</a:t>
            </a:r>
            <a:r>
              <a:rPr sz="1000" i="0">
                <a:solidFill>
                  <a:srgbClr val="E6EDF3"/>
                </a:solidFill>
                <a:latin typeface="Consolas"/>
              </a:rPr>
              <a:t> </a:t>
            </a:r>
            <a:r>
              <a:rPr sz="1000" i="0">
                <a:solidFill>
                  <a:srgbClr val="E6EDF3"/>
                </a:solidFill>
                <a:latin typeface="Consolas"/>
              </a:rPr>
              <a:t>courier</a:t>
            </a:r>
            <a:r>
              <a:rPr sz="1000" i="0">
                <a:solidFill>
                  <a:srgbClr val="E6EDF3"/>
                </a:solidFill>
                <a:latin typeface="Consolas"/>
              </a:rPr>
              <a:t> </a:t>
            </a:r>
            <a:r>
              <a:rPr sz="1000" i="0">
                <a:solidFill>
                  <a:srgbClr val="E6EDF3"/>
                </a:solidFill>
                <a:latin typeface="Consolas"/>
              </a:rPr>
              <a:t>=</a:t>
            </a:r>
            <a:r>
              <a:rPr sz="1000" i="0">
                <a:solidFill>
                  <a:srgbClr val="E6EDF3"/>
                </a:solidFill>
                <a:latin typeface="Consolas"/>
              </a:rPr>
              <a:t>=</a:t>
            </a:r>
            <a:r>
              <a:rPr sz="1000" i="0">
                <a:solidFill>
                  <a:srgbClr val="E6EDF3"/>
                </a:solidFill>
                <a:latin typeface="Consolas"/>
              </a:rPr>
              <a:t> </a:t>
            </a:r>
            <a:r>
              <a:rPr sz="1000" i="0">
                <a:solidFill>
                  <a:srgbClr val="A5D6A7"/>
                </a:solidFill>
                <a:latin typeface="Consolas"/>
              </a:rPr>
              <a:t>"regular"</a:t>
            </a:r>
            <a:r>
              <a:rPr sz="10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1000" i="0">
                <a:solidFill>
                  <a:srgbClr val="FF8E6E"/>
                </a:solidFill>
                <a:latin typeface="Consolas"/>
              </a:rPr>
              <a:t>return</a:t>
            </a:r>
            <a:r>
              <a:rPr sz="1000" i="0">
                <a:solidFill>
                  <a:srgbClr val="E6EDF3"/>
                </a:solidFill>
                <a:latin typeface="Consolas"/>
              </a:rPr>
              <a:t> </a:t>
            </a:r>
            <a:r>
              <a:rPr sz="1000" i="0">
                <a:solidFill>
                  <a:srgbClr val="F9C97A"/>
                </a:solidFill>
                <a:latin typeface="Consolas"/>
              </a:rPr>
              <a:t>10_000</a:t>
            </a:r>
            <a:r>
              <a:rPr sz="1000" i="0">
                <a:solidFill>
                  <a:srgbClr val="E6EDF3"/>
                </a:solidFill>
                <a:latin typeface="Consolas"/>
              </a:rPr>
              <a:t> </a:t>
            </a:r>
            <a:r>
              <a:rPr sz="1000" i="0">
                <a:solidFill>
                  <a:srgbClr val="E6EDF3"/>
                </a:solidFill>
                <a:latin typeface="Consolas"/>
              </a:rPr>
              <a:t>*</a:t>
            </a:r>
            <a:r>
              <a:rPr sz="1000" i="0">
                <a:solidFill>
                  <a:srgbClr val="E6EDF3"/>
                </a:solidFill>
                <a:latin typeface="Consolas"/>
              </a:rPr>
              <a:t> </a:t>
            </a:r>
            <a:r>
              <a:rPr sz="1000" i="0">
                <a:solidFill>
                  <a:srgbClr val="E6EDF3"/>
                </a:solidFill>
                <a:latin typeface="Consolas"/>
              </a:rPr>
              <a:t>weight_kg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  </a:t>
            </a:r>
            <a:r>
              <a:rPr sz="1000" i="0">
                <a:solidFill>
                  <a:srgbClr val="FF8E6E"/>
                </a:solidFill>
                <a:latin typeface="Consolas"/>
              </a:rPr>
              <a:t>elif</a:t>
            </a:r>
            <a:r>
              <a:rPr sz="1000" i="0">
                <a:solidFill>
                  <a:srgbClr val="E6EDF3"/>
                </a:solidFill>
                <a:latin typeface="Consolas"/>
              </a:rPr>
              <a:t> </a:t>
            </a:r>
            <a:r>
              <a:rPr sz="1000" i="0">
                <a:solidFill>
                  <a:srgbClr val="E6EDF3"/>
                </a:solidFill>
                <a:latin typeface="Consolas"/>
              </a:rPr>
              <a:t>courier</a:t>
            </a:r>
            <a:r>
              <a:rPr sz="1000" i="0">
                <a:solidFill>
                  <a:srgbClr val="E6EDF3"/>
                </a:solidFill>
                <a:latin typeface="Consolas"/>
              </a:rPr>
              <a:t> </a:t>
            </a:r>
            <a:r>
              <a:rPr sz="1000" i="0">
                <a:solidFill>
                  <a:srgbClr val="E6EDF3"/>
                </a:solidFill>
                <a:latin typeface="Consolas"/>
              </a:rPr>
              <a:t>=</a:t>
            </a:r>
            <a:r>
              <a:rPr sz="1000" i="0">
                <a:solidFill>
                  <a:srgbClr val="E6EDF3"/>
                </a:solidFill>
                <a:latin typeface="Consolas"/>
              </a:rPr>
              <a:t>=</a:t>
            </a:r>
            <a:r>
              <a:rPr sz="1000" i="0">
                <a:solidFill>
                  <a:srgbClr val="E6EDF3"/>
                </a:solidFill>
                <a:latin typeface="Consolas"/>
              </a:rPr>
              <a:t> </a:t>
            </a:r>
            <a:r>
              <a:rPr sz="1000" i="0">
                <a:solidFill>
                  <a:srgbClr val="A5D6A7"/>
                </a:solidFill>
                <a:latin typeface="Consolas"/>
              </a:rPr>
              <a:t>"express"</a:t>
            </a:r>
            <a:r>
              <a:rPr sz="10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1000" i="0">
                <a:solidFill>
                  <a:srgbClr val="FF8E6E"/>
                </a:solidFill>
                <a:latin typeface="Consolas"/>
              </a:rPr>
              <a:t>return</a:t>
            </a:r>
            <a:r>
              <a:rPr sz="1000" i="0">
                <a:solidFill>
                  <a:srgbClr val="E6EDF3"/>
                </a:solidFill>
                <a:latin typeface="Consolas"/>
              </a:rPr>
              <a:t> </a:t>
            </a:r>
            <a:r>
              <a:rPr sz="1000" i="0">
                <a:solidFill>
                  <a:srgbClr val="F9C97A"/>
                </a:solidFill>
                <a:latin typeface="Consolas"/>
              </a:rPr>
              <a:t>20_000</a:t>
            </a:r>
            <a:r>
              <a:rPr sz="1000" i="0">
                <a:solidFill>
                  <a:srgbClr val="E6EDF3"/>
                </a:solidFill>
                <a:latin typeface="Consolas"/>
              </a:rPr>
              <a:t> </a:t>
            </a:r>
            <a:r>
              <a:rPr sz="1000" i="0">
                <a:solidFill>
                  <a:srgbClr val="E6EDF3"/>
                </a:solidFill>
                <a:latin typeface="Consolas"/>
              </a:rPr>
              <a:t>*</a:t>
            </a:r>
            <a:r>
              <a:rPr sz="1000" i="0">
                <a:solidFill>
                  <a:srgbClr val="E6EDF3"/>
                </a:solidFill>
                <a:latin typeface="Consolas"/>
              </a:rPr>
              <a:t> </a:t>
            </a:r>
            <a:r>
              <a:rPr sz="1000" i="0">
                <a:solidFill>
                  <a:srgbClr val="E6EDF3"/>
                </a:solidFill>
                <a:latin typeface="Consolas"/>
              </a:rPr>
              <a:t>weight_kg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  </a:t>
            </a:r>
            <a:r>
              <a:rPr sz="1000" i="1">
                <a:solidFill>
                  <a:srgbClr val="8B98A8"/>
                </a:solidFill>
                <a:latin typeface="Consolas"/>
              </a:rPr>
              <a:t># elif courier == "same_day": ...  &lt;- edit lagi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  </a:t>
            </a:r>
            <a:r>
              <a:rPr sz="1000" i="0">
                <a:solidFill>
                  <a:srgbClr val="FF8E6E"/>
                </a:solidFill>
                <a:latin typeface="Consolas"/>
              </a:rPr>
              <a:t>raise</a:t>
            </a:r>
            <a:r>
              <a:rPr sz="1000" i="0">
                <a:solidFill>
                  <a:srgbClr val="E6EDF3"/>
                </a:solidFill>
                <a:latin typeface="Consolas"/>
              </a:rPr>
              <a:t> </a:t>
            </a:r>
            <a:r>
              <a:rPr sz="1000" i="0">
                <a:solidFill>
                  <a:srgbClr val="7FDBCA"/>
                </a:solidFill>
                <a:latin typeface="Consolas"/>
              </a:rPr>
              <a:t>ValueError</a:t>
            </a:r>
            <a:r>
              <a:rPr sz="1000" i="0">
                <a:solidFill>
                  <a:srgbClr val="E6EDF3"/>
                </a:solidFill>
                <a:latin typeface="Consolas"/>
              </a:rPr>
              <a:t>(</a:t>
            </a:r>
            <a:r>
              <a:rPr sz="1000" i="0">
                <a:solidFill>
                  <a:srgbClr val="A5D6A7"/>
                </a:solidFill>
                <a:latin typeface="Consolas"/>
              </a:rPr>
              <a:t>"Kurir tidak dikenal"</a:t>
            </a:r>
            <a:r>
              <a:rPr sz="1000" i="0">
                <a:solidFill>
                  <a:srgbClr val="E6EDF3"/>
                </a:solidFill>
                <a:latin typeface="Consolas"/>
              </a:rPr>
              <a:t>)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1234440"/>
          </a:xfrm>
          <a:prstGeom prst="roundRect">
            <a:avLst>
              <a:gd name="adj" fmla="val 8888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 wrap="square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434343"/>
                </a:solidFill>
                <a:latin typeface="Inter"/>
              </a:rPr>
              <a:t>Prinsip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i="0" b="0">
                <a:solidFill>
                  <a:srgbClr val="434343"/>
                </a:solidFill>
                <a:latin typeface="Inter"/>
              </a:rPr>
              <a:t>“Software entities should be open for extension, but closed for modification.”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i="0" b="0">
                <a:solidFill>
                  <a:srgbClr val="434343"/>
                </a:solidFill>
                <a:latin typeface="Inter"/>
              </a:rPr>
              <a:t>— Bertrand Meyer</a:t>
            </a:r>
          </a:p>
        </p:txBody>
      </p:sp>
      <p:sp>
        <p:nvSpPr>
          <p:cNvPr id="30" name="Box 13"/>
          <p:cNvSpPr/>
          <p:nvPr/>
        </p:nvSpPr>
        <p:spPr>
          <a:xfrm>
            <a:off x="5897880" y="2880360"/>
            <a:ext cx="2587752" cy="1783080"/>
          </a:xfrm>
          <a:prstGeom prst="roundRect">
            <a:avLst>
              <a:gd name="adj" fmla="val 6153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1" name="Text 14"/>
          <p:cNvSpPr txBox="1"/>
          <p:nvPr/>
        </p:nvSpPr>
        <p:spPr>
          <a:xfrm>
            <a:off x="6035040" y="2971800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6035040" y="3291840"/>
            <a:ext cx="2313432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Kode lama yang sudah dites ikut diubah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Function makin panjang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O · Open/Closed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Kurir Baru = Class Baru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02-ocp/after.py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RegularCourier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cost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weight_kg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10_000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*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weight_kg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SameDayCourier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              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kurir baru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cost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weight_kg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35_000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+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15_000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*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weight_kg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7FDBCA"/>
                </a:solidFill>
                <a:latin typeface="Consolas"/>
              </a:rPr>
              <a:t>COURIERS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{</a:t>
            </a:r>
            <a:r>
              <a:rPr sz="950" i="0">
                <a:solidFill>
                  <a:srgbClr val="A5D6A7"/>
                </a:solidFill>
                <a:latin typeface="Consolas"/>
              </a:rPr>
              <a:t>"regular"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RegularCourier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950" i="0">
                <a:solidFill>
                  <a:srgbClr val="A5D6A7"/>
                </a:solidFill>
                <a:latin typeface="Consolas"/>
              </a:rPr>
              <a:t>"express"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ExpressCourier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    </a:t>
            </a:r>
            <a:r>
              <a:rPr sz="950" i="0">
                <a:solidFill>
                  <a:srgbClr val="A5D6A7"/>
                </a:solidFill>
                <a:latin typeface="Consolas"/>
              </a:rPr>
              <a:t>"same_day"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SameDayCourier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}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shipping_cost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courier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weight_kg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COURIERS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E6EDF3"/>
                </a:solidFill>
                <a:latin typeface="Consolas"/>
              </a:rPr>
              <a:t>courier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cost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weight_kg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B5482A"/>
                </a:solidFill>
                <a:latin typeface="Consolas"/>
              </a:rPr>
              <a:t>shipping_cost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tidak pernah diedit lagi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Mirip Strategy di Sesi 1: pattern adalah cara menerapkan prinsip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L · Liskov Substitution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Subclass yang Beda Arti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03-lsp/before.py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Discount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discount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subtotal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A5D6A7"/>
                </a:solidFill>
                <a:latin typeface="Consolas"/>
              </a:rPr>
              <a:t>"""Kembalikan besar potongan."""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VoucherDiscount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Discount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discount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subtotal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subtotal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-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50_000</a:t>
            </a: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ini harga akhir!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calculate_total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F9C97A"/>
                </a:solidFill>
                <a:latin typeface="Consolas"/>
              </a:rPr>
              <a:t>200_000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MemberDiscount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190000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calculate_total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F9C97A"/>
                </a:solidFill>
                <a:latin typeface="Consolas"/>
              </a:rPr>
              <a:t>200_000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VoucherDiscount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50000 ???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1234440"/>
          </a:xfrm>
          <a:prstGeom prst="roundRect">
            <a:avLst>
              <a:gd name="adj" fmla="val 8888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 wrap="square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434343"/>
                </a:solidFill>
                <a:latin typeface="Inter"/>
              </a:rPr>
              <a:t>Prinsip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i="0" b="0">
                <a:solidFill>
                  <a:srgbClr val="434343"/>
                </a:solidFill>
                <a:latin typeface="Inter"/>
              </a:rPr>
              <a:t>“Subtypes must be substitutable for their base types.”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i="0" b="0">
                <a:solidFill>
                  <a:srgbClr val="434343"/>
                </a:solidFill>
                <a:latin typeface="Inter"/>
              </a:rPr>
              <a:t>— Robert C. Martin</a:t>
            </a:r>
          </a:p>
        </p:txBody>
      </p:sp>
      <p:sp>
        <p:nvSpPr>
          <p:cNvPr id="30" name="Box 13"/>
          <p:cNvSpPr/>
          <p:nvPr/>
        </p:nvSpPr>
        <p:spPr>
          <a:xfrm>
            <a:off x="5897880" y="2880360"/>
            <a:ext cx="2587752" cy="1783080"/>
          </a:xfrm>
          <a:prstGeom prst="roundRect">
            <a:avLst>
              <a:gd name="adj" fmla="val 6153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1" name="Text 14"/>
          <p:cNvSpPr txBox="1"/>
          <p:nvPr/>
        </p:nvSpPr>
        <p:spPr>
          <a:xfrm>
            <a:off x="6035040" y="2971800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6035040" y="3291840"/>
            <a:ext cx="2313432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Tidak error, tapi total salah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Bug baru ketahuan di production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L · Liskov Substitution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Semua Ikut Kontrak yang Sama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03-lsp/after.py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VoucherDiscount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Discount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__init__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amount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F9C97A"/>
                </a:solidFill>
                <a:latin typeface="Consolas"/>
              </a:rPr>
              <a:t>50_000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amount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amount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discount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subtotal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min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amount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subtotal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potongan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check_contract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rule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for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subtotal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in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F9C97A"/>
                </a:solidFill>
                <a:latin typeface="Consolas"/>
              </a:rPr>
              <a:t>0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30_000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200_000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FF8E6E"/>
                </a:solidFill>
                <a:latin typeface="Consolas"/>
              </a:rPr>
              <a:t>assert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0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&lt;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rule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discount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subtotal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&lt;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subtotal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for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rule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F8E6E"/>
                </a:solidFill>
                <a:latin typeface="Consolas"/>
              </a:rPr>
              <a:t>in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Discount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MemberDiscount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VoucherDiscount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E6EDF3"/>
                </a:solidFill>
                <a:latin typeface="Consolas"/>
              </a:rPr>
              <a:t>check_contract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rule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Semua subclass mengembalikan potongan, bukan harga akhir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Satu test kontrak untuk semua subclass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I · Interface Segregation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Interface Kegemukan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04-isp/before.py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FF8E6E"/>
                </a:solidFill>
                <a:latin typeface="Consolas"/>
              </a:rPr>
              <a:t>class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7FDBCA"/>
                </a:solidFill>
                <a:latin typeface="Consolas"/>
              </a:rPr>
              <a:t>OrderRepository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7FDBCA"/>
                </a:solidFill>
                <a:latin typeface="Consolas"/>
              </a:rPr>
              <a:t>ABC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def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82B1FF"/>
                </a:solidFill>
                <a:latin typeface="Consolas"/>
              </a:rPr>
              <a:t>add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C3A6FF"/>
                </a:solidFill>
                <a:latin typeface="Consolas"/>
              </a:rPr>
              <a:t>self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order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def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82B1FF"/>
                </a:solidFill>
                <a:latin typeface="Consolas"/>
              </a:rPr>
              <a:t>get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C3A6FF"/>
                </a:solidFill>
                <a:latin typeface="Consolas"/>
              </a:rPr>
              <a:t>self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order_id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def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82B1FF"/>
                </a:solidFill>
                <a:latin typeface="Consolas"/>
              </a:rPr>
              <a:t>list_all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C3A6FF"/>
                </a:solidFill>
                <a:latin typeface="Consolas"/>
              </a:rPr>
              <a:t>self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def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82B1FF"/>
                </a:solidFill>
                <a:latin typeface="Consolas"/>
              </a:rPr>
              <a:t>update_status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C3A6FF"/>
                </a:solidFill>
                <a:latin typeface="Consolas"/>
              </a:rPr>
              <a:t>self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order_id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status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def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82B1FF"/>
                </a:solidFill>
                <a:latin typeface="Consolas"/>
              </a:rPr>
              <a:t>delete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C3A6FF"/>
                </a:solidFill>
                <a:latin typeface="Consolas"/>
              </a:rPr>
              <a:t>self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order_id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FF8E6E"/>
                </a:solidFill>
                <a:latin typeface="Consolas"/>
              </a:rPr>
              <a:t>class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7FDBCA"/>
                </a:solidFill>
                <a:latin typeface="Consolas"/>
              </a:rPr>
              <a:t>FakeRepoForReport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7FDBCA"/>
                </a:solidFill>
                <a:latin typeface="Consolas"/>
              </a:rPr>
              <a:t>OrderRepository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def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82B1FF"/>
                </a:solidFill>
                <a:latin typeface="Consolas"/>
              </a:rPr>
              <a:t>list_all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C3A6FF"/>
                </a:solidFill>
                <a:latin typeface="Consolas"/>
              </a:rPr>
              <a:t>self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0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[</a:t>
            </a:r>
            <a:r>
              <a:rPr sz="900" i="0">
                <a:solidFill>
                  <a:srgbClr val="E6EDF3"/>
                </a:solidFill>
                <a:latin typeface="Consolas"/>
              </a:rPr>
              <a:t>{</a:t>
            </a:r>
            <a:r>
              <a:rPr sz="900" i="0">
                <a:solidFill>
                  <a:srgbClr val="A5D6A7"/>
                </a:solidFill>
                <a:latin typeface="Consolas"/>
              </a:rPr>
              <a:t>"total"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9C97A"/>
                </a:solidFill>
                <a:latin typeface="Consolas"/>
              </a:rPr>
              <a:t>100_000</a:t>
            </a:r>
            <a:r>
              <a:rPr sz="900" i="0">
                <a:solidFill>
                  <a:srgbClr val="E6EDF3"/>
                </a:solidFill>
                <a:latin typeface="Consolas"/>
              </a:rPr>
              <a:t>}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{</a:t>
            </a:r>
            <a:r>
              <a:rPr sz="900" i="0">
                <a:solidFill>
                  <a:srgbClr val="A5D6A7"/>
                </a:solidFill>
                <a:latin typeface="Consolas"/>
              </a:rPr>
              <a:t>"total"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9C97A"/>
                </a:solidFill>
                <a:latin typeface="Consolas"/>
              </a:rPr>
              <a:t>250_000</a:t>
            </a:r>
            <a:r>
              <a:rPr sz="900" i="0">
                <a:solidFill>
                  <a:srgbClr val="E6EDF3"/>
                </a:solidFill>
                <a:latin typeface="Consolas"/>
              </a:rPr>
              <a:t>}</a:t>
            </a:r>
            <a:r>
              <a:rPr sz="900" i="0">
                <a:solidFill>
                  <a:srgbClr val="E6EDF3"/>
                </a:solidFill>
                <a:latin typeface="Consolas"/>
              </a:rPr>
              <a:t>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1">
                <a:solidFill>
                  <a:srgbClr val="8B98A8"/>
                </a:solidFill>
                <a:latin typeface="Consolas"/>
              </a:rPr>
              <a:t># tidak dipakai, tapi wajib ditulis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def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82B1FF"/>
                </a:solidFill>
                <a:latin typeface="Consolas"/>
              </a:rPr>
              <a:t>add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C3A6FF"/>
                </a:solidFill>
                <a:latin typeface="Consolas"/>
              </a:rPr>
              <a:t>self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order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F8E6E"/>
                </a:solidFill>
                <a:latin typeface="Consolas"/>
              </a:rPr>
              <a:t>raise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7FDBCA"/>
                </a:solidFill>
                <a:latin typeface="Consolas"/>
              </a:rPr>
              <a:t>NotImplementedError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def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82B1FF"/>
                </a:solidFill>
                <a:latin typeface="Consolas"/>
              </a:rPr>
              <a:t>get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C3A6FF"/>
                </a:solidFill>
                <a:latin typeface="Consolas"/>
              </a:rPr>
              <a:t>self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order_id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F8E6E"/>
                </a:solidFill>
                <a:latin typeface="Consolas"/>
              </a:rPr>
              <a:t>raise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7FDBCA"/>
                </a:solidFill>
                <a:latin typeface="Consolas"/>
              </a:rPr>
              <a:t>NotImplementedError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1234440"/>
          </a:xfrm>
          <a:prstGeom prst="roundRect">
            <a:avLst>
              <a:gd name="adj" fmla="val 8888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 wrap="square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434343"/>
                </a:solidFill>
                <a:latin typeface="Inter"/>
              </a:rPr>
              <a:t>Prinsip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i="0" b="0">
                <a:solidFill>
                  <a:srgbClr val="434343"/>
                </a:solidFill>
                <a:latin typeface="Inter"/>
              </a:rPr>
              <a:t>“Clients should not be forced to depend upon interfaces that they do not use.”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i="0" b="0">
                <a:solidFill>
                  <a:srgbClr val="434343"/>
                </a:solidFill>
                <a:latin typeface="Inter"/>
              </a:rPr>
              <a:t>— Robert C. Martin</a:t>
            </a:r>
          </a:p>
        </p:txBody>
      </p:sp>
      <p:sp>
        <p:nvSpPr>
          <p:cNvPr id="30" name="Box 13"/>
          <p:cNvSpPr/>
          <p:nvPr/>
        </p:nvSpPr>
        <p:spPr>
          <a:xfrm>
            <a:off x="5897880" y="2880360"/>
            <a:ext cx="2587752" cy="1783080"/>
          </a:xfrm>
          <a:prstGeom prst="roundRect">
            <a:avLst>
              <a:gd name="adj" fmla="val 6153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1" name="Text 14"/>
          <p:cNvSpPr txBox="1"/>
          <p:nvPr/>
        </p:nvSpPr>
        <p:spPr>
          <a:xfrm>
            <a:off x="6035040" y="2971800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6035040" y="3291840"/>
            <a:ext cx="2313432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B5482A"/>
                </a:solidFill>
                <a:latin typeface="Consolas"/>
              </a:rPr>
              <a:t>ReportService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cuma butuh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list_all()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Fake test penuh method kosong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I · Interface Segregation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Interface Sesuai Kebutuhan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04-isp/after.py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OrderReader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Protocol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get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order_id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list_all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OrderWriter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Protocol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add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update_status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order_id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status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ReportService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__init__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reader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OrderReader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reader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reader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FakeReader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list_all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[</a:t>
            </a:r>
            <a:r>
              <a:rPr sz="950" i="0">
                <a:solidFill>
                  <a:srgbClr val="E6EDF3"/>
                </a:solidFill>
                <a:latin typeface="Consolas"/>
              </a:rPr>
              <a:t>{</a:t>
            </a:r>
            <a:r>
              <a:rPr sz="950" i="0">
                <a:solidFill>
                  <a:srgbClr val="A5D6A7"/>
                </a:solidFill>
                <a:latin typeface="Consolas"/>
              </a:rPr>
              <a:t>"total"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100_000</a:t>
            </a:r>
            <a:r>
              <a:rPr sz="950" i="0">
                <a:solidFill>
                  <a:srgbClr val="E6EDF3"/>
                </a:solidFill>
                <a:latin typeface="Consolas"/>
              </a:rPr>
              <a:t>}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{</a:t>
            </a:r>
            <a:r>
              <a:rPr sz="950" i="0">
                <a:solidFill>
                  <a:srgbClr val="A5D6A7"/>
                </a:solidFill>
                <a:latin typeface="Consolas"/>
              </a:rPr>
              <a:t>"total"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F9C97A"/>
                </a:solidFill>
                <a:latin typeface="Consolas"/>
              </a:rPr>
              <a:t>250_000</a:t>
            </a:r>
            <a:r>
              <a:rPr sz="950" i="0">
                <a:solidFill>
                  <a:srgbClr val="E6EDF3"/>
                </a:solidFill>
                <a:latin typeface="Consolas"/>
              </a:rPr>
              <a:t>}</a:t>
            </a:r>
            <a:r>
              <a:rPr sz="950" i="0">
                <a:solidFill>
                  <a:srgbClr val="E6EDF3"/>
                </a:solidFill>
                <a:latin typeface="Consolas"/>
              </a:rPr>
              <a:t>]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B5482A"/>
                </a:solidFill>
                <a:latin typeface="Consolas"/>
              </a:rPr>
              <a:t>ReportService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hanya minta yang dibutuhkan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Fake cukup satu method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Repository asli tetap boleh punya semuanya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D · Dependency Inversion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Service Membuat Dependency Sendiri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05-dip/before.py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OrderService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__init__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repo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SqliteOrderRepository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terikat ke SQLite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notifier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EmailNotifier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       </a:t>
            </a:r>
            <a:r>
              <a:rPr sz="950" i="1">
                <a:solidFill>
                  <a:srgbClr val="8B98A8"/>
                </a:solidFill>
                <a:latin typeface="Consolas"/>
              </a:rPr>
              <a:t># terikat ke email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place_order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customer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order_id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repo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add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customer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notifier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send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customer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A5D6A7"/>
                </a:solidFill>
                <a:latin typeface="Consolas"/>
              </a:rPr>
              <a:t>f"Order #{order_id} dibuat"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order_id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1234440"/>
          </a:xfrm>
          <a:prstGeom prst="roundRect">
            <a:avLst>
              <a:gd name="adj" fmla="val 8888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 wrap="square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434343"/>
                </a:solidFill>
                <a:latin typeface="Inter"/>
              </a:rPr>
              <a:t>Prinsip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i="0" b="0">
                <a:solidFill>
                  <a:srgbClr val="434343"/>
                </a:solidFill>
                <a:latin typeface="Inter"/>
              </a:rPr>
              <a:t>“High-level modules should not depend on low-level modules. Both should depend on abstractions.”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i="0" b="0">
                <a:solidFill>
                  <a:srgbClr val="434343"/>
                </a:solidFill>
                <a:latin typeface="Inter"/>
              </a:rPr>
              <a:t>— Robert C. Martin</a:t>
            </a:r>
          </a:p>
        </p:txBody>
      </p:sp>
      <p:sp>
        <p:nvSpPr>
          <p:cNvPr id="30" name="Box 13"/>
          <p:cNvSpPr/>
          <p:nvPr/>
        </p:nvSpPr>
        <p:spPr>
          <a:xfrm>
            <a:off x="5897880" y="2880360"/>
            <a:ext cx="2587752" cy="1783080"/>
          </a:xfrm>
          <a:prstGeom prst="roundRect">
            <a:avLst>
              <a:gd name="adj" fmla="val 6153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1" name="Text 14"/>
          <p:cNvSpPr txBox="1"/>
          <p:nvPr/>
        </p:nvSpPr>
        <p:spPr>
          <a:xfrm>
            <a:off x="6035040" y="2971800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2" name="Text 15"/>
          <p:cNvSpPr txBox="1"/>
          <p:nvPr/>
        </p:nvSpPr>
        <p:spPr>
          <a:xfrm>
            <a:off x="6035040" y="3291840"/>
            <a:ext cx="2313432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Tidak bisa test tanpa database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Ganti ke SMS harus edit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OrderService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D · Dependency Inversion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Dependency Dikirim dari Luar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05-dip/after.py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OrderRepository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Protocol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add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customer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class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OrderService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__init__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repo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OrderRepository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notifier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Notifier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repo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repo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50" i="0">
                <a:solidFill>
                  <a:srgbClr val="C3A6FF"/>
                </a:solidFill>
                <a:latin typeface="Consolas"/>
              </a:rPr>
              <a:t>self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notifier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notifier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aplikasi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7FDBCA"/>
                </a:solidFill>
                <a:latin typeface="Consolas"/>
              </a:rPr>
              <a:t>OrderService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SqliteOrderRepository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EmailNotifier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1">
                <a:solidFill>
                  <a:srgbClr val="8B98A8"/>
                </a:solidFill>
                <a:latin typeface="Consolas"/>
              </a:rPr>
              <a:t># test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7FDBCA"/>
                </a:solidFill>
                <a:latin typeface="Consolas"/>
              </a:rPr>
              <a:t>OrderService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InMemoryOrderRepository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FakeNotifier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B5482A"/>
                </a:solidFill>
                <a:latin typeface="Consolas"/>
              </a:rPr>
              <a:t>OrderService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tidak tahu SQLite atau email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Test cukup kirim versi in-memory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Ini dasar dari </a:t>
            </a:r>
            <a:r>
              <a:rPr sz="1000" i="0" b="1">
                <a:solidFill>
                  <a:srgbClr val="434343"/>
                </a:solidFill>
                <a:latin typeface="Inter"/>
              </a:rPr>
              <a:t>Dependency Injection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" name="Google Shape;3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Text 1"/>
          <p:cNvSpPr txBox="1"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i="0" b="0">
                <a:solidFill>
                  <a:srgbClr val="CFE0FA"/>
                </a:solidFill>
                <a:latin typeface="Inter"/>
              </a:rPr>
              <a:t>Bagian 02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822960" y="192024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i="0" b="0">
                <a:solidFill>
                  <a:srgbClr val="FFFFFF"/>
                </a:solidFill>
                <a:latin typeface="Work Sans ExtraBold"/>
              </a:rPr>
              <a:t>Clean Architecture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822960" y="2743200"/>
            <a:ext cx="6583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0">
                <a:solidFill>
                  <a:srgbClr val="E3ECFA"/>
                </a:solidFill>
                <a:latin typeface="Inter"/>
              </a:rPr>
              <a:t>Membagi aplikasi per layer dan mengatur arah dependency-nya.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Clean Architecture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Apa Itu Clean Architecture?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536192"/>
            <a:ext cx="411480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Apa itu?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Cara membagi aplikasi jadi beberapa </a:t>
            </a:r>
            <a:r>
              <a:rPr sz="1050" i="0" b="1">
                <a:solidFill>
                  <a:srgbClr val="434343"/>
                </a:solidFill>
                <a:latin typeface="Inter"/>
              </a:rPr>
              <a:t>layer</a:t>
            </a:r>
            <a:r>
              <a:rPr sz="1050" i="0" b="0">
                <a:solidFill>
                  <a:srgbClr val="434343"/>
                </a:solidFill>
                <a:latin typeface="Inter"/>
              </a:rPr>
              <a:t>. Inti bisnis ada di tengah, detail teknis (database, framework, email) ada di luar.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Untuk apa?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Business logic tidak ikut berubah saat ganti database atau framework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Business logic bisa dites tanpa FastAPI dan tanpa database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Jelas file mana taruh di mana</a:t>
            </a:r>
          </a:p>
        </p:txBody>
      </p:sp>
      <p:sp>
        <p:nvSpPr>
          <p:cNvPr id="23" name="Box 4"/>
          <p:cNvSpPr/>
          <p:nvPr/>
        </p:nvSpPr>
        <p:spPr>
          <a:xfrm>
            <a:off x="5074920" y="1600200"/>
            <a:ext cx="3291840" cy="548640"/>
          </a:xfrm>
          <a:prstGeom prst="roundRect">
            <a:avLst>
              <a:gd name="adj" fmla="val 2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1C4587"/>
                </a:solidFill>
                <a:latin typeface="Inter"/>
              </a:rPr>
              <a:t>API  ·  FastAPI route</a:t>
            </a:r>
          </a:p>
        </p:txBody>
      </p:sp>
      <p:sp>
        <p:nvSpPr>
          <p:cNvPr id="24" name="Box 5"/>
          <p:cNvSpPr/>
          <p:nvPr/>
        </p:nvSpPr>
        <p:spPr>
          <a:xfrm>
            <a:off x="5074920" y="2331720"/>
            <a:ext cx="3291840" cy="5486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1C4587"/>
                </a:solidFill>
                <a:latin typeface="Inter"/>
              </a:rPr>
              <a:t>Infrastructure  ·  SQLite, email, config</a:t>
            </a:r>
          </a:p>
        </p:txBody>
      </p:sp>
      <p:sp>
        <p:nvSpPr>
          <p:cNvPr id="25" name="Box 6"/>
          <p:cNvSpPr/>
          <p:nvPr/>
        </p:nvSpPr>
        <p:spPr>
          <a:xfrm>
            <a:off x="5074920" y="3063240"/>
            <a:ext cx="3291840" cy="548640"/>
          </a:xfrm>
          <a:prstGeom prst="roundRect">
            <a:avLst>
              <a:gd name="adj" fmla="val 20000"/>
            </a:avLst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FFFFFF"/>
                </a:solidFill>
                <a:latin typeface="Inter"/>
              </a:rPr>
              <a:t>Application  ·  use case</a:t>
            </a:r>
          </a:p>
        </p:txBody>
      </p:sp>
      <p:sp>
        <p:nvSpPr>
          <p:cNvPr id="26" name="Box 7"/>
          <p:cNvSpPr/>
          <p:nvPr/>
        </p:nvSpPr>
        <p:spPr>
          <a:xfrm>
            <a:off x="5074920" y="3794760"/>
            <a:ext cx="3291840" cy="548640"/>
          </a:xfrm>
          <a:prstGeom prst="roundRect">
            <a:avLst>
              <a:gd name="adj" fmla="val 20000"/>
            </a:avLst>
          </a:prstGeom>
          <a:solidFill>
            <a:srgbClr val="1C4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FFFFFF"/>
                </a:solidFill>
                <a:latin typeface="Inter"/>
              </a:rPr>
              <a:t>Domain  ·  Order, aturan diskon</a:t>
            </a:r>
          </a:p>
        </p:txBody>
      </p:sp>
      <p:sp>
        <p:nvSpPr>
          <p:cNvPr id="27" name="Text 8"/>
          <p:cNvSpPr txBox="1"/>
          <p:nvPr/>
        </p:nvSpPr>
        <p:spPr>
          <a:xfrm>
            <a:off x="5074920" y="4526280"/>
            <a:ext cx="32918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i="0" b="0">
                <a:solidFill>
                  <a:srgbClr val="7A7A7A"/>
                </a:solidFill>
                <a:latin typeface="Inter"/>
              </a:rPr>
              <a:t>makin ke bawah = makin inti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Clean Architecture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Aturan Utama: Dependency Mengarah ke Dalam</a:t>
            </a:r>
          </a:p>
        </p:txBody>
      </p:sp>
      <p:graphicFrame>
        <p:nvGraphicFramePr>
          <p:cNvPr id="22" name="Table 3"/>
          <p:cNvGraphicFramePr>
            <a:graphicFrameLocks noGrp="1"/>
          </p:cNvGraphicFramePr>
          <p:nvPr/>
        </p:nvGraphicFramePr>
        <p:xfrm>
          <a:off x="621792" y="1554480"/>
          <a:ext cx="4754880" cy="2286000"/>
        </p:xfrm>
        <a:graphic>
          <a:graphicData uri="http://schemas.openxmlformats.org/drawingml/2006/table">
            <a:tbl>
              <a:tblPr firstRow="1" bandRow="1"/>
              <a:tblGrid>
                <a:gridCol w="1234440"/>
                <a:gridCol w="2011680"/>
                <a:gridCol w="150876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FFFFFF"/>
                          </a:solidFill>
                          <a:latin typeface="Inter"/>
                        </a:rPr>
                        <a:t>Layer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FFFFFF"/>
                          </a:solidFill>
                          <a:latin typeface="Inter"/>
                        </a:rPr>
                        <a:t>Isinya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FFFFFF"/>
                          </a:solidFill>
                          <a:latin typeface="Inter"/>
                        </a:rPr>
                        <a:t>Boleh import</a:t>
                      </a:r>
                    </a:p>
                  </a:txBody>
                  <a:tcPr marL="73152" marR="73152" marT="36576" marB="36576" anchor="ctr">
                    <a:solidFill>
                      <a:srgbClr val="1C458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C4587"/>
                          </a:solidFill>
                          <a:latin typeface="Inter"/>
                        </a:rPr>
                        <a:t>Domain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Order, aturan diskon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tidak ada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C4587"/>
                          </a:solidFill>
                          <a:latin typeface="Inter"/>
                        </a:rPr>
                        <a:t>Application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OrderService, ports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domain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C4587"/>
                          </a:solidFill>
                          <a:latin typeface="Inter"/>
                        </a:rPr>
                        <a:t>Infrastructure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SQLite repo, notifier, config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application, domain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1">
                          <a:solidFill>
                            <a:srgbClr val="1C4587"/>
                          </a:solidFill>
                          <a:latin typeface="Inter"/>
                        </a:rPr>
                        <a:t>API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route, dependencies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950" i="0" b="0">
                          <a:solidFill>
                            <a:srgbClr val="434343"/>
                          </a:solidFill>
                          <a:latin typeface="Inter"/>
                        </a:rPr>
                        <a:t>semua layer</a:t>
                      </a:r>
                    </a:p>
                  </a:txBody>
                  <a:tcPr marL="73152" marR="73152" marT="36576" marB="36576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23" name="Box 4"/>
          <p:cNvSpPr/>
          <p:nvPr/>
        </p:nvSpPr>
        <p:spPr>
          <a:xfrm>
            <a:off x="5760720" y="1554480"/>
            <a:ext cx="2724912" cy="411480"/>
          </a:xfrm>
          <a:prstGeom prst="roundRect">
            <a:avLst>
              <a:gd name="adj" fmla="val 26666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1C4587"/>
                </a:solidFill>
                <a:latin typeface="Inter"/>
              </a:rPr>
              <a:t>API</a:t>
            </a:r>
          </a:p>
        </p:txBody>
      </p:sp>
      <p:sp>
        <p:nvSpPr>
          <p:cNvPr id="24" name="Box 5"/>
          <p:cNvSpPr/>
          <p:nvPr/>
        </p:nvSpPr>
        <p:spPr>
          <a:xfrm>
            <a:off x="5760720" y="2267712"/>
            <a:ext cx="2724912" cy="411480"/>
          </a:xfrm>
          <a:prstGeom prst="roundRect">
            <a:avLst>
              <a:gd name="adj" fmla="val 26666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1C4587"/>
                </a:solidFill>
                <a:latin typeface="Inter"/>
              </a:rPr>
              <a:t>Infrastructure</a:t>
            </a:r>
          </a:p>
        </p:txBody>
      </p:sp>
      <p:cxnSp>
        <p:nvCxnSpPr>
          <p:cNvPr id="25" name="Arrow 6"/>
          <p:cNvCxnSpPr/>
          <p:nvPr/>
        </p:nvCxnSpPr>
        <p:spPr>
          <a:xfrm>
            <a:off x="7123176" y="1965960"/>
            <a:ext cx="0" cy="301752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Box 7"/>
          <p:cNvSpPr/>
          <p:nvPr/>
        </p:nvSpPr>
        <p:spPr>
          <a:xfrm>
            <a:off x="5760720" y="2980944"/>
            <a:ext cx="2724912" cy="411480"/>
          </a:xfrm>
          <a:prstGeom prst="roundRect">
            <a:avLst>
              <a:gd name="adj" fmla="val 26666"/>
            </a:avLst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FFFFFF"/>
                </a:solidFill>
                <a:latin typeface="Inter"/>
              </a:rPr>
              <a:t>Application</a:t>
            </a:r>
          </a:p>
        </p:txBody>
      </p:sp>
      <p:cxnSp>
        <p:nvCxnSpPr>
          <p:cNvPr id="27" name="Arrow 8"/>
          <p:cNvCxnSpPr/>
          <p:nvPr/>
        </p:nvCxnSpPr>
        <p:spPr>
          <a:xfrm>
            <a:off x="7123176" y="2679191"/>
            <a:ext cx="0" cy="301753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Box 9"/>
          <p:cNvSpPr/>
          <p:nvPr/>
        </p:nvSpPr>
        <p:spPr>
          <a:xfrm>
            <a:off x="5760720" y="3694176"/>
            <a:ext cx="2724912" cy="411480"/>
          </a:xfrm>
          <a:prstGeom prst="roundRect">
            <a:avLst>
              <a:gd name="adj" fmla="val 26666"/>
            </a:avLst>
          </a:prstGeom>
          <a:solidFill>
            <a:srgbClr val="1C4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FFFFFF"/>
                </a:solidFill>
                <a:latin typeface="Inter"/>
              </a:rPr>
              <a:t>Domain</a:t>
            </a:r>
          </a:p>
        </p:txBody>
      </p:sp>
      <p:cxnSp>
        <p:nvCxnSpPr>
          <p:cNvPr id="29" name="Arrow 10"/>
          <p:cNvCxnSpPr/>
          <p:nvPr/>
        </p:nvCxnSpPr>
        <p:spPr>
          <a:xfrm>
            <a:off x="7123176" y="3392424"/>
            <a:ext cx="0" cy="301752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 11"/>
          <p:cNvSpPr txBox="1"/>
          <p:nvPr/>
        </p:nvSpPr>
        <p:spPr>
          <a:xfrm>
            <a:off x="621792" y="4023360"/>
            <a:ext cx="47548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Cek cepat: file di </a:t>
            </a:r>
            <a:r>
              <a:rPr sz="1050" i="0" b="0">
                <a:solidFill>
                  <a:srgbClr val="B5482A"/>
                </a:solidFill>
                <a:latin typeface="Consolas"/>
              </a:rPr>
              <a:t>application/</a:t>
            </a:r>
            <a:r>
              <a:rPr sz="1050" i="0" b="0">
                <a:solidFill>
                  <a:srgbClr val="434343"/>
                </a:solidFill>
                <a:latin typeface="Inter"/>
              </a:rPr>
              <a:t> dan </a:t>
            </a:r>
            <a:r>
              <a:rPr sz="1050" i="0" b="0">
                <a:solidFill>
                  <a:srgbClr val="B5482A"/>
                </a:solidFill>
                <a:latin typeface="Consolas"/>
              </a:rPr>
              <a:t>domain/</a:t>
            </a:r>
            <a:r>
              <a:rPr sz="1050" i="0" b="0">
                <a:solidFill>
                  <a:srgbClr val="434343"/>
                </a:solidFill>
                <a:latin typeface="Inter"/>
              </a:rPr>
              <a:t> </a:t>
            </a:r>
            <a:r>
              <a:rPr sz="1050" i="0" b="1">
                <a:solidFill>
                  <a:srgbClr val="434343"/>
                </a:solidFill>
                <a:latin typeface="Inter"/>
              </a:rPr>
              <a:t>tidak boleh</a:t>
            </a:r>
            <a:r>
              <a:rPr sz="1050" i="0" b="0">
                <a:solidFill>
                  <a:srgbClr val="434343"/>
                </a:solidFill>
                <a:latin typeface="Inter"/>
              </a:rPr>
              <a:t> import </a:t>
            </a:r>
            <a:r>
              <a:rPr sz="1050" i="0" b="0">
                <a:solidFill>
                  <a:srgbClr val="B5482A"/>
                </a:solidFill>
                <a:latin typeface="Consolas"/>
              </a:rPr>
              <a:t>fastapi</a:t>
            </a:r>
            <a:r>
              <a:rPr sz="1050" i="0" b="0">
                <a:solidFill>
                  <a:srgbClr val="434343"/>
                </a:solidFill>
                <a:latin typeface="Inter"/>
              </a:rPr>
              <a:t> atau </a:t>
            </a:r>
            <a:r>
              <a:rPr sz="1050" i="0" b="0">
                <a:solidFill>
                  <a:srgbClr val="B5482A"/>
                </a:solidFill>
                <a:latin typeface="Consolas"/>
              </a:rPr>
              <a:t>sqlite3</a:t>
            </a:r>
            <a:r>
              <a:rPr sz="1050" i="0" b="0">
                <a:solidFill>
                  <a:srgbClr val="434343"/>
                </a:solidFill>
                <a:latin typeface="Inter"/>
              </a:rPr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Clean Architecture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Ports &amp; Adapters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536192"/>
            <a:ext cx="41148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1">
                <a:solidFill>
                  <a:srgbClr val="434343"/>
                </a:solidFill>
                <a:latin typeface="Inter"/>
              </a:rPr>
              <a:t>Port</a:t>
            </a:r>
            <a:r>
              <a:rPr sz="1050" i="0" b="0">
                <a:solidFill>
                  <a:srgbClr val="434343"/>
                </a:solidFill>
                <a:latin typeface="Inter"/>
              </a:rPr>
              <a:t> = interface yang dibutuhkan use case, ditulis di layer application.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1">
                <a:solidFill>
                  <a:srgbClr val="434343"/>
                </a:solidFill>
                <a:latin typeface="Inter"/>
              </a:rPr>
              <a:t>Adapter</a:t>
            </a:r>
            <a:r>
              <a:rPr sz="1050" i="0" b="0">
                <a:solidFill>
                  <a:srgbClr val="434343"/>
                </a:solidFill>
                <a:latin typeface="Inter"/>
              </a:rPr>
              <a:t> = implementasi port, ditulis di layer infrastructure (atau di test).</a:t>
            </a:r>
          </a:p>
        </p:txBody>
      </p:sp>
      <p:sp>
        <p:nvSpPr>
          <p:cNvPr id="23" name="CodeTab 5"/>
          <p:cNvSpPr/>
          <p:nvPr/>
        </p:nvSpPr>
        <p:spPr>
          <a:xfrm>
            <a:off x="621792" y="2743200"/>
            <a:ext cx="411480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731520" y="2820924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868680" y="2820924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t 8"/>
          <p:cNvSpPr/>
          <p:nvPr/>
        </p:nvSpPr>
        <p:spPr>
          <a:xfrm>
            <a:off x="1005840" y="2820924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 9"/>
          <p:cNvSpPr txBox="1"/>
          <p:nvPr/>
        </p:nvSpPr>
        <p:spPr>
          <a:xfrm>
            <a:off x="1170432" y="2752344"/>
            <a:ext cx="347472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application/ports.py</a:t>
            </a:r>
          </a:p>
        </p:txBody>
      </p:sp>
      <p:sp>
        <p:nvSpPr>
          <p:cNvPr id="28" name="CodeBg 11"/>
          <p:cNvSpPr/>
          <p:nvPr/>
        </p:nvSpPr>
        <p:spPr>
          <a:xfrm>
            <a:off x="621792" y="2980944"/>
            <a:ext cx="4114800" cy="1682496"/>
          </a:xfrm>
          <a:prstGeom prst="roundRect">
            <a:avLst>
              <a:gd name="adj" fmla="val 1086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9" name="Code 12"/>
          <p:cNvSpPr txBox="1"/>
          <p:nvPr/>
        </p:nvSpPr>
        <p:spPr>
          <a:xfrm>
            <a:off x="621792" y="2980944"/>
            <a:ext cx="4114800" cy="1682496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Consolas"/>
              </a:rPr>
              <a:t>class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OrderRepository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7FDBCA"/>
                </a:solidFill>
                <a:latin typeface="Consolas"/>
              </a:rPr>
              <a:t>Protocol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FF8E6E"/>
                </a:solidFill>
                <a:latin typeface="Consolas"/>
              </a:rPr>
              <a:t>def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82B1FF"/>
                </a:solidFill>
                <a:latin typeface="Consolas"/>
              </a:rPr>
              <a:t>add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C3A6FF"/>
                </a:solidFill>
                <a:latin typeface="Consolas"/>
              </a:rPr>
              <a:t>self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order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Order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-</a:t>
            </a:r>
            <a:r>
              <a:rPr sz="850" i="0">
                <a:solidFill>
                  <a:srgbClr val="E6EDF3"/>
                </a:solidFill>
                <a:latin typeface="Consolas"/>
              </a:rPr>
              <a:t>&gt;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Order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FF8E6E"/>
                </a:solidFill>
                <a:latin typeface="Consolas"/>
              </a:rPr>
              <a:t>def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82B1FF"/>
                </a:solidFill>
                <a:latin typeface="Consolas"/>
              </a:rPr>
              <a:t>get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C3A6FF"/>
                </a:solidFill>
                <a:latin typeface="Consolas"/>
              </a:rPr>
              <a:t>self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order_id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int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-</a:t>
            </a:r>
            <a:r>
              <a:rPr sz="850" i="0">
                <a:solidFill>
                  <a:srgbClr val="E6EDF3"/>
                </a:solidFill>
                <a:latin typeface="Consolas"/>
              </a:rPr>
              <a:t>&gt;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Order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|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F8E6E"/>
                </a:solidFill>
                <a:latin typeface="Consolas"/>
              </a:rPr>
              <a:t>None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Consolas"/>
              </a:rPr>
              <a:t>class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Notifier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7FDBCA"/>
                </a:solidFill>
                <a:latin typeface="Consolas"/>
              </a:rPr>
              <a:t>Protocol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FF8E6E"/>
                </a:solidFill>
                <a:latin typeface="Consolas"/>
              </a:rPr>
              <a:t>def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82B1FF"/>
                </a:solidFill>
                <a:latin typeface="Consolas"/>
              </a:rPr>
              <a:t>send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C3A6FF"/>
                </a:solidFill>
                <a:latin typeface="Consolas"/>
              </a:rPr>
              <a:t>self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to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str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message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C3A6FF"/>
                </a:solidFill>
                <a:latin typeface="Consolas"/>
              </a:rPr>
              <a:t>str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-</a:t>
            </a:r>
            <a:r>
              <a:rPr sz="850" i="0">
                <a:solidFill>
                  <a:srgbClr val="E6EDF3"/>
                </a:solidFill>
                <a:latin typeface="Consolas"/>
              </a:rPr>
              <a:t>&gt;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FF8E6E"/>
                </a:solidFill>
                <a:latin typeface="Consolas"/>
              </a:rPr>
              <a:t>None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</a:p>
        </p:txBody>
      </p:sp>
      <p:sp>
        <p:nvSpPr>
          <p:cNvPr id="30" name="Box 13"/>
          <p:cNvSpPr/>
          <p:nvPr/>
        </p:nvSpPr>
        <p:spPr>
          <a:xfrm>
            <a:off x="5760720" y="1600200"/>
            <a:ext cx="1828800" cy="502920"/>
          </a:xfrm>
          <a:prstGeom prst="roundRect">
            <a:avLst>
              <a:gd name="adj" fmla="val 21818"/>
            </a:avLst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i="0" b="1">
                <a:solidFill>
                  <a:srgbClr val="FFFFFF"/>
                </a:solidFill>
                <a:latin typeface="Inter"/>
              </a:rPr>
              <a:t>OrderService</a:t>
            </a:r>
          </a:p>
        </p:txBody>
      </p:sp>
      <p:cxnSp>
        <p:nvCxnSpPr>
          <p:cNvPr id="31" name="Arrow 14"/>
          <p:cNvCxnSpPr/>
          <p:nvPr/>
        </p:nvCxnSpPr>
        <p:spPr>
          <a:xfrm>
            <a:off x="6675120" y="2103120"/>
            <a:ext cx="0" cy="36576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Box 15"/>
          <p:cNvSpPr/>
          <p:nvPr/>
        </p:nvSpPr>
        <p:spPr>
          <a:xfrm>
            <a:off x="5577840" y="2468880"/>
            <a:ext cx="2194560" cy="502920"/>
          </a:xfrm>
          <a:prstGeom prst="roundRect">
            <a:avLst>
              <a:gd name="adj" fmla="val 21818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i="0" b="1">
                <a:solidFill>
                  <a:srgbClr val="1C4587"/>
                </a:solidFill>
                <a:latin typeface="Inter"/>
              </a:rPr>
              <a:t>Port: OrderRepository</a:t>
            </a:r>
          </a:p>
        </p:txBody>
      </p:sp>
      <p:sp>
        <p:nvSpPr>
          <p:cNvPr id="33" name="Box 16"/>
          <p:cNvSpPr/>
          <p:nvPr/>
        </p:nvSpPr>
        <p:spPr>
          <a:xfrm>
            <a:off x="4892040" y="3474720"/>
            <a:ext cx="1755648" cy="457200"/>
          </a:xfrm>
          <a:prstGeom prst="roundRect">
            <a:avLst>
              <a:gd name="adj" fmla="val 24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i="0" b="1">
                <a:solidFill>
                  <a:srgbClr val="1C4587"/>
                </a:solidFill>
                <a:latin typeface="Inter"/>
              </a:rPr>
              <a:t>SqliteOrderRepository</a:t>
            </a:r>
          </a:p>
        </p:txBody>
      </p:sp>
      <p:cxnSp>
        <p:nvCxnSpPr>
          <p:cNvPr id="34" name="Arrow 17"/>
          <p:cNvCxnSpPr/>
          <p:nvPr/>
        </p:nvCxnSpPr>
        <p:spPr>
          <a:xfrm flipV="1">
            <a:off x="5769864" y="2971800"/>
            <a:ext cx="905256" cy="502920"/>
          </a:xfrm>
          <a:prstGeom prst="line">
            <a:avLst/>
          </a:prstGeom>
          <a:ln w="19050">
            <a:solidFill>
              <a:srgbClr val="7A7A7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 18"/>
          <p:cNvSpPr txBox="1"/>
          <p:nvPr/>
        </p:nvSpPr>
        <p:spPr>
          <a:xfrm>
            <a:off x="4892040" y="3977639"/>
            <a:ext cx="1755648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i="0" b="0">
                <a:solidFill>
                  <a:srgbClr val="7A7A7A"/>
                </a:solidFill>
                <a:latin typeface="Inter"/>
              </a:rPr>
              <a:t>infrastructure</a:t>
            </a:r>
          </a:p>
        </p:txBody>
      </p:sp>
      <p:sp>
        <p:nvSpPr>
          <p:cNvPr id="36" name="Box 19"/>
          <p:cNvSpPr/>
          <p:nvPr/>
        </p:nvSpPr>
        <p:spPr>
          <a:xfrm>
            <a:off x="6720840" y="3474720"/>
            <a:ext cx="1755648" cy="457200"/>
          </a:xfrm>
          <a:prstGeom prst="roundRect">
            <a:avLst>
              <a:gd name="adj" fmla="val 24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i="0" b="1">
                <a:solidFill>
                  <a:srgbClr val="1C4587"/>
                </a:solidFill>
                <a:latin typeface="Inter"/>
              </a:rPr>
              <a:t>FakeOrderRepository</a:t>
            </a:r>
          </a:p>
        </p:txBody>
      </p:sp>
      <p:cxnSp>
        <p:nvCxnSpPr>
          <p:cNvPr id="37" name="Arrow 20"/>
          <p:cNvCxnSpPr/>
          <p:nvPr/>
        </p:nvCxnSpPr>
        <p:spPr>
          <a:xfrm flipH="1" flipV="1">
            <a:off x="6675120" y="2971800"/>
            <a:ext cx="923543" cy="502920"/>
          </a:xfrm>
          <a:prstGeom prst="line">
            <a:avLst/>
          </a:prstGeom>
          <a:ln w="19050">
            <a:solidFill>
              <a:srgbClr val="7A7A7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 21"/>
          <p:cNvSpPr txBox="1"/>
          <p:nvPr/>
        </p:nvSpPr>
        <p:spPr>
          <a:xfrm>
            <a:off x="6720840" y="3977639"/>
            <a:ext cx="1755648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i="0" b="0">
                <a:solidFill>
                  <a:srgbClr val="7A7A7A"/>
                </a:solidFill>
                <a:latin typeface="Inter"/>
              </a:rPr>
              <a:t>tests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Clean Architecture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Struktur Sebelum vs Sesudah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265176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201168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07-clean-architecture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2651760" cy="2889504"/>
          </a:xfrm>
          <a:prstGeom prst="roundRect">
            <a:avLst>
              <a:gd name="adj" fmla="val 689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265176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before/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main.py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config.py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notifiers.py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discounts.py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repository.py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service.py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000" i="0">
                <a:solidFill>
                  <a:srgbClr val="E6EDF3"/>
                </a:solidFill>
                <a:latin typeface="Consolas"/>
              </a:rPr>
              <a:t>  test_service.py</a:t>
            </a:r>
          </a:p>
        </p:txBody>
      </p:sp>
      <p:cxnSp>
        <p:nvCxnSpPr>
          <p:cNvPr id="29" name="Arrow 12"/>
          <p:cNvCxnSpPr/>
          <p:nvPr/>
        </p:nvCxnSpPr>
        <p:spPr>
          <a:xfrm>
            <a:off x="3383280" y="3108960"/>
            <a:ext cx="457200" cy="0"/>
          </a:xfrm>
          <a:prstGeom prst="line">
            <a:avLst/>
          </a:prstGeom>
          <a:ln w="25400">
            <a:solidFill>
              <a:srgbClr val="E076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odeTab 14"/>
          <p:cNvSpPr/>
          <p:nvPr/>
        </p:nvSpPr>
        <p:spPr>
          <a:xfrm>
            <a:off x="3931920" y="1536192"/>
            <a:ext cx="455371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1" name="Dot 15"/>
          <p:cNvSpPr/>
          <p:nvPr/>
        </p:nvSpPr>
        <p:spPr>
          <a:xfrm>
            <a:off x="4041648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t 16"/>
          <p:cNvSpPr/>
          <p:nvPr/>
        </p:nvSpPr>
        <p:spPr>
          <a:xfrm>
            <a:off x="4178808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t 17"/>
          <p:cNvSpPr/>
          <p:nvPr/>
        </p:nvSpPr>
        <p:spPr>
          <a:xfrm>
            <a:off x="4315968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 18"/>
          <p:cNvSpPr txBox="1"/>
          <p:nvPr/>
        </p:nvSpPr>
        <p:spPr>
          <a:xfrm>
            <a:off x="4480559" y="1545336"/>
            <a:ext cx="3913632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07-clean-architecture</a:t>
            </a:r>
          </a:p>
        </p:txBody>
      </p:sp>
      <p:sp>
        <p:nvSpPr>
          <p:cNvPr id="35" name="CodeBg 20"/>
          <p:cNvSpPr/>
          <p:nvPr/>
        </p:nvSpPr>
        <p:spPr>
          <a:xfrm>
            <a:off x="3931920" y="1773936"/>
            <a:ext cx="4553712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6" name="Code 21"/>
          <p:cNvSpPr txBox="1"/>
          <p:nvPr/>
        </p:nvSpPr>
        <p:spPr>
          <a:xfrm>
            <a:off x="3931920" y="1773936"/>
            <a:ext cx="4553712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after/app/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domain/          order.py, discounts.py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application/     ports.py, order_service.py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infrastructure/  sqlite_repository.py,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               notifiers.py, config.py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api/             routes.py, dependencies.py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main.py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after/tests/       fakes.py, test_order_service.py,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               test_api.py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" name="Google Shape;3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Text 1"/>
          <p:cNvSpPr txBox="1"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i="0" b="0">
                <a:solidFill>
                  <a:srgbClr val="CFE0FA"/>
                </a:solidFill>
                <a:latin typeface="Inter"/>
              </a:rPr>
              <a:t>Bagian 03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822960" y="1920240"/>
            <a:ext cx="73152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i="0" b="0">
                <a:solidFill>
                  <a:srgbClr val="FFFFFF"/>
                </a:solidFill>
                <a:latin typeface="Work Sans ExtraBold"/>
              </a:rPr>
              <a:t>Dependency Injection di FastAPI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822960" y="2743200"/>
            <a:ext cx="6583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i="0" b="0">
                <a:solidFill>
                  <a:srgbClr val="E3ECFA"/>
                </a:solidFill>
                <a:latin typeface="Inter"/>
              </a:rPr>
              <a:t>Merakit dependency dengan Depends dan menggantinya saat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Dependency Injection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Apa Itu Dependency Injection?</a:t>
            </a:r>
          </a:p>
        </p:txBody>
      </p:sp>
      <p:sp>
        <p:nvSpPr>
          <p:cNvPr id="22" name="Text 3"/>
          <p:cNvSpPr txBox="1"/>
          <p:nvPr/>
        </p:nvSpPr>
        <p:spPr>
          <a:xfrm>
            <a:off x="621792" y="1536192"/>
            <a:ext cx="411480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Apa itu?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i="0" b="0">
                <a:solidFill>
                  <a:srgbClr val="434343"/>
                </a:solidFill>
                <a:latin typeface="Inter"/>
              </a:rPr>
              <a:t>Object </a:t>
            </a:r>
            <a:r>
              <a:rPr sz="1050" i="0" b="1">
                <a:solidFill>
                  <a:srgbClr val="434343"/>
                </a:solidFill>
                <a:latin typeface="Inter"/>
              </a:rPr>
              <a:t>tidak membuat</a:t>
            </a:r>
            <a:r>
              <a:rPr sz="1050" i="0" b="0">
                <a:solidFill>
                  <a:srgbClr val="434343"/>
                </a:solidFill>
                <a:latin typeface="Inter"/>
              </a:rPr>
              <a:t> dependency-nya sendiri, tapi </a:t>
            </a:r>
            <a:r>
              <a:rPr sz="1050" i="0" b="1">
                <a:solidFill>
                  <a:srgbClr val="434343"/>
                </a:solidFill>
                <a:latin typeface="Inter"/>
              </a:rPr>
              <a:t>menerima</a:t>
            </a:r>
            <a:r>
              <a:rPr sz="1050" i="0" b="0">
                <a:solidFill>
                  <a:srgbClr val="434343"/>
                </a:solidFill>
                <a:latin typeface="Inter"/>
              </a:rPr>
              <a:t> dari luar. Di FastAPI, yang merakit adalah </a:t>
            </a:r>
            <a:r>
              <a:rPr sz="1050" i="0" b="0">
                <a:solidFill>
                  <a:srgbClr val="B5482A"/>
                </a:solidFill>
                <a:latin typeface="Consolas"/>
              </a:rPr>
              <a:t>Depends()</a:t>
            </a:r>
            <a:r>
              <a:rPr sz="1050" i="0" b="0">
                <a:solidFill>
                  <a:srgbClr val="434343"/>
                </a:solidFill>
                <a:latin typeface="Inter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Untuk apa?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Route tidak perlu tahu cara membuat service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50" i="0" b="0">
                <a:solidFill>
                  <a:srgbClr val="434343"/>
                </a:solidFill>
                <a:latin typeface="Inter"/>
              </a:rPr>
              <a:t>Dependency bisa diganti saat test dengan </a:t>
            </a:r>
            <a:r>
              <a:rPr sz="1050" i="0" b="0">
                <a:solidFill>
                  <a:srgbClr val="B5482A"/>
                </a:solidFill>
                <a:latin typeface="Consolas"/>
              </a:rPr>
              <a:t>dependency_overrides</a:t>
            </a:r>
          </a:p>
        </p:txBody>
      </p:sp>
      <p:sp>
        <p:nvSpPr>
          <p:cNvPr id="23" name="Box 4"/>
          <p:cNvSpPr/>
          <p:nvPr/>
        </p:nvSpPr>
        <p:spPr>
          <a:xfrm>
            <a:off x="5120640" y="1554480"/>
            <a:ext cx="3200400" cy="457200"/>
          </a:xfrm>
          <a:prstGeom prst="roundRect">
            <a:avLst>
              <a:gd name="adj" fmla="val 2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1C4587"/>
                </a:solidFill>
                <a:latin typeface="Inter"/>
              </a:rPr>
              <a:t>create_order(service = Depends(...))</a:t>
            </a:r>
          </a:p>
        </p:txBody>
      </p:sp>
      <p:sp>
        <p:nvSpPr>
          <p:cNvPr id="24" name="Box 5"/>
          <p:cNvSpPr/>
          <p:nvPr/>
        </p:nvSpPr>
        <p:spPr>
          <a:xfrm>
            <a:off x="5120640" y="2377440"/>
            <a:ext cx="3200400" cy="457200"/>
          </a:xfrm>
          <a:prstGeom prst="roundRect">
            <a:avLst>
              <a:gd name="adj" fmla="val 24000"/>
            </a:avLst>
          </a:prstGeom>
          <a:solidFill>
            <a:srgbClr val="E07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FFFFFF"/>
                </a:solidFill>
                <a:latin typeface="Inter"/>
              </a:rPr>
              <a:t>get_order_service(repo, notifier)</a:t>
            </a:r>
          </a:p>
        </p:txBody>
      </p:sp>
      <p:cxnSp>
        <p:nvCxnSpPr>
          <p:cNvPr id="25" name="Arrow 6"/>
          <p:cNvCxnSpPr/>
          <p:nvPr/>
        </p:nvCxnSpPr>
        <p:spPr>
          <a:xfrm>
            <a:off x="6720840" y="2011680"/>
            <a:ext cx="0" cy="36576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Box 7"/>
          <p:cNvSpPr/>
          <p:nvPr/>
        </p:nvSpPr>
        <p:spPr>
          <a:xfrm>
            <a:off x="5120640" y="3200400"/>
            <a:ext cx="3200400" cy="457200"/>
          </a:xfrm>
          <a:prstGeom prst="roundRect">
            <a:avLst>
              <a:gd name="adj" fmla="val 24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00" i="0" b="1">
                <a:solidFill>
                  <a:srgbClr val="1C4587"/>
                </a:solidFill>
                <a:latin typeface="Inter"/>
              </a:rPr>
              <a:t>get_repository()  ·  get_notifier()</a:t>
            </a:r>
          </a:p>
        </p:txBody>
      </p:sp>
      <p:cxnSp>
        <p:nvCxnSpPr>
          <p:cNvPr id="27" name="Arrow 8"/>
          <p:cNvCxnSpPr/>
          <p:nvPr/>
        </p:nvCxnSpPr>
        <p:spPr>
          <a:xfrm>
            <a:off x="6720840" y="2834640"/>
            <a:ext cx="0" cy="365760"/>
          </a:xfrm>
          <a:prstGeom prst="line">
            <a:avLst/>
          </a:prstGeom>
          <a:ln w="19050">
            <a:solidFill>
              <a:srgbClr val="7A7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 9"/>
          <p:cNvSpPr txBox="1"/>
          <p:nvPr/>
        </p:nvSpPr>
        <p:spPr>
          <a:xfrm>
            <a:off x="5120640" y="397763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i="0" b="0">
                <a:solidFill>
                  <a:srgbClr val="7A7A7A"/>
                </a:solidFill>
                <a:latin typeface="Inter"/>
              </a:rPr>
              <a:t>FastAPI memanggil dari bawah ke atas, lalu hasilnya dikirim ke route.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Dependency Injection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Before: Service Dibuat Global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06-dependency-injection/before.py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app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FastAPI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service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OrderService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7FDBCA"/>
                </a:solidFill>
                <a:latin typeface="Consolas"/>
              </a:rPr>
              <a:t>SqliteOrderRepository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A5D6A7"/>
                </a:solidFill>
                <a:latin typeface="Consolas"/>
              </a:rPr>
              <a:t>"orders.db"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9C97A"/>
                </a:solidFill>
                <a:latin typeface="Consolas"/>
              </a:rPr>
              <a:t>@app.post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A5D6A7"/>
                </a:solidFill>
                <a:latin typeface="Consolas"/>
              </a:rPr>
              <a:t>"/orders"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status_code</a:t>
            </a:r>
            <a:r>
              <a:rPr sz="950" i="0">
                <a:solidFill>
                  <a:srgbClr val="E6EDF3"/>
                </a:solidFill>
                <a:latin typeface="Consolas"/>
              </a:rPr>
              <a:t>=</a:t>
            </a:r>
            <a:r>
              <a:rPr sz="950" i="0">
                <a:solidFill>
                  <a:srgbClr val="F9C97A"/>
                </a:solidFill>
                <a:latin typeface="Consolas"/>
              </a:rPr>
              <a:t>201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FF8E6E"/>
                </a:solidFill>
                <a:latin typeface="Consolas"/>
              </a:rPr>
              <a:t>def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82B1FF"/>
                </a:solidFill>
                <a:latin typeface="Consolas"/>
              </a:rPr>
              <a:t>create_order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payload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7FDBCA"/>
                </a:solidFill>
                <a:latin typeface="Consolas"/>
              </a:rPr>
              <a:t>OrderIn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  <a:r>
              <a:rPr sz="9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</a:t>
            </a:r>
            <a:r>
              <a:rPr sz="9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service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place_order</a:t>
            </a:r>
            <a:r>
              <a:rPr sz="950" i="0">
                <a:solidFill>
                  <a:srgbClr val="E6EDF3"/>
                </a:solidFill>
                <a:latin typeface="Consolas"/>
              </a:rPr>
              <a:t>(</a:t>
            </a:r>
            <a:r>
              <a:rPr sz="950" i="0">
                <a:solidFill>
                  <a:srgbClr val="E6EDF3"/>
                </a:solidFill>
                <a:latin typeface="Consolas"/>
              </a:rPr>
              <a:t>payload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customer</a:t>
            </a:r>
            <a:r>
              <a:rPr sz="950" i="0">
                <a:solidFill>
                  <a:srgbClr val="E6EDF3"/>
                </a:solidFill>
                <a:latin typeface="Consolas"/>
              </a:rPr>
              <a:t>,</a:t>
            </a:r>
            <a:r>
              <a:rPr sz="950" i="0">
                <a:solidFill>
                  <a:srgbClr val="E6EDF3"/>
                </a:solidFill>
                <a:latin typeface="Consolas"/>
              </a:rPr>
              <a:t> </a:t>
            </a:r>
            <a:r>
              <a:rPr sz="950" i="0">
                <a:solidFill>
                  <a:srgbClr val="E6EDF3"/>
                </a:solidFill>
                <a:latin typeface="Consolas"/>
              </a:rPr>
              <a:t>payload</a:t>
            </a:r>
            <a:r>
              <a:rPr sz="950" i="0">
                <a:solidFill>
                  <a:srgbClr val="E6EDF3"/>
                </a:solidFill>
                <a:latin typeface="Consolas"/>
              </a:rPr>
              <a:t>.</a:t>
            </a:r>
            <a:r>
              <a:rPr sz="950" i="0">
                <a:solidFill>
                  <a:srgbClr val="E6EDF3"/>
                </a:solidFill>
                <a:latin typeface="Consolas"/>
              </a:rPr>
              <a:t>subtotal</a:t>
            </a:r>
            <a:r>
              <a:rPr sz="950" i="0">
                <a:solidFill>
                  <a:srgbClr val="E6EDF3"/>
                </a:solidFill>
                <a:latin typeface="Consolas"/>
              </a:rPr>
              <a:t>)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C0392B"/>
                </a:solidFill>
                <a:latin typeface="Inter"/>
              </a:rPr>
              <a:t>Masalahnya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Service sudah dibuat saat file di-import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Test API ikut menulis ke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orders.db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Tidak ada cara rapi untuk mengganti repository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Dependency Injection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After: Dirakit dengan Depends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512064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448055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06-dependency-injection/after.py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512064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512064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9C97A"/>
                </a:solidFill>
                <a:latin typeface="Consolas"/>
              </a:rPr>
              <a:t>@lru_cache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Consolas"/>
              </a:rPr>
              <a:t>def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82B1FF"/>
                </a:solidFill>
                <a:latin typeface="Consolas"/>
              </a:rPr>
              <a:t>get_repository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SqliteOrderRepository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A5D6A7"/>
                </a:solidFill>
                <a:latin typeface="Consolas"/>
              </a:rPr>
              <a:t>"orders.db"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Consolas"/>
              </a:rPr>
              <a:t>def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82B1FF"/>
                </a:solidFill>
                <a:latin typeface="Consolas"/>
              </a:rPr>
              <a:t>get_order_service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repo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7FDBCA"/>
                </a:solidFill>
                <a:latin typeface="Consolas"/>
              </a:rPr>
              <a:t>Depends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get_repository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OrderService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repo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9C97A"/>
                </a:solidFill>
                <a:latin typeface="Consolas"/>
              </a:rPr>
              <a:t>@app.post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A5D6A7"/>
                </a:solidFill>
                <a:latin typeface="Consolas"/>
              </a:rPr>
              <a:t>"/orders"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status_code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F9C97A"/>
                </a:solidFill>
                <a:latin typeface="Consolas"/>
              </a:rPr>
              <a:t>201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Consolas"/>
              </a:rPr>
              <a:t>def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82B1FF"/>
                </a:solidFill>
                <a:latin typeface="Consolas"/>
              </a:rPr>
              <a:t>create_order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payload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OrderIn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         </a:t>
            </a:r>
            <a:r>
              <a:rPr sz="850" i="0">
                <a:solidFill>
                  <a:srgbClr val="E6EDF3"/>
                </a:solidFill>
                <a:latin typeface="Consolas"/>
              </a:rPr>
              <a:t>service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OrderService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Depends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get_order_service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FF8E6E"/>
                </a:solidFill>
                <a:latin typeface="Consolas"/>
              </a:rPr>
              <a:t>return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service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place_order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payload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customer</a:t>
            </a:r>
            <a:r>
              <a:rPr sz="850" i="0">
                <a:solidFill>
                  <a:srgbClr val="E6EDF3"/>
                </a:solidFill>
                <a:latin typeface="Consolas"/>
              </a:rPr>
              <a:t>,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payload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subtotal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</p:txBody>
      </p:sp>
      <p:sp>
        <p:nvSpPr>
          <p:cNvPr id="29" name="Box 12"/>
          <p:cNvSpPr/>
          <p:nvPr/>
        </p:nvSpPr>
        <p:spPr>
          <a:xfrm>
            <a:off x="5897880" y="1536192"/>
            <a:ext cx="2587752" cy="3127248"/>
          </a:xfrm>
          <a:prstGeom prst="roundRect">
            <a:avLst>
              <a:gd name="adj" fmla="val 424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Text 13"/>
          <p:cNvSpPr txBox="1"/>
          <p:nvPr/>
        </p:nvSpPr>
        <p:spPr>
          <a:xfrm>
            <a:off x="6035040" y="1627632"/>
            <a:ext cx="2313432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2E7D5B"/>
                </a:solidFill>
                <a:latin typeface="Inter"/>
              </a:rPr>
              <a:t>Yang membaik</a:t>
            </a:r>
          </a:p>
        </p:txBody>
      </p:sp>
      <p:sp>
        <p:nvSpPr>
          <p:cNvPr id="31" name="Text 14"/>
          <p:cNvSpPr txBox="1"/>
          <p:nvPr/>
        </p:nvSpPr>
        <p:spPr>
          <a:xfrm>
            <a:off x="6035040" y="1947672"/>
            <a:ext cx="2313432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Route cukup minta service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Repository dibuat saat dibutuhkan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Setiap dependency bisa di-override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Dependency Injection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Test Tanpa Database</a:t>
            </a:r>
          </a:p>
        </p:txBody>
      </p:sp>
      <p:sp>
        <p:nvSpPr>
          <p:cNvPr id="22" name="CodeTab 4"/>
          <p:cNvSpPr/>
          <p:nvPr/>
        </p:nvSpPr>
        <p:spPr>
          <a:xfrm>
            <a:off x="621792" y="1536192"/>
            <a:ext cx="4114800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Dot 5"/>
          <p:cNvSpPr/>
          <p:nvPr/>
        </p:nvSpPr>
        <p:spPr>
          <a:xfrm>
            <a:off x="731520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t 6"/>
          <p:cNvSpPr/>
          <p:nvPr/>
        </p:nvSpPr>
        <p:spPr>
          <a:xfrm>
            <a:off x="868680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t 7"/>
          <p:cNvSpPr/>
          <p:nvPr/>
        </p:nvSpPr>
        <p:spPr>
          <a:xfrm>
            <a:off x="1005840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 8"/>
          <p:cNvSpPr txBox="1"/>
          <p:nvPr/>
        </p:nvSpPr>
        <p:spPr>
          <a:xfrm>
            <a:off x="1170432" y="1545336"/>
            <a:ext cx="347472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tests/test_order_service.py</a:t>
            </a:r>
          </a:p>
        </p:txBody>
      </p:sp>
      <p:sp>
        <p:nvSpPr>
          <p:cNvPr id="27" name="CodeBg 10"/>
          <p:cNvSpPr/>
          <p:nvPr/>
        </p:nvSpPr>
        <p:spPr>
          <a:xfrm>
            <a:off x="621792" y="1773936"/>
            <a:ext cx="4114800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8" name="Code 11"/>
          <p:cNvSpPr txBox="1"/>
          <p:nvPr/>
        </p:nvSpPr>
        <p:spPr>
          <a:xfrm>
            <a:off x="621792" y="1773936"/>
            <a:ext cx="4114800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FF8E6E"/>
                </a:solidFill>
                <a:latin typeface="Consolas"/>
              </a:rPr>
              <a:t>def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82B1FF"/>
                </a:solidFill>
                <a:latin typeface="Consolas"/>
              </a:rPr>
              <a:t>make_service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return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7FDBCA"/>
                </a:solidFill>
                <a:latin typeface="Consolas"/>
              </a:rPr>
              <a:t>OrderService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7FDBCA"/>
                </a:solidFill>
                <a:latin typeface="Consolas"/>
              </a:rPr>
              <a:t>FakeOrderRepository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                    </a:t>
            </a:r>
            <a:r>
              <a:rPr sz="900" i="0">
                <a:solidFill>
                  <a:srgbClr val="7FDBCA"/>
                </a:solidFill>
                <a:latin typeface="Consolas"/>
              </a:rPr>
              <a:t>FakeNotifier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FF8E6E"/>
                </a:solidFill>
                <a:latin typeface="Consolas"/>
              </a:rPr>
              <a:t>def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82B1FF"/>
                </a:solidFill>
                <a:latin typeface="Consolas"/>
              </a:rPr>
              <a:t>test_vip_dapat_diskon_10_persen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E6EDF3"/>
                </a:solidFill>
                <a:latin typeface="Consolas"/>
              </a:rPr>
              <a:t>order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make_service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place_order</a:t>
            </a:r>
            <a:r>
              <a:rPr sz="900" i="0">
                <a:solidFill>
                  <a:srgbClr val="E6EDF3"/>
                </a:solidFill>
                <a:latin typeface="Consolas"/>
              </a:rPr>
              <a:t>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00" i="0">
                <a:solidFill>
                  <a:srgbClr val="A5D6A7"/>
                </a:solidFill>
                <a:latin typeface="Consolas"/>
              </a:rPr>
              <a:t>"budi@mail.com"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A5D6A7"/>
                </a:solidFill>
                <a:latin typeface="Consolas"/>
              </a:rPr>
              <a:t>"vip"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900" i="0">
                <a:solidFill>
                  <a:srgbClr val="E6EDF3"/>
                </a:solidFill>
                <a:latin typeface="Consolas"/>
              </a:rPr>
              <a:t>[</a:t>
            </a:r>
            <a:r>
              <a:rPr sz="900" i="0">
                <a:solidFill>
                  <a:srgbClr val="E6EDF3"/>
                </a:solidFill>
                <a:latin typeface="Consolas"/>
              </a:rPr>
              <a:t>{</a:t>
            </a:r>
            <a:r>
              <a:rPr sz="900" i="0">
                <a:solidFill>
                  <a:srgbClr val="A5D6A7"/>
                </a:solidFill>
                <a:latin typeface="Consolas"/>
              </a:rPr>
              <a:t>"price"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9C97A"/>
                </a:solidFill>
                <a:latin typeface="Consolas"/>
              </a:rPr>
              <a:t>500_000</a:t>
            </a:r>
            <a:r>
              <a:rPr sz="900" i="0">
                <a:solidFill>
                  <a:srgbClr val="E6EDF3"/>
                </a:solidFill>
                <a:latin typeface="Consolas"/>
              </a:rPr>
              <a:t>,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A5D6A7"/>
                </a:solidFill>
                <a:latin typeface="Consolas"/>
              </a:rPr>
              <a:t>"qty"</a:t>
            </a:r>
            <a:r>
              <a:rPr sz="900" i="0">
                <a:solidFill>
                  <a:srgbClr val="E6EDF3"/>
                </a:solidFill>
                <a:latin typeface="Consolas"/>
              </a:rPr>
              <a:t>: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9C97A"/>
                </a:solidFill>
                <a:latin typeface="Consolas"/>
              </a:rPr>
              <a:t>2</a:t>
            </a:r>
            <a:r>
              <a:rPr sz="900" i="0">
                <a:solidFill>
                  <a:srgbClr val="E6EDF3"/>
                </a:solidFill>
                <a:latin typeface="Consolas"/>
              </a:rPr>
              <a:t>}</a:t>
            </a:r>
            <a:r>
              <a:rPr sz="900" i="0">
                <a:solidFill>
                  <a:srgbClr val="E6EDF3"/>
                </a:solidFill>
                <a:latin typeface="Consolas"/>
              </a:rPr>
              <a:t>]</a:t>
            </a:r>
            <a:r>
              <a:rPr sz="90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00" i="0">
                <a:solidFill>
                  <a:srgbClr val="E6EDF3"/>
                </a:solidFill>
                <a:latin typeface="Consolas"/>
              </a:rPr>
              <a:t>    </a:t>
            </a:r>
            <a:r>
              <a:rPr sz="900" i="0">
                <a:solidFill>
                  <a:srgbClr val="FF8E6E"/>
                </a:solidFill>
                <a:latin typeface="Consolas"/>
              </a:rPr>
              <a:t>assert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order</a:t>
            </a:r>
            <a:r>
              <a:rPr sz="900" i="0">
                <a:solidFill>
                  <a:srgbClr val="E6EDF3"/>
                </a:solidFill>
                <a:latin typeface="Consolas"/>
              </a:rPr>
              <a:t>.</a:t>
            </a:r>
            <a:r>
              <a:rPr sz="900" i="0">
                <a:solidFill>
                  <a:srgbClr val="E6EDF3"/>
                </a:solidFill>
                <a:latin typeface="Consolas"/>
              </a:rPr>
              <a:t>total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=</a:t>
            </a:r>
            <a:r>
              <a:rPr sz="900" i="0">
                <a:solidFill>
                  <a:srgbClr val="E6EDF3"/>
                </a:solidFill>
                <a:latin typeface="Consolas"/>
              </a:rPr>
              <a:t> </a:t>
            </a:r>
            <a:r>
              <a:rPr sz="900" i="0">
                <a:solidFill>
                  <a:srgbClr val="F9C97A"/>
                </a:solidFill>
                <a:latin typeface="Consolas"/>
              </a:rPr>
              <a:t>900_000</a:t>
            </a:r>
          </a:p>
        </p:txBody>
      </p:sp>
      <p:sp>
        <p:nvSpPr>
          <p:cNvPr id="29" name="CodeTab 13"/>
          <p:cNvSpPr/>
          <p:nvPr/>
        </p:nvSpPr>
        <p:spPr>
          <a:xfrm>
            <a:off x="4846320" y="1536192"/>
            <a:ext cx="363931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0" name="Dot 14"/>
          <p:cNvSpPr/>
          <p:nvPr/>
        </p:nvSpPr>
        <p:spPr>
          <a:xfrm>
            <a:off x="4956048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t 15"/>
          <p:cNvSpPr/>
          <p:nvPr/>
        </p:nvSpPr>
        <p:spPr>
          <a:xfrm>
            <a:off x="5093208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t 16"/>
          <p:cNvSpPr/>
          <p:nvPr/>
        </p:nvSpPr>
        <p:spPr>
          <a:xfrm>
            <a:off x="5230368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 17"/>
          <p:cNvSpPr txBox="1"/>
          <p:nvPr/>
        </p:nvSpPr>
        <p:spPr>
          <a:xfrm>
            <a:off x="5394959" y="1545336"/>
            <a:ext cx="2999232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tests/test_api.py</a:t>
            </a:r>
          </a:p>
        </p:txBody>
      </p:sp>
      <p:sp>
        <p:nvSpPr>
          <p:cNvPr id="34" name="CodeBg 19"/>
          <p:cNvSpPr/>
          <p:nvPr/>
        </p:nvSpPr>
        <p:spPr>
          <a:xfrm>
            <a:off x="4846320" y="1773936"/>
            <a:ext cx="3639312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5" name="Code 20"/>
          <p:cNvSpPr txBox="1"/>
          <p:nvPr/>
        </p:nvSpPr>
        <p:spPr>
          <a:xfrm>
            <a:off x="4846320" y="1773936"/>
            <a:ext cx="3639312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9C97A"/>
                </a:solidFill>
                <a:latin typeface="Consolas"/>
              </a:rPr>
              <a:t>@pytest.fixture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FF8E6E"/>
                </a:solidFill>
                <a:latin typeface="Consolas"/>
              </a:rPr>
              <a:t>def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82B1FF"/>
                </a:solidFill>
                <a:latin typeface="Consolas"/>
              </a:rPr>
              <a:t>client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E6EDF3"/>
                </a:solidFill>
                <a:latin typeface="Consolas"/>
              </a:rPr>
              <a:t>repo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FakeOrderRepository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E6EDF3"/>
                </a:solidFill>
                <a:latin typeface="Consolas"/>
              </a:rPr>
              <a:t>app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dependency_overrides</a:t>
            </a:r>
            <a:r>
              <a:rPr sz="850" i="0">
                <a:solidFill>
                  <a:srgbClr val="E6EDF3"/>
                </a:solidFill>
                <a:latin typeface="Consolas"/>
              </a:rPr>
              <a:t>[</a:t>
            </a:r>
            <a:r>
              <a:rPr sz="850" i="0">
                <a:solidFill>
                  <a:srgbClr val="E6EDF3"/>
                </a:solidFill>
                <a:latin typeface="Consolas"/>
              </a:rPr>
              <a:t>get_repository</a:t>
            </a:r>
            <a:r>
              <a:rPr sz="850" i="0">
                <a:solidFill>
                  <a:srgbClr val="E6EDF3"/>
                </a:solidFill>
                <a:latin typeface="Consolas"/>
              </a:rPr>
              <a:t>]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\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850" i="0">
                <a:solidFill>
                  <a:srgbClr val="FF8E6E"/>
                </a:solidFill>
                <a:latin typeface="Consolas"/>
              </a:rPr>
              <a:t>lambda</a:t>
            </a:r>
            <a:r>
              <a:rPr sz="850" i="0">
                <a:solidFill>
                  <a:srgbClr val="E6EDF3"/>
                </a:solidFill>
                <a:latin typeface="Consolas"/>
              </a:rPr>
              <a:t>: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repo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E6EDF3"/>
                </a:solidFill>
                <a:latin typeface="Consolas"/>
              </a:rPr>
              <a:t>app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dependency_overrides</a:t>
            </a:r>
            <a:r>
              <a:rPr sz="850" i="0">
                <a:solidFill>
                  <a:srgbClr val="E6EDF3"/>
                </a:solidFill>
                <a:latin typeface="Consolas"/>
              </a:rPr>
              <a:t>[</a:t>
            </a:r>
            <a:r>
              <a:rPr sz="850" i="0">
                <a:solidFill>
                  <a:srgbClr val="E6EDF3"/>
                </a:solidFill>
                <a:latin typeface="Consolas"/>
              </a:rPr>
              <a:t>get_notifier</a:t>
            </a:r>
            <a:r>
              <a:rPr sz="850" i="0">
                <a:solidFill>
                  <a:srgbClr val="E6EDF3"/>
                </a:solidFill>
                <a:latin typeface="Consolas"/>
              </a:rPr>
              <a:t>]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=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E6EDF3"/>
                </a:solidFill>
                <a:latin typeface="Consolas"/>
              </a:rPr>
              <a:t>\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    </a:t>
            </a:r>
            <a:r>
              <a:rPr sz="850" i="0">
                <a:solidFill>
                  <a:srgbClr val="7FDBCA"/>
                </a:solidFill>
                <a:latin typeface="Consolas"/>
              </a:rPr>
              <a:t>FakeNotifier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FF8E6E"/>
                </a:solidFill>
                <a:latin typeface="Consolas"/>
              </a:rPr>
              <a:t>yield</a:t>
            </a:r>
            <a:r>
              <a:rPr sz="850" i="0">
                <a:solidFill>
                  <a:srgbClr val="E6EDF3"/>
                </a:solidFill>
                <a:latin typeface="Consolas"/>
              </a:rPr>
              <a:t> </a:t>
            </a:r>
            <a:r>
              <a:rPr sz="850" i="0">
                <a:solidFill>
                  <a:srgbClr val="7FDBCA"/>
                </a:solidFill>
                <a:latin typeface="Consolas"/>
              </a:rPr>
              <a:t>TestClient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app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850" i="0">
                <a:solidFill>
                  <a:srgbClr val="E6EDF3"/>
                </a:solidFill>
                <a:latin typeface="Consolas"/>
              </a:rPr>
              <a:t>    </a:t>
            </a:r>
            <a:r>
              <a:rPr sz="850" i="0">
                <a:solidFill>
                  <a:srgbClr val="E6EDF3"/>
                </a:solidFill>
                <a:latin typeface="Consolas"/>
              </a:rPr>
              <a:t>app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dependency_overrides</a:t>
            </a:r>
            <a:r>
              <a:rPr sz="850" i="0">
                <a:solidFill>
                  <a:srgbClr val="E6EDF3"/>
                </a:solidFill>
                <a:latin typeface="Consolas"/>
              </a:rPr>
              <a:t>.</a:t>
            </a:r>
            <a:r>
              <a:rPr sz="850" i="0">
                <a:solidFill>
                  <a:srgbClr val="E6EDF3"/>
                </a:solidFill>
                <a:latin typeface="Consolas"/>
              </a:rPr>
              <a:t>clear</a:t>
            </a:r>
            <a:r>
              <a:rPr sz="850" i="0">
                <a:solidFill>
                  <a:srgbClr val="E6EDF3"/>
                </a:solidFill>
                <a:latin typeface="Consolas"/>
              </a:rPr>
              <a:t>(</a:t>
            </a:r>
            <a:r>
              <a:rPr sz="850" i="0">
                <a:solidFill>
                  <a:srgbClr val="E6EDF3"/>
                </a:solidFill>
                <a:latin typeface="Consolas"/>
              </a:rPr>
              <a:t>)</a:t>
            </a:r>
          </a:p>
        </p:txBody>
      </p:sp>
      <p:sp>
        <p:nvSpPr>
          <p:cNvPr id="36" name="Text 21"/>
          <p:cNvSpPr txBox="1"/>
          <p:nvPr/>
        </p:nvSpPr>
        <p:spPr>
          <a:xfrm>
            <a:off x="621792" y="4681728"/>
            <a:ext cx="78638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i="0" b="0">
                <a:solidFill>
                  <a:srgbClr val="7A7A7A"/>
                </a:solidFill>
                <a:latin typeface="Inter"/>
              </a:rPr>
              <a:t>Kiri: unit test use case, tanpa FastAPI.   Kanan: test API, dependency asli diganti fake.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Hands-on  ·  mulai dari 07-clean-architecture/before/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Redesign Struktur Project</a:t>
            </a:r>
          </a:p>
        </p:txBody>
      </p:sp>
      <p:sp>
        <p:nvSpPr>
          <p:cNvPr id="22" name="Box 3"/>
          <p:cNvSpPr/>
          <p:nvPr/>
        </p:nvSpPr>
        <p:spPr>
          <a:xfrm>
            <a:off x="621792" y="1536192"/>
            <a:ext cx="3840480" cy="3127248"/>
          </a:xfrm>
          <a:prstGeom prst="roundRect">
            <a:avLst>
              <a:gd name="adj" fmla="val 3508"/>
            </a:avLst>
          </a:prstGeom>
          <a:solidFill>
            <a:srgbClr val="FD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Text 4"/>
          <p:cNvSpPr txBox="1"/>
          <p:nvPr/>
        </p:nvSpPr>
        <p:spPr>
          <a:xfrm>
            <a:off x="758952" y="1627632"/>
            <a:ext cx="356616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Kriteria selesai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758952" y="1947672"/>
            <a:ext cx="3566160" cy="262432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B5482A"/>
                </a:solidFill>
                <a:latin typeface="Consolas"/>
              </a:rPr>
              <a:t>POST /orders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dan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GET /orders/{id}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tetap jalan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Kode dipecah ke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domain</a:t>
            </a:r>
            <a:r>
              <a:rPr sz="1000" i="0" b="0">
                <a:solidFill>
                  <a:srgbClr val="434343"/>
                </a:solidFill>
                <a:latin typeface="Inter"/>
              </a:rPr>
              <a:t>,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application</a:t>
            </a:r>
            <a:r>
              <a:rPr sz="1000" i="0" b="0">
                <a:solidFill>
                  <a:srgbClr val="434343"/>
                </a:solidFill>
                <a:latin typeface="Inter"/>
              </a:rPr>
              <a:t>,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infrastructure</a:t>
            </a:r>
            <a:r>
              <a:rPr sz="1000" i="0" b="0">
                <a:solidFill>
                  <a:srgbClr val="434343"/>
                </a:solidFill>
                <a:latin typeface="Inter"/>
              </a:rPr>
              <a:t>,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api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B5482A"/>
                </a:solidFill>
                <a:latin typeface="Consolas"/>
              </a:rPr>
              <a:t>domain/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dan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application/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tidak import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fastapi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maupun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sqlite3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Dependency dirakit lewat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Depends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di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api/dependencies.py</a:t>
            </a:r>
          </a:p>
          <a:p>
            <a:pPr algn="l" marL="182880" indent="-182880">
              <a:lnSpc>
                <a:spcPct val="115000"/>
              </a:lnSpc>
              <a:spcAft>
                <a:spcPts val="400"/>
              </a:spcAft>
              <a:buClr>
                <a:srgbClr val="E0764F"/>
              </a:buClr>
              <a:buSzPct val="100000"/>
              <a:buFont typeface="Arial"/>
              <a:buChar char="•"/>
            </a:pPr>
            <a:r>
              <a:rPr sz="1000" i="0" b="0">
                <a:solidFill>
                  <a:srgbClr val="434343"/>
                </a:solidFill>
                <a:latin typeface="Inter"/>
              </a:rPr>
              <a:t>Unit test dan test API pakai fake repository,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pytest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hijau</a:t>
            </a:r>
          </a:p>
        </p:txBody>
      </p:sp>
      <p:sp>
        <p:nvSpPr>
          <p:cNvPr id="25" name="CodeTab 7"/>
          <p:cNvSpPr/>
          <p:nvPr/>
        </p:nvSpPr>
        <p:spPr>
          <a:xfrm>
            <a:off x="4617720" y="1536192"/>
            <a:ext cx="3867912" cy="237744"/>
          </a:xfrm>
          <a:prstGeom prst="roundRect">
            <a:avLst>
              <a:gd name="adj" fmla="val 30769"/>
            </a:avLst>
          </a:prstGeom>
          <a:solidFill>
            <a:srgbClr val="141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6" name="Dot 8"/>
          <p:cNvSpPr/>
          <p:nvPr/>
        </p:nvSpPr>
        <p:spPr>
          <a:xfrm>
            <a:off x="4727448" y="1613916"/>
            <a:ext cx="82296" cy="8229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ot 9"/>
          <p:cNvSpPr/>
          <p:nvPr/>
        </p:nvSpPr>
        <p:spPr>
          <a:xfrm>
            <a:off x="4864608" y="1613916"/>
            <a:ext cx="82296" cy="8229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t 10"/>
          <p:cNvSpPr/>
          <p:nvPr/>
        </p:nvSpPr>
        <p:spPr>
          <a:xfrm>
            <a:off x="5001768" y="1613916"/>
            <a:ext cx="82296" cy="8229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 11"/>
          <p:cNvSpPr txBox="1"/>
          <p:nvPr/>
        </p:nvSpPr>
        <p:spPr>
          <a:xfrm>
            <a:off x="5166359" y="1545336"/>
            <a:ext cx="3227832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i="0" b="0">
                <a:solidFill>
                  <a:srgbClr val="AEB8C4"/>
                </a:solidFill>
                <a:latin typeface="Consolas"/>
              </a:rPr>
              <a:t>target struktur</a:t>
            </a:r>
          </a:p>
        </p:txBody>
      </p:sp>
      <p:sp>
        <p:nvSpPr>
          <p:cNvPr id="30" name="CodeBg 13"/>
          <p:cNvSpPr/>
          <p:nvPr/>
        </p:nvSpPr>
        <p:spPr>
          <a:xfrm>
            <a:off x="4617720" y="1773936"/>
            <a:ext cx="3867912" cy="2889504"/>
          </a:xfrm>
          <a:prstGeom prst="roundRect">
            <a:avLst>
              <a:gd name="adj" fmla="val 632"/>
            </a:avLst>
          </a:prstGeom>
          <a:solidFill>
            <a:srgbClr val="1E2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1" name="Code 14"/>
          <p:cNvSpPr txBox="1"/>
          <p:nvPr/>
        </p:nvSpPr>
        <p:spPr>
          <a:xfrm>
            <a:off x="4617720" y="1773936"/>
            <a:ext cx="3867912" cy="2889504"/>
          </a:xfrm>
          <a:prstGeom prst="rect">
            <a:avLst/>
          </a:prstGeom>
          <a:noFill/>
        </p:spPr>
        <p:txBody>
          <a:bodyPr wrap="none" lIns="146304" rIns="146304" tIns="91440" bIns="54864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after/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app/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domain/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application/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infrastructure/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api/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main.py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tests/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fakes.py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test_order_service.py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950" i="0">
                <a:solidFill>
                  <a:srgbClr val="E6EDF3"/>
                </a:solidFill>
                <a:latin typeface="Consolas"/>
              </a:rPr>
              <a:t>    test_api.py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Google Shape;19;p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Text 1"/>
          <p:cNvSpPr txBox="1"/>
          <p:nvPr/>
        </p:nvSpPr>
        <p:spPr>
          <a:xfrm>
            <a:off x="621792" y="731520"/>
            <a:ext cx="7863840" cy="292608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i="1" b="0">
                <a:solidFill>
                  <a:srgbClr val="E0764F"/>
                </a:solidFill>
                <a:latin typeface="Inter"/>
              </a:rPr>
              <a:t>Penutup</a:t>
            </a:r>
          </a:p>
        </p:txBody>
      </p:sp>
      <p:sp>
        <p:nvSpPr>
          <p:cNvPr id="21" name="Text 2"/>
          <p:cNvSpPr txBox="1"/>
          <p:nvPr/>
        </p:nvSpPr>
        <p:spPr>
          <a:xfrm>
            <a:off x="621792" y="969264"/>
            <a:ext cx="7863840" cy="457200"/>
          </a:xfrm>
          <a:prstGeom prst="rect">
            <a:avLst/>
          </a:prstGeom>
          <a:noFill/>
        </p:spPr>
        <p:txBody>
          <a:bodyPr wrap="square" anchor="t" tIns="91440" bIns="9144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i="0" b="0">
                <a:solidFill>
                  <a:srgbClr val="1C4587"/>
                </a:solidFill>
                <a:latin typeface="Work Sans ExtraBold"/>
              </a:rPr>
              <a:t>Rangkuman</a:t>
            </a:r>
          </a:p>
        </p:txBody>
      </p:sp>
      <p:sp>
        <p:nvSpPr>
          <p:cNvPr id="22" name="Box 3"/>
          <p:cNvSpPr/>
          <p:nvPr/>
        </p:nvSpPr>
        <p:spPr>
          <a:xfrm>
            <a:off x="621792" y="1554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3" name="Text 4"/>
          <p:cNvSpPr txBox="1"/>
          <p:nvPr/>
        </p:nvSpPr>
        <p:spPr>
          <a:xfrm>
            <a:off x="758952" y="164592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SOLID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758952" y="196596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Lima prinsip supaya class mudah diubah dan dites</a:t>
            </a:r>
          </a:p>
        </p:txBody>
      </p:sp>
      <p:sp>
        <p:nvSpPr>
          <p:cNvPr id="25" name="Box 6"/>
          <p:cNvSpPr/>
          <p:nvPr/>
        </p:nvSpPr>
        <p:spPr>
          <a:xfrm>
            <a:off x="3291840" y="1554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6" name="Text 7"/>
          <p:cNvSpPr txBox="1"/>
          <p:nvPr/>
        </p:nvSpPr>
        <p:spPr>
          <a:xfrm>
            <a:off x="3429000" y="164592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Code smell</a:t>
            </a:r>
          </a:p>
        </p:txBody>
      </p:sp>
      <p:sp>
        <p:nvSpPr>
          <p:cNvPr id="27" name="Text 8"/>
          <p:cNvSpPr txBox="1"/>
          <p:nvPr/>
        </p:nvSpPr>
        <p:spPr>
          <a:xfrm>
            <a:off x="3429000" y="196596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Class serba bisa, if/elif panjang, interface gemuk,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new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di dalam class</a:t>
            </a:r>
          </a:p>
        </p:txBody>
      </p:sp>
      <p:sp>
        <p:nvSpPr>
          <p:cNvPr id="28" name="Box 9"/>
          <p:cNvSpPr/>
          <p:nvPr/>
        </p:nvSpPr>
        <p:spPr>
          <a:xfrm>
            <a:off x="5961888" y="155448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29" name="Text 10"/>
          <p:cNvSpPr txBox="1"/>
          <p:nvPr/>
        </p:nvSpPr>
        <p:spPr>
          <a:xfrm>
            <a:off x="6099048" y="164592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Clean Architecture</a:t>
            </a:r>
          </a:p>
        </p:txBody>
      </p:sp>
      <p:sp>
        <p:nvSpPr>
          <p:cNvPr id="30" name="Text 11"/>
          <p:cNvSpPr txBox="1"/>
          <p:nvPr/>
        </p:nvSpPr>
        <p:spPr>
          <a:xfrm>
            <a:off x="6099048" y="196596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Domain, application, infrastructure, API</a:t>
            </a:r>
          </a:p>
        </p:txBody>
      </p:sp>
      <p:sp>
        <p:nvSpPr>
          <p:cNvPr id="31" name="Box 12"/>
          <p:cNvSpPr/>
          <p:nvPr/>
        </p:nvSpPr>
        <p:spPr>
          <a:xfrm>
            <a:off x="621792" y="310896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2" name="Text 13"/>
          <p:cNvSpPr txBox="1"/>
          <p:nvPr/>
        </p:nvSpPr>
        <p:spPr>
          <a:xfrm>
            <a:off x="758952" y="320040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Dependency rule</a:t>
            </a:r>
          </a:p>
        </p:txBody>
      </p:sp>
      <p:sp>
        <p:nvSpPr>
          <p:cNvPr id="33" name="Text 14"/>
          <p:cNvSpPr txBox="1"/>
          <p:nvPr/>
        </p:nvSpPr>
        <p:spPr>
          <a:xfrm>
            <a:off x="758952" y="352044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Import hanya boleh mengarah ke layer yang lebih dalam</a:t>
            </a:r>
          </a:p>
        </p:txBody>
      </p:sp>
      <p:sp>
        <p:nvSpPr>
          <p:cNvPr id="34" name="Box 15"/>
          <p:cNvSpPr/>
          <p:nvPr/>
        </p:nvSpPr>
        <p:spPr>
          <a:xfrm>
            <a:off x="3291840" y="310896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5" name="Text 16"/>
          <p:cNvSpPr txBox="1"/>
          <p:nvPr/>
        </p:nvSpPr>
        <p:spPr>
          <a:xfrm>
            <a:off x="3429000" y="320040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Ports &amp; Adapters</a:t>
            </a:r>
          </a:p>
        </p:txBody>
      </p:sp>
      <p:sp>
        <p:nvSpPr>
          <p:cNvPr id="36" name="Text 17"/>
          <p:cNvSpPr txBox="1"/>
          <p:nvPr/>
        </p:nvSpPr>
        <p:spPr>
          <a:xfrm>
            <a:off x="3429000" y="352044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434343"/>
                </a:solidFill>
                <a:latin typeface="Inter"/>
              </a:rPr>
              <a:t>Interface di application, implementasi di infrastructure</a:t>
            </a:r>
          </a:p>
        </p:txBody>
      </p:sp>
      <p:sp>
        <p:nvSpPr>
          <p:cNvPr id="37" name="Box 18"/>
          <p:cNvSpPr/>
          <p:nvPr/>
        </p:nvSpPr>
        <p:spPr>
          <a:xfrm>
            <a:off x="5961888" y="3108960"/>
            <a:ext cx="2523744" cy="1371600"/>
          </a:xfrm>
          <a:prstGeom prst="roundRect">
            <a:avLst>
              <a:gd name="adj" fmla="val 8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</a:p>
        </p:txBody>
      </p:sp>
      <p:sp>
        <p:nvSpPr>
          <p:cNvPr id="38" name="Text 19"/>
          <p:cNvSpPr txBox="1"/>
          <p:nvPr/>
        </p:nvSpPr>
        <p:spPr>
          <a:xfrm>
            <a:off x="6099048" y="3200400"/>
            <a:ext cx="2249424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i="0" b="1">
                <a:solidFill>
                  <a:srgbClr val="1C4587"/>
                </a:solidFill>
                <a:latin typeface="Inter"/>
              </a:rPr>
              <a:t>Dependency Injection</a:t>
            </a:r>
          </a:p>
        </p:txBody>
      </p:sp>
      <p:sp>
        <p:nvSpPr>
          <p:cNvPr id="39" name="Text 20"/>
          <p:cNvSpPr txBox="1"/>
          <p:nvPr/>
        </p:nvSpPr>
        <p:spPr>
          <a:xfrm>
            <a:off x="6099048" y="3520440"/>
            <a:ext cx="2249424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i="0" b="0">
                <a:solidFill>
                  <a:srgbClr val="B5482A"/>
                </a:solidFill>
                <a:latin typeface="Consolas"/>
              </a:rPr>
              <a:t>Depends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merakit, </a:t>
            </a:r>
            <a:r>
              <a:rPr sz="1000" i="0" b="0">
                <a:solidFill>
                  <a:srgbClr val="B5482A"/>
                </a:solidFill>
                <a:latin typeface="Consolas"/>
              </a:rPr>
              <a:t>dependency_overrides</a:t>
            </a:r>
            <a:r>
              <a:rPr sz="1000" i="0" b="0">
                <a:solidFill>
                  <a:srgbClr val="434343"/>
                </a:solidFill>
                <a:latin typeface="Inter"/>
              </a:rPr>
              <a:t> mengganti saat test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g2907dbd8723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43401" y="4399825"/>
            <a:ext cx="244986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2907dbd8723_0_0"/>
          <p:cNvSpPr txBox="1"/>
          <p:nvPr/>
        </p:nvSpPr>
        <p:spPr>
          <a:xfrm>
            <a:off x="843350" y="1097280"/>
            <a:ext cx="49770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0" i="0" lang="en" sz="3000" u="none" cap="none" strike="noStrike">
                <a:solidFill>
                  <a:srgbClr val="FFFFFF"/>
                </a:solidFill>
                <a:latin typeface="Work Sans ExtraBold"/>
                <a:ea typeface="Work Sans ExtraBold"/>
                <a:cs typeface="Work Sans ExtraBold"/>
                <a:sym typeface="Work Sans ExtraBold"/>
              </a:rPr>
              <a:t>Source Code</a:t>
            </a:r>
            <a:endParaRPr b="0" i="0" sz="3000" u="none" cap="none" strike="noStrike">
              <a:solidFill>
                <a:srgbClr val="FFFFFF"/>
              </a:solidFill>
              <a:latin typeface="Work Sans ExtraBold"/>
              <a:ea typeface="Work Sans ExtraBold"/>
              <a:cs typeface="Work Sans ExtraBold"/>
              <a:sym typeface="Work Sans ExtraBold"/>
            </a:endParaRPr>
          </a:p>
        </p:txBody>
      </p:sp>
      <p:sp>
        <p:nvSpPr>
          <p:cNvPr id="255" name="Google Shape;255;g2907dbd8723_0_0"/>
          <p:cNvSpPr txBox="1"/>
          <p:nvPr/>
        </p:nvSpPr>
        <p:spPr>
          <a:xfrm>
            <a:off x="1230650" y="1934520"/>
            <a:ext cx="1920240" cy="4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Sesi 2</a:t>
            </a:r>
            <a:endParaRPr b="0" i="1" sz="15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6" name="Google Shape;256;g2907dbd8723_0_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7" name="Google Shape;257;g2907dbd8723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54775" y="4399825"/>
            <a:ext cx="284713" cy="2011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g2907dbd8723_0_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05899" y="4399825"/>
            <a:ext cx="198637" cy="2011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g2907dbd8723_0_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28695" y="4399825"/>
            <a:ext cx="20194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g2907dbd8723_0_0"/>
          <p:cNvSpPr txBox="1"/>
          <p:nvPr/>
        </p:nvSpPr>
        <p:spPr>
          <a:xfrm>
            <a:off x="1230650" y="4338863"/>
            <a:ext cx="888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Hacktiv8id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g2907dbd8723_0_0"/>
          <p:cNvSpPr txBox="1"/>
          <p:nvPr/>
        </p:nvSpPr>
        <p:spPr>
          <a:xfrm>
            <a:off x="3088375" y="4338863"/>
            <a:ext cx="888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Hacktiv8id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g2907dbd8723_0_0"/>
          <p:cNvSpPr txBox="1"/>
          <p:nvPr/>
        </p:nvSpPr>
        <p:spPr>
          <a:xfrm>
            <a:off x="4946100" y="4338863"/>
            <a:ext cx="888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g2907dbd8723_0_0"/>
          <p:cNvSpPr txBox="1"/>
          <p:nvPr/>
        </p:nvSpPr>
        <p:spPr>
          <a:xfrm>
            <a:off x="6704525" y="4338875"/>
            <a:ext cx="1423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Hacktiv8 Indonesia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4" name="Google Shape;264;g2907dbd8723_0_0"/>
          <p:cNvCxnSpPr/>
          <p:nvPr/>
        </p:nvCxnSpPr>
        <p:spPr>
          <a:xfrm>
            <a:off x="3063240" y="2160270"/>
            <a:ext cx="914400" cy="9600"/>
          </a:xfrm>
          <a:prstGeom prst="straightConnector1">
            <a:avLst/>
          </a:prstGeom>
          <a:noFill/>
          <a:ln cap="flat" cmpd="sng" w="19050">
            <a:solidFill>
              <a:srgbClr val="FFF5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5" name="Google Shape;265;g2907dbd8723_0_0">
            <a:hlinkClick r:id="rId7"/>
          </p:cNvPr>
          <p:cNvSpPr txBox="1"/>
          <p:nvPr/>
        </p:nvSpPr>
        <p:spPr>
          <a:xfrm>
            <a:off x="4206240" y="1934520"/>
            <a:ext cx="4023360" cy="4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1" lang="en" sz="1200" u="sng" cap="none" strike="noStrike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8"/>
              </a:rPr>
              <a:t>github.com/bagusedghar/fastapi-intermediate</a:t>
            </a:r>
            <a:endParaRPr b="0" i="1" sz="1500" u="sng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