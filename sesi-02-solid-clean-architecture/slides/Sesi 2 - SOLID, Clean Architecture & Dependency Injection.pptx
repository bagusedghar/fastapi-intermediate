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83"/>
  </p:notesMasterIdLst>
  <p:sldIdLst>
    <p:sldId id="256" r:id="rId2"/>
    <p:sldId id="257" r:id="rId3"/>
    <p:sldId id="277" r:id="rId4"/>
    <p:sldId id="278" r:id="rId5"/>
    <p:sldId id="279" r:id="rId6"/>
    <p:sldId id="280"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2" r:id="rId29"/>
    <p:sldId id="303" r:id="rId30"/>
    <p:sldId id="304" r:id="rId31"/>
    <p:sldId id="305" r:id="rId32"/>
    <p:sldId id="306" r:id="rId33"/>
    <p:sldId id="307" r:id="rId34"/>
    <p:sldId id="308" r:id="rId35"/>
    <p:sldId id="309" r:id="rId36"/>
    <p:sldId id="310" r:id="rId37"/>
    <p:sldId id="311" r:id="rId38"/>
    <p:sldId id="312" r:id="rId39"/>
    <p:sldId id="313" r:id="rId40"/>
    <p:sldId id="314" r:id="rId41"/>
    <p:sldId id="315" r:id="rId42"/>
    <p:sldId id="316" r:id="rId43"/>
    <p:sldId id="317" r:id="rId44"/>
    <p:sldId id="318" r:id="rId45"/>
    <p:sldId id="319" r:id="rId46"/>
    <p:sldId id="320" r:id="rId47"/>
    <p:sldId id="321" r:id="rId48"/>
    <p:sldId id="322" r:id="rId49"/>
    <p:sldId id="323" r:id="rId50"/>
    <p:sldId id="324" r:id="rId51"/>
    <p:sldId id="325" r:id="rId52"/>
    <p:sldId id="326" r:id="rId53"/>
    <p:sldId id="327" r:id="rId54"/>
    <p:sldId id="328" r:id="rId55"/>
    <p:sldId id="329" r:id="rId56"/>
    <p:sldId id="330" r:id="rId57"/>
    <p:sldId id="331" r:id="rId58"/>
    <p:sldId id="332" r:id="rId59"/>
    <p:sldId id="333" r:id="rId60"/>
    <p:sldId id="334" r:id="rId61"/>
    <p:sldId id="335" r:id="rId62"/>
    <p:sldId id="336" r:id="rId63"/>
    <p:sldId id="337" r:id="rId64"/>
    <p:sldId id="338" r:id="rId65"/>
    <p:sldId id="339" r:id="rId66"/>
    <p:sldId id="340" r:id="rId67"/>
    <p:sldId id="341" r:id="rId68"/>
    <p:sldId id="342" r:id="rId69"/>
    <p:sldId id="343" r:id="rId70"/>
    <p:sldId id="344" r:id="rId71"/>
    <p:sldId id="345" r:id="rId72"/>
    <p:sldId id="346" r:id="rId73"/>
    <p:sldId id="347" r:id="rId74"/>
    <p:sldId id="348" r:id="rId75"/>
    <p:sldId id="349" r:id="rId76"/>
    <p:sldId id="350" r:id="rId77"/>
    <p:sldId id="351" r:id="rId78"/>
    <p:sldId id="352" r:id="rId79"/>
    <p:sldId id="353" r:id="rId80"/>
    <p:sldId id="354" r:id="rId81"/>
    <p:sldId id="276" r:id="rId82"/>
  </p:sldIdLst>
  <p:sldSz cx="9144000" cy="5143500" type="screen16x9"/>
  <p:notesSz cx="6858000" cy="9144000"/>
  <p:embeddedFontLst>
    <p:embeddedFont>
      <p:font typeface="Inconsolata" pitchFamily="1" charset="0"/>
      <p:regular r:id="rId84"/>
      <p:bold r:id="rId85"/>
    </p:embeddedFont>
    <p:embeddedFont>
      <p:font typeface="Inter" panose="02000503000000020004" pitchFamily="2" charset="0"/>
      <p:regular r:id="rId86"/>
      <p:bold r:id="rId87"/>
      <p:italic r:id="rId88"/>
      <p:boldItalic r:id="rId89"/>
    </p:embeddedFont>
    <p:embeddedFont>
      <p:font typeface="Work Sans ExtraBold" pitchFamily="2" charset="0"/>
      <p:bold r:id="rId90"/>
    </p:embeddedFont>
    <p:embeddedFont>
      <p:font typeface="Work Sans Medium" pitchFamily="2" charset="0"/>
      <p:regular r:id="rId91"/>
      <p:italic r:id="rId9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96" roundtripDataSignature="AMtx7misuxx245f/qKiEmR3PX6YRe0tIP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1.fntdata"/><Relationship Id="rId89" Type="http://schemas.openxmlformats.org/officeDocument/2006/relationships/font" Target="fonts/font6.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7.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openxmlformats.org/officeDocument/2006/relationships/font" Target="fonts/font5.fntdata"/><Relationship Id="rId91" Type="http://schemas.openxmlformats.org/officeDocument/2006/relationships/font" Target="fonts/font8.fntdata"/><Relationship Id="rId96"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3.fntdata"/><Relationship Id="rId9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4.fntdata"/><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442ffe4c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g2442ffe4c8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Peserta mengerjakan hands-on bersama mentor.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907dbd87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g2907dbd872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9"/>
          <p:cNvPicPr preferRelativeResize="0"/>
          <p:nvPr/>
        </p:nvPicPr>
        <p:blipFill rotWithShape="1">
          <a:blip r:embed="rId2">
            <a:alphaModFix/>
          </a:blip>
          <a:srcRect/>
          <a:stretch/>
        </p:blipFill>
        <p:spPr>
          <a:xfrm>
            <a:off x="-7200" y="-15150"/>
            <a:ext cx="9190446" cy="5169626"/>
          </a:xfrm>
          <a:prstGeom prst="rect">
            <a:avLst/>
          </a:prstGeom>
          <a:noFill/>
          <a:ln>
            <a:noFill/>
          </a:ln>
        </p:spPr>
      </p:pic>
      <p:sp>
        <p:nvSpPr>
          <p:cNvPr id="11" name="Google Shape;11;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2" name="Google Shape;12;p19"/>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pic>
        <p:nvPicPr>
          <p:cNvPr id="14" name="Google Shape;14;p23"/>
          <p:cNvPicPr preferRelativeResize="0"/>
          <p:nvPr/>
        </p:nvPicPr>
        <p:blipFill rotWithShape="1">
          <a:blip r:embed="rId2">
            <a:alphaModFix/>
          </a:blip>
          <a:srcRect/>
          <a:stretch/>
        </p:blipFill>
        <p:spPr>
          <a:xfrm>
            <a:off x="0" y="-1"/>
            <a:ext cx="9144003" cy="5143504"/>
          </a:xfrm>
          <a:prstGeom prst="rect">
            <a:avLst/>
          </a:prstGeom>
          <a:noFill/>
          <a:ln>
            <a:noFill/>
          </a:ln>
        </p:spPr>
      </p:pic>
      <p:sp>
        <p:nvSpPr>
          <p:cNvPr id="15" name="Google Shape;15;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16" name="Google Shape;16;p23"/>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_HEADER_3">
    <p:spTree>
      <p:nvGrpSpPr>
        <p:cNvPr id="1" name="Shape 17"/>
        <p:cNvGrpSpPr/>
        <p:nvPr/>
      </p:nvGrpSpPr>
      <p:grpSpPr>
        <a:xfrm>
          <a:off x="0" y="0"/>
          <a:ext cx="0" cy="0"/>
          <a:chOff x="0" y="0"/>
          <a:chExt cx="0" cy="0"/>
        </a:xfrm>
      </p:grpSpPr>
      <p:pic>
        <p:nvPicPr>
          <p:cNvPr id="18" name="Google Shape;18;p62"/>
          <p:cNvPicPr preferRelativeResize="0"/>
          <p:nvPr/>
        </p:nvPicPr>
        <p:blipFill rotWithShape="1">
          <a:blip r:embed="rId2">
            <a:alphaModFix/>
          </a:blip>
          <a:srcRect/>
          <a:stretch/>
        </p:blipFill>
        <p:spPr>
          <a:xfrm>
            <a:off x="0" y="-1"/>
            <a:ext cx="9206026" cy="5178401"/>
          </a:xfrm>
          <a:prstGeom prst="rect">
            <a:avLst/>
          </a:prstGeom>
          <a:noFill/>
          <a:ln>
            <a:noFill/>
          </a:ln>
        </p:spPr>
      </p:pic>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0" name="Google Shape;20;p62"/>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2 1 1">
  <p:cSld name="TITLE_2_1_1">
    <p:spTree>
      <p:nvGrpSpPr>
        <p:cNvPr id="1" name="Shape 21"/>
        <p:cNvGrpSpPr/>
        <p:nvPr/>
      </p:nvGrpSpPr>
      <p:grpSpPr>
        <a:xfrm>
          <a:off x="0" y="0"/>
          <a:ext cx="0" cy="0"/>
          <a:chOff x="0" y="0"/>
          <a:chExt cx="0" cy="0"/>
        </a:xfrm>
      </p:grpSpPr>
      <p:sp>
        <p:nvSpPr>
          <p:cNvPr id="22" name="Google Shape;22;p4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3" name="Google Shape;23;p49"/>
          <p:cNvPicPr preferRelativeResize="0"/>
          <p:nvPr/>
        </p:nvPicPr>
        <p:blipFill rotWithShape="1">
          <a:blip r:embed="rId2">
            <a:alphaModFix/>
          </a:blip>
          <a:srcRect l="-11869" r="-10498"/>
          <a:stretch/>
        </p:blipFill>
        <p:spPr>
          <a:xfrm>
            <a:off x="7614450" y="286450"/>
            <a:ext cx="1372051" cy="247350"/>
          </a:xfrm>
          <a:prstGeom prst="rect">
            <a:avLst/>
          </a:prstGeom>
          <a:noFill/>
          <a:ln>
            <a:noFill/>
          </a:ln>
        </p:spPr>
      </p:pic>
      <p:pic>
        <p:nvPicPr>
          <p:cNvPr id="24" name="Google Shape;24;p49"/>
          <p:cNvPicPr preferRelativeResize="0"/>
          <p:nvPr/>
        </p:nvPicPr>
        <p:blipFill rotWithShape="1">
          <a:blip r:embed="rId3">
            <a:alphaModFix/>
          </a:blip>
          <a:srcRect/>
          <a:stretch/>
        </p:blipFill>
        <p:spPr>
          <a:xfrm>
            <a:off x="0" y="0"/>
            <a:ext cx="9143992" cy="514350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3">
  <p:cSld name="SECTION_HEADER_4">
    <p:spTree>
      <p:nvGrpSpPr>
        <p:cNvPr id="1" name="Shape 25"/>
        <p:cNvGrpSpPr/>
        <p:nvPr/>
      </p:nvGrpSpPr>
      <p:grpSpPr>
        <a:xfrm>
          <a:off x="0" y="0"/>
          <a:ext cx="0" cy="0"/>
          <a:chOff x="0" y="0"/>
          <a:chExt cx="0" cy="0"/>
        </a:xfrm>
      </p:grpSpPr>
      <p:pic>
        <p:nvPicPr>
          <p:cNvPr id="26" name="Google Shape;26;p20"/>
          <p:cNvPicPr preferRelativeResize="0"/>
          <p:nvPr/>
        </p:nvPicPr>
        <p:blipFill rotWithShape="1">
          <a:blip r:embed="rId2">
            <a:alphaModFix/>
          </a:blip>
          <a:srcRect/>
          <a:stretch/>
        </p:blipFill>
        <p:spPr>
          <a:xfrm>
            <a:off x="0" y="-1"/>
            <a:ext cx="9143992" cy="5143501"/>
          </a:xfrm>
          <a:prstGeom prst="rect">
            <a:avLst/>
          </a:prstGeom>
          <a:noFill/>
          <a:ln>
            <a:noFill/>
          </a:ln>
        </p:spPr>
      </p:pic>
      <p:sp>
        <p:nvSpPr>
          <p:cNvPr id="27" name="Google Shape;27;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8" name="Google Shape;28;p20"/>
          <p:cNvPicPr preferRelativeResize="0"/>
          <p:nvPr/>
        </p:nvPicPr>
        <p:blipFill rotWithShape="1">
          <a:blip r:embed="rId3">
            <a:alphaModFix/>
          </a:blip>
          <a:srcRect/>
          <a:stretch/>
        </p:blipFill>
        <p:spPr>
          <a:xfrm>
            <a:off x="7768176" y="286450"/>
            <a:ext cx="1080001" cy="24735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2 1">
  <p:cSld name="TITLE_2_1">
    <p:spTree>
      <p:nvGrpSpPr>
        <p:cNvPr id="1" name="Shape 29"/>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1" name="Google Shape;31;p21"/>
          <p:cNvPicPr preferRelativeResize="0"/>
          <p:nvPr/>
        </p:nvPicPr>
        <p:blipFill rotWithShape="1">
          <a:blip r:embed="rId2">
            <a:alphaModFix/>
          </a:blip>
          <a:srcRect/>
          <a:stretch/>
        </p:blipFill>
        <p:spPr>
          <a:xfrm>
            <a:off x="-7200" y="-7175"/>
            <a:ext cx="9204623" cy="5177601"/>
          </a:xfrm>
          <a:prstGeom prst="rect">
            <a:avLst/>
          </a:prstGeom>
          <a:noFill/>
          <a:ln>
            <a:noFill/>
          </a:ln>
        </p:spPr>
      </p:pic>
      <p:pic>
        <p:nvPicPr>
          <p:cNvPr id="32" name="Google Shape;32;p21"/>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2">
  <p:cSld name="TITLE_2">
    <p:spTree>
      <p:nvGrpSpPr>
        <p:cNvPr id="1" name="Shape 33"/>
        <p:cNvGrpSpPr/>
        <p:nvPr/>
      </p:nvGrpSpPr>
      <p:grpSpPr>
        <a:xfrm>
          <a:off x="0" y="0"/>
          <a:ext cx="0" cy="0"/>
          <a:chOff x="0" y="0"/>
          <a:chExt cx="0" cy="0"/>
        </a:xfrm>
      </p:grpSpPr>
      <p:pic>
        <p:nvPicPr>
          <p:cNvPr id="34" name="Google Shape;34;p22"/>
          <p:cNvPicPr preferRelativeResize="0"/>
          <p:nvPr/>
        </p:nvPicPr>
        <p:blipFill rotWithShape="1">
          <a:blip r:embed="rId2">
            <a:alphaModFix/>
          </a:blip>
          <a:srcRect/>
          <a:stretch/>
        </p:blipFill>
        <p:spPr>
          <a:xfrm>
            <a:off x="-14350" y="-6375"/>
            <a:ext cx="9160668" cy="5152876"/>
          </a:xfrm>
          <a:prstGeom prst="rect">
            <a:avLst/>
          </a:prstGeom>
          <a:noFill/>
          <a:ln>
            <a:noFill/>
          </a:ln>
        </p:spPr>
      </p:pic>
      <p:sp>
        <p:nvSpPr>
          <p:cNvPr id="35" name="Google Shape;35;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6" name="Google Shape;36;p22"/>
          <p:cNvPicPr preferRelativeResize="0"/>
          <p:nvPr/>
        </p:nvPicPr>
        <p:blipFill rotWithShape="1">
          <a:blip r:embed="rId3">
            <a:alphaModFix/>
          </a:blip>
          <a:srcRect l="-11869" r="-10498"/>
          <a:stretch/>
        </p:blipFill>
        <p:spPr>
          <a:xfrm>
            <a:off x="7614450" y="286450"/>
            <a:ext cx="1372051" cy="2473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7"/>
        <p:cNvGrpSpPr/>
        <p:nvPr/>
      </p:nvGrpSpPr>
      <p:grpSpPr>
        <a:xfrm>
          <a:off x="0" y="0"/>
          <a:ext cx="0" cy="0"/>
          <a:chOff x="0" y="0"/>
          <a:chExt cx="0" cy="0"/>
        </a:xfrm>
      </p:grpSpPr>
      <p:sp>
        <p:nvSpPr>
          <p:cNvPr id="38" name="Google Shape;38;p5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5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5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1"/>
        <p:cNvGrpSpPr/>
        <p:nvPr/>
      </p:nvGrpSpPr>
      <p:grpSpPr>
        <a:xfrm>
          <a:off x="0" y="0"/>
          <a:ext cx="0" cy="0"/>
          <a:chOff x="0" y="0"/>
          <a:chExt cx="0" cy="0"/>
        </a:xfrm>
      </p:grpSpPr>
      <p:sp>
        <p:nvSpPr>
          <p:cNvPr id="42" name="Google Shape;42;p5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3" name="Google Shape;43;p51"/>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4" name="Google Shape;44;p51"/>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45" name="Google Shape;45;p5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
        <p:cNvGrpSpPr/>
        <p:nvPr/>
      </p:nvGrpSpPr>
      <p:grpSpPr>
        <a:xfrm>
          <a:off x="0" y="0"/>
          <a:ext cx="0" cy="0"/>
          <a:chOff x="0" y="0"/>
          <a:chExt cx="0" cy="0"/>
        </a:xfrm>
      </p:grpSpPr>
      <p:sp>
        <p:nvSpPr>
          <p:cNvPr id="47" name="Google Shape;47;p52"/>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8" name="Google Shape;48;p5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53"/>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1" name="Google Shape;51;p53"/>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52" name="Google Shape;52;p5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3"/>
        <p:cNvGrpSpPr/>
        <p:nvPr/>
      </p:nvGrpSpPr>
      <p:grpSpPr>
        <a:xfrm>
          <a:off x="0" y="0"/>
          <a:ext cx="0" cy="0"/>
          <a:chOff x="0" y="0"/>
          <a:chExt cx="0" cy="0"/>
        </a:xfrm>
      </p:grpSpPr>
      <p:sp>
        <p:nvSpPr>
          <p:cNvPr id="54" name="Google Shape;54;p54"/>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55" name="Google Shape;55;p5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6"/>
        <p:cNvGrpSpPr/>
        <p:nvPr/>
      </p:nvGrpSpPr>
      <p:grpSpPr>
        <a:xfrm>
          <a:off x="0" y="0"/>
          <a:ext cx="0" cy="0"/>
          <a:chOff x="0" y="0"/>
          <a:chExt cx="0" cy="0"/>
        </a:xfrm>
      </p:grpSpPr>
      <p:sp>
        <p:nvSpPr>
          <p:cNvPr id="57" name="Google Shape;57;p55"/>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55"/>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9" name="Google Shape;59;p55"/>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60" name="Google Shape;60;p55"/>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5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2"/>
        <p:cNvGrpSpPr/>
        <p:nvPr/>
      </p:nvGrpSpPr>
      <p:grpSpPr>
        <a:xfrm>
          <a:off x="0" y="0"/>
          <a:ext cx="0" cy="0"/>
          <a:chOff x="0" y="0"/>
          <a:chExt cx="0" cy="0"/>
        </a:xfrm>
      </p:grpSpPr>
      <p:sp>
        <p:nvSpPr>
          <p:cNvPr id="63" name="Google Shape;63;p56"/>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64" name="Google Shape;64;p5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57"/>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7" name="Google Shape;67;p57"/>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68" name="Google Shape;68;p5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9"/>
        <p:cNvGrpSpPr/>
        <p:nvPr/>
      </p:nvGrpSpPr>
      <p:grpSpPr>
        <a:xfrm>
          <a:off x="0" y="0"/>
          <a:ext cx="0" cy="0"/>
          <a:chOff x="0" y="0"/>
          <a:chExt cx="0" cy="0"/>
        </a:xfrm>
      </p:grpSpPr>
      <p:sp>
        <p:nvSpPr>
          <p:cNvPr id="70" name="Google Shape;70;p5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1">
  <p:cSld name="TITLE_1">
    <p:spTree>
      <p:nvGrpSpPr>
        <p:cNvPr id="1" name="Shape 71"/>
        <p:cNvGrpSpPr/>
        <p:nvPr/>
      </p:nvGrpSpPr>
      <p:grpSpPr>
        <a:xfrm>
          <a:off x="0" y="0"/>
          <a:ext cx="0" cy="0"/>
          <a:chOff x="0" y="0"/>
          <a:chExt cx="0" cy="0"/>
        </a:xfrm>
      </p:grpSpPr>
      <p:sp>
        <p:nvSpPr>
          <p:cNvPr id="72" name="Google Shape;72;p5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3" name="Google Shape;73;p59"/>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1 1">
  <p:cSld name="TITLE_1_1">
    <p:spTree>
      <p:nvGrpSpPr>
        <p:cNvPr id="1" name="Shape 74"/>
        <p:cNvGrpSpPr/>
        <p:nvPr/>
      </p:nvGrpSpPr>
      <p:grpSpPr>
        <a:xfrm>
          <a:off x="0" y="0"/>
          <a:ext cx="0" cy="0"/>
          <a:chOff x="0" y="0"/>
          <a:chExt cx="0" cy="0"/>
        </a:xfrm>
      </p:grpSpPr>
      <p:sp>
        <p:nvSpPr>
          <p:cNvPr id="75" name="Google Shape;75;p6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cxnSp>
        <p:nvCxnSpPr>
          <p:cNvPr id="76" name="Google Shape;76;p60"/>
          <p:cNvCxnSpPr/>
          <p:nvPr/>
        </p:nvCxnSpPr>
        <p:spPr>
          <a:xfrm>
            <a:off x="2740288" y="3545850"/>
            <a:ext cx="3824400" cy="0"/>
          </a:xfrm>
          <a:prstGeom prst="straightConnector1">
            <a:avLst/>
          </a:prstGeom>
          <a:noFill/>
          <a:ln w="9525" cap="flat" cmpd="sng">
            <a:solidFill>
              <a:srgbClr val="FFFFFF"/>
            </a:solidFill>
            <a:prstDash val="solid"/>
            <a:round/>
            <a:headEnd type="none" w="sm" len="sm"/>
            <a:tailEnd type="none" w="sm" len="sm"/>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7"/>
        <p:cNvGrpSpPr/>
        <p:nvPr/>
      </p:nvGrpSpPr>
      <p:grpSpPr>
        <a:xfrm>
          <a:off x="0" y="0"/>
          <a:ext cx="0" cy="0"/>
          <a:chOff x="0" y="0"/>
          <a:chExt cx="0" cy="0"/>
        </a:xfrm>
      </p:grpSpPr>
      <p:sp>
        <p:nvSpPr>
          <p:cNvPr id="78" name="Google Shape;78;p61"/>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pic>
        <p:nvPicPr>
          <p:cNvPr id="79" name="Google Shape;79;p61"/>
          <p:cNvPicPr preferRelativeResize="0"/>
          <p:nvPr/>
        </p:nvPicPr>
        <p:blipFill rotWithShape="1">
          <a:blip r:embed="rId2">
            <a:alphaModFix/>
          </a:blip>
          <a:srcRect t="31469" b="34000"/>
          <a:stretch/>
        </p:blipFill>
        <p:spPr>
          <a:xfrm>
            <a:off x="134750" y="4589275"/>
            <a:ext cx="1410576" cy="34434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8"/>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8" Type="http://schemas.openxmlformats.org/officeDocument/2006/relationships/hyperlink" Target="https://github.com/bagusedghar/fastapi-intermediate/tree/main/sesi-02-solid-clean-architecture" TargetMode="External"/><Relationship Id="rId3" Type="http://schemas.openxmlformats.org/officeDocument/2006/relationships/image" Target="../media/image29.png"/><Relationship Id="rId7" Type="http://schemas.openxmlformats.org/officeDocument/2006/relationships/hyperlink" Target="https://colab.research.google.com/github/FTDS-learning-materials/phase-2/blob/master/w2/P2W2D1PM%20-%20Data%20Ethics%20&amp;%20Data%20Validation.ipynb" TargetMode="Externa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SzPts val="1000"/>
              <a:buNone/>
            </a:pPr>
            <a:fld id="{00000000-1234-1234-1234-123412341234}" type="slidenum">
              <a:rPr lang="en"/>
              <a:t>1</a:t>
            </a:fld>
            <a:endParaRPr/>
          </a:p>
        </p:txBody>
      </p:sp>
      <p:sp>
        <p:nvSpPr>
          <p:cNvPr id="85" name="Google Shape;85;p5"/>
          <p:cNvSpPr txBox="1"/>
          <p:nvPr/>
        </p:nvSpPr>
        <p:spPr>
          <a:xfrm>
            <a:off x="763050" y="2010750"/>
            <a:ext cx="8258100" cy="11034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3500"/>
              <a:buFont typeface="Arial"/>
              <a:buNone/>
            </a:pPr>
            <a:r>
              <a:rPr lang="en" sz="3500">
                <a:solidFill>
                  <a:srgbClr val="F06634"/>
                </a:solidFill>
                <a:latin typeface="Work Sans ExtraBold"/>
                <a:ea typeface="Work Sans ExtraBold"/>
                <a:cs typeface="Work Sans ExtraBold"/>
                <a:sym typeface="Work Sans ExtraBold"/>
              </a:rPr>
              <a:t>SOLID, Clean Architecture &amp; Dependency Injection</a:t>
            </a:r>
            <a:endParaRPr sz="3500" b="0" i="0" u="none" strike="noStrike" cap="none">
              <a:solidFill>
                <a:srgbClr val="F06634"/>
              </a:solidFill>
              <a:latin typeface="Work Sans ExtraBold"/>
              <a:ea typeface="Work Sans ExtraBold"/>
              <a:cs typeface="Work Sans ExtraBold"/>
              <a:sym typeface="Work Sans ExtraBold"/>
            </a:endParaRPr>
          </a:p>
        </p:txBody>
      </p:sp>
      <p:sp>
        <p:nvSpPr>
          <p:cNvPr id="86" name="Google Shape;86;p5"/>
          <p:cNvSpPr txBox="1"/>
          <p:nvPr/>
        </p:nvSpPr>
        <p:spPr>
          <a:xfrm>
            <a:off x="763050" y="3157225"/>
            <a:ext cx="7315200" cy="531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1500"/>
              <a:buFont typeface="Arial"/>
              <a:buNone/>
            </a:pPr>
            <a:r>
              <a:rPr lang="en" sz="1500" b="0" i="0" u="none" strike="noStrike" cap="none">
                <a:solidFill>
                  <a:schemeClr val="dk2"/>
                </a:solidFill>
                <a:latin typeface="Work Sans Medium"/>
                <a:ea typeface="Work Sans Medium"/>
                <a:cs typeface="Work Sans Medium"/>
                <a:sym typeface="Work Sans Medium"/>
              </a:rPr>
              <a:t>Intermediate Backend Developer with FastAPI  -  Sesi 2</a:t>
            </a:r>
            <a:endParaRPr sz="1500" b="0" i="0" u="none" strike="noStrike" cap="none">
              <a:solidFill>
                <a:schemeClr val="dk2"/>
              </a:solidFill>
              <a:latin typeface="Work Sans Medium"/>
              <a:ea typeface="Work Sans Medium"/>
              <a:cs typeface="Work Sans Medium"/>
              <a:sym typeface="Work Sans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g2442ffe4c8e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
              <a:t>2</a:t>
            </a:fld>
            <a:endParaRPr/>
          </a:p>
        </p:txBody>
      </p:sp>
      <p:sp>
        <p:nvSpPr>
          <p:cNvPr id="92" name="Google Shape;92;g2442ffe4c8e_0_0"/>
          <p:cNvSpPr txBox="1"/>
          <p:nvPr/>
        </p:nvSpPr>
        <p:spPr>
          <a:xfrm>
            <a:off x="310675" y="249275"/>
            <a:ext cx="4456800" cy="484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300"/>
              <a:buFont typeface="Arial"/>
              <a:buNone/>
            </a:pPr>
            <a:r>
              <a:rPr lang="en" sz="2300" b="0" i="0" u="none" strike="noStrike" cap="none">
                <a:solidFill>
                  <a:srgbClr val="1D3D70"/>
                </a:solidFill>
                <a:latin typeface="Work Sans ExtraBold"/>
                <a:ea typeface="Work Sans ExtraBold"/>
                <a:cs typeface="Work Sans ExtraBold"/>
                <a:sym typeface="Work Sans ExtraBold"/>
              </a:rPr>
              <a:t>Contents</a:t>
            </a:r>
            <a:endParaRPr sz="2300" b="0" i="0" u="none" strike="noStrike" cap="none">
              <a:solidFill>
                <a:srgbClr val="1D3D70"/>
              </a:solidFill>
              <a:latin typeface="Work Sans ExtraBold"/>
              <a:ea typeface="Work Sans ExtraBold"/>
              <a:cs typeface="Work Sans ExtraBold"/>
              <a:sym typeface="Work Sans ExtraBold"/>
            </a:endParaRPr>
          </a:p>
        </p:txBody>
      </p:sp>
      <p:sp>
        <p:nvSpPr>
          <p:cNvPr id="93" name="Text 1"/>
          <p:cNvSpPr txBox="1"/>
          <p:nvPr/>
        </p:nvSpPr>
        <p:spPr>
          <a:xfrm>
            <a:off x="548640" y="1143000"/>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SOLID &amp; Code Smell</a:t>
            </a:r>
          </a:p>
        </p:txBody>
      </p:sp>
      <p:cxnSp>
        <p:nvCxnSpPr>
          <p:cNvPr id="94" name="Arrow 2"/>
          <p:cNvCxnSpPr/>
          <p:nvPr/>
        </p:nvCxnSpPr>
        <p:spPr>
          <a:xfrm>
            <a:off x="6318504" y="1325880"/>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5" name="Text 3"/>
          <p:cNvSpPr txBox="1"/>
          <p:nvPr/>
        </p:nvSpPr>
        <p:spPr>
          <a:xfrm>
            <a:off x="8266175" y="1143000"/>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07</a:t>
            </a:r>
          </a:p>
        </p:txBody>
      </p:sp>
      <p:sp>
        <p:nvSpPr>
          <p:cNvPr id="96" name="Text 4"/>
          <p:cNvSpPr txBox="1"/>
          <p:nvPr/>
        </p:nvSpPr>
        <p:spPr>
          <a:xfrm>
            <a:off x="548640" y="1527048"/>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Clean Architecture</a:t>
            </a:r>
          </a:p>
        </p:txBody>
      </p:sp>
      <p:cxnSp>
        <p:nvCxnSpPr>
          <p:cNvPr id="97" name="Arrow 5"/>
          <p:cNvCxnSpPr/>
          <p:nvPr/>
        </p:nvCxnSpPr>
        <p:spPr>
          <a:xfrm>
            <a:off x="6318504" y="1709928"/>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98" name="Text 6"/>
          <p:cNvSpPr txBox="1"/>
          <p:nvPr/>
        </p:nvSpPr>
        <p:spPr>
          <a:xfrm>
            <a:off x="8266175" y="1527048"/>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42</a:t>
            </a:r>
          </a:p>
        </p:txBody>
      </p:sp>
      <p:sp>
        <p:nvSpPr>
          <p:cNvPr id="99" name="Text 7"/>
          <p:cNvSpPr txBox="1"/>
          <p:nvPr/>
        </p:nvSpPr>
        <p:spPr>
          <a:xfrm>
            <a:off x="548640" y="1911095"/>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Dependency Injection di FastAPI</a:t>
            </a:r>
          </a:p>
        </p:txBody>
      </p:sp>
      <p:cxnSp>
        <p:nvCxnSpPr>
          <p:cNvPr id="100" name="Arrow 8"/>
          <p:cNvCxnSpPr/>
          <p:nvPr/>
        </p:nvCxnSpPr>
        <p:spPr>
          <a:xfrm>
            <a:off x="6318504" y="2093976"/>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1" name="Text 9"/>
          <p:cNvSpPr txBox="1"/>
          <p:nvPr/>
        </p:nvSpPr>
        <p:spPr>
          <a:xfrm>
            <a:off x="8266175" y="1911095"/>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48</a:t>
            </a:r>
          </a:p>
        </p:txBody>
      </p:sp>
      <p:sp>
        <p:nvSpPr>
          <p:cNvPr id="102" name="Text 10"/>
          <p:cNvSpPr txBox="1"/>
          <p:nvPr/>
        </p:nvSpPr>
        <p:spPr>
          <a:xfrm>
            <a:off x="548640" y="2295144"/>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Hands-on: Redesign Struktur Project</a:t>
            </a:r>
          </a:p>
        </p:txBody>
      </p:sp>
      <p:cxnSp>
        <p:nvCxnSpPr>
          <p:cNvPr id="103" name="Arrow 11"/>
          <p:cNvCxnSpPr/>
          <p:nvPr/>
        </p:nvCxnSpPr>
        <p:spPr>
          <a:xfrm>
            <a:off x="6318504" y="2478024"/>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4" name="Text 12"/>
          <p:cNvSpPr txBox="1"/>
          <p:nvPr/>
        </p:nvSpPr>
        <p:spPr>
          <a:xfrm>
            <a:off x="8266175" y="2295144"/>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62</a:t>
            </a:r>
          </a:p>
        </p:txBody>
      </p:sp>
      <p:sp>
        <p:nvSpPr>
          <p:cNvPr id="105" name="Text 13"/>
          <p:cNvSpPr txBox="1"/>
          <p:nvPr/>
        </p:nvSpPr>
        <p:spPr>
          <a:xfrm>
            <a:off x="548640" y="2679191"/>
            <a:ext cx="5669280" cy="292608"/>
          </a:xfrm>
          <a:prstGeom prst="rect">
            <a:avLst/>
          </a:prstGeom>
          <a:noFill/>
        </p:spPr>
        <p:txBody>
          <a:bodyPr wrap="square" lIns="45720" rIns="45720" anchor="ctr">
            <a:spAutoFit/>
          </a:bodyPr>
          <a:lstStyle/>
          <a:p>
            <a:pPr algn="r">
              <a:lnSpc>
                <a:spcPct val="115000"/>
              </a:lnSpc>
              <a:spcAft>
                <a:spcPts val="400"/>
              </a:spcAft>
            </a:pPr>
            <a:r>
              <a:rPr sz="1000" b="0" i="0">
                <a:solidFill>
                  <a:srgbClr val="434343"/>
                </a:solidFill>
                <a:latin typeface="Inter"/>
              </a:rPr>
              <a:t>Studi Kasus: Tambah Ongkos Kirim</a:t>
            </a:r>
          </a:p>
        </p:txBody>
      </p:sp>
      <p:cxnSp>
        <p:nvCxnSpPr>
          <p:cNvPr id="106" name="Arrow 14"/>
          <p:cNvCxnSpPr/>
          <p:nvPr/>
        </p:nvCxnSpPr>
        <p:spPr>
          <a:xfrm>
            <a:off x="6318504" y="2862072"/>
            <a:ext cx="1947671" cy="0"/>
          </a:xfrm>
          <a:prstGeom prst="line">
            <a:avLst/>
          </a:prstGeom>
          <a:ln w="12700">
            <a:solidFill>
              <a:srgbClr val="1C4587"/>
            </a:solidFill>
          </a:ln>
        </p:spPr>
        <p:style>
          <a:lnRef idx="2">
            <a:schemeClr val="accent1"/>
          </a:lnRef>
          <a:fillRef idx="0">
            <a:schemeClr val="accent1"/>
          </a:fillRef>
          <a:effectRef idx="1">
            <a:schemeClr val="accent1"/>
          </a:effectRef>
          <a:fontRef idx="minor">
            <a:schemeClr val="tx1"/>
          </a:fontRef>
        </p:style>
      </p:cxnSp>
      <p:sp>
        <p:nvSpPr>
          <p:cNvPr id="107" name="Text 15"/>
          <p:cNvSpPr txBox="1"/>
          <p:nvPr/>
        </p:nvSpPr>
        <p:spPr>
          <a:xfrm>
            <a:off x="8266175" y="2679191"/>
            <a:ext cx="548640" cy="292608"/>
          </a:xfrm>
          <a:prstGeom prst="rect">
            <a:avLst/>
          </a:prstGeom>
          <a:noFill/>
        </p:spPr>
        <p:txBody>
          <a:bodyPr wrap="square" lIns="45720" rIns="45720" anchor="ctr">
            <a:spAutoFit/>
          </a:bodyPr>
          <a:lstStyle/>
          <a:p>
            <a:pPr algn="l">
              <a:lnSpc>
                <a:spcPct val="115000"/>
              </a:lnSpc>
              <a:spcAft>
                <a:spcPts val="400"/>
              </a:spcAft>
            </a:pPr>
            <a:r>
              <a:rPr sz="1000" b="1" i="1">
                <a:solidFill>
                  <a:srgbClr val="E0764F"/>
                </a:solidFill>
                <a:latin typeface="Inter"/>
              </a:rPr>
              <a:t>76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Sesi 2</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Learning Outcome</a:t>
            </a:r>
          </a:p>
        </p:txBody>
      </p:sp>
      <p:sp>
        <p:nvSpPr>
          <p:cNvPr id="22" name="Box 3"/>
          <p:cNvSpPr/>
          <p:nvPr/>
        </p:nvSpPr>
        <p:spPr>
          <a:xfrm>
            <a:off x="621792" y="1600200"/>
            <a:ext cx="2523744" cy="2011680"/>
          </a:xfrm>
          <a:prstGeom prst="roundRect">
            <a:avLst>
              <a:gd name="adj" fmla="val 5454"/>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Box 4"/>
          <p:cNvSpPr/>
          <p:nvPr/>
        </p:nvSpPr>
        <p:spPr>
          <a:xfrm>
            <a:off x="758952"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1</a:t>
            </a:r>
          </a:p>
        </p:txBody>
      </p:sp>
      <p:sp>
        <p:nvSpPr>
          <p:cNvPr id="24" name="Text 5"/>
          <p:cNvSpPr txBox="1"/>
          <p:nvPr/>
        </p:nvSpPr>
        <p:spPr>
          <a:xfrm>
            <a:off x="1170432"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SOLID &amp; code smell</a:t>
            </a:r>
          </a:p>
        </p:txBody>
      </p:sp>
      <p:sp>
        <p:nvSpPr>
          <p:cNvPr id="25" name="Text 6"/>
          <p:cNvSpPr txBox="1"/>
          <p:nvPr/>
        </p:nvSpPr>
        <p:spPr>
          <a:xfrm>
            <a:off x="758952"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Mengenali pelanggaran SOLID di codebase dan memperbaiki coupling antar modul.</a:t>
            </a:r>
          </a:p>
        </p:txBody>
      </p:sp>
      <p:sp>
        <p:nvSpPr>
          <p:cNvPr id="26" name="Box 7"/>
          <p:cNvSpPr/>
          <p:nvPr/>
        </p:nvSpPr>
        <p:spPr>
          <a:xfrm>
            <a:off x="3291840" y="1600200"/>
            <a:ext cx="2523744" cy="2011680"/>
          </a:xfrm>
          <a:prstGeom prst="roundRect">
            <a:avLst>
              <a:gd name="adj" fmla="val 5454"/>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7" name="Box 8"/>
          <p:cNvSpPr/>
          <p:nvPr/>
        </p:nvSpPr>
        <p:spPr>
          <a:xfrm>
            <a:off x="3429000"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2</a:t>
            </a:r>
          </a:p>
        </p:txBody>
      </p:sp>
      <p:sp>
        <p:nvSpPr>
          <p:cNvPr id="28" name="Text 9"/>
          <p:cNvSpPr txBox="1"/>
          <p:nvPr/>
        </p:nvSpPr>
        <p:spPr>
          <a:xfrm>
            <a:off x="3840480" y="1709928"/>
            <a:ext cx="1883663"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Clean Architecture</a:t>
            </a:r>
          </a:p>
        </p:txBody>
      </p:sp>
      <p:sp>
        <p:nvSpPr>
          <p:cNvPr id="29" name="Text 10"/>
          <p:cNvSpPr txBox="1"/>
          <p:nvPr/>
        </p:nvSpPr>
        <p:spPr>
          <a:xfrm>
            <a:off x="3429000"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Merancang batas dependency antar layer: domain, application, infrastructure, API.</a:t>
            </a:r>
          </a:p>
        </p:txBody>
      </p:sp>
      <p:sp>
        <p:nvSpPr>
          <p:cNvPr id="30" name="Box 11"/>
          <p:cNvSpPr/>
          <p:nvPr/>
        </p:nvSpPr>
        <p:spPr>
          <a:xfrm>
            <a:off x="5961888" y="1600200"/>
            <a:ext cx="2523744" cy="2011680"/>
          </a:xfrm>
          <a:prstGeom prst="roundRect">
            <a:avLst>
              <a:gd name="adj" fmla="val 545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Box 12"/>
          <p:cNvSpPr/>
          <p:nvPr/>
        </p:nvSpPr>
        <p:spPr>
          <a:xfrm>
            <a:off x="6099048" y="1737360"/>
            <a:ext cx="329184" cy="32918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1100" b="1" i="0">
                <a:solidFill>
                  <a:srgbClr val="FFFFFF"/>
                </a:solidFill>
                <a:latin typeface="Inter"/>
              </a:rPr>
              <a:t>3</a:t>
            </a:r>
          </a:p>
        </p:txBody>
      </p:sp>
      <p:sp>
        <p:nvSpPr>
          <p:cNvPr id="32" name="Text 13"/>
          <p:cNvSpPr txBox="1"/>
          <p:nvPr/>
        </p:nvSpPr>
        <p:spPr>
          <a:xfrm>
            <a:off x="6510527" y="1709928"/>
            <a:ext cx="1883664" cy="384048"/>
          </a:xfrm>
          <a:prstGeom prst="rect">
            <a:avLst/>
          </a:prstGeom>
          <a:noFill/>
        </p:spPr>
        <p:txBody>
          <a:bodyPr wrap="square" lIns="45720" rIns="45720" anchor="ctr">
            <a:spAutoFit/>
          </a:bodyPr>
          <a:lstStyle/>
          <a:p>
            <a:pPr algn="l">
              <a:lnSpc>
                <a:spcPct val="115000"/>
              </a:lnSpc>
              <a:spcAft>
                <a:spcPts val="400"/>
              </a:spcAft>
            </a:pPr>
            <a:r>
              <a:rPr sz="1200" b="1" i="0">
                <a:solidFill>
                  <a:srgbClr val="1C4587"/>
                </a:solidFill>
                <a:latin typeface="Inter"/>
              </a:rPr>
              <a:t>Dependency Injection</a:t>
            </a:r>
          </a:p>
        </p:txBody>
      </p:sp>
      <p:sp>
        <p:nvSpPr>
          <p:cNvPr id="33" name="Text 14"/>
          <p:cNvSpPr txBox="1"/>
          <p:nvPr/>
        </p:nvSpPr>
        <p:spPr>
          <a:xfrm>
            <a:off x="6099048" y="2148840"/>
            <a:ext cx="2249424" cy="137160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Memakai </a:t>
            </a:r>
            <a:r>
              <a:rPr sz="1050" b="0" i="0">
                <a:solidFill>
                  <a:srgbClr val="B5482A"/>
                </a:solidFill>
                <a:latin typeface="Inconsolata"/>
              </a:rPr>
              <a:t>Depends</a:t>
            </a:r>
            <a:r>
              <a:rPr sz="1050" b="0" i="0">
                <a:solidFill>
                  <a:srgbClr val="434343"/>
                </a:solidFill>
                <a:latin typeface="Inter"/>
              </a:rPr>
              <a:t> FastAPI dan membuat unit test yang tidak bergantung ke database.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Order Management API</a:t>
            </a:r>
          </a:p>
        </p:txBody>
      </p:sp>
      <p:sp>
        <p:nvSpPr>
          <p:cNvPr id="22" name="Text 3"/>
          <p:cNvSpPr txBox="1"/>
          <p:nvPr/>
        </p:nvSpPr>
        <p:spPr>
          <a:xfrm>
            <a:off x="621792" y="1481328"/>
            <a:ext cx="4297680" cy="324612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Pada training ini, kita akan memakai satu tema yang sama dari awal sampai akhir, yaitu </a:t>
            </a:r>
            <a:r>
              <a:rPr sz="1000" b="1" i="0">
                <a:solidFill>
                  <a:srgbClr val="434343"/>
                </a:solidFill>
                <a:latin typeface="Inter"/>
              </a:rPr>
              <a:t>Order Management API</a:t>
            </a:r>
            <a:r>
              <a:rPr sz="1000" b="0" i="0">
                <a:solidFill>
                  <a:srgbClr val="434343"/>
                </a:solidFill>
                <a:latin typeface="Inter"/>
              </a:rPr>
              <a:t>: API sederhana untuk menerima order, menghitung diskon, menyimpan data order, dan mengirim notifikasi ke customer.</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Aplikasi ini kita kembangkan sedikit demi sedikit di setiap sesi. Di Sesi 1 kita mulai dari kode yang masih ditulis di satu file, lalu merapikannya. Hasil akhir setiap sesi menjadi titik awal sesi berikutnya, sampai di Sesi 12 menjadi Order API yang siap production.</a:t>
            </a:r>
          </a:p>
          <a:p>
            <a:pPr algn="l">
              <a:lnSpc>
                <a:spcPct val="115000"/>
              </a:lnSpc>
              <a:spcAft>
                <a:spcPts val="0"/>
              </a:spcAft>
            </a:pPr>
            <a:endParaRPr sz="1000" b="0" i="0">
              <a:solidFill>
                <a:srgbClr val="434343"/>
              </a:solidFill>
              <a:latin typeface="Inter"/>
            </a:endParaRPr>
          </a:p>
          <a:p>
            <a:pPr algn="l">
              <a:lnSpc>
                <a:spcPct val="115000"/>
              </a:lnSpc>
              <a:spcAft>
                <a:spcPts val="400"/>
              </a:spcAft>
            </a:pPr>
            <a:r>
              <a:rPr sz="1000" b="0" i="0">
                <a:solidFill>
                  <a:srgbClr val="434343"/>
                </a:solidFill>
                <a:latin typeface="Inter"/>
              </a:rPr>
              <a:t>Di Sesi 2 (SOLID &amp; Clean Architecture): dipisah per layer: domain, application, infrastructure, api.</a:t>
            </a:r>
          </a:p>
        </p:txBody>
      </p:sp>
      <p:sp>
        <p:nvSpPr>
          <p:cNvPr id="23" name="Box 4"/>
          <p:cNvSpPr/>
          <p:nvPr/>
        </p:nvSpPr>
        <p:spPr>
          <a:xfrm>
            <a:off x="5120640" y="1600200"/>
            <a:ext cx="1828800" cy="402336"/>
          </a:xfrm>
          <a:prstGeom prst="roundRect">
            <a:avLst>
              <a:gd name="adj" fmla="val 27272"/>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Terima order</a:t>
            </a:r>
          </a:p>
        </p:txBody>
      </p:sp>
      <p:sp>
        <p:nvSpPr>
          <p:cNvPr id="24" name="Box 5"/>
          <p:cNvSpPr/>
          <p:nvPr/>
        </p:nvSpPr>
        <p:spPr>
          <a:xfrm>
            <a:off x="5120640" y="2167128"/>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Hitung diskon</a:t>
            </a:r>
          </a:p>
        </p:txBody>
      </p:sp>
      <p:cxnSp>
        <p:nvCxnSpPr>
          <p:cNvPr id="25" name="Arrow 6"/>
          <p:cNvCxnSpPr/>
          <p:nvPr/>
        </p:nvCxnSpPr>
        <p:spPr>
          <a:xfrm>
            <a:off x="6035040" y="2002536"/>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Box 7"/>
          <p:cNvSpPr/>
          <p:nvPr/>
        </p:nvSpPr>
        <p:spPr>
          <a:xfrm>
            <a:off x="5120640" y="2734056"/>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Simpan ke database</a:t>
            </a:r>
          </a:p>
        </p:txBody>
      </p:sp>
      <p:cxnSp>
        <p:nvCxnSpPr>
          <p:cNvPr id="27" name="Arrow 8"/>
          <p:cNvCxnSpPr/>
          <p:nvPr/>
        </p:nvCxnSpPr>
        <p:spPr>
          <a:xfrm>
            <a:off x="6035040" y="2569464"/>
            <a:ext cx="0" cy="164592"/>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Box 9"/>
          <p:cNvSpPr/>
          <p:nvPr/>
        </p:nvSpPr>
        <p:spPr>
          <a:xfrm>
            <a:off x="5120640" y="3300984"/>
            <a:ext cx="1828800" cy="402336"/>
          </a:xfrm>
          <a:prstGeom prst="roundRect">
            <a:avLst>
              <a:gd name="adj" fmla="val 27272"/>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Kirim notifikasi</a:t>
            </a:r>
          </a:p>
        </p:txBody>
      </p:sp>
      <p:cxnSp>
        <p:nvCxnSpPr>
          <p:cNvPr id="29" name="Arrow 10"/>
          <p:cNvCxnSpPr/>
          <p:nvPr/>
        </p:nvCxnSpPr>
        <p:spPr>
          <a:xfrm>
            <a:off x="6035040" y="3136391"/>
            <a:ext cx="0" cy="164593"/>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 11"/>
          <p:cNvSpPr txBox="1"/>
          <p:nvPr/>
        </p:nvSpPr>
        <p:spPr>
          <a:xfrm>
            <a:off x="7086600" y="1600200"/>
            <a:ext cx="1417320" cy="2103120"/>
          </a:xfrm>
          <a:prstGeom prst="rect">
            <a:avLst/>
          </a:prstGeom>
          <a:noFill/>
        </p:spPr>
        <p:txBody>
          <a:bodyPr wrap="square" lIns="45720" rIns="45720" anchor="t">
            <a:spAutoFit/>
          </a:bodyPr>
          <a:lstStyle/>
          <a:p>
            <a:pPr algn="l">
              <a:lnSpc>
                <a:spcPct val="115000"/>
              </a:lnSpc>
              <a:spcAft>
                <a:spcPts val="400"/>
              </a:spcAft>
            </a:pPr>
            <a:r>
              <a:rPr sz="900" b="1" i="0">
                <a:solidFill>
                  <a:srgbClr val="7A7A7A"/>
                </a:solidFill>
                <a:latin typeface="Inter"/>
              </a:rPr>
              <a:t>Aturan diskon</a:t>
            </a:r>
          </a:p>
          <a:p>
            <a:pPr algn="l">
              <a:lnSpc>
                <a:spcPct val="115000"/>
              </a:lnSpc>
              <a:spcAft>
                <a:spcPts val="400"/>
              </a:spcAft>
            </a:pPr>
            <a:r>
              <a:rPr sz="900" b="0" i="0">
                <a:solidFill>
                  <a:srgbClr val="7A7A7A"/>
                </a:solidFill>
                <a:latin typeface="Inter"/>
              </a:rPr>
              <a:t>regular: 0%</a:t>
            </a:r>
          </a:p>
          <a:p>
            <a:pPr algn="l">
              <a:lnSpc>
                <a:spcPct val="115000"/>
              </a:lnSpc>
              <a:spcAft>
                <a:spcPts val="400"/>
              </a:spcAft>
            </a:pPr>
            <a:r>
              <a:rPr sz="900" b="0" i="0">
                <a:solidFill>
                  <a:srgbClr val="7A7A7A"/>
                </a:solidFill>
                <a:latin typeface="Inter"/>
              </a:rPr>
              <a:t>member: 5%</a:t>
            </a:r>
          </a:p>
          <a:p>
            <a:pPr algn="l">
              <a:lnSpc>
                <a:spcPct val="115000"/>
              </a:lnSpc>
              <a:spcAft>
                <a:spcPts val="400"/>
              </a:spcAft>
            </a:pPr>
            <a:r>
              <a:rPr sz="900" b="0" i="0">
                <a:solidFill>
                  <a:srgbClr val="7A7A7A"/>
                </a:solidFill>
                <a:latin typeface="Inter"/>
              </a:rPr>
              <a:t>vip: 10%</a:t>
            </a:r>
          </a:p>
          <a:p>
            <a:pPr algn="l">
              <a:lnSpc>
                <a:spcPct val="115000"/>
              </a:lnSpc>
              <a:spcAft>
                <a:spcPts val="0"/>
              </a:spcAft>
            </a:pPr>
            <a:endParaRPr sz="900" b="0" i="0">
              <a:solidFill>
                <a:srgbClr val="7A7A7A"/>
              </a:solidFill>
              <a:latin typeface="Inter"/>
            </a:endParaRPr>
          </a:p>
          <a:p>
            <a:pPr algn="l">
              <a:lnSpc>
                <a:spcPct val="115000"/>
              </a:lnSpc>
              <a:spcAft>
                <a:spcPts val="400"/>
              </a:spcAft>
            </a:pPr>
            <a:r>
              <a:rPr sz="900" b="1" i="0">
                <a:solidFill>
                  <a:srgbClr val="7A7A7A"/>
                </a:solidFill>
                <a:latin typeface="Inter"/>
              </a:rPr>
              <a:t>Notifikasi</a:t>
            </a:r>
          </a:p>
          <a:p>
            <a:pPr algn="l">
              <a:lnSpc>
                <a:spcPct val="115000"/>
              </a:lnSpc>
              <a:spcAft>
                <a:spcPts val="400"/>
              </a:spcAft>
            </a:pPr>
            <a:r>
              <a:rPr sz="900" b="0" i="0">
                <a:solidFill>
                  <a:srgbClr val="7A7A7A"/>
                </a:solidFill>
                <a:latin typeface="Inter"/>
              </a:rPr>
              <a:t>email atau 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Tema Training</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Tahapan Pengembangan Order API</a:t>
            </a:r>
          </a:p>
        </p:txBody>
      </p:sp>
      <p:graphicFrame>
        <p:nvGraphicFramePr>
          <p:cNvPr id="22" name="Table 3"/>
          <p:cNvGraphicFramePr>
            <a:graphicFrameLocks noGrp="1"/>
          </p:cNvGraphicFramePr>
          <p:nvPr/>
        </p:nvGraphicFramePr>
        <p:xfrm>
          <a:off x="621792" y="1463040"/>
          <a:ext cx="7863840" cy="3031236"/>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233172">
                <a:tc>
                  <a:txBody>
                    <a:bodyPr/>
                    <a:lstStyle/>
                    <a:p>
                      <a:pPr algn="l">
                        <a:lnSpc>
                          <a:spcPct val="100000"/>
                        </a:lnSpc>
                        <a:spcAft>
                          <a:spcPts val="0"/>
                        </a:spcAft>
                      </a:pPr>
                      <a:r>
                        <a:rPr sz="800" b="1" i="0">
                          <a:solidFill>
                            <a:srgbClr val="FFFFFF"/>
                          </a:solidFill>
                          <a:latin typeface="Inter"/>
                        </a:rPr>
                        <a:t>Sesi</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Topik</a:t>
                      </a:r>
                    </a:p>
                  </a:txBody>
                  <a:tcPr marL="73152" marR="73152" marT="36576" marB="36576" anchor="ctr">
                    <a:solidFill>
                      <a:srgbClr val="1C4587"/>
                    </a:solidFill>
                  </a:tcPr>
                </a:tc>
                <a:tc>
                  <a:txBody>
                    <a:bodyPr/>
                    <a:lstStyle/>
                    <a:p>
                      <a:pPr algn="l">
                        <a:lnSpc>
                          <a:spcPct val="100000"/>
                        </a:lnSpc>
                        <a:spcAft>
                          <a:spcPts val="0"/>
                        </a:spcAft>
                      </a:pPr>
                      <a:r>
                        <a:rPr sz="800" b="1" i="0">
                          <a:solidFill>
                            <a:srgbClr val="FFFFFF"/>
                          </a:solidFill>
                          <a:latin typeface="Inter"/>
                        </a:rPr>
                        <a:t>Yang ditambahkan ke Order API</a:t>
                      </a:r>
                    </a:p>
                  </a:txBody>
                  <a:tcPr marL="73152" marR="73152" marT="36576" marB="36576" anchor="ctr">
                    <a:solidFill>
                      <a:srgbClr val="1C4587"/>
                    </a:solidFill>
                  </a:tcPr>
                </a:tc>
                <a:extLst>
                  <a:ext uri="{0D108BD9-81ED-4DB2-BD59-A6C34878D82A}">
                    <a16:rowId xmlns:a16="http://schemas.microsoft.com/office/drawing/2014/main" val="10000"/>
                  </a:ext>
                </a:extLst>
              </a:tr>
              <a:tr h="233172">
                <a:tc>
                  <a:txBody>
                    <a:bodyPr/>
                    <a:lstStyle/>
                    <a:p>
                      <a:pPr algn="l">
                        <a:lnSpc>
                          <a:spcPct val="100000"/>
                        </a:lnSpc>
                        <a:spcAft>
                          <a:spcPts val="0"/>
                        </a:spcAft>
                      </a:pPr>
                      <a:r>
                        <a:rPr sz="800" b="1" i="0">
                          <a:solidFill>
                            <a:srgbClr val="1C4587"/>
                          </a:solidFill>
                          <a:latin typeface="Inter"/>
                        </a:rPr>
                        <a:t>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Design Patterns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Kode didalam satu file diperbaiki: Factory, Singleton, Strategy, Repository, Service Layer</a:t>
                      </a:r>
                    </a:p>
                  </a:txBody>
                  <a:tcPr marL="73152" marR="73152" marT="36576" marB="36576" anchor="ctr">
                    <a:solidFill>
                      <a:srgbClr val="FFFFFF"/>
                    </a:solidFill>
                  </a:tcPr>
                </a:tc>
                <a:extLst>
                  <a:ext uri="{0D108BD9-81ED-4DB2-BD59-A6C34878D82A}">
                    <a16:rowId xmlns:a16="http://schemas.microsoft.com/office/drawing/2014/main" val="10001"/>
                  </a:ext>
                </a:extLst>
              </a:tr>
              <a:tr h="233172">
                <a:tc>
                  <a:txBody>
                    <a:bodyPr/>
                    <a:lstStyle/>
                    <a:p>
                      <a:pPr algn="l">
                        <a:lnSpc>
                          <a:spcPct val="100000"/>
                        </a:lnSpc>
                        <a:spcAft>
                          <a:spcPts val="0"/>
                        </a:spcAft>
                      </a:pPr>
                      <a:r>
                        <a:rPr sz="800" b="1" i="0">
                          <a:solidFill>
                            <a:srgbClr val="1C4587"/>
                          </a:solidFill>
                          <a:latin typeface="Inter"/>
                        </a:rPr>
                        <a:t>2  (sesi ini)</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SOLID &amp; Clean Architecture</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Dipisah per layer: domain, application, infrastructure, api</a:t>
                      </a:r>
                    </a:p>
                  </a:txBody>
                  <a:tcPr marL="73152" marR="73152" marT="36576" marB="36576" anchor="ctr">
                    <a:solidFill>
                      <a:srgbClr val="F3F4F6"/>
                    </a:solidFill>
                  </a:tcPr>
                </a:tc>
                <a:extLst>
                  <a:ext uri="{0D108BD9-81ED-4DB2-BD59-A6C34878D82A}">
                    <a16:rowId xmlns:a16="http://schemas.microsoft.com/office/drawing/2014/main" val="10002"/>
                  </a:ext>
                </a:extLst>
              </a:tr>
              <a:tr h="233172">
                <a:tc>
                  <a:txBody>
                    <a:bodyPr/>
                    <a:lstStyle/>
                    <a:p>
                      <a:pPr algn="l">
                        <a:lnSpc>
                          <a:spcPct val="100000"/>
                        </a:lnSpc>
                        <a:spcAft>
                          <a:spcPts val="0"/>
                        </a:spcAft>
                      </a:pPr>
                      <a:r>
                        <a:rPr sz="800" b="1" i="0">
                          <a:solidFill>
                            <a:srgbClr val="1C4587"/>
                          </a:solidFill>
                          <a:latin typeface="Inter"/>
                        </a:rPr>
                        <a:t>3</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Domain-Driven Design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Order jadi aggregate, Money value object, aturan bayar &amp; batal</a:t>
                      </a:r>
                    </a:p>
                  </a:txBody>
                  <a:tcPr marL="73152" marR="73152" marT="36576" marB="36576" anchor="ctr">
                    <a:solidFill>
                      <a:srgbClr val="FFFFFF"/>
                    </a:solidFill>
                  </a:tcPr>
                </a:tc>
                <a:extLst>
                  <a:ext uri="{0D108BD9-81ED-4DB2-BD59-A6C34878D82A}">
                    <a16:rowId xmlns:a16="http://schemas.microsoft.com/office/drawing/2014/main" val="10003"/>
                  </a:ext>
                </a:extLst>
              </a:tr>
              <a:tr h="233172">
                <a:tc>
                  <a:txBody>
                    <a:bodyPr/>
                    <a:lstStyle/>
                    <a:p>
                      <a:pPr algn="l">
                        <a:lnSpc>
                          <a:spcPct val="100000"/>
                        </a:lnSpc>
                        <a:spcAft>
                          <a:spcPts val="0"/>
                        </a:spcAft>
                      </a:pPr>
                      <a:r>
                        <a:rPr sz="800" b="1" i="0">
                          <a:solidFill>
                            <a:srgbClr val="1C4587"/>
                          </a:solidFill>
                          <a:latin typeface="Inter"/>
                        </a:rPr>
                        <a:t>4</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Modular FastAPI &amp; ORM</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Router per modul, SQLAlchemy, Unit of Work, format error</a:t>
                      </a:r>
                    </a:p>
                  </a:txBody>
                  <a:tcPr marL="73152" marR="73152" marT="36576" marB="36576" anchor="ctr">
                    <a:solidFill>
                      <a:srgbClr val="F3F4F6"/>
                    </a:solidFill>
                  </a:tcPr>
                </a:tc>
                <a:extLst>
                  <a:ext uri="{0D108BD9-81ED-4DB2-BD59-A6C34878D82A}">
                    <a16:rowId xmlns:a16="http://schemas.microsoft.com/office/drawing/2014/main" val="10004"/>
                  </a:ext>
                </a:extLst>
              </a:tr>
              <a:tr h="233172">
                <a:tc>
                  <a:txBody>
                    <a:bodyPr/>
                    <a:lstStyle/>
                    <a:p>
                      <a:pPr algn="l">
                        <a:lnSpc>
                          <a:spcPct val="100000"/>
                        </a:lnSpc>
                        <a:spcAft>
                          <a:spcPts val="0"/>
                        </a:spcAft>
                      </a:pPr>
                      <a:r>
                        <a:rPr sz="800" b="1" i="0">
                          <a:solidFill>
                            <a:srgbClr val="1C4587"/>
                          </a:solidFill>
                          <a:latin typeface="Inter"/>
                        </a:rPr>
                        <a:t>5</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Celery &amp; Redis</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Notifikasi dan report dikerjakan di background job</a:t>
                      </a:r>
                    </a:p>
                  </a:txBody>
                  <a:tcPr marL="73152" marR="73152" marT="36576" marB="36576" anchor="ctr">
                    <a:solidFill>
                      <a:srgbClr val="FFFFFF"/>
                    </a:solidFill>
                  </a:tcPr>
                </a:tc>
                <a:extLst>
                  <a:ext uri="{0D108BD9-81ED-4DB2-BD59-A6C34878D82A}">
                    <a16:rowId xmlns:a16="http://schemas.microsoft.com/office/drawing/2014/main" val="10005"/>
                  </a:ext>
                </a:extLst>
              </a:tr>
              <a:tr h="233172">
                <a:tc>
                  <a:txBody>
                    <a:bodyPr/>
                    <a:lstStyle/>
                    <a:p>
                      <a:pPr algn="l">
                        <a:lnSpc>
                          <a:spcPct val="100000"/>
                        </a:lnSpc>
                        <a:spcAft>
                          <a:spcPts val="0"/>
                        </a:spcAft>
                      </a:pPr>
                      <a:r>
                        <a:rPr sz="800" b="1" i="0">
                          <a:solidFill>
                            <a:srgbClr val="1C4587"/>
                          </a:solidFill>
                          <a:latin typeface="Inter"/>
                        </a:rPr>
                        <a:t>6</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Caching &amp; Rate Limiting</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Data produk di-cache di Redis, request dibatasi</a:t>
                      </a:r>
                    </a:p>
                  </a:txBody>
                  <a:tcPr marL="73152" marR="73152" marT="36576" marB="36576" anchor="ctr">
                    <a:solidFill>
                      <a:srgbClr val="F3F4F6"/>
                    </a:solidFill>
                  </a:tcPr>
                </a:tc>
                <a:extLst>
                  <a:ext uri="{0D108BD9-81ED-4DB2-BD59-A6C34878D82A}">
                    <a16:rowId xmlns:a16="http://schemas.microsoft.com/office/drawing/2014/main" val="10006"/>
                  </a:ext>
                </a:extLst>
              </a:tr>
              <a:tr h="233172">
                <a:tc>
                  <a:txBody>
                    <a:bodyPr/>
                    <a:lstStyle/>
                    <a:p>
                      <a:pPr algn="l">
                        <a:lnSpc>
                          <a:spcPct val="100000"/>
                        </a:lnSpc>
                        <a:spcAft>
                          <a:spcPts val="0"/>
                        </a:spcAft>
                      </a:pPr>
                      <a:r>
                        <a:rPr sz="800" b="1" i="0">
                          <a:solidFill>
                            <a:srgbClr val="1C4587"/>
                          </a:solidFill>
                          <a:latin typeface="Inter"/>
                        </a:rPr>
                        <a:t>7</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Database Optimization</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PostgreSQL, index, tanpa N+1, pagination</a:t>
                      </a:r>
                    </a:p>
                  </a:txBody>
                  <a:tcPr marL="73152" marR="73152" marT="36576" marB="36576" anchor="ctr">
                    <a:solidFill>
                      <a:srgbClr val="FFFFFF"/>
                    </a:solidFill>
                  </a:tcPr>
                </a:tc>
                <a:extLst>
                  <a:ext uri="{0D108BD9-81ED-4DB2-BD59-A6C34878D82A}">
                    <a16:rowId xmlns:a16="http://schemas.microsoft.com/office/drawing/2014/main" val="10007"/>
                  </a:ext>
                </a:extLst>
              </a:tr>
              <a:tr h="233172">
                <a:tc>
                  <a:txBody>
                    <a:bodyPr/>
                    <a:lstStyle/>
                    <a:p>
                      <a:pPr algn="l">
                        <a:lnSpc>
                          <a:spcPct val="100000"/>
                        </a:lnSpc>
                        <a:spcAft>
                          <a:spcPts val="0"/>
                        </a:spcAft>
                      </a:pPr>
                      <a:r>
                        <a:rPr sz="800" b="1" i="0">
                          <a:solidFill>
                            <a:srgbClr val="1C4587"/>
                          </a:solidFill>
                          <a:latin typeface="Inter"/>
                        </a:rPr>
                        <a:t>8</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RabbitMQ &amp; Kafka</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Event order, consumer notifikasi yang retry-safe</a:t>
                      </a:r>
                    </a:p>
                  </a:txBody>
                  <a:tcPr marL="73152" marR="73152" marT="36576" marB="36576" anchor="ctr">
                    <a:solidFill>
                      <a:srgbClr val="F3F4F6"/>
                    </a:solidFill>
                  </a:tcPr>
                </a:tc>
                <a:extLst>
                  <a:ext uri="{0D108BD9-81ED-4DB2-BD59-A6C34878D82A}">
                    <a16:rowId xmlns:a16="http://schemas.microsoft.com/office/drawing/2014/main" val="10008"/>
                  </a:ext>
                </a:extLst>
              </a:tr>
              <a:tr h="233172">
                <a:tc>
                  <a:txBody>
                    <a:bodyPr/>
                    <a:lstStyle/>
                    <a:p>
                      <a:pPr algn="l">
                        <a:lnSpc>
                          <a:spcPct val="100000"/>
                        </a:lnSpc>
                        <a:spcAft>
                          <a:spcPts val="0"/>
                        </a:spcAft>
                      </a:pPr>
                      <a:r>
                        <a:rPr sz="800" b="1" i="0">
                          <a:solidFill>
                            <a:srgbClr val="1C4587"/>
                          </a:solidFill>
                          <a:latin typeface="Inter"/>
                        </a:rPr>
                        <a:t>9</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Observability</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Log terstruktur, metrics, dan tracing</a:t>
                      </a:r>
                    </a:p>
                  </a:txBody>
                  <a:tcPr marL="73152" marR="73152" marT="36576" marB="36576" anchor="ctr">
                    <a:solidFill>
                      <a:srgbClr val="FFFFFF"/>
                    </a:solidFill>
                  </a:tcPr>
                </a:tc>
                <a:extLst>
                  <a:ext uri="{0D108BD9-81ED-4DB2-BD59-A6C34878D82A}">
                    <a16:rowId xmlns:a16="http://schemas.microsoft.com/office/drawing/2014/main" val="10009"/>
                  </a:ext>
                </a:extLst>
              </a:tr>
              <a:tr h="233172">
                <a:tc>
                  <a:txBody>
                    <a:bodyPr/>
                    <a:lstStyle/>
                    <a:p>
                      <a:pPr algn="l">
                        <a:lnSpc>
                          <a:spcPct val="100000"/>
                        </a:lnSpc>
                        <a:spcAft>
                          <a:spcPts val="0"/>
                        </a:spcAft>
                      </a:pPr>
                      <a:r>
                        <a:rPr sz="800" b="1" i="0">
                          <a:solidFill>
                            <a:srgbClr val="1C4587"/>
                          </a:solidFill>
                          <a:latin typeface="Inter"/>
                        </a:rPr>
                        <a:t>10</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API Security</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Login OAuth2/JWT, hak akses per role</a:t>
                      </a:r>
                    </a:p>
                  </a:txBody>
                  <a:tcPr marL="73152" marR="73152" marT="36576" marB="36576" anchor="ctr">
                    <a:solidFill>
                      <a:srgbClr val="F3F4F6"/>
                    </a:solidFill>
                  </a:tcPr>
                </a:tc>
                <a:extLst>
                  <a:ext uri="{0D108BD9-81ED-4DB2-BD59-A6C34878D82A}">
                    <a16:rowId xmlns:a16="http://schemas.microsoft.com/office/drawing/2014/main" val="10010"/>
                  </a:ext>
                </a:extLst>
              </a:tr>
              <a:tr h="233172">
                <a:tc>
                  <a:txBody>
                    <a:bodyPr/>
                    <a:lstStyle/>
                    <a:p>
                      <a:pPr algn="l">
                        <a:lnSpc>
                          <a:spcPct val="100000"/>
                        </a:lnSpc>
                        <a:spcAft>
                          <a:spcPts val="0"/>
                        </a:spcAft>
                      </a:pPr>
                      <a:r>
                        <a:rPr sz="800" b="1" i="0">
                          <a:solidFill>
                            <a:srgbClr val="1C4587"/>
                          </a:solidFill>
                          <a:latin typeface="Inter"/>
                        </a:rPr>
                        <a:t>11</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&amp; CI/CD</a:t>
                      </a:r>
                    </a:p>
                  </a:txBody>
                  <a:tcPr marL="73152" marR="73152" marT="36576" marB="36576" anchor="ctr">
                    <a:solidFill>
                      <a:srgbClr val="FFFFFF"/>
                    </a:solidFill>
                  </a:tcPr>
                </a:tc>
                <a:tc>
                  <a:txBody>
                    <a:bodyPr/>
                    <a:lstStyle/>
                    <a:p>
                      <a:pPr algn="l">
                        <a:lnSpc>
                          <a:spcPct val="100000"/>
                        </a:lnSpc>
                        <a:spcAft>
                          <a:spcPts val="0"/>
                        </a:spcAft>
                      </a:pPr>
                      <a:r>
                        <a:rPr sz="800" b="0" i="0">
                          <a:solidFill>
                            <a:srgbClr val="434343"/>
                          </a:solidFill>
                          <a:latin typeface="Inter"/>
                        </a:rPr>
                        <a:t>Docker image, Compose, dan pipeline otomatis</a:t>
                      </a:r>
                    </a:p>
                  </a:txBody>
                  <a:tcPr marL="73152" marR="73152" marT="36576" marB="36576" anchor="ctr">
                    <a:solidFill>
                      <a:srgbClr val="FFFFFF"/>
                    </a:solidFill>
                  </a:tcPr>
                </a:tc>
                <a:extLst>
                  <a:ext uri="{0D108BD9-81ED-4DB2-BD59-A6C34878D82A}">
                    <a16:rowId xmlns:a16="http://schemas.microsoft.com/office/drawing/2014/main" val="10011"/>
                  </a:ext>
                </a:extLst>
              </a:tr>
              <a:tr h="233172">
                <a:tc>
                  <a:txBody>
                    <a:bodyPr/>
                    <a:lstStyle/>
                    <a:p>
                      <a:pPr algn="l">
                        <a:lnSpc>
                          <a:spcPct val="100000"/>
                        </a:lnSpc>
                        <a:spcAft>
                          <a:spcPts val="0"/>
                        </a:spcAft>
                      </a:pPr>
                      <a:r>
                        <a:rPr sz="800" b="1" i="0">
                          <a:solidFill>
                            <a:srgbClr val="1C4587"/>
                          </a:solidFill>
                          <a:latin typeface="Inter"/>
                        </a:rPr>
                        <a:t>12</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Final Project</a:t>
                      </a:r>
                    </a:p>
                  </a:txBody>
                  <a:tcPr marL="73152" marR="73152" marT="36576" marB="36576" anchor="ctr">
                    <a:solidFill>
                      <a:srgbClr val="F3F4F6"/>
                    </a:solidFill>
                  </a:tcPr>
                </a:tc>
                <a:tc>
                  <a:txBody>
                    <a:bodyPr/>
                    <a:lstStyle/>
                    <a:p>
                      <a:pPr algn="l">
                        <a:lnSpc>
                          <a:spcPct val="100000"/>
                        </a:lnSpc>
                        <a:spcAft>
                          <a:spcPts val="0"/>
                        </a:spcAft>
                      </a:pPr>
                      <a:r>
                        <a:rPr sz="800" b="0" i="0">
                          <a:solidFill>
                            <a:srgbClr val="434343"/>
                          </a:solidFill>
                          <a:latin typeface="Inter"/>
                        </a:rPr>
                        <a:t>Order API yang siap production</a:t>
                      </a:r>
                    </a:p>
                  </a:txBody>
                  <a:tcPr marL="73152" marR="73152" marT="36576" marB="36576" anchor="ctr">
                    <a:solidFill>
                      <a:srgbClr val="F3F4F6"/>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01</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SOLID &amp; Code Smell</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Lima prinsip supaya class mudah diubah tanpa merusak bagian lain.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SOLID</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SOLID dan Code Smell?</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SOLID adalah</a:t>
            </a:r>
          </a:p>
          <a:p>
            <a:pPr algn="l">
              <a:lnSpc>
                <a:spcPct val="115000"/>
              </a:lnSpc>
              <a:spcAft>
                <a:spcPts val="400"/>
              </a:spcAft>
            </a:pPr>
            <a:r>
              <a:rPr sz="950" b="0" i="0">
                <a:solidFill>
                  <a:srgbClr val="434343"/>
                </a:solidFill>
                <a:latin typeface="Inter"/>
              </a:rPr>
              <a:t>Lima </a:t>
            </a:r>
            <a:r>
              <a:rPr sz="950" b="1" i="0">
                <a:solidFill>
                  <a:srgbClr val="434343"/>
                </a:solidFill>
                <a:latin typeface="Inter"/>
              </a:rPr>
              <a:t>prinsip desain</a:t>
            </a:r>
            <a:r>
              <a:rPr sz="950" b="0" i="0">
                <a:solidFill>
                  <a:srgbClr val="434343"/>
                </a:solidFill>
                <a:latin typeface="Inter"/>
              </a:rPr>
              <a:t> class yang dikumpulkan oleh Robert C. Martin. Nama SOLID diambil dari huruf depan kelima prinsipnya. Tujuannya supaya kode </a:t>
            </a:r>
            <a:r>
              <a:rPr sz="950" b="1" i="0">
                <a:solidFill>
                  <a:srgbClr val="434343"/>
                </a:solidFill>
                <a:latin typeface="Inter"/>
              </a:rPr>
              <a:t>mudah diubah dan mudah dites</a:t>
            </a:r>
            <a:r>
              <a:rPr sz="950" b="0" i="0">
                <a:solidFill>
                  <a:srgbClr val="434343"/>
                </a:solidFill>
                <a:latin typeface="Inter"/>
              </a:rPr>
              <a:t>.</a:t>
            </a:r>
          </a:p>
          <a:p>
            <a:pPr algn="l">
              <a:lnSpc>
                <a:spcPct val="115000"/>
              </a:lnSpc>
              <a:spcAft>
                <a:spcPts val="400"/>
              </a:spcAft>
            </a:pPr>
            <a:r>
              <a:rPr sz="1050" b="1" i="0">
                <a:solidFill>
                  <a:srgbClr val="1C4587"/>
                </a:solidFill>
                <a:latin typeface="Inter"/>
              </a:rPr>
              <a:t>Code smell adalah</a:t>
            </a:r>
          </a:p>
          <a:p>
            <a:pPr algn="l">
              <a:lnSpc>
                <a:spcPct val="115000"/>
              </a:lnSpc>
              <a:spcAft>
                <a:spcPts val="400"/>
              </a:spcAft>
            </a:pPr>
            <a:r>
              <a:rPr sz="950" b="0" i="0">
                <a:solidFill>
                  <a:srgbClr val="434343"/>
                </a:solidFill>
                <a:latin typeface="Inter"/>
              </a:rPr>
              <a:t>Istilah dari Kent Beck dan Martin Fowler untuk </a:t>
            </a:r>
            <a:r>
              <a:rPr sz="950" b="1" i="0">
                <a:solidFill>
                  <a:srgbClr val="434343"/>
                </a:solidFill>
                <a:latin typeface="Inter"/>
              </a:rPr>
              <a:t>gejala</a:t>
            </a:r>
            <a:r>
              <a:rPr sz="950" b="0" i="0">
                <a:solidFill>
                  <a:srgbClr val="434343"/>
                </a:solidFill>
                <a:latin typeface="Inter"/>
              </a:rPr>
              <a:t> di kode yang menandakan ada masalah desain. Kodenya masih jalan, tapi makin susah diubah. Contohnya if/elif yang terus bertambah, atau satu class yang mengerjakan semuanya.</a:t>
            </a:r>
          </a:p>
          <a:p>
            <a:pPr algn="l">
              <a:lnSpc>
                <a:spcPct val="115000"/>
              </a:lnSpc>
              <a:spcAft>
                <a:spcPts val="400"/>
              </a:spcAft>
            </a:pPr>
            <a:r>
              <a:rPr sz="1050" b="1" i="0">
                <a:solidFill>
                  <a:srgbClr val="1C4587"/>
                </a:solidFill>
                <a:latin typeface="Inter"/>
              </a:rPr>
              <a:t>Perbedaan prinsip dan design pattern</a:t>
            </a:r>
          </a:p>
          <a:p>
            <a:pPr algn="l">
              <a:lnSpc>
                <a:spcPct val="115000"/>
              </a:lnSpc>
              <a:spcAft>
                <a:spcPts val="400"/>
              </a:spcAft>
            </a:pPr>
            <a:r>
              <a:rPr sz="950" b="0" i="0">
                <a:solidFill>
                  <a:srgbClr val="434343"/>
                </a:solidFill>
                <a:latin typeface="Inter"/>
              </a:rPr>
              <a:t>Prinsip adalah panduan umum dalam mendesain kode. Design pattern di Sesi 1 adalah contoh cara menerapkan prinsip tersebut.</a:t>
            </a:r>
          </a:p>
        </p:txBody>
      </p:sp>
      <p:graphicFrame>
        <p:nvGraphicFramePr>
          <p:cNvPr id="23" name="Table 4"/>
          <p:cNvGraphicFramePr>
            <a:graphicFrameLocks noGrp="1"/>
          </p:cNvGraphicFramePr>
          <p:nvPr/>
        </p:nvGraphicFramePr>
        <p:xfrm>
          <a:off x="4892040" y="1481328"/>
          <a:ext cx="3593592" cy="27432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130552">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Prinsip</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Diterapkan dengan (Sesi 1)</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Single Responsibility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Service Layer, Repository</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Open/Closed</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Strategy, Factory</a:t>
                      </a:r>
                    </a:p>
                  </a:txBody>
                  <a:tcPr marL="73152" marR="73152" marT="36576" marB="36576" anchor="ctr">
                    <a:solidFill>
                      <a:srgbClr val="F3F4F6"/>
                    </a:solidFill>
                  </a:tcPr>
                </a:tc>
                <a:extLst>
                  <a:ext uri="{0D108BD9-81ED-4DB2-BD59-A6C34878D82A}">
                    <a16:rowId xmlns:a16="http://schemas.microsoft.com/office/drawing/2014/main" val="10002"/>
                  </a:ext>
                </a:extLst>
              </a:tr>
              <a:tr h="457200">
                <a:tc>
                  <a:txBody>
                    <a:bodyPr/>
                    <a:lstStyle/>
                    <a:p>
                      <a:pPr algn="l">
                        <a:lnSpc>
                          <a:spcPct val="100000"/>
                        </a:lnSpc>
                        <a:spcAft>
                          <a:spcPts val="0"/>
                        </a:spcAft>
                      </a:pPr>
                      <a:r>
                        <a:rPr sz="850" b="1" i="0">
                          <a:solidFill>
                            <a:srgbClr val="1C4587"/>
                          </a:solidFill>
                          <a:latin typeface="Inter"/>
                        </a:rPr>
                        <a:t>Liskov Substitution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Semua strategy ikut kontrak yang sama</a:t>
                      </a:r>
                    </a:p>
                  </a:txBody>
                  <a:tcPr marL="73152" marR="73152" marT="36576" marB="36576" anchor="ctr">
                    <a:solidFill>
                      <a:srgbClr val="FFFFFF"/>
                    </a:solidFill>
                  </a:tcPr>
                </a:tc>
                <a:extLst>
                  <a:ext uri="{0D108BD9-81ED-4DB2-BD59-A6C34878D82A}">
                    <a16:rowId xmlns:a16="http://schemas.microsoft.com/office/drawing/2014/main" val="10003"/>
                  </a:ext>
                </a:extLst>
              </a:tr>
              <a:tr h="457200">
                <a:tc>
                  <a:txBody>
                    <a:bodyPr/>
                    <a:lstStyle/>
                    <a:p>
                      <a:pPr algn="l">
                        <a:lnSpc>
                          <a:spcPct val="100000"/>
                        </a:lnSpc>
                        <a:spcAft>
                          <a:spcPts val="0"/>
                        </a:spcAft>
                      </a:pPr>
                      <a:r>
                        <a:rPr sz="850" b="1" i="0">
                          <a:solidFill>
                            <a:srgbClr val="1C4587"/>
                          </a:solidFill>
                          <a:latin typeface="Inter"/>
                        </a:rPr>
                        <a:t>Interface Segregation</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Protocol kecil: Notifier, OrderRepository</a:t>
                      </a:r>
                    </a:p>
                  </a:txBody>
                  <a:tcPr marL="73152" marR="73152" marT="36576" marB="36576" anchor="ctr">
                    <a:solidFill>
                      <a:srgbClr val="F3F4F6"/>
                    </a:solidFill>
                  </a:tcPr>
                </a:tc>
                <a:extLst>
                  <a:ext uri="{0D108BD9-81ED-4DB2-BD59-A6C34878D82A}">
                    <a16:rowId xmlns:a16="http://schemas.microsoft.com/office/drawing/2014/main" val="10004"/>
                  </a:ext>
                </a:extLst>
              </a:tr>
              <a:tr h="457200">
                <a:tc>
                  <a:txBody>
                    <a:bodyPr/>
                    <a:lstStyle/>
                    <a:p>
                      <a:pPr algn="l">
                        <a:lnSpc>
                          <a:spcPct val="100000"/>
                        </a:lnSpc>
                        <a:spcAft>
                          <a:spcPts val="0"/>
                        </a:spcAft>
                      </a:pPr>
                      <a:r>
                        <a:rPr sz="850" b="1" i="0">
                          <a:solidFill>
                            <a:srgbClr val="1C4587"/>
                          </a:solidFill>
                          <a:latin typeface="Inter"/>
                        </a:rPr>
                        <a:t>Dependency Inversion</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Repository dikirim dari luar</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 · Single Responsibility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Single Responsibility?</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Single Responsibility adalah</a:t>
            </a:r>
          </a:p>
          <a:p>
            <a:pPr algn="l">
              <a:lnSpc>
                <a:spcPct val="115000"/>
              </a:lnSpc>
              <a:spcAft>
                <a:spcPts val="400"/>
              </a:spcAft>
            </a:pPr>
            <a:r>
              <a:rPr sz="950" b="0" i="0">
                <a:solidFill>
                  <a:srgbClr val="434343"/>
                </a:solidFill>
                <a:latin typeface="Inter"/>
              </a:rPr>
              <a:t>Prinsip bahwa satu class hanya punya </a:t>
            </a:r>
            <a:r>
              <a:rPr sz="950" b="1" i="0">
                <a:solidFill>
                  <a:srgbClr val="434343"/>
                </a:solidFill>
                <a:latin typeface="Inter"/>
              </a:rPr>
              <a:t>satu tugas</a:t>
            </a:r>
            <a:r>
              <a:rPr sz="950" b="0" i="0">
                <a:solidFill>
                  <a:srgbClr val="434343"/>
                </a:solidFill>
                <a:latin typeface="Inter"/>
              </a:rPr>
              <a:t>, sehingga hanya ada </a:t>
            </a:r>
            <a:r>
              <a:rPr sz="950" b="1" i="0">
                <a:solidFill>
                  <a:srgbClr val="434343"/>
                </a:solidFill>
                <a:latin typeface="Inter"/>
              </a:rPr>
              <a:t>satu alasan</a:t>
            </a:r>
            <a:r>
              <a:rPr sz="950" b="0" i="0">
                <a:solidFill>
                  <a:srgbClr val="434343"/>
                </a:solidFill>
                <a:latin typeface="Inter"/>
              </a:rPr>
              <a:t> class itu diubah.</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Perubahan di satu bagian tidak merusak bagian lain</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Class lebih pendek dan lebih mudah dites</a:t>
            </a:r>
          </a:p>
          <a:p>
            <a:pPr algn="l">
              <a:lnSpc>
                <a:spcPct val="115000"/>
              </a:lnSpc>
              <a:spcAft>
                <a:spcPts val="400"/>
              </a:spcAft>
            </a:pPr>
            <a:r>
              <a:rPr sz="1050" b="1" i="0">
                <a:solidFill>
                  <a:srgbClr val="1C4587"/>
                </a:solidFill>
                <a:latin typeface="Inter"/>
              </a:rPr>
              <a:t>Cara mengecek</a:t>
            </a:r>
          </a:p>
          <a:p>
            <a:pPr algn="l">
              <a:lnSpc>
                <a:spcPct val="115000"/>
              </a:lnSpc>
              <a:spcAft>
                <a:spcPts val="400"/>
              </a:spcAft>
            </a:pPr>
            <a:r>
              <a:rPr sz="950" b="0" i="0">
                <a:solidFill>
                  <a:srgbClr val="434343"/>
                </a:solidFill>
                <a:latin typeface="Inter"/>
              </a:rPr>
              <a:t>Tanyakan "Jika X berubah, class mana yang diedit?". Jika jawabannya selalu class yang sama untuk hal yang berbeda-beda, berarti SRP dilanggar.</a:t>
            </a:r>
          </a:p>
        </p:txBody>
      </p:sp>
      <p:sp>
        <p:nvSpPr>
          <p:cNvPr id="23" name="Box 4"/>
          <p:cNvSpPr/>
          <p:nvPr/>
        </p:nvSpPr>
        <p:spPr>
          <a:xfrm>
            <a:off x="4892040" y="1481328"/>
            <a:ext cx="3593592" cy="960120"/>
          </a:xfrm>
          <a:prstGeom prst="roundRect">
            <a:avLst>
              <a:gd name="adj" fmla="val 11428"/>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l">
              <a:lnSpc>
                <a:spcPct val="105000"/>
              </a:lnSpc>
              <a:spcAft>
                <a:spcPts val="200"/>
              </a:spcAft>
            </a:pPr>
            <a:r>
              <a:rPr sz="950" b="0" i="0">
                <a:solidFill>
                  <a:srgbClr val="434343"/>
                </a:solidFill>
                <a:latin typeface="Inter"/>
              </a:rPr>
              <a:t>"A class should have only one reason to change."</a:t>
            </a:r>
          </a:p>
          <a:p>
            <a:pPr algn="l">
              <a:lnSpc>
                <a:spcPct val="105000"/>
              </a:lnSpc>
              <a:spcAft>
                <a:spcPts val="200"/>
              </a:spcAft>
            </a:pPr>
            <a:r>
              <a:rPr sz="950" b="0" i="0">
                <a:solidFill>
                  <a:srgbClr val="434343"/>
                </a:solidFill>
                <a:latin typeface="Inter"/>
              </a:rPr>
              <a:t>Robert C. Martin</a:t>
            </a:r>
          </a:p>
        </p:txBody>
      </p:sp>
      <p:sp>
        <p:nvSpPr>
          <p:cNvPr id="24" name="Box 5"/>
          <p:cNvSpPr/>
          <p:nvPr/>
        </p:nvSpPr>
        <p:spPr>
          <a:xfrm>
            <a:off x="4892040" y="2560320"/>
            <a:ext cx="3593592" cy="1600200"/>
          </a:xfrm>
          <a:prstGeom prst="roundRect">
            <a:avLst>
              <a:gd name="adj" fmla="val 6857"/>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029200" y="2651760"/>
            <a:ext cx="3319272" cy="310896"/>
          </a:xfrm>
          <a:prstGeom prst="rect">
            <a:avLst/>
          </a:prstGeom>
          <a:noFill/>
        </p:spPr>
        <p:txBody>
          <a:bodyPr wrap="square" lIns="45720" rIns="45720" anchor="t">
            <a:spAutoFit/>
          </a:bodyPr>
          <a:lstStyle/>
          <a:p>
            <a:pPr algn="l">
              <a:lnSpc>
                <a:spcPct val="115000"/>
              </a:lnSpc>
              <a:spcAft>
                <a:spcPts val="400"/>
              </a:spcAft>
            </a:pPr>
            <a:r>
              <a:rPr sz="1050" b="1" i="0">
                <a:solidFill>
                  <a:srgbClr val="C0392B"/>
                </a:solidFill>
                <a:latin typeface="Inter"/>
              </a:rPr>
              <a:t>Code smell yang dicari</a:t>
            </a:r>
          </a:p>
        </p:txBody>
      </p:sp>
      <p:sp>
        <p:nvSpPr>
          <p:cNvPr id="26" name="Text 7"/>
          <p:cNvSpPr txBox="1"/>
          <p:nvPr/>
        </p:nvSpPr>
        <p:spPr>
          <a:xfrm>
            <a:off x="5029200" y="2971800"/>
            <a:ext cx="331927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Nama class umum: </a:t>
            </a:r>
            <a:r>
              <a:rPr sz="900" b="0" i="0">
                <a:solidFill>
                  <a:srgbClr val="B5482A"/>
                </a:solidFill>
                <a:latin typeface="Inconsolata"/>
              </a:rPr>
              <a:t>Manager</a:t>
            </a:r>
            <a:r>
              <a:rPr sz="900" b="0" i="0">
                <a:solidFill>
                  <a:srgbClr val="434343"/>
                </a:solidFill>
                <a:latin typeface="Inter"/>
              </a:rPr>
              <a:t>, </a:t>
            </a:r>
            <a:r>
              <a:rPr sz="900" b="0" i="0">
                <a:solidFill>
                  <a:srgbClr val="B5482A"/>
                </a:solidFill>
                <a:latin typeface="Inconsolata"/>
              </a:rPr>
              <a:t>Helper</a:t>
            </a:r>
            <a:r>
              <a:rPr sz="900" b="0" i="0">
                <a:solidFill>
                  <a:srgbClr val="434343"/>
                </a:solidFill>
                <a:latin typeface="Inter"/>
              </a:rPr>
              <a:t>, </a:t>
            </a:r>
            <a:r>
              <a:rPr sz="900" b="0" i="0">
                <a:solidFill>
                  <a:srgbClr val="B5482A"/>
                </a:solidFill>
                <a:latin typeface="Inconsolata"/>
              </a:rPr>
              <a:t>Util</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Method panjang dengan komentar "# 1. ... # 2. ..."</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Satu perubahan kecil menyentuh banyak bagian</a:t>
            </a:r>
          </a:p>
        </p:txBody>
      </p:sp>
      <p:sp>
        <p:nvSpPr>
          <p:cNvPr id="27" name="Text 8"/>
          <p:cNvSpPr txBox="1"/>
          <p:nvPr/>
        </p:nvSpPr>
        <p:spPr>
          <a:xfrm>
            <a:off x="4892040" y="4251960"/>
            <a:ext cx="3593592" cy="45720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Di Sesi 1 diterapkan lewat Service Layer dan Repository.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 · Single Responsibility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Satu Class Mengerjakan Semuanya</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01-srp/before.py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 9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OrderManager</a:t>
            </a:r>
            <a:r>
              <a:rPr sz="850" i="0">
                <a:solidFill>
                  <a:srgbClr val="E6EDF3"/>
                </a:solidFill>
                <a:latin typeface="Inconsolata"/>
              </a:rPr>
              <a:t>:</a:t>
            </a:r>
          </a:p>
          <a:p>
            <a:pPr>
              <a:lnSpc>
                <a:spcPct val="107843"/>
              </a:lnSpc>
              <a:spcAft>
                <a:spcPts val="0"/>
              </a:spcAft>
            </a:pPr>
            <a:r>
              <a:rPr sz="850" i="0">
                <a:solidFill>
                  <a:srgbClr val="5C6773"/>
                </a:solidFill>
                <a:latin typeface="Inconsolata"/>
              </a:rPr>
              <a:t>10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.orders: </a:t>
            </a:r>
            <a:r>
              <a:rPr sz="850" i="0">
                <a:solidFill>
                  <a:srgbClr val="C3A6FF"/>
                </a:solidFill>
                <a:latin typeface="Inconsolata"/>
              </a:rPr>
              <a:t>dict</a:t>
            </a:r>
            <a:r>
              <a:rPr sz="850" i="0">
                <a:solidFill>
                  <a:srgbClr val="E6EDF3"/>
                </a:solidFill>
                <a:latin typeface="Inconsolata"/>
              </a:rPr>
              <a:t>[</a:t>
            </a:r>
            <a:r>
              <a:rPr sz="850" i="0">
                <a:solidFill>
                  <a:srgbClr val="C3A6FF"/>
                </a:solidFill>
                <a:latin typeface="Inconsolata"/>
              </a:rPr>
              <a:t>int</a:t>
            </a:r>
            <a:r>
              <a:rPr sz="850" i="0">
                <a:solidFill>
                  <a:srgbClr val="E6EDF3"/>
                </a:solidFill>
                <a:latin typeface="Inconsolata"/>
              </a:rPr>
              <a:t>, </a:t>
            </a:r>
            <a:r>
              <a:rPr sz="850" i="0">
                <a:solidFill>
                  <a:srgbClr val="C3A6FF"/>
                </a:solidFill>
                <a:latin typeface="Inconsolata"/>
              </a:rPr>
              <a:t>dict</a:t>
            </a:r>
            <a:r>
              <a:rPr sz="850" i="0">
                <a:solidFill>
                  <a:srgbClr val="E6EDF3"/>
                </a:solidFill>
                <a:latin typeface="Inconsolata"/>
              </a:rPr>
              <a:t>] = {}</a:t>
            </a:r>
          </a:p>
          <a:p>
            <a:pPr>
              <a:lnSpc>
                <a:spcPct val="107843"/>
              </a:lnSpc>
              <a:spcAft>
                <a:spcPts val="0"/>
              </a:spcAft>
            </a:pPr>
            <a:r>
              <a:rPr sz="850" i="0">
                <a:solidFill>
                  <a:srgbClr val="5C6773"/>
                </a:solidFill>
                <a:latin typeface="Inconsolata"/>
              </a:rPr>
              <a:t>12  </a:t>
            </a:r>
            <a:r>
              <a:rPr sz="850" i="0">
                <a:solidFill>
                  <a:srgbClr val="E6EDF3"/>
                </a:solidFill>
                <a:latin typeface="Inconsolata"/>
              </a:rPr>
              <a:t> </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items: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dict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r>
              <a:rPr sz="850" i="1">
                <a:solidFill>
                  <a:srgbClr val="8B98A8"/>
                </a:solidFill>
                <a:latin typeface="Inconsolata"/>
              </a:rPr>
              <a:t># 1. hitung total</a:t>
            </a:r>
          </a:p>
          <a:p>
            <a:pPr>
              <a:lnSpc>
                <a:spcPct val="107843"/>
              </a:lnSpc>
              <a:spcAft>
                <a:spcPts val="0"/>
              </a:spcAft>
            </a:pPr>
            <a:r>
              <a:rPr sz="850" i="0">
                <a:solidFill>
                  <a:srgbClr val="5C6773"/>
                </a:solidFill>
                <a:latin typeface="Inconsolata"/>
              </a:rPr>
              <a:t>15  </a:t>
            </a:r>
            <a:r>
              <a:rPr sz="850" i="0">
                <a:solidFill>
                  <a:srgbClr val="E6EDF3"/>
                </a:solidFill>
                <a:latin typeface="Inconsolata"/>
              </a:rPr>
              <a:t>        subtotal = </a:t>
            </a:r>
            <a:r>
              <a:rPr sz="850" i="0">
                <a:solidFill>
                  <a:srgbClr val="C3A6FF"/>
                </a:solidFill>
                <a:latin typeface="Inconsolata"/>
              </a:rPr>
              <a:t>sum</a:t>
            </a:r>
            <a:r>
              <a:rPr sz="850" i="0">
                <a:solidFill>
                  <a:srgbClr val="E6EDF3"/>
                </a:solidFill>
                <a:latin typeface="Inconsolata"/>
              </a:rPr>
              <a:t>(i[</a:t>
            </a:r>
            <a:r>
              <a:rPr sz="850" i="0">
                <a:solidFill>
                  <a:srgbClr val="A5D6A7"/>
                </a:solidFill>
                <a:latin typeface="Inconsolata"/>
              </a:rPr>
              <a:t>"price"</a:t>
            </a:r>
            <a:r>
              <a:rPr sz="850" i="0">
                <a:solidFill>
                  <a:srgbClr val="E6EDF3"/>
                </a:solidFill>
                <a:latin typeface="Inconsolata"/>
              </a:rPr>
              <a:t>] * i[</a:t>
            </a:r>
            <a:r>
              <a:rPr sz="850" i="0">
                <a:solidFill>
                  <a:srgbClr val="A5D6A7"/>
                </a:solidFill>
                <a:latin typeface="Inconsolata"/>
              </a:rPr>
              <a:t>"qty"</a:t>
            </a: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i </a:t>
            </a:r>
            <a:r>
              <a:rPr sz="850" i="0">
                <a:solidFill>
                  <a:srgbClr val="FF8E6E"/>
                </a:solidFill>
                <a:latin typeface="Inconsolata"/>
              </a:rPr>
              <a:t>in</a:t>
            </a:r>
            <a:r>
              <a:rPr sz="850" i="0">
                <a:solidFill>
                  <a:srgbClr val="E6EDF3"/>
                </a:solidFill>
                <a:latin typeface="Inconsolata"/>
              </a:rPr>
              <a:t> items)</a:t>
            </a:r>
          </a:p>
          <a:p>
            <a:pPr>
              <a:lnSpc>
                <a:spcPct val="107843"/>
              </a:lnSpc>
              <a:spcAft>
                <a:spcPts val="0"/>
              </a:spcAft>
            </a:pPr>
            <a:r>
              <a:rPr sz="850" i="0">
                <a:solidFill>
                  <a:srgbClr val="5C6773"/>
                </a:solidFill>
                <a:latin typeface="Inconsolata"/>
              </a:rPr>
              <a:t>16  </a:t>
            </a:r>
            <a:r>
              <a:rPr sz="850" i="0">
                <a:solidFill>
                  <a:srgbClr val="E6EDF3"/>
                </a:solidFill>
                <a:latin typeface="Inconsolata"/>
              </a:rPr>
              <a:t>        total = subtotal - subtotal * </a:t>
            </a:r>
            <a:r>
              <a:rPr sz="850" i="0">
                <a:solidFill>
                  <a:srgbClr val="F9C97A"/>
                </a:solidFill>
                <a:latin typeface="Inconsolata"/>
              </a:rPr>
              <a:t>5</a:t>
            </a:r>
            <a:r>
              <a:rPr sz="850" i="0">
                <a:solidFill>
                  <a:srgbClr val="E6EDF3"/>
                </a:solidFill>
                <a:latin typeface="Inconsolata"/>
              </a:rPr>
              <a:t> // </a:t>
            </a:r>
            <a:r>
              <a:rPr sz="850" i="0">
                <a:solidFill>
                  <a:srgbClr val="F9C97A"/>
                </a:solidFill>
                <a:latin typeface="Inconsolata"/>
              </a:rPr>
              <a:t>100</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p>
          <a:p>
            <a:pPr>
              <a:lnSpc>
                <a:spcPct val="107843"/>
              </a:lnSpc>
              <a:spcAft>
                <a:spcPts val="0"/>
              </a:spcAft>
            </a:pPr>
            <a:r>
              <a:rPr sz="850" i="0">
                <a:solidFill>
                  <a:srgbClr val="5C6773"/>
                </a:solidFill>
                <a:latin typeface="Inconsolata"/>
              </a:rPr>
              <a:t>18  </a:t>
            </a:r>
            <a:r>
              <a:rPr sz="850" i="0">
                <a:solidFill>
                  <a:srgbClr val="E6EDF3"/>
                </a:solidFill>
                <a:latin typeface="Inconsolata"/>
              </a:rPr>
              <a:t>        </a:t>
            </a:r>
            <a:r>
              <a:rPr sz="850" i="1">
                <a:solidFill>
                  <a:srgbClr val="8B98A8"/>
                </a:solidFill>
                <a:latin typeface="Inconsolata"/>
              </a:rPr>
              <a:t># 2. simpan</a:t>
            </a:r>
          </a:p>
          <a:p>
            <a:pPr>
              <a:lnSpc>
                <a:spcPct val="107843"/>
              </a:lnSpc>
              <a:spcAft>
                <a:spcPts val="0"/>
              </a:spcAft>
            </a:pPr>
            <a:r>
              <a:rPr sz="850" i="0">
                <a:solidFill>
                  <a:srgbClr val="5C6773"/>
                </a:solidFill>
                <a:latin typeface="Inconsolata"/>
              </a:rPr>
              <a:t>19  </a:t>
            </a:r>
            <a:r>
              <a:rPr sz="850" i="0">
                <a:solidFill>
                  <a:srgbClr val="E6EDF3"/>
                </a:solidFill>
                <a:latin typeface="Inconsolata"/>
              </a:rPr>
              <a:t>        order = {</a:t>
            </a:r>
            <a:r>
              <a:rPr sz="850" i="0">
                <a:solidFill>
                  <a:srgbClr val="A5D6A7"/>
                </a:solidFill>
                <a:latin typeface="Inconsolata"/>
              </a:rPr>
              <a:t>"id"</a:t>
            </a:r>
            <a:r>
              <a:rPr sz="850" i="0">
                <a:solidFill>
                  <a:srgbClr val="E6EDF3"/>
                </a:solidFill>
                <a:latin typeface="Inconsolata"/>
              </a:rPr>
              <a:t>: </a:t>
            </a:r>
            <a:r>
              <a:rPr sz="850" i="0">
                <a:solidFill>
                  <a:srgbClr val="C3A6FF"/>
                </a:solidFill>
                <a:latin typeface="Inconsolata"/>
              </a:rPr>
              <a:t>len</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.orders) + </a:t>
            </a:r>
            <a:r>
              <a:rPr sz="850" i="0">
                <a:solidFill>
                  <a:srgbClr val="F9C97A"/>
                </a:solidFill>
                <a:latin typeface="Inconsolata"/>
              </a:rPr>
              <a:t>1</a:t>
            </a:r>
            <a:r>
              <a:rPr sz="850" i="0">
                <a:solidFill>
                  <a:srgbClr val="E6EDF3"/>
                </a:solidFill>
                <a:latin typeface="Inconsolata"/>
              </a:rPr>
              <a:t>, </a:t>
            </a:r>
            <a:r>
              <a:rPr sz="850" i="0">
                <a:solidFill>
                  <a:srgbClr val="A5D6A7"/>
                </a:solidFill>
                <a:latin typeface="Inconsolata"/>
              </a:rPr>
              <a:t>"customer"</a:t>
            </a:r>
            <a:r>
              <a:rPr sz="850" i="0">
                <a:solidFill>
                  <a:srgbClr val="E6EDF3"/>
                </a:solidFill>
                <a:latin typeface="Inconsolata"/>
              </a:rPr>
              <a:t>: customer, </a:t>
            </a:r>
            <a:r>
              <a:rPr sz="850" i="0">
                <a:solidFill>
                  <a:srgbClr val="A5D6A7"/>
                </a:solidFill>
                <a:latin typeface="Inconsolata"/>
              </a:rPr>
              <a:t>"total"</a:t>
            </a:r>
            <a:r>
              <a:rPr sz="850" i="0">
                <a:solidFill>
                  <a:srgbClr val="E6EDF3"/>
                </a:solidFill>
                <a:latin typeface="Inconsolata"/>
              </a:rPr>
              <a:t>: total}</a:t>
            </a:r>
          </a:p>
          <a:p>
            <a:pPr>
              <a:lnSpc>
                <a:spcPct val="107843"/>
              </a:lnSpc>
              <a:spcAft>
                <a:spcPts val="0"/>
              </a:spcAft>
            </a:pPr>
            <a:r>
              <a:rPr sz="850" i="0">
                <a:solidFill>
                  <a:srgbClr val="5C6773"/>
                </a:solidFill>
                <a:latin typeface="Inconsolata"/>
              </a:rPr>
              <a:t>20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.orders[order[</a:t>
            </a:r>
            <a:r>
              <a:rPr sz="850" i="0">
                <a:solidFill>
                  <a:srgbClr val="A5D6A7"/>
                </a:solidFill>
                <a:latin typeface="Inconsolata"/>
              </a:rPr>
              <a:t>"id"</a:t>
            </a:r>
            <a:r>
              <a:rPr sz="850" i="0">
                <a:solidFill>
                  <a:srgbClr val="E6EDF3"/>
                </a:solidFill>
                <a:latin typeface="Inconsolata"/>
              </a:rPr>
              <a:t>]] = order</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r>
              <a:rPr sz="850" i="1">
                <a:solidFill>
                  <a:srgbClr val="8B98A8"/>
                </a:solidFill>
                <a:latin typeface="Inconsolata"/>
              </a:rPr>
              <a:t># 3. kirim email</a:t>
            </a:r>
          </a:p>
          <a:p>
            <a:pPr>
              <a:lnSpc>
                <a:spcPct val="107843"/>
              </a:lnSpc>
              <a:spcAft>
                <a:spcPts val="0"/>
              </a:spcAft>
            </a:pPr>
            <a:r>
              <a:rPr sz="850" i="0">
                <a:solidFill>
                  <a:srgbClr val="5C6773"/>
                </a:solidFill>
                <a:latin typeface="Inconsolata"/>
              </a:rPr>
              <a:t>23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f"[EMAIL] ke {customer}: Order #{order['id']} total Rp{total:,}"</a:t>
            </a:r>
            <a:r>
              <a:rPr sz="850" i="0">
                <a:solidFill>
                  <a:srgbClr val="E6EDF3"/>
                </a:solidFill>
                <a:latin typeface="Inconsolata"/>
              </a:rPr>
              <a:t>)</a:t>
            </a:r>
          </a:p>
          <a:p>
            <a:pPr>
              <a:lnSpc>
                <a:spcPct val="107843"/>
              </a:lnSpc>
              <a:spcAft>
                <a:spcPts val="0"/>
              </a:spcAft>
            </a:pPr>
            <a:r>
              <a:rPr sz="850" i="0">
                <a:solidFill>
                  <a:srgbClr val="5C6773"/>
                </a:solidFill>
                <a:latin typeface="Inconsolata"/>
              </a:rPr>
              <a:t>24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a:t>
            </a:r>
          </a:p>
          <a:p>
            <a:pPr>
              <a:lnSpc>
                <a:spcPct val="107843"/>
              </a:lnSpc>
              <a:spcAft>
                <a:spcPts val="0"/>
              </a:spcAft>
            </a:pPr>
            <a:r>
              <a:rPr sz="850" i="0">
                <a:solidFill>
                  <a:srgbClr val="5C6773"/>
                </a:solidFill>
                <a:latin typeface="Inconsolata"/>
              </a:rPr>
              <a:t>25  </a:t>
            </a:r>
            <a:r>
              <a:rPr sz="850" i="0">
                <a:solidFill>
                  <a:srgbClr val="E6EDF3"/>
                </a:solidFill>
                <a:latin typeface="Inconsolata"/>
              </a:rPr>
              <a:t> </a:t>
            </a:r>
          </a:p>
          <a:p>
            <a:pPr>
              <a:lnSpc>
                <a:spcPct val="107843"/>
              </a:lnSpc>
              <a:spcAft>
                <a:spcPts val="0"/>
              </a:spcAft>
            </a:pPr>
            <a:r>
              <a:rPr sz="850" i="0">
                <a:solidFill>
                  <a:srgbClr val="5C6773"/>
                </a:solidFill>
                <a:latin typeface="Inconsolata"/>
              </a:rPr>
              <a:t>26  </a:t>
            </a:r>
            <a:r>
              <a:rPr sz="850" i="0">
                <a:solidFill>
                  <a:srgbClr val="E6EDF3"/>
                </a:solidFill>
                <a:latin typeface="Inconsolata"/>
              </a:rPr>
              <a:t> </a:t>
            </a:r>
          </a:p>
          <a:p>
            <a:pPr>
              <a:lnSpc>
                <a:spcPct val="107843"/>
              </a:lnSpc>
              <a:spcAft>
                <a:spcPts val="0"/>
              </a:spcAft>
            </a:pPr>
            <a:r>
              <a:rPr sz="850" i="0">
                <a:solidFill>
                  <a:srgbClr val="5C6773"/>
                </a:solidFill>
                <a:latin typeface="Inconsolata"/>
              </a:rPr>
              <a:t>27  </a:t>
            </a:r>
            <a:r>
              <a:rPr sz="850" i="0">
                <a:solidFill>
                  <a:srgbClr val="FF8E6E"/>
                </a:solidFill>
                <a:latin typeface="Inconsolata"/>
              </a:rPr>
              <a:t>if</a:t>
            </a:r>
            <a:r>
              <a:rPr sz="850" i="0">
                <a:solidFill>
                  <a:srgbClr val="E6EDF3"/>
                </a:solidFill>
                <a:latin typeface="Inconsolata"/>
              </a:rPr>
              <a:t> __name__ == </a:t>
            </a:r>
            <a:r>
              <a:rPr sz="850" i="0">
                <a:solidFill>
                  <a:srgbClr val="A5D6A7"/>
                </a:solidFill>
                <a:latin typeface="Inconsolata"/>
              </a:rPr>
              <a:t>"__main__"</a:t>
            </a:r>
            <a:r>
              <a:rPr sz="850" i="0">
                <a:solidFill>
                  <a:srgbClr val="E6EDF3"/>
                </a:solidFill>
                <a:latin typeface="Inconsolata"/>
              </a:rPr>
              <a:t>:</a:t>
            </a:r>
          </a:p>
          <a:p>
            <a:pPr>
              <a:lnSpc>
                <a:spcPct val="107843"/>
              </a:lnSpc>
              <a:spcAft>
                <a:spcPts val="0"/>
              </a:spcAft>
            </a:pPr>
            <a:r>
              <a:rPr sz="850" i="0">
                <a:solidFill>
                  <a:srgbClr val="5C6773"/>
                </a:solidFill>
                <a:latin typeface="Inconsolata"/>
              </a:rPr>
              <a:t>28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7FDBCA"/>
                </a:solidFill>
                <a:latin typeface="Inconsolata"/>
              </a:rPr>
              <a:t>OrderManager</a:t>
            </a:r>
            <a:r>
              <a:rPr sz="850" i="0">
                <a:solidFill>
                  <a:srgbClr val="E6EDF3"/>
                </a:solidFill>
                <a:latin typeface="Inconsolata"/>
              </a:rPr>
              <a:t>().place_order(</a:t>
            </a:r>
            <a:r>
              <a:rPr sz="850" i="0">
                <a:solidFill>
                  <a:srgbClr val="A5D6A7"/>
                </a:solidFill>
                <a:latin typeface="Inconsolata"/>
              </a:rPr>
              <a:t>"budi@mail.com"</a:t>
            </a:r>
            <a:r>
              <a:rPr sz="850" i="0">
                <a:solidFill>
                  <a:srgbClr val="E6EDF3"/>
                </a:solidFill>
                <a:latin typeface="Inconsolata"/>
              </a:rPr>
              <a:t>, [{</a:t>
            </a:r>
            <a:r>
              <a:rPr sz="850" i="0">
                <a:solidFill>
                  <a:srgbClr val="A5D6A7"/>
                </a:solidFill>
                <a:latin typeface="Inconsolata"/>
              </a:rPr>
              <a:t>"price"</a:t>
            </a:r>
            <a:r>
              <a:rPr sz="850" i="0">
                <a:solidFill>
                  <a:srgbClr val="E6EDF3"/>
                </a:solidFill>
                <a:latin typeface="Inconsolata"/>
              </a:rPr>
              <a:t>: </a:t>
            </a:r>
            <a:r>
              <a:rPr sz="850" i="0">
                <a:solidFill>
                  <a:srgbClr val="F9C97A"/>
                </a:solidFill>
                <a:latin typeface="Inconsolata"/>
              </a:rPr>
              <a:t>100_000</a:t>
            </a:r>
            <a:r>
              <a:rPr sz="850" i="0">
                <a:solidFill>
                  <a:srgbClr val="E6EDF3"/>
                </a:solidFill>
                <a:latin typeface="Inconsolata"/>
              </a:rPr>
              <a:t>, </a:t>
            </a:r>
            <a:r>
              <a:rPr sz="850" i="0">
                <a:solidFill>
                  <a:srgbClr val="A5D6A7"/>
                </a:solidFill>
                <a:latin typeface="Inconsolata"/>
              </a:rPr>
              <a:t>"qty"</a:t>
            </a:r>
            <a:r>
              <a:rPr sz="850" i="0">
                <a:solidFill>
                  <a:srgbClr val="E6EDF3"/>
                </a:solidFill>
                <a:latin typeface="Inconsolata"/>
              </a:rPr>
              <a:t>: </a:t>
            </a:r>
            <a:r>
              <a:rPr sz="850" i="0">
                <a:solidFill>
                  <a:srgbClr val="F9C97A"/>
                </a:solidFill>
                <a:latin typeface="Inconsolata"/>
              </a:rPr>
              <a:t>2</a:t>
            </a:r>
            <a:r>
              <a:rPr sz="850" i="0">
                <a:solidFill>
                  <a:srgbClr val="E6EDF3"/>
                </a:solidFill>
                <a:latin typeface="Inconsolata"/>
              </a:rPr>
              <a:t>}]))</a:t>
            </a:r>
          </a:p>
        </p:txBody>
      </p:sp>
      <p:sp>
        <p:nvSpPr>
          <p:cNvPr id="29" name="Box 12"/>
          <p:cNvSpPr/>
          <p:nvPr/>
        </p:nvSpPr>
        <p:spPr>
          <a:xfrm>
            <a:off x="704088" y="2527173"/>
            <a:ext cx="7699248" cy="410718"/>
          </a:xfrm>
          <a:prstGeom prst="roundRect">
            <a:avLst>
              <a:gd name="adj" fmla="val 11131"/>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6136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85973"/>
            <a:ext cx="7699248" cy="410718"/>
          </a:xfrm>
          <a:prstGeom prst="roundRect">
            <a:avLst>
              <a:gd name="adj" fmla="val 11131"/>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1724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644773"/>
            <a:ext cx="7699248"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366141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 · Single Responsibility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01-srp/before.py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sesi-02-solid-clean-architecture/01-srp</a:t>
            </a:r>
          </a:p>
          <a:p>
            <a:pPr>
              <a:lnSpc>
                <a:spcPct val="107527"/>
              </a:lnSpc>
              <a:spcAft>
                <a:spcPts val="0"/>
              </a:spcAft>
            </a:pPr>
            <a:r>
              <a:rPr sz="775" i="0">
                <a:solidFill>
                  <a:srgbClr val="82B1FF"/>
                </a:solidFill>
                <a:latin typeface="Inconsolata"/>
              </a:rPr>
              <a:t>$ python before.py</a:t>
            </a:r>
          </a:p>
        </p:txBody>
      </p:sp>
      <p:pic>
        <p:nvPicPr>
          <p:cNvPr id="29" name="Image 12" descr="s02-01-srp-before.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Tiga alasan berubah di satu class:</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Rumus diskon berubah (baris 14-16)</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Cara menyimpan berubah, misalnya pindah ke database (baris 18-20)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Format atau channel email berubah (baris 22-23)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Setiap perubahan berarti mengedit </a:t>
            </a:r>
            <a:r>
              <a:rPr sz="950" b="0" i="0">
                <a:solidFill>
                  <a:srgbClr val="B5482A"/>
                </a:solidFill>
                <a:latin typeface="Inconsolata"/>
              </a:rPr>
              <a:t>OrderManager</a:t>
            </a:r>
            <a:r>
              <a:rPr sz="950" b="0" i="0">
                <a:solidFill>
                  <a:srgbClr val="434343"/>
                </a:solidFill>
                <a:latin typeface="Inter"/>
              </a:rPr>
              <a:t>, dan bagian lain ikut berisiko rusak.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 · Single Responsibility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Satu Class, Satu Tugas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01-srp/after.py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11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PriceCalculator</a:t>
            </a:r>
            <a:r>
              <a:rPr sz="850" i="0">
                <a:solidFill>
                  <a:srgbClr val="E6EDF3"/>
                </a:solidFill>
                <a:latin typeface="Inconsolata"/>
              </a:rPr>
              <a:t>:</a:t>
            </a:r>
          </a:p>
          <a:p>
            <a:pPr>
              <a:lnSpc>
                <a:spcPct val="107843"/>
              </a:lnSpc>
              <a:spcAft>
                <a:spcPts val="0"/>
              </a:spcAft>
            </a:pPr>
            <a:r>
              <a:rPr sz="850" i="0">
                <a:solidFill>
                  <a:srgbClr val="5C6773"/>
                </a:solidFill>
                <a:latin typeface="Inconsolata"/>
              </a:rPr>
              <a:t>12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total</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items: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dict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13  </a:t>
            </a:r>
            <a:r>
              <a:rPr sz="850" i="0">
                <a:solidFill>
                  <a:srgbClr val="E6EDF3"/>
                </a:solidFill>
                <a:latin typeface="Inconsolata"/>
              </a:rPr>
              <a:t>        subtotal = </a:t>
            </a:r>
            <a:r>
              <a:rPr sz="850" i="0">
                <a:solidFill>
                  <a:srgbClr val="C3A6FF"/>
                </a:solidFill>
                <a:latin typeface="Inconsolata"/>
              </a:rPr>
              <a:t>sum</a:t>
            </a:r>
            <a:r>
              <a:rPr sz="850" i="0">
                <a:solidFill>
                  <a:srgbClr val="E6EDF3"/>
                </a:solidFill>
                <a:latin typeface="Inconsolata"/>
              </a:rPr>
              <a:t>(i[</a:t>
            </a:r>
            <a:r>
              <a:rPr sz="850" i="0">
                <a:solidFill>
                  <a:srgbClr val="A5D6A7"/>
                </a:solidFill>
                <a:latin typeface="Inconsolata"/>
              </a:rPr>
              <a:t>"price"</a:t>
            </a:r>
            <a:r>
              <a:rPr sz="850" i="0">
                <a:solidFill>
                  <a:srgbClr val="E6EDF3"/>
                </a:solidFill>
                <a:latin typeface="Inconsolata"/>
              </a:rPr>
              <a:t>] * i[</a:t>
            </a:r>
            <a:r>
              <a:rPr sz="850" i="0">
                <a:solidFill>
                  <a:srgbClr val="A5D6A7"/>
                </a:solidFill>
                <a:latin typeface="Inconsolata"/>
              </a:rPr>
              <a:t>"qty"</a:t>
            </a: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i </a:t>
            </a:r>
            <a:r>
              <a:rPr sz="850" i="0">
                <a:solidFill>
                  <a:srgbClr val="FF8E6E"/>
                </a:solidFill>
                <a:latin typeface="Inconsolata"/>
              </a:rPr>
              <a:t>in</a:t>
            </a:r>
            <a:r>
              <a:rPr sz="850" i="0">
                <a:solidFill>
                  <a:srgbClr val="E6EDF3"/>
                </a:solidFill>
                <a:latin typeface="Inconsolata"/>
              </a:rPr>
              <a:t> items)</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subtotal - subtotal * </a:t>
            </a:r>
            <a:r>
              <a:rPr sz="850" i="0">
                <a:solidFill>
                  <a:srgbClr val="F9C97A"/>
                </a:solidFill>
                <a:latin typeface="Inconsolata"/>
              </a:rPr>
              <a:t>5</a:t>
            </a:r>
            <a:r>
              <a:rPr sz="850" i="0">
                <a:solidFill>
                  <a:srgbClr val="E6EDF3"/>
                </a:solidFill>
                <a:latin typeface="Inconsolata"/>
              </a:rPr>
              <a:t> // </a:t>
            </a:r>
            <a:r>
              <a:rPr sz="850" i="0">
                <a:solidFill>
                  <a:srgbClr val="F9C97A"/>
                </a:solidFill>
                <a:latin typeface="Inconsolata"/>
              </a:rPr>
              <a:t>100</a:t>
            </a:r>
          </a:p>
          <a:p>
            <a:pPr>
              <a:lnSpc>
                <a:spcPct val="107843"/>
              </a:lnSpc>
              <a:spcAft>
                <a:spcPts val="0"/>
              </a:spcAft>
            </a:pPr>
            <a:r>
              <a:rPr sz="850" i="0">
                <a:solidFill>
                  <a:srgbClr val="5C6773"/>
                </a:solidFill>
                <a:latin typeface="Inconsolata"/>
              </a:rPr>
              <a:t>15  </a:t>
            </a:r>
            <a:r>
              <a:rPr sz="850" i="0">
                <a:solidFill>
                  <a:srgbClr val="E6EDF3"/>
                </a:solidFill>
                <a:latin typeface="Inconsolata"/>
              </a:rPr>
              <a:t> </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p>
          <a:p>
            <a:pPr>
              <a:lnSpc>
                <a:spcPct val="107843"/>
              </a:lnSpc>
              <a:spcAft>
                <a:spcPts val="0"/>
              </a:spcAft>
            </a:pPr>
            <a:r>
              <a:rPr sz="850" i="0">
                <a:solidFill>
                  <a:srgbClr val="5C6773"/>
                </a:solidFill>
                <a:latin typeface="Inconsolata"/>
              </a:rPr>
              <a:t>17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18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19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.orders: </a:t>
            </a:r>
            <a:r>
              <a:rPr sz="850" i="0">
                <a:solidFill>
                  <a:srgbClr val="C3A6FF"/>
                </a:solidFill>
                <a:latin typeface="Inconsolata"/>
              </a:rPr>
              <a:t>dict</a:t>
            </a:r>
            <a:r>
              <a:rPr sz="850" i="0">
                <a:solidFill>
                  <a:srgbClr val="E6EDF3"/>
                </a:solidFill>
                <a:latin typeface="Inconsolata"/>
              </a:rPr>
              <a:t>[</a:t>
            </a:r>
            <a:r>
              <a:rPr sz="850" i="0">
                <a:solidFill>
                  <a:srgbClr val="C3A6FF"/>
                </a:solidFill>
                <a:latin typeface="Inconsolata"/>
              </a:rPr>
              <a:t>int</a:t>
            </a:r>
            <a:r>
              <a:rPr sz="850" i="0">
                <a:solidFill>
                  <a:srgbClr val="E6EDF3"/>
                </a:solidFill>
                <a:latin typeface="Inconsolata"/>
              </a:rPr>
              <a:t>, </a:t>
            </a:r>
            <a:r>
              <a:rPr sz="850" i="0">
                <a:solidFill>
                  <a:srgbClr val="C3A6FF"/>
                </a:solidFill>
                <a:latin typeface="Inconsolata"/>
              </a:rPr>
              <a:t>dict</a:t>
            </a:r>
            <a:r>
              <a:rPr sz="850" i="0">
                <a:solidFill>
                  <a:srgbClr val="E6EDF3"/>
                </a:solidFill>
                <a:latin typeface="Inconsolata"/>
              </a:rPr>
              <a:t>] = {}</a:t>
            </a:r>
          </a:p>
          <a:p>
            <a:pPr>
              <a:lnSpc>
                <a:spcPct val="107843"/>
              </a:lnSpc>
              <a:spcAft>
                <a:spcPts val="0"/>
              </a:spcAft>
            </a:pPr>
            <a:r>
              <a:rPr sz="850" i="0">
                <a:solidFill>
                  <a:srgbClr val="5C6773"/>
                </a:solidFill>
                <a:latin typeface="Inconsolata"/>
              </a:rPr>
              <a:t>20  </a:t>
            </a:r>
            <a:r>
              <a:rPr sz="850" i="0">
                <a:solidFill>
                  <a:srgbClr val="E6EDF3"/>
                </a:solidFill>
                <a:latin typeface="Inconsolata"/>
              </a:rPr>
              <a:t> </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5C6773"/>
                </a:solidFill>
                <a:latin typeface="Inconsolata"/>
              </a:rPr>
              <a:t>22  </a:t>
            </a:r>
            <a:r>
              <a:rPr sz="850" i="0">
                <a:solidFill>
                  <a:srgbClr val="E6EDF3"/>
                </a:solidFill>
                <a:latin typeface="Inconsolata"/>
              </a:rPr>
              <a:t>        order = {</a:t>
            </a:r>
            <a:r>
              <a:rPr sz="850" i="0">
                <a:solidFill>
                  <a:srgbClr val="A5D6A7"/>
                </a:solidFill>
                <a:latin typeface="Inconsolata"/>
              </a:rPr>
              <a:t>"id"</a:t>
            </a:r>
            <a:r>
              <a:rPr sz="850" i="0">
                <a:solidFill>
                  <a:srgbClr val="E6EDF3"/>
                </a:solidFill>
                <a:latin typeface="Inconsolata"/>
              </a:rPr>
              <a:t>: </a:t>
            </a:r>
            <a:r>
              <a:rPr sz="850" i="0">
                <a:solidFill>
                  <a:srgbClr val="C3A6FF"/>
                </a:solidFill>
                <a:latin typeface="Inconsolata"/>
              </a:rPr>
              <a:t>len</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.orders) + </a:t>
            </a:r>
            <a:r>
              <a:rPr sz="850" i="0">
                <a:solidFill>
                  <a:srgbClr val="F9C97A"/>
                </a:solidFill>
                <a:latin typeface="Inconsolata"/>
              </a:rPr>
              <a:t>1</a:t>
            </a:r>
            <a:r>
              <a:rPr sz="850" i="0">
                <a:solidFill>
                  <a:srgbClr val="E6EDF3"/>
                </a:solidFill>
                <a:latin typeface="Inconsolata"/>
              </a:rPr>
              <a:t>, </a:t>
            </a:r>
            <a:r>
              <a:rPr sz="850" i="0">
                <a:solidFill>
                  <a:srgbClr val="A5D6A7"/>
                </a:solidFill>
                <a:latin typeface="Inconsolata"/>
              </a:rPr>
              <a:t>"customer"</a:t>
            </a:r>
            <a:r>
              <a:rPr sz="850" i="0">
                <a:solidFill>
                  <a:srgbClr val="E6EDF3"/>
                </a:solidFill>
                <a:latin typeface="Inconsolata"/>
              </a:rPr>
              <a:t>: customer, </a:t>
            </a:r>
            <a:r>
              <a:rPr sz="850" i="0">
                <a:solidFill>
                  <a:srgbClr val="A5D6A7"/>
                </a:solidFill>
                <a:latin typeface="Inconsolata"/>
              </a:rPr>
              <a:t>"total"</a:t>
            </a:r>
            <a:r>
              <a:rPr sz="850" i="0">
                <a:solidFill>
                  <a:srgbClr val="E6EDF3"/>
                </a:solidFill>
                <a:latin typeface="Inconsolata"/>
              </a:rPr>
              <a:t>: total}</a:t>
            </a:r>
          </a:p>
          <a:p>
            <a:pPr>
              <a:lnSpc>
                <a:spcPct val="107843"/>
              </a:lnSpc>
              <a:spcAft>
                <a:spcPts val="0"/>
              </a:spcAft>
            </a:pPr>
            <a:r>
              <a:rPr sz="850" i="0">
                <a:solidFill>
                  <a:srgbClr val="5C6773"/>
                </a:solidFill>
                <a:latin typeface="Inconsolata"/>
              </a:rPr>
              <a:t>23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.orders[order[</a:t>
            </a:r>
            <a:r>
              <a:rPr sz="850" i="0">
                <a:solidFill>
                  <a:srgbClr val="A5D6A7"/>
                </a:solidFill>
                <a:latin typeface="Inconsolata"/>
              </a:rPr>
              <a:t>"id"</a:t>
            </a:r>
            <a:r>
              <a:rPr sz="850" i="0">
                <a:solidFill>
                  <a:srgbClr val="E6EDF3"/>
                </a:solidFill>
                <a:latin typeface="Inconsolata"/>
              </a:rPr>
              <a:t>]] = order</a:t>
            </a:r>
          </a:p>
          <a:p>
            <a:pPr>
              <a:lnSpc>
                <a:spcPct val="107843"/>
              </a:lnSpc>
              <a:spcAft>
                <a:spcPts val="0"/>
              </a:spcAft>
            </a:pPr>
            <a:r>
              <a:rPr sz="850" i="0">
                <a:solidFill>
                  <a:srgbClr val="5C6773"/>
                </a:solidFill>
                <a:latin typeface="Inconsolata"/>
              </a:rPr>
              <a:t>24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a:t>
            </a:r>
          </a:p>
          <a:p>
            <a:pPr>
              <a:lnSpc>
                <a:spcPct val="107843"/>
              </a:lnSpc>
              <a:spcAft>
                <a:spcPts val="0"/>
              </a:spcAft>
            </a:pPr>
            <a:r>
              <a:rPr sz="850" i="0">
                <a:solidFill>
                  <a:srgbClr val="5C6773"/>
                </a:solidFill>
                <a:latin typeface="Inconsolata"/>
              </a:rPr>
              <a:t>25  </a:t>
            </a:r>
            <a:r>
              <a:rPr sz="850" i="0">
                <a:solidFill>
                  <a:srgbClr val="E6EDF3"/>
                </a:solidFill>
                <a:latin typeface="Inconsolata"/>
              </a:rPr>
              <a:t> </a:t>
            </a:r>
          </a:p>
          <a:p>
            <a:pPr>
              <a:lnSpc>
                <a:spcPct val="107843"/>
              </a:lnSpc>
              <a:spcAft>
                <a:spcPts val="0"/>
              </a:spcAft>
            </a:pPr>
            <a:r>
              <a:rPr sz="850" i="0">
                <a:solidFill>
                  <a:srgbClr val="5C6773"/>
                </a:solidFill>
                <a:latin typeface="Inconsolata"/>
              </a:rPr>
              <a:t>26  </a:t>
            </a:r>
            <a:r>
              <a:rPr sz="850" i="0">
                <a:solidFill>
                  <a:srgbClr val="E6EDF3"/>
                </a:solidFill>
                <a:latin typeface="Inconsolata"/>
              </a:rPr>
              <a:t> </a:t>
            </a:r>
          </a:p>
          <a:p>
            <a:pPr>
              <a:lnSpc>
                <a:spcPct val="107843"/>
              </a:lnSpc>
              <a:spcAft>
                <a:spcPts val="0"/>
              </a:spcAft>
            </a:pPr>
            <a:r>
              <a:rPr sz="850" i="0">
                <a:solidFill>
                  <a:srgbClr val="5C6773"/>
                </a:solidFill>
                <a:latin typeface="Inconsolata"/>
              </a:rPr>
              <a:t>27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EmailNotifier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28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29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f"[EMAIL] ke {to}: {message}"</a:t>
            </a:r>
            <a:r>
              <a:rPr sz="850" i="0">
                <a:solidFill>
                  <a:srgbClr val="E6EDF3"/>
                </a:solidFill>
                <a:latin typeface="Inconsolata"/>
              </a:rPr>
              <a:t>)</a:t>
            </a:r>
          </a:p>
        </p:txBody>
      </p:sp>
      <p:sp>
        <p:nvSpPr>
          <p:cNvPr id="29" name="Box 12"/>
          <p:cNvSpPr/>
          <p:nvPr/>
        </p:nvSpPr>
        <p:spPr>
          <a:xfrm>
            <a:off x="704088" y="1828673"/>
            <a:ext cx="7699248" cy="550418"/>
          </a:xfrm>
          <a:prstGeom prst="roundRect">
            <a:avLst>
              <a:gd name="adj" fmla="val 830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19850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666873"/>
            <a:ext cx="7699248" cy="1109218"/>
          </a:xfrm>
          <a:prstGeom prst="roundRect">
            <a:avLst>
              <a:gd name="adj" fmla="val 41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1026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0638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41503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 · Single Responsibility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Satu Class, Satu Tugas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01-srp/after.py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32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33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34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.calculator = </a:t>
            </a:r>
            <a:r>
              <a:rPr sz="850" i="0">
                <a:solidFill>
                  <a:srgbClr val="7FDBCA"/>
                </a:solidFill>
                <a:latin typeface="Inconsolata"/>
              </a:rPr>
              <a:t>PriceCalculator</a:t>
            </a:r>
            <a:r>
              <a:rPr sz="850" i="0">
                <a:solidFill>
                  <a:srgbClr val="E6EDF3"/>
                </a:solidFill>
                <a:latin typeface="Inconsolata"/>
              </a:rPr>
              <a:t>()</a:t>
            </a:r>
          </a:p>
          <a:p>
            <a:pPr>
              <a:lnSpc>
                <a:spcPct val="107843"/>
              </a:lnSpc>
              <a:spcAft>
                <a:spcPts val="0"/>
              </a:spcAft>
            </a:pPr>
            <a:r>
              <a:rPr sz="850" i="0">
                <a:solidFill>
                  <a:srgbClr val="5C6773"/>
                </a:solidFill>
                <a:latin typeface="Inconsolata"/>
              </a:rPr>
              <a:t>35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.repo = </a:t>
            </a:r>
            <a:r>
              <a:rPr sz="850" i="0">
                <a:solidFill>
                  <a:srgbClr val="7FDBCA"/>
                </a:solidFill>
                <a:latin typeface="Inconsolata"/>
              </a:rPr>
              <a:t>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36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.notifier = </a:t>
            </a:r>
            <a:r>
              <a:rPr sz="850" i="0">
                <a:solidFill>
                  <a:srgbClr val="7FDBCA"/>
                </a:solidFill>
                <a:latin typeface="Inconsolata"/>
              </a:rPr>
              <a:t>EmailNotifier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37  </a:t>
            </a:r>
            <a:r>
              <a:rPr sz="850" i="0">
                <a:solidFill>
                  <a:srgbClr val="E6EDF3"/>
                </a:solidFill>
                <a:latin typeface="Inconsolata"/>
              </a:rPr>
              <a:t> </a:t>
            </a:r>
          </a:p>
          <a:p>
            <a:pPr>
              <a:lnSpc>
                <a:spcPct val="107843"/>
              </a:lnSpc>
              <a:spcAft>
                <a:spcPts val="0"/>
              </a:spcAft>
            </a:pPr>
            <a:r>
              <a:rPr sz="850" i="0">
                <a:solidFill>
                  <a:srgbClr val="5C6773"/>
                </a:solidFill>
                <a:latin typeface="Inconsolata"/>
              </a:rPr>
              <a:t>38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items: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dict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5C6773"/>
                </a:solidFill>
                <a:latin typeface="Inconsolata"/>
              </a:rPr>
              <a:t>39  </a:t>
            </a:r>
            <a:r>
              <a:rPr sz="850" i="0">
                <a:solidFill>
                  <a:srgbClr val="E6EDF3"/>
                </a:solidFill>
                <a:latin typeface="Inconsolata"/>
              </a:rPr>
              <a:t>        total = </a:t>
            </a:r>
            <a:r>
              <a:rPr sz="850" i="0">
                <a:solidFill>
                  <a:srgbClr val="C3A6FF"/>
                </a:solidFill>
                <a:latin typeface="Inconsolata"/>
              </a:rPr>
              <a:t>self</a:t>
            </a:r>
            <a:r>
              <a:rPr sz="850" i="0">
                <a:solidFill>
                  <a:srgbClr val="E6EDF3"/>
                </a:solidFill>
                <a:latin typeface="Inconsolata"/>
              </a:rPr>
              <a:t>.calculator.total(items)</a:t>
            </a:r>
          </a:p>
          <a:p>
            <a:pPr>
              <a:lnSpc>
                <a:spcPct val="107843"/>
              </a:lnSpc>
              <a:spcAft>
                <a:spcPts val="0"/>
              </a:spcAft>
            </a:pPr>
            <a:r>
              <a:rPr sz="850" i="0">
                <a:solidFill>
                  <a:srgbClr val="5C6773"/>
                </a:solidFill>
                <a:latin typeface="Inconsolata"/>
              </a:rPr>
              <a:t>40  </a:t>
            </a:r>
            <a:r>
              <a:rPr sz="850" i="0">
                <a:solidFill>
                  <a:srgbClr val="E6EDF3"/>
                </a:solidFill>
                <a:latin typeface="Inconsolata"/>
              </a:rPr>
              <a:t>        order = </a:t>
            </a:r>
            <a:r>
              <a:rPr sz="850" i="0">
                <a:solidFill>
                  <a:srgbClr val="C3A6FF"/>
                </a:solidFill>
                <a:latin typeface="Inconsolata"/>
              </a:rPr>
              <a:t>self</a:t>
            </a:r>
            <a:r>
              <a:rPr sz="850" i="0">
                <a:solidFill>
                  <a:srgbClr val="E6EDF3"/>
                </a:solidFill>
                <a:latin typeface="Inconsolata"/>
              </a:rPr>
              <a:t>.repo.add(customer, total)</a:t>
            </a:r>
          </a:p>
          <a:p>
            <a:pPr>
              <a:lnSpc>
                <a:spcPct val="107843"/>
              </a:lnSpc>
              <a:spcAft>
                <a:spcPts val="0"/>
              </a:spcAft>
            </a:pPr>
            <a:r>
              <a:rPr sz="850" i="0">
                <a:solidFill>
                  <a:srgbClr val="5C6773"/>
                </a:solidFill>
                <a:latin typeface="Inconsolata"/>
              </a:rPr>
              <a:t>41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.notifier.send(customer, </a:t>
            </a:r>
            <a:r>
              <a:rPr sz="850" i="0">
                <a:solidFill>
                  <a:srgbClr val="A5D6A7"/>
                </a:solidFill>
                <a:latin typeface="Inconsolata"/>
              </a:rPr>
              <a:t>f"Order #{order['id']} total Rp{total:,}"</a:t>
            </a:r>
            <a:r>
              <a:rPr sz="850" i="0">
                <a:solidFill>
                  <a:srgbClr val="E6EDF3"/>
                </a:solidFill>
                <a:latin typeface="Inconsolata"/>
              </a:rPr>
              <a:t>)</a:t>
            </a:r>
          </a:p>
          <a:p>
            <a:pPr>
              <a:lnSpc>
                <a:spcPct val="107843"/>
              </a:lnSpc>
              <a:spcAft>
                <a:spcPts val="0"/>
              </a:spcAft>
            </a:pPr>
            <a:r>
              <a:rPr sz="850" i="0">
                <a:solidFill>
                  <a:srgbClr val="5C6773"/>
                </a:solidFill>
                <a:latin typeface="Inconsolata"/>
              </a:rPr>
              <a:t>42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a:t>
            </a:r>
          </a:p>
          <a:p>
            <a:pPr>
              <a:lnSpc>
                <a:spcPct val="107843"/>
              </a:lnSpc>
              <a:spcAft>
                <a:spcPts val="0"/>
              </a:spcAft>
            </a:pPr>
            <a:r>
              <a:rPr sz="850" i="0">
                <a:solidFill>
                  <a:srgbClr val="5C6773"/>
                </a:solidFill>
                <a:latin typeface="Inconsolata"/>
              </a:rPr>
              <a:t>43  </a:t>
            </a:r>
            <a:r>
              <a:rPr sz="850" i="0">
                <a:solidFill>
                  <a:srgbClr val="E6EDF3"/>
                </a:solidFill>
                <a:latin typeface="Inconsolata"/>
              </a:rPr>
              <a:t> </a:t>
            </a:r>
          </a:p>
          <a:p>
            <a:pPr>
              <a:lnSpc>
                <a:spcPct val="107843"/>
              </a:lnSpc>
              <a:spcAft>
                <a:spcPts val="0"/>
              </a:spcAft>
            </a:pPr>
            <a:r>
              <a:rPr sz="850" i="0">
                <a:solidFill>
                  <a:srgbClr val="5C6773"/>
                </a:solidFill>
                <a:latin typeface="Inconsolata"/>
              </a:rPr>
              <a:t>44  </a:t>
            </a:r>
            <a:r>
              <a:rPr sz="850" i="0">
                <a:solidFill>
                  <a:srgbClr val="E6EDF3"/>
                </a:solidFill>
                <a:latin typeface="Inconsolata"/>
              </a:rPr>
              <a:t> </a:t>
            </a:r>
          </a:p>
          <a:p>
            <a:pPr>
              <a:lnSpc>
                <a:spcPct val="107843"/>
              </a:lnSpc>
              <a:spcAft>
                <a:spcPts val="0"/>
              </a:spcAft>
            </a:pPr>
            <a:r>
              <a:rPr sz="850" i="0">
                <a:solidFill>
                  <a:srgbClr val="5C6773"/>
                </a:solidFill>
                <a:latin typeface="Inconsolata"/>
              </a:rPr>
              <a:t>45  </a:t>
            </a:r>
            <a:r>
              <a:rPr sz="850" i="0">
                <a:solidFill>
                  <a:srgbClr val="FF8E6E"/>
                </a:solidFill>
                <a:latin typeface="Inconsolata"/>
              </a:rPr>
              <a:t>if</a:t>
            </a:r>
            <a:r>
              <a:rPr sz="850" i="0">
                <a:solidFill>
                  <a:srgbClr val="E6EDF3"/>
                </a:solidFill>
                <a:latin typeface="Inconsolata"/>
              </a:rPr>
              <a:t> __name__ == </a:t>
            </a:r>
            <a:r>
              <a:rPr sz="850" i="0">
                <a:solidFill>
                  <a:srgbClr val="A5D6A7"/>
                </a:solidFill>
                <a:latin typeface="Inconsolata"/>
              </a:rPr>
              <a:t>"__main__"</a:t>
            </a:r>
            <a:r>
              <a:rPr sz="850" i="0">
                <a:solidFill>
                  <a:srgbClr val="E6EDF3"/>
                </a:solidFill>
                <a:latin typeface="Inconsolata"/>
              </a:rPr>
              <a:t>:</a:t>
            </a:r>
          </a:p>
          <a:p>
            <a:pPr>
              <a:lnSpc>
                <a:spcPct val="107843"/>
              </a:lnSpc>
              <a:spcAft>
                <a:spcPts val="0"/>
              </a:spcAft>
            </a:pPr>
            <a:r>
              <a:rPr sz="850" i="0">
                <a:solidFill>
                  <a:srgbClr val="5C6773"/>
                </a:solidFill>
                <a:latin typeface="Inconsolata"/>
              </a:rPr>
              <a:t>46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7FDBCA"/>
                </a:solidFill>
                <a:latin typeface="Inconsolata"/>
              </a:rPr>
              <a:t>OrderService</a:t>
            </a:r>
            <a:r>
              <a:rPr sz="850" i="0">
                <a:solidFill>
                  <a:srgbClr val="E6EDF3"/>
                </a:solidFill>
                <a:latin typeface="Inconsolata"/>
              </a:rPr>
              <a:t>().place_order(</a:t>
            </a:r>
            <a:r>
              <a:rPr sz="850" i="0">
                <a:solidFill>
                  <a:srgbClr val="A5D6A7"/>
                </a:solidFill>
                <a:latin typeface="Inconsolata"/>
              </a:rPr>
              <a:t>"budi@mail.com"</a:t>
            </a:r>
            <a:r>
              <a:rPr sz="850" i="0">
                <a:solidFill>
                  <a:srgbClr val="E6EDF3"/>
                </a:solidFill>
                <a:latin typeface="Inconsolata"/>
              </a:rPr>
              <a:t>, [{</a:t>
            </a:r>
            <a:r>
              <a:rPr sz="850" i="0">
                <a:solidFill>
                  <a:srgbClr val="A5D6A7"/>
                </a:solidFill>
                <a:latin typeface="Inconsolata"/>
              </a:rPr>
              <a:t>"price"</a:t>
            </a:r>
            <a:r>
              <a:rPr sz="850" i="0">
                <a:solidFill>
                  <a:srgbClr val="E6EDF3"/>
                </a:solidFill>
                <a:latin typeface="Inconsolata"/>
              </a:rPr>
              <a:t>: </a:t>
            </a:r>
            <a:r>
              <a:rPr sz="850" i="0">
                <a:solidFill>
                  <a:srgbClr val="F9C97A"/>
                </a:solidFill>
                <a:latin typeface="Inconsolata"/>
              </a:rPr>
              <a:t>100_000</a:t>
            </a:r>
            <a:r>
              <a:rPr sz="850" i="0">
                <a:solidFill>
                  <a:srgbClr val="E6EDF3"/>
                </a:solidFill>
                <a:latin typeface="Inconsolata"/>
              </a:rPr>
              <a:t>, </a:t>
            </a:r>
            <a:r>
              <a:rPr sz="850" i="0">
                <a:solidFill>
                  <a:srgbClr val="A5D6A7"/>
                </a:solidFill>
                <a:latin typeface="Inconsolata"/>
              </a:rPr>
              <a:t>"qty"</a:t>
            </a:r>
            <a:r>
              <a:rPr sz="850" i="0">
                <a:solidFill>
                  <a:srgbClr val="E6EDF3"/>
                </a:solidFill>
                <a:latin typeface="Inconsolata"/>
              </a:rPr>
              <a:t>: </a:t>
            </a:r>
            <a:r>
              <a:rPr sz="850" i="0">
                <a:solidFill>
                  <a:srgbClr val="F9C97A"/>
                </a:solidFill>
                <a:latin typeface="Inconsolata"/>
              </a:rPr>
              <a:t>2</a:t>
            </a:r>
            <a:r>
              <a:rPr sz="850" i="0">
                <a:solidFill>
                  <a:srgbClr val="E6EDF3"/>
                </a:solidFill>
                <a:latin typeface="Inconsolata"/>
              </a:rPr>
              <a:t>}]))</a:t>
            </a:r>
          </a:p>
        </p:txBody>
      </p:sp>
      <p:sp>
        <p:nvSpPr>
          <p:cNvPr id="29" name="Box 12"/>
          <p:cNvSpPr/>
          <p:nvPr/>
        </p:nvSpPr>
        <p:spPr>
          <a:xfrm>
            <a:off x="704088" y="1828673"/>
            <a:ext cx="7699248" cy="1528318"/>
          </a:xfrm>
          <a:prstGeom prst="roundRect">
            <a:avLst>
              <a:gd name="adj" fmla="val 299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4739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 · Single Responsibility</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01-srp/after.py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sesi-02-solid-clean-architecture/01-srp</a:t>
            </a:r>
          </a:p>
          <a:p>
            <a:pPr>
              <a:lnSpc>
                <a:spcPct val="107527"/>
              </a:lnSpc>
              <a:spcAft>
                <a:spcPts val="0"/>
              </a:spcAft>
            </a:pPr>
            <a:r>
              <a:rPr sz="775" i="0">
                <a:solidFill>
                  <a:srgbClr val="82B1FF"/>
                </a:solidFill>
                <a:latin typeface="Inconsolata"/>
              </a:rPr>
              <a:t>$ python after.py</a:t>
            </a:r>
          </a:p>
        </p:txBody>
      </p:sp>
      <p:pic>
        <p:nvPicPr>
          <p:cNvPr id="29" name="Image 12" descr="s02-01-srp-after.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Rumus berubah → cukup </a:t>
            </a:r>
            <a:r>
              <a:rPr sz="950" b="0" i="0">
                <a:solidFill>
                  <a:srgbClr val="B5482A"/>
                </a:solidFill>
                <a:latin typeface="Inconsolata"/>
              </a:rPr>
              <a:t>PriceCalculator</a:t>
            </a:r>
            <a:r>
              <a:rPr sz="950" b="0" i="0">
                <a:solidFill>
                  <a:srgbClr val="434343"/>
                </a:solidFill>
                <a:latin typeface="Inter"/>
              </a:rPr>
              <a:t> (baris 11-14)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Cara simpan berubah → cukup </a:t>
            </a:r>
            <a:r>
              <a:rPr sz="950" b="0" i="0">
                <a:solidFill>
                  <a:srgbClr val="B5482A"/>
                </a:solidFill>
                <a:latin typeface="Inconsolata"/>
              </a:rPr>
              <a:t>OrderRepository</a:t>
            </a:r>
            <a:r>
              <a:rPr sz="950" b="0" i="0">
                <a:solidFill>
                  <a:srgbClr val="434343"/>
                </a:solidFill>
                <a:latin typeface="Inter"/>
              </a:rPr>
              <a:t> (baris 17-24)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Email berubah → cukup </a:t>
            </a:r>
            <a:r>
              <a:rPr sz="950" b="0" i="0">
                <a:solidFill>
                  <a:srgbClr val="B5482A"/>
                </a:solidFill>
                <a:latin typeface="Inconsolata"/>
              </a:rPr>
              <a:t>EmailNotifier</a:t>
            </a:r>
            <a:r>
              <a:rPr sz="950" b="0" i="0">
                <a:solidFill>
                  <a:srgbClr val="434343"/>
                </a:solidFill>
                <a:latin typeface="Inter"/>
              </a:rPr>
              <a:t> (baris 27-29)</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OrderService</a:t>
            </a:r>
            <a:r>
              <a:rPr sz="950" b="0" i="0">
                <a:solidFill>
                  <a:srgbClr val="434343"/>
                </a:solidFill>
                <a:latin typeface="Inter"/>
              </a:rPr>
              <a:t> hanya mengatur urutannya (baris 32-42)</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Outputnya sama dengan before: total Rp190,000.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 · Open/Closed</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Open/Closed?</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Open/Closed adalah</a:t>
            </a:r>
          </a:p>
          <a:p>
            <a:pPr algn="l">
              <a:lnSpc>
                <a:spcPct val="115000"/>
              </a:lnSpc>
              <a:spcAft>
                <a:spcPts val="400"/>
              </a:spcAft>
            </a:pPr>
            <a:r>
              <a:rPr sz="950" b="0" i="0">
                <a:solidFill>
                  <a:srgbClr val="434343"/>
                </a:solidFill>
                <a:latin typeface="Inter"/>
              </a:rPr>
              <a:t>Prinsip bahwa kode </a:t>
            </a:r>
            <a:r>
              <a:rPr sz="950" b="1" i="0">
                <a:solidFill>
                  <a:srgbClr val="434343"/>
                </a:solidFill>
                <a:latin typeface="Inter"/>
              </a:rPr>
              <a:t>terbuka untuk ditambah</a:t>
            </a:r>
            <a:r>
              <a:rPr sz="950" b="0" i="0">
                <a:solidFill>
                  <a:srgbClr val="434343"/>
                </a:solidFill>
                <a:latin typeface="Inter"/>
              </a:rPr>
              <a:t> (fitur baru), tapi </a:t>
            </a:r>
            <a:r>
              <a:rPr sz="950" b="1" i="0">
                <a:solidFill>
                  <a:srgbClr val="434343"/>
                </a:solidFill>
                <a:latin typeface="Inter"/>
              </a:rPr>
              <a:t>tertutup untuk diubah</a:t>
            </a:r>
            <a:r>
              <a:rPr sz="950" b="0" i="0">
                <a:solidFill>
                  <a:srgbClr val="434343"/>
                </a:solidFill>
                <a:latin typeface="Inter"/>
              </a:rPr>
              <a:t>. Kode lama yang sudah jalan dan sudah dites tidak perlu diedit.</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Fitur baru tidak merusak fitur lama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Test lama tetap berlaku tanpa perlu diubah</a:t>
            </a:r>
          </a:p>
          <a:p>
            <a:pPr algn="l">
              <a:lnSpc>
                <a:spcPct val="115000"/>
              </a:lnSpc>
              <a:spcAft>
                <a:spcPts val="400"/>
              </a:spcAft>
            </a:pPr>
            <a:r>
              <a:rPr sz="1050" b="1" i="0">
                <a:solidFill>
                  <a:srgbClr val="1C4587"/>
                </a:solidFill>
                <a:latin typeface="Inter"/>
              </a:rPr>
              <a:t>Cara mengecek</a:t>
            </a:r>
          </a:p>
          <a:p>
            <a:pPr algn="l">
              <a:lnSpc>
                <a:spcPct val="115000"/>
              </a:lnSpc>
              <a:spcAft>
                <a:spcPts val="400"/>
              </a:spcAft>
            </a:pPr>
            <a:r>
              <a:rPr sz="950" b="0" i="0">
                <a:solidFill>
                  <a:srgbClr val="434343"/>
                </a:solidFill>
                <a:latin typeface="Inter"/>
              </a:rPr>
              <a:t>Jika menambah satu jenis baru (kurir, channel, tipe customer) berarti membuka function lama dan menambah </a:t>
            </a:r>
            <a:r>
              <a:rPr sz="950" b="0" i="0">
                <a:solidFill>
                  <a:srgbClr val="B5482A"/>
                </a:solidFill>
                <a:latin typeface="Inconsolata"/>
              </a:rPr>
              <a:t>elif</a:t>
            </a:r>
            <a:r>
              <a:rPr sz="950" b="0" i="0">
                <a:solidFill>
                  <a:srgbClr val="434343"/>
                </a:solidFill>
                <a:latin typeface="Inter"/>
              </a:rPr>
              <a:t>, berarti OCP dilanggar.</a:t>
            </a:r>
          </a:p>
        </p:txBody>
      </p:sp>
      <p:sp>
        <p:nvSpPr>
          <p:cNvPr id="23" name="Box 4"/>
          <p:cNvSpPr/>
          <p:nvPr/>
        </p:nvSpPr>
        <p:spPr>
          <a:xfrm>
            <a:off x="4892040" y="1481328"/>
            <a:ext cx="3593592" cy="960120"/>
          </a:xfrm>
          <a:prstGeom prst="roundRect">
            <a:avLst>
              <a:gd name="adj" fmla="val 11428"/>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l">
              <a:lnSpc>
                <a:spcPct val="105000"/>
              </a:lnSpc>
              <a:spcAft>
                <a:spcPts val="200"/>
              </a:spcAft>
            </a:pPr>
            <a:r>
              <a:rPr sz="950" b="0" i="0">
                <a:solidFill>
                  <a:srgbClr val="434343"/>
                </a:solidFill>
                <a:latin typeface="Inter"/>
              </a:rPr>
              <a:t>"Software entities should be open for extension, but closed for modification."</a:t>
            </a:r>
          </a:p>
          <a:p>
            <a:pPr algn="l">
              <a:lnSpc>
                <a:spcPct val="105000"/>
              </a:lnSpc>
              <a:spcAft>
                <a:spcPts val="200"/>
              </a:spcAft>
            </a:pPr>
            <a:r>
              <a:rPr sz="950" b="0" i="0">
                <a:solidFill>
                  <a:srgbClr val="434343"/>
                </a:solidFill>
                <a:latin typeface="Inter"/>
              </a:rPr>
              <a:t>Bertrand Meyer</a:t>
            </a:r>
          </a:p>
        </p:txBody>
      </p:sp>
      <p:sp>
        <p:nvSpPr>
          <p:cNvPr id="24" name="Box 5"/>
          <p:cNvSpPr/>
          <p:nvPr/>
        </p:nvSpPr>
        <p:spPr>
          <a:xfrm>
            <a:off x="4892040" y="2560320"/>
            <a:ext cx="3593592" cy="1600200"/>
          </a:xfrm>
          <a:prstGeom prst="roundRect">
            <a:avLst>
              <a:gd name="adj" fmla="val 6857"/>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029200" y="2651760"/>
            <a:ext cx="3319272" cy="310896"/>
          </a:xfrm>
          <a:prstGeom prst="rect">
            <a:avLst/>
          </a:prstGeom>
          <a:noFill/>
        </p:spPr>
        <p:txBody>
          <a:bodyPr wrap="square" lIns="45720" rIns="45720" anchor="t">
            <a:spAutoFit/>
          </a:bodyPr>
          <a:lstStyle/>
          <a:p>
            <a:pPr algn="l">
              <a:lnSpc>
                <a:spcPct val="115000"/>
              </a:lnSpc>
              <a:spcAft>
                <a:spcPts val="400"/>
              </a:spcAft>
            </a:pPr>
            <a:r>
              <a:rPr sz="1050" b="1" i="0">
                <a:solidFill>
                  <a:srgbClr val="C0392B"/>
                </a:solidFill>
                <a:latin typeface="Inter"/>
              </a:rPr>
              <a:t>Code smell yang dicari</a:t>
            </a:r>
          </a:p>
        </p:txBody>
      </p:sp>
      <p:sp>
        <p:nvSpPr>
          <p:cNvPr id="26" name="Text 7"/>
          <p:cNvSpPr txBox="1"/>
          <p:nvPr/>
        </p:nvSpPr>
        <p:spPr>
          <a:xfrm>
            <a:off x="5029200" y="2971800"/>
            <a:ext cx="331927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If/elif berdasarkan tipe yang terus bertambah</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Komentar "tambah di sini jika ada yang baru"</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Test lama harus diubah setiap ada fitur baru</a:t>
            </a:r>
          </a:p>
        </p:txBody>
      </p:sp>
      <p:sp>
        <p:nvSpPr>
          <p:cNvPr id="27" name="Text 8"/>
          <p:cNvSpPr txBox="1"/>
          <p:nvPr/>
        </p:nvSpPr>
        <p:spPr>
          <a:xfrm>
            <a:off x="4892040" y="4251960"/>
            <a:ext cx="3593592" cy="45720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Di Sesi 1 diterapkan lewat Strategy dan Factory.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 · Open/Closed</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Kurir Baru = Edit Function</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02-ocp/before.py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11111"/>
              </a:lnSpc>
              <a:spcAft>
                <a:spcPts val="0"/>
              </a:spcAft>
            </a:pPr>
            <a:r>
              <a:rPr sz="900" i="0">
                <a:solidFill>
                  <a:srgbClr val="5C6773"/>
                </a:solidFill>
                <a:latin typeface="Inconsolata"/>
              </a:rPr>
              <a:t> 8  </a:t>
            </a:r>
            <a:r>
              <a:rPr sz="900" i="0">
                <a:solidFill>
                  <a:srgbClr val="FF8E6E"/>
                </a:solidFill>
                <a:latin typeface="Inconsolata"/>
              </a:rPr>
              <a:t>def</a:t>
            </a:r>
            <a:r>
              <a:rPr sz="900" i="0">
                <a:solidFill>
                  <a:srgbClr val="E6EDF3"/>
                </a:solidFill>
                <a:latin typeface="Inconsolata"/>
              </a:rPr>
              <a:t> </a:t>
            </a:r>
            <a:r>
              <a:rPr sz="900" i="0">
                <a:solidFill>
                  <a:srgbClr val="82B1FF"/>
                </a:solidFill>
                <a:latin typeface="Inconsolata"/>
              </a:rPr>
              <a:t>shipping_cost</a:t>
            </a:r>
            <a:r>
              <a:rPr sz="900" i="0">
                <a:solidFill>
                  <a:srgbClr val="E6EDF3"/>
                </a:solidFill>
                <a:latin typeface="Inconsolata"/>
              </a:rPr>
              <a:t>(courier: </a:t>
            </a:r>
            <a:r>
              <a:rPr sz="900" i="0">
                <a:solidFill>
                  <a:srgbClr val="C3A6FF"/>
                </a:solidFill>
                <a:latin typeface="Inconsolata"/>
              </a:rPr>
              <a:t>str</a:t>
            </a:r>
            <a:r>
              <a:rPr sz="900" i="0">
                <a:solidFill>
                  <a:srgbClr val="E6EDF3"/>
                </a:solidFill>
                <a:latin typeface="Inconsolata"/>
              </a:rPr>
              <a:t>, weight_kg: </a:t>
            </a:r>
            <a:r>
              <a:rPr sz="900" i="0">
                <a:solidFill>
                  <a:srgbClr val="C3A6FF"/>
                </a:solidFill>
                <a:latin typeface="Inconsolata"/>
              </a:rPr>
              <a:t>int</a:t>
            </a:r>
            <a:r>
              <a:rPr sz="900" i="0">
                <a:solidFill>
                  <a:srgbClr val="E6EDF3"/>
                </a:solidFill>
                <a:latin typeface="Inconsolata"/>
              </a:rPr>
              <a:t>) -&gt; </a:t>
            </a:r>
            <a:r>
              <a:rPr sz="900" i="0">
                <a:solidFill>
                  <a:srgbClr val="C3A6FF"/>
                </a:solidFill>
                <a:latin typeface="Inconsolata"/>
              </a:rPr>
              <a:t>int</a:t>
            </a:r>
            <a:r>
              <a:rPr sz="900" i="0">
                <a:solidFill>
                  <a:srgbClr val="E6EDF3"/>
                </a:solidFill>
                <a:latin typeface="Inconsolata"/>
              </a:rPr>
              <a:t>:</a:t>
            </a:r>
          </a:p>
          <a:p>
            <a:pPr>
              <a:lnSpc>
                <a:spcPct val="111111"/>
              </a:lnSpc>
              <a:spcAft>
                <a:spcPts val="0"/>
              </a:spcAft>
            </a:pPr>
            <a:r>
              <a:rPr sz="900" i="0">
                <a:solidFill>
                  <a:srgbClr val="5C6773"/>
                </a:solidFill>
                <a:latin typeface="Inconsolata"/>
              </a:rPr>
              <a:t> 9  </a:t>
            </a:r>
            <a:r>
              <a:rPr sz="900" i="0">
                <a:solidFill>
                  <a:srgbClr val="E6EDF3"/>
                </a:solidFill>
                <a:latin typeface="Inconsolata"/>
              </a:rPr>
              <a:t>    </a:t>
            </a:r>
            <a:r>
              <a:rPr sz="900" i="0">
                <a:solidFill>
                  <a:srgbClr val="FF8E6E"/>
                </a:solidFill>
                <a:latin typeface="Inconsolata"/>
              </a:rPr>
              <a:t>if</a:t>
            </a:r>
            <a:r>
              <a:rPr sz="900" i="0">
                <a:solidFill>
                  <a:srgbClr val="E6EDF3"/>
                </a:solidFill>
                <a:latin typeface="Inconsolata"/>
              </a:rPr>
              <a:t> courier == </a:t>
            </a:r>
            <a:r>
              <a:rPr sz="900" i="0">
                <a:solidFill>
                  <a:srgbClr val="A5D6A7"/>
                </a:solidFill>
                <a:latin typeface="Inconsolata"/>
              </a:rPr>
              <a:t>"regular"</a:t>
            </a:r>
            <a:r>
              <a:rPr sz="900" i="0">
                <a:solidFill>
                  <a:srgbClr val="E6EDF3"/>
                </a:solidFill>
                <a:latin typeface="Inconsolata"/>
              </a:rPr>
              <a:t>:</a:t>
            </a:r>
          </a:p>
          <a:p>
            <a:pPr>
              <a:lnSpc>
                <a:spcPct val="111111"/>
              </a:lnSpc>
              <a:spcAft>
                <a:spcPts val="0"/>
              </a:spcAft>
            </a:pPr>
            <a:r>
              <a:rPr sz="900" i="0">
                <a:solidFill>
                  <a:srgbClr val="5C6773"/>
                </a:solidFill>
                <a:latin typeface="Inconsolata"/>
              </a:rPr>
              <a:t>10  </a:t>
            </a:r>
            <a:r>
              <a:rPr sz="900" i="0">
                <a:solidFill>
                  <a:srgbClr val="E6EDF3"/>
                </a:solidFill>
                <a:latin typeface="Inconsolata"/>
              </a:rPr>
              <a:t>        </a:t>
            </a:r>
            <a:r>
              <a:rPr sz="900" i="0">
                <a:solidFill>
                  <a:srgbClr val="FF8E6E"/>
                </a:solidFill>
                <a:latin typeface="Inconsolata"/>
              </a:rPr>
              <a:t>return</a:t>
            </a:r>
            <a:r>
              <a:rPr sz="900" i="0">
                <a:solidFill>
                  <a:srgbClr val="E6EDF3"/>
                </a:solidFill>
                <a:latin typeface="Inconsolata"/>
              </a:rPr>
              <a:t> </a:t>
            </a:r>
            <a:r>
              <a:rPr sz="900" i="0">
                <a:solidFill>
                  <a:srgbClr val="F9C97A"/>
                </a:solidFill>
                <a:latin typeface="Inconsolata"/>
              </a:rPr>
              <a:t>10_000</a:t>
            </a:r>
            <a:r>
              <a:rPr sz="900" i="0">
                <a:solidFill>
                  <a:srgbClr val="E6EDF3"/>
                </a:solidFill>
                <a:latin typeface="Inconsolata"/>
              </a:rPr>
              <a:t> * weight_kg</a:t>
            </a:r>
          </a:p>
          <a:p>
            <a:pPr>
              <a:lnSpc>
                <a:spcPct val="111111"/>
              </a:lnSpc>
              <a:spcAft>
                <a:spcPts val="0"/>
              </a:spcAft>
            </a:pPr>
            <a:r>
              <a:rPr sz="900" i="0">
                <a:solidFill>
                  <a:srgbClr val="5C6773"/>
                </a:solidFill>
                <a:latin typeface="Inconsolata"/>
              </a:rPr>
              <a:t>11  </a:t>
            </a:r>
            <a:r>
              <a:rPr sz="900" i="0">
                <a:solidFill>
                  <a:srgbClr val="E6EDF3"/>
                </a:solidFill>
                <a:latin typeface="Inconsolata"/>
              </a:rPr>
              <a:t>    </a:t>
            </a:r>
            <a:r>
              <a:rPr sz="900" i="0">
                <a:solidFill>
                  <a:srgbClr val="FF8E6E"/>
                </a:solidFill>
                <a:latin typeface="Inconsolata"/>
              </a:rPr>
              <a:t>elif</a:t>
            </a:r>
            <a:r>
              <a:rPr sz="900" i="0">
                <a:solidFill>
                  <a:srgbClr val="E6EDF3"/>
                </a:solidFill>
                <a:latin typeface="Inconsolata"/>
              </a:rPr>
              <a:t> courier == </a:t>
            </a:r>
            <a:r>
              <a:rPr sz="900" i="0">
                <a:solidFill>
                  <a:srgbClr val="A5D6A7"/>
                </a:solidFill>
                <a:latin typeface="Inconsolata"/>
              </a:rPr>
              <a:t>"express"</a:t>
            </a:r>
            <a:r>
              <a:rPr sz="900" i="0">
                <a:solidFill>
                  <a:srgbClr val="E6EDF3"/>
                </a:solidFill>
                <a:latin typeface="Inconsolata"/>
              </a:rPr>
              <a:t>:</a:t>
            </a:r>
          </a:p>
          <a:p>
            <a:pPr>
              <a:lnSpc>
                <a:spcPct val="111111"/>
              </a:lnSpc>
              <a:spcAft>
                <a:spcPts val="0"/>
              </a:spcAft>
            </a:pPr>
            <a:r>
              <a:rPr sz="900" i="0">
                <a:solidFill>
                  <a:srgbClr val="5C6773"/>
                </a:solidFill>
                <a:latin typeface="Inconsolata"/>
              </a:rPr>
              <a:t>12  </a:t>
            </a:r>
            <a:r>
              <a:rPr sz="900" i="0">
                <a:solidFill>
                  <a:srgbClr val="E6EDF3"/>
                </a:solidFill>
                <a:latin typeface="Inconsolata"/>
              </a:rPr>
              <a:t>        </a:t>
            </a:r>
            <a:r>
              <a:rPr sz="900" i="0">
                <a:solidFill>
                  <a:srgbClr val="FF8E6E"/>
                </a:solidFill>
                <a:latin typeface="Inconsolata"/>
              </a:rPr>
              <a:t>return</a:t>
            </a:r>
            <a:r>
              <a:rPr sz="900" i="0">
                <a:solidFill>
                  <a:srgbClr val="E6EDF3"/>
                </a:solidFill>
                <a:latin typeface="Inconsolata"/>
              </a:rPr>
              <a:t> </a:t>
            </a:r>
            <a:r>
              <a:rPr sz="900" i="0">
                <a:solidFill>
                  <a:srgbClr val="F9C97A"/>
                </a:solidFill>
                <a:latin typeface="Inconsolata"/>
              </a:rPr>
              <a:t>20_000</a:t>
            </a:r>
            <a:r>
              <a:rPr sz="900" i="0">
                <a:solidFill>
                  <a:srgbClr val="E6EDF3"/>
                </a:solidFill>
                <a:latin typeface="Inconsolata"/>
              </a:rPr>
              <a:t> * weight_kg</a:t>
            </a:r>
          </a:p>
          <a:p>
            <a:pPr>
              <a:lnSpc>
                <a:spcPct val="111111"/>
              </a:lnSpc>
              <a:spcAft>
                <a:spcPts val="0"/>
              </a:spcAft>
            </a:pPr>
            <a:r>
              <a:rPr sz="900" i="0">
                <a:solidFill>
                  <a:srgbClr val="5C6773"/>
                </a:solidFill>
                <a:latin typeface="Inconsolata"/>
              </a:rPr>
              <a:t>13  </a:t>
            </a:r>
            <a:r>
              <a:rPr sz="900" i="0">
                <a:solidFill>
                  <a:srgbClr val="E6EDF3"/>
                </a:solidFill>
                <a:latin typeface="Inconsolata"/>
              </a:rPr>
              <a:t>    </a:t>
            </a:r>
            <a:r>
              <a:rPr sz="900" i="1">
                <a:solidFill>
                  <a:srgbClr val="8B98A8"/>
                </a:solidFill>
                <a:latin typeface="Inconsolata"/>
              </a:rPr>
              <a:t># elif courier == "same_day": ...  &lt;- edit lagi di sini</a:t>
            </a:r>
          </a:p>
          <a:p>
            <a:pPr>
              <a:lnSpc>
                <a:spcPct val="111111"/>
              </a:lnSpc>
              <a:spcAft>
                <a:spcPts val="0"/>
              </a:spcAft>
            </a:pPr>
            <a:r>
              <a:rPr sz="900" i="0">
                <a:solidFill>
                  <a:srgbClr val="5C6773"/>
                </a:solidFill>
                <a:latin typeface="Inconsolata"/>
              </a:rPr>
              <a:t>14  </a:t>
            </a:r>
            <a:r>
              <a:rPr sz="900" i="0">
                <a:solidFill>
                  <a:srgbClr val="E6EDF3"/>
                </a:solidFill>
                <a:latin typeface="Inconsolata"/>
              </a:rPr>
              <a:t>    </a:t>
            </a:r>
            <a:r>
              <a:rPr sz="900" i="0">
                <a:solidFill>
                  <a:srgbClr val="FF8E6E"/>
                </a:solidFill>
                <a:latin typeface="Inconsolata"/>
              </a:rPr>
              <a:t>raise</a:t>
            </a:r>
            <a:r>
              <a:rPr sz="900" i="0">
                <a:solidFill>
                  <a:srgbClr val="E6EDF3"/>
                </a:solidFill>
                <a:latin typeface="Inconsolata"/>
              </a:rPr>
              <a:t> </a:t>
            </a:r>
            <a:r>
              <a:rPr sz="900" i="0">
                <a:solidFill>
                  <a:srgbClr val="7FDBCA"/>
                </a:solidFill>
                <a:latin typeface="Inconsolata"/>
              </a:rPr>
              <a:t>ValueError</a:t>
            </a:r>
            <a:r>
              <a:rPr sz="900" i="0">
                <a:solidFill>
                  <a:srgbClr val="E6EDF3"/>
                </a:solidFill>
                <a:latin typeface="Inconsolata"/>
              </a:rPr>
              <a:t>(</a:t>
            </a:r>
            <a:r>
              <a:rPr sz="900" i="0">
                <a:solidFill>
                  <a:srgbClr val="A5D6A7"/>
                </a:solidFill>
                <a:latin typeface="Inconsolata"/>
              </a:rPr>
              <a:t>f"Kurir tidak dikenal: {courier}"</a:t>
            </a:r>
            <a:r>
              <a:rPr sz="900" i="0">
                <a:solidFill>
                  <a:srgbClr val="E6EDF3"/>
                </a:solidFill>
                <a:latin typeface="Inconsolata"/>
              </a:rPr>
              <a:t>)</a:t>
            </a:r>
          </a:p>
          <a:p>
            <a:pPr>
              <a:lnSpc>
                <a:spcPct val="111111"/>
              </a:lnSpc>
              <a:spcAft>
                <a:spcPts val="0"/>
              </a:spcAft>
            </a:pPr>
            <a:r>
              <a:rPr sz="900" i="0">
                <a:solidFill>
                  <a:srgbClr val="5C6773"/>
                </a:solidFill>
                <a:latin typeface="Inconsolata"/>
              </a:rPr>
              <a:t>15  </a:t>
            </a:r>
            <a:r>
              <a:rPr sz="900" i="0">
                <a:solidFill>
                  <a:srgbClr val="E6EDF3"/>
                </a:solidFill>
                <a:latin typeface="Inconsolata"/>
              </a:rPr>
              <a:t> </a:t>
            </a:r>
          </a:p>
          <a:p>
            <a:pPr>
              <a:lnSpc>
                <a:spcPct val="111111"/>
              </a:lnSpc>
              <a:spcAft>
                <a:spcPts val="0"/>
              </a:spcAft>
            </a:pPr>
            <a:r>
              <a:rPr sz="900" i="0">
                <a:solidFill>
                  <a:srgbClr val="5C6773"/>
                </a:solidFill>
                <a:latin typeface="Inconsolata"/>
              </a:rPr>
              <a:t>16  </a:t>
            </a:r>
            <a:r>
              <a:rPr sz="900" i="0">
                <a:solidFill>
                  <a:srgbClr val="E6EDF3"/>
                </a:solidFill>
                <a:latin typeface="Inconsolata"/>
              </a:rPr>
              <a:t> </a:t>
            </a:r>
          </a:p>
          <a:p>
            <a:pPr>
              <a:lnSpc>
                <a:spcPct val="111111"/>
              </a:lnSpc>
              <a:spcAft>
                <a:spcPts val="0"/>
              </a:spcAft>
            </a:pPr>
            <a:r>
              <a:rPr sz="900" i="0">
                <a:solidFill>
                  <a:srgbClr val="5C6773"/>
                </a:solidFill>
                <a:latin typeface="Inconsolata"/>
              </a:rPr>
              <a:t>17  </a:t>
            </a:r>
            <a:r>
              <a:rPr sz="900" i="0">
                <a:solidFill>
                  <a:srgbClr val="FF8E6E"/>
                </a:solidFill>
                <a:latin typeface="Inconsolata"/>
              </a:rPr>
              <a:t>if</a:t>
            </a:r>
            <a:r>
              <a:rPr sz="900" i="0">
                <a:solidFill>
                  <a:srgbClr val="E6EDF3"/>
                </a:solidFill>
                <a:latin typeface="Inconsolata"/>
              </a:rPr>
              <a:t> __name__ == </a:t>
            </a:r>
            <a:r>
              <a:rPr sz="900" i="0">
                <a:solidFill>
                  <a:srgbClr val="A5D6A7"/>
                </a:solidFill>
                <a:latin typeface="Inconsolata"/>
              </a:rPr>
              <a:t>"__main__"</a:t>
            </a:r>
            <a:r>
              <a:rPr sz="900" i="0">
                <a:solidFill>
                  <a:srgbClr val="E6EDF3"/>
                </a:solidFill>
                <a:latin typeface="Inconsolata"/>
              </a:rPr>
              <a:t>:</a:t>
            </a:r>
          </a:p>
          <a:p>
            <a:pPr>
              <a:lnSpc>
                <a:spcPct val="111111"/>
              </a:lnSpc>
              <a:spcAft>
                <a:spcPts val="0"/>
              </a:spcAft>
            </a:pPr>
            <a:r>
              <a:rPr sz="900" i="0">
                <a:solidFill>
                  <a:srgbClr val="5C6773"/>
                </a:solidFill>
                <a:latin typeface="Inconsolata"/>
              </a:rPr>
              <a:t>18  </a:t>
            </a:r>
            <a:r>
              <a:rPr sz="900" i="0">
                <a:solidFill>
                  <a:srgbClr val="E6EDF3"/>
                </a:solidFill>
                <a:latin typeface="Inconsolata"/>
              </a:rPr>
              <a:t>    </a:t>
            </a:r>
            <a:r>
              <a:rPr sz="900" i="0">
                <a:solidFill>
                  <a:srgbClr val="C3A6FF"/>
                </a:solidFill>
                <a:latin typeface="Inconsolata"/>
              </a:rPr>
              <a:t>print</a:t>
            </a:r>
            <a:r>
              <a:rPr sz="900" i="0">
                <a:solidFill>
                  <a:srgbClr val="E6EDF3"/>
                </a:solidFill>
                <a:latin typeface="Inconsolata"/>
              </a:rPr>
              <a:t>(shipping_cost(</a:t>
            </a:r>
            <a:r>
              <a:rPr sz="900" i="0">
                <a:solidFill>
                  <a:srgbClr val="A5D6A7"/>
                </a:solidFill>
                <a:latin typeface="Inconsolata"/>
              </a:rPr>
              <a:t>"regular"</a:t>
            </a:r>
            <a:r>
              <a:rPr sz="900" i="0">
                <a:solidFill>
                  <a:srgbClr val="E6EDF3"/>
                </a:solidFill>
                <a:latin typeface="Inconsolata"/>
              </a:rPr>
              <a:t>, </a:t>
            </a:r>
            <a:r>
              <a:rPr sz="900" i="0">
                <a:solidFill>
                  <a:srgbClr val="F9C97A"/>
                </a:solidFill>
                <a:latin typeface="Inconsolata"/>
              </a:rPr>
              <a:t>2</a:t>
            </a:r>
            <a:r>
              <a:rPr sz="900" i="0">
                <a:solidFill>
                  <a:srgbClr val="E6EDF3"/>
                </a:solidFill>
                <a:latin typeface="Inconsolata"/>
              </a:rPr>
              <a:t>))</a:t>
            </a:r>
          </a:p>
          <a:p>
            <a:pPr>
              <a:lnSpc>
                <a:spcPct val="111111"/>
              </a:lnSpc>
              <a:spcAft>
                <a:spcPts val="0"/>
              </a:spcAft>
            </a:pPr>
            <a:r>
              <a:rPr sz="900" i="0">
                <a:solidFill>
                  <a:srgbClr val="5C6773"/>
                </a:solidFill>
                <a:latin typeface="Inconsolata"/>
              </a:rPr>
              <a:t>19  </a:t>
            </a:r>
            <a:r>
              <a:rPr sz="900" i="0">
                <a:solidFill>
                  <a:srgbClr val="E6EDF3"/>
                </a:solidFill>
                <a:latin typeface="Inconsolata"/>
              </a:rPr>
              <a:t>    </a:t>
            </a:r>
            <a:r>
              <a:rPr sz="900" i="0">
                <a:solidFill>
                  <a:srgbClr val="C3A6FF"/>
                </a:solidFill>
                <a:latin typeface="Inconsolata"/>
              </a:rPr>
              <a:t>print</a:t>
            </a:r>
            <a:r>
              <a:rPr sz="900" i="0">
                <a:solidFill>
                  <a:srgbClr val="E6EDF3"/>
                </a:solidFill>
                <a:latin typeface="Inconsolata"/>
              </a:rPr>
              <a:t>(shipping_cost(</a:t>
            </a:r>
            <a:r>
              <a:rPr sz="900" i="0">
                <a:solidFill>
                  <a:srgbClr val="A5D6A7"/>
                </a:solidFill>
                <a:latin typeface="Inconsolata"/>
              </a:rPr>
              <a:t>"express"</a:t>
            </a:r>
            <a:r>
              <a:rPr sz="900" i="0">
                <a:solidFill>
                  <a:srgbClr val="E6EDF3"/>
                </a:solidFill>
                <a:latin typeface="Inconsolata"/>
              </a:rPr>
              <a:t>, </a:t>
            </a:r>
            <a:r>
              <a:rPr sz="900" i="0">
                <a:solidFill>
                  <a:srgbClr val="F9C97A"/>
                </a:solidFill>
                <a:latin typeface="Inconsolata"/>
              </a:rPr>
              <a:t>2</a:t>
            </a:r>
            <a:r>
              <a:rPr sz="900" i="0">
                <a:solidFill>
                  <a:srgbClr val="E6EDF3"/>
                </a:solidFill>
                <a:latin typeface="Inconsolata"/>
              </a:rPr>
              <a:t>))</a:t>
            </a:r>
          </a:p>
        </p:txBody>
      </p:sp>
      <p:sp>
        <p:nvSpPr>
          <p:cNvPr id="29" name="Box 12"/>
          <p:cNvSpPr/>
          <p:nvPr/>
        </p:nvSpPr>
        <p:spPr>
          <a:xfrm>
            <a:off x="704088" y="1982724"/>
            <a:ext cx="7699248" cy="600456"/>
          </a:xfrm>
          <a:prstGeom prst="roundRect">
            <a:avLst>
              <a:gd name="adj" fmla="val 76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1640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92324"/>
            <a:ext cx="7699248" cy="143255"/>
          </a:xfrm>
          <a:prstGeom prst="roundRect">
            <a:avLst>
              <a:gd name="adj" fmla="val 31914"/>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254508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 · Open/Closed</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02-ocp/before.py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sesi-02-solid-clean-architecture/02-ocp</a:t>
            </a:r>
          </a:p>
          <a:p>
            <a:pPr>
              <a:lnSpc>
                <a:spcPct val="107527"/>
              </a:lnSpc>
              <a:spcAft>
                <a:spcPts val="0"/>
              </a:spcAft>
            </a:pPr>
            <a:r>
              <a:rPr sz="775" i="0">
                <a:solidFill>
                  <a:srgbClr val="82B1FF"/>
                </a:solidFill>
                <a:latin typeface="Inconsolata"/>
              </a:rPr>
              <a:t>$ python before.py</a:t>
            </a:r>
          </a:p>
        </p:txBody>
      </p:sp>
      <p:pic>
        <p:nvPicPr>
          <p:cNvPr id="29" name="Image 12" descr="s02-02-ocp-before.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Setiap kurir = satu cabang if/elif (baris 9-12)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Kurir baru (same_day) = membuka dan mengedit function yang sudah jalan (baris 13)</a:t>
            </a:r>
          </a:p>
          <a:p>
            <a:pPr algn="l">
              <a:lnSpc>
                <a:spcPct val="115000"/>
              </a:lnSpc>
              <a:spcAft>
                <a:spcPts val="0"/>
              </a:spcAft>
            </a:pPr>
            <a:endParaRPr sz="950" b="0" i="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Kode lama yang sudah dites ikut berisiko rusak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 · Open/Closed</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Kurir Baru = Class Baru</a:t>
            </a:r>
          </a:p>
        </p:txBody>
      </p:sp>
      <p:sp>
        <p:nvSpPr>
          <p:cNvPr id="22" name="CodeTab 4"/>
          <p:cNvSpPr/>
          <p:nvPr/>
        </p:nvSpPr>
        <p:spPr>
          <a:xfrm>
            <a:off x="621792"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02-ocp/after.py</a:t>
            </a:r>
          </a:p>
        </p:txBody>
      </p:sp>
      <p:sp>
        <p:nvSpPr>
          <p:cNvPr id="27" name="CodeBg 10"/>
          <p:cNvSpPr/>
          <p:nvPr/>
        </p:nvSpPr>
        <p:spPr>
          <a:xfrm>
            <a:off x="621792"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858768" cy="2980944"/>
          </a:xfrm>
          <a:prstGeom prst="rect">
            <a:avLst/>
          </a:prstGeom>
          <a:noFill/>
        </p:spPr>
        <p:txBody>
          <a:bodyPr wrap="none" lIns="146304" tIns="91440" rIns="146304" bIns="54864">
            <a:spAutoFit/>
          </a:bodyPr>
          <a:lstStyle/>
          <a:p>
            <a:pPr>
              <a:lnSpc>
                <a:spcPct val="106428"/>
              </a:lnSpc>
              <a:spcAft>
                <a:spcPts val="0"/>
              </a:spcAft>
            </a:pPr>
            <a:r>
              <a:rPr sz="783" i="0">
                <a:solidFill>
                  <a:srgbClr val="5C6773"/>
                </a:solidFill>
                <a:latin typeface="Inconsolata"/>
              </a:rPr>
              <a:t> 8  </a:t>
            </a:r>
            <a:r>
              <a:rPr sz="783" i="0">
                <a:solidFill>
                  <a:srgbClr val="FF8E6E"/>
                </a:solidFill>
                <a:latin typeface="Inconsolata"/>
              </a:rPr>
              <a:t>class</a:t>
            </a:r>
            <a:r>
              <a:rPr sz="783" i="0">
                <a:solidFill>
                  <a:srgbClr val="E6EDF3"/>
                </a:solidFill>
                <a:latin typeface="Inconsolata"/>
              </a:rPr>
              <a:t> </a:t>
            </a:r>
            <a:r>
              <a:rPr sz="783" i="0">
                <a:solidFill>
                  <a:srgbClr val="7FDBCA"/>
                </a:solidFill>
                <a:latin typeface="Inconsolata"/>
              </a:rPr>
              <a:t>RegularCourier</a:t>
            </a:r>
            <a:r>
              <a:rPr sz="783" i="0">
                <a:solidFill>
                  <a:srgbClr val="E6EDF3"/>
                </a:solidFill>
                <a:latin typeface="Inconsolata"/>
              </a:rPr>
              <a:t>:</a:t>
            </a:r>
          </a:p>
          <a:p>
            <a:pPr>
              <a:lnSpc>
                <a:spcPct val="106428"/>
              </a:lnSpc>
              <a:spcAft>
                <a:spcPts val="0"/>
              </a:spcAft>
            </a:pPr>
            <a:r>
              <a:rPr sz="783" i="0">
                <a:solidFill>
                  <a:srgbClr val="5C6773"/>
                </a:solidFill>
                <a:latin typeface="Inconsolata"/>
              </a:rPr>
              <a:t> 9  </a:t>
            </a:r>
            <a:r>
              <a:rPr sz="783" i="0">
                <a:solidFill>
                  <a:srgbClr val="E6EDF3"/>
                </a:solidFill>
                <a:latin typeface="Inconsolata"/>
              </a:rPr>
              <a:t>    </a:t>
            </a:r>
            <a:r>
              <a:rPr sz="783" i="0">
                <a:solidFill>
                  <a:srgbClr val="FF8E6E"/>
                </a:solidFill>
                <a:latin typeface="Inconsolata"/>
              </a:rPr>
              <a:t>def</a:t>
            </a:r>
            <a:r>
              <a:rPr sz="783" i="0">
                <a:solidFill>
                  <a:srgbClr val="E6EDF3"/>
                </a:solidFill>
                <a:latin typeface="Inconsolata"/>
              </a:rPr>
              <a:t> </a:t>
            </a:r>
            <a:r>
              <a:rPr sz="783" i="0">
                <a:solidFill>
                  <a:srgbClr val="82B1FF"/>
                </a:solidFill>
                <a:latin typeface="Inconsolata"/>
              </a:rPr>
              <a:t>cost</a:t>
            </a:r>
            <a:r>
              <a:rPr sz="783" i="0">
                <a:solidFill>
                  <a:srgbClr val="E6EDF3"/>
                </a:solidFill>
                <a:latin typeface="Inconsolata"/>
              </a:rPr>
              <a:t>(</a:t>
            </a:r>
            <a:r>
              <a:rPr sz="783" i="0">
                <a:solidFill>
                  <a:srgbClr val="C3A6FF"/>
                </a:solidFill>
                <a:latin typeface="Inconsolata"/>
              </a:rPr>
              <a:t>self</a:t>
            </a:r>
            <a:r>
              <a:rPr sz="783" i="0">
                <a:solidFill>
                  <a:srgbClr val="E6EDF3"/>
                </a:solidFill>
                <a:latin typeface="Inconsolata"/>
              </a:rPr>
              <a:t>, weight_kg: </a:t>
            </a:r>
            <a:r>
              <a:rPr sz="783" i="0">
                <a:solidFill>
                  <a:srgbClr val="C3A6FF"/>
                </a:solidFill>
                <a:latin typeface="Inconsolata"/>
              </a:rPr>
              <a:t>int</a:t>
            </a:r>
            <a:r>
              <a:rPr sz="783" i="0">
                <a:solidFill>
                  <a:srgbClr val="E6EDF3"/>
                </a:solidFill>
                <a:latin typeface="Inconsolata"/>
              </a:rPr>
              <a:t>) -&gt; </a:t>
            </a:r>
            <a:r>
              <a:rPr sz="783" i="0">
                <a:solidFill>
                  <a:srgbClr val="C3A6FF"/>
                </a:solidFill>
                <a:latin typeface="Inconsolata"/>
              </a:rPr>
              <a:t>int</a:t>
            </a:r>
            <a:r>
              <a:rPr sz="783" i="0">
                <a:solidFill>
                  <a:srgbClr val="E6EDF3"/>
                </a:solidFill>
                <a:latin typeface="Inconsolata"/>
              </a:rPr>
              <a:t>:</a:t>
            </a:r>
          </a:p>
          <a:p>
            <a:pPr>
              <a:lnSpc>
                <a:spcPct val="106428"/>
              </a:lnSpc>
              <a:spcAft>
                <a:spcPts val="0"/>
              </a:spcAft>
            </a:pPr>
            <a:r>
              <a:rPr sz="783" i="0">
                <a:solidFill>
                  <a:srgbClr val="5C6773"/>
                </a:solidFill>
                <a:latin typeface="Inconsolata"/>
              </a:rPr>
              <a:t>10  </a:t>
            </a:r>
            <a:r>
              <a:rPr sz="783" i="0">
                <a:solidFill>
                  <a:srgbClr val="E6EDF3"/>
                </a:solidFill>
                <a:latin typeface="Inconsolata"/>
              </a:rPr>
              <a:t>        </a:t>
            </a:r>
            <a:r>
              <a:rPr sz="783" i="0">
                <a:solidFill>
                  <a:srgbClr val="FF8E6E"/>
                </a:solidFill>
                <a:latin typeface="Inconsolata"/>
              </a:rPr>
              <a:t>return</a:t>
            </a:r>
            <a:r>
              <a:rPr sz="783" i="0">
                <a:solidFill>
                  <a:srgbClr val="E6EDF3"/>
                </a:solidFill>
                <a:latin typeface="Inconsolata"/>
              </a:rPr>
              <a:t> </a:t>
            </a:r>
            <a:r>
              <a:rPr sz="783" i="0">
                <a:solidFill>
                  <a:srgbClr val="F9C97A"/>
                </a:solidFill>
                <a:latin typeface="Inconsolata"/>
              </a:rPr>
              <a:t>10_000</a:t>
            </a:r>
            <a:r>
              <a:rPr sz="783" i="0">
                <a:solidFill>
                  <a:srgbClr val="E6EDF3"/>
                </a:solidFill>
                <a:latin typeface="Inconsolata"/>
              </a:rPr>
              <a:t> * weight_kg</a:t>
            </a:r>
          </a:p>
          <a:p>
            <a:pPr>
              <a:lnSpc>
                <a:spcPct val="106428"/>
              </a:lnSpc>
              <a:spcAft>
                <a:spcPts val="0"/>
              </a:spcAft>
            </a:pPr>
            <a:r>
              <a:rPr sz="783" i="0">
                <a:solidFill>
                  <a:srgbClr val="5C6773"/>
                </a:solidFill>
                <a:latin typeface="Inconsolata"/>
              </a:rPr>
              <a:t>11  </a:t>
            </a:r>
            <a:r>
              <a:rPr sz="783" i="0">
                <a:solidFill>
                  <a:srgbClr val="E6EDF3"/>
                </a:solidFill>
                <a:latin typeface="Inconsolata"/>
              </a:rPr>
              <a:t> </a:t>
            </a:r>
          </a:p>
          <a:p>
            <a:pPr>
              <a:lnSpc>
                <a:spcPct val="106428"/>
              </a:lnSpc>
              <a:spcAft>
                <a:spcPts val="0"/>
              </a:spcAft>
            </a:pPr>
            <a:r>
              <a:rPr sz="783" i="0">
                <a:solidFill>
                  <a:srgbClr val="5C6773"/>
                </a:solidFill>
                <a:latin typeface="Inconsolata"/>
              </a:rPr>
              <a:t>12  </a:t>
            </a:r>
            <a:r>
              <a:rPr sz="783" i="0">
                <a:solidFill>
                  <a:srgbClr val="E6EDF3"/>
                </a:solidFill>
                <a:latin typeface="Inconsolata"/>
              </a:rPr>
              <a:t> </a:t>
            </a:r>
          </a:p>
          <a:p>
            <a:pPr>
              <a:lnSpc>
                <a:spcPct val="106428"/>
              </a:lnSpc>
              <a:spcAft>
                <a:spcPts val="0"/>
              </a:spcAft>
            </a:pPr>
            <a:r>
              <a:rPr sz="783" i="0">
                <a:solidFill>
                  <a:srgbClr val="5C6773"/>
                </a:solidFill>
                <a:latin typeface="Inconsolata"/>
              </a:rPr>
              <a:t>13  </a:t>
            </a:r>
            <a:r>
              <a:rPr sz="783" i="0">
                <a:solidFill>
                  <a:srgbClr val="FF8E6E"/>
                </a:solidFill>
                <a:latin typeface="Inconsolata"/>
              </a:rPr>
              <a:t>class</a:t>
            </a:r>
            <a:r>
              <a:rPr sz="783" i="0">
                <a:solidFill>
                  <a:srgbClr val="E6EDF3"/>
                </a:solidFill>
                <a:latin typeface="Inconsolata"/>
              </a:rPr>
              <a:t> </a:t>
            </a:r>
            <a:r>
              <a:rPr sz="783" i="0">
                <a:solidFill>
                  <a:srgbClr val="7FDBCA"/>
                </a:solidFill>
                <a:latin typeface="Inconsolata"/>
              </a:rPr>
              <a:t>ExpressCourier</a:t>
            </a:r>
            <a:r>
              <a:rPr sz="783" i="0">
                <a:solidFill>
                  <a:srgbClr val="E6EDF3"/>
                </a:solidFill>
                <a:latin typeface="Inconsolata"/>
              </a:rPr>
              <a:t>:</a:t>
            </a:r>
          </a:p>
          <a:p>
            <a:pPr>
              <a:lnSpc>
                <a:spcPct val="106428"/>
              </a:lnSpc>
              <a:spcAft>
                <a:spcPts val="0"/>
              </a:spcAft>
            </a:pPr>
            <a:r>
              <a:rPr sz="783" i="0">
                <a:solidFill>
                  <a:srgbClr val="5C6773"/>
                </a:solidFill>
                <a:latin typeface="Inconsolata"/>
              </a:rPr>
              <a:t>14  </a:t>
            </a:r>
            <a:r>
              <a:rPr sz="783" i="0">
                <a:solidFill>
                  <a:srgbClr val="E6EDF3"/>
                </a:solidFill>
                <a:latin typeface="Inconsolata"/>
              </a:rPr>
              <a:t>    </a:t>
            </a:r>
            <a:r>
              <a:rPr sz="783" i="0">
                <a:solidFill>
                  <a:srgbClr val="FF8E6E"/>
                </a:solidFill>
                <a:latin typeface="Inconsolata"/>
              </a:rPr>
              <a:t>def</a:t>
            </a:r>
            <a:r>
              <a:rPr sz="783" i="0">
                <a:solidFill>
                  <a:srgbClr val="E6EDF3"/>
                </a:solidFill>
                <a:latin typeface="Inconsolata"/>
              </a:rPr>
              <a:t> </a:t>
            </a:r>
            <a:r>
              <a:rPr sz="783" i="0">
                <a:solidFill>
                  <a:srgbClr val="82B1FF"/>
                </a:solidFill>
                <a:latin typeface="Inconsolata"/>
              </a:rPr>
              <a:t>cost</a:t>
            </a:r>
            <a:r>
              <a:rPr sz="783" i="0">
                <a:solidFill>
                  <a:srgbClr val="E6EDF3"/>
                </a:solidFill>
                <a:latin typeface="Inconsolata"/>
              </a:rPr>
              <a:t>(</a:t>
            </a:r>
            <a:r>
              <a:rPr sz="783" i="0">
                <a:solidFill>
                  <a:srgbClr val="C3A6FF"/>
                </a:solidFill>
                <a:latin typeface="Inconsolata"/>
              </a:rPr>
              <a:t>self</a:t>
            </a:r>
            <a:r>
              <a:rPr sz="783" i="0">
                <a:solidFill>
                  <a:srgbClr val="E6EDF3"/>
                </a:solidFill>
                <a:latin typeface="Inconsolata"/>
              </a:rPr>
              <a:t>, weight_kg: </a:t>
            </a:r>
            <a:r>
              <a:rPr sz="783" i="0">
                <a:solidFill>
                  <a:srgbClr val="C3A6FF"/>
                </a:solidFill>
                <a:latin typeface="Inconsolata"/>
              </a:rPr>
              <a:t>int</a:t>
            </a:r>
            <a:r>
              <a:rPr sz="783" i="0">
                <a:solidFill>
                  <a:srgbClr val="E6EDF3"/>
                </a:solidFill>
                <a:latin typeface="Inconsolata"/>
              </a:rPr>
              <a:t>) -&gt; </a:t>
            </a:r>
            <a:r>
              <a:rPr sz="783" i="0">
                <a:solidFill>
                  <a:srgbClr val="C3A6FF"/>
                </a:solidFill>
                <a:latin typeface="Inconsolata"/>
              </a:rPr>
              <a:t>int</a:t>
            </a:r>
            <a:r>
              <a:rPr sz="783" i="0">
                <a:solidFill>
                  <a:srgbClr val="E6EDF3"/>
                </a:solidFill>
                <a:latin typeface="Inconsolata"/>
              </a:rPr>
              <a:t>:</a:t>
            </a:r>
          </a:p>
          <a:p>
            <a:pPr>
              <a:lnSpc>
                <a:spcPct val="106428"/>
              </a:lnSpc>
              <a:spcAft>
                <a:spcPts val="0"/>
              </a:spcAft>
            </a:pPr>
            <a:r>
              <a:rPr sz="783" i="0">
                <a:solidFill>
                  <a:srgbClr val="5C6773"/>
                </a:solidFill>
                <a:latin typeface="Inconsolata"/>
              </a:rPr>
              <a:t>15  </a:t>
            </a:r>
            <a:r>
              <a:rPr sz="783" i="0">
                <a:solidFill>
                  <a:srgbClr val="E6EDF3"/>
                </a:solidFill>
                <a:latin typeface="Inconsolata"/>
              </a:rPr>
              <a:t>        </a:t>
            </a:r>
            <a:r>
              <a:rPr sz="783" i="0">
                <a:solidFill>
                  <a:srgbClr val="FF8E6E"/>
                </a:solidFill>
                <a:latin typeface="Inconsolata"/>
              </a:rPr>
              <a:t>return</a:t>
            </a:r>
            <a:r>
              <a:rPr sz="783" i="0">
                <a:solidFill>
                  <a:srgbClr val="E6EDF3"/>
                </a:solidFill>
                <a:latin typeface="Inconsolata"/>
              </a:rPr>
              <a:t> </a:t>
            </a:r>
            <a:r>
              <a:rPr sz="783" i="0">
                <a:solidFill>
                  <a:srgbClr val="F9C97A"/>
                </a:solidFill>
                <a:latin typeface="Inconsolata"/>
              </a:rPr>
              <a:t>20_000</a:t>
            </a:r>
            <a:r>
              <a:rPr sz="783" i="0">
                <a:solidFill>
                  <a:srgbClr val="E6EDF3"/>
                </a:solidFill>
                <a:latin typeface="Inconsolata"/>
              </a:rPr>
              <a:t> * weight_kg</a:t>
            </a:r>
          </a:p>
          <a:p>
            <a:pPr>
              <a:lnSpc>
                <a:spcPct val="106428"/>
              </a:lnSpc>
              <a:spcAft>
                <a:spcPts val="0"/>
              </a:spcAft>
            </a:pPr>
            <a:r>
              <a:rPr sz="783" i="0">
                <a:solidFill>
                  <a:srgbClr val="5C6773"/>
                </a:solidFill>
                <a:latin typeface="Inconsolata"/>
              </a:rPr>
              <a:t>16  </a:t>
            </a:r>
            <a:r>
              <a:rPr sz="783" i="0">
                <a:solidFill>
                  <a:srgbClr val="E6EDF3"/>
                </a:solidFill>
                <a:latin typeface="Inconsolata"/>
              </a:rPr>
              <a:t> </a:t>
            </a:r>
          </a:p>
          <a:p>
            <a:pPr>
              <a:lnSpc>
                <a:spcPct val="106428"/>
              </a:lnSpc>
              <a:spcAft>
                <a:spcPts val="0"/>
              </a:spcAft>
            </a:pPr>
            <a:r>
              <a:rPr sz="783" i="0">
                <a:solidFill>
                  <a:srgbClr val="5C6773"/>
                </a:solidFill>
                <a:latin typeface="Inconsolata"/>
              </a:rPr>
              <a:t>17  </a:t>
            </a:r>
            <a:r>
              <a:rPr sz="783" i="0">
                <a:solidFill>
                  <a:srgbClr val="E6EDF3"/>
                </a:solidFill>
                <a:latin typeface="Inconsolata"/>
              </a:rPr>
              <a:t> </a:t>
            </a:r>
          </a:p>
          <a:p>
            <a:pPr>
              <a:lnSpc>
                <a:spcPct val="106428"/>
              </a:lnSpc>
              <a:spcAft>
                <a:spcPts val="0"/>
              </a:spcAft>
            </a:pPr>
            <a:r>
              <a:rPr sz="783" i="0">
                <a:solidFill>
                  <a:srgbClr val="5C6773"/>
                </a:solidFill>
                <a:latin typeface="Inconsolata"/>
              </a:rPr>
              <a:t>18  </a:t>
            </a:r>
            <a:r>
              <a:rPr sz="783" i="0">
                <a:solidFill>
                  <a:srgbClr val="FF8E6E"/>
                </a:solidFill>
                <a:latin typeface="Inconsolata"/>
              </a:rPr>
              <a:t>class</a:t>
            </a:r>
            <a:r>
              <a:rPr sz="783" i="0">
                <a:solidFill>
                  <a:srgbClr val="E6EDF3"/>
                </a:solidFill>
                <a:latin typeface="Inconsolata"/>
              </a:rPr>
              <a:t> </a:t>
            </a:r>
            <a:r>
              <a:rPr sz="783" i="0">
                <a:solidFill>
                  <a:srgbClr val="7FDBCA"/>
                </a:solidFill>
                <a:latin typeface="Inconsolata"/>
              </a:rPr>
              <a:t>SameDayCourier</a:t>
            </a:r>
            <a:r>
              <a:rPr sz="783" i="0">
                <a:solidFill>
                  <a:srgbClr val="E6EDF3"/>
                </a:solidFill>
                <a:latin typeface="Inconsolata"/>
              </a:rPr>
              <a:t>:  </a:t>
            </a:r>
            <a:r>
              <a:rPr sz="783" i="1">
                <a:solidFill>
                  <a:srgbClr val="8B98A8"/>
                </a:solidFill>
                <a:latin typeface="Inconsolata"/>
              </a:rPr>
              <a:t># kurir baru</a:t>
            </a:r>
          </a:p>
          <a:p>
            <a:pPr>
              <a:lnSpc>
                <a:spcPct val="106428"/>
              </a:lnSpc>
              <a:spcAft>
                <a:spcPts val="0"/>
              </a:spcAft>
            </a:pPr>
            <a:r>
              <a:rPr sz="783" i="0">
                <a:solidFill>
                  <a:srgbClr val="5C6773"/>
                </a:solidFill>
                <a:latin typeface="Inconsolata"/>
              </a:rPr>
              <a:t>19  </a:t>
            </a:r>
            <a:r>
              <a:rPr sz="783" i="0">
                <a:solidFill>
                  <a:srgbClr val="E6EDF3"/>
                </a:solidFill>
                <a:latin typeface="Inconsolata"/>
              </a:rPr>
              <a:t>    </a:t>
            </a:r>
            <a:r>
              <a:rPr sz="783" i="0">
                <a:solidFill>
                  <a:srgbClr val="FF8E6E"/>
                </a:solidFill>
                <a:latin typeface="Inconsolata"/>
              </a:rPr>
              <a:t>def</a:t>
            </a:r>
            <a:r>
              <a:rPr sz="783" i="0">
                <a:solidFill>
                  <a:srgbClr val="E6EDF3"/>
                </a:solidFill>
                <a:latin typeface="Inconsolata"/>
              </a:rPr>
              <a:t> </a:t>
            </a:r>
            <a:r>
              <a:rPr sz="783" i="0">
                <a:solidFill>
                  <a:srgbClr val="82B1FF"/>
                </a:solidFill>
                <a:latin typeface="Inconsolata"/>
              </a:rPr>
              <a:t>cost</a:t>
            </a:r>
            <a:r>
              <a:rPr sz="783" i="0">
                <a:solidFill>
                  <a:srgbClr val="E6EDF3"/>
                </a:solidFill>
                <a:latin typeface="Inconsolata"/>
              </a:rPr>
              <a:t>(</a:t>
            </a:r>
            <a:r>
              <a:rPr sz="783" i="0">
                <a:solidFill>
                  <a:srgbClr val="C3A6FF"/>
                </a:solidFill>
                <a:latin typeface="Inconsolata"/>
              </a:rPr>
              <a:t>self</a:t>
            </a:r>
            <a:r>
              <a:rPr sz="783" i="0">
                <a:solidFill>
                  <a:srgbClr val="E6EDF3"/>
                </a:solidFill>
                <a:latin typeface="Inconsolata"/>
              </a:rPr>
              <a:t>, weight_kg: </a:t>
            </a:r>
            <a:r>
              <a:rPr sz="783" i="0">
                <a:solidFill>
                  <a:srgbClr val="C3A6FF"/>
                </a:solidFill>
                <a:latin typeface="Inconsolata"/>
              </a:rPr>
              <a:t>int</a:t>
            </a:r>
            <a:r>
              <a:rPr sz="783" i="0">
                <a:solidFill>
                  <a:srgbClr val="E6EDF3"/>
                </a:solidFill>
                <a:latin typeface="Inconsolata"/>
              </a:rPr>
              <a:t>) -&gt; </a:t>
            </a:r>
            <a:r>
              <a:rPr sz="783" i="0">
                <a:solidFill>
                  <a:srgbClr val="C3A6FF"/>
                </a:solidFill>
                <a:latin typeface="Inconsolata"/>
              </a:rPr>
              <a:t>int</a:t>
            </a:r>
            <a:r>
              <a:rPr sz="783" i="0">
                <a:solidFill>
                  <a:srgbClr val="E6EDF3"/>
                </a:solidFill>
                <a:latin typeface="Inconsolata"/>
              </a:rPr>
              <a:t>:</a:t>
            </a:r>
          </a:p>
          <a:p>
            <a:pPr>
              <a:lnSpc>
                <a:spcPct val="106428"/>
              </a:lnSpc>
              <a:spcAft>
                <a:spcPts val="0"/>
              </a:spcAft>
            </a:pPr>
            <a:r>
              <a:rPr sz="783" i="0">
                <a:solidFill>
                  <a:srgbClr val="5C6773"/>
                </a:solidFill>
                <a:latin typeface="Inconsolata"/>
              </a:rPr>
              <a:t>20  </a:t>
            </a:r>
            <a:r>
              <a:rPr sz="783" i="0">
                <a:solidFill>
                  <a:srgbClr val="E6EDF3"/>
                </a:solidFill>
                <a:latin typeface="Inconsolata"/>
              </a:rPr>
              <a:t>        </a:t>
            </a:r>
            <a:r>
              <a:rPr sz="783" i="0">
                <a:solidFill>
                  <a:srgbClr val="FF8E6E"/>
                </a:solidFill>
                <a:latin typeface="Inconsolata"/>
              </a:rPr>
              <a:t>return</a:t>
            </a:r>
            <a:r>
              <a:rPr sz="783" i="0">
                <a:solidFill>
                  <a:srgbClr val="E6EDF3"/>
                </a:solidFill>
                <a:latin typeface="Inconsolata"/>
              </a:rPr>
              <a:t> </a:t>
            </a:r>
            <a:r>
              <a:rPr sz="783" i="0">
                <a:solidFill>
                  <a:srgbClr val="F9C97A"/>
                </a:solidFill>
                <a:latin typeface="Inconsolata"/>
              </a:rPr>
              <a:t>35_000</a:t>
            </a:r>
            <a:r>
              <a:rPr sz="783" i="0">
                <a:solidFill>
                  <a:srgbClr val="E6EDF3"/>
                </a:solidFill>
                <a:latin typeface="Inconsolata"/>
              </a:rPr>
              <a:t> + </a:t>
            </a:r>
            <a:r>
              <a:rPr sz="783" i="0">
                <a:solidFill>
                  <a:srgbClr val="F9C97A"/>
                </a:solidFill>
                <a:latin typeface="Inconsolata"/>
              </a:rPr>
              <a:t>15_000</a:t>
            </a:r>
            <a:r>
              <a:rPr sz="783" i="0">
                <a:solidFill>
                  <a:srgbClr val="E6EDF3"/>
                </a:solidFill>
                <a:latin typeface="Inconsolata"/>
              </a:rPr>
              <a:t> * weight_kg</a:t>
            </a:r>
          </a:p>
        </p:txBody>
      </p:sp>
      <p:sp>
        <p:nvSpPr>
          <p:cNvPr id="29" name="CodeTab 13"/>
          <p:cNvSpPr/>
          <p:nvPr/>
        </p:nvSpPr>
        <p:spPr>
          <a:xfrm>
            <a:off x="4626864" y="1481328"/>
            <a:ext cx="3858768"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Dot 14"/>
          <p:cNvSpPr/>
          <p:nvPr/>
        </p:nvSpPr>
        <p:spPr>
          <a:xfrm>
            <a:off x="4736592"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Dot 15"/>
          <p:cNvSpPr/>
          <p:nvPr/>
        </p:nvSpPr>
        <p:spPr>
          <a:xfrm>
            <a:off x="4873752"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Dot 16"/>
          <p:cNvSpPr/>
          <p:nvPr/>
        </p:nvSpPr>
        <p:spPr>
          <a:xfrm>
            <a:off x="5010912"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 17"/>
          <p:cNvSpPr txBox="1"/>
          <p:nvPr/>
        </p:nvSpPr>
        <p:spPr>
          <a:xfrm>
            <a:off x="5175503" y="1490472"/>
            <a:ext cx="3218687"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02-ocp/after.py (lanjutan)</a:t>
            </a:r>
          </a:p>
        </p:txBody>
      </p:sp>
      <p:sp>
        <p:nvSpPr>
          <p:cNvPr id="34" name="CodeBg 19"/>
          <p:cNvSpPr/>
          <p:nvPr/>
        </p:nvSpPr>
        <p:spPr>
          <a:xfrm>
            <a:off x="4626864" y="1719072"/>
            <a:ext cx="3858768"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Code 20"/>
          <p:cNvSpPr txBox="1"/>
          <p:nvPr/>
        </p:nvSpPr>
        <p:spPr>
          <a:xfrm>
            <a:off x="4626864" y="1719072"/>
            <a:ext cx="3858768" cy="2980944"/>
          </a:xfrm>
          <a:prstGeom prst="rect">
            <a:avLst/>
          </a:prstGeom>
          <a:noFill/>
        </p:spPr>
        <p:txBody>
          <a:bodyPr wrap="none" lIns="146304" tIns="91440" rIns="146304" bIns="54864">
            <a:spAutoFit/>
          </a:bodyPr>
          <a:lstStyle/>
          <a:p>
            <a:pPr>
              <a:lnSpc>
                <a:spcPct val="106428"/>
              </a:lnSpc>
              <a:spcAft>
                <a:spcPts val="0"/>
              </a:spcAft>
            </a:pPr>
            <a:r>
              <a:rPr sz="783" i="0">
                <a:solidFill>
                  <a:srgbClr val="5C6773"/>
                </a:solidFill>
                <a:latin typeface="Inconsolata"/>
              </a:rPr>
              <a:t>23  </a:t>
            </a:r>
            <a:r>
              <a:rPr sz="783" i="0">
                <a:solidFill>
                  <a:srgbClr val="7FDBCA"/>
                </a:solidFill>
                <a:latin typeface="Inconsolata"/>
              </a:rPr>
              <a:t>COURIERS</a:t>
            </a:r>
            <a:r>
              <a:rPr sz="783" i="0">
                <a:solidFill>
                  <a:srgbClr val="E6EDF3"/>
                </a:solidFill>
                <a:latin typeface="Inconsolata"/>
              </a:rPr>
              <a:t> = {</a:t>
            </a:r>
          </a:p>
          <a:p>
            <a:pPr>
              <a:lnSpc>
                <a:spcPct val="106428"/>
              </a:lnSpc>
              <a:spcAft>
                <a:spcPts val="0"/>
              </a:spcAft>
            </a:pPr>
            <a:r>
              <a:rPr sz="783" i="0">
                <a:solidFill>
                  <a:srgbClr val="5C6773"/>
                </a:solidFill>
                <a:latin typeface="Inconsolata"/>
              </a:rPr>
              <a:t>24  </a:t>
            </a:r>
            <a:r>
              <a:rPr sz="783" i="0">
                <a:solidFill>
                  <a:srgbClr val="E6EDF3"/>
                </a:solidFill>
                <a:latin typeface="Inconsolata"/>
              </a:rPr>
              <a:t>    </a:t>
            </a:r>
            <a:r>
              <a:rPr sz="783" i="0">
                <a:solidFill>
                  <a:srgbClr val="A5D6A7"/>
                </a:solidFill>
                <a:latin typeface="Inconsolata"/>
              </a:rPr>
              <a:t>"regular"</a:t>
            </a:r>
            <a:r>
              <a:rPr sz="783" i="0">
                <a:solidFill>
                  <a:srgbClr val="E6EDF3"/>
                </a:solidFill>
                <a:latin typeface="Inconsolata"/>
              </a:rPr>
              <a:t>: </a:t>
            </a:r>
            <a:r>
              <a:rPr sz="783" i="0">
                <a:solidFill>
                  <a:srgbClr val="7FDBCA"/>
                </a:solidFill>
                <a:latin typeface="Inconsolata"/>
              </a:rPr>
              <a:t>RegularCourier</a:t>
            </a:r>
            <a:r>
              <a:rPr sz="783" i="0">
                <a:solidFill>
                  <a:srgbClr val="E6EDF3"/>
                </a:solidFill>
                <a:latin typeface="Inconsolata"/>
              </a:rPr>
              <a:t>(),</a:t>
            </a:r>
          </a:p>
          <a:p>
            <a:pPr>
              <a:lnSpc>
                <a:spcPct val="106428"/>
              </a:lnSpc>
              <a:spcAft>
                <a:spcPts val="0"/>
              </a:spcAft>
            </a:pPr>
            <a:r>
              <a:rPr sz="783" i="0">
                <a:solidFill>
                  <a:srgbClr val="5C6773"/>
                </a:solidFill>
                <a:latin typeface="Inconsolata"/>
              </a:rPr>
              <a:t>25  </a:t>
            </a:r>
            <a:r>
              <a:rPr sz="783" i="0">
                <a:solidFill>
                  <a:srgbClr val="E6EDF3"/>
                </a:solidFill>
                <a:latin typeface="Inconsolata"/>
              </a:rPr>
              <a:t>    </a:t>
            </a:r>
            <a:r>
              <a:rPr sz="783" i="0">
                <a:solidFill>
                  <a:srgbClr val="A5D6A7"/>
                </a:solidFill>
                <a:latin typeface="Inconsolata"/>
              </a:rPr>
              <a:t>"express"</a:t>
            </a:r>
            <a:r>
              <a:rPr sz="783" i="0">
                <a:solidFill>
                  <a:srgbClr val="E6EDF3"/>
                </a:solidFill>
                <a:latin typeface="Inconsolata"/>
              </a:rPr>
              <a:t>: </a:t>
            </a:r>
            <a:r>
              <a:rPr sz="783" i="0">
                <a:solidFill>
                  <a:srgbClr val="7FDBCA"/>
                </a:solidFill>
                <a:latin typeface="Inconsolata"/>
              </a:rPr>
              <a:t>ExpressCourier</a:t>
            </a:r>
            <a:r>
              <a:rPr sz="783" i="0">
                <a:solidFill>
                  <a:srgbClr val="E6EDF3"/>
                </a:solidFill>
                <a:latin typeface="Inconsolata"/>
              </a:rPr>
              <a:t>(),</a:t>
            </a:r>
          </a:p>
          <a:p>
            <a:pPr>
              <a:lnSpc>
                <a:spcPct val="106428"/>
              </a:lnSpc>
              <a:spcAft>
                <a:spcPts val="0"/>
              </a:spcAft>
            </a:pPr>
            <a:r>
              <a:rPr sz="783" i="0">
                <a:solidFill>
                  <a:srgbClr val="5C6773"/>
                </a:solidFill>
                <a:latin typeface="Inconsolata"/>
              </a:rPr>
              <a:t>26  </a:t>
            </a:r>
            <a:r>
              <a:rPr sz="783" i="0">
                <a:solidFill>
                  <a:srgbClr val="E6EDF3"/>
                </a:solidFill>
                <a:latin typeface="Inconsolata"/>
              </a:rPr>
              <a:t>    </a:t>
            </a:r>
            <a:r>
              <a:rPr sz="783" i="0">
                <a:solidFill>
                  <a:srgbClr val="A5D6A7"/>
                </a:solidFill>
                <a:latin typeface="Inconsolata"/>
              </a:rPr>
              <a:t>"same_day"</a:t>
            </a:r>
            <a:r>
              <a:rPr sz="783" i="0">
                <a:solidFill>
                  <a:srgbClr val="E6EDF3"/>
                </a:solidFill>
                <a:latin typeface="Inconsolata"/>
              </a:rPr>
              <a:t>: </a:t>
            </a:r>
            <a:r>
              <a:rPr sz="783" i="0">
                <a:solidFill>
                  <a:srgbClr val="7FDBCA"/>
                </a:solidFill>
                <a:latin typeface="Inconsolata"/>
              </a:rPr>
              <a:t>SameDayCourier</a:t>
            </a:r>
            <a:r>
              <a:rPr sz="783" i="0">
                <a:solidFill>
                  <a:srgbClr val="E6EDF3"/>
                </a:solidFill>
                <a:latin typeface="Inconsolata"/>
              </a:rPr>
              <a:t>(),</a:t>
            </a:r>
          </a:p>
          <a:p>
            <a:pPr>
              <a:lnSpc>
                <a:spcPct val="106428"/>
              </a:lnSpc>
              <a:spcAft>
                <a:spcPts val="0"/>
              </a:spcAft>
            </a:pPr>
            <a:r>
              <a:rPr sz="783" i="0">
                <a:solidFill>
                  <a:srgbClr val="5C6773"/>
                </a:solidFill>
                <a:latin typeface="Inconsolata"/>
              </a:rPr>
              <a:t>27  </a:t>
            </a:r>
            <a:r>
              <a:rPr sz="783" i="0">
                <a:solidFill>
                  <a:srgbClr val="E6EDF3"/>
                </a:solidFill>
                <a:latin typeface="Inconsolata"/>
              </a:rPr>
              <a:t>}</a:t>
            </a:r>
          </a:p>
          <a:p>
            <a:pPr>
              <a:lnSpc>
                <a:spcPct val="106428"/>
              </a:lnSpc>
              <a:spcAft>
                <a:spcPts val="0"/>
              </a:spcAft>
            </a:pPr>
            <a:r>
              <a:rPr sz="783" i="0">
                <a:solidFill>
                  <a:srgbClr val="5C6773"/>
                </a:solidFill>
                <a:latin typeface="Inconsolata"/>
              </a:rPr>
              <a:t>28  </a:t>
            </a:r>
            <a:r>
              <a:rPr sz="783" i="0">
                <a:solidFill>
                  <a:srgbClr val="E6EDF3"/>
                </a:solidFill>
                <a:latin typeface="Inconsolata"/>
              </a:rPr>
              <a:t> </a:t>
            </a:r>
          </a:p>
          <a:p>
            <a:pPr>
              <a:lnSpc>
                <a:spcPct val="106428"/>
              </a:lnSpc>
              <a:spcAft>
                <a:spcPts val="0"/>
              </a:spcAft>
            </a:pPr>
            <a:r>
              <a:rPr sz="783" i="0">
                <a:solidFill>
                  <a:srgbClr val="5C6773"/>
                </a:solidFill>
                <a:latin typeface="Inconsolata"/>
              </a:rPr>
              <a:t>29  </a:t>
            </a:r>
            <a:r>
              <a:rPr sz="783" i="0">
                <a:solidFill>
                  <a:srgbClr val="E6EDF3"/>
                </a:solidFill>
                <a:latin typeface="Inconsolata"/>
              </a:rPr>
              <a:t> </a:t>
            </a:r>
          </a:p>
          <a:p>
            <a:pPr>
              <a:lnSpc>
                <a:spcPct val="106428"/>
              </a:lnSpc>
              <a:spcAft>
                <a:spcPts val="0"/>
              </a:spcAft>
            </a:pPr>
            <a:r>
              <a:rPr sz="783" i="0">
                <a:solidFill>
                  <a:srgbClr val="5C6773"/>
                </a:solidFill>
                <a:latin typeface="Inconsolata"/>
              </a:rPr>
              <a:t>30  </a:t>
            </a:r>
            <a:r>
              <a:rPr sz="783" i="0">
                <a:solidFill>
                  <a:srgbClr val="FF8E6E"/>
                </a:solidFill>
                <a:latin typeface="Inconsolata"/>
              </a:rPr>
              <a:t>def</a:t>
            </a:r>
            <a:r>
              <a:rPr sz="783" i="0">
                <a:solidFill>
                  <a:srgbClr val="E6EDF3"/>
                </a:solidFill>
                <a:latin typeface="Inconsolata"/>
              </a:rPr>
              <a:t> </a:t>
            </a:r>
            <a:r>
              <a:rPr sz="783" i="0">
                <a:solidFill>
                  <a:srgbClr val="82B1FF"/>
                </a:solidFill>
                <a:latin typeface="Inconsolata"/>
              </a:rPr>
              <a:t>shipping_cost</a:t>
            </a:r>
            <a:r>
              <a:rPr sz="783" i="0">
                <a:solidFill>
                  <a:srgbClr val="E6EDF3"/>
                </a:solidFill>
                <a:latin typeface="Inconsolata"/>
              </a:rPr>
              <a:t>(courier: </a:t>
            </a:r>
            <a:r>
              <a:rPr sz="783" i="0">
                <a:solidFill>
                  <a:srgbClr val="C3A6FF"/>
                </a:solidFill>
                <a:latin typeface="Inconsolata"/>
              </a:rPr>
              <a:t>str</a:t>
            </a:r>
            <a:r>
              <a:rPr sz="783" i="0">
                <a:solidFill>
                  <a:srgbClr val="E6EDF3"/>
                </a:solidFill>
                <a:latin typeface="Inconsolata"/>
              </a:rPr>
              <a:t>, weight_kg: </a:t>
            </a:r>
            <a:r>
              <a:rPr sz="783" i="0">
                <a:solidFill>
                  <a:srgbClr val="C3A6FF"/>
                </a:solidFill>
                <a:latin typeface="Inconsolata"/>
              </a:rPr>
              <a:t>int</a:t>
            </a:r>
            <a:r>
              <a:rPr sz="783" i="0">
                <a:solidFill>
                  <a:srgbClr val="E6EDF3"/>
                </a:solidFill>
                <a:latin typeface="Inconsolata"/>
              </a:rPr>
              <a:t>) -&gt; </a:t>
            </a:r>
            <a:r>
              <a:rPr sz="783" i="0">
                <a:solidFill>
                  <a:srgbClr val="C3A6FF"/>
                </a:solidFill>
                <a:latin typeface="Inconsolata"/>
              </a:rPr>
              <a:t>int</a:t>
            </a:r>
            <a:r>
              <a:rPr sz="783" i="0">
                <a:solidFill>
                  <a:srgbClr val="E6EDF3"/>
                </a:solidFill>
                <a:latin typeface="Inconsolata"/>
              </a:rPr>
              <a:t>:</a:t>
            </a:r>
          </a:p>
          <a:p>
            <a:pPr>
              <a:lnSpc>
                <a:spcPct val="106428"/>
              </a:lnSpc>
              <a:spcAft>
                <a:spcPts val="0"/>
              </a:spcAft>
            </a:pPr>
            <a:r>
              <a:rPr sz="783" i="0">
                <a:solidFill>
                  <a:srgbClr val="5C6773"/>
                </a:solidFill>
                <a:latin typeface="Inconsolata"/>
              </a:rPr>
              <a:t>31  </a:t>
            </a:r>
            <a:r>
              <a:rPr sz="783" i="0">
                <a:solidFill>
                  <a:srgbClr val="E6EDF3"/>
                </a:solidFill>
                <a:latin typeface="Inconsolata"/>
              </a:rPr>
              <a:t>    </a:t>
            </a:r>
            <a:r>
              <a:rPr sz="783" i="0">
                <a:solidFill>
                  <a:srgbClr val="FF8E6E"/>
                </a:solidFill>
                <a:latin typeface="Inconsolata"/>
              </a:rPr>
              <a:t>if</a:t>
            </a:r>
            <a:r>
              <a:rPr sz="783" i="0">
                <a:solidFill>
                  <a:srgbClr val="E6EDF3"/>
                </a:solidFill>
                <a:latin typeface="Inconsolata"/>
              </a:rPr>
              <a:t> courier </a:t>
            </a:r>
            <a:r>
              <a:rPr sz="783" i="0">
                <a:solidFill>
                  <a:srgbClr val="FF8E6E"/>
                </a:solidFill>
                <a:latin typeface="Inconsolata"/>
              </a:rPr>
              <a:t>not</a:t>
            </a:r>
            <a:r>
              <a:rPr sz="783" i="0">
                <a:solidFill>
                  <a:srgbClr val="E6EDF3"/>
                </a:solidFill>
                <a:latin typeface="Inconsolata"/>
              </a:rPr>
              <a:t> </a:t>
            </a:r>
            <a:r>
              <a:rPr sz="783" i="0">
                <a:solidFill>
                  <a:srgbClr val="FF8E6E"/>
                </a:solidFill>
                <a:latin typeface="Inconsolata"/>
              </a:rPr>
              <a:t>in</a:t>
            </a:r>
            <a:r>
              <a:rPr sz="783" i="0">
                <a:solidFill>
                  <a:srgbClr val="E6EDF3"/>
                </a:solidFill>
                <a:latin typeface="Inconsolata"/>
              </a:rPr>
              <a:t> </a:t>
            </a:r>
            <a:r>
              <a:rPr sz="783" i="0">
                <a:solidFill>
                  <a:srgbClr val="7FDBCA"/>
                </a:solidFill>
                <a:latin typeface="Inconsolata"/>
              </a:rPr>
              <a:t>COURIERS</a:t>
            </a:r>
            <a:r>
              <a:rPr sz="783" i="0">
                <a:solidFill>
                  <a:srgbClr val="E6EDF3"/>
                </a:solidFill>
                <a:latin typeface="Inconsolata"/>
              </a:rPr>
              <a:t>:</a:t>
            </a:r>
          </a:p>
          <a:p>
            <a:pPr>
              <a:lnSpc>
                <a:spcPct val="106428"/>
              </a:lnSpc>
              <a:spcAft>
                <a:spcPts val="0"/>
              </a:spcAft>
            </a:pPr>
            <a:r>
              <a:rPr sz="783" i="0">
                <a:solidFill>
                  <a:srgbClr val="5C6773"/>
                </a:solidFill>
                <a:latin typeface="Inconsolata"/>
              </a:rPr>
              <a:t>32  </a:t>
            </a:r>
            <a:r>
              <a:rPr sz="783" i="0">
                <a:solidFill>
                  <a:srgbClr val="E6EDF3"/>
                </a:solidFill>
                <a:latin typeface="Inconsolata"/>
              </a:rPr>
              <a:t>        </a:t>
            </a:r>
            <a:r>
              <a:rPr sz="783" i="0">
                <a:solidFill>
                  <a:srgbClr val="FF8E6E"/>
                </a:solidFill>
                <a:latin typeface="Inconsolata"/>
              </a:rPr>
              <a:t>raise</a:t>
            </a:r>
            <a:r>
              <a:rPr sz="783" i="0">
                <a:solidFill>
                  <a:srgbClr val="E6EDF3"/>
                </a:solidFill>
                <a:latin typeface="Inconsolata"/>
              </a:rPr>
              <a:t> </a:t>
            </a:r>
            <a:r>
              <a:rPr sz="783" i="0">
                <a:solidFill>
                  <a:srgbClr val="7FDBCA"/>
                </a:solidFill>
                <a:latin typeface="Inconsolata"/>
              </a:rPr>
              <a:t>ValueError</a:t>
            </a:r>
            <a:r>
              <a:rPr sz="783" i="0">
                <a:solidFill>
                  <a:srgbClr val="E6EDF3"/>
                </a:solidFill>
                <a:latin typeface="Inconsolata"/>
              </a:rPr>
              <a:t>(</a:t>
            </a:r>
            <a:r>
              <a:rPr sz="783" i="0">
                <a:solidFill>
                  <a:srgbClr val="A5D6A7"/>
                </a:solidFill>
                <a:latin typeface="Inconsolata"/>
              </a:rPr>
              <a:t>f"Kurir tidak dikenal: {courier}"</a:t>
            </a:r>
            <a:r>
              <a:rPr sz="783" i="0">
                <a:solidFill>
                  <a:srgbClr val="E6EDF3"/>
                </a:solidFill>
                <a:latin typeface="Inconsolata"/>
              </a:rPr>
              <a:t>)</a:t>
            </a:r>
          </a:p>
          <a:p>
            <a:pPr>
              <a:lnSpc>
                <a:spcPct val="106428"/>
              </a:lnSpc>
              <a:spcAft>
                <a:spcPts val="0"/>
              </a:spcAft>
            </a:pPr>
            <a:r>
              <a:rPr sz="783" i="0">
                <a:solidFill>
                  <a:srgbClr val="5C6773"/>
                </a:solidFill>
                <a:latin typeface="Inconsolata"/>
              </a:rPr>
              <a:t>33  </a:t>
            </a:r>
            <a:r>
              <a:rPr sz="783" i="0">
                <a:solidFill>
                  <a:srgbClr val="E6EDF3"/>
                </a:solidFill>
                <a:latin typeface="Inconsolata"/>
              </a:rPr>
              <a:t>    </a:t>
            </a:r>
            <a:r>
              <a:rPr sz="783" i="0">
                <a:solidFill>
                  <a:srgbClr val="FF8E6E"/>
                </a:solidFill>
                <a:latin typeface="Inconsolata"/>
              </a:rPr>
              <a:t>return</a:t>
            </a:r>
            <a:r>
              <a:rPr sz="783" i="0">
                <a:solidFill>
                  <a:srgbClr val="E6EDF3"/>
                </a:solidFill>
                <a:latin typeface="Inconsolata"/>
              </a:rPr>
              <a:t> </a:t>
            </a:r>
            <a:r>
              <a:rPr sz="783" i="0">
                <a:solidFill>
                  <a:srgbClr val="7FDBCA"/>
                </a:solidFill>
                <a:latin typeface="Inconsolata"/>
              </a:rPr>
              <a:t>COURIERS</a:t>
            </a:r>
            <a:r>
              <a:rPr sz="783" i="0">
                <a:solidFill>
                  <a:srgbClr val="E6EDF3"/>
                </a:solidFill>
                <a:latin typeface="Inconsolata"/>
              </a:rPr>
              <a:t>[courier].cost(weight_kg)</a:t>
            </a:r>
          </a:p>
          <a:p>
            <a:pPr>
              <a:lnSpc>
                <a:spcPct val="106428"/>
              </a:lnSpc>
              <a:spcAft>
                <a:spcPts val="0"/>
              </a:spcAft>
            </a:pPr>
            <a:r>
              <a:rPr sz="783" i="0">
                <a:solidFill>
                  <a:srgbClr val="5C6773"/>
                </a:solidFill>
                <a:latin typeface="Inconsolata"/>
              </a:rPr>
              <a:t>34  </a:t>
            </a:r>
            <a:r>
              <a:rPr sz="783" i="0">
                <a:solidFill>
                  <a:srgbClr val="E6EDF3"/>
                </a:solidFill>
                <a:latin typeface="Inconsolata"/>
              </a:rPr>
              <a:t> </a:t>
            </a:r>
          </a:p>
          <a:p>
            <a:pPr>
              <a:lnSpc>
                <a:spcPct val="106428"/>
              </a:lnSpc>
              <a:spcAft>
                <a:spcPts val="0"/>
              </a:spcAft>
            </a:pPr>
            <a:r>
              <a:rPr sz="783" i="0">
                <a:solidFill>
                  <a:srgbClr val="5C6773"/>
                </a:solidFill>
                <a:latin typeface="Inconsolata"/>
              </a:rPr>
              <a:t>35  </a:t>
            </a:r>
            <a:r>
              <a:rPr sz="783" i="0">
                <a:solidFill>
                  <a:srgbClr val="E6EDF3"/>
                </a:solidFill>
                <a:latin typeface="Inconsolata"/>
              </a:rPr>
              <a:t> </a:t>
            </a:r>
          </a:p>
          <a:p>
            <a:pPr>
              <a:lnSpc>
                <a:spcPct val="106428"/>
              </a:lnSpc>
              <a:spcAft>
                <a:spcPts val="0"/>
              </a:spcAft>
            </a:pPr>
            <a:r>
              <a:rPr sz="783" i="0">
                <a:solidFill>
                  <a:srgbClr val="5C6773"/>
                </a:solidFill>
                <a:latin typeface="Inconsolata"/>
              </a:rPr>
              <a:t>36  </a:t>
            </a:r>
            <a:r>
              <a:rPr sz="783" i="0">
                <a:solidFill>
                  <a:srgbClr val="FF8E6E"/>
                </a:solidFill>
                <a:latin typeface="Inconsolata"/>
              </a:rPr>
              <a:t>if</a:t>
            </a:r>
            <a:r>
              <a:rPr sz="783" i="0">
                <a:solidFill>
                  <a:srgbClr val="E6EDF3"/>
                </a:solidFill>
                <a:latin typeface="Inconsolata"/>
              </a:rPr>
              <a:t> __name__ == </a:t>
            </a:r>
            <a:r>
              <a:rPr sz="783" i="0">
                <a:solidFill>
                  <a:srgbClr val="A5D6A7"/>
                </a:solidFill>
                <a:latin typeface="Inconsolata"/>
              </a:rPr>
              <a:t>"__main__"</a:t>
            </a:r>
            <a:r>
              <a:rPr sz="783" i="0">
                <a:solidFill>
                  <a:srgbClr val="E6EDF3"/>
                </a:solidFill>
                <a:latin typeface="Inconsolata"/>
              </a:rPr>
              <a:t>:</a:t>
            </a:r>
          </a:p>
          <a:p>
            <a:pPr>
              <a:lnSpc>
                <a:spcPct val="106428"/>
              </a:lnSpc>
              <a:spcAft>
                <a:spcPts val="0"/>
              </a:spcAft>
            </a:pPr>
            <a:r>
              <a:rPr sz="783" i="0">
                <a:solidFill>
                  <a:srgbClr val="5C6773"/>
                </a:solidFill>
                <a:latin typeface="Inconsolata"/>
              </a:rPr>
              <a:t>37  </a:t>
            </a:r>
            <a:r>
              <a:rPr sz="783" i="0">
                <a:solidFill>
                  <a:srgbClr val="E6EDF3"/>
                </a:solidFill>
                <a:latin typeface="Inconsolata"/>
              </a:rPr>
              <a:t>    </a:t>
            </a:r>
            <a:r>
              <a:rPr sz="783" i="0">
                <a:solidFill>
                  <a:srgbClr val="FF8E6E"/>
                </a:solidFill>
                <a:latin typeface="Inconsolata"/>
              </a:rPr>
              <a:t>for</a:t>
            </a:r>
            <a:r>
              <a:rPr sz="783" i="0">
                <a:solidFill>
                  <a:srgbClr val="E6EDF3"/>
                </a:solidFill>
                <a:latin typeface="Inconsolata"/>
              </a:rPr>
              <a:t> name </a:t>
            </a:r>
            <a:r>
              <a:rPr sz="783" i="0">
                <a:solidFill>
                  <a:srgbClr val="FF8E6E"/>
                </a:solidFill>
                <a:latin typeface="Inconsolata"/>
              </a:rPr>
              <a:t>in</a:t>
            </a:r>
            <a:r>
              <a:rPr sz="783" i="0">
                <a:solidFill>
                  <a:srgbClr val="E6EDF3"/>
                </a:solidFill>
                <a:latin typeface="Inconsolata"/>
              </a:rPr>
              <a:t> </a:t>
            </a:r>
            <a:r>
              <a:rPr sz="783" i="0">
                <a:solidFill>
                  <a:srgbClr val="7FDBCA"/>
                </a:solidFill>
                <a:latin typeface="Inconsolata"/>
              </a:rPr>
              <a:t>COURIERS</a:t>
            </a:r>
            <a:r>
              <a:rPr sz="783" i="0">
                <a:solidFill>
                  <a:srgbClr val="E6EDF3"/>
                </a:solidFill>
                <a:latin typeface="Inconsolata"/>
              </a:rPr>
              <a:t>:</a:t>
            </a:r>
          </a:p>
          <a:p>
            <a:pPr>
              <a:lnSpc>
                <a:spcPct val="106428"/>
              </a:lnSpc>
              <a:spcAft>
                <a:spcPts val="0"/>
              </a:spcAft>
            </a:pPr>
            <a:r>
              <a:rPr sz="783" i="0">
                <a:solidFill>
                  <a:srgbClr val="5C6773"/>
                </a:solidFill>
                <a:latin typeface="Inconsolata"/>
              </a:rPr>
              <a:t>38  </a:t>
            </a:r>
            <a:r>
              <a:rPr sz="783" i="0">
                <a:solidFill>
                  <a:srgbClr val="E6EDF3"/>
                </a:solidFill>
                <a:latin typeface="Inconsolata"/>
              </a:rPr>
              <a:t>        </a:t>
            </a:r>
            <a:r>
              <a:rPr sz="783" i="0">
                <a:solidFill>
                  <a:srgbClr val="C3A6FF"/>
                </a:solidFill>
                <a:latin typeface="Inconsolata"/>
              </a:rPr>
              <a:t>print</a:t>
            </a:r>
            <a:r>
              <a:rPr sz="783" i="0">
                <a:solidFill>
                  <a:srgbClr val="E6EDF3"/>
                </a:solidFill>
                <a:latin typeface="Inconsolata"/>
              </a:rPr>
              <a:t>(name, shipping_cost(name, </a:t>
            </a:r>
            <a:r>
              <a:rPr sz="783" i="0">
                <a:solidFill>
                  <a:srgbClr val="F9C97A"/>
                </a:solidFill>
                <a:latin typeface="Inconsolata"/>
              </a:rPr>
              <a:t>2</a:t>
            </a:r>
            <a:r>
              <a:rPr sz="783" i="0">
                <a:solidFill>
                  <a:srgbClr val="E6EDF3"/>
                </a:solidFill>
                <a:latin typeface="Inconsolata"/>
              </a:rPr>
              <a:t>))</a:t>
            </a:r>
          </a:p>
        </p:txBody>
      </p:sp>
      <p:sp>
        <p:nvSpPr>
          <p:cNvPr id="36" name="Box 21"/>
          <p:cNvSpPr/>
          <p:nvPr/>
        </p:nvSpPr>
        <p:spPr>
          <a:xfrm>
            <a:off x="704088" y="3097022"/>
            <a:ext cx="3694176" cy="373380"/>
          </a:xfrm>
          <a:prstGeom prst="roundRect">
            <a:avLst>
              <a:gd name="adj" fmla="val 12244"/>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Box 22"/>
          <p:cNvSpPr/>
          <p:nvPr/>
        </p:nvSpPr>
        <p:spPr>
          <a:xfrm>
            <a:off x="4279392" y="3164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8" name="Box 23"/>
          <p:cNvSpPr/>
          <p:nvPr/>
        </p:nvSpPr>
        <p:spPr>
          <a:xfrm>
            <a:off x="4709159" y="1827022"/>
            <a:ext cx="3694176" cy="627380"/>
          </a:xfrm>
          <a:prstGeom prst="roundRect">
            <a:avLst>
              <a:gd name="adj" fmla="val 728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Box 24"/>
          <p:cNvSpPr/>
          <p:nvPr/>
        </p:nvSpPr>
        <p:spPr>
          <a:xfrm>
            <a:off x="8284463" y="20218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40" name="Box 25"/>
          <p:cNvSpPr/>
          <p:nvPr/>
        </p:nvSpPr>
        <p:spPr>
          <a:xfrm>
            <a:off x="4709159" y="2716022"/>
            <a:ext cx="3694176" cy="500380"/>
          </a:xfrm>
          <a:prstGeom prst="roundRect">
            <a:avLst>
              <a:gd name="adj" fmla="val 913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1" name="Box 26"/>
          <p:cNvSpPr/>
          <p:nvPr/>
        </p:nvSpPr>
        <p:spPr>
          <a:xfrm>
            <a:off x="8284463" y="284734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O · Open/Closed</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02-ocp/after.py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sesi-02-solid-clean-architecture/02-ocp</a:t>
            </a:r>
          </a:p>
          <a:p>
            <a:pPr>
              <a:lnSpc>
                <a:spcPct val="107527"/>
              </a:lnSpc>
              <a:spcAft>
                <a:spcPts val="0"/>
              </a:spcAft>
            </a:pPr>
            <a:r>
              <a:rPr sz="775" i="0">
                <a:solidFill>
                  <a:srgbClr val="82B1FF"/>
                </a:solidFill>
                <a:latin typeface="Inconsolata"/>
              </a:rPr>
              <a:t>$ python after.py</a:t>
            </a:r>
          </a:p>
        </p:txBody>
      </p:sp>
      <p:pic>
        <p:nvPicPr>
          <p:cNvPr id="29" name="Image 12" descr="s02-02-ocp-after.png"/>
          <p:cNvPicPr>
            <a:picLocks noChangeAspect="1"/>
          </p:cNvPicPr>
          <p:nvPr/>
        </p:nvPicPr>
        <p:blipFill>
          <a:blip r:embed="rId2"/>
          <a:stretch>
            <a:fillRect/>
          </a:stretch>
        </p:blipFill>
        <p:spPr>
          <a:xfrm>
            <a:off x="621792" y="2240280"/>
            <a:ext cx="4297680" cy="128016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Kurir baru = class baru, cukup ditambah (baris 18-20)</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Didaftarkan di </a:t>
            </a:r>
            <a:r>
              <a:rPr sz="950" b="0" i="0">
                <a:solidFill>
                  <a:srgbClr val="B5482A"/>
                </a:solidFill>
                <a:latin typeface="Inconsolata"/>
              </a:rPr>
              <a:t>COURIERS</a:t>
            </a:r>
            <a:r>
              <a:rPr sz="950" b="0" i="0">
                <a:solidFill>
                  <a:srgbClr val="434343"/>
                </a:solidFill>
                <a:latin typeface="Inter"/>
              </a:rPr>
              <a:t> (baris 23-27)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shipping_cost</a:t>
            </a:r>
            <a:r>
              <a:rPr sz="950" b="0" i="0">
                <a:solidFill>
                  <a:srgbClr val="434343"/>
                </a:solidFill>
                <a:latin typeface="Inter"/>
              </a:rPr>
              <a:t> tidak pernah diedit lagi (baris 30-33)</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Bentuknya sama dengan Strategy di Sesi 1. Strategy adalah salah satu cara menerapkan prinsip ini.</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19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L · Liskov Substitution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Liskov Substitution?</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Liskov Substitution adalah</a:t>
            </a:r>
          </a:p>
          <a:p>
            <a:pPr algn="l">
              <a:lnSpc>
                <a:spcPct val="115000"/>
              </a:lnSpc>
              <a:spcAft>
                <a:spcPts val="400"/>
              </a:spcAft>
            </a:pPr>
            <a:r>
              <a:rPr sz="950" b="0" i="0">
                <a:solidFill>
                  <a:srgbClr val="434343"/>
                </a:solidFill>
                <a:latin typeface="Inter"/>
              </a:rPr>
              <a:t>Prinsip bahwa subclass harus bisa </a:t>
            </a:r>
            <a:r>
              <a:rPr sz="950" b="1" i="0">
                <a:solidFill>
                  <a:srgbClr val="434343"/>
                </a:solidFill>
                <a:latin typeface="Inter"/>
              </a:rPr>
              <a:t>menggantikan</a:t>
            </a:r>
            <a:r>
              <a:rPr sz="950" b="0" i="0">
                <a:solidFill>
                  <a:srgbClr val="434343"/>
                </a:solidFill>
                <a:latin typeface="Inter"/>
              </a:rPr>
              <a:t> parentnya tanpa mengubah arti hasilnya. Kode yang memakai parent tidak perlu tahu subclass mana yang sedang dipakai.</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Subclass baru bisa langsung dipakai tanpa mengubah kode pemakainya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Tidak ada hasil yang salah tanpa error</a:t>
            </a:r>
          </a:p>
          <a:p>
            <a:pPr algn="l">
              <a:lnSpc>
                <a:spcPct val="115000"/>
              </a:lnSpc>
              <a:spcAft>
                <a:spcPts val="400"/>
              </a:spcAft>
            </a:pPr>
            <a:r>
              <a:rPr sz="1050" b="1" i="0">
                <a:solidFill>
                  <a:srgbClr val="1C4587"/>
                </a:solidFill>
                <a:latin typeface="Inter"/>
              </a:rPr>
              <a:t>Cara mengecek</a:t>
            </a:r>
          </a:p>
          <a:p>
            <a:pPr algn="l">
              <a:lnSpc>
                <a:spcPct val="115000"/>
              </a:lnSpc>
              <a:spcAft>
                <a:spcPts val="400"/>
              </a:spcAft>
            </a:pPr>
            <a:r>
              <a:rPr sz="950" b="0" i="0">
                <a:solidFill>
                  <a:srgbClr val="434343"/>
                </a:solidFill>
                <a:latin typeface="Inter"/>
              </a:rPr>
              <a:t>Tulis </a:t>
            </a:r>
            <a:r>
              <a:rPr sz="950" b="1" i="0">
                <a:solidFill>
                  <a:srgbClr val="434343"/>
                </a:solidFill>
                <a:latin typeface="Inter"/>
              </a:rPr>
              <a:t>kontrak</a:t>
            </a:r>
            <a:r>
              <a:rPr sz="950" b="0" i="0">
                <a:solidFill>
                  <a:srgbClr val="434343"/>
                </a:solidFill>
                <a:latin typeface="Inter"/>
              </a:rPr>
              <a:t> parent, misalnya "mengembalikan besar potongan, 0 sampai subtotal", lalu tes semua subclass dengan kontrak yang sama.</a:t>
            </a:r>
          </a:p>
        </p:txBody>
      </p:sp>
      <p:sp>
        <p:nvSpPr>
          <p:cNvPr id="23" name="Box 4"/>
          <p:cNvSpPr/>
          <p:nvPr/>
        </p:nvSpPr>
        <p:spPr>
          <a:xfrm>
            <a:off x="4892040" y="1481328"/>
            <a:ext cx="3593592" cy="960120"/>
          </a:xfrm>
          <a:prstGeom prst="roundRect">
            <a:avLst>
              <a:gd name="adj" fmla="val 11428"/>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l">
              <a:lnSpc>
                <a:spcPct val="105000"/>
              </a:lnSpc>
              <a:spcAft>
                <a:spcPts val="200"/>
              </a:spcAft>
            </a:pPr>
            <a:r>
              <a:rPr sz="950" b="0" i="0">
                <a:solidFill>
                  <a:srgbClr val="434343"/>
                </a:solidFill>
                <a:latin typeface="Inter"/>
              </a:rPr>
              <a:t>"Subtypes must be substitutable for their base types."</a:t>
            </a:r>
          </a:p>
          <a:p>
            <a:pPr algn="l">
              <a:lnSpc>
                <a:spcPct val="105000"/>
              </a:lnSpc>
              <a:spcAft>
                <a:spcPts val="200"/>
              </a:spcAft>
            </a:pPr>
            <a:r>
              <a:rPr sz="950" b="0" i="0">
                <a:solidFill>
                  <a:srgbClr val="434343"/>
                </a:solidFill>
                <a:latin typeface="Inter"/>
              </a:rPr>
              <a:t>Robert C. Martin, merumuskan prinsip dari Barbara Liskov</a:t>
            </a:r>
          </a:p>
        </p:txBody>
      </p:sp>
      <p:sp>
        <p:nvSpPr>
          <p:cNvPr id="24" name="Box 5"/>
          <p:cNvSpPr/>
          <p:nvPr/>
        </p:nvSpPr>
        <p:spPr>
          <a:xfrm>
            <a:off x="4892040" y="2560320"/>
            <a:ext cx="3593592" cy="1600200"/>
          </a:xfrm>
          <a:prstGeom prst="roundRect">
            <a:avLst>
              <a:gd name="adj" fmla="val 6857"/>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029200" y="2651760"/>
            <a:ext cx="3319272" cy="310896"/>
          </a:xfrm>
          <a:prstGeom prst="rect">
            <a:avLst/>
          </a:prstGeom>
          <a:noFill/>
        </p:spPr>
        <p:txBody>
          <a:bodyPr wrap="square" lIns="45720" rIns="45720" anchor="t">
            <a:spAutoFit/>
          </a:bodyPr>
          <a:lstStyle/>
          <a:p>
            <a:pPr algn="l">
              <a:lnSpc>
                <a:spcPct val="115000"/>
              </a:lnSpc>
              <a:spcAft>
                <a:spcPts val="400"/>
              </a:spcAft>
            </a:pPr>
            <a:r>
              <a:rPr sz="1050" b="1" i="0">
                <a:solidFill>
                  <a:srgbClr val="C0392B"/>
                </a:solidFill>
                <a:latin typeface="Inter"/>
              </a:rPr>
              <a:t>Code smell yang dicari</a:t>
            </a:r>
          </a:p>
        </p:txBody>
      </p:sp>
      <p:sp>
        <p:nvSpPr>
          <p:cNvPr id="26" name="Text 7"/>
          <p:cNvSpPr txBox="1"/>
          <p:nvPr/>
        </p:nvSpPr>
        <p:spPr>
          <a:xfrm>
            <a:off x="5029200" y="2971800"/>
            <a:ext cx="331927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Subclass mengembalikan nilai dengan arti berbeda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Pemakai harus cek </a:t>
            </a:r>
            <a:r>
              <a:rPr sz="900" b="0" i="0">
                <a:solidFill>
                  <a:srgbClr val="B5482A"/>
                </a:solidFill>
                <a:latin typeface="Inconsolata"/>
              </a:rPr>
              <a:t>isinstance(...)</a:t>
            </a:r>
            <a:r>
              <a:rPr sz="900" b="0" i="0">
                <a:solidFill>
                  <a:srgbClr val="434343"/>
                </a:solidFill>
                <a:latin typeface="Inter"/>
              </a:rPr>
              <a:t> dulu</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Subclass melempar </a:t>
            </a:r>
            <a:r>
              <a:rPr sz="900" b="0" i="0">
                <a:solidFill>
                  <a:srgbClr val="B5482A"/>
                </a:solidFill>
                <a:latin typeface="Inconsolata"/>
              </a:rPr>
              <a:t>NotImplementedError</a:t>
            </a:r>
          </a:p>
        </p:txBody>
      </p:sp>
      <p:sp>
        <p:nvSpPr>
          <p:cNvPr id="27" name="Text 8"/>
          <p:cNvSpPr txBox="1"/>
          <p:nvPr/>
        </p:nvSpPr>
        <p:spPr>
          <a:xfrm>
            <a:off x="4892040" y="4251960"/>
            <a:ext cx="3593592" cy="45720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Semua strategy diskon di Sesi 1 mengikuti kontrak yang sama: </a:t>
            </a:r>
            <a:r>
              <a:rPr sz="900" b="0" i="0">
                <a:solidFill>
                  <a:srgbClr val="B5482A"/>
                </a:solidFill>
                <a:latin typeface="Inconsolata"/>
              </a:rPr>
              <a:t>discount(subtotal)</a:t>
            </a:r>
            <a:r>
              <a:rPr sz="900" b="0" i="0">
                <a:solidFill>
                  <a:srgbClr val="7A7A7A"/>
                </a:solidFill>
                <a:latin typeface="Inter"/>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L · Liskov Substitution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Subclass yang Beda Arti</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03-lsp/before.py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3448"/>
              </a:lnSpc>
              <a:spcAft>
                <a:spcPts val="0"/>
              </a:spcAft>
            </a:pPr>
            <a:r>
              <a:rPr sz="725" i="0">
                <a:solidFill>
                  <a:srgbClr val="5C6773"/>
                </a:solidFill>
                <a:latin typeface="Inconsolata"/>
              </a:rPr>
              <a:t> 9  </a:t>
            </a: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Discount</a:t>
            </a:r>
            <a:r>
              <a:rPr sz="725" i="0">
                <a:solidFill>
                  <a:srgbClr val="E6EDF3"/>
                </a:solidFill>
                <a:latin typeface="Inconsolata"/>
              </a:rPr>
              <a:t>:</a:t>
            </a:r>
          </a:p>
          <a:p>
            <a:pPr>
              <a:lnSpc>
                <a:spcPct val="103448"/>
              </a:lnSpc>
              <a:spcAft>
                <a:spcPts val="0"/>
              </a:spcAft>
            </a:pPr>
            <a:r>
              <a:rPr sz="725" i="0">
                <a:solidFill>
                  <a:srgbClr val="5C6773"/>
                </a:solidFill>
                <a:latin typeface="Inconsolata"/>
              </a:rPr>
              <a:t>10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discount</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subtotal: </a:t>
            </a:r>
            <a:r>
              <a:rPr sz="725" i="0">
                <a:solidFill>
                  <a:srgbClr val="C3A6FF"/>
                </a:solidFill>
                <a:latin typeface="Inconsolata"/>
              </a:rPr>
              <a:t>int</a:t>
            </a:r>
            <a:r>
              <a:rPr sz="725" i="0">
                <a:solidFill>
                  <a:srgbClr val="E6EDF3"/>
                </a:solidFill>
                <a:latin typeface="Inconsolata"/>
              </a:rPr>
              <a:t>) -&gt; </a:t>
            </a:r>
            <a:r>
              <a:rPr sz="725" i="0">
                <a:solidFill>
                  <a:srgbClr val="C3A6FF"/>
                </a:solidFill>
                <a:latin typeface="Inconsolata"/>
              </a:rPr>
              <a:t>int</a:t>
            </a:r>
            <a:r>
              <a:rPr sz="725" i="0">
                <a:solidFill>
                  <a:srgbClr val="E6EDF3"/>
                </a:solidFill>
                <a:latin typeface="Inconsolata"/>
              </a:rPr>
              <a:t>:</a:t>
            </a:r>
          </a:p>
          <a:p>
            <a:pPr>
              <a:lnSpc>
                <a:spcPct val="103448"/>
              </a:lnSpc>
              <a:spcAft>
                <a:spcPts val="0"/>
              </a:spcAft>
            </a:pPr>
            <a:r>
              <a:rPr sz="725" i="0">
                <a:solidFill>
                  <a:srgbClr val="5C6773"/>
                </a:solidFill>
                <a:latin typeface="Inconsolata"/>
              </a:rPr>
              <a:t>11  </a:t>
            </a:r>
            <a:r>
              <a:rPr sz="725" i="0">
                <a:solidFill>
                  <a:srgbClr val="E6EDF3"/>
                </a:solidFill>
                <a:latin typeface="Inconsolata"/>
              </a:rPr>
              <a:t>        </a:t>
            </a:r>
            <a:r>
              <a:rPr sz="725" i="0">
                <a:solidFill>
                  <a:srgbClr val="A5D6A7"/>
                </a:solidFill>
                <a:latin typeface="Inconsolata"/>
              </a:rPr>
              <a:t>"""Kembalikan besar potongan (0 sampai subtotal)."""</a:t>
            </a:r>
          </a:p>
          <a:p>
            <a:pPr>
              <a:lnSpc>
                <a:spcPct val="103448"/>
              </a:lnSpc>
              <a:spcAft>
                <a:spcPts val="0"/>
              </a:spcAft>
            </a:pPr>
            <a:r>
              <a:rPr sz="725" i="0">
                <a:solidFill>
                  <a:srgbClr val="5C6773"/>
                </a:solidFill>
                <a:latin typeface="Inconsolata"/>
              </a:rPr>
              <a:t>12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a:t>
            </a:r>
            <a:r>
              <a:rPr sz="725" i="0">
                <a:solidFill>
                  <a:srgbClr val="F9C97A"/>
                </a:solidFill>
                <a:latin typeface="Inconsolata"/>
              </a:rPr>
              <a:t>0</a:t>
            </a:r>
          </a:p>
          <a:p>
            <a:pPr>
              <a:lnSpc>
                <a:spcPct val="103448"/>
              </a:lnSpc>
              <a:spcAft>
                <a:spcPts val="0"/>
              </a:spcAft>
            </a:pPr>
            <a:r>
              <a:rPr sz="725" i="0">
                <a:solidFill>
                  <a:srgbClr val="5C6773"/>
                </a:solidFill>
                <a:latin typeface="Inconsolata"/>
              </a:rPr>
              <a:t>13  </a:t>
            </a:r>
            <a:r>
              <a:rPr sz="725" i="0">
                <a:solidFill>
                  <a:srgbClr val="E6EDF3"/>
                </a:solidFill>
                <a:latin typeface="Inconsolata"/>
              </a:rPr>
              <a:t> </a:t>
            </a:r>
          </a:p>
          <a:p>
            <a:pPr>
              <a:lnSpc>
                <a:spcPct val="103448"/>
              </a:lnSpc>
              <a:spcAft>
                <a:spcPts val="0"/>
              </a:spcAft>
            </a:pPr>
            <a:r>
              <a:rPr sz="725" i="0">
                <a:solidFill>
                  <a:srgbClr val="5C6773"/>
                </a:solidFill>
                <a:latin typeface="Inconsolata"/>
              </a:rPr>
              <a:t>14  </a:t>
            </a:r>
            <a:r>
              <a:rPr sz="725" i="0">
                <a:solidFill>
                  <a:srgbClr val="E6EDF3"/>
                </a:solidFill>
                <a:latin typeface="Inconsolata"/>
              </a:rPr>
              <a:t> </a:t>
            </a:r>
          </a:p>
          <a:p>
            <a:pPr>
              <a:lnSpc>
                <a:spcPct val="103448"/>
              </a:lnSpc>
              <a:spcAft>
                <a:spcPts val="0"/>
              </a:spcAft>
            </a:pPr>
            <a:r>
              <a:rPr sz="725" i="0">
                <a:solidFill>
                  <a:srgbClr val="5C6773"/>
                </a:solidFill>
                <a:latin typeface="Inconsolata"/>
              </a:rPr>
              <a:t>15  </a:t>
            </a: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MemberDiscount</a:t>
            </a:r>
            <a:r>
              <a:rPr sz="725" i="0">
                <a:solidFill>
                  <a:srgbClr val="E6EDF3"/>
                </a:solidFill>
                <a:latin typeface="Inconsolata"/>
              </a:rPr>
              <a:t>(</a:t>
            </a:r>
            <a:r>
              <a:rPr sz="725" i="0">
                <a:solidFill>
                  <a:srgbClr val="7FDBCA"/>
                </a:solidFill>
                <a:latin typeface="Inconsolata"/>
              </a:rPr>
              <a:t>Discount</a:t>
            </a:r>
            <a:r>
              <a:rPr sz="725" i="0">
                <a:solidFill>
                  <a:srgbClr val="E6EDF3"/>
                </a:solidFill>
                <a:latin typeface="Inconsolata"/>
              </a:rPr>
              <a:t>):</a:t>
            </a:r>
          </a:p>
          <a:p>
            <a:pPr>
              <a:lnSpc>
                <a:spcPct val="103448"/>
              </a:lnSpc>
              <a:spcAft>
                <a:spcPts val="0"/>
              </a:spcAft>
            </a:pPr>
            <a:r>
              <a:rPr sz="725" i="0">
                <a:solidFill>
                  <a:srgbClr val="5C6773"/>
                </a:solidFill>
                <a:latin typeface="Inconsolata"/>
              </a:rPr>
              <a:t>16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discount</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subtotal: </a:t>
            </a:r>
            <a:r>
              <a:rPr sz="725" i="0">
                <a:solidFill>
                  <a:srgbClr val="C3A6FF"/>
                </a:solidFill>
                <a:latin typeface="Inconsolata"/>
              </a:rPr>
              <a:t>int</a:t>
            </a:r>
            <a:r>
              <a:rPr sz="725" i="0">
                <a:solidFill>
                  <a:srgbClr val="E6EDF3"/>
                </a:solidFill>
                <a:latin typeface="Inconsolata"/>
              </a:rPr>
              <a:t>) -&gt; </a:t>
            </a:r>
            <a:r>
              <a:rPr sz="725" i="0">
                <a:solidFill>
                  <a:srgbClr val="C3A6FF"/>
                </a:solidFill>
                <a:latin typeface="Inconsolata"/>
              </a:rPr>
              <a:t>int</a:t>
            </a:r>
            <a:r>
              <a:rPr sz="725" i="0">
                <a:solidFill>
                  <a:srgbClr val="E6EDF3"/>
                </a:solidFill>
                <a:latin typeface="Inconsolata"/>
              </a:rPr>
              <a:t>:</a:t>
            </a:r>
          </a:p>
          <a:p>
            <a:pPr>
              <a:lnSpc>
                <a:spcPct val="103448"/>
              </a:lnSpc>
              <a:spcAft>
                <a:spcPts val="0"/>
              </a:spcAft>
            </a:pPr>
            <a:r>
              <a:rPr sz="725" i="0">
                <a:solidFill>
                  <a:srgbClr val="5C6773"/>
                </a:solidFill>
                <a:latin typeface="Inconsolata"/>
              </a:rPr>
              <a:t>17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subtotal * </a:t>
            </a:r>
            <a:r>
              <a:rPr sz="725" i="0">
                <a:solidFill>
                  <a:srgbClr val="F9C97A"/>
                </a:solidFill>
                <a:latin typeface="Inconsolata"/>
              </a:rPr>
              <a:t>5</a:t>
            </a:r>
            <a:r>
              <a:rPr sz="725" i="0">
                <a:solidFill>
                  <a:srgbClr val="E6EDF3"/>
                </a:solidFill>
                <a:latin typeface="Inconsolata"/>
              </a:rPr>
              <a:t> // </a:t>
            </a:r>
            <a:r>
              <a:rPr sz="725" i="0">
                <a:solidFill>
                  <a:srgbClr val="F9C97A"/>
                </a:solidFill>
                <a:latin typeface="Inconsolata"/>
              </a:rPr>
              <a:t>100</a:t>
            </a:r>
          </a:p>
          <a:p>
            <a:pPr>
              <a:lnSpc>
                <a:spcPct val="103448"/>
              </a:lnSpc>
              <a:spcAft>
                <a:spcPts val="0"/>
              </a:spcAft>
            </a:pPr>
            <a:r>
              <a:rPr sz="725" i="0">
                <a:solidFill>
                  <a:srgbClr val="5C6773"/>
                </a:solidFill>
                <a:latin typeface="Inconsolata"/>
              </a:rPr>
              <a:t>18  </a:t>
            </a:r>
            <a:r>
              <a:rPr sz="725" i="0">
                <a:solidFill>
                  <a:srgbClr val="E6EDF3"/>
                </a:solidFill>
                <a:latin typeface="Inconsolata"/>
              </a:rPr>
              <a:t> </a:t>
            </a:r>
          </a:p>
          <a:p>
            <a:pPr>
              <a:lnSpc>
                <a:spcPct val="103448"/>
              </a:lnSpc>
              <a:spcAft>
                <a:spcPts val="0"/>
              </a:spcAft>
            </a:pPr>
            <a:r>
              <a:rPr sz="725" i="0">
                <a:solidFill>
                  <a:srgbClr val="5C6773"/>
                </a:solidFill>
                <a:latin typeface="Inconsolata"/>
              </a:rPr>
              <a:t>19  </a:t>
            </a:r>
            <a:r>
              <a:rPr sz="725" i="0">
                <a:solidFill>
                  <a:srgbClr val="E6EDF3"/>
                </a:solidFill>
                <a:latin typeface="Inconsolata"/>
              </a:rPr>
              <a:t> </a:t>
            </a:r>
          </a:p>
          <a:p>
            <a:pPr>
              <a:lnSpc>
                <a:spcPct val="103448"/>
              </a:lnSpc>
              <a:spcAft>
                <a:spcPts val="0"/>
              </a:spcAft>
            </a:pPr>
            <a:r>
              <a:rPr sz="725" i="0">
                <a:solidFill>
                  <a:srgbClr val="5C6773"/>
                </a:solidFill>
                <a:latin typeface="Inconsolata"/>
              </a:rPr>
              <a:t>20  </a:t>
            </a: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VoucherDiscount</a:t>
            </a:r>
            <a:r>
              <a:rPr sz="725" i="0">
                <a:solidFill>
                  <a:srgbClr val="E6EDF3"/>
                </a:solidFill>
                <a:latin typeface="Inconsolata"/>
              </a:rPr>
              <a:t>(</a:t>
            </a:r>
            <a:r>
              <a:rPr sz="725" i="0">
                <a:solidFill>
                  <a:srgbClr val="7FDBCA"/>
                </a:solidFill>
                <a:latin typeface="Inconsolata"/>
              </a:rPr>
              <a:t>Discount</a:t>
            </a:r>
            <a:r>
              <a:rPr sz="725" i="0">
                <a:solidFill>
                  <a:srgbClr val="E6EDF3"/>
                </a:solidFill>
                <a:latin typeface="Inconsolata"/>
              </a:rPr>
              <a:t>):</a:t>
            </a:r>
          </a:p>
          <a:p>
            <a:pPr>
              <a:lnSpc>
                <a:spcPct val="103448"/>
              </a:lnSpc>
              <a:spcAft>
                <a:spcPts val="0"/>
              </a:spcAft>
            </a:pPr>
            <a:r>
              <a:rPr sz="725" i="0">
                <a:solidFill>
                  <a:srgbClr val="5C6773"/>
                </a:solidFill>
                <a:latin typeface="Inconsolata"/>
              </a:rPr>
              <a:t>21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discount</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subtotal: </a:t>
            </a:r>
            <a:r>
              <a:rPr sz="725" i="0">
                <a:solidFill>
                  <a:srgbClr val="C3A6FF"/>
                </a:solidFill>
                <a:latin typeface="Inconsolata"/>
              </a:rPr>
              <a:t>int</a:t>
            </a:r>
            <a:r>
              <a:rPr sz="725" i="0">
                <a:solidFill>
                  <a:srgbClr val="E6EDF3"/>
                </a:solidFill>
                <a:latin typeface="Inconsolata"/>
              </a:rPr>
              <a:t>) -&gt; </a:t>
            </a:r>
            <a:r>
              <a:rPr sz="725" i="0">
                <a:solidFill>
                  <a:srgbClr val="C3A6FF"/>
                </a:solidFill>
                <a:latin typeface="Inconsolata"/>
              </a:rPr>
              <a:t>int</a:t>
            </a:r>
            <a:r>
              <a:rPr sz="725" i="0">
                <a:solidFill>
                  <a:srgbClr val="E6EDF3"/>
                </a:solidFill>
                <a:latin typeface="Inconsolata"/>
              </a:rPr>
              <a:t>:</a:t>
            </a:r>
          </a:p>
          <a:p>
            <a:pPr>
              <a:lnSpc>
                <a:spcPct val="103448"/>
              </a:lnSpc>
              <a:spcAft>
                <a:spcPts val="0"/>
              </a:spcAft>
            </a:pPr>
            <a:r>
              <a:rPr sz="725" i="0">
                <a:solidFill>
                  <a:srgbClr val="5C6773"/>
                </a:solidFill>
                <a:latin typeface="Inconsolata"/>
              </a:rPr>
              <a:t>22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subtotal - </a:t>
            </a:r>
            <a:r>
              <a:rPr sz="725" i="0">
                <a:solidFill>
                  <a:srgbClr val="F9C97A"/>
                </a:solidFill>
                <a:latin typeface="Inconsolata"/>
              </a:rPr>
              <a:t>50_000</a:t>
            </a:r>
            <a:r>
              <a:rPr sz="725" i="0">
                <a:solidFill>
                  <a:srgbClr val="E6EDF3"/>
                </a:solidFill>
                <a:latin typeface="Inconsolata"/>
              </a:rPr>
              <a:t>  </a:t>
            </a:r>
            <a:r>
              <a:rPr sz="725" i="1">
                <a:solidFill>
                  <a:srgbClr val="8B98A8"/>
                </a:solidFill>
                <a:latin typeface="Inconsolata"/>
              </a:rPr>
              <a:t># salah: ini harga akhir, bukan potongan</a:t>
            </a:r>
          </a:p>
          <a:p>
            <a:pPr>
              <a:lnSpc>
                <a:spcPct val="103448"/>
              </a:lnSpc>
              <a:spcAft>
                <a:spcPts val="0"/>
              </a:spcAft>
            </a:pPr>
            <a:r>
              <a:rPr sz="725" i="0">
                <a:solidFill>
                  <a:srgbClr val="5C6773"/>
                </a:solidFill>
                <a:latin typeface="Inconsolata"/>
              </a:rPr>
              <a:t>23  </a:t>
            </a:r>
            <a:r>
              <a:rPr sz="725" i="0">
                <a:solidFill>
                  <a:srgbClr val="E6EDF3"/>
                </a:solidFill>
                <a:latin typeface="Inconsolata"/>
              </a:rPr>
              <a:t> </a:t>
            </a:r>
          </a:p>
          <a:p>
            <a:pPr>
              <a:lnSpc>
                <a:spcPct val="103448"/>
              </a:lnSpc>
              <a:spcAft>
                <a:spcPts val="0"/>
              </a:spcAft>
            </a:pPr>
            <a:r>
              <a:rPr sz="725" i="0">
                <a:solidFill>
                  <a:srgbClr val="5C6773"/>
                </a:solidFill>
                <a:latin typeface="Inconsolata"/>
              </a:rPr>
              <a:t>24  </a:t>
            </a:r>
            <a:r>
              <a:rPr sz="725" i="0">
                <a:solidFill>
                  <a:srgbClr val="E6EDF3"/>
                </a:solidFill>
                <a:latin typeface="Inconsolata"/>
              </a:rPr>
              <a:t> </a:t>
            </a:r>
          </a:p>
          <a:p>
            <a:pPr>
              <a:lnSpc>
                <a:spcPct val="103448"/>
              </a:lnSpc>
              <a:spcAft>
                <a:spcPts val="0"/>
              </a:spcAft>
            </a:pPr>
            <a:r>
              <a:rPr sz="725" i="0">
                <a:solidFill>
                  <a:srgbClr val="5C6773"/>
                </a:solidFill>
                <a:latin typeface="Inconsolata"/>
              </a:rPr>
              <a:t>25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calculate_total</a:t>
            </a:r>
            <a:r>
              <a:rPr sz="725" i="0">
                <a:solidFill>
                  <a:srgbClr val="E6EDF3"/>
                </a:solidFill>
                <a:latin typeface="Inconsolata"/>
              </a:rPr>
              <a:t>(subtotal: </a:t>
            </a:r>
            <a:r>
              <a:rPr sz="725" i="0">
                <a:solidFill>
                  <a:srgbClr val="C3A6FF"/>
                </a:solidFill>
                <a:latin typeface="Inconsolata"/>
              </a:rPr>
              <a:t>int</a:t>
            </a:r>
            <a:r>
              <a:rPr sz="725" i="0">
                <a:solidFill>
                  <a:srgbClr val="E6EDF3"/>
                </a:solidFill>
                <a:latin typeface="Inconsolata"/>
              </a:rPr>
              <a:t>, rule: </a:t>
            </a:r>
            <a:r>
              <a:rPr sz="725" i="0">
                <a:solidFill>
                  <a:srgbClr val="7FDBCA"/>
                </a:solidFill>
                <a:latin typeface="Inconsolata"/>
              </a:rPr>
              <a:t>Discount</a:t>
            </a:r>
            <a:r>
              <a:rPr sz="725" i="0">
                <a:solidFill>
                  <a:srgbClr val="E6EDF3"/>
                </a:solidFill>
                <a:latin typeface="Inconsolata"/>
              </a:rPr>
              <a:t>) -&gt; </a:t>
            </a:r>
            <a:r>
              <a:rPr sz="725" i="0">
                <a:solidFill>
                  <a:srgbClr val="C3A6FF"/>
                </a:solidFill>
                <a:latin typeface="Inconsolata"/>
              </a:rPr>
              <a:t>int</a:t>
            </a:r>
            <a:r>
              <a:rPr sz="725" i="0">
                <a:solidFill>
                  <a:srgbClr val="E6EDF3"/>
                </a:solidFill>
                <a:latin typeface="Inconsolata"/>
              </a:rPr>
              <a:t>:</a:t>
            </a:r>
          </a:p>
          <a:p>
            <a:pPr>
              <a:lnSpc>
                <a:spcPct val="103448"/>
              </a:lnSpc>
              <a:spcAft>
                <a:spcPts val="0"/>
              </a:spcAft>
            </a:pPr>
            <a:r>
              <a:rPr sz="725" i="0">
                <a:solidFill>
                  <a:srgbClr val="5C6773"/>
                </a:solidFill>
                <a:latin typeface="Inconsolata"/>
              </a:rPr>
              <a:t>26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subtotal - rule.discount(subtotal)</a:t>
            </a:r>
          </a:p>
          <a:p>
            <a:pPr>
              <a:lnSpc>
                <a:spcPct val="103448"/>
              </a:lnSpc>
              <a:spcAft>
                <a:spcPts val="0"/>
              </a:spcAft>
            </a:pPr>
            <a:r>
              <a:rPr sz="725" i="0">
                <a:solidFill>
                  <a:srgbClr val="5C6773"/>
                </a:solidFill>
                <a:latin typeface="Inconsolata"/>
              </a:rPr>
              <a:t>27  </a:t>
            </a:r>
            <a:r>
              <a:rPr sz="725" i="0">
                <a:solidFill>
                  <a:srgbClr val="E6EDF3"/>
                </a:solidFill>
                <a:latin typeface="Inconsolata"/>
              </a:rPr>
              <a:t> </a:t>
            </a:r>
          </a:p>
          <a:p>
            <a:pPr>
              <a:lnSpc>
                <a:spcPct val="103448"/>
              </a:lnSpc>
              <a:spcAft>
                <a:spcPts val="0"/>
              </a:spcAft>
            </a:pPr>
            <a:r>
              <a:rPr sz="725" i="0">
                <a:solidFill>
                  <a:srgbClr val="5C6773"/>
                </a:solidFill>
                <a:latin typeface="Inconsolata"/>
              </a:rPr>
              <a:t>28  </a:t>
            </a:r>
            <a:r>
              <a:rPr sz="725" i="0">
                <a:solidFill>
                  <a:srgbClr val="E6EDF3"/>
                </a:solidFill>
                <a:latin typeface="Inconsolata"/>
              </a:rPr>
              <a:t> </a:t>
            </a:r>
          </a:p>
          <a:p>
            <a:pPr>
              <a:lnSpc>
                <a:spcPct val="103448"/>
              </a:lnSpc>
              <a:spcAft>
                <a:spcPts val="0"/>
              </a:spcAft>
            </a:pPr>
            <a:r>
              <a:rPr sz="725" i="0">
                <a:solidFill>
                  <a:srgbClr val="5C6773"/>
                </a:solidFill>
                <a:latin typeface="Inconsolata"/>
              </a:rPr>
              <a:t>29  </a:t>
            </a:r>
            <a:r>
              <a:rPr sz="725" i="0">
                <a:solidFill>
                  <a:srgbClr val="FF8E6E"/>
                </a:solidFill>
                <a:latin typeface="Inconsolata"/>
              </a:rPr>
              <a:t>if</a:t>
            </a:r>
            <a:r>
              <a:rPr sz="725" i="0">
                <a:solidFill>
                  <a:srgbClr val="E6EDF3"/>
                </a:solidFill>
                <a:latin typeface="Inconsolata"/>
              </a:rPr>
              <a:t> __name__ == </a:t>
            </a:r>
            <a:r>
              <a:rPr sz="725" i="0">
                <a:solidFill>
                  <a:srgbClr val="A5D6A7"/>
                </a:solidFill>
                <a:latin typeface="Inconsolata"/>
              </a:rPr>
              <a:t>"__main__"</a:t>
            </a:r>
            <a:r>
              <a:rPr sz="725" i="0">
                <a:solidFill>
                  <a:srgbClr val="E6EDF3"/>
                </a:solidFill>
                <a:latin typeface="Inconsolata"/>
              </a:rPr>
              <a:t>:</a:t>
            </a:r>
          </a:p>
          <a:p>
            <a:pPr>
              <a:lnSpc>
                <a:spcPct val="103448"/>
              </a:lnSpc>
              <a:spcAft>
                <a:spcPts val="0"/>
              </a:spcAft>
            </a:pPr>
            <a:r>
              <a:rPr sz="725" i="0">
                <a:solidFill>
                  <a:srgbClr val="5C6773"/>
                </a:solidFill>
                <a:latin typeface="Inconsolata"/>
              </a:rPr>
              <a:t>30  </a:t>
            </a:r>
            <a:r>
              <a:rPr sz="725" i="0">
                <a:solidFill>
                  <a:srgbClr val="E6EDF3"/>
                </a:solidFill>
                <a:latin typeface="Inconsolata"/>
              </a:rPr>
              <a:t>    </a:t>
            </a:r>
            <a:r>
              <a:rPr sz="725" i="0">
                <a:solidFill>
                  <a:srgbClr val="C3A6FF"/>
                </a:solidFill>
                <a:latin typeface="Inconsolata"/>
              </a:rPr>
              <a:t>print</a:t>
            </a:r>
            <a:r>
              <a:rPr sz="725" i="0">
                <a:solidFill>
                  <a:srgbClr val="E6EDF3"/>
                </a:solidFill>
                <a:latin typeface="Inconsolata"/>
              </a:rPr>
              <a:t>(</a:t>
            </a:r>
            <a:r>
              <a:rPr sz="725" i="0">
                <a:solidFill>
                  <a:srgbClr val="A5D6A7"/>
                </a:solidFill>
                <a:latin typeface="Inconsolata"/>
              </a:rPr>
              <a:t>"member :"</a:t>
            </a:r>
            <a:r>
              <a:rPr sz="725" i="0">
                <a:solidFill>
                  <a:srgbClr val="E6EDF3"/>
                </a:solidFill>
                <a:latin typeface="Inconsolata"/>
              </a:rPr>
              <a:t>, calculate_total(</a:t>
            </a:r>
            <a:r>
              <a:rPr sz="725" i="0">
                <a:solidFill>
                  <a:srgbClr val="F9C97A"/>
                </a:solidFill>
                <a:latin typeface="Inconsolata"/>
              </a:rPr>
              <a:t>200_000</a:t>
            </a:r>
            <a:r>
              <a:rPr sz="725" i="0">
                <a:solidFill>
                  <a:srgbClr val="E6EDF3"/>
                </a:solidFill>
                <a:latin typeface="Inconsolata"/>
              </a:rPr>
              <a:t>, </a:t>
            </a:r>
            <a:r>
              <a:rPr sz="725" i="0">
                <a:solidFill>
                  <a:srgbClr val="7FDBCA"/>
                </a:solidFill>
                <a:latin typeface="Inconsolata"/>
              </a:rPr>
              <a:t>MemberDiscount</a:t>
            </a:r>
            <a:r>
              <a:rPr sz="725" i="0">
                <a:solidFill>
                  <a:srgbClr val="E6EDF3"/>
                </a:solidFill>
                <a:latin typeface="Inconsolata"/>
              </a:rPr>
              <a:t>()))   </a:t>
            </a:r>
            <a:r>
              <a:rPr sz="725" i="1">
                <a:solidFill>
                  <a:srgbClr val="8B98A8"/>
                </a:solidFill>
                <a:latin typeface="Inconsolata"/>
              </a:rPr>
              <a:t># 190000, benar</a:t>
            </a:r>
          </a:p>
          <a:p>
            <a:pPr>
              <a:lnSpc>
                <a:spcPct val="103448"/>
              </a:lnSpc>
              <a:spcAft>
                <a:spcPts val="0"/>
              </a:spcAft>
            </a:pPr>
            <a:r>
              <a:rPr sz="725" i="0">
                <a:solidFill>
                  <a:srgbClr val="5C6773"/>
                </a:solidFill>
                <a:latin typeface="Inconsolata"/>
              </a:rPr>
              <a:t>31  </a:t>
            </a:r>
            <a:r>
              <a:rPr sz="725" i="0">
                <a:solidFill>
                  <a:srgbClr val="E6EDF3"/>
                </a:solidFill>
                <a:latin typeface="Inconsolata"/>
              </a:rPr>
              <a:t>    </a:t>
            </a:r>
            <a:r>
              <a:rPr sz="725" i="0">
                <a:solidFill>
                  <a:srgbClr val="C3A6FF"/>
                </a:solidFill>
                <a:latin typeface="Inconsolata"/>
              </a:rPr>
              <a:t>print</a:t>
            </a:r>
            <a:r>
              <a:rPr sz="725" i="0">
                <a:solidFill>
                  <a:srgbClr val="E6EDF3"/>
                </a:solidFill>
                <a:latin typeface="Inconsolata"/>
              </a:rPr>
              <a:t>(</a:t>
            </a:r>
            <a:r>
              <a:rPr sz="725" i="0">
                <a:solidFill>
                  <a:srgbClr val="A5D6A7"/>
                </a:solidFill>
                <a:latin typeface="Inconsolata"/>
              </a:rPr>
              <a:t>"voucher:"</a:t>
            </a:r>
            <a:r>
              <a:rPr sz="725" i="0">
                <a:solidFill>
                  <a:srgbClr val="E6EDF3"/>
                </a:solidFill>
                <a:latin typeface="Inconsolata"/>
              </a:rPr>
              <a:t>, calculate_total(</a:t>
            </a:r>
            <a:r>
              <a:rPr sz="725" i="0">
                <a:solidFill>
                  <a:srgbClr val="F9C97A"/>
                </a:solidFill>
                <a:latin typeface="Inconsolata"/>
              </a:rPr>
              <a:t>200_000</a:t>
            </a:r>
            <a:r>
              <a:rPr sz="725" i="0">
                <a:solidFill>
                  <a:srgbClr val="E6EDF3"/>
                </a:solidFill>
                <a:latin typeface="Inconsolata"/>
              </a:rPr>
              <a:t>, </a:t>
            </a:r>
            <a:r>
              <a:rPr sz="725" i="0">
                <a:solidFill>
                  <a:srgbClr val="7FDBCA"/>
                </a:solidFill>
                <a:latin typeface="Inconsolata"/>
              </a:rPr>
              <a:t>VoucherDiscount</a:t>
            </a:r>
            <a:r>
              <a:rPr sz="725" i="0">
                <a:solidFill>
                  <a:srgbClr val="E6EDF3"/>
                </a:solidFill>
                <a:latin typeface="Inconsolata"/>
              </a:rPr>
              <a:t>()))  </a:t>
            </a:r>
            <a:r>
              <a:rPr sz="725" i="1">
                <a:solidFill>
                  <a:srgbClr val="8B98A8"/>
                </a:solidFill>
                <a:latin typeface="Inconsolata"/>
              </a:rPr>
              <a:t># 50000, harusnya 150000</a:t>
            </a:r>
          </a:p>
        </p:txBody>
      </p:sp>
      <p:sp>
        <p:nvSpPr>
          <p:cNvPr id="29" name="Box 12"/>
          <p:cNvSpPr/>
          <p:nvPr/>
        </p:nvSpPr>
        <p:spPr>
          <a:xfrm>
            <a:off x="704088" y="2053971"/>
            <a:ext cx="7699248"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19888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11271"/>
            <a:ext cx="7699248"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2461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4339971"/>
            <a:ext cx="7699248"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42748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L · Liskov Substitution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03-lsp/before.py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sesi-02-solid-clean-architecture/03-lsp</a:t>
            </a:r>
          </a:p>
          <a:p>
            <a:pPr>
              <a:lnSpc>
                <a:spcPct val="107527"/>
              </a:lnSpc>
              <a:spcAft>
                <a:spcPts val="0"/>
              </a:spcAft>
            </a:pPr>
            <a:r>
              <a:rPr sz="775" i="0">
                <a:solidFill>
                  <a:srgbClr val="82B1FF"/>
                </a:solidFill>
                <a:latin typeface="Inconsolata"/>
              </a:rPr>
              <a:t>$ python before.py</a:t>
            </a:r>
          </a:p>
        </p:txBody>
      </p:sp>
      <p:pic>
        <p:nvPicPr>
          <p:cNvPr id="29" name="Image 12" descr="s02-03-lsp-before.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Kontrak parent: kembalikan </a:t>
            </a:r>
            <a:r>
              <a:rPr sz="950" b="1" i="0">
                <a:solidFill>
                  <a:srgbClr val="434343"/>
                </a:solidFill>
                <a:latin typeface="Inter"/>
              </a:rPr>
              <a:t>besar potongan</a:t>
            </a:r>
            <a:r>
              <a:rPr sz="950" b="0" i="0">
                <a:solidFill>
                  <a:srgbClr val="434343"/>
                </a:solidFill>
                <a:latin typeface="Inter"/>
              </a:rPr>
              <a:t> (baris 11)</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VoucherDiscount</a:t>
            </a:r>
            <a:r>
              <a:rPr sz="950" b="0" i="0">
                <a:solidFill>
                  <a:srgbClr val="434343"/>
                </a:solidFill>
                <a:latin typeface="Inter"/>
              </a:rPr>
              <a:t> malah mengembalikan </a:t>
            </a:r>
            <a:r>
              <a:rPr sz="950" b="1" i="0">
                <a:solidFill>
                  <a:srgbClr val="434343"/>
                </a:solidFill>
                <a:latin typeface="Inter"/>
              </a:rPr>
              <a:t>harga akhir</a:t>
            </a:r>
            <a:r>
              <a:rPr sz="950" b="0" i="0">
                <a:solidFill>
                  <a:srgbClr val="434343"/>
                </a:solidFill>
                <a:latin typeface="Inter"/>
              </a:rPr>
              <a:t> (baris 22)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Tidak ada error, tapi total voucher 50.000, harusnya 150.000 (baris 31)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L · Liskov Substitution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Semua Ikut Kontrak yang Sama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03-lsp/after.py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 9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Discount</a:t>
            </a:r>
            <a:r>
              <a:rPr sz="850" i="0">
                <a:solidFill>
                  <a:srgbClr val="E6EDF3"/>
                </a:solidFill>
                <a:latin typeface="Inconsolata"/>
              </a:rPr>
              <a:t>:</a:t>
            </a:r>
          </a:p>
          <a:p>
            <a:pPr>
              <a:lnSpc>
                <a:spcPct val="107843"/>
              </a:lnSpc>
              <a:spcAft>
                <a:spcPts val="0"/>
              </a:spcAft>
            </a:pPr>
            <a:r>
              <a:rPr sz="850" i="0">
                <a:solidFill>
                  <a:srgbClr val="5C6773"/>
                </a:solidFill>
                <a:latin typeface="Inconsolata"/>
              </a:rPr>
              <a:t>10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discount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subtotal: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r>
              <a:rPr sz="850" i="0">
                <a:solidFill>
                  <a:srgbClr val="A5D6A7"/>
                </a:solidFill>
                <a:latin typeface="Inconsolata"/>
              </a:rPr>
              <a:t>"""Kembalikan besar potongan (0 sampai subtotal)."""</a:t>
            </a:r>
          </a:p>
          <a:p>
            <a:pPr>
              <a:lnSpc>
                <a:spcPct val="107843"/>
              </a:lnSpc>
              <a:spcAft>
                <a:spcPts val="0"/>
              </a:spcAft>
            </a:pPr>
            <a:r>
              <a:rPr sz="850" i="0">
                <a:solidFill>
                  <a:srgbClr val="5C6773"/>
                </a:solidFill>
                <a:latin typeface="Inconsolata"/>
              </a:rPr>
              <a:t>12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F9C97A"/>
                </a:solidFill>
                <a:latin typeface="Inconsolata"/>
              </a:rPr>
              <a:t>0</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p>
          <a:p>
            <a:pPr>
              <a:lnSpc>
                <a:spcPct val="107843"/>
              </a:lnSpc>
              <a:spcAft>
                <a:spcPts val="0"/>
              </a:spcAft>
            </a:pPr>
            <a:r>
              <a:rPr sz="850" i="0">
                <a:solidFill>
                  <a:srgbClr val="5C6773"/>
                </a:solidFill>
                <a:latin typeface="Inconsolata"/>
              </a:rPr>
              <a:t>15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MemberDiscount</a:t>
            </a:r>
            <a:r>
              <a:rPr sz="850" i="0">
                <a:solidFill>
                  <a:srgbClr val="E6EDF3"/>
                </a:solidFill>
                <a:latin typeface="Inconsolata"/>
              </a:rPr>
              <a:t>(</a:t>
            </a:r>
            <a:r>
              <a:rPr sz="850" i="0">
                <a:solidFill>
                  <a:srgbClr val="7FDBCA"/>
                </a:solidFill>
                <a:latin typeface="Inconsolata"/>
              </a:rPr>
              <a:t>Discount</a:t>
            </a:r>
            <a:r>
              <a:rPr sz="850" i="0">
                <a:solidFill>
                  <a:srgbClr val="E6EDF3"/>
                </a:solidFill>
                <a:latin typeface="Inconsolata"/>
              </a:rPr>
              <a:t>):</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discount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subtotal: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subtotal * </a:t>
            </a:r>
            <a:r>
              <a:rPr sz="850" i="0">
                <a:solidFill>
                  <a:srgbClr val="F9C97A"/>
                </a:solidFill>
                <a:latin typeface="Inconsolata"/>
              </a:rPr>
              <a:t>5</a:t>
            </a:r>
            <a:r>
              <a:rPr sz="850" i="0">
                <a:solidFill>
                  <a:srgbClr val="E6EDF3"/>
                </a:solidFill>
                <a:latin typeface="Inconsolata"/>
              </a:rPr>
              <a:t> // </a:t>
            </a:r>
            <a:r>
              <a:rPr sz="850" i="0">
                <a:solidFill>
                  <a:srgbClr val="F9C97A"/>
                </a:solidFill>
                <a:latin typeface="Inconsolata"/>
              </a:rPr>
              <a:t>100</a:t>
            </a:r>
          </a:p>
          <a:p>
            <a:pPr>
              <a:lnSpc>
                <a:spcPct val="107843"/>
              </a:lnSpc>
              <a:spcAft>
                <a:spcPts val="0"/>
              </a:spcAft>
            </a:pPr>
            <a:r>
              <a:rPr sz="850" i="0">
                <a:solidFill>
                  <a:srgbClr val="5C6773"/>
                </a:solidFill>
                <a:latin typeface="Inconsolata"/>
              </a:rPr>
              <a:t>18  </a:t>
            </a:r>
            <a:r>
              <a:rPr sz="850" i="0">
                <a:solidFill>
                  <a:srgbClr val="E6EDF3"/>
                </a:solidFill>
                <a:latin typeface="Inconsolata"/>
              </a:rPr>
              <a:t> </a:t>
            </a:r>
          </a:p>
          <a:p>
            <a:pPr>
              <a:lnSpc>
                <a:spcPct val="107843"/>
              </a:lnSpc>
              <a:spcAft>
                <a:spcPts val="0"/>
              </a:spcAft>
            </a:pPr>
            <a:r>
              <a:rPr sz="850" i="0">
                <a:solidFill>
                  <a:srgbClr val="5C6773"/>
                </a:solidFill>
                <a:latin typeface="Inconsolata"/>
              </a:rPr>
              <a:t>19  </a:t>
            </a:r>
            <a:r>
              <a:rPr sz="850" i="0">
                <a:solidFill>
                  <a:srgbClr val="E6EDF3"/>
                </a:solidFill>
                <a:latin typeface="Inconsolata"/>
              </a:rPr>
              <a:t> </a:t>
            </a:r>
          </a:p>
          <a:p>
            <a:pPr>
              <a:lnSpc>
                <a:spcPct val="107843"/>
              </a:lnSpc>
              <a:spcAft>
                <a:spcPts val="0"/>
              </a:spcAft>
            </a:pPr>
            <a:r>
              <a:rPr sz="850" i="0">
                <a:solidFill>
                  <a:srgbClr val="5C6773"/>
                </a:solidFill>
                <a:latin typeface="Inconsolata"/>
              </a:rPr>
              <a:t>20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VoucherDiscount</a:t>
            </a:r>
            <a:r>
              <a:rPr sz="850" i="0">
                <a:solidFill>
                  <a:srgbClr val="E6EDF3"/>
                </a:solidFill>
                <a:latin typeface="Inconsolata"/>
              </a:rPr>
              <a:t>(</a:t>
            </a:r>
            <a:r>
              <a:rPr sz="850" i="0">
                <a:solidFill>
                  <a:srgbClr val="7FDBCA"/>
                </a:solidFill>
                <a:latin typeface="Inconsolata"/>
              </a:rPr>
              <a:t>Discount</a:t>
            </a:r>
            <a:r>
              <a:rPr sz="850" i="0">
                <a:solidFill>
                  <a:srgbClr val="E6EDF3"/>
                </a:solidFill>
                <a:latin typeface="Inconsolata"/>
              </a:rPr>
              <a:t>):</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amount: </a:t>
            </a:r>
            <a:r>
              <a:rPr sz="850" i="0">
                <a:solidFill>
                  <a:srgbClr val="C3A6FF"/>
                </a:solidFill>
                <a:latin typeface="Inconsolata"/>
              </a:rPr>
              <a:t>int</a:t>
            </a:r>
            <a:r>
              <a:rPr sz="850" i="0">
                <a:solidFill>
                  <a:srgbClr val="E6EDF3"/>
                </a:solidFill>
                <a:latin typeface="Inconsolata"/>
              </a:rPr>
              <a:t> = </a:t>
            </a:r>
            <a:r>
              <a:rPr sz="850" i="0">
                <a:solidFill>
                  <a:srgbClr val="F9C97A"/>
                </a:solidFill>
                <a:latin typeface="Inconsolata"/>
              </a:rPr>
              <a:t>50_000</a:t>
            </a:r>
            <a:r>
              <a:rPr sz="850" i="0">
                <a:solidFill>
                  <a:srgbClr val="E6EDF3"/>
                </a:solidFill>
                <a:latin typeface="Inconsolata"/>
              </a:rPr>
              <a:t>):</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.amount = amount</a:t>
            </a:r>
          </a:p>
          <a:p>
            <a:pPr>
              <a:lnSpc>
                <a:spcPct val="107843"/>
              </a:lnSpc>
              <a:spcAft>
                <a:spcPts val="0"/>
              </a:spcAft>
            </a:pPr>
            <a:r>
              <a:rPr sz="850" i="0">
                <a:solidFill>
                  <a:srgbClr val="5C6773"/>
                </a:solidFill>
                <a:latin typeface="Inconsolata"/>
              </a:rPr>
              <a:t>23  </a:t>
            </a:r>
            <a:r>
              <a:rPr sz="850" i="0">
                <a:solidFill>
                  <a:srgbClr val="E6EDF3"/>
                </a:solidFill>
                <a:latin typeface="Inconsolata"/>
              </a:rPr>
              <a:t> </a:t>
            </a:r>
          </a:p>
          <a:p>
            <a:pPr>
              <a:lnSpc>
                <a:spcPct val="107843"/>
              </a:lnSpc>
              <a:spcAft>
                <a:spcPts val="0"/>
              </a:spcAft>
            </a:pPr>
            <a:r>
              <a:rPr sz="850" i="0">
                <a:solidFill>
                  <a:srgbClr val="5C6773"/>
                </a:solidFill>
                <a:latin typeface="Inconsolata"/>
              </a:rPr>
              <a:t>24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discount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subtotal: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25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C3A6FF"/>
                </a:solidFill>
                <a:latin typeface="Inconsolata"/>
              </a:rPr>
              <a:t>min</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.amount, subtotal)  </a:t>
            </a:r>
            <a:r>
              <a:rPr sz="850" i="1">
                <a:solidFill>
                  <a:srgbClr val="8B98A8"/>
                </a:solidFill>
                <a:latin typeface="Inconsolata"/>
              </a:rPr>
              <a:t># potongan, tidak lebih dari subtotal</a:t>
            </a:r>
          </a:p>
        </p:txBody>
      </p:sp>
      <p:sp>
        <p:nvSpPr>
          <p:cNvPr id="29" name="Box 12"/>
          <p:cNvSpPr/>
          <p:nvPr/>
        </p:nvSpPr>
        <p:spPr>
          <a:xfrm>
            <a:off x="704088" y="40638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40106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L · Liskov Substitution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Semua Ikut Kontrak yang Sama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03-lsp/after.py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28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calculate_total</a:t>
            </a:r>
            <a:r>
              <a:rPr sz="850" i="0">
                <a:solidFill>
                  <a:srgbClr val="E6EDF3"/>
                </a:solidFill>
                <a:latin typeface="Inconsolata"/>
              </a:rPr>
              <a:t>(subtotal: </a:t>
            </a:r>
            <a:r>
              <a:rPr sz="850" i="0">
                <a:solidFill>
                  <a:srgbClr val="C3A6FF"/>
                </a:solidFill>
                <a:latin typeface="Inconsolata"/>
              </a:rPr>
              <a:t>int</a:t>
            </a:r>
            <a:r>
              <a:rPr sz="850" i="0">
                <a:solidFill>
                  <a:srgbClr val="E6EDF3"/>
                </a:solidFill>
                <a:latin typeface="Inconsolata"/>
              </a:rPr>
              <a:t>, rule: </a:t>
            </a:r>
            <a:r>
              <a:rPr sz="850" i="0">
                <a:solidFill>
                  <a:srgbClr val="7FDBCA"/>
                </a:solidFill>
                <a:latin typeface="Inconsolata"/>
              </a:rPr>
              <a:t>Discount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29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subtotal - rule.discount(subtotal)</a:t>
            </a:r>
          </a:p>
          <a:p>
            <a:pPr>
              <a:lnSpc>
                <a:spcPct val="107843"/>
              </a:lnSpc>
              <a:spcAft>
                <a:spcPts val="0"/>
              </a:spcAft>
            </a:pPr>
            <a:r>
              <a:rPr sz="850" i="0">
                <a:solidFill>
                  <a:srgbClr val="5C6773"/>
                </a:solidFill>
                <a:latin typeface="Inconsolata"/>
              </a:rPr>
              <a:t>30  </a:t>
            </a:r>
            <a:r>
              <a:rPr sz="850" i="0">
                <a:solidFill>
                  <a:srgbClr val="E6EDF3"/>
                </a:solidFill>
                <a:latin typeface="Inconsolata"/>
              </a:rPr>
              <a:t> </a:t>
            </a:r>
          </a:p>
          <a:p>
            <a:pPr>
              <a:lnSpc>
                <a:spcPct val="107843"/>
              </a:lnSpc>
              <a:spcAft>
                <a:spcPts val="0"/>
              </a:spcAft>
            </a:pPr>
            <a:r>
              <a:rPr sz="850" i="0">
                <a:solidFill>
                  <a:srgbClr val="5C6773"/>
                </a:solidFill>
                <a:latin typeface="Inconsolata"/>
              </a:rPr>
              <a:t>31  </a:t>
            </a:r>
            <a:r>
              <a:rPr sz="850" i="0">
                <a:solidFill>
                  <a:srgbClr val="E6EDF3"/>
                </a:solidFill>
                <a:latin typeface="Inconsolata"/>
              </a:rPr>
              <a:t> </a:t>
            </a:r>
          </a:p>
          <a:p>
            <a:pPr>
              <a:lnSpc>
                <a:spcPct val="107843"/>
              </a:lnSpc>
              <a:spcAft>
                <a:spcPts val="0"/>
              </a:spcAft>
            </a:pPr>
            <a:r>
              <a:rPr sz="850" i="0">
                <a:solidFill>
                  <a:srgbClr val="5C6773"/>
                </a:solidFill>
                <a:latin typeface="Inconsolata"/>
              </a:rPr>
              <a:t>32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check_contract</a:t>
            </a:r>
            <a:r>
              <a:rPr sz="850" i="0">
                <a:solidFill>
                  <a:srgbClr val="E6EDF3"/>
                </a:solidFill>
                <a:latin typeface="Inconsolata"/>
              </a:rPr>
              <a:t>(rule: </a:t>
            </a:r>
            <a:r>
              <a:rPr sz="850" i="0">
                <a:solidFill>
                  <a:srgbClr val="7FDBCA"/>
                </a:solidFill>
                <a:latin typeface="Inconsolata"/>
              </a:rPr>
              <a:t>Discount</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33  </a:t>
            </a: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subtotal </a:t>
            </a:r>
            <a:r>
              <a:rPr sz="850" i="0">
                <a:solidFill>
                  <a:srgbClr val="FF8E6E"/>
                </a:solidFill>
                <a:latin typeface="Inconsolata"/>
              </a:rPr>
              <a:t>in</a:t>
            </a:r>
            <a:r>
              <a:rPr sz="850" i="0">
                <a:solidFill>
                  <a:srgbClr val="E6EDF3"/>
                </a:solidFill>
                <a:latin typeface="Inconsolata"/>
              </a:rPr>
              <a:t> (</a:t>
            </a:r>
            <a:r>
              <a:rPr sz="850" i="0">
                <a:solidFill>
                  <a:srgbClr val="F9C97A"/>
                </a:solidFill>
                <a:latin typeface="Inconsolata"/>
              </a:rPr>
              <a:t>0</a:t>
            </a:r>
            <a:r>
              <a:rPr sz="850" i="0">
                <a:solidFill>
                  <a:srgbClr val="E6EDF3"/>
                </a:solidFill>
                <a:latin typeface="Inconsolata"/>
              </a:rPr>
              <a:t>, </a:t>
            </a:r>
            <a:r>
              <a:rPr sz="850" i="0">
                <a:solidFill>
                  <a:srgbClr val="F9C97A"/>
                </a:solidFill>
                <a:latin typeface="Inconsolata"/>
              </a:rPr>
              <a:t>30_000</a:t>
            </a:r>
            <a:r>
              <a:rPr sz="850" i="0">
                <a:solidFill>
                  <a:srgbClr val="E6EDF3"/>
                </a:solidFill>
                <a:latin typeface="Inconsolata"/>
              </a:rPr>
              <a:t>, </a:t>
            </a:r>
            <a:r>
              <a:rPr sz="850" i="0">
                <a:solidFill>
                  <a:srgbClr val="F9C97A"/>
                </a:solidFill>
                <a:latin typeface="Inconsolata"/>
              </a:rPr>
              <a:t>200_000</a:t>
            </a:r>
            <a:r>
              <a:rPr sz="850" i="0">
                <a:solidFill>
                  <a:srgbClr val="E6EDF3"/>
                </a:solidFill>
                <a:latin typeface="Inconsolata"/>
              </a:rPr>
              <a:t>):</a:t>
            </a:r>
          </a:p>
          <a:p>
            <a:pPr>
              <a:lnSpc>
                <a:spcPct val="107843"/>
              </a:lnSpc>
              <a:spcAft>
                <a:spcPts val="0"/>
              </a:spcAft>
            </a:pPr>
            <a:r>
              <a:rPr sz="850" i="0">
                <a:solidFill>
                  <a:srgbClr val="5C6773"/>
                </a:solidFill>
                <a:latin typeface="Inconsolata"/>
              </a:rPr>
              <a:t>34  </a:t>
            </a:r>
            <a:r>
              <a:rPr sz="850" i="0">
                <a:solidFill>
                  <a:srgbClr val="E6EDF3"/>
                </a:solidFill>
                <a:latin typeface="Inconsolata"/>
              </a:rPr>
              <a:t>        </a:t>
            </a:r>
            <a:r>
              <a:rPr sz="850" i="0">
                <a:solidFill>
                  <a:srgbClr val="FF8E6E"/>
                </a:solidFill>
                <a:latin typeface="Inconsolata"/>
              </a:rPr>
              <a:t>assert</a:t>
            </a:r>
            <a:r>
              <a:rPr sz="850" i="0">
                <a:solidFill>
                  <a:srgbClr val="E6EDF3"/>
                </a:solidFill>
                <a:latin typeface="Inconsolata"/>
              </a:rPr>
              <a:t> </a:t>
            </a:r>
            <a:r>
              <a:rPr sz="850" i="0">
                <a:solidFill>
                  <a:srgbClr val="F9C97A"/>
                </a:solidFill>
                <a:latin typeface="Inconsolata"/>
              </a:rPr>
              <a:t>0</a:t>
            </a:r>
            <a:r>
              <a:rPr sz="850" i="0">
                <a:solidFill>
                  <a:srgbClr val="E6EDF3"/>
                </a:solidFill>
                <a:latin typeface="Inconsolata"/>
              </a:rPr>
              <a:t> &lt;= rule.discount(subtotal) &lt;= subtotal, </a:t>
            </a:r>
            <a:r>
              <a:rPr sz="850" i="0">
                <a:solidFill>
                  <a:srgbClr val="C3A6FF"/>
                </a:solidFill>
                <a:latin typeface="Inconsolata"/>
              </a:rPr>
              <a:t>type</a:t>
            </a:r>
            <a:r>
              <a:rPr sz="850" i="0">
                <a:solidFill>
                  <a:srgbClr val="E6EDF3"/>
                </a:solidFill>
                <a:latin typeface="Inconsolata"/>
              </a:rPr>
              <a:t>(rule).__name__</a:t>
            </a:r>
          </a:p>
          <a:p>
            <a:pPr>
              <a:lnSpc>
                <a:spcPct val="107843"/>
              </a:lnSpc>
              <a:spcAft>
                <a:spcPts val="0"/>
              </a:spcAft>
            </a:pPr>
            <a:r>
              <a:rPr sz="850" i="0">
                <a:solidFill>
                  <a:srgbClr val="5C6773"/>
                </a:solidFill>
                <a:latin typeface="Inconsolata"/>
              </a:rPr>
              <a:t>35  </a:t>
            </a:r>
            <a:r>
              <a:rPr sz="850" i="0">
                <a:solidFill>
                  <a:srgbClr val="E6EDF3"/>
                </a:solidFill>
                <a:latin typeface="Inconsolata"/>
              </a:rPr>
              <a:t> </a:t>
            </a:r>
          </a:p>
          <a:p>
            <a:pPr>
              <a:lnSpc>
                <a:spcPct val="107843"/>
              </a:lnSpc>
              <a:spcAft>
                <a:spcPts val="0"/>
              </a:spcAft>
            </a:pPr>
            <a:r>
              <a:rPr sz="850" i="0">
                <a:solidFill>
                  <a:srgbClr val="5C6773"/>
                </a:solidFill>
                <a:latin typeface="Inconsolata"/>
              </a:rPr>
              <a:t>36  </a:t>
            </a:r>
            <a:r>
              <a:rPr sz="850" i="0">
                <a:solidFill>
                  <a:srgbClr val="E6EDF3"/>
                </a:solidFill>
                <a:latin typeface="Inconsolata"/>
              </a:rPr>
              <a:t> </a:t>
            </a:r>
          </a:p>
          <a:p>
            <a:pPr>
              <a:lnSpc>
                <a:spcPct val="107843"/>
              </a:lnSpc>
              <a:spcAft>
                <a:spcPts val="0"/>
              </a:spcAft>
            </a:pPr>
            <a:r>
              <a:rPr sz="850" i="0">
                <a:solidFill>
                  <a:srgbClr val="5C6773"/>
                </a:solidFill>
                <a:latin typeface="Inconsolata"/>
              </a:rPr>
              <a:t>37  </a:t>
            </a:r>
            <a:r>
              <a:rPr sz="850" i="0">
                <a:solidFill>
                  <a:srgbClr val="FF8E6E"/>
                </a:solidFill>
                <a:latin typeface="Inconsolata"/>
              </a:rPr>
              <a:t>if</a:t>
            </a:r>
            <a:r>
              <a:rPr sz="850" i="0">
                <a:solidFill>
                  <a:srgbClr val="E6EDF3"/>
                </a:solidFill>
                <a:latin typeface="Inconsolata"/>
              </a:rPr>
              <a:t> __name__ == </a:t>
            </a:r>
            <a:r>
              <a:rPr sz="850" i="0">
                <a:solidFill>
                  <a:srgbClr val="A5D6A7"/>
                </a:solidFill>
                <a:latin typeface="Inconsolata"/>
              </a:rPr>
              <a:t>"__main__"</a:t>
            </a:r>
            <a:r>
              <a:rPr sz="850" i="0">
                <a:solidFill>
                  <a:srgbClr val="E6EDF3"/>
                </a:solidFill>
                <a:latin typeface="Inconsolata"/>
              </a:rPr>
              <a:t>:</a:t>
            </a:r>
          </a:p>
          <a:p>
            <a:pPr>
              <a:lnSpc>
                <a:spcPct val="107843"/>
              </a:lnSpc>
              <a:spcAft>
                <a:spcPts val="0"/>
              </a:spcAft>
            </a:pPr>
            <a:r>
              <a:rPr sz="850" i="0">
                <a:solidFill>
                  <a:srgbClr val="5C6773"/>
                </a:solidFill>
                <a:latin typeface="Inconsolata"/>
              </a:rPr>
              <a:t>38  </a:t>
            </a: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rule </a:t>
            </a:r>
            <a:r>
              <a:rPr sz="850" i="0">
                <a:solidFill>
                  <a:srgbClr val="FF8E6E"/>
                </a:solidFill>
                <a:latin typeface="Inconsolata"/>
              </a:rPr>
              <a:t>in</a:t>
            </a:r>
            <a:r>
              <a:rPr sz="850" i="0">
                <a:solidFill>
                  <a:srgbClr val="E6EDF3"/>
                </a:solidFill>
                <a:latin typeface="Inconsolata"/>
              </a:rPr>
              <a:t> (</a:t>
            </a:r>
            <a:r>
              <a:rPr sz="850" i="0">
                <a:solidFill>
                  <a:srgbClr val="7FDBCA"/>
                </a:solidFill>
                <a:latin typeface="Inconsolata"/>
              </a:rPr>
              <a:t>Discount</a:t>
            </a:r>
            <a:r>
              <a:rPr sz="850" i="0">
                <a:solidFill>
                  <a:srgbClr val="E6EDF3"/>
                </a:solidFill>
                <a:latin typeface="Inconsolata"/>
              </a:rPr>
              <a:t>(), </a:t>
            </a:r>
            <a:r>
              <a:rPr sz="850" i="0">
                <a:solidFill>
                  <a:srgbClr val="7FDBCA"/>
                </a:solidFill>
                <a:latin typeface="Inconsolata"/>
              </a:rPr>
              <a:t>MemberDiscount</a:t>
            </a:r>
            <a:r>
              <a:rPr sz="850" i="0">
                <a:solidFill>
                  <a:srgbClr val="E6EDF3"/>
                </a:solidFill>
                <a:latin typeface="Inconsolata"/>
              </a:rPr>
              <a:t>(), </a:t>
            </a:r>
            <a:r>
              <a:rPr sz="850" i="0">
                <a:solidFill>
                  <a:srgbClr val="7FDBCA"/>
                </a:solidFill>
                <a:latin typeface="Inconsolata"/>
              </a:rPr>
              <a:t>VoucherDiscount</a:t>
            </a:r>
            <a:r>
              <a:rPr sz="850" i="0">
                <a:solidFill>
                  <a:srgbClr val="E6EDF3"/>
                </a:solidFill>
                <a:latin typeface="Inconsolata"/>
              </a:rPr>
              <a:t>()):</a:t>
            </a:r>
          </a:p>
          <a:p>
            <a:pPr>
              <a:lnSpc>
                <a:spcPct val="107843"/>
              </a:lnSpc>
              <a:spcAft>
                <a:spcPts val="0"/>
              </a:spcAft>
            </a:pPr>
            <a:r>
              <a:rPr sz="850" i="0">
                <a:solidFill>
                  <a:srgbClr val="5C6773"/>
                </a:solidFill>
                <a:latin typeface="Inconsolata"/>
              </a:rPr>
              <a:t>39  </a:t>
            </a:r>
            <a:r>
              <a:rPr sz="850" i="0">
                <a:solidFill>
                  <a:srgbClr val="E6EDF3"/>
                </a:solidFill>
                <a:latin typeface="Inconsolata"/>
              </a:rPr>
              <a:t>        check_contract(rule)</a:t>
            </a:r>
          </a:p>
          <a:p>
            <a:pPr>
              <a:lnSpc>
                <a:spcPct val="107843"/>
              </a:lnSpc>
              <a:spcAft>
                <a:spcPts val="0"/>
              </a:spcAft>
            </a:pPr>
            <a:r>
              <a:rPr sz="850" i="0">
                <a:solidFill>
                  <a:srgbClr val="5C6773"/>
                </a:solidFill>
                <a:latin typeface="Inconsolata"/>
              </a:rPr>
              <a:t>40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C3A6FF"/>
                </a:solidFill>
                <a:latin typeface="Inconsolata"/>
              </a:rPr>
              <a:t>type</a:t>
            </a:r>
            <a:r>
              <a:rPr sz="850" i="0">
                <a:solidFill>
                  <a:srgbClr val="E6EDF3"/>
                </a:solidFill>
                <a:latin typeface="Inconsolata"/>
              </a:rPr>
              <a:t>(rule).__name__, calculate_total(</a:t>
            </a:r>
            <a:r>
              <a:rPr sz="850" i="0">
                <a:solidFill>
                  <a:srgbClr val="F9C97A"/>
                </a:solidFill>
                <a:latin typeface="Inconsolata"/>
              </a:rPr>
              <a:t>200_000</a:t>
            </a:r>
            <a:r>
              <a:rPr sz="850" i="0">
                <a:solidFill>
                  <a:srgbClr val="E6EDF3"/>
                </a:solidFill>
                <a:latin typeface="Inconsolata"/>
              </a:rPr>
              <a:t>, rule))</a:t>
            </a:r>
          </a:p>
        </p:txBody>
      </p:sp>
      <p:sp>
        <p:nvSpPr>
          <p:cNvPr id="29" name="Box 12"/>
          <p:cNvSpPr/>
          <p:nvPr/>
        </p:nvSpPr>
        <p:spPr>
          <a:xfrm>
            <a:off x="704088" y="23874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4739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1" name="Box 14"/>
          <p:cNvSpPr/>
          <p:nvPr/>
        </p:nvSpPr>
        <p:spPr>
          <a:xfrm>
            <a:off x="704088" y="35050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4518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L · Liskov Substitution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03-lsp/after.py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sesi-02-solid-clean-architecture/03-lsp</a:t>
            </a:r>
          </a:p>
          <a:p>
            <a:pPr>
              <a:lnSpc>
                <a:spcPct val="107527"/>
              </a:lnSpc>
              <a:spcAft>
                <a:spcPts val="0"/>
              </a:spcAft>
            </a:pPr>
            <a:r>
              <a:rPr sz="775" i="0">
                <a:solidFill>
                  <a:srgbClr val="82B1FF"/>
                </a:solidFill>
                <a:latin typeface="Inconsolata"/>
              </a:rPr>
              <a:t>$ python after.py</a:t>
            </a:r>
          </a:p>
        </p:txBody>
      </p:sp>
      <p:pic>
        <p:nvPicPr>
          <p:cNvPr id="29" name="Image 12" descr="s02-03-lsp-after.png"/>
          <p:cNvPicPr>
            <a:picLocks noChangeAspect="1"/>
          </p:cNvPicPr>
          <p:nvPr/>
        </p:nvPicPr>
        <p:blipFill>
          <a:blip r:embed="rId2"/>
          <a:stretch>
            <a:fillRect/>
          </a:stretch>
        </p:blipFill>
        <p:spPr>
          <a:xfrm>
            <a:off x="621792" y="2240280"/>
            <a:ext cx="4297680" cy="1280160"/>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VoucherDiscount</a:t>
            </a:r>
            <a:r>
              <a:rPr sz="950" b="0" i="0">
                <a:solidFill>
                  <a:srgbClr val="434343"/>
                </a:solidFill>
                <a:latin typeface="Inter"/>
              </a:rPr>
              <a:t> mengembalikan potongan, sesuai kontrak (baris 25)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test kontrak dijalankan untuk </a:t>
            </a:r>
            <a:r>
              <a:rPr sz="950" b="1" i="0">
                <a:solidFill>
                  <a:srgbClr val="434343"/>
                </a:solidFill>
                <a:latin typeface="Inter"/>
              </a:rPr>
              <a:t>semua</a:t>
            </a:r>
            <a:r>
              <a:rPr sz="950" b="0" i="0">
                <a:solidFill>
                  <a:srgbClr val="434343"/>
                </a:solidFill>
                <a:latin typeface="Inter"/>
              </a:rPr>
              <a:t> subclass (baris 32-34)</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Total voucher sekarang benar: 150.000 (baris 40)</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Subclass baru yang melanggar kontrak langsung ketahuan.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Interface Segregation?</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Interface Segregation adalah</a:t>
            </a:r>
          </a:p>
          <a:p>
            <a:pPr algn="l">
              <a:lnSpc>
                <a:spcPct val="115000"/>
              </a:lnSpc>
              <a:spcAft>
                <a:spcPts val="400"/>
              </a:spcAft>
            </a:pPr>
            <a:r>
              <a:rPr sz="950" b="0" i="0">
                <a:solidFill>
                  <a:srgbClr val="434343"/>
                </a:solidFill>
                <a:latin typeface="Inter"/>
              </a:rPr>
              <a:t>Prinsip bahwa interface dibuat </a:t>
            </a:r>
            <a:r>
              <a:rPr sz="950" b="1" i="0">
                <a:solidFill>
                  <a:srgbClr val="434343"/>
                </a:solidFill>
                <a:latin typeface="Inter"/>
              </a:rPr>
              <a:t>kecil, sesuai kebutuhan pemakainya</a:t>
            </a:r>
            <a:r>
              <a:rPr sz="950" b="0" i="0">
                <a:solidFill>
                  <a:srgbClr val="434343"/>
                </a:solidFill>
                <a:latin typeface="Inter"/>
              </a:rPr>
              <a:t>. Class tidak dipaksa bergantung pada method yang tidak dia pakai.</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Fake untuk test cukup berisi method yang dipakai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Perubahan di satu method tidak berdampak ke pemakai lain</a:t>
            </a:r>
          </a:p>
          <a:p>
            <a:pPr algn="l">
              <a:lnSpc>
                <a:spcPct val="115000"/>
              </a:lnSpc>
              <a:spcAft>
                <a:spcPts val="400"/>
              </a:spcAft>
            </a:pPr>
            <a:r>
              <a:rPr sz="1050" b="1" i="0">
                <a:solidFill>
                  <a:srgbClr val="1C4587"/>
                </a:solidFill>
                <a:latin typeface="Inter"/>
              </a:rPr>
              <a:t>Cara mengecek</a:t>
            </a:r>
          </a:p>
          <a:p>
            <a:pPr algn="l">
              <a:lnSpc>
                <a:spcPct val="115000"/>
              </a:lnSpc>
              <a:spcAft>
                <a:spcPts val="400"/>
              </a:spcAft>
            </a:pPr>
            <a:r>
              <a:rPr sz="950" b="0" i="0">
                <a:solidFill>
                  <a:srgbClr val="434343"/>
                </a:solidFill>
                <a:latin typeface="Inter"/>
              </a:rPr>
              <a:t>Lihat fake atau implementasi di test. Jika banyak method yang isinya hanya </a:t>
            </a:r>
            <a:r>
              <a:rPr sz="950" b="0" i="0">
                <a:solidFill>
                  <a:srgbClr val="B5482A"/>
                </a:solidFill>
                <a:latin typeface="Inconsolata"/>
              </a:rPr>
              <a:t>raise NotImplementedError</a:t>
            </a:r>
            <a:r>
              <a:rPr sz="950" b="0" i="0">
                <a:solidFill>
                  <a:srgbClr val="434343"/>
                </a:solidFill>
                <a:latin typeface="Inter"/>
              </a:rPr>
              <a:t>, berarti interfacenya terlalu besar.</a:t>
            </a:r>
          </a:p>
        </p:txBody>
      </p:sp>
      <p:sp>
        <p:nvSpPr>
          <p:cNvPr id="23" name="Box 4"/>
          <p:cNvSpPr/>
          <p:nvPr/>
        </p:nvSpPr>
        <p:spPr>
          <a:xfrm>
            <a:off x="4892040" y="1481328"/>
            <a:ext cx="3593592" cy="960120"/>
          </a:xfrm>
          <a:prstGeom prst="roundRect">
            <a:avLst>
              <a:gd name="adj" fmla="val 11428"/>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l">
              <a:lnSpc>
                <a:spcPct val="105000"/>
              </a:lnSpc>
              <a:spcAft>
                <a:spcPts val="200"/>
              </a:spcAft>
            </a:pPr>
            <a:r>
              <a:rPr sz="950" b="0" i="0">
                <a:solidFill>
                  <a:srgbClr val="434343"/>
                </a:solidFill>
                <a:latin typeface="Inter"/>
              </a:rPr>
              <a:t>"Clients should not be forced to depend upon interfaces that they do not use."</a:t>
            </a:r>
          </a:p>
          <a:p>
            <a:pPr algn="l">
              <a:lnSpc>
                <a:spcPct val="105000"/>
              </a:lnSpc>
              <a:spcAft>
                <a:spcPts val="200"/>
              </a:spcAft>
            </a:pPr>
            <a:r>
              <a:rPr sz="950" b="0" i="0">
                <a:solidFill>
                  <a:srgbClr val="434343"/>
                </a:solidFill>
                <a:latin typeface="Inter"/>
              </a:rPr>
              <a:t>Robert C. Martin</a:t>
            </a:r>
          </a:p>
        </p:txBody>
      </p:sp>
      <p:sp>
        <p:nvSpPr>
          <p:cNvPr id="24" name="Box 5"/>
          <p:cNvSpPr/>
          <p:nvPr/>
        </p:nvSpPr>
        <p:spPr>
          <a:xfrm>
            <a:off x="4892040" y="2560320"/>
            <a:ext cx="3593592" cy="1600200"/>
          </a:xfrm>
          <a:prstGeom prst="roundRect">
            <a:avLst>
              <a:gd name="adj" fmla="val 6857"/>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029200" y="2651760"/>
            <a:ext cx="3319272" cy="310896"/>
          </a:xfrm>
          <a:prstGeom prst="rect">
            <a:avLst/>
          </a:prstGeom>
          <a:noFill/>
        </p:spPr>
        <p:txBody>
          <a:bodyPr wrap="square" lIns="45720" rIns="45720" anchor="t">
            <a:spAutoFit/>
          </a:bodyPr>
          <a:lstStyle/>
          <a:p>
            <a:pPr algn="l">
              <a:lnSpc>
                <a:spcPct val="115000"/>
              </a:lnSpc>
              <a:spcAft>
                <a:spcPts val="400"/>
              </a:spcAft>
            </a:pPr>
            <a:r>
              <a:rPr sz="1050" b="1" i="0">
                <a:solidFill>
                  <a:srgbClr val="C0392B"/>
                </a:solidFill>
                <a:latin typeface="Inter"/>
              </a:rPr>
              <a:t>Code smell yang dicari</a:t>
            </a:r>
          </a:p>
        </p:txBody>
      </p:sp>
      <p:sp>
        <p:nvSpPr>
          <p:cNvPr id="26" name="Text 7"/>
          <p:cNvSpPr txBox="1"/>
          <p:nvPr/>
        </p:nvSpPr>
        <p:spPr>
          <a:xfrm>
            <a:off x="5029200" y="2971800"/>
            <a:ext cx="331927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Banyak </a:t>
            </a:r>
            <a:r>
              <a:rPr sz="900" b="0" i="0">
                <a:solidFill>
                  <a:srgbClr val="B5482A"/>
                </a:solidFill>
                <a:latin typeface="Inconsolata"/>
              </a:rPr>
              <a:t>raise NotImplementedError</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Satu interface berisi operasi untuk banyak kebutuhan berbeda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Fake test lebih panjang dari testnya</a:t>
            </a:r>
          </a:p>
        </p:txBody>
      </p:sp>
      <p:sp>
        <p:nvSpPr>
          <p:cNvPr id="27" name="Text 8"/>
          <p:cNvSpPr txBox="1"/>
          <p:nvPr/>
        </p:nvSpPr>
        <p:spPr>
          <a:xfrm>
            <a:off x="4892040" y="4251960"/>
            <a:ext cx="3593592" cy="45720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Protocol di Sesi 1 sudah kecil: </a:t>
            </a:r>
            <a:r>
              <a:rPr sz="900" b="0" i="0">
                <a:solidFill>
                  <a:srgbClr val="B5482A"/>
                </a:solidFill>
                <a:latin typeface="Inconsolata"/>
              </a:rPr>
              <a:t>Notifier</a:t>
            </a:r>
            <a:r>
              <a:rPr sz="900" b="0" i="0">
                <a:solidFill>
                  <a:srgbClr val="7A7A7A"/>
                </a:solidFill>
                <a:latin typeface="Inter"/>
              </a:rPr>
              <a:t> hanya punya </a:t>
            </a:r>
            <a:r>
              <a:rPr sz="900" b="0" i="0">
                <a:solidFill>
                  <a:srgbClr val="B5482A"/>
                </a:solidFill>
                <a:latin typeface="Inconsolata"/>
              </a:rPr>
              <a:t>send()</a:t>
            </a:r>
            <a:r>
              <a:rPr sz="900" b="0" i="0">
                <a:solidFill>
                  <a:srgbClr val="7A7A7A"/>
                </a:solidFill>
                <a:latin typeface="Inter"/>
              </a:rPr>
              <a: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Interface Kegemukan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04-isp/before.py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3448"/>
              </a:lnSpc>
              <a:spcAft>
                <a:spcPts val="0"/>
              </a:spcAft>
            </a:pPr>
            <a:r>
              <a:rPr sz="725" i="0">
                <a:solidFill>
                  <a:srgbClr val="5C6773"/>
                </a:solidFill>
                <a:latin typeface="Inconsolata"/>
              </a:rPr>
              <a:t> 7  </a:t>
            </a:r>
            <a:r>
              <a:rPr sz="725" i="0">
                <a:solidFill>
                  <a:srgbClr val="FF8E6E"/>
                </a:solidFill>
                <a:latin typeface="Inconsolata"/>
              </a:rPr>
              <a:t>from</a:t>
            </a:r>
            <a:r>
              <a:rPr sz="725" i="0">
                <a:solidFill>
                  <a:srgbClr val="E6EDF3"/>
                </a:solidFill>
                <a:latin typeface="Inconsolata"/>
              </a:rPr>
              <a:t> abc </a:t>
            </a:r>
            <a:r>
              <a:rPr sz="725" i="0">
                <a:solidFill>
                  <a:srgbClr val="FF8E6E"/>
                </a:solidFill>
                <a:latin typeface="Inconsolata"/>
              </a:rPr>
              <a:t>import</a:t>
            </a:r>
            <a:r>
              <a:rPr sz="725" i="0">
                <a:solidFill>
                  <a:srgbClr val="E6EDF3"/>
                </a:solidFill>
                <a:latin typeface="Inconsolata"/>
              </a:rPr>
              <a:t> </a:t>
            </a:r>
            <a:r>
              <a:rPr sz="725" i="0">
                <a:solidFill>
                  <a:srgbClr val="7FDBCA"/>
                </a:solidFill>
                <a:latin typeface="Inconsolata"/>
              </a:rPr>
              <a:t>ABC</a:t>
            </a:r>
            <a:r>
              <a:rPr sz="725" i="0">
                <a:solidFill>
                  <a:srgbClr val="E6EDF3"/>
                </a:solidFill>
                <a:latin typeface="Inconsolata"/>
              </a:rPr>
              <a:t>, abstractmethod</a:t>
            </a:r>
          </a:p>
          <a:p>
            <a:pPr>
              <a:lnSpc>
                <a:spcPct val="103448"/>
              </a:lnSpc>
              <a:spcAft>
                <a:spcPts val="0"/>
              </a:spcAft>
            </a:pPr>
            <a:r>
              <a:rPr sz="725" i="0">
                <a:solidFill>
                  <a:srgbClr val="5C6773"/>
                </a:solidFill>
                <a:latin typeface="Inconsolata"/>
              </a:rPr>
              <a:t> 8  </a:t>
            </a:r>
            <a:r>
              <a:rPr sz="725" i="0">
                <a:solidFill>
                  <a:srgbClr val="E6EDF3"/>
                </a:solidFill>
                <a:latin typeface="Inconsolata"/>
              </a:rPr>
              <a:t> </a:t>
            </a:r>
          </a:p>
          <a:p>
            <a:pPr>
              <a:lnSpc>
                <a:spcPct val="103448"/>
              </a:lnSpc>
              <a:spcAft>
                <a:spcPts val="0"/>
              </a:spcAft>
            </a:pPr>
            <a:r>
              <a:rPr sz="725" i="0">
                <a:solidFill>
                  <a:srgbClr val="5C6773"/>
                </a:solidFill>
                <a:latin typeface="Inconsolata"/>
              </a:rPr>
              <a:t> 9  </a:t>
            </a:r>
            <a:r>
              <a:rPr sz="725" i="0">
                <a:solidFill>
                  <a:srgbClr val="E6EDF3"/>
                </a:solidFill>
                <a:latin typeface="Inconsolata"/>
              </a:rPr>
              <a:t> </a:t>
            </a:r>
          </a:p>
          <a:p>
            <a:pPr>
              <a:lnSpc>
                <a:spcPct val="103448"/>
              </a:lnSpc>
              <a:spcAft>
                <a:spcPts val="0"/>
              </a:spcAft>
            </a:pPr>
            <a:r>
              <a:rPr sz="725" i="0">
                <a:solidFill>
                  <a:srgbClr val="5C6773"/>
                </a:solidFill>
                <a:latin typeface="Inconsolata"/>
              </a:rPr>
              <a:t>10  </a:t>
            </a: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OrderRepository</a:t>
            </a:r>
            <a:r>
              <a:rPr sz="725" i="0">
                <a:solidFill>
                  <a:srgbClr val="E6EDF3"/>
                </a:solidFill>
                <a:latin typeface="Inconsolata"/>
              </a:rPr>
              <a:t>(</a:t>
            </a:r>
            <a:r>
              <a:rPr sz="725" i="0">
                <a:solidFill>
                  <a:srgbClr val="7FDBCA"/>
                </a:solidFill>
                <a:latin typeface="Inconsolata"/>
              </a:rPr>
              <a:t>ABC</a:t>
            </a:r>
            <a:r>
              <a:rPr sz="725" i="0">
                <a:solidFill>
                  <a:srgbClr val="E6EDF3"/>
                </a:solidFill>
                <a:latin typeface="Inconsolata"/>
              </a:rPr>
              <a:t>):</a:t>
            </a:r>
          </a:p>
          <a:p>
            <a:pPr>
              <a:lnSpc>
                <a:spcPct val="103448"/>
              </a:lnSpc>
              <a:spcAft>
                <a:spcPts val="0"/>
              </a:spcAft>
            </a:pPr>
            <a:r>
              <a:rPr sz="725" i="0">
                <a:solidFill>
                  <a:srgbClr val="5C6773"/>
                </a:solidFill>
                <a:latin typeface="Inconsolata"/>
              </a:rPr>
              <a:t>11  </a:t>
            </a:r>
            <a:r>
              <a:rPr sz="725" i="0">
                <a:solidFill>
                  <a:srgbClr val="E6EDF3"/>
                </a:solidFill>
                <a:latin typeface="Inconsolata"/>
              </a:rPr>
              <a:t>    </a:t>
            </a:r>
            <a:r>
              <a:rPr sz="725" i="0">
                <a:solidFill>
                  <a:srgbClr val="F9C97A"/>
                </a:solidFill>
                <a:latin typeface="Inconsolata"/>
              </a:rPr>
              <a:t>@abstractmethod</a:t>
            </a:r>
          </a:p>
          <a:p>
            <a:pPr>
              <a:lnSpc>
                <a:spcPct val="103448"/>
              </a:lnSpc>
              <a:spcAft>
                <a:spcPts val="0"/>
              </a:spcAft>
            </a:pPr>
            <a:r>
              <a:rPr sz="725" i="0">
                <a:solidFill>
                  <a:srgbClr val="5C6773"/>
                </a:solidFill>
                <a:latin typeface="Inconsolata"/>
              </a:rPr>
              <a:t>12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add</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 </a:t>
            </a:r>
            <a:r>
              <a:rPr sz="725" i="0">
                <a:solidFill>
                  <a:srgbClr val="C3A6FF"/>
                </a:solidFill>
                <a:latin typeface="Inconsolata"/>
              </a:rPr>
              <a:t>dict</a:t>
            </a:r>
            <a:r>
              <a:rPr sz="725" i="0">
                <a:solidFill>
                  <a:srgbClr val="E6EDF3"/>
                </a:solidFill>
                <a:latin typeface="Inconsolata"/>
              </a:rPr>
              <a:t>) -&gt; </a:t>
            </a:r>
            <a:r>
              <a:rPr sz="725" i="0">
                <a:solidFill>
                  <a:srgbClr val="C3A6FF"/>
                </a:solidFill>
                <a:latin typeface="Inconsolata"/>
              </a:rPr>
              <a:t>dict</a:t>
            </a:r>
            <a:r>
              <a:rPr sz="725" i="0">
                <a:solidFill>
                  <a:srgbClr val="E6EDF3"/>
                </a:solidFill>
                <a:latin typeface="Inconsolata"/>
              </a:rPr>
              <a:t>: ...</a:t>
            </a:r>
          </a:p>
          <a:p>
            <a:pPr>
              <a:lnSpc>
                <a:spcPct val="103448"/>
              </a:lnSpc>
              <a:spcAft>
                <a:spcPts val="0"/>
              </a:spcAft>
            </a:pPr>
            <a:r>
              <a:rPr sz="725" i="0">
                <a:solidFill>
                  <a:srgbClr val="5C6773"/>
                </a:solidFill>
                <a:latin typeface="Inconsolata"/>
              </a:rPr>
              <a:t>13  </a:t>
            </a:r>
            <a:r>
              <a:rPr sz="725" i="0">
                <a:solidFill>
                  <a:srgbClr val="E6EDF3"/>
                </a:solidFill>
                <a:latin typeface="Inconsolata"/>
              </a:rPr>
              <a:t> </a:t>
            </a:r>
          </a:p>
          <a:p>
            <a:pPr>
              <a:lnSpc>
                <a:spcPct val="103448"/>
              </a:lnSpc>
              <a:spcAft>
                <a:spcPts val="0"/>
              </a:spcAft>
            </a:pPr>
            <a:r>
              <a:rPr sz="725" i="0">
                <a:solidFill>
                  <a:srgbClr val="5C6773"/>
                </a:solidFill>
                <a:latin typeface="Inconsolata"/>
              </a:rPr>
              <a:t>14  </a:t>
            </a:r>
            <a:r>
              <a:rPr sz="725" i="0">
                <a:solidFill>
                  <a:srgbClr val="E6EDF3"/>
                </a:solidFill>
                <a:latin typeface="Inconsolata"/>
              </a:rPr>
              <a:t>    </a:t>
            </a:r>
            <a:r>
              <a:rPr sz="725" i="0">
                <a:solidFill>
                  <a:srgbClr val="F9C97A"/>
                </a:solidFill>
                <a:latin typeface="Inconsolata"/>
              </a:rPr>
              <a:t>@abstractmethod</a:t>
            </a:r>
          </a:p>
          <a:p>
            <a:pPr>
              <a:lnSpc>
                <a:spcPct val="103448"/>
              </a:lnSpc>
              <a:spcAft>
                <a:spcPts val="0"/>
              </a:spcAft>
            </a:pPr>
            <a:r>
              <a:rPr sz="725" i="0">
                <a:solidFill>
                  <a:srgbClr val="5C6773"/>
                </a:solidFill>
                <a:latin typeface="Inconsolata"/>
              </a:rPr>
              <a:t>15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get</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order_id: </a:t>
            </a:r>
            <a:r>
              <a:rPr sz="725" i="0">
                <a:solidFill>
                  <a:srgbClr val="C3A6FF"/>
                </a:solidFill>
                <a:latin typeface="Inconsolata"/>
              </a:rPr>
              <a:t>int</a:t>
            </a:r>
            <a:r>
              <a:rPr sz="725" i="0">
                <a:solidFill>
                  <a:srgbClr val="E6EDF3"/>
                </a:solidFill>
                <a:latin typeface="Inconsolata"/>
              </a:rPr>
              <a:t>) -&gt; </a:t>
            </a:r>
            <a:r>
              <a:rPr sz="725" i="0">
                <a:solidFill>
                  <a:srgbClr val="C3A6FF"/>
                </a:solidFill>
                <a:latin typeface="Inconsolata"/>
              </a:rPr>
              <a:t>dict</a:t>
            </a:r>
            <a:r>
              <a:rPr sz="725" i="0">
                <a:solidFill>
                  <a:srgbClr val="E6EDF3"/>
                </a:solidFill>
                <a:latin typeface="Inconsolata"/>
              </a:rPr>
              <a:t> | </a:t>
            </a:r>
            <a:r>
              <a:rPr sz="725" i="0">
                <a:solidFill>
                  <a:srgbClr val="FF8E6E"/>
                </a:solidFill>
                <a:latin typeface="Inconsolata"/>
              </a:rPr>
              <a:t>None</a:t>
            </a:r>
            <a:r>
              <a:rPr sz="725" i="0">
                <a:solidFill>
                  <a:srgbClr val="E6EDF3"/>
                </a:solidFill>
                <a:latin typeface="Inconsolata"/>
              </a:rPr>
              <a:t>: ...</a:t>
            </a:r>
          </a:p>
          <a:p>
            <a:pPr>
              <a:lnSpc>
                <a:spcPct val="103448"/>
              </a:lnSpc>
              <a:spcAft>
                <a:spcPts val="0"/>
              </a:spcAft>
            </a:pPr>
            <a:r>
              <a:rPr sz="725" i="0">
                <a:solidFill>
                  <a:srgbClr val="5C6773"/>
                </a:solidFill>
                <a:latin typeface="Inconsolata"/>
              </a:rPr>
              <a:t>16  </a:t>
            </a:r>
            <a:r>
              <a:rPr sz="725" i="0">
                <a:solidFill>
                  <a:srgbClr val="E6EDF3"/>
                </a:solidFill>
                <a:latin typeface="Inconsolata"/>
              </a:rPr>
              <a:t> </a:t>
            </a:r>
          </a:p>
          <a:p>
            <a:pPr>
              <a:lnSpc>
                <a:spcPct val="103448"/>
              </a:lnSpc>
              <a:spcAft>
                <a:spcPts val="0"/>
              </a:spcAft>
            </a:pPr>
            <a:r>
              <a:rPr sz="725" i="0">
                <a:solidFill>
                  <a:srgbClr val="5C6773"/>
                </a:solidFill>
                <a:latin typeface="Inconsolata"/>
              </a:rPr>
              <a:t>17  </a:t>
            </a:r>
            <a:r>
              <a:rPr sz="725" i="0">
                <a:solidFill>
                  <a:srgbClr val="E6EDF3"/>
                </a:solidFill>
                <a:latin typeface="Inconsolata"/>
              </a:rPr>
              <a:t>    </a:t>
            </a:r>
            <a:r>
              <a:rPr sz="725" i="0">
                <a:solidFill>
                  <a:srgbClr val="F9C97A"/>
                </a:solidFill>
                <a:latin typeface="Inconsolata"/>
              </a:rPr>
              <a:t>@abstractmethod</a:t>
            </a:r>
          </a:p>
          <a:p>
            <a:pPr>
              <a:lnSpc>
                <a:spcPct val="103448"/>
              </a:lnSpc>
              <a:spcAft>
                <a:spcPts val="0"/>
              </a:spcAft>
            </a:pPr>
            <a:r>
              <a:rPr sz="725" i="0">
                <a:solidFill>
                  <a:srgbClr val="5C6773"/>
                </a:solidFill>
                <a:latin typeface="Inconsolata"/>
              </a:rPr>
              <a:t>18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list_all</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-&gt; </a:t>
            </a:r>
            <a:r>
              <a:rPr sz="725" i="0">
                <a:solidFill>
                  <a:srgbClr val="C3A6FF"/>
                </a:solidFill>
                <a:latin typeface="Inconsolata"/>
              </a:rPr>
              <a:t>list</a:t>
            </a:r>
            <a:r>
              <a:rPr sz="725" i="0">
                <a:solidFill>
                  <a:srgbClr val="E6EDF3"/>
                </a:solidFill>
                <a:latin typeface="Inconsolata"/>
              </a:rPr>
              <a:t>[</a:t>
            </a:r>
            <a:r>
              <a:rPr sz="725" i="0">
                <a:solidFill>
                  <a:srgbClr val="C3A6FF"/>
                </a:solidFill>
                <a:latin typeface="Inconsolata"/>
              </a:rPr>
              <a:t>dict</a:t>
            </a:r>
            <a:r>
              <a:rPr sz="725" i="0">
                <a:solidFill>
                  <a:srgbClr val="E6EDF3"/>
                </a:solidFill>
                <a:latin typeface="Inconsolata"/>
              </a:rPr>
              <a:t>]: ...</a:t>
            </a:r>
          </a:p>
          <a:p>
            <a:pPr>
              <a:lnSpc>
                <a:spcPct val="103448"/>
              </a:lnSpc>
              <a:spcAft>
                <a:spcPts val="0"/>
              </a:spcAft>
            </a:pPr>
            <a:r>
              <a:rPr sz="725" i="0">
                <a:solidFill>
                  <a:srgbClr val="5C6773"/>
                </a:solidFill>
                <a:latin typeface="Inconsolata"/>
              </a:rPr>
              <a:t>19  </a:t>
            </a:r>
            <a:r>
              <a:rPr sz="725" i="0">
                <a:solidFill>
                  <a:srgbClr val="E6EDF3"/>
                </a:solidFill>
                <a:latin typeface="Inconsolata"/>
              </a:rPr>
              <a:t> </a:t>
            </a:r>
          </a:p>
          <a:p>
            <a:pPr>
              <a:lnSpc>
                <a:spcPct val="103448"/>
              </a:lnSpc>
              <a:spcAft>
                <a:spcPts val="0"/>
              </a:spcAft>
            </a:pPr>
            <a:r>
              <a:rPr sz="725" i="0">
                <a:solidFill>
                  <a:srgbClr val="5C6773"/>
                </a:solidFill>
                <a:latin typeface="Inconsolata"/>
              </a:rPr>
              <a:t>20  </a:t>
            </a:r>
            <a:r>
              <a:rPr sz="725" i="0">
                <a:solidFill>
                  <a:srgbClr val="E6EDF3"/>
                </a:solidFill>
                <a:latin typeface="Inconsolata"/>
              </a:rPr>
              <a:t>    </a:t>
            </a:r>
            <a:r>
              <a:rPr sz="725" i="0">
                <a:solidFill>
                  <a:srgbClr val="F9C97A"/>
                </a:solidFill>
                <a:latin typeface="Inconsolata"/>
              </a:rPr>
              <a:t>@abstractmethod</a:t>
            </a:r>
          </a:p>
          <a:p>
            <a:pPr>
              <a:lnSpc>
                <a:spcPct val="103448"/>
              </a:lnSpc>
              <a:spcAft>
                <a:spcPts val="0"/>
              </a:spcAft>
            </a:pPr>
            <a:r>
              <a:rPr sz="725" i="0">
                <a:solidFill>
                  <a:srgbClr val="5C6773"/>
                </a:solidFill>
                <a:latin typeface="Inconsolata"/>
              </a:rPr>
              <a:t>21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update_status</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order_id: </a:t>
            </a:r>
            <a:r>
              <a:rPr sz="725" i="0">
                <a:solidFill>
                  <a:srgbClr val="C3A6FF"/>
                </a:solidFill>
                <a:latin typeface="Inconsolata"/>
              </a:rPr>
              <a:t>int</a:t>
            </a:r>
            <a:r>
              <a:rPr sz="725" i="0">
                <a:solidFill>
                  <a:srgbClr val="E6EDF3"/>
                </a:solidFill>
                <a:latin typeface="Inconsolata"/>
              </a:rPr>
              <a:t>, status: </a:t>
            </a:r>
            <a:r>
              <a:rPr sz="725" i="0">
                <a:solidFill>
                  <a:srgbClr val="C3A6FF"/>
                </a:solidFill>
                <a:latin typeface="Inconsolata"/>
              </a:rPr>
              <a:t>str</a:t>
            </a:r>
            <a:r>
              <a:rPr sz="725" i="0">
                <a:solidFill>
                  <a:srgbClr val="E6EDF3"/>
                </a:solidFill>
                <a:latin typeface="Inconsolata"/>
              </a:rPr>
              <a:t>) -&gt; </a:t>
            </a:r>
            <a:r>
              <a:rPr sz="725" i="0">
                <a:solidFill>
                  <a:srgbClr val="FF8E6E"/>
                </a:solidFill>
                <a:latin typeface="Inconsolata"/>
              </a:rPr>
              <a:t>None</a:t>
            </a:r>
            <a:r>
              <a:rPr sz="725" i="0">
                <a:solidFill>
                  <a:srgbClr val="E6EDF3"/>
                </a:solidFill>
                <a:latin typeface="Inconsolata"/>
              </a:rPr>
              <a:t>: ...</a:t>
            </a:r>
          </a:p>
          <a:p>
            <a:pPr>
              <a:lnSpc>
                <a:spcPct val="103448"/>
              </a:lnSpc>
              <a:spcAft>
                <a:spcPts val="0"/>
              </a:spcAft>
            </a:pPr>
            <a:r>
              <a:rPr sz="725" i="0">
                <a:solidFill>
                  <a:srgbClr val="5C6773"/>
                </a:solidFill>
                <a:latin typeface="Inconsolata"/>
              </a:rPr>
              <a:t>22  </a:t>
            </a:r>
            <a:r>
              <a:rPr sz="725" i="0">
                <a:solidFill>
                  <a:srgbClr val="E6EDF3"/>
                </a:solidFill>
                <a:latin typeface="Inconsolata"/>
              </a:rPr>
              <a:t> </a:t>
            </a:r>
          </a:p>
          <a:p>
            <a:pPr>
              <a:lnSpc>
                <a:spcPct val="103448"/>
              </a:lnSpc>
              <a:spcAft>
                <a:spcPts val="0"/>
              </a:spcAft>
            </a:pPr>
            <a:r>
              <a:rPr sz="725" i="0">
                <a:solidFill>
                  <a:srgbClr val="5C6773"/>
                </a:solidFill>
                <a:latin typeface="Inconsolata"/>
              </a:rPr>
              <a:t>23  </a:t>
            </a:r>
            <a:r>
              <a:rPr sz="725" i="0">
                <a:solidFill>
                  <a:srgbClr val="E6EDF3"/>
                </a:solidFill>
                <a:latin typeface="Inconsolata"/>
              </a:rPr>
              <a:t>    </a:t>
            </a:r>
            <a:r>
              <a:rPr sz="725" i="0">
                <a:solidFill>
                  <a:srgbClr val="F9C97A"/>
                </a:solidFill>
                <a:latin typeface="Inconsolata"/>
              </a:rPr>
              <a:t>@abstractmethod</a:t>
            </a:r>
          </a:p>
          <a:p>
            <a:pPr>
              <a:lnSpc>
                <a:spcPct val="103448"/>
              </a:lnSpc>
              <a:spcAft>
                <a:spcPts val="0"/>
              </a:spcAft>
            </a:pPr>
            <a:r>
              <a:rPr sz="725" i="0">
                <a:solidFill>
                  <a:srgbClr val="5C6773"/>
                </a:solidFill>
                <a:latin typeface="Inconsolata"/>
              </a:rPr>
              <a:t>24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delete</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order_id: </a:t>
            </a:r>
            <a:r>
              <a:rPr sz="725" i="0">
                <a:solidFill>
                  <a:srgbClr val="C3A6FF"/>
                </a:solidFill>
                <a:latin typeface="Inconsolata"/>
              </a:rPr>
              <a:t>int</a:t>
            </a:r>
            <a:r>
              <a:rPr sz="725" i="0">
                <a:solidFill>
                  <a:srgbClr val="E6EDF3"/>
                </a:solidFill>
                <a:latin typeface="Inconsolata"/>
              </a:rPr>
              <a:t>) -&gt; </a:t>
            </a:r>
            <a:r>
              <a:rPr sz="725" i="0">
                <a:solidFill>
                  <a:srgbClr val="FF8E6E"/>
                </a:solidFill>
                <a:latin typeface="Inconsolata"/>
              </a:rPr>
              <a:t>None</a:t>
            </a:r>
            <a:r>
              <a:rPr sz="725" i="0">
                <a:solidFill>
                  <a:srgbClr val="E6EDF3"/>
                </a:solidFill>
                <a:latin typeface="Inconsolata"/>
              </a:rPr>
              <a:t>: ...</a:t>
            </a:r>
          </a:p>
          <a:p>
            <a:pPr>
              <a:lnSpc>
                <a:spcPct val="103448"/>
              </a:lnSpc>
              <a:spcAft>
                <a:spcPts val="0"/>
              </a:spcAft>
            </a:pPr>
            <a:r>
              <a:rPr sz="725" i="0">
                <a:solidFill>
                  <a:srgbClr val="5C6773"/>
                </a:solidFill>
                <a:latin typeface="Inconsolata"/>
              </a:rPr>
              <a:t>25  </a:t>
            </a:r>
            <a:r>
              <a:rPr sz="725" i="0">
                <a:solidFill>
                  <a:srgbClr val="E6EDF3"/>
                </a:solidFill>
                <a:latin typeface="Inconsolata"/>
              </a:rPr>
              <a:t> </a:t>
            </a:r>
          </a:p>
          <a:p>
            <a:pPr>
              <a:lnSpc>
                <a:spcPct val="103448"/>
              </a:lnSpc>
              <a:spcAft>
                <a:spcPts val="0"/>
              </a:spcAft>
            </a:pPr>
            <a:r>
              <a:rPr sz="725" i="0">
                <a:solidFill>
                  <a:srgbClr val="5C6773"/>
                </a:solidFill>
                <a:latin typeface="Inconsolata"/>
              </a:rPr>
              <a:t>26  </a:t>
            </a:r>
            <a:r>
              <a:rPr sz="725" i="0">
                <a:solidFill>
                  <a:srgbClr val="E6EDF3"/>
                </a:solidFill>
                <a:latin typeface="Inconsolata"/>
              </a:rPr>
              <a:t> </a:t>
            </a:r>
          </a:p>
          <a:p>
            <a:pPr>
              <a:lnSpc>
                <a:spcPct val="103448"/>
              </a:lnSpc>
              <a:spcAft>
                <a:spcPts val="0"/>
              </a:spcAft>
            </a:pPr>
            <a:r>
              <a:rPr sz="725" i="0">
                <a:solidFill>
                  <a:srgbClr val="5C6773"/>
                </a:solidFill>
                <a:latin typeface="Inconsolata"/>
              </a:rPr>
              <a:t>27  </a:t>
            </a: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ReportService</a:t>
            </a:r>
            <a:r>
              <a:rPr sz="725" i="0">
                <a:solidFill>
                  <a:srgbClr val="E6EDF3"/>
                </a:solidFill>
                <a:latin typeface="Inconsolata"/>
              </a:rPr>
              <a:t>:</a:t>
            </a:r>
          </a:p>
          <a:p>
            <a:pPr>
              <a:lnSpc>
                <a:spcPct val="103448"/>
              </a:lnSpc>
              <a:spcAft>
                <a:spcPts val="0"/>
              </a:spcAft>
            </a:pPr>
            <a:r>
              <a:rPr sz="725" i="0">
                <a:solidFill>
                  <a:srgbClr val="5C6773"/>
                </a:solidFill>
                <a:latin typeface="Inconsolata"/>
              </a:rPr>
              <a:t>28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__init__</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repo: </a:t>
            </a:r>
            <a:r>
              <a:rPr sz="725" i="0">
                <a:solidFill>
                  <a:srgbClr val="7FDBCA"/>
                </a:solidFill>
                <a:latin typeface="Inconsolata"/>
              </a:rPr>
              <a:t>OrderRepository</a:t>
            </a:r>
            <a:r>
              <a:rPr sz="725" i="0">
                <a:solidFill>
                  <a:srgbClr val="E6EDF3"/>
                </a:solidFill>
                <a:latin typeface="Inconsolata"/>
              </a:rPr>
              <a:t>):</a:t>
            </a:r>
          </a:p>
          <a:p>
            <a:pPr>
              <a:lnSpc>
                <a:spcPct val="103448"/>
              </a:lnSpc>
              <a:spcAft>
                <a:spcPts val="0"/>
              </a:spcAft>
            </a:pPr>
            <a:r>
              <a:rPr sz="725" i="0">
                <a:solidFill>
                  <a:srgbClr val="5C6773"/>
                </a:solidFill>
                <a:latin typeface="Inconsolata"/>
              </a:rPr>
              <a:t>29  </a:t>
            </a:r>
            <a:r>
              <a:rPr sz="725" i="0">
                <a:solidFill>
                  <a:srgbClr val="E6EDF3"/>
                </a:solidFill>
                <a:latin typeface="Inconsolata"/>
              </a:rPr>
              <a:t>        </a:t>
            </a:r>
            <a:r>
              <a:rPr sz="725" i="0">
                <a:solidFill>
                  <a:srgbClr val="C3A6FF"/>
                </a:solidFill>
                <a:latin typeface="Inconsolata"/>
              </a:rPr>
              <a:t>self</a:t>
            </a:r>
            <a:r>
              <a:rPr sz="725" i="0">
                <a:solidFill>
                  <a:srgbClr val="E6EDF3"/>
                </a:solidFill>
                <a:latin typeface="Inconsolata"/>
              </a:rPr>
              <a:t>.repo = repo</a:t>
            </a:r>
          </a:p>
        </p:txBody>
      </p:sp>
      <p:sp>
        <p:nvSpPr>
          <p:cNvPr id="29" name="Box 12"/>
          <p:cNvSpPr/>
          <p:nvPr/>
        </p:nvSpPr>
        <p:spPr>
          <a:xfrm>
            <a:off x="704088" y="2168271"/>
            <a:ext cx="7699248" cy="1707642"/>
          </a:xfrm>
          <a:prstGeom prst="roundRect">
            <a:avLst>
              <a:gd name="adj" fmla="val 267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9032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Interface Kegemukan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04-isp/before.py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3448"/>
              </a:lnSpc>
              <a:spcAft>
                <a:spcPts val="0"/>
              </a:spcAft>
            </a:pPr>
            <a:r>
              <a:rPr sz="725" i="0">
                <a:solidFill>
                  <a:srgbClr val="5C6773"/>
                </a:solidFill>
                <a:latin typeface="Inconsolata"/>
              </a:rPr>
              <a:t>31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total_revenue</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-&gt; </a:t>
            </a:r>
            <a:r>
              <a:rPr sz="725" i="0">
                <a:solidFill>
                  <a:srgbClr val="C3A6FF"/>
                </a:solidFill>
                <a:latin typeface="Inconsolata"/>
              </a:rPr>
              <a:t>int</a:t>
            </a:r>
            <a:r>
              <a:rPr sz="725" i="0">
                <a:solidFill>
                  <a:srgbClr val="E6EDF3"/>
                </a:solidFill>
                <a:latin typeface="Inconsolata"/>
              </a:rPr>
              <a:t>:</a:t>
            </a:r>
          </a:p>
          <a:p>
            <a:pPr>
              <a:lnSpc>
                <a:spcPct val="103448"/>
              </a:lnSpc>
              <a:spcAft>
                <a:spcPts val="0"/>
              </a:spcAft>
            </a:pPr>
            <a:r>
              <a:rPr sz="725" i="0">
                <a:solidFill>
                  <a:srgbClr val="5C6773"/>
                </a:solidFill>
                <a:latin typeface="Inconsolata"/>
              </a:rPr>
              <a:t>32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a:t>
            </a:r>
            <a:r>
              <a:rPr sz="725" i="0">
                <a:solidFill>
                  <a:srgbClr val="C3A6FF"/>
                </a:solidFill>
                <a:latin typeface="Inconsolata"/>
              </a:rPr>
              <a:t>sum</a:t>
            </a:r>
            <a:r>
              <a:rPr sz="725" i="0">
                <a:solidFill>
                  <a:srgbClr val="E6EDF3"/>
                </a:solidFill>
                <a:latin typeface="Inconsolata"/>
              </a:rPr>
              <a:t>(o[</a:t>
            </a:r>
            <a:r>
              <a:rPr sz="725" i="0">
                <a:solidFill>
                  <a:srgbClr val="A5D6A7"/>
                </a:solidFill>
                <a:latin typeface="Inconsolata"/>
              </a:rPr>
              <a:t>"total"</a:t>
            </a:r>
            <a:r>
              <a:rPr sz="725" i="0">
                <a:solidFill>
                  <a:srgbClr val="E6EDF3"/>
                </a:solidFill>
                <a:latin typeface="Inconsolata"/>
              </a:rPr>
              <a:t>] </a:t>
            </a:r>
            <a:r>
              <a:rPr sz="725" i="0">
                <a:solidFill>
                  <a:srgbClr val="FF8E6E"/>
                </a:solidFill>
                <a:latin typeface="Inconsolata"/>
              </a:rPr>
              <a:t>for</a:t>
            </a:r>
            <a:r>
              <a:rPr sz="725" i="0">
                <a:solidFill>
                  <a:srgbClr val="E6EDF3"/>
                </a:solidFill>
                <a:latin typeface="Inconsolata"/>
              </a:rPr>
              <a:t> o </a:t>
            </a:r>
            <a:r>
              <a:rPr sz="725" i="0">
                <a:solidFill>
                  <a:srgbClr val="FF8E6E"/>
                </a:solidFill>
                <a:latin typeface="Inconsolata"/>
              </a:rPr>
              <a:t>in</a:t>
            </a:r>
            <a:r>
              <a:rPr sz="725" i="0">
                <a:solidFill>
                  <a:srgbClr val="E6EDF3"/>
                </a:solidFill>
                <a:latin typeface="Inconsolata"/>
              </a:rPr>
              <a:t> </a:t>
            </a:r>
            <a:r>
              <a:rPr sz="725" i="0">
                <a:solidFill>
                  <a:srgbClr val="C3A6FF"/>
                </a:solidFill>
                <a:latin typeface="Inconsolata"/>
              </a:rPr>
              <a:t>self</a:t>
            </a:r>
            <a:r>
              <a:rPr sz="725" i="0">
                <a:solidFill>
                  <a:srgbClr val="E6EDF3"/>
                </a:solidFill>
                <a:latin typeface="Inconsolata"/>
              </a:rPr>
              <a:t>.repo.list_all())</a:t>
            </a:r>
          </a:p>
          <a:p>
            <a:pPr>
              <a:lnSpc>
                <a:spcPct val="103448"/>
              </a:lnSpc>
              <a:spcAft>
                <a:spcPts val="0"/>
              </a:spcAft>
            </a:pPr>
            <a:r>
              <a:rPr sz="725" i="0">
                <a:solidFill>
                  <a:srgbClr val="5C6773"/>
                </a:solidFill>
                <a:latin typeface="Inconsolata"/>
              </a:rPr>
              <a:t>33  </a:t>
            </a:r>
            <a:r>
              <a:rPr sz="725" i="0">
                <a:solidFill>
                  <a:srgbClr val="E6EDF3"/>
                </a:solidFill>
                <a:latin typeface="Inconsolata"/>
              </a:rPr>
              <a:t> </a:t>
            </a:r>
          </a:p>
          <a:p>
            <a:pPr>
              <a:lnSpc>
                <a:spcPct val="103448"/>
              </a:lnSpc>
              <a:spcAft>
                <a:spcPts val="0"/>
              </a:spcAft>
            </a:pPr>
            <a:r>
              <a:rPr sz="725" i="0">
                <a:solidFill>
                  <a:srgbClr val="5C6773"/>
                </a:solidFill>
                <a:latin typeface="Inconsolata"/>
              </a:rPr>
              <a:t>34  </a:t>
            </a:r>
            <a:r>
              <a:rPr sz="725" i="0">
                <a:solidFill>
                  <a:srgbClr val="E6EDF3"/>
                </a:solidFill>
                <a:latin typeface="Inconsolata"/>
              </a:rPr>
              <a:t> </a:t>
            </a:r>
          </a:p>
          <a:p>
            <a:pPr>
              <a:lnSpc>
                <a:spcPct val="103448"/>
              </a:lnSpc>
              <a:spcAft>
                <a:spcPts val="0"/>
              </a:spcAft>
            </a:pPr>
            <a:r>
              <a:rPr sz="725" i="0">
                <a:solidFill>
                  <a:srgbClr val="5C6773"/>
                </a:solidFill>
                <a:latin typeface="Inconsolata"/>
              </a:rPr>
              <a:t>35  </a:t>
            </a:r>
            <a:r>
              <a:rPr sz="725" i="0">
                <a:solidFill>
                  <a:srgbClr val="FF8E6E"/>
                </a:solidFill>
                <a:latin typeface="Inconsolata"/>
              </a:rPr>
              <a:t>class</a:t>
            </a:r>
            <a:r>
              <a:rPr sz="725" i="0">
                <a:solidFill>
                  <a:srgbClr val="E6EDF3"/>
                </a:solidFill>
                <a:latin typeface="Inconsolata"/>
              </a:rPr>
              <a:t> </a:t>
            </a:r>
            <a:r>
              <a:rPr sz="725" i="0">
                <a:solidFill>
                  <a:srgbClr val="7FDBCA"/>
                </a:solidFill>
                <a:latin typeface="Inconsolata"/>
              </a:rPr>
              <a:t>FakeRepoForReport</a:t>
            </a:r>
            <a:r>
              <a:rPr sz="725" i="0">
                <a:solidFill>
                  <a:srgbClr val="E6EDF3"/>
                </a:solidFill>
                <a:latin typeface="Inconsolata"/>
              </a:rPr>
              <a:t>(</a:t>
            </a:r>
            <a:r>
              <a:rPr sz="725" i="0">
                <a:solidFill>
                  <a:srgbClr val="7FDBCA"/>
                </a:solidFill>
                <a:latin typeface="Inconsolata"/>
              </a:rPr>
              <a:t>OrderRepository</a:t>
            </a:r>
            <a:r>
              <a:rPr sz="725" i="0">
                <a:solidFill>
                  <a:srgbClr val="E6EDF3"/>
                </a:solidFill>
                <a:latin typeface="Inconsolata"/>
              </a:rPr>
              <a:t>):</a:t>
            </a:r>
          </a:p>
          <a:p>
            <a:pPr>
              <a:lnSpc>
                <a:spcPct val="103448"/>
              </a:lnSpc>
              <a:spcAft>
                <a:spcPts val="0"/>
              </a:spcAft>
            </a:pPr>
            <a:r>
              <a:rPr sz="725" i="0">
                <a:solidFill>
                  <a:srgbClr val="5C6773"/>
                </a:solidFill>
                <a:latin typeface="Inconsolata"/>
              </a:rPr>
              <a:t>36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list_all</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a:t>
            </a:r>
          </a:p>
          <a:p>
            <a:pPr>
              <a:lnSpc>
                <a:spcPct val="103448"/>
              </a:lnSpc>
              <a:spcAft>
                <a:spcPts val="0"/>
              </a:spcAft>
            </a:pPr>
            <a:r>
              <a:rPr sz="725" i="0">
                <a:solidFill>
                  <a:srgbClr val="5C6773"/>
                </a:solidFill>
                <a:latin typeface="Inconsolata"/>
              </a:rPr>
              <a:t>37  </a:t>
            </a:r>
            <a:r>
              <a:rPr sz="725" i="0">
                <a:solidFill>
                  <a:srgbClr val="E6EDF3"/>
                </a:solidFill>
                <a:latin typeface="Inconsolata"/>
              </a:rPr>
              <a:t>        </a:t>
            </a:r>
            <a:r>
              <a:rPr sz="725" i="0">
                <a:solidFill>
                  <a:srgbClr val="FF8E6E"/>
                </a:solidFill>
                <a:latin typeface="Inconsolata"/>
              </a:rPr>
              <a:t>return</a:t>
            </a:r>
            <a:r>
              <a:rPr sz="725" i="0">
                <a:solidFill>
                  <a:srgbClr val="E6EDF3"/>
                </a:solidFill>
                <a:latin typeface="Inconsolata"/>
              </a:rPr>
              <a:t> [{</a:t>
            </a:r>
            <a:r>
              <a:rPr sz="725" i="0">
                <a:solidFill>
                  <a:srgbClr val="A5D6A7"/>
                </a:solidFill>
                <a:latin typeface="Inconsolata"/>
              </a:rPr>
              <a:t>"total"</a:t>
            </a:r>
            <a:r>
              <a:rPr sz="725" i="0">
                <a:solidFill>
                  <a:srgbClr val="E6EDF3"/>
                </a:solidFill>
                <a:latin typeface="Inconsolata"/>
              </a:rPr>
              <a:t>: </a:t>
            </a:r>
            <a:r>
              <a:rPr sz="725" i="0">
                <a:solidFill>
                  <a:srgbClr val="F9C97A"/>
                </a:solidFill>
                <a:latin typeface="Inconsolata"/>
              </a:rPr>
              <a:t>100_000</a:t>
            </a:r>
            <a:r>
              <a:rPr sz="725" i="0">
                <a:solidFill>
                  <a:srgbClr val="E6EDF3"/>
                </a:solidFill>
                <a:latin typeface="Inconsolata"/>
              </a:rPr>
              <a:t>}, {</a:t>
            </a:r>
            <a:r>
              <a:rPr sz="725" i="0">
                <a:solidFill>
                  <a:srgbClr val="A5D6A7"/>
                </a:solidFill>
                <a:latin typeface="Inconsolata"/>
              </a:rPr>
              <a:t>"total"</a:t>
            </a:r>
            <a:r>
              <a:rPr sz="725" i="0">
                <a:solidFill>
                  <a:srgbClr val="E6EDF3"/>
                </a:solidFill>
                <a:latin typeface="Inconsolata"/>
              </a:rPr>
              <a:t>: </a:t>
            </a:r>
            <a:r>
              <a:rPr sz="725" i="0">
                <a:solidFill>
                  <a:srgbClr val="F9C97A"/>
                </a:solidFill>
                <a:latin typeface="Inconsolata"/>
              </a:rPr>
              <a:t>250_000</a:t>
            </a:r>
            <a:r>
              <a:rPr sz="725" i="0">
                <a:solidFill>
                  <a:srgbClr val="E6EDF3"/>
                </a:solidFill>
                <a:latin typeface="Inconsolata"/>
              </a:rPr>
              <a:t>}]</a:t>
            </a:r>
          </a:p>
          <a:p>
            <a:pPr>
              <a:lnSpc>
                <a:spcPct val="103448"/>
              </a:lnSpc>
              <a:spcAft>
                <a:spcPts val="0"/>
              </a:spcAft>
            </a:pPr>
            <a:r>
              <a:rPr sz="725" i="0">
                <a:solidFill>
                  <a:srgbClr val="5C6773"/>
                </a:solidFill>
                <a:latin typeface="Inconsolata"/>
              </a:rPr>
              <a:t>38  </a:t>
            </a:r>
            <a:r>
              <a:rPr sz="725" i="0">
                <a:solidFill>
                  <a:srgbClr val="E6EDF3"/>
                </a:solidFill>
                <a:latin typeface="Inconsolata"/>
              </a:rPr>
              <a:t> </a:t>
            </a:r>
          </a:p>
          <a:p>
            <a:pPr>
              <a:lnSpc>
                <a:spcPct val="103448"/>
              </a:lnSpc>
              <a:spcAft>
                <a:spcPts val="0"/>
              </a:spcAft>
            </a:pPr>
            <a:r>
              <a:rPr sz="725" i="0">
                <a:solidFill>
                  <a:srgbClr val="5C6773"/>
                </a:solidFill>
                <a:latin typeface="Inconsolata"/>
              </a:rPr>
              <a:t>39  </a:t>
            </a:r>
            <a:r>
              <a:rPr sz="725" i="0">
                <a:solidFill>
                  <a:srgbClr val="E6EDF3"/>
                </a:solidFill>
                <a:latin typeface="Inconsolata"/>
              </a:rPr>
              <a:t>    </a:t>
            </a:r>
            <a:r>
              <a:rPr sz="725" i="1">
                <a:solidFill>
                  <a:srgbClr val="8B98A8"/>
                </a:solidFill>
                <a:latin typeface="Inconsolata"/>
              </a:rPr>
              <a:t># method di bawah tidak dipakai, tapi wajib ditulis</a:t>
            </a:r>
          </a:p>
          <a:p>
            <a:pPr>
              <a:lnSpc>
                <a:spcPct val="103448"/>
              </a:lnSpc>
              <a:spcAft>
                <a:spcPts val="0"/>
              </a:spcAft>
            </a:pPr>
            <a:r>
              <a:rPr sz="725" i="0">
                <a:solidFill>
                  <a:srgbClr val="5C6773"/>
                </a:solidFill>
                <a:latin typeface="Inconsolata"/>
              </a:rPr>
              <a:t>40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add</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a:t>
            </a:r>
          </a:p>
          <a:p>
            <a:pPr>
              <a:lnSpc>
                <a:spcPct val="103448"/>
              </a:lnSpc>
              <a:spcAft>
                <a:spcPts val="0"/>
              </a:spcAft>
            </a:pPr>
            <a:r>
              <a:rPr sz="725" i="0">
                <a:solidFill>
                  <a:srgbClr val="5C6773"/>
                </a:solidFill>
                <a:latin typeface="Inconsolata"/>
              </a:rPr>
              <a:t>41  </a:t>
            </a:r>
            <a:r>
              <a:rPr sz="725" i="0">
                <a:solidFill>
                  <a:srgbClr val="E6EDF3"/>
                </a:solidFill>
                <a:latin typeface="Inconsolata"/>
              </a:rPr>
              <a:t>        </a:t>
            </a:r>
            <a:r>
              <a:rPr sz="725" i="0">
                <a:solidFill>
                  <a:srgbClr val="FF8E6E"/>
                </a:solidFill>
                <a:latin typeface="Inconsolata"/>
              </a:rPr>
              <a:t>raise</a:t>
            </a:r>
            <a:r>
              <a:rPr sz="725" i="0">
                <a:solidFill>
                  <a:srgbClr val="E6EDF3"/>
                </a:solidFill>
                <a:latin typeface="Inconsolata"/>
              </a:rPr>
              <a:t> </a:t>
            </a:r>
            <a:r>
              <a:rPr sz="725" i="0">
                <a:solidFill>
                  <a:srgbClr val="7FDBCA"/>
                </a:solidFill>
                <a:latin typeface="Inconsolata"/>
              </a:rPr>
              <a:t>NotImplementedError</a:t>
            </a:r>
          </a:p>
          <a:p>
            <a:pPr>
              <a:lnSpc>
                <a:spcPct val="103448"/>
              </a:lnSpc>
              <a:spcAft>
                <a:spcPts val="0"/>
              </a:spcAft>
            </a:pPr>
            <a:r>
              <a:rPr sz="725" i="0">
                <a:solidFill>
                  <a:srgbClr val="5C6773"/>
                </a:solidFill>
                <a:latin typeface="Inconsolata"/>
              </a:rPr>
              <a:t>42  </a:t>
            </a:r>
            <a:r>
              <a:rPr sz="725" i="0">
                <a:solidFill>
                  <a:srgbClr val="E6EDF3"/>
                </a:solidFill>
                <a:latin typeface="Inconsolata"/>
              </a:rPr>
              <a:t> </a:t>
            </a:r>
          </a:p>
          <a:p>
            <a:pPr>
              <a:lnSpc>
                <a:spcPct val="103448"/>
              </a:lnSpc>
              <a:spcAft>
                <a:spcPts val="0"/>
              </a:spcAft>
            </a:pPr>
            <a:r>
              <a:rPr sz="725" i="0">
                <a:solidFill>
                  <a:srgbClr val="5C6773"/>
                </a:solidFill>
                <a:latin typeface="Inconsolata"/>
              </a:rPr>
              <a:t>43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get</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order_id):</a:t>
            </a:r>
          </a:p>
          <a:p>
            <a:pPr>
              <a:lnSpc>
                <a:spcPct val="103448"/>
              </a:lnSpc>
              <a:spcAft>
                <a:spcPts val="0"/>
              </a:spcAft>
            </a:pPr>
            <a:r>
              <a:rPr sz="725" i="0">
                <a:solidFill>
                  <a:srgbClr val="5C6773"/>
                </a:solidFill>
                <a:latin typeface="Inconsolata"/>
              </a:rPr>
              <a:t>44  </a:t>
            </a:r>
            <a:r>
              <a:rPr sz="725" i="0">
                <a:solidFill>
                  <a:srgbClr val="E6EDF3"/>
                </a:solidFill>
                <a:latin typeface="Inconsolata"/>
              </a:rPr>
              <a:t>        </a:t>
            </a:r>
            <a:r>
              <a:rPr sz="725" i="0">
                <a:solidFill>
                  <a:srgbClr val="FF8E6E"/>
                </a:solidFill>
                <a:latin typeface="Inconsolata"/>
              </a:rPr>
              <a:t>raise</a:t>
            </a:r>
            <a:r>
              <a:rPr sz="725" i="0">
                <a:solidFill>
                  <a:srgbClr val="E6EDF3"/>
                </a:solidFill>
                <a:latin typeface="Inconsolata"/>
              </a:rPr>
              <a:t> </a:t>
            </a:r>
            <a:r>
              <a:rPr sz="725" i="0">
                <a:solidFill>
                  <a:srgbClr val="7FDBCA"/>
                </a:solidFill>
                <a:latin typeface="Inconsolata"/>
              </a:rPr>
              <a:t>NotImplementedError</a:t>
            </a:r>
          </a:p>
          <a:p>
            <a:pPr>
              <a:lnSpc>
                <a:spcPct val="103448"/>
              </a:lnSpc>
              <a:spcAft>
                <a:spcPts val="0"/>
              </a:spcAft>
            </a:pPr>
            <a:r>
              <a:rPr sz="725" i="0">
                <a:solidFill>
                  <a:srgbClr val="5C6773"/>
                </a:solidFill>
                <a:latin typeface="Inconsolata"/>
              </a:rPr>
              <a:t>45  </a:t>
            </a:r>
            <a:r>
              <a:rPr sz="725" i="0">
                <a:solidFill>
                  <a:srgbClr val="E6EDF3"/>
                </a:solidFill>
                <a:latin typeface="Inconsolata"/>
              </a:rPr>
              <a:t> </a:t>
            </a:r>
          </a:p>
          <a:p>
            <a:pPr>
              <a:lnSpc>
                <a:spcPct val="103448"/>
              </a:lnSpc>
              <a:spcAft>
                <a:spcPts val="0"/>
              </a:spcAft>
            </a:pPr>
            <a:r>
              <a:rPr sz="725" i="0">
                <a:solidFill>
                  <a:srgbClr val="5C6773"/>
                </a:solidFill>
                <a:latin typeface="Inconsolata"/>
              </a:rPr>
              <a:t>46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update_status</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order_id, status):</a:t>
            </a:r>
          </a:p>
          <a:p>
            <a:pPr>
              <a:lnSpc>
                <a:spcPct val="103448"/>
              </a:lnSpc>
              <a:spcAft>
                <a:spcPts val="0"/>
              </a:spcAft>
            </a:pPr>
            <a:r>
              <a:rPr sz="725" i="0">
                <a:solidFill>
                  <a:srgbClr val="5C6773"/>
                </a:solidFill>
                <a:latin typeface="Inconsolata"/>
              </a:rPr>
              <a:t>47  </a:t>
            </a:r>
            <a:r>
              <a:rPr sz="725" i="0">
                <a:solidFill>
                  <a:srgbClr val="E6EDF3"/>
                </a:solidFill>
                <a:latin typeface="Inconsolata"/>
              </a:rPr>
              <a:t>        </a:t>
            </a:r>
            <a:r>
              <a:rPr sz="725" i="0">
                <a:solidFill>
                  <a:srgbClr val="FF8E6E"/>
                </a:solidFill>
                <a:latin typeface="Inconsolata"/>
              </a:rPr>
              <a:t>raise</a:t>
            </a:r>
            <a:r>
              <a:rPr sz="725" i="0">
                <a:solidFill>
                  <a:srgbClr val="E6EDF3"/>
                </a:solidFill>
                <a:latin typeface="Inconsolata"/>
              </a:rPr>
              <a:t> </a:t>
            </a:r>
            <a:r>
              <a:rPr sz="725" i="0">
                <a:solidFill>
                  <a:srgbClr val="7FDBCA"/>
                </a:solidFill>
                <a:latin typeface="Inconsolata"/>
              </a:rPr>
              <a:t>NotImplementedError</a:t>
            </a:r>
          </a:p>
          <a:p>
            <a:pPr>
              <a:lnSpc>
                <a:spcPct val="103448"/>
              </a:lnSpc>
              <a:spcAft>
                <a:spcPts val="0"/>
              </a:spcAft>
            </a:pPr>
            <a:r>
              <a:rPr sz="725" i="0">
                <a:solidFill>
                  <a:srgbClr val="5C6773"/>
                </a:solidFill>
                <a:latin typeface="Inconsolata"/>
              </a:rPr>
              <a:t>48  </a:t>
            </a:r>
            <a:r>
              <a:rPr sz="725" i="0">
                <a:solidFill>
                  <a:srgbClr val="E6EDF3"/>
                </a:solidFill>
                <a:latin typeface="Inconsolata"/>
              </a:rPr>
              <a:t> </a:t>
            </a:r>
          </a:p>
          <a:p>
            <a:pPr>
              <a:lnSpc>
                <a:spcPct val="103448"/>
              </a:lnSpc>
              <a:spcAft>
                <a:spcPts val="0"/>
              </a:spcAft>
            </a:pPr>
            <a:r>
              <a:rPr sz="725" i="0">
                <a:solidFill>
                  <a:srgbClr val="5C6773"/>
                </a:solidFill>
                <a:latin typeface="Inconsolata"/>
              </a:rPr>
              <a:t>49  </a:t>
            </a:r>
            <a:r>
              <a:rPr sz="725" i="0">
                <a:solidFill>
                  <a:srgbClr val="E6EDF3"/>
                </a:solidFill>
                <a:latin typeface="Inconsolata"/>
              </a:rPr>
              <a:t>    </a:t>
            </a:r>
            <a:r>
              <a:rPr sz="725" i="0">
                <a:solidFill>
                  <a:srgbClr val="FF8E6E"/>
                </a:solidFill>
                <a:latin typeface="Inconsolata"/>
              </a:rPr>
              <a:t>def</a:t>
            </a:r>
            <a:r>
              <a:rPr sz="725" i="0">
                <a:solidFill>
                  <a:srgbClr val="E6EDF3"/>
                </a:solidFill>
                <a:latin typeface="Inconsolata"/>
              </a:rPr>
              <a:t> </a:t>
            </a:r>
            <a:r>
              <a:rPr sz="725" i="0">
                <a:solidFill>
                  <a:srgbClr val="82B1FF"/>
                </a:solidFill>
                <a:latin typeface="Inconsolata"/>
              </a:rPr>
              <a:t>delete</a:t>
            </a:r>
            <a:r>
              <a:rPr sz="725" i="0">
                <a:solidFill>
                  <a:srgbClr val="E6EDF3"/>
                </a:solidFill>
                <a:latin typeface="Inconsolata"/>
              </a:rPr>
              <a:t>(</a:t>
            </a:r>
            <a:r>
              <a:rPr sz="725" i="0">
                <a:solidFill>
                  <a:srgbClr val="C3A6FF"/>
                </a:solidFill>
                <a:latin typeface="Inconsolata"/>
              </a:rPr>
              <a:t>self</a:t>
            </a:r>
            <a:r>
              <a:rPr sz="725" i="0">
                <a:solidFill>
                  <a:srgbClr val="E6EDF3"/>
                </a:solidFill>
                <a:latin typeface="Inconsolata"/>
              </a:rPr>
              <a:t>, order_id):</a:t>
            </a:r>
          </a:p>
          <a:p>
            <a:pPr>
              <a:lnSpc>
                <a:spcPct val="103448"/>
              </a:lnSpc>
              <a:spcAft>
                <a:spcPts val="0"/>
              </a:spcAft>
            </a:pPr>
            <a:r>
              <a:rPr sz="725" i="0">
                <a:solidFill>
                  <a:srgbClr val="5C6773"/>
                </a:solidFill>
                <a:latin typeface="Inconsolata"/>
              </a:rPr>
              <a:t>50  </a:t>
            </a:r>
            <a:r>
              <a:rPr sz="725" i="0">
                <a:solidFill>
                  <a:srgbClr val="E6EDF3"/>
                </a:solidFill>
                <a:latin typeface="Inconsolata"/>
              </a:rPr>
              <a:t>        </a:t>
            </a:r>
            <a:r>
              <a:rPr sz="725" i="0">
                <a:solidFill>
                  <a:srgbClr val="FF8E6E"/>
                </a:solidFill>
                <a:latin typeface="Inconsolata"/>
              </a:rPr>
              <a:t>raise</a:t>
            </a:r>
            <a:r>
              <a:rPr sz="725" i="0">
                <a:solidFill>
                  <a:srgbClr val="E6EDF3"/>
                </a:solidFill>
                <a:latin typeface="Inconsolata"/>
              </a:rPr>
              <a:t> </a:t>
            </a:r>
            <a:r>
              <a:rPr sz="725" i="0">
                <a:solidFill>
                  <a:srgbClr val="7FDBCA"/>
                </a:solidFill>
                <a:latin typeface="Inconsolata"/>
              </a:rPr>
              <a:t>NotImplementedError</a:t>
            </a:r>
          </a:p>
          <a:p>
            <a:pPr>
              <a:lnSpc>
                <a:spcPct val="103448"/>
              </a:lnSpc>
              <a:spcAft>
                <a:spcPts val="0"/>
              </a:spcAft>
            </a:pPr>
            <a:r>
              <a:rPr sz="725" i="0">
                <a:solidFill>
                  <a:srgbClr val="5C6773"/>
                </a:solidFill>
                <a:latin typeface="Inconsolata"/>
              </a:rPr>
              <a:t>51  </a:t>
            </a:r>
            <a:r>
              <a:rPr sz="725" i="0">
                <a:solidFill>
                  <a:srgbClr val="E6EDF3"/>
                </a:solidFill>
                <a:latin typeface="Inconsolata"/>
              </a:rPr>
              <a:t> </a:t>
            </a:r>
          </a:p>
          <a:p>
            <a:pPr>
              <a:lnSpc>
                <a:spcPct val="103448"/>
              </a:lnSpc>
              <a:spcAft>
                <a:spcPts val="0"/>
              </a:spcAft>
            </a:pPr>
            <a:r>
              <a:rPr sz="725" i="0">
                <a:solidFill>
                  <a:srgbClr val="5C6773"/>
                </a:solidFill>
                <a:latin typeface="Inconsolata"/>
              </a:rPr>
              <a:t>52  </a:t>
            </a:r>
            <a:r>
              <a:rPr sz="725" i="0">
                <a:solidFill>
                  <a:srgbClr val="E6EDF3"/>
                </a:solidFill>
                <a:latin typeface="Inconsolata"/>
              </a:rPr>
              <a:t> </a:t>
            </a:r>
          </a:p>
          <a:p>
            <a:pPr>
              <a:lnSpc>
                <a:spcPct val="103448"/>
              </a:lnSpc>
              <a:spcAft>
                <a:spcPts val="0"/>
              </a:spcAft>
            </a:pPr>
            <a:r>
              <a:rPr sz="725" i="0">
                <a:solidFill>
                  <a:srgbClr val="5C6773"/>
                </a:solidFill>
                <a:latin typeface="Inconsolata"/>
              </a:rPr>
              <a:t>53  </a:t>
            </a:r>
            <a:r>
              <a:rPr sz="725" i="0">
                <a:solidFill>
                  <a:srgbClr val="FF8E6E"/>
                </a:solidFill>
                <a:latin typeface="Inconsolata"/>
              </a:rPr>
              <a:t>if</a:t>
            </a:r>
            <a:r>
              <a:rPr sz="725" i="0">
                <a:solidFill>
                  <a:srgbClr val="E6EDF3"/>
                </a:solidFill>
                <a:latin typeface="Inconsolata"/>
              </a:rPr>
              <a:t> __name__ == </a:t>
            </a:r>
            <a:r>
              <a:rPr sz="725" i="0">
                <a:solidFill>
                  <a:srgbClr val="A5D6A7"/>
                </a:solidFill>
                <a:latin typeface="Inconsolata"/>
              </a:rPr>
              <a:t>"__main__"</a:t>
            </a:r>
            <a:r>
              <a:rPr sz="725" i="0">
                <a:solidFill>
                  <a:srgbClr val="E6EDF3"/>
                </a:solidFill>
                <a:latin typeface="Inconsolata"/>
              </a:rPr>
              <a:t>:</a:t>
            </a:r>
          </a:p>
          <a:p>
            <a:pPr>
              <a:lnSpc>
                <a:spcPct val="103448"/>
              </a:lnSpc>
              <a:spcAft>
                <a:spcPts val="0"/>
              </a:spcAft>
            </a:pPr>
            <a:r>
              <a:rPr sz="725" i="0">
                <a:solidFill>
                  <a:srgbClr val="5C6773"/>
                </a:solidFill>
                <a:latin typeface="Inconsolata"/>
              </a:rPr>
              <a:t>54  </a:t>
            </a:r>
            <a:r>
              <a:rPr sz="725" i="0">
                <a:solidFill>
                  <a:srgbClr val="E6EDF3"/>
                </a:solidFill>
                <a:latin typeface="Inconsolata"/>
              </a:rPr>
              <a:t>    </a:t>
            </a:r>
            <a:r>
              <a:rPr sz="725" i="0">
                <a:solidFill>
                  <a:srgbClr val="C3A6FF"/>
                </a:solidFill>
                <a:latin typeface="Inconsolata"/>
              </a:rPr>
              <a:t>print</a:t>
            </a:r>
            <a:r>
              <a:rPr sz="725" i="0">
                <a:solidFill>
                  <a:srgbClr val="E6EDF3"/>
                </a:solidFill>
                <a:latin typeface="Inconsolata"/>
              </a:rPr>
              <a:t>(</a:t>
            </a:r>
            <a:r>
              <a:rPr sz="725" i="0">
                <a:solidFill>
                  <a:srgbClr val="7FDBCA"/>
                </a:solidFill>
                <a:latin typeface="Inconsolata"/>
              </a:rPr>
              <a:t>ReportService</a:t>
            </a:r>
            <a:r>
              <a:rPr sz="725" i="0">
                <a:solidFill>
                  <a:srgbClr val="E6EDF3"/>
                </a:solidFill>
                <a:latin typeface="Inconsolata"/>
              </a:rPr>
              <a:t>(</a:t>
            </a:r>
            <a:r>
              <a:rPr sz="725" i="0">
                <a:solidFill>
                  <a:srgbClr val="7FDBCA"/>
                </a:solidFill>
                <a:latin typeface="Inconsolata"/>
              </a:rPr>
              <a:t>FakeRepoForReport</a:t>
            </a:r>
            <a:r>
              <a:rPr sz="725" i="0">
                <a:solidFill>
                  <a:srgbClr val="E6EDF3"/>
                </a:solidFill>
                <a:latin typeface="Inconsolata"/>
              </a:rPr>
              <a:t>()).total_revenue())</a:t>
            </a:r>
          </a:p>
        </p:txBody>
      </p:sp>
      <p:sp>
        <p:nvSpPr>
          <p:cNvPr id="29" name="Box 12"/>
          <p:cNvSpPr/>
          <p:nvPr/>
        </p:nvSpPr>
        <p:spPr>
          <a:xfrm>
            <a:off x="704088" y="1939671"/>
            <a:ext cx="7699248" cy="107442"/>
          </a:xfrm>
          <a:prstGeom prst="roundRect">
            <a:avLst>
              <a:gd name="adj" fmla="val 42553"/>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18745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1" name="Box 14"/>
          <p:cNvSpPr/>
          <p:nvPr/>
        </p:nvSpPr>
        <p:spPr>
          <a:xfrm>
            <a:off x="704088" y="2739771"/>
            <a:ext cx="7699248" cy="1250442"/>
          </a:xfrm>
          <a:prstGeom prst="roundRect">
            <a:avLst>
              <a:gd name="adj" fmla="val 365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24612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04-isp/before.py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sesi-02-solid-clean-architecture/04-isp</a:t>
            </a:r>
          </a:p>
          <a:p>
            <a:pPr>
              <a:lnSpc>
                <a:spcPct val="107527"/>
              </a:lnSpc>
              <a:spcAft>
                <a:spcPts val="0"/>
              </a:spcAft>
            </a:pPr>
            <a:r>
              <a:rPr sz="775" i="0">
                <a:solidFill>
                  <a:srgbClr val="82B1FF"/>
                </a:solidFill>
                <a:latin typeface="Inconsolata"/>
              </a:rPr>
              <a:t>$ python before.py</a:t>
            </a:r>
          </a:p>
        </p:txBody>
      </p:sp>
      <p:pic>
        <p:nvPicPr>
          <p:cNvPr id="29" name="Image 12" descr="s02-04-isp-before.png"/>
          <p:cNvPicPr>
            <a:picLocks noChangeAspect="1"/>
          </p:cNvPicPr>
          <p:nvPr/>
        </p:nvPicPr>
        <p:blipFill>
          <a:blip r:embed="rId2"/>
          <a:stretch>
            <a:fillRect/>
          </a:stretch>
        </p:blipFill>
        <p:spPr>
          <a:xfrm>
            <a:off x="621792" y="2240280"/>
            <a:ext cx="4297680" cy="90525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Satu interface berisi 5 method untuk semua kebutuhan (baris 10-24)</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ReportService</a:t>
            </a:r>
            <a:r>
              <a:rPr sz="950" b="0" i="0">
                <a:solidFill>
                  <a:srgbClr val="434343"/>
                </a:solidFill>
                <a:latin typeface="Inter"/>
              </a:rPr>
              <a:t> cuma memakai </a:t>
            </a:r>
            <a:r>
              <a:rPr sz="950" b="0" i="0">
                <a:solidFill>
                  <a:srgbClr val="B5482A"/>
                </a:solidFill>
                <a:latin typeface="Inconsolata"/>
              </a:rPr>
              <a:t>list_all()</a:t>
            </a:r>
            <a:r>
              <a:rPr sz="950" b="0" i="0">
                <a:solidFill>
                  <a:srgbClr val="434343"/>
                </a:solidFill>
                <a:latin typeface="Inter"/>
              </a:rPr>
              <a:t> (baris 32)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Fake untuk test wajib mengisi method yang tidak dipakai (baris 39-50)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29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Interface Sesuai Kebutuhan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04-isp/after.py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 7  </a:t>
            </a:r>
            <a:r>
              <a:rPr sz="850" i="0">
                <a:solidFill>
                  <a:srgbClr val="FF8E6E"/>
                </a:solidFill>
                <a:latin typeface="Inconsolata"/>
              </a:rPr>
              <a:t>from</a:t>
            </a:r>
            <a:r>
              <a:rPr sz="850" i="0">
                <a:solidFill>
                  <a:srgbClr val="E6EDF3"/>
                </a:solidFill>
                <a:latin typeface="Inconsolata"/>
              </a:rPr>
              <a:t> typing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Protocol</a:t>
            </a:r>
          </a:p>
          <a:p>
            <a:pPr>
              <a:lnSpc>
                <a:spcPct val="107843"/>
              </a:lnSpc>
              <a:spcAft>
                <a:spcPts val="0"/>
              </a:spcAft>
            </a:pPr>
            <a:r>
              <a:rPr sz="850" i="0">
                <a:solidFill>
                  <a:srgbClr val="5C6773"/>
                </a:solidFill>
                <a:latin typeface="Inconsolata"/>
              </a:rPr>
              <a:t> 8  </a:t>
            </a:r>
            <a:r>
              <a:rPr sz="850" i="0">
                <a:solidFill>
                  <a:srgbClr val="E6EDF3"/>
                </a:solidFill>
                <a:latin typeface="Inconsolata"/>
              </a:rPr>
              <a:t> </a:t>
            </a:r>
          </a:p>
          <a:p>
            <a:pPr>
              <a:lnSpc>
                <a:spcPct val="107843"/>
              </a:lnSpc>
              <a:spcAft>
                <a:spcPts val="0"/>
              </a:spcAft>
            </a:pPr>
            <a:r>
              <a:rPr sz="850" i="0">
                <a:solidFill>
                  <a:srgbClr val="5C6773"/>
                </a:solidFill>
                <a:latin typeface="Inconsolata"/>
              </a:rPr>
              <a:t> 9  </a:t>
            </a:r>
            <a:r>
              <a:rPr sz="850" i="0">
                <a:solidFill>
                  <a:srgbClr val="E6EDF3"/>
                </a:solidFill>
                <a:latin typeface="Inconsolata"/>
              </a:rPr>
              <a:t> </a:t>
            </a:r>
          </a:p>
          <a:p>
            <a:pPr>
              <a:lnSpc>
                <a:spcPct val="107843"/>
              </a:lnSpc>
              <a:spcAft>
                <a:spcPts val="0"/>
              </a:spcAft>
            </a:pPr>
            <a:r>
              <a:rPr sz="850" i="0">
                <a:solidFill>
                  <a:srgbClr val="5C6773"/>
                </a:solidFill>
                <a:latin typeface="Inconsolata"/>
              </a:rPr>
              <a:t>10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OrderReader</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order_id: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 | </a:t>
            </a:r>
            <a:r>
              <a:rPr sz="850" i="0">
                <a:solidFill>
                  <a:srgbClr val="FF8E6E"/>
                </a:solidFill>
                <a:latin typeface="Inconsolata"/>
              </a:rPr>
              <a:t>None</a:t>
            </a:r>
            <a:r>
              <a:rPr sz="850" i="0">
                <a:solidFill>
                  <a:srgbClr val="E6EDF3"/>
                </a:solidFill>
                <a:latin typeface="Inconsolata"/>
              </a:rPr>
              <a:t>: ...</a:t>
            </a:r>
          </a:p>
          <a:p>
            <a:pPr>
              <a:lnSpc>
                <a:spcPct val="107843"/>
              </a:lnSpc>
              <a:spcAft>
                <a:spcPts val="0"/>
              </a:spcAft>
            </a:pPr>
            <a:r>
              <a:rPr sz="850" i="0">
                <a:solidFill>
                  <a:srgbClr val="5C6773"/>
                </a:solidFill>
                <a:latin typeface="Inconsolata"/>
              </a:rPr>
              <a:t>12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list_all</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-&gt;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dict</a:t>
            </a:r>
            <a:r>
              <a:rPr sz="850" i="0">
                <a:solidFill>
                  <a:srgbClr val="E6EDF3"/>
                </a:solidFill>
                <a:latin typeface="Inconsolata"/>
              </a:rPr>
              <a:t>]: ...</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p>
          <a:p>
            <a:pPr>
              <a:lnSpc>
                <a:spcPct val="107843"/>
              </a:lnSpc>
              <a:spcAft>
                <a:spcPts val="0"/>
              </a:spcAft>
            </a:pPr>
            <a:r>
              <a:rPr sz="850" i="0">
                <a:solidFill>
                  <a:srgbClr val="5C6773"/>
                </a:solidFill>
                <a:latin typeface="Inconsolata"/>
              </a:rPr>
              <a:t>15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OrderWriter</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 </a:t>
            </a:r>
            <a:r>
              <a:rPr sz="850" i="0">
                <a:solidFill>
                  <a:srgbClr val="C3A6FF"/>
                </a:solidFill>
                <a:latin typeface="Inconsolata"/>
              </a:rPr>
              <a:t>dict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 ...</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update_status</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order_id: </a:t>
            </a:r>
            <a:r>
              <a:rPr sz="850" i="0">
                <a:solidFill>
                  <a:srgbClr val="C3A6FF"/>
                </a:solidFill>
                <a:latin typeface="Inconsolata"/>
              </a:rPr>
              <a:t>int</a:t>
            </a:r>
            <a:r>
              <a:rPr sz="850" i="0">
                <a:solidFill>
                  <a:srgbClr val="E6EDF3"/>
                </a:solidFill>
                <a:latin typeface="Inconsolata"/>
              </a:rPr>
              <a:t>, status: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 ...</a:t>
            </a:r>
          </a:p>
        </p:txBody>
      </p:sp>
      <p:sp>
        <p:nvSpPr>
          <p:cNvPr id="29" name="Box 12"/>
          <p:cNvSpPr/>
          <p:nvPr/>
        </p:nvSpPr>
        <p:spPr>
          <a:xfrm>
            <a:off x="704088" y="2247773"/>
            <a:ext cx="7699248" cy="1109218"/>
          </a:xfrm>
          <a:prstGeom prst="roundRect">
            <a:avLst>
              <a:gd name="adj" fmla="val 41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6835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Interface Sesuai Kebutuhan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04-isp/after.py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20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ReportService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reader: </a:t>
            </a:r>
            <a:r>
              <a:rPr sz="850" i="0">
                <a:solidFill>
                  <a:srgbClr val="7FDBCA"/>
                </a:solidFill>
                <a:latin typeface="Inconsolata"/>
              </a:rPr>
              <a:t>OrderReader</a:t>
            </a:r>
            <a:r>
              <a:rPr sz="850" i="0">
                <a:solidFill>
                  <a:srgbClr val="E6EDF3"/>
                </a:solidFill>
                <a:latin typeface="Inconsolata"/>
              </a:rPr>
              <a:t>):</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.reader = reader</a:t>
            </a:r>
          </a:p>
          <a:p>
            <a:pPr>
              <a:lnSpc>
                <a:spcPct val="107843"/>
              </a:lnSpc>
              <a:spcAft>
                <a:spcPts val="0"/>
              </a:spcAft>
            </a:pPr>
            <a:r>
              <a:rPr sz="850" i="0">
                <a:solidFill>
                  <a:srgbClr val="5C6773"/>
                </a:solidFill>
                <a:latin typeface="Inconsolata"/>
              </a:rPr>
              <a:t>23  </a:t>
            </a:r>
            <a:r>
              <a:rPr sz="850" i="0">
                <a:solidFill>
                  <a:srgbClr val="E6EDF3"/>
                </a:solidFill>
                <a:latin typeface="Inconsolata"/>
              </a:rPr>
              <a:t> </a:t>
            </a:r>
          </a:p>
          <a:p>
            <a:pPr>
              <a:lnSpc>
                <a:spcPct val="107843"/>
              </a:lnSpc>
              <a:spcAft>
                <a:spcPts val="0"/>
              </a:spcAft>
            </a:pPr>
            <a:r>
              <a:rPr sz="850" i="0">
                <a:solidFill>
                  <a:srgbClr val="5C6773"/>
                </a:solidFill>
                <a:latin typeface="Inconsolata"/>
              </a:rPr>
              <a:t>24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total_revenue</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25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C3A6FF"/>
                </a:solidFill>
                <a:latin typeface="Inconsolata"/>
              </a:rPr>
              <a:t>sum</a:t>
            </a:r>
            <a:r>
              <a:rPr sz="850" i="0">
                <a:solidFill>
                  <a:srgbClr val="E6EDF3"/>
                </a:solidFill>
                <a:latin typeface="Inconsolata"/>
              </a:rPr>
              <a:t>(o[</a:t>
            </a:r>
            <a:r>
              <a:rPr sz="850" i="0">
                <a:solidFill>
                  <a:srgbClr val="A5D6A7"/>
                </a:solidFill>
                <a:latin typeface="Inconsolata"/>
              </a:rPr>
              <a:t>"total"</a:t>
            </a:r>
            <a:r>
              <a:rPr sz="850" i="0">
                <a:solidFill>
                  <a:srgbClr val="E6EDF3"/>
                </a:solidFill>
                <a:latin typeface="Inconsolata"/>
              </a:rPr>
              <a:t>] </a:t>
            </a:r>
            <a:r>
              <a:rPr sz="850" i="0">
                <a:solidFill>
                  <a:srgbClr val="FF8E6E"/>
                </a:solidFill>
                <a:latin typeface="Inconsolata"/>
              </a:rPr>
              <a:t>for</a:t>
            </a:r>
            <a:r>
              <a:rPr sz="850" i="0">
                <a:solidFill>
                  <a:srgbClr val="E6EDF3"/>
                </a:solidFill>
                <a:latin typeface="Inconsolata"/>
              </a:rPr>
              <a:t> o </a:t>
            </a:r>
            <a:r>
              <a:rPr sz="850" i="0">
                <a:solidFill>
                  <a:srgbClr val="FF8E6E"/>
                </a:solidFill>
                <a:latin typeface="Inconsolata"/>
              </a:rPr>
              <a:t>in</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.reader.list_all())</a:t>
            </a:r>
          </a:p>
          <a:p>
            <a:pPr>
              <a:lnSpc>
                <a:spcPct val="107843"/>
              </a:lnSpc>
              <a:spcAft>
                <a:spcPts val="0"/>
              </a:spcAft>
            </a:pPr>
            <a:r>
              <a:rPr sz="850" i="0">
                <a:solidFill>
                  <a:srgbClr val="5C6773"/>
                </a:solidFill>
                <a:latin typeface="Inconsolata"/>
              </a:rPr>
              <a:t>26  </a:t>
            </a:r>
            <a:r>
              <a:rPr sz="850" i="0">
                <a:solidFill>
                  <a:srgbClr val="E6EDF3"/>
                </a:solidFill>
                <a:latin typeface="Inconsolata"/>
              </a:rPr>
              <a:t> </a:t>
            </a:r>
          </a:p>
          <a:p>
            <a:pPr>
              <a:lnSpc>
                <a:spcPct val="107843"/>
              </a:lnSpc>
              <a:spcAft>
                <a:spcPts val="0"/>
              </a:spcAft>
            </a:pPr>
            <a:r>
              <a:rPr sz="850" i="0">
                <a:solidFill>
                  <a:srgbClr val="5C6773"/>
                </a:solidFill>
                <a:latin typeface="Inconsolata"/>
              </a:rPr>
              <a:t>27  </a:t>
            </a:r>
            <a:r>
              <a:rPr sz="850" i="0">
                <a:solidFill>
                  <a:srgbClr val="E6EDF3"/>
                </a:solidFill>
                <a:latin typeface="Inconsolata"/>
              </a:rPr>
              <a:t> </a:t>
            </a:r>
          </a:p>
          <a:p>
            <a:pPr>
              <a:lnSpc>
                <a:spcPct val="107843"/>
              </a:lnSpc>
              <a:spcAft>
                <a:spcPts val="0"/>
              </a:spcAft>
            </a:pPr>
            <a:r>
              <a:rPr sz="850" i="0">
                <a:solidFill>
                  <a:srgbClr val="5C6773"/>
                </a:solidFill>
                <a:latin typeface="Inconsolata"/>
              </a:rPr>
              <a:t>28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FakeReader</a:t>
            </a:r>
            <a:r>
              <a:rPr sz="850" i="0">
                <a:solidFill>
                  <a:srgbClr val="E6EDF3"/>
                </a:solidFill>
                <a:latin typeface="Inconsolata"/>
              </a:rPr>
              <a:t>:</a:t>
            </a:r>
          </a:p>
          <a:p>
            <a:pPr>
              <a:lnSpc>
                <a:spcPct val="107843"/>
              </a:lnSpc>
              <a:spcAft>
                <a:spcPts val="0"/>
              </a:spcAft>
            </a:pPr>
            <a:r>
              <a:rPr sz="850" i="0">
                <a:solidFill>
                  <a:srgbClr val="5C6773"/>
                </a:solidFill>
                <a:latin typeface="Inconsolata"/>
              </a:rPr>
              <a:t>29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list_all</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30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A5D6A7"/>
                </a:solidFill>
                <a:latin typeface="Inconsolata"/>
              </a:rPr>
              <a:t>"total"</a:t>
            </a:r>
            <a:r>
              <a:rPr sz="850" i="0">
                <a:solidFill>
                  <a:srgbClr val="E6EDF3"/>
                </a:solidFill>
                <a:latin typeface="Inconsolata"/>
              </a:rPr>
              <a:t>: </a:t>
            </a:r>
            <a:r>
              <a:rPr sz="850" i="0">
                <a:solidFill>
                  <a:srgbClr val="F9C97A"/>
                </a:solidFill>
                <a:latin typeface="Inconsolata"/>
              </a:rPr>
              <a:t>100_000</a:t>
            </a:r>
            <a:r>
              <a:rPr sz="850" i="0">
                <a:solidFill>
                  <a:srgbClr val="E6EDF3"/>
                </a:solidFill>
                <a:latin typeface="Inconsolata"/>
              </a:rPr>
              <a:t>}, {</a:t>
            </a:r>
            <a:r>
              <a:rPr sz="850" i="0">
                <a:solidFill>
                  <a:srgbClr val="A5D6A7"/>
                </a:solidFill>
                <a:latin typeface="Inconsolata"/>
              </a:rPr>
              <a:t>"total"</a:t>
            </a:r>
            <a:r>
              <a:rPr sz="850" i="0">
                <a:solidFill>
                  <a:srgbClr val="E6EDF3"/>
                </a:solidFill>
                <a:latin typeface="Inconsolata"/>
              </a:rPr>
              <a:t>: </a:t>
            </a:r>
            <a:r>
              <a:rPr sz="850" i="0">
                <a:solidFill>
                  <a:srgbClr val="F9C97A"/>
                </a:solidFill>
                <a:latin typeface="Inconsolata"/>
              </a:rPr>
              <a:t>250_000</a:t>
            </a:r>
            <a:r>
              <a:rPr sz="850" i="0">
                <a:solidFill>
                  <a:srgbClr val="E6EDF3"/>
                </a:solidFill>
                <a:latin typeface="Inconsolata"/>
              </a:rPr>
              <a:t>}]</a:t>
            </a:r>
          </a:p>
          <a:p>
            <a:pPr>
              <a:lnSpc>
                <a:spcPct val="107843"/>
              </a:lnSpc>
              <a:spcAft>
                <a:spcPts val="0"/>
              </a:spcAft>
            </a:pPr>
            <a:r>
              <a:rPr sz="850" i="0">
                <a:solidFill>
                  <a:srgbClr val="5C6773"/>
                </a:solidFill>
                <a:latin typeface="Inconsolata"/>
              </a:rPr>
              <a:t>31  </a:t>
            </a:r>
            <a:r>
              <a:rPr sz="850" i="0">
                <a:solidFill>
                  <a:srgbClr val="E6EDF3"/>
                </a:solidFill>
                <a:latin typeface="Inconsolata"/>
              </a:rPr>
              <a:t> </a:t>
            </a:r>
          </a:p>
          <a:p>
            <a:pPr>
              <a:lnSpc>
                <a:spcPct val="107843"/>
              </a:lnSpc>
              <a:spcAft>
                <a:spcPts val="0"/>
              </a:spcAft>
            </a:pPr>
            <a:r>
              <a:rPr sz="850" i="0">
                <a:solidFill>
                  <a:srgbClr val="5C6773"/>
                </a:solidFill>
                <a:latin typeface="Inconsolata"/>
              </a:rPr>
              <a:t>32  </a:t>
            </a:r>
            <a:r>
              <a:rPr sz="850" i="0">
                <a:solidFill>
                  <a:srgbClr val="E6EDF3"/>
                </a:solidFill>
                <a:latin typeface="Inconsolata"/>
              </a:rPr>
              <a:t> </a:t>
            </a:r>
          </a:p>
          <a:p>
            <a:pPr>
              <a:lnSpc>
                <a:spcPct val="107843"/>
              </a:lnSpc>
              <a:spcAft>
                <a:spcPts val="0"/>
              </a:spcAft>
            </a:pPr>
            <a:r>
              <a:rPr sz="850" i="0">
                <a:solidFill>
                  <a:srgbClr val="5C6773"/>
                </a:solidFill>
                <a:latin typeface="Inconsolata"/>
              </a:rPr>
              <a:t>33  </a:t>
            </a:r>
            <a:r>
              <a:rPr sz="850" i="0">
                <a:solidFill>
                  <a:srgbClr val="FF8E6E"/>
                </a:solidFill>
                <a:latin typeface="Inconsolata"/>
              </a:rPr>
              <a:t>if</a:t>
            </a:r>
            <a:r>
              <a:rPr sz="850" i="0">
                <a:solidFill>
                  <a:srgbClr val="E6EDF3"/>
                </a:solidFill>
                <a:latin typeface="Inconsolata"/>
              </a:rPr>
              <a:t> __name__ == </a:t>
            </a:r>
            <a:r>
              <a:rPr sz="850" i="0">
                <a:solidFill>
                  <a:srgbClr val="A5D6A7"/>
                </a:solidFill>
                <a:latin typeface="Inconsolata"/>
              </a:rPr>
              <a:t>"__main__"</a:t>
            </a:r>
            <a:r>
              <a:rPr sz="850" i="0">
                <a:solidFill>
                  <a:srgbClr val="E6EDF3"/>
                </a:solidFill>
                <a:latin typeface="Inconsolata"/>
              </a:rPr>
              <a:t>:</a:t>
            </a:r>
          </a:p>
          <a:p>
            <a:pPr>
              <a:lnSpc>
                <a:spcPct val="107843"/>
              </a:lnSpc>
              <a:spcAft>
                <a:spcPts val="0"/>
              </a:spcAft>
            </a:pPr>
            <a:r>
              <a:rPr sz="850" i="0">
                <a:solidFill>
                  <a:srgbClr val="5C6773"/>
                </a:solidFill>
                <a:latin typeface="Inconsolata"/>
              </a:rPr>
              <a:t>34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7FDBCA"/>
                </a:solidFill>
                <a:latin typeface="Inconsolata"/>
              </a:rPr>
              <a:t>ReportService</a:t>
            </a:r>
            <a:r>
              <a:rPr sz="850" i="0">
                <a:solidFill>
                  <a:srgbClr val="E6EDF3"/>
                </a:solidFill>
                <a:latin typeface="Inconsolata"/>
              </a:rPr>
              <a:t>(</a:t>
            </a:r>
            <a:r>
              <a:rPr sz="850" i="0">
                <a:solidFill>
                  <a:srgbClr val="7FDBCA"/>
                </a:solidFill>
                <a:latin typeface="Inconsolata"/>
              </a:rPr>
              <a:t>FakeReader</a:t>
            </a:r>
            <a:r>
              <a:rPr sz="850" i="0">
                <a:solidFill>
                  <a:srgbClr val="E6EDF3"/>
                </a:solidFill>
                <a:latin typeface="Inconsolata"/>
              </a:rPr>
              <a:t>()).total_revenue())</a:t>
            </a:r>
          </a:p>
        </p:txBody>
      </p:sp>
      <p:sp>
        <p:nvSpPr>
          <p:cNvPr id="29" name="Box 12"/>
          <p:cNvSpPr/>
          <p:nvPr/>
        </p:nvSpPr>
        <p:spPr>
          <a:xfrm>
            <a:off x="704088" y="19683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19151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1" name="Box 14"/>
          <p:cNvSpPr/>
          <p:nvPr/>
        </p:nvSpPr>
        <p:spPr>
          <a:xfrm>
            <a:off x="704088" y="29462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0327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I · Interface Segregation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04-isp/after.py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sesi-02-solid-clean-architecture/04-isp</a:t>
            </a:r>
          </a:p>
          <a:p>
            <a:pPr>
              <a:lnSpc>
                <a:spcPct val="107527"/>
              </a:lnSpc>
              <a:spcAft>
                <a:spcPts val="0"/>
              </a:spcAft>
            </a:pPr>
            <a:r>
              <a:rPr sz="775" i="0">
                <a:solidFill>
                  <a:srgbClr val="82B1FF"/>
                </a:solidFill>
                <a:latin typeface="Inconsolata"/>
              </a:rPr>
              <a:t>$ python after.py</a:t>
            </a:r>
          </a:p>
        </p:txBody>
      </p:sp>
      <p:pic>
        <p:nvPicPr>
          <p:cNvPr id="29" name="Image 12" descr="s02-04-isp-after.png"/>
          <p:cNvPicPr>
            <a:picLocks noChangeAspect="1"/>
          </p:cNvPicPr>
          <p:nvPr/>
        </p:nvPicPr>
        <p:blipFill>
          <a:blip r:embed="rId2"/>
          <a:stretch>
            <a:fillRect/>
          </a:stretch>
        </p:blipFill>
        <p:spPr>
          <a:xfrm>
            <a:off x="621792" y="2240280"/>
            <a:ext cx="4297680" cy="905256"/>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Interface dipecah: membaca dan menulis (baris 10-17)</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ReportService</a:t>
            </a:r>
            <a:r>
              <a:rPr sz="950" b="0" i="0">
                <a:solidFill>
                  <a:srgbClr val="434343"/>
                </a:solidFill>
                <a:latin typeface="Inter"/>
              </a:rPr>
              <a:t> hanya minta </a:t>
            </a:r>
            <a:r>
              <a:rPr sz="950" b="0" i="0">
                <a:solidFill>
                  <a:srgbClr val="B5482A"/>
                </a:solidFill>
                <a:latin typeface="Inconsolata"/>
              </a:rPr>
              <a:t>OrderReader</a:t>
            </a:r>
            <a:r>
              <a:rPr sz="950" b="0" i="0">
                <a:solidFill>
                  <a:srgbClr val="434343"/>
                </a:solidFill>
                <a:latin typeface="Inter"/>
              </a:rPr>
              <a:t> (baris 21)</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Fake cukup satu method (baris 28-30)</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Repository asli tetap boleh mengimplementasikan keduanya.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Dependency Inversion?</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Dependency Inversion adalah</a:t>
            </a:r>
          </a:p>
          <a:p>
            <a:pPr algn="l">
              <a:lnSpc>
                <a:spcPct val="115000"/>
              </a:lnSpc>
              <a:spcAft>
                <a:spcPts val="400"/>
              </a:spcAft>
            </a:pPr>
            <a:r>
              <a:rPr sz="950" b="0" i="0">
                <a:solidFill>
                  <a:srgbClr val="434343"/>
                </a:solidFill>
                <a:latin typeface="Inter"/>
              </a:rPr>
              <a:t>Prinsip bahwa business logic (modul tingkat tinggi) tidak bergantung langsung pada detail teknis seperti SQLite atau email. Keduanya bergantung pada </a:t>
            </a:r>
            <a:r>
              <a:rPr sz="950" b="1" i="0">
                <a:solidFill>
                  <a:srgbClr val="434343"/>
                </a:solidFill>
                <a:latin typeface="Inter"/>
              </a:rPr>
              <a:t>abstraksi</a:t>
            </a:r>
            <a:r>
              <a:rPr sz="950" b="0" i="0">
                <a:solidFill>
                  <a:srgbClr val="434343"/>
                </a:solidFill>
                <a:latin typeface="Inter"/>
              </a:rPr>
              <a:t> (interface).</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Database atau channel notifikasi bisa diganti tanpa mengubah business logic</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Business logic bisa dites tanpa database asli</a:t>
            </a:r>
          </a:p>
          <a:p>
            <a:pPr algn="l">
              <a:lnSpc>
                <a:spcPct val="115000"/>
              </a:lnSpc>
              <a:spcAft>
                <a:spcPts val="400"/>
              </a:spcAft>
            </a:pPr>
            <a:r>
              <a:rPr sz="1050" b="1" i="0">
                <a:solidFill>
                  <a:srgbClr val="1C4587"/>
                </a:solidFill>
                <a:latin typeface="Inter"/>
              </a:rPr>
              <a:t>Perbedaan DIP dan Dependency Injection</a:t>
            </a:r>
          </a:p>
          <a:p>
            <a:pPr algn="l">
              <a:lnSpc>
                <a:spcPct val="115000"/>
              </a:lnSpc>
              <a:spcAft>
                <a:spcPts val="400"/>
              </a:spcAft>
            </a:pPr>
            <a:r>
              <a:rPr sz="950" b="0" i="0">
                <a:solidFill>
                  <a:srgbClr val="434343"/>
                </a:solidFill>
                <a:latin typeface="Inter"/>
              </a:rPr>
              <a:t>DIP adalah prinsip tentang arah dependency. </a:t>
            </a:r>
            <a:r>
              <a:rPr sz="950" b="1" i="0">
                <a:solidFill>
                  <a:srgbClr val="434343"/>
                </a:solidFill>
                <a:latin typeface="Inter"/>
              </a:rPr>
              <a:t>Dependency Injection</a:t>
            </a:r>
            <a:r>
              <a:rPr sz="950" b="0" i="0">
                <a:solidFill>
                  <a:srgbClr val="434343"/>
                </a:solidFill>
                <a:latin typeface="Inter"/>
              </a:rPr>
              <a:t> adalah teknik untuk menerapkannya, yaitu dependency dikirim dari luar, misalnya lewat </a:t>
            </a:r>
            <a:r>
              <a:rPr sz="950" b="0" i="0">
                <a:solidFill>
                  <a:srgbClr val="B5482A"/>
                </a:solidFill>
                <a:latin typeface="Inconsolata"/>
              </a:rPr>
              <a:t>__init__</a:t>
            </a:r>
            <a:r>
              <a:rPr sz="950" b="0" i="0">
                <a:solidFill>
                  <a:srgbClr val="434343"/>
                </a:solidFill>
                <a:latin typeface="Inter"/>
              </a:rPr>
              <a:t>.</a:t>
            </a:r>
          </a:p>
        </p:txBody>
      </p:sp>
      <p:sp>
        <p:nvSpPr>
          <p:cNvPr id="23" name="Box 4"/>
          <p:cNvSpPr/>
          <p:nvPr/>
        </p:nvSpPr>
        <p:spPr>
          <a:xfrm>
            <a:off x="4892040" y="1481328"/>
            <a:ext cx="3593592" cy="960120"/>
          </a:xfrm>
          <a:prstGeom prst="roundRect">
            <a:avLst>
              <a:gd name="adj" fmla="val 11428"/>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37160" rIns="137160" bIns="137160" rtlCol="0" anchor="ctr"/>
          <a:lstStyle/>
          <a:p>
            <a:pPr algn="l">
              <a:lnSpc>
                <a:spcPct val="105000"/>
              </a:lnSpc>
              <a:spcAft>
                <a:spcPts val="200"/>
              </a:spcAft>
            </a:pPr>
            <a:r>
              <a:rPr sz="950" b="0" i="0">
                <a:solidFill>
                  <a:srgbClr val="434343"/>
                </a:solidFill>
                <a:latin typeface="Inter"/>
              </a:rPr>
              <a:t>"High-level modules should not depend on low-level modules. Both should depend on abstractions."</a:t>
            </a:r>
          </a:p>
          <a:p>
            <a:pPr algn="l">
              <a:lnSpc>
                <a:spcPct val="105000"/>
              </a:lnSpc>
              <a:spcAft>
                <a:spcPts val="200"/>
              </a:spcAft>
            </a:pPr>
            <a:r>
              <a:rPr sz="950" b="0" i="0">
                <a:solidFill>
                  <a:srgbClr val="434343"/>
                </a:solidFill>
                <a:latin typeface="Inter"/>
              </a:rPr>
              <a:t>Robert C. Martin</a:t>
            </a:r>
          </a:p>
        </p:txBody>
      </p:sp>
      <p:sp>
        <p:nvSpPr>
          <p:cNvPr id="24" name="Box 5"/>
          <p:cNvSpPr/>
          <p:nvPr/>
        </p:nvSpPr>
        <p:spPr>
          <a:xfrm>
            <a:off x="4892040" y="2560320"/>
            <a:ext cx="3593592" cy="1600200"/>
          </a:xfrm>
          <a:prstGeom prst="roundRect">
            <a:avLst>
              <a:gd name="adj" fmla="val 6857"/>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029200" y="2651760"/>
            <a:ext cx="3319272" cy="310896"/>
          </a:xfrm>
          <a:prstGeom prst="rect">
            <a:avLst/>
          </a:prstGeom>
          <a:noFill/>
        </p:spPr>
        <p:txBody>
          <a:bodyPr wrap="square" lIns="45720" rIns="45720" anchor="t">
            <a:spAutoFit/>
          </a:bodyPr>
          <a:lstStyle/>
          <a:p>
            <a:pPr algn="l">
              <a:lnSpc>
                <a:spcPct val="115000"/>
              </a:lnSpc>
              <a:spcAft>
                <a:spcPts val="400"/>
              </a:spcAft>
            </a:pPr>
            <a:r>
              <a:rPr sz="1050" b="1" i="0">
                <a:solidFill>
                  <a:srgbClr val="C0392B"/>
                </a:solidFill>
                <a:latin typeface="Inter"/>
              </a:rPr>
              <a:t>Code smell yang dicari</a:t>
            </a:r>
          </a:p>
        </p:txBody>
      </p:sp>
      <p:sp>
        <p:nvSpPr>
          <p:cNvPr id="26" name="Text 7"/>
          <p:cNvSpPr txBox="1"/>
          <p:nvPr/>
        </p:nvSpPr>
        <p:spPr>
          <a:xfrm>
            <a:off x="5029200" y="2971800"/>
            <a:ext cx="3319272" cy="109728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self.repo = SqliteOrderRepository()</a:t>
            </a:r>
            <a:r>
              <a:rPr sz="900" b="0" i="0">
                <a:solidFill>
                  <a:srgbClr val="434343"/>
                </a:solidFill>
                <a:latin typeface="Inter"/>
              </a:rPr>
              <a:t> di dalam </a:t>
            </a:r>
            <a:r>
              <a:rPr sz="900" b="0" i="0">
                <a:solidFill>
                  <a:srgbClr val="B5482A"/>
                </a:solidFill>
                <a:latin typeface="Inconsolata"/>
              </a:rPr>
              <a:t>__init__</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Service meng-import library database</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Tidak bisa test tanpa database asli</a:t>
            </a:r>
          </a:p>
        </p:txBody>
      </p:sp>
      <p:sp>
        <p:nvSpPr>
          <p:cNvPr id="27" name="Text 8"/>
          <p:cNvSpPr txBox="1"/>
          <p:nvPr/>
        </p:nvSpPr>
        <p:spPr>
          <a:xfrm>
            <a:off x="4892040" y="4251960"/>
            <a:ext cx="3593592" cy="45720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Di Sesi 1, repository sudah dikirim dari luar ke </a:t>
            </a:r>
            <a:r>
              <a:rPr sz="900" b="0" i="0">
                <a:solidFill>
                  <a:srgbClr val="B5482A"/>
                </a:solidFill>
                <a:latin typeface="Inconsolata"/>
              </a:rPr>
              <a:t>OrderService</a:t>
            </a:r>
            <a:r>
              <a:rPr sz="900" b="0" i="0">
                <a:solidFill>
                  <a:srgbClr val="7A7A7A"/>
                </a:solidFill>
                <a:latin typeface="Inter"/>
              </a:rPr>
              <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Service Membuat Dependency Sendiri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05-dip/before.py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 7  </a:t>
            </a:r>
            <a:r>
              <a:rPr sz="850" i="0">
                <a:solidFill>
                  <a:srgbClr val="FF8E6E"/>
                </a:solidFill>
                <a:latin typeface="Inconsolata"/>
              </a:rPr>
              <a:t>import</a:t>
            </a:r>
            <a:r>
              <a:rPr sz="850" i="0">
                <a:solidFill>
                  <a:srgbClr val="E6EDF3"/>
                </a:solidFill>
                <a:latin typeface="Inconsolata"/>
              </a:rPr>
              <a:t> sqlite3</a:t>
            </a:r>
          </a:p>
          <a:p>
            <a:pPr>
              <a:lnSpc>
                <a:spcPct val="107843"/>
              </a:lnSpc>
              <a:spcAft>
                <a:spcPts val="0"/>
              </a:spcAft>
            </a:pPr>
            <a:r>
              <a:rPr sz="850" i="0">
                <a:solidFill>
                  <a:srgbClr val="5C6773"/>
                </a:solidFill>
                <a:latin typeface="Inconsolata"/>
              </a:rPr>
              <a:t> 8  </a:t>
            </a:r>
            <a:r>
              <a:rPr sz="850" i="0">
                <a:solidFill>
                  <a:srgbClr val="E6EDF3"/>
                </a:solidFill>
                <a:latin typeface="Inconsolata"/>
              </a:rPr>
              <a:t> </a:t>
            </a:r>
          </a:p>
          <a:p>
            <a:pPr>
              <a:lnSpc>
                <a:spcPct val="107843"/>
              </a:lnSpc>
              <a:spcAft>
                <a:spcPts val="0"/>
              </a:spcAft>
            </a:pPr>
            <a:r>
              <a:rPr sz="850" i="0">
                <a:solidFill>
                  <a:srgbClr val="5C6773"/>
                </a:solidFill>
                <a:latin typeface="Inconsolata"/>
              </a:rPr>
              <a:t> 9  </a:t>
            </a:r>
            <a:r>
              <a:rPr sz="850" i="0">
                <a:solidFill>
                  <a:srgbClr val="E6EDF3"/>
                </a:solidFill>
                <a:latin typeface="Inconsolata"/>
              </a:rPr>
              <a:t> </a:t>
            </a:r>
          </a:p>
          <a:p>
            <a:pPr>
              <a:lnSpc>
                <a:spcPct val="107843"/>
              </a:lnSpc>
              <a:spcAft>
                <a:spcPts val="0"/>
              </a:spcAft>
            </a:pPr>
            <a:r>
              <a:rPr sz="850" i="0">
                <a:solidFill>
                  <a:srgbClr val="5C6773"/>
                </a:solidFill>
                <a:latin typeface="Inconsolata"/>
              </a:rPr>
              <a:t>10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SqliteOrderRepository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12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.conn = sqlite3.connect(</a:t>
            </a:r>
            <a:r>
              <a:rPr sz="850" i="0">
                <a:solidFill>
                  <a:srgbClr val="A5D6A7"/>
                </a:solidFill>
                <a:latin typeface="Inconsolata"/>
              </a:rPr>
              <a:t>"orders.db"</a:t>
            </a:r>
            <a:r>
              <a:rPr sz="850" i="0">
                <a:solidFill>
                  <a:srgbClr val="E6EDF3"/>
                </a:solidFill>
                <a:latin typeface="Inconsolata"/>
              </a:rPr>
              <a:t>)</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.conn.execute(</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r>
              <a:rPr sz="850" i="0">
                <a:solidFill>
                  <a:srgbClr val="A5D6A7"/>
                </a:solidFill>
                <a:latin typeface="Inconsolata"/>
              </a:rPr>
              <a:t>"CREATE TABLE IF NOT EXISTS orders "</a:t>
            </a:r>
          </a:p>
          <a:p>
            <a:pPr>
              <a:lnSpc>
                <a:spcPct val="107843"/>
              </a:lnSpc>
              <a:spcAft>
                <a:spcPts val="0"/>
              </a:spcAft>
            </a:pPr>
            <a:r>
              <a:rPr sz="850" i="0">
                <a:solidFill>
                  <a:srgbClr val="5C6773"/>
                </a:solidFill>
                <a:latin typeface="Inconsolata"/>
              </a:rPr>
              <a:t>15  </a:t>
            </a:r>
            <a:r>
              <a:rPr sz="850" i="0">
                <a:solidFill>
                  <a:srgbClr val="E6EDF3"/>
                </a:solidFill>
                <a:latin typeface="Inconsolata"/>
              </a:rPr>
              <a:t>            </a:t>
            </a:r>
            <a:r>
              <a:rPr sz="850" i="0">
                <a:solidFill>
                  <a:srgbClr val="A5D6A7"/>
                </a:solidFill>
                <a:latin typeface="Inconsolata"/>
              </a:rPr>
              <a:t>"(id INTEGER PRIMARY KEY, customer TEXT, total INTEGER)"</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p>
          <a:p>
            <a:pPr>
              <a:lnSpc>
                <a:spcPct val="107843"/>
              </a:lnSpc>
              <a:spcAft>
                <a:spcPts val="0"/>
              </a:spcAft>
            </a:pPr>
            <a:r>
              <a:rPr sz="850" i="0">
                <a:solidFill>
                  <a:srgbClr val="5C6773"/>
                </a:solidFill>
                <a:latin typeface="Inconsolata"/>
              </a:rPr>
              <a:t>18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19  </a:t>
            </a:r>
            <a:r>
              <a:rPr sz="850" i="0">
                <a:solidFill>
                  <a:srgbClr val="E6EDF3"/>
                </a:solidFill>
                <a:latin typeface="Inconsolata"/>
              </a:rPr>
              <a:t>        cur = </a:t>
            </a:r>
            <a:r>
              <a:rPr sz="850" i="0">
                <a:solidFill>
                  <a:srgbClr val="C3A6FF"/>
                </a:solidFill>
                <a:latin typeface="Inconsolata"/>
              </a:rPr>
              <a:t>self</a:t>
            </a:r>
            <a:r>
              <a:rPr sz="850" i="0">
                <a:solidFill>
                  <a:srgbClr val="E6EDF3"/>
                </a:solidFill>
                <a:latin typeface="Inconsolata"/>
              </a:rPr>
              <a:t>.conn.execute(</a:t>
            </a:r>
          </a:p>
          <a:p>
            <a:pPr>
              <a:lnSpc>
                <a:spcPct val="107843"/>
              </a:lnSpc>
              <a:spcAft>
                <a:spcPts val="0"/>
              </a:spcAft>
            </a:pPr>
            <a:r>
              <a:rPr sz="850" i="0">
                <a:solidFill>
                  <a:srgbClr val="5C6773"/>
                </a:solidFill>
                <a:latin typeface="Inconsolata"/>
              </a:rPr>
              <a:t>20  </a:t>
            </a:r>
            <a:r>
              <a:rPr sz="850" i="0">
                <a:solidFill>
                  <a:srgbClr val="E6EDF3"/>
                </a:solidFill>
                <a:latin typeface="Inconsolata"/>
              </a:rPr>
              <a:t>            </a:t>
            </a:r>
            <a:r>
              <a:rPr sz="850" i="0">
                <a:solidFill>
                  <a:srgbClr val="A5D6A7"/>
                </a:solidFill>
                <a:latin typeface="Inconsolata"/>
              </a:rPr>
              <a:t>"INSERT INTO orders (customer, total) VALUES (?, ?)"</a:t>
            </a:r>
            <a:r>
              <a:rPr sz="850" i="0">
                <a:solidFill>
                  <a:srgbClr val="E6EDF3"/>
                </a:solidFill>
                <a:latin typeface="Inconsolata"/>
              </a:rPr>
              <a:t>,</a:t>
            </a:r>
          </a:p>
          <a:p>
            <a:pPr>
              <a:lnSpc>
                <a:spcPct val="107843"/>
              </a:lnSpc>
              <a:spcAft>
                <a:spcPts val="0"/>
              </a:spcAft>
            </a:pPr>
            <a:r>
              <a:rPr sz="850" i="0">
                <a:solidFill>
                  <a:srgbClr val="5C6773"/>
                </a:solidFill>
                <a:latin typeface="Inconsolata"/>
              </a:rPr>
              <a:t>21  </a:t>
            </a:r>
            <a:r>
              <a:rPr sz="850" i="0">
                <a:solidFill>
                  <a:srgbClr val="E6EDF3"/>
                </a:solidFill>
                <a:latin typeface="Inconsolata"/>
              </a:rPr>
              <a:t>            (customer, total),</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p>
          <a:p>
            <a:pPr>
              <a:lnSpc>
                <a:spcPct val="107843"/>
              </a:lnSpc>
              <a:spcAft>
                <a:spcPts val="0"/>
              </a:spcAft>
            </a:pPr>
            <a:r>
              <a:rPr sz="850" i="0">
                <a:solidFill>
                  <a:srgbClr val="5C6773"/>
                </a:solidFill>
                <a:latin typeface="Inconsolata"/>
              </a:rPr>
              <a:t>23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.conn.commit()</a:t>
            </a:r>
          </a:p>
          <a:p>
            <a:pPr>
              <a:lnSpc>
                <a:spcPct val="107843"/>
              </a:lnSpc>
              <a:spcAft>
                <a:spcPts val="0"/>
              </a:spcAft>
            </a:pPr>
            <a:r>
              <a:rPr sz="850" i="0">
                <a:solidFill>
                  <a:srgbClr val="5C6773"/>
                </a:solidFill>
                <a:latin typeface="Inconsolata"/>
              </a:rPr>
              <a:t>24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cur.lastrowid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Service Membuat Dependency Sendiri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05-dip/before.py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27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EmailNotifier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28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29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f"[EMAIL] ke {to}: {message}"</a:t>
            </a:r>
            <a:r>
              <a:rPr sz="850" i="0">
                <a:solidFill>
                  <a:srgbClr val="E6EDF3"/>
                </a:solidFill>
                <a:latin typeface="Inconsolata"/>
              </a:rPr>
              <a:t>)</a:t>
            </a:r>
          </a:p>
          <a:p>
            <a:pPr>
              <a:lnSpc>
                <a:spcPct val="107843"/>
              </a:lnSpc>
              <a:spcAft>
                <a:spcPts val="0"/>
              </a:spcAft>
            </a:pPr>
            <a:r>
              <a:rPr sz="850" i="0">
                <a:solidFill>
                  <a:srgbClr val="5C6773"/>
                </a:solidFill>
                <a:latin typeface="Inconsolata"/>
              </a:rPr>
              <a:t>30  </a:t>
            </a:r>
            <a:r>
              <a:rPr sz="850" i="0">
                <a:solidFill>
                  <a:srgbClr val="E6EDF3"/>
                </a:solidFill>
                <a:latin typeface="Inconsolata"/>
              </a:rPr>
              <a:t> </a:t>
            </a:r>
          </a:p>
          <a:p>
            <a:pPr>
              <a:lnSpc>
                <a:spcPct val="107843"/>
              </a:lnSpc>
              <a:spcAft>
                <a:spcPts val="0"/>
              </a:spcAft>
            </a:pPr>
            <a:r>
              <a:rPr sz="850" i="0">
                <a:solidFill>
                  <a:srgbClr val="5C6773"/>
                </a:solidFill>
                <a:latin typeface="Inconsolata"/>
              </a:rPr>
              <a:t>31  </a:t>
            </a:r>
            <a:r>
              <a:rPr sz="850" i="0">
                <a:solidFill>
                  <a:srgbClr val="E6EDF3"/>
                </a:solidFill>
                <a:latin typeface="Inconsolata"/>
              </a:rPr>
              <a:t> </a:t>
            </a:r>
          </a:p>
          <a:p>
            <a:pPr>
              <a:lnSpc>
                <a:spcPct val="107843"/>
              </a:lnSpc>
              <a:spcAft>
                <a:spcPts val="0"/>
              </a:spcAft>
            </a:pPr>
            <a:r>
              <a:rPr sz="850" i="0">
                <a:solidFill>
                  <a:srgbClr val="5C6773"/>
                </a:solidFill>
                <a:latin typeface="Inconsolata"/>
              </a:rPr>
              <a:t>32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33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34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.repo = </a:t>
            </a:r>
            <a:r>
              <a:rPr sz="850" i="0">
                <a:solidFill>
                  <a:srgbClr val="7FDBCA"/>
                </a:solidFill>
                <a:latin typeface="Inconsolata"/>
              </a:rPr>
              <a:t>SqliteOrderRepository</a:t>
            </a:r>
            <a:r>
              <a:rPr sz="850" i="0">
                <a:solidFill>
                  <a:srgbClr val="E6EDF3"/>
                </a:solidFill>
                <a:latin typeface="Inconsolata"/>
              </a:rPr>
              <a:t>()  </a:t>
            </a:r>
            <a:r>
              <a:rPr sz="850" i="1">
                <a:solidFill>
                  <a:srgbClr val="8B98A8"/>
                </a:solidFill>
                <a:latin typeface="Inconsolata"/>
              </a:rPr>
              <a:t># terikat ke SQLite</a:t>
            </a:r>
          </a:p>
          <a:p>
            <a:pPr>
              <a:lnSpc>
                <a:spcPct val="107843"/>
              </a:lnSpc>
              <a:spcAft>
                <a:spcPts val="0"/>
              </a:spcAft>
            </a:pPr>
            <a:r>
              <a:rPr sz="850" i="0">
                <a:solidFill>
                  <a:srgbClr val="5C6773"/>
                </a:solidFill>
                <a:latin typeface="Inconsolata"/>
              </a:rPr>
              <a:t>35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.notifier = </a:t>
            </a:r>
            <a:r>
              <a:rPr sz="850" i="0">
                <a:solidFill>
                  <a:srgbClr val="7FDBCA"/>
                </a:solidFill>
                <a:latin typeface="Inconsolata"/>
              </a:rPr>
              <a:t>EmailNotifier</a:t>
            </a:r>
            <a:r>
              <a:rPr sz="850" i="0">
                <a:solidFill>
                  <a:srgbClr val="E6EDF3"/>
                </a:solidFill>
                <a:latin typeface="Inconsolata"/>
              </a:rPr>
              <a:t>()      </a:t>
            </a:r>
            <a:r>
              <a:rPr sz="850" i="1">
                <a:solidFill>
                  <a:srgbClr val="8B98A8"/>
                </a:solidFill>
                <a:latin typeface="Inconsolata"/>
              </a:rPr>
              <a:t># terikat ke email</a:t>
            </a:r>
          </a:p>
          <a:p>
            <a:pPr>
              <a:lnSpc>
                <a:spcPct val="107843"/>
              </a:lnSpc>
              <a:spcAft>
                <a:spcPts val="0"/>
              </a:spcAft>
            </a:pPr>
            <a:r>
              <a:rPr sz="850" i="0">
                <a:solidFill>
                  <a:srgbClr val="5C6773"/>
                </a:solidFill>
                <a:latin typeface="Inconsolata"/>
              </a:rPr>
              <a:t>36  </a:t>
            </a:r>
            <a:r>
              <a:rPr sz="850" i="0">
                <a:solidFill>
                  <a:srgbClr val="E6EDF3"/>
                </a:solidFill>
                <a:latin typeface="Inconsolata"/>
              </a:rPr>
              <a:t> </a:t>
            </a:r>
          </a:p>
          <a:p>
            <a:pPr>
              <a:lnSpc>
                <a:spcPct val="107843"/>
              </a:lnSpc>
              <a:spcAft>
                <a:spcPts val="0"/>
              </a:spcAft>
            </a:pPr>
            <a:r>
              <a:rPr sz="850" i="0">
                <a:solidFill>
                  <a:srgbClr val="5C6773"/>
                </a:solidFill>
                <a:latin typeface="Inconsolata"/>
              </a:rPr>
              <a:t>37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38  </a:t>
            </a:r>
            <a:r>
              <a:rPr sz="850" i="0">
                <a:solidFill>
                  <a:srgbClr val="E6EDF3"/>
                </a:solidFill>
                <a:latin typeface="Inconsolata"/>
              </a:rPr>
              <a:t>        order_id = </a:t>
            </a:r>
            <a:r>
              <a:rPr sz="850" i="0">
                <a:solidFill>
                  <a:srgbClr val="C3A6FF"/>
                </a:solidFill>
                <a:latin typeface="Inconsolata"/>
              </a:rPr>
              <a:t>self</a:t>
            </a:r>
            <a:r>
              <a:rPr sz="850" i="0">
                <a:solidFill>
                  <a:srgbClr val="E6EDF3"/>
                </a:solidFill>
                <a:latin typeface="Inconsolata"/>
              </a:rPr>
              <a:t>.repo.add(customer, total)</a:t>
            </a:r>
          </a:p>
          <a:p>
            <a:pPr>
              <a:lnSpc>
                <a:spcPct val="107843"/>
              </a:lnSpc>
              <a:spcAft>
                <a:spcPts val="0"/>
              </a:spcAft>
            </a:pPr>
            <a:r>
              <a:rPr sz="850" i="0">
                <a:solidFill>
                  <a:srgbClr val="5C6773"/>
                </a:solidFill>
                <a:latin typeface="Inconsolata"/>
              </a:rPr>
              <a:t>39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.notifier.send(customer, </a:t>
            </a:r>
            <a:r>
              <a:rPr sz="850" i="0">
                <a:solidFill>
                  <a:srgbClr val="A5D6A7"/>
                </a:solidFill>
                <a:latin typeface="Inconsolata"/>
              </a:rPr>
              <a:t>f"Order #{order_id} dibuat"</a:t>
            </a:r>
            <a:r>
              <a:rPr sz="850" i="0">
                <a:solidFill>
                  <a:srgbClr val="E6EDF3"/>
                </a:solidFill>
                <a:latin typeface="Inconsolata"/>
              </a:rPr>
              <a:t>)</a:t>
            </a:r>
          </a:p>
          <a:p>
            <a:pPr>
              <a:lnSpc>
                <a:spcPct val="107843"/>
              </a:lnSpc>
              <a:spcAft>
                <a:spcPts val="0"/>
              </a:spcAft>
            </a:pPr>
            <a:r>
              <a:rPr sz="850" i="0">
                <a:solidFill>
                  <a:srgbClr val="5C6773"/>
                </a:solidFill>
                <a:latin typeface="Inconsolata"/>
              </a:rPr>
              <a:t>40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order_id</a:t>
            </a:r>
          </a:p>
          <a:p>
            <a:pPr>
              <a:lnSpc>
                <a:spcPct val="107843"/>
              </a:lnSpc>
              <a:spcAft>
                <a:spcPts val="0"/>
              </a:spcAft>
            </a:pPr>
            <a:r>
              <a:rPr sz="850" i="0">
                <a:solidFill>
                  <a:srgbClr val="5C6773"/>
                </a:solidFill>
                <a:latin typeface="Inconsolata"/>
              </a:rPr>
              <a:t>41  </a:t>
            </a:r>
            <a:r>
              <a:rPr sz="850" i="0">
                <a:solidFill>
                  <a:srgbClr val="E6EDF3"/>
                </a:solidFill>
                <a:latin typeface="Inconsolata"/>
              </a:rPr>
              <a:t> </a:t>
            </a:r>
          </a:p>
          <a:p>
            <a:pPr>
              <a:lnSpc>
                <a:spcPct val="107843"/>
              </a:lnSpc>
              <a:spcAft>
                <a:spcPts val="0"/>
              </a:spcAft>
            </a:pPr>
            <a:r>
              <a:rPr sz="850" i="0">
                <a:solidFill>
                  <a:srgbClr val="5C6773"/>
                </a:solidFill>
                <a:latin typeface="Inconsolata"/>
              </a:rPr>
              <a:t>42  </a:t>
            </a:r>
            <a:r>
              <a:rPr sz="850" i="0">
                <a:solidFill>
                  <a:srgbClr val="E6EDF3"/>
                </a:solidFill>
                <a:latin typeface="Inconsolata"/>
              </a:rPr>
              <a:t> </a:t>
            </a:r>
          </a:p>
          <a:p>
            <a:pPr>
              <a:lnSpc>
                <a:spcPct val="107843"/>
              </a:lnSpc>
              <a:spcAft>
                <a:spcPts val="0"/>
              </a:spcAft>
            </a:pPr>
            <a:r>
              <a:rPr sz="850" i="0">
                <a:solidFill>
                  <a:srgbClr val="5C6773"/>
                </a:solidFill>
                <a:latin typeface="Inconsolata"/>
              </a:rPr>
              <a:t>43  </a:t>
            </a:r>
            <a:r>
              <a:rPr sz="850" i="0">
                <a:solidFill>
                  <a:srgbClr val="FF8E6E"/>
                </a:solidFill>
                <a:latin typeface="Inconsolata"/>
              </a:rPr>
              <a:t>if</a:t>
            </a:r>
            <a:r>
              <a:rPr sz="850" i="0">
                <a:solidFill>
                  <a:srgbClr val="E6EDF3"/>
                </a:solidFill>
                <a:latin typeface="Inconsolata"/>
              </a:rPr>
              <a:t> __name__ == </a:t>
            </a:r>
            <a:r>
              <a:rPr sz="850" i="0">
                <a:solidFill>
                  <a:srgbClr val="A5D6A7"/>
                </a:solidFill>
                <a:latin typeface="Inconsolata"/>
              </a:rPr>
              <a:t>"__main__"</a:t>
            </a:r>
            <a:r>
              <a:rPr sz="850" i="0">
                <a:solidFill>
                  <a:srgbClr val="E6EDF3"/>
                </a:solidFill>
                <a:latin typeface="Inconsolata"/>
              </a:rPr>
              <a:t>:</a:t>
            </a:r>
          </a:p>
          <a:p>
            <a:pPr>
              <a:lnSpc>
                <a:spcPct val="107843"/>
              </a:lnSpc>
              <a:spcAft>
                <a:spcPts val="0"/>
              </a:spcAft>
            </a:pPr>
            <a:r>
              <a:rPr sz="850" i="0">
                <a:solidFill>
                  <a:srgbClr val="5C6773"/>
                </a:solidFill>
                <a:latin typeface="Inconsolata"/>
              </a:rPr>
              <a:t>44  </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().place_order(</a:t>
            </a:r>
            <a:r>
              <a:rPr sz="850" i="0">
                <a:solidFill>
                  <a:srgbClr val="A5D6A7"/>
                </a:solidFill>
                <a:latin typeface="Inconsolata"/>
              </a:rPr>
              <a:t>"budi@mail.com"</a:t>
            </a:r>
            <a:r>
              <a:rPr sz="850" i="0">
                <a:solidFill>
                  <a:srgbClr val="E6EDF3"/>
                </a:solidFill>
                <a:latin typeface="Inconsolata"/>
              </a:rPr>
              <a:t>, </a:t>
            </a:r>
            <a:r>
              <a:rPr sz="850" i="0">
                <a:solidFill>
                  <a:srgbClr val="F9C97A"/>
                </a:solidFill>
                <a:latin typeface="Inconsolata"/>
              </a:rPr>
              <a:t>150_000</a:t>
            </a:r>
            <a:r>
              <a:rPr sz="850" i="0">
                <a:solidFill>
                  <a:srgbClr val="E6EDF3"/>
                </a:solidFill>
                <a:latin typeface="Inconsolata"/>
              </a:rPr>
              <a:t>)</a:t>
            </a:r>
          </a:p>
        </p:txBody>
      </p:sp>
      <p:sp>
        <p:nvSpPr>
          <p:cNvPr id="29" name="Box 12"/>
          <p:cNvSpPr/>
          <p:nvPr/>
        </p:nvSpPr>
        <p:spPr>
          <a:xfrm>
            <a:off x="704088" y="2806573"/>
            <a:ext cx="7699248"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82321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4203573"/>
            <a:ext cx="7699248" cy="131318"/>
          </a:xfrm>
          <a:prstGeom prst="roundRect">
            <a:avLst>
              <a:gd name="adj" fmla="val 34816"/>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415036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05-dip/before.py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sesi-02-solid-clean-architecture/05-dip</a:t>
            </a:r>
          </a:p>
          <a:p>
            <a:pPr>
              <a:lnSpc>
                <a:spcPct val="107527"/>
              </a:lnSpc>
              <a:spcAft>
                <a:spcPts val="0"/>
              </a:spcAft>
            </a:pPr>
            <a:r>
              <a:rPr sz="775" i="0">
                <a:solidFill>
                  <a:srgbClr val="82B1FF"/>
                </a:solidFill>
                <a:latin typeface="Inconsolata"/>
              </a:rPr>
              <a:t>$ python before.py</a:t>
            </a:r>
          </a:p>
        </p:txBody>
      </p:sp>
      <p:pic>
        <p:nvPicPr>
          <p:cNvPr id="29" name="Image 12" descr="s02-05-dip-before.png"/>
          <p:cNvPicPr>
            <a:picLocks noChangeAspect="1"/>
          </p:cNvPicPr>
          <p:nvPr/>
        </p:nvPicPr>
        <p:blipFill>
          <a:blip r:embed="rId2"/>
          <a:stretch>
            <a:fillRect/>
          </a:stretch>
        </p:blipFill>
        <p:spPr>
          <a:xfrm>
            <a:off x="621792" y="2240280"/>
            <a:ext cx="4297680" cy="905256"/>
          </a:xfrm>
          <a:prstGeom prst="rect">
            <a:avLst/>
          </a:prstGeom>
        </p:spPr>
      </p:pic>
      <p:sp>
        <p:nvSpPr>
          <p:cNvPr id="30" name="Box 13"/>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OrderService</a:t>
            </a:r>
            <a:r>
              <a:rPr sz="950" b="0" i="0">
                <a:solidFill>
                  <a:srgbClr val="434343"/>
                </a:solidFill>
                <a:latin typeface="Inter"/>
              </a:rPr>
              <a:t> membuat repository dan notifiernya sendiri (baris 34-35)</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Dari luar, tidak ada cara mengganti keduanya (baris 44)</a:t>
            </a:r>
          </a:p>
          <a:p>
            <a:pPr algn="l">
              <a:lnSpc>
                <a:spcPct val="115000"/>
              </a:lnSpc>
              <a:spcAft>
                <a:spcPts val="0"/>
              </a:spcAft>
            </a:pPr>
            <a:endParaRPr sz="950" b="0" i="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Test pasti menulis ke </a:t>
            </a:r>
            <a:r>
              <a:rPr sz="950" b="0" i="0">
                <a:solidFill>
                  <a:srgbClr val="B5482A"/>
                </a:solidFill>
                <a:latin typeface="Inconsolata"/>
              </a:rPr>
              <a:t>orders.db</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Ganti ke SMS = edit </a:t>
            </a:r>
            <a:r>
              <a:rPr sz="950" b="0" i="0">
                <a:solidFill>
                  <a:srgbClr val="B5482A"/>
                </a:solidFill>
                <a:latin typeface="Inconsolata"/>
              </a:rPr>
              <a:t>OrderService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Dependency Dikirim dari Luar (1/4)</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05-dip/after.py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 7  </a:t>
            </a:r>
            <a:r>
              <a:rPr sz="850" i="0">
                <a:solidFill>
                  <a:srgbClr val="FF8E6E"/>
                </a:solidFill>
                <a:latin typeface="Inconsolata"/>
              </a:rPr>
              <a:t>import</a:t>
            </a:r>
            <a:r>
              <a:rPr sz="850" i="0">
                <a:solidFill>
                  <a:srgbClr val="E6EDF3"/>
                </a:solidFill>
                <a:latin typeface="Inconsolata"/>
              </a:rPr>
              <a:t> sqlite3</a:t>
            </a:r>
          </a:p>
          <a:p>
            <a:pPr>
              <a:lnSpc>
                <a:spcPct val="107843"/>
              </a:lnSpc>
              <a:spcAft>
                <a:spcPts val="0"/>
              </a:spcAft>
            </a:pPr>
            <a:r>
              <a:rPr sz="850" i="0">
                <a:solidFill>
                  <a:srgbClr val="5C6773"/>
                </a:solidFill>
                <a:latin typeface="Inconsolata"/>
              </a:rPr>
              <a:t> 8  </a:t>
            </a:r>
            <a:r>
              <a:rPr sz="850" i="0">
                <a:solidFill>
                  <a:srgbClr val="FF8E6E"/>
                </a:solidFill>
                <a:latin typeface="Inconsolata"/>
              </a:rPr>
              <a:t>from</a:t>
            </a:r>
            <a:r>
              <a:rPr sz="850" i="0">
                <a:solidFill>
                  <a:srgbClr val="E6EDF3"/>
                </a:solidFill>
                <a:latin typeface="Inconsolata"/>
              </a:rPr>
              <a:t> typing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Protocol</a:t>
            </a:r>
          </a:p>
          <a:p>
            <a:pPr>
              <a:lnSpc>
                <a:spcPct val="107843"/>
              </a:lnSpc>
              <a:spcAft>
                <a:spcPts val="0"/>
              </a:spcAft>
            </a:pPr>
            <a:r>
              <a:rPr sz="850" i="0">
                <a:solidFill>
                  <a:srgbClr val="5C6773"/>
                </a:solidFill>
                <a:latin typeface="Inconsolata"/>
              </a:rPr>
              <a:t> 9  </a:t>
            </a:r>
            <a:r>
              <a:rPr sz="850" i="0">
                <a:solidFill>
                  <a:srgbClr val="E6EDF3"/>
                </a:solidFill>
                <a:latin typeface="Inconsolata"/>
              </a:rPr>
              <a:t> </a:t>
            </a:r>
          </a:p>
          <a:p>
            <a:pPr>
              <a:lnSpc>
                <a:spcPct val="107843"/>
              </a:lnSpc>
              <a:spcAft>
                <a:spcPts val="0"/>
              </a:spcAft>
            </a:pPr>
            <a:r>
              <a:rPr sz="850" i="0">
                <a:solidFill>
                  <a:srgbClr val="5C6773"/>
                </a:solidFill>
                <a:latin typeface="Inconsolata"/>
              </a:rPr>
              <a:t>10  </a:t>
            </a:r>
            <a:r>
              <a:rPr sz="850" i="0">
                <a:solidFill>
                  <a:srgbClr val="E6EDF3"/>
                </a:solidFill>
                <a:latin typeface="Inconsolata"/>
              </a:rPr>
              <a:t> </a:t>
            </a:r>
          </a:p>
          <a:p>
            <a:pPr>
              <a:lnSpc>
                <a:spcPct val="107843"/>
              </a:lnSpc>
              <a:spcAft>
                <a:spcPts val="0"/>
              </a:spcAft>
            </a:pPr>
            <a:r>
              <a:rPr sz="850" i="0">
                <a:solidFill>
                  <a:srgbClr val="5C6773"/>
                </a:solidFill>
                <a:latin typeface="Inconsolata"/>
              </a:rPr>
              <a:t>11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OrderRepository</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5C6773"/>
                </a:solidFill>
                <a:latin typeface="Inconsolata"/>
              </a:rPr>
              <a:t>12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 ...</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p>
          <a:p>
            <a:pPr>
              <a:lnSpc>
                <a:spcPct val="107843"/>
              </a:lnSpc>
              <a:spcAft>
                <a:spcPts val="0"/>
              </a:spcAft>
            </a:pPr>
            <a:r>
              <a:rPr sz="850" i="0">
                <a:solidFill>
                  <a:srgbClr val="5C6773"/>
                </a:solidFill>
                <a:latin typeface="Inconsolata"/>
              </a:rPr>
              <a:t>15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Notifier</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5C6773"/>
                </a:solidFill>
                <a:latin typeface="Inconsolata"/>
              </a:rPr>
              <a:t>16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 ...</a:t>
            </a:r>
          </a:p>
          <a:p>
            <a:pPr>
              <a:lnSpc>
                <a:spcPct val="107843"/>
              </a:lnSpc>
              <a:spcAft>
                <a:spcPts val="0"/>
              </a:spcAft>
            </a:pPr>
            <a:r>
              <a:rPr sz="850" i="0">
                <a:solidFill>
                  <a:srgbClr val="5C6773"/>
                </a:solidFill>
                <a:latin typeface="Inconsolata"/>
              </a:rPr>
              <a:t>17  </a:t>
            </a:r>
            <a:r>
              <a:rPr sz="850" i="0">
                <a:solidFill>
                  <a:srgbClr val="E6EDF3"/>
                </a:solidFill>
                <a:latin typeface="Inconsolata"/>
              </a:rPr>
              <a:t> </a:t>
            </a:r>
          </a:p>
          <a:p>
            <a:pPr>
              <a:lnSpc>
                <a:spcPct val="107843"/>
              </a:lnSpc>
              <a:spcAft>
                <a:spcPts val="0"/>
              </a:spcAft>
            </a:pPr>
            <a:r>
              <a:rPr sz="850" i="0">
                <a:solidFill>
                  <a:srgbClr val="5C6773"/>
                </a:solidFill>
                <a:latin typeface="Inconsolata"/>
              </a:rPr>
              <a:t>18  </a:t>
            </a:r>
            <a:r>
              <a:rPr sz="850" i="0">
                <a:solidFill>
                  <a:srgbClr val="E6EDF3"/>
                </a:solidFill>
                <a:latin typeface="Inconsolata"/>
              </a:rPr>
              <a:t> </a:t>
            </a:r>
          </a:p>
          <a:p>
            <a:pPr>
              <a:lnSpc>
                <a:spcPct val="107843"/>
              </a:lnSpc>
              <a:spcAft>
                <a:spcPts val="0"/>
              </a:spcAft>
            </a:pPr>
            <a:r>
              <a:rPr sz="850" i="0">
                <a:solidFill>
                  <a:srgbClr val="5C6773"/>
                </a:solidFill>
                <a:latin typeface="Inconsolata"/>
              </a:rPr>
              <a:t>19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20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repo: </a:t>
            </a:r>
            <a:r>
              <a:rPr sz="850" i="0">
                <a:solidFill>
                  <a:srgbClr val="7FDBCA"/>
                </a:solidFill>
                <a:latin typeface="Inconsolata"/>
              </a:rPr>
              <a:t>OrderRepository</a:t>
            </a:r>
            <a:r>
              <a:rPr sz="850" i="0">
                <a:solidFill>
                  <a:srgbClr val="E6EDF3"/>
                </a:solidFill>
                <a:latin typeface="Inconsolata"/>
              </a:rPr>
              <a:t>, notifier: </a:t>
            </a:r>
            <a:r>
              <a:rPr sz="850" i="0">
                <a:solidFill>
                  <a:srgbClr val="7FDBCA"/>
                </a:solidFill>
                <a:latin typeface="Inconsolata"/>
              </a:rPr>
              <a:t>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.repo = repo</a:t>
            </a:r>
          </a:p>
          <a:p>
            <a:pPr>
              <a:lnSpc>
                <a:spcPct val="107843"/>
              </a:lnSpc>
              <a:spcAft>
                <a:spcPts val="0"/>
              </a:spcAft>
            </a:pPr>
            <a:r>
              <a:rPr sz="850" i="0">
                <a:solidFill>
                  <a:srgbClr val="5C6773"/>
                </a:solidFill>
                <a:latin typeface="Inconsolata"/>
              </a:rPr>
              <a:t>22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.notifier = notifier</a:t>
            </a:r>
          </a:p>
        </p:txBody>
      </p:sp>
      <p:sp>
        <p:nvSpPr>
          <p:cNvPr id="29" name="Box 12"/>
          <p:cNvSpPr/>
          <p:nvPr/>
        </p:nvSpPr>
        <p:spPr>
          <a:xfrm>
            <a:off x="704088" y="2387473"/>
            <a:ext cx="7699248" cy="829818"/>
          </a:xfrm>
          <a:prstGeom prst="roundRect">
            <a:avLst>
              <a:gd name="adj" fmla="val 550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6835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6447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7312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Dependency Dikirim dari Luar (2/4)</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05-dip/after.py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527"/>
              </a:lnSpc>
              <a:spcAft>
                <a:spcPts val="0"/>
              </a:spcAft>
            </a:pPr>
            <a:r>
              <a:rPr sz="775" i="0">
                <a:solidFill>
                  <a:srgbClr val="5C6773"/>
                </a:solidFill>
                <a:latin typeface="Inconsolata"/>
              </a:rPr>
              <a:t>24  </a:t>
            </a: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place_order</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customer: </a:t>
            </a:r>
            <a:r>
              <a:rPr sz="775" i="0">
                <a:solidFill>
                  <a:srgbClr val="C3A6FF"/>
                </a:solidFill>
                <a:latin typeface="Inconsolata"/>
              </a:rPr>
              <a:t>str</a:t>
            </a:r>
            <a:r>
              <a:rPr sz="775" i="0">
                <a:solidFill>
                  <a:srgbClr val="E6EDF3"/>
                </a:solidFill>
                <a:latin typeface="Inconsolata"/>
              </a:rPr>
              <a:t>, total: </a:t>
            </a:r>
            <a:r>
              <a:rPr sz="775" i="0">
                <a:solidFill>
                  <a:srgbClr val="C3A6FF"/>
                </a:solidFill>
                <a:latin typeface="Inconsolata"/>
              </a:rPr>
              <a:t>int</a:t>
            </a:r>
            <a:r>
              <a:rPr sz="775" i="0">
                <a:solidFill>
                  <a:srgbClr val="E6EDF3"/>
                </a:solidFill>
                <a:latin typeface="Inconsolata"/>
              </a:rPr>
              <a:t>) -&gt; </a:t>
            </a:r>
            <a:r>
              <a:rPr sz="775" i="0">
                <a:solidFill>
                  <a:srgbClr val="C3A6FF"/>
                </a:solidFill>
                <a:latin typeface="Inconsolata"/>
              </a:rPr>
              <a:t>int</a:t>
            </a:r>
            <a:r>
              <a:rPr sz="775" i="0">
                <a:solidFill>
                  <a:srgbClr val="E6EDF3"/>
                </a:solidFill>
                <a:latin typeface="Inconsolata"/>
              </a:rPr>
              <a:t>:</a:t>
            </a:r>
          </a:p>
          <a:p>
            <a:pPr>
              <a:lnSpc>
                <a:spcPct val="107527"/>
              </a:lnSpc>
              <a:spcAft>
                <a:spcPts val="0"/>
              </a:spcAft>
            </a:pPr>
            <a:r>
              <a:rPr sz="775" i="0">
                <a:solidFill>
                  <a:srgbClr val="5C6773"/>
                </a:solidFill>
                <a:latin typeface="Inconsolata"/>
              </a:rPr>
              <a:t>25  </a:t>
            </a:r>
            <a:r>
              <a:rPr sz="775" i="0">
                <a:solidFill>
                  <a:srgbClr val="E6EDF3"/>
                </a:solidFill>
                <a:latin typeface="Inconsolata"/>
              </a:rPr>
              <a:t>        order_id = </a:t>
            </a:r>
            <a:r>
              <a:rPr sz="775" i="0">
                <a:solidFill>
                  <a:srgbClr val="C3A6FF"/>
                </a:solidFill>
                <a:latin typeface="Inconsolata"/>
              </a:rPr>
              <a:t>self</a:t>
            </a:r>
            <a:r>
              <a:rPr sz="775" i="0">
                <a:solidFill>
                  <a:srgbClr val="E6EDF3"/>
                </a:solidFill>
                <a:latin typeface="Inconsolata"/>
              </a:rPr>
              <a:t>.repo.add(customer, total)</a:t>
            </a:r>
          </a:p>
          <a:p>
            <a:pPr>
              <a:lnSpc>
                <a:spcPct val="107527"/>
              </a:lnSpc>
              <a:spcAft>
                <a:spcPts val="0"/>
              </a:spcAft>
            </a:pPr>
            <a:r>
              <a:rPr sz="775" i="0">
                <a:solidFill>
                  <a:srgbClr val="5C6773"/>
                </a:solidFill>
                <a:latin typeface="Inconsolata"/>
              </a:rPr>
              <a:t>26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.notifier.send(customer, </a:t>
            </a:r>
            <a:r>
              <a:rPr sz="775" i="0">
                <a:solidFill>
                  <a:srgbClr val="A5D6A7"/>
                </a:solidFill>
                <a:latin typeface="Inconsolata"/>
              </a:rPr>
              <a:t>f"Order #{order_id} dibuat"</a:t>
            </a:r>
            <a:r>
              <a:rPr sz="775" i="0">
                <a:solidFill>
                  <a:srgbClr val="E6EDF3"/>
                </a:solidFill>
                <a:latin typeface="Inconsolata"/>
              </a:rPr>
              <a:t>)</a:t>
            </a:r>
          </a:p>
          <a:p>
            <a:pPr>
              <a:lnSpc>
                <a:spcPct val="107527"/>
              </a:lnSpc>
              <a:spcAft>
                <a:spcPts val="0"/>
              </a:spcAft>
            </a:pPr>
            <a:r>
              <a:rPr sz="775" i="0">
                <a:solidFill>
                  <a:srgbClr val="5C6773"/>
                </a:solidFill>
                <a:latin typeface="Inconsolata"/>
              </a:rPr>
              <a:t>27  </a:t>
            </a:r>
            <a:r>
              <a:rPr sz="775" i="0">
                <a:solidFill>
                  <a:srgbClr val="E6EDF3"/>
                </a:solidFill>
                <a:latin typeface="Inconsolata"/>
              </a:rPr>
              <a:t>        </a:t>
            </a:r>
            <a:r>
              <a:rPr sz="775" i="0">
                <a:solidFill>
                  <a:srgbClr val="FF8E6E"/>
                </a:solidFill>
                <a:latin typeface="Inconsolata"/>
              </a:rPr>
              <a:t>return</a:t>
            </a:r>
            <a:r>
              <a:rPr sz="775" i="0">
                <a:solidFill>
                  <a:srgbClr val="E6EDF3"/>
                </a:solidFill>
                <a:latin typeface="Inconsolata"/>
              </a:rPr>
              <a:t> order_id</a:t>
            </a:r>
          </a:p>
          <a:p>
            <a:pPr>
              <a:lnSpc>
                <a:spcPct val="107527"/>
              </a:lnSpc>
              <a:spcAft>
                <a:spcPts val="0"/>
              </a:spcAft>
            </a:pPr>
            <a:r>
              <a:rPr sz="775" i="0">
                <a:solidFill>
                  <a:srgbClr val="5C6773"/>
                </a:solidFill>
                <a:latin typeface="Inconsolata"/>
              </a:rPr>
              <a:t>28  </a:t>
            </a:r>
            <a:r>
              <a:rPr sz="775" i="0">
                <a:solidFill>
                  <a:srgbClr val="E6EDF3"/>
                </a:solidFill>
                <a:latin typeface="Inconsolata"/>
              </a:rPr>
              <a:t> </a:t>
            </a:r>
          </a:p>
          <a:p>
            <a:pPr>
              <a:lnSpc>
                <a:spcPct val="107527"/>
              </a:lnSpc>
              <a:spcAft>
                <a:spcPts val="0"/>
              </a:spcAft>
            </a:pPr>
            <a:r>
              <a:rPr sz="775" i="0">
                <a:solidFill>
                  <a:srgbClr val="5C6773"/>
                </a:solidFill>
                <a:latin typeface="Inconsolata"/>
              </a:rPr>
              <a:t>29  </a:t>
            </a:r>
            <a:r>
              <a:rPr sz="775" i="0">
                <a:solidFill>
                  <a:srgbClr val="E6EDF3"/>
                </a:solidFill>
                <a:latin typeface="Inconsolata"/>
              </a:rPr>
              <a:t> </a:t>
            </a:r>
          </a:p>
          <a:p>
            <a:pPr>
              <a:lnSpc>
                <a:spcPct val="107527"/>
              </a:lnSpc>
              <a:spcAft>
                <a:spcPts val="0"/>
              </a:spcAft>
            </a:pPr>
            <a:r>
              <a:rPr sz="775" i="0">
                <a:solidFill>
                  <a:srgbClr val="5C6773"/>
                </a:solidFill>
                <a:latin typeface="Inconsolata"/>
              </a:rPr>
              <a:t>30  </a:t>
            </a:r>
            <a:r>
              <a:rPr sz="775" i="1">
                <a:solidFill>
                  <a:srgbClr val="8B98A8"/>
                </a:solidFill>
                <a:latin typeface="Inconsolata"/>
              </a:rPr>
              <a:t># ---------- implementasi untuk aplikasi ----------</a:t>
            </a:r>
          </a:p>
          <a:p>
            <a:pPr>
              <a:lnSpc>
                <a:spcPct val="107527"/>
              </a:lnSpc>
              <a:spcAft>
                <a:spcPts val="0"/>
              </a:spcAft>
            </a:pPr>
            <a:r>
              <a:rPr sz="775" i="0">
                <a:solidFill>
                  <a:srgbClr val="5C6773"/>
                </a:solidFill>
                <a:latin typeface="Inconsolata"/>
              </a:rPr>
              <a:t>31  </a:t>
            </a:r>
            <a:r>
              <a:rPr sz="775" i="0">
                <a:solidFill>
                  <a:srgbClr val="FF8E6E"/>
                </a:solidFill>
                <a:latin typeface="Inconsolata"/>
              </a:rPr>
              <a:t>class</a:t>
            </a:r>
            <a:r>
              <a:rPr sz="775" i="0">
                <a:solidFill>
                  <a:srgbClr val="E6EDF3"/>
                </a:solidFill>
                <a:latin typeface="Inconsolata"/>
              </a:rPr>
              <a:t> </a:t>
            </a:r>
            <a:r>
              <a:rPr sz="775" i="0">
                <a:solidFill>
                  <a:srgbClr val="7FDBCA"/>
                </a:solidFill>
                <a:latin typeface="Inconsolata"/>
              </a:rPr>
              <a:t>SqliteOrderRepository</a:t>
            </a:r>
            <a:r>
              <a:rPr sz="775" i="0">
                <a:solidFill>
                  <a:srgbClr val="E6EDF3"/>
                </a:solidFill>
                <a:latin typeface="Inconsolata"/>
              </a:rPr>
              <a:t>:</a:t>
            </a:r>
          </a:p>
          <a:p>
            <a:pPr>
              <a:lnSpc>
                <a:spcPct val="107527"/>
              </a:lnSpc>
              <a:spcAft>
                <a:spcPts val="0"/>
              </a:spcAft>
            </a:pPr>
            <a:r>
              <a:rPr sz="775" i="0">
                <a:solidFill>
                  <a:srgbClr val="5C6773"/>
                </a:solidFill>
                <a:latin typeface="Inconsolata"/>
              </a:rPr>
              <a:t>32  </a:t>
            </a: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__init__</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path: </a:t>
            </a:r>
            <a:r>
              <a:rPr sz="775" i="0">
                <a:solidFill>
                  <a:srgbClr val="C3A6FF"/>
                </a:solidFill>
                <a:latin typeface="Inconsolata"/>
              </a:rPr>
              <a:t>str</a:t>
            </a:r>
            <a:r>
              <a:rPr sz="775" i="0">
                <a:solidFill>
                  <a:srgbClr val="E6EDF3"/>
                </a:solidFill>
                <a:latin typeface="Inconsolata"/>
              </a:rPr>
              <a:t> = </a:t>
            </a:r>
            <a:r>
              <a:rPr sz="775" i="0">
                <a:solidFill>
                  <a:srgbClr val="A5D6A7"/>
                </a:solidFill>
                <a:latin typeface="Inconsolata"/>
              </a:rPr>
              <a:t>"orders.db"</a:t>
            </a:r>
            <a:r>
              <a:rPr sz="775" i="0">
                <a:solidFill>
                  <a:srgbClr val="E6EDF3"/>
                </a:solidFill>
                <a:latin typeface="Inconsolata"/>
              </a:rPr>
              <a:t>):</a:t>
            </a:r>
          </a:p>
          <a:p>
            <a:pPr>
              <a:lnSpc>
                <a:spcPct val="107527"/>
              </a:lnSpc>
              <a:spcAft>
                <a:spcPts val="0"/>
              </a:spcAft>
            </a:pPr>
            <a:r>
              <a:rPr sz="775" i="0">
                <a:solidFill>
                  <a:srgbClr val="5C6773"/>
                </a:solidFill>
                <a:latin typeface="Inconsolata"/>
              </a:rPr>
              <a:t>33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.conn = sqlite3.connect(path)</a:t>
            </a:r>
          </a:p>
          <a:p>
            <a:pPr>
              <a:lnSpc>
                <a:spcPct val="107527"/>
              </a:lnSpc>
              <a:spcAft>
                <a:spcPts val="0"/>
              </a:spcAft>
            </a:pPr>
            <a:r>
              <a:rPr sz="775" i="0">
                <a:solidFill>
                  <a:srgbClr val="5C6773"/>
                </a:solidFill>
                <a:latin typeface="Inconsolata"/>
              </a:rPr>
              <a:t>34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.conn.execute(</a:t>
            </a:r>
          </a:p>
          <a:p>
            <a:pPr>
              <a:lnSpc>
                <a:spcPct val="107527"/>
              </a:lnSpc>
              <a:spcAft>
                <a:spcPts val="0"/>
              </a:spcAft>
            </a:pPr>
            <a:r>
              <a:rPr sz="775" i="0">
                <a:solidFill>
                  <a:srgbClr val="5C6773"/>
                </a:solidFill>
                <a:latin typeface="Inconsolata"/>
              </a:rPr>
              <a:t>35  </a:t>
            </a:r>
            <a:r>
              <a:rPr sz="775" i="0">
                <a:solidFill>
                  <a:srgbClr val="E6EDF3"/>
                </a:solidFill>
                <a:latin typeface="Inconsolata"/>
              </a:rPr>
              <a:t>            </a:t>
            </a:r>
            <a:r>
              <a:rPr sz="775" i="0">
                <a:solidFill>
                  <a:srgbClr val="A5D6A7"/>
                </a:solidFill>
                <a:latin typeface="Inconsolata"/>
              </a:rPr>
              <a:t>"CREATE TABLE IF NOT EXISTS orders "</a:t>
            </a:r>
          </a:p>
          <a:p>
            <a:pPr>
              <a:lnSpc>
                <a:spcPct val="107527"/>
              </a:lnSpc>
              <a:spcAft>
                <a:spcPts val="0"/>
              </a:spcAft>
            </a:pPr>
            <a:r>
              <a:rPr sz="775" i="0">
                <a:solidFill>
                  <a:srgbClr val="5C6773"/>
                </a:solidFill>
                <a:latin typeface="Inconsolata"/>
              </a:rPr>
              <a:t>36  </a:t>
            </a:r>
            <a:r>
              <a:rPr sz="775" i="0">
                <a:solidFill>
                  <a:srgbClr val="E6EDF3"/>
                </a:solidFill>
                <a:latin typeface="Inconsolata"/>
              </a:rPr>
              <a:t>            </a:t>
            </a:r>
            <a:r>
              <a:rPr sz="775" i="0">
                <a:solidFill>
                  <a:srgbClr val="A5D6A7"/>
                </a:solidFill>
                <a:latin typeface="Inconsolata"/>
              </a:rPr>
              <a:t>"(id INTEGER PRIMARY KEY, customer TEXT, total INTEGER)"</a:t>
            </a:r>
          </a:p>
          <a:p>
            <a:pPr>
              <a:lnSpc>
                <a:spcPct val="107527"/>
              </a:lnSpc>
              <a:spcAft>
                <a:spcPts val="0"/>
              </a:spcAft>
            </a:pPr>
            <a:r>
              <a:rPr sz="775" i="0">
                <a:solidFill>
                  <a:srgbClr val="5C6773"/>
                </a:solidFill>
                <a:latin typeface="Inconsolata"/>
              </a:rPr>
              <a:t>37  </a:t>
            </a:r>
            <a:r>
              <a:rPr sz="775" i="0">
                <a:solidFill>
                  <a:srgbClr val="E6EDF3"/>
                </a:solidFill>
                <a:latin typeface="Inconsolata"/>
              </a:rPr>
              <a:t>        )</a:t>
            </a:r>
          </a:p>
          <a:p>
            <a:pPr>
              <a:lnSpc>
                <a:spcPct val="107527"/>
              </a:lnSpc>
              <a:spcAft>
                <a:spcPts val="0"/>
              </a:spcAft>
            </a:pPr>
            <a:r>
              <a:rPr sz="775" i="0">
                <a:solidFill>
                  <a:srgbClr val="5C6773"/>
                </a:solidFill>
                <a:latin typeface="Inconsolata"/>
              </a:rPr>
              <a:t>38  </a:t>
            </a:r>
            <a:r>
              <a:rPr sz="775" i="0">
                <a:solidFill>
                  <a:srgbClr val="E6EDF3"/>
                </a:solidFill>
                <a:latin typeface="Inconsolata"/>
              </a:rPr>
              <a:t> </a:t>
            </a:r>
          </a:p>
          <a:p>
            <a:pPr>
              <a:lnSpc>
                <a:spcPct val="107527"/>
              </a:lnSpc>
              <a:spcAft>
                <a:spcPts val="0"/>
              </a:spcAft>
            </a:pPr>
            <a:r>
              <a:rPr sz="775" i="0">
                <a:solidFill>
                  <a:srgbClr val="5C6773"/>
                </a:solidFill>
                <a:latin typeface="Inconsolata"/>
              </a:rPr>
              <a:t>39  </a:t>
            </a: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add</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customer: </a:t>
            </a:r>
            <a:r>
              <a:rPr sz="775" i="0">
                <a:solidFill>
                  <a:srgbClr val="C3A6FF"/>
                </a:solidFill>
                <a:latin typeface="Inconsolata"/>
              </a:rPr>
              <a:t>str</a:t>
            </a:r>
            <a:r>
              <a:rPr sz="775" i="0">
                <a:solidFill>
                  <a:srgbClr val="E6EDF3"/>
                </a:solidFill>
                <a:latin typeface="Inconsolata"/>
              </a:rPr>
              <a:t>, total: </a:t>
            </a:r>
            <a:r>
              <a:rPr sz="775" i="0">
                <a:solidFill>
                  <a:srgbClr val="C3A6FF"/>
                </a:solidFill>
                <a:latin typeface="Inconsolata"/>
              </a:rPr>
              <a:t>int</a:t>
            </a:r>
            <a:r>
              <a:rPr sz="775" i="0">
                <a:solidFill>
                  <a:srgbClr val="E6EDF3"/>
                </a:solidFill>
                <a:latin typeface="Inconsolata"/>
              </a:rPr>
              <a:t>) -&gt; </a:t>
            </a:r>
            <a:r>
              <a:rPr sz="775" i="0">
                <a:solidFill>
                  <a:srgbClr val="C3A6FF"/>
                </a:solidFill>
                <a:latin typeface="Inconsolata"/>
              </a:rPr>
              <a:t>int</a:t>
            </a:r>
            <a:r>
              <a:rPr sz="775" i="0">
                <a:solidFill>
                  <a:srgbClr val="E6EDF3"/>
                </a:solidFill>
                <a:latin typeface="Inconsolata"/>
              </a:rPr>
              <a:t>:</a:t>
            </a:r>
          </a:p>
          <a:p>
            <a:pPr>
              <a:lnSpc>
                <a:spcPct val="107527"/>
              </a:lnSpc>
              <a:spcAft>
                <a:spcPts val="0"/>
              </a:spcAft>
            </a:pPr>
            <a:r>
              <a:rPr sz="775" i="0">
                <a:solidFill>
                  <a:srgbClr val="5C6773"/>
                </a:solidFill>
                <a:latin typeface="Inconsolata"/>
              </a:rPr>
              <a:t>40  </a:t>
            </a:r>
            <a:r>
              <a:rPr sz="775" i="0">
                <a:solidFill>
                  <a:srgbClr val="E6EDF3"/>
                </a:solidFill>
                <a:latin typeface="Inconsolata"/>
              </a:rPr>
              <a:t>        cur = </a:t>
            </a:r>
            <a:r>
              <a:rPr sz="775" i="0">
                <a:solidFill>
                  <a:srgbClr val="C3A6FF"/>
                </a:solidFill>
                <a:latin typeface="Inconsolata"/>
              </a:rPr>
              <a:t>self</a:t>
            </a:r>
            <a:r>
              <a:rPr sz="775" i="0">
                <a:solidFill>
                  <a:srgbClr val="E6EDF3"/>
                </a:solidFill>
                <a:latin typeface="Inconsolata"/>
              </a:rPr>
              <a:t>.conn.execute(</a:t>
            </a:r>
          </a:p>
          <a:p>
            <a:pPr>
              <a:lnSpc>
                <a:spcPct val="107527"/>
              </a:lnSpc>
              <a:spcAft>
                <a:spcPts val="0"/>
              </a:spcAft>
            </a:pPr>
            <a:r>
              <a:rPr sz="775" i="0">
                <a:solidFill>
                  <a:srgbClr val="5C6773"/>
                </a:solidFill>
                <a:latin typeface="Inconsolata"/>
              </a:rPr>
              <a:t>41  </a:t>
            </a:r>
            <a:r>
              <a:rPr sz="775" i="0">
                <a:solidFill>
                  <a:srgbClr val="E6EDF3"/>
                </a:solidFill>
                <a:latin typeface="Inconsolata"/>
              </a:rPr>
              <a:t>            </a:t>
            </a:r>
            <a:r>
              <a:rPr sz="775" i="0">
                <a:solidFill>
                  <a:srgbClr val="A5D6A7"/>
                </a:solidFill>
                <a:latin typeface="Inconsolata"/>
              </a:rPr>
              <a:t>"INSERT INTO orders (customer, total) VALUES (?, ?)"</a:t>
            </a:r>
            <a:r>
              <a:rPr sz="775" i="0">
                <a:solidFill>
                  <a:srgbClr val="E6EDF3"/>
                </a:solidFill>
                <a:latin typeface="Inconsolata"/>
              </a:rPr>
              <a:t>,</a:t>
            </a:r>
          </a:p>
          <a:p>
            <a:pPr>
              <a:lnSpc>
                <a:spcPct val="107527"/>
              </a:lnSpc>
              <a:spcAft>
                <a:spcPts val="0"/>
              </a:spcAft>
            </a:pPr>
            <a:r>
              <a:rPr sz="775" i="0">
                <a:solidFill>
                  <a:srgbClr val="5C6773"/>
                </a:solidFill>
                <a:latin typeface="Inconsolata"/>
              </a:rPr>
              <a:t>42  </a:t>
            </a:r>
            <a:r>
              <a:rPr sz="775" i="0">
                <a:solidFill>
                  <a:srgbClr val="E6EDF3"/>
                </a:solidFill>
                <a:latin typeface="Inconsolata"/>
              </a:rPr>
              <a:t>            (customer, total),</a:t>
            </a:r>
          </a:p>
          <a:p>
            <a:pPr>
              <a:lnSpc>
                <a:spcPct val="107527"/>
              </a:lnSpc>
              <a:spcAft>
                <a:spcPts val="0"/>
              </a:spcAft>
            </a:pPr>
            <a:r>
              <a:rPr sz="775" i="0">
                <a:solidFill>
                  <a:srgbClr val="5C6773"/>
                </a:solidFill>
                <a:latin typeface="Inconsolata"/>
              </a:rPr>
              <a:t>43  </a:t>
            </a:r>
            <a:r>
              <a:rPr sz="775" i="0">
                <a:solidFill>
                  <a:srgbClr val="E6EDF3"/>
                </a:solidFill>
                <a:latin typeface="Inconsolata"/>
              </a:rPr>
              <a:t>        )</a:t>
            </a:r>
          </a:p>
          <a:p>
            <a:pPr>
              <a:lnSpc>
                <a:spcPct val="107527"/>
              </a:lnSpc>
              <a:spcAft>
                <a:spcPts val="0"/>
              </a:spcAft>
            </a:pPr>
            <a:r>
              <a:rPr sz="775" i="0">
                <a:solidFill>
                  <a:srgbClr val="5C6773"/>
                </a:solidFill>
                <a:latin typeface="Inconsolata"/>
              </a:rPr>
              <a:t>44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.conn.commit()</a:t>
            </a:r>
          </a:p>
          <a:p>
            <a:pPr>
              <a:lnSpc>
                <a:spcPct val="107527"/>
              </a:lnSpc>
              <a:spcAft>
                <a:spcPts val="0"/>
              </a:spcAft>
            </a:pPr>
            <a:r>
              <a:rPr sz="775" i="0">
                <a:solidFill>
                  <a:srgbClr val="5C6773"/>
                </a:solidFill>
                <a:latin typeface="Inconsolata"/>
              </a:rPr>
              <a:t>45  </a:t>
            </a:r>
            <a:r>
              <a:rPr sz="775" i="0">
                <a:solidFill>
                  <a:srgbClr val="E6EDF3"/>
                </a:solidFill>
                <a:latin typeface="Inconsolata"/>
              </a:rPr>
              <a:t>        </a:t>
            </a:r>
            <a:r>
              <a:rPr sz="775" i="0">
                <a:solidFill>
                  <a:srgbClr val="FF8E6E"/>
                </a:solidFill>
                <a:latin typeface="Inconsolata"/>
              </a:rPr>
              <a:t>return</a:t>
            </a:r>
            <a:r>
              <a:rPr sz="775" i="0">
                <a:solidFill>
                  <a:srgbClr val="E6EDF3"/>
                </a:solidFill>
                <a:latin typeface="Inconsolata"/>
              </a:rPr>
              <a:t> cur.lastrowid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Dependency Dikirim dari Luar (3/4)</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05-dip/after.py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48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EmailNotifier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49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50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f"[EMAIL] ke {to}: {message}"</a:t>
            </a:r>
            <a:r>
              <a:rPr sz="850" i="0">
                <a:solidFill>
                  <a:srgbClr val="E6EDF3"/>
                </a:solidFill>
                <a:latin typeface="Inconsolata"/>
              </a:rPr>
              <a:t>)</a:t>
            </a:r>
          </a:p>
          <a:p>
            <a:pPr>
              <a:lnSpc>
                <a:spcPct val="107843"/>
              </a:lnSpc>
              <a:spcAft>
                <a:spcPts val="0"/>
              </a:spcAft>
            </a:pPr>
            <a:r>
              <a:rPr sz="850" i="0">
                <a:solidFill>
                  <a:srgbClr val="5C6773"/>
                </a:solidFill>
                <a:latin typeface="Inconsolata"/>
              </a:rPr>
              <a:t>51  </a:t>
            </a:r>
            <a:r>
              <a:rPr sz="850" i="0">
                <a:solidFill>
                  <a:srgbClr val="E6EDF3"/>
                </a:solidFill>
                <a:latin typeface="Inconsolata"/>
              </a:rPr>
              <a:t> </a:t>
            </a:r>
          </a:p>
          <a:p>
            <a:pPr>
              <a:lnSpc>
                <a:spcPct val="107843"/>
              </a:lnSpc>
              <a:spcAft>
                <a:spcPts val="0"/>
              </a:spcAft>
            </a:pPr>
            <a:r>
              <a:rPr sz="850" i="0">
                <a:solidFill>
                  <a:srgbClr val="5C6773"/>
                </a:solidFill>
                <a:latin typeface="Inconsolata"/>
              </a:rPr>
              <a:t>52  </a:t>
            </a:r>
            <a:r>
              <a:rPr sz="850" i="0">
                <a:solidFill>
                  <a:srgbClr val="E6EDF3"/>
                </a:solidFill>
                <a:latin typeface="Inconsolata"/>
              </a:rPr>
              <a:t> </a:t>
            </a:r>
          </a:p>
          <a:p>
            <a:pPr>
              <a:lnSpc>
                <a:spcPct val="107843"/>
              </a:lnSpc>
              <a:spcAft>
                <a:spcPts val="0"/>
              </a:spcAft>
            </a:pPr>
            <a:r>
              <a:rPr sz="850" i="0">
                <a:solidFill>
                  <a:srgbClr val="5C6773"/>
                </a:solidFill>
                <a:latin typeface="Inconsolata"/>
              </a:rPr>
              <a:t>53  </a:t>
            </a:r>
            <a:r>
              <a:rPr sz="850" i="1">
                <a:solidFill>
                  <a:srgbClr val="8B98A8"/>
                </a:solidFill>
                <a:latin typeface="Inconsolata"/>
              </a:rPr>
              <a:t># ---------- implementasi untuk test ----------</a:t>
            </a:r>
          </a:p>
          <a:p>
            <a:pPr>
              <a:lnSpc>
                <a:spcPct val="107843"/>
              </a:lnSpc>
              <a:spcAft>
                <a:spcPts val="0"/>
              </a:spcAft>
            </a:pPr>
            <a:r>
              <a:rPr sz="850" i="0">
                <a:solidFill>
                  <a:srgbClr val="5C6773"/>
                </a:solidFill>
                <a:latin typeface="Inconsolata"/>
              </a:rPr>
              <a:t>54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InMemoryOrderRepository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55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56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.rows: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tuple</a:t>
            </a:r>
            <a:r>
              <a:rPr sz="850" i="0">
                <a:solidFill>
                  <a:srgbClr val="E6EDF3"/>
                </a:solidFill>
                <a:latin typeface="Inconsolata"/>
              </a:rPr>
              <a:t>[</a:t>
            </a:r>
            <a:r>
              <a:rPr sz="850" i="0">
                <a:solidFill>
                  <a:srgbClr val="C3A6FF"/>
                </a:solidFill>
                <a:latin typeface="Inconsolata"/>
              </a:rPr>
              <a:t>str</a:t>
            </a:r>
            <a:r>
              <a:rPr sz="850" i="0">
                <a:solidFill>
                  <a:srgbClr val="E6EDF3"/>
                </a:solidFill>
                <a:latin typeface="Inconsolata"/>
              </a:rPr>
              <a:t>, </a:t>
            </a:r>
            <a:r>
              <a:rPr sz="850" i="0">
                <a:solidFill>
                  <a:srgbClr val="C3A6FF"/>
                </a:solidFill>
                <a:latin typeface="Inconsolata"/>
              </a:rPr>
              <a:t>int</a:t>
            </a:r>
            <a:r>
              <a:rPr sz="850" i="0">
                <a:solidFill>
                  <a:srgbClr val="E6EDF3"/>
                </a:solidFill>
                <a:latin typeface="Inconsolata"/>
              </a:rPr>
              <a:t>]] = []</a:t>
            </a:r>
          </a:p>
          <a:p>
            <a:pPr>
              <a:lnSpc>
                <a:spcPct val="107843"/>
              </a:lnSpc>
              <a:spcAft>
                <a:spcPts val="0"/>
              </a:spcAft>
            </a:pPr>
            <a:r>
              <a:rPr sz="850" i="0">
                <a:solidFill>
                  <a:srgbClr val="5C6773"/>
                </a:solidFill>
                <a:latin typeface="Inconsolata"/>
              </a:rPr>
              <a:t>57  </a:t>
            </a:r>
            <a:r>
              <a:rPr sz="850" i="0">
                <a:solidFill>
                  <a:srgbClr val="E6EDF3"/>
                </a:solidFill>
                <a:latin typeface="Inconsolata"/>
              </a:rPr>
              <a:t> </a:t>
            </a:r>
          </a:p>
          <a:p>
            <a:pPr>
              <a:lnSpc>
                <a:spcPct val="107843"/>
              </a:lnSpc>
              <a:spcAft>
                <a:spcPts val="0"/>
              </a:spcAft>
            </a:pPr>
            <a:r>
              <a:rPr sz="850" i="0">
                <a:solidFill>
                  <a:srgbClr val="5C6773"/>
                </a:solidFill>
                <a:latin typeface="Inconsolata"/>
              </a:rPr>
              <a:t>58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int</a:t>
            </a:r>
            <a:r>
              <a:rPr sz="850" i="0">
                <a:solidFill>
                  <a:srgbClr val="E6EDF3"/>
                </a:solidFill>
                <a:latin typeface="Inconsolata"/>
              </a:rPr>
              <a:t>:</a:t>
            </a:r>
          </a:p>
          <a:p>
            <a:pPr>
              <a:lnSpc>
                <a:spcPct val="107843"/>
              </a:lnSpc>
              <a:spcAft>
                <a:spcPts val="0"/>
              </a:spcAft>
            </a:pPr>
            <a:r>
              <a:rPr sz="850" i="0">
                <a:solidFill>
                  <a:srgbClr val="5C6773"/>
                </a:solidFill>
                <a:latin typeface="Inconsolata"/>
              </a:rPr>
              <a:t>59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.rows.append((customer, total))</a:t>
            </a:r>
          </a:p>
          <a:p>
            <a:pPr>
              <a:lnSpc>
                <a:spcPct val="107843"/>
              </a:lnSpc>
              <a:spcAft>
                <a:spcPts val="0"/>
              </a:spcAft>
            </a:pPr>
            <a:r>
              <a:rPr sz="850" i="0">
                <a:solidFill>
                  <a:srgbClr val="5C6773"/>
                </a:solidFill>
                <a:latin typeface="Inconsolata"/>
              </a:rPr>
              <a:t>60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C3A6FF"/>
                </a:solidFill>
                <a:latin typeface="Inconsolata"/>
              </a:rPr>
              <a:t>len</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.rows)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39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Dependency Dikirim dari Luar (4/4)</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05-dip/after.py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63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FakeNotifier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64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65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.sent: </a:t>
            </a:r>
            <a:r>
              <a:rPr sz="850" i="0">
                <a:solidFill>
                  <a:srgbClr val="C3A6FF"/>
                </a:solidFill>
                <a:latin typeface="Inconsolata"/>
              </a:rPr>
              <a:t>list</a:t>
            </a:r>
            <a:r>
              <a:rPr sz="850" i="0">
                <a:solidFill>
                  <a:srgbClr val="E6EDF3"/>
                </a:solidFill>
                <a:latin typeface="Inconsolata"/>
              </a:rPr>
              <a:t>[</a:t>
            </a:r>
            <a:r>
              <a:rPr sz="850" i="0">
                <a:solidFill>
                  <a:srgbClr val="C3A6FF"/>
                </a:solidFill>
                <a:latin typeface="Inconsolata"/>
              </a:rPr>
              <a:t>str</a:t>
            </a:r>
            <a:r>
              <a:rPr sz="850" i="0">
                <a:solidFill>
                  <a:srgbClr val="E6EDF3"/>
                </a:solidFill>
                <a:latin typeface="Inconsolata"/>
              </a:rPr>
              <a:t>] = []</a:t>
            </a:r>
          </a:p>
          <a:p>
            <a:pPr>
              <a:lnSpc>
                <a:spcPct val="107843"/>
              </a:lnSpc>
              <a:spcAft>
                <a:spcPts val="0"/>
              </a:spcAft>
            </a:pPr>
            <a:r>
              <a:rPr sz="850" i="0">
                <a:solidFill>
                  <a:srgbClr val="5C6773"/>
                </a:solidFill>
                <a:latin typeface="Inconsolata"/>
              </a:rPr>
              <a:t>66  </a:t>
            </a:r>
            <a:r>
              <a:rPr sz="850" i="0">
                <a:solidFill>
                  <a:srgbClr val="E6EDF3"/>
                </a:solidFill>
                <a:latin typeface="Inconsolata"/>
              </a:rPr>
              <a:t> </a:t>
            </a:r>
          </a:p>
          <a:p>
            <a:pPr>
              <a:lnSpc>
                <a:spcPct val="107843"/>
              </a:lnSpc>
              <a:spcAft>
                <a:spcPts val="0"/>
              </a:spcAft>
            </a:pPr>
            <a:r>
              <a:rPr sz="850" i="0">
                <a:solidFill>
                  <a:srgbClr val="5C6773"/>
                </a:solidFill>
                <a:latin typeface="Inconsolata"/>
              </a:rPr>
              <a:t>67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a:t>
            </a:r>
          </a:p>
          <a:p>
            <a:pPr>
              <a:lnSpc>
                <a:spcPct val="107843"/>
              </a:lnSpc>
              <a:spcAft>
                <a:spcPts val="0"/>
              </a:spcAft>
            </a:pPr>
            <a:r>
              <a:rPr sz="850" i="0">
                <a:solidFill>
                  <a:srgbClr val="5C6773"/>
                </a:solidFill>
                <a:latin typeface="Inconsolata"/>
              </a:rPr>
              <a:t>68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.sent.append(to)</a:t>
            </a:r>
          </a:p>
          <a:p>
            <a:pPr>
              <a:lnSpc>
                <a:spcPct val="107843"/>
              </a:lnSpc>
              <a:spcAft>
                <a:spcPts val="0"/>
              </a:spcAft>
            </a:pPr>
            <a:r>
              <a:rPr sz="850" i="0">
                <a:solidFill>
                  <a:srgbClr val="5C6773"/>
                </a:solidFill>
                <a:latin typeface="Inconsolata"/>
              </a:rPr>
              <a:t>69  </a:t>
            </a:r>
            <a:r>
              <a:rPr sz="850" i="0">
                <a:solidFill>
                  <a:srgbClr val="E6EDF3"/>
                </a:solidFill>
                <a:latin typeface="Inconsolata"/>
              </a:rPr>
              <a:t> </a:t>
            </a:r>
          </a:p>
          <a:p>
            <a:pPr>
              <a:lnSpc>
                <a:spcPct val="107843"/>
              </a:lnSpc>
              <a:spcAft>
                <a:spcPts val="0"/>
              </a:spcAft>
            </a:pPr>
            <a:r>
              <a:rPr sz="850" i="0">
                <a:solidFill>
                  <a:srgbClr val="5C6773"/>
                </a:solidFill>
                <a:latin typeface="Inconsolata"/>
              </a:rPr>
              <a:t>70  </a:t>
            </a:r>
            <a:r>
              <a:rPr sz="850" i="0">
                <a:solidFill>
                  <a:srgbClr val="E6EDF3"/>
                </a:solidFill>
                <a:latin typeface="Inconsolata"/>
              </a:rPr>
              <a:t> </a:t>
            </a:r>
          </a:p>
          <a:p>
            <a:pPr>
              <a:lnSpc>
                <a:spcPct val="107843"/>
              </a:lnSpc>
              <a:spcAft>
                <a:spcPts val="0"/>
              </a:spcAft>
            </a:pPr>
            <a:r>
              <a:rPr sz="850" i="0">
                <a:solidFill>
                  <a:srgbClr val="5C6773"/>
                </a:solidFill>
                <a:latin typeface="Inconsolata"/>
              </a:rPr>
              <a:t>71  </a:t>
            </a:r>
            <a:r>
              <a:rPr sz="850" i="0">
                <a:solidFill>
                  <a:srgbClr val="FF8E6E"/>
                </a:solidFill>
                <a:latin typeface="Inconsolata"/>
              </a:rPr>
              <a:t>if</a:t>
            </a:r>
            <a:r>
              <a:rPr sz="850" i="0">
                <a:solidFill>
                  <a:srgbClr val="E6EDF3"/>
                </a:solidFill>
                <a:latin typeface="Inconsolata"/>
              </a:rPr>
              <a:t> __name__ == </a:t>
            </a:r>
            <a:r>
              <a:rPr sz="850" i="0">
                <a:solidFill>
                  <a:srgbClr val="A5D6A7"/>
                </a:solidFill>
                <a:latin typeface="Inconsolata"/>
              </a:rPr>
              <a:t>"__main__"</a:t>
            </a:r>
            <a:r>
              <a:rPr sz="850" i="0">
                <a:solidFill>
                  <a:srgbClr val="E6EDF3"/>
                </a:solidFill>
                <a:latin typeface="Inconsolata"/>
              </a:rPr>
              <a:t>:</a:t>
            </a:r>
          </a:p>
          <a:p>
            <a:pPr>
              <a:lnSpc>
                <a:spcPct val="107843"/>
              </a:lnSpc>
              <a:spcAft>
                <a:spcPts val="0"/>
              </a:spcAft>
            </a:pPr>
            <a:r>
              <a:rPr sz="850" i="0">
                <a:solidFill>
                  <a:srgbClr val="5C6773"/>
                </a:solidFill>
                <a:latin typeface="Inconsolata"/>
              </a:rPr>
              <a:t>72  </a:t>
            </a:r>
            <a:r>
              <a:rPr sz="850" i="0">
                <a:solidFill>
                  <a:srgbClr val="E6EDF3"/>
                </a:solidFill>
                <a:latin typeface="Inconsolata"/>
              </a:rPr>
              <a:t>    app_service = </a:t>
            </a:r>
            <a:r>
              <a:rPr sz="850" i="0">
                <a:solidFill>
                  <a:srgbClr val="7FDBCA"/>
                </a:solidFill>
                <a:latin typeface="Inconsolata"/>
              </a:rPr>
              <a:t>OrderService</a:t>
            </a:r>
            <a:r>
              <a:rPr sz="850" i="0">
                <a:solidFill>
                  <a:srgbClr val="E6EDF3"/>
                </a:solidFill>
                <a:latin typeface="Inconsolata"/>
              </a:rPr>
              <a:t>(</a:t>
            </a:r>
            <a:r>
              <a:rPr sz="850" i="0">
                <a:solidFill>
                  <a:srgbClr val="7FDBCA"/>
                </a:solidFill>
                <a:latin typeface="Inconsolata"/>
              </a:rPr>
              <a:t>SqliteOrderRepository</a:t>
            </a:r>
            <a:r>
              <a:rPr sz="850" i="0">
                <a:solidFill>
                  <a:srgbClr val="E6EDF3"/>
                </a:solidFill>
                <a:latin typeface="Inconsolata"/>
              </a:rPr>
              <a:t>(), </a:t>
            </a:r>
            <a:r>
              <a:rPr sz="850" i="0">
                <a:solidFill>
                  <a:srgbClr val="7FDBCA"/>
                </a:solidFill>
                <a:latin typeface="Inconsolata"/>
              </a:rPr>
              <a:t>EmailNotifier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73  </a:t>
            </a:r>
            <a:r>
              <a:rPr sz="850" i="0">
                <a:solidFill>
                  <a:srgbClr val="E6EDF3"/>
                </a:solidFill>
                <a:latin typeface="Inconsolata"/>
              </a:rPr>
              <a:t>    app_service.place_order(</a:t>
            </a:r>
            <a:r>
              <a:rPr sz="850" i="0">
                <a:solidFill>
                  <a:srgbClr val="A5D6A7"/>
                </a:solidFill>
                <a:latin typeface="Inconsolata"/>
              </a:rPr>
              <a:t>"budi@mail.com"</a:t>
            </a:r>
            <a:r>
              <a:rPr sz="850" i="0">
                <a:solidFill>
                  <a:srgbClr val="E6EDF3"/>
                </a:solidFill>
                <a:latin typeface="Inconsolata"/>
              </a:rPr>
              <a:t>, </a:t>
            </a:r>
            <a:r>
              <a:rPr sz="850" i="0">
                <a:solidFill>
                  <a:srgbClr val="F9C97A"/>
                </a:solidFill>
                <a:latin typeface="Inconsolata"/>
              </a:rPr>
              <a:t>150_000</a:t>
            </a:r>
            <a:r>
              <a:rPr sz="850" i="0">
                <a:solidFill>
                  <a:srgbClr val="E6EDF3"/>
                </a:solidFill>
                <a:latin typeface="Inconsolata"/>
              </a:rPr>
              <a:t>)</a:t>
            </a:r>
          </a:p>
          <a:p>
            <a:pPr>
              <a:lnSpc>
                <a:spcPct val="107843"/>
              </a:lnSpc>
              <a:spcAft>
                <a:spcPts val="0"/>
              </a:spcAft>
            </a:pPr>
            <a:r>
              <a:rPr sz="850" i="0">
                <a:solidFill>
                  <a:srgbClr val="5C6773"/>
                </a:solidFill>
                <a:latin typeface="Inconsolata"/>
              </a:rPr>
              <a:t>74  </a:t>
            </a:r>
            <a:r>
              <a:rPr sz="850" i="0">
                <a:solidFill>
                  <a:srgbClr val="E6EDF3"/>
                </a:solidFill>
                <a:latin typeface="Inconsolata"/>
              </a:rPr>
              <a:t> </a:t>
            </a:r>
          </a:p>
          <a:p>
            <a:pPr>
              <a:lnSpc>
                <a:spcPct val="107843"/>
              </a:lnSpc>
              <a:spcAft>
                <a:spcPts val="0"/>
              </a:spcAft>
            </a:pPr>
            <a:r>
              <a:rPr sz="850" i="0">
                <a:solidFill>
                  <a:srgbClr val="5C6773"/>
                </a:solidFill>
                <a:latin typeface="Inconsolata"/>
              </a:rPr>
              <a:t>75  </a:t>
            </a:r>
            <a:r>
              <a:rPr sz="850" i="0">
                <a:solidFill>
                  <a:srgbClr val="E6EDF3"/>
                </a:solidFill>
                <a:latin typeface="Inconsolata"/>
              </a:rPr>
              <a:t>    notifier = </a:t>
            </a:r>
            <a:r>
              <a:rPr sz="850" i="0">
                <a:solidFill>
                  <a:srgbClr val="7FDBCA"/>
                </a:solidFill>
                <a:latin typeface="Inconsolata"/>
              </a:rPr>
              <a:t>FakeNotifier</a:t>
            </a:r>
            <a:r>
              <a:rPr sz="850" i="0">
                <a:solidFill>
                  <a:srgbClr val="E6EDF3"/>
                </a:solidFill>
                <a:latin typeface="Inconsolata"/>
              </a:rPr>
              <a:t>()</a:t>
            </a:r>
          </a:p>
          <a:p>
            <a:pPr>
              <a:lnSpc>
                <a:spcPct val="107843"/>
              </a:lnSpc>
              <a:spcAft>
                <a:spcPts val="0"/>
              </a:spcAft>
            </a:pPr>
            <a:r>
              <a:rPr sz="850" i="0">
                <a:solidFill>
                  <a:srgbClr val="5C6773"/>
                </a:solidFill>
                <a:latin typeface="Inconsolata"/>
              </a:rPr>
              <a:t>76  </a:t>
            </a:r>
            <a:r>
              <a:rPr sz="850" i="0">
                <a:solidFill>
                  <a:srgbClr val="E6EDF3"/>
                </a:solidFill>
                <a:latin typeface="Inconsolata"/>
              </a:rPr>
              <a:t>    test_service = </a:t>
            </a:r>
            <a:r>
              <a:rPr sz="850" i="0">
                <a:solidFill>
                  <a:srgbClr val="7FDBCA"/>
                </a:solidFill>
                <a:latin typeface="Inconsolata"/>
              </a:rPr>
              <a:t>OrderService</a:t>
            </a:r>
            <a:r>
              <a:rPr sz="850" i="0">
                <a:solidFill>
                  <a:srgbClr val="E6EDF3"/>
                </a:solidFill>
                <a:latin typeface="Inconsolata"/>
              </a:rPr>
              <a:t>(</a:t>
            </a:r>
            <a:r>
              <a:rPr sz="850" i="0">
                <a:solidFill>
                  <a:srgbClr val="7FDBCA"/>
                </a:solidFill>
                <a:latin typeface="Inconsolata"/>
              </a:rPr>
              <a:t>InMemoryOrderRepository</a:t>
            </a:r>
            <a:r>
              <a:rPr sz="850" i="0">
                <a:solidFill>
                  <a:srgbClr val="E6EDF3"/>
                </a:solidFill>
                <a:latin typeface="Inconsolata"/>
              </a:rPr>
              <a:t>(), notifier)</a:t>
            </a:r>
          </a:p>
          <a:p>
            <a:pPr>
              <a:lnSpc>
                <a:spcPct val="107843"/>
              </a:lnSpc>
              <a:spcAft>
                <a:spcPts val="0"/>
              </a:spcAft>
            </a:pPr>
            <a:r>
              <a:rPr sz="850" i="0">
                <a:solidFill>
                  <a:srgbClr val="5C6773"/>
                </a:solidFill>
                <a:latin typeface="Inconsolata"/>
              </a:rPr>
              <a:t>77  </a:t>
            </a:r>
            <a:r>
              <a:rPr sz="850" i="0">
                <a:solidFill>
                  <a:srgbClr val="E6EDF3"/>
                </a:solidFill>
                <a:latin typeface="Inconsolata"/>
              </a:rPr>
              <a:t>    test_service.place_order(</a:t>
            </a:r>
            <a:r>
              <a:rPr sz="850" i="0">
                <a:solidFill>
                  <a:srgbClr val="A5D6A7"/>
                </a:solidFill>
                <a:latin typeface="Inconsolata"/>
              </a:rPr>
              <a:t>"budi@mail.com"</a:t>
            </a:r>
            <a:r>
              <a:rPr sz="850" i="0">
                <a:solidFill>
                  <a:srgbClr val="E6EDF3"/>
                </a:solidFill>
                <a:latin typeface="Inconsolata"/>
              </a:rPr>
              <a:t>, </a:t>
            </a:r>
            <a:r>
              <a:rPr sz="850" i="0">
                <a:solidFill>
                  <a:srgbClr val="F9C97A"/>
                </a:solidFill>
                <a:latin typeface="Inconsolata"/>
              </a:rPr>
              <a:t>150_000</a:t>
            </a:r>
            <a:r>
              <a:rPr sz="850" i="0">
                <a:solidFill>
                  <a:srgbClr val="E6EDF3"/>
                </a:solidFill>
                <a:latin typeface="Inconsolata"/>
              </a:rPr>
              <a:t>)</a:t>
            </a:r>
          </a:p>
          <a:p>
            <a:pPr>
              <a:lnSpc>
                <a:spcPct val="107843"/>
              </a:lnSpc>
              <a:spcAft>
                <a:spcPts val="0"/>
              </a:spcAft>
            </a:pPr>
            <a:r>
              <a:rPr sz="850" i="0">
                <a:solidFill>
                  <a:srgbClr val="5C6773"/>
                </a:solidFill>
                <a:latin typeface="Inconsolata"/>
              </a:rPr>
              <a:t>78  </a:t>
            </a:r>
            <a:r>
              <a:rPr sz="850" i="0">
                <a:solidFill>
                  <a:srgbClr val="E6EDF3"/>
                </a:solidFill>
                <a:latin typeface="Inconsolata"/>
              </a:rPr>
              <a:t>    </a:t>
            </a:r>
            <a:r>
              <a:rPr sz="850" i="0">
                <a:solidFill>
                  <a:srgbClr val="C3A6FF"/>
                </a:solidFill>
                <a:latin typeface="Inconsolata"/>
              </a:rPr>
              <a:t>print</a:t>
            </a:r>
            <a:r>
              <a:rPr sz="850" i="0">
                <a:solidFill>
                  <a:srgbClr val="E6EDF3"/>
                </a:solidFill>
                <a:latin typeface="Inconsolata"/>
              </a:rPr>
              <a:t>(</a:t>
            </a:r>
            <a:r>
              <a:rPr sz="850" i="0">
                <a:solidFill>
                  <a:srgbClr val="A5D6A7"/>
                </a:solidFill>
                <a:latin typeface="Inconsolata"/>
              </a:rPr>
              <a:t>"fake notifier menerima:"</a:t>
            </a:r>
            <a:r>
              <a:rPr sz="850" i="0">
                <a:solidFill>
                  <a:srgbClr val="E6EDF3"/>
                </a:solidFill>
                <a:latin typeface="Inconsolata"/>
              </a:rPr>
              <a:t>, notifier.sent)</a:t>
            </a:r>
          </a:p>
        </p:txBody>
      </p:sp>
      <p:sp>
        <p:nvSpPr>
          <p:cNvPr id="29" name="Box 12"/>
          <p:cNvSpPr/>
          <p:nvPr/>
        </p:nvSpPr>
        <p:spPr>
          <a:xfrm>
            <a:off x="704088" y="3085973"/>
            <a:ext cx="7699248" cy="271018"/>
          </a:xfrm>
          <a:prstGeom prst="roundRect">
            <a:avLst>
              <a:gd name="adj" fmla="val 16869"/>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31026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1" name="Box 14"/>
          <p:cNvSpPr/>
          <p:nvPr/>
        </p:nvSpPr>
        <p:spPr>
          <a:xfrm>
            <a:off x="704088" y="3505073"/>
            <a:ext cx="7699248" cy="550418"/>
          </a:xfrm>
          <a:prstGeom prst="roundRect">
            <a:avLst>
              <a:gd name="adj" fmla="val 830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6614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 · Dependency Inversion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05-dip/after.py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sesi-02-solid-clean-architecture/05-dip</a:t>
            </a:r>
          </a:p>
          <a:p>
            <a:pPr>
              <a:lnSpc>
                <a:spcPct val="107527"/>
              </a:lnSpc>
              <a:spcAft>
                <a:spcPts val="0"/>
              </a:spcAft>
            </a:pPr>
            <a:r>
              <a:rPr sz="775" i="0">
                <a:solidFill>
                  <a:srgbClr val="82B1FF"/>
                </a:solidFill>
                <a:latin typeface="Inconsolata"/>
              </a:rPr>
              <a:t>$ python after.py</a:t>
            </a:r>
          </a:p>
        </p:txBody>
      </p:sp>
      <p:pic>
        <p:nvPicPr>
          <p:cNvPr id="29" name="Image 12" descr="s02-05-dip-after.png"/>
          <p:cNvPicPr>
            <a:picLocks noChangeAspect="1"/>
          </p:cNvPicPr>
          <p:nvPr/>
        </p:nvPicPr>
        <p:blipFill>
          <a:blip r:embed="rId2"/>
          <a:stretch>
            <a:fillRect/>
          </a:stretch>
        </p:blipFill>
        <p:spPr>
          <a:xfrm>
            <a:off x="621792" y="2240280"/>
            <a:ext cx="4297680" cy="1088136"/>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Abstraksi: </a:t>
            </a:r>
            <a:r>
              <a:rPr sz="950" b="0" i="0">
                <a:solidFill>
                  <a:srgbClr val="B5482A"/>
                </a:solidFill>
                <a:latin typeface="Inconsolata"/>
              </a:rPr>
              <a:t>Protocol</a:t>
            </a:r>
            <a:r>
              <a:rPr sz="950" b="0" i="0">
                <a:solidFill>
                  <a:srgbClr val="434343"/>
                </a:solidFill>
                <a:latin typeface="Inter"/>
              </a:rPr>
              <a:t> berisi method yang dibutuhkan (baris 11-16)</a:t>
            </a:r>
          </a:p>
          <a:p>
            <a:pPr marL="182880" indent="-182880" algn="l">
              <a:lnSpc>
                <a:spcPct val="115000"/>
              </a:lnSpc>
              <a:spcAft>
                <a:spcPts val="400"/>
              </a:spcAft>
              <a:buClr>
                <a:srgbClr val="E0764F"/>
              </a:buClr>
              <a:buSzPct val="100000"/>
              <a:buFont typeface="+mj-lt"/>
              <a:buAutoNum type="arabicPeriod"/>
            </a:pPr>
            <a:r>
              <a:rPr sz="950" b="0" i="0">
                <a:solidFill>
                  <a:srgbClr val="B5482A"/>
                </a:solidFill>
                <a:latin typeface="Inconsolata"/>
              </a:rPr>
              <a:t>OrderService</a:t>
            </a:r>
            <a:r>
              <a:rPr sz="950" b="0" i="0">
                <a:solidFill>
                  <a:srgbClr val="434343"/>
                </a:solidFill>
                <a:latin typeface="Inter"/>
              </a:rPr>
              <a:t> menerima dependency lewat </a:t>
            </a:r>
            <a:r>
              <a:rPr sz="950" b="0" i="0">
                <a:solidFill>
                  <a:srgbClr val="B5482A"/>
                </a:solidFill>
                <a:latin typeface="Inconsolata"/>
              </a:rPr>
              <a:t>__init__</a:t>
            </a:r>
            <a:r>
              <a:rPr sz="950" b="0" i="0">
                <a:solidFill>
                  <a:srgbClr val="434343"/>
                </a:solidFill>
                <a:latin typeface="Inter"/>
              </a:rPr>
              <a:t> (baris 20-22)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Aplikasi mengirim SQLite + email (baris 72-73)</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Test mengirim versi in-memory (baris 75-78)</a:t>
            </a:r>
          </a:p>
          <a:p>
            <a:pPr algn="l">
              <a:lnSpc>
                <a:spcPct val="115000"/>
              </a:lnSpc>
              <a:spcAft>
                <a:spcPts val="0"/>
              </a:spcAft>
            </a:pPr>
            <a:endParaRPr sz="950" b="0" i="0">
              <a:solidFill>
                <a:srgbClr val="434343"/>
              </a:solidFill>
              <a:latin typeface="Inter"/>
            </a:endParaRPr>
          </a:p>
          <a:p>
            <a:pPr algn="l">
              <a:lnSpc>
                <a:spcPct val="115000"/>
              </a:lnSpc>
              <a:spcAft>
                <a:spcPts val="400"/>
              </a:spcAft>
            </a:pPr>
            <a:r>
              <a:rPr sz="950" b="0" i="0">
                <a:solidFill>
                  <a:srgbClr val="434343"/>
                </a:solidFill>
                <a:latin typeface="Inter"/>
              </a:rPr>
              <a:t>Inilah dependency injection, tanpa library apa pun.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41</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02</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Clean Architecture</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Membagi aplikasi per layer dan mengatur arah dependencynya.</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Clean Architecture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Clean Architecture?</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Clean Architecture adalah</a:t>
            </a:r>
          </a:p>
          <a:p>
            <a:pPr algn="l">
              <a:lnSpc>
                <a:spcPct val="115000"/>
              </a:lnSpc>
              <a:spcAft>
                <a:spcPts val="400"/>
              </a:spcAft>
            </a:pPr>
            <a:r>
              <a:rPr sz="950" b="0" i="0">
                <a:solidFill>
                  <a:srgbClr val="434343"/>
                </a:solidFill>
                <a:latin typeface="Inter"/>
              </a:rPr>
              <a:t>Cara membagi aplikasi menjadi beberapa </a:t>
            </a:r>
            <a:r>
              <a:rPr sz="950" b="1" i="0">
                <a:solidFill>
                  <a:srgbClr val="434343"/>
                </a:solidFill>
                <a:latin typeface="Inter"/>
              </a:rPr>
              <a:t>layer</a:t>
            </a:r>
            <a:r>
              <a:rPr sz="950" b="0" i="0">
                <a:solidFill>
                  <a:srgbClr val="434343"/>
                </a:solidFill>
                <a:latin typeface="Inter"/>
              </a:rPr>
              <a:t>, dipopulerkan oleh Robert C. Martin (2012). Inti bisnis ada di tengah, detail teknis (database, framework, email) ada di luar, dan </a:t>
            </a:r>
            <a:r>
              <a:rPr sz="950" b="1" i="0">
                <a:solidFill>
                  <a:srgbClr val="434343"/>
                </a:solidFill>
                <a:latin typeface="Inter"/>
              </a:rPr>
              <a:t>dependency hanya boleh mengarah ke dalam</a:t>
            </a:r>
            <a:r>
              <a:rPr sz="950" b="0" i="0">
                <a:solidFill>
                  <a:srgbClr val="434343"/>
                </a:solidFill>
                <a:latin typeface="Inter"/>
              </a:rPr>
              <a:t>.</a:t>
            </a:r>
          </a:p>
          <a:p>
            <a:pPr algn="l">
              <a:lnSpc>
                <a:spcPct val="115000"/>
              </a:lnSpc>
              <a:spcAft>
                <a:spcPts val="400"/>
              </a:spcAft>
            </a:pPr>
            <a:r>
              <a:rPr sz="105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Business logic tidak ikut berubah saat database atau framework diganti</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Business logic bisa dites tanpa FastAPI dan tanpa database</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Jelas file baru harus ditaruh di mana</a:t>
            </a:r>
          </a:p>
        </p:txBody>
      </p:sp>
      <p:sp>
        <p:nvSpPr>
          <p:cNvPr id="23" name="Box 4"/>
          <p:cNvSpPr/>
          <p:nvPr/>
        </p:nvSpPr>
        <p:spPr>
          <a:xfrm>
            <a:off x="5074920" y="1554480"/>
            <a:ext cx="3291840" cy="548640"/>
          </a:xfrm>
          <a:prstGeom prst="roundRect">
            <a:avLst>
              <a:gd name="adj" fmla="val 2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API  ·  FastAPI route</a:t>
            </a:r>
          </a:p>
        </p:txBody>
      </p:sp>
      <p:sp>
        <p:nvSpPr>
          <p:cNvPr id="24" name="Box 5"/>
          <p:cNvSpPr/>
          <p:nvPr/>
        </p:nvSpPr>
        <p:spPr>
          <a:xfrm>
            <a:off x="5074920" y="2286000"/>
            <a:ext cx="3291840" cy="548640"/>
          </a:xfrm>
          <a:prstGeom prst="roundRect">
            <a:avLst>
              <a:gd name="adj" fmla="val 20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Infrastructure  ·  SQLite, email, config</a:t>
            </a:r>
          </a:p>
        </p:txBody>
      </p:sp>
      <p:sp>
        <p:nvSpPr>
          <p:cNvPr id="25" name="Box 6"/>
          <p:cNvSpPr/>
          <p:nvPr/>
        </p:nvSpPr>
        <p:spPr>
          <a:xfrm>
            <a:off x="5074920" y="3017520"/>
            <a:ext cx="3291840" cy="548640"/>
          </a:xfrm>
          <a:prstGeom prst="roundRect">
            <a:avLst>
              <a:gd name="adj" fmla="val 20000"/>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Application  ·  use case</a:t>
            </a:r>
          </a:p>
        </p:txBody>
      </p:sp>
      <p:sp>
        <p:nvSpPr>
          <p:cNvPr id="26" name="Box 7"/>
          <p:cNvSpPr/>
          <p:nvPr/>
        </p:nvSpPr>
        <p:spPr>
          <a:xfrm>
            <a:off x="5074920" y="3749040"/>
            <a:ext cx="3291840" cy="548640"/>
          </a:xfrm>
          <a:prstGeom prst="roundRect">
            <a:avLst>
              <a:gd name="adj" fmla="val 20000"/>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Domain  ·  Order, aturan diskon</a:t>
            </a:r>
          </a:p>
        </p:txBody>
      </p:sp>
      <p:sp>
        <p:nvSpPr>
          <p:cNvPr id="27" name="Text 8"/>
          <p:cNvSpPr txBox="1"/>
          <p:nvPr/>
        </p:nvSpPr>
        <p:spPr>
          <a:xfrm>
            <a:off x="5074920" y="4315968"/>
            <a:ext cx="3291840" cy="41148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Makin ke bawah, makin inti.</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Clean Architecture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Clean Architecture?</a:t>
            </a:r>
          </a:p>
        </p:txBody>
      </p:sp>
      <p:sp>
        <p:nvSpPr>
          <p:cNvPr id="22" name="Text 3"/>
          <p:cNvSpPr txBox="1"/>
          <p:nvPr/>
        </p:nvSpPr>
        <p:spPr>
          <a:xfrm>
            <a:off x="621792" y="1481328"/>
            <a:ext cx="411480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Clean Architecture</a:t>
            </a:r>
          </a:p>
          <a:p>
            <a:pPr algn="l">
              <a:lnSpc>
                <a:spcPct val="115000"/>
              </a:lnSpc>
              <a:spcAft>
                <a:spcPts val="400"/>
              </a:spcAft>
            </a:pPr>
            <a:r>
              <a:rPr sz="950" b="0" i="0">
                <a:solidFill>
                  <a:srgbClr val="434343"/>
                </a:solidFill>
                <a:latin typeface="Inter"/>
              </a:rPr>
              <a:t>Kode sudah dibagi per file (service, repository, route), tapi semua file sejajar di satu folder dan boleh saling import dengan bebas.</a:t>
            </a:r>
          </a:p>
          <a:p>
            <a:pPr algn="l">
              <a:lnSpc>
                <a:spcPct val="115000"/>
              </a:lnSpc>
              <a:spcAft>
                <a:spcPts val="400"/>
              </a:spcAft>
            </a:pPr>
            <a:r>
              <a:rPr sz="1050" b="1" i="0">
                <a:solidFill>
                  <a:srgbClr val="1C4587"/>
                </a:solidFill>
                <a:latin typeface="Inter"/>
              </a:rPr>
              <a:t>Jika aplikasinya makin besar</a:t>
            </a:r>
          </a:p>
          <a:p>
            <a:pPr algn="l">
              <a:lnSpc>
                <a:spcPct val="115000"/>
              </a:lnSpc>
              <a:spcAft>
                <a:spcPts val="400"/>
              </a:spcAft>
            </a:pPr>
            <a:r>
              <a:rPr sz="950" b="0" i="0">
                <a:solidFill>
                  <a:srgbClr val="434343"/>
                </a:solidFill>
                <a:latin typeface="Inter"/>
              </a:rPr>
              <a:t>Tidak jelas file baru ditaruh di mana. Business logic pelan-pelan ikut import SQLite atau FastAPI, jadi saat database atau framework diganti, aturan bisnis ikut dibongkar.</a:t>
            </a:r>
          </a:p>
          <a:p>
            <a:pPr algn="l">
              <a:lnSpc>
                <a:spcPct val="115000"/>
              </a:lnSpc>
              <a:spcAft>
                <a:spcPts val="400"/>
              </a:spcAft>
            </a:pPr>
            <a:r>
              <a:rPr sz="1050" b="1" i="0">
                <a:solidFill>
                  <a:srgbClr val="1C4587"/>
                </a:solidFill>
                <a:latin typeface="Inter"/>
              </a:rPr>
              <a:t>Cocok dipakai saat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Aplikasi akan terus dikembangkan oleh tim</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Business logic cukup banyak dan perlu dites terpisah</a:t>
            </a:r>
          </a:p>
        </p:txBody>
      </p:sp>
      <p:sp>
        <p:nvSpPr>
          <p:cNvPr id="23" name="CodeTab 5"/>
          <p:cNvSpPr/>
          <p:nvPr/>
        </p:nvSpPr>
        <p:spPr>
          <a:xfrm>
            <a:off x="4892040" y="1481328"/>
            <a:ext cx="35935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500176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513892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527608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5440679" y="1490472"/>
            <a:ext cx="295351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07-clean-architecture (hasil Sesi 1)</a:t>
            </a:r>
          </a:p>
        </p:txBody>
      </p:sp>
      <p:sp>
        <p:nvSpPr>
          <p:cNvPr id="28" name="CodeBg 11"/>
          <p:cNvSpPr/>
          <p:nvPr/>
        </p:nvSpPr>
        <p:spPr>
          <a:xfrm>
            <a:off x="4892040" y="1719072"/>
            <a:ext cx="3593592" cy="1865376"/>
          </a:xfrm>
          <a:prstGeom prst="roundRect">
            <a:avLst>
              <a:gd name="adj" fmla="val 980"/>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892040" y="1719072"/>
            <a:ext cx="3593592" cy="1865376"/>
          </a:xfrm>
          <a:prstGeom prst="rect">
            <a:avLst/>
          </a:prstGeom>
          <a:noFill/>
        </p:spPr>
        <p:txBody>
          <a:bodyPr wrap="none" lIns="146304" tIns="91440" rIns="146304" bIns="54864">
            <a:spAutoFit/>
          </a:bodyPr>
          <a:lstStyle/>
          <a:p>
            <a:pPr>
              <a:lnSpc>
                <a:spcPct val="105263"/>
              </a:lnSpc>
              <a:spcAft>
                <a:spcPts val="0"/>
              </a:spcAft>
            </a:pPr>
            <a:r>
              <a:rPr sz="950" i="0">
                <a:solidFill>
                  <a:srgbClr val="E6EDF3"/>
                </a:solidFill>
                <a:latin typeface="Inconsolata"/>
              </a:rPr>
              <a:t>before/</a:t>
            </a:r>
          </a:p>
          <a:p>
            <a:pPr>
              <a:lnSpc>
                <a:spcPct val="105263"/>
              </a:lnSpc>
              <a:spcAft>
                <a:spcPts val="0"/>
              </a:spcAft>
            </a:pPr>
            <a:r>
              <a:rPr sz="950" i="0">
                <a:solidFill>
                  <a:srgbClr val="E6EDF3"/>
                </a:solidFill>
                <a:latin typeface="Inconsolata"/>
              </a:rPr>
              <a:t>  main.py</a:t>
            </a:r>
          </a:p>
          <a:p>
            <a:pPr>
              <a:lnSpc>
                <a:spcPct val="105263"/>
              </a:lnSpc>
              <a:spcAft>
                <a:spcPts val="0"/>
              </a:spcAft>
            </a:pPr>
            <a:r>
              <a:rPr sz="950" i="0">
                <a:solidFill>
                  <a:srgbClr val="E6EDF3"/>
                </a:solidFill>
                <a:latin typeface="Inconsolata"/>
              </a:rPr>
              <a:t>  config.py</a:t>
            </a:r>
          </a:p>
          <a:p>
            <a:pPr>
              <a:lnSpc>
                <a:spcPct val="105263"/>
              </a:lnSpc>
              <a:spcAft>
                <a:spcPts val="0"/>
              </a:spcAft>
            </a:pPr>
            <a:r>
              <a:rPr sz="950" i="0">
                <a:solidFill>
                  <a:srgbClr val="E6EDF3"/>
                </a:solidFill>
                <a:latin typeface="Inconsolata"/>
              </a:rPr>
              <a:t>  notifiers.py</a:t>
            </a:r>
          </a:p>
          <a:p>
            <a:pPr>
              <a:lnSpc>
                <a:spcPct val="105263"/>
              </a:lnSpc>
              <a:spcAft>
                <a:spcPts val="0"/>
              </a:spcAft>
            </a:pPr>
            <a:r>
              <a:rPr sz="950" i="0">
                <a:solidFill>
                  <a:srgbClr val="E6EDF3"/>
                </a:solidFill>
                <a:latin typeface="Inconsolata"/>
              </a:rPr>
              <a:t>  discounts.py</a:t>
            </a:r>
          </a:p>
          <a:p>
            <a:pPr>
              <a:lnSpc>
                <a:spcPct val="105263"/>
              </a:lnSpc>
              <a:spcAft>
                <a:spcPts val="0"/>
              </a:spcAft>
            </a:pPr>
            <a:r>
              <a:rPr sz="950" i="0">
                <a:solidFill>
                  <a:srgbClr val="E6EDF3"/>
                </a:solidFill>
                <a:latin typeface="Inconsolata"/>
              </a:rPr>
              <a:t>  repository.py</a:t>
            </a:r>
          </a:p>
          <a:p>
            <a:pPr>
              <a:lnSpc>
                <a:spcPct val="105263"/>
              </a:lnSpc>
              <a:spcAft>
                <a:spcPts val="0"/>
              </a:spcAft>
            </a:pPr>
            <a:r>
              <a:rPr sz="950" i="0">
                <a:solidFill>
                  <a:srgbClr val="E6EDF3"/>
                </a:solidFill>
                <a:latin typeface="Inconsolata"/>
              </a:rPr>
              <a:t>  service.py</a:t>
            </a:r>
          </a:p>
          <a:p>
            <a:pPr>
              <a:lnSpc>
                <a:spcPct val="105263"/>
              </a:lnSpc>
              <a:spcAft>
                <a:spcPts val="0"/>
              </a:spcAft>
            </a:pPr>
            <a:r>
              <a:rPr sz="950" i="0">
                <a:solidFill>
                  <a:srgbClr val="E6EDF3"/>
                </a:solidFill>
                <a:latin typeface="Inconsolata"/>
              </a:rPr>
              <a:t>  test_service.py</a:t>
            </a:r>
          </a:p>
        </p:txBody>
      </p:sp>
      <p:sp>
        <p:nvSpPr>
          <p:cNvPr id="30" name="Text 13"/>
          <p:cNvSpPr txBox="1"/>
          <p:nvPr/>
        </p:nvSpPr>
        <p:spPr>
          <a:xfrm>
            <a:off x="4892040" y="3703320"/>
            <a:ext cx="3593592" cy="914400"/>
          </a:xfrm>
          <a:prstGeom prst="rect">
            <a:avLst/>
          </a:prstGeom>
          <a:noFill/>
        </p:spPr>
        <p:txBody>
          <a:bodyPr wrap="square" lIns="45720" rIns="45720" anchor="t">
            <a:spAutoFit/>
          </a:bodyPr>
          <a:lstStyle/>
          <a:p>
            <a:pPr algn="l">
              <a:lnSpc>
                <a:spcPct val="115000"/>
              </a:lnSpc>
              <a:spcAft>
                <a:spcPts val="400"/>
              </a:spcAft>
            </a:pPr>
            <a:r>
              <a:rPr sz="900" b="0" i="0">
                <a:solidFill>
                  <a:srgbClr val="7A7A7A"/>
                </a:solidFill>
                <a:latin typeface="Inter"/>
              </a:rPr>
              <a:t>Semua file sejajar, belum terlihat mana inti bisnis dan mana detail teknis.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Clean Architecture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Aturan Utama: Dependency Mengarah ke Dalam</a:t>
            </a:r>
          </a:p>
        </p:txBody>
      </p:sp>
      <p:sp>
        <p:nvSpPr>
          <p:cNvPr id="22" name="Text 3"/>
          <p:cNvSpPr txBox="1"/>
          <p:nvPr/>
        </p:nvSpPr>
        <p:spPr>
          <a:xfrm>
            <a:off x="621792" y="1417320"/>
            <a:ext cx="7863840" cy="548640"/>
          </a:xfrm>
          <a:prstGeom prst="rect">
            <a:avLst/>
          </a:prstGeom>
          <a:noFill/>
        </p:spPr>
        <p:txBody>
          <a:bodyPr wrap="square" lIns="45720" rIns="45720" anchor="t">
            <a:spAutoFit/>
          </a:bodyPr>
          <a:lstStyle/>
          <a:p>
            <a:pPr algn="l">
              <a:lnSpc>
                <a:spcPct val="115000"/>
              </a:lnSpc>
              <a:spcAft>
                <a:spcPts val="400"/>
              </a:spcAft>
            </a:pPr>
            <a:r>
              <a:rPr sz="1050" b="0" i="0">
                <a:solidFill>
                  <a:srgbClr val="1C4587"/>
                </a:solidFill>
                <a:latin typeface="Inter"/>
              </a:rPr>
              <a:t>"Source code dependencies can only point inwards."  Robert C. Martin</a:t>
            </a:r>
          </a:p>
        </p:txBody>
      </p:sp>
      <p:graphicFrame>
        <p:nvGraphicFramePr>
          <p:cNvPr id="23" name="Table 4"/>
          <p:cNvGraphicFramePr>
            <a:graphicFrameLocks noGrp="1"/>
          </p:cNvGraphicFramePr>
          <p:nvPr/>
        </p:nvGraphicFramePr>
        <p:xfrm>
          <a:off x="621792" y="1874519"/>
          <a:ext cx="4754880" cy="2057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tblGrid>
              <a:tr h="411480">
                <a:tc>
                  <a:txBody>
                    <a:bodyPr/>
                    <a:lstStyle/>
                    <a:p>
                      <a:pPr algn="l">
                        <a:lnSpc>
                          <a:spcPct val="100000"/>
                        </a:lnSpc>
                        <a:spcAft>
                          <a:spcPts val="0"/>
                        </a:spcAft>
                      </a:pPr>
                      <a:r>
                        <a:rPr sz="950" b="1" i="0">
                          <a:solidFill>
                            <a:srgbClr val="FFFFFF"/>
                          </a:solidFill>
                          <a:latin typeface="Inter"/>
                        </a:rPr>
                        <a:t>Layer</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Isinya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Boleh import</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950" b="1" i="0">
                          <a:solidFill>
                            <a:srgbClr val="1C4587"/>
                          </a:solidFill>
                          <a:latin typeface="Inter"/>
                        </a:rPr>
                        <a:t>Domain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Order, aturan diskon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tidak ada</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950" b="1" i="0">
                          <a:solidFill>
                            <a:srgbClr val="1C4587"/>
                          </a:solidFill>
                          <a:latin typeface="Inter"/>
                        </a:rPr>
                        <a:t>Application</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OrderService, ports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domain</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950" b="1" i="0">
                          <a:solidFill>
                            <a:srgbClr val="1C4587"/>
                          </a:solidFill>
                          <a:latin typeface="Inter"/>
                        </a:rPr>
                        <a:t>Infrastructure</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SQLite repo, notifier, config</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application, domain</a:t>
                      </a:r>
                    </a:p>
                  </a:txBody>
                  <a:tcPr marL="73152" marR="73152" marT="36576" marB="36576" anchor="ctr">
                    <a:solidFill>
                      <a:srgbClr val="FFFFFF"/>
                    </a:solidFill>
                  </a:tcPr>
                </a:tc>
                <a:extLst>
                  <a:ext uri="{0D108BD9-81ED-4DB2-BD59-A6C34878D82A}">
                    <a16:rowId xmlns:a16="http://schemas.microsoft.com/office/drawing/2014/main" val="10003"/>
                  </a:ext>
                </a:extLst>
              </a:tr>
              <a:tr h="411480">
                <a:tc>
                  <a:txBody>
                    <a:bodyPr/>
                    <a:lstStyle/>
                    <a:p>
                      <a:pPr algn="l">
                        <a:lnSpc>
                          <a:spcPct val="100000"/>
                        </a:lnSpc>
                        <a:spcAft>
                          <a:spcPts val="0"/>
                        </a:spcAft>
                      </a:pPr>
                      <a:r>
                        <a:rPr sz="950" b="1" i="0">
                          <a:solidFill>
                            <a:srgbClr val="1C4587"/>
                          </a:solidFill>
                          <a:latin typeface="Inter"/>
                        </a:rPr>
                        <a:t>API</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route, dependencies</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semua layer</a:t>
                      </a:r>
                    </a:p>
                  </a:txBody>
                  <a:tcPr marL="73152" marR="73152" marT="36576" marB="36576" anchor="ctr">
                    <a:solidFill>
                      <a:srgbClr val="F3F4F6"/>
                    </a:solidFill>
                  </a:tcPr>
                </a:tc>
                <a:extLst>
                  <a:ext uri="{0D108BD9-81ED-4DB2-BD59-A6C34878D82A}">
                    <a16:rowId xmlns:a16="http://schemas.microsoft.com/office/drawing/2014/main" val="10004"/>
                  </a:ext>
                </a:extLst>
              </a:tr>
            </a:tbl>
          </a:graphicData>
        </a:graphic>
      </p:graphicFrame>
      <p:sp>
        <p:nvSpPr>
          <p:cNvPr id="24" name="Box 5"/>
          <p:cNvSpPr/>
          <p:nvPr/>
        </p:nvSpPr>
        <p:spPr>
          <a:xfrm>
            <a:off x="5760720" y="1874519"/>
            <a:ext cx="2724912" cy="384048"/>
          </a:xfrm>
          <a:prstGeom prst="roundRect">
            <a:avLst>
              <a:gd name="adj" fmla="val 28571"/>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API</a:t>
            </a:r>
          </a:p>
        </p:txBody>
      </p:sp>
      <p:sp>
        <p:nvSpPr>
          <p:cNvPr id="25" name="Box 6"/>
          <p:cNvSpPr/>
          <p:nvPr/>
        </p:nvSpPr>
        <p:spPr>
          <a:xfrm>
            <a:off x="5760720" y="2532887"/>
            <a:ext cx="2724912" cy="384048"/>
          </a:xfrm>
          <a:prstGeom prst="roundRect">
            <a:avLst>
              <a:gd name="adj" fmla="val 28571"/>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Infrastructure</a:t>
            </a:r>
          </a:p>
        </p:txBody>
      </p:sp>
      <p:cxnSp>
        <p:nvCxnSpPr>
          <p:cNvPr id="26" name="Arrow 7"/>
          <p:cNvCxnSpPr/>
          <p:nvPr/>
        </p:nvCxnSpPr>
        <p:spPr>
          <a:xfrm>
            <a:off x="7123176" y="2258568"/>
            <a:ext cx="0" cy="274319"/>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Box 8"/>
          <p:cNvSpPr/>
          <p:nvPr/>
        </p:nvSpPr>
        <p:spPr>
          <a:xfrm>
            <a:off x="5760720" y="3191256"/>
            <a:ext cx="2724912" cy="384048"/>
          </a:xfrm>
          <a:prstGeom prst="roundRect">
            <a:avLst>
              <a:gd name="adj" fmla="val 28571"/>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Application</a:t>
            </a:r>
          </a:p>
        </p:txBody>
      </p:sp>
      <p:cxnSp>
        <p:nvCxnSpPr>
          <p:cNvPr id="28" name="Arrow 9"/>
          <p:cNvCxnSpPr/>
          <p:nvPr/>
        </p:nvCxnSpPr>
        <p:spPr>
          <a:xfrm>
            <a:off x="7123176" y="2916936"/>
            <a:ext cx="0" cy="27432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Box 10"/>
          <p:cNvSpPr/>
          <p:nvPr/>
        </p:nvSpPr>
        <p:spPr>
          <a:xfrm>
            <a:off x="5760720" y="3849624"/>
            <a:ext cx="2724912" cy="384048"/>
          </a:xfrm>
          <a:prstGeom prst="roundRect">
            <a:avLst>
              <a:gd name="adj" fmla="val 28571"/>
            </a:avLst>
          </a:prstGeom>
          <a:solidFill>
            <a:srgbClr val="1C458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FFFFFF"/>
                </a:solidFill>
                <a:latin typeface="Inter"/>
              </a:rPr>
              <a:t>Domain</a:t>
            </a:r>
          </a:p>
        </p:txBody>
      </p:sp>
      <p:cxnSp>
        <p:nvCxnSpPr>
          <p:cNvPr id="30" name="Arrow 11"/>
          <p:cNvCxnSpPr/>
          <p:nvPr/>
        </p:nvCxnSpPr>
        <p:spPr>
          <a:xfrm>
            <a:off x="7123176" y="3575304"/>
            <a:ext cx="0" cy="27432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 12"/>
          <p:cNvSpPr txBox="1"/>
          <p:nvPr/>
        </p:nvSpPr>
        <p:spPr>
          <a:xfrm>
            <a:off x="621792" y="4069080"/>
            <a:ext cx="4754880" cy="640080"/>
          </a:xfrm>
          <a:prstGeom prst="rect">
            <a:avLst/>
          </a:prstGeom>
          <a:noFill/>
        </p:spPr>
        <p:txBody>
          <a:bodyPr wrap="square" lIns="45720" rIns="45720" anchor="t">
            <a:spAutoFit/>
          </a:bodyPr>
          <a:lstStyle/>
          <a:p>
            <a:pPr algn="l">
              <a:lnSpc>
                <a:spcPct val="115000"/>
              </a:lnSpc>
              <a:spcAft>
                <a:spcPts val="400"/>
              </a:spcAft>
            </a:pPr>
            <a:r>
              <a:rPr sz="1050" b="0" i="0">
                <a:solidFill>
                  <a:srgbClr val="434343"/>
                </a:solidFill>
                <a:latin typeface="Inter"/>
              </a:rPr>
              <a:t>Cek cepat: file di </a:t>
            </a:r>
            <a:r>
              <a:rPr sz="1050" b="0" i="0">
                <a:solidFill>
                  <a:srgbClr val="B5482A"/>
                </a:solidFill>
                <a:latin typeface="Inconsolata"/>
              </a:rPr>
              <a:t>application/</a:t>
            </a:r>
            <a:r>
              <a:rPr sz="1050" b="0" i="0">
                <a:solidFill>
                  <a:srgbClr val="434343"/>
                </a:solidFill>
                <a:latin typeface="Inter"/>
              </a:rPr>
              <a:t> dan </a:t>
            </a:r>
            <a:r>
              <a:rPr sz="1050" b="0" i="0">
                <a:solidFill>
                  <a:srgbClr val="B5482A"/>
                </a:solidFill>
                <a:latin typeface="Inconsolata"/>
              </a:rPr>
              <a:t>domain/</a:t>
            </a:r>
            <a:r>
              <a:rPr sz="1050" b="0" i="0">
                <a:solidFill>
                  <a:srgbClr val="434343"/>
                </a:solidFill>
                <a:latin typeface="Inter"/>
              </a:rPr>
              <a:t> </a:t>
            </a:r>
            <a:r>
              <a:rPr sz="1050" b="1" i="0">
                <a:solidFill>
                  <a:srgbClr val="434343"/>
                </a:solidFill>
                <a:latin typeface="Inter"/>
              </a:rPr>
              <a:t>tidak boleh</a:t>
            </a:r>
            <a:r>
              <a:rPr sz="1050" b="0" i="0">
                <a:solidFill>
                  <a:srgbClr val="434343"/>
                </a:solidFill>
                <a:latin typeface="Inter"/>
              </a:rPr>
              <a:t> import </a:t>
            </a:r>
            <a:r>
              <a:rPr sz="1050" b="0" i="0">
                <a:solidFill>
                  <a:srgbClr val="B5482A"/>
                </a:solidFill>
                <a:latin typeface="Inconsolata"/>
              </a:rPr>
              <a:t>fastapi</a:t>
            </a:r>
            <a:r>
              <a:rPr sz="1050" b="0" i="0">
                <a:solidFill>
                  <a:srgbClr val="434343"/>
                </a:solidFill>
                <a:latin typeface="Inter"/>
              </a:rPr>
              <a:t> atau </a:t>
            </a:r>
            <a:r>
              <a:rPr sz="1050" b="0" i="0">
                <a:solidFill>
                  <a:srgbClr val="B5482A"/>
                </a:solidFill>
                <a:latin typeface="Inconsolata"/>
              </a:rPr>
              <a:t>sqlite3</a:t>
            </a:r>
            <a:r>
              <a:rPr sz="1050" b="0" i="0">
                <a:solidFill>
                  <a:srgbClr val="434343"/>
                </a:solidFill>
                <a:latin typeface="Inter"/>
              </a:rPr>
              <a: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Clean Architecture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Ports &amp; Adapters</a:t>
            </a:r>
          </a:p>
        </p:txBody>
      </p:sp>
      <p:sp>
        <p:nvSpPr>
          <p:cNvPr id="22" name="Text 3"/>
          <p:cNvSpPr txBox="1"/>
          <p:nvPr/>
        </p:nvSpPr>
        <p:spPr>
          <a:xfrm>
            <a:off x="621792" y="1481328"/>
            <a:ext cx="4114800" cy="1188720"/>
          </a:xfrm>
          <a:prstGeom prst="rect">
            <a:avLst/>
          </a:prstGeom>
          <a:noFill/>
        </p:spPr>
        <p:txBody>
          <a:bodyPr wrap="square" lIns="45720" rIns="45720" anchor="t">
            <a:spAutoFit/>
          </a:bodyPr>
          <a:lstStyle/>
          <a:p>
            <a:pPr algn="l">
              <a:lnSpc>
                <a:spcPct val="115000"/>
              </a:lnSpc>
              <a:spcAft>
                <a:spcPts val="400"/>
              </a:spcAft>
            </a:pPr>
            <a:r>
              <a:rPr sz="1000" b="1" i="0">
                <a:solidFill>
                  <a:srgbClr val="434343"/>
                </a:solidFill>
                <a:latin typeface="Inter"/>
              </a:rPr>
              <a:t>Port</a:t>
            </a:r>
            <a:r>
              <a:rPr sz="1000" b="0" i="0">
                <a:solidFill>
                  <a:srgbClr val="434343"/>
                </a:solidFill>
                <a:latin typeface="Inter"/>
              </a:rPr>
              <a:t> adalah interface yang dibutuhkan use case, ditulis di layer application.</a:t>
            </a:r>
          </a:p>
          <a:p>
            <a:pPr algn="l">
              <a:lnSpc>
                <a:spcPct val="115000"/>
              </a:lnSpc>
              <a:spcAft>
                <a:spcPts val="400"/>
              </a:spcAft>
            </a:pPr>
            <a:r>
              <a:rPr sz="1000" b="1" i="0">
                <a:solidFill>
                  <a:srgbClr val="434343"/>
                </a:solidFill>
                <a:latin typeface="Inter"/>
              </a:rPr>
              <a:t>Adapter</a:t>
            </a:r>
            <a:r>
              <a:rPr sz="1000" b="0" i="0">
                <a:solidFill>
                  <a:srgbClr val="434343"/>
                </a:solidFill>
                <a:latin typeface="Inter"/>
              </a:rPr>
              <a:t> adalah implementasi port, ditulis di layer infrastructure (atau di test).</a:t>
            </a:r>
          </a:p>
          <a:p>
            <a:pPr algn="l">
              <a:lnSpc>
                <a:spcPct val="115000"/>
              </a:lnSpc>
              <a:spcAft>
                <a:spcPts val="400"/>
              </a:spcAft>
            </a:pPr>
            <a:r>
              <a:rPr sz="1000" b="0" i="0">
                <a:solidFill>
                  <a:srgbClr val="434343"/>
                </a:solidFill>
                <a:latin typeface="Inter"/>
              </a:rPr>
              <a:t>Pola ini juga dikenal sebagai Hexagonal Architecture (Alistair Cockburn).</a:t>
            </a:r>
          </a:p>
        </p:txBody>
      </p:sp>
      <p:sp>
        <p:nvSpPr>
          <p:cNvPr id="23" name="CodeTab 5"/>
          <p:cNvSpPr/>
          <p:nvPr/>
        </p:nvSpPr>
        <p:spPr>
          <a:xfrm>
            <a:off x="621792" y="2743200"/>
            <a:ext cx="411480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731520" y="2820924"/>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868680" y="2820924"/>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1005840" y="2820924"/>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1170432" y="2752344"/>
            <a:ext cx="347472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application/ports.py</a:t>
            </a:r>
          </a:p>
        </p:txBody>
      </p:sp>
      <p:sp>
        <p:nvSpPr>
          <p:cNvPr id="28" name="CodeBg 11"/>
          <p:cNvSpPr/>
          <p:nvPr/>
        </p:nvSpPr>
        <p:spPr>
          <a:xfrm>
            <a:off x="621792" y="2980944"/>
            <a:ext cx="4114800" cy="1719072"/>
          </a:xfrm>
          <a:prstGeom prst="roundRect">
            <a:avLst>
              <a:gd name="adj" fmla="val 106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621792" y="2980944"/>
            <a:ext cx="4114800" cy="1719072"/>
          </a:xfrm>
          <a:prstGeom prst="rect">
            <a:avLst/>
          </a:prstGeom>
          <a:noFill/>
        </p:spPr>
        <p:txBody>
          <a:bodyPr wrap="none" lIns="146304" tIns="91440" rIns="146304" bIns="54864">
            <a:spAutoFit/>
          </a:bodyPr>
          <a:lstStyle/>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OrderRepository</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 </a:t>
            </a:r>
            <a:r>
              <a:rPr sz="850" i="0">
                <a:solidFill>
                  <a:srgbClr val="7FDBCA"/>
                </a:solidFill>
                <a:latin typeface="Inconsolata"/>
              </a:rPr>
              <a:t>Order</a:t>
            </a:r>
            <a:r>
              <a:rPr sz="850" i="0">
                <a:solidFill>
                  <a:srgbClr val="E6EDF3"/>
                </a:solidFill>
                <a:latin typeface="Inconsolata"/>
              </a:rPr>
              <a:t>) -&gt; </a:t>
            </a:r>
            <a:r>
              <a:rPr sz="850" i="0">
                <a:solidFill>
                  <a:srgbClr val="7FDBCA"/>
                </a:solidFill>
                <a:latin typeface="Inconsolata"/>
              </a:rPr>
              <a:t>Order</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order_id: </a:t>
            </a:r>
            <a:r>
              <a:rPr sz="850" i="0">
                <a:solidFill>
                  <a:srgbClr val="C3A6FF"/>
                </a:solidFill>
                <a:latin typeface="Inconsolata"/>
              </a:rPr>
              <a:t>int</a:t>
            </a:r>
            <a:r>
              <a:rPr sz="850" i="0">
                <a:solidFill>
                  <a:srgbClr val="E6EDF3"/>
                </a:solidFill>
                <a:latin typeface="Inconsolata"/>
              </a:rPr>
              <a:t>) -&gt; </a:t>
            </a:r>
            <a:r>
              <a:rPr sz="850" i="0">
                <a:solidFill>
                  <a:srgbClr val="7FDBCA"/>
                </a:solidFill>
                <a:latin typeface="Inconsolata"/>
              </a:rPr>
              <a:t>Order</a:t>
            </a:r>
            <a:r>
              <a:rPr sz="850" i="0">
                <a:solidFill>
                  <a:srgbClr val="E6EDF3"/>
                </a:solidFill>
                <a:latin typeface="Inconsolata"/>
              </a:rPr>
              <a:t> | </a:t>
            </a:r>
            <a:r>
              <a:rPr sz="850" i="0">
                <a:solidFill>
                  <a:srgbClr val="FF8E6E"/>
                </a:solidFill>
                <a:latin typeface="Inconsolata"/>
              </a:rPr>
              <a:t>None</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Notifier</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 ...</a:t>
            </a:r>
          </a:p>
        </p:txBody>
      </p:sp>
      <p:sp>
        <p:nvSpPr>
          <p:cNvPr id="30" name="Box 13"/>
          <p:cNvSpPr/>
          <p:nvPr/>
        </p:nvSpPr>
        <p:spPr>
          <a:xfrm>
            <a:off x="5760720" y="1600200"/>
            <a:ext cx="1828800" cy="502920"/>
          </a:xfrm>
          <a:prstGeom prst="roundRect">
            <a:avLst>
              <a:gd name="adj" fmla="val 21818"/>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1000" b="1" i="0">
                <a:solidFill>
                  <a:srgbClr val="FFFFFF"/>
                </a:solidFill>
                <a:latin typeface="Inter"/>
              </a:rPr>
              <a:t>OrderService</a:t>
            </a:r>
          </a:p>
        </p:txBody>
      </p:sp>
      <p:cxnSp>
        <p:nvCxnSpPr>
          <p:cNvPr id="31" name="Arrow 14"/>
          <p:cNvCxnSpPr/>
          <p:nvPr/>
        </p:nvCxnSpPr>
        <p:spPr>
          <a:xfrm>
            <a:off x="6675120" y="2103120"/>
            <a:ext cx="0" cy="365760"/>
          </a:xfrm>
          <a:prstGeom prst="line">
            <a:avLst/>
          </a:prstGeom>
          <a:ln w="19050">
            <a:solidFill>
              <a:srgbClr val="7A7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Box 15"/>
          <p:cNvSpPr/>
          <p:nvPr/>
        </p:nvSpPr>
        <p:spPr>
          <a:xfrm>
            <a:off x="5577840" y="2468880"/>
            <a:ext cx="2194560" cy="502920"/>
          </a:xfrm>
          <a:prstGeom prst="roundRect">
            <a:avLst>
              <a:gd name="adj" fmla="val 21818"/>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950" b="1" i="0">
                <a:solidFill>
                  <a:srgbClr val="1C4587"/>
                </a:solidFill>
                <a:latin typeface="Inter"/>
              </a:rPr>
              <a:t>Port: OrderRepository</a:t>
            </a:r>
          </a:p>
        </p:txBody>
      </p:sp>
      <p:sp>
        <p:nvSpPr>
          <p:cNvPr id="33" name="Box 16"/>
          <p:cNvSpPr/>
          <p:nvPr/>
        </p:nvSpPr>
        <p:spPr>
          <a:xfrm>
            <a:off x="4892040" y="3474720"/>
            <a:ext cx="1755648" cy="457200"/>
          </a:xfrm>
          <a:prstGeom prst="roundRect">
            <a:avLst>
              <a:gd name="adj" fmla="val 24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750" b="1" i="0">
                <a:solidFill>
                  <a:srgbClr val="1C4587"/>
                </a:solidFill>
                <a:latin typeface="Inter"/>
              </a:rPr>
              <a:t>SqliteOrderRepository</a:t>
            </a:r>
          </a:p>
        </p:txBody>
      </p:sp>
      <p:cxnSp>
        <p:nvCxnSpPr>
          <p:cNvPr id="34" name="Arrow 17"/>
          <p:cNvCxnSpPr/>
          <p:nvPr/>
        </p:nvCxnSpPr>
        <p:spPr>
          <a:xfrm flipV="1">
            <a:off x="5769864" y="2971800"/>
            <a:ext cx="905256" cy="502920"/>
          </a:xfrm>
          <a:prstGeom prst="line">
            <a:avLst/>
          </a:prstGeom>
          <a:ln w="19050">
            <a:solidFill>
              <a:srgbClr val="7A7A7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Text 18"/>
          <p:cNvSpPr txBox="1"/>
          <p:nvPr/>
        </p:nvSpPr>
        <p:spPr>
          <a:xfrm>
            <a:off x="4892040" y="3977639"/>
            <a:ext cx="1755648" cy="274320"/>
          </a:xfrm>
          <a:prstGeom prst="rect">
            <a:avLst/>
          </a:prstGeom>
          <a:noFill/>
        </p:spPr>
        <p:txBody>
          <a:bodyPr wrap="square" lIns="45720" rIns="45720" anchor="t">
            <a:spAutoFit/>
          </a:bodyPr>
          <a:lstStyle/>
          <a:p>
            <a:pPr algn="ctr">
              <a:lnSpc>
                <a:spcPct val="115000"/>
              </a:lnSpc>
              <a:spcAft>
                <a:spcPts val="400"/>
              </a:spcAft>
            </a:pPr>
            <a:r>
              <a:rPr sz="850" b="0" i="0">
                <a:solidFill>
                  <a:srgbClr val="7A7A7A"/>
                </a:solidFill>
                <a:latin typeface="Inter"/>
              </a:rPr>
              <a:t>infrastructure</a:t>
            </a:r>
          </a:p>
        </p:txBody>
      </p:sp>
      <p:sp>
        <p:nvSpPr>
          <p:cNvPr id="36" name="Box 19"/>
          <p:cNvSpPr/>
          <p:nvPr/>
        </p:nvSpPr>
        <p:spPr>
          <a:xfrm>
            <a:off x="6720840" y="3474720"/>
            <a:ext cx="1755648" cy="457200"/>
          </a:xfrm>
          <a:prstGeom prst="roundRect">
            <a:avLst>
              <a:gd name="adj" fmla="val 24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lnSpc>
                <a:spcPct val="105000"/>
              </a:lnSpc>
              <a:spcAft>
                <a:spcPts val="200"/>
              </a:spcAft>
            </a:pPr>
            <a:r>
              <a:rPr sz="750" b="1" i="0">
                <a:solidFill>
                  <a:srgbClr val="1C4587"/>
                </a:solidFill>
                <a:latin typeface="Inter"/>
              </a:rPr>
              <a:t>FakeOrderRepository</a:t>
            </a:r>
          </a:p>
        </p:txBody>
      </p:sp>
      <p:cxnSp>
        <p:nvCxnSpPr>
          <p:cNvPr id="37" name="Arrow 20"/>
          <p:cNvCxnSpPr/>
          <p:nvPr/>
        </p:nvCxnSpPr>
        <p:spPr>
          <a:xfrm flipH="1" flipV="1">
            <a:off x="6675120" y="2971800"/>
            <a:ext cx="923543" cy="502920"/>
          </a:xfrm>
          <a:prstGeom prst="line">
            <a:avLst/>
          </a:prstGeom>
          <a:ln w="19050">
            <a:solidFill>
              <a:srgbClr val="7A7A7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 name="Text 21"/>
          <p:cNvSpPr txBox="1"/>
          <p:nvPr/>
        </p:nvSpPr>
        <p:spPr>
          <a:xfrm>
            <a:off x="6720840" y="3977639"/>
            <a:ext cx="1755648" cy="274320"/>
          </a:xfrm>
          <a:prstGeom prst="rect">
            <a:avLst/>
          </a:prstGeom>
          <a:noFill/>
        </p:spPr>
        <p:txBody>
          <a:bodyPr wrap="square" lIns="45720" rIns="45720" anchor="t">
            <a:spAutoFit/>
          </a:bodyPr>
          <a:lstStyle/>
          <a:p>
            <a:pPr algn="ctr">
              <a:lnSpc>
                <a:spcPct val="115000"/>
              </a:lnSpc>
              <a:spcAft>
                <a:spcPts val="400"/>
              </a:spcAft>
            </a:pPr>
            <a:r>
              <a:rPr sz="850" b="0" i="0">
                <a:solidFill>
                  <a:srgbClr val="7A7A7A"/>
                </a:solidFill>
                <a:latin typeface="Inter"/>
              </a:rPr>
              <a:t>tests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Clean Architecture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Request Flow Melewati Layer</a:t>
            </a:r>
          </a:p>
        </p:txBody>
      </p:sp>
      <p:sp>
        <p:nvSpPr>
          <p:cNvPr id="22" name="Box 3"/>
          <p:cNvSpPr/>
          <p:nvPr/>
        </p:nvSpPr>
        <p:spPr>
          <a:xfrm>
            <a:off x="621792" y="1481328"/>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23" name="Text 4"/>
          <p:cNvSpPr txBox="1"/>
          <p:nvPr/>
        </p:nvSpPr>
        <p:spPr>
          <a:xfrm>
            <a:off x="987552" y="1453896"/>
            <a:ext cx="7498079" cy="530352"/>
          </a:xfrm>
          <a:prstGeom prst="rect">
            <a:avLst/>
          </a:prstGeom>
          <a:noFill/>
        </p:spPr>
        <p:txBody>
          <a:bodyPr wrap="square" lIns="45720" rIns="45720" anchor="t">
            <a:spAutoFit/>
          </a:bodyPr>
          <a:lstStyle/>
          <a:p>
            <a:pPr algn="l">
              <a:lnSpc>
                <a:spcPct val="115000"/>
              </a:lnSpc>
              <a:spcAft>
                <a:spcPts val="400"/>
              </a:spcAft>
            </a:pPr>
            <a:r>
              <a:rPr sz="950" b="1" i="0">
                <a:solidFill>
                  <a:srgbClr val="434343"/>
                </a:solidFill>
                <a:latin typeface="Inter"/>
              </a:rPr>
              <a:t>api/routes.py</a:t>
            </a:r>
            <a:r>
              <a:rPr sz="950" b="0" i="0">
                <a:solidFill>
                  <a:srgbClr val="434343"/>
                </a:solidFill>
                <a:latin typeface="Inter"/>
              </a:rPr>
              <a:t>  </a:t>
            </a:r>
            <a:r>
              <a:rPr sz="950" b="0" i="0">
                <a:solidFill>
                  <a:srgbClr val="B5482A"/>
                </a:solidFill>
                <a:latin typeface="Inconsolata"/>
              </a:rPr>
              <a:t>POST /orders</a:t>
            </a:r>
            <a:r>
              <a:rPr sz="950" b="0" i="0">
                <a:solidFill>
                  <a:srgbClr val="434343"/>
                </a:solidFill>
                <a:latin typeface="Inter"/>
              </a:rPr>
              <a:t> masuk ke </a:t>
            </a:r>
            <a:r>
              <a:rPr sz="950" b="0" i="0">
                <a:solidFill>
                  <a:srgbClr val="B5482A"/>
                </a:solidFill>
                <a:latin typeface="Inconsolata"/>
              </a:rPr>
              <a:t>create_order</a:t>
            </a:r>
            <a:r>
              <a:rPr sz="950" b="0" i="0">
                <a:solidFill>
                  <a:srgbClr val="434343"/>
                </a:solidFill>
                <a:latin typeface="Inter"/>
              </a:rPr>
              <a:t>, body divalidasi jadi </a:t>
            </a:r>
            <a:r>
              <a:rPr sz="950" b="0" i="0">
                <a:solidFill>
                  <a:srgbClr val="B5482A"/>
                </a:solidFill>
                <a:latin typeface="Inconsolata"/>
              </a:rPr>
              <a:t>OrderIn</a:t>
            </a:r>
          </a:p>
        </p:txBody>
      </p:sp>
      <p:sp>
        <p:nvSpPr>
          <p:cNvPr id="24" name="Box 5"/>
          <p:cNvSpPr/>
          <p:nvPr/>
        </p:nvSpPr>
        <p:spPr>
          <a:xfrm>
            <a:off x="621792" y="2011680"/>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25" name="Text 6"/>
          <p:cNvSpPr txBox="1"/>
          <p:nvPr/>
        </p:nvSpPr>
        <p:spPr>
          <a:xfrm>
            <a:off x="987552" y="1984248"/>
            <a:ext cx="7498079" cy="530352"/>
          </a:xfrm>
          <a:prstGeom prst="rect">
            <a:avLst/>
          </a:prstGeom>
          <a:noFill/>
        </p:spPr>
        <p:txBody>
          <a:bodyPr wrap="square" lIns="45720" rIns="45720" anchor="t">
            <a:spAutoFit/>
          </a:bodyPr>
          <a:lstStyle/>
          <a:p>
            <a:pPr algn="l">
              <a:lnSpc>
                <a:spcPct val="115000"/>
              </a:lnSpc>
              <a:spcAft>
                <a:spcPts val="400"/>
              </a:spcAft>
            </a:pPr>
            <a:r>
              <a:rPr sz="950" b="1" i="0">
                <a:solidFill>
                  <a:srgbClr val="434343"/>
                </a:solidFill>
                <a:latin typeface="Inter"/>
              </a:rPr>
              <a:t>api/dependencies.py</a:t>
            </a:r>
            <a:r>
              <a:rPr sz="950" b="0" i="0">
                <a:solidFill>
                  <a:srgbClr val="434343"/>
                </a:solidFill>
                <a:latin typeface="Inter"/>
              </a:rPr>
              <a:t>  </a:t>
            </a:r>
            <a:r>
              <a:rPr sz="950" b="0" i="0">
                <a:solidFill>
                  <a:srgbClr val="B5482A"/>
                </a:solidFill>
                <a:latin typeface="Inconsolata"/>
              </a:rPr>
              <a:t>Depends(get_order_service)</a:t>
            </a:r>
            <a:r>
              <a:rPr sz="950" b="0" i="0">
                <a:solidFill>
                  <a:srgbClr val="434343"/>
                </a:solidFill>
                <a:latin typeface="Inter"/>
              </a:rPr>
              <a:t> menyiapkan </a:t>
            </a:r>
            <a:r>
              <a:rPr sz="950" b="0" i="0">
                <a:solidFill>
                  <a:srgbClr val="B5482A"/>
                </a:solidFill>
                <a:latin typeface="Inconsolata"/>
              </a:rPr>
              <a:t>OrderService</a:t>
            </a:r>
            <a:r>
              <a:rPr sz="950" b="0" i="0">
                <a:solidFill>
                  <a:srgbClr val="434343"/>
                </a:solidFill>
                <a:latin typeface="Inter"/>
              </a:rPr>
              <a:t> beserta repository dan notifier</a:t>
            </a:r>
          </a:p>
        </p:txBody>
      </p:sp>
      <p:sp>
        <p:nvSpPr>
          <p:cNvPr id="26" name="Box 7"/>
          <p:cNvSpPr/>
          <p:nvPr/>
        </p:nvSpPr>
        <p:spPr>
          <a:xfrm>
            <a:off x="621792" y="2542032"/>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27" name="Text 8"/>
          <p:cNvSpPr txBox="1"/>
          <p:nvPr/>
        </p:nvSpPr>
        <p:spPr>
          <a:xfrm>
            <a:off x="987552" y="2514600"/>
            <a:ext cx="7498079" cy="530352"/>
          </a:xfrm>
          <a:prstGeom prst="rect">
            <a:avLst/>
          </a:prstGeom>
          <a:noFill/>
        </p:spPr>
        <p:txBody>
          <a:bodyPr wrap="square" lIns="45720" rIns="45720" anchor="t">
            <a:spAutoFit/>
          </a:bodyPr>
          <a:lstStyle/>
          <a:p>
            <a:pPr algn="l">
              <a:lnSpc>
                <a:spcPct val="115000"/>
              </a:lnSpc>
              <a:spcAft>
                <a:spcPts val="400"/>
              </a:spcAft>
            </a:pPr>
            <a:r>
              <a:rPr sz="950" b="1" i="0">
                <a:solidFill>
                  <a:srgbClr val="434343"/>
                </a:solidFill>
                <a:latin typeface="Inter"/>
              </a:rPr>
              <a:t>application/order_service.py</a:t>
            </a:r>
            <a:r>
              <a:rPr sz="950" b="0" i="0">
                <a:solidFill>
                  <a:srgbClr val="434343"/>
                </a:solidFill>
                <a:latin typeface="Inter"/>
              </a:rPr>
              <a:t>  </a:t>
            </a:r>
            <a:r>
              <a:rPr sz="950" b="0" i="0">
                <a:solidFill>
                  <a:srgbClr val="B5482A"/>
                </a:solidFill>
                <a:latin typeface="Inconsolata"/>
              </a:rPr>
              <a:t>place_order</a:t>
            </a:r>
            <a:r>
              <a:rPr sz="950" b="0" i="0">
                <a:solidFill>
                  <a:srgbClr val="434343"/>
                </a:solidFill>
                <a:latin typeface="Inter"/>
              </a:rPr>
              <a:t> menjalankan use case: hitung subtotal, diskon, total</a:t>
            </a:r>
          </a:p>
        </p:txBody>
      </p:sp>
      <p:sp>
        <p:nvSpPr>
          <p:cNvPr id="28" name="Box 9"/>
          <p:cNvSpPr/>
          <p:nvPr/>
        </p:nvSpPr>
        <p:spPr>
          <a:xfrm>
            <a:off x="621792" y="3072384"/>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29" name="Text 10"/>
          <p:cNvSpPr txBox="1"/>
          <p:nvPr/>
        </p:nvSpPr>
        <p:spPr>
          <a:xfrm>
            <a:off x="987552" y="3044952"/>
            <a:ext cx="7498079" cy="530352"/>
          </a:xfrm>
          <a:prstGeom prst="rect">
            <a:avLst/>
          </a:prstGeom>
          <a:noFill/>
        </p:spPr>
        <p:txBody>
          <a:bodyPr wrap="square" lIns="45720" rIns="45720" anchor="t">
            <a:spAutoFit/>
          </a:bodyPr>
          <a:lstStyle/>
          <a:p>
            <a:pPr algn="l">
              <a:lnSpc>
                <a:spcPct val="115000"/>
              </a:lnSpc>
              <a:spcAft>
                <a:spcPts val="400"/>
              </a:spcAft>
            </a:pPr>
            <a:r>
              <a:rPr sz="950" b="1" i="0">
                <a:solidFill>
                  <a:srgbClr val="434343"/>
                </a:solidFill>
                <a:latin typeface="Inter"/>
              </a:rPr>
              <a:t>domain/</a:t>
            </a:r>
            <a:r>
              <a:rPr sz="950" b="0" i="0">
                <a:solidFill>
                  <a:srgbClr val="434343"/>
                </a:solidFill>
                <a:latin typeface="Inter"/>
              </a:rPr>
              <a:t>  </a:t>
            </a:r>
            <a:r>
              <a:rPr sz="950" b="0" i="0">
                <a:solidFill>
                  <a:srgbClr val="B5482A"/>
                </a:solidFill>
                <a:latin typeface="Inconsolata"/>
              </a:rPr>
              <a:t>get_discount()</a:t>
            </a:r>
            <a:r>
              <a:rPr sz="950" b="0" i="0">
                <a:solidFill>
                  <a:srgbClr val="434343"/>
                </a:solidFill>
                <a:latin typeface="Inter"/>
              </a:rPr>
              <a:t> memilih aturan diskon, hasilnya dibungkus jadi object </a:t>
            </a:r>
            <a:r>
              <a:rPr sz="950" b="0" i="0">
                <a:solidFill>
                  <a:srgbClr val="B5482A"/>
                </a:solidFill>
                <a:latin typeface="Inconsolata"/>
              </a:rPr>
              <a:t>Order</a:t>
            </a:r>
          </a:p>
        </p:txBody>
      </p:sp>
      <p:sp>
        <p:nvSpPr>
          <p:cNvPr id="30" name="Box 11"/>
          <p:cNvSpPr/>
          <p:nvPr/>
        </p:nvSpPr>
        <p:spPr>
          <a:xfrm>
            <a:off x="621792" y="3602736"/>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31" name="Text 12"/>
          <p:cNvSpPr txBox="1"/>
          <p:nvPr/>
        </p:nvSpPr>
        <p:spPr>
          <a:xfrm>
            <a:off x="987552" y="3575304"/>
            <a:ext cx="7498079" cy="530352"/>
          </a:xfrm>
          <a:prstGeom prst="rect">
            <a:avLst/>
          </a:prstGeom>
          <a:noFill/>
        </p:spPr>
        <p:txBody>
          <a:bodyPr wrap="square" lIns="45720" rIns="45720" anchor="t">
            <a:spAutoFit/>
          </a:bodyPr>
          <a:lstStyle/>
          <a:p>
            <a:pPr algn="l">
              <a:lnSpc>
                <a:spcPct val="115000"/>
              </a:lnSpc>
              <a:spcAft>
                <a:spcPts val="400"/>
              </a:spcAft>
            </a:pPr>
            <a:r>
              <a:rPr sz="950" b="1" i="0">
                <a:solidFill>
                  <a:srgbClr val="434343"/>
                </a:solidFill>
                <a:latin typeface="Inter"/>
              </a:rPr>
              <a:t>infrastructure/</a:t>
            </a:r>
            <a:r>
              <a:rPr sz="950" b="0" i="0">
                <a:solidFill>
                  <a:srgbClr val="434343"/>
                </a:solidFill>
                <a:latin typeface="Inter"/>
              </a:rPr>
              <a:t>  </a:t>
            </a:r>
            <a:r>
              <a:rPr sz="950" b="0" i="0">
                <a:solidFill>
                  <a:srgbClr val="B5482A"/>
                </a:solidFill>
                <a:latin typeface="Inconsolata"/>
              </a:rPr>
              <a:t>repo.add(order)</a:t>
            </a:r>
            <a:r>
              <a:rPr sz="950" b="0" i="0">
                <a:solidFill>
                  <a:srgbClr val="434343"/>
                </a:solidFill>
                <a:latin typeface="Inter"/>
              </a:rPr>
              <a:t> lewat port, yang dijalankan adalah </a:t>
            </a:r>
            <a:r>
              <a:rPr sz="950" b="0" i="0">
                <a:solidFill>
                  <a:srgbClr val="B5482A"/>
                </a:solidFill>
                <a:latin typeface="Inconsolata"/>
              </a:rPr>
              <a:t>SqliteOrderRepository</a:t>
            </a:r>
          </a:p>
        </p:txBody>
      </p:sp>
      <p:sp>
        <p:nvSpPr>
          <p:cNvPr id="32" name="Box 13"/>
          <p:cNvSpPr/>
          <p:nvPr/>
        </p:nvSpPr>
        <p:spPr>
          <a:xfrm>
            <a:off x="621792" y="4133087"/>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6</a:t>
            </a:r>
          </a:p>
        </p:txBody>
      </p:sp>
      <p:sp>
        <p:nvSpPr>
          <p:cNvPr id="33" name="Text 14"/>
          <p:cNvSpPr txBox="1"/>
          <p:nvPr/>
        </p:nvSpPr>
        <p:spPr>
          <a:xfrm>
            <a:off x="987552" y="4105655"/>
            <a:ext cx="7498079" cy="530352"/>
          </a:xfrm>
          <a:prstGeom prst="rect">
            <a:avLst/>
          </a:prstGeom>
          <a:noFill/>
        </p:spPr>
        <p:txBody>
          <a:bodyPr wrap="square" lIns="45720" rIns="45720" anchor="t">
            <a:spAutoFit/>
          </a:bodyPr>
          <a:lstStyle/>
          <a:p>
            <a:pPr algn="l">
              <a:lnSpc>
                <a:spcPct val="115000"/>
              </a:lnSpc>
              <a:spcAft>
                <a:spcPts val="400"/>
              </a:spcAft>
            </a:pPr>
            <a:r>
              <a:rPr sz="950" b="1" i="0">
                <a:solidFill>
                  <a:srgbClr val="434343"/>
                </a:solidFill>
                <a:latin typeface="Inter"/>
              </a:rPr>
              <a:t>api/routes.py</a:t>
            </a:r>
            <a:r>
              <a:rPr sz="950" b="0" i="0">
                <a:solidFill>
                  <a:srgbClr val="434343"/>
                </a:solidFill>
                <a:latin typeface="Inter"/>
              </a:rPr>
              <a:t>  </a:t>
            </a:r>
            <a:r>
              <a:rPr sz="950" b="0" i="0">
                <a:solidFill>
                  <a:srgbClr val="B5482A"/>
                </a:solidFill>
                <a:latin typeface="Inconsolata"/>
              </a:rPr>
              <a:t>asdict(order)</a:t>
            </a:r>
            <a:r>
              <a:rPr sz="950" b="0" i="0">
                <a:solidFill>
                  <a:srgbClr val="434343"/>
                </a:solidFill>
                <a:latin typeface="Inter"/>
              </a:rPr>
              <a:t> dikirim sebagai JSON 201</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47</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03</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Dependency Injection di FastAPI</a:t>
            </a:r>
          </a:p>
        </p:txBody>
      </p:sp>
      <p:sp>
        <p:nvSpPr>
          <p:cNvPr id="33" name="Text 3"/>
          <p:cNvSpPr txBox="1"/>
          <p:nvPr/>
        </p:nvSpPr>
        <p:spPr>
          <a:xfrm>
            <a:off x="822960" y="274320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Menyiapkan dependency dengan Depends dan menggantinya saat test.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Apa Itu Dependency Injection?</a:t>
            </a:r>
          </a:p>
        </p:txBody>
      </p:sp>
      <p:sp>
        <p:nvSpPr>
          <p:cNvPr id="22" name="Text 3"/>
          <p:cNvSpPr txBox="1"/>
          <p:nvPr/>
        </p:nvSpPr>
        <p:spPr>
          <a:xfrm>
            <a:off x="621792" y="1481328"/>
            <a:ext cx="3520440" cy="3291840"/>
          </a:xfrm>
          <a:prstGeom prst="rect">
            <a:avLst/>
          </a:prstGeom>
          <a:noFill/>
        </p:spPr>
        <p:txBody>
          <a:bodyPr wrap="square" lIns="45720" rIns="45720" anchor="t">
            <a:spAutoFit/>
          </a:bodyPr>
          <a:lstStyle/>
          <a:p>
            <a:pPr algn="l">
              <a:lnSpc>
                <a:spcPct val="115000"/>
              </a:lnSpc>
              <a:spcAft>
                <a:spcPts val="400"/>
              </a:spcAft>
            </a:pPr>
            <a:r>
              <a:rPr sz="1000" b="1" i="0">
                <a:solidFill>
                  <a:srgbClr val="1C4587"/>
                </a:solidFill>
                <a:latin typeface="Inter"/>
              </a:rPr>
              <a:t>Dependency Injection adalah</a:t>
            </a:r>
          </a:p>
          <a:p>
            <a:pPr algn="l">
              <a:lnSpc>
                <a:spcPct val="115000"/>
              </a:lnSpc>
              <a:spcAft>
                <a:spcPts val="400"/>
              </a:spcAft>
            </a:pPr>
            <a:r>
              <a:rPr sz="900" b="0" i="0">
                <a:solidFill>
                  <a:srgbClr val="434343"/>
                </a:solidFill>
                <a:latin typeface="Inter"/>
              </a:rPr>
              <a:t>Teknik di mana object </a:t>
            </a:r>
            <a:r>
              <a:rPr sz="900" b="1" i="0">
                <a:solidFill>
                  <a:srgbClr val="434343"/>
                </a:solidFill>
                <a:latin typeface="Inter"/>
              </a:rPr>
              <a:t>tidak membuat</a:t>
            </a:r>
            <a:r>
              <a:rPr sz="900" b="0" i="0">
                <a:solidFill>
                  <a:srgbClr val="434343"/>
                </a:solidFill>
                <a:latin typeface="Inter"/>
              </a:rPr>
              <a:t> dependencynya sendiri, tapi </a:t>
            </a:r>
            <a:r>
              <a:rPr sz="900" b="1" i="0">
                <a:solidFill>
                  <a:srgbClr val="434343"/>
                </a:solidFill>
                <a:latin typeface="Inter"/>
              </a:rPr>
              <a:t>menerima dari luar</a:t>
            </a:r>
            <a:r>
              <a:rPr sz="900" b="0" i="0">
                <a:solidFill>
                  <a:srgbClr val="434343"/>
                </a:solidFill>
                <a:latin typeface="Inter"/>
              </a:rPr>
              <a:t>, biasanya lewat </a:t>
            </a:r>
            <a:r>
              <a:rPr sz="900" b="0" i="0">
                <a:solidFill>
                  <a:srgbClr val="B5482A"/>
                </a:solidFill>
                <a:latin typeface="Inconsolata"/>
              </a:rPr>
              <a:t>__init__</a:t>
            </a:r>
            <a:r>
              <a:rPr sz="900" b="0" i="0">
                <a:solidFill>
                  <a:srgbClr val="434343"/>
                </a:solidFill>
                <a:latin typeface="Inter"/>
              </a:rPr>
              <a:t>.</a:t>
            </a:r>
          </a:p>
          <a:p>
            <a:pPr algn="l">
              <a:lnSpc>
                <a:spcPct val="115000"/>
              </a:lnSpc>
              <a:spcAft>
                <a:spcPts val="400"/>
              </a:spcAft>
            </a:pPr>
            <a:r>
              <a:rPr sz="1000" b="1" i="0">
                <a:solidFill>
                  <a:srgbClr val="1C4587"/>
                </a:solidFill>
                <a:latin typeface="Inter"/>
              </a:rPr>
              <a:t>Untuk apa</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Route tidak perlu tahu cara membuat service</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Dependency bisa diganti saat test, misalnya repository diganti versi in-memory</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Ganti SQLite ke database lain cukup di satu tempat</a:t>
            </a:r>
          </a:p>
        </p:txBody>
      </p:sp>
      <p:sp>
        <p:nvSpPr>
          <p:cNvPr id="23" name="CodeTab 5"/>
          <p:cNvSpPr/>
          <p:nvPr/>
        </p:nvSpPr>
        <p:spPr>
          <a:xfrm>
            <a:off x="4297680" y="1481328"/>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40740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454456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468172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4846320" y="1490472"/>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tanpa DI: 05-dip/before.py</a:t>
            </a:r>
          </a:p>
        </p:txBody>
      </p:sp>
      <p:sp>
        <p:nvSpPr>
          <p:cNvPr id="28" name="CodeBg 11"/>
          <p:cNvSpPr/>
          <p:nvPr/>
        </p:nvSpPr>
        <p:spPr>
          <a:xfrm>
            <a:off x="4297680" y="1719072"/>
            <a:ext cx="4187951" cy="1325880"/>
          </a:xfrm>
          <a:prstGeom prst="roundRect">
            <a:avLst>
              <a:gd name="adj" fmla="val 137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297680" y="1719072"/>
            <a:ext cx="4187951" cy="1325880"/>
          </a:xfrm>
          <a:prstGeom prst="rect">
            <a:avLst/>
          </a:prstGeom>
          <a:noFill/>
        </p:spPr>
        <p:txBody>
          <a:bodyPr wrap="none" lIns="146304" tIns="91440" rIns="146304" bIns="54864">
            <a:spAutoFit/>
          </a:bodyPr>
          <a:lstStyle/>
          <a:p>
            <a:pPr>
              <a:lnSpc>
                <a:spcPct val="111111"/>
              </a:lnSpc>
              <a:spcAft>
                <a:spcPts val="0"/>
              </a:spcAft>
            </a:pPr>
            <a:r>
              <a:rPr sz="825" i="0">
                <a:solidFill>
                  <a:srgbClr val="FF8E6E"/>
                </a:solidFill>
                <a:latin typeface="Inconsolata"/>
              </a:rPr>
              <a:t>class</a:t>
            </a:r>
            <a:r>
              <a:rPr sz="825" i="0">
                <a:solidFill>
                  <a:srgbClr val="E6EDF3"/>
                </a:solidFill>
                <a:latin typeface="Inconsolata"/>
              </a:rPr>
              <a:t> </a:t>
            </a:r>
            <a:r>
              <a:rPr sz="825" i="0">
                <a:solidFill>
                  <a:srgbClr val="7FDBCA"/>
                </a:solidFill>
                <a:latin typeface="Inconsolata"/>
              </a:rPr>
              <a:t>OrderService</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r>
              <a:rPr sz="825" i="0">
                <a:solidFill>
                  <a:srgbClr val="FF8E6E"/>
                </a:solidFill>
                <a:latin typeface="Inconsolata"/>
              </a:rPr>
              <a:t>def</a:t>
            </a:r>
            <a:r>
              <a:rPr sz="825" i="0">
                <a:solidFill>
                  <a:srgbClr val="E6EDF3"/>
                </a:solidFill>
                <a:latin typeface="Inconsolata"/>
              </a:rPr>
              <a:t> </a:t>
            </a:r>
            <a:r>
              <a:rPr sz="825" i="0">
                <a:solidFill>
                  <a:srgbClr val="82B1FF"/>
                </a:solidFill>
                <a:latin typeface="Inconsolata"/>
              </a:rPr>
              <a:t>__init__</a:t>
            </a:r>
            <a:r>
              <a:rPr sz="825" i="0">
                <a:solidFill>
                  <a:srgbClr val="E6EDF3"/>
                </a:solidFill>
                <a:latin typeface="Inconsolata"/>
              </a:rPr>
              <a:t>(</a:t>
            </a:r>
            <a:r>
              <a:rPr sz="825" i="0">
                <a:solidFill>
                  <a:srgbClr val="C3A6FF"/>
                </a:solidFill>
                <a:latin typeface="Inconsolata"/>
              </a:rPr>
              <a:t>self</a:t>
            </a:r>
            <a:r>
              <a:rPr sz="825" i="0">
                <a:solidFill>
                  <a:srgbClr val="E6EDF3"/>
                </a:solidFill>
                <a:latin typeface="Inconsolata"/>
              </a:rPr>
              <a:t>):</a:t>
            </a:r>
          </a:p>
          <a:p>
            <a:pPr>
              <a:lnSpc>
                <a:spcPct val="111111"/>
              </a:lnSpc>
              <a:spcAft>
                <a:spcPts val="0"/>
              </a:spcAft>
            </a:pPr>
            <a:r>
              <a:rPr sz="825" i="0">
                <a:solidFill>
                  <a:srgbClr val="E6EDF3"/>
                </a:solidFill>
                <a:latin typeface="Inconsolata"/>
              </a:rPr>
              <a:t>        </a:t>
            </a:r>
            <a:r>
              <a:rPr sz="825" i="0">
                <a:solidFill>
                  <a:srgbClr val="C3A6FF"/>
                </a:solidFill>
                <a:latin typeface="Inconsolata"/>
              </a:rPr>
              <a:t>self</a:t>
            </a:r>
            <a:r>
              <a:rPr sz="825" i="0">
                <a:solidFill>
                  <a:srgbClr val="E6EDF3"/>
                </a:solidFill>
                <a:latin typeface="Inconsolata"/>
              </a:rPr>
              <a:t>.repo = </a:t>
            </a:r>
            <a:r>
              <a:rPr sz="825" i="0">
                <a:solidFill>
                  <a:srgbClr val="7FDBCA"/>
                </a:solidFill>
                <a:latin typeface="Inconsolata"/>
              </a:rPr>
              <a:t>SqliteOrderRepository</a:t>
            </a:r>
            <a:r>
              <a:rPr sz="825" i="0">
                <a:solidFill>
                  <a:srgbClr val="E6EDF3"/>
                </a:solidFill>
                <a:latin typeface="Inconsolata"/>
              </a:rPr>
              <a:t>()  </a:t>
            </a:r>
            <a:r>
              <a:rPr sz="825" i="1">
                <a:solidFill>
                  <a:srgbClr val="8B98A8"/>
                </a:solidFill>
                <a:latin typeface="Inconsolata"/>
              </a:rPr>
              <a:t># terikat ke SQLite</a:t>
            </a:r>
          </a:p>
          <a:p>
            <a:pPr>
              <a:lnSpc>
                <a:spcPct val="111111"/>
              </a:lnSpc>
              <a:spcAft>
                <a:spcPts val="0"/>
              </a:spcAft>
            </a:pPr>
            <a:r>
              <a:rPr sz="825" i="0">
                <a:solidFill>
                  <a:srgbClr val="E6EDF3"/>
                </a:solidFill>
                <a:latin typeface="Inconsolata"/>
              </a:rPr>
              <a:t>        </a:t>
            </a:r>
            <a:r>
              <a:rPr sz="825" i="0">
                <a:solidFill>
                  <a:srgbClr val="C3A6FF"/>
                </a:solidFill>
                <a:latin typeface="Inconsolata"/>
              </a:rPr>
              <a:t>self</a:t>
            </a:r>
            <a:r>
              <a:rPr sz="825" i="0">
                <a:solidFill>
                  <a:srgbClr val="E6EDF3"/>
                </a:solidFill>
                <a:latin typeface="Inconsolata"/>
              </a:rPr>
              <a:t>.notifier = </a:t>
            </a:r>
            <a:r>
              <a:rPr sz="825" i="0">
                <a:solidFill>
                  <a:srgbClr val="7FDBCA"/>
                </a:solidFill>
                <a:latin typeface="Inconsolata"/>
              </a:rPr>
              <a:t>EmailNotifier</a:t>
            </a:r>
            <a:r>
              <a:rPr sz="825" i="0">
                <a:solidFill>
                  <a:srgbClr val="E6EDF3"/>
                </a:solidFill>
                <a:latin typeface="Inconsolata"/>
              </a:rPr>
              <a:t>()      </a:t>
            </a:r>
            <a:r>
              <a:rPr sz="825" i="1">
                <a:solidFill>
                  <a:srgbClr val="8B98A8"/>
                </a:solidFill>
                <a:latin typeface="Inconsolata"/>
              </a:rPr>
              <a:t># terikat ke email</a:t>
            </a:r>
          </a:p>
        </p:txBody>
      </p:sp>
      <p:sp>
        <p:nvSpPr>
          <p:cNvPr id="30" name="Box 13"/>
          <p:cNvSpPr/>
          <p:nvPr/>
        </p:nvSpPr>
        <p:spPr>
          <a:xfrm>
            <a:off x="4379976" y="2108073"/>
            <a:ext cx="4023359" cy="271018"/>
          </a:xfrm>
          <a:prstGeom prst="roundRect">
            <a:avLst>
              <a:gd name="adj" fmla="val 16869"/>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Tab 15"/>
          <p:cNvSpPr/>
          <p:nvPr/>
        </p:nvSpPr>
        <p:spPr>
          <a:xfrm>
            <a:off x="4297680" y="3136392"/>
            <a:ext cx="4187951"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Dot 16"/>
          <p:cNvSpPr/>
          <p:nvPr/>
        </p:nvSpPr>
        <p:spPr>
          <a:xfrm>
            <a:off x="4407408" y="3214116"/>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Dot 17"/>
          <p:cNvSpPr/>
          <p:nvPr/>
        </p:nvSpPr>
        <p:spPr>
          <a:xfrm>
            <a:off x="4544568" y="3214116"/>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Dot 18"/>
          <p:cNvSpPr/>
          <p:nvPr/>
        </p:nvSpPr>
        <p:spPr>
          <a:xfrm>
            <a:off x="4681728" y="3214116"/>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 19"/>
          <p:cNvSpPr txBox="1"/>
          <p:nvPr/>
        </p:nvSpPr>
        <p:spPr>
          <a:xfrm>
            <a:off x="4846320" y="3145536"/>
            <a:ext cx="3547871"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dengan DI: 05-dip/after.py</a:t>
            </a:r>
          </a:p>
        </p:txBody>
      </p:sp>
      <p:sp>
        <p:nvSpPr>
          <p:cNvPr id="36" name="CodeBg 21"/>
          <p:cNvSpPr/>
          <p:nvPr/>
        </p:nvSpPr>
        <p:spPr>
          <a:xfrm>
            <a:off x="4297680" y="3374136"/>
            <a:ext cx="4187951" cy="1325879"/>
          </a:xfrm>
          <a:prstGeom prst="roundRect">
            <a:avLst>
              <a:gd name="adj" fmla="val 1379"/>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Code 22"/>
          <p:cNvSpPr txBox="1"/>
          <p:nvPr/>
        </p:nvSpPr>
        <p:spPr>
          <a:xfrm>
            <a:off x="4297680" y="3374136"/>
            <a:ext cx="4187951" cy="1325879"/>
          </a:xfrm>
          <a:prstGeom prst="rect">
            <a:avLst/>
          </a:prstGeom>
          <a:noFill/>
        </p:spPr>
        <p:txBody>
          <a:bodyPr wrap="none" lIns="146304" tIns="91440" rIns="146304" bIns="54864">
            <a:spAutoFit/>
          </a:bodyPr>
          <a:lstStyle/>
          <a:p>
            <a:pPr>
              <a:lnSpc>
                <a:spcPct val="104167"/>
              </a:lnSpc>
              <a:spcAft>
                <a:spcPts val="0"/>
              </a:spcAft>
            </a:pPr>
            <a:r>
              <a:rPr sz="800" i="0">
                <a:solidFill>
                  <a:srgbClr val="FF8E6E"/>
                </a:solidFill>
                <a:latin typeface="Inconsolata"/>
              </a:rPr>
              <a:t>class</a:t>
            </a:r>
            <a:r>
              <a:rPr sz="800" i="0">
                <a:solidFill>
                  <a:srgbClr val="E6EDF3"/>
                </a:solidFill>
                <a:latin typeface="Inconsolata"/>
              </a:rPr>
              <a:t> </a:t>
            </a:r>
            <a:r>
              <a:rPr sz="800" i="0">
                <a:solidFill>
                  <a:srgbClr val="7FDBCA"/>
                </a:solidFill>
                <a:latin typeface="Inconsolata"/>
              </a:rPr>
              <a:t>OrderService</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__init__</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repo: </a:t>
            </a:r>
            <a:r>
              <a:rPr sz="800" i="0">
                <a:solidFill>
                  <a:srgbClr val="7FDBCA"/>
                </a:solidFill>
                <a:latin typeface="Inconsolata"/>
              </a:rPr>
              <a:t>OrderRepository</a:t>
            </a:r>
            <a:r>
              <a:rPr sz="800" i="0">
                <a:solidFill>
                  <a:srgbClr val="E6EDF3"/>
                </a:solidFill>
                <a:latin typeface="Inconsolata"/>
              </a:rPr>
              <a:t>, notifier: </a:t>
            </a:r>
            <a:r>
              <a:rPr sz="800" i="0">
                <a:solidFill>
                  <a:srgbClr val="7FDBCA"/>
                </a:solidFill>
                <a:latin typeface="Inconsolata"/>
              </a:rPr>
              <a:t>Notifier</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.repo = repo</a:t>
            </a:r>
          </a:p>
          <a:p>
            <a:pPr>
              <a:lnSpc>
                <a:spcPct val="104167"/>
              </a:lnSpc>
              <a:spcAft>
                <a:spcPts val="0"/>
              </a:spcAft>
            </a:pP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.notifier = notifier</a:t>
            </a:r>
          </a:p>
        </p:txBody>
      </p:sp>
      <p:sp>
        <p:nvSpPr>
          <p:cNvPr id="38" name="Box 23"/>
          <p:cNvSpPr/>
          <p:nvPr/>
        </p:nvSpPr>
        <p:spPr>
          <a:xfrm>
            <a:off x="4379976" y="3609086"/>
            <a:ext cx="4023359" cy="119380"/>
          </a:xfrm>
          <a:prstGeom prst="roundRect">
            <a:avLst>
              <a:gd name="adj" fmla="val 38297"/>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49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Kapan menggunakan Dependency Injection?</a:t>
            </a:r>
          </a:p>
        </p:txBody>
      </p:sp>
      <p:sp>
        <p:nvSpPr>
          <p:cNvPr id="22" name="Text 3"/>
          <p:cNvSpPr txBox="1"/>
          <p:nvPr/>
        </p:nvSpPr>
        <p:spPr>
          <a:xfrm>
            <a:off x="621792" y="1481328"/>
            <a:ext cx="4023360" cy="32918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Tanpa Dependency Injection</a:t>
            </a:r>
          </a:p>
          <a:p>
            <a:pPr algn="l">
              <a:lnSpc>
                <a:spcPct val="115000"/>
              </a:lnSpc>
              <a:spcAft>
                <a:spcPts val="400"/>
              </a:spcAft>
            </a:pPr>
            <a:r>
              <a:rPr sz="950" b="0" i="0">
                <a:solidFill>
                  <a:srgbClr val="434343"/>
                </a:solidFill>
                <a:latin typeface="Inter"/>
              </a:rPr>
              <a:t>Class membuat dependencynya sendiri di </a:t>
            </a:r>
            <a:r>
              <a:rPr sz="950" b="0" i="0">
                <a:solidFill>
                  <a:srgbClr val="B5482A"/>
                </a:solidFill>
                <a:latin typeface="Inconsolata"/>
              </a:rPr>
              <a:t>__init__</a:t>
            </a:r>
            <a:r>
              <a:rPr sz="950" b="0" i="0">
                <a:solidFill>
                  <a:srgbClr val="434343"/>
                </a:solidFill>
                <a:latin typeface="Inter"/>
              </a:rPr>
              <a:t>. Contohnya </a:t>
            </a:r>
            <a:r>
              <a:rPr sz="950" b="0" i="0">
                <a:solidFill>
                  <a:srgbClr val="B5482A"/>
                </a:solidFill>
                <a:latin typeface="Inconsolata"/>
              </a:rPr>
              <a:t>OrderService</a:t>
            </a:r>
            <a:r>
              <a:rPr sz="950" b="0" i="0">
                <a:solidFill>
                  <a:srgbClr val="434343"/>
                </a:solidFill>
                <a:latin typeface="Inter"/>
              </a:rPr>
              <a:t> langsung membuat </a:t>
            </a:r>
            <a:r>
              <a:rPr sz="950" b="0" i="0">
                <a:solidFill>
                  <a:srgbClr val="B5482A"/>
                </a:solidFill>
                <a:latin typeface="Inconsolata"/>
              </a:rPr>
              <a:t>SqliteOrderRepository()</a:t>
            </a:r>
            <a:r>
              <a:rPr sz="950" b="0" i="0">
                <a:solidFill>
                  <a:srgbClr val="434343"/>
                </a:solidFill>
                <a:latin typeface="Inter"/>
              </a:rPr>
              <a:t> dan </a:t>
            </a:r>
            <a:r>
              <a:rPr sz="950" b="0" i="0">
                <a:solidFill>
                  <a:srgbClr val="B5482A"/>
                </a:solidFill>
                <a:latin typeface="Inconsolata"/>
              </a:rPr>
              <a:t>EmailNotifier()</a:t>
            </a:r>
            <a:r>
              <a:rPr sz="950" b="0" i="0">
                <a:solidFill>
                  <a:srgbClr val="434343"/>
                </a:solidFill>
                <a:latin typeface="Inter"/>
              </a:rPr>
              <a:t>.</a:t>
            </a:r>
          </a:p>
          <a:p>
            <a:pPr algn="l">
              <a:lnSpc>
                <a:spcPct val="115000"/>
              </a:lnSpc>
              <a:spcAft>
                <a:spcPts val="400"/>
              </a:spcAft>
            </a:pPr>
            <a:r>
              <a:rPr sz="1050" b="1" i="0">
                <a:solidFill>
                  <a:srgbClr val="1C4587"/>
                </a:solidFill>
                <a:latin typeface="Inter"/>
              </a:rPr>
              <a:t>Jika classnya makin banyak</a:t>
            </a:r>
          </a:p>
          <a:p>
            <a:pPr algn="l">
              <a:lnSpc>
                <a:spcPct val="115000"/>
              </a:lnSpc>
              <a:spcAft>
                <a:spcPts val="400"/>
              </a:spcAft>
            </a:pPr>
            <a:r>
              <a:rPr sz="950" b="0" i="0">
                <a:solidFill>
                  <a:srgbClr val="434343"/>
                </a:solidFill>
                <a:latin typeface="Inter"/>
              </a:rPr>
              <a:t>Setiap class terikat ke class yang dibuatnya. Untuk test dengan repository in-memory, atau mengganti email ke SMS, class itu harus diedit satu per satu.</a:t>
            </a:r>
          </a:p>
          <a:p>
            <a:pPr algn="l">
              <a:lnSpc>
                <a:spcPct val="115000"/>
              </a:lnSpc>
              <a:spcAft>
                <a:spcPts val="400"/>
              </a:spcAft>
            </a:pPr>
            <a:r>
              <a:rPr sz="1050" b="1" i="0">
                <a:solidFill>
                  <a:srgbClr val="1C4587"/>
                </a:solidFill>
                <a:latin typeface="Inter"/>
              </a:rPr>
              <a:t>Yang dipakai dari FastAPI: Depends</a:t>
            </a:r>
          </a:p>
          <a:p>
            <a:pPr algn="l">
              <a:lnSpc>
                <a:spcPct val="115000"/>
              </a:lnSpc>
              <a:spcAft>
                <a:spcPts val="400"/>
              </a:spcAft>
            </a:pPr>
            <a:r>
              <a:rPr sz="950" b="0" i="0">
                <a:solidFill>
                  <a:srgbClr val="B5482A"/>
                </a:solidFill>
                <a:latin typeface="Inconsolata"/>
              </a:rPr>
              <a:t>Depends()</a:t>
            </a:r>
            <a:r>
              <a:rPr sz="950" b="0" i="0">
                <a:solidFill>
                  <a:srgbClr val="434343"/>
                </a:solidFill>
                <a:latin typeface="Inter"/>
              </a:rPr>
              <a:t> adalah fitur bawaan FastAPI. Kita menulis function untuk membuat dependency, lalu FastAPI yang memanggilnya dan memberikan hasilnya ke route.</a:t>
            </a:r>
          </a:p>
        </p:txBody>
      </p:sp>
      <p:sp>
        <p:nvSpPr>
          <p:cNvPr id="23" name="CodeTab 5"/>
          <p:cNvSpPr/>
          <p:nvPr/>
        </p:nvSpPr>
        <p:spPr>
          <a:xfrm>
            <a:off x="4800600" y="1481328"/>
            <a:ext cx="368503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491032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504748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518464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5349240" y="1490472"/>
            <a:ext cx="304495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06-dependency-injection/after.py (baris 47-50)</a:t>
            </a:r>
          </a:p>
        </p:txBody>
      </p:sp>
      <p:sp>
        <p:nvSpPr>
          <p:cNvPr id="28" name="CodeBg 11"/>
          <p:cNvSpPr/>
          <p:nvPr/>
        </p:nvSpPr>
        <p:spPr>
          <a:xfrm>
            <a:off x="4800600" y="1719072"/>
            <a:ext cx="3685032" cy="950976"/>
          </a:xfrm>
          <a:prstGeom prst="roundRect">
            <a:avLst>
              <a:gd name="adj" fmla="val 192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4800600" y="1719072"/>
            <a:ext cx="3685032" cy="950976"/>
          </a:xfrm>
          <a:prstGeom prst="rect">
            <a:avLst/>
          </a:prstGeom>
          <a:noFill/>
        </p:spPr>
        <p:txBody>
          <a:bodyPr wrap="none" lIns="146304" tIns="91440" rIns="146304" bIns="54864">
            <a:spAutoFit/>
          </a:bodyPr>
          <a:lstStyle/>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get_order_service</a:t>
            </a:r>
            <a:r>
              <a:rPr sz="800" i="0">
                <a:solidFill>
                  <a:srgbClr val="E6EDF3"/>
                </a:solidFill>
                <a:latin typeface="Inconsolata"/>
              </a:rPr>
              <a:t>(</a:t>
            </a:r>
          </a:p>
          <a:p>
            <a:pPr>
              <a:lnSpc>
                <a:spcPct val="104167"/>
              </a:lnSpc>
              <a:spcAft>
                <a:spcPts val="0"/>
              </a:spcAft>
            </a:pPr>
            <a:r>
              <a:rPr sz="800" i="0">
                <a:solidFill>
                  <a:srgbClr val="E6EDF3"/>
                </a:solidFill>
                <a:latin typeface="Inconsolata"/>
              </a:rPr>
              <a:t>    repo: </a:t>
            </a:r>
            <a:r>
              <a:rPr sz="800" i="0">
                <a:solidFill>
                  <a:srgbClr val="7FDBCA"/>
                </a:solidFill>
                <a:latin typeface="Inconsolata"/>
              </a:rPr>
              <a:t>SqliteOrderRepository</a:t>
            </a:r>
            <a:r>
              <a:rPr sz="800" i="0">
                <a:solidFill>
                  <a:srgbClr val="E6EDF3"/>
                </a:solidFill>
                <a:latin typeface="Inconsolata"/>
              </a:rPr>
              <a:t> = </a:t>
            </a:r>
            <a:r>
              <a:rPr sz="800" i="0">
                <a:solidFill>
                  <a:srgbClr val="7FDBCA"/>
                </a:solidFill>
                <a:latin typeface="Inconsolata"/>
              </a:rPr>
              <a:t>Depends</a:t>
            </a:r>
            <a:r>
              <a:rPr sz="800" i="0">
                <a:solidFill>
                  <a:srgbClr val="E6EDF3"/>
                </a:solidFill>
                <a:latin typeface="Inconsolata"/>
              </a:rPr>
              <a:t>(get_repository),</a:t>
            </a:r>
          </a:p>
          <a:p>
            <a:pPr>
              <a:lnSpc>
                <a:spcPct val="104167"/>
              </a:lnSpc>
              <a:spcAft>
                <a:spcPts val="0"/>
              </a:spcAft>
            </a:pPr>
            <a:r>
              <a:rPr sz="800" i="0">
                <a:solidFill>
                  <a:srgbClr val="E6EDF3"/>
                </a:solidFill>
                <a:latin typeface="Inconsolata"/>
              </a:rPr>
              <a:t>) -&gt; </a:t>
            </a:r>
            <a:r>
              <a:rPr sz="800" i="0">
                <a:solidFill>
                  <a:srgbClr val="7FDBCA"/>
                </a:solidFill>
                <a:latin typeface="Inconsolata"/>
              </a:rPr>
              <a:t>OrderService</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7FDBCA"/>
                </a:solidFill>
                <a:latin typeface="Inconsolata"/>
              </a:rPr>
              <a:t>OrderService</a:t>
            </a:r>
            <a:r>
              <a:rPr sz="800" i="0">
                <a:solidFill>
                  <a:srgbClr val="E6EDF3"/>
                </a:solidFill>
                <a:latin typeface="Inconsolata"/>
              </a:rPr>
              <a:t>(repo)</a:t>
            </a:r>
          </a:p>
        </p:txBody>
      </p:sp>
      <p:graphicFrame>
        <p:nvGraphicFramePr>
          <p:cNvPr id="30" name="Table 13"/>
          <p:cNvGraphicFramePr>
            <a:graphicFrameLocks noGrp="1"/>
          </p:cNvGraphicFramePr>
          <p:nvPr/>
        </p:nvGraphicFramePr>
        <p:xfrm>
          <a:off x="4800600" y="2834640"/>
          <a:ext cx="3685032" cy="1376172"/>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tblGrid>
              <a:tr h="457200">
                <a:tc>
                  <a:txBody>
                    <a:bodyPr/>
                    <a:lstStyle/>
                    <a:p>
                      <a:pPr algn="l">
                        <a:lnSpc>
                          <a:spcPct val="100000"/>
                        </a:lnSpc>
                        <a:spcAft>
                          <a:spcPts val="0"/>
                        </a:spcAft>
                      </a:pPr>
                      <a:r>
                        <a:rPr sz="850" b="1" i="0">
                          <a:solidFill>
                            <a:srgbClr val="FFFFFF"/>
                          </a:solidFill>
                          <a:latin typeface="Inter"/>
                        </a:rPr>
                        <a:t>Ditulis</a:t>
                      </a:r>
                    </a:p>
                  </a:txBody>
                  <a:tcPr marL="73152" marR="73152" marT="36576" marB="36576" anchor="ctr">
                    <a:solidFill>
                      <a:srgbClr val="1C4587"/>
                    </a:solidFill>
                  </a:tcPr>
                </a:tc>
                <a:tc>
                  <a:txBody>
                    <a:bodyPr/>
                    <a:lstStyle/>
                    <a:p>
                      <a:pPr algn="l">
                        <a:lnSpc>
                          <a:spcPct val="100000"/>
                        </a:lnSpc>
                        <a:spcAft>
                          <a:spcPts val="0"/>
                        </a:spcAft>
                      </a:pPr>
                      <a:r>
                        <a:rPr sz="850" b="1" i="0">
                          <a:solidFill>
                            <a:srgbClr val="FFFFFF"/>
                          </a:solidFill>
                          <a:latin typeface="Inter"/>
                        </a:rPr>
                        <a:t>Artinya</a:t>
                      </a:r>
                    </a:p>
                  </a:txBody>
                  <a:tcPr marL="73152" marR="73152" marT="36576" marB="36576" anchor="ctr">
                    <a:solidFill>
                      <a:srgbClr val="1C4587"/>
                    </a:solidFill>
                  </a:tcPr>
                </a:tc>
                <a:extLst>
                  <a:ext uri="{0D108BD9-81ED-4DB2-BD59-A6C34878D82A}">
                    <a16:rowId xmlns:a16="http://schemas.microsoft.com/office/drawing/2014/main" val="10000"/>
                  </a:ext>
                </a:extLst>
              </a:tr>
              <a:tr h="457200">
                <a:tc>
                  <a:txBody>
                    <a:bodyPr/>
                    <a:lstStyle/>
                    <a:p>
                      <a:pPr algn="l">
                        <a:lnSpc>
                          <a:spcPct val="100000"/>
                        </a:lnSpc>
                        <a:spcAft>
                          <a:spcPts val="0"/>
                        </a:spcAft>
                      </a:pPr>
                      <a:r>
                        <a:rPr sz="850" b="1" i="0">
                          <a:solidFill>
                            <a:srgbClr val="1C4587"/>
                          </a:solidFill>
                          <a:latin typeface="Inter"/>
                        </a:rPr>
                        <a:t>Depends(get_repository)</a:t>
                      </a:r>
                    </a:p>
                  </a:txBody>
                  <a:tcPr marL="73152" marR="73152" marT="36576" marB="36576" anchor="ctr">
                    <a:solidFill>
                      <a:srgbClr val="FFFFFF"/>
                    </a:solidFill>
                  </a:tcPr>
                </a:tc>
                <a:tc>
                  <a:txBody>
                    <a:bodyPr/>
                    <a:lstStyle/>
                    <a:p>
                      <a:pPr algn="l">
                        <a:lnSpc>
                          <a:spcPct val="100000"/>
                        </a:lnSpc>
                        <a:spcAft>
                          <a:spcPts val="0"/>
                        </a:spcAft>
                      </a:pPr>
                      <a:r>
                        <a:rPr sz="850" b="0" i="0">
                          <a:solidFill>
                            <a:srgbClr val="434343"/>
                          </a:solidFill>
                          <a:latin typeface="Inter"/>
                        </a:rPr>
                        <a:t>FastAPI memanggil get_repository() lalu memberikan hasilnya</a:t>
                      </a:r>
                    </a:p>
                  </a:txBody>
                  <a:tcPr marL="73152" marR="73152" marT="36576" marB="36576" anchor="ctr">
                    <a:solidFill>
                      <a:srgbClr val="FFFFFF"/>
                    </a:solidFill>
                  </a:tcPr>
                </a:tc>
                <a:extLst>
                  <a:ext uri="{0D108BD9-81ED-4DB2-BD59-A6C34878D82A}">
                    <a16:rowId xmlns:a16="http://schemas.microsoft.com/office/drawing/2014/main" val="10001"/>
                  </a:ext>
                </a:extLst>
              </a:tr>
              <a:tr h="457200">
                <a:tc>
                  <a:txBody>
                    <a:bodyPr/>
                    <a:lstStyle/>
                    <a:p>
                      <a:pPr algn="l">
                        <a:lnSpc>
                          <a:spcPct val="100000"/>
                        </a:lnSpc>
                        <a:spcAft>
                          <a:spcPts val="0"/>
                        </a:spcAft>
                      </a:pPr>
                      <a:r>
                        <a:rPr sz="850" b="1" i="0">
                          <a:solidFill>
                            <a:srgbClr val="1C4587"/>
                          </a:solidFill>
                          <a:latin typeface="Inter"/>
                        </a:rPr>
                        <a:t>app.dependency_overrides</a:t>
                      </a:r>
                    </a:p>
                  </a:txBody>
                  <a:tcPr marL="73152" marR="73152" marT="36576" marB="36576" anchor="ctr">
                    <a:solidFill>
                      <a:srgbClr val="F3F4F6"/>
                    </a:solidFill>
                  </a:tcPr>
                </a:tc>
                <a:tc>
                  <a:txBody>
                    <a:bodyPr/>
                    <a:lstStyle/>
                    <a:p>
                      <a:pPr algn="l">
                        <a:lnSpc>
                          <a:spcPct val="100000"/>
                        </a:lnSpc>
                        <a:spcAft>
                          <a:spcPts val="0"/>
                        </a:spcAft>
                      </a:pPr>
                      <a:r>
                        <a:rPr sz="850" b="0" i="0">
                          <a:solidFill>
                            <a:srgbClr val="434343"/>
                          </a:solidFill>
                          <a:latin typeface="Inter"/>
                        </a:rPr>
                        <a:t>Mengganti dependency saat test</a:t>
                      </a:r>
                    </a:p>
                  </a:txBody>
                  <a:tcPr marL="73152" marR="73152" marT="36576" marB="36576" anchor="ctr">
                    <a:solidFill>
                      <a:srgbClr val="F3F4F6"/>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Service Dibuat Global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4167"/>
              </a:lnSpc>
              <a:spcAft>
                <a:spcPts val="0"/>
              </a:spcAft>
            </a:pPr>
            <a:r>
              <a:rPr sz="800" i="0">
                <a:solidFill>
                  <a:srgbClr val="5C6773"/>
                </a:solidFill>
                <a:latin typeface="Inconsolata"/>
              </a:rPr>
              <a:t> 9  </a:t>
            </a:r>
            <a:r>
              <a:rPr sz="800" i="0">
                <a:solidFill>
                  <a:srgbClr val="FF8E6E"/>
                </a:solidFill>
                <a:latin typeface="Inconsolata"/>
              </a:rPr>
              <a:t>import</a:t>
            </a:r>
            <a:r>
              <a:rPr sz="800" i="0">
                <a:solidFill>
                  <a:srgbClr val="E6EDF3"/>
                </a:solidFill>
                <a:latin typeface="Inconsolata"/>
              </a:rPr>
              <a:t> sqlite3</a:t>
            </a:r>
          </a:p>
          <a:p>
            <a:pPr>
              <a:lnSpc>
                <a:spcPct val="104167"/>
              </a:lnSpc>
              <a:spcAft>
                <a:spcPts val="0"/>
              </a:spcAft>
            </a:pPr>
            <a:r>
              <a:rPr sz="800" i="0">
                <a:solidFill>
                  <a:srgbClr val="5C6773"/>
                </a:solidFill>
                <a:latin typeface="Inconsolata"/>
              </a:rPr>
              <a:t>10  </a:t>
            </a:r>
            <a:r>
              <a:rPr sz="800" i="0">
                <a:solidFill>
                  <a:srgbClr val="E6EDF3"/>
                </a:solidFill>
                <a:latin typeface="Inconsolata"/>
              </a:rPr>
              <a:t> </a:t>
            </a:r>
          </a:p>
          <a:p>
            <a:pPr>
              <a:lnSpc>
                <a:spcPct val="104167"/>
              </a:lnSpc>
              <a:spcAft>
                <a:spcPts val="0"/>
              </a:spcAft>
            </a:pPr>
            <a:r>
              <a:rPr sz="800" i="0">
                <a:solidFill>
                  <a:srgbClr val="5C6773"/>
                </a:solidFill>
                <a:latin typeface="Inconsolata"/>
              </a:rPr>
              <a:t>11  </a:t>
            </a:r>
            <a:r>
              <a:rPr sz="800" i="0">
                <a:solidFill>
                  <a:srgbClr val="FF8E6E"/>
                </a:solidFill>
                <a:latin typeface="Inconsolata"/>
              </a:rPr>
              <a:t>from</a:t>
            </a:r>
            <a:r>
              <a:rPr sz="800" i="0">
                <a:solidFill>
                  <a:srgbClr val="E6EDF3"/>
                </a:solidFill>
                <a:latin typeface="Inconsolata"/>
              </a:rPr>
              <a:t> fastapi </a:t>
            </a:r>
            <a:r>
              <a:rPr sz="800" i="0">
                <a:solidFill>
                  <a:srgbClr val="FF8E6E"/>
                </a:solidFill>
                <a:latin typeface="Inconsolata"/>
              </a:rPr>
              <a:t>import</a:t>
            </a:r>
            <a:r>
              <a:rPr sz="800" i="0">
                <a:solidFill>
                  <a:srgbClr val="E6EDF3"/>
                </a:solidFill>
                <a:latin typeface="Inconsolata"/>
              </a:rPr>
              <a:t> </a:t>
            </a:r>
            <a:r>
              <a:rPr sz="800" i="0">
                <a:solidFill>
                  <a:srgbClr val="7FDBCA"/>
                </a:solidFill>
                <a:latin typeface="Inconsolata"/>
              </a:rPr>
              <a:t>FastAPI</a:t>
            </a:r>
          </a:p>
          <a:p>
            <a:pPr>
              <a:lnSpc>
                <a:spcPct val="104167"/>
              </a:lnSpc>
              <a:spcAft>
                <a:spcPts val="0"/>
              </a:spcAft>
            </a:pPr>
            <a:r>
              <a:rPr sz="800" i="0">
                <a:solidFill>
                  <a:srgbClr val="5C6773"/>
                </a:solidFill>
                <a:latin typeface="Inconsolata"/>
              </a:rPr>
              <a:t>12  </a:t>
            </a:r>
            <a:r>
              <a:rPr sz="800" i="0">
                <a:solidFill>
                  <a:srgbClr val="FF8E6E"/>
                </a:solidFill>
                <a:latin typeface="Inconsolata"/>
              </a:rPr>
              <a:t>from</a:t>
            </a:r>
            <a:r>
              <a:rPr sz="800" i="0">
                <a:solidFill>
                  <a:srgbClr val="E6EDF3"/>
                </a:solidFill>
                <a:latin typeface="Inconsolata"/>
              </a:rPr>
              <a:t> pydantic </a:t>
            </a:r>
            <a:r>
              <a:rPr sz="800" i="0">
                <a:solidFill>
                  <a:srgbClr val="FF8E6E"/>
                </a:solidFill>
                <a:latin typeface="Inconsolata"/>
              </a:rPr>
              <a:t>import</a:t>
            </a:r>
            <a:r>
              <a:rPr sz="800" i="0">
                <a:solidFill>
                  <a:srgbClr val="E6EDF3"/>
                </a:solidFill>
                <a:latin typeface="Inconsolata"/>
              </a:rPr>
              <a:t> </a:t>
            </a:r>
            <a:r>
              <a:rPr sz="800" i="0">
                <a:solidFill>
                  <a:srgbClr val="7FDBCA"/>
                </a:solidFill>
                <a:latin typeface="Inconsolata"/>
              </a:rPr>
              <a:t>BaseModel</a:t>
            </a:r>
          </a:p>
          <a:p>
            <a:pPr>
              <a:lnSpc>
                <a:spcPct val="104167"/>
              </a:lnSpc>
              <a:spcAft>
                <a:spcPts val="0"/>
              </a:spcAft>
            </a:pPr>
            <a:r>
              <a:rPr sz="800" i="0">
                <a:solidFill>
                  <a:srgbClr val="5C6773"/>
                </a:solidFill>
                <a:latin typeface="Inconsolata"/>
              </a:rPr>
              <a:t>13  </a:t>
            </a:r>
            <a:r>
              <a:rPr sz="800" i="0">
                <a:solidFill>
                  <a:srgbClr val="E6EDF3"/>
                </a:solidFill>
                <a:latin typeface="Inconsolata"/>
              </a:rPr>
              <a:t> </a:t>
            </a:r>
          </a:p>
          <a:p>
            <a:pPr>
              <a:lnSpc>
                <a:spcPct val="104167"/>
              </a:lnSpc>
              <a:spcAft>
                <a:spcPts val="0"/>
              </a:spcAft>
            </a:pPr>
            <a:r>
              <a:rPr sz="800" i="0">
                <a:solidFill>
                  <a:srgbClr val="5C6773"/>
                </a:solidFill>
                <a:latin typeface="Inconsolata"/>
              </a:rPr>
              <a:t>14  </a:t>
            </a:r>
            <a:r>
              <a:rPr sz="800" i="0">
                <a:solidFill>
                  <a:srgbClr val="E6EDF3"/>
                </a:solidFill>
                <a:latin typeface="Inconsolata"/>
              </a:rPr>
              <a:t> </a:t>
            </a:r>
          </a:p>
          <a:p>
            <a:pPr>
              <a:lnSpc>
                <a:spcPct val="104167"/>
              </a:lnSpc>
              <a:spcAft>
                <a:spcPts val="0"/>
              </a:spcAft>
            </a:pPr>
            <a:r>
              <a:rPr sz="800" i="0">
                <a:solidFill>
                  <a:srgbClr val="5C6773"/>
                </a:solidFill>
                <a:latin typeface="Inconsolata"/>
              </a:rPr>
              <a:t>15  </a:t>
            </a:r>
            <a:r>
              <a:rPr sz="800" i="0">
                <a:solidFill>
                  <a:srgbClr val="FF8E6E"/>
                </a:solidFill>
                <a:latin typeface="Inconsolata"/>
              </a:rPr>
              <a:t>class</a:t>
            </a:r>
            <a:r>
              <a:rPr sz="800" i="0">
                <a:solidFill>
                  <a:srgbClr val="E6EDF3"/>
                </a:solidFill>
                <a:latin typeface="Inconsolata"/>
              </a:rPr>
              <a:t> </a:t>
            </a:r>
            <a:r>
              <a:rPr sz="800" i="0">
                <a:solidFill>
                  <a:srgbClr val="7FDBCA"/>
                </a:solidFill>
                <a:latin typeface="Inconsolata"/>
              </a:rPr>
              <a:t>SqliteOrderRepository</a:t>
            </a:r>
            <a:r>
              <a:rPr sz="800" i="0">
                <a:solidFill>
                  <a:srgbClr val="E6EDF3"/>
                </a:solidFill>
                <a:latin typeface="Inconsolata"/>
              </a:rPr>
              <a:t>:</a:t>
            </a:r>
          </a:p>
          <a:p>
            <a:pPr>
              <a:lnSpc>
                <a:spcPct val="104167"/>
              </a:lnSpc>
              <a:spcAft>
                <a:spcPts val="0"/>
              </a:spcAft>
            </a:pPr>
            <a:r>
              <a:rPr sz="800" i="0">
                <a:solidFill>
                  <a:srgbClr val="5C6773"/>
                </a:solidFill>
                <a:latin typeface="Inconsolata"/>
              </a:rPr>
              <a:t>16  </a:t>
            </a: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__init__</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path: </a:t>
            </a:r>
            <a:r>
              <a:rPr sz="800" i="0">
                <a:solidFill>
                  <a:srgbClr val="C3A6FF"/>
                </a:solidFill>
                <a:latin typeface="Inconsolata"/>
              </a:rPr>
              <a:t>str</a:t>
            </a:r>
            <a:r>
              <a:rPr sz="800" i="0">
                <a:solidFill>
                  <a:srgbClr val="E6EDF3"/>
                </a:solidFill>
                <a:latin typeface="Inconsolata"/>
              </a:rPr>
              <a:t>):</a:t>
            </a:r>
          </a:p>
          <a:p>
            <a:pPr>
              <a:lnSpc>
                <a:spcPct val="104167"/>
              </a:lnSpc>
              <a:spcAft>
                <a:spcPts val="0"/>
              </a:spcAft>
            </a:pPr>
            <a:r>
              <a:rPr sz="800" i="0">
                <a:solidFill>
                  <a:srgbClr val="5C6773"/>
                </a:solidFill>
                <a:latin typeface="Inconsolata"/>
              </a:rPr>
              <a:t>17  </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.conn = sqlite3.connect(path, check_same_thread=</a:t>
            </a:r>
            <a:r>
              <a:rPr sz="800" i="0">
                <a:solidFill>
                  <a:srgbClr val="FF8E6E"/>
                </a:solidFill>
                <a:latin typeface="Inconsolata"/>
              </a:rPr>
              <a:t>False</a:t>
            </a:r>
            <a:r>
              <a:rPr sz="800" i="0">
                <a:solidFill>
                  <a:srgbClr val="E6EDF3"/>
                </a:solidFill>
                <a:latin typeface="Inconsolata"/>
              </a:rPr>
              <a:t>)</a:t>
            </a:r>
          </a:p>
          <a:p>
            <a:pPr>
              <a:lnSpc>
                <a:spcPct val="104167"/>
              </a:lnSpc>
              <a:spcAft>
                <a:spcPts val="0"/>
              </a:spcAft>
            </a:pPr>
            <a:r>
              <a:rPr sz="800" i="0">
                <a:solidFill>
                  <a:srgbClr val="5C6773"/>
                </a:solidFill>
                <a:latin typeface="Inconsolata"/>
              </a:rPr>
              <a:t>18  </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.conn.execute(</a:t>
            </a:r>
          </a:p>
          <a:p>
            <a:pPr>
              <a:lnSpc>
                <a:spcPct val="104167"/>
              </a:lnSpc>
              <a:spcAft>
                <a:spcPts val="0"/>
              </a:spcAft>
            </a:pPr>
            <a:r>
              <a:rPr sz="800" i="0">
                <a:solidFill>
                  <a:srgbClr val="5C6773"/>
                </a:solidFill>
                <a:latin typeface="Inconsolata"/>
              </a:rPr>
              <a:t>19  </a:t>
            </a:r>
            <a:r>
              <a:rPr sz="800" i="0">
                <a:solidFill>
                  <a:srgbClr val="E6EDF3"/>
                </a:solidFill>
                <a:latin typeface="Inconsolata"/>
              </a:rPr>
              <a:t>            </a:t>
            </a:r>
            <a:r>
              <a:rPr sz="800" i="0">
                <a:solidFill>
                  <a:srgbClr val="A5D6A7"/>
                </a:solidFill>
                <a:latin typeface="Inconsolata"/>
              </a:rPr>
              <a:t>"CREATE TABLE IF NOT EXISTS orders "</a:t>
            </a:r>
          </a:p>
          <a:p>
            <a:pPr>
              <a:lnSpc>
                <a:spcPct val="104167"/>
              </a:lnSpc>
              <a:spcAft>
                <a:spcPts val="0"/>
              </a:spcAft>
            </a:pPr>
            <a:r>
              <a:rPr sz="800" i="0">
                <a:solidFill>
                  <a:srgbClr val="5C6773"/>
                </a:solidFill>
                <a:latin typeface="Inconsolata"/>
              </a:rPr>
              <a:t>20  </a:t>
            </a:r>
            <a:r>
              <a:rPr sz="800" i="0">
                <a:solidFill>
                  <a:srgbClr val="E6EDF3"/>
                </a:solidFill>
                <a:latin typeface="Inconsolata"/>
              </a:rPr>
              <a:t>            </a:t>
            </a:r>
            <a:r>
              <a:rPr sz="800" i="0">
                <a:solidFill>
                  <a:srgbClr val="A5D6A7"/>
                </a:solidFill>
                <a:latin typeface="Inconsolata"/>
              </a:rPr>
              <a:t>"(id INTEGER PRIMARY KEY, customer TEXT, total INTEGER)"</a:t>
            </a:r>
          </a:p>
          <a:p>
            <a:pPr>
              <a:lnSpc>
                <a:spcPct val="104167"/>
              </a:lnSpc>
              <a:spcAft>
                <a:spcPts val="0"/>
              </a:spcAft>
            </a:pPr>
            <a:r>
              <a:rPr sz="800" i="0">
                <a:solidFill>
                  <a:srgbClr val="5C6773"/>
                </a:solidFill>
                <a:latin typeface="Inconsolata"/>
              </a:rPr>
              <a:t>21  </a:t>
            </a:r>
            <a:r>
              <a:rPr sz="800" i="0">
                <a:solidFill>
                  <a:srgbClr val="E6EDF3"/>
                </a:solidFill>
                <a:latin typeface="Inconsolata"/>
              </a:rPr>
              <a:t>        )</a:t>
            </a:r>
          </a:p>
          <a:p>
            <a:pPr>
              <a:lnSpc>
                <a:spcPct val="104167"/>
              </a:lnSpc>
              <a:spcAft>
                <a:spcPts val="0"/>
              </a:spcAft>
            </a:pPr>
            <a:r>
              <a:rPr sz="800" i="0">
                <a:solidFill>
                  <a:srgbClr val="5C6773"/>
                </a:solidFill>
                <a:latin typeface="Inconsolata"/>
              </a:rPr>
              <a:t>22  </a:t>
            </a:r>
            <a:r>
              <a:rPr sz="800" i="0">
                <a:solidFill>
                  <a:srgbClr val="E6EDF3"/>
                </a:solidFill>
                <a:latin typeface="Inconsolata"/>
              </a:rPr>
              <a:t> </a:t>
            </a:r>
          </a:p>
          <a:p>
            <a:pPr>
              <a:lnSpc>
                <a:spcPct val="104167"/>
              </a:lnSpc>
              <a:spcAft>
                <a:spcPts val="0"/>
              </a:spcAft>
            </a:pPr>
            <a:r>
              <a:rPr sz="800" i="0">
                <a:solidFill>
                  <a:srgbClr val="5C6773"/>
                </a:solidFill>
                <a:latin typeface="Inconsolata"/>
              </a:rPr>
              <a:t>23  </a:t>
            </a: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add</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customer: </a:t>
            </a:r>
            <a:r>
              <a:rPr sz="800" i="0">
                <a:solidFill>
                  <a:srgbClr val="C3A6FF"/>
                </a:solidFill>
                <a:latin typeface="Inconsolata"/>
              </a:rPr>
              <a:t>str</a:t>
            </a:r>
            <a:r>
              <a:rPr sz="800" i="0">
                <a:solidFill>
                  <a:srgbClr val="E6EDF3"/>
                </a:solidFill>
                <a:latin typeface="Inconsolata"/>
              </a:rPr>
              <a:t>, total: </a:t>
            </a:r>
            <a:r>
              <a:rPr sz="800" i="0">
                <a:solidFill>
                  <a:srgbClr val="C3A6FF"/>
                </a:solidFill>
                <a:latin typeface="Inconsolata"/>
              </a:rPr>
              <a:t>int</a:t>
            </a:r>
            <a:r>
              <a:rPr sz="800" i="0">
                <a:solidFill>
                  <a:srgbClr val="E6EDF3"/>
                </a:solidFill>
                <a:latin typeface="Inconsolata"/>
              </a:rPr>
              <a:t>) -&gt; </a:t>
            </a:r>
            <a:r>
              <a:rPr sz="800" i="0">
                <a:solidFill>
                  <a:srgbClr val="C3A6FF"/>
                </a:solidFill>
                <a:latin typeface="Inconsolata"/>
              </a:rPr>
              <a:t>dict</a:t>
            </a:r>
            <a:r>
              <a:rPr sz="800" i="0">
                <a:solidFill>
                  <a:srgbClr val="E6EDF3"/>
                </a:solidFill>
                <a:latin typeface="Inconsolata"/>
              </a:rPr>
              <a:t>:</a:t>
            </a:r>
          </a:p>
          <a:p>
            <a:pPr>
              <a:lnSpc>
                <a:spcPct val="104167"/>
              </a:lnSpc>
              <a:spcAft>
                <a:spcPts val="0"/>
              </a:spcAft>
            </a:pPr>
            <a:r>
              <a:rPr sz="800" i="0">
                <a:solidFill>
                  <a:srgbClr val="5C6773"/>
                </a:solidFill>
                <a:latin typeface="Inconsolata"/>
              </a:rPr>
              <a:t>24  </a:t>
            </a:r>
            <a:r>
              <a:rPr sz="800" i="0">
                <a:solidFill>
                  <a:srgbClr val="E6EDF3"/>
                </a:solidFill>
                <a:latin typeface="Inconsolata"/>
              </a:rPr>
              <a:t>        cur = </a:t>
            </a:r>
            <a:r>
              <a:rPr sz="800" i="0">
                <a:solidFill>
                  <a:srgbClr val="C3A6FF"/>
                </a:solidFill>
                <a:latin typeface="Inconsolata"/>
              </a:rPr>
              <a:t>self</a:t>
            </a:r>
            <a:r>
              <a:rPr sz="800" i="0">
                <a:solidFill>
                  <a:srgbClr val="E6EDF3"/>
                </a:solidFill>
                <a:latin typeface="Inconsolata"/>
              </a:rPr>
              <a:t>.conn.execute(</a:t>
            </a:r>
          </a:p>
          <a:p>
            <a:pPr>
              <a:lnSpc>
                <a:spcPct val="104167"/>
              </a:lnSpc>
              <a:spcAft>
                <a:spcPts val="0"/>
              </a:spcAft>
            </a:pPr>
            <a:r>
              <a:rPr sz="800" i="0">
                <a:solidFill>
                  <a:srgbClr val="5C6773"/>
                </a:solidFill>
                <a:latin typeface="Inconsolata"/>
              </a:rPr>
              <a:t>25  </a:t>
            </a:r>
            <a:r>
              <a:rPr sz="800" i="0">
                <a:solidFill>
                  <a:srgbClr val="E6EDF3"/>
                </a:solidFill>
                <a:latin typeface="Inconsolata"/>
              </a:rPr>
              <a:t>            </a:t>
            </a:r>
            <a:r>
              <a:rPr sz="800" i="0">
                <a:solidFill>
                  <a:srgbClr val="A5D6A7"/>
                </a:solidFill>
                <a:latin typeface="Inconsolata"/>
              </a:rPr>
              <a:t>"INSERT INTO orders (customer, total) VALUES (?, ?)"</a:t>
            </a:r>
            <a:r>
              <a:rPr sz="800" i="0">
                <a:solidFill>
                  <a:srgbClr val="E6EDF3"/>
                </a:solidFill>
                <a:latin typeface="Inconsolata"/>
              </a:rPr>
              <a:t>,</a:t>
            </a:r>
          </a:p>
          <a:p>
            <a:pPr>
              <a:lnSpc>
                <a:spcPct val="104167"/>
              </a:lnSpc>
              <a:spcAft>
                <a:spcPts val="0"/>
              </a:spcAft>
            </a:pPr>
            <a:r>
              <a:rPr sz="800" i="0">
                <a:solidFill>
                  <a:srgbClr val="5C6773"/>
                </a:solidFill>
                <a:latin typeface="Inconsolata"/>
              </a:rPr>
              <a:t>26  </a:t>
            </a:r>
            <a:r>
              <a:rPr sz="800" i="0">
                <a:solidFill>
                  <a:srgbClr val="E6EDF3"/>
                </a:solidFill>
                <a:latin typeface="Inconsolata"/>
              </a:rPr>
              <a:t>            (customer, total),</a:t>
            </a:r>
          </a:p>
          <a:p>
            <a:pPr>
              <a:lnSpc>
                <a:spcPct val="104167"/>
              </a:lnSpc>
              <a:spcAft>
                <a:spcPts val="0"/>
              </a:spcAft>
            </a:pPr>
            <a:r>
              <a:rPr sz="800" i="0">
                <a:solidFill>
                  <a:srgbClr val="5C6773"/>
                </a:solidFill>
                <a:latin typeface="Inconsolata"/>
              </a:rPr>
              <a:t>27  </a:t>
            </a:r>
            <a:r>
              <a:rPr sz="800" i="0">
                <a:solidFill>
                  <a:srgbClr val="E6EDF3"/>
                </a:solidFill>
                <a:latin typeface="Inconsolata"/>
              </a:rPr>
              <a:t>        )</a:t>
            </a:r>
          </a:p>
          <a:p>
            <a:pPr>
              <a:lnSpc>
                <a:spcPct val="104167"/>
              </a:lnSpc>
              <a:spcAft>
                <a:spcPts val="0"/>
              </a:spcAft>
            </a:pPr>
            <a:r>
              <a:rPr sz="800" i="0">
                <a:solidFill>
                  <a:srgbClr val="5C6773"/>
                </a:solidFill>
                <a:latin typeface="Inconsolata"/>
              </a:rPr>
              <a:t>28  </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.conn.commit()</a:t>
            </a:r>
          </a:p>
          <a:p>
            <a:pPr>
              <a:lnSpc>
                <a:spcPct val="104167"/>
              </a:lnSpc>
              <a:spcAft>
                <a:spcPts val="0"/>
              </a:spcAft>
            </a:pPr>
            <a:r>
              <a:rPr sz="800" i="0">
                <a:solidFill>
                  <a:srgbClr val="5C6773"/>
                </a:solidFill>
                <a:latin typeface="Inconsolata"/>
              </a:rPr>
              <a:t>29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A5D6A7"/>
                </a:solidFill>
                <a:latin typeface="Inconsolata"/>
              </a:rPr>
              <a:t>"id"</a:t>
            </a:r>
            <a:r>
              <a:rPr sz="800" i="0">
                <a:solidFill>
                  <a:srgbClr val="E6EDF3"/>
                </a:solidFill>
                <a:latin typeface="Inconsolata"/>
              </a:rPr>
              <a:t>: cur.lastrowid, </a:t>
            </a:r>
            <a:r>
              <a:rPr sz="800" i="0">
                <a:solidFill>
                  <a:srgbClr val="A5D6A7"/>
                </a:solidFill>
                <a:latin typeface="Inconsolata"/>
              </a:rPr>
              <a:t>"customer"</a:t>
            </a:r>
            <a:r>
              <a:rPr sz="800" i="0">
                <a:solidFill>
                  <a:srgbClr val="E6EDF3"/>
                </a:solidFill>
                <a:latin typeface="Inconsolata"/>
              </a:rPr>
              <a:t>: customer, </a:t>
            </a:r>
            <a:r>
              <a:rPr sz="800" i="0">
                <a:solidFill>
                  <a:srgbClr val="A5D6A7"/>
                </a:solidFill>
                <a:latin typeface="Inconsolata"/>
              </a:rPr>
              <a:t>"total"</a:t>
            </a:r>
            <a:r>
              <a:rPr sz="800" i="0">
                <a:solidFill>
                  <a:srgbClr val="E6EDF3"/>
                </a:solidFill>
                <a:latin typeface="Inconsolata"/>
              </a:rPr>
              <a:t>: total}</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Before: Service Dibuat Global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06-dependency-injection/before.py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4167"/>
              </a:lnSpc>
              <a:spcAft>
                <a:spcPts val="0"/>
              </a:spcAft>
            </a:pPr>
            <a:r>
              <a:rPr sz="800" i="0">
                <a:solidFill>
                  <a:srgbClr val="5C6773"/>
                </a:solidFill>
                <a:latin typeface="Inconsolata"/>
              </a:rPr>
              <a:t>32  </a:t>
            </a:r>
            <a:r>
              <a:rPr sz="800" i="0">
                <a:solidFill>
                  <a:srgbClr val="FF8E6E"/>
                </a:solidFill>
                <a:latin typeface="Inconsolata"/>
              </a:rPr>
              <a:t>class</a:t>
            </a:r>
            <a:r>
              <a:rPr sz="800" i="0">
                <a:solidFill>
                  <a:srgbClr val="E6EDF3"/>
                </a:solidFill>
                <a:latin typeface="Inconsolata"/>
              </a:rPr>
              <a:t> </a:t>
            </a:r>
            <a:r>
              <a:rPr sz="800" i="0">
                <a:solidFill>
                  <a:srgbClr val="7FDBCA"/>
                </a:solidFill>
                <a:latin typeface="Inconsolata"/>
              </a:rPr>
              <a:t>OrderService</a:t>
            </a:r>
            <a:r>
              <a:rPr sz="800" i="0">
                <a:solidFill>
                  <a:srgbClr val="E6EDF3"/>
                </a:solidFill>
                <a:latin typeface="Inconsolata"/>
              </a:rPr>
              <a:t>:</a:t>
            </a:r>
          </a:p>
          <a:p>
            <a:pPr>
              <a:lnSpc>
                <a:spcPct val="104167"/>
              </a:lnSpc>
              <a:spcAft>
                <a:spcPts val="0"/>
              </a:spcAft>
            </a:pPr>
            <a:r>
              <a:rPr sz="800" i="0">
                <a:solidFill>
                  <a:srgbClr val="5C6773"/>
                </a:solidFill>
                <a:latin typeface="Inconsolata"/>
              </a:rPr>
              <a:t>33  </a:t>
            </a: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__init__</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repo):</a:t>
            </a:r>
          </a:p>
          <a:p>
            <a:pPr>
              <a:lnSpc>
                <a:spcPct val="104167"/>
              </a:lnSpc>
              <a:spcAft>
                <a:spcPts val="0"/>
              </a:spcAft>
            </a:pPr>
            <a:r>
              <a:rPr sz="800" i="0">
                <a:solidFill>
                  <a:srgbClr val="5C6773"/>
                </a:solidFill>
                <a:latin typeface="Inconsolata"/>
              </a:rPr>
              <a:t>34  </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.repo = repo</a:t>
            </a:r>
          </a:p>
          <a:p>
            <a:pPr>
              <a:lnSpc>
                <a:spcPct val="104167"/>
              </a:lnSpc>
              <a:spcAft>
                <a:spcPts val="0"/>
              </a:spcAft>
            </a:pPr>
            <a:r>
              <a:rPr sz="800" i="0">
                <a:solidFill>
                  <a:srgbClr val="5C6773"/>
                </a:solidFill>
                <a:latin typeface="Inconsolata"/>
              </a:rPr>
              <a:t>35  </a:t>
            </a:r>
            <a:r>
              <a:rPr sz="800" i="0">
                <a:solidFill>
                  <a:srgbClr val="E6EDF3"/>
                </a:solidFill>
                <a:latin typeface="Inconsolata"/>
              </a:rPr>
              <a:t> </a:t>
            </a:r>
          </a:p>
          <a:p>
            <a:pPr>
              <a:lnSpc>
                <a:spcPct val="104167"/>
              </a:lnSpc>
              <a:spcAft>
                <a:spcPts val="0"/>
              </a:spcAft>
            </a:pPr>
            <a:r>
              <a:rPr sz="800" i="0">
                <a:solidFill>
                  <a:srgbClr val="5C6773"/>
                </a:solidFill>
                <a:latin typeface="Inconsolata"/>
              </a:rPr>
              <a:t>36  </a:t>
            </a:r>
            <a:r>
              <a:rPr sz="800" i="0">
                <a:solidFill>
                  <a:srgbClr val="E6EDF3"/>
                </a:solidFill>
                <a:latin typeface="Inconsolata"/>
              </a:rPr>
              <a:t>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place_order</a:t>
            </a:r>
            <a:r>
              <a:rPr sz="800" i="0">
                <a:solidFill>
                  <a:srgbClr val="E6EDF3"/>
                </a:solidFill>
                <a:latin typeface="Inconsolata"/>
              </a:rPr>
              <a:t>(</a:t>
            </a:r>
            <a:r>
              <a:rPr sz="800" i="0">
                <a:solidFill>
                  <a:srgbClr val="C3A6FF"/>
                </a:solidFill>
                <a:latin typeface="Inconsolata"/>
              </a:rPr>
              <a:t>self</a:t>
            </a:r>
            <a:r>
              <a:rPr sz="800" i="0">
                <a:solidFill>
                  <a:srgbClr val="E6EDF3"/>
                </a:solidFill>
                <a:latin typeface="Inconsolata"/>
              </a:rPr>
              <a:t>, customer: </a:t>
            </a:r>
            <a:r>
              <a:rPr sz="800" i="0">
                <a:solidFill>
                  <a:srgbClr val="C3A6FF"/>
                </a:solidFill>
                <a:latin typeface="Inconsolata"/>
              </a:rPr>
              <a:t>str</a:t>
            </a:r>
            <a:r>
              <a:rPr sz="800" i="0">
                <a:solidFill>
                  <a:srgbClr val="E6EDF3"/>
                </a:solidFill>
                <a:latin typeface="Inconsolata"/>
              </a:rPr>
              <a:t>, subtotal: </a:t>
            </a:r>
            <a:r>
              <a:rPr sz="800" i="0">
                <a:solidFill>
                  <a:srgbClr val="C3A6FF"/>
                </a:solidFill>
                <a:latin typeface="Inconsolata"/>
              </a:rPr>
              <a:t>int</a:t>
            </a:r>
            <a:r>
              <a:rPr sz="800" i="0">
                <a:solidFill>
                  <a:srgbClr val="E6EDF3"/>
                </a:solidFill>
                <a:latin typeface="Inconsolata"/>
              </a:rPr>
              <a:t>) -&gt; </a:t>
            </a:r>
            <a:r>
              <a:rPr sz="800" i="0">
                <a:solidFill>
                  <a:srgbClr val="C3A6FF"/>
                </a:solidFill>
                <a:latin typeface="Inconsolata"/>
              </a:rPr>
              <a:t>dict</a:t>
            </a:r>
            <a:r>
              <a:rPr sz="800" i="0">
                <a:solidFill>
                  <a:srgbClr val="E6EDF3"/>
                </a:solidFill>
                <a:latin typeface="Inconsolata"/>
              </a:rPr>
              <a:t>:</a:t>
            </a:r>
          </a:p>
          <a:p>
            <a:pPr>
              <a:lnSpc>
                <a:spcPct val="104167"/>
              </a:lnSpc>
              <a:spcAft>
                <a:spcPts val="0"/>
              </a:spcAft>
            </a:pPr>
            <a:r>
              <a:rPr sz="800" i="0">
                <a:solidFill>
                  <a:srgbClr val="5C6773"/>
                </a:solidFill>
                <a:latin typeface="Inconsolata"/>
              </a:rPr>
              <a:t>37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C3A6FF"/>
                </a:solidFill>
                <a:latin typeface="Inconsolata"/>
              </a:rPr>
              <a:t>self</a:t>
            </a:r>
            <a:r>
              <a:rPr sz="800" i="0">
                <a:solidFill>
                  <a:srgbClr val="E6EDF3"/>
                </a:solidFill>
                <a:latin typeface="Inconsolata"/>
              </a:rPr>
              <a:t>.repo.add(customer, subtotal - subtotal * </a:t>
            </a:r>
            <a:r>
              <a:rPr sz="800" i="0">
                <a:solidFill>
                  <a:srgbClr val="F9C97A"/>
                </a:solidFill>
                <a:latin typeface="Inconsolata"/>
              </a:rPr>
              <a:t>5</a:t>
            </a:r>
            <a:r>
              <a:rPr sz="800" i="0">
                <a:solidFill>
                  <a:srgbClr val="E6EDF3"/>
                </a:solidFill>
                <a:latin typeface="Inconsolata"/>
              </a:rPr>
              <a:t> // </a:t>
            </a:r>
            <a:r>
              <a:rPr sz="800" i="0">
                <a:solidFill>
                  <a:srgbClr val="F9C97A"/>
                </a:solidFill>
                <a:latin typeface="Inconsolata"/>
              </a:rPr>
              <a:t>100</a:t>
            </a:r>
            <a:r>
              <a:rPr sz="800" i="0">
                <a:solidFill>
                  <a:srgbClr val="E6EDF3"/>
                </a:solidFill>
                <a:latin typeface="Inconsolata"/>
              </a:rPr>
              <a:t>)</a:t>
            </a:r>
          </a:p>
          <a:p>
            <a:pPr>
              <a:lnSpc>
                <a:spcPct val="104167"/>
              </a:lnSpc>
              <a:spcAft>
                <a:spcPts val="0"/>
              </a:spcAft>
            </a:pPr>
            <a:r>
              <a:rPr sz="800" i="0">
                <a:solidFill>
                  <a:srgbClr val="5C6773"/>
                </a:solidFill>
                <a:latin typeface="Inconsolata"/>
              </a:rPr>
              <a:t>38  </a:t>
            </a:r>
            <a:r>
              <a:rPr sz="800" i="0">
                <a:solidFill>
                  <a:srgbClr val="E6EDF3"/>
                </a:solidFill>
                <a:latin typeface="Inconsolata"/>
              </a:rPr>
              <a:t> </a:t>
            </a:r>
          </a:p>
          <a:p>
            <a:pPr>
              <a:lnSpc>
                <a:spcPct val="104167"/>
              </a:lnSpc>
              <a:spcAft>
                <a:spcPts val="0"/>
              </a:spcAft>
            </a:pPr>
            <a:r>
              <a:rPr sz="800" i="0">
                <a:solidFill>
                  <a:srgbClr val="5C6773"/>
                </a:solidFill>
                <a:latin typeface="Inconsolata"/>
              </a:rPr>
              <a:t>39  </a:t>
            </a:r>
            <a:r>
              <a:rPr sz="800" i="0">
                <a:solidFill>
                  <a:srgbClr val="E6EDF3"/>
                </a:solidFill>
                <a:latin typeface="Inconsolata"/>
              </a:rPr>
              <a:t> </a:t>
            </a:r>
          </a:p>
          <a:p>
            <a:pPr>
              <a:lnSpc>
                <a:spcPct val="104167"/>
              </a:lnSpc>
              <a:spcAft>
                <a:spcPts val="0"/>
              </a:spcAft>
            </a:pPr>
            <a:r>
              <a:rPr sz="800" i="0">
                <a:solidFill>
                  <a:srgbClr val="5C6773"/>
                </a:solidFill>
                <a:latin typeface="Inconsolata"/>
              </a:rPr>
              <a:t>40  </a:t>
            </a:r>
            <a:r>
              <a:rPr sz="800" i="0">
                <a:solidFill>
                  <a:srgbClr val="E6EDF3"/>
                </a:solidFill>
                <a:latin typeface="Inconsolata"/>
              </a:rPr>
              <a:t>app = </a:t>
            </a:r>
            <a:r>
              <a:rPr sz="800" i="0">
                <a:solidFill>
                  <a:srgbClr val="7FDBCA"/>
                </a:solidFill>
                <a:latin typeface="Inconsolata"/>
              </a:rPr>
              <a:t>FastAPI</a:t>
            </a:r>
            <a:r>
              <a:rPr sz="800" i="0">
                <a:solidFill>
                  <a:srgbClr val="E6EDF3"/>
                </a:solidFill>
                <a:latin typeface="Inconsolata"/>
              </a:rPr>
              <a:t>()</a:t>
            </a:r>
          </a:p>
          <a:p>
            <a:pPr>
              <a:lnSpc>
                <a:spcPct val="104167"/>
              </a:lnSpc>
              <a:spcAft>
                <a:spcPts val="0"/>
              </a:spcAft>
            </a:pPr>
            <a:r>
              <a:rPr sz="800" i="0">
                <a:solidFill>
                  <a:srgbClr val="5C6773"/>
                </a:solidFill>
                <a:latin typeface="Inconsolata"/>
              </a:rPr>
              <a:t>41  </a:t>
            </a:r>
            <a:r>
              <a:rPr sz="800" i="1">
                <a:solidFill>
                  <a:srgbClr val="8B98A8"/>
                </a:solidFill>
                <a:latin typeface="Inconsolata"/>
              </a:rPr>
              <a:t># dibuat global saat file di-import, susah diganti</a:t>
            </a:r>
          </a:p>
          <a:p>
            <a:pPr>
              <a:lnSpc>
                <a:spcPct val="104167"/>
              </a:lnSpc>
              <a:spcAft>
                <a:spcPts val="0"/>
              </a:spcAft>
            </a:pPr>
            <a:r>
              <a:rPr sz="800" i="0">
                <a:solidFill>
                  <a:srgbClr val="5C6773"/>
                </a:solidFill>
                <a:latin typeface="Inconsolata"/>
              </a:rPr>
              <a:t>42  </a:t>
            </a:r>
            <a:r>
              <a:rPr sz="800" i="0">
                <a:solidFill>
                  <a:srgbClr val="E6EDF3"/>
                </a:solidFill>
                <a:latin typeface="Inconsolata"/>
              </a:rPr>
              <a:t>service = </a:t>
            </a:r>
            <a:r>
              <a:rPr sz="800" i="0">
                <a:solidFill>
                  <a:srgbClr val="7FDBCA"/>
                </a:solidFill>
                <a:latin typeface="Inconsolata"/>
              </a:rPr>
              <a:t>OrderService</a:t>
            </a:r>
            <a:r>
              <a:rPr sz="800" i="0">
                <a:solidFill>
                  <a:srgbClr val="E6EDF3"/>
                </a:solidFill>
                <a:latin typeface="Inconsolata"/>
              </a:rPr>
              <a:t>(</a:t>
            </a:r>
            <a:r>
              <a:rPr sz="800" i="0">
                <a:solidFill>
                  <a:srgbClr val="7FDBCA"/>
                </a:solidFill>
                <a:latin typeface="Inconsolata"/>
              </a:rPr>
              <a:t>SqliteOrderRepository</a:t>
            </a:r>
            <a:r>
              <a:rPr sz="800" i="0">
                <a:solidFill>
                  <a:srgbClr val="E6EDF3"/>
                </a:solidFill>
                <a:latin typeface="Inconsolata"/>
              </a:rPr>
              <a:t>(</a:t>
            </a:r>
            <a:r>
              <a:rPr sz="800" i="0">
                <a:solidFill>
                  <a:srgbClr val="A5D6A7"/>
                </a:solidFill>
                <a:latin typeface="Inconsolata"/>
              </a:rPr>
              <a:t>"orders.db"</a:t>
            </a:r>
            <a:r>
              <a:rPr sz="800" i="0">
                <a:solidFill>
                  <a:srgbClr val="E6EDF3"/>
                </a:solidFill>
                <a:latin typeface="Inconsolata"/>
              </a:rPr>
              <a:t>))</a:t>
            </a:r>
          </a:p>
          <a:p>
            <a:pPr>
              <a:lnSpc>
                <a:spcPct val="104167"/>
              </a:lnSpc>
              <a:spcAft>
                <a:spcPts val="0"/>
              </a:spcAft>
            </a:pPr>
            <a:r>
              <a:rPr sz="800" i="0">
                <a:solidFill>
                  <a:srgbClr val="5C6773"/>
                </a:solidFill>
                <a:latin typeface="Inconsolata"/>
              </a:rPr>
              <a:t>43  </a:t>
            </a:r>
            <a:r>
              <a:rPr sz="800" i="0">
                <a:solidFill>
                  <a:srgbClr val="E6EDF3"/>
                </a:solidFill>
                <a:latin typeface="Inconsolata"/>
              </a:rPr>
              <a:t> </a:t>
            </a:r>
          </a:p>
          <a:p>
            <a:pPr>
              <a:lnSpc>
                <a:spcPct val="104167"/>
              </a:lnSpc>
              <a:spcAft>
                <a:spcPts val="0"/>
              </a:spcAft>
            </a:pPr>
            <a:r>
              <a:rPr sz="800" i="0">
                <a:solidFill>
                  <a:srgbClr val="5C6773"/>
                </a:solidFill>
                <a:latin typeface="Inconsolata"/>
              </a:rPr>
              <a:t>44  </a:t>
            </a:r>
            <a:r>
              <a:rPr sz="800" i="0">
                <a:solidFill>
                  <a:srgbClr val="E6EDF3"/>
                </a:solidFill>
                <a:latin typeface="Inconsolata"/>
              </a:rPr>
              <a:t> </a:t>
            </a:r>
          </a:p>
          <a:p>
            <a:pPr>
              <a:lnSpc>
                <a:spcPct val="104167"/>
              </a:lnSpc>
              <a:spcAft>
                <a:spcPts val="0"/>
              </a:spcAft>
            </a:pPr>
            <a:r>
              <a:rPr sz="800" i="0">
                <a:solidFill>
                  <a:srgbClr val="5C6773"/>
                </a:solidFill>
                <a:latin typeface="Inconsolata"/>
              </a:rPr>
              <a:t>45  </a:t>
            </a:r>
            <a:r>
              <a:rPr sz="800" i="0">
                <a:solidFill>
                  <a:srgbClr val="FF8E6E"/>
                </a:solidFill>
                <a:latin typeface="Inconsolata"/>
              </a:rPr>
              <a:t>class</a:t>
            </a:r>
            <a:r>
              <a:rPr sz="800" i="0">
                <a:solidFill>
                  <a:srgbClr val="E6EDF3"/>
                </a:solidFill>
                <a:latin typeface="Inconsolata"/>
              </a:rPr>
              <a:t> </a:t>
            </a:r>
            <a:r>
              <a:rPr sz="800" i="0">
                <a:solidFill>
                  <a:srgbClr val="7FDBCA"/>
                </a:solidFill>
                <a:latin typeface="Inconsolata"/>
              </a:rPr>
              <a:t>OrderIn</a:t>
            </a:r>
            <a:r>
              <a:rPr sz="800" i="0">
                <a:solidFill>
                  <a:srgbClr val="E6EDF3"/>
                </a:solidFill>
                <a:latin typeface="Inconsolata"/>
              </a:rPr>
              <a:t>(</a:t>
            </a:r>
            <a:r>
              <a:rPr sz="800" i="0">
                <a:solidFill>
                  <a:srgbClr val="7FDBCA"/>
                </a:solidFill>
                <a:latin typeface="Inconsolata"/>
              </a:rPr>
              <a:t>BaseModel</a:t>
            </a:r>
            <a:r>
              <a:rPr sz="800" i="0">
                <a:solidFill>
                  <a:srgbClr val="E6EDF3"/>
                </a:solidFill>
                <a:latin typeface="Inconsolata"/>
              </a:rPr>
              <a:t>):</a:t>
            </a:r>
          </a:p>
          <a:p>
            <a:pPr>
              <a:lnSpc>
                <a:spcPct val="104167"/>
              </a:lnSpc>
              <a:spcAft>
                <a:spcPts val="0"/>
              </a:spcAft>
            </a:pPr>
            <a:r>
              <a:rPr sz="800" i="0">
                <a:solidFill>
                  <a:srgbClr val="5C6773"/>
                </a:solidFill>
                <a:latin typeface="Inconsolata"/>
              </a:rPr>
              <a:t>46  </a:t>
            </a:r>
            <a:r>
              <a:rPr sz="800" i="0">
                <a:solidFill>
                  <a:srgbClr val="E6EDF3"/>
                </a:solidFill>
                <a:latin typeface="Inconsolata"/>
              </a:rPr>
              <a:t>    customer: </a:t>
            </a:r>
            <a:r>
              <a:rPr sz="800" i="0">
                <a:solidFill>
                  <a:srgbClr val="C3A6FF"/>
                </a:solidFill>
                <a:latin typeface="Inconsolata"/>
              </a:rPr>
              <a:t>str</a:t>
            </a:r>
          </a:p>
          <a:p>
            <a:pPr>
              <a:lnSpc>
                <a:spcPct val="104167"/>
              </a:lnSpc>
              <a:spcAft>
                <a:spcPts val="0"/>
              </a:spcAft>
            </a:pPr>
            <a:r>
              <a:rPr sz="800" i="0">
                <a:solidFill>
                  <a:srgbClr val="5C6773"/>
                </a:solidFill>
                <a:latin typeface="Inconsolata"/>
              </a:rPr>
              <a:t>47  </a:t>
            </a:r>
            <a:r>
              <a:rPr sz="800" i="0">
                <a:solidFill>
                  <a:srgbClr val="E6EDF3"/>
                </a:solidFill>
                <a:latin typeface="Inconsolata"/>
              </a:rPr>
              <a:t>    subtotal: </a:t>
            </a:r>
            <a:r>
              <a:rPr sz="800" i="0">
                <a:solidFill>
                  <a:srgbClr val="C3A6FF"/>
                </a:solidFill>
                <a:latin typeface="Inconsolata"/>
              </a:rPr>
              <a:t>int</a:t>
            </a:r>
          </a:p>
          <a:p>
            <a:pPr>
              <a:lnSpc>
                <a:spcPct val="104167"/>
              </a:lnSpc>
              <a:spcAft>
                <a:spcPts val="0"/>
              </a:spcAft>
            </a:pPr>
            <a:r>
              <a:rPr sz="800" i="0">
                <a:solidFill>
                  <a:srgbClr val="5C6773"/>
                </a:solidFill>
                <a:latin typeface="Inconsolata"/>
              </a:rPr>
              <a:t>48  </a:t>
            </a:r>
            <a:r>
              <a:rPr sz="800" i="0">
                <a:solidFill>
                  <a:srgbClr val="E6EDF3"/>
                </a:solidFill>
                <a:latin typeface="Inconsolata"/>
              </a:rPr>
              <a:t> </a:t>
            </a:r>
          </a:p>
          <a:p>
            <a:pPr>
              <a:lnSpc>
                <a:spcPct val="104167"/>
              </a:lnSpc>
              <a:spcAft>
                <a:spcPts val="0"/>
              </a:spcAft>
            </a:pPr>
            <a:r>
              <a:rPr sz="800" i="0">
                <a:solidFill>
                  <a:srgbClr val="5C6773"/>
                </a:solidFill>
                <a:latin typeface="Inconsolata"/>
              </a:rPr>
              <a:t>49  </a:t>
            </a:r>
            <a:r>
              <a:rPr sz="800" i="0">
                <a:solidFill>
                  <a:srgbClr val="E6EDF3"/>
                </a:solidFill>
                <a:latin typeface="Inconsolata"/>
              </a:rPr>
              <a:t> </a:t>
            </a:r>
          </a:p>
          <a:p>
            <a:pPr>
              <a:lnSpc>
                <a:spcPct val="104167"/>
              </a:lnSpc>
              <a:spcAft>
                <a:spcPts val="0"/>
              </a:spcAft>
            </a:pPr>
            <a:r>
              <a:rPr sz="800" i="0">
                <a:solidFill>
                  <a:srgbClr val="5C6773"/>
                </a:solidFill>
                <a:latin typeface="Inconsolata"/>
              </a:rPr>
              <a:t>50  </a:t>
            </a:r>
            <a:r>
              <a:rPr sz="800" i="0">
                <a:solidFill>
                  <a:srgbClr val="F9C97A"/>
                </a:solidFill>
                <a:latin typeface="Inconsolata"/>
              </a:rPr>
              <a:t>@app.post</a:t>
            </a:r>
            <a:r>
              <a:rPr sz="800" i="0">
                <a:solidFill>
                  <a:srgbClr val="E6EDF3"/>
                </a:solidFill>
                <a:latin typeface="Inconsolata"/>
              </a:rPr>
              <a:t>(</a:t>
            </a:r>
            <a:r>
              <a:rPr sz="800" i="0">
                <a:solidFill>
                  <a:srgbClr val="A5D6A7"/>
                </a:solidFill>
                <a:latin typeface="Inconsolata"/>
              </a:rPr>
              <a:t>"/orders"</a:t>
            </a:r>
            <a:r>
              <a:rPr sz="800" i="0">
                <a:solidFill>
                  <a:srgbClr val="E6EDF3"/>
                </a:solidFill>
                <a:latin typeface="Inconsolata"/>
              </a:rPr>
              <a:t>, status_code=</a:t>
            </a:r>
            <a:r>
              <a:rPr sz="800" i="0">
                <a:solidFill>
                  <a:srgbClr val="F9C97A"/>
                </a:solidFill>
                <a:latin typeface="Inconsolata"/>
              </a:rPr>
              <a:t>201</a:t>
            </a:r>
            <a:r>
              <a:rPr sz="800" i="0">
                <a:solidFill>
                  <a:srgbClr val="E6EDF3"/>
                </a:solidFill>
                <a:latin typeface="Inconsolata"/>
              </a:rPr>
              <a:t>)</a:t>
            </a:r>
          </a:p>
          <a:p>
            <a:pPr>
              <a:lnSpc>
                <a:spcPct val="104167"/>
              </a:lnSpc>
              <a:spcAft>
                <a:spcPts val="0"/>
              </a:spcAft>
            </a:pPr>
            <a:r>
              <a:rPr sz="800" i="0">
                <a:solidFill>
                  <a:srgbClr val="5C6773"/>
                </a:solidFill>
                <a:latin typeface="Inconsolata"/>
              </a:rPr>
              <a:t>51  </a:t>
            </a: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create_order</a:t>
            </a:r>
            <a:r>
              <a:rPr sz="800" i="0">
                <a:solidFill>
                  <a:srgbClr val="E6EDF3"/>
                </a:solidFill>
                <a:latin typeface="Inconsolata"/>
              </a:rPr>
              <a:t>(payload: </a:t>
            </a:r>
            <a:r>
              <a:rPr sz="800" i="0">
                <a:solidFill>
                  <a:srgbClr val="7FDBCA"/>
                </a:solidFill>
                <a:latin typeface="Inconsolata"/>
              </a:rPr>
              <a:t>OrderIn</a:t>
            </a:r>
            <a:r>
              <a:rPr sz="800" i="0">
                <a:solidFill>
                  <a:srgbClr val="E6EDF3"/>
                </a:solidFill>
                <a:latin typeface="Inconsolata"/>
              </a:rPr>
              <a:t>):</a:t>
            </a:r>
          </a:p>
          <a:p>
            <a:pPr>
              <a:lnSpc>
                <a:spcPct val="104167"/>
              </a:lnSpc>
              <a:spcAft>
                <a:spcPts val="0"/>
              </a:spcAft>
            </a:pPr>
            <a:r>
              <a:rPr sz="800" i="0">
                <a:solidFill>
                  <a:srgbClr val="5C6773"/>
                </a:solidFill>
                <a:latin typeface="Inconsolata"/>
              </a:rPr>
              <a:t>52  </a:t>
            </a: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service.place_order(payload.customer, payload.subtotal)</a:t>
            </a:r>
          </a:p>
        </p:txBody>
      </p:sp>
      <p:sp>
        <p:nvSpPr>
          <p:cNvPr id="29" name="Box 12"/>
          <p:cNvSpPr/>
          <p:nvPr/>
        </p:nvSpPr>
        <p:spPr>
          <a:xfrm>
            <a:off x="704088" y="3097022"/>
            <a:ext cx="7699248"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303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4367022"/>
            <a:ext cx="7699248" cy="119380"/>
          </a:xfrm>
          <a:prstGeom prst="roundRect">
            <a:avLst>
              <a:gd name="adj" fmla="val 38297"/>
            </a:avLst>
          </a:prstGeom>
          <a:solidFill>
            <a:srgbClr val="C0392B">
              <a:alpha val="22000"/>
            </a:srgbClr>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4307840"/>
            <a:ext cx="237744" cy="237744"/>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06-dependency-injection/before.py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sesi-02-solid-clean-architecture/06-dependency-injection</a:t>
            </a:r>
          </a:p>
          <a:p>
            <a:pPr>
              <a:lnSpc>
                <a:spcPct val="107527"/>
              </a:lnSpc>
              <a:spcAft>
                <a:spcPts val="0"/>
              </a:spcAft>
            </a:pPr>
            <a:r>
              <a:rPr sz="775" i="0">
                <a:solidFill>
                  <a:srgbClr val="82B1FF"/>
                </a:solidFill>
                <a:latin typeface="Inconsolata"/>
              </a:rPr>
              <a:t>$ uvicorn before:app --reload</a:t>
            </a:r>
          </a:p>
        </p:txBody>
      </p:sp>
      <p:pic>
        <p:nvPicPr>
          <p:cNvPr id="29" name="Image 12" descr="s02-06-dependency-injection-before.png"/>
          <p:cNvPicPr>
            <a:picLocks noChangeAspect="1"/>
          </p:cNvPicPr>
          <p:nvPr/>
        </p:nvPicPr>
        <p:blipFill>
          <a:blip r:embed="rId2"/>
          <a:stretch>
            <a:fillRect/>
          </a:stretch>
        </p:blipFill>
        <p:spPr>
          <a:xfrm>
            <a:off x="621792" y="2240280"/>
            <a:ext cx="4297680" cy="1155570"/>
          </a:xfrm>
          <a:prstGeom prst="rect">
            <a:avLst/>
          </a:prstGeom>
        </p:spPr>
      </p:pic>
      <p:sp>
        <p:nvSpPr>
          <p:cNvPr id="30" name="Text 13"/>
          <p:cNvSpPr txBox="1"/>
          <p:nvPr/>
        </p:nvSpPr>
        <p:spPr>
          <a:xfrm>
            <a:off x="621792" y="3441569"/>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Buka http://127.0.0.1:8000/docs, POST /orders dengan body {"customer": "budi@mail.com", "subtotal": 200000}</a:t>
            </a:r>
          </a:p>
        </p:txBody>
      </p:sp>
      <p:sp>
        <p:nvSpPr>
          <p:cNvPr id="31" name="Box 14"/>
          <p:cNvSpPr/>
          <p:nvPr/>
        </p:nvSpPr>
        <p:spPr>
          <a:xfrm>
            <a:off x="5074920" y="1481328"/>
            <a:ext cx="341071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C0392B"/>
                </a:solidFill>
                <a:latin typeface="Inter"/>
              </a:rPr>
              <a:t>Masalahnya</a:t>
            </a:r>
          </a:p>
        </p:txBody>
      </p:sp>
      <p:sp>
        <p:nvSpPr>
          <p:cNvPr id="33" name="Text 16"/>
          <p:cNvSpPr txBox="1"/>
          <p:nvPr/>
        </p:nvSpPr>
        <p:spPr>
          <a:xfrm>
            <a:off x="5212080" y="1892808"/>
            <a:ext cx="313639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Service dan repository sudah dibuat saat file di-import (baris 42)</a:t>
            </a:r>
          </a:p>
          <a:p>
            <a:pPr marL="182880" indent="-182880" algn="l">
              <a:lnSpc>
                <a:spcPct val="115000"/>
              </a:lnSpc>
              <a:spcAft>
                <a:spcPts val="400"/>
              </a:spcAft>
              <a:buClr>
                <a:srgbClr val="E0764F"/>
              </a:buClr>
              <a:buSzPct val="100000"/>
              <a:buFont typeface="+mj-lt"/>
              <a:buAutoNum type="arabicPeriod"/>
            </a:pPr>
            <a:r>
              <a:rPr sz="950" b="0" i="0">
                <a:solidFill>
                  <a:srgbClr val="434343"/>
                </a:solidFill>
                <a:latin typeface="Inter"/>
              </a:rPr>
              <a:t>Route memakai variabel global itu langsung (baris 52)</a:t>
            </a:r>
          </a:p>
          <a:p>
            <a:pPr algn="l">
              <a:lnSpc>
                <a:spcPct val="115000"/>
              </a:lnSpc>
              <a:spcAft>
                <a:spcPts val="0"/>
              </a:spcAft>
            </a:pPr>
            <a:endParaRPr sz="950" b="0" i="0">
              <a:solidFill>
                <a:srgbClr val="434343"/>
              </a:solidFill>
              <a:latin typeface="Inter"/>
            </a:endParaRP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Test API ikut menulis ke </a:t>
            </a:r>
            <a:r>
              <a:rPr sz="950" b="0" i="0">
                <a:solidFill>
                  <a:srgbClr val="B5482A"/>
                </a:solidFill>
                <a:latin typeface="Inconsolata"/>
              </a:rPr>
              <a:t>orders.db</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Tidak ada cara rapi untuk mengganti repository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Disiapkan dengan Depends (1/3)</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527"/>
              </a:lnSpc>
              <a:spcAft>
                <a:spcPts val="0"/>
              </a:spcAft>
            </a:pPr>
            <a:r>
              <a:rPr sz="775" i="0">
                <a:solidFill>
                  <a:srgbClr val="5C6773"/>
                </a:solidFill>
                <a:latin typeface="Inconsolata"/>
              </a:rPr>
              <a:t> 9  </a:t>
            </a:r>
            <a:r>
              <a:rPr sz="775" i="0">
                <a:solidFill>
                  <a:srgbClr val="FF8E6E"/>
                </a:solidFill>
                <a:latin typeface="Inconsolata"/>
              </a:rPr>
              <a:t>import</a:t>
            </a:r>
            <a:r>
              <a:rPr sz="775" i="0">
                <a:solidFill>
                  <a:srgbClr val="E6EDF3"/>
                </a:solidFill>
                <a:latin typeface="Inconsolata"/>
              </a:rPr>
              <a:t> sqlite3</a:t>
            </a:r>
          </a:p>
          <a:p>
            <a:pPr>
              <a:lnSpc>
                <a:spcPct val="107527"/>
              </a:lnSpc>
              <a:spcAft>
                <a:spcPts val="0"/>
              </a:spcAft>
            </a:pPr>
            <a:r>
              <a:rPr sz="775" i="0">
                <a:solidFill>
                  <a:srgbClr val="5C6773"/>
                </a:solidFill>
                <a:latin typeface="Inconsolata"/>
              </a:rPr>
              <a:t>10  </a:t>
            </a:r>
            <a:r>
              <a:rPr sz="775" i="0">
                <a:solidFill>
                  <a:srgbClr val="FF8E6E"/>
                </a:solidFill>
                <a:latin typeface="Inconsolata"/>
              </a:rPr>
              <a:t>from</a:t>
            </a:r>
            <a:r>
              <a:rPr sz="775" i="0">
                <a:solidFill>
                  <a:srgbClr val="E6EDF3"/>
                </a:solidFill>
                <a:latin typeface="Inconsolata"/>
              </a:rPr>
              <a:t> functools </a:t>
            </a:r>
            <a:r>
              <a:rPr sz="775" i="0">
                <a:solidFill>
                  <a:srgbClr val="FF8E6E"/>
                </a:solidFill>
                <a:latin typeface="Inconsolata"/>
              </a:rPr>
              <a:t>import</a:t>
            </a:r>
            <a:r>
              <a:rPr sz="775" i="0">
                <a:solidFill>
                  <a:srgbClr val="E6EDF3"/>
                </a:solidFill>
                <a:latin typeface="Inconsolata"/>
              </a:rPr>
              <a:t> lru_cache</a:t>
            </a:r>
          </a:p>
          <a:p>
            <a:pPr>
              <a:lnSpc>
                <a:spcPct val="107527"/>
              </a:lnSpc>
              <a:spcAft>
                <a:spcPts val="0"/>
              </a:spcAft>
            </a:pPr>
            <a:r>
              <a:rPr sz="775" i="0">
                <a:solidFill>
                  <a:srgbClr val="5C6773"/>
                </a:solidFill>
                <a:latin typeface="Inconsolata"/>
              </a:rPr>
              <a:t>11  </a:t>
            </a:r>
            <a:r>
              <a:rPr sz="775" i="0">
                <a:solidFill>
                  <a:srgbClr val="E6EDF3"/>
                </a:solidFill>
                <a:latin typeface="Inconsolata"/>
              </a:rPr>
              <a:t> </a:t>
            </a:r>
          </a:p>
          <a:p>
            <a:pPr>
              <a:lnSpc>
                <a:spcPct val="107527"/>
              </a:lnSpc>
              <a:spcAft>
                <a:spcPts val="0"/>
              </a:spcAft>
            </a:pPr>
            <a:r>
              <a:rPr sz="775" i="0">
                <a:solidFill>
                  <a:srgbClr val="5C6773"/>
                </a:solidFill>
                <a:latin typeface="Inconsolata"/>
              </a:rPr>
              <a:t>12  </a:t>
            </a:r>
            <a:r>
              <a:rPr sz="775" i="0">
                <a:solidFill>
                  <a:srgbClr val="FF8E6E"/>
                </a:solidFill>
                <a:latin typeface="Inconsolata"/>
              </a:rPr>
              <a:t>from</a:t>
            </a:r>
            <a:r>
              <a:rPr sz="775" i="0">
                <a:solidFill>
                  <a:srgbClr val="E6EDF3"/>
                </a:solidFill>
                <a:latin typeface="Inconsolata"/>
              </a:rPr>
              <a:t> fastapi </a:t>
            </a:r>
            <a:r>
              <a:rPr sz="775" i="0">
                <a:solidFill>
                  <a:srgbClr val="FF8E6E"/>
                </a:solidFill>
                <a:latin typeface="Inconsolata"/>
              </a:rPr>
              <a:t>import</a:t>
            </a:r>
            <a:r>
              <a:rPr sz="775" i="0">
                <a:solidFill>
                  <a:srgbClr val="E6EDF3"/>
                </a:solidFill>
                <a:latin typeface="Inconsolata"/>
              </a:rPr>
              <a:t> </a:t>
            </a:r>
            <a:r>
              <a:rPr sz="775" i="0">
                <a:solidFill>
                  <a:srgbClr val="7FDBCA"/>
                </a:solidFill>
                <a:latin typeface="Inconsolata"/>
              </a:rPr>
              <a:t>Depends</a:t>
            </a:r>
            <a:r>
              <a:rPr sz="775" i="0">
                <a:solidFill>
                  <a:srgbClr val="E6EDF3"/>
                </a:solidFill>
                <a:latin typeface="Inconsolata"/>
              </a:rPr>
              <a:t>, </a:t>
            </a:r>
            <a:r>
              <a:rPr sz="775" i="0">
                <a:solidFill>
                  <a:srgbClr val="7FDBCA"/>
                </a:solidFill>
                <a:latin typeface="Inconsolata"/>
              </a:rPr>
              <a:t>FastAPI</a:t>
            </a:r>
          </a:p>
          <a:p>
            <a:pPr>
              <a:lnSpc>
                <a:spcPct val="107527"/>
              </a:lnSpc>
              <a:spcAft>
                <a:spcPts val="0"/>
              </a:spcAft>
            </a:pPr>
            <a:r>
              <a:rPr sz="775" i="0">
                <a:solidFill>
                  <a:srgbClr val="5C6773"/>
                </a:solidFill>
                <a:latin typeface="Inconsolata"/>
              </a:rPr>
              <a:t>13  </a:t>
            </a:r>
            <a:r>
              <a:rPr sz="775" i="0">
                <a:solidFill>
                  <a:srgbClr val="FF8E6E"/>
                </a:solidFill>
                <a:latin typeface="Inconsolata"/>
              </a:rPr>
              <a:t>from</a:t>
            </a:r>
            <a:r>
              <a:rPr sz="775" i="0">
                <a:solidFill>
                  <a:srgbClr val="E6EDF3"/>
                </a:solidFill>
                <a:latin typeface="Inconsolata"/>
              </a:rPr>
              <a:t> pydantic </a:t>
            </a:r>
            <a:r>
              <a:rPr sz="775" i="0">
                <a:solidFill>
                  <a:srgbClr val="FF8E6E"/>
                </a:solidFill>
                <a:latin typeface="Inconsolata"/>
              </a:rPr>
              <a:t>import</a:t>
            </a:r>
            <a:r>
              <a:rPr sz="775" i="0">
                <a:solidFill>
                  <a:srgbClr val="E6EDF3"/>
                </a:solidFill>
                <a:latin typeface="Inconsolata"/>
              </a:rPr>
              <a:t> </a:t>
            </a:r>
            <a:r>
              <a:rPr sz="775" i="0">
                <a:solidFill>
                  <a:srgbClr val="7FDBCA"/>
                </a:solidFill>
                <a:latin typeface="Inconsolata"/>
              </a:rPr>
              <a:t>BaseModel</a:t>
            </a:r>
          </a:p>
          <a:p>
            <a:pPr>
              <a:lnSpc>
                <a:spcPct val="107527"/>
              </a:lnSpc>
              <a:spcAft>
                <a:spcPts val="0"/>
              </a:spcAft>
            </a:pPr>
            <a:r>
              <a:rPr sz="775" i="0">
                <a:solidFill>
                  <a:srgbClr val="5C6773"/>
                </a:solidFill>
                <a:latin typeface="Inconsolata"/>
              </a:rPr>
              <a:t>14  </a:t>
            </a:r>
            <a:r>
              <a:rPr sz="775" i="0">
                <a:solidFill>
                  <a:srgbClr val="E6EDF3"/>
                </a:solidFill>
                <a:latin typeface="Inconsolata"/>
              </a:rPr>
              <a:t> </a:t>
            </a:r>
          </a:p>
          <a:p>
            <a:pPr>
              <a:lnSpc>
                <a:spcPct val="107527"/>
              </a:lnSpc>
              <a:spcAft>
                <a:spcPts val="0"/>
              </a:spcAft>
            </a:pPr>
            <a:r>
              <a:rPr sz="775" i="0">
                <a:solidFill>
                  <a:srgbClr val="5C6773"/>
                </a:solidFill>
                <a:latin typeface="Inconsolata"/>
              </a:rPr>
              <a:t>15  </a:t>
            </a:r>
            <a:r>
              <a:rPr sz="775" i="0">
                <a:solidFill>
                  <a:srgbClr val="E6EDF3"/>
                </a:solidFill>
                <a:latin typeface="Inconsolata"/>
              </a:rPr>
              <a:t> </a:t>
            </a:r>
          </a:p>
          <a:p>
            <a:pPr>
              <a:lnSpc>
                <a:spcPct val="107527"/>
              </a:lnSpc>
              <a:spcAft>
                <a:spcPts val="0"/>
              </a:spcAft>
            </a:pPr>
            <a:r>
              <a:rPr sz="775" i="0">
                <a:solidFill>
                  <a:srgbClr val="5C6773"/>
                </a:solidFill>
                <a:latin typeface="Inconsolata"/>
              </a:rPr>
              <a:t>16  </a:t>
            </a:r>
            <a:r>
              <a:rPr sz="775" i="0">
                <a:solidFill>
                  <a:srgbClr val="FF8E6E"/>
                </a:solidFill>
                <a:latin typeface="Inconsolata"/>
              </a:rPr>
              <a:t>class</a:t>
            </a:r>
            <a:r>
              <a:rPr sz="775" i="0">
                <a:solidFill>
                  <a:srgbClr val="E6EDF3"/>
                </a:solidFill>
                <a:latin typeface="Inconsolata"/>
              </a:rPr>
              <a:t> </a:t>
            </a:r>
            <a:r>
              <a:rPr sz="775" i="0">
                <a:solidFill>
                  <a:srgbClr val="7FDBCA"/>
                </a:solidFill>
                <a:latin typeface="Inconsolata"/>
              </a:rPr>
              <a:t>SqliteOrderRepository</a:t>
            </a:r>
            <a:r>
              <a:rPr sz="775" i="0">
                <a:solidFill>
                  <a:srgbClr val="E6EDF3"/>
                </a:solidFill>
                <a:latin typeface="Inconsolata"/>
              </a:rPr>
              <a:t>:</a:t>
            </a:r>
          </a:p>
          <a:p>
            <a:pPr>
              <a:lnSpc>
                <a:spcPct val="107527"/>
              </a:lnSpc>
              <a:spcAft>
                <a:spcPts val="0"/>
              </a:spcAft>
            </a:pPr>
            <a:r>
              <a:rPr sz="775" i="0">
                <a:solidFill>
                  <a:srgbClr val="5C6773"/>
                </a:solidFill>
                <a:latin typeface="Inconsolata"/>
              </a:rPr>
              <a:t>17  </a:t>
            </a: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__init__</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path: </a:t>
            </a:r>
            <a:r>
              <a:rPr sz="775" i="0">
                <a:solidFill>
                  <a:srgbClr val="C3A6FF"/>
                </a:solidFill>
                <a:latin typeface="Inconsolata"/>
              </a:rPr>
              <a:t>str</a:t>
            </a:r>
            <a:r>
              <a:rPr sz="775" i="0">
                <a:solidFill>
                  <a:srgbClr val="E6EDF3"/>
                </a:solidFill>
                <a:latin typeface="Inconsolata"/>
              </a:rPr>
              <a:t>):</a:t>
            </a:r>
          </a:p>
          <a:p>
            <a:pPr>
              <a:lnSpc>
                <a:spcPct val="107527"/>
              </a:lnSpc>
              <a:spcAft>
                <a:spcPts val="0"/>
              </a:spcAft>
            </a:pPr>
            <a:r>
              <a:rPr sz="775" i="0">
                <a:solidFill>
                  <a:srgbClr val="5C6773"/>
                </a:solidFill>
                <a:latin typeface="Inconsolata"/>
              </a:rPr>
              <a:t>18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.conn = sqlite3.connect(path, check_same_thread=</a:t>
            </a:r>
            <a:r>
              <a:rPr sz="775" i="0">
                <a:solidFill>
                  <a:srgbClr val="FF8E6E"/>
                </a:solidFill>
                <a:latin typeface="Inconsolata"/>
              </a:rPr>
              <a:t>False</a:t>
            </a:r>
            <a:r>
              <a:rPr sz="775" i="0">
                <a:solidFill>
                  <a:srgbClr val="E6EDF3"/>
                </a:solidFill>
                <a:latin typeface="Inconsolata"/>
              </a:rPr>
              <a:t>)</a:t>
            </a:r>
          </a:p>
          <a:p>
            <a:pPr>
              <a:lnSpc>
                <a:spcPct val="107527"/>
              </a:lnSpc>
              <a:spcAft>
                <a:spcPts val="0"/>
              </a:spcAft>
            </a:pPr>
            <a:r>
              <a:rPr sz="775" i="0">
                <a:solidFill>
                  <a:srgbClr val="5C6773"/>
                </a:solidFill>
                <a:latin typeface="Inconsolata"/>
              </a:rPr>
              <a:t>19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.conn.execute(</a:t>
            </a:r>
          </a:p>
          <a:p>
            <a:pPr>
              <a:lnSpc>
                <a:spcPct val="107527"/>
              </a:lnSpc>
              <a:spcAft>
                <a:spcPts val="0"/>
              </a:spcAft>
            </a:pPr>
            <a:r>
              <a:rPr sz="775" i="0">
                <a:solidFill>
                  <a:srgbClr val="5C6773"/>
                </a:solidFill>
                <a:latin typeface="Inconsolata"/>
              </a:rPr>
              <a:t>20  </a:t>
            </a:r>
            <a:r>
              <a:rPr sz="775" i="0">
                <a:solidFill>
                  <a:srgbClr val="E6EDF3"/>
                </a:solidFill>
                <a:latin typeface="Inconsolata"/>
              </a:rPr>
              <a:t>            </a:t>
            </a:r>
            <a:r>
              <a:rPr sz="775" i="0">
                <a:solidFill>
                  <a:srgbClr val="A5D6A7"/>
                </a:solidFill>
                <a:latin typeface="Inconsolata"/>
              </a:rPr>
              <a:t>"CREATE TABLE IF NOT EXISTS orders "</a:t>
            </a:r>
          </a:p>
          <a:p>
            <a:pPr>
              <a:lnSpc>
                <a:spcPct val="107527"/>
              </a:lnSpc>
              <a:spcAft>
                <a:spcPts val="0"/>
              </a:spcAft>
            </a:pPr>
            <a:r>
              <a:rPr sz="775" i="0">
                <a:solidFill>
                  <a:srgbClr val="5C6773"/>
                </a:solidFill>
                <a:latin typeface="Inconsolata"/>
              </a:rPr>
              <a:t>21  </a:t>
            </a:r>
            <a:r>
              <a:rPr sz="775" i="0">
                <a:solidFill>
                  <a:srgbClr val="E6EDF3"/>
                </a:solidFill>
                <a:latin typeface="Inconsolata"/>
              </a:rPr>
              <a:t>            </a:t>
            </a:r>
            <a:r>
              <a:rPr sz="775" i="0">
                <a:solidFill>
                  <a:srgbClr val="A5D6A7"/>
                </a:solidFill>
                <a:latin typeface="Inconsolata"/>
              </a:rPr>
              <a:t>"(id INTEGER PRIMARY KEY, customer TEXT, total INTEGER)"</a:t>
            </a:r>
          </a:p>
          <a:p>
            <a:pPr>
              <a:lnSpc>
                <a:spcPct val="107527"/>
              </a:lnSpc>
              <a:spcAft>
                <a:spcPts val="0"/>
              </a:spcAft>
            </a:pPr>
            <a:r>
              <a:rPr sz="775" i="0">
                <a:solidFill>
                  <a:srgbClr val="5C6773"/>
                </a:solidFill>
                <a:latin typeface="Inconsolata"/>
              </a:rPr>
              <a:t>22  </a:t>
            </a:r>
            <a:r>
              <a:rPr sz="775" i="0">
                <a:solidFill>
                  <a:srgbClr val="E6EDF3"/>
                </a:solidFill>
                <a:latin typeface="Inconsolata"/>
              </a:rPr>
              <a:t>        )</a:t>
            </a:r>
          </a:p>
          <a:p>
            <a:pPr>
              <a:lnSpc>
                <a:spcPct val="107527"/>
              </a:lnSpc>
              <a:spcAft>
                <a:spcPts val="0"/>
              </a:spcAft>
            </a:pPr>
            <a:r>
              <a:rPr sz="775" i="0">
                <a:solidFill>
                  <a:srgbClr val="5C6773"/>
                </a:solidFill>
                <a:latin typeface="Inconsolata"/>
              </a:rPr>
              <a:t>23  </a:t>
            </a:r>
            <a:r>
              <a:rPr sz="775" i="0">
                <a:solidFill>
                  <a:srgbClr val="E6EDF3"/>
                </a:solidFill>
                <a:latin typeface="Inconsolata"/>
              </a:rPr>
              <a:t> </a:t>
            </a:r>
          </a:p>
          <a:p>
            <a:pPr>
              <a:lnSpc>
                <a:spcPct val="107527"/>
              </a:lnSpc>
              <a:spcAft>
                <a:spcPts val="0"/>
              </a:spcAft>
            </a:pPr>
            <a:r>
              <a:rPr sz="775" i="0">
                <a:solidFill>
                  <a:srgbClr val="5C6773"/>
                </a:solidFill>
                <a:latin typeface="Inconsolata"/>
              </a:rPr>
              <a:t>24  </a:t>
            </a:r>
            <a:r>
              <a:rPr sz="775" i="0">
                <a:solidFill>
                  <a:srgbClr val="E6EDF3"/>
                </a:solidFill>
                <a:latin typeface="Inconsolata"/>
              </a:rPr>
              <a:t>    </a:t>
            </a:r>
            <a:r>
              <a:rPr sz="775" i="0">
                <a:solidFill>
                  <a:srgbClr val="FF8E6E"/>
                </a:solidFill>
                <a:latin typeface="Inconsolata"/>
              </a:rPr>
              <a:t>def</a:t>
            </a:r>
            <a:r>
              <a:rPr sz="775" i="0">
                <a:solidFill>
                  <a:srgbClr val="E6EDF3"/>
                </a:solidFill>
                <a:latin typeface="Inconsolata"/>
              </a:rPr>
              <a:t> </a:t>
            </a:r>
            <a:r>
              <a:rPr sz="775" i="0">
                <a:solidFill>
                  <a:srgbClr val="82B1FF"/>
                </a:solidFill>
                <a:latin typeface="Inconsolata"/>
              </a:rPr>
              <a:t>add</a:t>
            </a:r>
            <a:r>
              <a:rPr sz="775" i="0">
                <a:solidFill>
                  <a:srgbClr val="E6EDF3"/>
                </a:solidFill>
                <a:latin typeface="Inconsolata"/>
              </a:rPr>
              <a:t>(</a:t>
            </a:r>
            <a:r>
              <a:rPr sz="775" i="0">
                <a:solidFill>
                  <a:srgbClr val="C3A6FF"/>
                </a:solidFill>
                <a:latin typeface="Inconsolata"/>
              </a:rPr>
              <a:t>self</a:t>
            </a:r>
            <a:r>
              <a:rPr sz="775" i="0">
                <a:solidFill>
                  <a:srgbClr val="E6EDF3"/>
                </a:solidFill>
                <a:latin typeface="Inconsolata"/>
              </a:rPr>
              <a:t>, customer: </a:t>
            </a:r>
            <a:r>
              <a:rPr sz="775" i="0">
                <a:solidFill>
                  <a:srgbClr val="C3A6FF"/>
                </a:solidFill>
                <a:latin typeface="Inconsolata"/>
              </a:rPr>
              <a:t>str</a:t>
            </a:r>
            <a:r>
              <a:rPr sz="775" i="0">
                <a:solidFill>
                  <a:srgbClr val="E6EDF3"/>
                </a:solidFill>
                <a:latin typeface="Inconsolata"/>
              </a:rPr>
              <a:t>, total: </a:t>
            </a:r>
            <a:r>
              <a:rPr sz="775" i="0">
                <a:solidFill>
                  <a:srgbClr val="C3A6FF"/>
                </a:solidFill>
                <a:latin typeface="Inconsolata"/>
              </a:rPr>
              <a:t>int</a:t>
            </a:r>
            <a:r>
              <a:rPr sz="775" i="0">
                <a:solidFill>
                  <a:srgbClr val="E6EDF3"/>
                </a:solidFill>
                <a:latin typeface="Inconsolata"/>
              </a:rPr>
              <a:t>) -&gt; </a:t>
            </a:r>
            <a:r>
              <a:rPr sz="775" i="0">
                <a:solidFill>
                  <a:srgbClr val="C3A6FF"/>
                </a:solidFill>
                <a:latin typeface="Inconsolata"/>
              </a:rPr>
              <a:t>dict</a:t>
            </a:r>
            <a:r>
              <a:rPr sz="775" i="0">
                <a:solidFill>
                  <a:srgbClr val="E6EDF3"/>
                </a:solidFill>
                <a:latin typeface="Inconsolata"/>
              </a:rPr>
              <a:t>:</a:t>
            </a:r>
          </a:p>
          <a:p>
            <a:pPr>
              <a:lnSpc>
                <a:spcPct val="107527"/>
              </a:lnSpc>
              <a:spcAft>
                <a:spcPts val="0"/>
              </a:spcAft>
            </a:pPr>
            <a:r>
              <a:rPr sz="775" i="0">
                <a:solidFill>
                  <a:srgbClr val="5C6773"/>
                </a:solidFill>
                <a:latin typeface="Inconsolata"/>
              </a:rPr>
              <a:t>25  </a:t>
            </a:r>
            <a:r>
              <a:rPr sz="775" i="0">
                <a:solidFill>
                  <a:srgbClr val="E6EDF3"/>
                </a:solidFill>
                <a:latin typeface="Inconsolata"/>
              </a:rPr>
              <a:t>        cur = </a:t>
            </a:r>
            <a:r>
              <a:rPr sz="775" i="0">
                <a:solidFill>
                  <a:srgbClr val="C3A6FF"/>
                </a:solidFill>
                <a:latin typeface="Inconsolata"/>
              </a:rPr>
              <a:t>self</a:t>
            </a:r>
            <a:r>
              <a:rPr sz="775" i="0">
                <a:solidFill>
                  <a:srgbClr val="E6EDF3"/>
                </a:solidFill>
                <a:latin typeface="Inconsolata"/>
              </a:rPr>
              <a:t>.conn.execute(</a:t>
            </a:r>
          </a:p>
          <a:p>
            <a:pPr>
              <a:lnSpc>
                <a:spcPct val="107527"/>
              </a:lnSpc>
              <a:spcAft>
                <a:spcPts val="0"/>
              </a:spcAft>
            </a:pPr>
            <a:r>
              <a:rPr sz="775" i="0">
                <a:solidFill>
                  <a:srgbClr val="5C6773"/>
                </a:solidFill>
                <a:latin typeface="Inconsolata"/>
              </a:rPr>
              <a:t>26  </a:t>
            </a:r>
            <a:r>
              <a:rPr sz="775" i="0">
                <a:solidFill>
                  <a:srgbClr val="E6EDF3"/>
                </a:solidFill>
                <a:latin typeface="Inconsolata"/>
              </a:rPr>
              <a:t>            </a:t>
            </a:r>
            <a:r>
              <a:rPr sz="775" i="0">
                <a:solidFill>
                  <a:srgbClr val="A5D6A7"/>
                </a:solidFill>
                <a:latin typeface="Inconsolata"/>
              </a:rPr>
              <a:t>"INSERT INTO orders (customer, total) VALUES (?, ?)"</a:t>
            </a:r>
            <a:r>
              <a:rPr sz="775" i="0">
                <a:solidFill>
                  <a:srgbClr val="E6EDF3"/>
                </a:solidFill>
                <a:latin typeface="Inconsolata"/>
              </a:rPr>
              <a:t>,</a:t>
            </a:r>
          </a:p>
          <a:p>
            <a:pPr>
              <a:lnSpc>
                <a:spcPct val="107527"/>
              </a:lnSpc>
              <a:spcAft>
                <a:spcPts val="0"/>
              </a:spcAft>
            </a:pPr>
            <a:r>
              <a:rPr sz="775" i="0">
                <a:solidFill>
                  <a:srgbClr val="5C6773"/>
                </a:solidFill>
                <a:latin typeface="Inconsolata"/>
              </a:rPr>
              <a:t>27  </a:t>
            </a:r>
            <a:r>
              <a:rPr sz="775" i="0">
                <a:solidFill>
                  <a:srgbClr val="E6EDF3"/>
                </a:solidFill>
                <a:latin typeface="Inconsolata"/>
              </a:rPr>
              <a:t>            (customer, total),</a:t>
            </a:r>
          </a:p>
          <a:p>
            <a:pPr>
              <a:lnSpc>
                <a:spcPct val="107527"/>
              </a:lnSpc>
              <a:spcAft>
                <a:spcPts val="0"/>
              </a:spcAft>
            </a:pPr>
            <a:r>
              <a:rPr sz="775" i="0">
                <a:solidFill>
                  <a:srgbClr val="5C6773"/>
                </a:solidFill>
                <a:latin typeface="Inconsolata"/>
              </a:rPr>
              <a:t>28  </a:t>
            </a:r>
            <a:r>
              <a:rPr sz="775" i="0">
                <a:solidFill>
                  <a:srgbClr val="E6EDF3"/>
                </a:solidFill>
                <a:latin typeface="Inconsolata"/>
              </a:rPr>
              <a:t>        )</a:t>
            </a:r>
          </a:p>
          <a:p>
            <a:pPr>
              <a:lnSpc>
                <a:spcPct val="107527"/>
              </a:lnSpc>
              <a:spcAft>
                <a:spcPts val="0"/>
              </a:spcAft>
            </a:pPr>
            <a:r>
              <a:rPr sz="775" i="0">
                <a:solidFill>
                  <a:srgbClr val="5C6773"/>
                </a:solidFill>
                <a:latin typeface="Inconsolata"/>
              </a:rPr>
              <a:t>29  </a:t>
            </a:r>
            <a:r>
              <a:rPr sz="775" i="0">
                <a:solidFill>
                  <a:srgbClr val="E6EDF3"/>
                </a:solidFill>
                <a:latin typeface="Inconsolata"/>
              </a:rPr>
              <a:t>        </a:t>
            </a:r>
            <a:r>
              <a:rPr sz="775" i="0">
                <a:solidFill>
                  <a:srgbClr val="C3A6FF"/>
                </a:solidFill>
                <a:latin typeface="Inconsolata"/>
              </a:rPr>
              <a:t>self</a:t>
            </a:r>
            <a:r>
              <a:rPr sz="775" i="0">
                <a:solidFill>
                  <a:srgbClr val="E6EDF3"/>
                </a:solidFill>
                <a:latin typeface="Inconsolata"/>
              </a:rPr>
              <a:t>.conn.commit()</a:t>
            </a:r>
          </a:p>
          <a:p>
            <a:pPr>
              <a:lnSpc>
                <a:spcPct val="107527"/>
              </a:lnSpc>
              <a:spcAft>
                <a:spcPts val="0"/>
              </a:spcAft>
            </a:pPr>
            <a:r>
              <a:rPr sz="775" i="0">
                <a:solidFill>
                  <a:srgbClr val="5C6773"/>
                </a:solidFill>
                <a:latin typeface="Inconsolata"/>
              </a:rPr>
              <a:t>30  </a:t>
            </a:r>
            <a:r>
              <a:rPr sz="775" i="0">
                <a:solidFill>
                  <a:srgbClr val="E6EDF3"/>
                </a:solidFill>
                <a:latin typeface="Inconsolata"/>
              </a:rPr>
              <a:t>        </a:t>
            </a:r>
            <a:r>
              <a:rPr sz="775" i="0">
                <a:solidFill>
                  <a:srgbClr val="FF8E6E"/>
                </a:solidFill>
                <a:latin typeface="Inconsolata"/>
              </a:rPr>
              <a:t>return</a:t>
            </a:r>
            <a:r>
              <a:rPr sz="775" i="0">
                <a:solidFill>
                  <a:srgbClr val="E6EDF3"/>
                </a:solidFill>
                <a:latin typeface="Inconsolata"/>
              </a:rPr>
              <a:t> {</a:t>
            </a:r>
            <a:r>
              <a:rPr sz="775" i="0">
                <a:solidFill>
                  <a:srgbClr val="A5D6A7"/>
                </a:solidFill>
                <a:latin typeface="Inconsolata"/>
              </a:rPr>
              <a:t>"id"</a:t>
            </a:r>
            <a:r>
              <a:rPr sz="775" i="0">
                <a:solidFill>
                  <a:srgbClr val="E6EDF3"/>
                </a:solidFill>
                <a:latin typeface="Inconsolata"/>
              </a:rPr>
              <a:t>: cur.lastrowid, </a:t>
            </a:r>
            <a:r>
              <a:rPr sz="775" i="0">
                <a:solidFill>
                  <a:srgbClr val="A5D6A7"/>
                </a:solidFill>
                <a:latin typeface="Inconsolata"/>
              </a:rPr>
              <a:t>"customer"</a:t>
            </a:r>
            <a:r>
              <a:rPr sz="775" i="0">
                <a:solidFill>
                  <a:srgbClr val="E6EDF3"/>
                </a:solidFill>
                <a:latin typeface="Inconsolata"/>
              </a:rPr>
              <a:t>: customer, </a:t>
            </a:r>
            <a:r>
              <a:rPr sz="775" i="0">
                <a:solidFill>
                  <a:srgbClr val="A5D6A7"/>
                </a:solidFill>
                <a:latin typeface="Inconsolata"/>
              </a:rPr>
              <a:t>"total"</a:t>
            </a:r>
            <a:r>
              <a:rPr sz="775" i="0">
                <a:solidFill>
                  <a:srgbClr val="E6EDF3"/>
                </a:solidFill>
                <a:latin typeface="Inconsolata"/>
              </a:rPr>
              <a:t>: total}</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Disiapkan dengan Depends (2/3)</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33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34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repo):</a:t>
            </a:r>
          </a:p>
          <a:p>
            <a:pPr>
              <a:lnSpc>
                <a:spcPct val="107843"/>
              </a:lnSpc>
              <a:spcAft>
                <a:spcPts val="0"/>
              </a:spcAft>
            </a:pPr>
            <a:r>
              <a:rPr sz="850" i="0">
                <a:solidFill>
                  <a:srgbClr val="5C6773"/>
                </a:solidFill>
                <a:latin typeface="Inconsolata"/>
              </a:rPr>
              <a:t>35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.repo = repo</a:t>
            </a:r>
          </a:p>
          <a:p>
            <a:pPr>
              <a:lnSpc>
                <a:spcPct val="107843"/>
              </a:lnSpc>
              <a:spcAft>
                <a:spcPts val="0"/>
              </a:spcAft>
            </a:pPr>
            <a:r>
              <a:rPr sz="850" i="0">
                <a:solidFill>
                  <a:srgbClr val="5C6773"/>
                </a:solidFill>
                <a:latin typeface="Inconsolata"/>
              </a:rPr>
              <a:t>36  </a:t>
            </a:r>
            <a:r>
              <a:rPr sz="850" i="0">
                <a:solidFill>
                  <a:srgbClr val="E6EDF3"/>
                </a:solidFill>
                <a:latin typeface="Inconsolata"/>
              </a:rPr>
              <a:t> </a:t>
            </a:r>
          </a:p>
          <a:p>
            <a:pPr>
              <a:lnSpc>
                <a:spcPct val="107843"/>
              </a:lnSpc>
              <a:spcAft>
                <a:spcPts val="0"/>
              </a:spcAft>
            </a:pPr>
            <a:r>
              <a:rPr sz="850" i="0">
                <a:solidFill>
                  <a:srgbClr val="5C6773"/>
                </a:solidFill>
                <a:latin typeface="Inconsolata"/>
              </a:rPr>
              <a:t>37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place_order</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subtotal: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5C6773"/>
                </a:solidFill>
                <a:latin typeface="Inconsolata"/>
              </a:rPr>
              <a:t>38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.repo.add(customer, subtotal - subtotal * </a:t>
            </a:r>
            <a:r>
              <a:rPr sz="850" i="0">
                <a:solidFill>
                  <a:srgbClr val="F9C97A"/>
                </a:solidFill>
                <a:latin typeface="Inconsolata"/>
              </a:rPr>
              <a:t>5</a:t>
            </a:r>
            <a:r>
              <a:rPr sz="850" i="0">
                <a:solidFill>
                  <a:srgbClr val="E6EDF3"/>
                </a:solidFill>
                <a:latin typeface="Inconsolata"/>
              </a:rPr>
              <a:t> // </a:t>
            </a:r>
            <a:r>
              <a:rPr sz="850" i="0">
                <a:solidFill>
                  <a:srgbClr val="F9C97A"/>
                </a:solidFill>
                <a:latin typeface="Inconsolata"/>
              </a:rPr>
              <a:t>100</a:t>
            </a:r>
            <a:r>
              <a:rPr sz="850" i="0">
                <a:solidFill>
                  <a:srgbClr val="E6EDF3"/>
                </a:solidFill>
                <a:latin typeface="Inconsolata"/>
              </a:rPr>
              <a:t>)</a:t>
            </a:r>
          </a:p>
          <a:p>
            <a:pPr>
              <a:lnSpc>
                <a:spcPct val="107843"/>
              </a:lnSpc>
              <a:spcAft>
                <a:spcPts val="0"/>
              </a:spcAft>
            </a:pPr>
            <a:r>
              <a:rPr sz="850" i="0">
                <a:solidFill>
                  <a:srgbClr val="5C6773"/>
                </a:solidFill>
                <a:latin typeface="Inconsolata"/>
              </a:rPr>
              <a:t>39  </a:t>
            </a:r>
            <a:r>
              <a:rPr sz="850" i="0">
                <a:solidFill>
                  <a:srgbClr val="E6EDF3"/>
                </a:solidFill>
                <a:latin typeface="Inconsolata"/>
              </a:rPr>
              <a:t> </a:t>
            </a:r>
          </a:p>
          <a:p>
            <a:pPr>
              <a:lnSpc>
                <a:spcPct val="107843"/>
              </a:lnSpc>
              <a:spcAft>
                <a:spcPts val="0"/>
              </a:spcAft>
            </a:pPr>
            <a:r>
              <a:rPr sz="850" i="0">
                <a:solidFill>
                  <a:srgbClr val="5C6773"/>
                </a:solidFill>
                <a:latin typeface="Inconsolata"/>
              </a:rPr>
              <a:t>40  </a:t>
            </a:r>
            <a:r>
              <a:rPr sz="850" i="0">
                <a:solidFill>
                  <a:srgbClr val="E6EDF3"/>
                </a:solidFill>
                <a:latin typeface="Inconsolata"/>
              </a:rPr>
              <a:t> </a:t>
            </a:r>
          </a:p>
          <a:p>
            <a:pPr>
              <a:lnSpc>
                <a:spcPct val="107843"/>
              </a:lnSpc>
              <a:spcAft>
                <a:spcPts val="0"/>
              </a:spcAft>
            </a:pPr>
            <a:r>
              <a:rPr sz="850" i="0">
                <a:solidFill>
                  <a:srgbClr val="5C6773"/>
                </a:solidFill>
                <a:latin typeface="Inconsolata"/>
              </a:rPr>
              <a:t>41  </a:t>
            </a:r>
            <a:r>
              <a:rPr sz="850" i="1">
                <a:solidFill>
                  <a:srgbClr val="8B98A8"/>
                </a:solidFill>
                <a:latin typeface="Inconsolata"/>
              </a:rPr>
              <a:t># ---------- dependency ----------</a:t>
            </a:r>
          </a:p>
          <a:p>
            <a:pPr>
              <a:lnSpc>
                <a:spcPct val="107843"/>
              </a:lnSpc>
              <a:spcAft>
                <a:spcPts val="0"/>
              </a:spcAft>
            </a:pPr>
            <a:r>
              <a:rPr sz="850" i="0">
                <a:solidFill>
                  <a:srgbClr val="5C6773"/>
                </a:solidFill>
                <a:latin typeface="Inconsolata"/>
              </a:rPr>
              <a:t>42  </a:t>
            </a:r>
            <a:r>
              <a:rPr sz="850" i="0">
                <a:solidFill>
                  <a:srgbClr val="F9C97A"/>
                </a:solidFill>
                <a:latin typeface="Inconsolata"/>
              </a:rPr>
              <a:t>@lru_cache</a:t>
            </a:r>
          </a:p>
          <a:p>
            <a:pPr>
              <a:lnSpc>
                <a:spcPct val="107843"/>
              </a:lnSpc>
              <a:spcAft>
                <a:spcPts val="0"/>
              </a:spcAft>
            </a:pPr>
            <a:r>
              <a:rPr sz="850" i="0">
                <a:solidFill>
                  <a:srgbClr val="5C6773"/>
                </a:solidFill>
                <a:latin typeface="Inconsolata"/>
              </a:rPr>
              <a:t>43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get_repository</a:t>
            </a:r>
            <a:r>
              <a:rPr sz="850" i="0">
                <a:solidFill>
                  <a:srgbClr val="E6EDF3"/>
                </a:solidFill>
                <a:latin typeface="Inconsolata"/>
              </a:rPr>
              <a:t>() -&gt; </a:t>
            </a:r>
            <a:r>
              <a:rPr sz="850" i="0">
                <a:solidFill>
                  <a:srgbClr val="7FDBCA"/>
                </a:solidFill>
                <a:latin typeface="Inconsolata"/>
              </a:rPr>
              <a:t>SqliteOrderRepository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44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7FDBCA"/>
                </a:solidFill>
                <a:latin typeface="Inconsolata"/>
              </a:rPr>
              <a:t>SqliteOrderRepository</a:t>
            </a:r>
            <a:r>
              <a:rPr sz="850" i="0">
                <a:solidFill>
                  <a:srgbClr val="E6EDF3"/>
                </a:solidFill>
                <a:latin typeface="Inconsolata"/>
              </a:rPr>
              <a:t>(</a:t>
            </a:r>
            <a:r>
              <a:rPr sz="850" i="0">
                <a:solidFill>
                  <a:srgbClr val="A5D6A7"/>
                </a:solidFill>
                <a:latin typeface="Inconsolata"/>
              </a:rPr>
              <a:t>"orders.db"</a:t>
            </a:r>
            <a:r>
              <a:rPr sz="850" i="0">
                <a:solidFill>
                  <a:srgbClr val="E6EDF3"/>
                </a:solidFill>
                <a:latin typeface="Inconsolata"/>
              </a:rPr>
              <a:t>)</a:t>
            </a:r>
          </a:p>
          <a:p>
            <a:pPr>
              <a:lnSpc>
                <a:spcPct val="107843"/>
              </a:lnSpc>
              <a:spcAft>
                <a:spcPts val="0"/>
              </a:spcAft>
            </a:pPr>
            <a:r>
              <a:rPr sz="850" i="0">
                <a:solidFill>
                  <a:srgbClr val="5C6773"/>
                </a:solidFill>
                <a:latin typeface="Inconsolata"/>
              </a:rPr>
              <a:t>45  </a:t>
            </a:r>
            <a:r>
              <a:rPr sz="850" i="0">
                <a:solidFill>
                  <a:srgbClr val="E6EDF3"/>
                </a:solidFill>
                <a:latin typeface="Inconsolata"/>
              </a:rPr>
              <a:t> </a:t>
            </a:r>
          </a:p>
          <a:p>
            <a:pPr>
              <a:lnSpc>
                <a:spcPct val="107843"/>
              </a:lnSpc>
              <a:spcAft>
                <a:spcPts val="0"/>
              </a:spcAft>
            </a:pPr>
            <a:r>
              <a:rPr sz="850" i="0">
                <a:solidFill>
                  <a:srgbClr val="5C6773"/>
                </a:solidFill>
                <a:latin typeface="Inconsolata"/>
              </a:rPr>
              <a:t>46  </a:t>
            </a:r>
            <a:r>
              <a:rPr sz="850" i="0">
                <a:solidFill>
                  <a:srgbClr val="E6EDF3"/>
                </a:solidFill>
                <a:latin typeface="Inconsolata"/>
              </a:rPr>
              <a:t> </a:t>
            </a:r>
          </a:p>
          <a:p>
            <a:pPr>
              <a:lnSpc>
                <a:spcPct val="107843"/>
              </a:lnSpc>
              <a:spcAft>
                <a:spcPts val="0"/>
              </a:spcAft>
            </a:pPr>
            <a:r>
              <a:rPr sz="850" i="0">
                <a:solidFill>
                  <a:srgbClr val="5C6773"/>
                </a:solidFill>
                <a:latin typeface="Inconsolata"/>
              </a:rPr>
              <a:t>47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get_order_service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48  </a:t>
            </a:r>
            <a:r>
              <a:rPr sz="850" i="0">
                <a:solidFill>
                  <a:srgbClr val="E6EDF3"/>
                </a:solidFill>
                <a:latin typeface="Inconsolata"/>
              </a:rPr>
              <a:t>    repo: </a:t>
            </a:r>
            <a:r>
              <a:rPr sz="850" i="0">
                <a:solidFill>
                  <a:srgbClr val="7FDBCA"/>
                </a:solidFill>
                <a:latin typeface="Inconsolata"/>
              </a:rPr>
              <a:t>SqliteOrderRepository</a:t>
            </a:r>
            <a:r>
              <a:rPr sz="850" i="0">
                <a:solidFill>
                  <a:srgbClr val="E6EDF3"/>
                </a:solidFill>
                <a:latin typeface="Inconsolata"/>
              </a:rPr>
              <a:t> = </a:t>
            </a:r>
            <a:r>
              <a:rPr sz="850" i="0">
                <a:solidFill>
                  <a:srgbClr val="7FDBCA"/>
                </a:solidFill>
                <a:latin typeface="Inconsolata"/>
              </a:rPr>
              <a:t>Depends</a:t>
            </a:r>
            <a:r>
              <a:rPr sz="850" i="0">
                <a:solidFill>
                  <a:srgbClr val="E6EDF3"/>
                </a:solidFill>
                <a:latin typeface="Inconsolata"/>
              </a:rPr>
              <a:t>(get_repository),</a:t>
            </a:r>
          </a:p>
          <a:p>
            <a:pPr>
              <a:lnSpc>
                <a:spcPct val="107843"/>
              </a:lnSpc>
              <a:spcAft>
                <a:spcPts val="0"/>
              </a:spcAft>
            </a:pPr>
            <a:r>
              <a:rPr sz="850" i="0">
                <a:solidFill>
                  <a:srgbClr val="5C6773"/>
                </a:solidFill>
                <a:latin typeface="Inconsolata"/>
              </a:rPr>
              <a:t>49  </a:t>
            </a:r>
            <a:r>
              <a:rPr sz="850" i="0">
                <a:solidFill>
                  <a:srgbClr val="E6EDF3"/>
                </a:solidFill>
                <a:latin typeface="Inconsolata"/>
              </a:rPr>
              <a:t>) -&gt; </a:t>
            </a:r>
            <a:r>
              <a:rPr sz="850" i="0">
                <a:solidFill>
                  <a:srgbClr val="7FDBCA"/>
                </a:solidFill>
                <a:latin typeface="Inconsolata"/>
              </a:rPr>
              <a:t>OrderService</a:t>
            </a:r>
            <a:r>
              <a:rPr sz="850" i="0">
                <a:solidFill>
                  <a:srgbClr val="E6EDF3"/>
                </a:solidFill>
                <a:latin typeface="Inconsolata"/>
              </a:rPr>
              <a:t>:</a:t>
            </a:r>
          </a:p>
          <a:p>
            <a:pPr>
              <a:lnSpc>
                <a:spcPct val="107843"/>
              </a:lnSpc>
              <a:spcAft>
                <a:spcPts val="0"/>
              </a:spcAft>
            </a:pPr>
            <a:r>
              <a:rPr sz="850" i="0">
                <a:solidFill>
                  <a:srgbClr val="5C6773"/>
                </a:solidFill>
                <a:latin typeface="Inconsolata"/>
              </a:rPr>
              <a:t>50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(repo)</a:t>
            </a:r>
          </a:p>
        </p:txBody>
      </p:sp>
      <p:sp>
        <p:nvSpPr>
          <p:cNvPr id="29" name="Box 12"/>
          <p:cNvSpPr/>
          <p:nvPr/>
        </p:nvSpPr>
        <p:spPr>
          <a:xfrm>
            <a:off x="704088" y="30859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31724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784473"/>
            <a:ext cx="7699248" cy="550418"/>
          </a:xfrm>
          <a:prstGeom prst="roundRect">
            <a:avLst>
              <a:gd name="adj" fmla="val 830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9408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After: Disiapkan dengan Depends (3/3)</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53  </a:t>
            </a:r>
            <a:r>
              <a:rPr sz="850" i="1">
                <a:solidFill>
                  <a:srgbClr val="8B98A8"/>
                </a:solidFill>
                <a:latin typeface="Inconsolata"/>
              </a:rPr>
              <a:t># ---------- route ----------</a:t>
            </a:r>
          </a:p>
          <a:p>
            <a:pPr>
              <a:lnSpc>
                <a:spcPct val="107843"/>
              </a:lnSpc>
              <a:spcAft>
                <a:spcPts val="0"/>
              </a:spcAft>
            </a:pPr>
            <a:r>
              <a:rPr sz="850" i="0">
                <a:solidFill>
                  <a:srgbClr val="5C6773"/>
                </a:solidFill>
                <a:latin typeface="Inconsolata"/>
              </a:rPr>
              <a:t>54  </a:t>
            </a:r>
            <a:r>
              <a:rPr sz="850" i="0">
                <a:solidFill>
                  <a:srgbClr val="E6EDF3"/>
                </a:solidFill>
                <a:latin typeface="Inconsolata"/>
              </a:rPr>
              <a:t>app = </a:t>
            </a:r>
            <a:r>
              <a:rPr sz="850" i="0">
                <a:solidFill>
                  <a:srgbClr val="7FDBCA"/>
                </a:solidFill>
                <a:latin typeface="Inconsolata"/>
              </a:rPr>
              <a:t>FastAPI</a:t>
            </a:r>
            <a:r>
              <a:rPr sz="850" i="0">
                <a:solidFill>
                  <a:srgbClr val="E6EDF3"/>
                </a:solidFill>
                <a:latin typeface="Inconsolata"/>
              </a:rPr>
              <a:t>()</a:t>
            </a:r>
          </a:p>
          <a:p>
            <a:pPr>
              <a:lnSpc>
                <a:spcPct val="107843"/>
              </a:lnSpc>
              <a:spcAft>
                <a:spcPts val="0"/>
              </a:spcAft>
            </a:pPr>
            <a:r>
              <a:rPr sz="850" i="0">
                <a:solidFill>
                  <a:srgbClr val="5C6773"/>
                </a:solidFill>
                <a:latin typeface="Inconsolata"/>
              </a:rPr>
              <a:t>55  </a:t>
            </a:r>
            <a:r>
              <a:rPr sz="850" i="0">
                <a:solidFill>
                  <a:srgbClr val="E6EDF3"/>
                </a:solidFill>
                <a:latin typeface="Inconsolata"/>
              </a:rPr>
              <a:t> </a:t>
            </a:r>
          </a:p>
          <a:p>
            <a:pPr>
              <a:lnSpc>
                <a:spcPct val="107843"/>
              </a:lnSpc>
              <a:spcAft>
                <a:spcPts val="0"/>
              </a:spcAft>
            </a:pPr>
            <a:r>
              <a:rPr sz="850" i="0">
                <a:solidFill>
                  <a:srgbClr val="5C6773"/>
                </a:solidFill>
                <a:latin typeface="Inconsolata"/>
              </a:rPr>
              <a:t>56  </a:t>
            </a:r>
            <a:r>
              <a:rPr sz="850" i="0">
                <a:solidFill>
                  <a:srgbClr val="E6EDF3"/>
                </a:solidFill>
                <a:latin typeface="Inconsolata"/>
              </a:rPr>
              <a:t> </a:t>
            </a:r>
          </a:p>
          <a:p>
            <a:pPr>
              <a:lnSpc>
                <a:spcPct val="107843"/>
              </a:lnSpc>
              <a:spcAft>
                <a:spcPts val="0"/>
              </a:spcAft>
            </a:pPr>
            <a:r>
              <a:rPr sz="850" i="0">
                <a:solidFill>
                  <a:srgbClr val="5C6773"/>
                </a:solidFill>
                <a:latin typeface="Inconsolata"/>
              </a:rPr>
              <a:t>57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OrderIn</a:t>
            </a:r>
            <a:r>
              <a:rPr sz="850" i="0">
                <a:solidFill>
                  <a:srgbClr val="E6EDF3"/>
                </a:solidFill>
                <a:latin typeface="Inconsolata"/>
              </a:rPr>
              <a:t>(</a:t>
            </a:r>
            <a:r>
              <a:rPr sz="850" i="0">
                <a:solidFill>
                  <a:srgbClr val="7FDBCA"/>
                </a:solidFill>
                <a:latin typeface="Inconsolata"/>
              </a:rPr>
              <a:t>BaseModel</a:t>
            </a:r>
            <a:r>
              <a:rPr sz="850" i="0">
                <a:solidFill>
                  <a:srgbClr val="E6EDF3"/>
                </a:solidFill>
                <a:latin typeface="Inconsolata"/>
              </a:rPr>
              <a:t>):</a:t>
            </a:r>
          </a:p>
          <a:p>
            <a:pPr>
              <a:lnSpc>
                <a:spcPct val="107843"/>
              </a:lnSpc>
              <a:spcAft>
                <a:spcPts val="0"/>
              </a:spcAft>
            </a:pPr>
            <a:r>
              <a:rPr sz="850" i="0">
                <a:solidFill>
                  <a:srgbClr val="5C6773"/>
                </a:solidFill>
                <a:latin typeface="Inconsolata"/>
              </a:rPr>
              <a:t>58  </a:t>
            </a:r>
            <a:r>
              <a:rPr sz="850" i="0">
                <a:solidFill>
                  <a:srgbClr val="E6EDF3"/>
                </a:solidFill>
                <a:latin typeface="Inconsolata"/>
              </a:rPr>
              <a:t>    customer: </a:t>
            </a:r>
            <a:r>
              <a:rPr sz="850" i="0">
                <a:solidFill>
                  <a:srgbClr val="C3A6FF"/>
                </a:solidFill>
                <a:latin typeface="Inconsolata"/>
              </a:rPr>
              <a:t>str</a:t>
            </a:r>
          </a:p>
          <a:p>
            <a:pPr>
              <a:lnSpc>
                <a:spcPct val="107843"/>
              </a:lnSpc>
              <a:spcAft>
                <a:spcPts val="0"/>
              </a:spcAft>
            </a:pPr>
            <a:r>
              <a:rPr sz="850" i="0">
                <a:solidFill>
                  <a:srgbClr val="5C6773"/>
                </a:solidFill>
                <a:latin typeface="Inconsolata"/>
              </a:rPr>
              <a:t>59  </a:t>
            </a:r>
            <a:r>
              <a:rPr sz="850" i="0">
                <a:solidFill>
                  <a:srgbClr val="E6EDF3"/>
                </a:solidFill>
                <a:latin typeface="Inconsolata"/>
              </a:rPr>
              <a:t>    subtotal: </a:t>
            </a:r>
            <a:r>
              <a:rPr sz="850" i="0">
                <a:solidFill>
                  <a:srgbClr val="C3A6FF"/>
                </a:solidFill>
                <a:latin typeface="Inconsolata"/>
              </a:rPr>
              <a:t>int</a:t>
            </a:r>
          </a:p>
          <a:p>
            <a:pPr>
              <a:lnSpc>
                <a:spcPct val="107843"/>
              </a:lnSpc>
              <a:spcAft>
                <a:spcPts val="0"/>
              </a:spcAft>
            </a:pPr>
            <a:r>
              <a:rPr sz="850" i="0">
                <a:solidFill>
                  <a:srgbClr val="5C6773"/>
                </a:solidFill>
                <a:latin typeface="Inconsolata"/>
              </a:rPr>
              <a:t>60  </a:t>
            </a:r>
            <a:r>
              <a:rPr sz="850" i="0">
                <a:solidFill>
                  <a:srgbClr val="E6EDF3"/>
                </a:solidFill>
                <a:latin typeface="Inconsolata"/>
              </a:rPr>
              <a:t> </a:t>
            </a:r>
          </a:p>
          <a:p>
            <a:pPr>
              <a:lnSpc>
                <a:spcPct val="107843"/>
              </a:lnSpc>
              <a:spcAft>
                <a:spcPts val="0"/>
              </a:spcAft>
            </a:pPr>
            <a:r>
              <a:rPr sz="850" i="0">
                <a:solidFill>
                  <a:srgbClr val="5C6773"/>
                </a:solidFill>
                <a:latin typeface="Inconsolata"/>
              </a:rPr>
              <a:t>61  </a:t>
            </a:r>
            <a:r>
              <a:rPr sz="850" i="0">
                <a:solidFill>
                  <a:srgbClr val="E6EDF3"/>
                </a:solidFill>
                <a:latin typeface="Inconsolata"/>
              </a:rPr>
              <a:t> </a:t>
            </a:r>
          </a:p>
          <a:p>
            <a:pPr>
              <a:lnSpc>
                <a:spcPct val="107843"/>
              </a:lnSpc>
              <a:spcAft>
                <a:spcPts val="0"/>
              </a:spcAft>
            </a:pPr>
            <a:r>
              <a:rPr sz="850" i="0">
                <a:solidFill>
                  <a:srgbClr val="5C6773"/>
                </a:solidFill>
                <a:latin typeface="Inconsolata"/>
              </a:rPr>
              <a:t>62  </a:t>
            </a:r>
            <a:r>
              <a:rPr sz="850" i="0">
                <a:solidFill>
                  <a:srgbClr val="F9C97A"/>
                </a:solidFill>
                <a:latin typeface="Inconsolata"/>
              </a:rPr>
              <a:t>@app.post</a:t>
            </a:r>
            <a:r>
              <a:rPr sz="850" i="0">
                <a:solidFill>
                  <a:srgbClr val="E6EDF3"/>
                </a:solidFill>
                <a:latin typeface="Inconsolata"/>
              </a:rPr>
              <a:t>(</a:t>
            </a:r>
            <a:r>
              <a:rPr sz="850" i="0">
                <a:solidFill>
                  <a:srgbClr val="A5D6A7"/>
                </a:solidFill>
                <a:latin typeface="Inconsolata"/>
              </a:rPr>
              <a:t>"/orders"</a:t>
            </a:r>
            <a:r>
              <a:rPr sz="850" i="0">
                <a:solidFill>
                  <a:srgbClr val="E6EDF3"/>
                </a:solidFill>
                <a:latin typeface="Inconsolata"/>
              </a:rPr>
              <a:t>, status_code=</a:t>
            </a:r>
            <a:r>
              <a:rPr sz="850" i="0">
                <a:solidFill>
                  <a:srgbClr val="F9C97A"/>
                </a:solidFill>
                <a:latin typeface="Inconsolata"/>
              </a:rPr>
              <a:t>201</a:t>
            </a:r>
            <a:r>
              <a:rPr sz="850" i="0">
                <a:solidFill>
                  <a:srgbClr val="E6EDF3"/>
                </a:solidFill>
                <a:latin typeface="Inconsolata"/>
              </a:rPr>
              <a:t>)</a:t>
            </a:r>
          </a:p>
          <a:p>
            <a:pPr>
              <a:lnSpc>
                <a:spcPct val="107843"/>
              </a:lnSpc>
              <a:spcAft>
                <a:spcPts val="0"/>
              </a:spcAft>
            </a:pPr>
            <a:r>
              <a:rPr sz="850" i="0">
                <a:solidFill>
                  <a:srgbClr val="5C6773"/>
                </a:solidFill>
                <a:latin typeface="Inconsolata"/>
              </a:rPr>
              <a:t>63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create_order</a:t>
            </a:r>
            <a:r>
              <a:rPr sz="850" i="0">
                <a:solidFill>
                  <a:srgbClr val="E6EDF3"/>
                </a:solidFill>
                <a:latin typeface="Inconsolata"/>
              </a:rPr>
              <a:t>(payload: </a:t>
            </a:r>
            <a:r>
              <a:rPr sz="850" i="0">
                <a:solidFill>
                  <a:srgbClr val="7FDBCA"/>
                </a:solidFill>
                <a:latin typeface="Inconsolata"/>
              </a:rPr>
              <a:t>OrderIn</a:t>
            </a:r>
            <a:r>
              <a:rPr sz="850" i="0">
                <a:solidFill>
                  <a:srgbClr val="E6EDF3"/>
                </a:solidFill>
                <a:latin typeface="Inconsolata"/>
              </a:rPr>
              <a:t>, service: </a:t>
            </a:r>
            <a:r>
              <a:rPr sz="850" i="0">
                <a:solidFill>
                  <a:srgbClr val="7FDBCA"/>
                </a:solidFill>
                <a:latin typeface="Inconsolata"/>
              </a:rPr>
              <a:t>OrderService</a:t>
            </a:r>
            <a:r>
              <a:rPr sz="850" i="0">
                <a:solidFill>
                  <a:srgbClr val="E6EDF3"/>
                </a:solidFill>
                <a:latin typeface="Inconsolata"/>
              </a:rPr>
              <a:t> = </a:t>
            </a:r>
            <a:r>
              <a:rPr sz="850" i="0">
                <a:solidFill>
                  <a:srgbClr val="7FDBCA"/>
                </a:solidFill>
                <a:latin typeface="Inconsolata"/>
              </a:rPr>
              <a:t>Depends</a:t>
            </a:r>
            <a:r>
              <a:rPr sz="850" i="0">
                <a:solidFill>
                  <a:srgbClr val="E6EDF3"/>
                </a:solidFill>
                <a:latin typeface="Inconsolata"/>
              </a:rPr>
              <a:t>(get_order_service)):</a:t>
            </a:r>
          </a:p>
          <a:p>
            <a:pPr>
              <a:lnSpc>
                <a:spcPct val="107843"/>
              </a:lnSpc>
              <a:spcAft>
                <a:spcPts val="0"/>
              </a:spcAft>
            </a:pPr>
            <a:r>
              <a:rPr sz="850" i="0">
                <a:solidFill>
                  <a:srgbClr val="5C6773"/>
                </a:solidFill>
                <a:latin typeface="Inconsolata"/>
              </a:rPr>
              <a:t>64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service.place_order(payload.customer, payload.subtotal)</a:t>
            </a:r>
          </a:p>
        </p:txBody>
      </p:sp>
      <p:sp>
        <p:nvSpPr>
          <p:cNvPr id="29" name="Box 12"/>
          <p:cNvSpPr/>
          <p:nvPr/>
        </p:nvSpPr>
        <p:spPr>
          <a:xfrm>
            <a:off x="704088" y="32256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31724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06-dependency-injection/after.py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sesi-02-solid-clean-architecture/06-dependency-injection</a:t>
            </a:r>
          </a:p>
          <a:p>
            <a:pPr>
              <a:lnSpc>
                <a:spcPct val="107527"/>
              </a:lnSpc>
              <a:spcAft>
                <a:spcPts val="0"/>
              </a:spcAft>
            </a:pPr>
            <a:r>
              <a:rPr sz="775" i="0">
                <a:solidFill>
                  <a:srgbClr val="82B1FF"/>
                </a:solidFill>
                <a:latin typeface="Inconsolata"/>
              </a:rPr>
              <a:t>$ uvicorn after:app --reload</a:t>
            </a:r>
          </a:p>
        </p:txBody>
      </p:sp>
      <p:pic>
        <p:nvPicPr>
          <p:cNvPr id="29" name="Image 12" descr="s02-06-dependency-injection-before.png"/>
          <p:cNvPicPr>
            <a:picLocks noChangeAspect="1"/>
          </p:cNvPicPr>
          <p:nvPr/>
        </p:nvPicPr>
        <p:blipFill>
          <a:blip r:embed="rId2"/>
          <a:stretch>
            <a:fillRect/>
          </a:stretch>
        </p:blipFill>
        <p:spPr>
          <a:xfrm>
            <a:off x="621792" y="2240280"/>
            <a:ext cx="4297680" cy="1155570"/>
          </a:xfrm>
          <a:prstGeom prst="rect">
            <a:avLst/>
          </a:prstGeom>
        </p:spPr>
      </p:pic>
      <p:sp>
        <p:nvSpPr>
          <p:cNvPr id="30" name="Text 13"/>
          <p:cNvSpPr txBox="1"/>
          <p:nvPr/>
        </p:nvSpPr>
        <p:spPr>
          <a:xfrm>
            <a:off x="621792" y="3441569"/>
            <a:ext cx="4297680" cy="36576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Request yang sama di Swagger, response tetap 201 dengan total 190000</a:t>
            </a:r>
          </a:p>
        </p:txBody>
      </p:sp>
      <p:sp>
        <p:nvSpPr>
          <p:cNvPr id="31" name="Box 14"/>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5"/>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3" name="Text 16"/>
          <p:cNvSpPr txBox="1"/>
          <p:nvPr/>
        </p:nvSpPr>
        <p:spPr>
          <a:xfrm>
            <a:off x="5212080" y="1892808"/>
            <a:ext cx="3136392" cy="1578317"/>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dirty="0" err="1">
                <a:solidFill>
                  <a:srgbClr val="B5482A"/>
                </a:solidFill>
                <a:latin typeface="Inconsolata"/>
              </a:rPr>
              <a:t>get_repository</a:t>
            </a:r>
            <a:r>
              <a:rPr sz="950" b="0" i="0" dirty="0">
                <a:solidFill>
                  <a:srgbClr val="B5482A"/>
                </a:solidFill>
                <a:latin typeface="Inconsolata"/>
              </a:rPr>
              <a:t>()</a:t>
            </a:r>
            <a:r>
              <a:rPr sz="950" b="0" i="0" dirty="0">
                <a:solidFill>
                  <a:srgbClr val="434343"/>
                </a:solidFill>
                <a:latin typeface="Inter"/>
              </a:rPr>
              <a:t> </a:t>
            </a:r>
            <a:r>
              <a:rPr sz="950" b="0" i="0" dirty="0" err="1">
                <a:solidFill>
                  <a:srgbClr val="434343"/>
                </a:solidFill>
                <a:latin typeface="Inter"/>
              </a:rPr>
              <a:t>membuat</a:t>
            </a:r>
            <a:r>
              <a:rPr sz="950" b="0" i="0" dirty="0">
                <a:solidFill>
                  <a:srgbClr val="434343"/>
                </a:solidFill>
                <a:latin typeface="Inter"/>
              </a:rPr>
              <a:t> repository, </a:t>
            </a:r>
            <a:r>
              <a:rPr sz="950" b="0" i="0" dirty="0" err="1">
                <a:solidFill>
                  <a:srgbClr val="434343"/>
                </a:solidFill>
                <a:latin typeface="Inter"/>
              </a:rPr>
              <a:t>sekali</a:t>
            </a:r>
            <a:r>
              <a:rPr sz="950" b="0" i="0" dirty="0">
                <a:solidFill>
                  <a:srgbClr val="434343"/>
                </a:solidFill>
                <a:latin typeface="Inter"/>
              </a:rPr>
              <a:t> </a:t>
            </a:r>
            <a:r>
              <a:rPr sz="950" b="0" i="0" dirty="0" err="1">
                <a:solidFill>
                  <a:srgbClr val="434343"/>
                </a:solidFill>
                <a:latin typeface="Inter"/>
              </a:rPr>
              <a:t>saja</a:t>
            </a:r>
            <a:r>
              <a:rPr sz="950" b="0" i="0" dirty="0">
                <a:solidFill>
                  <a:srgbClr val="434343"/>
                </a:solidFill>
                <a:latin typeface="Inter"/>
              </a:rPr>
              <a:t> </a:t>
            </a:r>
            <a:r>
              <a:rPr sz="950" b="0" i="0" dirty="0" err="1">
                <a:solidFill>
                  <a:srgbClr val="434343"/>
                </a:solidFill>
                <a:latin typeface="Inter"/>
              </a:rPr>
              <a:t>karena</a:t>
            </a:r>
            <a:r>
              <a:rPr sz="950" b="0" i="0" dirty="0">
                <a:solidFill>
                  <a:srgbClr val="434343"/>
                </a:solidFill>
                <a:latin typeface="Inter"/>
              </a:rPr>
              <a:t> </a:t>
            </a:r>
            <a:r>
              <a:rPr sz="950" b="0" i="0" dirty="0">
                <a:solidFill>
                  <a:srgbClr val="B5482A"/>
                </a:solidFill>
                <a:latin typeface="Inconsolata"/>
              </a:rPr>
              <a:t>@lru_cache</a:t>
            </a:r>
            <a:r>
              <a:rPr sz="950" b="0" i="0" dirty="0">
                <a:solidFill>
                  <a:srgbClr val="434343"/>
                </a:solidFill>
                <a:latin typeface="Inter"/>
              </a:rPr>
              <a:t> (baris 42-44)</a:t>
            </a:r>
          </a:p>
          <a:p>
            <a:pPr marL="182880" indent="-182880" algn="l">
              <a:lnSpc>
                <a:spcPct val="115000"/>
              </a:lnSpc>
              <a:spcAft>
                <a:spcPts val="400"/>
              </a:spcAft>
              <a:buClr>
                <a:srgbClr val="E0764F"/>
              </a:buClr>
              <a:buSzPct val="100000"/>
              <a:buFont typeface="+mj-lt"/>
              <a:buAutoNum type="arabicPeriod"/>
            </a:pPr>
            <a:r>
              <a:rPr sz="950" b="0" i="0" dirty="0" err="1">
                <a:solidFill>
                  <a:srgbClr val="B5482A"/>
                </a:solidFill>
                <a:latin typeface="Inconsolata"/>
              </a:rPr>
              <a:t>get_order_service</a:t>
            </a:r>
            <a:r>
              <a:rPr sz="950" b="0" i="0" dirty="0">
                <a:solidFill>
                  <a:srgbClr val="434343"/>
                </a:solidFill>
                <a:latin typeface="Inter"/>
              </a:rPr>
              <a:t> </a:t>
            </a:r>
            <a:r>
              <a:rPr sz="950" b="0" i="0" dirty="0" err="1">
                <a:solidFill>
                  <a:srgbClr val="434343"/>
                </a:solidFill>
                <a:latin typeface="Inter"/>
              </a:rPr>
              <a:t>meminta</a:t>
            </a:r>
            <a:r>
              <a:rPr sz="950" b="0" i="0" dirty="0">
                <a:solidFill>
                  <a:srgbClr val="434343"/>
                </a:solidFill>
                <a:latin typeface="Inter"/>
              </a:rPr>
              <a:t> repository </a:t>
            </a:r>
            <a:r>
              <a:rPr sz="950" b="0" i="0" dirty="0" err="1">
                <a:solidFill>
                  <a:srgbClr val="434343"/>
                </a:solidFill>
                <a:latin typeface="Inter"/>
              </a:rPr>
              <a:t>lewat</a:t>
            </a:r>
            <a:r>
              <a:rPr sz="950" b="0" i="0" dirty="0">
                <a:solidFill>
                  <a:srgbClr val="434343"/>
                </a:solidFill>
                <a:latin typeface="Inter"/>
              </a:rPr>
              <a:t> </a:t>
            </a:r>
            <a:r>
              <a:rPr sz="950" b="0" i="0" dirty="0">
                <a:solidFill>
                  <a:srgbClr val="B5482A"/>
                </a:solidFill>
                <a:latin typeface="Inconsolata"/>
              </a:rPr>
              <a:t>Depends</a:t>
            </a:r>
            <a:r>
              <a:rPr sz="950" b="0" i="0" dirty="0">
                <a:solidFill>
                  <a:srgbClr val="434343"/>
                </a:solidFill>
                <a:latin typeface="Inter"/>
              </a:rPr>
              <a:t> (baris 47-50)</a:t>
            </a:r>
          </a:p>
          <a:p>
            <a:pPr marL="182880" indent="-182880" algn="l">
              <a:lnSpc>
                <a:spcPct val="115000"/>
              </a:lnSpc>
              <a:spcAft>
                <a:spcPts val="400"/>
              </a:spcAft>
              <a:buClr>
                <a:srgbClr val="E0764F"/>
              </a:buClr>
              <a:buSzPct val="100000"/>
              <a:buFont typeface="+mj-lt"/>
              <a:buAutoNum type="arabicPeriod"/>
            </a:pPr>
            <a:r>
              <a:rPr sz="950" b="0" i="0" dirty="0">
                <a:solidFill>
                  <a:srgbClr val="434343"/>
                </a:solidFill>
                <a:latin typeface="Inter"/>
              </a:rPr>
              <a:t>Route </a:t>
            </a:r>
            <a:r>
              <a:rPr sz="950" b="0" i="0" dirty="0" err="1">
                <a:solidFill>
                  <a:srgbClr val="434343"/>
                </a:solidFill>
                <a:latin typeface="Inter"/>
              </a:rPr>
              <a:t>cukup</a:t>
            </a:r>
            <a:r>
              <a:rPr sz="950" b="0" i="0" dirty="0">
                <a:solidFill>
                  <a:srgbClr val="434343"/>
                </a:solidFill>
                <a:latin typeface="Inter"/>
              </a:rPr>
              <a:t> </a:t>
            </a:r>
            <a:r>
              <a:rPr sz="950" b="0" i="0" dirty="0" err="1">
                <a:solidFill>
                  <a:srgbClr val="434343"/>
                </a:solidFill>
                <a:latin typeface="Inter"/>
              </a:rPr>
              <a:t>minta</a:t>
            </a:r>
            <a:r>
              <a:rPr sz="950" b="0" i="0" dirty="0">
                <a:solidFill>
                  <a:srgbClr val="434343"/>
                </a:solidFill>
                <a:latin typeface="Inter"/>
              </a:rPr>
              <a:t> service (baris 63)</a:t>
            </a:r>
          </a:p>
          <a:p>
            <a:pPr algn="l">
              <a:lnSpc>
                <a:spcPct val="115000"/>
              </a:lnSpc>
              <a:spcAft>
                <a:spcPts val="0"/>
              </a:spcAft>
            </a:pPr>
            <a:endParaRPr sz="950" b="0" i="0" dirty="0">
              <a:solidFill>
                <a:srgbClr val="434343"/>
              </a:solidFill>
              <a:latin typeface="Inter"/>
            </a:endParaRPr>
          </a:p>
          <a:p>
            <a:pPr algn="l">
              <a:lnSpc>
                <a:spcPct val="115000"/>
              </a:lnSpc>
              <a:spcAft>
                <a:spcPts val="400"/>
              </a:spcAft>
            </a:pPr>
            <a:r>
              <a:rPr sz="950" b="0" i="0" dirty="0" err="1">
                <a:solidFill>
                  <a:srgbClr val="434343"/>
                </a:solidFill>
                <a:latin typeface="Inter"/>
              </a:rPr>
              <a:t>Responsenya</a:t>
            </a:r>
            <a:r>
              <a:rPr sz="950" b="0" i="0" dirty="0">
                <a:solidFill>
                  <a:srgbClr val="434343"/>
                </a:solidFill>
                <a:latin typeface="Inter"/>
              </a:rPr>
              <a:t> </a:t>
            </a:r>
            <a:r>
              <a:rPr sz="950" b="0" i="0" dirty="0" err="1">
                <a:solidFill>
                  <a:srgbClr val="434343"/>
                </a:solidFill>
                <a:latin typeface="Inter"/>
              </a:rPr>
              <a:t>sama</a:t>
            </a:r>
            <a:r>
              <a:rPr sz="950" b="0" i="0" dirty="0">
                <a:solidFill>
                  <a:srgbClr val="434343"/>
                </a:solidFill>
                <a:latin typeface="Inter"/>
              </a:rPr>
              <a:t>. </a:t>
            </a:r>
            <a:r>
              <a:rPr sz="950" b="0" i="0" dirty="0" err="1">
                <a:solidFill>
                  <a:srgbClr val="434343"/>
                </a:solidFill>
                <a:latin typeface="Inter"/>
              </a:rPr>
              <a:t>Setiap</a:t>
            </a:r>
            <a:r>
              <a:rPr sz="950" b="0" i="0" dirty="0">
                <a:solidFill>
                  <a:srgbClr val="434343"/>
                </a:solidFill>
                <a:latin typeface="Inter"/>
              </a:rPr>
              <a:t> function dependency </a:t>
            </a:r>
            <a:r>
              <a:rPr sz="950" b="0" i="0" dirty="0" err="1">
                <a:solidFill>
                  <a:srgbClr val="434343"/>
                </a:solidFill>
                <a:latin typeface="Inter"/>
              </a:rPr>
              <a:t>bisa</a:t>
            </a:r>
            <a:r>
              <a:rPr sz="950" b="0" i="0" dirty="0">
                <a:solidFill>
                  <a:srgbClr val="434343"/>
                </a:solidFill>
                <a:latin typeface="Inter"/>
              </a:rPr>
              <a:t> </a:t>
            </a:r>
            <a:r>
              <a:rPr sz="950" b="0" i="0" dirty="0" err="1">
                <a:solidFill>
                  <a:srgbClr val="434343"/>
                </a:solidFill>
                <a:latin typeface="Inter"/>
              </a:rPr>
              <a:t>di</a:t>
            </a:r>
            <a:r>
              <a:rPr lang="en-US" sz="950" b="0" i="0" dirty="0" err="1">
                <a:solidFill>
                  <a:srgbClr val="434343"/>
                </a:solidFill>
                <a:latin typeface="Inter"/>
              </a:rPr>
              <a:t>ubah</a:t>
            </a:r>
            <a:r>
              <a:rPr sz="950" b="0" i="0" dirty="0">
                <a:solidFill>
                  <a:srgbClr val="434343"/>
                </a:solidFill>
                <a:latin typeface="Inter"/>
              </a:rPr>
              <a:t> </a:t>
            </a:r>
            <a:r>
              <a:rPr sz="950" b="0" i="0" dirty="0" err="1">
                <a:solidFill>
                  <a:srgbClr val="434343"/>
                </a:solidFill>
                <a:latin typeface="Inter"/>
              </a:rPr>
              <a:t>saat</a:t>
            </a:r>
            <a:r>
              <a:rPr sz="950" b="0" i="0" dirty="0">
                <a:solidFill>
                  <a:srgbClr val="434343"/>
                </a:solidFill>
                <a:latin typeface="Inter"/>
              </a:rPr>
              <a:t> test.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Cara Membaca Flow</a:t>
            </a:r>
          </a:p>
        </p:txBody>
      </p:sp>
      <p:sp>
        <p:nvSpPr>
          <p:cNvPr id="22" name="CodeTab 4"/>
          <p:cNvSpPr/>
          <p:nvPr/>
        </p:nvSpPr>
        <p:spPr>
          <a:xfrm>
            <a:off x="621792" y="1481328"/>
            <a:ext cx="507492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43484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06-dependency-injection/after.py</a:t>
            </a:r>
          </a:p>
        </p:txBody>
      </p:sp>
      <p:sp>
        <p:nvSpPr>
          <p:cNvPr id="27" name="CodeBg 10"/>
          <p:cNvSpPr/>
          <p:nvPr/>
        </p:nvSpPr>
        <p:spPr>
          <a:xfrm>
            <a:off x="621792" y="1719072"/>
            <a:ext cx="507492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074920" cy="2980944"/>
          </a:xfrm>
          <a:prstGeom prst="rect">
            <a:avLst/>
          </a:prstGeom>
          <a:noFill/>
        </p:spPr>
        <p:txBody>
          <a:bodyPr wrap="none" lIns="146304" tIns="91440" rIns="146304" bIns="54864">
            <a:spAutoFit/>
          </a:bodyPr>
          <a:lstStyle/>
          <a:p>
            <a:pPr>
              <a:lnSpc>
                <a:spcPct val="111111"/>
              </a:lnSpc>
              <a:spcAft>
                <a:spcPts val="0"/>
              </a:spcAft>
            </a:pPr>
            <a:r>
              <a:rPr sz="750" i="0">
                <a:solidFill>
                  <a:srgbClr val="F9C97A"/>
                </a:solidFill>
                <a:latin typeface="Inconsolata"/>
              </a:rPr>
              <a:t>@lru_cache</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get_repository</a:t>
            </a:r>
            <a:r>
              <a:rPr sz="750" i="0">
                <a:solidFill>
                  <a:srgbClr val="E6EDF3"/>
                </a:solidFill>
                <a:latin typeface="Inconsolata"/>
              </a:rPr>
              <a:t>() -&gt; </a:t>
            </a:r>
            <a:r>
              <a:rPr sz="750" i="0">
                <a:solidFill>
                  <a:srgbClr val="7FDBCA"/>
                </a:solidFill>
                <a:latin typeface="Inconsolata"/>
              </a:rPr>
              <a:t>SqliteOrderRepository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SqliteOrderRepository</a:t>
            </a:r>
            <a:r>
              <a:rPr sz="750" i="0">
                <a:solidFill>
                  <a:srgbClr val="E6EDF3"/>
                </a:solidFill>
                <a:latin typeface="Inconsolata"/>
              </a:rPr>
              <a:t>(</a:t>
            </a:r>
            <a:r>
              <a:rPr sz="750" i="0">
                <a:solidFill>
                  <a:srgbClr val="A5D6A7"/>
                </a:solidFill>
                <a:latin typeface="Inconsolata"/>
              </a:rPr>
              <a:t>"orders.db"</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get_order_service</a:t>
            </a:r>
            <a:r>
              <a:rPr sz="750" i="0">
                <a:solidFill>
                  <a:srgbClr val="E6EDF3"/>
                </a:solidFill>
                <a:latin typeface="Inconsolata"/>
              </a:rPr>
              <a:t>(</a:t>
            </a:r>
          </a:p>
          <a:p>
            <a:pPr>
              <a:lnSpc>
                <a:spcPct val="111111"/>
              </a:lnSpc>
              <a:spcAft>
                <a:spcPts val="0"/>
              </a:spcAft>
            </a:pPr>
            <a:r>
              <a:rPr sz="750" i="0">
                <a:solidFill>
                  <a:srgbClr val="E6EDF3"/>
                </a:solidFill>
                <a:latin typeface="Inconsolata"/>
              </a:rPr>
              <a:t>    repo: </a:t>
            </a:r>
            <a:r>
              <a:rPr sz="750" i="0">
                <a:solidFill>
                  <a:srgbClr val="7FDBCA"/>
                </a:solidFill>
                <a:latin typeface="Inconsolata"/>
              </a:rPr>
              <a:t>SqliteOrderRepository</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(get_repository),</a:t>
            </a:r>
          </a:p>
          <a:p>
            <a:pPr>
              <a:lnSpc>
                <a:spcPct val="111111"/>
              </a:lnSpc>
              <a:spcAft>
                <a:spcPts val="0"/>
              </a:spcAft>
            </a:pPr>
            <a:r>
              <a:rPr sz="750" i="0">
                <a:solidFill>
                  <a:srgbClr val="E6EDF3"/>
                </a:solidFill>
                <a:latin typeface="Inconsolata"/>
              </a:rPr>
              <a:t>) -&gt; </a:t>
            </a:r>
            <a:r>
              <a:rPr sz="750" i="0">
                <a:solidFill>
                  <a:srgbClr val="7FDBCA"/>
                </a:solidFill>
                <a:latin typeface="Inconsolata"/>
              </a:rPr>
              <a:t>OrderService</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a:t>
            </a:r>
            <a:r>
              <a:rPr sz="750" i="0">
                <a:solidFill>
                  <a:srgbClr val="7FDBCA"/>
                </a:solidFill>
                <a:latin typeface="Inconsolata"/>
              </a:rPr>
              <a:t>OrderService</a:t>
            </a:r>
            <a:r>
              <a:rPr sz="750" i="0">
                <a:solidFill>
                  <a:srgbClr val="E6EDF3"/>
                </a:solidFill>
                <a:latin typeface="Inconsolata"/>
              </a:rPr>
              <a:t>(repo)</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F9C97A"/>
                </a:solidFill>
                <a:latin typeface="Inconsolata"/>
              </a:rPr>
              <a:t>@app.post</a:t>
            </a:r>
            <a:r>
              <a:rPr sz="750" i="0">
                <a:solidFill>
                  <a:srgbClr val="E6EDF3"/>
                </a:solidFill>
                <a:latin typeface="Inconsolata"/>
              </a:rPr>
              <a:t>(</a:t>
            </a:r>
            <a:r>
              <a:rPr sz="750" i="0">
                <a:solidFill>
                  <a:srgbClr val="A5D6A7"/>
                </a:solidFill>
                <a:latin typeface="Inconsolata"/>
              </a:rPr>
              <a:t>"/orders"</a:t>
            </a:r>
            <a:r>
              <a:rPr sz="750" i="0">
                <a:solidFill>
                  <a:srgbClr val="E6EDF3"/>
                </a:solidFill>
                <a:latin typeface="Inconsolata"/>
              </a:rPr>
              <a:t>, status_code=</a:t>
            </a:r>
            <a:r>
              <a:rPr sz="750" i="0">
                <a:solidFill>
                  <a:srgbClr val="F9C97A"/>
                </a:solidFill>
                <a:latin typeface="Inconsolata"/>
              </a:rPr>
              <a:t>201</a:t>
            </a:r>
            <a:r>
              <a:rPr sz="750" i="0">
                <a:solidFill>
                  <a:srgbClr val="E6EDF3"/>
                </a:solidFill>
                <a:latin typeface="Inconsolata"/>
              </a:rPr>
              <a:t>)</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create_order</a:t>
            </a:r>
            <a:r>
              <a:rPr sz="750" i="0">
                <a:solidFill>
                  <a:srgbClr val="E6EDF3"/>
                </a:solidFill>
                <a:latin typeface="Inconsolata"/>
              </a:rPr>
              <a:t>(payload: </a:t>
            </a:r>
            <a:r>
              <a:rPr sz="750" i="0">
                <a:solidFill>
                  <a:srgbClr val="7FDBCA"/>
                </a:solidFill>
                <a:latin typeface="Inconsolata"/>
              </a:rPr>
              <a:t>OrderIn</a:t>
            </a:r>
            <a:r>
              <a:rPr sz="750" i="0">
                <a:solidFill>
                  <a:srgbClr val="E6EDF3"/>
                </a:solidFill>
                <a:latin typeface="Inconsolata"/>
              </a:rPr>
              <a:t>, service: </a:t>
            </a:r>
            <a:r>
              <a:rPr sz="750" i="0">
                <a:solidFill>
                  <a:srgbClr val="7FDBCA"/>
                </a:solidFill>
                <a:latin typeface="Inconsolata"/>
              </a:rPr>
              <a:t>OrderService</a:t>
            </a:r>
            <a:r>
              <a:rPr sz="750" i="0">
                <a:solidFill>
                  <a:srgbClr val="E6EDF3"/>
                </a:solidFill>
                <a:latin typeface="Inconsolata"/>
              </a:rPr>
              <a:t> = </a:t>
            </a:r>
            <a:r>
              <a:rPr sz="750" i="0">
                <a:solidFill>
                  <a:srgbClr val="7FDBCA"/>
                </a:solidFill>
                <a:latin typeface="Inconsolata"/>
              </a:rPr>
              <a:t>Depends</a:t>
            </a:r>
            <a:r>
              <a:rPr sz="750" i="0">
                <a:solidFill>
                  <a:srgbClr val="E6EDF3"/>
                </a:solidFill>
                <a:latin typeface="Inconsolata"/>
              </a:rPr>
              <a:t>(get_order_service)):</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service.place_order(payload.customer, payload.subtotal)</a:t>
            </a:r>
          </a:p>
        </p:txBody>
      </p:sp>
      <p:sp>
        <p:nvSpPr>
          <p:cNvPr id="29" name="Box 12"/>
          <p:cNvSpPr/>
          <p:nvPr/>
        </p:nvSpPr>
        <p:spPr>
          <a:xfrm>
            <a:off x="704088" y="3097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495544" y="3037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335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495544" y="2275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2081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495544" y="2021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704088" y="2716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Box 19"/>
          <p:cNvSpPr/>
          <p:nvPr/>
        </p:nvSpPr>
        <p:spPr>
          <a:xfrm>
            <a:off x="5495544" y="2656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
        <p:nvSpPr>
          <p:cNvPr id="37" name="Box 20"/>
          <p:cNvSpPr/>
          <p:nvPr/>
        </p:nvSpPr>
        <p:spPr>
          <a:xfrm>
            <a:off x="704088" y="3224022"/>
            <a:ext cx="4910328" cy="119380"/>
          </a:xfrm>
          <a:prstGeom prst="roundRect">
            <a:avLst>
              <a:gd name="adj" fmla="val 3829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Box 21"/>
          <p:cNvSpPr/>
          <p:nvPr/>
        </p:nvSpPr>
        <p:spPr>
          <a:xfrm>
            <a:off x="5202936" y="3164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5</a:t>
            </a:r>
          </a:p>
        </p:txBody>
      </p:sp>
      <p:sp>
        <p:nvSpPr>
          <p:cNvPr id="39" name="Box 22"/>
          <p:cNvSpPr/>
          <p:nvPr/>
        </p:nvSpPr>
        <p:spPr>
          <a:xfrm>
            <a:off x="5879592" y="149961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40" name="Text 23"/>
          <p:cNvSpPr txBox="1"/>
          <p:nvPr/>
        </p:nvSpPr>
        <p:spPr>
          <a:xfrm>
            <a:off x="6208776" y="146304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Request </a:t>
            </a:r>
            <a:r>
              <a:rPr sz="850" b="0" i="0">
                <a:solidFill>
                  <a:srgbClr val="B5482A"/>
                </a:solidFill>
                <a:latin typeface="Inconsolata"/>
              </a:rPr>
              <a:t>POST /orders</a:t>
            </a:r>
            <a:r>
              <a:rPr sz="850" b="0" i="0">
                <a:solidFill>
                  <a:srgbClr val="434343"/>
                </a:solidFill>
                <a:latin typeface="Inter"/>
              </a:rPr>
              <a:t> masuk. FastAPI melihat route butuh </a:t>
            </a:r>
            <a:r>
              <a:rPr sz="850" b="0" i="0">
                <a:solidFill>
                  <a:srgbClr val="B5482A"/>
                </a:solidFill>
                <a:latin typeface="Inconsolata"/>
              </a:rPr>
              <a:t>Depends(get_order_service)</a:t>
            </a:r>
          </a:p>
        </p:txBody>
      </p:sp>
      <p:sp>
        <p:nvSpPr>
          <p:cNvPr id="41" name="Box 24"/>
          <p:cNvSpPr/>
          <p:nvPr/>
        </p:nvSpPr>
        <p:spPr>
          <a:xfrm>
            <a:off x="5879592" y="2143353"/>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42" name="Text 25"/>
          <p:cNvSpPr txBox="1"/>
          <p:nvPr/>
        </p:nvSpPr>
        <p:spPr>
          <a:xfrm>
            <a:off x="6208776" y="2106777"/>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get_order_service</a:t>
            </a:r>
            <a:r>
              <a:rPr sz="850" b="0" i="0">
                <a:solidFill>
                  <a:srgbClr val="434343"/>
                </a:solidFill>
                <a:latin typeface="Inter"/>
              </a:rPr>
              <a:t> sendiri butuh </a:t>
            </a:r>
            <a:r>
              <a:rPr sz="850" b="0" i="0">
                <a:solidFill>
                  <a:srgbClr val="B5482A"/>
                </a:solidFill>
                <a:latin typeface="Inconsolata"/>
              </a:rPr>
              <a:t>Depends(get_repository)</a:t>
            </a:r>
            <a:r>
              <a:rPr sz="850" b="0" i="0">
                <a:solidFill>
                  <a:srgbClr val="434343"/>
                </a:solidFill>
                <a:latin typeface="Inter"/>
              </a:rPr>
              <a:t>, jadi itu dipanggil dulu</a:t>
            </a:r>
          </a:p>
        </p:txBody>
      </p:sp>
      <p:sp>
        <p:nvSpPr>
          <p:cNvPr id="43" name="Box 26"/>
          <p:cNvSpPr/>
          <p:nvPr/>
        </p:nvSpPr>
        <p:spPr>
          <a:xfrm>
            <a:off x="5879592" y="2787091"/>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44" name="Text 27"/>
          <p:cNvSpPr txBox="1"/>
          <p:nvPr/>
        </p:nvSpPr>
        <p:spPr>
          <a:xfrm>
            <a:off x="6208776" y="2750515"/>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B5482A"/>
                </a:solidFill>
                <a:latin typeface="Inconsolata"/>
              </a:rPr>
              <a:t>get_repository()</a:t>
            </a:r>
            <a:r>
              <a:rPr sz="850" b="0" i="0">
                <a:solidFill>
                  <a:srgbClr val="434343"/>
                </a:solidFill>
                <a:latin typeface="Inter"/>
              </a:rPr>
              <a:t> membuat repository. Karena </a:t>
            </a:r>
            <a:r>
              <a:rPr sz="850" b="0" i="0">
                <a:solidFill>
                  <a:srgbClr val="B5482A"/>
                </a:solidFill>
                <a:latin typeface="Inconsolata"/>
              </a:rPr>
              <a:t>@lru_cache</a:t>
            </a:r>
            <a:r>
              <a:rPr sz="850" b="0" i="0">
                <a:solidFill>
                  <a:srgbClr val="434343"/>
                </a:solidFill>
                <a:latin typeface="Inter"/>
              </a:rPr>
              <a:t>, request berikutnya memakai object yang sama</a:t>
            </a:r>
          </a:p>
        </p:txBody>
      </p:sp>
      <p:sp>
        <p:nvSpPr>
          <p:cNvPr id="45" name="Box 28"/>
          <p:cNvSpPr/>
          <p:nvPr/>
        </p:nvSpPr>
        <p:spPr>
          <a:xfrm>
            <a:off x="5879592" y="3430828"/>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46" name="Text 29"/>
          <p:cNvSpPr txBox="1"/>
          <p:nvPr/>
        </p:nvSpPr>
        <p:spPr>
          <a:xfrm>
            <a:off x="6208776" y="3394252"/>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Repository diberikan ke </a:t>
            </a:r>
            <a:r>
              <a:rPr sz="850" b="0" i="0">
                <a:solidFill>
                  <a:srgbClr val="B5482A"/>
                </a:solidFill>
                <a:latin typeface="Inconsolata"/>
              </a:rPr>
              <a:t>get_order_service</a:t>
            </a:r>
            <a:r>
              <a:rPr sz="850" b="0" i="0">
                <a:solidFill>
                  <a:srgbClr val="434343"/>
                </a:solidFill>
                <a:latin typeface="Inter"/>
              </a:rPr>
              <a:t>, yang mengembalikan </a:t>
            </a:r>
            <a:r>
              <a:rPr sz="850" b="0" i="0">
                <a:solidFill>
                  <a:srgbClr val="B5482A"/>
                </a:solidFill>
                <a:latin typeface="Inconsolata"/>
              </a:rPr>
              <a:t>OrderService</a:t>
            </a:r>
          </a:p>
        </p:txBody>
      </p:sp>
      <p:sp>
        <p:nvSpPr>
          <p:cNvPr id="47" name="Box 30"/>
          <p:cNvSpPr/>
          <p:nvPr/>
        </p:nvSpPr>
        <p:spPr>
          <a:xfrm>
            <a:off x="5879592" y="4074566"/>
            <a:ext cx="256032" cy="256032"/>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48" name="Text 31"/>
          <p:cNvSpPr txBox="1"/>
          <p:nvPr/>
        </p:nvSpPr>
        <p:spPr>
          <a:xfrm>
            <a:off x="6208776" y="4037990"/>
            <a:ext cx="2276856" cy="643737"/>
          </a:xfrm>
          <a:prstGeom prst="rect">
            <a:avLst/>
          </a:prstGeom>
          <a:noFill/>
        </p:spPr>
        <p:txBody>
          <a:bodyPr wrap="square" lIns="45720" rIns="45720" anchor="t">
            <a:spAutoFit/>
          </a:bodyPr>
          <a:lstStyle/>
          <a:p>
            <a:pPr algn="l">
              <a:lnSpc>
                <a:spcPct val="115000"/>
              </a:lnSpc>
              <a:spcAft>
                <a:spcPts val="400"/>
              </a:spcAft>
            </a:pPr>
            <a:r>
              <a:rPr sz="850" b="0" i="0">
                <a:solidFill>
                  <a:srgbClr val="434343"/>
                </a:solidFill>
                <a:latin typeface="Inter"/>
              </a:rPr>
              <a:t>Route dipanggil dengan </a:t>
            </a:r>
            <a:r>
              <a:rPr sz="850" b="0" i="0">
                <a:solidFill>
                  <a:srgbClr val="B5482A"/>
                </a:solidFill>
                <a:latin typeface="Inconsolata"/>
              </a:rPr>
              <a:t>service</a:t>
            </a:r>
            <a:r>
              <a:rPr sz="850" b="0" i="0">
                <a:solidFill>
                  <a:srgbClr val="434343"/>
                </a:solidFill>
                <a:latin typeface="Inter"/>
              </a:rPr>
              <a:t> yang sudah siap</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901978"/>
          </a:xfrm>
          <a:prstGeom prst="rect">
            <a:avLst/>
          </a:prstGeom>
          <a:noFill/>
        </p:spPr>
        <p:txBody>
          <a:bodyPr wrap="square" tIns="91440" bIns="91440" anchor="t">
            <a:spAutoFit/>
          </a:bodyPr>
          <a:lstStyle/>
          <a:p>
            <a:pPr algn="l">
              <a:lnSpc>
                <a:spcPct val="115000"/>
              </a:lnSpc>
              <a:spcAft>
                <a:spcPts val="400"/>
              </a:spcAft>
            </a:pPr>
            <a:r>
              <a:rPr lang="en-US" sz="2100" b="0" i="0" dirty="0">
                <a:solidFill>
                  <a:srgbClr val="1C4587"/>
                </a:solidFill>
                <a:latin typeface="Work Sans ExtraBold"/>
              </a:rPr>
              <a:t>Ganti</a:t>
            </a:r>
            <a:r>
              <a:rPr sz="2100" b="0" i="0" dirty="0">
                <a:solidFill>
                  <a:srgbClr val="1C4587"/>
                </a:solidFill>
                <a:latin typeface="Work Sans ExtraBold"/>
              </a:rPr>
              <a:t> Repository </a:t>
            </a:r>
            <a:r>
              <a:rPr sz="2100" b="0" i="0" dirty="0" err="1">
                <a:solidFill>
                  <a:srgbClr val="1C4587"/>
                </a:solidFill>
                <a:latin typeface="Work Sans ExtraBold"/>
              </a:rPr>
              <a:t>dengan</a:t>
            </a:r>
            <a:r>
              <a:rPr sz="2100" b="0" i="0" dirty="0">
                <a:solidFill>
                  <a:srgbClr val="1C4587"/>
                </a:solidFill>
                <a:latin typeface="Work Sans ExtraBold"/>
              </a:rPr>
              <a:t> </a:t>
            </a:r>
            <a:r>
              <a:rPr sz="2100" b="0" i="0" dirty="0" err="1">
                <a:solidFill>
                  <a:srgbClr val="1C4587"/>
                </a:solidFill>
                <a:latin typeface="Work Sans ExtraBold"/>
              </a:rPr>
              <a:t>dependency_overrides</a:t>
            </a:r>
            <a:r>
              <a:rPr sz="2100" b="0" i="0" dirty="0">
                <a:solidFill>
                  <a:srgbClr val="1C4587"/>
                </a:solidFill>
                <a:latin typeface="Work Sans ExtraBold"/>
              </a:rPr>
              <a:t> (1/2)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06-dependency-injection/test_after.py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 2  </a:t>
            </a:r>
            <a:r>
              <a:rPr sz="850" i="0">
                <a:solidFill>
                  <a:srgbClr val="FF8E6E"/>
                </a:solidFill>
                <a:latin typeface="Inconsolata"/>
              </a:rPr>
              <a:t>from</a:t>
            </a:r>
            <a:r>
              <a:rPr sz="850" i="0">
                <a:solidFill>
                  <a:srgbClr val="E6EDF3"/>
                </a:solidFill>
                <a:latin typeface="Inconsolata"/>
              </a:rPr>
              <a:t> fastapi.testclient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TestClient</a:t>
            </a:r>
          </a:p>
          <a:p>
            <a:pPr>
              <a:lnSpc>
                <a:spcPct val="107843"/>
              </a:lnSpc>
              <a:spcAft>
                <a:spcPts val="0"/>
              </a:spcAft>
            </a:pPr>
            <a:r>
              <a:rPr sz="850" i="0">
                <a:solidFill>
                  <a:srgbClr val="5C6773"/>
                </a:solidFill>
                <a:latin typeface="Inconsolata"/>
              </a:rPr>
              <a:t> 3  </a:t>
            </a:r>
            <a:r>
              <a:rPr sz="850" i="0">
                <a:solidFill>
                  <a:srgbClr val="E6EDF3"/>
                </a:solidFill>
                <a:latin typeface="Inconsolata"/>
              </a:rPr>
              <a:t> </a:t>
            </a:r>
          </a:p>
          <a:p>
            <a:pPr>
              <a:lnSpc>
                <a:spcPct val="107843"/>
              </a:lnSpc>
              <a:spcAft>
                <a:spcPts val="0"/>
              </a:spcAft>
            </a:pPr>
            <a:r>
              <a:rPr sz="850" i="0">
                <a:solidFill>
                  <a:srgbClr val="5C6773"/>
                </a:solidFill>
                <a:latin typeface="Inconsolata"/>
              </a:rPr>
              <a:t> 4  </a:t>
            </a:r>
            <a:r>
              <a:rPr sz="850" i="0">
                <a:solidFill>
                  <a:srgbClr val="FF8E6E"/>
                </a:solidFill>
                <a:latin typeface="Inconsolata"/>
              </a:rPr>
              <a:t>from</a:t>
            </a:r>
            <a:r>
              <a:rPr sz="850" i="0">
                <a:solidFill>
                  <a:srgbClr val="E6EDF3"/>
                </a:solidFill>
                <a:latin typeface="Inconsolata"/>
              </a:rPr>
              <a:t> after </a:t>
            </a:r>
            <a:r>
              <a:rPr sz="850" i="0">
                <a:solidFill>
                  <a:srgbClr val="FF8E6E"/>
                </a:solidFill>
                <a:latin typeface="Inconsolata"/>
              </a:rPr>
              <a:t>import</a:t>
            </a:r>
            <a:r>
              <a:rPr sz="850" i="0">
                <a:solidFill>
                  <a:srgbClr val="E6EDF3"/>
                </a:solidFill>
                <a:latin typeface="Inconsolata"/>
              </a:rPr>
              <a:t> app, get_repository</a:t>
            </a:r>
          </a:p>
          <a:p>
            <a:pPr>
              <a:lnSpc>
                <a:spcPct val="107843"/>
              </a:lnSpc>
              <a:spcAft>
                <a:spcPts val="0"/>
              </a:spcAft>
            </a:pPr>
            <a:r>
              <a:rPr sz="850" i="0">
                <a:solidFill>
                  <a:srgbClr val="5C6773"/>
                </a:solidFill>
                <a:latin typeface="Inconsolata"/>
              </a:rPr>
              <a:t> 5  </a:t>
            </a:r>
            <a:r>
              <a:rPr sz="850" i="0">
                <a:solidFill>
                  <a:srgbClr val="E6EDF3"/>
                </a:solidFill>
                <a:latin typeface="Inconsolata"/>
              </a:rPr>
              <a:t> </a:t>
            </a:r>
          </a:p>
          <a:p>
            <a:pPr>
              <a:lnSpc>
                <a:spcPct val="107843"/>
              </a:lnSpc>
              <a:spcAft>
                <a:spcPts val="0"/>
              </a:spcAft>
            </a:pPr>
            <a:r>
              <a:rPr sz="850" i="0">
                <a:solidFill>
                  <a:srgbClr val="5C6773"/>
                </a:solidFill>
                <a:latin typeface="Inconsolata"/>
              </a:rPr>
              <a:t> 6  </a:t>
            </a:r>
            <a:r>
              <a:rPr sz="850" i="0">
                <a:solidFill>
                  <a:srgbClr val="E6EDF3"/>
                </a:solidFill>
                <a:latin typeface="Inconsolata"/>
              </a:rPr>
              <a:t> </a:t>
            </a:r>
          </a:p>
          <a:p>
            <a:pPr>
              <a:lnSpc>
                <a:spcPct val="107843"/>
              </a:lnSpc>
              <a:spcAft>
                <a:spcPts val="0"/>
              </a:spcAft>
            </a:pPr>
            <a:r>
              <a:rPr sz="850" i="0">
                <a:solidFill>
                  <a:srgbClr val="5C6773"/>
                </a:solidFill>
                <a:latin typeface="Inconsolata"/>
              </a:rPr>
              <a:t> 7  </a:t>
            </a: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InMemoryOrderRepository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 8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__init__</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a:t>
            </a:r>
          </a:p>
          <a:p>
            <a:pPr>
              <a:lnSpc>
                <a:spcPct val="107843"/>
              </a:lnSpc>
              <a:spcAft>
                <a:spcPts val="0"/>
              </a:spcAft>
            </a:pPr>
            <a:r>
              <a:rPr sz="850" i="0">
                <a:solidFill>
                  <a:srgbClr val="5C6773"/>
                </a:solidFill>
                <a:latin typeface="Inconsolata"/>
              </a:rPr>
              <a:t> 9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.rows = []</a:t>
            </a:r>
          </a:p>
          <a:p>
            <a:pPr>
              <a:lnSpc>
                <a:spcPct val="107843"/>
              </a:lnSpc>
              <a:spcAft>
                <a:spcPts val="0"/>
              </a:spcAft>
            </a:pPr>
            <a:r>
              <a:rPr sz="850" i="0">
                <a:solidFill>
                  <a:srgbClr val="5C6773"/>
                </a:solidFill>
                <a:latin typeface="Inconsolata"/>
              </a:rPr>
              <a:t>10  </a:t>
            </a:r>
            <a:r>
              <a:rPr sz="850" i="0">
                <a:solidFill>
                  <a:srgbClr val="E6EDF3"/>
                </a:solidFill>
                <a:latin typeface="Inconsolata"/>
              </a:rPr>
              <a:t> </a:t>
            </a:r>
          </a:p>
          <a:p>
            <a:pPr>
              <a:lnSpc>
                <a:spcPct val="107843"/>
              </a:lnSpc>
              <a:spcAft>
                <a:spcPts val="0"/>
              </a:spcAft>
            </a:pPr>
            <a:r>
              <a:rPr sz="850" i="0">
                <a:solidFill>
                  <a:srgbClr val="5C6773"/>
                </a:solidFill>
                <a:latin typeface="Inconsolata"/>
              </a:rPr>
              <a:t>11  </a:t>
            </a: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customer: </a:t>
            </a:r>
            <a:r>
              <a:rPr sz="850" i="0">
                <a:solidFill>
                  <a:srgbClr val="C3A6FF"/>
                </a:solidFill>
                <a:latin typeface="Inconsolata"/>
              </a:rPr>
              <a:t>str</a:t>
            </a:r>
            <a:r>
              <a:rPr sz="850" i="0">
                <a:solidFill>
                  <a:srgbClr val="E6EDF3"/>
                </a:solidFill>
                <a:latin typeface="Inconsolata"/>
              </a:rPr>
              <a:t>, total: </a:t>
            </a:r>
            <a:r>
              <a:rPr sz="850" i="0">
                <a:solidFill>
                  <a:srgbClr val="C3A6FF"/>
                </a:solidFill>
                <a:latin typeface="Inconsolata"/>
              </a:rPr>
              <a:t>int</a:t>
            </a:r>
            <a:r>
              <a:rPr sz="850" i="0">
                <a:solidFill>
                  <a:srgbClr val="E6EDF3"/>
                </a:solidFill>
                <a:latin typeface="Inconsolata"/>
              </a:rPr>
              <a:t>) -&gt; </a:t>
            </a:r>
            <a:r>
              <a:rPr sz="850" i="0">
                <a:solidFill>
                  <a:srgbClr val="C3A6FF"/>
                </a:solidFill>
                <a:latin typeface="Inconsolata"/>
              </a:rPr>
              <a:t>dict</a:t>
            </a:r>
            <a:r>
              <a:rPr sz="850" i="0">
                <a:solidFill>
                  <a:srgbClr val="E6EDF3"/>
                </a:solidFill>
                <a:latin typeface="Inconsolata"/>
              </a:rPr>
              <a:t>:</a:t>
            </a:r>
          </a:p>
          <a:p>
            <a:pPr>
              <a:lnSpc>
                <a:spcPct val="107843"/>
              </a:lnSpc>
              <a:spcAft>
                <a:spcPts val="0"/>
              </a:spcAft>
            </a:pPr>
            <a:r>
              <a:rPr sz="850" i="0">
                <a:solidFill>
                  <a:srgbClr val="5C6773"/>
                </a:solidFill>
                <a:latin typeface="Inconsolata"/>
              </a:rPr>
              <a:t>12  </a:t>
            </a:r>
            <a:r>
              <a:rPr sz="850" i="0">
                <a:solidFill>
                  <a:srgbClr val="E6EDF3"/>
                </a:solidFill>
                <a:latin typeface="Inconsolata"/>
              </a:rPr>
              <a:t>        order = {</a:t>
            </a:r>
            <a:r>
              <a:rPr sz="850" i="0">
                <a:solidFill>
                  <a:srgbClr val="A5D6A7"/>
                </a:solidFill>
                <a:latin typeface="Inconsolata"/>
              </a:rPr>
              <a:t>"id"</a:t>
            </a:r>
            <a:r>
              <a:rPr sz="850" i="0">
                <a:solidFill>
                  <a:srgbClr val="E6EDF3"/>
                </a:solidFill>
                <a:latin typeface="Inconsolata"/>
              </a:rPr>
              <a:t>: </a:t>
            </a:r>
            <a:r>
              <a:rPr sz="850" i="0">
                <a:solidFill>
                  <a:srgbClr val="C3A6FF"/>
                </a:solidFill>
                <a:latin typeface="Inconsolata"/>
              </a:rPr>
              <a:t>len</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.rows) + </a:t>
            </a:r>
            <a:r>
              <a:rPr sz="850" i="0">
                <a:solidFill>
                  <a:srgbClr val="F9C97A"/>
                </a:solidFill>
                <a:latin typeface="Inconsolata"/>
              </a:rPr>
              <a:t>1</a:t>
            </a:r>
            <a:r>
              <a:rPr sz="850" i="0">
                <a:solidFill>
                  <a:srgbClr val="E6EDF3"/>
                </a:solidFill>
                <a:latin typeface="Inconsolata"/>
              </a:rPr>
              <a:t>, </a:t>
            </a:r>
            <a:r>
              <a:rPr sz="850" i="0">
                <a:solidFill>
                  <a:srgbClr val="A5D6A7"/>
                </a:solidFill>
                <a:latin typeface="Inconsolata"/>
              </a:rPr>
              <a:t>"customer"</a:t>
            </a:r>
            <a:r>
              <a:rPr sz="850" i="0">
                <a:solidFill>
                  <a:srgbClr val="E6EDF3"/>
                </a:solidFill>
                <a:latin typeface="Inconsolata"/>
              </a:rPr>
              <a:t>: customer, </a:t>
            </a:r>
            <a:r>
              <a:rPr sz="850" i="0">
                <a:solidFill>
                  <a:srgbClr val="A5D6A7"/>
                </a:solidFill>
                <a:latin typeface="Inconsolata"/>
              </a:rPr>
              <a:t>"total"</a:t>
            </a:r>
            <a:r>
              <a:rPr sz="850" i="0">
                <a:solidFill>
                  <a:srgbClr val="E6EDF3"/>
                </a:solidFill>
                <a:latin typeface="Inconsolata"/>
              </a:rPr>
              <a:t>: total}</a:t>
            </a:r>
          </a:p>
          <a:p>
            <a:pPr>
              <a:lnSpc>
                <a:spcPct val="107843"/>
              </a:lnSpc>
              <a:spcAft>
                <a:spcPts val="0"/>
              </a:spcAft>
            </a:pPr>
            <a:r>
              <a:rPr sz="850" i="0">
                <a:solidFill>
                  <a:srgbClr val="5C6773"/>
                </a:solidFill>
                <a:latin typeface="Inconsolata"/>
              </a:rPr>
              <a:t>13  </a:t>
            </a:r>
            <a:r>
              <a:rPr sz="850" i="0">
                <a:solidFill>
                  <a:srgbClr val="E6EDF3"/>
                </a:solidFill>
                <a:latin typeface="Inconsolata"/>
              </a:rPr>
              <a:t>        </a:t>
            </a:r>
            <a:r>
              <a:rPr sz="850" i="0">
                <a:solidFill>
                  <a:srgbClr val="C3A6FF"/>
                </a:solidFill>
                <a:latin typeface="Inconsolata"/>
              </a:rPr>
              <a:t>self</a:t>
            </a:r>
            <a:r>
              <a:rPr sz="850" i="0">
                <a:solidFill>
                  <a:srgbClr val="E6EDF3"/>
                </a:solidFill>
                <a:latin typeface="Inconsolata"/>
              </a:rPr>
              <a:t>.rows.append(order)</a:t>
            </a:r>
          </a:p>
          <a:p>
            <a:pPr>
              <a:lnSpc>
                <a:spcPct val="107843"/>
              </a:lnSpc>
              <a:spcAft>
                <a:spcPts val="0"/>
              </a:spcAft>
            </a:pPr>
            <a:r>
              <a:rPr sz="850" i="0">
                <a:solidFill>
                  <a:srgbClr val="5C6773"/>
                </a:solidFill>
                <a:latin typeface="Inconsolata"/>
              </a:rPr>
              <a:t>14  </a:t>
            </a: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order</a:t>
            </a:r>
          </a:p>
        </p:txBody>
      </p:sp>
      <p:sp>
        <p:nvSpPr>
          <p:cNvPr id="29" name="Box 12"/>
          <p:cNvSpPr/>
          <p:nvPr/>
        </p:nvSpPr>
        <p:spPr>
          <a:xfrm>
            <a:off x="704088" y="2527173"/>
            <a:ext cx="7699248" cy="1109218"/>
          </a:xfrm>
          <a:prstGeom prst="roundRect">
            <a:avLst>
              <a:gd name="adj" fmla="val 412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96291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59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901978"/>
          </a:xfrm>
          <a:prstGeom prst="rect">
            <a:avLst/>
          </a:prstGeom>
          <a:noFill/>
        </p:spPr>
        <p:txBody>
          <a:bodyPr wrap="square" tIns="91440" bIns="91440" anchor="t">
            <a:spAutoFit/>
          </a:bodyPr>
          <a:lstStyle/>
          <a:p>
            <a:pPr algn="l">
              <a:lnSpc>
                <a:spcPct val="115000"/>
              </a:lnSpc>
              <a:spcAft>
                <a:spcPts val="400"/>
              </a:spcAft>
            </a:pPr>
            <a:r>
              <a:rPr lang="en-US" sz="2100" b="0" i="0" dirty="0">
                <a:solidFill>
                  <a:srgbClr val="1C4587"/>
                </a:solidFill>
                <a:latin typeface="Work Sans ExtraBold"/>
              </a:rPr>
              <a:t>Ganti</a:t>
            </a:r>
            <a:r>
              <a:rPr sz="2100" b="0" i="0" dirty="0">
                <a:solidFill>
                  <a:srgbClr val="1C4587"/>
                </a:solidFill>
                <a:latin typeface="Work Sans ExtraBold"/>
              </a:rPr>
              <a:t> Repository </a:t>
            </a:r>
            <a:r>
              <a:rPr sz="2100" b="0" i="0" dirty="0" err="1">
                <a:solidFill>
                  <a:srgbClr val="1C4587"/>
                </a:solidFill>
                <a:latin typeface="Work Sans ExtraBold"/>
              </a:rPr>
              <a:t>dengan</a:t>
            </a:r>
            <a:r>
              <a:rPr sz="2100" b="0" i="0" dirty="0">
                <a:solidFill>
                  <a:srgbClr val="1C4587"/>
                </a:solidFill>
                <a:latin typeface="Work Sans ExtraBold"/>
              </a:rPr>
              <a:t> </a:t>
            </a:r>
            <a:r>
              <a:rPr sz="2100" b="0" i="0" dirty="0" err="1">
                <a:solidFill>
                  <a:srgbClr val="1C4587"/>
                </a:solidFill>
                <a:latin typeface="Work Sans ExtraBold"/>
              </a:rPr>
              <a:t>dependency_overrides</a:t>
            </a:r>
            <a:r>
              <a:rPr sz="2100" b="0" i="0" dirty="0">
                <a:solidFill>
                  <a:srgbClr val="1C4587"/>
                </a:solidFill>
                <a:latin typeface="Work Sans ExtraBold"/>
              </a:rPr>
              <a:t> (2/2)</a:t>
            </a:r>
          </a:p>
        </p:txBody>
      </p:sp>
      <p:sp>
        <p:nvSpPr>
          <p:cNvPr id="22" name="CodeTab 4"/>
          <p:cNvSpPr/>
          <p:nvPr/>
        </p:nvSpPr>
        <p:spPr>
          <a:xfrm>
            <a:off x="621792" y="1481328"/>
            <a:ext cx="7863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72237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06-dependency-injection/test_after.py</a:t>
            </a:r>
          </a:p>
        </p:txBody>
      </p:sp>
      <p:sp>
        <p:nvSpPr>
          <p:cNvPr id="27" name="CodeBg 10"/>
          <p:cNvSpPr/>
          <p:nvPr/>
        </p:nvSpPr>
        <p:spPr>
          <a:xfrm>
            <a:off x="621792" y="1719072"/>
            <a:ext cx="78638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7863840" cy="2980944"/>
          </a:xfrm>
          <a:prstGeom prst="rect">
            <a:avLst/>
          </a:prstGeom>
          <a:noFill/>
        </p:spPr>
        <p:txBody>
          <a:bodyPr wrap="none" lIns="146304" tIns="91440" rIns="146304" bIns="54864">
            <a:spAutoFit/>
          </a:bodyPr>
          <a:lstStyle/>
          <a:p>
            <a:pPr>
              <a:lnSpc>
                <a:spcPct val="107843"/>
              </a:lnSpc>
              <a:spcAft>
                <a:spcPts val="0"/>
              </a:spcAft>
            </a:pPr>
            <a:r>
              <a:rPr sz="850" i="0">
                <a:solidFill>
                  <a:srgbClr val="5C6773"/>
                </a:solidFill>
                <a:latin typeface="Inconsolata"/>
              </a:rPr>
              <a:t>17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test_create_order_pakai_fake_repository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18  </a:t>
            </a:r>
            <a:r>
              <a:rPr sz="850" i="0">
                <a:solidFill>
                  <a:srgbClr val="E6EDF3"/>
                </a:solidFill>
                <a:latin typeface="Inconsolata"/>
              </a:rPr>
              <a:t>    fake = </a:t>
            </a:r>
            <a:r>
              <a:rPr sz="850" i="0">
                <a:solidFill>
                  <a:srgbClr val="7FDBCA"/>
                </a:solidFill>
                <a:latin typeface="Inconsolata"/>
              </a:rPr>
              <a:t>InMemoryOrderRepository</a:t>
            </a:r>
            <a:r>
              <a:rPr sz="850" i="0">
                <a:solidFill>
                  <a:srgbClr val="E6EDF3"/>
                </a:solidFill>
                <a:latin typeface="Inconsolata"/>
              </a:rPr>
              <a:t>()</a:t>
            </a:r>
          </a:p>
          <a:p>
            <a:pPr>
              <a:lnSpc>
                <a:spcPct val="107843"/>
              </a:lnSpc>
              <a:spcAft>
                <a:spcPts val="0"/>
              </a:spcAft>
            </a:pPr>
            <a:r>
              <a:rPr sz="850" i="0">
                <a:solidFill>
                  <a:srgbClr val="5C6773"/>
                </a:solidFill>
                <a:latin typeface="Inconsolata"/>
              </a:rPr>
              <a:t>19  </a:t>
            </a:r>
            <a:r>
              <a:rPr sz="850" i="0">
                <a:solidFill>
                  <a:srgbClr val="E6EDF3"/>
                </a:solidFill>
                <a:latin typeface="Inconsolata"/>
              </a:rPr>
              <a:t>    app.dependency_overrides[get_repository] = </a:t>
            </a:r>
            <a:r>
              <a:rPr sz="850" i="0">
                <a:solidFill>
                  <a:srgbClr val="FF8E6E"/>
                </a:solidFill>
                <a:latin typeface="Inconsolata"/>
              </a:rPr>
              <a:t>lambda</a:t>
            </a:r>
            <a:r>
              <a:rPr sz="850" i="0">
                <a:solidFill>
                  <a:srgbClr val="E6EDF3"/>
                </a:solidFill>
                <a:latin typeface="Inconsolata"/>
              </a:rPr>
              <a:t>: fake</a:t>
            </a:r>
          </a:p>
          <a:p>
            <a:pPr>
              <a:lnSpc>
                <a:spcPct val="107843"/>
              </a:lnSpc>
              <a:spcAft>
                <a:spcPts val="0"/>
              </a:spcAft>
            </a:pPr>
            <a:r>
              <a:rPr sz="850" i="0">
                <a:solidFill>
                  <a:srgbClr val="5C6773"/>
                </a:solidFill>
                <a:latin typeface="Inconsolata"/>
              </a:rPr>
              <a:t>20  </a:t>
            </a:r>
            <a:r>
              <a:rPr sz="850" i="0">
                <a:solidFill>
                  <a:srgbClr val="E6EDF3"/>
                </a:solidFill>
                <a:latin typeface="Inconsolata"/>
              </a:rPr>
              <a:t>    client = </a:t>
            </a:r>
            <a:r>
              <a:rPr sz="850" i="0">
                <a:solidFill>
                  <a:srgbClr val="7FDBCA"/>
                </a:solidFill>
                <a:latin typeface="Inconsolata"/>
              </a:rPr>
              <a:t>TestClient</a:t>
            </a:r>
            <a:r>
              <a:rPr sz="850" i="0">
                <a:solidFill>
                  <a:srgbClr val="E6EDF3"/>
                </a:solidFill>
                <a:latin typeface="Inconsolata"/>
              </a:rPr>
              <a:t>(app)</a:t>
            </a:r>
          </a:p>
          <a:p>
            <a:pPr>
              <a:lnSpc>
                <a:spcPct val="107843"/>
              </a:lnSpc>
              <a:spcAft>
                <a:spcPts val="0"/>
              </a:spcAft>
            </a:pPr>
            <a:r>
              <a:rPr sz="850" i="0">
                <a:solidFill>
                  <a:srgbClr val="5C6773"/>
                </a:solidFill>
                <a:latin typeface="Inconsolata"/>
              </a:rPr>
              <a:t>21  </a:t>
            </a:r>
            <a:r>
              <a:rPr sz="850" i="0">
                <a:solidFill>
                  <a:srgbClr val="E6EDF3"/>
                </a:solidFill>
                <a:latin typeface="Inconsolata"/>
              </a:rPr>
              <a:t> </a:t>
            </a:r>
          </a:p>
          <a:p>
            <a:pPr>
              <a:lnSpc>
                <a:spcPct val="107843"/>
              </a:lnSpc>
              <a:spcAft>
                <a:spcPts val="0"/>
              </a:spcAft>
            </a:pPr>
            <a:r>
              <a:rPr sz="850" i="0">
                <a:solidFill>
                  <a:srgbClr val="5C6773"/>
                </a:solidFill>
                <a:latin typeface="Inconsolata"/>
              </a:rPr>
              <a:t>22  </a:t>
            </a:r>
            <a:r>
              <a:rPr sz="850" i="0">
                <a:solidFill>
                  <a:srgbClr val="E6EDF3"/>
                </a:solidFill>
                <a:latin typeface="Inconsolata"/>
              </a:rPr>
              <a:t>    payload = {</a:t>
            </a:r>
            <a:r>
              <a:rPr sz="850" i="0">
                <a:solidFill>
                  <a:srgbClr val="A5D6A7"/>
                </a:solidFill>
                <a:latin typeface="Inconsolata"/>
              </a:rPr>
              <a:t>"customer"</a:t>
            </a:r>
            <a:r>
              <a:rPr sz="850" i="0">
                <a:solidFill>
                  <a:srgbClr val="E6EDF3"/>
                </a:solidFill>
                <a:latin typeface="Inconsolata"/>
              </a:rPr>
              <a:t>: </a:t>
            </a:r>
            <a:r>
              <a:rPr sz="850" i="0">
                <a:solidFill>
                  <a:srgbClr val="A5D6A7"/>
                </a:solidFill>
                <a:latin typeface="Inconsolata"/>
              </a:rPr>
              <a:t>"budi@mail.com"</a:t>
            </a:r>
            <a:r>
              <a:rPr sz="850" i="0">
                <a:solidFill>
                  <a:srgbClr val="E6EDF3"/>
                </a:solidFill>
                <a:latin typeface="Inconsolata"/>
              </a:rPr>
              <a:t>, </a:t>
            </a:r>
            <a:r>
              <a:rPr sz="850" i="0">
                <a:solidFill>
                  <a:srgbClr val="A5D6A7"/>
                </a:solidFill>
                <a:latin typeface="Inconsolata"/>
              </a:rPr>
              <a:t>"subtotal"</a:t>
            </a:r>
            <a:r>
              <a:rPr sz="850" i="0">
                <a:solidFill>
                  <a:srgbClr val="E6EDF3"/>
                </a:solidFill>
                <a:latin typeface="Inconsolata"/>
              </a:rPr>
              <a:t>: </a:t>
            </a:r>
            <a:r>
              <a:rPr sz="850" i="0">
                <a:solidFill>
                  <a:srgbClr val="F9C97A"/>
                </a:solidFill>
                <a:latin typeface="Inconsolata"/>
              </a:rPr>
              <a:t>200_000</a:t>
            </a:r>
            <a:r>
              <a:rPr sz="850" i="0">
                <a:solidFill>
                  <a:srgbClr val="E6EDF3"/>
                </a:solidFill>
                <a:latin typeface="Inconsolata"/>
              </a:rPr>
              <a:t>}</a:t>
            </a:r>
          </a:p>
          <a:p>
            <a:pPr>
              <a:lnSpc>
                <a:spcPct val="107843"/>
              </a:lnSpc>
              <a:spcAft>
                <a:spcPts val="0"/>
              </a:spcAft>
            </a:pPr>
            <a:r>
              <a:rPr sz="850" i="0">
                <a:solidFill>
                  <a:srgbClr val="5C6773"/>
                </a:solidFill>
                <a:latin typeface="Inconsolata"/>
              </a:rPr>
              <a:t>23  </a:t>
            </a:r>
            <a:r>
              <a:rPr sz="850" i="0">
                <a:solidFill>
                  <a:srgbClr val="E6EDF3"/>
                </a:solidFill>
                <a:latin typeface="Inconsolata"/>
              </a:rPr>
              <a:t>    response = client.post(</a:t>
            </a:r>
            <a:r>
              <a:rPr sz="850" i="0">
                <a:solidFill>
                  <a:srgbClr val="A5D6A7"/>
                </a:solidFill>
                <a:latin typeface="Inconsolata"/>
              </a:rPr>
              <a:t>"/orders"</a:t>
            </a:r>
            <a:r>
              <a:rPr sz="850" i="0">
                <a:solidFill>
                  <a:srgbClr val="E6EDF3"/>
                </a:solidFill>
                <a:latin typeface="Inconsolata"/>
              </a:rPr>
              <a:t>, json=payload)</a:t>
            </a:r>
          </a:p>
          <a:p>
            <a:pPr>
              <a:lnSpc>
                <a:spcPct val="107843"/>
              </a:lnSpc>
              <a:spcAft>
                <a:spcPts val="0"/>
              </a:spcAft>
            </a:pPr>
            <a:r>
              <a:rPr sz="850" i="0">
                <a:solidFill>
                  <a:srgbClr val="5C6773"/>
                </a:solidFill>
                <a:latin typeface="Inconsolata"/>
              </a:rPr>
              <a:t>24  </a:t>
            </a:r>
            <a:r>
              <a:rPr sz="850" i="0">
                <a:solidFill>
                  <a:srgbClr val="E6EDF3"/>
                </a:solidFill>
                <a:latin typeface="Inconsolata"/>
              </a:rPr>
              <a:t> </a:t>
            </a:r>
          </a:p>
          <a:p>
            <a:pPr>
              <a:lnSpc>
                <a:spcPct val="107843"/>
              </a:lnSpc>
              <a:spcAft>
                <a:spcPts val="0"/>
              </a:spcAft>
            </a:pPr>
            <a:r>
              <a:rPr sz="850" i="0">
                <a:solidFill>
                  <a:srgbClr val="5C6773"/>
                </a:solidFill>
                <a:latin typeface="Inconsolata"/>
              </a:rPr>
              <a:t>25  </a:t>
            </a:r>
            <a:r>
              <a:rPr sz="850" i="0">
                <a:solidFill>
                  <a:srgbClr val="E6EDF3"/>
                </a:solidFill>
                <a:latin typeface="Inconsolata"/>
              </a:rPr>
              <a:t>    </a:t>
            </a:r>
            <a:r>
              <a:rPr sz="850" i="0">
                <a:solidFill>
                  <a:srgbClr val="FF8E6E"/>
                </a:solidFill>
                <a:latin typeface="Inconsolata"/>
              </a:rPr>
              <a:t>assert</a:t>
            </a:r>
            <a:r>
              <a:rPr sz="850" i="0">
                <a:solidFill>
                  <a:srgbClr val="E6EDF3"/>
                </a:solidFill>
                <a:latin typeface="Inconsolata"/>
              </a:rPr>
              <a:t> response.status_code == </a:t>
            </a:r>
            <a:r>
              <a:rPr sz="850" i="0">
                <a:solidFill>
                  <a:srgbClr val="F9C97A"/>
                </a:solidFill>
                <a:latin typeface="Inconsolata"/>
              </a:rPr>
              <a:t>201</a:t>
            </a:r>
          </a:p>
          <a:p>
            <a:pPr>
              <a:lnSpc>
                <a:spcPct val="107843"/>
              </a:lnSpc>
              <a:spcAft>
                <a:spcPts val="0"/>
              </a:spcAft>
            </a:pPr>
            <a:r>
              <a:rPr sz="850" i="0">
                <a:solidFill>
                  <a:srgbClr val="5C6773"/>
                </a:solidFill>
                <a:latin typeface="Inconsolata"/>
              </a:rPr>
              <a:t>26  </a:t>
            </a:r>
            <a:r>
              <a:rPr sz="850" i="0">
                <a:solidFill>
                  <a:srgbClr val="E6EDF3"/>
                </a:solidFill>
                <a:latin typeface="Inconsolata"/>
              </a:rPr>
              <a:t>    </a:t>
            </a:r>
            <a:r>
              <a:rPr sz="850" i="0">
                <a:solidFill>
                  <a:srgbClr val="FF8E6E"/>
                </a:solidFill>
                <a:latin typeface="Inconsolata"/>
              </a:rPr>
              <a:t>assert</a:t>
            </a:r>
            <a:r>
              <a:rPr sz="850" i="0">
                <a:solidFill>
                  <a:srgbClr val="E6EDF3"/>
                </a:solidFill>
                <a:latin typeface="Inconsolata"/>
              </a:rPr>
              <a:t> response.json()[</a:t>
            </a:r>
            <a:r>
              <a:rPr sz="850" i="0">
                <a:solidFill>
                  <a:srgbClr val="A5D6A7"/>
                </a:solidFill>
                <a:latin typeface="Inconsolata"/>
              </a:rPr>
              <a:t>"total"</a:t>
            </a:r>
            <a:r>
              <a:rPr sz="850" i="0">
                <a:solidFill>
                  <a:srgbClr val="E6EDF3"/>
                </a:solidFill>
                <a:latin typeface="Inconsolata"/>
              </a:rPr>
              <a:t>] == </a:t>
            </a:r>
            <a:r>
              <a:rPr sz="850" i="0">
                <a:solidFill>
                  <a:srgbClr val="F9C97A"/>
                </a:solidFill>
                <a:latin typeface="Inconsolata"/>
              </a:rPr>
              <a:t>190_000</a:t>
            </a:r>
          </a:p>
          <a:p>
            <a:pPr>
              <a:lnSpc>
                <a:spcPct val="107843"/>
              </a:lnSpc>
              <a:spcAft>
                <a:spcPts val="0"/>
              </a:spcAft>
            </a:pPr>
            <a:r>
              <a:rPr sz="850" i="0">
                <a:solidFill>
                  <a:srgbClr val="5C6773"/>
                </a:solidFill>
                <a:latin typeface="Inconsolata"/>
              </a:rPr>
              <a:t>27  </a:t>
            </a:r>
            <a:r>
              <a:rPr sz="850" i="0">
                <a:solidFill>
                  <a:srgbClr val="E6EDF3"/>
                </a:solidFill>
                <a:latin typeface="Inconsolata"/>
              </a:rPr>
              <a:t>    </a:t>
            </a:r>
            <a:r>
              <a:rPr sz="850" i="0">
                <a:solidFill>
                  <a:srgbClr val="FF8E6E"/>
                </a:solidFill>
                <a:latin typeface="Inconsolata"/>
              </a:rPr>
              <a:t>assert</a:t>
            </a:r>
            <a:r>
              <a:rPr sz="850" i="0">
                <a:solidFill>
                  <a:srgbClr val="E6EDF3"/>
                </a:solidFill>
                <a:latin typeface="Inconsolata"/>
              </a:rPr>
              <a:t> </a:t>
            </a:r>
            <a:r>
              <a:rPr sz="850" i="0">
                <a:solidFill>
                  <a:srgbClr val="C3A6FF"/>
                </a:solidFill>
                <a:latin typeface="Inconsolata"/>
              </a:rPr>
              <a:t>len</a:t>
            </a:r>
            <a:r>
              <a:rPr sz="850" i="0">
                <a:solidFill>
                  <a:srgbClr val="E6EDF3"/>
                </a:solidFill>
                <a:latin typeface="Inconsolata"/>
              </a:rPr>
              <a:t>(fake.rows) == </a:t>
            </a:r>
            <a:r>
              <a:rPr sz="850" i="0">
                <a:solidFill>
                  <a:srgbClr val="F9C97A"/>
                </a:solidFill>
                <a:latin typeface="Inconsolata"/>
              </a:rPr>
              <a:t>1</a:t>
            </a:r>
            <a:r>
              <a:rPr sz="850" i="0">
                <a:solidFill>
                  <a:srgbClr val="E6EDF3"/>
                </a:solidFill>
                <a:latin typeface="Inconsolata"/>
              </a:rPr>
              <a:t>  </a:t>
            </a:r>
            <a:r>
              <a:rPr sz="850" i="1">
                <a:solidFill>
                  <a:srgbClr val="8B98A8"/>
                </a:solidFill>
                <a:latin typeface="Inconsolata"/>
              </a:rPr>
              <a:t># tersimpan di fake, bukan di database</a:t>
            </a:r>
          </a:p>
          <a:p>
            <a:pPr>
              <a:lnSpc>
                <a:spcPct val="107843"/>
              </a:lnSpc>
              <a:spcAft>
                <a:spcPts val="0"/>
              </a:spcAft>
            </a:pPr>
            <a:r>
              <a:rPr sz="850" i="0">
                <a:solidFill>
                  <a:srgbClr val="5C6773"/>
                </a:solidFill>
                <a:latin typeface="Inconsolata"/>
              </a:rPr>
              <a:t>28  </a:t>
            </a:r>
            <a:r>
              <a:rPr sz="850" i="0">
                <a:solidFill>
                  <a:srgbClr val="E6EDF3"/>
                </a:solidFill>
                <a:latin typeface="Inconsolata"/>
              </a:rPr>
              <a:t>    app.dependency_overrides.clear()</a:t>
            </a:r>
          </a:p>
        </p:txBody>
      </p:sp>
      <p:sp>
        <p:nvSpPr>
          <p:cNvPr id="29" name="Box 12"/>
          <p:cNvSpPr/>
          <p:nvPr/>
        </p:nvSpPr>
        <p:spPr>
          <a:xfrm>
            <a:off x="704088" y="21080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8284463" y="20548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1" name="Box 14"/>
          <p:cNvSpPr/>
          <p:nvPr/>
        </p:nvSpPr>
        <p:spPr>
          <a:xfrm>
            <a:off x="704088" y="2946273"/>
            <a:ext cx="7699248" cy="410718"/>
          </a:xfrm>
          <a:prstGeom prst="roundRect">
            <a:avLst>
              <a:gd name="adj" fmla="val 11131"/>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8284463" y="30327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704088" y="3365373"/>
            <a:ext cx="7699248" cy="131318"/>
          </a:xfrm>
          <a:prstGeom prst="roundRect">
            <a:avLst>
              <a:gd name="adj" fmla="val 34816"/>
            </a:avLst>
          </a:prstGeom>
          <a:solidFill>
            <a:srgbClr val="2E7D5B">
              <a:alpha val="22000"/>
            </a:srgbClr>
          </a:solidFill>
          <a:ln w="12700">
            <a:solidFill>
              <a:srgbClr val="2E7D5B"/>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8284463" y="3312160"/>
            <a:ext cx="237744" cy="237744"/>
          </a:xfrm>
          <a:prstGeom prst="ellipse">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4</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Dependency Injection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Menjalankan 06-dependency-injection/test_after.py</a:t>
            </a:r>
          </a:p>
        </p:txBody>
      </p:sp>
      <p:sp>
        <p:nvSpPr>
          <p:cNvPr id="22" name="CodeTab 4"/>
          <p:cNvSpPr/>
          <p:nvPr/>
        </p:nvSpPr>
        <p:spPr>
          <a:xfrm>
            <a:off x="621792" y="1481328"/>
            <a:ext cx="429768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365760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cara menjalankan</a:t>
            </a:r>
          </a:p>
        </p:txBody>
      </p:sp>
      <p:sp>
        <p:nvSpPr>
          <p:cNvPr id="27" name="CodeBg 10"/>
          <p:cNvSpPr/>
          <p:nvPr/>
        </p:nvSpPr>
        <p:spPr>
          <a:xfrm>
            <a:off x="621792" y="1719072"/>
            <a:ext cx="4297680" cy="402335"/>
          </a:xfrm>
          <a:prstGeom prst="roundRect">
            <a:avLst>
              <a:gd name="adj" fmla="val 4545"/>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297680" cy="402335"/>
          </a:xfrm>
          <a:prstGeom prst="rect">
            <a:avLst/>
          </a:prstGeom>
          <a:noFill/>
        </p:spPr>
        <p:txBody>
          <a:bodyPr wrap="none" lIns="146304" tIns="91440" rIns="146304" bIns="54864">
            <a:spAutoFit/>
          </a:bodyPr>
          <a:lstStyle/>
          <a:p>
            <a:pPr>
              <a:lnSpc>
                <a:spcPct val="107527"/>
              </a:lnSpc>
              <a:spcAft>
                <a:spcPts val="0"/>
              </a:spcAft>
            </a:pPr>
            <a:r>
              <a:rPr sz="775" i="0">
                <a:solidFill>
                  <a:srgbClr val="82B1FF"/>
                </a:solidFill>
                <a:latin typeface="Inconsolata"/>
              </a:rPr>
              <a:t>$ cd sesi-02-solid-clean-architecture/06-dependency-injection</a:t>
            </a:r>
          </a:p>
          <a:p>
            <a:pPr>
              <a:lnSpc>
                <a:spcPct val="107527"/>
              </a:lnSpc>
              <a:spcAft>
                <a:spcPts val="0"/>
              </a:spcAft>
            </a:pPr>
            <a:r>
              <a:rPr sz="775" i="0">
                <a:solidFill>
                  <a:srgbClr val="82B1FF"/>
                </a:solidFill>
                <a:latin typeface="Inconsolata"/>
              </a:rPr>
              <a:t>$ pytest -v test_after.py</a:t>
            </a:r>
          </a:p>
        </p:txBody>
      </p:sp>
      <p:pic>
        <p:nvPicPr>
          <p:cNvPr id="29" name="Image 12" descr="s02-06-dependency-injection-test.png"/>
          <p:cNvPicPr>
            <a:picLocks noChangeAspect="1"/>
          </p:cNvPicPr>
          <p:nvPr/>
        </p:nvPicPr>
        <p:blipFill>
          <a:blip r:embed="rId2"/>
          <a:stretch>
            <a:fillRect/>
          </a:stretch>
        </p:blipFill>
        <p:spPr>
          <a:xfrm>
            <a:off x="621792" y="2240280"/>
            <a:ext cx="4297680" cy="2020824"/>
          </a:xfrm>
          <a:prstGeom prst="rect">
            <a:avLst/>
          </a:prstGeom>
        </p:spPr>
      </p:pic>
      <p:sp>
        <p:nvSpPr>
          <p:cNvPr id="30" name="Box 13"/>
          <p:cNvSpPr/>
          <p:nvPr/>
        </p:nvSpPr>
        <p:spPr>
          <a:xfrm>
            <a:off x="5074920" y="1481328"/>
            <a:ext cx="3410712"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Text 14"/>
          <p:cNvSpPr txBox="1"/>
          <p:nvPr/>
        </p:nvSpPr>
        <p:spPr>
          <a:xfrm>
            <a:off x="5212080" y="1572768"/>
            <a:ext cx="3136392"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Perbaikannya</a:t>
            </a:r>
          </a:p>
        </p:txBody>
      </p:sp>
      <p:sp>
        <p:nvSpPr>
          <p:cNvPr id="32" name="Text 15"/>
          <p:cNvSpPr txBox="1"/>
          <p:nvPr/>
        </p:nvSpPr>
        <p:spPr>
          <a:xfrm>
            <a:off x="5212080" y="1892808"/>
            <a:ext cx="3136392" cy="1410194"/>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50" b="0" i="0" dirty="0">
                <a:solidFill>
                  <a:srgbClr val="434343"/>
                </a:solidFill>
                <a:latin typeface="Inter"/>
              </a:rPr>
              <a:t>Repository </a:t>
            </a:r>
            <a:r>
              <a:rPr lang="en-US" sz="950" dirty="0">
                <a:solidFill>
                  <a:srgbClr val="434343"/>
                </a:solidFill>
                <a:latin typeface="Inter"/>
              </a:rPr>
              <a:t>fake</a:t>
            </a:r>
            <a:r>
              <a:rPr sz="950" b="0" i="0" dirty="0">
                <a:solidFill>
                  <a:srgbClr val="434343"/>
                </a:solidFill>
                <a:latin typeface="Inter"/>
              </a:rPr>
              <a:t>: </a:t>
            </a:r>
            <a:r>
              <a:rPr sz="950" b="0" i="0" dirty="0" err="1">
                <a:solidFill>
                  <a:srgbClr val="434343"/>
                </a:solidFill>
                <a:latin typeface="Inter"/>
              </a:rPr>
              <a:t>menyimpan</a:t>
            </a:r>
            <a:r>
              <a:rPr sz="950" b="0" i="0" dirty="0">
                <a:solidFill>
                  <a:srgbClr val="434343"/>
                </a:solidFill>
                <a:latin typeface="Inter"/>
              </a:rPr>
              <a:t> order di list (baris 7-14)</a:t>
            </a:r>
          </a:p>
          <a:p>
            <a:pPr marL="182880" indent="-182880" algn="l">
              <a:lnSpc>
                <a:spcPct val="115000"/>
              </a:lnSpc>
              <a:spcAft>
                <a:spcPts val="400"/>
              </a:spcAft>
              <a:buClr>
                <a:srgbClr val="E0764F"/>
              </a:buClr>
              <a:buSzPct val="100000"/>
              <a:buFont typeface="+mj-lt"/>
              <a:buAutoNum type="arabicPeriod"/>
            </a:pPr>
            <a:r>
              <a:rPr sz="950" b="0" i="0" dirty="0" err="1">
                <a:solidFill>
                  <a:srgbClr val="B5482A"/>
                </a:solidFill>
                <a:latin typeface="Inconsolata"/>
              </a:rPr>
              <a:t>get_repository</a:t>
            </a:r>
            <a:r>
              <a:rPr sz="950" b="0" i="0" dirty="0">
                <a:solidFill>
                  <a:srgbClr val="434343"/>
                </a:solidFill>
                <a:latin typeface="Inter"/>
              </a:rPr>
              <a:t> </a:t>
            </a:r>
            <a:r>
              <a:rPr sz="950" b="0" i="0" dirty="0" err="1">
                <a:solidFill>
                  <a:srgbClr val="434343"/>
                </a:solidFill>
                <a:latin typeface="Inter"/>
              </a:rPr>
              <a:t>diganti</a:t>
            </a:r>
            <a:r>
              <a:rPr sz="950" b="0" i="0" dirty="0">
                <a:solidFill>
                  <a:srgbClr val="434343"/>
                </a:solidFill>
                <a:latin typeface="Inter"/>
              </a:rPr>
              <a:t> fake </a:t>
            </a:r>
            <a:r>
              <a:rPr sz="950" b="0" i="0" dirty="0" err="1">
                <a:solidFill>
                  <a:srgbClr val="434343"/>
                </a:solidFill>
                <a:latin typeface="Inter"/>
              </a:rPr>
              <a:t>lewat</a:t>
            </a:r>
            <a:r>
              <a:rPr sz="950" b="0" i="0" dirty="0">
                <a:solidFill>
                  <a:srgbClr val="434343"/>
                </a:solidFill>
                <a:latin typeface="Inter"/>
              </a:rPr>
              <a:t> </a:t>
            </a:r>
            <a:r>
              <a:rPr sz="950" b="0" i="0" dirty="0" err="1">
                <a:solidFill>
                  <a:srgbClr val="B5482A"/>
                </a:solidFill>
                <a:latin typeface="Inconsolata"/>
              </a:rPr>
              <a:t>dependency_overrides</a:t>
            </a:r>
            <a:r>
              <a:rPr sz="950" b="0" i="0" dirty="0">
                <a:solidFill>
                  <a:srgbClr val="434343"/>
                </a:solidFill>
                <a:latin typeface="Inter"/>
              </a:rPr>
              <a:t> (baris 19)</a:t>
            </a:r>
          </a:p>
          <a:p>
            <a:pPr marL="182880" indent="-182880" algn="l">
              <a:lnSpc>
                <a:spcPct val="115000"/>
              </a:lnSpc>
              <a:spcAft>
                <a:spcPts val="400"/>
              </a:spcAft>
              <a:buClr>
                <a:srgbClr val="E0764F"/>
              </a:buClr>
              <a:buSzPct val="100000"/>
              <a:buFont typeface="+mj-lt"/>
              <a:buAutoNum type="arabicPeriod"/>
            </a:pPr>
            <a:r>
              <a:rPr sz="950" b="0" i="0" dirty="0" err="1">
                <a:solidFill>
                  <a:srgbClr val="434343"/>
                </a:solidFill>
                <a:latin typeface="Inter"/>
              </a:rPr>
              <a:t>Hasilnya</a:t>
            </a:r>
            <a:r>
              <a:rPr sz="950" b="0" i="0" dirty="0">
                <a:solidFill>
                  <a:srgbClr val="434343"/>
                </a:solidFill>
                <a:latin typeface="Inter"/>
              </a:rPr>
              <a:t> </a:t>
            </a:r>
            <a:r>
              <a:rPr sz="950" b="0" i="0" dirty="0" err="1">
                <a:solidFill>
                  <a:srgbClr val="434343"/>
                </a:solidFill>
                <a:latin typeface="Inter"/>
              </a:rPr>
              <a:t>dicek</a:t>
            </a:r>
            <a:r>
              <a:rPr sz="950" b="0" i="0" dirty="0">
                <a:solidFill>
                  <a:srgbClr val="434343"/>
                </a:solidFill>
                <a:latin typeface="Inter"/>
              </a:rPr>
              <a:t>, dan order </a:t>
            </a:r>
            <a:r>
              <a:rPr sz="950" b="0" i="0" dirty="0" err="1">
                <a:solidFill>
                  <a:srgbClr val="434343"/>
                </a:solidFill>
                <a:latin typeface="Inter"/>
              </a:rPr>
              <a:t>tersimpan</a:t>
            </a:r>
            <a:r>
              <a:rPr sz="950" b="0" i="0" dirty="0">
                <a:solidFill>
                  <a:srgbClr val="434343"/>
                </a:solidFill>
                <a:latin typeface="Inter"/>
              </a:rPr>
              <a:t> di fake, </a:t>
            </a:r>
            <a:r>
              <a:rPr sz="950" b="0" i="0" dirty="0" err="1">
                <a:solidFill>
                  <a:srgbClr val="434343"/>
                </a:solidFill>
                <a:latin typeface="Inter"/>
              </a:rPr>
              <a:t>bukan</a:t>
            </a:r>
            <a:r>
              <a:rPr sz="950" b="0" i="0" dirty="0">
                <a:solidFill>
                  <a:srgbClr val="434343"/>
                </a:solidFill>
                <a:latin typeface="Inter"/>
              </a:rPr>
              <a:t> di </a:t>
            </a:r>
            <a:r>
              <a:rPr sz="950" b="0" i="0" dirty="0" err="1">
                <a:solidFill>
                  <a:srgbClr val="B5482A"/>
                </a:solidFill>
                <a:latin typeface="Inconsolata"/>
              </a:rPr>
              <a:t>orders.db</a:t>
            </a:r>
            <a:r>
              <a:rPr sz="950" b="0" i="0" dirty="0">
                <a:solidFill>
                  <a:srgbClr val="434343"/>
                </a:solidFill>
                <a:latin typeface="Inter"/>
              </a:rPr>
              <a:t> (baris 25-27)</a:t>
            </a:r>
          </a:p>
          <a:p>
            <a:pPr marL="182880" indent="-182880" algn="l">
              <a:lnSpc>
                <a:spcPct val="115000"/>
              </a:lnSpc>
              <a:spcAft>
                <a:spcPts val="400"/>
              </a:spcAft>
              <a:buClr>
                <a:srgbClr val="E0764F"/>
              </a:buClr>
              <a:buSzPct val="100000"/>
              <a:buFont typeface="+mj-lt"/>
              <a:buAutoNum type="arabicPeriod"/>
            </a:pPr>
            <a:r>
              <a:rPr sz="950" b="0" i="0" dirty="0">
                <a:solidFill>
                  <a:srgbClr val="434343"/>
                </a:solidFill>
                <a:latin typeface="Inter"/>
              </a:rPr>
              <a:t>Override </a:t>
            </a:r>
            <a:r>
              <a:rPr sz="950" b="0" i="0" dirty="0" err="1">
                <a:solidFill>
                  <a:srgbClr val="434343"/>
                </a:solidFill>
                <a:latin typeface="Inter"/>
              </a:rPr>
              <a:t>dibersihkan</a:t>
            </a:r>
            <a:r>
              <a:rPr sz="950" b="0" i="0" dirty="0">
                <a:solidFill>
                  <a:srgbClr val="434343"/>
                </a:solidFill>
                <a:latin typeface="Inter"/>
              </a:rPr>
              <a:t> </a:t>
            </a:r>
            <a:r>
              <a:rPr sz="950" b="0" i="0" dirty="0" err="1">
                <a:solidFill>
                  <a:srgbClr val="434343"/>
                </a:solidFill>
                <a:latin typeface="Inter"/>
              </a:rPr>
              <a:t>setelah</a:t>
            </a:r>
            <a:r>
              <a:rPr sz="950" b="0" i="0" dirty="0">
                <a:solidFill>
                  <a:srgbClr val="434343"/>
                </a:solidFill>
                <a:latin typeface="Inter"/>
              </a:rPr>
              <a:t> test (baris 28)</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61</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04</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Hands-on: Redesign Struktur Project</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bersama mentor, langkah demi langkah. Hasil Sesi 1 dipecah per layer.</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Kondisi Awal</a:t>
            </a:r>
          </a:p>
        </p:txBody>
      </p:sp>
      <p:sp>
        <p:nvSpPr>
          <p:cNvPr id="21" name="Text 2"/>
          <p:cNvSpPr txBox="1"/>
          <p:nvPr/>
        </p:nvSpPr>
        <p:spPr>
          <a:xfrm>
            <a:off x="621792" y="969264"/>
            <a:ext cx="7863840" cy="530338"/>
          </a:xfrm>
          <a:prstGeom prst="rect">
            <a:avLst/>
          </a:prstGeom>
          <a:noFill/>
        </p:spPr>
        <p:txBody>
          <a:bodyPr wrap="square" tIns="91440" bIns="91440" anchor="t">
            <a:spAutoFit/>
          </a:bodyPr>
          <a:lstStyle/>
          <a:p>
            <a:pPr algn="l">
              <a:lnSpc>
                <a:spcPct val="115000"/>
              </a:lnSpc>
              <a:spcAft>
                <a:spcPts val="400"/>
              </a:spcAft>
            </a:pPr>
            <a:r>
              <a:rPr sz="2100" b="0" i="0" dirty="0">
                <a:solidFill>
                  <a:srgbClr val="1C4587"/>
                </a:solidFill>
                <a:latin typeface="Work Sans ExtraBold"/>
              </a:rPr>
              <a:t>Hasil Sesi 1</a:t>
            </a:r>
          </a:p>
        </p:txBody>
      </p:sp>
      <p:sp>
        <p:nvSpPr>
          <p:cNvPr id="22" name="CodeTab 4"/>
          <p:cNvSpPr/>
          <p:nvPr/>
        </p:nvSpPr>
        <p:spPr>
          <a:xfrm>
            <a:off x="621792" y="1481328"/>
            <a:ext cx="32918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265176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07-clean-architecture</a:t>
            </a:r>
          </a:p>
        </p:txBody>
      </p:sp>
      <p:sp>
        <p:nvSpPr>
          <p:cNvPr id="27" name="CodeBg 10"/>
          <p:cNvSpPr/>
          <p:nvPr/>
        </p:nvSpPr>
        <p:spPr>
          <a:xfrm>
            <a:off x="621792" y="1719072"/>
            <a:ext cx="3291840" cy="2048256"/>
          </a:xfrm>
          <a:prstGeom prst="roundRect">
            <a:avLst>
              <a:gd name="adj" fmla="val 89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3291840" cy="2048256"/>
          </a:xfrm>
          <a:prstGeom prst="rect">
            <a:avLst/>
          </a:prstGeom>
          <a:noFill/>
        </p:spPr>
        <p:txBody>
          <a:bodyPr wrap="none" lIns="146304" tIns="91440" rIns="146304" bIns="54864">
            <a:spAutoFit/>
          </a:bodyPr>
          <a:lstStyle/>
          <a:p>
            <a:pPr>
              <a:lnSpc>
                <a:spcPct val="108333"/>
              </a:lnSpc>
              <a:spcAft>
                <a:spcPts val="0"/>
              </a:spcAft>
            </a:pPr>
            <a:r>
              <a:rPr sz="1000" i="0">
                <a:solidFill>
                  <a:srgbClr val="E6EDF3"/>
                </a:solidFill>
                <a:latin typeface="Inconsolata"/>
              </a:rPr>
              <a:t>before/</a:t>
            </a:r>
          </a:p>
          <a:p>
            <a:pPr>
              <a:lnSpc>
                <a:spcPct val="108333"/>
              </a:lnSpc>
              <a:spcAft>
                <a:spcPts val="0"/>
              </a:spcAft>
            </a:pPr>
            <a:r>
              <a:rPr sz="1000" i="0">
                <a:solidFill>
                  <a:srgbClr val="E6EDF3"/>
                </a:solidFill>
                <a:latin typeface="Inconsolata"/>
              </a:rPr>
              <a:t>  main.py</a:t>
            </a:r>
          </a:p>
          <a:p>
            <a:pPr>
              <a:lnSpc>
                <a:spcPct val="108333"/>
              </a:lnSpc>
              <a:spcAft>
                <a:spcPts val="0"/>
              </a:spcAft>
            </a:pPr>
            <a:r>
              <a:rPr sz="1000" i="0">
                <a:solidFill>
                  <a:srgbClr val="E6EDF3"/>
                </a:solidFill>
                <a:latin typeface="Inconsolata"/>
              </a:rPr>
              <a:t>  config.py</a:t>
            </a:r>
          </a:p>
          <a:p>
            <a:pPr>
              <a:lnSpc>
                <a:spcPct val="108333"/>
              </a:lnSpc>
              <a:spcAft>
                <a:spcPts val="0"/>
              </a:spcAft>
            </a:pPr>
            <a:r>
              <a:rPr sz="1000" i="0">
                <a:solidFill>
                  <a:srgbClr val="E6EDF3"/>
                </a:solidFill>
                <a:latin typeface="Inconsolata"/>
              </a:rPr>
              <a:t>  notifiers.py</a:t>
            </a:r>
          </a:p>
          <a:p>
            <a:pPr>
              <a:lnSpc>
                <a:spcPct val="108333"/>
              </a:lnSpc>
              <a:spcAft>
                <a:spcPts val="0"/>
              </a:spcAft>
            </a:pPr>
            <a:r>
              <a:rPr sz="1000" i="0">
                <a:solidFill>
                  <a:srgbClr val="E6EDF3"/>
                </a:solidFill>
                <a:latin typeface="Inconsolata"/>
              </a:rPr>
              <a:t>  discounts.py</a:t>
            </a:r>
          </a:p>
          <a:p>
            <a:pPr>
              <a:lnSpc>
                <a:spcPct val="108333"/>
              </a:lnSpc>
              <a:spcAft>
                <a:spcPts val="0"/>
              </a:spcAft>
            </a:pPr>
            <a:r>
              <a:rPr sz="1000" i="0">
                <a:solidFill>
                  <a:srgbClr val="E6EDF3"/>
                </a:solidFill>
                <a:latin typeface="Inconsolata"/>
              </a:rPr>
              <a:t>  repository.py</a:t>
            </a:r>
          </a:p>
          <a:p>
            <a:pPr>
              <a:lnSpc>
                <a:spcPct val="108333"/>
              </a:lnSpc>
              <a:spcAft>
                <a:spcPts val="0"/>
              </a:spcAft>
            </a:pPr>
            <a:r>
              <a:rPr sz="1000" i="0">
                <a:solidFill>
                  <a:srgbClr val="E6EDF3"/>
                </a:solidFill>
                <a:latin typeface="Inconsolata"/>
              </a:rPr>
              <a:t>  service.py</a:t>
            </a:r>
          </a:p>
          <a:p>
            <a:pPr>
              <a:lnSpc>
                <a:spcPct val="108333"/>
              </a:lnSpc>
              <a:spcAft>
                <a:spcPts val="0"/>
              </a:spcAft>
            </a:pPr>
            <a:r>
              <a:rPr sz="1000" i="0">
                <a:solidFill>
                  <a:srgbClr val="E6EDF3"/>
                </a:solidFill>
                <a:latin typeface="Inconsolata"/>
              </a:rPr>
              <a:t>  test_service.py</a:t>
            </a:r>
          </a:p>
        </p:txBody>
      </p:sp>
      <p:sp>
        <p:nvSpPr>
          <p:cNvPr id="29" name="Box 12"/>
          <p:cNvSpPr/>
          <p:nvPr/>
        </p:nvSpPr>
        <p:spPr>
          <a:xfrm>
            <a:off x="4114800" y="1481328"/>
            <a:ext cx="4370832" cy="3218688"/>
          </a:xfrm>
          <a:prstGeom prst="roundRect">
            <a:avLst>
              <a:gd name="adj" fmla="val 3409"/>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4251960" y="1572768"/>
            <a:ext cx="4096512" cy="310896"/>
          </a:xfrm>
          <a:prstGeom prst="rect">
            <a:avLst/>
          </a:prstGeom>
          <a:noFill/>
        </p:spPr>
        <p:txBody>
          <a:bodyPr wrap="square" lIns="45720" rIns="45720" anchor="t">
            <a:spAutoFit/>
          </a:bodyPr>
          <a:lstStyle/>
          <a:p>
            <a:pPr algn="l">
              <a:lnSpc>
                <a:spcPct val="115000"/>
              </a:lnSpc>
              <a:spcAft>
                <a:spcPts val="400"/>
              </a:spcAft>
            </a:pPr>
            <a:r>
              <a:rPr sz="1200" b="1" i="0">
                <a:solidFill>
                  <a:srgbClr val="C0392B"/>
                </a:solidFill>
                <a:latin typeface="Inter"/>
              </a:rPr>
              <a:t>Yang masih jadi masalah</a:t>
            </a:r>
          </a:p>
        </p:txBody>
      </p:sp>
      <p:sp>
        <p:nvSpPr>
          <p:cNvPr id="31" name="Text 14"/>
          <p:cNvSpPr txBox="1"/>
          <p:nvPr/>
        </p:nvSpPr>
        <p:spPr>
          <a:xfrm>
            <a:off x="4251960" y="1892808"/>
            <a:ext cx="4096512"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1050" b="0" i="0">
                <a:solidFill>
                  <a:srgbClr val="434343"/>
                </a:solidFill>
                <a:latin typeface="Inter"/>
              </a:rPr>
              <a:t>Semua file sejajar, tidak jelas mana </a:t>
            </a:r>
            <a:r>
              <a:rPr sz="1050" b="1" i="0">
                <a:solidFill>
                  <a:srgbClr val="434343"/>
                </a:solidFill>
                <a:latin typeface="Inter"/>
              </a:rPr>
              <a:t>inti bisnis</a:t>
            </a:r>
            <a:r>
              <a:rPr sz="1050" b="0" i="0">
                <a:solidFill>
                  <a:srgbClr val="434343"/>
                </a:solidFill>
                <a:latin typeface="Inter"/>
              </a:rPr>
              <a:t> dan mana </a:t>
            </a:r>
            <a:r>
              <a:rPr sz="1050" b="1" i="0">
                <a:solidFill>
                  <a:srgbClr val="434343"/>
                </a:solidFill>
                <a:latin typeface="Inter"/>
              </a:rPr>
              <a:t>detail teknis</a:t>
            </a:r>
          </a:p>
          <a:p>
            <a:pPr marL="182880" indent="-182880" algn="l">
              <a:lnSpc>
                <a:spcPct val="115000"/>
              </a:lnSpc>
              <a:spcAft>
                <a:spcPts val="400"/>
              </a:spcAft>
              <a:buClr>
                <a:srgbClr val="E0764F"/>
              </a:buClr>
              <a:buSzPct val="100000"/>
              <a:buFont typeface="Arial"/>
              <a:buChar char="•"/>
            </a:pPr>
            <a:r>
              <a:rPr sz="1050" b="0" i="0">
                <a:solidFill>
                  <a:srgbClr val="434343"/>
                </a:solidFill>
                <a:latin typeface="Inter"/>
              </a:rPr>
              <a:t>Tidak ada aturan siapa boleh import siapa</a:t>
            </a:r>
          </a:p>
          <a:p>
            <a:pPr marL="182880" indent="-182880" algn="l">
              <a:lnSpc>
                <a:spcPct val="115000"/>
              </a:lnSpc>
              <a:spcAft>
                <a:spcPts val="400"/>
              </a:spcAft>
              <a:buClr>
                <a:srgbClr val="E0764F"/>
              </a:buClr>
              <a:buSzPct val="100000"/>
              <a:buFont typeface="Arial"/>
              <a:buChar char="•"/>
            </a:pPr>
            <a:r>
              <a:rPr sz="1050" b="0" i="0">
                <a:solidFill>
                  <a:srgbClr val="434343"/>
                </a:solidFill>
                <a:latin typeface="Inter"/>
              </a:rPr>
              <a:t>Test API masih menulis ke database asli</a:t>
            </a:r>
          </a:p>
          <a:p>
            <a:pPr marL="182880" indent="-182880" algn="l">
              <a:lnSpc>
                <a:spcPct val="115000"/>
              </a:lnSpc>
              <a:spcAft>
                <a:spcPts val="400"/>
              </a:spcAft>
              <a:buClr>
                <a:srgbClr val="E0764F"/>
              </a:buClr>
              <a:buSzPct val="100000"/>
              <a:buFont typeface="Arial"/>
              <a:buChar char="•"/>
            </a:pPr>
            <a:r>
              <a:rPr sz="1050" b="0" i="0">
                <a:solidFill>
                  <a:srgbClr val="434343"/>
                </a:solidFill>
                <a:latin typeface="Inter"/>
              </a:rPr>
              <a:t>Alasan di balik desain ini dijelaskan lewat prinsip </a:t>
            </a:r>
            <a:r>
              <a:rPr sz="1050" b="1" i="0">
                <a:solidFill>
                  <a:srgbClr val="434343"/>
                </a:solidFill>
                <a:latin typeface="Inter"/>
              </a:rPr>
              <a:t>SOLID</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mulai dari 07-clean-architecture/before/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Tujuan &amp; Kriteria Selesai</a:t>
            </a:r>
          </a:p>
        </p:txBody>
      </p:sp>
      <p:sp>
        <p:nvSpPr>
          <p:cNvPr id="22" name="Box 3"/>
          <p:cNvSpPr/>
          <p:nvPr/>
        </p:nvSpPr>
        <p:spPr>
          <a:xfrm>
            <a:off x="621792" y="1481328"/>
            <a:ext cx="3840480" cy="3218688"/>
          </a:xfrm>
          <a:prstGeom prst="roundRect">
            <a:avLst>
              <a:gd name="adj" fmla="val 3409"/>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566160"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Kriteria selesai</a:t>
            </a:r>
          </a:p>
        </p:txBody>
      </p:sp>
      <p:sp>
        <p:nvSpPr>
          <p:cNvPr id="24" name="Text 5"/>
          <p:cNvSpPr txBox="1"/>
          <p:nvPr/>
        </p:nvSpPr>
        <p:spPr>
          <a:xfrm>
            <a:off x="758952" y="1892808"/>
            <a:ext cx="356616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1000" b="0" i="0">
                <a:solidFill>
                  <a:srgbClr val="B5482A"/>
                </a:solidFill>
                <a:latin typeface="Inconsolata"/>
              </a:rPr>
              <a:t>POST /orders</a:t>
            </a:r>
            <a:r>
              <a:rPr sz="1000" b="0" i="0">
                <a:solidFill>
                  <a:srgbClr val="434343"/>
                </a:solidFill>
                <a:latin typeface="Inter"/>
              </a:rPr>
              <a:t> dan </a:t>
            </a:r>
            <a:r>
              <a:rPr sz="1000" b="0" i="0">
                <a:solidFill>
                  <a:srgbClr val="B5482A"/>
                </a:solidFill>
                <a:latin typeface="Inconsolata"/>
              </a:rPr>
              <a:t>GET /orders/{id}</a:t>
            </a:r>
            <a:r>
              <a:rPr sz="1000" b="0" i="0">
                <a:solidFill>
                  <a:srgbClr val="434343"/>
                </a:solidFill>
                <a:latin typeface="Inter"/>
              </a:rPr>
              <a:t> tetap jalan</a:t>
            </a:r>
          </a:p>
          <a:p>
            <a:pPr marL="182880" indent="-182880" algn="l">
              <a:lnSpc>
                <a:spcPct val="115000"/>
              </a:lnSpc>
              <a:spcAft>
                <a:spcPts val="400"/>
              </a:spcAft>
              <a:buClr>
                <a:srgbClr val="E0764F"/>
              </a:buClr>
              <a:buSzPct val="100000"/>
              <a:buFont typeface="Arial"/>
              <a:buChar char="•"/>
            </a:pPr>
            <a:r>
              <a:rPr sz="1000" b="0" i="0">
                <a:solidFill>
                  <a:srgbClr val="434343"/>
                </a:solidFill>
                <a:latin typeface="Inter"/>
              </a:rPr>
              <a:t>Kode dipecah ke </a:t>
            </a:r>
            <a:r>
              <a:rPr sz="1000" b="0" i="0">
                <a:solidFill>
                  <a:srgbClr val="B5482A"/>
                </a:solidFill>
                <a:latin typeface="Inconsolata"/>
              </a:rPr>
              <a:t>domain</a:t>
            </a:r>
            <a:r>
              <a:rPr sz="1000" b="0" i="0">
                <a:solidFill>
                  <a:srgbClr val="434343"/>
                </a:solidFill>
                <a:latin typeface="Inter"/>
              </a:rPr>
              <a:t>, </a:t>
            </a:r>
            <a:r>
              <a:rPr sz="1000" b="0" i="0">
                <a:solidFill>
                  <a:srgbClr val="B5482A"/>
                </a:solidFill>
                <a:latin typeface="Inconsolata"/>
              </a:rPr>
              <a:t>application</a:t>
            </a:r>
            <a:r>
              <a:rPr sz="1000" b="0" i="0">
                <a:solidFill>
                  <a:srgbClr val="434343"/>
                </a:solidFill>
                <a:latin typeface="Inter"/>
              </a:rPr>
              <a:t>, </a:t>
            </a:r>
            <a:r>
              <a:rPr sz="1000" b="0" i="0">
                <a:solidFill>
                  <a:srgbClr val="B5482A"/>
                </a:solidFill>
                <a:latin typeface="Inconsolata"/>
              </a:rPr>
              <a:t>infrastructure</a:t>
            </a:r>
            <a:r>
              <a:rPr sz="1000" b="0" i="0">
                <a:solidFill>
                  <a:srgbClr val="434343"/>
                </a:solidFill>
                <a:latin typeface="Inter"/>
              </a:rPr>
              <a:t>, </a:t>
            </a:r>
            <a:r>
              <a:rPr sz="1000" b="0" i="0">
                <a:solidFill>
                  <a:srgbClr val="B5482A"/>
                </a:solidFill>
                <a:latin typeface="Inconsolata"/>
              </a:rPr>
              <a:t>api</a:t>
            </a:r>
          </a:p>
          <a:p>
            <a:pPr marL="182880" indent="-182880" algn="l">
              <a:lnSpc>
                <a:spcPct val="115000"/>
              </a:lnSpc>
              <a:spcAft>
                <a:spcPts val="400"/>
              </a:spcAft>
              <a:buClr>
                <a:srgbClr val="E0764F"/>
              </a:buClr>
              <a:buSzPct val="100000"/>
              <a:buFont typeface="Arial"/>
              <a:buChar char="•"/>
            </a:pPr>
            <a:r>
              <a:rPr sz="1000" b="0" i="0">
                <a:solidFill>
                  <a:srgbClr val="B5482A"/>
                </a:solidFill>
                <a:latin typeface="Inconsolata"/>
              </a:rPr>
              <a:t>domain/</a:t>
            </a:r>
            <a:r>
              <a:rPr sz="1000" b="0" i="0">
                <a:solidFill>
                  <a:srgbClr val="434343"/>
                </a:solidFill>
                <a:latin typeface="Inter"/>
              </a:rPr>
              <a:t> dan </a:t>
            </a:r>
            <a:r>
              <a:rPr sz="1000" b="0" i="0">
                <a:solidFill>
                  <a:srgbClr val="B5482A"/>
                </a:solidFill>
                <a:latin typeface="Inconsolata"/>
              </a:rPr>
              <a:t>application/</a:t>
            </a:r>
            <a:r>
              <a:rPr sz="1000" b="0" i="0">
                <a:solidFill>
                  <a:srgbClr val="434343"/>
                </a:solidFill>
                <a:latin typeface="Inter"/>
              </a:rPr>
              <a:t> tidak import </a:t>
            </a:r>
            <a:r>
              <a:rPr sz="1000" b="0" i="0">
                <a:solidFill>
                  <a:srgbClr val="B5482A"/>
                </a:solidFill>
                <a:latin typeface="Inconsolata"/>
              </a:rPr>
              <a:t>fastapi</a:t>
            </a:r>
            <a:r>
              <a:rPr sz="1000" b="0" i="0">
                <a:solidFill>
                  <a:srgbClr val="434343"/>
                </a:solidFill>
                <a:latin typeface="Inter"/>
              </a:rPr>
              <a:t> maupun </a:t>
            </a:r>
            <a:r>
              <a:rPr sz="1000" b="0" i="0">
                <a:solidFill>
                  <a:srgbClr val="B5482A"/>
                </a:solidFill>
                <a:latin typeface="Inconsolata"/>
              </a:rPr>
              <a:t>sqlite3</a:t>
            </a:r>
          </a:p>
          <a:p>
            <a:pPr marL="182880" indent="-182880" algn="l">
              <a:lnSpc>
                <a:spcPct val="115000"/>
              </a:lnSpc>
              <a:spcAft>
                <a:spcPts val="400"/>
              </a:spcAft>
              <a:buClr>
                <a:srgbClr val="E0764F"/>
              </a:buClr>
              <a:buSzPct val="100000"/>
              <a:buFont typeface="Arial"/>
              <a:buChar char="•"/>
            </a:pPr>
            <a:r>
              <a:rPr sz="1000" b="0" i="0">
                <a:solidFill>
                  <a:srgbClr val="434343"/>
                </a:solidFill>
                <a:latin typeface="Inter"/>
              </a:rPr>
              <a:t>Dependency disiapkan lewat </a:t>
            </a:r>
            <a:r>
              <a:rPr sz="1000" b="0" i="0">
                <a:solidFill>
                  <a:srgbClr val="B5482A"/>
                </a:solidFill>
                <a:latin typeface="Inconsolata"/>
              </a:rPr>
              <a:t>Depends</a:t>
            </a:r>
            <a:r>
              <a:rPr sz="1000" b="0" i="0">
                <a:solidFill>
                  <a:srgbClr val="434343"/>
                </a:solidFill>
                <a:latin typeface="Inter"/>
              </a:rPr>
              <a:t> di </a:t>
            </a:r>
            <a:r>
              <a:rPr sz="1000" b="0" i="0">
                <a:solidFill>
                  <a:srgbClr val="B5482A"/>
                </a:solidFill>
                <a:latin typeface="Inconsolata"/>
              </a:rPr>
              <a:t>api/dependencies.py</a:t>
            </a:r>
          </a:p>
          <a:p>
            <a:pPr marL="182880" indent="-182880" algn="l">
              <a:lnSpc>
                <a:spcPct val="115000"/>
              </a:lnSpc>
              <a:spcAft>
                <a:spcPts val="400"/>
              </a:spcAft>
              <a:buClr>
                <a:srgbClr val="E0764F"/>
              </a:buClr>
              <a:buSzPct val="100000"/>
              <a:buFont typeface="Arial"/>
              <a:buChar char="•"/>
            </a:pPr>
            <a:r>
              <a:rPr sz="1000" b="0" i="0">
                <a:solidFill>
                  <a:srgbClr val="434343"/>
                </a:solidFill>
                <a:latin typeface="Inter"/>
              </a:rPr>
              <a:t>Unit test dan test API pakai fake repository, </a:t>
            </a:r>
            <a:r>
              <a:rPr sz="1000" b="0" i="0">
                <a:solidFill>
                  <a:srgbClr val="B5482A"/>
                </a:solidFill>
                <a:latin typeface="Inconsolata"/>
              </a:rPr>
              <a:t>pytest</a:t>
            </a:r>
            <a:r>
              <a:rPr sz="1000" b="0" i="0">
                <a:solidFill>
                  <a:srgbClr val="434343"/>
                </a:solidFill>
                <a:latin typeface="Inter"/>
              </a:rPr>
              <a:t> hijau</a:t>
            </a:r>
          </a:p>
        </p:txBody>
      </p:sp>
      <p:sp>
        <p:nvSpPr>
          <p:cNvPr id="25" name="CodeTab 7"/>
          <p:cNvSpPr/>
          <p:nvPr/>
        </p:nvSpPr>
        <p:spPr>
          <a:xfrm>
            <a:off x="4617720" y="1481328"/>
            <a:ext cx="386791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Dot 8"/>
          <p:cNvSpPr/>
          <p:nvPr/>
        </p:nvSpPr>
        <p:spPr>
          <a:xfrm>
            <a:off x="472744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t 9"/>
          <p:cNvSpPr/>
          <p:nvPr/>
        </p:nvSpPr>
        <p:spPr>
          <a:xfrm>
            <a:off x="486460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t 10"/>
          <p:cNvSpPr/>
          <p:nvPr/>
        </p:nvSpPr>
        <p:spPr>
          <a:xfrm>
            <a:off x="500176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 11"/>
          <p:cNvSpPr txBox="1"/>
          <p:nvPr/>
        </p:nvSpPr>
        <p:spPr>
          <a:xfrm>
            <a:off x="5166359" y="1490472"/>
            <a:ext cx="322783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target struktur</a:t>
            </a:r>
          </a:p>
        </p:txBody>
      </p:sp>
      <p:sp>
        <p:nvSpPr>
          <p:cNvPr id="30" name="CodeBg 13"/>
          <p:cNvSpPr/>
          <p:nvPr/>
        </p:nvSpPr>
        <p:spPr>
          <a:xfrm>
            <a:off x="4617720" y="1719072"/>
            <a:ext cx="386791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1" name="Code 14"/>
          <p:cNvSpPr txBox="1"/>
          <p:nvPr/>
        </p:nvSpPr>
        <p:spPr>
          <a:xfrm>
            <a:off x="4617720" y="1719072"/>
            <a:ext cx="3867912" cy="2980944"/>
          </a:xfrm>
          <a:prstGeom prst="rect">
            <a:avLst/>
          </a:prstGeom>
          <a:noFill/>
        </p:spPr>
        <p:txBody>
          <a:bodyPr wrap="none" lIns="146304" tIns="91440" rIns="146304" bIns="54864">
            <a:spAutoFit/>
          </a:bodyPr>
          <a:lstStyle/>
          <a:p>
            <a:pPr>
              <a:lnSpc>
                <a:spcPct val="105263"/>
              </a:lnSpc>
              <a:spcAft>
                <a:spcPts val="0"/>
              </a:spcAft>
            </a:pPr>
            <a:r>
              <a:rPr sz="950" i="0">
                <a:solidFill>
                  <a:srgbClr val="E6EDF3"/>
                </a:solidFill>
                <a:latin typeface="Inconsolata"/>
              </a:rPr>
              <a:t>latihan/</a:t>
            </a:r>
          </a:p>
          <a:p>
            <a:pPr>
              <a:lnSpc>
                <a:spcPct val="105263"/>
              </a:lnSpc>
              <a:spcAft>
                <a:spcPts val="0"/>
              </a:spcAft>
            </a:pPr>
            <a:r>
              <a:rPr sz="950" i="0">
                <a:solidFill>
                  <a:srgbClr val="E6EDF3"/>
                </a:solidFill>
                <a:latin typeface="Inconsolata"/>
              </a:rPr>
              <a:t>  app/</a:t>
            </a:r>
          </a:p>
          <a:p>
            <a:pPr>
              <a:lnSpc>
                <a:spcPct val="105263"/>
              </a:lnSpc>
              <a:spcAft>
                <a:spcPts val="0"/>
              </a:spcAft>
            </a:pPr>
            <a:r>
              <a:rPr sz="950" i="0">
                <a:solidFill>
                  <a:srgbClr val="E6EDF3"/>
                </a:solidFill>
                <a:latin typeface="Inconsolata"/>
              </a:rPr>
              <a:t>    domain/          # langkah 2</a:t>
            </a:r>
          </a:p>
          <a:p>
            <a:pPr>
              <a:lnSpc>
                <a:spcPct val="105263"/>
              </a:lnSpc>
              <a:spcAft>
                <a:spcPts val="0"/>
              </a:spcAft>
            </a:pPr>
            <a:r>
              <a:rPr sz="950" i="0">
                <a:solidFill>
                  <a:srgbClr val="E6EDF3"/>
                </a:solidFill>
                <a:latin typeface="Inconsolata"/>
              </a:rPr>
              <a:t>    application/     # langkah 3-4</a:t>
            </a:r>
          </a:p>
          <a:p>
            <a:pPr>
              <a:lnSpc>
                <a:spcPct val="105263"/>
              </a:lnSpc>
              <a:spcAft>
                <a:spcPts val="0"/>
              </a:spcAft>
            </a:pPr>
            <a:r>
              <a:rPr sz="950" i="0">
                <a:solidFill>
                  <a:srgbClr val="E6EDF3"/>
                </a:solidFill>
                <a:latin typeface="Inconsolata"/>
              </a:rPr>
              <a:t>    infrastructure/  # langkah 5</a:t>
            </a:r>
          </a:p>
          <a:p>
            <a:pPr>
              <a:lnSpc>
                <a:spcPct val="105263"/>
              </a:lnSpc>
              <a:spcAft>
                <a:spcPts val="0"/>
              </a:spcAft>
            </a:pPr>
            <a:r>
              <a:rPr sz="950" i="0">
                <a:solidFill>
                  <a:srgbClr val="E6EDF3"/>
                </a:solidFill>
                <a:latin typeface="Inconsolata"/>
              </a:rPr>
              <a:t>    api/             # langkah 6-7</a:t>
            </a:r>
          </a:p>
          <a:p>
            <a:pPr>
              <a:lnSpc>
                <a:spcPct val="105263"/>
              </a:lnSpc>
              <a:spcAft>
                <a:spcPts val="0"/>
              </a:spcAft>
            </a:pPr>
            <a:r>
              <a:rPr sz="950" i="0">
                <a:solidFill>
                  <a:srgbClr val="E6EDF3"/>
                </a:solidFill>
                <a:latin typeface="Inconsolata"/>
              </a:rPr>
              <a:t>    main.py          # langkah 7</a:t>
            </a:r>
          </a:p>
          <a:p>
            <a:pPr>
              <a:lnSpc>
                <a:spcPct val="105263"/>
              </a:lnSpc>
              <a:spcAft>
                <a:spcPts val="0"/>
              </a:spcAft>
            </a:pPr>
            <a:r>
              <a:rPr sz="950" i="0">
                <a:solidFill>
                  <a:srgbClr val="E6EDF3"/>
                </a:solidFill>
                <a:latin typeface="Inconsolata"/>
              </a:rPr>
              <a:t>  tests/             # langkah 8</a:t>
            </a:r>
          </a:p>
          <a:p>
            <a:pPr>
              <a:lnSpc>
                <a:spcPct val="105263"/>
              </a:lnSpc>
              <a:spcAft>
                <a:spcPts val="0"/>
              </a:spcAft>
            </a:pPr>
            <a:r>
              <a:rPr sz="950" i="0">
                <a:solidFill>
                  <a:srgbClr val="E6EDF3"/>
                </a:solidFill>
                <a:latin typeface="Inconsolata"/>
              </a:rPr>
              <a:t>  pytest.ini</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1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Siapkan Struktur Folder</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terminal</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cd sesi-02-solid-clean-architecture/07-clean-architecture</a:t>
            </a:r>
          </a:p>
          <a:p>
            <a:pPr>
              <a:lnSpc>
                <a:spcPct val="107843"/>
              </a:lnSpc>
              <a:spcAft>
                <a:spcPts val="0"/>
              </a:spcAft>
            </a:pPr>
            <a:r>
              <a:rPr sz="850" i="0">
                <a:solidFill>
                  <a:srgbClr val="82B1FF"/>
                </a:solidFill>
                <a:latin typeface="Inconsolata"/>
              </a:rPr>
              <a:t>$ mkdir -p latihan/app/domain latihan/app/application</a:t>
            </a:r>
          </a:p>
          <a:p>
            <a:pPr>
              <a:lnSpc>
                <a:spcPct val="107843"/>
              </a:lnSpc>
              <a:spcAft>
                <a:spcPts val="0"/>
              </a:spcAft>
            </a:pPr>
            <a:r>
              <a:rPr sz="850" i="0">
                <a:solidFill>
                  <a:srgbClr val="82B1FF"/>
                </a:solidFill>
                <a:latin typeface="Inconsolata"/>
              </a:rPr>
              <a:t>$ mkdir -p latihan/app/infrastructure latihan/app/api latihan/tests</a:t>
            </a:r>
          </a:p>
          <a:p>
            <a:pPr>
              <a:lnSpc>
                <a:spcPct val="107843"/>
              </a:lnSpc>
              <a:spcAft>
                <a:spcPts val="0"/>
              </a:spcAft>
            </a:pPr>
            <a:endParaRPr sz="850" i="0">
              <a:solidFill>
                <a:srgbClr val="82B1FF"/>
              </a:solidFill>
              <a:latin typeface="Inconsolata"/>
            </a:endParaRPr>
          </a:p>
          <a:p>
            <a:pPr>
              <a:lnSpc>
                <a:spcPct val="107843"/>
              </a:lnSpc>
              <a:spcAft>
                <a:spcPts val="0"/>
              </a:spcAft>
            </a:pPr>
            <a:r>
              <a:rPr sz="850" i="1">
                <a:solidFill>
                  <a:srgbClr val="8B98A8"/>
                </a:solidFill>
                <a:latin typeface="Inconsolata"/>
              </a:rPr>
              <a:t># pytest.ini di latihan/: supaya "import app..." dikenali</a:t>
            </a:r>
          </a:p>
          <a:p>
            <a:pPr>
              <a:lnSpc>
                <a:spcPct val="107843"/>
              </a:lnSpc>
              <a:spcAft>
                <a:spcPts val="0"/>
              </a:spcAft>
            </a:pPr>
            <a:r>
              <a:rPr sz="850" i="0">
                <a:solidFill>
                  <a:srgbClr val="E6EDF3"/>
                </a:solidFill>
                <a:latin typeface="Inconsolata"/>
              </a:rPr>
              <a:t>[pytest]</a:t>
            </a:r>
          </a:p>
          <a:p>
            <a:pPr>
              <a:lnSpc>
                <a:spcPct val="107843"/>
              </a:lnSpc>
              <a:spcAft>
                <a:spcPts val="0"/>
              </a:spcAft>
            </a:pPr>
            <a:r>
              <a:rPr sz="850" i="0">
                <a:solidFill>
                  <a:srgbClr val="E6EDF3"/>
                </a:solidFill>
                <a:latin typeface="Inconsolata"/>
              </a:rPr>
              <a:t>pythonpath = .</a:t>
            </a:r>
          </a:p>
          <a:p>
            <a:pPr>
              <a:lnSpc>
                <a:spcPct val="107843"/>
              </a:lnSpc>
              <a:spcAft>
                <a:spcPts val="0"/>
              </a:spcAft>
            </a:pPr>
            <a:r>
              <a:rPr sz="850" i="0">
                <a:solidFill>
                  <a:srgbClr val="E6EDF3"/>
                </a:solidFill>
                <a:latin typeface="Inconsolata"/>
              </a:rPr>
              <a:t>testpaths = tests</a:t>
            </a:r>
          </a:p>
        </p:txBody>
      </p:sp>
      <p:sp>
        <p:nvSpPr>
          <p:cNvPr id="29" name="Box 12"/>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Text 13"/>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1" name="Text 14"/>
          <p:cNvSpPr txBox="1"/>
          <p:nvPr/>
        </p:nvSpPr>
        <p:spPr>
          <a:xfrm>
            <a:off x="5806440" y="1892808"/>
            <a:ext cx="2542032" cy="1299715"/>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dirty="0" err="1">
                <a:solidFill>
                  <a:srgbClr val="434343"/>
                </a:solidFill>
                <a:latin typeface="Inter"/>
              </a:rPr>
              <a:t>Buat</a:t>
            </a:r>
            <a:r>
              <a:rPr sz="900" b="0" i="0" dirty="0">
                <a:solidFill>
                  <a:srgbClr val="434343"/>
                </a:solidFill>
                <a:latin typeface="Inter"/>
              </a:rPr>
              <a:t> folder </a:t>
            </a:r>
            <a:r>
              <a:rPr lang="en-US" sz="900" b="0" i="0" dirty="0" err="1">
                <a:solidFill>
                  <a:srgbClr val="434343"/>
                </a:solidFill>
                <a:latin typeface="Inter"/>
              </a:rPr>
              <a:t>baru</a:t>
            </a:r>
            <a:r>
              <a:rPr sz="900" b="0" i="0" dirty="0">
                <a:solidFill>
                  <a:srgbClr val="434343"/>
                </a:solidFill>
                <a:latin typeface="Inter"/>
              </a:rPr>
              <a:t> </a:t>
            </a:r>
            <a:r>
              <a:rPr lang="en-US" sz="900" b="0" i="0" dirty="0" err="1">
                <a:solidFill>
                  <a:srgbClr val="B5482A"/>
                </a:solidFill>
                <a:latin typeface="Inconsolata"/>
              </a:rPr>
              <a:t>l</a:t>
            </a:r>
            <a:r>
              <a:rPr sz="900" b="0" i="0" dirty="0" err="1">
                <a:solidFill>
                  <a:srgbClr val="B5482A"/>
                </a:solidFill>
                <a:latin typeface="Inconsolata"/>
              </a:rPr>
              <a:t>atihan</a:t>
            </a:r>
            <a:r>
              <a:rPr sz="900" b="0" i="0" dirty="0">
                <a:solidFill>
                  <a:srgbClr val="434343"/>
                </a:solidFill>
                <a:latin typeface="Inter"/>
              </a:rPr>
              <a:t>, </a:t>
            </a:r>
            <a:r>
              <a:rPr sz="900" b="0" i="0" dirty="0" err="1">
                <a:solidFill>
                  <a:srgbClr val="434343"/>
                </a:solidFill>
                <a:latin typeface="Inter"/>
              </a:rPr>
              <a:t>lalu</a:t>
            </a:r>
            <a:r>
              <a:rPr sz="900" b="0" i="0" dirty="0">
                <a:solidFill>
                  <a:srgbClr val="434343"/>
                </a:solidFill>
                <a:latin typeface="Inter"/>
              </a:rPr>
              <a:t> folder per layer di </a:t>
            </a:r>
            <a:r>
              <a:rPr sz="900" b="0" i="0" dirty="0" err="1">
                <a:solidFill>
                  <a:srgbClr val="434343"/>
                </a:solidFill>
                <a:latin typeface="Inter"/>
              </a:rPr>
              <a:t>dalamnya</a:t>
            </a:r>
            <a:endParaRPr sz="900" b="0" i="0" dirty="0">
              <a:solidFill>
                <a:srgbClr val="434343"/>
              </a:solidFill>
              <a:latin typeface="Inter"/>
            </a:endParaRPr>
          </a:p>
          <a:p>
            <a:pPr marL="182880" indent="-182880" algn="l">
              <a:lnSpc>
                <a:spcPct val="115000"/>
              </a:lnSpc>
              <a:spcAft>
                <a:spcPts val="400"/>
              </a:spcAft>
              <a:buClr>
                <a:srgbClr val="E0764F"/>
              </a:buClr>
              <a:buSzPct val="100000"/>
              <a:buFont typeface="+mj-lt"/>
              <a:buAutoNum type="arabicPeriod"/>
            </a:pPr>
            <a:r>
              <a:rPr sz="900" b="0" i="0" dirty="0" err="1">
                <a:solidFill>
                  <a:srgbClr val="434343"/>
                </a:solidFill>
                <a:latin typeface="Inter"/>
              </a:rPr>
              <a:t>Buat</a:t>
            </a:r>
            <a:r>
              <a:rPr sz="900" b="0" i="0" dirty="0">
                <a:solidFill>
                  <a:srgbClr val="434343"/>
                </a:solidFill>
                <a:latin typeface="Inter"/>
              </a:rPr>
              <a:t> </a:t>
            </a:r>
            <a:r>
              <a:rPr sz="900" b="0" i="0" dirty="0" err="1">
                <a:solidFill>
                  <a:srgbClr val="B5482A"/>
                </a:solidFill>
                <a:latin typeface="Inconsolata"/>
              </a:rPr>
              <a:t>latihan</a:t>
            </a:r>
            <a:r>
              <a:rPr sz="900" b="0" i="0" dirty="0">
                <a:solidFill>
                  <a:srgbClr val="B5482A"/>
                </a:solidFill>
                <a:latin typeface="Inconsolata"/>
              </a:rPr>
              <a:t>/pytest.ini</a:t>
            </a:r>
            <a:r>
              <a:rPr sz="900" b="0" i="0" dirty="0">
                <a:solidFill>
                  <a:srgbClr val="434343"/>
                </a:solidFill>
                <a:latin typeface="Inter"/>
              </a:rPr>
              <a:t> </a:t>
            </a:r>
            <a:r>
              <a:rPr sz="900" b="0" i="0" dirty="0" err="1">
                <a:solidFill>
                  <a:srgbClr val="434343"/>
                </a:solidFill>
                <a:latin typeface="Inter"/>
              </a:rPr>
              <a:t>seperti</a:t>
            </a:r>
            <a:r>
              <a:rPr sz="900" b="0" i="0" dirty="0">
                <a:solidFill>
                  <a:srgbClr val="434343"/>
                </a:solidFill>
                <a:latin typeface="Inter"/>
              </a:rPr>
              <a:t> di </a:t>
            </a:r>
            <a:r>
              <a:rPr sz="900" b="0" i="0" dirty="0" err="1">
                <a:solidFill>
                  <a:srgbClr val="434343"/>
                </a:solidFill>
                <a:latin typeface="Inter"/>
              </a:rPr>
              <a:t>samping</a:t>
            </a:r>
            <a:endParaRPr sz="900" b="0" i="0" dirty="0">
              <a:solidFill>
                <a:srgbClr val="434343"/>
              </a:solidFill>
              <a:latin typeface="Inter"/>
            </a:endParaRPr>
          </a:p>
          <a:p>
            <a:pPr marL="182880" indent="-182880" algn="l">
              <a:lnSpc>
                <a:spcPct val="115000"/>
              </a:lnSpc>
              <a:spcAft>
                <a:spcPts val="400"/>
              </a:spcAft>
              <a:buClr>
                <a:srgbClr val="E0764F"/>
              </a:buClr>
              <a:buSzPct val="100000"/>
              <a:buFont typeface="+mj-lt"/>
              <a:buAutoNum type="arabicPeriod"/>
            </a:pPr>
            <a:r>
              <a:rPr sz="900" b="0" i="0" dirty="0" err="1">
                <a:solidFill>
                  <a:srgbClr val="434343"/>
                </a:solidFill>
                <a:latin typeface="Inter"/>
              </a:rPr>
              <a:t>Semua</a:t>
            </a:r>
            <a:r>
              <a:rPr sz="900" b="0" i="0" dirty="0">
                <a:solidFill>
                  <a:srgbClr val="434343"/>
                </a:solidFill>
                <a:latin typeface="Inter"/>
              </a:rPr>
              <a:t> import </a:t>
            </a:r>
            <a:r>
              <a:rPr sz="900" b="0" i="0" dirty="0" err="1">
                <a:solidFill>
                  <a:srgbClr val="434343"/>
                </a:solidFill>
                <a:latin typeface="Inter"/>
              </a:rPr>
              <a:t>nanti</a:t>
            </a:r>
            <a:r>
              <a:rPr sz="900" b="0" i="0" dirty="0">
                <a:solidFill>
                  <a:srgbClr val="434343"/>
                </a:solidFill>
                <a:latin typeface="Inter"/>
              </a:rPr>
              <a:t> </a:t>
            </a:r>
            <a:r>
              <a:rPr sz="900" b="0" i="0" dirty="0" err="1">
                <a:solidFill>
                  <a:srgbClr val="434343"/>
                </a:solidFill>
                <a:latin typeface="Inter"/>
              </a:rPr>
              <a:t>diawali</a:t>
            </a:r>
            <a:r>
              <a:rPr sz="900" b="0" i="0" dirty="0">
                <a:solidFill>
                  <a:srgbClr val="434343"/>
                </a:solidFill>
                <a:latin typeface="Inter"/>
              </a:rPr>
              <a:t> </a:t>
            </a:r>
            <a:r>
              <a:rPr sz="900" b="0" i="0" dirty="0">
                <a:solidFill>
                  <a:srgbClr val="B5482A"/>
                </a:solidFill>
                <a:latin typeface="Inconsolata"/>
              </a:rPr>
              <a:t>app.</a:t>
            </a:r>
            <a:r>
              <a:rPr sz="900" b="0" i="0" dirty="0">
                <a:solidFill>
                  <a:srgbClr val="434343"/>
                </a:solidFill>
                <a:latin typeface="Inter"/>
              </a:rPr>
              <a:t>, </a:t>
            </a:r>
            <a:r>
              <a:rPr sz="900" b="0" i="0" dirty="0" err="1">
                <a:solidFill>
                  <a:srgbClr val="434343"/>
                </a:solidFill>
                <a:latin typeface="Inter"/>
              </a:rPr>
              <a:t>misalnya</a:t>
            </a:r>
            <a:r>
              <a:rPr sz="900" b="0" i="0" dirty="0">
                <a:solidFill>
                  <a:srgbClr val="434343"/>
                </a:solidFill>
                <a:latin typeface="Inter"/>
              </a:rPr>
              <a:t> </a:t>
            </a:r>
            <a:r>
              <a:rPr sz="900" b="0" i="0" dirty="0">
                <a:solidFill>
                  <a:srgbClr val="B5482A"/>
                </a:solidFill>
                <a:latin typeface="Inconsolata"/>
              </a:rPr>
              <a:t>from </a:t>
            </a:r>
            <a:r>
              <a:rPr sz="900" b="0" i="0" dirty="0" err="1">
                <a:solidFill>
                  <a:srgbClr val="B5482A"/>
                </a:solidFill>
                <a:latin typeface="Inconsolata"/>
              </a:rPr>
              <a:t>app.domain.order</a:t>
            </a:r>
            <a:r>
              <a:rPr sz="900" b="0" i="0" dirty="0">
                <a:solidFill>
                  <a:srgbClr val="B5482A"/>
                </a:solidFill>
                <a:latin typeface="Inconsolata"/>
              </a:rPr>
              <a:t> import Order</a:t>
            </a:r>
          </a:p>
        </p:txBody>
      </p:sp>
      <p:sp>
        <p:nvSpPr>
          <p:cNvPr id="32" name="Box 15"/>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4" name="Text 17"/>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Struktur folder sama dengan slide Tujuan.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65</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2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domain/: Order dan Aturan Diskon</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app/domain/order.py  +  discounts.py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4167"/>
              </a:lnSpc>
              <a:spcAft>
                <a:spcPts val="0"/>
              </a:spcAft>
            </a:pPr>
            <a:r>
              <a:rPr sz="800" i="1">
                <a:solidFill>
                  <a:srgbClr val="8B98A8"/>
                </a:solidFill>
                <a:latin typeface="Inconsolata"/>
              </a:rPr>
              <a:t># app/domain/order.py</a:t>
            </a:r>
          </a:p>
          <a:p>
            <a:pPr>
              <a:lnSpc>
                <a:spcPct val="104167"/>
              </a:lnSpc>
              <a:spcAft>
                <a:spcPts val="0"/>
              </a:spcAft>
            </a:pPr>
            <a:r>
              <a:rPr sz="800" i="0">
                <a:solidFill>
                  <a:srgbClr val="F9C97A"/>
                </a:solidFill>
                <a:latin typeface="Inconsolata"/>
              </a:rPr>
              <a:t>@dataclass</a:t>
            </a:r>
          </a:p>
          <a:p>
            <a:pPr>
              <a:lnSpc>
                <a:spcPct val="104167"/>
              </a:lnSpc>
              <a:spcAft>
                <a:spcPts val="0"/>
              </a:spcAft>
            </a:pPr>
            <a:r>
              <a:rPr sz="800" i="0">
                <a:solidFill>
                  <a:srgbClr val="FF8E6E"/>
                </a:solidFill>
                <a:latin typeface="Inconsolata"/>
              </a:rPr>
              <a:t>class</a:t>
            </a:r>
            <a:r>
              <a:rPr sz="800" i="0">
                <a:solidFill>
                  <a:srgbClr val="E6EDF3"/>
                </a:solidFill>
                <a:latin typeface="Inconsolata"/>
              </a:rPr>
              <a:t> </a:t>
            </a:r>
            <a:r>
              <a:rPr sz="800" i="0">
                <a:solidFill>
                  <a:srgbClr val="7FDBCA"/>
                </a:solidFill>
                <a:latin typeface="Inconsolata"/>
              </a:rPr>
              <a:t>Order</a:t>
            </a:r>
            <a:r>
              <a:rPr sz="800" i="0">
                <a:solidFill>
                  <a:srgbClr val="E6EDF3"/>
                </a:solidFill>
                <a:latin typeface="Inconsolata"/>
              </a:rPr>
              <a:t>:</a:t>
            </a:r>
          </a:p>
          <a:p>
            <a:pPr>
              <a:lnSpc>
                <a:spcPct val="104167"/>
              </a:lnSpc>
              <a:spcAft>
                <a:spcPts val="0"/>
              </a:spcAft>
            </a:pPr>
            <a:r>
              <a:rPr sz="800" i="0">
                <a:solidFill>
                  <a:srgbClr val="E6EDF3"/>
                </a:solidFill>
                <a:latin typeface="Inconsolata"/>
              </a:rPr>
              <a:t>    customer: </a:t>
            </a:r>
            <a:r>
              <a:rPr sz="800" i="0">
                <a:solidFill>
                  <a:srgbClr val="C3A6FF"/>
                </a:solidFill>
                <a:latin typeface="Inconsolata"/>
              </a:rPr>
              <a:t>str</a:t>
            </a:r>
          </a:p>
          <a:p>
            <a:pPr>
              <a:lnSpc>
                <a:spcPct val="104167"/>
              </a:lnSpc>
              <a:spcAft>
                <a:spcPts val="0"/>
              </a:spcAft>
            </a:pPr>
            <a:r>
              <a:rPr sz="800" i="0">
                <a:solidFill>
                  <a:srgbClr val="E6EDF3"/>
                </a:solidFill>
                <a:latin typeface="Inconsolata"/>
              </a:rPr>
              <a:t>    customer_type: </a:t>
            </a:r>
            <a:r>
              <a:rPr sz="800" i="0">
                <a:solidFill>
                  <a:srgbClr val="C3A6FF"/>
                </a:solidFill>
                <a:latin typeface="Inconsolata"/>
              </a:rPr>
              <a:t>str</a:t>
            </a:r>
          </a:p>
          <a:p>
            <a:pPr>
              <a:lnSpc>
                <a:spcPct val="104167"/>
              </a:lnSpc>
              <a:spcAft>
                <a:spcPts val="0"/>
              </a:spcAft>
            </a:pPr>
            <a:r>
              <a:rPr sz="800" i="0">
                <a:solidFill>
                  <a:srgbClr val="E6EDF3"/>
                </a:solidFill>
                <a:latin typeface="Inconsolata"/>
              </a:rPr>
              <a:t>    subtotal: </a:t>
            </a:r>
            <a:r>
              <a:rPr sz="800" i="0">
                <a:solidFill>
                  <a:srgbClr val="C3A6FF"/>
                </a:solidFill>
                <a:latin typeface="Inconsolata"/>
              </a:rPr>
              <a:t>int</a:t>
            </a:r>
          </a:p>
          <a:p>
            <a:pPr>
              <a:lnSpc>
                <a:spcPct val="104167"/>
              </a:lnSpc>
              <a:spcAft>
                <a:spcPts val="0"/>
              </a:spcAft>
            </a:pPr>
            <a:r>
              <a:rPr sz="800" i="0">
                <a:solidFill>
                  <a:srgbClr val="E6EDF3"/>
                </a:solidFill>
                <a:latin typeface="Inconsolata"/>
              </a:rPr>
              <a:t>    total: </a:t>
            </a:r>
            <a:r>
              <a:rPr sz="800" i="0">
                <a:solidFill>
                  <a:srgbClr val="C3A6FF"/>
                </a:solidFill>
                <a:latin typeface="Inconsolata"/>
              </a:rPr>
              <a:t>int</a:t>
            </a:r>
          </a:p>
          <a:p>
            <a:pPr>
              <a:lnSpc>
                <a:spcPct val="104167"/>
              </a:lnSpc>
              <a:spcAft>
                <a:spcPts val="0"/>
              </a:spcAft>
            </a:pPr>
            <a:r>
              <a:rPr sz="800" i="0">
                <a:solidFill>
                  <a:srgbClr val="E6EDF3"/>
                </a:solidFill>
                <a:latin typeface="Inconsolata"/>
              </a:rPr>
              <a:t>    id: </a:t>
            </a:r>
            <a:r>
              <a:rPr sz="800" i="0">
                <a:solidFill>
                  <a:srgbClr val="C3A6FF"/>
                </a:solidFill>
                <a:latin typeface="Inconsolata"/>
              </a:rPr>
              <a:t>int</a:t>
            </a:r>
            <a:r>
              <a:rPr sz="800" i="0">
                <a:solidFill>
                  <a:srgbClr val="E6EDF3"/>
                </a:solidFill>
                <a:latin typeface="Inconsolata"/>
              </a:rPr>
              <a:t> | </a:t>
            </a:r>
            <a:r>
              <a:rPr sz="800" i="0">
                <a:solidFill>
                  <a:srgbClr val="FF8E6E"/>
                </a:solidFill>
                <a:latin typeface="Inconsolata"/>
              </a:rPr>
              <a:t>None</a:t>
            </a:r>
            <a:r>
              <a:rPr sz="800" i="0">
                <a:solidFill>
                  <a:srgbClr val="E6EDF3"/>
                </a:solidFill>
                <a:latin typeface="Inconsolata"/>
              </a:rPr>
              <a:t> = </a:t>
            </a:r>
            <a:r>
              <a:rPr sz="800" i="0">
                <a:solidFill>
                  <a:srgbClr val="FF8E6E"/>
                </a:solidFill>
                <a:latin typeface="Inconsolata"/>
              </a:rPr>
              <a:t>None</a:t>
            </a:r>
          </a:p>
          <a:p>
            <a:pPr>
              <a:lnSpc>
                <a:spcPct val="104167"/>
              </a:lnSpc>
              <a:spcAft>
                <a:spcPts val="0"/>
              </a:spcAft>
            </a:pPr>
            <a:r>
              <a:rPr sz="800" i="0">
                <a:solidFill>
                  <a:srgbClr val="E6EDF3"/>
                </a:solidFill>
                <a:latin typeface="Inconsolata"/>
              </a:rPr>
              <a:t> </a:t>
            </a:r>
          </a:p>
          <a:p>
            <a:pPr>
              <a:lnSpc>
                <a:spcPct val="104167"/>
              </a:lnSpc>
              <a:spcAft>
                <a:spcPts val="0"/>
              </a:spcAft>
            </a:pPr>
            <a:r>
              <a:rPr sz="800" i="1">
                <a:solidFill>
                  <a:srgbClr val="8B98A8"/>
                </a:solidFill>
                <a:latin typeface="Inconsolata"/>
              </a:rPr>
              <a:t># app/domain/discounts.py (dipindah dari before/discounts.py)</a:t>
            </a:r>
          </a:p>
          <a:p>
            <a:pPr>
              <a:lnSpc>
                <a:spcPct val="104167"/>
              </a:lnSpc>
              <a:spcAft>
                <a:spcPts val="0"/>
              </a:spcAft>
            </a:pPr>
            <a:r>
              <a:rPr sz="800" i="0">
                <a:solidFill>
                  <a:srgbClr val="FF8E6E"/>
                </a:solidFill>
                <a:latin typeface="Inconsolata"/>
              </a:rPr>
              <a:t>class</a:t>
            </a:r>
            <a:r>
              <a:rPr sz="800" i="0">
                <a:solidFill>
                  <a:srgbClr val="E6EDF3"/>
                </a:solidFill>
                <a:latin typeface="Inconsolata"/>
              </a:rPr>
              <a:t> </a:t>
            </a:r>
            <a:r>
              <a:rPr sz="800" i="0">
                <a:solidFill>
                  <a:srgbClr val="7FDBCA"/>
                </a:solidFill>
                <a:latin typeface="Inconsolata"/>
              </a:rPr>
              <a:t>UnknownCustomerType</a:t>
            </a:r>
            <a:r>
              <a:rPr sz="800" i="0">
                <a:solidFill>
                  <a:srgbClr val="E6EDF3"/>
                </a:solidFill>
                <a:latin typeface="Inconsolata"/>
              </a:rPr>
              <a:t>(</a:t>
            </a:r>
            <a:r>
              <a:rPr sz="800" i="0">
                <a:solidFill>
                  <a:srgbClr val="7FDBCA"/>
                </a:solidFill>
                <a:latin typeface="Inconsolata"/>
              </a:rPr>
              <a:t>Exception</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pass</a:t>
            </a:r>
          </a:p>
          <a:p>
            <a:pPr>
              <a:lnSpc>
                <a:spcPct val="104167"/>
              </a:lnSpc>
              <a:spcAft>
                <a:spcPts val="0"/>
              </a:spcAft>
            </a:pPr>
            <a:r>
              <a:rPr sz="800" i="0">
                <a:solidFill>
                  <a:srgbClr val="E6EDF3"/>
                </a:solidFill>
                <a:latin typeface="Inconsolata"/>
              </a:rPr>
              <a:t> </a:t>
            </a:r>
          </a:p>
          <a:p>
            <a:pPr>
              <a:lnSpc>
                <a:spcPct val="104167"/>
              </a:lnSpc>
              <a:spcAft>
                <a:spcPts val="0"/>
              </a:spcAft>
            </a:pPr>
            <a:r>
              <a:rPr sz="800" i="0">
                <a:solidFill>
                  <a:srgbClr val="FF8E6E"/>
                </a:solidFill>
                <a:latin typeface="Inconsolata"/>
              </a:rPr>
              <a:t>def</a:t>
            </a:r>
            <a:r>
              <a:rPr sz="800" i="0">
                <a:solidFill>
                  <a:srgbClr val="E6EDF3"/>
                </a:solidFill>
                <a:latin typeface="Inconsolata"/>
              </a:rPr>
              <a:t> </a:t>
            </a:r>
            <a:r>
              <a:rPr sz="800" i="0">
                <a:solidFill>
                  <a:srgbClr val="82B1FF"/>
                </a:solidFill>
                <a:latin typeface="Inconsolata"/>
              </a:rPr>
              <a:t>get_discount</a:t>
            </a:r>
            <a:r>
              <a:rPr sz="800" i="0">
                <a:solidFill>
                  <a:srgbClr val="E6EDF3"/>
                </a:solidFill>
                <a:latin typeface="Inconsolata"/>
              </a:rPr>
              <a:t>(customer_type: </a:t>
            </a:r>
            <a:r>
              <a:rPr sz="800" i="0">
                <a:solidFill>
                  <a:srgbClr val="C3A6FF"/>
                </a:solidFill>
                <a:latin typeface="Inconsolata"/>
              </a:rPr>
              <a:t>str</a:t>
            </a:r>
            <a:r>
              <a:rPr sz="800" i="0">
                <a:solidFill>
                  <a:srgbClr val="E6EDF3"/>
                </a:solidFill>
                <a:latin typeface="Inconsolata"/>
              </a:rPr>
              <a:t>) -&gt; </a:t>
            </a:r>
            <a:r>
              <a:rPr sz="800" i="0">
                <a:solidFill>
                  <a:srgbClr val="7FDBCA"/>
                </a:solidFill>
                <a:latin typeface="Inconsolata"/>
              </a:rPr>
              <a:t>DiscountStrategy</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if</a:t>
            </a:r>
            <a:r>
              <a:rPr sz="800" i="0">
                <a:solidFill>
                  <a:srgbClr val="E6EDF3"/>
                </a:solidFill>
                <a:latin typeface="Inconsolata"/>
              </a:rPr>
              <a:t> customer_type </a:t>
            </a:r>
            <a:r>
              <a:rPr sz="800" i="0">
                <a:solidFill>
                  <a:srgbClr val="FF8E6E"/>
                </a:solidFill>
                <a:latin typeface="Inconsolata"/>
              </a:rPr>
              <a:t>not</a:t>
            </a:r>
            <a:r>
              <a:rPr sz="800" i="0">
                <a:solidFill>
                  <a:srgbClr val="E6EDF3"/>
                </a:solidFill>
                <a:latin typeface="Inconsolata"/>
              </a:rPr>
              <a:t> </a:t>
            </a:r>
            <a:r>
              <a:rPr sz="800" i="0">
                <a:solidFill>
                  <a:srgbClr val="FF8E6E"/>
                </a:solidFill>
                <a:latin typeface="Inconsolata"/>
              </a:rPr>
              <a:t>in</a:t>
            </a:r>
            <a:r>
              <a:rPr sz="800" i="0">
                <a:solidFill>
                  <a:srgbClr val="E6EDF3"/>
                </a:solidFill>
                <a:latin typeface="Inconsolata"/>
              </a:rPr>
              <a:t> </a:t>
            </a:r>
            <a:r>
              <a:rPr sz="800" i="0">
                <a:solidFill>
                  <a:srgbClr val="7FDBCA"/>
                </a:solidFill>
                <a:latin typeface="Inconsolata"/>
              </a:rPr>
              <a:t>DISCOUNTS</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raise</a:t>
            </a:r>
            <a:r>
              <a:rPr sz="800" i="0">
                <a:solidFill>
                  <a:srgbClr val="E6EDF3"/>
                </a:solidFill>
                <a:latin typeface="Inconsolata"/>
              </a:rPr>
              <a:t> </a:t>
            </a:r>
            <a:r>
              <a:rPr sz="800" i="0">
                <a:solidFill>
                  <a:srgbClr val="7FDBCA"/>
                </a:solidFill>
                <a:latin typeface="Inconsolata"/>
              </a:rPr>
              <a:t>UnknownCustomerType</a:t>
            </a:r>
            <a:r>
              <a:rPr sz="800" i="0">
                <a:solidFill>
                  <a:srgbClr val="E6EDF3"/>
                </a:solidFill>
                <a:latin typeface="Inconsolata"/>
              </a:rPr>
              <a:t>(</a:t>
            </a:r>
            <a:r>
              <a:rPr sz="800" i="0">
                <a:solidFill>
                  <a:srgbClr val="A5D6A7"/>
                </a:solidFill>
                <a:latin typeface="Inconsolata"/>
              </a:rPr>
              <a:t>"Tipe customer tidak dikenal"</a:t>
            </a:r>
            <a:r>
              <a:rPr sz="800" i="0">
                <a:solidFill>
                  <a:srgbClr val="E6EDF3"/>
                </a:solidFill>
                <a:latin typeface="Inconsolata"/>
              </a:rPr>
              <a:t>)</a:t>
            </a:r>
          </a:p>
          <a:p>
            <a:pPr>
              <a:lnSpc>
                <a:spcPct val="104167"/>
              </a:lnSpc>
              <a:spcAft>
                <a:spcPts val="0"/>
              </a:spcAft>
            </a:pPr>
            <a:r>
              <a:rPr sz="800" i="0">
                <a:solidFill>
                  <a:srgbClr val="E6EDF3"/>
                </a:solidFill>
                <a:latin typeface="Inconsolata"/>
              </a:rPr>
              <a:t>    </a:t>
            </a:r>
            <a:r>
              <a:rPr sz="800" i="0">
                <a:solidFill>
                  <a:srgbClr val="FF8E6E"/>
                </a:solidFill>
                <a:latin typeface="Inconsolata"/>
              </a:rPr>
              <a:t>return</a:t>
            </a:r>
            <a:r>
              <a:rPr sz="800" i="0">
                <a:solidFill>
                  <a:srgbClr val="E6EDF3"/>
                </a:solidFill>
                <a:latin typeface="Inconsolata"/>
              </a:rPr>
              <a:t> </a:t>
            </a:r>
            <a:r>
              <a:rPr sz="800" i="0">
                <a:solidFill>
                  <a:srgbClr val="7FDBCA"/>
                </a:solidFill>
                <a:latin typeface="Inconsolata"/>
              </a:rPr>
              <a:t>DISCOUNTS</a:t>
            </a:r>
            <a:r>
              <a:rPr sz="800" i="0">
                <a:solidFill>
                  <a:srgbClr val="E6EDF3"/>
                </a:solidFill>
                <a:latin typeface="Inconsolata"/>
              </a:rPr>
              <a:t>[customer_type]</a:t>
            </a:r>
          </a:p>
        </p:txBody>
      </p:sp>
      <p:sp>
        <p:nvSpPr>
          <p:cNvPr id="29" name="Box 12"/>
          <p:cNvSpPr/>
          <p:nvPr/>
        </p:nvSpPr>
        <p:spPr>
          <a:xfrm>
            <a:off x="704088" y="1954022"/>
            <a:ext cx="4727448" cy="881380"/>
          </a:xfrm>
          <a:prstGeom prst="roundRect">
            <a:avLst>
              <a:gd name="adj" fmla="val 5187"/>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2758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097022"/>
            <a:ext cx="4727448" cy="754380"/>
          </a:xfrm>
          <a:prstGeom prst="roundRect">
            <a:avLst>
              <a:gd name="adj" fmla="val 6060"/>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355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Order</a:t>
            </a:r>
            <a:r>
              <a:rPr sz="900" b="0" i="0">
                <a:solidFill>
                  <a:srgbClr val="434343"/>
                </a:solidFill>
                <a:latin typeface="Inter"/>
              </a:rPr>
              <a:t> dataclass menggantikan dict, sehingga fieldnya jelas</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Pindahkan </a:t>
            </a:r>
            <a:r>
              <a:rPr sz="900" b="0" i="0">
                <a:solidFill>
                  <a:srgbClr val="B5482A"/>
                </a:solidFill>
                <a:latin typeface="Inconsolata"/>
              </a:rPr>
              <a:t>discounts.py</a:t>
            </a:r>
            <a:r>
              <a:rPr sz="900" b="0" i="0">
                <a:solidFill>
                  <a:srgbClr val="434343"/>
                </a:solidFill>
                <a:latin typeface="Inter"/>
              </a:rPr>
              <a:t> ke </a:t>
            </a:r>
            <a:r>
              <a:rPr sz="900" b="0" i="0">
                <a:solidFill>
                  <a:srgbClr val="B5482A"/>
                </a:solidFill>
                <a:latin typeface="Inconsolata"/>
              </a:rPr>
              <a:t>domain/</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Ganti </a:t>
            </a:r>
            <a:r>
              <a:rPr sz="900" b="0" i="0">
                <a:solidFill>
                  <a:srgbClr val="B5482A"/>
                </a:solidFill>
                <a:latin typeface="Inconsolata"/>
              </a:rPr>
              <a:t>ValueError</a:t>
            </a:r>
            <a:r>
              <a:rPr sz="900" b="0" i="0">
                <a:solidFill>
                  <a:srgbClr val="434343"/>
                </a:solidFill>
                <a:latin typeface="Inter"/>
              </a:rPr>
              <a:t> dengan error domain sendiri, yaitu </a:t>
            </a:r>
            <a:r>
              <a:rPr sz="900" b="0" i="0">
                <a:solidFill>
                  <a:srgbClr val="B5482A"/>
                </a:solidFill>
                <a:latin typeface="Inconsolata"/>
              </a:rPr>
              <a:t>UnknownCustomerType</a:t>
            </a:r>
          </a:p>
          <a:p>
            <a:pPr algn="l">
              <a:lnSpc>
                <a:spcPct val="115000"/>
              </a:lnSpc>
              <a:spcAft>
                <a:spcPts val="0"/>
              </a:spcAft>
            </a:pPr>
            <a:endParaRPr sz="900" b="0" i="0">
              <a:solidFill>
                <a:srgbClr val="B5482A"/>
              </a:solidFill>
              <a:latin typeface="Inconsolata"/>
            </a:endParaRPr>
          </a:p>
          <a:p>
            <a:pPr algn="l">
              <a:lnSpc>
                <a:spcPct val="115000"/>
              </a:lnSpc>
              <a:spcAft>
                <a:spcPts val="400"/>
              </a:spcAft>
            </a:pPr>
            <a:r>
              <a:rPr sz="900" b="0" i="0">
                <a:solidFill>
                  <a:srgbClr val="434343"/>
                </a:solidFill>
                <a:latin typeface="Inter"/>
              </a:rPr>
              <a:t>Domain tidak import apa pun dari layer lain.</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Isi </a:t>
            </a:r>
            <a:r>
              <a:rPr sz="900" b="0" i="0">
                <a:solidFill>
                  <a:srgbClr val="B5482A"/>
                </a:solidFill>
                <a:latin typeface="Inconsolata"/>
              </a:rPr>
              <a:t>domain/</a:t>
            </a:r>
            <a:r>
              <a:rPr sz="900" b="0" i="0">
                <a:solidFill>
                  <a:srgbClr val="434343"/>
                </a:solidFill>
                <a:latin typeface="Inter"/>
              </a:rPr>
              <a:t> tidak ada </a:t>
            </a:r>
            <a:r>
              <a:rPr sz="900" b="0" i="0">
                <a:solidFill>
                  <a:srgbClr val="B5482A"/>
                </a:solidFill>
                <a:latin typeface="Inconsolata"/>
              </a:rPr>
              <a:t>import fastapi</a:t>
            </a:r>
            <a:r>
              <a:rPr sz="900" b="0" i="0">
                <a:solidFill>
                  <a:srgbClr val="434343"/>
                </a:solidFill>
                <a:latin typeface="Inter"/>
              </a:rPr>
              <a:t> maupun </a:t>
            </a:r>
            <a:r>
              <a:rPr sz="900" b="0" i="0">
                <a:solidFill>
                  <a:srgbClr val="B5482A"/>
                </a:solidFill>
                <a:latin typeface="Inconsolata"/>
              </a:rPr>
              <a:t>sqlite3</a:t>
            </a:r>
            <a:r>
              <a:rPr sz="900" b="0" i="0">
                <a:solidFill>
                  <a:srgbClr val="434343"/>
                </a:solidFill>
                <a:latin typeface="Inter"/>
              </a:rP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3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application/ports.py: Interface untuk Use Case</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app/application/ports.py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843"/>
              </a:lnSpc>
              <a:spcAft>
                <a:spcPts val="0"/>
              </a:spcAft>
            </a:pPr>
            <a:r>
              <a:rPr sz="850" i="0">
                <a:solidFill>
                  <a:srgbClr val="A5D6A7"/>
                </a:solidFill>
                <a:latin typeface="Inconsolata"/>
              </a:rPr>
              <a:t>"""Application: ports = interface yang dibutuhkan use case.</a:t>
            </a:r>
          </a:p>
          <a:p>
            <a:pPr>
              <a:lnSpc>
                <a:spcPct val="107843"/>
              </a:lnSpc>
              <a:spcAft>
                <a:spcPts val="0"/>
              </a:spcAft>
            </a:pPr>
            <a:r>
              <a:rPr sz="850" i="0">
                <a:solidFill>
                  <a:srgbClr val="A5D6A7"/>
                </a:solidFill>
                <a:latin typeface="Inconsolata"/>
              </a:rPr>
              <a:t>Implementasinya (adapter) ada di layer infrastructure.</a:t>
            </a:r>
          </a:p>
          <a:p>
            <a:pPr>
              <a:lnSpc>
                <a:spcPct val="107843"/>
              </a:lnSpc>
              <a:spcAft>
                <a:spcPts val="0"/>
              </a:spcAft>
            </a:pPr>
            <a:r>
              <a:rPr sz="850" i="0">
                <a:solidFill>
                  <a:srgbClr val="A5D6A7"/>
                </a:solidFill>
                <a:latin typeface="Inconsolata"/>
              </a:rPr>
              <a:t>"""</a:t>
            </a:r>
          </a:p>
          <a:p>
            <a:pPr>
              <a:lnSpc>
                <a:spcPct val="107843"/>
              </a:lnSpc>
              <a:spcAft>
                <a:spcPts val="0"/>
              </a:spcAft>
            </a:pPr>
            <a:r>
              <a:rPr sz="850" i="0">
                <a:solidFill>
                  <a:srgbClr val="FF8E6E"/>
                </a:solidFill>
                <a:latin typeface="Inconsolata"/>
              </a:rPr>
              <a:t>from</a:t>
            </a:r>
            <a:r>
              <a:rPr sz="850" i="0">
                <a:solidFill>
                  <a:srgbClr val="E6EDF3"/>
                </a:solidFill>
                <a:latin typeface="Inconsolata"/>
              </a:rPr>
              <a:t> typing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Protocol</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from</a:t>
            </a:r>
            <a:r>
              <a:rPr sz="850" i="0">
                <a:solidFill>
                  <a:srgbClr val="E6EDF3"/>
                </a:solidFill>
                <a:latin typeface="Inconsolata"/>
              </a:rPr>
              <a:t> app.domain.order </a:t>
            </a:r>
            <a:r>
              <a:rPr sz="850" i="0">
                <a:solidFill>
                  <a:srgbClr val="FF8E6E"/>
                </a:solidFill>
                <a:latin typeface="Inconsolata"/>
              </a:rPr>
              <a:t>import</a:t>
            </a:r>
            <a:r>
              <a:rPr sz="850" i="0">
                <a:solidFill>
                  <a:srgbClr val="E6EDF3"/>
                </a:solidFill>
                <a:latin typeface="Inconsolata"/>
              </a:rPr>
              <a:t> </a:t>
            </a:r>
            <a:r>
              <a:rPr sz="850" i="0">
                <a:solidFill>
                  <a:srgbClr val="7FDBCA"/>
                </a:solidFill>
                <a:latin typeface="Inconsolata"/>
              </a:rPr>
              <a:t>Order</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OrderRepository</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add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 </a:t>
            </a:r>
            <a:r>
              <a:rPr sz="850" i="0">
                <a:solidFill>
                  <a:srgbClr val="7FDBCA"/>
                </a:solidFill>
                <a:latin typeface="Inconsolata"/>
              </a:rPr>
              <a:t>Order</a:t>
            </a:r>
            <a:r>
              <a:rPr sz="850" i="0">
                <a:solidFill>
                  <a:srgbClr val="E6EDF3"/>
                </a:solidFill>
                <a:latin typeface="Inconsolata"/>
              </a:rPr>
              <a:t>) -&gt; </a:t>
            </a:r>
            <a:r>
              <a:rPr sz="850" i="0">
                <a:solidFill>
                  <a:srgbClr val="7FDBCA"/>
                </a:solidFill>
                <a:latin typeface="Inconsolata"/>
              </a:rPr>
              <a:t>Order</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order_id: </a:t>
            </a:r>
            <a:r>
              <a:rPr sz="850" i="0">
                <a:solidFill>
                  <a:srgbClr val="C3A6FF"/>
                </a:solidFill>
                <a:latin typeface="Inconsolata"/>
              </a:rPr>
              <a:t>int</a:t>
            </a:r>
            <a:r>
              <a:rPr sz="850" i="0">
                <a:solidFill>
                  <a:srgbClr val="E6EDF3"/>
                </a:solidFill>
                <a:latin typeface="Inconsolata"/>
              </a:rPr>
              <a:t>) -&gt; </a:t>
            </a:r>
            <a:r>
              <a:rPr sz="850" i="0">
                <a:solidFill>
                  <a:srgbClr val="7FDBCA"/>
                </a:solidFill>
                <a:latin typeface="Inconsolata"/>
              </a:rPr>
              <a:t>Order</a:t>
            </a:r>
            <a:r>
              <a:rPr sz="850" i="0">
                <a:solidFill>
                  <a:srgbClr val="E6EDF3"/>
                </a:solidFill>
                <a:latin typeface="Inconsolata"/>
              </a:rPr>
              <a:t> | </a:t>
            </a:r>
            <a:r>
              <a:rPr sz="850" i="0">
                <a:solidFill>
                  <a:srgbClr val="FF8E6E"/>
                </a:solidFill>
                <a:latin typeface="Inconsolata"/>
              </a:rPr>
              <a:t>None</a:t>
            </a:r>
            <a:r>
              <a:rPr sz="850" i="0">
                <a:solidFill>
                  <a:srgbClr val="E6EDF3"/>
                </a:solidFill>
                <a:latin typeface="Inconsolata"/>
              </a:rPr>
              <a:t>: ...</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class</a:t>
            </a:r>
            <a:r>
              <a:rPr sz="850" i="0">
                <a:solidFill>
                  <a:srgbClr val="E6EDF3"/>
                </a:solidFill>
                <a:latin typeface="Inconsolata"/>
              </a:rPr>
              <a:t> </a:t>
            </a:r>
            <a:r>
              <a:rPr sz="850" i="0">
                <a:solidFill>
                  <a:srgbClr val="7FDBCA"/>
                </a:solidFill>
                <a:latin typeface="Inconsolata"/>
              </a:rPr>
              <a:t>Notifier</a:t>
            </a:r>
            <a:r>
              <a:rPr sz="850" i="0">
                <a:solidFill>
                  <a:srgbClr val="E6EDF3"/>
                </a:solidFill>
                <a:latin typeface="Inconsolata"/>
              </a:rPr>
              <a:t>(</a:t>
            </a:r>
            <a:r>
              <a:rPr sz="850" i="0">
                <a:solidFill>
                  <a:srgbClr val="7FDBCA"/>
                </a:solidFill>
                <a:latin typeface="Inconsolata"/>
              </a:rPr>
              <a:t>Protocol</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send</a:t>
            </a:r>
            <a:r>
              <a:rPr sz="850" i="0">
                <a:solidFill>
                  <a:srgbClr val="E6EDF3"/>
                </a:solidFill>
                <a:latin typeface="Inconsolata"/>
              </a:rPr>
              <a:t>(</a:t>
            </a:r>
            <a:r>
              <a:rPr sz="850" i="0">
                <a:solidFill>
                  <a:srgbClr val="C3A6FF"/>
                </a:solidFill>
                <a:latin typeface="Inconsolata"/>
              </a:rPr>
              <a:t>self</a:t>
            </a:r>
            <a:r>
              <a:rPr sz="850" i="0">
                <a:solidFill>
                  <a:srgbClr val="E6EDF3"/>
                </a:solidFill>
                <a:latin typeface="Inconsolata"/>
              </a:rPr>
              <a:t>, to: </a:t>
            </a:r>
            <a:r>
              <a:rPr sz="850" i="0">
                <a:solidFill>
                  <a:srgbClr val="C3A6FF"/>
                </a:solidFill>
                <a:latin typeface="Inconsolata"/>
              </a:rPr>
              <a:t>str</a:t>
            </a:r>
            <a:r>
              <a:rPr sz="850" i="0">
                <a:solidFill>
                  <a:srgbClr val="E6EDF3"/>
                </a:solidFill>
                <a:latin typeface="Inconsolata"/>
              </a:rPr>
              <a:t>, message: </a:t>
            </a:r>
            <a:r>
              <a:rPr sz="850" i="0">
                <a:solidFill>
                  <a:srgbClr val="C3A6FF"/>
                </a:solidFill>
                <a:latin typeface="Inconsolata"/>
              </a:rPr>
              <a:t>str</a:t>
            </a:r>
            <a:r>
              <a:rPr sz="850" i="0">
                <a:solidFill>
                  <a:srgbClr val="E6EDF3"/>
                </a:solidFill>
                <a:latin typeface="Inconsolata"/>
              </a:rPr>
              <a:t>) -&gt; </a:t>
            </a:r>
            <a:r>
              <a:rPr sz="850" i="0">
                <a:solidFill>
                  <a:srgbClr val="FF8E6E"/>
                </a:solidFill>
                <a:latin typeface="Inconsolata"/>
              </a:rPr>
              <a:t>None</a:t>
            </a:r>
            <a:r>
              <a:rPr sz="850" i="0">
                <a:solidFill>
                  <a:srgbClr val="E6EDF3"/>
                </a:solidFill>
                <a:latin typeface="Inconsolata"/>
              </a:rPr>
              <a:t>: ...</a:t>
            </a:r>
          </a:p>
        </p:txBody>
      </p:sp>
      <p:sp>
        <p:nvSpPr>
          <p:cNvPr id="29" name="Box 12"/>
          <p:cNvSpPr/>
          <p:nvPr/>
        </p:nvSpPr>
        <p:spPr>
          <a:xfrm>
            <a:off x="704088" y="2806573"/>
            <a:ext cx="4727448" cy="410718"/>
          </a:xfrm>
          <a:prstGeom prst="roundRect">
            <a:avLst>
              <a:gd name="adj" fmla="val 11131"/>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8930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365373"/>
            <a:ext cx="4727448" cy="271018"/>
          </a:xfrm>
          <a:prstGeom prst="roundRect">
            <a:avLst>
              <a:gd name="adj" fmla="val 1686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38201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Tulis interface yang dibutuhkan </a:t>
            </a:r>
            <a:r>
              <a:rPr sz="900" b="0" i="0">
                <a:solidFill>
                  <a:srgbClr val="B5482A"/>
                </a:solidFill>
                <a:latin typeface="Inconsolata"/>
              </a:rPr>
              <a:t>OrderService</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Repository sekarang menerima dan mengembalikan </a:t>
            </a:r>
            <a:r>
              <a:rPr sz="900" b="0" i="0">
                <a:solidFill>
                  <a:srgbClr val="B5482A"/>
                </a:solidFill>
                <a:latin typeface="Inconsolata"/>
              </a:rPr>
              <a:t>Order</a:t>
            </a:r>
            <a:r>
              <a:rPr sz="900" b="0" i="0">
                <a:solidFill>
                  <a:srgbClr val="434343"/>
                </a:solidFill>
                <a:latin typeface="Inter"/>
              </a:rPr>
              <a:t>, bukan dict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Belum ada implementasi di sini, hanya bentuknya</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Port hanya import dari </a:t>
            </a:r>
            <a:r>
              <a:rPr sz="900" b="0" i="0">
                <a:solidFill>
                  <a:srgbClr val="B5482A"/>
                </a:solidFill>
                <a:latin typeface="Inconsolata"/>
              </a:rPr>
              <a:t>domain</a:t>
            </a:r>
            <a:r>
              <a:rPr sz="900" b="0" i="0">
                <a:solidFill>
                  <a:srgbClr val="434343"/>
                </a:solidFill>
                <a:latin typeface="Inter"/>
              </a:rPr>
              <a: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4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application/order_service.py: Use Case</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app/application/order_service.py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0" dirty="0">
                <a:solidFill>
                  <a:srgbClr val="FF8E6E"/>
                </a:solidFill>
                <a:latin typeface="Inconsolata"/>
              </a:rPr>
              <a:t>from</a:t>
            </a:r>
            <a:r>
              <a:rPr sz="700" i="0" dirty="0">
                <a:solidFill>
                  <a:srgbClr val="E6EDF3"/>
                </a:solidFill>
                <a:latin typeface="Inconsolata"/>
              </a:rPr>
              <a:t> </a:t>
            </a:r>
            <a:r>
              <a:rPr sz="700" i="0" dirty="0" err="1">
                <a:solidFill>
                  <a:srgbClr val="E6EDF3"/>
                </a:solidFill>
                <a:latin typeface="Inconsolata"/>
              </a:rPr>
              <a:t>app.application.ports</a:t>
            </a:r>
            <a:r>
              <a:rPr sz="700" i="0" dirty="0">
                <a:solidFill>
                  <a:srgbClr val="E6EDF3"/>
                </a:solidFill>
                <a:latin typeface="Inconsolata"/>
              </a:rPr>
              <a:t> </a:t>
            </a:r>
            <a:r>
              <a:rPr sz="700" i="0" dirty="0">
                <a:solidFill>
                  <a:srgbClr val="FF8E6E"/>
                </a:solidFill>
                <a:latin typeface="Inconsolata"/>
              </a:rPr>
              <a:t>import</a:t>
            </a:r>
            <a:r>
              <a:rPr sz="700" i="0" dirty="0">
                <a:solidFill>
                  <a:srgbClr val="E6EDF3"/>
                </a:solidFill>
                <a:latin typeface="Inconsolata"/>
              </a:rPr>
              <a:t> </a:t>
            </a:r>
            <a:r>
              <a:rPr sz="700" i="0" dirty="0">
                <a:solidFill>
                  <a:srgbClr val="7FDBCA"/>
                </a:solidFill>
                <a:latin typeface="Inconsolata"/>
              </a:rPr>
              <a:t>Notifier</a:t>
            </a:r>
            <a:r>
              <a:rPr sz="700" i="0" dirty="0">
                <a:solidFill>
                  <a:srgbClr val="E6EDF3"/>
                </a:solidFill>
                <a:latin typeface="Inconsolata"/>
              </a:rPr>
              <a:t>, </a:t>
            </a:r>
            <a:r>
              <a:rPr sz="700" i="0" dirty="0" err="1">
                <a:solidFill>
                  <a:srgbClr val="7FDBCA"/>
                </a:solidFill>
                <a:latin typeface="Inconsolata"/>
              </a:rPr>
              <a:t>OrderRepository</a:t>
            </a:r>
            <a:endParaRPr sz="700" i="0" dirty="0">
              <a:solidFill>
                <a:srgbClr val="7FDBCA"/>
              </a:solidFill>
              <a:latin typeface="Inconsolata"/>
            </a:endParaRPr>
          </a:p>
          <a:p>
            <a:pPr>
              <a:lnSpc>
                <a:spcPct val="107143"/>
              </a:lnSpc>
              <a:spcAft>
                <a:spcPts val="0"/>
              </a:spcAft>
            </a:pPr>
            <a:r>
              <a:rPr sz="700" i="0" dirty="0">
                <a:solidFill>
                  <a:srgbClr val="FF8E6E"/>
                </a:solidFill>
                <a:latin typeface="Inconsolata"/>
              </a:rPr>
              <a:t>from</a:t>
            </a:r>
            <a:r>
              <a:rPr sz="700" i="0" dirty="0">
                <a:solidFill>
                  <a:srgbClr val="E6EDF3"/>
                </a:solidFill>
                <a:latin typeface="Inconsolata"/>
              </a:rPr>
              <a:t> </a:t>
            </a:r>
            <a:r>
              <a:rPr sz="700" i="0" dirty="0" err="1">
                <a:solidFill>
                  <a:srgbClr val="E6EDF3"/>
                </a:solidFill>
                <a:latin typeface="Inconsolata"/>
              </a:rPr>
              <a:t>app.domain.discounts</a:t>
            </a:r>
            <a:r>
              <a:rPr sz="700" i="0" dirty="0">
                <a:solidFill>
                  <a:srgbClr val="E6EDF3"/>
                </a:solidFill>
                <a:latin typeface="Inconsolata"/>
              </a:rPr>
              <a:t> </a:t>
            </a:r>
            <a:r>
              <a:rPr sz="700" i="0" dirty="0">
                <a:solidFill>
                  <a:srgbClr val="FF8E6E"/>
                </a:solidFill>
                <a:latin typeface="Inconsolata"/>
              </a:rPr>
              <a:t>import</a:t>
            </a:r>
            <a:r>
              <a:rPr sz="700" i="0" dirty="0">
                <a:solidFill>
                  <a:srgbClr val="E6EDF3"/>
                </a:solidFill>
                <a:latin typeface="Inconsolata"/>
              </a:rPr>
              <a:t> </a:t>
            </a:r>
            <a:r>
              <a:rPr sz="700" i="0" dirty="0" err="1">
                <a:solidFill>
                  <a:srgbClr val="E6EDF3"/>
                </a:solidFill>
                <a:latin typeface="Inconsolata"/>
              </a:rPr>
              <a:t>get_discount</a:t>
            </a:r>
            <a:endParaRPr sz="700" i="0" dirty="0">
              <a:solidFill>
                <a:srgbClr val="E6EDF3"/>
              </a:solidFill>
              <a:latin typeface="Inconsolata"/>
            </a:endParaRPr>
          </a:p>
          <a:p>
            <a:pPr>
              <a:lnSpc>
                <a:spcPct val="107143"/>
              </a:lnSpc>
              <a:spcAft>
                <a:spcPts val="0"/>
              </a:spcAft>
            </a:pPr>
            <a:r>
              <a:rPr sz="700" i="0" dirty="0">
                <a:solidFill>
                  <a:srgbClr val="FF8E6E"/>
                </a:solidFill>
                <a:latin typeface="Inconsolata"/>
              </a:rPr>
              <a:t>from</a:t>
            </a:r>
            <a:r>
              <a:rPr sz="700" i="0" dirty="0">
                <a:solidFill>
                  <a:srgbClr val="E6EDF3"/>
                </a:solidFill>
                <a:latin typeface="Inconsolata"/>
              </a:rPr>
              <a:t> </a:t>
            </a:r>
            <a:r>
              <a:rPr sz="700" i="0" dirty="0" err="1">
                <a:solidFill>
                  <a:srgbClr val="E6EDF3"/>
                </a:solidFill>
                <a:latin typeface="Inconsolata"/>
              </a:rPr>
              <a:t>app.domain.order</a:t>
            </a:r>
            <a:r>
              <a:rPr sz="700" i="0" dirty="0">
                <a:solidFill>
                  <a:srgbClr val="E6EDF3"/>
                </a:solidFill>
                <a:latin typeface="Inconsolata"/>
              </a:rPr>
              <a:t> </a:t>
            </a:r>
            <a:r>
              <a:rPr sz="700" i="0" dirty="0">
                <a:solidFill>
                  <a:srgbClr val="FF8E6E"/>
                </a:solidFill>
                <a:latin typeface="Inconsolata"/>
              </a:rPr>
              <a:t>import</a:t>
            </a:r>
            <a:r>
              <a:rPr sz="700" i="0" dirty="0">
                <a:solidFill>
                  <a:srgbClr val="E6EDF3"/>
                </a:solidFill>
                <a:latin typeface="Inconsolata"/>
              </a:rPr>
              <a:t> </a:t>
            </a:r>
            <a:r>
              <a:rPr sz="700" i="0" dirty="0">
                <a:solidFill>
                  <a:srgbClr val="7FDBCA"/>
                </a:solidFill>
                <a:latin typeface="Inconsolata"/>
              </a:rPr>
              <a:t>Order</a:t>
            </a:r>
          </a:p>
          <a:p>
            <a:pPr>
              <a:lnSpc>
                <a:spcPct val="107143"/>
              </a:lnSpc>
              <a:spcAft>
                <a:spcPts val="0"/>
              </a:spcAft>
            </a:pPr>
            <a:r>
              <a:rPr sz="700" i="0" dirty="0">
                <a:solidFill>
                  <a:srgbClr val="E6EDF3"/>
                </a:solidFill>
                <a:latin typeface="Inconsolata"/>
              </a:rPr>
              <a:t> </a:t>
            </a:r>
          </a:p>
          <a:p>
            <a:pPr>
              <a:lnSpc>
                <a:spcPct val="107143"/>
              </a:lnSpc>
              <a:spcAft>
                <a:spcPts val="0"/>
              </a:spcAft>
            </a:pPr>
            <a:r>
              <a:rPr sz="700" i="0" dirty="0">
                <a:solidFill>
                  <a:srgbClr val="FF8E6E"/>
                </a:solidFill>
                <a:latin typeface="Inconsolata"/>
              </a:rPr>
              <a:t>class</a:t>
            </a:r>
            <a:r>
              <a:rPr sz="700" i="0" dirty="0">
                <a:solidFill>
                  <a:srgbClr val="E6EDF3"/>
                </a:solidFill>
                <a:latin typeface="Inconsolata"/>
              </a:rPr>
              <a:t> </a:t>
            </a:r>
            <a:r>
              <a:rPr sz="700" i="0" dirty="0" err="1">
                <a:solidFill>
                  <a:srgbClr val="7FDBCA"/>
                </a:solidFill>
                <a:latin typeface="Inconsolata"/>
              </a:rPr>
              <a:t>OrderService</a:t>
            </a:r>
            <a:r>
              <a:rPr sz="700" i="0" dirty="0">
                <a:solidFill>
                  <a:srgbClr val="E6EDF3"/>
                </a:solidFill>
                <a:latin typeface="Inconsolata"/>
              </a:rPr>
              <a:t>:</a:t>
            </a:r>
          </a:p>
          <a:p>
            <a:pPr>
              <a:lnSpc>
                <a:spcPct val="107143"/>
              </a:lnSpc>
              <a:spcAft>
                <a:spcPts val="0"/>
              </a:spcAft>
            </a:pPr>
            <a:r>
              <a:rPr sz="700" i="0" dirty="0">
                <a:solidFill>
                  <a:srgbClr val="E6EDF3"/>
                </a:solidFill>
                <a:latin typeface="Inconsolata"/>
              </a:rPr>
              <a:t>    </a:t>
            </a:r>
            <a:r>
              <a:rPr sz="700" i="0" dirty="0">
                <a:solidFill>
                  <a:srgbClr val="FF8E6E"/>
                </a:solidFill>
                <a:latin typeface="Inconsolata"/>
              </a:rPr>
              <a:t>def</a:t>
            </a:r>
            <a:r>
              <a:rPr sz="700" i="0" dirty="0">
                <a:solidFill>
                  <a:srgbClr val="E6EDF3"/>
                </a:solidFill>
                <a:latin typeface="Inconsolata"/>
              </a:rPr>
              <a:t> </a:t>
            </a:r>
            <a:r>
              <a:rPr sz="700" i="0" dirty="0">
                <a:solidFill>
                  <a:srgbClr val="82B1FF"/>
                </a:solidFill>
                <a:latin typeface="Inconsolata"/>
              </a:rPr>
              <a:t>__</a:t>
            </a:r>
            <a:r>
              <a:rPr sz="700" i="0" dirty="0" err="1">
                <a:solidFill>
                  <a:srgbClr val="82B1FF"/>
                </a:solidFill>
                <a:latin typeface="Inconsolata"/>
              </a:rPr>
              <a:t>init</a:t>
            </a:r>
            <a:r>
              <a:rPr sz="700" i="0" dirty="0">
                <a:solidFill>
                  <a:srgbClr val="82B1FF"/>
                </a:solidFill>
                <a:latin typeface="Inconsolata"/>
              </a:rPr>
              <a:t>__</a:t>
            </a:r>
            <a:r>
              <a:rPr sz="700" i="0" dirty="0">
                <a:solidFill>
                  <a:srgbClr val="E6EDF3"/>
                </a:solidFill>
                <a:latin typeface="Inconsolata"/>
              </a:rPr>
              <a:t>(</a:t>
            </a:r>
            <a:r>
              <a:rPr sz="700" i="0" dirty="0">
                <a:solidFill>
                  <a:srgbClr val="C3A6FF"/>
                </a:solidFill>
                <a:latin typeface="Inconsolata"/>
              </a:rPr>
              <a:t>self</a:t>
            </a:r>
            <a:r>
              <a:rPr sz="700" i="0" dirty="0">
                <a:solidFill>
                  <a:srgbClr val="E6EDF3"/>
                </a:solidFill>
                <a:latin typeface="Inconsolata"/>
              </a:rPr>
              <a:t>, repo: </a:t>
            </a:r>
            <a:r>
              <a:rPr sz="700" i="0" dirty="0" err="1">
                <a:solidFill>
                  <a:srgbClr val="7FDBCA"/>
                </a:solidFill>
                <a:latin typeface="Inconsolata"/>
              </a:rPr>
              <a:t>OrderRepository</a:t>
            </a:r>
            <a:r>
              <a:rPr sz="700" i="0" dirty="0">
                <a:solidFill>
                  <a:srgbClr val="E6EDF3"/>
                </a:solidFill>
                <a:latin typeface="Inconsolata"/>
              </a:rPr>
              <a:t>, notifier: </a:t>
            </a:r>
            <a:r>
              <a:rPr sz="700" i="0" dirty="0">
                <a:solidFill>
                  <a:srgbClr val="7FDBCA"/>
                </a:solidFill>
                <a:latin typeface="Inconsolata"/>
              </a:rPr>
              <a:t>Notifier</a:t>
            </a:r>
            <a:r>
              <a:rPr sz="700" i="0" dirty="0">
                <a:solidFill>
                  <a:srgbClr val="E6EDF3"/>
                </a:solidFill>
                <a:latin typeface="Inconsolata"/>
              </a:rPr>
              <a:t>):</a:t>
            </a:r>
          </a:p>
          <a:p>
            <a:pPr>
              <a:lnSpc>
                <a:spcPct val="107143"/>
              </a:lnSpc>
              <a:spcAft>
                <a:spcPts val="0"/>
              </a:spcAft>
            </a:pPr>
            <a:r>
              <a:rPr sz="700" i="0" dirty="0">
                <a:solidFill>
                  <a:srgbClr val="E6EDF3"/>
                </a:solidFill>
                <a:latin typeface="Inconsolata"/>
              </a:rPr>
              <a:t>        </a:t>
            </a:r>
            <a:r>
              <a:rPr sz="700" i="0" dirty="0" err="1">
                <a:solidFill>
                  <a:srgbClr val="C3A6FF"/>
                </a:solidFill>
                <a:latin typeface="Inconsolata"/>
              </a:rPr>
              <a:t>self</a:t>
            </a:r>
            <a:r>
              <a:rPr sz="700" i="0" dirty="0" err="1">
                <a:solidFill>
                  <a:srgbClr val="E6EDF3"/>
                </a:solidFill>
                <a:latin typeface="Inconsolata"/>
              </a:rPr>
              <a:t>.repo</a:t>
            </a:r>
            <a:r>
              <a:rPr sz="700" i="0" dirty="0">
                <a:solidFill>
                  <a:srgbClr val="E6EDF3"/>
                </a:solidFill>
                <a:latin typeface="Inconsolata"/>
              </a:rPr>
              <a:t> = repo</a:t>
            </a:r>
          </a:p>
          <a:p>
            <a:pPr>
              <a:lnSpc>
                <a:spcPct val="107143"/>
              </a:lnSpc>
              <a:spcAft>
                <a:spcPts val="0"/>
              </a:spcAft>
            </a:pPr>
            <a:r>
              <a:rPr sz="700" i="0" dirty="0">
                <a:solidFill>
                  <a:srgbClr val="E6EDF3"/>
                </a:solidFill>
                <a:latin typeface="Inconsolata"/>
              </a:rPr>
              <a:t>        </a:t>
            </a:r>
            <a:r>
              <a:rPr sz="700" i="0" dirty="0" err="1">
                <a:solidFill>
                  <a:srgbClr val="C3A6FF"/>
                </a:solidFill>
                <a:latin typeface="Inconsolata"/>
              </a:rPr>
              <a:t>self</a:t>
            </a:r>
            <a:r>
              <a:rPr sz="700" i="0" dirty="0" err="1">
                <a:solidFill>
                  <a:srgbClr val="E6EDF3"/>
                </a:solidFill>
                <a:latin typeface="Inconsolata"/>
              </a:rPr>
              <a:t>.notifier</a:t>
            </a:r>
            <a:r>
              <a:rPr sz="700" i="0" dirty="0">
                <a:solidFill>
                  <a:srgbClr val="E6EDF3"/>
                </a:solidFill>
                <a:latin typeface="Inconsolata"/>
              </a:rPr>
              <a:t> = notifier</a:t>
            </a:r>
          </a:p>
          <a:p>
            <a:pPr>
              <a:lnSpc>
                <a:spcPct val="107143"/>
              </a:lnSpc>
              <a:spcAft>
                <a:spcPts val="0"/>
              </a:spcAft>
            </a:pPr>
            <a:r>
              <a:rPr sz="700" i="0" dirty="0">
                <a:solidFill>
                  <a:srgbClr val="E6EDF3"/>
                </a:solidFill>
                <a:latin typeface="Inconsolata"/>
              </a:rPr>
              <a:t> </a:t>
            </a:r>
          </a:p>
          <a:p>
            <a:pPr>
              <a:lnSpc>
                <a:spcPct val="107143"/>
              </a:lnSpc>
              <a:spcAft>
                <a:spcPts val="0"/>
              </a:spcAft>
            </a:pPr>
            <a:r>
              <a:rPr sz="700" i="0" dirty="0">
                <a:solidFill>
                  <a:srgbClr val="E6EDF3"/>
                </a:solidFill>
                <a:latin typeface="Inconsolata"/>
              </a:rPr>
              <a:t>    </a:t>
            </a:r>
            <a:r>
              <a:rPr sz="700" i="0" dirty="0">
                <a:solidFill>
                  <a:srgbClr val="FF8E6E"/>
                </a:solidFill>
                <a:latin typeface="Inconsolata"/>
              </a:rPr>
              <a:t>def</a:t>
            </a:r>
            <a:r>
              <a:rPr sz="700" i="0" dirty="0">
                <a:solidFill>
                  <a:srgbClr val="E6EDF3"/>
                </a:solidFill>
                <a:latin typeface="Inconsolata"/>
              </a:rPr>
              <a:t> </a:t>
            </a:r>
            <a:r>
              <a:rPr sz="700" i="0" dirty="0" err="1">
                <a:solidFill>
                  <a:srgbClr val="82B1FF"/>
                </a:solidFill>
                <a:latin typeface="Inconsolata"/>
              </a:rPr>
              <a:t>place_order</a:t>
            </a:r>
            <a:r>
              <a:rPr sz="700" i="0" dirty="0">
                <a:solidFill>
                  <a:srgbClr val="E6EDF3"/>
                </a:solidFill>
                <a:latin typeface="Inconsolata"/>
              </a:rPr>
              <a:t>(</a:t>
            </a:r>
            <a:r>
              <a:rPr sz="700" i="0" dirty="0">
                <a:solidFill>
                  <a:srgbClr val="C3A6FF"/>
                </a:solidFill>
                <a:latin typeface="Inconsolata"/>
              </a:rPr>
              <a:t>self</a:t>
            </a:r>
            <a:r>
              <a:rPr sz="700" i="0" dirty="0">
                <a:solidFill>
                  <a:srgbClr val="E6EDF3"/>
                </a:solidFill>
                <a:latin typeface="Inconsolata"/>
              </a:rPr>
              <a:t>, customer: </a:t>
            </a:r>
            <a:r>
              <a:rPr sz="700" i="0" dirty="0">
                <a:solidFill>
                  <a:srgbClr val="C3A6FF"/>
                </a:solidFill>
                <a:latin typeface="Inconsolata"/>
              </a:rPr>
              <a:t>str</a:t>
            </a:r>
            <a:r>
              <a:rPr sz="700" i="0" dirty="0">
                <a:solidFill>
                  <a:srgbClr val="E6EDF3"/>
                </a:solidFill>
                <a:latin typeface="Inconsolata"/>
              </a:rPr>
              <a:t>, </a:t>
            </a:r>
            <a:r>
              <a:rPr sz="700" i="0" dirty="0" err="1">
                <a:solidFill>
                  <a:srgbClr val="E6EDF3"/>
                </a:solidFill>
                <a:latin typeface="Inconsolata"/>
              </a:rPr>
              <a:t>customer_type</a:t>
            </a:r>
            <a:r>
              <a:rPr sz="700" i="0" dirty="0">
                <a:solidFill>
                  <a:srgbClr val="E6EDF3"/>
                </a:solidFill>
                <a:latin typeface="Inconsolata"/>
              </a:rPr>
              <a:t>: </a:t>
            </a:r>
            <a:r>
              <a:rPr sz="700" i="0" dirty="0">
                <a:solidFill>
                  <a:srgbClr val="C3A6FF"/>
                </a:solidFill>
                <a:latin typeface="Inconsolata"/>
              </a:rPr>
              <a:t>str</a:t>
            </a:r>
            <a:r>
              <a:rPr sz="700" i="0" dirty="0">
                <a:solidFill>
                  <a:srgbClr val="E6EDF3"/>
                </a:solidFill>
                <a:latin typeface="Inconsolata"/>
              </a:rPr>
              <a:t>, items: </a:t>
            </a:r>
            <a:r>
              <a:rPr sz="700" i="0" dirty="0">
                <a:solidFill>
                  <a:srgbClr val="C3A6FF"/>
                </a:solidFill>
                <a:latin typeface="Inconsolata"/>
              </a:rPr>
              <a:t>list</a:t>
            </a:r>
            <a:r>
              <a:rPr sz="700" i="0" dirty="0">
                <a:solidFill>
                  <a:srgbClr val="E6EDF3"/>
                </a:solidFill>
                <a:latin typeface="Inconsolata"/>
              </a:rPr>
              <a:t>[</a:t>
            </a:r>
            <a:r>
              <a:rPr sz="700" i="0" dirty="0" err="1">
                <a:solidFill>
                  <a:srgbClr val="C3A6FF"/>
                </a:solidFill>
                <a:latin typeface="Inconsolata"/>
              </a:rPr>
              <a:t>dict</a:t>
            </a:r>
            <a:r>
              <a:rPr sz="700" i="0" dirty="0">
                <a:solidFill>
                  <a:srgbClr val="E6EDF3"/>
                </a:solidFill>
                <a:latin typeface="Inconsolata"/>
              </a:rPr>
              <a:t>]) -&gt; </a:t>
            </a:r>
            <a:r>
              <a:rPr sz="700" i="0" dirty="0">
                <a:solidFill>
                  <a:srgbClr val="7FDBCA"/>
                </a:solidFill>
                <a:latin typeface="Inconsolata"/>
              </a:rPr>
              <a:t>Order</a:t>
            </a:r>
            <a:r>
              <a:rPr sz="700" i="0" dirty="0">
                <a:solidFill>
                  <a:srgbClr val="E6EDF3"/>
                </a:solidFill>
                <a:latin typeface="Inconsolata"/>
              </a:rPr>
              <a:t>:</a:t>
            </a:r>
          </a:p>
          <a:p>
            <a:pPr>
              <a:lnSpc>
                <a:spcPct val="107143"/>
              </a:lnSpc>
              <a:spcAft>
                <a:spcPts val="0"/>
              </a:spcAft>
            </a:pPr>
            <a:r>
              <a:rPr sz="700" i="0" dirty="0">
                <a:solidFill>
                  <a:srgbClr val="E6EDF3"/>
                </a:solidFill>
                <a:latin typeface="Inconsolata"/>
              </a:rPr>
              <a:t>        subtotal = </a:t>
            </a:r>
            <a:r>
              <a:rPr sz="700" i="0" dirty="0">
                <a:solidFill>
                  <a:srgbClr val="C3A6FF"/>
                </a:solidFill>
                <a:latin typeface="Inconsolata"/>
              </a:rPr>
              <a:t>sum</a:t>
            </a:r>
            <a:r>
              <a:rPr sz="700" i="0" dirty="0">
                <a:solidFill>
                  <a:srgbClr val="E6EDF3"/>
                </a:solidFill>
                <a:latin typeface="Inconsolata"/>
              </a:rPr>
              <a:t>(</a:t>
            </a:r>
            <a:r>
              <a:rPr sz="700" i="0" dirty="0" err="1">
                <a:solidFill>
                  <a:srgbClr val="E6EDF3"/>
                </a:solidFill>
                <a:latin typeface="Inconsolata"/>
              </a:rPr>
              <a:t>i</a:t>
            </a:r>
            <a:r>
              <a:rPr sz="700" i="0" dirty="0">
                <a:solidFill>
                  <a:srgbClr val="E6EDF3"/>
                </a:solidFill>
                <a:latin typeface="Inconsolata"/>
              </a:rPr>
              <a:t>[</a:t>
            </a:r>
            <a:r>
              <a:rPr sz="700" i="0" dirty="0">
                <a:solidFill>
                  <a:srgbClr val="A5D6A7"/>
                </a:solidFill>
                <a:latin typeface="Inconsolata"/>
              </a:rPr>
              <a:t>"price"</a:t>
            </a:r>
            <a:r>
              <a:rPr sz="700" i="0" dirty="0">
                <a:solidFill>
                  <a:srgbClr val="E6EDF3"/>
                </a:solidFill>
                <a:latin typeface="Inconsolata"/>
              </a:rPr>
              <a:t>] * </a:t>
            </a:r>
            <a:r>
              <a:rPr sz="700" i="0" dirty="0" err="1">
                <a:solidFill>
                  <a:srgbClr val="E6EDF3"/>
                </a:solidFill>
                <a:latin typeface="Inconsolata"/>
              </a:rPr>
              <a:t>i</a:t>
            </a:r>
            <a:r>
              <a:rPr sz="700" i="0" dirty="0">
                <a:solidFill>
                  <a:srgbClr val="E6EDF3"/>
                </a:solidFill>
                <a:latin typeface="Inconsolata"/>
              </a:rPr>
              <a:t>[</a:t>
            </a:r>
            <a:r>
              <a:rPr sz="700" i="0" dirty="0">
                <a:solidFill>
                  <a:srgbClr val="A5D6A7"/>
                </a:solidFill>
                <a:latin typeface="Inconsolata"/>
              </a:rPr>
              <a:t>"qty"</a:t>
            </a:r>
            <a:r>
              <a:rPr sz="700" i="0" dirty="0">
                <a:solidFill>
                  <a:srgbClr val="E6EDF3"/>
                </a:solidFill>
                <a:latin typeface="Inconsolata"/>
              </a:rPr>
              <a:t>] </a:t>
            </a:r>
            <a:r>
              <a:rPr sz="700" i="0" dirty="0">
                <a:solidFill>
                  <a:srgbClr val="FF8E6E"/>
                </a:solidFill>
                <a:latin typeface="Inconsolata"/>
              </a:rPr>
              <a:t>for</a:t>
            </a:r>
            <a:r>
              <a:rPr sz="700" i="0" dirty="0">
                <a:solidFill>
                  <a:srgbClr val="E6EDF3"/>
                </a:solidFill>
                <a:latin typeface="Inconsolata"/>
              </a:rPr>
              <a:t> </a:t>
            </a:r>
            <a:r>
              <a:rPr sz="700" i="0" dirty="0" err="1">
                <a:solidFill>
                  <a:srgbClr val="E6EDF3"/>
                </a:solidFill>
                <a:latin typeface="Inconsolata"/>
              </a:rPr>
              <a:t>i</a:t>
            </a:r>
            <a:r>
              <a:rPr sz="700" i="0" dirty="0">
                <a:solidFill>
                  <a:srgbClr val="E6EDF3"/>
                </a:solidFill>
                <a:latin typeface="Inconsolata"/>
              </a:rPr>
              <a:t> </a:t>
            </a:r>
            <a:r>
              <a:rPr sz="700" i="0" dirty="0">
                <a:solidFill>
                  <a:srgbClr val="FF8E6E"/>
                </a:solidFill>
                <a:latin typeface="Inconsolata"/>
              </a:rPr>
              <a:t>in</a:t>
            </a:r>
            <a:r>
              <a:rPr sz="700" i="0" dirty="0">
                <a:solidFill>
                  <a:srgbClr val="E6EDF3"/>
                </a:solidFill>
                <a:latin typeface="Inconsolata"/>
              </a:rPr>
              <a:t> items)</a:t>
            </a:r>
          </a:p>
          <a:p>
            <a:pPr>
              <a:lnSpc>
                <a:spcPct val="107143"/>
              </a:lnSpc>
              <a:spcAft>
                <a:spcPts val="0"/>
              </a:spcAft>
            </a:pPr>
            <a:r>
              <a:rPr sz="700" i="0" dirty="0">
                <a:solidFill>
                  <a:srgbClr val="E6EDF3"/>
                </a:solidFill>
                <a:latin typeface="Inconsolata"/>
              </a:rPr>
              <a:t>        total = subtotal - </a:t>
            </a:r>
            <a:r>
              <a:rPr sz="700" i="0" dirty="0" err="1">
                <a:solidFill>
                  <a:srgbClr val="E6EDF3"/>
                </a:solidFill>
                <a:latin typeface="Inconsolata"/>
              </a:rPr>
              <a:t>get_discount</a:t>
            </a:r>
            <a:r>
              <a:rPr sz="700" i="0" dirty="0">
                <a:solidFill>
                  <a:srgbClr val="E6EDF3"/>
                </a:solidFill>
                <a:latin typeface="Inconsolata"/>
              </a:rPr>
              <a:t>(</a:t>
            </a:r>
            <a:r>
              <a:rPr sz="700" i="0" dirty="0" err="1">
                <a:solidFill>
                  <a:srgbClr val="E6EDF3"/>
                </a:solidFill>
                <a:latin typeface="Inconsolata"/>
              </a:rPr>
              <a:t>customer_type</a:t>
            </a:r>
            <a:r>
              <a:rPr sz="700" i="0" dirty="0">
                <a:solidFill>
                  <a:srgbClr val="E6EDF3"/>
                </a:solidFill>
                <a:latin typeface="Inconsolata"/>
              </a:rPr>
              <a:t>).discount(subtotal)</a:t>
            </a:r>
          </a:p>
          <a:p>
            <a:pPr>
              <a:lnSpc>
                <a:spcPct val="107143"/>
              </a:lnSpc>
              <a:spcAft>
                <a:spcPts val="0"/>
              </a:spcAft>
            </a:pPr>
            <a:r>
              <a:rPr sz="700" i="0" dirty="0">
                <a:solidFill>
                  <a:srgbClr val="E6EDF3"/>
                </a:solidFill>
                <a:latin typeface="Inconsolata"/>
              </a:rPr>
              <a:t>        order = </a:t>
            </a:r>
            <a:r>
              <a:rPr sz="700" i="0" dirty="0" err="1">
                <a:solidFill>
                  <a:srgbClr val="C3A6FF"/>
                </a:solidFill>
                <a:latin typeface="Inconsolata"/>
              </a:rPr>
              <a:t>self</a:t>
            </a:r>
            <a:r>
              <a:rPr sz="700" i="0" dirty="0" err="1">
                <a:solidFill>
                  <a:srgbClr val="E6EDF3"/>
                </a:solidFill>
                <a:latin typeface="Inconsolata"/>
              </a:rPr>
              <a:t>.repo.add</a:t>
            </a:r>
            <a:r>
              <a:rPr sz="700" i="0" dirty="0">
                <a:solidFill>
                  <a:srgbClr val="E6EDF3"/>
                </a:solidFill>
                <a:latin typeface="Inconsolata"/>
              </a:rPr>
              <a:t>(</a:t>
            </a:r>
            <a:r>
              <a:rPr sz="700" i="0" dirty="0">
                <a:solidFill>
                  <a:srgbClr val="7FDBCA"/>
                </a:solidFill>
                <a:latin typeface="Inconsolata"/>
              </a:rPr>
              <a:t>Order</a:t>
            </a:r>
            <a:r>
              <a:rPr sz="700" i="0" dirty="0">
                <a:solidFill>
                  <a:srgbClr val="E6EDF3"/>
                </a:solidFill>
                <a:latin typeface="Inconsolata"/>
              </a:rPr>
              <a:t>(customer, </a:t>
            </a:r>
            <a:r>
              <a:rPr sz="700" i="0" dirty="0" err="1">
                <a:solidFill>
                  <a:srgbClr val="E6EDF3"/>
                </a:solidFill>
                <a:latin typeface="Inconsolata"/>
              </a:rPr>
              <a:t>customer_type</a:t>
            </a:r>
            <a:r>
              <a:rPr sz="700" i="0" dirty="0">
                <a:solidFill>
                  <a:srgbClr val="E6EDF3"/>
                </a:solidFill>
                <a:latin typeface="Inconsolata"/>
              </a:rPr>
              <a:t>, subtotal, total))</a:t>
            </a:r>
          </a:p>
          <a:p>
            <a:pPr>
              <a:lnSpc>
                <a:spcPct val="107143"/>
              </a:lnSpc>
              <a:spcAft>
                <a:spcPts val="0"/>
              </a:spcAft>
            </a:pPr>
            <a:r>
              <a:rPr sz="700" i="0" dirty="0">
                <a:solidFill>
                  <a:srgbClr val="E6EDF3"/>
                </a:solidFill>
                <a:latin typeface="Inconsolata"/>
              </a:rPr>
              <a:t>        </a:t>
            </a:r>
            <a:r>
              <a:rPr sz="700" i="0" dirty="0" err="1">
                <a:solidFill>
                  <a:srgbClr val="C3A6FF"/>
                </a:solidFill>
                <a:latin typeface="Inconsolata"/>
              </a:rPr>
              <a:t>self</a:t>
            </a:r>
            <a:r>
              <a:rPr sz="700" i="0" dirty="0" err="1">
                <a:solidFill>
                  <a:srgbClr val="E6EDF3"/>
                </a:solidFill>
                <a:latin typeface="Inconsolata"/>
              </a:rPr>
              <a:t>.notifier.send</a:t>
            </a:r>
            <a:r>
              <a:rPr sz="700" i="0" dirty="0">
                <a:solidFill>
                  <a:srgbClr val="E6EDF3"/>
                </a:solidFill>
                <a:latin typeface="Inconsolata"/>
              </a:rPr>
              <a:t>(customer, </a:t>
            </a:r>
            <a:r>
              <a:rPr sz="700" i="0" dirty="0" err="1">
                <a:solidFill>
                  <a:srgbClr val="A5D6A7"/>
                </a:solidFill>
                <a:latin typeface="Inconsolata"/>
              </a:rPr>
              <a:t>f"Order</a:t>
            </a:r>
            <a:r>
              <a:rPr sz="700" i="0" dirty="0">
                <a:solidFill>
                  <a:srgbClr val="A5D6A7"/>
                </a:solidFill>
                <a:latin typeface="Inconsolata"/>
              </a:rPr>
              <a:t> #{order.id} total Rp{total:,}"</a:t>
            </a:r>
            <a:r>
              <a:rPr sz="700" i="0" dirty="0">
                <a:solidFill>
                  <a:srgbClr val="E6EDF3"/>
                </a:solidFill>
                <a:latin typeface="Inconsolata"/>
              </a:rPr>
              <a:t>)</a:t>
            </a:r>
          </a:p>
          <a:p>
            <a:pPr>
              <a:lnSpc>
                <a:spcPct val="107143"/>
              </a:lnSpc>
              <a:spcAft>
                <a:spcPts val="0"/>
              </a:spcAft>
            </a:pPr>
            <a:r>
              <a:rPr sz="700" i="0" dirty="0">
                <a:solidFill>
                  <a:srgbClr val="E6EDF3"/>
                </a:solidFill>
                <a:latin typeface="Inconsolata"/>
              </a:rPr>
              <a:t>        </a:t>
            </a:r>
            <a:r>
              <a:rPr sz="700" i="0" dirty="0">
                <a:solidFill>
                  <a:srgbClr val="FF8E6E"/>
                </a:solidFill>
                <a:latin typeface="Inconsolata"/>
              </a:rPr>
              <a:t>return</a:t>
            </a:r>
            <a:r>
              <a:rPr sz="700" i="0" dirty="0">
                <a:solidFill>
                  <a:srgbClr val="E6EDF3"/>
                </a:solidFill>
                <a:latin typeface="Inconsolata"/>
              </a:rPr>
              <a:t> order</a:t>
            </a:r>
          </a:p>
          <a:p>
            <a:pPr>
              <a:lnSpc>
                <a:spcPct val="107143"/>
              </a:lnSpc>
              <a:spcAft>
                <a:spcPts val="0"/>
              </a:spcAft>
            </a:pPr>
            <a:r>
              <a:rPr sz="700" i="0" dirty="0">
                <a:solidFill>
                  <a:srgbClr val="E6EDF3"/>
                </a:solidFill>
                <a:latin typeface="Inconsolata"/>
              </a:rPr>
              <a:t>    ...</a:t>
            </a:r>
          </a:p>
        </p:txBody>
      </p:sp>
      <p:sp>
        <p:nvSpPr>
          <p:cNvPr id="29" name="Box 12"/>
          <p:cNvSpPr/>
          <p:nvPr/>
        </p:nvSpPr>
        <p:spPr>
          <a:xfrm>
            <a:off x="704088" y="1825371"/>
            <a:ext cx="4727448" cy="336042"/>
          </a:xfrm>
          <a:prstGeom prst="roundRect">
            <a:avLst>
              <a:gd name="adj" fmla="val 1360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18745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396871"/>
            <a:ext cx="4727448" cy="336042"/>
          </a:xfrm>
          <a:prstGeom prst="roundRect">
            <a:avLst>
              <a:gd name="adj" fmla="val 13605"/>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24460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196971"/>
            <a:ext cx="47274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312664" y="31318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Import hanya dari </a:t>
            </a:r>
            <a:r>
              <a:rPr sz="900" b="0" i="0">
                <a:solidFill>
                  <a:srgbClr val="B5482A"/>
                </a:solidFill>
                <a:latin typeface="Inconsolata"/>
              </a:rPr>
              <a:t>application.ports</a:t>
            </a:r>
            <a:r>
              <a:rPr sz="900" b="0" i="0">
                <a:solidFill>
                  <a:srgbClr val="434343"/>
                </a:solidFill>
                <a:latin typeface="Inter"/>
              </a:rPr>
              <a:t> dan </a:t>
            </a:r>
            <a:r>
              <a:rPr sz="900" b="0" i="0">
                <a:solidFill>
                  <a:srgbClr val="B5482A"/>
                </a:solidFill>
                <a:latin typeface="Inconsolata"/>
              </a:rPr>
              <a:t>domain</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Dependency diterima lewat </a:t>
            </a:r>
            <a:r>
              <a:rPr sz="900" b="0" i="0">
                <a:solidFill>
                  <a:srgbClr val="B5482A"/>
                </a:solidFill>
                <a:latin typeface="Inconsolata"/>
              </a:rPr>
              <a:t>__init__</a:t>
            </a:r>
            <a:r>
              <a:rPr sz="900" b="0" i="0">
                <a:solidFill>
                  <a:srgbClr val="434343"/>
                </a:solidFill>
                <a:latin typeface="Inter"/>
              </a:rPr>
              <a:t> dengan tipe port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Logic sama seperti Sesi 1, sekarang memakai </a:t>
            </a:r>
            <a:r>
              <a:rPr sz="900" b="0" i="0">
                <a:solidFill>
                  <a:srgbClr val="B5482A"/>
                </a:solidFill>
                <a:latin typeface="Inconsolata"/>
              </a:rPr>
              <a:t>Order</a:t>
            </a:r>
          </a:p>
        </p:txBody>
      </p:sp>
      <p:sp>
        <p:nvSpPr>
          <p:cNvPr id="38" name="Box 21"/>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B5482A"/>
                </a:solidFill>
                <a:latin typeface="Inconsolata"/>
              </a:rPr>
              <a:t>OrderNotFound</a:t>
            </a:r>
            <a:r>
              <a:rPr sz="900" b="0" i="0">
                <a:solidFill>
                  <a:srgbClr val="434343"/>
                </a:solidFill>
                <a:latin typeface="Inter"/>
              </a:rPr>
              <a:t> dan </a:t>
            </a:r>
            <a:r>
              <a:rPr sz="900" b="0" i="0">
                <a:solidFill>
                  <a:srgbClr val="B5482A"/>
                </a:solidFill>
                <a:latin typeface="Inconsolata"/>
              </a:rPr>
              <a:t>get_order()</a:t>
            </a:r>
            <a:r>
              <a:rPr sz="900" b="0" i="0">
                <a:solidFill>
                  <a:srgbClr val="434343"/>
                </a:solidFill>
                <a:latin typeface="Inter"/>
              </a:rPr>
              <a:t> lengkapnya ada di file.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5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infrastructure/: Adapter SQLite, Notifier, Config</a:t>
            </a:r>
          </a:p>
        </p:txBody>
      </p:sp>
      <p:sp>
        <p:nvSpPr>
          <p:cNvPr id="22" name="CodeTab 4"/>
          <p:cNvSpPr/>
          <p:nvPr/>
        </p:nvSpPr>
        <p:spPr>
          <a:xfrm>
            <a:off x="621792" y="1481328"/>
            <a:ext cx="539496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754880"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app/infrastructure/sqlite_repository.py</a:t>
            </a:r>
          </a:p>
        </p:txBody>
      </p:sp>
      <p:sp>
        <p:nvSpPr>
          <p:cNvPr id="27" name="CodeBg 10"/>
          <p:cNvSpPr/>
          <p:nvPr/>
        </p:nvSpPr>
        <p:spPr>
          <a:xfrm>
            <a:off x="621792" y="1719072"/>
            <a:ext cx="539496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5394960" cy="2980944"/>
          </a:xfrm>
          <a:prstGeom prst="rect">
            <a:avLst/>
          </a:prstGeom>
          <a:noFill/>
        </p:spPr>
        <p:txBody>
          <a:bodyPr wrap="none" lIns="146304" tIns="91440" rIns="146304" bIns="54864">
            <a:spAutoFit/>
          </a:bodyPr>
          <a:lstStyle/>
          <a:p>
            <a:pPr>
              <a:lnSpc>
                <a:spcPct val="111111"/>
              </a:lnSpc>
              <a:spcAft>
                <a:spcPts val="0"/>
              </a:spcAft>
            </a:pPr>
            <a:r>
              <a:rPr sz="675" i="0">
                <a:solidFill>
                  <a:srgbClr val="FF8E6E"/>
                </a:solidFill>
                <a:latin typeface="Inconsolata"/>
              </a:rPr>
              <a:t>class</a:t>
            </a:r>
            <a:r>
              <a:rPr sz="675" i="0">
                <a:solidFill>
                  <a:srgbClr val="E6EDF3"/>
                </a:solidFill>
                <a:latin typeface="Inconsolata"/>
              </a:rPr>
              <a:t> </a:t>
            </a:r>
            <a:r>
              <a:rPr sz="675" i="0">
                <a:solidFill>
                  <a:srgbClr val="7FDBCA"/>
                </a:solidFill>
                <a:latin typeface="Inconsolata"/>
              </a:rPr>
              <a:t>SqliteOrderRepository</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__init__</a:t>
            </a:r>
            <a:r>
              <a:rPr sz="675" i="0">
                <a:solidFill>
                  <a:srgbClr val="E6EDF3"/>
                </a:solidFill>
                <a:latin typeface="Inconsolata"/>
              </a:rPr>
              <a:t>(</a:t>
            </a:r>
            <a:r>
              <a:rPr sz="675" i="0">
                <a:solidFill>
                  <a:srgbClr val="C3A6FF"/>
                </a:solidFill>
                <a:latin typeface="Inconsolata"/>
              </a:rPr>
              <a:t>self</a:t>
            </a:r>
            <a:r>
              <a:rPr sz="675" i="0">
                <a:solidFill>
                  <a:srgbClr val="E6EDF3"/>
                </a:solidFill>
                <a:latin typeface="Inconsolata"/>
              </a:rPr>
              <a:t>, path: </a:t>
            </a:r>
            <a:r>
              <a:rPr sz="675" i="0">
                <a:solidFill>
                  <a:srgbClr val="C3A6FF"/>
                </a:solidFill>
                <a:latin typeface="Inconsolata"/>
              </a:rPr>
              <a:t>str</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r>
              <a:rPr sz="675" i="0">
                <a:solidFill>
                  <a:srgbClr val="C3A6FF"/>
                </a:solidFill>
                <a:latin typeface="Inconsolata"/>
              </a:rPr>
              <a:t>self</a:t>
            </a:r>
            <a:r>
              <a:rPr sz="675" i="0">
                <a:solidFill>
                  <a:srgbClr val="E6EDF3"/>
                </a:solidFill>
                <a:latin typeface="Inconsolata"/>
              </a:rPr>
              <a:t>.conn = sqlite3.connect(path, check_same_thread=</a:t>
            </a:r>
            <a:r>
              <a:rPr sz="675" i="0">
                <a:solidFill>
                  <a:srgbClr val="FF8E6E"/>
                </a:solidFill>
                <a:latin typeface="Inconsolata"/>
              </a:rPr>
              <a:t>False</a:t>
            </a:r>
            <a:r>
              <a:rPr sz="675" i="0">
                <a:solidFill>
                  <a:srgbClr val="E6EDF3"/>
                </a:solidFill>
                <a:latin typeface="Inconsolata"/>
              </a:rPr>
              <a:t>)</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E6EDF3"/>
                </a:solidFill>
                <a:latin typeface="Inconsolata"/>
              </a:rPr>
              <a:t>    </a:t>
            </a: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add</a:t>
            </a:r>
            <a:r>
              <a:rPr sz="675" i="0">
                <a:solidFill>
                  <a:srgbClr val="E6EDF3"/>
                </a:solidFill>
                <a:latin typeface="Inconsolata"/>
              </a:rPr>
              <a:t>(</a:t>
            </a:r>
            <a:r>
              <a:rPr sz="675" i="0">
                <a:solidFill>
                  <a:srgbClr val="C3A6FF"/>
                </a:solidFill>
                <a:latin typeface="Inconsolata"/>
              </a:rPr>
              <a:t>self</a:t>
            </a:r>
            <a:r>
              <a:rPr sz="675" i="0">
                <a:solidFill>
                  <a:srgbClr val="E6EDF3"/>
                </a:solidFill>
                <a:latin typeface="Inconsolata"/>
              </a:rPr>
              <a:t>, order: </a:t>
            </a:r>
            <a:r>
              <a:rPr sz="675" i="0">
                <a:solidFill>
                  <a:srgbClr val="7FDBCA"/>
                </a:solidFill>
                <a:latin typeface="Inconsolata"/>
              </a:rPr>
              <a:t>Order</a:t>
            </a:r>
            <a:r>
              <a:rPr sz="675" i="0">
                <a:solidFill>
                  <a:srgbClr val="E6EDF3"/>
                </a:solidFill>
                <a:latin typeface="Inconsolata"/>
              </a:rPr>
              <a:t>) -&gt; </a:t>
            </a:r>
            <a:r>
              <a:rPr sz="675" i="0">
                <a:solidFill>
                  <a:srgbClr val="7FDBCA"/>
                </a:solidFill>
                <a:latin typeface="Inconsolata"/>
              </a:rPr>
              <a:t>Order</a:t>
            </a:r>
            <a:r>
              <a:rPr sz="675" i="0">
                <a:solidFill>
                  <a:srgbClr val="E6EDF3"/>
                </a:solidFill>
                <a:latin typeface="Inconsolata"/>
              </a:rPr>
              <a:t>:</a:t>
            </a:r>
          </a:p>
          <a:p>
            <a:pPr>
              <a:lnSpc>
                <a:spcPct val="111111"/>
              </a:lnSpc>
              <a:spcAft>
                <a:spcPts val="0"/>
              </a:spcAft>
            </a:pPr>
            <a:r>
              <a:rPr sz="675" i="0">
                <a:solidFill>
                  <a:srgbClr val="E6EDF3"/>
                </a:solidFill>
                <a:latin typeface="Inconsolata"/>
              </a:rPr>
              <a:t>        cur = </a:t>
            </a:r>
            <a:r>
              <a:rPr sz="675" i="0">
                <a:solidFill>
                  <a:srgbClr val="C3A6FF"/>
                </a:solidFill>
                <a:latin typeface="Inconsolata"/>
              </a:rPr>
              <a:t>self</a:t>
            </a:r>
            <a:r>
              <a:rPr sz="675" i="0">
                <a:solidFill>
                  <a:srgbClr val="E6EDF3"/>
                </a:solidFill>
                <a:latin typeface="Inconsolata"/>
              </a:rPr>
              <a:t>.conn.execute(</a:t>
            </a:r>
          </a:p>
          <a:p>
            <a:pPr>
              <a:lnSpc>
                <a:spcPct val="111111"/>
              </a:lnSpc>
              <a:spcAft>
                <a:spcPts val="0"/>
              </a:spcAft>
            </a:pPr>
            <a:r>
              <a:rPr sz="675" i="0">
                <a:solidFill>
                  <a:srgbClr val="E6EDF3"/>
                </a:solidFill>
                <a:latin typeface="Inconsolata"/>
              </a:rPr>
              <a:t>            </a:t>
            </a:r>
            <a:r>
              <a:rPr sz="675" i="0">
                <a:solidFill>
                  <a:srgbClr val="A5D6A7"/>
                </a:solidFill>
                <a:latin typeface="Inconsolata"/>
              </a:rPr>
              <a:t>"INSERT INTO orders (customer, customer_type, subtotal, total) VALUES (?, ?, ?, ?)"</a:t>
            </a:r>
            <a:r>
              <a:rPr sz="675" i="0">
                <a:solidFill>
                  <a:srgbClr val="E6EDF3"/>
                </a:solidFill>
                <a:latin typeface="Inconsolata"/>
              </a:rPr>
              <a:t>,</a:t>
            </a:r>
          </a:p>
          <a:p>
            <a:pPr>
              <a:lnSpc>
                <a:spcPct val="111111"/>
              </a:lnSpc>
              <a:spcAft>
                <a:spcPts val="0"/>
              </a:spcAft>
            </a:pPr>
            <a:r>
              <a:rPr sz="675" i="0">
                <a:solidFill>
                  <a:srgbClr val="E6EDF3"/>
                </a:solidFill>
                <a:latin typeface="Inconsolata"/>
              </a:rPr>
              <a:t>            (order.customer, order.customer_type, order.subtotal, order.total),</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E6EDF3"/>
                </a:solidFill>
                <a:latin typeface="Inconsolata"/>
              </a:rPr>
              <a:t>        </a:t>
            </a:r>
            <a:r>
              <a:rPr sz="675" i="0">
                <a:solidFill>
                  <a:srgbClr val="C3A6FF"/>
                </a:solidFill>
                <a:latin typeface="Inconsolata"/>
              </a:rPr>
              <a:t>self</a:t>
            </a:r>
            <a:r>
              <a:rPr sz="675" i="0">
                <a:solidFill>
                  <a:srgbClr val="E6EDF3"/>
                </a:solidFill>
                <a:latin typeface="Inconsolata"/>
              </a:rPr>
              <a:t>.conn.commit()</a:t>
            </a:r>
          </a:p>
          <a:p>
            <a:pPr>
              <a:lnSpc>
                <a:spcPct val="111111"/>
              </a:lnSpc>
              <a:spcAft>
                <a:spcPts val="0"/>
              </a:spcAft>
            </a:pPr>
            <a:r>
              <a:rPr sz="675" i="0">
                <a:solidFill>
                  <a:srgbClr val="E6EDF3"/>
                </a:solidFill>
                <a:latin typeface="Inconsolata"/>
              </a:rPr>
              <a:t>        </a:t>
            </a:r>
            <a:r>
              <a:rPr sz="675" i="0">
                <a:solidFill>
                  <a:srgbClr val="FF8E6E"/>
                </a:solidFill>
                <a:latin typeface="Inconsolata"/>
              </a:rPr>
              <a:t>return</a:t>
            </a:r>
            <a:r>
              <a:rPr sz="675" i="0">
                <a:solidFill>
                  <a:srgbClr val="E6EDF3"/>
                </a:solidFill>
                <a:latin typeface="Inconsolata"/>
              </a:rPr>
              <a:t> replace(order, id=cur.lastrowid)</a:t>
            </a:r>
          </a:p>
          <a:p>
            <a:pPr>
              <a:lnSpc>
                <a:spcPct val="111111"/>
              </a:lnSpc>
              <a:spcAft>
                <a:spcPts val="0"/>
              </a:spcAft>
            </a:pPr>
            <a:r>
              <a:rPr sz="675" i="0">
                <a:solidFill>
                  <a:srgbClr val="E6EDF3"/>
                </a:solidFill>
                <a:latin typeface="Inconsolata"/>
              </a:rPr>
              <a:t> </a:t>
            </a:r>
          </a:p>
          <a:p>
            <a:pPr>
              <a:lnSpc>
                <a:spcPct val="111111"/>
              </a:lnSpc>
              <a:spcAft>
                <a:spcPts val="0"/>
              </a:spcAft>
            </a:pPr>
            <a:r>
              <a:rPr sz="675" i="0">
                <a:solidFill>
                  <a:srgbClr val="E6EDF3"/>
                </a:solidFill>
                <a:latin typeface="Inconsolata"/>
              </a:rPr>
              <a:t>    </a:t>
            </a:r>
            <a:r>
              <a:rPr sz="675" i="0">
                <a:solidFill>
                  <a:srgbClr val="FF8E6E"/>
                </a:solidFill>
                <a:latin typeface="Inconsolata"/>
              </a:rPr>
              <a:t>def</a:t>
            </a:r>
            <a:r>
              <a:rPr sz="675" i="0">
                <a:solidFill>
                  <a:srgbClr val="E6EDF3"/>
                </a:solidFill>
                <a:latin typeface="Inconsolata"/>
              </a:rPr>
              <a:t> </a:t>
            </a:r>
            <a:r>
              <a:rPr sz="675" i="0">
                <a:solidFill>
                  <a:srgbClr val="82B1FF"/>
                </a:solidFill>
                <a:latin typeface="Inconsolata"/>
              </a:rPr>
              <a:t>get</a:t>
            </a:r>
            <a:r>
              <a:rPr sz="675" i="0">
                <a:solidFill>
                  <a:srgbClr val="E6EDF3"/>
                </a:solidFill>
                <a:latin typeface="Inconsolata"/>
              </a:rPr>
              <a:t>(</a:t>
            </a:r>
            <a:r>
              <a:rPr sz="675" i="0">
                <a:solidFill>
                  <a:srgbClr val="C3A6FF"/>
                </a:solidFill>
                <a:latin typeface="Inconsolata"/>
              </a:rPr>
              <a:t>self</a:t>
            </a:r>
            <a:r>
              <a:rPr sz="675" i="0">
                <a:solidFill>
                  <a:srgbClr val="E6EDF3"/>
                </a:solidFill>
                <a:latin typeface="Inconsolata"/>
              </a:rPr>
              <a:t>, order_id: </a:t>
            </a:r>
            <a:r>
              <a:rPr sz="675" i="0">
                <a:solidFill>
                  <a:srgbClr val="C3A6FF"/>
                </a:solidFill>
                <a:latin typeface="Inconsolata"/>
              </a:rPr>
              <a:t>int</a:t>
            </a:r>
            <a:r>
              <a:rPr sz="675" i="0">
                <a:solidFill>
                  <a:srgbClr val="E6EDF3"/>
                </a:solidFill>
                <a:latin typeface="Inconsolata"/>
              </a:rPr>
              <a:t>) -&gt; </a:t>
            </a:r>
            <a:r>
              <a:rPr sz="675" i="0">
                <a:solidFill>
                  <a:srgbClr val="7FDBCA"/>
                </a:solidFill>
                <a:latin typeface="Inconsolata"/>
              </a:rPr>
              <a:t>Order</a:t>
            </a:r>
            <a:r>
              <a:rPr sz="675" i="0">
                <a:solidFill>
                  <a:srgbClr val="E6EDF3"/>
                </a:solidFill>
                <a:latin typeface="Inconsolata"/>
              </a:rPr>
              <a:t> | </a:t>
            </a:r>
            <a:r>
              <a:rPr sz="675" i="0">
                <a:solidFill>
                  <a:srgbClr val="FF8E6E"/>
                </a:solidFill>
                <a:latin typeface="Inconsolata"/>
              </a:rPr>
              <a:t>None</a:t>
            </a:r>
            <a:r>
              <a:rPr sz="675" i="0">
                <a:solidFill>
                  <a:srgbClr val="E6EDF3"/>
                </a:solidFill>
                <a:latin typeface="Inconsolata"/>
              </a:rPr>
              <a:t>:</a:t>
            </a:r>
          </a:p>
          <a:p>
            <a:pPr>
              <a:lnSpc>
                <a:spcPct val="111111"/>
              </a:lnSpc>
              <a:spcAft>
                <a:spcPts val="0"/>
              </a:spcAft>
            </a:pPr>
            <a:r>
              <a:rPr sz="675" i="0">
                <a:solidFill>
                  <a:srgbClr val="E6EDF3"/>
                </a:solidFill>
                <a:latin typeface="Inconsolata"/>
              </a:rPr>
              <a:t>        row = </a:t>
            </a:r>
            <a:r>
              <a:rPr sz="675" i="0">
                <a:solidFill>
                  <a:srgbClr val="C3A6FF"/>
                </a:solidFill>
                <a:latin typeface="Inconsolata"/>
              </a:rPr>
              <a:t>self</a:t>
            </a:r>
            <a:r>
              <a:rPr sz="675" i="0">
                <a:solidFill>
                  <a:srgbClr val="E6EDF3"/>
                </a:solidFill>
                <a:latin typeface="Inconsolata"/>
              </a:rPr>
              <a:t>.conn.execute(</a:t>
            </a:r>
          </a:p>
          <a:p>
            <a:pPr>
              <a:lnSpc>
                <a:spcPct val="111111"/>
              </a:lnSpc>
              <a:spcAft>
                <a:spcPts val="0"/>
              </a:spcAft>
            </a:pPr>
            <a:r>
              <a:rPr sz="675" i="0">
                <a:solidFill>
                  <a:srgbClr val="E6EDF3"/>
                </a:solidFill>
                <a:latin typeface="Inconsolata"/>
              </a:rPr>
              <a:t>            </a:t>
            </a:r>
            <a:r>
              <a:rPr sz="675" i="0">
                <a:solidFill>
                  <a:srgbClr val="A5D6A7"/>
                </a:solidFill>
                <a:latin typeface="Inconsolata"/>
              </a:rPr>
              <a:t>"SELECT customer, customer_type, subtotal, total, id FROM orders WHERE id = ?"</a:t>
            </a:r>
            <a:r>
              <a:rPr sz="675" i="0">
                <a:solidFill>
                  <a:srgbClr val="E6EDF3"/>
                </a:solidFill>
                <a:latin typeface="Inconsolata"/>
              </a:rPr>
              <a:t>, (order_id,)</a:t>
            </a:r>
          </a:p>
          <a:p>
            <a:pPr>
              <a:lnSpc>
                <a:spcPct val="111111"/>
              </a:lnSpc>
              <a:spcAft>
                <a:spcPts val="0"/>
              </a:spcAft>
            </a:pPr>
            <a:r>
              <a:rPr sz="675" i="0">
                <a:solidFill>
                  <a:srgbClr val="E6EDF3"/>
                </a:solidFill>
                <a:latin typeface="Inconsolata"/>
              </a:rPr>
              <a:t>        ).fetchone()</a:t>
            </a:r>
          </a:p>
          <a:p>
            <a:pPr>
              <a:lnSpc>
                <a:spcPct val="111111"/>
              </a:lnSpc>
              <a:spcAft>
                <a:spcPts val="0"/>
              </a:spcAft>
            </a:pPr>
            <a:r>
              <a:rPr sz="675" i="0">
                <a:solidFill>
                  <a:srgbClr val="E6EDF3"/>
                </a:solidFill>
                <a:latin typeface="Inconsolata"/>
              </a:rPr>
              <a:t>        </a:t>
            </a:r>
            <a:r>
              <a:rPr sz="675" i="0">
                <a:solidFill>
                  <a:srgbClr val="FF8E6E"/>
                </a:solidFill>
                <a:latin typeface="Inconsolata"/>
              </a:rPr>
              <a:t>return</a:t>
            </a:r>
            <a:r>
              <a:rPr sz="675" i="0">
                <a:solidFill>
                  <a:srgbClr val="E6EDF3"/>
                </a:solidFill>
                <a:latin typeface="Inconsolata"/>
              </a:rPr>
              <a:t> </a:t>
            </a:r>
            <a:r>
              <a:rPr sz="675" i="0">
                <a:solidFill>
                  <a:srgbClr val="7FDBCA"/>
                </a:solidFill>
                <a:latin typeface="Inconsolata"/>
              </a:rPr>
              <a:t>Order</a:t>
            </a:r>
            <a:r>
              <a:rPr sz="675" i="0">
                <a:solidFill>
                  <a:srgbClr val="E6EDF3"/>
                </a:solidFill>
                <a:latin typeface="Inconsolata"/>
              </a:rPr>
              <a:t>(*row) </a:t>
            </a:r>
            <a:r>
              <a:rPr sz="675" i="0">
                <a:solidFill>
                  <a:srgbClr val="FF8E6E"/>
                </a:solidFill>
                <a:latin typeface="Inconsolata"/>
              </a:rPr>
              <a:t>if</a:t>
            </a:r>
            <a:r>
              <a:rPr sz="675" i="0">
                <a:solidFill>
                  <a:srgbClr val="E6EDF3"/>
                </a:solidFill>
                <a:latin typeface="Inconsolata"/>
              </a:rPr>
              <a:t> row </a:t>
            </a:r>
            <a:r>
              <a:rPr sz="675" i="0">
                <a:solidFill>
                  <a:srgbClr val="FF8E6E"/>
                </a:solidFill>
                <a:latin typeface="Inconsolata"/>
              </a:rPr>
              <a:t>else</a:t>
            </a:r>
            <a:r>
              <a:rPr sz="675" i="0">
                <a:solidFill>
                  <a:srgbClr val="E6EDF3"/>
                </a:solidFill>
                <a:latin typeface="Inconsolata"/>
              </a:rPr>
              <a:t> </a:t>
            </a:r>
            <a:r>
              <a:rPr sz="675" i="0">
                <a:solidFill>
                  <a:srgbClr val="FF8E6E"/>
                </a:solidFill>
                <a:latin typeface="Inconsolata"/>
              </a:rPr>
              <a:t>None</a:t>
            </a:r>
          </a:p>
        </p:txBody>
      </p:sp>
      <p:sp>
        <p:nvSpPr>
          <p:cNvPr id="29" name="Box 12"/>
          <p:cNvSpPr/>
          <p:nvPr/>
        </p:nvSpPr>
        <p:spPr>
          <a:xfrm>
            <a:off x="704088" y="30826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815584" y="30175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768471"/>
            <a:ext cx="523036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6172200" y="1481328"/>
            <a:ext cx="2313431"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Text 16"/>
          <p:cNvSpPr txBox="1"/>
          <p:nvPr/>
        </p:nvSpPr>
        <p:spPr>
          <a:xfrm>
            <a:off x="6309360" y="157276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4" name="Text 17"/>
          <p:cNvSpPr txBox="1"/>
          <p:nvPr/>
        </p:nvSpPr>
        <p:spPr>
          <a:xfrm>
            <a:off x="6309360" y="1892808"/>
            <a:ext cx="2039111"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Pindahkan </a:t>
            </a:r>
            <a:r>
              <a:rPr sz="900" b="0" i="0">
                <a:solidFill>
                  <a:srgbClr val="B5482A"/>
                </a:solidFill>
                <a:latin typeface="Inconsolata"/>
              </a:rPr>
              <a:t>repository.py</a:t>
            </a:r>
            <a:r>
              <a:rPr sz="900" b="0" i="0">
                <a:solidFill>
                  <a:srgbClr val="434343"/>
                </a:solidFill>
                <a:latin typeface="Inter"/>
              </a:rPr>
              <a:t> jadi </a:t>
            </a:r>
            <a:r>
              <a:rPr sz="900" b="0" i="0">
                <a:solidFill>
                  <a:srgbClr val="B5482A"/>
                </a:solidFill>
                <a:latin typeface="Inconsolata"/>
              </a:rPr>
              <a:t>sqlite_repository.py</a:t>
            </a:r>
            <a:r>
              <a:rPr sz="900" b="0" i="0">
                <a:solidFill>
                  <a:srgbClr val="434343"/>
                </a:solidFill>
                <a:latin typeface="Inter"/>
              </a:rPr>
              <a:t>, sekarang bekerja dengan </a:t>
            </a:r>
            <a:r>
              <a:rPr sz="900" b="0" i="0">
                <a:solidFill>
                  <a:srgbClr val="B5482A"/>
                </a:solidFill>
                <a:latin typeface="Inconsolata"/>
              </a:rPr>
              <a:t>Order</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replace(order, id=...)</a:t>
            </a:r>
            <a:r>
              <a:rPr sz="900" b="0" i="0">
                <a:solidFill>
                  <a:srgbClr val="434343"/>
                </a:solidFill>
                <a:latin typeface="Inter"/>
              </a:rPr>
              <a:t> mengisi id dari database</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Pindahkan juga </a:t>
            </a:r>
            <a:r>
              <a:rPr sz="900" b="0" i="0">
                <a:solidFill>
                  <a:srgbClr val="B5482A"/>
                </a:solidFill>
                <a:latin typeface="Inconsolata"/>
              </a:rPr>
              <a:t>config.py</a:t>
            </a:r>
            <a:r>
              <a:rPr sz="900" b="0" i="0">
                <a:solidFill>
                  <a:srgbClr val="434343"/>
                </a:solidFill>
                <a:latin typeface="Inter"/>
              </a:rPr>
              <a:t> dan </a:t>
            </a:r>
            <a:r>
              <a:rPr sz="900" b="0" i="0">
                <a:solidFill>
                  <a:srgbClr val="B5482A"/>
                </a:solidFill>
                <a:latin typeface="Inconsolata"/>
              </a:rPr>
              <a:t>notifiers.py</a:t>
            </a:r>
            <a:r>
              <a:rPr sz="900" b="0" i="0">
                <a:solidFill>
                  <a:srgbClr val="434343"/>
                </a:solidFill>
                <a:latin typeface="Inter"/>
              </a:rPr>
              <a:t> ke </a:t>
            </a:r>
            <a:r>
              <a:rPr sz="900" b="0" i="0">
                <a:solidFill>
                  <a:srgbClr val="B5482A"/>
                </a:solidFill>
                <a:latin typeface="Inconsolata"/>
              </a:rPr>
              <a:t>infrastructure/</a:t>
            </a:r>
          </a:p>
        </p:txBody>
      </p:sp>
      <p:sp>
        <p:nvSpPr>
          <p:cNvPr id="35" name="Box 18"/>
          <p:cNvSpPr/>
          <p:nvPr/>
        </p:nvSpPr>
        <p:spPr>
          <a:xfrm>
            <a:off x="6172200" y="3721608"/>
            <a:ext cx="2313431"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6309360" y="3813048"/>
            <a:ext cx="2039111"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7" name="Text 20"/>
          <p:cNvSpPr txBox="1"/>
          <p:nvPr/>
        </p:nvSpPr>
        <p:spPr>
          <a:xfrm>
            <a:off x="6309360" y="4133088"/>
            <a:ext cx="2039111"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Hanya </a:t>
            </a:r>
            <a:r>
              <a:rPr sz="900" b="0" i="0">
                <a:solidFill>
                  <a:srgbClr val="B5482A"/>
                </a:solidFill>
                <a:latin typeface="Inconsolata"/>
              </a:rPr>
              <a:t>infrastructure/</a:t>
            </a:r>
            <a:r>
              <a:rPr sz="900" b="0" i="0">
                <a:solidFill>
                  <a:srgbClr val="434343"/>
                </a:solidFill>
                <a:latin typeface="Inter"/>
              </a:rPr>
              <a:t> yang import </a:t>
            </a:r>
            <a:r>
              <a:rPr sz="900" b="0" i="0">
                <a:solidFill>
                  <a:srgbClr val="B5482A"/>
                </a:solidFill>
                <a:latin typeface="Inconsolata"/>
              </a:rPr>
              <a:t>sqlite3</a:t>
            </a:r>
            <a:r>
              <a:rPr sz="900" b="0" i="0">
                <a:solidFill>
                  <a:srgbClr val="434343"/>
                </a:solidFill>
                <a:latin typeface="Inter"/>
              </a:rPr>
              <a: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69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6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api/dependencies.py: Menyiapkan Dependency</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app/api/dependencies.py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843"/>
              </a:lnSpc>
              <a:spcAft>
                <a:spcPts val="0"/>
              </a:spcAft>
            </a:pPr>
            <a:r>
              <a:rPr sz="850" i="0">
                <a:solidFill>
                  <a:srgbClr val="F9C97A"/>
                </a:solidFill>
                <a:latin typeface="Inconsolata"/>
              </a:rPr>
              <a:t>@lru_cache</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get_repository</a:t>
            </a:r>
            <a:r>
              <a:rPr sz="850" i="0">
                <a:solidFill>
                  <a:srgbClr val="E6EDF3"/>
                </a:solidFill>
                <a:latin typeface="Inconsolata"/>
              </a:rPr>
              <a:t>() -&gt; </a:t>
            </a:r>
            <a:r>
              <a:rPr sz="850" i="0">
                <a:solidFill>
                  <a:srgbClr val="7FDBCA"/>
                </a:solidFill>
                <a:latin typeface="Inconsolata"/>
              </a:rPr>
              <a:t>OrderRepository</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7FDBCA"/>
                </a:solidFill>
                <a:latin typeface="Inconsolata"/>
              </a:rPr>
              <a:t>SqliteOrderRepository</a:t>
            </a:r>
            <a:r>
              <a:rPr sz="850" i="0">
                <a:solidFill>
                  <a:srgbClr val="E6EDF3"/>
                </a:solidFill>
                <a:latin typeface="Inconsolata"/>
              </a:rPr>
              <a:t>(get_settings().database_path)</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get_notifier</a:t>
            </a:r>
            <a:r>
              <a:rPr sz="850" i="0">
                <a:solidFill>
                  <a:srgbClr val="E6EDF3"/>
                </a:solidFill>
                <a:latin typeface="Inconsolata"/>
              </a:rPr>
              <a:t>() -&gt; </a:t>
            </a:r>
            <a:r>
              <a:rPr sz="850" i="0">
                <a:solidFill>
                  <a:srgbClr val="7FDBCA"/>
                </a:solidFill>
                <a:latin typeface="Inconsolata"/>
              </a:rPr>
              <a:t>Notifier</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create_notifier(get_settings().notification_channel)</a:t>
            </a:r>
          </a:p>
          <a:p>
            <a:pPr>
              <a:lnSpc>
                <a:spcPct val="107843"/>
              </a:lnSpc>
              <a:spcAft>
                <a:spcPts val="0"/>
              </a:spcAft>
            </a:pPr>
            <a:r>
              <a:rPr sz="850" i="0">
                <a:solidFill>
                  <a:srgbClr val="E6EDF3"/>
                </a:solidFill>
                <a:latin typeface="Inconsolata"/>
              </a:rPr>
              <a:t> </a:t>
            </a:r>
          </a:p>
          <a:p>
            <a:pPr>
              <a:lnSpc>
                <a:spcPct val="107843"/>
              </a:lnSpc>
              <a:spcAft>
                <a:spcPts val="0"/>
              </a:spcAft>
            </a:pPr>
            <a:r>
              <a:rPr sz="850" i="0">
                <a:solidFill>
                  <a:srgbClr val="FF8E6E"/>
                </a:solidFill>
                <a:latin typeface="Inconsolata"/>
              </a:rPr>
              <a:t>def</a:t>
            </a:r>
            <a:r>
              <a:rPr sz="850" i="0">
                <a:solidFill>
                  <a:srgbClr val="E6EDF3"/>
                </a:solidFill>
                <a:latin typeface="Inconsolata"/>
              </a:rPr>
              <a:t> </a:t>
            </a:r>
            <a:r>
              <a:rPr sz="850" i="0">
                <a:solidFill>
                  <a:srgbClr val="82B1FF"/>
                </a:solidFill>
                <a:latin typeface="Inconsolata"/>
              </a:rPr>
              <a:t>get_order_service</a:t>
            </a:r>
            <a:r>
              <a:rPr sz="850" i="0">
                <a:solidFill>
                  <a:srgbClr val="E6EDF3"/>
                </a:solidFill>
                <a:latin typeface="Inconsolata"/>
              </a:rPr>
              <a:t>(</a:t>
            </a:r>
          </a:p>
          <a:p>
            <a:pPr>
              <a:lnSpc>
                <a:spcPct val="107843"/>
              </a:lnSpc>
              <a:spcAft>
                <a:spcPts val="0"/>
              </a:spcAft>
            </a:pPr>
            <a:r>
              <a:rPr sz="850" i="0">
                <a:solidFill>
                  <a:srgbClr val="E6EDF3"/>
                </a:solidFill>
                <a:latin typeface="Inconsolata"/>
              </a:rPr>
              <a:t>    repo: </a:t>
            </a:r>
            <a:r>
              <a:rPr sz="850" i="0">
                <a:solidFill>
                  <a:srgbClr val="7FDBCA"/>
                </a:solidFill>
                <a:latin typeface="Inconsolata"/>
              </a:rPr>
              <a:t>OrderRepository</a:t>
            </a:r>
            <a:r>
              <a:rPr sz="850" i="0">
                <a:solidFill>
                  <a:srgbClr val="E6EDF3"/>
                </a:solidFill>
                <a:latin typeface="Inconsolata"/>
              </a:rPr>
              <a:t> = </a:t>
            </a:r>
            <a:r>
              <a:rPr sz="850" i="0">
                <a:solidFill>
                  <a:srgbClr val="7FDBCA"/>
                </a:solidFill>
                <a:latin typeface="Inconsolata"/>
              </a:rPr>
              <a:t>Depends</a:t>
            </a:r>
            <a:r>
              <a:rPr sz="850" i="0">
                <a:solidFill>
                  <a:srgbClr val="E6EDF3"/>
                </a:solidFill>
                <a:latin typeface="Inconsolata"/>
              </a:rPr>
              <a:t>(get_repository),</a:t>
            </a:r>
          </a:p>
          <a:p>
            <a:pPr>
              <a:lnSpc>
                <a:spcPct val="107843"/>
              </a:lnSpc>
              <a:spcAft>
                <a:spcPts val="0"/>
              </a:spcAft>
            </a:pPr>
            <a:r>
              <a:rPr sz="850" i="0">
                <a:solidFill>
                  <a:srgbClr val="E6EDF3"/>
                </a:solidFill>
                <a:latin typeface="Inconsolata"/>
              </a:rPr>
              <a:t>    notifier: </a:t>
            </a:r>
            <a:r>
              <a:rPr sz="850" i="0">
                <a:solidFill>
                  <a:srgbClr val="7FDBCA"/>
                </a:solidFill>
                <a:latin typeface="Inconsolata"/>
              </a:rPr>
              <a:t>Notifier</a:t>
            </a:r>
            <a:r>
              <a:rPr sz="850" i="0">
                <a:solidFill>
                  <a:srgbClr val="E6EDF3"/>
                </a:solidFill>
                <a:latin typeface="Inconsolata"/>
              </a:rPr>
              <a:t> = </a:t>
            </a:r>
            <a:r>
              <a:rPr sz="850" i="0">
                <a:solidFill>
                  <a:srgbClr val="7FDBCA"/>
                </a:solidFill>
                <a:latin typeface="Inconsolata"/>
              </a:rPr>
              <a:t>Depends</a:t>
            </a:r>
            <a:r>
              <a:rPr sz="850" i="0">
                <a:solidFill>
                  <a:srgbClr val="E6EDF3"/>
                </a:solidFill>
                <a:latin typeface="Inconsolata"/>
              </a:rPr>
              <a:t>(get_notifier),</a:t>
            </a:r>
          </a:p>
          <a:p>
            <a:pPr>
              <a:lnSpc>
                <a:spcPct val="107843"/>
              </a:lnSpc>
              <a:spcAft>
                <a:spcPts val="0"/>
              </a:spcAft>
            </a:pPr>
            <a:r>
              <a:rPr sz="850" i="0">
                <a:solidFill>
                  <a:srgbClr val="E6EDF3"/>
                </a:solidFill>
                <a:latin typeface="Inconsolata"/>
              </a:rPr>
              <a:t>) -&gt; </a:t>
            </a:r>
            <a:r>
              <a:rPr sz="850" i="0">
                <a:solidFill>
                  <a:srgbClr val="7FDBCA"/>
                </a:solidFill>
                <a:latin typeface="Inconsolata"/>
              </a:rPr>
              <a:t>OrderService</a:t>
            </a:r>
            <a:r>
              <a:rPr sz="850" i="0">
                <a:solidFill>
                  <a:srgbClr val="E6EDF3"/>
                </a:solidFill>
                <a:latin typeface="Inconsolata"/>
              </a:rPr>
              <a:t>:</a:t>
            </a:r>
          </a:p>
          <a:p>
            <a:pPr>
              <a:lnSpc>
                <a:spcPct val="107843"/>
              </a:lnSpc>
              <a:spcAft>
                <a:spcPts val="0"/>
              </a:spcAft>
            </a:pPr>
            <a:r>
              <a:rPr sz="850" i="0">
                <a:solidFill>
                  <a:srgbClr val="E6EDF3"/>
                </a:solidFill>
                <a:latin typeface="Inconsolata"/>
              </a:rPr>
              <a:t>    </a:t>
            </a:r>
            <a:r>
              <a:rPr sz="850" i="0">
                <a:solidFill>
                  <a:srgbClr val="FF8E6E"/>
                </a:solidFill>
                <a:latin typeface="Inconsolata"/>
              </a:rPr>
              <a:t>return</a:t>
            </a:r>
            <a:r>
              <a:rPr sz="850" i="0">
                <a:solidFill>
                  <a:srgbClr val="E6EDF3"/>
                </a:solidFill>
                <a:latin typeface="Inconsolata"/>
              </a:rPr>
              <a:t> </a:t>
            </a:r>
            <a:r>
              <a:rPr sz="850" i="0">
                <a:solidFill>
                  <a:srgbClr val="7FDBCA"/>
                </a:solidFill>
                <a:latin typeface="Inconsolata"/>
              </a:rPr>
              <a:t>OrderService</a:t>
            </a:r>
            <a:r>
              <a:rPr sz="850" i="0">
                <a:solidFill>
                  <a:srgbClr val="E6EDF3"/>
                </a:solidFill>
                <a:latin typeface="Inconsolata"/>
              </a:rPr>
              <a:t>(repo, notifier)</a:t>
            </a:r>
          </a:p>
        </p:txBody>
      </p:sp>
      <p:sp>
        <p:nvSpPr>
          <p:cNvPr id="29" name="Box 12"/>
          <p:cNvSpPr/>
          <p:nvPr/>
        </p:nvSpPr>
        <p:spPr>
          <a:xfrm>
            <a:off x="704088" y="1968373"/>
            <a:ext cx="4727448" cy="271018"/>
          </a:xfrm>
          <a:prstGeom prst="roundRect">
            <a:avLst>
              <a:gd name="adj" fmla="val 1686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198501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387473"/>
            <a:ext cx="4727448" cy="271018"/>
          </a:xfrm>
          <a:prstGeom prst="roundRect">
            <a:avLst>
              <a:gd name="adj" fmla="val 16869"/>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704088" y="2806573"/>
            <a:ext cx="4727448" cy="690118"/>
          </a:xfrm>
          <a:prstGeom prst="roundRect">
            <a:avLst>
              <a:gd name="adj" fmla="val 662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3" name="Box 16"/>
          <p:cNvSpPr/>
          <p:nvPr/>
        </p:nvSpPr>
        <p:spPr>
          <a:xfrm>
            <a:off x="5312664" y="303276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4" name="Box 17"/>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8"/>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6" name="Text 19"/>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Satu function per dependency: repository, notifier</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get_order_service</a:t>
            </a:r>
            <a:r>
              <a:rPr sz="900" b="0" i="0">
                <a:solidFill>
                  <a:srgbClr val="434343"/>
                </a:solidFill>
                <a:latin typeface="Inter"/>
              </a:rPr>
              <a:t> meminta keduanya lewat </a:t>
            </a:r>
            <a:r>
              <a:rPr sz="900" b="0" i="0">
                <a:solidFill>
                  <a:srgbClr val="B5482A"/>
                </a:solidFill>
                <a:latin typeface="Inconsolata"/>
              </a:rPr>
              <a:t>Depends</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Di test, </a:t>
            </a:r>
            <a:r>
              <a:rPr sz="900" b="0" i="0">
                <a:solidFill>
                  <a:srgbClr val="B5482A"/>
                </a:solidFill>
                <a:latin typeface="Inconsolata"/>
              </a:rPr>
              <a:t>get_repository</a:t>
            </a:r>
            <a:r>
              <a:rPr sz="900" b="0" i="0">
                <a:solidFill>
                  <a:srgbClr val="434343"/>
                </a:solidFill>
                <a:latin typeface="Inter"/>
              </a:rPr>
              <a:t> dan </a:t>
            </a:r>
            <a:r>
              <a:rPr sz="900" b="0" i="0">
                <a:solidFill>
                  <a:srgbClr val="B5482A"/>
                </a:solidFill>
                <a:latin typeface="Inconsolata"/>
              </a:rPr>
              <a:t>get_notifier</a:t>
            </a:r>
            <a:r>
              <a:rPr sz="900" b="0" i="0">
                <a:solidFill>
                  <a:srgbClr val="434343"/>
                </a:solidFill>
                <a:latin typeface="Inter"/>
              </a:rPr>
              <a:t> bisa diganti fake</a:t>
            </a:r>
          </a:p>
          <a:p>
            <a:pPr algn="l">
              <a:lnSpc>
                <a:spcPct val="115000"/>
              </a:lnSpc>
              <a:spcAft>
                <a:spcPts val="0"/>
              </a:spcAft>
            </a:pPr>
            <a:endParaRPr sz="900" b="0" i="0">
              <a:solidFill>
                <a:srgbClr val="434343"/>
              </a:solidFill>
              <a:latin typeface="Inter"/>
            </a:endParaRPr>
          </a:p>
          <a:p>
            <a:pPr algn="l">
              <a:lnSpc>
                <a:spcPct val="115000"/>
              </a:lnSpc>
              <a:spcAft>
                <a:spcPts val="400"/>
              </a:spcAft>
            </a:pPr>
            <a:r>
              <a:rPr sz="900" b="0" i="0">
                <a:solidFill>
                  <a:srgbClr val="434343"/>
                </a:solidFill>
                <a:latin typeface="Inter"/>
              </a:rPr>
              <a:t>Pindahkan </a:t>
            </a:r>
            <a:r>
              <a:rPr sz="900" b="0" i="0">
                <a:solidFill>
                  <a:srgbClr val="B5482A"/>
                </a:solidFill>
                <a:latin typeface="Inconsolata"/>
              </a:rPr>
              <a:t>get_order_service()</a:t>
            </a:r>
            <a:r>
              <a:rPr sz="900" b="0" i="0">
                <a:solidFill>
                  <a:srgbClr val="434343"/>
                </a:solidFill>
                <a:latin typeface="Inter"/>
              </a:rPr>
              <a:t> dari </a:t>
            </a:r>
            <a:r>
              <a:rPr sz="900" b="0" i="0">
                <a:solidFill>
                  <a:srgbClr val="B5482A"/>
                </a:solidFill>
                <a:latin typeface="Inconsolata"/>
              </a:rPr>
              <a:t>main.py</a:t>
            </a:r>
            <a:r>
              <a:rPr sz="900" b="0" i="0">
                <a:solidFill>
                  <a:srgbClr val="434343"/>
                </a:solidFill>
                <a:latin typeface="Inter"/>
              </a:rPr>
              <a:t> Sesi 1 ke sini.</a:t>
            </a:r>
          </a:p>
        </p:txBody>
      </p:sp>
      <p:sp>
        <p:nvSpPr>
          <p:cNvPr id="37" name="Box 20"/>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21"/>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9" name="Text 22"/>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File ini satu-satunya tempat yang tahu class konkret.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7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api/routes.py + main.py</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app/api/routes.py  +  app/main.py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07143"/>
              </a:lnSpc>
              <a:spcAft>
                <a:spcPts val="0"/>
              </a:spcAft>
            </a:pPr>
            <a:r>
              <a:rPr sz="700" i="0">
                <a:solidFill>
                  <a:srgbClr val="E6EDF3"/>
                </a:solidFill>
                <a:latin typeface="Inconsolata"/>
              </a:rPr>
              <a:t>router = </a:t>
            </a:r>
            <a:r>
              <a:rPr sz="700" i="0">
                <a:solidFill>
                  <a:srgbClr val="7FDBCA"/>
                </a:solidFill>
                <a:latin typeface="Inconsolata"/>
              </a:rPr>
              <a:t>APIRouter</a:t>
            </a:r>
            <a:r>
              <a:rPr sz="700" i="0">
                <a:solidFill>
                  <a:srgbClr val="E6EDF3"/>
                </a:solidFill>
                <a:latin typeface="Inconsolata"/>
              </a:rPr>
              <a:t>(prefix=</a:t>
            </a:r>
            <a:r>
              <a:rPr sz="700" i="0">
                <a:solidFill>
                  <a:srgbClr val="A5D6A7"/>
                </a:solidFill>
                <a:latin typeface="Inconsolata"/>
              </a:rPr>
              <a:t>"/orders"</a:t>
            </a:r>
            <a:r>
              <a:rPr sz="700" i="0">
                <a:solidFill>
                  <a:srgbClr val="E6EDF3"/>
                </a:solidFill>
                <a:latin typeface="Inconsolata"/>
              </a:rPr>
              <a:t>, tags=[</a:t>
            </a:r>
            <a:r>
              <a:rPr sz="700" i="0">
                <a:solidFill>
                  <a:srgbClr val="A5D6A7"/>
                </a:solidFill>
                <a:latin typeface="Inconsolata"/>
              </a:rPr>
              <a:t>"orders"</a:t>
            </a:r>
            <a:r>
              <a:rPr sz="700" i="0">
                <a:solidFill>
                  <a:srgbClr val="E6EDF3"/>
                </a:solidFill>
                <a:latin typeface="Inconsolata"/>
              </a:rPr>
              <a:t>])</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F9C97A"/>
                </a:solidFill>
                <a:latin typeface="Inconsolata"/>
              </a:rPr>
              <a:t>@router.post</a:t>
            </a:r>
            <a:r>
              <a:rPr sz="700" i="0">
                <a:solidFill>
                  <a:srgbClr val="E6EDF3"/>
                </a:solidFill>
                <a:latin typeface="Inconsolata"/>
              </a:rPr>
              <a:t>(</a:t>
            </a:r>
            <a:r>
              <a:rPr sz="700" i="0">
                <a:solidFill>
                  <a:srgbClr val="A5D6A7"/>
                </a:solidFill>
                <a:latin typeface="Inconsolata"/>
              </a:rPr>
              <a:t>""</a:t>
            </a:r>
            <a:r>
              <a:rPr sz="700" i="0">
                <a:solidFill>
                  <a:srgbClr val="E6EDF3"/>
                </a:solidFill>
                <a:latin typeface="Inconsolata"/>
              </a:rPr>
              <a:t>, status_code=</a:t>
            </a:r>
            <a:r>
              <a:rPr sz="700" i="0">
                <a:solidFill>
                  <a:srgbClr val="F9C97A"/>
                </a:solidFill>
                <a:latin typeface="Inconsolata"/>
              </a:rPr>
              <a:t>201</a:t>
            </a:r>
            <a:r>
              <a:rPr sz="700" i="0">
                <a:solidFill>
                  <a:srgbClr val="E6EDF3"/>
                </a:solidFill>
                <a:latin typeface="Inconsolata"/>
              </a:rPr>
              <a:t>)</a:t>
            </a:r>
          </a:p>
          <a:p>
            <a:pPr>
              <a:lnSpc>
                <a:spcPct val="107143"/>
              </a:lnSpc>
              <a:spcAft>
                <a:spcPts val="0"/>
              </a:spcAft>
            </a:pPr>
            <a:r>
              <a:rPr sz="700" i="0">
                <a:solidFill>
                  <a:srgbClr val="FF8E6E"/>
                </a:solidFill>
                <a:latin typeface="Inconsolata"/>
              </a:rPr>
              <a:t>def</a:t>
            </a:r>
            <a:r>
              <a:rPr sz="700" i="0">
                <a:solidFill>
                  <a:srgbClr val="E6EDF3"/>
                </a:solidFill>
                <a:latin typeface="Inconsolata"/>
              </a:rPr>
              <a:t> </a:t>
            </a:r>
            <a:r>
              <a:rPr sz="700" i="0">
                <a:solidFill>
                  <a:srgbClr val="82B1FF"/>
                </a:solidFill>
                <a:latin typeface="Inconsolata"/>
              </a:rPr>
              <a:t>create_order</a:t>
            </a:r>
            <a:r>
              <a:rPr sz="700" i="0">
                <a:solidFill>
                  <a:srgbClr val="E6EDF3"/>
                </a:solidFill>
                <a:latin typeface="Inconsolata"/>
              </a:rPr>
              <a:t>(payload: </a:t>
            </a:r>
            <a:r>
              <a:rPr sz="700" i="0">
                <a:solidFill>
                  <a:srgbClr val="7FDBCA"/>
                </a:solidFill>
                <a:latin typeface="Inconsolata"/>
              </a:rPr>
              <a:t>OrderIn</a:t>
            </a:r>
            <a:r>
              <a:rPr sz="700" i="0">
                <a:solidFill>
                  <a:srgbClr val="E6EDF3"/>
                </a:solidFill>
                <a:latin typeface="Inconsolata"/>
              </a:rPr>
              <a:t>, service: </a:t>
            </a:r>
            <a:r>
              <a:rPr sz="700" i="0">
                <a:solidFill>
                  <a:srgbClr val="7FDBCA"/>
                </a:solidFill>
                <a:latin typeface="Inconsolata"/>
              </a:rPr>
              <a:t>OrderService</a:t>
            </a:r>
            <a:r>
              <a:rPr sz="700" i="0">
                <a:solidFill>
                  <a:srgbClr val="E6EDF3"/>
                </a:solidFill>
                <a:latin typeface="Inconsolata"/>
              </a:rPr>
              <a:t> = </a:t>
            </a:r>
            <a:r>
              <a:rPr sz="700" i="0">
                <a:solidFill>
                  <a:srgbClr val="7FDBCA"/>
                </a:solidFill>
                <a:latin typeface="Inconsolata"/>
              </a:rPr>
              <a:t>Depends</a:t>
            </a:r>
            <a:r>
              <a:rPr sz="700" i="0">
                <a:solidFill>
                  <a:srgbClr val="E6EDF3"/>
                </a:solidFill>
                <a:latin typeface="Inconsolata"/>
              </a:rPr>
              <a:t>(get_order_service)):</a:t>
            </a:r>
          </a:p>
          <a:p>
            <a:pPr>
              <a:lnSpc>
                <a:spcPct val="107143"/>
              </a:lnSpc>
              <a:spcAft>
                <a:spcPts val="0"/>
              </a:spcAft>
            </a:pPr>
            <a:r>
              <a:rPr sz="700" i="0">
                <a:solidFill>
                  <a:srgbClr val="E6EDF3"/>
                </a:solidFill>
                <a:latin typeface="Inconsolata"/>
              </a:rPr>
              <a:t>    </a:t>
            </a:r>
            <a:r>
              <a:rPr sz="700" i="0">
                <a:solidFill>
                  <a:srgbClr val="FF8E6E"/>
                </a:solidFill>
                <a:latin typeface="Inconsolata"/>
              </a:rPr>
              <a:t>try</a:t>
            </a:r>
            <a:r>
              <a:rPr sz="700" i="0">
                <a:solidFill>
                  <a:srgbClr val="E6EDF3"/>
                </a:solidFill>
                <a:latin typeface="Inconsolata"/>
              </a:rPr>
              <a:t>:</a:t>
            </a:r>
          </a:p>
          <a:p>
            <a:pPr>
              <a:lnSpc>
                <a:spcPct val="107143"/>
              </a:lnSpc>
              <a:spcAft>
                <a:spcPts val="0"/>
              </a:spcAft>
            </a:pPr>
            <a:r>
              <a:rPr sz="700" i="0">
                <a:solidFill>
                  <a:srgbClr val="E6EDF3"/>
                </a:solidFill>
                <a:latin typeface="Inconsolata"/>
              </a:rPr>
              <a:t>        items = [i.model_dump() </a:t>
            </a:r>
            <a:r>
              <a:rPr sz="700" i="0">
                <a:solidFill>
                  <a:srgbClr val="FF8E6E"/>
                </a:solidFill>
                <a:latin typeface="Inconsolata"/>
              </a:rPr>
              <a:t>for</a:t>
            </a:r>
            <a:r>
              <a:rPr sz="700" i="0">
                <a:solidFill>
                  <a:srgbClr val="E6EDF3"/>
                </a:solidFill>
                <a:latin typeface="Inconsolata"/>
              </a:rPr>
              <a:t> i </a:t>
            </a:r>
            <a:r>
              <a:rPr sz="700" i="0">
                <a:solidFill>
                  <a:srgbClr val="FF8E6E"/>
                </a:solidFill>
                <a:latin typeface="Inconsolata"/>
              </a:rPr>
              <a:t>in</a:t>
            </a:r>
            <a:r>
              <a:rPr sz="700" i="0">
                <a:solidFill>
                  <a:srgbClr val="E6EDF3"/>
                </a:solidFill>
                <a:latin typeface="Inconsolata"/>
              </a:rPr>
              <a:t> payload.items]</a:t>
            </a:r>
          </a:p>
          <a:p>
            <a:pPr>
              <a:lnSpc>
                <a:spcPct val="107143"/>
              </a:lnSpc>
              <a:spcAft>
                <a:spcPts val="0"/>
              </a:spcAft>
            </a:pPr>
            <a:r>
              <a:rPr sz="700" i="0">
                <a:solidFill>
                  <a:srgbClr val="E6EDF3"/>
                </a:solidFill>
                <a:latin typeface="Inconsolata"/>
              </a:rPr>
              <a:t>        </a:t>
            </a:r>
            <a:r>
              <a:rPr sz="700" i="0">
                <a:solidFill>
                  <a:srgbClr val="FF8E6E"/>
                </a:solidFill>
                <a:latin typeface="Inconsolata"/>
              </a:rPr>
              <a:t>return</a:t>
            </a:r>
            <a:r>
              <a:rPr sz="700" i="0">
                <a:solidFill>
                  <a:srgbClr val="E6EDF3"/>
                </a:solidFill>
                <a:latin typeface="Inconsolata"/>
              </a:rPr>
              <a:t> asdict(service.place_order(payload.customer, payload.customer_type, items))</a:t>
            </a:r>
          </a:p>
          <a:p>
            <a:pPr>
              <a:lnSpc>
                <a:spcPct val="107143"/>
              </a:lnSpc>
              <a:spcAft>
                <a:spcPts val="0"/>
              </a:spcAft>
            </a:pPr>
            <a:r>
              <a:rPr sz="700" i="0">
                <a:solidFill>
                  <a:srgbClr val="E6EDF3"/>
                </a:solidFill>
                <a:latin typeface="Inconsolata"/>
              </a:rPr>
              <a:t>    </a:t>
            </a:r>
            <a:r>
              <a:rPr sz="700" i="0">
                <a:solidFill>
                  <a:srgbClr val="FF8E6E"/>
                </a:solidFill>
                <a:latin typeface="Inconsolata"/>
              </a:rPr>
              <a:t>except</a:t>
            </a:r>
            <a:r>
              <a:rPr sz="700" i="0">
                <a:solidFill>
                  <a:srgbClr val="E6EDF3"/>
                </a:solidFill>
                <a:latin typeface="Inconsolata"/>
              </a:rPr>
              <a:t> </a:t>
            </a:r>
            <a:r>
              <a:rPr sz="700" i="0">
                <a:solidFill>
                  <a:srgbClr val="7FDBCA"/>
                </a:solidFill>
                <a:latin typeface="Inconsolata"/>
              </a:rPr>
              <a:t>UnknownCustomerType</a:t>
            </a:r>
            <a:r>
              <a:rPr sz="700" i="0">
                <a:solidFill>
                  <a:srgbClr val="E6EDF3"/>
                </a:solidFill>
                <a:latin typeface="Inconsolata"/>
              </a:rPr>
              <a:t> </a:t>
            </a:r>
            <a:r>
              <a:rPr sz="700" i="0">
                <a:solidFill>
                  <a:srgbClr val="FF8E6E"/>
                </a:solidFill>
                <a:latin typeface="Inconsolata"/>
              </a:rPr>
              <a:t>as</a:t>
            </a:r>
            <a:r>
              <a:rPr sz="700" i="0">
                <a:solidFill>
                  <a:srgbClr val="E6EDF3"/>
                </a:solidFill>
                <a:latin typeface="Inconsolata"/>
              </a:rPr>
              <a:t> e:</a:t>
            </a:r>
          </a:p>
          <a:p>
            <a:pPr>
              <a:lnSpc>
                <a:spcPct val="107143"/>
              </a:lnSpc>
              <a:spcAft>
                <a:spcPts val="0"/>
              </a:spcAft>
            </a:pPr>
            <a:r>
              <a:rPr sz="700" i="0">
                <a:solidFill>
                  <a:srgbClr val="E6EDF3"/>
                </a:solidFill>
                <a:latin typeface="Inconsolata"/>
              </a:rPr>
              <a:t>        </a:t>
            </a:r>
            <a:r>
              <a:rPr sz="700" i="0">
                <a:solidFill>
                  <a:srgbClr val="FF8E6E"/>
                </a:solidFill>
                <a:latin typeface="Inconsolata"/>
              </a:rPr>
              <a:t>raise</a:t>
            </a:r>
            <a:r>
              <a:rPr sz="700" i="0">
                <a:solidFill>
                  <a:srgbClr val="E6EDF3"/>
                </a:solidFill>
                <a:latin typeface="Inconsolata"/>
              </a:rPr>
              <a:t> </a:t>
            </a:r>
            <a:r>
              <a:rPr sz="700" i="0">
                <a:solidFill>
                  <a:srgbClr val="7FDBCA"/>
                </a:solidFill>
                <a:latin typeface="Inconsolata"/>
              </a:rPr>
              <a:t>HTTPException</a:t>
            </a:r>
            <a:r>
              <a:rPr sz="700" i="0">
                <a:solidFill>
                  <a:srgbClr val="E6EDF3"/>
                </a:solidFill>
                <a:latin typeface="Inconsolata"/>
              </a:rPr>
              <a:t>(</a:t>
            </a:r>
            <a:r>
              <a:rPr sz="700" i="0">
                <a:solidFill>
                  <a:srgbClr val="F9C97A"/>
                </a:solidFill>
                <a:latin typeface="Inconsolata"/>
              </a:rPr>
              <a:t>400</a:t>
            </a:r>
            <a:r>
              <a:rPr sz="700" i="0">
                <a:solidFill>
                  <a:srgbClr val="E6EDF3"/>
                </a:solidFill>
                <a:latin typeface="Inconsolata"/>
              </a:rPr>
              <a:t>, </a:t>
            </a:r>
            <a:r>
              <a:rPr sz="700" i="0">
                <a:solidFill>
                  <a:srgbClr val="C3A6FF"/>
                </a:solidFill>
                <a:latin typeface="Inconsolata"/>
              </a:rPr>
              <a:t>str</a:t>
            </a:r>
            <a:r>
              <a:rPr sz="700" i="0">
                <a:solidFill>
                  <a:srgbClr val="E6EDF3"/>
                </a:solidFill>
                <a:latin typeface="Inconsolata"/>
              </a:rPr>
              <a:t>(e))</a:t>
            </a:r>
          </a:p>
          <a:p>
            <a:pPr>
              <a:lnSpc>
                <a:spcPct val="107143"/>
              </a:lnSpc>
              <a:spcAft>
                <a:spcPts val="0"/>
              </a:spcAft>
            </a:pPr>
            <a:r>
              <a:rPr sz="700" i="0">
                <a:solidFill>
                  <a:srgbClr val="E6EDF3"/>
                </a:solidFill>
                <a:latin typeface="Inconsolata"/>
              </a:rPr>
              <a:t>    ...</a:t>
            </a:r>
          </a:p>
          <a:p>
            <a:pPr>
              <a:lnSpc>
                <a:spcPct val="107143"/>
              </a:lnSpc>
              <a:spcAft>
                <a:spcPts val="0"/>
              </a:spcAft>
            </a:pPr>
            <a:r>
              <a:rPr sz="700" i="0">
                <a:solidFill>
                  <a:srgbClr val="E6EDF3"/>
                </a:solidFill>
                <a:latin typeface="Inconsolata"/>
              </a:rPr>
              <a:t> </a:t>
            </a:r>
          </a:p>
          <a:p>
            <a:pPr>
              <a:lnSpc>
                <a:spcPct val="107143"/>
              </a:lnSpc>
              <a:spcAft>
                <a:spcPts val="0"/>
              </a:spcAft>
            </a:pPr>
            <a:r>
              <a:rPr sz="700" i="1">
                <a:solidFill>
                  <a:srgbClr val="8B98A8"/>
                </a:solidFill>
                <a:latin typeface="Inconsolata"/>
              </a:rPr>
              <a:t># app/main.py</a:t>
            </a:r>
          </a:p>
          <a:p>
            <a:pPr>
              <a:lnSpc>
                <a:spcPct val="107143"/>
              </a:lnSpc>
              <a:spcAft>
                <a:spcPts val="0"/>
              </a:spcAft>
            </a:pPr>
            <a:r>
              <a:rPr sz="700" i="0">
                <a:solidFill>
                  <a:srgbClr val="E6EDF3"/>
                </a:solidFill>
                <a:latin typeface="Inconsolata"/>
              </a:rPr>
              <a:t>app = </a:t>
            </a:r>
            <a:r>
              <a:rPr sz="700" i="0">
                <a:solidFill>
                  <a:srgbClr val="7FDBCA"/>
                </a:solidFill>
                <a:latin typeface="Inconsolata"/>
              </a:rPr>
              <a:t>FastAPI</a:t>
            </a:r>
            <a:r>
              <a:rPr sz="700" i="0">
                <a:solidFill>
                  <a:srgbClr val="E6EDF3"/>
                </a:solidFill>
                <a:latin typeface="Inconsolata"/>
              </a:rPr>
              <a:t>(title=</a:t>
            </a:r>
            <a:r>
              <a:rPr sz="700" i="0">
                <a:solidFill>
                  <a:srgbClr val="A5D6A7"/>
                </a:solidFill>
                <a:latin typeface="Inconsolata"/>
              </a:rPr>
              <a:t>"Order API"</a:t>
            </a:r>
            <a:r>
              <a:rPr sz="700" i="0">
                <a:solidFill>
                  <a:srgbClr val="E6EDF3"/>
                </a:solidFill>
                <a:latin typeface="Inconsolata"/>
              </a:rPr>
              <a:t>)</a:t>
            </a:r>
          </a:p>
          <a:p>
            <a:pPr>
              <a:lnSpc>
                <a:spcPct val="107143"/>
              </a:lnSpc>
              <a:spcAft>
                <a:spcPts val="0"/>
              </a:spcAft>
            </a:pPr>
            <a:r>
              <a:rPr sz="700" i="0">
                <a:solidFill>
                  <a:srgbClr val="E6EDF3"/>
                </a:solidFill>
                <a:latin typeface="Inconsolata"/>
              </a:rPr>
              <a:t>app.include_router(router)</a:t>
            </a:r>
          </a:p>
        </p:txBody>
      </p:sp>
      <p:sp>
        <p:nvSpPr>
          <p:cNvPr id="29" name="Box 12"/>
          <p:cNvSpPr/>
          <p:nvPr/>
        </p:nvSpPr>
        <p:spPr>
          <a:xfrm>
            <a:off x="704088" y="1825371"/>
            <a:ext cx="47274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17602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2511171"/>
            <a:ext cx="47274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24460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2</a:t>
            </a:r>
          </a:p>
        </p:txBody>
      </p:sp>
      <p:sp>
        <p:nvSpPr>
          <p:cNvPr id="33" name="Box 16"/>
          <p:cNvSpPr/>
          <p:nvPr/>
        </p:nvSpPr>
        <p:spPr>
          <a:xfrm>
            <a:off x="704088" y="3311271"/>
            <a:ext cx="4727448" cy="107442"/>
          </a:xfrm>
          <a:prstGeom prst="roundRect">
            <a:avLst>
              <a:gd name="adj" fmla="val 42553"/>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Box 17"/>
          <p:cNvSpPr/>
          <p:nvPr/>
        </p:nvSpPr>
        <p:spPr>
          <a:xfrm>
            <a:off x="5312664" y="324612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5" name="Box 18"/>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6" name="Text 19"/>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7" name="Text 20"/>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Route pindah ke </a:t>
            </a:r>
            <a:r>
              <a:rPr sz="900" b="0" i="0">
                <a:solidFill>
                  <a:srgbClr val="B5482A"/>
                </a:solidFill>
                <a:latin typeface="Inconsolata"/>
              </a:rPr>
              <a:t>APIRouter</a:t>
            </a:r>
            <a:r>
              <a:rPr sz="900" b="0" i="0">
                <a:solidFill>
                  <a:srgbClr val="434343"/>
                </a:solidFill>
                <a:latin typeface="Inter"/>
              </a:rPr>
              <a:t>, model </a:t>
            </a:r>
            <a:r>
              <a:rPr sz="900" b="0" i="0">
                <a:solidFill>
                  <a:srgbClr val="B5482A"/>
                </a:solidFill>
                <a:latin typeface="Inconsolata"/>
              </a:rPr>
              <a:t>Item</a:t>
            </a:r>
            <a:r>
              <a:rPr sz="900" b="0" i="0">
                <a:solidFill>
                  <a:srgbClr val="434343"/>
                </a:solidFill>
                <a:latin typeface="Inter"/>
              </a:rPr>
              <a:t>/</a:t>
            </a:r>
            <a:r>
              <a:rPr sz="900" b="0" i="0">
                <a:solidFill>
                  <a:srgbClr val="B5482A"/>
                </a:solidFill>
                <a:latin typeface="Inconsolata"/>
              </a:rPr>
              <a:t>OrderIn</a:t>
            </a:r>
            <a:r>
              <a:rPr sz="900" b="0" i="0">
                <a:solidFill>
                  <a:srgbClr val="434343"/>
                </a:solidFill>
                <a:latin typeface="Inter"/>
              </a:rPr>
              <a:t> ikut pindah ke sini</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asdict(order)</a:t>
            </a:r>
            <a:r>
              <a:rPr sz="900" b="0" i="0">
                <a:solidFill>
                  <a:srgbClr val="434343"/>
                </a:solidFill>
                <a:latin typeface="Inter"/>
              </a:rPr>
              <a:t> mengubah dataclass jadi JSON</a:t>
            </a:r>
          </a:p>
          <a:p>
            <a:pPr marL="182880" indent="-182880" algn="l">
              <a:lnSpc>
                <a:spcPct val="115000"/>
              </a:lnSpc>
              <a:spcAft>
                <a:spcPts val="400"/>
              </a:spcAft>
              <a:buClr>
                <a:srgbClr val="E0764F"/>
              </a:buClr>
              <a:buSzPct val="100000"/>
              <a:buFont typeface="+mj-lt"/>
              <a:buAutoNum type="arabicPeriod"/>
            </a:pPr>
            <a:r>
              <a:rPr sz="900" b="0" i="0">
                <a:solidFill>
                  <a:srgbClr val="B5482A"/>
                </a:solidFill>
                <a:latin typeface="Inconsolata"/>
              </a:rPr>
              <a:t>main.py</a:t>
            </a:r>
            <a:r>
              <a:rPr sz="900" b="0" i="0">
                <a:solidFill>
                  <a:srgbClr val="434343"/>
                </a:solidFill>
                <a:latin typeface="Inter"/>
              </a:rPr>
              <a:t> tinggal membuat app dan memasang router</a:t>
            </a:r>
          </a:p>
        </p:txBody>
      </p:sp>
      <p:sp>
        <p:nvSpPr>
          <p:cNvPr id="38" name="Box 21"/>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9" name="Text 22"/>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40" name="Text 23"/>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B5482A"/>
                </a:solidFill>
                <a:latin typeface="Inconsolata"/>
              </a:rPr>
              <a:t>uvicorn app.main:app --reload</a:t>
            </a:r>
            <a:r>
              <a:rPr sz="900" b="0" i="0">
                <a:solidFill>
                  <a:srgbClr val="434343"/>
                </a:solidFill>
                <a:latin typeface="Inter"/>
              </a:rPr>
              <a:t> dari folder </a:t>
            </a:r>
            <a:r>
              <a:rPr sz="900" b="0" i="0">
                <a:solidFill>
                  <a:srgbClr val="B5482A"/>
                </a:solidFill>
                <a:latin typeface="Inconsolata"/>
              </a:rPr>
              <a:t>latihan/</a:t>
            </a:r>
            <a:r>
              <a:rPr sz="900" b="0" i="0">
                <a:solidFill>
                  <a:srgbClr val="434343"/>
                </a:solidFill>
                <a:latin typeface="Inter"/>
              </a:rPr>
              <a: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71</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8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tests/: Fake Adapter + Test</a:t>
            </a:r>
          </a:p>
        </p:txBody>
      </p:sp>
      <p:sp>
        <p:nvSpPr>
          <p:cNvPr id="22" name="CodeTab 4"/>
          <p:cNvSpPr/>
          <p:nvPr/>
        </p:nvSpPr>
        <p:spPr>
          <a:xfrm>
            <a:off x="621792" y="1481328"/>
            <a:ext cx="4892040"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Dot 5"/>
          <p:cNvSpPr/>
          <p:nvPr/>
        </p:nvSpPr>
        <p:spPr>
          <a:xfrm>
            <a:off x="731520"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t 6"/>
          <p:cNvSpPr/>
          <p:nvPr/>
        </p:nvSpPr>
        <p:spPr>
          <a:xfrm>
            <a:off x="868680"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1005840"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8"/>
          <p:cNvSpPr txBox="1"/>
          <p:nvPr/>
        </p:nvSpPr>
        <p:spPr>
          <a:xfrm>
            <a:off x="1170432" y="1490472"/>
            <a:ext cx="4251959"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tests/fakes.py  +  tests/test_api.py</a:t>
            </a:r>
          </a:p>
        </p:txBody>
      </p:sp>
      <p:sp>
        <p:nvSpPr>
          <p:cNvPr id="27" name="CodeBg 10"/>
          <p:cNvSpPr/>
          <p:nvPr/>
        </p:nvSpPr>
        <p:spPr>
          <a:xfrm>
            <a:off x="621792" y="1719072"/>
            <a:ext cx="4892040"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8" name="Code 11"/>
          <p:cNvSpPr txBox="1"/>
          <p:nvPr/>
        </p:nvSpPr>
        <p:spPr>
          <a:xfrm>
            <a:off x="621792" y="1719072"/>
            <a:ext cx="4892040" cy="2980944"/>
          </a:xfrm>
          <a:prstGeom prst="rect">
            <a:avLst/>
          </a:prstGeom>
          <a:noFill/>
        </p:spPr>
        <p:txBody>
          <a:bodyPr wrap="none" lIns="146304" tIns="91440" rIns="146304" bIns="54864">
            <a:spAutoFit/>
          </a:bodyPr>
          <a:lstStyle/>
          <a:p>
            <a:pPr>
              <a:lnSpc>
                <a:spcPct val="111111"/>
              </a:lnSpc>
              <a:spcAft>
                <a:spcPts val="0"/>
              </a:spcAft>
            </a:pPr>
            <a:r>
              <a:rPr sz="750" i="1">
                <a:solidFill>
                  <a:srgbClr val="8B98A8"/>
                </a:solidFill>
                <a:latin typeface="Inconsolata"/>
              </a:rPr>
              <a:t># tests/fakes.py</a:t>
            </a:r>
          </a:p>
          <a:p>
            <a:pPr>
              <a:lnSpc>
                <a:spcPct val="111111"/>
              </a:lnSpc>
              <a:spcAft>
                <a:spcPts val="0"/>
              </a:spcAft>
            </a:pPr>
            <a:r>
              <a:rPr sz="750" i="0">
                <a:solidFill>
                  <a:srgbClr val="FF8E6E"/>
                </a:solidFill>
                <a:latin typeface="Inconsolata"/>
              </a:rPr>
              <a:t>class</a:t>
            </a:r>
            <a:r>
              <a:rPr sz="750" i="0">
                <a:solidFill>
                  <a:srgbClr val="E6EDF3"/>
                </a:solidFill>
                <a:latin typeface="Inconsolata"/>
              </a:rPr>
              <a:t> </a:t>
            </a:r>
            <a:r>
              <a:rPr sz="750" i="0">
                <a:solidFill>
                  <a:srgbClr val="7FDBCA"/>
                </a:solidFill>
                <a:latin typeface="Inconsolata"/>
              </a:rPr>
              <a:t>FakeOrderRepository</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__init__</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.rows: </a:t>
            </a:r>
            <a:r>
              <a:rPr sz="750" i="0">
                <a:solidFill>
                  <a:srgbClr val="C3A6FF"/>
                </a:solidFill>
                <a:latin typeface="Inconsolata"/>
              </a:rPr>
              <a:t>dict</a:t>
            </a:r>
            <a:r>
              <a:rPr sz="750" i="0">
                <a:solidFill>
                  <a:srgbClr val="E6EDF3"/>
                </a:solidFill>
                <a:latin typeface="Inconsolata"/>
              </a:rPr>
              <a:t>[</a:t>
            </a:r>
            <a:r>
              <a:rPr sz="750" i="0">
                <a:solidFill>
                  <a:srgbClr val="C3A6FF"/>
                </a:solidFill>
                <a:latin typeface="Inconsolata"/>
              </a:rPr>
              <a:t>int</a:t>
            </a:r>
            <a:r>
              <a:rPr sz="750" i="0">
                <a:solidFill>
                  <a:srgbClr val="E6EDF3"/>
                </a:solidFill>
                <a:latin typeface="Inconsolata"/>
              </a:rPr>
              <a:t>, </a:t>
            </a:r>
            <a:r>
              <a:rPr sz="750" i="0">
                <a:solidFill>
                  <a:srgbClr val="7FDBCA"/>
                </a:solidFill>
                <a:latin typeface="Inconsolata"/>
              </a:rPr>
              <a:t>Order</a:t>
            </a:r>
            <a:r>
              <a:rPr sz="750" i="0">
                <a:solidFill>
                  <a:srgbClr val="E6EDF3"/>
                </a:solidFill>
                <a:latin typeface="Inconsolata"/>
              </a:rPr>
              <a:t>] = {}</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add</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 order: </a:t>
            </a:r>
            <a:r>
              <a:rPr sz="750" i="0">
                <a:solidFill>
                  <a:srgbClr val="7FDBCA"/>
                </a:solidFill>
                <a:latin typeface="Inconsolata"/>
              </a:rPr>
              <a:t>Order</a:t>
            </a:r>
            <a:r>
              <a:rPr sz="750" i="0">
                <a:solidFill>
                  <a:srgbClr val="E6EDF3"/>
                </a:solidFill>
                <a:latin typeface="Inconsolata"/>
              </a:rPr>
              <a:t>) -&gt; </a:t>
            </a:r>
            <a:r>
              <a:rPr sz="750" i="0">
                <a:solidFill>
                  <a:srgbClr val="7FDBCA"/>
                </a:solidFill>
                <a:latin typeface="Inconsolata"/>
              </a:rPr>
              <a:t>Order</a:t>
            </a:r>
            <a:r>
              <a:rPr sz="750" i="0">
                <a:solidFill>
                  <a:srgbClr val="E6EDF3"/>
                </a:solidFill>
                <a:latin typeface="Inconsolata"/>
              </a:rPr>
              <a:t>:</a:t>
            </a:r>
          </a:p>
          <a:p>
            <a:pPr>
              <a:lnSpc>
                <a:spcPct val="111111"/>
              </a:lnSpc>
              <a:spcAft>
                <a:spcPts val="0"/>
              </a:spcAft>
            </a:pPr>
            <a:r>
              <a:rPr sz="750" i="0">
                <a:solidFill>
                  <a:srgbClr val="E6EDF3"/>
                </a:solidFill>
                <a:latin typeface="Inconsolata"/>
              </a:rPr>
              <a:t>        saved = replace(order, id=</a:t>
            </a:r>
            <a:r>
              <a:rPr sz="750" i="0">
                <a:solidFill>
                  <a:srgbClr val="C3A6FF"/>
                </a:solidFill>
                <a:latin typeface="Inconsolata"/>
              </a:rPr>
              <a:t>len</a:t>
            </a:r>
            <a:r>
              <a:rPr sz="750" i="0">
                <a:solidFill>
                  <a:srgbClr val="E6EDF3"/>
                </a:solidFill>
                <a:latin typeface="Inconsolata"/>
              </a:rPr>
              <a:t>(</a:t>
            </a:r>
            <a:r>
              <a:rPr sz="750" i="0">
                <a:solidFill>
                  <a:srgbClr val="C3A6FF"/>
                </a:solidFill>
                <a:latin typeface="Inconsolata"/>
              </a:rPr>
              <a:t>self</a:t>
            </a:r>
            <a:r>
              <a:rPr sz="750" i="0">
                <a:solidFill>
                  <a:srgbClr val="E6EDF3"/>
                </a:solidFill>
                <a:latin typeface="Inconsolata"/>
              </a:rPr>
              <a:t>.rows) + </a:t>
            </a:r>
            <a:r>
              <a:rPr sz="750" i="0">
                <a:solidFill>
                  <a:srgbClr val="F9C97A"/>
                </a:solidFill>
                <a:latin typeface="Inconsolata"/>
              </a:rPr>
              <a:t>1</a:t>
            </a:r>
            <a:r>
              <a:rPr sz="750" i="0">
                <a:solidFill>
                  <a:srgbClr val="E6EDF3"/>
                </a:solidFill>
                <a:latin typeface="Inconsolata"/>
              </a:rPr>
              <a:t>)</a:t>
            </a:r>
          </a:p>
          <a:p>
            <a:pPr>
              <a:lnSpc>
                <a:spcPct val="111111"/>
              </a:lnSpc>
              <a:spcAft>
                <a:spcPts val="0"/>
              </a:spcAft>
            </a:pPr>
            <a:r>
              <a:rPr sz="750" i="0">
                <a:solidFill>
                  <a:srgbClr val="E6EDF3"/>
                </a:solidFill>
                <a:latin typeface="Inconsolata"/>
              </a:rPr>
              <a:t>        </a:t>
            </a:r>
            <a:r>
              <a:rPr sz="750" i="0">
                <a:solidFill>
                  <a:srgbClr val="C3A6FF"/>
                </a:solidFill>
                <a:latin typeface="Inconsolata"/>
              </a:rPr>
              <a:t>self</a:t>
            </a:r>
            <a:r>
              <a:rPr sz="750" i="0">
                <a:solidFill>
                  <a:srgbClr val="E6EDF3"/>
                </a:solidFill>
                <a:latin typeface="Inconsolata"/>
              </a:rPr>
              <a:t>.rows[saved.id] = saved</a:t>
            </a:r>
          </a:p>
          <a:p>
            <a:pPr>
              <a:lnSpc>
                <a:spcPct val="111111"/>
              </a:lnSpc>
              <a:spcAft>
                <a:spcPts val="0"/>
              </a:spcAft>
            </a:pPr>
            <a:r>
              <a:rPr sz="750" i="0">
                <a:solidFill>
                  <a:srgbClr val="E6EDF3"/>
                </a:solidFill>
                <a:latin typeface="Inconsolata"/>
              </a:rPr>
              <a:t>        </a:t>
            </a:r>
            <a:r>
              <a:rPr sz="750" i="0">
                <a:solidFill>
                  <a:srgbClr val="FF8E6E"/>
                </a:solidFill>
                <a:latin typeface="Inconsolata"/>
              </a:rPr>
              <a:t>return</a:t>
            </a:r>
            <a:r>
              <a:rPr sz="750" i="0">
                <a:solidFill>
                  <a:srgbClr val="E6EDF3"/>
                </a:solidFill>
                <a:latin typeface="Inconsolata"/>
              </a:rPr>
              <a:t> saved</a:t>
            </a:r>
          </a:p>
          <a:p>
            <a:pPr>
              <a:lnSpc>
                <a:spcPct val="111111"/>
              </a:lnSpc>
              <a:spcAft>
                <a:spcPts val="0"/>
              </a:spcAft>
            </a:pPr>
            <a:r>
              <a:rPr sz="750" i="0">
                <a:solidFill>
                  <a:srgbClr val="E6EDF3"/>
                </a:solidFill>
                <a:latin typeface="Inconsolata"/>
              </a:rPr>
              <a:t>    ...</a:t>
            </a:r>
          </a:p>
          <a:p>
            <a:pPr>
              <a:lnSpc>
                <a:spcPct val="111111"/>
              </a:lnSpc>
              <a:spcAft>
                <a:spcPts val="0"/>
              </a:spcAft>
            </a:pPr>
            <a:r>
              <a:rPr sz="750" i="0">
                <a:solidFill>
                  <a:srgbClr val="E6EDF3"/>
                </a:solidFill>
                <a:latin typeface="Inconsolata"/>
              </a:rPr>
              <a:t> </a:t>
            </a:r>
          </a:p>
          <a:p>
            <a:pPr>
              <a:lnSpc>
                <a:spcPct val="111111"/>
              </a:lnSpc>
              <a:spcAft>
                <a:spcPts val="0"/>
              </a:spcAft>
            </a:pPr>
            <a:r>
              <a:rPr sz="750" i="1">
                <a:solidFill>
                  <a:srgbClr val="8B98A8"/>
                </a:solidFill>
                <a:latin typeface="Inconsolata"/>
              </a:rPr>
              <a:t># tests/test_api.py</a:t>
            </a:r>
          </a:p>
          <a:p>
            <a:pPr>
              <a:lnSpc>
                <a:spcPct val="111111"/>
              </a:lnSpc>
              <a:spcAft>
                <a:spcPts val="0"/>
              </a:spcAft>
            </a:pPr>
            <a:r>
              <a:rPr sz="750" i="0">
                <a:solidFill>
                  <a:srgbClr val="F9C97A"/>
                </a:solidFill>
                <a:latin typeface="Inconsolata"/>
              </a:rPr>
              <a:t>@pytest.fixture</a:t>
            </a:r>
          </a:p>
          <a:p>
            <a:pPr>
              <a:lnSpc>
                <a:spcPct val="111111"/>
              </a:lnSpc>
              <a:spcAft>
                <a:spcPts val="0"/>
              </a:spcAft>
            </a:pPr>
            <a:r>
              <a:rPr sz="750" i="0">
                <a:solidFill>
                  <a:srgbClr val="FF8E6E"/>
                </a:solidFill>
                <a:latin typeface="Inconsolata"/>
              </a:rPr>
              <a:t>def</a:t>
            </a:r>
            <a:r>
              <a:rPr sz="750" i="0">
                <a:solidFill>
                  <a:srgbClr val="E6EDF3"/>
                </a:solidFill>
                <a:latin typeface="Inconsolata"/>
              </a:rPr>
              <a:t> </a:t>
            </a:r>
            <a:r>
              <a:rPr sz="750" i="0">
                <a:solidFill>
                  <a:srgbClr val="82B1FF"/>
                </a:solidFill>
                <a:latin typeface="Inconsolata"/>
              </a:rPr>
              <a:t>client</a:t>
            </a:r>
            <a:r>
              <a:rPr sz="750" i="0">
                <a:solidFill>
                  <a:srgbClr val="E6EDF3"/>
                </a:solidFill>
                <a:latin typeface="Inconsolata"/>
              </a:rPr>
              <a:t>():</a:t>
            </a:r>
          </a:p>
          <a:p>
            <a:pPr>
              <a:lnSpc>
                <a:spcPct val="111111"/>
              </a:lnSpc>
              <a:spcAft>
                <a:spcPts val="0"/>
              </a:spcAft>
            </a:pPr>
            <a:r>
              <a:rPr sz="750" i="0">
                <a:solidFill>
                  <a:srgbClr val="E6EDF3"/>
                </a:solidFill>
                <a:latin typeface="Inconsolata"/>
              </a:rPr>
              <a:t>    repo = </a:t>
            </a:r>
            <a:r>
              <a:rPr sz="750" i="0">
                <a:solidFill>
                  <a:srgbClr val="7FDBCA"/>
                </a:solidFill>
                <a:latin typeface="Inconsolata"/>
              </a:rPr>
              <a:t>FakeOrderRepository</a:t>
            </a:r>
            <a:r>
              <a:rPr sz="750" i="0">
                <a:solidFill>
                  <a:srgbClr val="E6EDF3"/>
                </a:solidFill>
                <a:latin typeface="Inconsolata"/>
              </a:rPr>
              <a:t>()</a:t>
            </a:r>
          </a:p>
          <a:p>
            <a:pPr>
              <a:lnSpc>
                <a:spcPct val="111111"/>
              </a:lnSpc>
              <a:spcAft>
                <a:spcPts val="0"/>
              </a:spcAft>
            </a:pPr>
            <a:r>
              <a:rPr sz="750" i="0">
                <a:solidFill>
                  <a:srgbClr val="E6EDF3"/>
                </a:solidFill>
                <a:latin typeface="Inconsolata"/>
              </a:rPr>
              <a:t>    app.dependency_overrides[get_repository] = </a:t>
            </a:r>
            <a:r>
              <a:rPr sz="750" i="0">
                <a:solidFill>
                  <a:srgbClr val="FF8E6E"/>
                </a:solidFill>
                <a:latin typeface="Inconsolata"/>
              </a:rPr>
              <a:t>lambda</a:t>
            </a:r>
            <a:r>
              <a:rPr sz="750" i="0">
                <a:solidFill>
                  <a:srgbClr val="E6EDF3"/>
                </a:solidFill>
                <a:latin typeface="Inconsolata"/>
              </a:rPr>
              <a:t>: repo</a:t>
            </a:r>
          </a:p>
          <a:p>
            <a:pPr>
              <a:lnSpc>
                <a:spcPct val="111111"/>
              </a:lnSpc>
              <a:spcAft>
                <a:spcPts val="0"/>
              </a:spcAft>
            </a:pPr>
            <a:r>
              <a:rPr sz="750" i="0">
                <a:solidFill>
                  <a:srgbClr val="E6EDF3"/>
                </a:solidFill>
                <a:latin typeface="Inconsolata"/>
              </a:rPr>
              <a:t>    app.dependency_overrides[get_notifier] = </a:t>
            </a:r>
            <a:r>
              <a:rPr sz="750" i="0">
                <a:solidFill>
                  <a:srgbClr val="7FDBCA"/>
                </a:solidFill>
                <a:latin typeface="Inconsolata"/>
              </a:rPr>
              <a:t>FakeNotifier</a:t>
            </a:r>
          </a:p>
          <a:p>
            <a:pPr>
              <a:lnSpc>
                <a:spcPct val="111111"/>
              </a:lnSpc>
              <a:spcAft>
                <a:spcPts val="0"/>
              </a:spcAft>
            </a:pPr>
            <a:r>
              <a:rPr sz="750" i="0">
                <a:solidFill>
                  <a:srgbClr val="E6EDF3"/>
                </a:solidFill>
                <a:latin typeface="Inconsolata"/>
              </a:rPr>
              <a:t>    </a:t>
            </a:r>
            <a:r>
              <a:rPr sz="750" i="0">
                <a:solidFill>
                  <a:srgbClr val="FF8E6E"/>
                </a:solidFill>
                <a:latin typeface="Inconsolata"/>
              </a:rPr>
              <a:t>yield</a:t>
            </a:r>
            <a:r>
              <a:rPr sz="750" i="0">
                <a:solidFill>
                  <a:srgbClr val="E6EDF3"/>
                </a:solidFill>
                <a:latin typeface="Inconsolata"/>
              </a:rPr>
              <a:t> </a:t>
            </a:r>
            <a:r>
              <a:rPr sz="750" i="0">
                <a:solidFill>
                  <a:srgbClr val="7FDBCA"/>
                </a:solidFill>
                <a:latin typeface="Inconsolata"/>
              </a:rPr>
              <a:t>TestClient</a:t>
            </a:r>
            <a:r>
              <a:rPr sz="750" i="0">
                <a:solidFill>
                  <a:srgbClr val="E6EDF3"/>
                </a:solidFill>
                <a:latin typeface="Inconsolata"/>
              </a:rPr>
              <a:t>(app)</a:t>
            </a:r>
          </a:p>
          <a:p>
            <a:pPr>
              <a:lnSpc>
                <a:spcPct val="111111"/>
              </a:lnSpc>
              <a:spcAft>
                <a:spcPts val="0"/>
              </a:spcAft>
            </a:pPr>
            <a:r>
              <a:rPr sz="750" i="0">
                <a:solidFill>
                  <a:srgbClr val="E6EDF3"/>
                </a:solidFill>
                <a:latin typeface="Inconsolata"/>
              </a:rPr>
              <a:t>    app.dependency_overrides.clear()</a:t>
            </a:r>
          </a:p>
        </p:txBody>
      </p:sp>
      <p:sp>
        <p:nvSpPr>
          <p:cNvPr id="29" name="Box 12"/>
          <p:cNvSpPr/>
          <p:nvPr/>
        </p:nvSpPr>
        <p:spPr>
          <a:xfrm>
            <a:off x="704088" y="1954022"/>
            <a:ext cx="4727448" cy="1008380"/>
          </a:xfrm>
          <a:prstGeom prst="roundRect">
            <a:avLst>
              <a:gd name="adj" fmla="val 4534"/>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0" name="Box 13"/>
          <p:cNvSpPr/>
          <p:nvPr/>
        </p:nvSpPr>
        <p:spPr>
          <a:xfrm>
            <a:off x="5312664" y="2339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1</a:t>
            </a:r>
          </a:p>
        </p:txBody>
      </p:sp>
      <p:sp>
        <p:nvSpPr>
          <p:cNvPr id="31" name="Box 14"/>
          <p:cNvSpPr/>
          <p:nvPr/>
        </p:nvSpPr>
        <p:spPr>
          <a:xfrm>
            <a:off x="704088" y="3732022"/>
            <a:ext cx="4727448" cy="246380"/>
          </a:xfrm>
          <a:prstGeom prst="roundRect">
            <a:avLst>
              <a:gd name="adj" fmla="val 18556"/>
            </a:avLst>
          </a:prstGeom>
          <a:solidFill>
            <a:srgbClr val="E0764F">
              <a:alpha val="22000"/>
            </a:srgbClr>
          </a:solidFill>
          <a:ln w="12700">
            <a:solidFill>
              <a:srgbClr val="E0764F"/>
            </a:solid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Box 15"/>
          <p:cNvSpPr/>
          <p:nvPr/>
        </p:nvSpPr>
        <p:spPr>
          <a:xfrm>
            <a:off x="5312664" y="3736340"/>
            <a:ext cx="237744" cy="237744"/>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850" b="1" i="0">
                <a:solidFill>
                  <a:srgbClr val="FFFFFF"/>
                </a:solidFill>
                <a:latin typeface="Inter"/>
              </a:rPr>
              <a:t>3</a:t>
            </a:r>
          </a:p>
        </p:txBody>
      </p:sp>
      <p:sp>
        <p:nvSpPr>
          <p:cNvPr id="33" name="Box 16"/>
          <p:cNvSpPr/>
          <p:nvPr/>
        </p:nvSpPr>
        <p:spPr>
          <a:xfrm>
            <a:off x="5669279" y="1481328"/>
            <a:ext cx="2816352" cy="2148840"/>
          </a:xfrm>
          <a:prstGeom prst="roundRect">
            <a:avLst>
              <a:gd name="adj" fmla="val 5106"/>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4" name="Text 17"/>
          <p:cNvSpPr txBox="1"/>
          <p:nvPr/>
        </p:nvSpPr>
        <p:spPr>
          <a:xfrm>
            <a:off x="5806440" y="157276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Yang dikerjakan</a:t>
            </a:r>
          </a:p>
        </p:txBody>
      </p:sp>
      <p:sp>
        <p:nvSpPr>
          <p:cNvPr id="35" name="Text 18"/>
          <p:cNvSpPr txBox="1"/>
          <p:nvPr/>
        </p:nvSpPr>
        <p:spPr>
          <a:xfrm>
            <a:off x="5806440" y="1892808"/>
            <a:ext cx="2542032" cy="1645920"/>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Fake adapter: bentuk sama dengan port, isinya dict</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Unit test service: </a:t>
            </a:r>
            <a:r>
              <a:rPr sz="900" b="0" i="0">
                <a:solidFill>
                  <a:srgbClr val="B5482A"/>
                </a:solidFill>
                <a:latin typeface="Inconsolata"/>
              </a:rPr>
              <a:t>OrderService(FakeOrderRepository(), FakeNotifier())</a:t>
            </a:r>
          </a:p>
          <a:p>
            <a:pPr marL="182880" indent="-182880" algn="l">
              <a:lnSpc>
                <a:spcPct val="115000"/>
              </a:lnSpc>
              <a:spcAft>
                <a:spcPts val="400"/>
              </a:spcAft>
              <a:buClr>
                <a:srgbClr val="E0764F"/>
              </a:buClr>
              <a:buSzPct val="100000"/>
              <a:buFont typeface="+mj-lt"/>
              <a:buAutoNum type="arabicPeriod"/>
            </a:pPr>
            <a:r>
              <a:rPr sz="900" b="0" i="0">
                <a:solidFill>
                  <a:srgbClr val="434343"/>
                </a:solidFill>
                <a:latin typeface="Inter"/>
              </a:rPr>
              <a:t>Test API: dependency asli diganti fake, </a:t>
            </a:r>
            <a:r>
              <a:rPr sz="900" b="0" i="0">
                <a:solidFill>
                  <a:srgbClr val="B5482A"/>
                </a:solidFill>
                <a:latin typeface="Inconsolata"/>
              </a:rPr>
              <a:t>orders.db</a:t>
            </a:r>
            <a:r>
              <a:rPr sz="900" b="0" i="0">
                <a:solidFill>
                  <a:srgbClr val="434343"/>
                </a:solidFill>
                <a:latin typeface="Inter"/>
              </a:rPr>
              <a:t> tidak disentuh</a:t>
            </a:r>
          </a:p>
        </p:txBody>
      </p:sp>
      <p:sp>
        <p:nvSpPr>
          <p:cNvPr id="36" name="Box 19"/>
          <p:cNvSpPr/>
          <p:nvPr/>
        </p:nvSpPr>
        <p:spPr>
          <a:xfrm>
            <a:off x="5669279" y="3721608"/>
            <a:ext cx="2816352" cy="978408"/>
          </a:xfrm>
          <a:prstGeom prst="roundRect">
            <a:avLst>
              <a:gd name="adj" fmla="val 11214"/>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7" name="Text 20"/>
          <p:cNvSpPr txBox="1"/>
          <p:nvPr/>
        </p:nvSpPr>
        <p:spPr>
          <a:xfrm>
            <a:off x="5806440" y="3813048"/>
            <a:ext cx="2542032" cy="310896"/>
          </a:xfrm>
          <a:prstGeom prst="rect">
            <a:avLst/>
          </a:prstGeom>
          <a:noFill/>
        </p:spPr>
        <p:txBody>
          <a:bodyPr wrap="square" lIns="45720" rIns="45720" anchor="t">
            <a:spAutoFit/>
          </a:bodyPr>
          <a:lstStyle/>
          <a:p>
            <a:pPr algn="l">
              <a:lnSpc>
                <a:spcPct val="115000"/>
              </a:lnSpc>
              <a:spcAft>
                <a:spcPts val="400"/>
              </a:spcAft>
            </a:pPr>
            <a:r>
              <a:rPr sz="1050" b="1" i="0">
                <a:solidFill>
                  <a:srgbClr val="2E7D5B"/>
                </a:solidFill>
                <a:latin typeface="Inter"/>
              </a:rPr>
              <a:t>Cek</a:t>
            </a:r>
          </a:p>
        </p:txBody>
      </p:sp>
      <p:sp>
        <p:nvSpPr>
          <p:cNvPr id="38" name="Text 21"/>
          <p:cNvSpPr txBox="1"/>
          <p:nvPr/>
        </p:nvSpPr>
        <p:spPr>
          <a:xfrm>
            <a:off x="5806440" y="4133088"/>
            <a:ext cx="2542032" cy="475488"/>
          </a:xfrm>
          <a:prstGeom prst="rect">
            <a:avLst/>
          </a:prstGeom>
          <a:noFill/>
        </p:spPr>
        <p:txBody>
          <a:bodyPr wrap="square" lIns="45720" rIns="45720" anchor="t">
            <a:spAutoFit/>
          </a:bodyPr>
          <a:lstStyle/>
          <a:p>
            <a:pPr algn="l">
              <a:lnSpc>
                <a:spcPct val="115000"/>
              </a:lnSpc>
              <a:spcAft>
                <a:spcPts val="400"/>
              </a:spcAft>
            </a:pPr>
            <a:r>
              <a:rPr sz="900" b="0" i="0">
                <a:solidFill>
                  <a:srgbClr val="434343"/>
                </a:solidFill>
                <a:latin typeface="Inter"/>
              </a:rPr>
              <a:t>Ada 7 test: 4 unit test + 3 test API.</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72</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Jalankan Test &amp; Cek Aturan Import</a:t>
            </a:r>
          </a:p>
        </p:txBody>
      </p:sp>
      <p:pic>
        <p:nvPicPr>
          <p:cNvPr id="22" name="Image 3" descr="s02-pytest.png"/>
          <p:cNvPicPr>
            <a:picLocks noChangeAspect="1"/>
          </p:cNvPicPr>
          <p:nvPr/>
        </p:nvPicPr>
        <p:blipFill>
          <a:blip r:embed="rId2"/>
          <a:stretch>
            <a:fillRect/>
          </a:stretch>
        </p:blipFill>
        <p:spPr>
          <a:xfrm>
            <a:off x="621792" y="1481328"/>
            <a:ext cx="4937760" cy="1924604"/>
          </a:xfrm>
          <a:prstGeom prst="rect">
            <a:avLst/>
          </a:prstGeom>
          <a:ln w="9525">
            <a:solidFill>
              <a:srgbClr val="D0D5DD"/>
            </a:solidFill>
          </a:ln>
        </p:spPr>
      </p:pic>
      <p:sp>
        <p:nvSpPr>
          <p:cNvPr id="23" name="CodeTab 5"/>
          <p:cNvSpPr/>
          <p:nvPr/>
        </p:nvSpPr>
        <p:spPr>
          <a:xfrm>
            <a:off x="5715000" y="1481328"/>
            <a:ext cx="277063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4" name="Dot 6"/>
          <p:cNvSpPr/>
          <p:nvPr/>
        </p:nvSpPr>
        <p:spPr>
          <a:xfrm>
            <a:off x="582472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t 7"/>
          <p:cNvSpPr/>
          <p:nvPr/>
        </p:nvSpPr>
        <p:spPr>
          <a:xfrm>
            <a:off x="596188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t 8"/>
          <p:cNvSpPr/>
          <p:nvPr/>
        </p:nvSpPr>
        <p:spPr>
          <a:xfrm>
            <a:off x="609904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 9"/>
          <p:cNvSpPr txBox="1"/>
          <p:nvPr/>
        </p:nvSpPr>
        <p:spPr>
          <a:xfrm>
            <a:off x="6263640" y="1490472"/>
            <a:ext cx="213055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cek import</a:t>
            </a:r>
          </a:p>
        </p:txBody>
      </p:sp>
      <p:sp>
        <p:nvSpPr>
          <p:cNvPr id="28" name="CodeBg 11"/>
          <p:cNvSpPr/>
          <p:nvPr/>
        </p:nvSpPr>
        <p:spPr>
          <a:xfrm>
            <a:off x="5715000" y="1719072"/>
            <a:ext cx="2770632" cy="1225296"/>
          </a:xfrm>
          <a:prstGeom prst="roundRect">
            <a:avLst>
              <a:gd name="adj" fmla="val 1492"/>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Code 12"/>
          <p:cNvSpPr txBox="1"/>
          <p:nvPr/>
        </p:nvSpPr>
        <p:spPr>
          <a:xfrm>
            <a:off x="5715000" y="1719072"/>
            <a:ext cx="2770632" cy="1225296"/>
          </a:xfrm>
          <a:prstGeom prst="rect">
            <a:avLst/>
          </a:prstGeom>
          <a:noFill/>
        </p:spPr>
        <p:txBody>
          <a:bodyPr wrap="none" lIns="146304" tIns="91440" rIns="146304" bIns="54864">
            <a:spAutoFit/>
          </a:bodyPr>
          <a:lstStyle/>
          <a:p>
            <a:pPr>
              <a:lnSpc>
                <a:spcPct val="107843"/>
              </a:lnSpc>
              <a:spcAft>
                <a:spcPts val="0"/>
              </a:spcAft>
            </a:pPr>
            <a:r>
              <a:rPr sz="850" i="0">
                <a:solidFill>
                  <a:srgbClr val="82B1FF"/>
                </a:solidFill>
                <a:latin typeface="Inconsolata"/>
              </a:rPr>
              <a:t>$ grep -rn "fastapi\|sqlite3" \</a:t>
            </a:r>
          </a:p>
          <a:p>
            <a:pPr>
              <a:lnSpc>
                <a:spcPct val="107843"/>
              </a:lnSpc>
              <a:spcAft>
                <a:spcPts val="0"/>
              </a:spcAft>
            </a:pPr>
            <a:r>
              <a:rPr sz="850" i="0">
                <a:solidFill>
                  <a:srgbClr val="E6EDF3"/>
                </a:solidFill>
                <a:latin typeface="Inconsolata"/>
              </a:rPr>
              <a:t>    app/domain app/application</a:t>
            </a:r>
          </a:p>
          <a:p>
            <a:pPr>
              <a:lnSpc>
                <a:spcPct val="107843"/>
              </a:lnSpc>
              <a:spcAft>
                <a:spcPts val="0"/>
              </a:spcAft>
            </a:pPr>
            <a:r>
              <a:rPr sz="850" i="0">
                <a:solidFill>
                  <a:srgbClr val="82B1FF"/>
                </a:solidFill>
                <a:latin typeface="Inconsolata"/>
              </a:rPr>
              <a:t>$ echo $?</a:t>
            </a:r>
          </a:p>
          <a:p>
            <a:pPr>
              <a:lnSpc>
                <a:spcPct val="107843"/>
              </a:lnSpc>
              <a:spcAft>
                <a:spcPts val="0"/>
              </a:spcAft>
            </a:pPr>
            <a:r>
              <a:rPr sz="850" i="0">
                <a:solidFill>
                  <a:srgbClr val="E6EDF3"/>
                </a:solidFill>
                <a:latin typeface="Inconsolata"/>
              </a:rPr>
              <a:t>1</a:t>
            </a:r>
          </a:p>
        </p:txBody>
      </p:sp>
      <p:sp>
        <p:nvSpPr>
          <p:cNvPr id="30" name="Text 13"/>
          <p:cNvSpPr txBox="1"/>
          <p:nvPr/>
        </p:nvSpPr>
        <p:spPr>
          <a:xfrm>
            <a:off x="5715000" y="3017520"/>
            <a:ext cx="2770632" cy="557973"/>
          </a:xfrm>
          <a:prstGeom prst="rect">
            <a:avLst/>
          </a:prstGeom>
          <a:noFill/>
        </p:spPr>
        <p:txBody>
          <a:bodyPr wrap="square" lIns="45720" rIns="45720" anchor="t">
            <a:spAutoFit/>
          </a:bodyPr>
          <a:lstStyle/>
          <a:p>
            <a:pPr algn="l">
              <a:lnSpc>
                <a:spcPct val="115000"/>
              </a:lnSpc>
              <a:spcAft>
                <a:spcPts val="400"/>
              </a:spcAft>
            </a:pPr>
            <a:r>
              <a:rPr sz="900" b="0" i="0" dirty="0">
                <a:solidFill>
                  <a:srgbClr val="B5482A"/>
                </a:solidFill>
                <a:latin typeface="Inconsolata"/>
              </a:rPr>
              <a:t>grep</a:t>
            </a:r>
            <a:r>
              <a:rPr sz="900" b="0" i="0" dirty="0">
                <a:solidFill>
                  <a:srgbClr val="434343"/>
                </a:solidFill>
                <a:latin typeface="Inter"/>
              </a:rPr>
              <a:t> </a:t>
            </a:r>
            <a:r>
              <a:rPr sz="900" b="0" i="0" dirty="0" err="1">
                <a:solidFill>
                  <a:srgbClr val="434343"/>
                </a:solidFill>
                <a:latin typeface="Inter"/>
              </a:rPr>
              <a:t>tidak</a:t>
            </a:r>
            <a:r>
              <a:rPr sz="900" b="0" i="0" dirty="0">
                <a:solidFill>
                  <a:srgbClr val="434343"/>
                </a:solidFill>
                <a:latin typeface="Inter"/>
              </a:rPr>
              <a:t> </a:t>
            </a:r>
            <a:r>
              <a:rPr sz="900" b="0" i="0" dirty="0" err="1">
                <a:solidFill>
                  <a:srgbClr val="434343"/>
                </a:solidFill>
                <a:latin typeface="Inter"/>
              </a:rPr>
              <a:t>menemukan</a:t>
            </a:r>
            <a:r>
              <a:rPr sz="900" b="0" i="0" dirty="0">
                <a:solidFill>
                  <a:srgbClr val="434343"/>
                </a:solidFill>
                <a:latin typeface="Inter"/>
              </a:rPr>
              <a:t> </a:t>
            </a:r>
            <a:r>
              <a:rPr sz="900" b="0" i="0" dirty="0" err="1">
                <a:solidFill>
                  <a:srgbClr val="434343"/>
                </a:solidFill>
                <a:latin typeface="Inter"/>
              </a:rPr>
              <a:t>apa</a:t>
            </a:r>
            <a:r>
              <a:rPr sz="900" b="0" i="0" dirty="0">
                <a:solidFill>
                  <a:srgbClr val="434343"/>
                </a:solidFill>
                <a:latin typeface="Inter"/>
              </a:rPr>
              <a:t> pun (exit code 1), </a:t>
            </a:r>
            <a:r>
              <a:rPr sz="900" b="0" i="0" dirty="0" err="1">
                <a:solidFill>
                  <a:srgbClr val="434343"/>
                </a:solidFill>
                <a:latin typeface="Inter"/>
              </a:rPr>
              <a:t>artinya</a:t>
            </a:r>
            <a:r>
              <a:rPr sz="900" b="0" i="0" dirty="0">
                <a:solidFill>
                  <a:srgbClr val="434343"/>
                </a:solidFill>
                <a:latin typeface="Inter"/>
              </a:rPr>
              <a:t> </a:t>
            </a:r>
            <a:r>
              <a:rPr sz="900" b="0" i="0" dirty="0">
                <a:solidFill>
                  <a:srgbClr val="B5482A"/>
                </a:solidFill>
                <a:latin typeface="Inconsolata"/>
              </a:rPr>
              <a:t>domain/</a:t>
            </a:r>
            <a:r>
              <a:rPr sz="900" b="0" i="0" dirty="0">
                <a:solidFill>
                  <a:srgbClr val="434343"/>
                </a:solidFill>
                <a:latin typeface="Inter"/>
              </a:rPr>
              <a:t> dan </a:t>
            </a:r>
            <a:r>
              <a:rPr sz="900" b="0" i="0" dirty="0">
                <a:solidFill>
                  <a:srgbClr val="B5482A"/>
                </a:solidFill>
                <a:latin typeface="Inconsolata"/>
              </a:rPr>
              <a:t>application/</a:t>
            </a:r>
            <a:r>
              <a:rPr sz="900" b="0" i="0" dirty="0">
                <a:solidFill>
                  <a:srgbClr val="434343"/>
                </a:solidFill>
                <a:latin typeface="Inter"/>
              </a:rPr>
              <a:t> </a:t>
            </a:r>
            <a:r>
              <a:rPr sz="900" b="0" i="0" dirty="0" err="1">
                <a:solidFill>
                  <a:srgbClr val="434343"/>
                </a:solidFill>
                <a:latin typeface="Inter"/>
              </a:rPr>
              <a:t>bersih</a:t>
            </a:r>
            <a:r>
              <a:rPr sz="900" b="0" i="0" dirty="0">
                <a:solidFill>
                  <a:srgbClr val="434343"/>
                </a:solidFill>
                <a:latin typeface="Inter"/>
              </a:rPr>
              <a:t> </a:t>
            </a:r>
            <a:r>
              <a:rPr sz="900" b="0" i="0" dirty="0" err="1">
                <a:solidFill>
                  <a:srgbClr val="434343"/>
                </a:solidFill>
                <a:latin typeface="Inter"/>
              </a:rPr>
              <a:t>dari</a:t>
            </a:r>
            <a:r>
              <a:rPr sz="900" b="0" i="0" dirty="0">
                <a:solidFill>
                  <a:srgbClr val="434343"/>
                </a:solidFill>
                <a:latin typeface="Inter"/>
              </a:rPr>
              <a:t> </a:t>
            </a:r>
            <a:r>
              <a:rPr sz="900" b="0" i="0" dirty="0" err="1">
                <a:solidFill>
                  <a:srgbClr val="434343"/>
                </a:solidFill>
                <a:latin typeface="Inter"/>
              </a:rPr>
              <a:t>FastAPI</a:t>
            </a:r>
            <a:r>
              <a:rPr sz="900" b="0" i="0" dirty="0">
                <a:solidFill>
                  <a:srgbClr val="434343"/>
                </a:solidFill>
                <a:latin typeface="Inter"/>
              </a:rPr>
              <a:t> dan SQLite</a:t>
            </a:r>
            <a:r>
              <a:rPr lang="en-US" sz="900" b="0" i="0" dirty="0">
                <a:solidFill>
                  <a:srgbClr val="434343"/>
                </a:solidFill>
                <a:latin typeface="Inter"/>
              </a:rPr>
              <a:t>.</a:t>
            </a:r>
            <a:endParaRPr sz="900" b="0" i="0" dirty="0">
              <a:solidFill>
                <a:srgbClr val="434343"/>
              </a:solidFill>
              <a:latin typeface="Inte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73</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  ·  Langkah 9 dari 9</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Coba di Swagger</a:t>
            </a:r>
          </a:p>
        </p:txBody>
      </p:sp>
      <p:pic>
        <p:nvPicPr>
          <p:cNvPr id="22" name="Image 3" descr="s02-post.png"/>
          <p:cNvPicPr>
            <a:picLocks noChangeAspect="1"/>
          </p:cNvPicPr>
          <p:nvPr/>
        </p:nvPicPr>
        <p:blipFill>
          <a:blip r:embed="rId2"/>
          <a:stretch>
            <a:fillRect/>
          </a:stretch>
        </p:blipFill>
        <p:spPr>
          <a:xfrm>
            <a:off x="621792" y="1481328"/>
            <a:ext cx="2481880" cy="3218688"/>
          </a:xfrm>
          <a:prstGeom prst="rect">
            <a:avLst/>
          </a:prstGeom>
          <a:ln w="9525">
            <a:solidFill>
              <a:srgbClr val="D0D5DD"/>
            </a:solidFill>
          </a:ln>
        </p:spPr>
      </p:pic>
      <p:pic>
        <p:nvPicPr>
          <p:cNvPr id="23" name="Image 4" descr="s02-get-resp.png"/>
          <p:cNvPicPr>
            <a:picLocks noChangeAspect="1"/>
          </p:cNvPicPr>
          <p:nvPr/>
        </p:nvPicPr>
        <p:blipFill>
          <a:blip r:embed="rId3"/>
          <a:stretch>
            <a:fillRect/>
          </a:stretch>
        </p:blipFill>
        <p:spPr>
          <a:xfrm>
            <a:off x="3291840" y="1481328"/>
            <a:ext cx="4206240" cy="1213583"/>
          </a:xfrm>
          <a:prstGeom prst="rect">
            <a:avLst/>
          </a:prstGeom>
          <a:ln w="9525">
            <a:solidFill>
              <a:srgbClr val="D0D5DD"/>
            </a:solidFill>
          </a:ln>
        </p:spPr>
      </p:pic>
      <p:sp>
        <p:nvSpPr>
          <p:cNvPr id="24" name="Text 5"/>
          <p:cNvSpPr txBox="1"/>
          <p:nvPr/>
        </p:nvSpPr>
        <p:spPr>
          <a:xfrm>
            <a:off x="3291840" y="2715768"/>
            <a:ext cx="5193792" cy="27432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GET /orders/1</a:t>
            </a:r>
          </a:p>
        </p:txBody>
      </p:sp>
      <p:sp>
        <p:nvSpPr>
          <p:cNvPr id="25" name="Text 6"/>
          <p:cNvSpPr txBox="1"/>
          <p:nvPr/>
        </p:nvSpPr>
        <p:spPr>
          <a:xfrm>
            <a:off x="3291840" y="3108960"/>
            <a:ext cx="5193792" cy="155448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Hasilnya</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Response sama dengan Sesi 1: 201, total 900.000</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Endpoint sekarang dikelompokkan di tag </a:t>
            </a:r>
            <a:r>
              <a:rPr sz="950" b="1" i="0">
                <a:solidFill>
                  <a:srgbClr val="434343"/>
                </a:solidFill>
                <a:latin typeface="Inter"/>
              </a:rPr>
              <a:t>orders</a:t>
            </a:r>
            <a:r>
              <a:rPr sz="950" b="0" i="0">
                <a:solidFill>
                  <a:srgbClr val="434343"/>
                </a:solidFill>
                <a:latin typeface="Inter"/>
              </a:rPr>
              <a:t> (</a:t>
            </a:r>
            <a:r>
              <a:rPr sz="950" b="0" i="0">
                <a:solidFill>
                  <a:srgbClr val="B5482A"/>
                </a:solidFill>
                <a:latin typeface="Inconsolata"/>
              </a:rPr>
              <a:t>APIRouter</a:t>
            </a:r>
            <a:r>
              <a:rPr sz="950" b="0" i="0">
                <a:solidFill>
                  <a:srgbClr val="434343"/>
                </a:solidFill>
                <a:latin typeface="Inter"/>
              </a:rPr>
              <a: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Data dibaca lewat port </a:t>
            </a:r>
            <a:r>
              <a:rPr sz="950" b="0" i="0">
                <a:solidFill>
                  <a:srgbClr val="B5482A"/>
                </a:solidFill>
                <a:latin typeface="Inconsolata"/>
              </a:rPr>
              <a:t>OrderRepository</a:t>
            </a:r>
            <a:r>
              <a:rPr sz="950" b="0" i="0">
                <a:solidFill>
                  <a:srgbClr val="434343"/>
                </a:solidFill>
                <a:latin typeface="Inter"/>
              </a:rPr>
              <a:t>, yang dijalankan </a:t>
            </a:r>
            <a:r>
              <a:rPr sz="950" b="0" i="0">
                <a:solidFill>
                  <a:srgbClr val="B5482A"/>
                </a:solidFill>
                <a:latin typeface="Inconsolata"/>
              </a:rPr>
              <a:t>SqliteOrderRepository</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74</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Hands-on</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Cek Kriteria Selesai</a:t>
            </a:r>
          </a:p>
        </p:txBody>
      </p:sp>
      <p:graphicFrame>
        <p:nvGraphicFramePr>
          <p:cNvPr id="22" name="Table 3"/>
          <p:cNvGraphicFramePr>
            <a:graphicFrameLocks noGrp="1"/>
          </p:cNvGraphicFramePr>
          <p:nvPr/>
        </p:nvGraphicFramePr>
        <p:xfrm>
          <a:off x="621792" y="1481328"/>
          <a:ext cx="7863840" cy="3017520"/>
        </p:xfrm>
        <a:graphic>
          <a:graphicData uri="http://schemas.openxmlformats.org/drawingml/2006/table">
            <a:tbl>
              <a:tblPr firstRow="1" bandRow="1"/>
              <a:tblGrid>
                <a:gridCol w="3657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502920">
                <a:tc>
                  <a:txBody>
                    <a:bodyPr/>
                    <a:lstStyle/>
                    <a:p>
                      <a:pPr algn="l">
                        <a:lnSpc>
                          <a:spcPct val="100000"/>
                        </a:lnSpc>
                        <a:spcAft>
                          <a:spcPts val="0"/>
                        </a:spcAft>
                      </a:pPr>
                      <a:r>
                        <a:rPr sz="950" b="1" i="0">
                          <a:solidFill>
                            <a:srgbClr val="FFFFFF"/>
                          </a:solidFill>
                          <a:latin typeface="Inter"/>
                        </a:rPr>
                        <a:t>Kriteria</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Cara mengecek</a:t>
                      </a:r>
                    </a:p>
                  </a:txBody>
                  <a:tcPr marL="73152" marR="73152" marT="36576" marB="36576" anchor="ctr">
                    <a:solidFill>
                      <a:srgbClr val="1C4587"/>
                    </a:solidFill>
                  </a:tcPr>
                </a:tc>
                <a:extLst>
                  <a:ext uri="{0D108BD9-81ED-4DB2-BD59-A6C34878D82A}">
                    <a16:rowId xmlns:a16="http://schemas.microsoft.com/office/drawing/2014/main" val="10000"/>
                  </a:ext>
                </a:extLst>
              </a:tr>
              <a:tr h="502920">
                <a:tc>
                  <a:txBody>
                    <a:bodyPr/>
                    <a:lstStyle/>
                    <a:p>
                      <a:pPr algn="l">
                        <a:lnSpc>
                          <a:spcPct val="100000"/>
                        </a:lnSpc>
                        <a:spcAft>
                          <a:spcPts val="0"/>
                        </a:spcAft>
                      </a:pPr>
                      <a:r>
                        <a:rPr sz="950" b="1" i="0">
                          <a:solidFill>
                            <a:srgbClr val="1C4587"/>
                          </a:solidFill>
                          <a:latin typeface="Inter"/>
                        </a:rPr>
                        <a:t>POST &amp; GET tetap jalan</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Swagger: POST /orders lalu GET /orders/1</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pPr algn="l">
                        <a:lnSpc>
                          <a:spcPct val="100000"/>
                        </a:lnSpc>
                        <a:spcAft>
                          <a:spcPts val="0"/>
                        </a:spcAft>
                      </a:pPr>
                      <a:r>
                        <a:rPr sz="950" b="1" i="0">
                          <a:solidFill>
                            <a:srgbClr val="1C4587"/>
                          </a:solidFill>
                          <a:latin typeface="Inter"/>
                        </a:rPr>
                        <a:t>Dipecah ke domain, application, infrastructure, api</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Struktur folder sama dengan target</a:t>
                      </a:r>
                    </a:p>
                  </a:txBody>
                  <a:tcPr marL="73152" marR="73152" marT="36576" marB="36576" anchor="ctr">
                    <a:solidFill>
                      <a:srgbClr val="F3F4F6"/>
                    </a:solidFill>
                  </a:tcPr>
                </a:tc>
                <a:extLst>
                  <a:ext uri="{0D108BD9-81ED-4DB2-BD59-A6C34878D82A}">
                    <a16:rowId xmlns:a16="http://schemas.microsoft.com/office/drawing/2014/main" val="10002"/>
                  </a:ext>
                </a:extLst>
              </a:tr>
              <a:tr h="502920">
                <a:tc>
                  <a:txBody>
                    <a:bodyPr/>
                    <a:lstStyle/>
                    <a:p>
                      <a:pPr algn="l">
                        <a:lnSpc>
                          <a:spcPct val="100000"/>
                        </a:lnSpc>
                        <a:spcAft>
                          <a:spcPts val="0"/>
                        </a:spcAft>
                      </a:pPr>
                      <a:r>
                        <a:rPr sz="950" b="1" i="0">
                          <a:solidFill>
                            <a:srgbClr val="1C4587"/>
                          </a:solidFill>
                          <a:latin typeface="Inter"/>
                        </a:rPr>
                        <a:t>domain &amp; application tanpa fastapi/sqlite3</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grep tidak menemukan apa pun</a:t>
                      </a: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pPr algn="l">
                        <a:lnSpc>
                          <a:spcPct val="100000"/>
                        </a:lnSpc>
                        <a:spcAft>
                          <a:spcPts val="0"/>
                        </a:spcAft>
                      </a:pPr>
                      <a:r>
                        <a:rPr sz="950" b="1" i="0">
                          <a:solidFill>
                            <a:srgbClr val="1C4587"/>
                          </a:solidFill>
                          <a:latin typeface="Inter"/>
                        </a:rPr>
                        <a:t>Dependency lewat Depends di api/dependencies.py</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Route hanya punya Depends(get_order_service)</a:t>
                      </a:r>
                    </a:p>
                  </a:txBody>
                  <a:tcPr marL="73152" marR="73152" marT="36576" marB="36576" anchor="ctr">
                    <a:solidFill>
                      <a:srgbClr val="F3F4F6"/>
                    </a:solidFill>
                  </a:tcPr>
                </a:tc>
                <a:extLst>
                  <a:ext uri="{0D108BD9-81ED-4DB2-BD59-A6C34878D82A}">
                    <a16:rowId xmlns:a16="http://schemas.microsoft.com/office/drawing/2014/main" val="10004"/>
                  </a:ext>
                </a:extLst>
              </a:tr>
              <a:tr h="502920">
                <a:tc>
                  <a:txBody>
                    <a:bodyPr/>
                    <a:lstStyle/>
                    <a:p>
                      <a:pPr algn="l">
                        <a:lnSpc>
                          <a:spcPct val="100000"/>
                        </a:lnSpc>
                        <a:spcAft>
                          <a:spcPts val="0"/>
                        </a:spcAft>
                      </a:pPr>
                      <a:r>
                        <a:rPr sz="950" b="1" i="0">
                          <a:solidFill>
                            <a:srgbClr val="1C4587"/>
                          </a:solidFill>
                          <a:latin typeface="Inter"/>
                        </a:rPr>
                        <a:t>Test pakai fake, pytest hijau</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pytest -v → 7 passed</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Google Shape;30;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75</a:t>
            </a:fld>
            <a:endParaRPr/>
          </a:p>
        </p:txBody>
      </p:sp>
      <p:sp>
        <p:nvSpPr>
          <p:cNvPr id="31" name="Text 1"/>
          <p:cNvSpPr txBox="1"/>
          <p:nvPr/>
        </p:nvSpPr>
        <p:spPr>
          <a:xfrm>
            <a:off x="822960" y="1600200"/>
            <a:ext cx="7315200" cy="365760"/>
          </a:xfrm>
          <a:prstGeom prst="rect">
            <a:avLst/>
          </a:prstGeom>
          <a:noFill/>
        </p:spPr>
        <p:txBody>
          <a:bodyPr wrap="square" lIns="45720" rIns="45720" anchor="t">
            <a:spAutoFit/>
          </a:bodyPr>
          <a:lstStyle/>
          <a:p>
            <a:pPr algn="l">
              <a:lnSpc>
                <a:spcPct val="115000"/>
              </a:lnSpc>
              <a:spcAft>
                <a:spcPts val="400"/>
              </a:spcAft>
            </a:pPr>
            <a:r>
              <a:rPr sz="1400" b="0" i="0">
                <a:solidFill>
                  <a:srgbClr val="CFE0FA"/>
                </a:solidFill>
                <a:latin typeface="Inter"/>
              </a:rPr>
              <a:t>Bagian 05</a:t>
            </a:r>
          </a:p>
        </p:txBody>
      </p:sp>
      <p:sp>
        <p:nvSpPr>
          <p:cNvPr id="32" name="Text 2"/>
          <p:cNvSpPr txBox="1"/>
          <p:nvPr/>
        </p:nvSpPr>
        <p:spPr>
          <a:xfrm>
            <a:off x="822960" y="1920240"/>
            <a:ext cx="7315200" cy="822960"/>
          </a:xfrm>
          <a:prstGeom prst="rect">
            <a:avLst/>
          </a:prstGeom>
          <a:noFill/>
        </p:spPr>
        <p:txBody>
          <a:bodyPr wrap="square" lIns="45720" rIns="45720" anchor="t">
            <a:spAutoFit/>
          </a:bodyPr>
          <a:lstStyle/>
          <a:p>
            <a:pPr algn="l">
              <a:lnSpc>
                <a:spcPct val="115000"/>
              </a:lnSpc>
              <a:spcAft>
                <a:spcPts val="400"/>
              </a:spcAft>
            </a:pPr>
            <a:r>
              <a:rPr sz="3000" b="0" i="0">
                <a:solidFill>
                  <a:srgbClr val="FFFFFF"/>
                </a:solidFill>
                <a:latin typeface="Work Sans ExtraBold"/>
              </a:rPr>
              <a:t>Studi Kasus: Tambah Ongkos Kirim</a:t>
            </a:r>
          </a:p>
        </p:txBody>
      </p:sp>
      <p:sp>
        <p:nvSpPr>
          <p:cNvPr id="33" name="Text 3"/>
          <p:cNvSpPr txBox="1"/>
          <p:nvPr/>
        </p:nvSpPr>
        <p:spPr>
          <a:xfrm>
            <a:off x="822960" y="3246120"/>
            <a:ext cx="6583680" cy="731520"/>
          </a:xfrm>
          <a:prstGeom prst="rect">
            <a:avLst/>
          </a:prstGeom>
          <a:noFill/>
        </p:spPr>
        <p:txBody>
          <a:bodyPr wrap="square" lIns="45720" rIns="45720" anchor="t">
            <a:spAutoFit/>
          </a:bodyPr>
          <a:lstStyle/>
          <a:p>
            <a:pPr algn="l">
              <a:lnSpc>
                <a:spcPct val="115000"/>
              </a:lnSpc>
              <a:spcAft>
                <a:spcPts val="400"/>
              </a:spcAft>
            </a:pPr>
            <a:r>
              <a:rPr sz="1200" b="0" i="0">
                <a:solidFill>
                  <a:srgbClr val="E3ECFA"/>
                </a:solidFill>
                <a:latin typeface="Inter"/>
              </a:rPr>
              <a:t>Dikerjakan mandiri. Menggabungkan materi Sesi 1 dan Sesi 2.</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76</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  ·  mulai dari 08-studi-kasus-ongkir/before/</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Instruksi &amp; Requirement</a:t>
            </a:r>
          </a:p>
        </p:txBody>
      </p:sp>
      <p:sp>
        <p:nvSpPr>
          <p:cNvPr id="22" name="Text 3"/>
          <p:cNvSpPr txBox="1"/>
          <p:nvPr/>
        </p:nvSpPr>
        <p:spPr>
          <a:xfrm>
            <a:off x="621792" y="1481328"/>
            <a:ext cx="4206240" cy="320040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Latar belakang</a:t>
            </a:r>
          </a:p>
          <a:p>
            <a:pPr algn="l">
              <a:lnSpc>
                <a:spcPct val="115000"/>
              </a:lnSpc>
              <a:spcAft>
                <a:spcPts val="400"/>
              </a:spcAft>
            </a:pPr>
            <a:r>
              <a:rPr sz="950" b="0" i="0">
                <a:solidFill>
                  <a:srgbClr val="434343"/>
                </a:solidFill>
                <a:latin typeface="Inter"/>
              </a:rPr>
              <a:t>Tim bisnis ingin customer bisa memilih cara pengiriman, dan ongkos kirimnya ikut masuk ke total order.</a:t>
            </a:r>
          </a:p>
          <a:p>
            <a:pPr algn="l">
              <a:lnSpc>
                <a:spcPct val="115000"/>
              </a:lnSpc>
              <a:spcAft>
                <a:spcPts val="400"/>
              </a:spcAft>
            </a:pPr>
            <a:r>
              <a:rPr sz="1050" b="1" i="0">
                <a:solidFill>
                  <a:srgbClr val="1C4587"/>
                </a:solidFill>
                <a:latin typeface="Inter"/>
              </a:rPr>
              <a:t>Requirement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Request </a:t>
            </a:r>
            <a:r>
              <a:rPr sz="950" b="0" i="0">
                <a:solidFill>
                  <a:srgbClr val="B5482A"/>
                </a:solidFill>
                <a:latin typeface="Inconsolata"/>
              </a:rPr>
              <a:t>POST /orders</a:t>
            </a:r>
            <a:r>
              <a:rPr sz="950" b="0" i="0">
                <a:solidFill>
                  <a:srgbClr val="434343"/>
                </a:solidFill>
                <a:latin typeface="Inter"/>
              </a:rPr>
              <a:t> punya field baru </a:t>
            </a:r>
            <a:r>
              <a:rPr sz="950" b="0" i="0">
                <a:solidFill>
                  <a:srgbClr val="B5482A"/>
                </a:solidFill>
                <a:latin typeface="Inconsolata"/>
              </a:rPr>
              <a:t>courier</a:t>
            </a:r>
            <a:r>
              <a:rPr sz="950" b="0" i="0">
                <a:solidFill>
                  <a:srgbClr val="434343"/>
                </a:solidFill>
                <a:latin typeface="Inter"/>
              </a:rPr>
              <a:t> (default </a:t>
            </a:r>
            <a:r>
              <a:rPr sz="950" b="0" i="0">
                <a:solidFill>
                  <a:srgbClr val="B5482A"/>
                </a:solidFill>
                <a:latin typeface="Inconsolata"/>
              </a:rPr>
              <a:t>pickup</a:t>
            </a:r>
            <a:r>
              <a:rPr sz="950" b="0" i="0">
                <a:solidFill>
                  <a:srgbClr val="434343"/>
                </a:solidFill>
                <a:latin typeface="Inter"/>
              </a:rPr>
              <a:t>)</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Gratis ongkir</a:t>
            </a:r>
            <a:r>
              <a:rPr sz="950" b="0" i="0">
                <a:solidFill>
                  <a:srgbClr val="434343"/>
                </a:solidFill>
                <a:latin typeface="Inter"/>
              </a:rPr>
              <a:t> jika belanja setelah diskon minimal Rp500.000</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total</a:t>
            </a:r>
            <a:r>
              <a:rPr sz="950" b="0" i="0">
                <a:solidFill>
                  <a:srgbClr val="434343"/>
                </a:solidFill>
                <a:latin typeface="Inter"/>
              </a:rPr>
              <a:t> = subtotal - diskon + ongkir</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Response menampilkan </a:t>
            </a:r>
            <a:r>
              <a:rPr sz="950" b="0" i="0">
                <a:solidFill>
                  <a:srgbClr val="B5482A"/>
                </a:solidFill>
                <a:latin typeface="Inconsolata"/>
              </a:rPr>
              <a:t>courier</a:t>
            </a:r>
            <a:r>
              <a:rPr sz="950" b="0" i="0">
                <a:solidFill>
                  <a:srgbClr val="434343"/>
                </a:solidFill>
                <a:latin typeface="Inter"/>
              </a:rPr>
              <a:t> dan </a:t>
            </a:r>
            <a:r>
              <a:rPr sz="950" b="0" i="0">
                <a:solidFill>
                  <a:srgbClr val="B5482A"/>
                </a:solidFill>
                <a:latin typeface="Inconsolata"/>
              </a:rPr>
              <a:t>shipping_cost</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Kurir tidak dikenal → </a:t>
            </a:r>
            <a:r>
              <a:rPr sz="950" b="1" i="0">
                <a:solidFill>
                  <a:srgbClr val="434343"/>
                </a:solidFill>
                <a:latin typeface="Inter"/>
              </a:rPr>
              <a:t>400</a:t>
            </a:r>
            <a:r>
              <a:rPr sz="950" b="0" i="0">
                <a:solidFill>
                  <a:srgbClr val="434343"/>
                </a:solidFill>
                <a:latin typeface="Inter"/>
              </a:rPr>
              <a:t> </a:t>
            </a:r>
            <a:r>
              <a:rPr sz="950" b="0" i="0">
                <a:solidFill>
                  <a:srgbClr val="B5482A"/>
                </a:solidFill>
                <a:latin typeface="Inconsolata"/>
              </a:rPr>
              <a:t>Kurir tidak dikenal</a:t>
            </a:r>
          </a:p>
        </p:txBody>
      </p:sp>
      <p:graphicFrame>
        <p:nvGraphicFramePr>
          <p:cNvPr id="23" name="Table 4"/>
          <p:cNvGraphicFramePr>
            <a:graphicFrameLocks noGrp="1"/>
          </p:cNvGraphicFramePr>
          <p:nvPr/>
        </p:nvGraphicFramePr>
        <p:xfrm>
          <a:off x="5029200" y="1481328"/>
          <a:ext cx="3456432" cy="164592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1627632">
                  <a:extLst>
                    <a:ext uri="{9D8B030D-6E8A-4147-A177-3AD203B41FA5}">
                      <a16:colId xmlns:a16="http://schemas.microsoft.com/office/drawing/2014/main" val="20001"/>
                    </a:ext>
                  </a:extLst>
                </a:gridCol>
              </a:tblGrid>
              <a:tr h="411480">
                <a:tc>
                  <a:txBody>
                    <a:bodyPr/>
                    <a:lstStyle/>
                    <a:p>
                      <a:pPr algn="l">
                        <a:lnSpc>
                          <a:spcPct val="100000"/>
                        </a:lnSpc>
                        <a:spcAft>
                          <a:spcPts val="0"/>
                        </a:spcAft>
                      </a:pPr>
                      <a:r>
                        <a:rPr sz="950" b="1" i="0">
                          <a:solidFill>
                            <a:srgbClr val="FFFFFF"/>
                          </a:solidFill>
                          <a:latin typeface="Inter"/>
                        </a:rPr>
                        <a:t>Kurir</a:t>
                      </a:r>
                    </a:p>
                  </a:txBody>
                  <a:tcPr marL="73152" marR="73152" marT="36576" marB="36576" anchor="ctr">
                    <a:solidFill>
                      <a:srgbClr val="1C4587"/>
                    </a:solidFill>
                  </a:tcPr>
                </a:tc>
                <a:tc>
                  <a:txBody>
                    <a:bodyPr/>
                    <a:lstStyle/>
                    <a:p>
                      <a:pPr algn="l">
                        <a:lnSpc>
                          <a:spcPct val="100000"/>
                        </a:lnSpc>
                        <a:spcAft>
                          <a:spcPts val="0"/>
                        </a:spcAft>
                      </a:pPr>
                      <a:r>
                        <a:rPr sz="950" b="1" i="0">
                          <a:solidFill>
                            <a:srgbClr val="FFFFFF"/>
                          </a:solidFill>
                          <a:latin typeface="Inter"/>
                        </a:rPr>
                        <a:t>Ongkos kirim</a:t>
                      </a:r>
                    </a:p>
                  </a:txBody>
                  <a:tcPr marL="73152" marR="73152" marT="36576" marB="36576" anchor="ctr">
                    <a:solidFill>
                      <a:srgbClr val="1C4587"/>
                    </a:solidFill>
                  </a:tcPr>
                </a:tc>
                <a:extLst>
                  <a:ext uri="{0D108BD9-81ED-4DB2-BD59-A6C34878D82A}">
                    <a16:rowId xmlns:a16="http://schemas.microsoft.com/office/drawing/2014/main" val="10000"/>
                  </a:ext>
                </a:extLst>
              </a:tr>
              <a:tr h="411480">
                <a:tc>
                  <a:txBody>
                    <a:bodyPr/>
                    <a:lstStyle/>
                    <a:p>
                      <a:pPr algn="l">
                        <a:lnSpc>
                          <a:spcPct val="100000"/>
                        </a:lnSpc>
                        <a:spcAft>
                          <a:spcPts val="0"/>
                        </a:spcAft>
                      </a:pPr>
                      <a:r>
                        <a:rPr sz="950" b="1" i="0">
                          <a:solidFill>
                            <a:srgbClr val="1C4587"/>
                          </a:solidFill>
                          <a:latin typeface="Inter"/>
                        </a:rPr>
                        <a:t>pickup (default)</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Rp0</a:t>
                      </a:r>
                    </a:p>
                  </a:txBody>
                  <a:tcPr marL="73152" marR="73152" marT="36576" marB="36576" anchor="ctr">
                    <a:solidFill>
                      <a:srgbClr val="FFFFFF"/>
                    </a:solidFill>
                  </a:tcPr>
                </a:tc>
                <a:extLst>
                  <a:ext uri="{0D108BD9-81ED-4DB2-BD59-A6C34878D82A}">
                    <a16:rowId xmlns:a16="http://schemas.microsoft.com/office/drawing/2014/main" val="10001"/>
                  </a:ext>
                </a:extLst>
              </a:tr>
              <a:tr h="411480">
                <a:tc>
                  <a:txBody>
                    <a:bodyPr/>
                    <a:lstStyle/>
                    <a:p>
                      <a:pPr algn="l">
                        <a:lnSpc>
                          <a:spcPct val="100000"/>
                        </a:lnSpc>
                        <a:spcAft>
                          <a:spcPts val="0"/>
                        </a:spcAft>
                      </a:pPr>
                      <a:r>
                        <a:rPr sz="950" b="1" i="0">
                          <a:solidFill>
                            <a:srgbClr val="1C4587"/>
                          </a:solidFill>
                          <a:latin typeface="Inter"/>
                        </a:rPr>
                        <a:t>jne</a:t>
                      </a:r>
                    </a:p>
                  </a:txBody>
                  <a:tcPr marL="73152" marR="73152" marT="36576" marB="36576" anchor="ctr">
                    <a:solidFill>
                      <a:srgbClr val="F3F4F6"/>
                    </a:solidFill>
                  </a:tcPr>
                </a:tc>
                <a:tc>
                  <a:txBody>
                    <a:bodyPr/>
                    <a:lstStyle/>
                    <a:p>
                      <a:pPr algn="l">
                        <a:lnSpc>
                          <a:spcPct val="100000"/>
                        </a:lnSpc>
                        <a:spcAft>
                          <a:spcPts val="0"/>
                        </a:spcAft>
                      </a:pPr>
                      <a:r>
                        <a:rPr sz="950" b="0" i="0">
                          <a:solidFill>
                            <a:srgbClr val="434343"/>
                          </a:solidFill>
                          <a:latin typeface="Inter"/>
                        </a:rPr>
                        <a:t>Rp15.000</a:t>
                      </a:r>
                    </a:p>
                  </a:txBody>
                  <a:tcPr marL="73152" marR="73152" marT="36576" marB="36576" anchor="ctr">
                    <a:solidFill>
                      <a:srgbClr val="F3F4F6"/>
                    </a:solidFill>
                  </a:tcPr>
                </a:tc>
                <a:extLst>
                  <a:ext uri="{0D108BD9-81ED-4DB2-BD59-A6C34878D82A}">
                    <a16:rowId xmlns:a16="http://schemas.microsoft.com/office/drawing/2014/main" val="10002"/>
                  </a:ext>
                </a:extLst>
              </a:tr>
              <a:tr h="411480">
                <a:tc>
                  <a:txBody>
                    <a:bodyPr/>
                    <a:lstStyle/>
                    <a:p>
                      <a:pPr algn="l">
                        <a:lnSpc>
                          <a:spcPct val="100000"/>
                        </a:lnSpc>
                        <a:spcAft>
                          <a:spcPts val="0"/>
                        </a:spcAft>
                      </a:pPr>
                      <a:r>
                        <a:rPr sz="950" b="1" i="0">
                          <a:solidFill>
                            <a:srgbClr val="1C4587"/>
                          </a:solidFill>
                          <a:latin typeface="Inter"/>
                        </a:rPr>
                        <a:t>sicepat</a:t>
                      </a:r>
                    </a:p>
                  </a:txBody>
                  <a:tcPr marL="73152" marR="73152" marT="36576" marB="36576" anchor="ctr">
                    <a:solidFill>
                      <a:srgbClr val="FFFFFF"/>
                    </a:solidFill>
                  </a:tcPr>
                </a:tc>
                <a:tc>
                  <a:txBody>
                    <a:bodyPr/>
                    <a:lstStyle/>
                    <a:p>
                      <a:pPr algn="l">
                        <a:lnSpc>
                          <a:spcPct val="100000"/>
                        </a:lnSpc>
                        <a:spcAft>
                          <a:spcPts val="0"/>
                        </a:spcAft>
                      </a:pPr>
                      <a:r>
                        <a:rPr sz="950" b="0" i="0">
                          <a:solidFill>
                            <a:srgbClr val="434343"/>
                          </a:solidFill>
                          <a:latin typeface="Inter"/>
                        </a:rPr>
                        <a:t>Rp12.000</a:t>
                      </a:r>
                    </a:p>
                  </a:txBody>
                  <a:tcPr marL="73152" marR="73152"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24" name="Box 5"/>
          <p:cNvSpPr/>
          <p:nvPr/>
        </p:nvSpPr>
        <p:spPr>
          <a:xfrm>
            <a:off x="5029200" y="3291840"/>
            <a:ext cx="3456432" cy="1408176"/>
          </a:xfrm>
          <a:prstGeom prst="roundRect">
            <a:avLst>
              <a:gd name="adj" fmla="val 7792"/>
            </a:avLst>
          </a:prstGeom>
          <a:solidFill>
            <a:srgbClr val="FDEEE7"/>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5" name="Text 6"/>
          <p:cNvSpPr txBox="1"/>
          <p:nvPr/>
        </p:nvSpPr>
        <p:spPr>
          <a:xfrm>
            <a:off x="5166360" y="3383280"/>
            <a:ext cx="3182112" cy="310896"/>
          </a:xfrm>
          <a:prstGeom prst="rect">
            <a:avLst/>
          </a:prstGeom>
          <a:noFill/>
        </p:spPr>
        <p:txBody>
          <a:bodyPr wrap="square" lIns="45720" rIns="45720" anchor="t">
            <a:spAutoFit/>
          </a:bodyPr>
          <a:lstStyle/>
          <a:p>
            <a:pPr algn="l">
              <a:lnSpc>
                <a:spcPct val="115000"/>
              </a:lnSpc>
              <a:spcAft>
                <a:spcPts val="400"/>
              </a:spcAft>
            </a:pPr>
            <a:r>
              <a:rPr sz="1050" b="1" i="0">
                <a:solidFill>
                  <a:srgbClr val="E0764F"/>
                </a:solidFill>
                <a:latin typeface="Inter"/>
              </a:rPr>
              <a:t>Aturan arsitektur</a:t>
            </a:r>
          </a:p>
        </p:txBody>
      </p:sp>
      <p:sp>
        <p:nvSpPr>
          <p:cNvPr id="26" name="Text 7"/>
          <p:cNvSpPr txBox="1"/>
          <p:nvPr/>
        </p:nvSpPr>
        <p:spPr>
          <a:xfrm>
            <a:off x="5166360" y="3703320"/>
            <a:ext cx="3182112" cy="905256"/>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00" b="0" i="0">
                <a:solidFill>
                  <a:srgbClr val="B5482A"/>
                </a:solidFill>
                <a:latin typeface="Inconsolata"/>
              </a:rPr>
              <a:t>domain/</a:t>
            </a:r>
            <a:r>
              <a:rPr sz="900" b="0" i="0">
                <a:solidFill>
                  <a:srgbClr val="434343"/>
                </a:solidFill>
                <a:latin typeface="Inter"/>
              </a:rPr>
              <a:t> &amp; </a:t>
            </a:r>
            <a:r>
              <a:rPr sz="900" b="0" i="0">
                <a:solidFill>
                  <a:srgbClr val="B5482A"/>
                </a:solidFill>
                <a:latin typeface="Inconsolata"/>
              </a:rPr>
              <a:t>application/</a:t>
            </a:r>
            <a:r>
              <a:rPr sz="900" b="0" i="0">
                <a:solidFill>
                  <a:srgbClr val="434343"/>
                </a:solidFill>
                <a:latin typeface="Inter"/>
              </a:rPr>
              <a:t> tetap tanpa </a:t>
            </a:r>
            <a:r>
              <a:rPr sz="900" b="0" i="0">
                <a:solidFill>
                  <a:srgbClr val="B5482A"/>
                </a:solidFill>
                <a:latin typeface="Inconsolata"/>
              </a:rPr>
              <a:t>fastapi</a:t>
            </a:r>
            <a:r>
              <a:rPr sz="900" b="0" i="0">
                <a:solidFill>
                  <a:srgbClr val="434343"/>
                </a:solidFill>
                <a:latin typeface="Inter"/>
              </a:rPr>
              <a:t>/</a:t>
            </a:r>
            <a:r>
              <a:rPr sz="900" b="0" i="0">
                <a:solidFill>
                  <a:srgbClr val="B5482A"/>
                </a:solidFill>
                <a:latin typeface="Inconsolata"/>
              </a:rPr>
              <a:t>sqlite3</a:t>
            </a:r>
          </a:p>
          <a:p>
            <a:pPr marL="182880" indent="-182880" algn="l">
              <a:lnSpc>
                <a:spcPct val="115000"/>
              </a:lnSpc>
              <a:spcAft>
                <a:spcPts val="400"/>
              </a:spcAft>
              <a:buClr>
                <a:srgbClr val="E0764F"/>
              </a:buClr>
              <a:buSzPct val="100000"/>
              <a:buFont typeface="Arial"/>
              <a:buChar char="•"/>
            </a:pPr>
            <a:r>
              <a:rPr sz="900" b="0" i="0">
                <a:solidFill>
                  <a:srgbClr val="434343"/>
                </a:solidFill>
                <a:latin typeface="Inter"/>
              </a:rPr>
              <a:t>Kurir baru nanti </a:t>
            </a:r>
            <a:r>
              <a:rPr sz="900" b="1" i="0">
                <a:solidFill>
                  <a:srgbClr val="434343"/>
                </a:solidFill>
                <a:latin typeface="Inter"/>
              </a:rPr>
              <a:t>tidak boleh</a:t>
            </a:r>
            <a:r>
              <a:rPr sz="900" b="0" i="0">
                <a:solidFill>
                  <a:srgbClr val="434343"/>
                </a:solidFill>
                <a:latin typeface="Inter"/>
              </a:rPr>
              <a:t> mengubah </a:t>
            </a:r>
            <a:r>
              <a:rPr sz="900" b="0" i="0">
                <a:solidFill>
                  <a:srgbClr val="B5482A"/>
                </a:solidFill>
                <a:latin typeface="Inconsolata"/>
              </a:rPr>
              <a:t>OrderService</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77</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Langkah Singkat</a:t>
            </a:r>
          </a:p>
        </p:txBody>
      </p:sp>
      <p:sp>
        <p:nvSpPr>
          <p:cNvPr id="22" name="Box 3"/>
          <p:cNvSpPr/>
          <p:nvPr/>
        </p:nvSpPr>
        <p:spPr>
          <a:xfrm>
            <a:off x="621792" y="1481328"/>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1</a:t>
            </a:r>
          </a:p>
        </p:txBody>
      </p:sp>
      <p:sp>
        <p:nvSpPr>
          <p:cNvPr id="23" name="Text 4"/>
          <p:cNvSpPr txBox="1"/>
          <p:nvPr/>
        </p:nvSpPr>
        <p:spPr>
          <a:xfrm>
            <a:off x="987552" y="1453896"/>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Buat aturan ongkir di layer domain: satu class per cara kirim (Strategy) + function untuk memilih kurir</a:t>
            </a:r>
          </a:p>
        </p:txBody>
      </p:sp>
      <p:sp>
        <p:nvSpPr>
          <p:cNvPr id="24" name="Box 5"/>
          <p:cNvSpPr/>
          <p:nvPr/>
        </p:nvSpPr>
        <p:spPr>
          <a:xfrm>
            <a:off x="621792" y="2011680"/>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2</a:t>
            </a:r>
          </a:p>
        </p:txBody>
      </p:sp>
      <p:sp>
        <p:nvSpPr>
          <p:cNvPr id="25" name="Text 6"/>
          <p:cNvSpPr txBox="1"/>
          <p:nvPr/>
        </p:nvSpPr>
        <p:spPr>
          <a:xfrm>
            <a:off x="987552" y="1984248"/>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Tambahkan </a:t>
            </a:r>
            <a:r>
              <a:rPr sz="950" b="0" i="0">
                <a:solidFill>
                  <a:srgbClr val="B5482A"/>
                </a:solidFill>
                <a:latin typeface="Inconsolata"/>
              </a:rPr>
              <a:t>courier</a:t>
            </a:r>
            <a:r>
              <a:rPr sz="950" b="0" i="0">
                <a:solidFill>
                  <a:srgbClr val="434343"/>
                </a:solidFill>
                <a:latin typeface="Inter"/>
              </a:rPr>
              <a:t> dan </a:t>
            </a:r>
            <a:r>
              <a:rPr sz="950" b="0" i="0">
                <a:solidFill>
                  <a:srgbClr val="B5482A"/>
                </a:solidFill>
                <a:latin typeface="Inconsolata"/>
              </a:rPr>
              <a:t>shipping_cost</a:t>
            </a:r>
            <a:r>
              <a:rPr sz="950" b="0" i="0">
                <a:solidFill>
                  <a:srgbClr val="434343"/>
                </a:solidFill>
                <a:latin typeface="Inter"/>
              </a:rPr>
              <a:t> ke </a:t>
            </a:r>
            <a:r>
              <a:rPr sz="950" b="0" i="0">
                <a:solidFill>
                  <a:srgbClr val="B5482A"/>
                </a:solidFill>
                <a:latin typeface="Inconsolata"/>
              </a:rPr>
              <a:t>Order</a:t>
            </a:r>
          </a:p>
        </p:txBody>
      </p:sp>
      <p:sp>
        <p:nvSpPr>
          <p:cNvPr id="26" name="Box 7"/>
          <p:cNvSpPr/>
          <p:nvPr/>
        </p:nvSpPr>
        <p:spPr>
          <a:xfrm>
            <a:off x="621792" y="2542032"/>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3</a:t>
            </a:r>
          </a:p>
        </p:txBody>
      </p:sp>
      <p:sp>
        <p:nvSpPr>
          <p:cNvPr id="27" name="Text 8"/>
          <p:cNvSpPr txBox="1"/>
          <p:nvPr/>
        </p:nvSpPr>
        <p:spPr>
          <a:xfrm>
            <a:off x="987552" y="2514600"/>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Hitung ongkir di </a:t>
            </a:r>
            <a:r>
              <a:rPr sz="950" b="0" i="0">
                <a:solidFill>
                  <a:srgbClr val="B5482A"/>
                </a:solidFill>
                <a:latin typeface="Inconsolata"/>
              </a:rPr>
              <a:t>OrderService.place_order()</a:t>
            </a:r>
            <a:r>
              <a:rPr sz="950" b="0" i="0">
                <a:solidFill>
                  <a:srgbClr val="434343"/>
                </a:solidFill>
                <a:latin typeface="Inter"/>
              </a:rPr>
              <a:t> setelah diskon</a:t>
            </a:r>
          </a:p>
        </p:txBody>
      </p:sp>
      <p:sp>
        <p:nvSpPr>
          <p:cNvPr id="28" name="Box 9"/>
          <p:cNvSpPr/>
          <p:nvPr/>
        </p:nvSpPr>
        <p:spPr>
          <a:xfrm>
            <a:off x="621792" y="3072384"/>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4</a:t>
            </a:r>
          </a:p>
        </p:txBody>
      </p:sp>
      <p:sp>
        <p:nvSpPr>
          <p:cNvPr id="29" name="Text 10"/>
          <p:cNvSpPr txBox="1"/>
          <p:nvPr/>
        </p:nvSpPr>
        <p:spPr>
          <a:xfrm>
            <a:off x="987552" y="3044952"/>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Simpan dua kolom baru di </a:t>
            </a:r>
            <a:r>
              <a:rPr sz="950" b="0" i="0">
                <a:solidFill>
                  <a:srgbClr val="B5482A"/>
                </a:solidFill>
                <a:latin typeface="Inconsolata"/>
              </a:rPr>
              <a:t>SqliteOrderRepository</a:t>
            </a:r>
          </a:p>
        </p:txBody>
      </p:sp>
      <p:sp>
        <p:nvSpPr>
          <p:cNvPr id="30" name="Box 11"/>
          <p:cNvSpPr/>
          <p:nvPr/>
        </p:nvSpPr>
        <p:spPr>
          <a:xfrm>
            <a:off x="621792" y="3602736"/>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5</a:t>
            </a:r>
          </a:p>
        </p:txBody>
      </p:sp>
      <p:sp>
        <p:nvSpPr>
          <p:cNvPr id="31" name="Text 12"/>
          <p:cNvSpPr txBox="1"/>
          <p:nvPr/>
        </p:nvSpPr>
        <p:spPr>
          <a:xfrm>
            <a:off x="987552" y="3575304"/>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Tambahkan </a:t>
            </a:r>
            <a:r>
              <a:rPr sz="950" b="0" i="0">
                <a:solidFill>
                  <a:srgbClr val="B5482A"/>
                </a:solidFill>
                <a:latin typeface="Inconsolata"/>
              </a:rPr>
              <a:t>courier</a:t>
            </a:r>
            <a:r>
              <a:rPr sz="950" b="0" i="0">
                <a:solidFill>
                  <a:srgbClr val="434343"/>
                </a:solidFill>
                <a:latin typeface="Inter"/>
              </a:rPr>
              <a:t> ke request body, ubah error kurir jadi HTTP 400</a:t>
            </a:r>
          </a:p>
        </p:txBody>
      </p:sp>
      <p:sp>
        <p:nvSpPr>
          <p:cNvPr id="32" name="Box 13"/>
          <p:cNvSpPr/>
          <p:nvPr/>
        </p:nvSpPr>
        <p:spPr>
          <a:xfrm>
            <a:off x="621792" y="4133087"/>
            <a:ext cx="274320" cy="274320"/>
          </a:xfrm>
          <a:prstGeom prst="ellipse">
            <a:avLst/>
          </a:prstGeom>
          <a:solidFill>
            <a:srgbClr val="E0764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5000"/>
              </a:lnSpc>
              <a:spcAft>
                <a:spcPts val="200"/>
              </a:spcAft>
            </a:pPr>
            <a:r>
              <a:rPr sz="900" b="1" i="0">
                <a:solidFill>
                  <a:srgbClr val="FFFFFF"/>
                </a:solidFill>
                <a:latin typeface="Inter"/>
              </a:rPr>
              <a:t>6</a:t>
            </a:r>
          </a:p>
        </p:txBody>
      </p:sp>
      <p:sp>
        <p:nvSpPr>
          <p:cNvPr id="33" name="Text 14"/>
          <p:cNvSpPr txBox="1"/>
          <p:nvPr/>
        </p:nvSpPr>
        <p:spPr>
          <a:xfrm>
            <a:off x="987552" y="4105655"/>
            <a:ext cx="4206240" cy="530352"/>
          </a:xfrm>
          <a:prstGeom prst="rect">
            <a:avLst/>
          </a:prstGeom>
          <a:noFill/>
        </p:spPr>
        <p:txBody>
          <a:bodyPr wrap="square" lIns="45720" rIns="45720" anchor="t">
            <a:spAutoFit/>
          </a:bodyPr>
          <a:lstStyle/>
          <a:p>
            <a:pPr algn="l">
              <a:lnSpc>
                <a:spcPct val="115000"/>
              </a:lnSpc>
              <a:spcAft>
                <a:spcPts val="400"/>
              </a:spcAft>
            </a:pPr>
            <a:r>
              <a:rPr sz="950" b="0" i="0">
                <a:solidFill>
                  <a:srgbClr val="434343"/>
                </a:solidFill>
                <a:latin typeface="Inter"/>
              </a:rPr>
              <a:t>Tulis test: ongkir per kurir, gratis ongkir, kurir tidak dikenal, test API</a:t>
            </a:r>
          </a:p>
        </p:txBody>
      </p:sp>
      <p:sp>
        <p:nvSpPr>
          <p:cNvPr id="34" name="CodeTab 16"/>
          <p:cNvSpPr/>
          <p:nvPr/>
        </p:nvSpPr>
        <p:spPr>
          <a:xfrm>
            <a:off x="5349240" y="1481328"/>
            <a:ext cx="3136392" cy="237744"/>
          </a:xfrm>
          <a:prstGeom prst="roundRect">
            <a:avLst>
              <a:gd name="adj" fmla="val 30769"/>
            </a:avLst>
          </a:prstGeom>
          <a:solidFill>
            <a:srgbClr val="141A2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Dot 17"/>
          <p:cNvSpPr/>
          <p:nvPr/>
        </p:nvSpPr>
        <p:spPr>
          <a:xfrm>
            <a:off x="5458968" y="1559052"/>
            <a:ext cx="82296" cy="8229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Dot 18"/>
          <p:cNvSpPr/>
          <p:nvPr/>
        </p:nvSpPr>
        <p:spPr>
          <a:xfrm>
            <a:off x="5596128" y="1559052"/>
            <a:ext cx="82296" cy="8229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Dot 19"/>
          <p:cNvSpPr/>
          <p:nvPr/>
        </p:nvSpPr>
        <p:spPr>
          <a:xfrm>
            <a:off x="5733288" y="1559052"/>
            <a:ext cx="82296" cy="8229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 20"/>
          <p:cNvSpPr txBox="1"/>
          <p:nvPr/>
        </p:nvSpPr>
        <p:spPr>
          <a:xfrm>
            <a:off x="5897879" y="1490472"/>
            <a:ext cx="2496312" cy="219456"/>
          </a:xfrm>
          <a:prstGeom prst="rect">
            <a:avLst/>
          </a:prstGeom>
          <a:noFill/>
        </p:spPr>
        <p:txBody>
          <a:bodyPr wrap="square" lIns="18288" tIns="18288" rIns="18288" bIns="18288" anchor="ctr">
            <a:spAutoFit/>
          </a:bodyPr>
          <a:lstStyle/>
          <a:p>
            <a:pPr algn="l">
              <a:lnSpc>
                <a:spcPct val="115000"/>
              </a:lnSpc>
              <a:spcAft>
                <a:spcPts val="400"/>
              </a:spcAft>
            </a:pPr>
            <a:r>
              <a:rPr sz="800" b="0" i="0">
                <a:solidFill>
                  <a:srgbClr val="AEB8C4"/>
                </a:solidFill>
                <a:latin typeface="Inconsolata"/>
              </a:rPr>
              <a:t>file yang disentuh</a:t>
            </a:r>
          </a:p>
        </p:txBody>
      </p:sp>
      <p:sp>
        <p:nvSpPr>
          <p:cNvPr id="39" name="CodeBg 22"/>
          <p:cNvSpPr/>
          <p:nvPr/>
        </p:nvSpPr>
        <p:spPr>
          <a:xfrm>
            <a:off x="5349240" y="1719072"/>
            <a:ext cx="3136392" cy="2980944"/>
          </a:xfrm>
          <a:prstGeom prst="roundRect">
            <a:avLst>
              <a:gd name="adj" fmla="val 613"/>
            </a:avLst>
          </a:prstGeom>
          <a:solidFill>
            <a:srgbClr val="1E2633"/>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40" name="Code 23"/>
          <p:cNvSpPr txBox="1"/>
          <p:nvPr/>
        </p:nvSpPr>
        <p:spPr>
          <a:xfrm>
            <a:off x="5349240" y="1719072"/>
            <a:ext cx="3136392" cy="2980944"/>
          </a:xfrm>
          <a:prstGeom prst="rect">
            <a:avLst/>
          </a:prstGeom>
          <a:noFill/>
        </p:spPr>
        <p:txBody>
          <a:bodyPr wrap="none" lIns="146304" tIns="91440" rIns="146304" bIns="54864">
            <a:spAutoFit/>
          </a:bodyPr>
          <a:lstStyle/>
          <a:p>
            <a:pPr>
              <a:lnSpc>
                <a:spcPct val="107843"/>
              </a:lnSpc>
              <a:spcAft>
                <a:spcPts val="0"/>
              </a:spcAft>
            </a:pPr>
            <a:r>
              <a:rPr sz="850" i="0">
                <a:solidFill>
                  <a:srgbClr val="E6EDF3"/>
                </a:solidFill>
                <a:latin typeface="Inconsolata"/>
              </a:rPr>
              <a:t>app/</a:t>
            </a:r>
          </a:p>
          <a:p>
            <a:pPr>
              <a:lnSpc>
                <a:spcPct val="107843"/>
              </a:lnSpc>
              <a:spcAft>
                <a:spcPts val="0"/>
              </a:spcAft>
            </a:pPr>
            <a:r>
              <a:rPr sz="850" i="0">
                <a:solidFill>
                  <a:srgbClr val="E6EDF3"/>
                </a:solidFill>
                <a:latin typeface="Inconsolata"/>
              </a:rPr>
              <a:t>  domain/</a:t>
            </a:r>
          </a:p>
          <a:p>
            <a:pPr>
              <a:lnSpc>
                <a:spcPct val="107843"/>
              </a:lnSpc>
              <a:spcAft>
                <a:spcPts val="0"/>
              </a:spcAft>
            </a:pPr>
            <a:r>
              <a:rPr sz="850" i="0">
                <a:solidFill>
                  <a:srgbClr val="E6EDF3"/>
                </a:solidFill>
                <a:latin typeface="Inconsolata"/>
              </a:rPr>
              <a:t>    shipping.py      # baru</a:t>
            </a:r>
          </a:p>
          <a:p>
            <a:pPr>
              <a:lnSpc>
                <a:spcPct val="107843"/>
              </a:lnSpc>
              <a:spcAft>
                <a:spcPts val="0"/>
              </a:spcAft>
            </a:pPr>
            <a:r>
              <a:rPr sz="850" i="0">
                <a:solidFill>
                  <a:srgbClr val="E6EDF3"/>
                </a:solidFill>
                <a:latin typeface="Inconsolata"/>
              </a:rPr>
              <a:t>    order.py         # + 2 field</a:t>
            </a:r>
          </a:p>
          <a:p>
            <a:pPr>
              <a:lnSpc>
                <a:spcPct val="107843"/>
              </a:lnSpc>
              <a:spcAft>
                <a:spcPts val="0"/>
              </a:spcAft>
            </a:pPr>
            <a:r>
              <a:rPr sz="850" i="0">
                <a:solidFill>
                  <a:srgbClr val="E6EDF3"/>
                </a:solidFill>
                <a:latin typeface="Inconsolata"/>
              </a:rPr>
              <a:t>  application/</a:t>
            </a:r>
          </a:p>
          <a:p>
            <a:pPr>
              <a:lnSpc>
                <a:spcPct val="107843"/>
              </a:lnSpc>
              <a:spcAft>
                <a:spcPts val="0"/>
              </a:spcAft>
            </a:pPr>
            <a:r>
              <a:rPr sz="850" i="0">
                <a:solidFill>
                  <a:srgbClr val="E6EDF3"/>
                </a:solidFill>
                <a:latin typeface="Inconsolata"/>
              </a:rPr>
              <a:t>    order_service.py</a:t>
            </a:r>
          </a:p>
          <a:p>
            <a:pPr>
              <a:lnSpc>
                <a:spcPct val="107843"/>
              </a:lnSpc>
              <a:spcAft>
                <a:spcPts val="0"/>
              </a:spcAft>
            </a:pPr>
            <a:r>
              <a:rPr sz="850" i="0">
                <a:solidFill>
                  <a:srgbClr val="E6EDF3"/>
                </a:solidFill>
                <a:latin typeface="Inconsolata"/>
              </a:rPr>
              <a:t>  infrastructure/</a:t>
            </a:r>
          </a:p>
          <a:p>
            <a:pPr>
              <a:lnSpc>
                <a:spcPct val="107843"/>
              </a:lnSpc>
              <a:spcAft>
                <a:spcPts val="0"/>
              </a:spcAft>
            </a:pPr>
            <a:r>
              <a:rPr sz="850" i="0">
                <a:solidFill>
                  <a:srgbClr val="E6EDF3"/>
                </a:solidFill>
                <a:latin typeface="Inconsolata"/>
              </a:rPr>
              <a:t>    sqlite_repository.py</a:t>
            </a:r>
          </a:p>
          <a:p>
            <a:pPr>
              <a:lnSpc>
                <a:spcPct val="107843"/>
              </a:lnSpc>
              <a:spcAft>
                <a:spcPts val="0"/>
              </a:spcAft>
            </a:pPr>
            <a:r>
              <a:rPr sz="850" i="0">
                <a:solidFill>
                  <a:srgbClr val="E6EDF3"/>
                </a:solidFill>
                <a:latin typeface="Inconsolata"/>
              </a:rPr>
              <a:t>  api/</a:t>
            </a:r>
          </a:p>
          <a:p>
            <a:pPr>
              <a:lnSpc>
                <a:spcPct val="107843"/>
              </a:lnSpc>
              <a:spcAft>
                <a:spcPts val="0"/>
              </a:spcAft>
            </a:pPr>
            <a:r>
              <a:rPr sz="850" i="0">
                <a:solidFill>
                  <a:srgbClr val="E6EDF3"/>
                </a:solidFill>
                <a:latin typeface="Inconsolata"/>
              </a:rPr>
              <a:t>    routes.py</a:t>
            </a:r>
          </a:p>
          <a:p>
            <a:pPr>
              <a:lnSpc>
                <a:spcPct val="107843"/>
              </a:lnSpc>
              <a:spcAft>
                <a:spcPts val="0"/>
              </a:spcAft>
            </a:pPr>
            <a:r>
              <a:rPr sz="850" i="0">
                <a:solidFill>
                  <a:srgbClr val="E6EDF3"/>
                </a:solidFill>
                <a:latin typeface="Inconsolata"/>
              </a:rPr>
              <a:t>tests/</a:t>
            </a:r>
          </a:p>
          <a:p>
            <a:pPr>
              <a:lnSpc>
                <a:spcPct val="107843"/>
              </a:lnSpc>
              <a:spcAft>
                <a:spcPts val="0"/>
              </a:spcAft>
            </a:pPr>
            <a:r>
              <a:rPr sz="850" i="0">
                <a:solidFill>
                  <a:srgbClr val="E6EDF3"/>
                </a:solidFill>
                <a:latin typeface="Inconsolata"/>
              </a:rPr>
              <a:t>  test_shipping.py   # baru</a:t>
            </a:r>
          </a:p>
          <a:p>
            <a:pPr>
              <a:lnSpc>
                <a:spcPct val="107843"/>
              </a:lnSpc>
              <a:spcAft>
                <a:spcPts val="0"/>
              </a:spcAft>
            </a:pPr>
            <a:r>
              <a:rPr sz="850" i="0">
                <a:solidFill>
                  <a:srgbClr val="E6EDF3"/>
                </a:solidFill>
                <a:latin typeface="Inconsolata"/>
              </a:rPr>
              <a:t>  test_api.py</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78</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Contoh Hasil yang Diharapkan</a:t>
            </a:r>
          </a:p>
        </p:txBody>
      </p:sp>
      <p:pic>
        <p:nvPicPr>
          <p:cNvPr id="22" name="Image 3" descr="s02-case-post.png"/>
          <p:cNvPicPr>
            <a:picLocks noChangeAspect="1"/>
          </p:cNvPicPr>
          <p:nvPr/>
        </p:nvPicPr>
        <p:blipFill>
          <a:blip r:embed="rId2"/>
          <a:stretch>
            <a:fillRect/>
          </a:stretch>
        </p:blipFill>
        <p:spPr>
          <a:xfrm>
            <a:off x="621792" y="1481328"/>
            <a:ext cx="2460322" cy="3218688"/>
          </a:xfrm>
          <a:prstGeom prst="rect">
            <a:avLst/>
          </a:prstGeom>
          <a:ln w="9525">
            <a:solidFill>
              <a:srgbClr val="D0D5DD"/>
            </a:solidFill>
          </a:ln>
        </p:spPr>
      </p:pic>
      <p:sp>
        <p:nvSpPr>
          <p:cNvPr id="23" name="Text 4"/>
          <p:cNvSpPr txBox="1"/>
          <p:nvPr/>
        </p:nvSpPr>
        <p:spPr>
          <a:xfrm>
            <a:off x="3291840" y="1481328"/>
            <a:ext cx="2377440" cy="2377440"/>
          </a:xfrm>
          <a:prstGeom prst="rect">
            <a:avLst/>
          </a:prstGeom>
          <a:noFill/>
        </p:spPr>
        <p:txBody>
          <a:bodyPr wrap="square" lIns="45720" rIns="45720" anchor="t">
            <a:spAutoFit/>
          </a:bodyPr>
          <a:lstStyle/>
          <a:p>
            <a:pPr algn="l">
              <a:lnSpc>
                <a:spcPct val="115000"/>
              </a:lnSpc>
              <a:spcAft>
                <a:spcPts val="400"/>
              </a:spcAft>
            </a:pPr>
            <a:r>
              <a:rPr sz="1050" b="1" i="0">
                <a:solidFill>
                  <a:srgbClr val="1C4587"/>
                </a:solidFill>
                <a:latin typeface="Inter"/>
              </a:rPr>
              <a:t>Kurir jne</a:t>
            </a:r>
          </a:p>
          <a:p>
            <a:pPr algn="l">
              <a:lnSpc>
                <a:spcPct val="115000"/>
              </a:lnSpc>
              <a:spcAft>
                <a:spcPts val="400"/>
              </a:spcAft>
            </a:pPr>
            <a:r>
              <a:rPr sz="950" b="0" i="0">
                <a:solidFill>
                  <a:srgbClr val="434343"/>
                </a:solidFill>
                <a:latin typeface="Inter"/>
              </a:rPr>
              <a:t>Belanja 2 × Rp100.000, customer regular:</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subtotal 200.000</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ongkir 15.000</a:t>
            </a:r>
          </a:p>
          <a:p>
            <a:pPr marL="182880" indent="-182880" algn="l">
              <a:lnSpc>
                <a:spcPct val="115000"/>
              </a:lnSpc>
              <a:spcAft>
                <a:spcPts val="400"/>
              </a:spcAft>
              <a:buClr>
                <a:srgbClr val="E0764F"/>
              </a:buClr>
              <a:buSzPct val="100000"/>
              <a:buFont typeface="Arial"/>
              <a:buChar char="•"/>
            </a:pPr>
            <a:r>
              <a:rPr sz="950" b="1" i="0">
                <a:solidFill>
                  <a:srgbClr val="434343"/>
                </a:solidFill>
                <a:latin typeface="Inter"/>
              </a:rPr>
              <a:t>total 215.000</a:t>
            </a:r>
          </a:p>
        </p:txBody>
      </p:sp>
      <p:pic>
        <p:nvPicPr>
          <p:cNvPr id="24" name="Image 5" descr="s02-case-400-resp.png"/>
          <p:cNvPicPr>
            <a:picLocks noChangeAspect="1"/>
          </p:cNvPicPr>
          <p:nvPr/>
        </p:nvPicPr>
        <p:blipFill>
          <a:blip r:embed="rId3"/>
          <a:stretch>
            <a:fillRect/>
          </a:stretch>
        </p:blipFill>
        <p:spPr>
          <a:xfrm>
            <a:off x="5760720" y="1481328"/>
            <a:ext cx="2724912" cy="699751"/>
          </a:xfrm>
          <a:prstGeom prst="rect">
            <a:avLst/>
          </a:prstGeom>
          <a:ln w="9525">
            <a:solidFill>
              <a:srgbClr val="D0D5DD"/>
            </a:solidFill>
          </a:ln>
        </p:spPr>
      </p:pic>
      <p:sp>
        <p:nvSpPr>
          <p:cNvPr id="25" name="Text 6"/>
          <p:cNvSpPr txBox="1"/>
          <p:nvPr/>
        </p:nvSpPr>
        <p:spPr>
          <a:xfrm>
            <a:off x="5760720" y="2240280"/>
            <a:ext cx="2724912" cy="457200"/>
          </a:xfrm>
          <a:prstGeom prst="rect">
            <a:avLst/>
          </a:prstGeom>
          <a:noFill/>
        </p:spPr>
        <p:txBody>
          <a:bodyPr wrap="square" lIns="45720" rIns="45720" anchor="t">
            <a:spAutoFit/>
          </a:bodyPr>
          <a:lstStyle/>
          <a:p>
            <a:pPr algn="l">
              <a:lnSpc>
                <a:spcPct val="115000"/>
              </a:lnSpc>
              <a:spcAft>
                <a:spcPts val="400"/>
              </a:spcAft>
            </a:pPr>
            <a:r>
              <a:rPr sz="850" b="0" i="0">
                <a:solidFill>
                  <a:srgbClr val="7A7A7A"/>
                </a:solidFill>
                <a:latin typeface="Inter"/>
              </a:rPr>
              <a:t>Kurir </a:t>
            </a:r>
            <a:r>
              <a:rPr sz="850" b="0" i="0">
                <a:solidFill>
                  <a:srgbClr val="B5482A"/>
                </a:solidFill>
                <a:latin typeface="Inconsolata"/>
              </a:rPr>
              <a:t>gojek</a:t>
            </a:r>
            <a:r>
              <a:rPr sz="850" b="0" i="0">
                <a:solidFill>
                  <a:srgbClr val="7A7A7A"/>
                </a:solidFill>
                <a:latin typeface="Inter"/>
              </a:rPr>
              <a:t> ditolak: 400</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79</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Studi Kasus</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Kriteria Selesai</a:t>
            </a:r>
          </a:p>
        </p:txBody>
      </p:sp>
      <p:sp>
        <p:nvSpPr>
          <p:cNvPr id="22" name="Box 3"/>
          <p:cNvSpPr/>
          <p:nvPr/>
        </p:nvSpPr>
        <p:spPr>
          <a:xfrm>
            <a:off x="621792" y="1481328"/>
            <a:ext cx="3931920" cy="3218688"/>
          </a:xfrm>
          <a:prstGeom prst="roundRect">
            <a:avLst>
              <a:gd name="adj" fmla="val 3409"/>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572768"/>
            <a:ext cx="3657600" cy="310896"/>
          </a:xfrm>
          <a:prstGeom prst="rect">
            <a:avLst/>
          </a:prstGeom>
          <a:noFill/>
        </p:spPr>
        <p:txBody>
          <a:bodyPr wrap="square" lIns="45720" rIns="45720" anchor="t">
            <a:spAutoFit/>
          </a:bodyPr>
          <a:lstStyle/>
          <a:p>
            <a:pPr algn="l">
              <a:lnSpc>
                <a:spcPct val="115000"/>
              </a:lnSpc>
              <a:spcAft>
                <a:spcPts val="400"/>
              </a:spcAft>
            </a:pPr>
            <a:r>
              <a:rPr sz="1100" b="1" i="0">
                <a:solidFill>
                  <a:srgbClr val="2E7D5B"/>
                </a:solidFill>
                <a:latin typeface="Inter"/>
              </a:rPr>
              <a:t>Checklist</a:t>
            </a:r>
          </a:p>
        </p:txBody>
      </p:sp>
      <p:sp>
        <p:nvSpPr>
          <p:cNvPr id="24" name="Text 5"/>
          <p:cNvSpPr txBox="1"/>
          <p:nvPr/>
        </p:nvSpPr>
        <p:spPr>
          <a:xfrm>
            <a:off x="758952" y="1892808"/>
            <a:ext cx="3657600" cy="2715768"/>
          </a:xfrm>
          <a:prstGeom prst="rect">
            <a:avLst/>
          </a:prstGeom>
          <a:noFill/>
        </p:spPr>
        <p:txBody>
          <a:bodyPr wrap="square" lIns="45720" rIns="45720" anchor="t">
            <a:spAutoFit/>
          </a:bodyPr>
          <a:lstStyle/>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Ongkir sesuai tabel, gratis ongkir mulai Rp500.000 setelah diskon</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Kurir tidak dikenal → 400 </a:t>
            </a:r>
            <a:r>
              <a:rPr sz="950" b="0" i="0">
                <a:solidFill>
                  <a:srgbClr val="B5482A"/>
                </a:solidFill>
                <a:latin typeface="Inconsolata"/>
              </a:rPr>
              <a:t>Kurir tidak dikenal</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courier</a:t>
            </a:r>
            <a:r>
              <a:rPr sz="950" b="0" i="0">
                <a:solidFill>
                  <a:srgbClr val="434343"/>
                </a:solidFill>
                <a:latin typeface="Inter"/>
              </a:rPr>
              <a:t> dan </a:t>
            </a:r>
            <a:r>
              <a:rPr sz="950" b="0" i="0">
                <a:solidFill>
                  <a:srgbClr val="B5482A"/>
                </a:solidFill>
                <a:latin typeface="Inconsolata"/>
              </a:rPr>
              <a:t>shipping_cost</a:t>
            </a:r>
            <a:r>
              <a:rPr sz="950" b="0" i="0">
                <a:solidFill>
                  <a:srgbClr val="434343"/>
                </a:solidFill>
                <a:latin typeface="Inter"/>
              </a:rPr>
              <a:t> tersimpan, </a:t>
            </a:r>
            <a:r>
              <a:rPr sz="950" b="0" i="0">
                <a:solidFill>
                  <a:srgbClr val="B5482A"/>
                </a:solidFill>
                <a:latin typeface="Inconsolata"/>
              </a:rPr>
              <a:t>GET /orders/{id}</a:t>
            </a:r>
            <a:r>
              <a:rPr sz="950" b="0" i="0">
                <a:solidFill>
                  <a:srgbClr val="434343"/>
                </a:solidFill>
                <a:latin typeface="Inter"/>
              </a:rPr>
              <a:t> sama dengan response POST</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domain/</a:t>
            </a:r>
            <a:r>
              <a:rPr sz="950" b="0" i="0">
                <a:solidFill>
                  <a:srgbClr val="434343"/>
                </a:solidFill>
                <a:latin typeface="Inter"/>
              </a:rPr>
              <a:t> &amp; </a:t>
            </a:r>
            <a:r>
              <a:rPr sz="950" b="0" i="0">
                <a:solidFill>
                  <a:srgbClr val="B5482A"/>
                </a:solidFill>
                <a:latin typeface="Inconsolata"/>
              </a:rPr>
              <a:t>application/</a:t>
            </a:r>
            <a:r>
              <a:rPr sz="950" b="0" i="0">
                <a:solidFill>
                  <a:srgbClr val="434343"/>
                </a:solidFill>
                <a:latin typeface="Inter"/>
              </a:rPr>
              <a:t> tetap tanpa </a:t>
            </a:r>
            <a:r>
              <a:rPr sz="950" b="0" i="0">
                <a:solidFill>
                  <a:srgbClr val="B5482A"/>
                </a:solidFill>
                <a:latin typeface="Inconsolata"/>
              </a:rPr>
              <a:t>fastapi</a:t>
            </a:r>
            <a:r>
              <a:rPr sz="950" b="0" i="0">
                <a:solidFill>
                  <a:srgbClr val="434343"/>
                </a:solidFill>
                <a:latin typeface="Inter"/>
              </a:rPr>
              <a:t>/</a:t>
            </a:r>
            <a:r>
              <a:rPr sz="950" b="0" i="0">
                <a:solidFill>
                  <a:srgbClr val="B5482A"/>
                </a:solidFill>
                <a:latin typeface="Inconsolata"/>
              </a:rPr>
              <a:t>sqlite3</a:t>
            </a:r>
          </a:p>
          <a:p>
            <a:pPr marL="182880" indent="-182880" algn="l">
              <a:lnSpc>
                <a:spcPct val="115000"/>
              </a:lnSpc>
              <a:spcAft>
                <a:spcPts val="400"/>
              </a:spcAft>
              <a:buClr>
                <a:srgbClr val="E0764F"/>
              </a:buClr>
              <a:buSzPct val="100000"/>
              <a:buFont typeface="Arial"/>
              <a:buChar char="•"/>
            </a:pPr>
            <a:r>
              <a:rPr sz="950" b="0" i="0">
                <a:solidFill>
                  <a:srgbClr val="434343"/>
                </a:solidFill>
                <a:latin typeface="Inter"/>
              </a:rPr>
              <a:t>Kurir baru cukup ditambah di file aturan ongkir</a:t>
            </a:r>
          </a:p>
          <a:p>
            <a:pPr marL="182880" indent="-182880" algn="l">
              <a:lnSpc>
                <a:spcPct val="115000"/>
              </a:lnSpc>
              <a:spcAft>
                <a:spcPts val="400"/>
              </a:spcAft>
              <a:buClr>
                <a:srgbClr val="E0764F"/>
              </a:buClr>
              <a:buSzPct val="100000"/>
              <a:buFont typeface="Arial"/>
              <a:buChar char="•"/>
            </a:pPr>
            <a:r>
              <a:rPr sz="950" b="0" i="0">
                <a:solidFill>
                  <a:srgbClr val="B5482A"/>
                </a:solidFill>
                <a:latin typeface="Inconsolata"/>
              </a:rPr>
              <a:t>pytest</a:t>
            </a:r>
            <a:r>
              <a:rPr sz="950" b="0" i="0">
                <a:solidFill>
                  <a:srgbClr val="434343"/>
                </a:solidFill>
                <a:latin typeface="Inter"/>
              </a:rPr>
              <a:t> hijau, termasuk test baru</a:t>
            </a:r>
          </a:p>
        </p:txBody>
      </p:sp>
      <p:pic>
        <p:nvPicPr>
          <p:cNvPr id="25" name="Image 6" descr="s02-case-pytest.png"/>
          <p:cNvPicPr>
            <a:picLocks noChangeAspect="1"/>
          </p:cNvPicPr>
          <p:nvPr/>
        </p:nvPicPr>
        <p:blipFill>
          <a:blip r:embed="rId2"/>
          <a:stretch>
            <a:fillRect/>
          </a:stretch>
        </p:blipFill>
        <p:spPr>
          <a:xfrm>
            <a:off x="4709160" y="1481328"/>
            <a:ext cx="3776472" cy="2253009"/>
          </a:xfrm>
          <a:prstGeom prst="rect">
            <a:avLst/>
          </a:prstGeom>
          <a:ln w="9525">
            <a:solidFill>
              <a:srgbClr val="D0D5DD"/>
            </a:solidFill>
          </a:ln>
        </p:spPr>
      </p:pic>
      <p:sp>
        <p:nvSpPr>
          <p:cNvPr id="26" name="Text 7"/>
          <p:cNvSpPr txBox="1"/>
          <p:nvPr/>
        </p:nvSpPr>
        <p:spPr>
          <a:xfrm>
            <a:off x="4709160" y="3840480"/>
            <a:ext cx="3776472" cy="398699"/>
          </a:xfrm>
          <a:prstGeom prst="rect">
            <a:avLst/>
          </a:prstGeom>
          <a:noFill/>
        </p:spPr>
        <p:txBody>
          <a:bodyPr wrap="square" lIns="45720" rIns="45720" anchor="t">
            <a:spAutoFit/>
          </a:bodyPr>
          <a:lstStyle/>
          <a:p>
            <a:pPr algn="l">
              <a:lnSpc>
                <a:spcPct val="115000"/>
              </a:lnSpc>
              <a:spcAft>
                <a:spcPts val="400"/>
              </a:spcAft>
            </a:pPr>
            <a:r>
              <a:rPr sz="900" b="0" i="0" dirty="0">
                <a:solidFill>
                  <a:srgbClr val="7A7A7A"/>
                </a:solidFill>
                <a:latin typeface="Inter"/>
              </a:rPr>
              <a:t>Output </a:t>
            </a:r>
            <a:r>
              <a:rPr sz="900" b="0" i="0" dirty="0" err="1">
                <a:solidFill>
                  <a:srgbClr val="B5482A"/>
                </a:solidFill>
                <a:latin typeface="Inconsolata"/>
              </a:rPr>
              <a:t>pytest</a:t>
            </a:r>
            <a:r>
              <a:rPr sz="900" b="0" i="0" dirty="0">
                <a:solidFill>
                  <a:srgbClr val="B5482A"/>
                </a:solidFill>
                <a:latin typeface="Inconsolata"/>
              </a:rPr>
              <a:t> </a:t>
            </a:r>
            <a:r>
              <a:rPr lang="en-US" sz="900" b="0" i="0" dirty="0">
                <a:solidFill>
                  <a:srgbClr val="B5482A"/>
                </a:solidFill>
                <a:latin typeface="Inconsolata"/>
              </a:rPr>
              <a:t>-</a:t>
            </a:r>
            <a:r>
              <a:rPr sz="900" b="0" i="0" dirty="0">
                <a:solidFill>
                  <a:srgbClr val="B5482A"/>
                </a:solidFill>
                <a:latin typeface="Inconsolata"/>
              </a:rPr>
              <a:t>v</a:t>
            </a:r>
            <a:r>
              <a:rPr lang="en-US" sz="900" dirty="0">
                <a:solidFill>
                  <a:srgbClr val="7A7A7A"/>
                </a:solidFill>
                <a:latin typeface="Inter"/>
              </a:rPr>
              <a:t>: </a:t>
            </a:r>
            <a:r>
              <a:rPr sz="900" b="0" i="0" dirty="0">
                <a:solidFill>
                  <a:srgbClr val="7A7A7A"/>
                </a:solidFill>
                <a:latin typeface="Inter"/>
              </a:rPr>
              <a:t>16 passed. Hapus </a:t>
            </a:r>
            <a:r>
              <a:rPr sz="900" b="0" i="0" dirty="0" err="1">
                <a:solidFill>
                  <a:srgbClr val="B5482A"/>
                </a:solidFill>
                <a:latin typeface="Inconsolata"/>
              </a:rPr>
              <a:t>orders.db</a:t>
            </a:r>
            <a:r>
              <a:rPr sz="900" b="0" i="0" dirty="0">
                <a:solidFill>
                  <a:srgbClr val="7A7A7A"/>
                </a:solidFill>
                <a:latin typeface="Inter"/>
              </a:rPr>
              <a:t> lama </a:t>
            </a:r>
            <a:r>
              <a:rPr sz="900" b="0" i="0" dirty="0" err="1">
                <a:solidFill>
                  <a:srgbClr val="7A7A7A"/>
                </a:solidFill>
                <a:latin typeface="Inter"/>
              </a:rPr>
              <a:t>sebelum</a:t>
            </a:r>
            <a:r>
              <a:rPr sz="900" b="0" i="0" dirty="0">
                <a:solidFill>
                  <a:srgbClr val="7A7A7A"/>
                </a:solidFill>
                <a:latin typeface="Inter"/>
              </a:rPr>
              <a:t> </a:t>
            </a:r>
            <a:r>
              <a:rPr sz="900" b="0" i="0" dirty="0" err="1">
                <a:solidFill>
                  <a:srgbClr val="7A7A7A"/>
                </a:solidFill>
                <a:latin typeface="Inter"/>
              </a:rPr>
              <a:t>menjalankan</a:t>
            </a:r>
            <a:r>
              <a:rPr sz="900" b="0" i="0" dirty="0">
                <a:solidFill>
                  <a:srgbClr val="7A7A7A"/>
                </a:solidFill>
                <a:latin typeface="Inter"/>
              </a:rPr>
              <a:t> </a:t>
            </a:r>
            <a:r>
              <a:rPr sz="900" b="0" i="0" dirty="0" err="1">
                <a:solidFill>
                  <a:srgbClr val="7A7A7A"/>
                </a:solidFill>
                <a:latin typeface="Inter"/>
              </a:rPr>
              <a:t>aplikasi</a:t>
            </a:r>
            <a:r>
              <a:rPr sz="900" b="0" i="0" dirty="0">
                <a:solidFill>
                  <a:srgbClr val="7A7A7A"/>
                </a:solidFill>
                <a:latin typeface="Inter"/>
              </a:rPr>
              <a:t>, </a:t>
            </a:r>
            <a:r>
              <a:rPr sz="900" b="0" i="0" dirty="0" err="1">
                <a:solidFill>
                  <a:srgbClr val="7A7A7A"/>
                </a:solidFill>
                <a:latin typeface="Inter"/>
              </a:rPr>
              <a:t>karena</a:t>
            </a:r>
            <a:r>
              <a:rPr sz="900" b="0" i="0" dirty="0">
                <a:solidFill>
                  <a:srgbClr val="7A7A7A"/>
                </a:solidFill>
                <a:latin typeface="Inter"/>
              </a:rPr>
              <a:t> </a:t>
            </a:r>
            <a:r>
              <a:rPr sz="900" b="0" i="0" dirty="0" err="1">
                <a:solidFill>
                  <a:srgbClr val="7A7A7A"/>
                </a:solidFill>
                <a:latin typeface="Inter"/>
              </a:rPr>
              <a:t>struktur</a:t>
            </a:r>
            <a:r>
              <a:rPr sz="900" b="0" i="0" dirty="0">
                <a:solidFill>
                  <a:srgbClr val="7A7A7A"/>
                </a:solidFill>
                <a:latin typeface="Inter"/>
              </a:rPr>
              <a:t> </a:t>
            </a:r>
            <a:r>
              <a:rPr sz="900" b="0" i="0" dirty="0" err="1">
                <a:solidFill>
                  <a:srgbClr val="7A7A7A"/>
                </a:solidFill>
                <a:latin typeface="Inter"/>
              </a:rPr>
              <a:t>tabelnya</a:t>
            </a:r>
            <a:r>
              <a:rPr sz="900" b="0" i="0" dirty="0">
                <a:solidFill>
                  <a:srgbClr val="7A7A7A"/>
                </a:solidFill>
                <a:latin typeface="Inter"/>
              </a:rPr>
              <a:t> </a:t>
            </a:r>
            <a:r>
              <a:rPr sz="900" b="0" i="0" dirty="0" err="1">
                <a:solidFill>
                  <a:srgbClr val="7A7A7A"/>
                </a:solidFill>
                <a:latin typeface="Inter"/>
              </a:rPr>
              <a:t>berubah</a:t>
            </a:r>
            <a:r>
              <a:rPr sz="900" b="0" i="0" dirty="0">
                <a:solidFill>
                  <a:srgbClr val="7A7A7A"/>
                </a:solidFill>
                <a:latin typeface="Inter"/>
              </a:rPr>
              <a: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Google Shape;19;p6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80</a:t>
            </a:fld>
            <a:endParaRPr/>
          </a:p>
        </p:txBody>
      </p:sp>
      <p:sp>
        <p:nvSpPr>
          <p:cNvPr id="20" name="Text 1"/>
          <p:cNvSpPr txBox="1"/>
          <p:nvPr/>
        </p:nvSpPr>
        <p:spPr>
          <a:xfrm>
            <a:off x="621792" y="731520"/>
            <a:ext cx="7863840" cy="292608"/>
          </a:xfrm>
          <a:prstGeom prst="rect">
            <a:avLst/>
          </a:prstGeom>
          <a:noFill/>
        </p:spPr>
        <p:txBody>
          <a:bodyPr wrap="square" tIns="91440" bIns="91440" anchor="t">
            <a:spAutoFit/>
          </a:bodyPr>
          <a:lstStyle/>
          <a:p>
            <a:pPr algn="l">
              <a:lnSpc>
                <a:spcPct val="115000"/>
              </a:lnSpc>
              <a:spcAft>
                <a:spcPts val="400"/>
              </a:spcAft>
            </a:pPr>
            <a:r>
              <a:rPr sz="1300" b="0" i="1">
                <a:solidFill>
                  <a:srgbClr val="E0764F"/>
                </a:solidFill>
                <a:latin typeface="Inter"/>
              </a:rPr>
              <a:t>Penutup</a:t>
            </a:r>
          </a:p>
        </p:txBody>
      </p:sp>
      <p:sp>
        <p:nvSpPr>
          <p:cNvPr id="21" name="Text 2"/>
          <p:cNvSpPr txBox="1"/>
          <p:nvPr/>
        </p:nvSpPr>
        <p:spPr>
          <a:xfrm>
            <a:off x="621792" y="969264"/>
            <a:ext cx="7863840" cy="457200"/>
          </a:xfrm>
          <a:prstGeom prst="rect">
            <a:avLst/>
          </a:prstGeom>
          <a:noFill/>
        </p:spPr>
        <p:txBody>
          <a:bodyPr wrap="square" tIns="91440" bIns="91440" anchor="t">
            <a:spAutoFit/>
          </a:bodyPr>
          <a:lstStyle/>
          <a:p>
            <a:pPr algn="l">
              <a:lnSpc>
                <a:spcPct val="115000"/>
              </a:lnSpc>
              <a:spcAft>
                <a:spcPts val="400"/>
              </a:spcAft>
            </a:pPr>
            <a:r>
              <a:rPr sz="2100" b="0" i="0">
                <a:solidFill>
                  <a:srgbClr val="1C4587"/>
                </a:solidFill>
                <a:latin typeface="Work Sans ExtraBold"/>
              </a:rPr>
              <a:t>Rangkuman</a:t>
            </a:r>
          </a:p>
        </p:txBody>
      </p:sp>
      <p:sp>
        <p:nvSpPr>
          <p:cNvPr id="22" name="Box 3"/>
          <p:cNvSpPr/>
          <p:nvPr/>
        </p:nvSpPr>
        <p:spPr>
          <a:xfrm>
            <a:off x="621792"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3" name="Text 4"/>
          <p:cNvSpPr txBox="1"/>
          <p:nvPr/>
        </p:nvSpPr>
        <p:spPr>
          <a:xfrm>
            <a:off x="758952"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SOLID</a:t>
            </a:r>
          </a:p>
        </p:txBody>
      </p:sp>
      <p:sp>
        <p:nvSpPr>
          <p:cNvPr id="24" name="Text 5"/>
          <p:cNvSpPr txBox="1"/>
          <p:nvPr/>
        </p:nvSpPr>
        <p:spPr>
          <a:xfrm>
            <a:off x="758952"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Lima prinsip supaya class mudah diubah dan dites</a:t>
            </a:r>
          </a:p>
        </p:txBody>
      </p:sp>
      <p:sp>
        <p:nvSpPr>
          <p:cNvPr id="25" name="Box 6"/>
          <p:cNvSpPr/>
          <p:nvPr/>
        </p:nvSpPr>
        <p:spPr>
          <a:xfrm>
            <a:off x="3291840"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6" name="Text 7"/>
          <p:cNvSpPr txBox="1"/>
          <p:nvPr/>
        </p:nvSpPr>
        <p:spPr>
          <a:xfrm>
            <a:off x="3429000"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Code smell</a:t>
            </a:r>
          </a:p>
        </p:txBody>
      </p:sp>
      <p:sp>
        <p:nvSpPr>
          <p:cNvPr id="27" name="Text 8"/>
          <p:cNvSpPr txBox="1"/>
          <p:nvPr/>
        </p:nvSpPr>
        <p:spPr>
          <a:xfrm>
            <a:off x="3429000"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Class serba bisa, if/elif panjang, interface gemuk, dependency dibuat di dalam class</a:t>
            </a:r>
          </a:p>
        </p:txBody>
      </p:sp>
      <p:sp>
        <p:nvSpPr>
          <p:cNvPr id="28" name="Box 9"/>
          <p:cNvSpPr/>
          <p:nvPr/>
        </p:nvSpPr>
        <p:spPr>
          <a:xfrm>
            <a:off x="5961888" y="155448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29" name="Text 10"/>
          <p:cNvSpPr txBox="1"/>
          <p:nvPr/>
        </p:nvSpPr>
        <p:spPr>
          <a:xfrm>
            <a:off x="6099048" y="164592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Clean Architecture</a:t>
            </a:r>
          </a:p>
        </p:txBody>
      </p:sp>
      <p:sp>
        <p:nvSpPr>
          <p:cNvPr id="30" name="Text 11"/>
          <p:cNvSpPr txBox="1"/>
          <p:nvPr/>
        </p:nvSpPr>
        <p:spPr>
          <a:xfrm>
            <a:off x="6099048" y="196596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Domain, application, infrastructure, API</a:t>
            </a:r>
          </a:p>
        </p:txBody>
      </p:sp>
      <p:sp>
        <p:nvSpPr>
          <p:cNvPr id="31" name="Box 12"/>
          <p:cNvSpPr/>
          <p:nvPr/>
        </p:nvSpPr>
        <p:spPr>
          <a:xfrm>
            <a:off x="621792"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2" name="Text 13"/>
          <p:cNvSpPr txBox="1"/>
          <p:nvPr/>
        </p:nvSpPr>
        <p:spPr>
          <a:xfrm>
            <a:off x="758952"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Dependency rule</a:t>
            </a:r>
          </a:p>
        </p:txBody>
      </p:sp>
      <p:sp>
        <p:nvSpPr>
          <p:cNvPr id="33" name="Text 14"/>
          <p:cNvSpPr txBox="1"/>
          <p:nvPr/>
        </p:nvSpPr>
        <p:spPr>
          <a:xfrm>
            <a:off x="758952"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Import hanya boleh mengarah ke layer yang lebih dalam</a:t>
            </a:r>
          </a:p>
        </p:txBody>
      </p:sp>
      <p:sp>
        <p:nvSpPr>
          <p:cNvPr id="34" name="Box 15"/>
          <p:cNvSpPr/>
          <p:nvPr/>
        </p:nvSpPr>
        <p:spPr>
          <a:xfrm>
            <a:off x="3291840"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5" name="Text 16"/>
          <p:cNvSpPr txBox="1"/>
          <p:nvPr/>
        </p:nvSpPr>
        <p:spPr>
          <a:xfrm>
            <a:off x="3429000"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Ports &amp; Adapters</a:t>
            </a:r>
          </a:p>
        </p:txBody>
      </p:sp>
      <p:sp>
        <p:nvSpPr>
          <p:cNvPr id="36" name="Text 17"/>
          <p:cNvSpPr txBox="1"/>
          <p:nvPr/>
        </p:nvSpPr>
        <p:spPr>
          <a:xfrm>
            <a:off x="3429000"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Interface di application, implementasi di infrastructure</a:t>
            </a:r>
          </a:p>
        </p:txBody>
      </p:sp>
      <p:sp>
        <p:nvSpPr>
          <p:cNvPr id="37" name="Box 18"/>
          <p:cNvSpPr/>
          <p:nvPr/>
        </p:nvSpPr>
        <p:spPr>
          <a:xfrm>
            <a:off x="5961888" y="3108960"/>
            <a:ext cx="2523744" cy="1371600"/>
          </a:xfrm>
          <a:prstGeom prst="roundRect">
            <a:avLst>
              <a:gd name="adj" fmla="val 8000"/>
            </a:avLst>
          </a:prstGeom>
          <a:solidFill>
            <a:srgbClr val="E8F0FB"/>
          </a:solidFill>
          <a:ln>
            <a:noFill/>
          </a:ln>
          <a:effectLst/>
        </p:spPr>
        <p:style>
          <a:lnRef idx="1">
            <a:schemeClr val="accent1"/>
          </a:lnRef>
          <a:fillRef idx="3">
            <a:schemeClr val="accent1"/>
          </a:fillRef>
          <a:effectRef idx="2">
            <a:schemeClr val="accent1"/>
          </a:effectRef>
          <a:fontRef idx="minor">
            <a:schemeClr val="lt1"/>
          </a:fontRef>
        </p:style>
        <p:txBody>
          <a:bodyPr lIns="73152" tIns="73152" rIns="73152" bIns="73152" rtlCol="0" anchor="ctr"/>
          <a:lstStyle/>
          <a:p>
            <a:pPr algn="ctr"/>
            <a:endParaRPr/>
          </a:p>
        </p:txBody>
      </p:sp>
      <p:sp>
        <p:nvSpPr>
          <p:cNvPr id="38" name="Text 19"/>
          <p:cNvSpPr txBox="1"/>
          <p:nvPr/>
        </p:nvSpPr>
        <p:spPr>
          <a:xfrm>
            <a:off x="6099048" y="3200400"/>
            <a:ext cx="2249424" cy="310896"/>
          </a:xfrm>
          <a:prstGeom prst="rect">
            <a:avLst/>
          </a:prstGeom>
          <a:noFill/>
        </p:spPr>
        <p:txBody>
          <a:bodyPr wrap="square" lIns="45720" rIns="45720" anchor="t">
            <a:spAutoFit/>
          </a:bodyPr>
          <a:lstStyle/>
          <a:p>
            <a:pPr algn="l">
              <a:lnSpc>
                <a:spcPct val="115000"/>
              </a:lnSpc>
              <a:spcAft>
                <a:spcPts val="400"/>
              </a:spcAft>
            </a:pPr>
            <a:r>
              <a:rPr sz="1150" b="1" i="0">
                <a:solidFill>
                  <a:srgbClr val="1C4587"/>
                </a:solidFill>
                <a:latin typeface="Inter"/>
              </a:rPr>
              <a:t>Dependency Injection</a:t>
            </a:r>
          </a:p>
        </p:txBody>
      </p:sp>
      <p:sp>
        <p:nvSpPr>
          <p:cNvPr id="39" name="Text 20"/>
          <p:cNvSpPr txBox="1"/>
          <p:nvPr/>
        </p:nvSpPr>
        <p:spPr>
          <a:xfrm>
            <a:off x="6099048" y="3520440"/>
            <a:ext cx="2249424" cy="868680"/>
          </a:xfrm>
          <a:prstGeom prst="rect">
            <a:avLst/>
          </a:prstGeom>
          <a:noFill/>
        </p:spPr>
        <p:txBody>
          <a:bodyPr wrap="square" lIns="45720" rIns="45720" anchor="t">
            <a:spAutoFit/>
          </a:bodyPr>
          <a:lstStyle/>
          <a:p>
            <a:pPr algn="l">
              <a:lnSpc>
                <a:spcPct val="115000"/>
              </a:lnSpc>
              <a:spcAft>
                <a:spcPts val="400"/>
              </a:spcAft>
            </a:pPr>
            <a:r>
              <a:rPr sz="1000" b="0" i="0">
                <a:solidFill>
                  <a:srgbClr val="434343"/>
                </a:solidFill>
                <a:latin typeface="Inter"/>
              </a:rPr>
              <a:t>Dependency dikirim dari luar. Di FastAPI ditulis dengan </a:t>
            </a:r>
            <a:r>
              <a:rPr sz="1000" b="0" i="0">
                <a:solidFill>
                  <a:srgbClr val="B5482A"/>
                </a:solidFill>
                <a:latin typeface="Inconsolata"/>
              </a:rPr>
              <a:t>Depends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pic>
        <p:nvPicPr>
          <p:cNvPr id="253" name="Google Shape;253;g2907dbd8723_0_0"/>
          <p:cNvPicPr preferRelativeResize="0"/>
          <p:nvPr/>
        </p:nvPicPr>
        <p:blipFill rotWithShape="1">
          <a:blip r:embed="rId3">
            <a:alphaModFix/>
          </a:blip>
          <a:srcRect/>
          <a:stretch/>
        </p:blipFill>
        <p:spPr>
          <a:xfrm>
            <a:off x="2843401" y="4399825"/>
            <a:ext cx="244986" cy="201168"/>
          </a:xfrm>
          <a:prstGeom prst="rect">
            <a:avLst/>
          </a:prstGeom>
          <a:noFill/>
          <a:ln>
            <a:noFill/>
          </a:ln>
        </p:spPr>
      </p:pic>
      <p:sp>
        <p:nvSpPr>
          <p:cNvPr id="254" name="Google Shape;254;g2907dbd8723_0_0"/>
          <p:cNvSpPr txBox="1"/>
          <p:nvPr/>
        </p:nvSpPr>
        <p:spPr>
          <a:xfrm>
            <a:off x="843350" y="1097280"/>
            <a:ext cx="4977000" cy="634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7200"/>
              <a:buFont typeface="Arial"/>
              <a:buNone/>
            </a:pPr>
            <a:r>
              <a:rPr lang="en" sz="3000" b="0" i="0" u="none" strike="noStrike" cap="none">
                <a:solidFill>
                  <a:srgbClr val="FFFFFF"/>
                </a:solidFill>
                <a:latin typeface="Work Sans ExtraBold"/>
                <a:ea typeface="Work Sans ExtraBold"/>
                <a:cs typeface="Work Sans ExtraBold"/>
                <a:sym typeface="Work Sans ExtraBold"/>
              </a:rPr>
              <a:t>Source Code</a:t>
            </a:r>
            <a:endParaRPr sz="3000" b="0" i="0" u="none" strike="noStrike" cap="none">
              <a:solidFill>
                <a:srgbClr val="FFFFFF"/>
              </a:solidFill>
              <a:latin typeface="Work Sans ExtraBold"/>
              <a:ea typeface="Work Sans ExtraBold"/>
              <a:cs typeface="Work Sans ExtraBold"/>
              <a:sym typeface="Work Sans ExtraBold"/>
            </a:endParaRPr>
          </a:p>
        </p:txBody>
      </p:sp>
      <p:sp>
        <p:nvSpPr>
          <p:cNvPr id="255" name="Google Shape;255;g2907dbd8723_0_0"/>
          <p:cNvSpPr txBox="1"/>
          <p:nvPr/>
        </p:nvSpPr>
        <p:spPr>
          <a:xfrm>
            <a:off x="1230650" y="1934520"/>
            <a:ext cx="192024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300" b="1" i="0" u="none" strike="noStrike" cap="none">
                <a:solidFill>
                  <a:srgbClr val="FFFFFF"/>
                </a:solidFill>
                <a:latin typeface="Inter"/>
                <a:ea typeface="Inter"/>
                <a:cs typeface="Inter"/>
                <a:sym typeface="Inter"/>
              </a:rPr>
              <a:t>Sesi 2</a:t>
            </a:r>
            <a:endParaRPr sz="1500" b="0" i="1" u="none" strike="noStrike" cap="none">
              <a:solidFill>
                <a:srgbClr val="000000"/>
              </a:solidFill>
              <a:latin typeface="Inter"/>
              <a:ea typeface="Inter"/>
              <a:cs typeface="Inter"/>
              <a:sym typeface="Inter"/>
            </a:endParaRPr>
          </a:p>
        </p:txBody>
      </p:sp>
      <p:sp>
        <p:nvSpPr>
          <p:cNvPr id="256" name="Google Shape;256;g2907dbd8723_0_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Clr>
                <a:srgbClr val="000000"/>
              </a:buClr>
              <a:buSzPts val="1000"/>
              <a:buFont typeface="Arial"/>
              <a:buNone/>
            </a:pPr>
            <a:fld id="{00000000-1234-1234-1234-123412341234}" type="slidenum">
              <a:rPr lang="en"/>
              <a:t>81</a:t>
            </a:fld>
            <a:endParaRPr/>
          </a:p>
        </p:txBody>
      </p:sp>
      <p:pic>
        <p:nvPicPr>
          <p:cNvPr id="257" name="Google Shape;257;g2907dbd8723_0_0"/>
          <p:cNvPicPr preferRelativeResize="0"/>
          <p:nvPr/>
        </p:nvPicPr>
        <p:blipFill rotWithShape="1">
          <a:blip r:embed="rId4">
            <a:alphaModFix/>
          </a:blip>
          <a:srcRect/>
          <a:stretch/>
        </p:blipFill>
        <p:spPr>
          <a:xfrm>
            <a:off x="4654775" y="4399825"/>
            <a:ext cx="284713" cy="201168"/>
          </a:xfrm>
          <a:prstGeom prst="rect">
            <a:avLst/>
          </a:prstGeom>
          <a:noFill/>
          <a:ln>
            <a:noFill/>
          </a:ln>
        </p:spPr>
      </p:pic>
      <p:pic>
        <p:nvPicPr>
          <p:cNvPr id="258" name="Google Shape;258;g2907dbd8723_0_0"/>
          <p:cNvPicPr preferRelativeResize="0"/>
          <p:nvPr/>
        </p:nvPicPr>
        <p:blipFill rotWithShape="1">
          <a:blip r:embed="rId5">
            <a:alphaModFix/>
          </a:blip>
          <a:srcRect/>
          <a:stretch/>
        </p:blipFill>
        <p:spPr>
          <a:xfrm>
            <a:off x="6505899" y="4399825"/>
            <a:ext cx="198637" cy="201168"/>
          </a:xfrm>
          <a:prstGeom prst="rect">
            <a:avLst/>
          </a:prstGeom>
          <a:noFill/>
          <a:ln>
            <a:noFill/>
          </a:ln>
        </p:spPr>
      </p:pic>
      <p:pic>
        <p:nvPicPr>
          <p:cNvPr id="259" name="Google Shape;259;g2907dbd8723_0_0"/>
          <p:cNvPicPr preferRelativeResize="0"/>
          <p:nvPr/>
        </p:nvPicPr>
        <p:blipFill rotWithShape="1">
          <a:blip r:embed="rId6">
            <a:alphaModFix/>
          </a:blip>
          <a:srcRect/>
          <a:stretch/>
        </p:blipFill>
        <p:spPr>
          <a:xfrm>
            <a:off x="1028695" y="4399825"/>
            <a:ext cx="201948" cy="201168"/>
          </a:xfrm>
          <a:prstGeom prst="rect">
            <a:avLst/>
          </a:prstGeom>
          <a:noFill/>
          <a:ln>
            <a:noFill/>
          </a:ln>
        </p:spPr>
      </p:pic>
      <p:sp>
        <p:nvSpPr>
          <p:cNvPr id="260" name="Google Shape;260;g2907dbd8723_0_0"/>
          <p:cNvSpPr txBox="1"/>
          <p:nvPr/>
        </p:nvSpPr>
        <p:spPr>
          <a:xfrm>
            <a:off x="123065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1" name="Google Shape;261;g2907dbd8723_0_0"/>
          <p:cNvSpPr txBox="1"/>
          <p:nvPr/>
        </p:nvSpPr>
        <p:spPr>
          <a:xfrm>
            <a:off x="3088375"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Hacktiv8id</a:t>
            </a:r>
            <a:endParaRPr sz="900" b="0" i="0" u="none" strike="noStrike" cap="none">
              <a:solidFill>
                <a:srgbClr val="000000"/>
              </a:solidFill>
              <a:latin typeface="Arial"/>
              <a:ea typeface="Arial"/>
              <a:cs typeface="Arial"/>
              <a:sym typeface="Arial"/>
            </a:endParaRPr>
          </a:p>
        </p:txBody>
      </p:sp>
      <p:sp>
        <p:nvSpPr>
          <p:cNvPr id="262" name="Google Shape;262;g2907dbd8723_0_0"/>
          <p:cNvSpPr txBox="1"/>
          <p:nvPr/>
        </p:nvSpPr>
        <p:spPr>
          <a:xfrm>
            <a:off x="4946100" y="4338863"/>
            <a:ext cx="8889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a:t>
            </a:r>
            <a:endParaRPr sz="900" b="0" i="0" u="none" strike="noStrike" cap="none">
              <a:solidFill>
                <a:srgbClr val="000000"/>
              </a:solidFill>
              <a:latin typeface="Arial"/>
              <a:ea typeface="Arial"/>
              <a:cs typeface="Arial"/>
              <a:sym typeface="Arial"/>
            </a:endParaRPr>
          </a:p>
        </p:txBody>
      </p:sp>
      <p:sp>
        <p:nvSpPr>
          <p:cNvPr id="263" name="Google Shape;263;g2907dbd8723_0_0"/>
          <p:cNvSpPr txBox="1"/>
          <p:nvPr/>
        </p:nvSpPr>
        <p:spPr>
          <a:xfrm>
            <a:off x="6704525" y="4338875"/>
            <a:ext cx="1423500" cy="323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chemeClr val="lt1"/>
                </a:solidFill>
                <a:latin typeface="Inter"/>
                <a:ea typeface="Inter"/>
                <a:cs typeface="Inter"/>
                <a:sym typeface="Inter"/>
              </a:rPr>
              <a:t>Hacktiv8 Indonesia</a:t>
            </a:r>
            <a:endParaRPr sz="900" b="0" i="0" u="none" strike="noStrike" cap="none">
              <a:solidFill>
                <a:srgbClr val="000000"/>
              </a:solidFill>
              <a:latin typeface="Arial"/>
              <a:ea typeface="Arial"/>
              <a:cs typeface="Arial"/>
              <a:sym typeface="Arial"/>
            </a:endParaRPr>
          </a:p>
        </p:txBody>
      </p:sp>
      <p:cxnSp>
        <p:nvCxnSpPr>
          <p:cNvPr id="264" name="Google Shape;264;g2907dbd8723_0_0"/>
          <p:cNvCxnSpPr/>
          <p:nvPr/>
        </p:nvCxnSpPr>
        <p:spPr>
          <a:xfrm>
            <a:off x="3063240" y="2160270"/>
            <a:ext cx="914400" cy="9600"/>
          </a:xfrm>
          <a:prstGeom prst="straightConnector1">
            <a:avLst/>
          </a:prstGeom>
          <a:noFill/>
          <a:ln w="19050" cap="flat" cmpd="sng">
            <a:solidFill>
              <a:srgbClr val="FFF5D8"/>
            </a:solidFill>
            <a:prstDash val="solid"/>
            <a:round/>
            <a:headEnd type="none" w="sm" len="sm"/>
            <a:tailEnd type="none" w="sm" len="sm"/>
          </a:ln>
        </p:spPr>
      </p:cxnSp>
      <p:sp>
        <p:nvSpPr>
          <p:cNvPr id="265" name="Google Shape;265;g2907dbd8723_0_0">
            <a:hlinkClick r:id="rId7"/>
          </p:cNvPr>
          <p:cNvSpPr txBox="1"/>
          <p:nvPr/>
        </p:nvSpPr>
        <p:spPr>
          <a:xfrm>
            <a:off x="4206240" y="1934520"/>
            <a:ext cx="4023360" cy="451500"/>
          </a:xfrm>
          <a:prstGeom prst="rect">
            <a:avLst/>
          </a:prstGeom>
          <a:noFill/>
          <a:ln>
            <a:noFill/>
          </a:ln>
        </p:spPr>
        <p:txBody>
          <a:bodyPr spcFirstLastPara="1" wrap="none" lIns="91425" tIns="91425" rIns="91425" bIns="91425"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1200" b="0" i="1" u="sng" strike="noStrike" cap="none">
                <a:solidFill>
                  <a:schemeClr val="hlink"/>
                </a:solidFill>
                <a:latin typeface="Inter"/>
                <a:ea typeface="Inter"/>
                <a:cs typeface="Inter"/>
                <a:sym typeface="Inter"/>
                <a:hlinkClick r:id="rId8"/>
              </a:rPr>
              <a:t>github.com/bagusedghar/fastapi-intermediate</a:t>
            </a:r>
            <a:endParaRPr sz="1500" b="0" i="1" u="sng" strike="noStrike" cap="none">
              <a:solidFill>
                <a:schemeClr val="lt1"/>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TotalTime>
  <Words>9540</Words>
  <Application>Microsoft Office PowerPoint</Application>
  <PresentationFormat>On-screen Show (16:9)</PresentationFormat>
  <Paragraphs>1494</Paragraphs>
  <Slides>81</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81</vt:i4>
      </vt:variant>
    </vt:vector>
  </HeadingPairs>
  <TitlesOfParts>
    <vt:vector size="87" baseType="lpstr">
      <vt:lpstr>Work Sans ExtraBold</vt:lpstr>
      <vt:lpstr>Work Sans Medium</vt:lpstr>
      <vt:lpstr>Arial</vt:lpstr>
      <vt:lpstr>Inter</vt:lpstr>
      <vt:lpstr>Inconsolata</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Bagus Edghar</cp:lastModifiedBy>
  <cp:revision>10</cp:revision>
  <dcterms:modified xsi:type="dcterms:W3CDTF">2026-10-26T01:33:18Z</dcterms:modified>
</cp:coreProperties>
</file>