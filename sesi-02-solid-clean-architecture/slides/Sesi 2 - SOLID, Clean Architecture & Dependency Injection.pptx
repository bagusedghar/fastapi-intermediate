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77" r:id="rId18"/>
    <p:sldId id="278" r:id="rId19"/>
    <p:sldId id="279" r:id="rId20"/>
    <p:sldId id="280" r:id="rId21"/>
    <p:sldId id="281" r:id="rId22"/>
    <p:sldId id="282" r:id="rId23"/>
    <p:sldId id="283" r:id="rId24"/>
    <p:sldId id="284" r:id="rId25"/>
    <p:sldId id="285" r:id="rId17"/>
    <p:sldId id="286" r:id="rId16"/>
    <p:sldId id="287" r:id="rId15"/>
    <p:sldId id="288" r:id="rId14"/>
    <p:sldId id="289" r:id="rId13"/>
    <p:sldId id="290" r:id="rId12"/>
    <p:sldId id="291" r:id="rId11"/>
    <p:sldId id="292" r:id="rId10"/>
    <p:sldId id="293" r:id="rId9"/>
    <p:sldId id="294" r:id="rId8"/>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 id="339" r:id="rId80"/>
    <p:sldId id="340" r:id="rId81"/>
    <p:sldId id="341" r:id="rId82"/>
    <p:sldId id="342" r:id="rId83"/>
    <p:sldId id="343" r:id="rId84"/>
    <p:sldId id="344" r:id="rId85"/>
    <p:sldId id="345" r:id="rId86"/>
    <p:sldId id="346" r:id="rId87"/>
    <p:sldId id="347" r:id="rId88"/>
    <p:sldId id="348" r:id="rId89"/>
    <p:sldId id="349" r:id="rId90"/>
    <p:sldId id="350" r:id="rId91"/>
    <p:sldId id="351" r:id="rId92"/>
    <p:sldId id="352" r:id="rId93"/>
    <p:sldId id="276" r:id="rId26"/>
  </p:sldIdLst>
  <p:sldSz cy="5143500" cx="9144000"/>
  <p:notesSz cx="6858000" cy="9144000"/>
  <p:embeddedFontLst>
    <p:embeddedFont>
      <p:font typeface="Inter"/>
      <p:regular r:id="rId27"/>
      <p:bold r:id="rId28"/>
    </p:embeddedFont>
    <p:embeddedFont>
      <p:font typeface="Work Sans Medium"/>
      <p:regular r:id="rId29"/>
      <p:bold r:id="rId30"/>
      <p:italic r:id="rId31"/>
      <p:boldItalic r:id="rId32"/>
    </p:embeddedFont>
    <p:embeddedFont>
      <p:font typeface="Work Sans ExtraBold"/>
      <p:bold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35" roundtripDataSignature="AMtx7misuxx245f/qKiEmR3PX6YRe0tI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20.xml"/><Relationship Id="rId9" Type="http://schemas.openxmlformats.org/officeDocument/2006/relationships/slide" Target="slides/slide19.xml"/><Relationship Id="rId10" Type="http://schemas.openxmlformats.org/officeDocument/2006/relationships/slide" Target="slides/slide18.xml"/><Relationship Id="rId11" Type="http://schemas.openxmlformats.org/officeDocument/2006/relationships/slide" Target="slides/slide17.xml"/><Relationship Id="rId12" Type="http://schemas.openxmlformats.org/officeDocument/2006/relationships/slide" Target="slides/slide16.xml"/><Relationship Id="rId13" Type="http://schemas.openxmlformats.org/officeDocument/2006/relationships/slide" Target="slides/slide15.xml"/><Relationship Id="rId14" Type="http://schemas.openxmlformats.org/officeDocument/2006/relationships/slide" Target="slides/slide14.xml"/><Relationship Id="rId15" Type="http://schemas.openxmlformats.org/officeDocument/2006/relationships/slide" Target="slides/slide13.xml"/><Relationship Id="rId16" Type="http://schemas.openxmlformats.org/officeDocument/2006/relationships/slide" Target="slides/slide12.xml"/><Relationship Id="rId17" Type="http://schemas.openxmlformats.org/officeDocument/2006/relationships/slide" Target="slides/slide1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79.xml"/><Relationship Id="rId27" Type="http://schemas.openxmlformats.org/officeDocument/2006/relationships/font" Target="fonts/Inter-regular.fntdata"/><Relationship Id="rId28" Type="http://schemas.openxmlformats.org/officeDocument/2006/relationships/font" Target="fonts/Inter-bold.fntdata"/><Relationship Id="rId29" Type="http://schemas.openxmlformats.org/officeDocument/2006/relationships/font" Target="fonts/WorkSansMedium-regular.fntdata"/><Relationship Id="rId30" Type="http://schemas.openxmlformats.org/officeDocument/2006/relationships/font" Target="fonts/WorkSansMedium-bold.fntdata"/><Relationship Id="rId31" Type="http://schemas.openxmlformats.org/officeDocument/2006/relationships/font" Target="fonts/WorkSansMedium-italic.fntdata"/><Relationship Id="rId32" Type="http://schemas.openxmlformats.org/officeDocument/2006/relationships/font" Target="fonts/WorkSansMedium-boldItalic.fntdata"/><Relationship Id="rId33" Type="http://schemas.openxmlformats.org/officeDocument/2006/relationships/font" Target="fonts/WorkSansExtraBold-bold.fntdata"/><Relationship Id="rId34" Type="http://schemas.openxmlformats.org/officeDocument/2006/relationships/font" Target="fonts/WorkSansExtraBold-boldItalic.fntdata"/><Relationship Id="rId35" Type="http://customschemas.google.com/relationships/presentationmetadata" Target="metadata"/><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442ffe4c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442ffe4c8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Peserta hands-on bersama mentor, jawaban sudah ada di folder after/.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907dbd87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907dbd872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19"/>
          <p:cNvPicPr preferRelativeResize="0"/>
          <p:nvPr/>
        </p:nvPicPr>
        <p:blipFill rotWithShape="1">
          <a:blip r:embed="rId2">
            <a:alphaModFix/>
          </a:blip>
          <a:srcRect b="0" l="0" r="0" t="0"/>
          <a:stretch/>
        </p:blipFill>
        <p:spPr>
          <a:xfrm>
            <a:off x="-7200" y="-15150"/>
            <a:ext cx="9190446" cy="5169626"/>
          </a:xfrm>
          <a:prstGeom prst="rect">
            <a:avLst/>
          </a:prstGeom>
          <a:noFill/>
          <a:ln>
            <a:noFill/>
          </a:ln>
        </p:spPr>
      </p:pic>
      <p:sp>
        <p:nvSpPr>
          <p:cNvPr id="11" name="Google Shape;1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2" name="Google Shape;12;p19"/>
          <p:cNvPicPr preferRelativeResize="0"/>
          <p:nvPr/>
        </p:nvPicPr>
        <p:blipFill rotWithShape="1">
          <a:blip r:embed="rId3">
            <a:alphaModFix/>
          </a:blip>
          <a:srcRect b="0" l="0" r="0" t="0"/>
          <a:stretch/>
        </p:blipFill>
        <p:spPr>
          <a:xfrm>
            <a:off x="7768176" y="286450"/>
            <a:ext cx="1080001" cy="2473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pic>
        <p:nvPicPr>
          <p:cNvPr id="14" name="Google Shape;14;p23"/>
          <p:cNvPicPr preferRelativeResize="0"/>
          <p:nvPr/>
        </p:nvPicPr>
        <p:blipFill rotWithShape="1">
          <a:blip r:embed="rId2">
            <a:alphaModFix/>
          </a:blip>
          <a:srcRect b="0" l="0" r="0" t="0"/>
          <a:stretch/>
        </p:blipFill>
        <p:spPr>
          <a:xfrm>
            <a:off x="0" y="-1"/>
            <a:ext cx="9144003" cy="5143504"/>
          </a:xfrm>
          <a:prstGeom prst="rect">
            <a:avLst/>
          </a:prstGeom>
          <a:noFill/>
          <a:ln>
            <a:noFill/>
          </a:ln>
        </p:spPr>
      </p:pic>
      <p:sp>
        <p:nvSpPr>
          <p:cNvPr id="15" name="Google Shape;1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6" name="Google Shape;16;p23"/>
          <p:cNvPicPr preferRelativeResize="0"/>
          <p:nvPr/>
        </p:nvPicPr>
        <p:blipFill rotWithShape="1">
          <a:blip r:embed="rId3">
            <a:alphaModFix/>
          </a:blip>
          <a:srcRect b="0" l="0" r="0" t="0"/>
          <a:stretch/>
        </p:blipFill>
        <p:spPr>
          <a:xfrm>
            <a:off x="7768176" y="286450"/>
            <a:ext cx="1080001" cy="2473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3">
    <p:spTree>
      <p:nvGrpSpPr>
        <p:cNvPr id="17" name="Shape 17"/>
        <p:cNvGrpSpPr/>
        <p:nvPr/>
      </p:nvGrpSpPr>
      <p:grpSpPr>
        <a:xfrm>
          <a:off x="0" y="0"/>
          <a:ext cx="0" cy="0"/>
          <a:chOff x="0" y="0"/>
          <a:chExt cx="0" cy="0"/>
        </a:xfrm>
      </p:grpSpPr>
      <p:pic>
        <p:nvPicPr>
          <p:cNvPr id="18" name="Google Shape;18;p62"/>
          <p:cNvPicPr preferRelativeResize="0"/>
          <p:nvPr/>
        </p:nvPicPr>
        <p:blipFill rotWithShape="1">
          <a:blip r:embed="rId2">
            <a:alphaModFix/>
          </a:blip>
          <a:srcRect b="0" l="0" r="0" t="0"/>
          <a:stretch/>
        </p:blipFill>
        <p:spPr>
          <a:xfrm>
            <a:off x="0" y="-1"/>
            <a:ext cx="9206026" cy="5178401"/>
          </a:xfrm>
          <a:prstGeom prst="rect">
            <a:avLst/>
          </a:prstGeom>
          <a:noFill/>
          <a:ln>
            <a:noFill/>
          </a:ln>
        </p:spPr>
      </p:pic>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0" name="Google Shape;20;p62"/>
          <p:cNvPicPr preferRelativeResize="0"/>
          <p:nvPr/>
        </p:nvPicPr>
        <p:blipFill rotWithShape="1">
          <a:blip r:embed="rId3">
            <a:alphaModFix/>
          </a:blip>
          <a:srcRect b="0" l="0" r="0" t="0"/>
          <a:stretch/>
        </p:blipFill>
        <p:spPr>
          <a:xfrm>
            <a:off x="7768176" y="286450"/>
            <a:ext cx="1080001" cy="2473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p:cSld name="TITLE_2_1_1">
    <p:spTree>
      <p:nvGrpSpPr>
        <p:cNvPr id="21" name="Shape 21"/>
        <p:cNvGrpSpPr/>
        <p:nvPr/>
      </p:nvGrpSpPr>
      <p:grpSpPr>
        <a:xfrm>
          <a:off x="0" y="0"/>
          <a:ext cx="0" cy="0"/>
          <a:chOff x="0" y="0"/>
          <a:chExt cx="0" cy="0"/>
        </a:xfrm>
      </p:grpSpPr>
      <p:sp>
        <p:nvSpPr>
          <p:cNvPr id="22" name="Google Shape;22;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3" name="Google Shape;23;p49"/>
          <p:cNvPicPr preferRelativeResize="0"/>
          <p:nvPr/>
        </p:nvPicPr>
        <p:blipFill rotWithShape="1">
          <a:blip r:embed="rId2">
            <a:alphaModFix/>
          </a:blip>
          <a:srcRect b="0" l="-11869" r="-10498" t="0"/>
          <a:stretch/>
        </p:blipFill>
        <p:spPr>
          <a:xfrm>
            <a:off x="7614450" y="286450"/>
            <a:ext cx="1372051" cy="247350"/>
          </a:xfrm>
          <a:prstGeom prst="rect">
            <a:avLst/>
          </a:prstGeom>
          <a:noFill/>
          <a:ln>
            <a:noFill/>
          </a:ln>
        </p:spPr>
      </p:pic>
      <p:pic>
        <p:nvPicPr>
          <p:cNvPr id="24" name="Google Shape;24;p49"/>
          <p:cNvPicPr preferRelativeResize="0"/>
          <p:nvPr/>
        </p:nvPicPr>
        <p:blipFill rotWithShape="1">
          <a:blip r:embed="rId3">
            <a:alphaModFix/>
          </a:blip>
          <a:srcRect b="0" l="0" r="0" t="0"/>
          <a:stretch/>
        </p:blipFill>
        <p:spPr>
          <a:xfrm>
            <a:off x="0" y="0"/>
            <a:ext cx="914399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4">
    <p:spTree>
      <p:nvGrpSpPr>
        <p:cNvPr id="25" name="Shape 25"/>
        <p:cNvGrpSpPr/>
        <p:nvPr/>
      </p:nvGrpSpPr>
      <p:grpSpPr>
        <a:xfrm>
          <a:off x="0" y="0"/>
          <a:ext cx="0" cy="0"/>
          <a:chOff x="0" y="0"/>
          <a:chExt cx="0" cy="0"/>
        </a:xfrm>
      </p:grpSpPr>
      <p:pic>
        <p:nvPicPr>
          <p:cNvPr id="26" name="Google Shape;26;p20"/>
          <p:cNvPicPr preferRelativeResize="0"/>
          <p:nvPr/>
        </p:nvPicPr>
        <p:blipFill rotWithShape="1">
          <a:blip r:embed="rId2">
            <a:alphaModFix/>
          </a:blip>
          <a:srcRect b="0" l="0" r="0" t="0"/>
          <a:stretch/>
        </p:blipFill>
        <p:spPr>
          <a:xfrm>
            <a:off x="0" y="-1"/>
            <a:ext cx="9143992" cy="5143501"/>
          </a:xfrm>
          <a:prstGeom prst="rect">
            <a:avLst/>
          </a:prstGeom>
          <a:noFill/>
          <a:ln>
            <a:noFill/>
          </a:ln>
        </p:spPr>
      </p:pic>
      <p:sp>
        <p:nvSpPr>
          <p:cNvPr id="27" name="Google Shape;2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8" name="Google Shape;28;p20"/>
          <p:cNvPicPr preferRelativeResize="0"/>
          <p:nvPr/>
        </p:nvPicPr>
        <p:blipFill rotWithShape="1">
          <a:blip r:embed="rId3">
            <a:alphaModFix/>
          </a:blip>
          <a:srcRect b="0" l="0" r="0" t="0"/>
          <a:stretch/>
        </p:blipFill>
        <p:spPr>
          <a:xfrm>
            <a:off x="7768176" y="286450"/>
            <a:ext cx="1080001" cy="2473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_2_1">
    <p:spTree>
      <p:nvGrpSpPr>
        <p:cNvPr id="29" name="Shape 29"/>
        <p:cNvGrpSpPr/>
        <p:nvPr/>
      </p:nvGrpSpPr>
      <p:grpSpPr>
        <a:xfrm>
          <a:off x="0" y="0"/>
          <a:ext cx="0" cy="0"/>
          <a:chOff x="0" y="0"/>
          <a:chExt cx="0" cy="0"/>
        </a:xfrm>
      </p:grpSpPr>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21"/>
          <p:cNvPicPr preferRelativeResize="0"/>
          <p:nvPr/>
        </p:nvPicPr>
        <p:blipFill rotWithShape="1">
          <a:blip r:embed="rId2">
            <a:alphaModFix/>
          </a:blip>
          <a:srcRect b="0" l="0" r="0" t="0"/>
          <a:stretch/>
        </p:blipFill>
        <p:spPr>
          <a:xfrm>
            <a:off x="-7200" y="-7175"/>
            <a:ext cx="9204623" cy="5177601"/>
          </a:xfrm>
          <a:prstGeom prst="rect">
            <a:avLst/>
          </a:prstGeom>
          <a:noFill/>
          <a:ln>
            <a:noFill/>
          </a:ln>
        </p:spPr>
      </p:pic>
      <p:pic>
        <p:nvPicPr>
          <p:cNvPr id="32" name="Google Shape;32;p21"/>
          <p:cNvPicPr preferRelativeResize="0"/>
          <p:nvPr/>
        </p:nvPicPr>
        <p:blipFill rotWithShape="1">
          <a:blip r:embed="rId3">
            <a:alphaModFix/>
          </a:blip>
          <a:srcRect b="0" l="-11869" r="-10498" t="0"/>
          <a:stretch/>
        </p:blipFill>
        <p:spPr>
          <a:xfrm>
            <a:off x="7614450" y="286450"/>
            <a:ext cx="1372051" cy="2473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33" name="Shape 33"/>
        <p:cNvGrpSpPr/>
        <p:nvPr/>
      </p:nvGrpSpPr>
      <p:grpSpPr>
        <a:xfrm>
          <a:off x="0" y="0"/>
          <a:ext cx="0" cy="0"/>
          <a:chOff x="0" y="0"/>
          <a:chExt cx="0" cy="0"/>
        </a:xfrm>
      </p:grpSpPr>
      <p:pic>
        <p:nvPicPr>
          <p:cNvPr id="34" name="Google Shape;34;p22"/>
          <p:cNvPicPr preferRelativeResize="0"/>
          <p:nvPr/>
        </p:nvPicPr>
        <p:blipFill rotWithShape="1">
          <a:blip r:embed="rId2">
            <a:alphaModFix/>
          </a:blip>
          <a:srcRect b="0" l="0" r="0" t="0"/>
          <a:stretch/>
        </p:blipFill>
        <p:spPr>
          <a:xfrm>
            <a:off x="-14350" y="-6375"/>
            <a:ext cx="9160668" cy="5152876"/>
          </a:xfrm>
          <a:prstGeom prst="rect">
            <a:avLst/>
          </a:prstGeom>
          <a:noFill/>
          <a:ln>
            <a:noFill/>
          </a:ln>
        </p:spPr>
      </p:pic>
      <p:sp>
        <p:nvSpPr>
          <p:cNvPr id="35" name="Google Shape;3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36" name="Google Shape;36;p22"/>
          <p:cNvPicPr preferRelativeResize="0"/>
          <p:nvPr/>
        </p:nvPicPr>
        <p:blipFill rotWithShape="1">
          <a:blip r:embed="rId3">
            <a:alphaModFix/>
          </a:blip>
          <a:srcRect b="0" l="-11869" r="-10498" t="0"/>
          <a:stretch/>
        </p:blipFill>
        <p:spPr>
          <a:xfrm>
            <a:off x="7614450" y="286450"/>
            <a:ext cx="1372051" cy="2473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 name="Shape 37"/>
        <p:cNvGrpSpPr/>
        <p:nvPr/>
      </p:nvGrpSpPr>
      <p:grpSpPr>
        <a:xfrm>
          <a:off x="0" y="0"/>
          <a:ext cx="0" cy="0"/>
          <a:chOff x="0" y="0"/>
          <a:chExt cx="0" cy="0"/>
        </a:xfrm>
      </p:grpSpPr>
      <p:sp>
        <p:nvSpPr>
          <p:cNvPr id="38" name="Google Shape;38;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4" name="Google Shape;44;p5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 name="Google Shape;4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sp>
        <p:nvSpPr>
          <p:cNvPr id="50" name="Google Shape;50;p5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1" name="Google Shape;51;p5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sp>
        <p:nvSpPr>
          <p:cNvPr id="54" name="Google Shape;54;p5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5" name="Google Shape;55;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5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9" name="Google Shape;59;p5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0" name="Google Shape;60;p5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 name="Shape 62"/>
        <p:cNvGrpSpPr/>
        <p:nvPr/>
      </p:nvGrpSpPr>
      <p:grpSpPr>
        <a:xfrm>
          <a:off x="0" y="0"/>
          <a:ext cx="0" cy="0"/>
          <a:chOff x="0" y="0"/>
          <a:chExt cx="0" cy="0"/>
        </a:xfrm>
      </p:grpSpPr>
      <p:sp>
        <p:nvSpPr>
          <p:cNvPr id="63" name="Google Shape;63;p5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4" name="Google Shape;64;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5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5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8" name="Google Shape;68;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1" name="Shape 71"/>
        <p:cNvGrpSpPr/>
        <p:nvPr/>
      </p:nvGrpSpPr>
      <p:grpSpPr>
        <a:xfrm>
          <a:off x="0" y="0"/>
          <a:ext cx="0" cy="0"/>
          <a:chOff x="0" y="0"/>
          <a:chExt cx="0" cy="0"/>
        </a:xfrm>
      </p:grpSpPr>
      <p:sp>
        <p:nvSpPr>
          <p:cNvPr id="72" name="Google Shape;72;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3" name="Google Shape;73;p59"/>
          <p:cNvCxnSpPr/>
          <p:nvPr/>
        </p:nvCxnSpPr>
        <p:spPr>
          <a:xfrm>
            <a:off x="2740288" y="3545850"/>
            <a:ext cx="3824400" cy="0"/>
          </a:xfrm>
          <a:prstGeom prst="straightConnector1">
            <a:avLst/>
          </a:prstGeom>
          <a:noFill/>
          <a:ln cap="flat" cmpd="sng" w="9525">
            <a:solidFill>
              <a:srgbClr val="FFFFFF"/>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1">
  <p:cSld name="TITLE_1_1">
    <p:spTree>
      <p:nvGrpSpPr>
        <p:cNvPr id="74" name="Shape 74"/>
        <p:cNvGrpSpPr/>
        <p:nvPr/>
      </p:nvGrpSpPr>
      <p:grpSpPr>
        <a:xfrm>
          <a:off x="0" y="0"/>
          <a:ext cx="0" cy="0"/>
          <a:chOff x="0" y="0"/>
          <a:chExt cx="0" cy="0"/>
        </a:xfrm>
      </p:grpSpPr>
      <p:sp>
        <p:nvSpPr>
          <p:cNvPr id="75" name="Google Shape;7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6" name="Google Shape;76;p60"/>
          <p:cNvCxnSpPr/>
          <p:nvPr/>
        </p:nvCxnSpPr>
        <p:spPr>
          <a:xfrm>
            <a:off x="2740288" y="3545850"/>
            <a:ext cx="3824400" cy="0"/>
          </a:xfrm>
          <a:prstGeom prst="straightConnector1">
            <a:avLst/>
          </a:prstGeom>
          <a:noFill/>
          <a:ln cap="flat" cmpd="sng" w="9525">
            <a:solidFill>
              <a:srgbClr val="FFFFFF"/>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spTree>
      <p:nvGrpSpPr>
        <p:cNvPr id="77" name="Shape 77"/>
        <p:cNvGrpSpPr/>
        <p:nvPr/>
      </p:nvGrpSpPr>
      <p:grpSpPr>
        <a:xfrm>
          <a:off x="0" y="0"/>
          <a:ext cx="0" cy="0"/>
          <a:chOff x="0" y="0"/>
          <a:chExt cx="0" cy="0"/>
        </a:xfrm>
      </p:grpSpPr>
      <p:sp>
        <p:nvSpPr>
          <p:cNvPr id="78" name="Google Shape;78;p6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79" name="Google Shape;79;p61"/>
          <p:cNvPicPr preferRelativeResize="0"/>
          <p:nvPr/>
        </p:nvPicPr>
        <p:blipFill rotWithShape="1">
          <a:blip r:embed="rId2">
            <a:alphaModFix/>
          </a:blip>
          <a:srcRect b="34000" l="0" r="0" t="31469"/>
          <a:stretch/>
        </p:blipFill>
        <p:spPr>
          <a:xfrm>
            <a:off x="134750" y="4589275"/>
            <a:ext cx="1410576" cy="3443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image" Target="../media/image3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hyperlink" Target="https://colab.research.google.com/github/FTDS-learning-materials/phase-2/blob/master/w2/P2W2D1PM%20-%20Data%20Ethics%20&amp;%20Data%20Validation.ipynb" TargetMode="External"/><Relationship Id="rId8" Type="http://schemas.openxmlformats.org/officeDocument/2006/relationships/hyperlink" Target="https://github.com/bagusedghar/fastapi-intermediate/tree/main/sesi-02-solid-clean-architectur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5" name="Google Shape;85;p5"/>
          <p:cNvSpPr txBox="1"/>
          <p:nvPr/>
        </p:nvSpPr>
        <p:spPr>
          <a:xfrm>
            <a:off x="763050" y="2010750"/>
            <a:ext cx="8258100" cy="11034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3500"/>
              <a:buFont typeface="Arial"/>
              <a:buNone/>
            </a:pPr>
            <a:r>
              <a:rPr lang="en" sz="3500">
                <a:solidFill>
                  <a:srgbClr val="F06634"/>
                </a:solidFill>
                <a:latin typeface="Work Sans ExtraBold"/>
                <a:ea typeface="Work Sans ExtraBold"/>
                <a:cs typeface="Work Sans ExtraBold"/>
                <a:sym typeface="Work Sans ExtraBold"/>
              </a:rPr>
              <a:t>SOLID, Clean Architecture &amp; Dependency Injection</a:t>
            </a:r>
            <a:endParaRPr b="0" i="0" sz="3500" u="none" cap="none" strike="noStrike">
              <a:solidFill>
                <a:srgbClr val="F06634"/>
              </a:solidFill>
              <a:latin typeface="Work Sans ExtraBold"/>
              <a:ea typeface="Work Sans ExtraBold"/>
              <a:cs typeface="Work Sans ExtraBold"/>
              <a:sym typeface="Work Sans ExtraBold"/>
            </a:endParaRPr>
          </a:p>
        </p:txBody>
      </p:sp>
      <p:sp>
        <p:nvSpPr>
          <p:cNvPr id="86" name="Google Shape;86;p5"/>
          <p:cNvSpPr txBox="1"/>
          <p:nvPr/>
        </p:nvSpPr>
        <p:spPr>
          <a:xfrm>
            <a:off x="763050" y="3157225"/>
            <a:ext cx="7315200" cy="5313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1500"/>
              <a:buFont typeface="Arial"/>
              <a:buNone/>
            </a:pPr>
            <a:r>
              <a:rPr b="0" i="0" lang="en" sz="1500" u="none" cap="none" strike="noStrike">
                <a:solidFill>
                  <a:schemeClr val="dk2"/>
                </a:solidFill>
                <a:latin typeface="Work Sans Medium"/>
                <a:ea typeface="Work Sans Medium"/>
                <a:cs typeface="Work Sans Medium"/>
                <a:sym typeface="Work Sans Medium"/>
              </a:rPr>
              <a:t>Intermediate Backend Developer with FastAPI  -  Sesi 2</a:t>
            </a:r>
            <a:endParaRPr b="0" i="0" sz="1500" u="none" cap="none" strike="noStrike">
              <a:solidFill>
                <a:schemeClr val="dk2"/>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2442ffe4c8e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
        <p:nvSpPr>
          <p:cNvPr id="92" name="Google Shape;92;g2442ffe4c8e_0_0"/>
          <p:cNvSpPr txBox="1"/>
          <p:nvPr/>
        </p:nvSpPr>
        <p:spPr>
          <a:xfrm>
            <a:off x="310675" y="249275"/>
            <a:ext cx="44568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rgbClr val="1D3D70"/>
                </a:solidFill>
                <a:latin typeface="Work Sans ExtraBold"/>
                <a:ea typeface="Work Sans ExtraBold"/>
                <a:cs typeface="Work Sans ExtraBold"/>
                <a:sym typeface="Work Sans ExtraBold"/>
              </a:rPr>
              <a:t>Contents</a:t>
            </a:r>
            <a:endParaRPr b="0" i="0" sz="2300" u="none" cap="none" strike="noStrike">
              <a:solidFill>
                <a:srgbClr val="1D3D70"/>
              </a:solidFill>
              <a:latin typeface="Work Sans ExtraBold"/>
              <a:ea typeface="Work Sans ExtraBold"/>
              <a:cs typeface="Work Sans ExtraBold"/>
              <a:sym typeface="Work Sans ExtraBold"/>
            </a:endParaRPr>
          </a:p>
        </p:txBody>
      </p:sp>
      <p:sp>
        <p:nvSpPr>
          <p:cNvPr id="93" name="Text 1"/>
          <p:cNvSpPr txBox="1"/>
          <p:nvPr/>
        </p:nvSpPr>
        <p:spPr>
          <a:xfrm>
            <a:off x="548640" y="1143000"/>
            <a:ext cx="5669280" cy="292608"/>
          </a:xfrm>
          <a:prstGeom prst="rect">
            <a:avLst/>
          </a:prstGeom>
          <a:noFill/>
        </p:spPr>
        <p:txBody>
          <a:bodyPr wrap="square" anchor="ctr" lIns="45720" rIns="45720">
            <a:spAutoFit/>
          </a:bodyPr>
          <a:lstStyle/>
          <a:p>
            <a:pPr algn="r">
              <a:lnSpc>
                <a:spcPct val="115000"/>
              </a:lnSpc>
              <a:spcAft>
                <a:spcPts val="400"/>
              </a:spcAft>
            </a:pPr>
            <a:r>
              <a:rPr sz="1000" i="0" b="0">
                <a:solidFill>
                  <a:srgbClr val="434343"/>
                </a:solidFill>
                <a:latin typeface="Inter"/>
              </a:rPr>
              <a:t>SOLID &amp; Code Smell</a:t>
            </a:r>
          </a:p>
        </p:txBody>
      </p:sp>
      <p:cxnSp>
        <p:nvCxnSpPr>
          <p:cNvPr id="94" name="Arrow 2"/>
          <p:cNvCxnSpPr/>
          <p:nvPr/>
        </p:nvCxnSpPr>
        <p:spPr>
          <a:xfrm>
            <a:off x="6318504" y="1325880"/>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5" name="Text 3"/>
          <p:cNvSpPr txBox="1"/>
          <p:nvPr/>
        </p:nvSpPr>
        <p:spPr>
          <a:xfrm>
            <a:off x="8266175" y="1143000"/>
            <a:ext cx="548640" cy="292608"/>
          </a:xfrm>
          <a:prstGeom prst="rect">
            <a:avLst/>
          </a:prstGeom>
          <a:noFill/>
        </p:spPr>
        <p:txBody>
          <a:bodyPr wrap="square" anchor="ctr" lIns="45720" rIns="45720">
            <a:spAutoFit/>
          </a:bodyPr>
          <a:lstStyle/>
          <a:p>
            <a:pPr algn="l">
              <a:lnSpc>
                <a:spcPct val="115000"/>
              </a:lnSpc>
              <a:spcAft>
                <a:spcPts val="400"/>
              </a:spcAft>
            </a:pPr>
            <a:r>
              <a:rPr sz="1000" i="1" b="1">
                <a:solidFill>
                  <a:srgbClr val="E0764F"/>
                </a:solidFill>
                <a:latin typeface="Inter"/>
              </a:rPr>
              <a:t>07</a:t>
            </a:r>
          </a:p>
        </p:txBody>
      </p:sp>
      <p:sp>
        <p:nvSpPr>
          <p:cNvPr id="96" name="Text 4"/>
          <p:cNvSpPr txBox="1"/>
          <p:nvPr/>
        </p:nvSpPr>
        <p:spPr>
          <a:xfrm>
            <a:off x="548640" y="1527048"/>
            <a:ext cx="5669280" cy="292608"/>
          </a:xfrm>
          <a:prstGeom prst="rect">
            <a:avLst/>
          </a:prstGeom>
          <a:noFill/>
        </p:spPr>
        <p:txBody>
          <a:bodyPr wrap="square" anchor="ctr" lIns="45720" rIns="45720">
            <a:spAutoFit/>
          </a:bodyPr>
          <a:lstStyle/>
          <a:p>
            <a:pPr algn="r">
              <a:lnSpc>
                <a:spcPct val="115000"/>
              </a:lnSpc>
              <a:spcAft>
                <a:spcPts val="400"/>
              </a:spcAft>
            </a:pPr>
            <a:r>
              <a:rPr sz="1000" i="0" b="0">
                <a:solidFill>
                  <a:srgbClr val="434343"/>
                </a:solidFill>
                <a:latin typeface="Inter"/>
              </a:rPr>
              <a:t>Clean Architecture</a:t>
            </a:r>
          </a:p>
        </p:txBody>
      </p:sp>
      <p:cxnSp>
        <p:nvCxnSpPr>
          <p:cNvPr id="97" name="Arrow 5"/>
          <p:cNvCxnSpPr/>
          <p:nvPr/>
        </p:nvCxnSpPr>
        <p:spPr>
          <a:xfrm>
            <a:off x="6318504" y="1709928"/>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8" name="Text 6"/>
          <p:cNvSpPr txBox="1"/>
          <p:nvPr/>
        </p:nvSpPr>
        <p:spPr>
          <a:xfrm>
            <a:off x="8266175" y="1527048"/>
            <a:ext cx="548640" cy="292608"/>
          </a:xfrm>
          <a:prstGeom prst="rect">
            <a:avLst/>
          </a:prstGeom>
          <a:noFill/>
        </p:spPr>
        <p:txBody>
          <a:bodyPr wrap="square" anchor="ctr" lIns="45720" rIns="45720">
            <a:spAutoFit/>
          </a:bodyPr>
          <a:lstStyle/>
          <a:p>
            <a:pPr algn="l">
              <a:lnSpc>
                <a:spcPct val="115000"/>
              </a:lnSpc>
              <a:spcAft>
                <a:spcPts val="400"/>
              </a:spcAft>
            </a:pPr>
            <a:r>
              <a:rPr sz="1000" i="1" b="1">
                <a:solidFill>
                  <a:srgbClr val="E0764F"/>
                </a:solidFill>
                <a:latin typeface="Inter"/>
              </a:rPr>
              <a:t>42</a:t>
            </a:r>
          </a:p>
        </p:txBody>
      </p:sp>
      <p:sp>
        <p:nvSpPr>
          <p:cNvPr id="99" name="Text 7"/>
          <p:cNvSpPr txBox="1"/>
          <p:nvPr/>
        </p:nvSpPr>
        <p:spPr>
          <a:xfrm>
            <a:off x="548640" y="1911095"/>
            <a:ext cx="5669280" cy="292608"/>
          </a:xfrm>
          <a:prstGeom prst="rect">
            <a:avLst/>
          </a:prstGeom>
          <a:noFill/>
        </p:spPr>
        <p:txBody>
          <a:bodyPr wrap="square" anchor="ctr" lIns="45720" rIns="45720">
            <a:spAutoFit/>
          </a:bodyPr>
          <a:lstStyle/>
          <a:p>
            <a:pPr algn="r">
              <a:lnSpc>
                <a:spcPct val="115000"/>
              </a:lnSpc>
              <a:spcAft>
                <a:spcPts val="400"/>
              </a:spcAft>
            </a:pPr>
            <a:r>
              <a:rPr sz="1000" i="0" b="0">
                <a:solidFill>
                  <a:srgbClr val="434343"/>
                </a:solidFill>
                <a:latin typeface="Inter"/>
              </a:rPr>
              <a:t>Dependency Injection di FastAPI</a:t>
            </a:r>
          </a:p>
        </p:txBody>
      </p:sp>
      <p:cxnSp>
        <p:nvCxnSpPr>
          <p:cNvPr id="100" name="Arrow 8"/>
          <p:cNvCxnSpPr/>
          <p:nvPr/>
        </p:nvCxnSpPr>
        <p:spPr>
          <a:xfrm>
            <a:off x="6318504" y="2093976"/>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1" name="Text 9"/>
          <p:cNvSpPr txBox="1"/>
          <p:nvPr/>
        </p:nvSpPr>
        <p:spPr>
          <a:xfrm>
            <a:off x="8266175" y="1911095"/>
            <a:ext cx="548640" cy="292608"/>
          </a:xfrm>
          <a:prstGeom prst="rect">
            <a:avLst/>
          </a:prstGeom>
          <a:noFill/>
        </p:spPr>
        <p:txBody>
          <a:bodyPr wrap="square" anchor="ctr" lIns="45720" rIns="45720">
            <a:spAutoFit/>
          </a:bodyPr>
          <a:lstStyle/>
          <a:p>
            <a:pPr algn="l">
              <a:lnSpc>
                <a:spcPct val="115000"/>
              </a:lnSpc>
              <a:spcAft>
                <a:spcPts val="400"/>
              </a:spcAft>
            </a:pPr>
            <a:r>
              <a:rPr sz="1000" i="1" b="1">
                <a:solidFill>
                  <a:srgbClr val="E0764F"/>
                </a:solidFill>
                <a:latin typeface="Inter"/>
              </a:rPr>
              <a:t>47</a:t>
            </a:r>
          </a:p>
        </p:txBody>
      </p:sp>
      <p:sp>
        <p:nvSpPr>
          <p:cNvPr id="102" name="Text 10"/>
          <p:cNvSpPr txBox="1"/>
          <p:nvPr/>
        </p:nvSpPr>
        <p:spPr>
          <a:xfrm>
            <a:off x="548640" y="2295144"/>
            <a:ext cx="5669280" cy="292608"/>
          </a:xfrm>
          <a:prstGeom prst="rect">
            <a:avLst/>
          </a:prstGeom>
          <a:noFill/>
        </p:spPr>
        <p:txBody>
          <a:bodyPr wrap="square" anchor="ctr" lIns="45720" rIns="45720">
            <a:spAutoFit/>
          </a:bodyPr>
          <a:lstStyle/>
          <a:p>
            <a:pPr algn="r">
              <a:lnSpc>
                <a:spcPct val="115000"/>
              </a:lnSpc>
              <a:spcAft>
                <a:spcPts val="400"/>
              </a:spcAft>
            </a:pPr>
            <a:r>
              <a:rPr sz="1000" i="0" b="0">
                <a:solidFill>
                  <a:srgbClr val="434343"/>
                </a:solidFill>
                <a:latin typeface="Inter"/>
              </a:rPr>
              <a:t>Hands-on: Redesign Struktur Project</a:t>
            </a:r>
          </a:p>
        </p:txBody>
      </p:sp>
      <p:cxnSp>
        <p:nvCxnSpPr>
          <p:cNvPr id="103" name="Arrow 11"/>
          <p:cNvCxnSpPr/>
          <p:nvPr/>
        </p:nvCxnSpPr>
        <p:spPr>
          <a:xfrm>
            <a:off x="6318504" y="2478024"/>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4" name="Text 12"/>
          <p:cNvSpPr txBox="1"/>
          <p:nvPr/>
        </p:nvSpPr>
        <p:spPr>
          <a:xfrm>
            <a:off x="8266175" y="2295144"/>
            <a:ext cx="548640" cy="292608"/>
          </a:xfrm>
          <a:prstGeom prst="rect">
            <a:avLst/>
          </a:prstGeom>
          <a:noFill/>
        </p:spPr>
        <p:txBody>
          <a:bodyPr wrap="square" anchor="ctr" lIns="45720" rIns="45720">
            <a:spAutoFit/>
          </a:bodyPr>
          <a:lstStyle/>
          <a:p>
            <a:pPr algn="l">
              <a:lnSpc>
                <a:spcPct val="115000"/>
              </a:lnSpc>
              <a:spcAft>
                <a:spcPts val="400"/>
              </a:spcAft>
            </a:pPr>
            <a:r>
              <a:rPr sz="1000" i="1" b="1">
                <a:solidFill>
                  <a:srgbClr val="E0764F"/>
                </a:solidFill>
                <a:latin typeface="Inter"/>
              </a:rPr>
              <a:t>60</a:t>
            </a:r>
          </a:p>
        </p:txBody>
      </p:sp>
      <p:sp>
        <p:nvSpPr>
          <p:cNvPr id="105" name="Text 13"/>
          <p:cNvSpPr txBox="1"/>
          <p:nvPr/>
        </p:nvSpPr>
        <p:spPr>
          <a:xfrm>
            <a:off x="548640" y="2679191"/>
            <a:ext cx="5669280" cy="292608"/>
          </a:xfrm>
          <a:prstGeom prst="rect">
            <a:avLst/>
          </a:prstGeom>
          <a:noFill/>
        </p:spPr>
        <p:txBody>
          <a:bodyPr wrap="square" anchor="ctr" lIns="45720" rIns="45720">
            <a:spAutoFit/>
          </a:bodyPr>
          <a:lstStyle/>
          <a:p>
            <a:pPr algn="r">
              <a:lnSpc>
                <a:spcPct val="115000"/>
              </a:lnSpc>
              <a:spcAft>
                <a:spcPts val="400"/>
              </a:spcAft>
            </a:pPr>
            <a:r>
              <a:rPr sz="1000" i="0" b="0">
                <a:solidFill>
                  <a:srgbClr val="434343"/>
                </a:solidFill>
                <a:latin typeface="Inter"/>
              </a:rPr>
              <a:t>Studi Kasus: Tambah Ongkos Kirim</a:t>
            </a:r>
          </a:p>
        </p:txBody>
      </p:sp>
      <p:cxnSp>
        <p:nvCxnSpPr>
          <p:cNvPr id="106" name="Arrow 14"/>
          <p:cNvCxnSpPr/>
          <p:nvPr/>
        </p:nvCxnSpPr>
        <p:spPr>
          <a:xfrm>
            <a:off x="6318504" y="2862072"/>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7" name="Text 15"/>
          <p:cNvSpPr txBox="1"/>
          <p:nvPr/>
        </p:nvSpPr>
        <p:spPr>
          <a:xfrm>
            <a:off x="8266175" y="2679191"/>
            <a:ext cx="548640" cy="292608"/>
          </a:xfrm>
          <a:prstGeom prst="rect">
            <a:avLst/>
          </a:prstGeom>
          <a:noFill/>
        </p:spPr>
        <p:txBody>
          <a:bodyPr wrap="square" anchor="ctr" lIns="45720" rIns="45720">
            <a:spAutoFit/>
          </a:bodyPr>
          <a:lstStyle/>
          <a:p>
            <a:pPr algn="l">
              <a:lnSpc>
                <a:spcPct val="115000"/>
              </a:lnSpc>
              <a:spcAft>
                <a:spcPts val="400"/>
              </a:spcAft>
            </a:pPr>
            <a:r>
              <a:rPr sz="1000" i="1" b="1">
                <a:solidFill>
                  <a:srgbClr val="E0764F"/>
                </a:solidFill>
                <a:latin typeface="Inter"/>
              </a:rPr>
              <a:t>74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Sesi 2</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Learning Outcome</a:t>
            </a:r>
          </a:p>
        </p:txBody>
      </p:sp>
      <p:sp>
        <p:nvSpPr>
          <p:cNvPr id="22" name="Box 3"/>
          <p:cNvSpPr/>
          <p:nvPr/>
        </p:nvSpPr>
        <p:spPr>
          <a:xfrm>
            <a:off x="621792" y="1600200"/>
            <a:ext cx="2523744" cy="2011680"/>
          </a:xfrm>
          <a:prstGeom prst="roundRect">
            <a:avLst>
              <a:gd name="adj" fmla="val 545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Box 4"/>
          <p:cNvSpPr/>
          <p:nvPr/>
        </p:nvSpPr>
        <p:spPr>
          <a:xfrm>
            <a:off x="758952"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1100" i="0" b="1">
                <a:solidFill>
                  <a:srgbClr val="FFFFFF"/>
                </a:solidFill>
                <a:latin typeface="Inter"/>
              </a:rPr>
              <a:t>1</a:t>
            </a:r>
          </a:p>
        </p:txBody>
      </p:sp>
      <p:sp>
        <p:nvSpPr>
          <p:cNvPr id="24" name="Text 5"/>
          <p:cNvSpPr txBox="1"/>
          <p:nvPr/>
        </p:nvSpPr>
        <p:spPr>
          <a:xfrm>
            <a:off x="1170432" y="1709928"/>
            <a:ext cx="1883663" cy="384048"/>
          </a:xfrm>
          <a:prstGeom prst="rect">
            <a:avLst/>
          </a:prstGeom>
          <a:noFill/>
        </p:spPr>
        <p:txBody>
          <a:bodyPr wrap="square" anchor="ctr" lIns="45720" rIns="45720">
            <a:spAutoFit/>
          </a:bodyPr>
          <a:lstStyle/>
          <a:p>
            <a:pPr algn="l">
              <a:lnSpc>
                <a:spcPct val="115000"/>
              </a:lnSpc>
              <a:spcAft>
                <a:spcPts val="400"/>
              </a:spcAft>
            </a:pPr>
            <a:r>
              <a:rPr sz="1200" i="0" b="1">
                <a:solidFill>
                  <a:srgbClr val="1C4587"/>
                </a:solidFill>
                <a:latin typeface="Inter"/>
              </a:rPr>
              <a:t>SOLID &amp; code smell</a:t>
            </a:r>
          </a:p>
        </p:txBody>
      </p:sp>
      <p:sp>
        <p:nvSpPr>
          <p:cNvPr id="25" name="Text 6"/>
          <p:cNvSpPr txBox="1"/>
          <p:nvPr/>
        </p:nvSpPr>
        <p:spPr>
          <a:xfrm>
            <a:off x="758952" y="2148840"/>
            <a:ext cx="2249424" cy="1371600"/>
          </a:xfrm>
          <a:prstGeom prst="rect">
            <a:avLst/>
          </a:prstGeom>
          <a:noFill/>
        </p:spPr>
        <p:txBody>
          <a:bodyPr wrap="square" anchor="t" lIns="45720" rIns="45720">
            <a:spAutoFit/>
          </a:bodyPr>
          <a:lstStyle/>
          <a:p>
            <a:pPr algn="l">
              <a:lnSpc>
                <a:spcPct val="115000"/>
              </a:lnSpc>
              <a:spcAft>
                <a:spcPts val="400"/>
              </a:spcAft>
            </a:pPr>
            <a:r>
              <a:rPr sz="1050" i="0" b="0">
                <a:solidFill>
                  <a:srgbClr val="434343"/>
                </a:solidFill>
                <a:latin typeface="Inter"/>
              </a:rPr>
              <a:t>Mengenali pelanggaran SOLID di codebase dan memperbaiki coupling antar modul.</a:t>
            </a:r>
          </a:p>
        </p:txBody>
      </p:sp>
      <p:sp>
        <p:nvSpPr>
          <p:cNvPr id="26" name="Box 7"/>
          <p:cNvSpPr/>
          <p:nvPr/>
        </p:nvSpPr>
        <p:spPr>
          <a:xfrm>
            <a:off x="3291840" y="1600200"/>
            <a:ext cx="2523744" cy="2011680"/>
          </a:xfrm>
          <a:prstGeom prst="roundRect">
            <a:avLst>
              <a:gd name="adj" fmla="val 5454"/>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7" name="Box 8"/>
          <p:cNvSpPr/>
          <p:nvPr/>
        </p:nvSpPr>
        <p:spPr>
          <a:xfrm>
            <a:off x="3429000"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1100" i="0" b="1">
                <a:solidFill>
                  <a:srgbClr val="FFFFFF"/>
                </a:solidFill>
                <a:latin typeface="Inter"/>
              </a:rPr>
              <a:t>2</a:t>
            </a:r>
          </a:p>
        </p:txBody>
      </p:sp>
      <p:sp>
        <p:nvSpPr>
          <p:cNvPr id="28" name="Text 9"/>
          <p:cNvSpPr txBox="1"/>
          <p:nvPr/>
        </p:nvSpPr>
        <p:spPr>
          <a:xfrm>
            <a:off x="3840480" y="1709928"/>
            <a:ext cx="1883663" cy="384048"/>
          </a:xfrm>
          <a:prstGeom prst="rect">
            <a:avLst/>
          </a:prstGeom>
          <a:noFill/>
        </p:spPr>
        <p:txBody>
          <a:bodyPr wrap="square" anchor="ctr" lIns="45720" rIns="45720">
            <a:spAutoFit/>
          </a:bodyPr>
          <a:lstStyle/>
          <a:p>
            <a:pPr algn="l">
              <a:lnSpc>
                <a:spcPct val="115000"/>
              </a:lnSpc>
              <a:spcAft>
                <a:spcPts val="400"/>
              </a:spcAft>
            </a:pPr>
            <a:r>
              <a:rPr sz="1200" i="0" b="1">
                <a:solidFill>
                  <a:srgbClr val="1C4587"/>
                </a:solidFill>
                <a:latin typeface="Inter"/>
              </a:rPr>
              <a:t>Clean Architecture</a:t>
            </a:r>
          </a:p>
        </p:txBody>
      </p:sp>
      <p:sp>
        <p:nvSpPr>
          <p:cNvPr id="29" name="Text 10"/>
          <p:cNvSpPr txBox="1"/>
          <p:nvPr/>
        </p:nvSpPr>
        <p:spPr>
          <a:xfrm>
            <a:off x="3429000" y="2148840"/>
            <a:ext cx="2249424" cy="1371600"/>
          </a:xfrm>
          <a:prstGeom prst="rect">
            <a:avLst/>
          </a:prstGeom>
          <a:noFill/>
        </p:spPr>
        <p:txBody>
          <a:bodyPr wrap="square" anchor="t" lIns="45720" rIns="45720">
            <a:spAutoFit/>
          </a:bodyPr>
          <a:lstStyle/>
          <a:p>
            <a:pPr algn="l">
              <a:lnSpc>
                <a:spcPct val="115000"/>
              </a:lnSpc>
              <a:spcAft>
                <a:spcPts val="400"/>
              </a:spcAft>
            </a:pPr>
            <a:r>
              <a:rPr sz="1050" i="0" b="0">
                <a:solidFill>
                  <a:srgbClr val="434343"/>
                </a:solidFill>
                <a:latin typeface="Inter"/>
              </a:rPr>
              <a:t>Merancang batas dependency antar layer: domain, application, infrastructure, API.</a:t>
            </a:r>
          </a:p>
        </p:txBody>
      </p:sp>
      <p:sp>
        <p:nvSpPr>
          <p:cNvPr id="30" name="Box 11"/>
          <p:cNvSpPr/>
          <p:nvPr/>
        </p:nvSpPr>
        <p:spPr>
          <a:xfrm>
            <a:off x="5961888" y="1600200"/>
            <a:ext cx="2523744" cy="2011680"/>
          </a:xfrm>
          <a:prstGeom prst="roundRect">
            <a:avLst>
              <a:gd name="adj" fmla="val 545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Box 12"/>
          <p:cNvSpPr/>
          <p:nvPr/>
        </p:nvSpPr>
        <p:spPr>
          <a:xfrm>
            <a:off x="6099048"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1100" i="0" b="1">
                <a:solidFill>
                  <a:srgbClr val="FFFFFF"/>
                </a:solidFill>
                <a:latin typeface="Inter"/>
              </a:rPr>
              <a:t>3</a:t>
            </a:r>
          </a:p>
        </p:txBody>
      </p:sp>
      <p:sp>
        <p:nvSpPr>
          <p:cNvPr id="32" name="Text 13"/>
          <p:cNvSpPr txBox="1"/>
          <p:nvPr/>
        </p:nvSpPr>
        <p:spPr>
          <a:xfrm>
            <a:off x="6510527" y="1709928"/>
            <a:ext cx="1883664" cy="384048"/>
          </a:xfrm>
          <a:prstGeom prst="rect">
            <a:avLst/>
          </a:prstGeom>
          <a:noFill/>
        </p:spPr>
        <p:txBody>
          <a:bodyPr wrap="square" anchor="ctr" lIns="45720" rIns="45720">
            <a:spAutoFit/>
          </a:bodyPr>
          <a:lstStyle/>
          <a:p>
            <a:pPr algn="l">
              <a:lnSpc>
                <a:spcPct val="115000"/>
              </a:lnSpc>
              <a:spcAft>
                <a:spcPts val="400"/>
              </a:spcAft>
            </a:pPr>
            <a:r>
              <a:rPr sz="1200" i="0" b="1">
                <a:solidFill>
                  <a:srgbClr val="1C4587"/>
                </a:solidFill>
                <a:latin typeface="Inter"/>
              </a:rPr>
              <a:t>Dependency Injection</a:t>
            </a:r>
          </a:p>
        </p:txBody>
      </p:sp>
      <p:sp>
        <p:nvSpPr>
          <p:cNvPr id="33" name="Text 14"/>
          <p:cNvSpPr txBox="1"/>
          <p:nvPr/>
        </p:nvSpPr>
        <p:spPr>
          <a:xfrm>
            <a:off x="6099048" y="2148840"/>
            <a:ext cx="2249424" cy="1371600"/>
          </a:xfrm>
          <a:prstGeom prst="rect">
            <a:avLst/>
          </a:prstGeom>
          <a:noFill/>
        </p:spPr>
        <p:txBody>
          <a:bodyPr wrap="square" anchor="t" lIns="45720" rIns="45720">
            <a:spAutoFit/>
          </a:bodyPr>
          <a:lstStyle/>
          <a:p>
            <a:pPr algn="l">
              <a:lnSpc>
                <a:spcPct val="115000"/>
              </a:lnSpc>
              <a:spcAft>
                <a:spcPts val="400"/>
              </a:spcAft>
            </a:pPr>
            <a:r>
              <a:rPr sz="1050" i="0" b="0">
                <a:solidFill>
                  <a:srgbClr val="434343"/>
                </a:solidFill>
                <a:latin typeface="Inter"/>
              </a:rPr>
              <a:t>Memakai </a:t>
            </a:r>
            <a:r>
              <a:rPr sz="1050" i="0" b="0">
                <a:solidFill>
                  <a:srgbClr val="B5482A"/>
                </a:solidFill>
                <a:latin typeface="Consolas"/>
              </a:rPr>
              <a:t>Depends</a:t>
            </a:r>
            <a:r>
              <a:rPr sz="1050" i="0" b="0">
                <a:solidFill>
                  <a:srgbClr val="434343"/>
                </a:solidFill>
                <a:latin typeface="Inter"/>
              </a:rPr>
              <a:t> FastAPI dan membuat unit test yang tidak bergantung ke database.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Order Management API</a:t>
            </a:r>
          </a:p>
        </p:txBody>
      </p:sp>
      <p:sp>
        <p:nvSpPr>
          <p:cNvPr id="22" name="Text 3"/>
          <p:cNvSpPr txBox="1"/>
          <p:nvPr/>
        </p:nvSpPr>
        <p:spPr>
          <a:xfrm>
            <a:off x="621792" y="1481328"/>
            <a:ext cx="4297680" cy="3246120"/>
          </a:xfrm>
          <a:prstGeom prst="rect">
            <a:avLst/>
          </a:prstGeom>
          <a:noFill/>
        </p:spPr>
        <p:txBody>
          <a:bodyPr wrap="square" anchor="t" lIns="45720" rIns="45720">
            <a:spAutoFit/>
          </a:bodyPr>
          <a:lstStyle/>
          <a:p>
            <a:pPr algn="l">
              <a:lnSpc>
                <a:spcPct val="115000"/>
              </a:lnSpc>
              <a:spcAft>
                <a:spcPts val="400"/>
              </a:spcAft>
            </a:pPr>
            <a:r>
              <a:rPr sz="1000" i="0" b="0">
                <a:solidFill>
                  <a:srgbClr val="434343"/>
                </a:solidFill>
                <a:latin typeface="Inter"/>
              </a:rPr>
              <a:t>Pada training ini, kita akan memakai satu tema yang sama dari awal sampai akhir, yaitu </a:t>
            </a:r>
            <a:r>
              <a:rPr sz="1000" i="0" b="1">
                <a:solidFill>
                  <a:srgbClr val="434343"/>
                </a:solidFill>
                <a:latin typeface="Inter"/>
              </a:rPr>
              <a:t>Order Management API</a:t>
            </a:r>
            <a:r>
              <a:rPr sz="1000" i="0" b="0">
                <a:solidFill>
                  <a:srgbClr val="434343"/>
                </a:solidFill>
                <a:latin typeface="Inter"/>
              </a:rPr>
              <a:t>: API sederhana untuk menerima order, menghitung diskon, menyimpan data order, dan mengirim notifikasi ke customer.</a:t>
            </a:r>
          </a:p>
          <a:p>
            <a:pPr algn="l">
              <a:lnSpc>
                <a:spcPct val="115000"/>
              </a:lnSpc>
              <a:spcAft>
                <a:spcPts val="0"/>
              </a:spcAft>
            </a:pPr>
            <a:r>
              <a:rPr sz="600"/>
              <a:t/>
            </a:r>
          </a:p>
          <a:p>
            <a:pPr algn="l">
              <a:lnSpc>
                <a:spcPct val="115000"/>
              </a:lnSpc>
              <a:spcAft>
                <a:spcPts val="400"/>
              </a:spcAft>
            </a:pPr>
            <a:r>
              <a:rPr sz="1000" i="0" b="0">
                <a:solidFill>
                  <a:srgbClr val="434343"/>
                </a:solidFill>
                <a:latin typeface="Inter"/>
              </a:rPr>
              <a:t>Aplikasi ini kita kembangkan sedikit demi sedikit di setiap sesi. Di Sesi 1 kita mulai dari kode yang masih ditulis di satu file, lalu merapikannya. Hasil akhir setiap sesi menjadi titik awal sesi berikutnya, sampai di Sesi 12 menjadi Order API yang siap production.</a:t>
            </a:r>
          </a:p>
          <a:p>
            <a:pPr algn="l">
              <a:lnSpc>
                <a:spcPct val="115000"/>
              </a:lnSpc>
              <a:spcAft>
                <a:spcPts val="0"/>
              </a:spcAft>
            </a:pPr>
            <a:r>
              <a:rPr sz="600"/>
              <a:t/>
            </a:r>
          </a:p>
          <a:p>
            <a:pPr algn="l">
              <a:lnSpc>
                <a:spcPct val="115000"/>
              </a:lnSpc>
              <a:spcAft>
                <a:spcPts val="400"/>
              </a:spcAft>
            </a:pPr>
            <a:r>
              <a:rPr sz="1000" i="0" b="0">
                <a:solidFill>
                  <a:srgbClr val="434343"/>
                </a:solidFill>
                <a:latin typeface="Inter"/>
              </a:rPr>
              <a:t>Di Sesi 2 (SOLID &amp; Clean Architecture): dipisah per layer: domain, application, infrastructure, api.</a:t>
            </a:r>
          </a:p>
        </p:txBody>
      </p:sp>
      <p:sp>
        <p:nvSpPr>
          <p:cNvPr id="23" name="Box 4"/>
          <p:cNvSpPr/>
          <p:nvPr/>
        </p:nvSpPr>
        <p:spPr>
          <a:xfrm>
            <a:off x="5120640" y="1600200"/>
            <a:ext cx="1828800" cy="402336"/>
          </a:xfrm>
          <a:prstGeom prst="roundRect">
            <a:avLst>
              <a:gd name="adj" fmla="val 27272"/>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FFFFFF"/>
                </a:solidFill>
                <a:latin typeface="Inter"/>
              </a:rPr>
              <a:t>Terima order</a:t>
            </a:r>
          </a:p>
        </p:txBody>
      </p:sp>
      <p:sp>
        <p:nvSpPr>
          <p:cNvPr id="24" name="Box 5"/>
          <p:cNvSpPr/>
          <p:nvPr/>
        </p:nvSpPr>
        <p:spPr>
          <a:xfrm>
            <a:off x="5120640" y="2167128"/>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Hitung diskon</a:t>
            </a:r>
          </a:p>
        </p:txBody>
      </p:sp>
      <p:cxnSp>
        <p:nvCxnSpPr>
          <p:cNvPr id="25" name="Arrow 6"/>
          <p:cNvCxnSpPr/>
          <p:nvPr/>
        </p:nvCxnSpPr>
        <p:spPr>
          <a:xfrm>
            <a:off x="6035040" y="2002536"/>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Box 7"/>
          <p:cNvSpPr/>
          <p:nvPr/>
        </p:nvSpPr>
        <p:spPr>
          <a:xfrm>
            <a:off x="5120640" y="2734056"/>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Simpan ke database</a:t>
            </a:r>
          </a:p>
        </p:txBody>
      </p:sp>
      <p:cxnSp>
        <p:nvCxnSpPr>
          <p:cNvPr id="27" name="Arrow 8"/>
          <p:cNvCxnSpPr/>
          <p:nvPr/>
        </p:nvCxnSpPr>
        <p:spPr>
          <a:xfrm>
            <a:off x="6035040" y="2569464"/>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Box 9"/>
          <p:cNvSpPr/>
          <p:nvPr/>
        </p:nvSpPr>
        <p:spPr>
          <a:xfrm>
            <a:off x="5120640" y="3300984"/>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Kirim notifikasi</a:t>
            </a:r>
          </a:p>
        </p:txBody>
      </p:sp>
      <p:cxnSp>
        <p:nvCxnSpPr>
          <p:cNvPr id="29" name="Arrow 10"/>
          <p:cNvCxnSpPr/>
          <p:nvPr/>
        </p:nvCxnSpPr>
        <p:spPr>
          <a:xfrm>
            <a:off x="6035040" y="3136391"/>
            <a:ext cx="0" cy="164593"/>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 11"/>
          <p:cNvSpPr txBox="1"/>
          <p:nvPr/>
        </p:nvSpPr>
        <p:spPr>
          <a:xfrm>
            <a:off x="7086600" y="1600200"/>
            <a:ext cx="1417320" cy="2103120"/>
          </a:xfrm>
          <a:prstGeom prst="rect">
            <a:avLst/>
          </a:prstGeom>
          <a:noFill/>
        </p:spPr>
        <p:txBody>
          <a:bodyPr wrap="square" anchor="t" lIns="45720" rIns="45720">
            <a:spAutoFit/>
          </a:bodyPr>
          <a:lstStyle/>
          <a:p>
            <a:pPr algn="l">
              <a:lnSpc>
                <a:spcPct val="115000"/>
              </a:lnSpc>
              <a:spcAft>
                <a:spcPts val="400"/>
              </a:spcAft>
            </a:pPr>
            <a:r>
              <a:rPr sz="900" i="0" b="1">
                <a:solidFill>
                  <a:srgbClr val="7A7A7A"/>
                </a:solidFill>
                <a:latin typeface="Inter"/>
              </a:rPr>
              <a:t>Aturan diskon</a:t>
            </a:r>
          </a:p>
          <a:p>
            <a:pPr algn="l">
              <a:lnSpc>
                <a:spcPct val="115000"/>
              </a:lnSpc>
              <a:spcAft>
                <a:spcPts val="400"/>
              </a:spcAft>
            </a:pPr>
            <a:r>
              <a:rPr sz="900" i="0" b="0">
                <a:solidFill>
                  <a:srgbClr val="7A7A7A"/>
                </a:solidFill>
                <a:latin typeface="Inter"/>
              </a:rPr>
              <a:t>regular: 0%</a:t>
            </a:r>
          </a:p>
          <a:p>
            <a:pPr algn="l">
              <a:lnSpc>
                <a:spcPct val="115000"/>
              </a:lnSpc>
              <a:spcAft>
                <a:spcPts val="400"/>
              </a:spcAft>
            </a:pPr>
            <a:r>
              <a:rPr sz="900" i="0" b="0">
                <a:solidFill>
                  <a:srgbClr val="7A7A7A"/>
                </a:solidFill>
                <a:latin typeface="Inter"/>
              </a:rPr>
              <a:t>member: 5%</a:t>
            </a:r>
          </a:p>
          <a:p>
            <a:pPr algn="l">
              <a:lnSpc>
                <a:spcPct val="115000"/>
              </a:lnSpc>
              <a:spcAft>
                <a:spcPts val="400"/>
              </a:spcAft>
            </a:pPr>
            <a:r>
              <a:rPr sz="900" i="0" b="0">
                <a:solidFill>
                  <a:srgbClr val="7A7A7A"/>
                </a:solidFill>
                <a:latin typeface="Inter"/>
              </a:rPr>
              <a:t>vip: 10%</a:t>
            </a:r>
          </a:p>
          <a:p>
            <a:pPr algn="l">
              <a:lnSpc>
                <a:spcPct val="115000"/>
              </a:lnSpc>
              <a:spcAft>
                <a:spcPts val="0"/>
              </a:spcAft>
            </a:pPr>
            <a:r>
              <a:rPr sz="540"/>
              <a:t/>
            </a:r>
          </a:p>
          <a:p>
            <a:pPr algn="l">
              <a:lnSpc>
                <a:spcPct val="115000"/>
              </a:lnSpc>
              <a:spcAft>
                <a:spcPts val="400"/>
              </a:spcAft>
            </a:pPr>
            <a:r>
              <a:rPr sz="900" i="0" b="1">
                <a:solidFill>
                  <a:srgbClr val="7A7A7A"/>
                </a:solidFill>
                <a:latin typeface="Inter"/>
              </a:rPr>
              <a:t>Notifikasi</a:t>
            </a:r>
          </a:p>
          <a:p>
            <a:pPr algn="l">
              <a:lnSpc>
                <a:spcPct val="115000"/>
              </a:lnSpc>
              <a:spcAft>
                <a:spcPts val="400"/>
              </a:spcAft>
            </a:pPr>
            <a:r>
              <a:rPr sz="900" i="0" b="0">
                <a:solidFill>
                  <a:srgbClr val="7A7A7A"/>
                </a:solidFill>
                <a:latin typeface="Inter"/>
              </a:rPr>
              <a:t>email atau SMS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Tahapan Pengembangan Order API</a:t>
            </a:r>
          </a:p>
        </p:txBody>
      </p:sp>
      <p:graphicFrame>
        <p:nvGraphicFramePr>
          <p:cNvPr id="22" name="Table 3"/>
          <p:cNvGraphicFramePr>
            <a:graphicFrameLocks noGrp="1"/>
          </p:cNvGraphicFramePr>
          <p:nvPr/>
        </p:nvGraphicFramePr>
        <p:xfrm>
          <a:off x="621792" y="1463040"/>
          <a:ext cx="7863840" cy="3031236"/>
        </p:xfrm>
        <a:graphic>
          <a:graphicData uri="http://schemas.openxmlformats.org/drawingml/2006/table">
            <a:tbl>
              <a:tblPr firstRow="1" bandRow="1"/>
              <a:tblGrid>
                <a:gridCol w="960120"/>
                <a:gridCol w="2057400"/>
                <a:gridCol w="4846320"/>
              </a:tblGrid>
              <a:tr h="233172">
                <a:tc>
                  <a:txBody>
                    <a:bodyPr wrap="square"/>
                    <a:lstStyle/>
                    <a:p>
                      <a:pPr algn="l">
                        <a:lnSpc>
                          <a:spcPct val="100000"/>
                        </a:lnSpc>
                        <a:spcAft>
                          <a:spcPts val="0"/>
                        </a:spcAft>
                      </a:pPr>
                      <a:r>
                        <a:rPr sz="800" i="0" b="1">
                          <a:solidFill>
                            <a:srgbClr val="FFFFFF"/>
                          </a:solidFill>
                          <a:latin typeface="Inter"/>
                        </a:rPr>
                        <a:t>Sesi</a:t>
                      </a:r>
                    </a:p>
                  </a:txBody>
                  <a:tcPr marL="73152" marR="73152" marT="36576" marB="36576" anchor="ctr">
                    <a:solidFill>
                      <a:srgbClr val="1C4587"/>
                    </a:solidFill>
                  </a:tcPr>
                </a:tc>
                <a:tc>
                  <a:txBody>
                    <a:bodyPr wrap="square"/>
                    <a:lstStyle/>
                    <a:p>
                      <a:pPr algn="l">
                        <a:lnSpc>
                          <a:spcPct val="100000"/>
                        </a:lnSpc>
                        <a:spcAft>
                          <a:spcPts val="0"/>
                        </a:spcAft>
                      </a:pPr>
                      <a:r>
                        <a:rPr sz="800" i="0" b="1">
                          <a:solidFill>
                            <a:srgbClr val="FFFFFF"/>
                          </a:solidFill>
                          <a:latin typeface="Inter"/>
                        </a:rPr>
                        <a:t>Topik</a:t>
                      </a:r>
                    </a:p>
                  </a:txBody>
                  <a:tcPr marL="73152" marR="73152" marT="36576" marB="36576" anchor="ctr">
                    <a:solidFill>
                      <a:srgbClr val="1C4587"/>
                    </a:solidFill>
                  </a:tcPr>
                </a:tc>
                <a:tc>
                  <a:txBody>
                    <a:bodyPr wrap="square"/>
                    <a:lstStyle/>
                    <a:p>
                      <a:pPr algn="l">
                        <a:lnSpc>
                          <a:spcPct val="100000"/>
                        </a:lnSpc>
                        <a:spcAft>
                          <a:spcPts val="0"/>
                        </a:spcAft>
                      </a:pPr>
                      <a:r>
                        <a:rPr sz="800" i="0" b="1">
                          <a:solidFill>
                            <a:srgbClr val="FFFFFF"/>
                          </a:solidFill>
                          <a:latin typeface="Inter"/>
                        </a:rPr>
                        <a:t>Yang ditambahkan ke Order API</a:t>
                      </a:r>
                    </a:p>
                  </a:txBody>
                  <a:tcPr marL="73152" marR="73152" marT="36576" marB="36576" anchor="ctr">
                    <a:solidFill>
                      <a:srgbClr val="1C4587"/>
                    </a:solidFill>
                  </a:tcPr>
                </a:tc>
              </a:tr>
              <a:tr h="233172">
                <a:tc>
                  <a:txBody>
                    <a:bodyPr wrap="square"/>
                    <a:lstStyle/>
                    <a:p>
                      <a:pPr algn="l">
                        <a:lnSpc>
                          <a:spcPct val="100000"/>
                        </a:lnSpc>
                        <a:spcAft>
                          <a:spcPts val="0"/>
                        </a:spcAft>
                      </a:pPr>
                      <a:r>
                        <a:rPr sz="800" i="0" b="1">
                          <a:solidFill>
                            <a:srgbClr val="1C4587"/>
                          </a:solidFill>
                          <a:latin typeface="Inter"/>
                        </a:rPr>
                        <a:t>1</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Design Patterns</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Kode satu file dirapikan: Factory, Singleton, Strategy, Repository, Service Layer</a:t>
                      </a:r>
                    </a:p>
                  </a:txBody>
                  <a:tcPr marL="73152" marR="73152" marT="36576" marB="36576" anchor="ctr">
                    <a:solidFill>
                      <a:srgbClr val="FFFFFF"/>
                    </a:solidFill>
                  </a:tcPr>
                </a:tc>
              </a:tr>
              <a:tr h="233172">
                <a:tc>
                  <a:txBody>
                    <a:bodyPr wrap="square"/>
                    <a:lstStyle/>
                    <a:p>
                      <a:pPr algn="l">
                        <a:lnSpc>
                          <a:spcPct val="100000"/>
                        </a:lnSpc>
                        <a:spcAft>
                          <a:spcPts val="0"/>
                        </a:spcAft>
                      </a:pPr>
                      <a:r>
                        <a:rPr sz="800" i="0" b="1">
                          <a:solidFill>
                            <a:srgbClr val="1C4587"/>
                          </a:solidFill>
                          <a:latin typeface="Inter"/>
                        </a:rPr>
                        <a:t>2  (sesi ini)</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SOLID &amp; Clean Architecture</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Dipisah per layer: domain, application, infrastructure, api</a:t>
                      </a:r>
                    </a:p>
                  </a:txBody>
                  <a:tcPr marL="73152" marR="73152" marT="36576" marB="36576" anchor="ctr">
                    <a:solidFill>
                      <a:srgbClr val="F3F4F6"/>
                    </a:solidFill>
                  </a:tcPr>
                </a:tc>
              </a:tr>
              <a:tr h="233172">
                <a:tc>
                  <a:txBody>
                    <a:bodyPr wrap="square"/>
                    <a:lstStyle/>
                    <a:p>
                      <a:pPr algn="l">
                        <a:lnSpc>
                          <a:spcPct val="100000"/>
                        </a:lnSpc>
                        <a:spcAft>
                          <a:spcPts val="0"/>
                        </a:spcAft>
                      </a:pPr>
                      <a:r>
                        <a:rPr sz="800" i="0" b="1">
                          <a:solidFill>
                            <a:srgbClr val="1C4587"/>
                          </a:solidFill>
                          <a:latin typeface="Inter"/>
                        </a:rPr>
                        <a:t>3</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Domain-Driven Design</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Order jadi aggregate, Money value object, aturan bayar &amp; batal</a:t>
                      </a:r>
                    </a:p>
                  </a:txBody>
                  <a:tcPr marL="73152" marR="73152" marT="36576" marB="36576" anchor="ctr">
                    <a:solidFill>
                      <a:srgbClr val="FFFFFF"/>
                    </a:solidFill>
                  </a:tcPr>
                </a:tc>
              </a:tr>
              <a:tr h="233172">
                <a:tc>
                  <a:txBody>
                    <a:bodyPr wrap="square"/>
                    <a:lstStyle/>
                    <a:p>
                      <a:pPr algn="l">
                        <a:lnSpc>
                          <a:spcPct val="100000"/>
                        </a:lnSpc>
                        <a:spcAft>
                          <a:spcPts val="0"/>
                        </a:spcAft>
                      </a:pPr>
                      <a:r>
                        <a:rPr sz="800" i="0" b="1">
                          <a:solidFill>
                            <a:srgbClr val="1C4587"/>
                          </a:solidFill>
                          <a:latin typeface="Inter"/>
                        </a:rPr>
                        <a:t>4</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Modular FastAPI &amp; ORM</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Router per modul, SQLAlchemy, Unit of Work, format error</a:t>
                      </a:r>
                    </a:p>
                  </a:txBody>
                  <a:tcPr marL="73152" marR="73152" marT="36576" marB="36576" anchor="ctr">
                    <a:solidFill>
                      <a:srgbClr val="F3F4F6"/>
                    </a:solidFill>
                  </a:tcPr>
                </a:tc>
              </a:tr>
              <a:tr h="233172">
                <a:tc>
                  <a:txBody>
                    <a:bodyPr wrap="square"/>
                    <a:lstStyle/>
                    <a:p>
                      <a:pPr algn="l">
                        <a:lnSpc>
                          <a:spcPct val="100000"/>
                        </a:lnSpc>
                        <a:spcAft>
                          <a:spcPts val="0"/>
                        </a:spcAft>
                      </a:pPr>
                      <a:r>
                        <a:rPr sz="800" i="0" b="1">
                          <a:solidFill>
                            <a:srgbClr val="1C4587"/>
                          </a:solidFill>
                          <a:latin typeface="Inter"/>
                        </a:rPr>
                        <a:t>5</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Celery &amp; Redis</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Notifikasi dan report dikerjakan di background job</a:t>
                      </a:r>
                    </a:p>
                  </a:txBody>
                  <a:tcPr marL="73152" marR="73152" marT="36576" marB="36576" anchor="ctr">
                    <a:solidFill>
                      <a:srgbClr val="FFFFFF"/>
                    </a:solidFill>
                  </a:tcPr>
                </a:tc>
              </a:tr>
              <a:tr h="233172">
                <a:tc>
                  <a:txBody>
                    <a:bodyPr wrap="square"/>
                    <a:lstStyle/>
                    <a:p>
                      <a:pPr algn="l">
                        <a:lnSpc>
                          <a:spcPct val="100000"/>
                        </a:lnSpc>
                        <a:spcAft>
                          <a:spcPts val="0"/>
                        </a:spcAft>
                      </a:pPr>
                      <a:r>
                        <a:rPr sz="800" i="0" b="1">
                          <a:solidFill>
                            <a:srgbClr val="1C4587"/>
                          </a:solidFill>
                          <a:latin typeface="Inter"/>
                        </a:rPr>
                        <a:t>6</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Caching &amp; Rate Limiting</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Data produk di-cache di Redis, request dibatasi</a:t>
                      </a:r>
                    </a:p>
                  </a:txBody>
                  <a:tcPr marL="73152" marR="73152" marT="36576" marB="36576" anchor="ctr">
                    <a:solidFill>
                      <a:srgbClr val="F3F4F6"/>
                    </a:solidFill>
                  </a:tcPr>
                </a:tc>
              </a:tr>
              <a:tr h="233172">
                <a:tc>
                  <a:txBody>
                    <a:bodyPr wrap="square"/>
                    <a:lstStyle/>
                    <a:p>
                      <a:pPr algn="l">
                        <a:lnSpc>
                          <a:spcPct val="100000"/>
                        </a:lnSpc>
                        <a:spcAft>
                          <a:spcPts val="0"/>
                        </a:spcAft>
                      </a:pPr>
                      <a:r>
                        <a:rPr sz="800" i="0" b="1">
                          <a:solidFill>
                            <a:srgbClr val="1C4587"/>
                          </a:solidFill>
                          <a:latin typeface="Inter"/>
                        </a:rPr>
                        <a:t>7</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Database Optimization</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PostgreSQL, index, tanpa N+1, pagination</a:t>
                      </a:r>
                    </a:p>
                  </a:txBody>
                  <a:tcPr marL="73152" marR="73152" marT="36576" marB="36576" anchor="ctr">
                    <a:solidFill>
                      <a:srgbClr val="FFFFFF"/>
                    </a:solidFill>
                  </a:tcPr>
                </a:tc>
              </a:tr>
              <a:tr h="233172">
                <a:tc>
                  <a:txBody>
                    <a:bodyPr wrap="square"/>
                    <a:lstStyle/>
                    <a:p>
                      <a:pPr algn="l">
                        <a:lnSpc>
                          <a:spcPct val="100000"/>
                        </a:lnSpc>
                        <a:spcAft>
                          <a:spcPts val="0"/>
                        </a:spcAft>
                      </a:pPr>
                      <a:r>
                        <a:rPr sz="800" i="0" b="1">
                          <a:solidFill>
                            <a:srgbClr val="1C4587"/>
                          </a:solidFill>
                          <a:latin typeface="Inter"/>
                        </a:rPr>
                        <a:t>8</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RabbitMQ &amp; Kafka</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Event order, consumer notifikasi yang retry-safe</a:t>
                      </a:r>
                    </a:p>
                  </a:txBody>
                  <a:tcPr marL="73152" marR="73152" marT="36576" marB="36576" anchor="ctr">
                    <a:solidFill>
                      <a:srgbClr val="F3F4F6"/>
                    </a:solidFill>
                  </a:tcPr>
                </a:tc>
              </a:tr>
              <a:tr h="233172">
                <a:tc>
                  <a:txBody>
                    <a:bodyPr wrap="square"/>
                    <a:lstStyle/>
                    <a:p>
                      <a:pPr algn="l">
                        <a:lnSpc>
                          <a:spcPct val="100000"/>
                        </a:lnSpc>
                        <a:spcAft>
                          <a:spcPts val="0"/>
                        </a:spcAft>
                      </a:pPr>
                      <a:r>
                        <a:rPr sz="800" i="0" b="1">
                          <a:solidFill>
                            <a:srgbClr val="1C4587"/>
                          </a:solidFill>
                          <a:latin typeface="Inter"/>
                        </a:rPr>
                        <a:t>9</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Observability</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Log terstruktur, metrics, dan tracing</a:t>
                      </a:r>
                    </a:p>
                  </a:txBody>
                  <a:tcPr marL="73152" marR="73152" marT="36576" marB="36576" anchor="ctr">
                    <a:solidFill>
                      <a:srgbClr val="FFFFFF"/>
                    </a:solidFill>
                  </a:tcPr>
                </a:tc>
              </a:tr>
              <a:tr h="233172">
                <a:tc>
                  <a:txBody>
                    <a:bodyPr wrap="square"/>
                    <a:lstStyle/>
                    <a:p>
                      <a:pPr algn="l">
                        <a:lnSpc>
                          <a:spcPct val="100000"/>
                        </a:lnSpc>
                        <a:spcAft>
                          <a:spcPts val="0"/>
                        </a:spcAft>
                      </a:pPr>
                      <a:r>
                        <a:rPr sz="800" i="0" b="1">
                          <a:solidFill>
                            <a:srgbClr val="1C4587"/>
                          </a:solidFill>
                          <a:latin typeface="Inter"/>
                        </a:rPr>
                        <a:t>10</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API Security</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Login OAuth2/JWT, hak akses per role</a:t>
                      </a:r>
                    </a:p>
                  </a:txBody>
                  <a:tcPr marL="73152" marR="73152" marT="36576" marB="36576" anchor="ctr">
                    <a:solidFill>
                      <a:srgbClr val="F3F4F6"/>
                    </a:solidFill>
                  </a:tcPr>
                </a:tc>
              </a:tr>
              <a:tr h="233172">
                <a:tc>
                  <a:txBody>
                    <a:bodyPr wrap="square"/>
                    <a:lstStyle/>
                    <a:p>
                      <a:pPr algn="l">
                        <a:lnSpc>
                          <a:spcPct val="100000"/>
                        </a:lnSpc>
                        <a:spcAft>
                          <a:spcPts val="0"/>
                        </a:spcAft>
                      </a:pPr>
                      <a:r>
                        <a:rPr sz="800" i="0" b="1">
                          <a:solidFill>
                            <a:srgbClr val="1C4587"/>
                          </a:solidFill>
                          <a:latin typeface="Inter"/>
                        </a:rPr>
                        <a:t>11</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Docker &amp; CI/CD</a:t>
                      </a:r>
                    </a:p>
                  </a:txBody>
                  <a:tcPr marL="73152" marR="73152" marT="36576" marB="36576" anchor="ctr">
                    <a:solidFill>
                      <a:srgbClr val="FFFFFF"/>
                    </a:solidFill>
                  </a:tcPr>
                </a:tc>
                <a:tc>
                  <a:txBody>
                    <a:bodyPr wrap="square"/>
                    <a:lstStyle/>
                    <a:p>
                      <a:pPr algn="l">
                        <a:lnSpc>
                          <a:spcPct val="100000"/>
                        </a:lnSpc>
                        <a:spcAft>
                          <a:spcPts val="0"/>
                        </a:spcAft>
                      </a:pPr>
                      <a:r>
                        <a:rPr sz="800" i="0" b="0">
                          <a:solidFill>
                            <a:srgbClr val="434343"/>
                          </a:solidFill>
                          <a:latin typeface="Inter"/>
                        </a:rPr>
                        <a:t>Docker image, Compose, dan pipeline otomatis</a:t>
                      </a:r>
                    </a:p>
                  </a:txBody>
                  <a:tcPr marL="73152" marR="73152" marT="36576" marB="36576" anchor="ctr">
                    <a:solidFill>
                      <a:srgbClr val="FFFFFF"/>
                    </a:solidFill>
                  </a:tcPr>
                </a:tc>
              </a:tr>
              <a:tr h="233172">
                <a:tc>
                  <a:txBody>
                    <a:bodyPr wrap="square"/>
                    <a:lstStyle/>
                    <a:p>
                      <a:pPr algn="l">
                        <a:lnSpc>
                          <a:spcPct val="100000"/>
                        </a:lnSpc>
                        <a:spcAft>
                          <a:spcPts val="0"/>
                        </a:spcAft>
                      </a:pPr>
                      <a:r>
                        <a:rPr sz="800" i="0" b="1">
                          <a:solidFill>
                            <a:srgbClr val="1C4587"/>
                          </a:solidFill>
                          <a:latin typeface="Inter"/>
                        </a:rPr>
                        <a:t>12</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Final Project</a:t>
                      </a:r>
                    </a:p>
                  </a:txBody>
                  <a:tcPr marL="73152" marR="73152" marT="36576" marB="36576" anchor="ctr">
                    <a:solidFill>
                      <a:srgbClr val="F3F4F6"/>
                    </a:solidFill>
                  </a:tcPr>
                </a:tc>
                <a:tc>
                  <a:txBody>
                    <a:bodyPr wrap="square"/>
                    <a:lstStyle/>
                    <a:p>
                      <a:pPr algn="l">
                        <a:lnSpc>
                          <a:spcPct val="100000"/>
                        </a:lnSpc>
                        <a:spcAft>
                          <a:spcPts val="0"/>
                        </a:spcAft>
                      </a:pPr>
                      <a:r>
                        <a:rPr sz="800" i="0" b="0">
                          <a:solidFill>
                            <a:srgbClr val="434343"/>
                          </a:solidFill>
                          <a:latin typeface="Inter"/>
                        </a:rPr>
                        <a:t>Order API yang siap production</a:t>
                      </a:r>
                    </a:p>
                  </a:txBody>
                  <a:tcPr marL="73152" marR="73152" marT="36576" marB="36576" anchor="ctr">
                    <a:solidFill>
                      <a:srgbClr val="F3F4F6"/>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 name="Text 1"/>
          <p:cNvSpPr txBox="1"/>
          <p:nvPr/>
        </p:nvSpPr>
        <p:spPr>
          <a:xfrm>
            <a:off x="822960" y="1600200"/>
            <a:ext cx="7315200" cy="365760"/>
          </a:xfrm>
          <a:prstGeom prst="rect">
            <a:avLst/>
          </a:prstGeom>
          <a:noFill/>
        </p:spPr>
        <p:txBody>
          <a:bodyPr wrap="square" anchor="t" lIns="45720" rIns="45720">
            <a:spAutoFit/>
          </a:bodyPr>
          <a:lstStyle/>
          <a:p>
            <a:pPr algn="l">
              <a:lnSpc>
                <a:spcPct val="115000"/>
              </a:lnSpc>
              <a:spcAft>
                <a:spcPts val="400"/>
              </a:spcAft>
            </a:pPr>
            <a:r>
              <a:rPr sz="1400" i="0" b="0">
                <a:solidFill>
                  <a:srgbClr val="CFE0FA"/>
                </a:solidFill>
                <a:latin typeface="Inter"/>
              </a:rPr>
              <a:t>Bagian 01</a:t>
            </a:r>
          </a:p>
        </p:txBody>
      </p:sp>
      <p:sp>
        <p:nvSpPr>
          <p:cNvPr id="32" name="Text 2"/>
          <p:cNvSpPr txBox="1"/>
          <p:nvPr/>
        </p:nvSpPr>
        <p:spPr>
          <a:xfrm>
            <a:off x="822960" y="1920240"/>
            <a:ext cx="7315200" cy="822960"/>
          </a:xfrm>
          <a:prstGeom prst="rect">
            <a:avLst/>
          </a:prstGeom>
          <a:noFill/>
        </p:spPr>
        <p:txBody>
          <a:bodyPr wrap="square" anchor="t" lIns="45720" rIns="45720">
            <a:spAutoFit/>
          </a:bodyPr>
          <a:lstStyle/>
          <a:p>
            <a:pPr algn="l">
              <a:lnSpc>
                <a:spcPct val="115000"/>
              </a:lnSpc>
              <a:spcAft>
                <a:spcPts val="400"/>
              </a:spcAft>
            </a:pPr>
            <a:r>
              <a:rPr sz="3000" i="0" b="0">
                <a:solidFill>
                  <a:srgbClr val="FFFFFF"/>
                </a:solidFill>
                <a:latin typeface="Work Sans ExtraBold"/>
              </a:rPr>
              <a:t>SOLID &amp; Code Smell</a:t>
            </a:r>
          </a:p>
        </p:txBody>
      </p:sp>
      <p:sp>
        <p:nvSpPr>
          <p:cNvPr id="33" name="Text 3"/>
          <p:cNvSpPr txBox="1"/>
          <p:nvPr/>
        </p:nvSpPr>
        <p:spPr>
          <a:xfrm>
            <a:off x="822960" y="2743200"/>
            <a:ext cx="6583680" cy="731520"/>
          </a:xfrm>
          <a:prstGeom prst="rect">
            <a:avLst/>
          </a:prstGeom>
          <a:noFill/>
        </p:spPr>
        <p:txBody>
          <a:bodyPr wrap="square" anchor="t" lIns="45720" rIns="45720">
            <a:spAutoFit/>
          </a:bodyPr>
          <a:lstStyle/>
          <a:p>
            <a:pPr algn="l">
              <a:lnSpc>
                <a:spcPct val="115000"/>
              </a:lnSpc>
              <a:spcAft>
                <a:spcPts val="400"/>
              </a:spcAft>
            </a:pPr>
            <a:r>
              <a:rPr sz="1200" i="0" b="0">
                <a:solidFill>
                  <a:srgbClr val="E3ECFA"/>
                </a:solidFill>
                <a:latin typeface="Inter"/>
              </a:rPr>
              <a:t>Lima prinsip supaya class mudah diubah tanpa merusak bagian lain.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SOLID</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SOLID dan Code Smell?</a:t>
            </a:r>
          </a:p>
        </p:txBody>
      </p:sp>
      <p:sp>
        <p:nvSpPr>
          <p:cNvPr id="22" name="Text 3"/>
          <p:cNvSpPr txBox="1"/>
          <p:nvPr/>
        </p:nvSpPr>
        <p:spPr>
          <a:xfrm>
            <a:off x="621792" y="1481328"/>
            <a:ext cx="4114800" cy="329184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SOLID</a:t>
            </a:r>
          </a:p>
          <a:p>
            <a:pPr algn="l">
              <a:lnSpc>
                <a:spcPct val="115000"/>
              </a:lnSpc>
              <a:spcAft>
                <a:spcPts val="400"/>
              </a:spcAft>
            </a:pPr>
            <a:r>
              <a:rPr sz="950" i="0" b="0">
                <a:solidFill>
                  <a:srgbClr val="434343"/>
                </a:solidFill>
                <a:latin typeface="Inter"/>
              </a:rPr>
              <a:t>Lima </a:t>
            </a:r>
            <a:r>
              <a:rPr sz="950" i="0" b="1">
                <a:solidFill>
                  <a:srgbClr val="434343"/>
                </a:solidFill>
                <a:latin typeface="Inter"/>
              </a:rPr>
              <a:t>prinsip desain</a:t>
            </a:r>
            <a:r>
              <a:rPr sz="950" i="0" b="0">
                <a:solidFill>
                  <a:srgbClr val="434343"/>
                </a:solidFill>
                <a:latin typeface="Inter"/>
              </a:rPr>
              <a:t> class yang dikumpulkan Robert C. Martin. Singkatan SOLID diambil dari huruf depan kelima prinsipnya. Tujuannya satu: kode yang </a:t>
            </a:r>
            <a:r>
              <a:rPr sz="950" i="0" b="1">
                <a:solidFill>
                  <a:srgbClr val="434343"/>
                </a:solidFill>
                <a:latin typeface="Inter"/>
              </a:rPr>
              <a:t>mudah diubah dan mudah dites</a:t>
            </a:r>
            <a:r>
              <a:rPr sz="950" i="0" b="0">
                <a:solidFill>
                  <a:srgbClr val="434343"/>
                </a:solidFill>
                <a:latin typeface="Inter"/>
              </a:rPr>
              <a:t>.</a:t>
            </a:r>
          </a:p>
          <a:p>
            <a:pPr algn="l">
              <a:lnSpc>
                <a:spcPct val="115000"/>
              </a:lnSpc>
              <a:spcAft>
                <a:spcPts val="400"/>
              </a:spcAft>
            </a:pPr>
            <a:r>
              <a:rPr sz="1050" i="0" b="1">
                <a:solidFill>
                  <a:srgbClr val="1C4587"/>
                </a:solidFill>
                <a:latin typeface="Inter"/>
              </a:rPr>
              <a:t>Code smell</a:t>
            </a:r>
          </a:p>
          <a:p>
            <a:pPr algn="l">
              <a:lnSpc>
                <a:spcPct val="115000"/>
              </a:lnSpc>
              <a:spcAft>
                <a:spcPts val="400"/>
              </a:spcAft>
            </a:pPr>
            <a:r>
              <a:rPr sz="950" i="0" b="0">
                <a:solidFill>
                  <a:srgbClr val="434343"/>
                </a:solidFill>
                <a:latin typeface="Inter"/>
              </a:rPr>
              <a:t>Istilah dari Kent Beck dan Martin Fowler: </a:t>
            </a:r>
            <a:r>
              <a:rPr sz="950" i="0" b="1">
                <a:solidFill>
                  <a:srgbClr val="434343"/>
                </a:solidFill>
                <a:latin typeface="Inter"/>
              </a:rPr>
              <a:t>gejala</a:t>
            </a:r>
            <a:r>
              <a:rPr sz="950" i="0" b="0">
                <a:solidFill>
                  <a:srgbClr val="434343"/>
                </a:solidFill>
                <a:latin typeface="Inter"/>
              </a:rPr>
              <a:t> di kode yang menandakan ada masalah desain. Kodenya masih jalan, tapi makin susah diubah. Contoh: if/elif yang terus bertambah, class yang mengerjakan semuanya.</a:t>
            </a:r>
          </a:p>
          <a:p>
            <a:pPr algn="l">
              <a:lnSpc>
                <a:spcPct val="115000"/>
              </a:lnSpc>
              <a:spcAft>
                <a:spcPts val="400"/>
              </a:spcAft>
            </a:pPr>
            <a:r>
              <a:rPr sz="1050" i="0" b="1">
                <a:solidFill>
                  <a:srgbClr val="1C4587"/>
                </a:solidFill>
                <a:latin typeface="Inter"/>
              </a:rPr>
              <a:t>Prinsip vs design pattern</a:t>
            </a:r>
          </a:p>
          <a:p>
            <a:pPr algn="l">
              <a:lnSpc>
                <a:spcPct val="115000"/>
              </a:lnSpc>
              <a:spcAft>
                <a:spcPts val="400"/>
              </a:spcAft>
            </a:pPr>
            <a:r>
              <a:rPr sz="950" i="0" b="0">
                <a:solidFill>
                  <a:srgbClr val="434343"/>
                </a:solidFill>
                <a:latin typeface="Inter"/>
              </a:rPr>
              <a:t>Prinsip menjawab </a:t>
            </a:r>
            <a:r>
              <a:rPr sz="950" i="0" b="1">
                <a:solidFill>
                  <a:srgbClr val="434343"/>
                </a:solidFill>
                <a:latin typeface="Inter"/>
              </a:rPr>
              <a:t>kenapa</a:t>
            </a:r>
            <a:r>
              <a:rPr sz="950" i="0" b="0">
                <a:solidFill>
                  <a:srgbClr val="434343"/>
                </a:solidFill>
                <a:latin typeface="Inter"/>
              </a:rPr>
              <a:t> (arah yang benar). Pattern di Sesi 1 adalah </a:t>
            </a:r>
            <a:r>
              <a:rPr sz="950" i="0" b="1">
                <a:solidFill>
                  <a:srgbClr val="434343"/>
                </a:solidFill>
                <a:latin typeface="Inter"/>
              </a:rPr>
              <a:t>cara</a:t>
            </a:r>
            <a:r>
              <a:rPr sz="950" i="0" b="0">
                <a:solidFill>
                  <a:srgbClr val="434343"/>
                </a:solidFill>
                <a:latin typeface="Inter"/>
              </a:rPr>
              <a:t> konkret menerapkannya.</a:t>
            </a:r>
          </a:p>
        </p:txBody>
      </p:sp>
      <p:graphicFrame>
        <p:nvGraphicFramePr>
          <p:cNvPr id="23" name="Table 4"/>
          <p:cNvGraphicFramePr>
            <a:graphicFrameLocks noGrp="1"/>
          </p:cNvGraphicFramePr>
          <p:nvPr/>
        </p:nvGraphicFramePr>
        <p:xfrm>
          <a:off x="4892040" y="1481328"/>
          <a:ext cx="3593592" cy="2743200"/>
        </p:xfrm>
        <a:graphic>
          <a:graphicData uri="http://schemas.openxmlformats.org/drawingml/2006/table">
            <a:tbl>
              <a:tblPr firstRow="1" bandRow="1"/>
              <a:tblGrid>
                <a:gridCol w="1463040"/>
                <a:gridCol w="2130552"/>
              </a:tblGrid>
              <a:tr h="457200">
                <a:tc>
                  <a:txBody>
                    <a:bodyPr wrap="square"/>
                    <a:lstStyle/>
                    <a:p>
                      <a:pPr algn="l">
                        <a:lnSpc>
                          <a:spcPct val="100000"/>
                        </a:lnSpc>
                        <a:spcAft>
                          <a:spcPts val="0"/>
                        </a:spcAft>
                      </a:pPr>
                      <a:r>
                        <a:rPr sz="850" i="0" b="1">
                          <a:solidFill>
                            <a:srgbClr val="FFFFFF"/>
                          </a:solidFill>
                          <a:latin typeface="Inter"/>
                        </a:rPr>
                        <a:t>Prinsip</a:t>
                      </a:r>
                    </a:p>
                  </a:txBody>
                  <a:tcPr marL="73152" marR="73152" marT="36576" marB="36576" anchor="ctr">
                    <a:solidFill>
                      <a:srgbClr val="1C4587"/>
                    </a:solidFill>
                  </a:tcPr>
                </a:tc>
                <a:tc>
                  <a:txBody>
                    <a:bodyPr wrap="square"/>
                    <a:lstStyle/>
                    <a:p>
                      <a:pPr algn="l">
                        <a:lnSpc>
                          <a:spcPct val="100000"/>
                        </a:lnSpc>
                        <a:spcAft>
                          <a:spcPts val="0"/>
                        </a:spcAft>
                      </a:pPr>
                      <a:r>
                        <a:rPr sz="850" i="0" b="1">
                          <a:solidFill>
                            <a:srgbClr val="FFFFFF"/>
                          </a:solidFill>
                          <a:latin typeface="Inter"/>
                        </a:rPr>
                        <a:t>Diterapkan dengan (Sesi 1)</a:t>
                      </a:r>
                    </a:p>
                  </a:txBody>
                  <a:tcPr marL="73152" marR="73152" marT="36576" marB="36576" anchor="ctr">
                    <a:solidFill>
                      <a:srgbClr val="1C4587"/>
                    </a:solidFill>
                  </a:tcPr>
                </a:tc>
              </a:tr>
              <a:tr h="457200">
                <a:tc>
                  <a:txBody>
                    <a:bodyPr wrap="square"/>
                    <a:lstStyle/>
                    <a:p>
                      <a:pPr algn="l">
                        <a:lnSpc>
                          <a:spcPct val="100000"/>
                        </a:lnSpc>
                        <a:spcAft>
                          <a:spcPts val="0"/>
                        </a:spcAft>
                      </a:pPr>
                      <a:r>
                        <a:rPr sz="850" i="0" b="1">
                          <a:solidFill>
                            <a:srgbClr val="1C4587"/>
                          </a:solidFill>
                          <a:latin typeface="Inter"/>
                        </a:rPr>
                        <a:t>Single Responsibility</a:t>
                      </a:r>
                    </a:p>
                  </a:txBody>
                  <a:tcPr marL="73152" marR="73152" marT="36576" marB="36576" anchor="ctr">
                    <a:solidFill>
                      <a:srgbClr val="FFFFFF"/>
                    </a:solidFill>
                  </a:tcPr>
                </a:tc>
                <a:tc>
                  <a:txBody>
                    <a:bodyPr wrap="square"/>
                    <a:lstStyle/>
                    <a:p>
                      <a:pPr algn="l">
                        <a:lnSpc>
                          <a:spcPct val="100000"/>
                        </a:lnSpc>
                        <a:spcAft>
                          <a:spcPts val="0"/>
                        </a:spcAft>
                      </a:pPr>
                      <a:r>
                        <a:rPr sz="850" i="0" b="0">
                          <a:solidFill>
                            <a:srgbClr val="434343"/>
                          </a:solidFill>
                          <a:latin typeface="Inter"/>
                        </a:rPr>
                        <a:t>Service Layer, Repository</a:t>
                      </a:r>
                    </a:p>
                  </a:txBody>
                  <a:tcPr marL="73152" marR="73152" marT="36576" marB="36576" anchor="ctr">
                    <a:solidFill>
                      <a:srgbClr val="FFFFFF"/>
                    </a:solidFill>
                  </a:tcPr>
                </a:tc>
              </a:tr>
              <a:tr h="457200">
                <a:tc>
                  <a:txBody>
                    <a:bodyPr wrap="square"/>
                    <a:lstStyle/>
                    <a:p>
                      <a:pPr algn="l">
                        <a:lnSpc>
                          <a:spcPct val="100000"/>
                        </a:lnSpc>
                        <a:spcAft>
                          <a:spcPts val="0"/>
                        </a:spcAft>
                      </a:pPr>
                      <a:r>
                        <a:rPr sz="850" i="0" b="1">
                          <a:solidFill>
                            <a:srgbClr val="1C4587"/>
                          </a:solidFill>
                          <a:latin typeface="Inter"/>
                        </a:rPr>
                        <a:t>Open/Closed</a:t>
                      </a:r>
                    </a:p>
                  </a:txBody>
                  <a:tcPr marL="73152" marR="73152" marT="36576" marB="36576" anchor="ctr">
                    <a:solidFill>
                      <a:srgbClr val="F3F4F6"/>
                    </a:solidFill>
                  </a:tcPr>
                </a:tc>
                <a:tc>
                  <a:txBody>
                    <a:bodyPr wrap="square"/>
                    <a:lstStyle/>
                    <a:p>
                      <a:pPr algn="l">
                        <a:lnSpc>
                          <a:spcPct val="100000"/>
                        </a:lnSpc>
                        <a:spcAft>
                          <a:spcPts val="0"/>
                        </a:spcAft>
                      </a:pPr>
                      <a:r>
                        <a:rPr sz="850" i="0" b="0">
                          <a:solidFill>
                            <a:srgbClr val="434343"/>
                          </a:solidFill>
                          <a:latin typeface="Inter"/>
                        </a:rPr>
                        <a:t>Strategy, Factory</a:t>
                      </a:r>
                    </a:p>
                  </a:txBody>
                  <a:tcPr marL="73152" marR="73152" marT="36576" marB="36576" anchor="ctr">
                    <a:solidFill>
                      <a:srgbClr val="F3F4F6"/>
                    </a:solidFill>
                  </a:tcPr>
                </a:tc>
              </a:tr>
              <a:tr h="457200">
                <a:tc>
                  <a:txBody>
                    <a:bodyPr wrap="square"/>
                    <a:lstStyle/>
                    <a:p>
                      <a:pPr algn="l">
                        <a:lnSpc>
                          <a:spcPct val="100000"/>
                        </a:lnSpc>
                        <a:spcAft>
                          <a:spcPts val="0"/>
                        </a:spcAft>
                      </a:pPr>
                      <a:r>
                        <a:rPr sz="850" i="0" b="1">
                          <a:solidFill>
                            <a:srgbClr val="1C4587"/>
                          </a:solidFill>
                          <a:latin typeface="Inter"/>
                        </a:rPr>
                        <a:t>Liskov Substitution</a:t>
                      </a:r>
                    </a:p>
                  </a:txBody>
                  <a:tcPr marL="73152" marR="73152" marT="36576" marB="36576" anchor="ctr">
                    <a:solidFill>
                      <a:srgbClr val="FFFFFF"/>
                    </a:solidFill>
                  </a:tcPr>
                </a:tc>
                <a:tc>
                  <a:txBody>
                    <a:bodyPr wrap="square"/>
                    <a:lstStyle/>
                    <a:p>
                      <a:pPr algn="l">
                        <a:lnSpc>
                          <a:spcPct val="100000"/>
                        </a:lnSpc>
                        <a:spcAft>
                          <a:spcPts val="0"/>
                        </a:spcAft>
                      </a:pPr>
                      <a:r>
                        <a:rPr sz="850" i="0" b="0">
                          <a:solidFill>
                            <a:srgbClr val="434343"/>
                          </a:solidFill>
                          <a:latin typeface="Inter"/>
                        </a:rPr>
                        <a:t>Semua strategy ikut kontrak yang sama</a:t>
                      </a:r>
                    </a:p>
                  </a:txBody>
                  <a:tcPr marL="73152" marR="73152" marT="36576" marB="36576" anchor="ctr">
                    <a:solidFill>
                      <a:srgbClr val="FFFFFF"/>
                    </a:solidFill>
                  </a:tcPr>
                </a:tc>
              </a:tr>
              <a:tr h="457200">
                <a:tc>
                  <a:txBody>
                    <a:bodyPr wrap="square"/>
                    <a:lstStyle/>
                    <a:p>
                      <a:pPr algn="l">
                        <a:lnSpc>
                          <a:spcPct val="100000"/>
                        </a:lnSpc>
                        <a:spcAft>
                          <a:spcPts val="0"/>
                        </a:spcAft>
                      </a:pPr>
                      <a:r>
                        <a:rPr sz="850" i="0" b="1">
                          <a:solidFill>
                            <a:srgbClr val="1C4587"/>
                          </a:solidFill>
                          <a:latin typeface="Inter"/>
                        </a:rPr>
                        <a:t>Interface Segregation</a:t>
                      </a:r>
                    </a:p>
                  </a:txBody>
                  <a:tcPr marL="73152" marR="73152" marT="36576" marB="36576" anchor="ctr">
                    <a:solidFill>
                      <a:srgbClr val="F3F4F6"/>
                    </a:solidFill>
                  </a:tcPr>
                </a:tc>
                <a:tc>
                  <a:txBody>
                    <a:bodyPr wrap="square"/>
                    <a:lstStyle/>
                    <a:p>
                      <a:pPr algn="l">
                        <a:lnSpc>
                          <a:spcPct val="100000"/>
                        </a:lnSpc>
                        <a:spcAft>
                          <a:spcPts val="0"/>
                        </a:spcAft>
                      </a:pPr>
                      <a:r>
                        <a:rPr sz="850" i="0" b="0">
                          <a:solidFill>
                            <a:srgbClr val="434343"/>
                          </a:solidFill>
                          <a:latin typeface="Inter"/>
                        </a:rPr>
                        <a:t>Protocol kecil: Notifier, OrderRepository</a:t>
                      </a:r>
                    </a:p>
                  </a:txBody>
                  <a:tcPr marL="73152" marR="73152" marT="36576" marB="36576" anchor="ctr">
                    <a:solidFill>
                      <a:srgbClr val="F3F4F6"/>
                    </a:solidFill>
                  </a:tcPr>
                </a:tc>
              </a:tr>
              <a:tr h="457200">
                <a:tc>
                  <a:txBody>
                    <a:bodyPr wrap="square"/>
                    <a:lstStyle/>
                    <a:p>
                      <a:pPr algn="l">
                        <a:lnSpc>
                          <a:spcPct val="100000"/>
                        </a:lnSpc>
                        <a:spcAft>
                          <a:spcPts val="0"/>
                        </a:spcAft>
                      </a:pPr>
                      <a:r>
                        <a:rPr sz="850" i="0" b="1">
                          <a:solidFill>
                            <a:srgbClr val="1C4587"/>
                          </a:solidFill>
                          <a:latin typeface="Inter"/>
                        </a:rPr>
                        <a:t>Dependency Inversion</a:t>
                      </a:r>
                    </a:p>
                  </a:txBody>
                  <a:tcPr marL="73152" marR="73152" marT="36576" marB="36576" anchor="ctr">
                    <a:solidFill>
                      <a:srgbClr val="FFFFFF"/>
                    </a:solidFill>
                  </a:tcPr>
                </a:tc>
                <a:tc>
                  <a:txBody>
                    <a:bodyPr wrap="square"/>
                    <a:lstStyle/>
                    <a:p>
                      <a:pPr algn="l">
                        <a:lnSpc>
                          <a:spcPct val="100000"/>
                        </a:lnSpc>
                        <a:spcAft>
                          <a:spcPts val="0"/>
                        </a:spcAft>
                      </a:pPr>
                      <a:r>
                        <a:rPr sz="850" i="0" b="0">
                          <a:solidFill>
                            <a:srgbClr val="434343"/>
                          </a:solidFill>
                          <a:latin typeface="Inter"/>
                        </a:rPr>
                        <a:t>Repository dikirim dari luar</a:t>
                      </a:r>
                    </a:p>
                  </a:txBody>
                  <a:tcPr marL="73152" marR="73152" marT="36576" marB="36576"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 · Single Responsibility</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Single Responsibility?</a:t>
            </a:r>
          </a:p>
        </p:txBody>
      </p:sp>
      <p:sp>
        <p:nvSpPr>
          <p:cNvPr id="22" name="Text 3"/>
          <p:cNvSpPr txBox="1"/>
          <p:nvPr/>
        </p:nvSpPr>
        <p:spPr>
          <a:xfrm>
            <a:off x="621792" y="1481328"/>
            <a:ext cx="4114800" cy="329184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Artinya</a:t>
            </a:r>
          </a:p>
          <a:p>
            <a:pPr algn="l">
              <a:lnSpc>
                <a:spcPct val="115000"/>
              </a:lnSpc>
              <a:spcAft>
                <a:spcPts val="400"/>
              </a:spcAft>
            </a:pPr>
            <a:r>
              <a:rPr sz="950" i="0" b="0">
                <a:solidFill>
                  <a:srgbClr val="434343"/>
                </a:solidFill>
                <a:latin typeface="Inter"/>
              </a:rPr>
              <a:t>Satu class hanya punya </a:t>
            </a:r>
            <a:r>
              <a:rPr sz="950" i="0" b="1">
                <a:solidFill>
                  <a:srgbClr val="434343"/>
                </a:solidFill>
                <a:latin typeface="Inter"/>
              </a:rPr>
              <a:t>satu tugas</a:t>
            </a:r>
            <a:r>
              <a:rPr sz="950" i="0" b="0">
                <a:solidFill>
                  <a:srgbClr val="434343"/>
                </a:solidFill>
                <a:latin typeface="Inter"/>
              </a:rPr>
              <a:t>, sehingga hanya ada </a:t>
            </a:r>
            <a:r>
              <a:rPr sz="950" i="0" b="1">
                <a:solidFill>
                  <a:srgbClr val="434343"/>
                </a:solidFill>
                <a:latin typeface="Inter"/>
              </a:rPr>
              <a:t>satu alasan</a:t>
            </a:r>
            <a:r>
              <a:rPr sz="950" i="0" b="0">
                <a:solidFill>
                  <a:srgbClr val="434343"/>
                </a:solidFill>
                <a:latin typeface="Inter"/>
              </a:rPr>
              <a:t> class itu diubah.</a:t>
            </a:r>
          </a:p>
          <a:p>
            <a:pPr algn="l">
              <a:lnSpc>
                <a:spcPct val="115000"/>
              </a:lnSpc>
              <a:spcAft>
                <a:spcPts val="400"/>
              </a:spcAft>
            </a:pPr>
            <a:r>
              <a:rPr sz="1050" i="0" b="1">
                <a:solidFill>
                  <a:srgbClr val="1C4587"/>
                </a:solidFill>
                <a:latin typeface="Inter"/>
              </a:rPr>
              <a:t>Analogi</a:t>
            </a:r>
          </a:p>
          <a:p>
            <a:pPr algn="l">
              <a:lnSpc>
                <a:spcPct val="115000"/>
              </a:lnSpc>
              <a:spcAft>
                <a:spcPts val="400"/>
              </a:spcAft>
            </a:pPr>
            <a:r>
              <a:rPr sz="950" i="0" b="0">
                <a:solidFill>
                  <a:srgbClr val="434343"/>
                </a:solidFill>
                <a:latin typeface="Inter"/>
              </a:rPr>
              <a:t>Di restoran ada kasir, koki, dan kurir. Kalau satu orang mengerjakan ketiganya, ganti resep saja bisa mengganggu pembayaran dan pengantaran.</a:t>
            </a:r>
          </a:p>
          <a:p>
            <a:pPr algn="l">
              <a:lnSpc>
                <a:spcPct val="115000"/>
              </a:lnSpc>
              <a:spcAft>
                <a:spcPts val="400"/>
              </a:spcAft>
            </a:pPr>
            <a:r>
              <a:rPr sz="1050" i="0" b="1">
                <a:solidFill>
                  <a:srgbClr val="1C4587"/>
                </a:solidFill>
                <a:latin typeface="Inter"/>
              </a:rPr>
              <a:t>Cara mengecek</a:t>
            </a:r>
          </a:p>
          <a:p>
            <a:pPr algn="l">
              <a:lnSpc>
                <a:spcPct val="115000"/>
              </a:lnSpc>
              <a:spcAft>
                <a:spcPts val="400"/>
              </a:spcAft>
            </a:pPr>
            <a:r>
              <a:rPr sz="950" i="0" b="0">
                <a:solidFill>
                  <a:srgbClr val="434343"/>
                </a:solidFill>
                <a:latin typeface="Inter"/>
              </a:rPr>
              <a:t>Tanyakan: "Kalau X berubah, class mana yang diedit?" Kalau jawabannya selalu class yang sama untuk hal yang berbeda-beda, SRP dilanggar.</a:t>
            </a:r>
          </a:p>
        </p:txBody>
      </p:sp>
      <p:sp>
        <p:nvSpPr>
          <p:cNvPr id="23" name="Box 4"/>
          <p:cNvSpPr/>
          <p:nvPr/>
        </p:nvSpPr>
        <p:spPr>
          <a:xfrm>
            <a:off x="4892040" y="1481328"/>
            <a:ext cx="3593592" cy="960120"/>
          </a:xfrm>
          <a:prstGeom prst="roundRect">
            <a:avLst>
              <a:gd name="adj" fmla="val 11428"/>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200"/>
              </a:spcAft>
            </a:pPr>
            <a:r>
              <a:rPr sz="950" i="0" b="0">
                <a:solidFill>
                  <a:srgbClr val="434343"/>
                </a:solidFill>
                <a:latin typeface="Inter"/>
              </a:rPr>
              <a:t>"A class should have only one reason to change."</a:t>
            </a:r>
          </a:p>
          <a:p>
            <a:pPr algn="l">
              <a:lnSpc>
                <a:spcPct val="105000"/>
              </a:lnSpc>
              <a:spcAft>
                <a:spcPts val="200"/>
              </a:spcAft>
            </a:pPr>
            <a:r>
              <a:rPr sz="950" i="0" b="0">
                <a:solidFill>
                  <a:srgbClr val="434343"/>
                </a:solidFill>
                <a:latin typeface="Inter"/>
              </a:rPr>
              <a:t>Robert C. Martin</a:t>
            </a:r>
          </a:p>
        </p:txBody>
      </p:sp>
      <p:sp>
        <p:nvSpPr>
          <p:cNvPr id="24" name="Box 5"/>
          <p:cNvSpPr/>
          <p:nvPr/>
        </p:nvSpPr>
        <p:spPr>
          <a:xfrm>
            <a:off x="4892040" y="2560320"/>
            <a:ext cx="3593592" cy="1600200"/>
          </a:xfrm>
          <a:prstGeom prst="roundRect">
            <a:avLst>
              <a:gd name="adj" fmla="val 6857"/>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5" name="Text 6"/>
          <p:cNvSpPr txBox="1"/>
          <p:nvPr/>
        </p:nvSpPr>
        <p:spPr>
          <a:xfrm>
            <a:off x="5029200" y="2651760"/>
            <a:ext cx="3319272" cy="310896"/>
          </a:xfrm>
          <a:prstGeom prst="rect">
            <a:avLst/>
          </a:prstGeom>
          <a:noFill/>
        </p:spPr>
        <p:txBody>
          <a:bodyPr wrap="square" anchor="t" lIns="45720" rIns="45720">
            <a:spAutoFit/>
          </a:bodyPr>
          <a:lstStyle/>
          <a:p>
            <a:pPr algn="l">
              <a:lnSpc>
                <a:spcPct val="115000"/>
              </a:lnSpc>
              <a:spcAft>
                <a:spcPts val="400"/>
              </a:spcAft>
            </a:pPr>
            <a:r>
              <a:rPr sz="1050" i="0" b="1">
                <a:solidFill>
                  <a:srgbClr val="C0392B"/>
                </a:solidFill>
                <a:latin typeface="Inter"/>
              </a:rPr>
              <a:t>Code smell yang dicari</a:t>
            </a:r>
          </a:p>
        </p:txBody>
      </p:sp>
      <p:sp>
        <p:nvSpPr>
          <p:cNvPr id="26" name="Text 7"/>
          <p:cNvSpPr txBox="1"/>
          <p:nvPr/>
        </p:nvSpPr>
        <p:spPr>
          <a:xfrm>
            <a:off x="5029200" y="2971800"/>
            <a:ext cx="3319272" cy="109728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Nama class umum: </a:t>
            </a:r>
            <a:r>
              <a:rPr sz="900" i="0" b="0">
                <a:solidFill>
                  <a:srgbClr val="B5482A"/>
                </a:solidFill>
                <a:latin typeface="Consolas"/>
              </a:rPr>
              <a:t>Manager</a:t>
            </a:r>
            <a:r>
              <a:rPr sz="900" i="0" b="0">
                <a:solidFill>
                  <a:srgbClr val="434343"/>
                </a:solidFill>
                <a:latin typeface="Inter"/>
              </a:rPr>
              <a:t>, </a:t>
            </a:r>
            <a:r>
              <a:rPr sz="900" i="0" b="0">
                <a:solidFill>
                  <a:srgbClr val="B5482A"/>
                </a:solidFill>
                <a:latin typeface="Consolas"/>
              </a:rPr>
              <a:t>Helper</a:t>
            </a:r>
            <a:r>
              <a:rPr sz="900" i="0" b="0">
                <a:solidFill>
                  <a:srgbClr val="434343"/>
                </a:solidFill>
                <a:latin typeface="Inter"/>
              </a:rPr>
              <a:t>, </a:t>
            </a:r>
            <a:r>
              <a:rPr sz="900" i="0" b="0">
                <a:solidFill>
                  <a:srgbClr val="B5482A"/>
                </a:solidFill>
                <a:latin typeface="Consolas"/>
              </a:rPr>
              <a:t>Util</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Method panjang dengan komentar "# 1. ... # 2. ..."</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Satu perubahan kecil menyentuh banyak bagian</a:t>
            </a:r>
          </a:p>
        </p:txBody>
      </p:sp>
      <p:sp>
        <p:nvSpPr>
          <p:cNvPr id="27" name="Text 8"/>
          <p:cNvSpPr txBox="1"/>
          <p:nvPr/>
        </p:nvSpPr>
        <p:spPr>
          <a:xfrm>
            <a:off x="4892040" y="4251960"/>
            <a:ext cx="3593592" cy="457200"/>
          </a:xfrm>
          <a:prstGeom prst="rect">
            <a:avLst/>
          </a:prstGeom>
          <a:noFill/>
        </p:spPr>
        <p:txBody>
          <a:bodyPr wrap="square" anchor="t" lIns="45720" rIns="45720">
            <a:spAutoFit/>
          </a:bodyPr>
          <a:lstStyle/>
          <a:p>
            <a:pPr algn="l">
              <a:lnSpc>
                <a:spcPct val="115000"/>
              </a:lnSpc>
              <a:spcAft>
                <a:spcPts val="400"/>
              </a:spcAft>
            </a:pPr>
            <a:r>
              <a:rPr sz="900" i="0" b="0">
                <a:solidFill>
                  <a:srgbClr val="7A7A7A"/>
                </a:solidFill>
                <a:latin typeface="Inter"/>
              </a:rPr>
              <a:t>Di Sesi 1 diterapkan lewat Service Layer dan Repository.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 · Single Responsibility</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Satu Class Mengerjakan Semuanya</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01-srp/before.py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 9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OrderManager</a:t>
            </a:r>
            <a:r>
              <a:rPr sz="850" i="0">
                <a:solidFill>
                  <a:srgbClr val="E6EDF3"/>
                </a:solidFill>
                <a:latin typeface="Consolas"/>
              </a:rPr>
              <a:t>:</a:t>
            </a:r>
          </a:p>
          <a:p>
            <a:pPr>
              <a:lnSpc>
                <a:spcPts val="1100"/>
              </a:lnSpc>
              <a:spcAft>
                <a:spcPts val="0"/>
              </a:spcAft>
            </a:pPr>
            <a:r>
              <a:rPr sz="850" i="0">
                <a:solidFill>
                  <a:srgbClr val="5C6773"/>
                </a:solidFill>
                <a:latin typeface="Consolas"/>
              </a:rPr>
              <a:t>10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11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orders</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12  </a:t>
            </a:r>
            <a:r>
              <a:rPr sz="850" i="0">
                <a:solidFill>
                  <a:srgbClr val="E6EDF3"/>
                </a:solidFill>
                <a:latin typeface="Consolas"/>
              </a:rPr>
              <a:t> </a:t>
            </a:r>
          </a:p>
          <a:p>
            <a:pPr>
              <a:lnSpc>
                <a:spcPts val="1100"/>
              </a:lnSpc>
              <a:spcAft>
                <a:spcPts val="0"/>
              </a:spcAft>
            </a:pPr>
            <a:r>
              <a:rPr sz="850" i="0">
                <a:solidFill>
                  <a:srgbClr val="5C6773"/>
                </a:solidFill>
                <a:latin typeface="Consolas"/>
              </a:rPr>
              <a:t>13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place_order</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items</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list</a:t>
            </a:r>
            <a:r>
              <a:rPr sz="850" i="0">
                <a:solidFill>
                  <a:srgbClr val="E6EDF3"/>
                </a:solidFill>
                <a:latin typeface="Consolas"/>
              </a:rPr>
              <a:t>[</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p>
          <a:p>
            <a:pPr>
              <a:lnSpc>
                <a:spcPts val="1100"/>
              </a:lnSpc>
              <a:spcAft>
                <a:spcPts val="0"/>
              </a:spcAft>
            </a:pPr>
            <a:r>
              <a:rPr sz="850" i="0">
                <a:solidFill>
                  <a:srgbClr val="5C6773"/>
                </a:solidFill>
                <a:latin typeface="Consolas"/>
              </a:rPr>
              <a:t>14  </a:t>
            </a:r>
            <a:r>
              <a:rPr sz="850" i="0">
                <a:solidFill>
                  <a:srgbClr val="E6EDF3"/>
                </a:solidFill>
                <a:latin typeface="Consolas"/>
              </a:rPr>
              <a:t>        </a:t>
            </a:r>
            <a:r>
              <a:rPr sz="850" i="1">
                <a:solidFill>
                  <a:srgbClr val="8B98A8"/>
                </a:solidFill>
                <a:latin typeface="Consolas"/>
              </a:rPr>
              <a:t># 1. hitung total</a:t>
            </a:r>
          </a:p>
          <a:p>
            <a:pPr>
              <a:lnSpc>
                <a:spcPts val="1100"/>
              </a:lnSpc>
              <a:spcAft>
                <a:spcPts val="0"/>
              </a:spcAft>
            </a:pPr>
            <a:r>
              <a:rPr sz="850" i="0">
                <a:solidFill>
                  <a:srgbClr val="5C6773"/>
                </a:solidFill>
                <a:latin typeface="Consolas"/>
              </a:rPr>
              <a:t>15  </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sum</a:t>
            </a:r>
            <a:r>
              <a:rPr sz="850" i="0">
                <a:solidFill>
                  <a:srgbClr val="E6EDF3"/>
                </a:solidFill>
                <a:latin typeface="Consolas"/>
              </a:rPr>
              <a:t>(</a:t>
            </a:r>
            <a:r>
              <a:rPr sz="850" i="0">
                <a:solidFill>
                  <a:srgbClr val="E6EDF3"/>
                </a:solidFill>
                <a:latin typeface="Consolas"/>
              </a:rPr>
              <a:t>i</a:t>
            </a:r>
            <a:r>
              <a:rPr sz="850" i="0">
                <a:solidFill>
                  <a:srgbClr val="E6EDF3"/>
                </a:solidFill>
                <a:latin typeface="Consolas"/>
              </a:rPr>
              <a:t>[</a:t>
            </a:r>
            <a:r>
              <a:rPr sz="850" i="0">
                <a:solidFill>
                  <a:srgbClr val="A5D6A7"/>
                </a:solidFill>
                <a:latin typeface="Consolas"/>
              </a:rPr>
              <a:t>"price"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i</a:t>
            </a:r>
            <a:r>
              <a:rPr sz="850" i="0">
                <a:solidFill>
                  <a:srgbClr val="E6EDF3"/>
                </a:solidFill>
                <a:latin typeface="Consolas"/>
              </a:rPr>
              <a:t>[</a:t>
            </a:r>
            <a:r>
              <a:rPr sz="850" i="0">
                <a:solidFill>
                  <a:srgbClr val="A5D6A7"/>
                </a:solidFill>
                <a:latin typeface="Consolas"/>
              </a:rPr>
              <a:t>"qty"</a:t>
            </a:r>
            <a:r>
              <a:rPr sz="850" i="0">
                <a:solidFill>
                  <a:srgbClr val="E6EDF3"/>
                </a:solidFill>
                <a:latin typeface="Consolas"/>
              </a:rPr>
              <a:t>]</a:t>
            </a:r>
            <a:r>
              <a:rPr sz="850" i="0">
                <a:solidFill>
                  <a:srgbClr val="E6EDF3"/>
                </a:solidFill>
                <a:latin typeface="Consolas"/>
              </a:rPr>
              <a:t> </a:t>
            </a:r>
            <a:r>
              <a:rPr sz="850" i="0">
                <a:solidFill>
                  <a:srgbClr val="FF8E6E"/>
                </a:solidFill>
                <a:latin typeface="Consolas"/>
              </a:rPr>
              <a:t>for</a:t>
            </a:r>
            <a:r>
              <a:rPr sz="850" i="0">
                <a:solidFill>
                  <a:srgbClr val="E6EDF3"/>
                </a:solidFill>
                <a:latin typeface="Consolas"/>
              </a:rPr>
              <a:t> </a:t>
            </a:r>
            <a:r>
              <a:rPr sz="850" i="0">
                <a:solidFill>
                  <a:srgbClr val="E6EDF3"/>
                </a:solidFill>
                <a:latin typeface="Consolas"/>
              </a:rPr>
              <a:t>i</a:t>
            </a:r>
            <a:r>
              <a:rPr sz="850" i="0">
                <a:solidFill>
                  <a:srgbClr val="E6EDF3"/>
                </a:solidFill>
                <a:latin typeface="Consolas"/>
              </a:rPr>
              <a:t> </a:t>
            </a:r>
            <a:r>
              <a:rPr sz="850" i="0">
                <a:solidFill>
                  <a:srgbClr val="FF8E6E"/>
                </a:solidFill>
                <a:latin typeface="Consolas"/>
              </a:rPr>
              <a:t>in</a:t>
            </a:r>
            <a:r>
              <a:rPr sz="850" i="0">
                <a:solidFill>
                  <a:srgbClr val="E6EDF3"/>
                </a:solidFill>
                <a:latin typeface="Consolas"/>
              </a:rPr>
              <a:t> </a:t>
            </a:r>
            <a:r>
              <a:rPr sz="850" i="0">
                <a:solidFill>
                  <a:srgbClr val="E6EDF3"/>
                </a:solidFill>
                <a:latin typeface="Consolas"/>
              </a:rPr>
              <a:t>items</a:t>
            </a:r>
            <a:r>
              <a:rPr sz="850" i="0">
                <a:solidFill>
                  <a:srgbClr val="E6EDF3"/>
                </a:solidFill>
                <a:latin typeface="Consolas"/>
              </a:rPr>
              <a:t>)</a:t>
            </a:r>
          </a:p>
          <a:p>
            <a:pPr>
              <a:lnSpc>
                <a:spcPts val="1100"/>
              </a:lnSpc>
              <a:spcAft>
                <a:spcPts val="0"/>
              </a:spcAft>
            </a:pPr>
            <a:r>
              <a:rPr sz="850" i="0">
                <a:solidFill>
                  <a:srgbClr val="5C6773"/>
                </a:solidFill>
                <a:latin typeface="Consolas"/>
              </a:rPr>
              <a:t>16  </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5</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100</a:t>
            </a:r>
          </a:p>
          <a:p>
            <a:pPr>
              <a:lnSpc>
                <a:spcPts val="1100"/>
              </a:lnSpc>
              <a:spcAft>
                <a:spcPts val="0"/>
              </a:spcAft>
            </a:pPr>
            <a:r>
              <a:rPr sz="850" i="0">
                <a:solidFill>
                  <a:srgbClr val="5C6773"/>
                </a:solidFill>
                <a:latin typeface="Consolas"/>
              </a:rPr>
              <a:t>17  </a:t>
            </a:r>
            <a:r>
              <a:rPr sz="850" i="0">
                <a:solidFill>
                  <a:srgbClr val="E6EDF3"/>
                </a:solidFill>
                <a:latin typeface="Consolas"/>
              </a:rPr>
              <a:t> </a:t>
            </a:r>
          </a:p>
          <a:p>
            <a:pPr>
              <a:lnSpc>
                <a:spcPts val="1100"/>
              </a:lnSpc>
              <a:spcAft>
                <a:spcPts val="0"/>
              </a:spcAft>
            </a:pPr>
            <a:r>
              <a:rPr sz="850" i="0">
                <a:solidFill>
                  <a:srgbClr val="5C6773"/>
                </a:solidFill>
                <a:latin typeface="Consolas"/>
              </a:rPr>
              <a:t>18  </a:t>
            </a:r>
            <a:r>
              <a:rPr sz="850" i="0">
                <a:solidFill>
                  <a:srgbClr val="E6EDF3"/>
                </a:solidFill>
                <a:latin typeface="Consolas"/>
              </a:rPr>
              <a:t>        </a:t>
            </a:r>
            <a:r>
              <a:rPr sz="850" i="1">
                <a:solidFill>
                  <a:srgbClr val="8B98A8"/>
                </a:solidFill>
                <a:latin typeface="Consolas"/>
              </a:rPr>
              <a:t># 2. simpan</a:t>
            </a:r>
          </a:p>
          <a:p>
            <a:pPr>
              <a:lnSpc>
                <a:spcPts val="1100"/>
              </a:lnSpc>
              <a:spcAft>
                <a:spcPts val="0"/>
              </a:spcAft>
            </a:pPr>
            <a:r>
              <a:rPr sz="850" i="0">
                <a:solidFill>
                  <a:srgbClr val="5C6773"/>
                </a:solidFill>
                <a:latin typeface="Consolas"/>
              </a:rPr>
              <a:t>19  </a:t>
            </a:r>
            <a:r>
              <a:rPr sz="850" i="0">
                <a:solidFill>
                  <a:srgbClr val="E6EDF3"/>
                </a:solidFill>
                <a:latin typeface="Consolas"/>
              </a:rPr>
              <a:t>        </a:t>
            </a:r>
            <a:r>
              <a:rPr sz="850" i="0">
                <a:solidFill>
                  <a:srgbClr val="E6EDF3"/>
                </a:solidFill>
                <a:latin typeface="Consolas"/>
              </a:rPr>
              <a:t>order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A5D6A7"/>
                </a:solidFill>
                <a:latin typeface="Consolas"/>
              </a:rPr>
              <a:t>"id"</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len</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orders</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p>
          <a:p>
            <a:pPr>
              <a:lnSpc>
                <a:spcPts val="1100"/>
              </a:lnSpc>
              <a:spcAft>
                <a:spcPts val="0"/>
              </a:spcAft>
            </a:pPr>
            <a:r>
              <a:rPr sz="850" i="0">
                <a:solidFill>
                  <a:srgbClr val="5C6773"/>
                </a:solidFill>
                <a:latin typeface="Consolas"/>
              </a:rPr>
              <a:t>20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orders</a:t>
            </a:r>
            <a:r>
              <a:rPr sz="850" i="0">
                <a:solidFill>
                  <a:srgbClr val="E6EDF3"/>
                </a:solidFill>
                <a:latin typeface="Consolas"/>
              </a:rPr>
              <a:t>[</a:t>
            </a:r>
            <a:r>
              <a:rPr sz="850" i="0">
                <a:solidFill>
                  <a:srgbClr val="E6EDF3"/>
                </a:solidFill>
                <a:latin typeface="Consolas"/>
              </a:rPr>
              <a:t>order</a:t>
            </a:r>
            <a:r>
              <a:rPr sz="850" i="0">
                <a:solidFill>
                  <a:srgbClr val="E6EDF3"/>
                </a:solidFill>
                <a:latin typeface="Consolas"/>
              </a:rPr>
              <a:t>[</a:t>
            </a:r>
            <a:r>
              <a:rPr sz="850" i="0">
                <a:solidFill>
                  <a:srgbClr val="A5D6A7"/>
                </a:solidFill>
                <a:latin typeface="Consolas"/>
              </a:rPr>
              <a:t>"id"</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a:t>
            </a:r>
          </a:p>
          <a:p>
            <a:pPr>
              <a:lnSpc>
                <a:spcPts val="1100"/>
              </a:lnSpc>
              <a:spcAft>
                <a:spcPts val="0"/>
              </a:spcAft>
            </a:pPr>
            <a:r>
              <a:rPr sz="850" i="0">
                <a:solidFill>
                  <a:srgbClr val="5C6773"/>
                </a:solidFill>
                <a:latin typeface="Consolas"/>
              </a:rPr>
              <a:t>21  </a:t>
            </a:r>
            <a:r>
              <a:rPr sz="850" i="0">
                <a:solidFill>
                  <a:srgbClr val="E6EDF3"/>
                </a:solidFill>
                <a:latin typeface="Consolas"/>
              </a:rPr>
              <a:t> </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1">
                <a:solidFill>
                  <a:srgbClr val="8B98A8"/>
                </a:solidFill>
                <a:latin typeface="Consolas"/>
              </a:rPr>
              <a:t># 3. kirim email</a:t>
            </a:r>
          </a:p>
          <a:p>
            <a:pPr>
              <a:lnSpc>
                <a:spcPts val="1100"/>
              </a:lnSpc>
              <a:spcAft>
                <a:spcPts val="0"/>
              </a:spcAft>
            </a:pPr>
            <a:r>
              <a:rPr sz="850" i="0">
                <a:solidFill>
                  <a:srgbClr val="5C6773"/>
                </a:solidFill>
                <a:latin typeface="Consolas"/>
              </a:rPr>
              <a:t>23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A5D6A7"/>
                </a:solidFill>
                <a:latin typeface="Consolas"/>
              </a:rPr>
              <a:t>f"[EMAIL] ke {customer}: Order #{order['id']} total Rp{total:,}"</a:t>
            </a:r>
            <a:r>
              <a:rPr sz="850" i="0">
                <a:solidFill>
                  <a:srgbClr val="E6EDF3"/>
                </a:solidFill>
                <a:latin typeface="Consolas"/>
              </a:rPr>
              <a:t>)</a:t>
            </a:r>
          </a:p>
          <a:p>
            <a:pPr>
              <a:lnSpc>
                <a:spcPts val="1100"/>
              </a:lnSpc>
              <a:spcAft>
                <a:spcPts val="0"/>
              </a:spcAft>
            </a:pPr>
            <a:r>
              <a:rPr sz="850" i="0">
                <a:solidFill>
                  <a:srgbClr val="5C6773"/>
                </a:solidFill>
                <a:latin typeface="Consolas"/>
              </a:rPr>
              <a:t>24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order</a:t>
            </a:r>
          </a:p>
          <a:p>
            <a:pPr>
              <a:lnSpc>
                <a:spcPts val="1100"/>
              </a:lnSpc>
              <a:spcAft>
                <a:spcPts val="0"/>
              </a:spcAft>
            </a:pPr>
            <a:r>
              <a:rPr sz="850" i="0">
                <a:solidFill>
                  <a:srgbClr val="5C6773"/>
                </a:solidFill>
                <a:latin typeface="Consolas"/>
              </a:rPr>
              <a:t>25  </a:t>
            </a:r>
            <a:r>
              <a:rPr sz="850" i="0">
                <a:solidFill>
                  <a:srgbClr val="E6EDF3"/>
                </a:solidFill>
                <a:latin typeface="Consolas"/>
              </a:rPr>
              <a:t> </a:t>
            </a:r>
          </a:p>
          <a:p>
            <a:pPr>
              <a:lnSpc>
                <a:spcPts val="1100"/>
              </a:lnSpc>
              <a:spcAft>
                <a:spcPts val="0"/>
              </a:spcAft>
            </a:pPr>
            <a:r>
              <a:rPr sz="850" i="0">
                <a:solidFill>
                  <a:srgbClr val="5C6773"/>
                </a:solidFill>
                <a:latin typeface="Consolas"/>
              </a:rPr>
              <a:t>26  </a:t>
            </a:r>
            <a:r>
              <a:rPr sz="850" i="0">
                <a:solidFill>
                  <a:srgbClr val="E6EDF3"/>
                </a:solidFill>
                <a:latin typeface="Consolas"/>
              </a:rPr>
              <a:t> </a:t>
            </a:r>
          </a:p>
          <a:p>
            <a:pPr>
              <a:lnSpc>
                <a:spcPts val="1100"/>
              </a:lnSpc>
              <a:spcAft>
                <a:spcPts val="0"/>
              </a:spcAft>
            </a:pPr>
            <a:r>
              <a:rPr sz="850" i="0">
                <a:solidFill>
                  <a:srgbClr val="5C6773"/>
                </a:solidFill>
                <a:latin typeface="Consolas"/>
              </a:rPr>
              <a:t>27  </a:t>
            </a:r>
            <a:r>
              <a:rPr sz="850" i="0">
                <a:solidFill>
                  <a:srgbClr val="FF8E6E"/>
                </a:solidFill>
                <a:latin typeface="Consolas"/>
              </a:rPr>
              <a:t>if</a:t>
            </a:r>
            <a:r>
              <a:rPr sz="850" i="0">
                <a:solidFill>
                  <a:srgbClr val="E6EDF3"/>
                </a:solidFill>
                <a:latin typeface="Consolas"/>
              </a:rPr>
              <a:t> </a:t>
            </a:r>
            <a:r>
              <a:rPr sz="850" i="0">
                <a:solidFill>
                  <a:srgbClr val="E6EDF3"/>
                </a:solidFill>
                <a:latin typeface="Consolas"/>
              </a:rPr>
              <a:t>__name__</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"__main__"</a:t>
            </a:r>
            <a:r>
              <a:rPr sz="850" i="0">
                <a:solidFill>
                  <a:srgbClr val="E6EDF3"/>
                </a:solidFill>
                <a:latin typeface="Consolas"/>
              </a:rPr>
              <a:t>:</a:t>
            </a:r>
          </a:p>
          <a:p>
            <a:pPr>
              <a:lnSpc>
                <a:spcPts val="1100"/>
              </a:lnSpc>
              <a:spcAft>
                <a:spcPts val="0"/>
              </a:spcAft>
            </a:pPr>
            <a:r>
              <a:rPr sz="850" i="0">
                <a:solidFill>
                  <a:srgbClr val="5C6773"/>
                </a:solidFill>
                <a:latin typeface="Consolas"/>
              </a:rPr>
              <a:t>28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7FDBCA"/>
                </a:solidFill>
                <a:latin typeface="Consolas"/>
              </a:rPr>
              <a:t>OrderManager</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place_order</a:t>
            </a:r>
            <a:r>
              <a:rPr sz="850" i="0">
                <a:solidFill>
                  <a:srgbClr val="E6EDF3"/>
                </a:solidFill>
                <a:latin typeface="Consolas"/>
              </a:rPr>
              <a:t>(</a:t>
            </a:r>
            <a:r>
              <a:rPr sz="850" i="0">
                <a:solidFill>
                  <a:srgbClr val="A5D6A7"/>
                </a:solidFill>
                <a:latin typeface="Consolas"/>
              </a:rPr>
              <a:t>"budi@mail.com"</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A5D6A7"/>
                </a:solidFill>
                <a:latin typeface="Consolas"/>
              </a:rPr>
              <a:t>"price"</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100_000</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"qty"</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2</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p:txBody>
      </p:sp>
      <p:sp>
        <p:nvSpPr>
          <p:cNvPr id="29" name="Box 12"/>
          <p:cNvSpPr/>
          <p:nvPr/>
        </p:nvSpPr>
        <p:spPr>
          <a:xfrm>
            <a:off x="704088" y="2527173"/>
            <a:ext cx="7699248" cy="410718"/>
          </a:xfrm>
          <a:prstGeom prst="roundRect">
            <a:avLst>
              <a:gd name="adj" fmla="val 11131"/>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6136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3085973"/>
            <a:ext cx="7699248" cy="410718"/>
          </a:xfrm>
          <a:prstGeom prst="roundRect">
            <a:avLst>
              <a:gd name="adj" fmla="val 11131"/>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1724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704088" y="3644773"/>
            <a:ext cx="7699248"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Box 17"/>
          <p:cNvSpPr/>
          <p:nvPr/>
        </p:nvSpPr>
        <p:spPr>
          <a:xfrm>
            <a:off x="8284463" y="366141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 · Single Responsibility</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01-srp/before.py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sesi-02-solid-clean-architecture/01-srp</a:t>
            </a:r>
          </a:p>
          <a:p>
            <a:pPr>
              <a:lnSpc>
                <a:spcPts val="1000"/>
              </a:lnSpc>
              <a:spcAft>
                <a:spcPts val="0"/>
              </a:spcAft>
            </a:pPr>
            <a:r>
              <a:rPr sz="775" i="0">
                <a:solidFill>
                  <a:srgbClr val="82B1FF"/>
                </a:solidFill>
                <a:latin typeface="Consolas"/>
              </a:rPr>
              <a:t>$ python before.py</a:t>
            </a:r>
          </a:p>
        </p:txBody>
      </p:sp>
      <p:pic>
        <p:nvPicPr>
          <p:cNvPr id="29" name="Image 12" descr="s02-01-srp-before.png"/>
          <p:cNvPicPr>
            <a:picLocks noChangeAspect="1"/>
          </p:cNvPicPr>
          <p:nvPr/>
        </p:nvPicPr>
        <p:blipFill>
          <a:blip r:embed="rId2"/>
          <a:stretch>
            <a:fillRect/>
          </a:stretch>
        </p:blipFill>
        <p:spPr>
          <a:xfrm>
            <a:off x="621792" y="2240280"/>
            <a:ext cx="4297680" cy="1088136"/>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a:lnSpc>
                <a:spcPct val="115000"/>
              </a:lnSpc>
              <a:spcAft>
                <a:spcPts val="400"/>
              </a:spcAft>
            </a:pPr>
            <a:r>
              <a:rPr sz="950" i="0" b="0">
                <a:solidFill>
                  <a:srgbClr val="434343"/>
                </a:solidFill>
                <a:latin typeface="Inter"/>
              </a:rPr>
              <a:t>Tiga alasan berubah di satu class:</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Rumus diskon berubah (baris 14-16)</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Cara menyimpan berubah, misalnya pindah ke database (baris 18-20)</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Format atau channel email berubah (baris 22-23)</a:t>
            </a:r>
          </a:p>
          <a:p>
            <a:pPr algn="l">
              <a:lnSpc>
                <a:spcPct val="115000"/>
              </a:lnSpc>
              <a:spcAft>
                <a:spcPts val="0"/>
              </a:spcAft>
            </a:pPr>
            <a:r>
              <a:rPr sz="570"/>
              <a:t/>
            </a:r>
          </a:p>
          <a:p>
            <a:pPr algn="l">
              <a:lnSpc>
                <a:spcPct val="115000"/>
              </a:lnSpc>
              <a:spcAft>
                <a:spcPts val="400"/>
              </a:spcAft>
            </a:pPr>
            <a:r>
              <a:rPr sz="950" i="0" b="0">
                <a:solidFill>
                  <a:srgbClr val="434343"/>
                </a:solidFill>
                <a:latin typeface="Inter"/>
              </a:rPr>
              <a:t>Setiap perubahan = edit </a:t>
            </a:r>
            <a:r>
              <a:rPr sz="950" i="0" b="0">
                <a:solidFill>
                  <a:srgbClr val="B5482A"/>
                </a:solidFill>
                <a:latin typeface="Consolas"/>
              </a:rPr>
              <a:t>OrderManager</a:t>
            </a:r>
            <a:r>
              <a:rPr sz="950" i="0" b="0">
                <a:solidFill>
                  <a:srgbClr val="434343"/>
                </a:solidFill>
                <a:latin typeface="Inter"/>
              </a:rPr>
              <a:t>, bagian lain ikut berisiko rusak.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 · Single Responsibility</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Satu Class, Satu Tugas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01-srp/after.py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11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PriceCalculator</a:t>
            </a:r>
            <a:r>
              <a:rPr sz="850" i="0">
                <a:solidFill>
                  <a:srgbClr val="E6EDF3"/>
                </a:solidFill>
                <a:latin typeface="Consolas"/>
              </a:rPr>
              <a:t>:</a:t>
            </a:r>
          </a:p>
          <a:p>
            <a:pPr>
              <a:lnSpc>
                <a:spcPts val="1100"/>
              </a:lnSpc>
              <a:spcAft>
                <a:spcPts val="0"/>
              </a:spcAft>
            </a:pPr>
            <a:r>
              <a:rPr sz="850" i="0">
                <a:solidFill>
                  <a:srgbClr val="5C6773"/>
                </a:solidFill>
                <a:latin typeface="Consolas"/>
              </a:rPr>
              <a:t>12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total</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items</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list</a:t>
            </a:r>
            <a:r>
              <a:rPr sz="850" i="0">
                <a:solidFill>
                  <a:srgbClr val="E6EDF3"/>
                </a:solidFill>
                <a:latin typeface="Consolas"/>
              </a:rPr>
              <a:t>[</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13  </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sum</a:t>
            </a:r>
            <a:r>
              <a:rPr sz="850" i="0">
                <a:solidFill>
                  <a:srgbClr val="E6EDF3"/>
                </a:solidFill>
                <a:latin typeface="Consolas"/>
              </a:rPr>
              <a:t>(</a:t>
            </a:r>
            <a:r>
              <a:rPr sz="850" i="0">
                <a:solidFill>
                  <a:srgbClr val="E6EDF3"/>
                </a:solidFill>
                <a:latin typeface="Consolas"/>
              </a:rPr>
              <a:t>i</a:t>
            </a:r>
            <a:r>
              <a:rPr sz="850" i="0">
                <a:solidFill>
                  <a:srgbClr val="E6EDF3"/>
                </a:solidFill>
                <a:latin typeface="Consolas"/>
              </a:rPr>
              <a:t>[</a:t>
            </a:r>
            <a:r>
              <a:rPr sz="850" i="0">
                <a:solidFill>
                  <a:srgbClr val="A5D6A7"/>
                </a:solidFill>
                <a:latin typeface="Consolas"/>
              </a:rPr>
              <a:t>"price"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i</a:t>
            </a:r>
            <a:r>
              <a:rPr sz="850" i="0">
                <a:solidFill>
                  <a:srgbClr val="E6EDF3"/>
                </a:solidFill>
                <a:latin typeface="Consolas"/>
              </a:rPr>
              <a:t>[</a:t>
            </a:r>
            <a:r>
              <a:rPr sz="850" i="0">
                <a:solidFill>
                  <a:srgbClr val="A5D6A7"/>
                </a:solidFill>
                <a:latin typeface="Consolas"/>
              </a:rPr>
              <a:t>"qty"</a:t>
            </a:r>
            <a:r>
              <a:rPr sz="850" i="0">
                <a:solidFill>
                  <a:srgbClr val="E6EDF3"/>
                </a:solidFill>
                <a:latin typeface="Consolas"/>
              </a:rPr>
              <a:t>]</a:t>
            </a:r>
            <a:r>
              <a:rPr sz="850" i="0">
                <a:solidFill>
                  <a:srgbClr val="E6EDF3"/>
                </a:solidFill>
                <a:latin typeface="Consolas"/>
              </a:rPr>
              <a:t> </a:t>
            </a:r>
            <a:r>
              <a:rPr sz="850" i="0">
                <a:solidFill>
                  <a:srgbClr val="FF8E6E"/>
                </a:solidFill>
                <a:latin typeface="Consolas"/>
              </a:rPr>
              <a:t>for</a:t>
            </a:r>
            <a:r>
              <a:rPr sz="850" i="0">
                <a:solidFill>
                  <a:srgbClr val="E6EDF3"/>
                </a:solidFill>
                <a:latin typeface="Consolas"/>
              </a:rPr>
              <a:t> </a:t>
            </a:r>
            <a:r>
              <a:rPr sz="850" i="0">
                <a:solidFill>
                  <a:srgbClr val="E6EDF3"/>
                </a:solidFill>
                <a:latin typeface="Consolas"/>
              </a:rPr>
              <a:t>i</a:t>
            </a:r>
            <a:r>
              <a:rPr sz="850" i="0">
                <a:solidFill>
                  <a:srgbClr val="E6EDF3"/>
                </a:solidFill>
                <a:latin typeface="Consolas"/>
              </a:rPr>
              <a:t> </a:t>
            </a:r>
            <a:r>
              <a:rPr sz="850" i="0">
                <a:solidFill>
                  <a:srgbClr val="FF8E6E"/>
                </a:solidFill>
                <a:latin typeface="Consolas"/>
              </a:rPr>
              <a:t>in</a:t>
            </a:r>
            <a:r>
              <a:rPr sz="850" i="0">
                <a:solidFill>
                  <a:srgbClr val="E6EDF3"/>
                </a:solidFill>
                <a:latin typeface="Consolas"/>
              </a:rPr>
              <a:t> </a:t>
            </a:r>
            <a:r>
              <a:rPr sz="850" i="0">
                <a:solidFill>
                  <a:srgbClr val="E6EDF3"/>
                </a:solidFill>
                <a:latin typeface="Consolas"/>
              </a:rPr>
              <a:t>items</a:t>
            </a:r>
            <a:r>
              <a:rPr sz="850" i="0">
                <a:solidFill>
                  <a:srgbClr val="E6EDF3"/>
                </a:solidFill>
                <a:latin typeface="Consolas"/>
              </a:rPr>
              <a:t>)</a:t>
            </a:r>
          </a:p>
          <a:p>
            <a:pPr>
              <a:lnSpc>
                <a:spcPts val="1100"/>
              </a:lnSpc>
              <a:spcAft>
                <a:spcPts val="0"/>
              </a:spcAft>
            </a:pPr>
            <a:r>
              <a:rPr sz="850" i="0">
                <a:solidFill>
                  <a:srgbClr val="5C6773"/>
                </a:solidFill>
                <a:latin typeface="Consolas"/>
              </a:rPr>
              <a:t>14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5</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100</a:t>
            </a:r>
          </a:p>
          <a:p>
            <a:pPr>
              <a:lnSpc>
                <a:spcPts val="1100"/>
              </a:lnSpc>
              <a:spcAft>
                <a:spcPts val="0"/>
              </a:spcAft>
            </a:pPr>
            <a:r>
              <a:rPr sz="850" i="0">
                <a:solidFill>
                  <a:srgbClr val="5C6773"/>
                </a:solidFill>
                <a:latin typeface="Consolas"/>
              </a:rPr>
              <a:t>15  </a:t>
            </a:r>
            <a:r>
              <a:rPr sz="850" i="0">
                <a:solidFill>
                  <a:srgbClr val="E6EDF3"/>
                </a:solidFill>
                <a:latin typeface="Consolas"/>
              </a:rPr>
              <a:t> </a:t>
            </a:r>
          </a:p>
          <a:p>
            <a:pPr>
              <a:lnSpc>
                <a:spcPts val="1100"/>
              </a:lnSpc>
              <a:spcAft>
                <a:spcPts val="0"/>
              </a:spcAft>
            </a:pPr>
            <a:r>
              <a:rPr sz="850" i="0">
                <a:solidFill>
                  <a:srgbClr val="5C6773"/>
                </a:solidFill>
                <a:latin typeface="Consolas"/>
              </a:rPr>
              <a:t>16  </a:t>
            </a:r>
            <a:r>
              <a:rPr sz="850" i="0">
                <a:solidFill>
                  <a:srgbClr val="E6EDF3"/>
                </a:solidFill>
                <a:latin typeface="Consolas"/>
              </a:rPr>
              <a:t> </a:t>
            </a:r>
          </a:p>
          <a:p>
            <a:pPr>
              <a:lnSpc>
                <a:spcPts val="1100"/>
              </a:lnSpc>
              <a:spcAft>
                <a:spcPts val="0"/>
              </a:spcAft>
            </a:pPr>
            <a:r>
              <a:rPr sz="850" i="0">
                <a:solidFill>
                  <a:srgbClr val="5C6773"/>
                </a:solidFill>
                <a:latin typeface="Consolas"/>
              </a:rPr>
              <a:t>17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a:t>
            </a:r>
          </a:p>
          <a:p>
            <a:pPr>
              <a:lnSpc>
                <a:spcPts val="1100"/>
              </a:lnSpc>
              <a:spcAft>
                <a:spcPts val="0"/>
              </a:spcAft>
            </a:pPr>
            <a:r>
              <a:rPr sz="850" i="0">
                <a:solidFill>
                  <a:srgbClr val="5C6773"/>
                </a:solidFill>
                <a:latin typeface="Consolas"/>
              </a:rPr>
              <a:t>18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19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orders</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20  </a:t>
            </a:r>
            <a:r>
              <a:rPr sz="850" i="0">
                <a:solidFill>
                  <a:srgbClr val="E6EDF3"/>
                </a:solidFill>
                <a:latin typeface="Consolas"/>
              </a:rPr>
              <a:t> </a:t>
            </a:r>
          </a:p>
          <a:p>
            <a:pPr>
              <a:lnSpc>
                <a:spcPts val="1100"/>
              </a:lnSpc>
              <a:spcAft>
                <a:spcPts val="0"/>
              </a:spcAft>
            </a:pPr>
            <a:r>
              <a:rPr sz="850" i="0">
                <a:solidFill>
                  <a:srgbClr val="5C6773"/>
                </a:solidFill>
                <a:latin typeface="Consolas"/>
              </a:rPr>
              <a:t>21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0">
                <a:solidFill>
                  <a:srgbClr val="E6EDF3"/>
                </a:solidFill>
                <a:latin typeface="Consolas"/>
              </a:rPr>
              <a:t>order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A5D6A7"/>
                </a:solidFill>
                <a:latin typeface="Consolas"/>
              </a:rPr>
              <a:t>"id"</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len</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orders</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p>
          <a:p>
            <a:pPr>
              <a:lnSpc>
                <a:spcPts val="1100"/>
              </a:lnSpc>
              <a:spcAft>
                <a:spcPts val="0"/>
              </a:spcAft>
            </a:pPr>
            <a:r>
              <a:rPr sz="850" i="0">
                <a:solidFill>
                  <a:srgbClr val="5C6773"/>
                </a:solidFill>
                <a:latin typeface="Consolas"/>
              </a:rPr>
              <a:t>23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orders</a:t>
            </a:r>
            <a:r>
              <a:rPr sz="850" i="0">
                <a:solidFill>
                  <a:srgbClr val="E6EDF3"/>
                </a:solidFill>
                <a:latin typeface="Consolas"/>
              </a:rPr>
              <a:t>[</a:t>
            </a:r>
            <a:r>
              <a:rPr sz="850" i="0">
                <a:solidFill>
                  <a:srgbClr val="E6EDF3"/>
                </a:solidFill>
                <a:latin typeface="Consolas"/>
              </a:rPr>
              <a:t>order</a:t>
            </a:r>
            <a:r>
              <a:rPr sz="850" i="0">
                <a:solidFill>
                  <a:srgbClr val="E6EDF3"/>
                </a:solidFill>
                <a:latin typeface="Consolas"/>
              </a:rPr>
              <a:t>[</a:t>
            </a:r>
            <a:r>
              <a:rPr sz="850" i="0">
                <a:solidFill>
                  <a:srgbClr val="A5D6A7"/>
                </a:solidFill>
                <a:latin typeface="Consolas"/>
              </a:rPr>
              <a:t>"id"</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a:t>
            </a:r>
          </a:p>
          <a:p>
            <a:pPr>
              <a:lnSpc>
                <a:spcPts val="1100"/>
              </a:lnSpc>
              <a:spcAft>
                <a:spcPts val="0"/>
              </a:spcAft>
            </a:pPr>
            <a:r>
              <a:rPr sz="850" i="0">
                <a:solidFill>
                  <a:srgbClr val="5C6773"/>
                </a:solidFill>
                <a:latin typeface="Consolas"/>
              </a:rPr>
              <a:t>24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order</a:t>
            </a:r>
          </a:p>
          <a:p>
            <a:pPr>
              <a:lnSpc>
                <a:spcPts val="1100"/>
              </a:lnSpc>
              <a:spcAft>
                <a:spcPts val="0"/>
              </a:spcAft>
            </a:pPr>
            <a:r>
              <a:rPr sz="850" i="0">
                <a:solidFill>
                  <a:srgbClr val="5C6773"/>
                </a:solidFill>
                <a:latin typeface="Consolas"/>
              </a:rPr>
              <a:t>25  </a:t>
            </a:r>
            <a:r>
              <a:rPr sz="850" i="0">
                <a:solidFill>
                  <a:srgbClr val="E6EDF3"/>
                </a:solidFill>
                <a:latin typeface="Consolas"/>
              </a:rPr>
              <a:t> </a:t>
            </a:r>
          </a:p>
          <a:p>
            <a:pPr>
              <a:lnSpc>
                <a:spcPts val="1100"/>
              </a:lnSpc>
              <a:spcAft>
                <a:spcPts val="0"/>
              </a:spcAft>
            </a:pPr>
            <a:r>
              <a:rPr sz="850" i="0">
                <a:solidFill>
                  <a:srgbClr val="5C6773"/>
                </a:solidFill>
                <a:latin typeface="Consolas"/>
              </a:rPr>
              <a:t>26  </a:t>
            </a:r>
            <a:r>
              <a:rPr sz="850" i="0">
                <a:solidFill>
                  <a:srgbClr val="E6EDF3"/>
                </a:solidFill>
                <a:latin typeface="Consolas"/>
              </a:rPr>
              <a:t> </a:t>
            </a:r>
          </a:p>
          <a:p>
            <a:pPr>
              <a:lnSpc>
                <a:spcPts val="1100"/>
              </a:lnSpc>
              <a:spcAft>
                <a:spcPts val="0"/>
              </a:spcAft>
            </a:pPr>
            <a:r>
              <a:rPr sz="850" i="0">
                <a:solidFill>
                  <a:srgbClr val="5C6773"/>
                </a:solidFill>
                <a:latin typeface="Consolas"/>
              </a:rPr>
              <a:t>27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EmailNotifier</a:t>
            </a:r>
            <a:r>
              <a:rPr sz="850" i="0">
                <a:solidFill>
                  <a:srgbClr val="E6EDF3"/>
                </a:solidFill>
                <a:latin typeface="Consolas"/>
              </a:rPr>
              <a:t>:</a:t>
            </a:r>
          </a:p>
          <a:p>
            <a:pPr>
              <a:lnSpc>
                <a:spcPts val="1100"/>
              </a:lnSpc>
              <a:spcAft>
                <a:spcPts val="0"/>
              </a:spcAft>
            </a:pPr>
            <a:r>
              <a:rPr sz="850" i="0">
                <a:solidFill>
                  <a:srgbClr val="5C6773"/>
                </a:solidFill>
                <a:latin typeface="Consolas"/>
              </a:rPr>
              <a:t>28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send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message</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p>
          <a:p>
            <a:pPr>
              <a:lnSpc>
                <a:spcPts val="1100"/>
              </a:lnSpc>
              <a:spcAft>
                <a:spcPts val="0"/>
              </a:spcAft>
            </a:pPr>
            <a:r>
              <a:rPr sz="850" i="0">
                <a:solidFill>
                  <a:srgbClr val="5C6773"/>
                </a:solidFill>
                <a:latin typeface="Consolas"/>
              </a:rPr>
              <a:t>29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A5D6A7"/>
                </a:solidFill>
                <a:latin typeface="Consolas"/>
              </a:rPr>
              <a:t>f"[EMAIL] ke {to}: {message}"</a:t>
            </a:r>
            <a:r>
              <a:rPr sz="850" i="0">
                <a:solidFill>
                  <a:srgbClr val="E6EDF3"/>
                </a:solidFill>
                <a:latin typeface="Consolas"/>
              </a:rPr>
              <a:t>)</a:t>
            </a:r>
          </a:p>
        </p:txBody>
      </p:sp>
      <p:sp>
        <p:nvSpPr>
          <p:cNvPr id="29" name="Box 12"/>
          <p:cNvSpPr/>
          <p:nvPr/>
        </p:nvSpPr>
        <p:spPr>
          <a:xfrm>
            <a:off x="704088" y="1828673"/>
            <a:ext cx="7699248" cy="550418"/>
          </a:xfrm>
          <a:prstGeom prst="roundRect">
            <a:avLst>
              <a:gd name="adj" fmla="val 830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19850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2666873"/>
            <a:ext cx="7699248" cy="1109218"/>
          </a:xfrm>
          <a:prstGeom prst="roundRect">
            <a:avLst>
              <a:gd name="adj" fmla="val 412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1026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704088" y="4063873"/>
            <a:ext cx="7699248"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Box 17"/>
          <p:cNvSpPr/>
          <p:nvPr/>
        </p:nvSpPr>
        <p:spPr>
          <a:xfrm>
            <a:off x="8284463" y="41503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 · Single Responsibility</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Satu Class, Satu Tugas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01-srp/after.py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32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p>
          <a:p>
            <a:pPr>
              <a:lnSpc>
                <a:spcPts val="1100"/>
              </a:lnSpc>
              <a:spcAft>
                <a:spcPts val="0"/>
              </a:spcAft>
            </a:pPr>
            <a:r>
              <a:rPr sz="850" i="0">
                <a:solidFill>
                  <a:srgbClr val="5C6773"/>
                </a:solidFill>
                <a:latin typeface="Consolas"/>
              </a:rPr>
              <a:t>33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34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calculator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PriceCalculator</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35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36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notifier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EmailNotifier</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37  </a:t>
            </a:r>
            <a:r>
              <a:rPr sz="850" i="0">
                <a:solidFill>
                  <a:srgbClr val="E6EDF3"/>
                </a:solidFill>
                <a:latin typeface="Consolas"/>
              </a:rPr>
              <a:t> </a:t>
            </a:r>
          </a:p>
          <a:p>
            <a:pPr>
              <a:lnSpc>
                <a:spcPts val="1100"/>
              </a:lnSpc>
              <a:spcAft>
                <a:spcPts val="0"/>
              </a:spcAft>
            </a:pPr>
            <a:r>
              <a:rPr sz="850" i="0">
                <a:solidFill>
                  <a:srgbClr val="5C6773"/>
                </a:solidFill>
                <a:latin typeface="Consolas"/>
              </a:rPr>
              <a:t>38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place_order</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items</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list</a:t>
            </a:r>
            <a:r>
              <a:rPr sz="850" i="0">
                <a:solidFill>
                  <a:srgbClr val="E6EDF3"/>
                </a:solidFill>
                <a:latin typeface="Consolas"/>
              </a:rPr>
              <a:t>[</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p>
          <a:p>
            <a:pPr>
              <a:lnSpc>
                <a:spcPts val="1100"/>
              </a:lnSpc>
              <a:spcAft>
                <a:spcPts val="0"/>
              </a:spcAft>
            </a:pPr>
            <a:r>
              <a:rPr sz="850" i="0">
                <a:solidFill>
                  <a:srgbClr val="5C6773"/>
                </a:solidFill>
                <a:latin typeface="Consolas"/>
              </a:rPr>
              <a:t>39  </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calculator</a:t>
            </a:r>
            <a:r>
              <a:rPr sz="850" i="0">
                <a:solidFill>
                  <a:srgbClr val="E6EDF3"/>
                </a:solidFill>
                <a:latin typeface="Consolas"/>
              </a:rPr>
              <a:t>.</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items</a:t>
            </a:r>
            <a:r>
              <a:rPr sz="850" i="0">
                <a:solidFill>
                  <a:srgbClr val="E6EDF3"/>
                </a:solidFill>
                <a:latin typeface="Consolas"/>
              </a:rPr>
              <a:t>)</a:t>
            </a:r>
          </a:p>
          <a:p>
            <a:pPr>
              <a:lnSpc>
                <a:spcPts val="1100"/>
              </a:lnSpc>
              <a:spcAft>
                <a:spcPts val="0"/>
              </a:spcAft>
            </a:pPr>
            <a:r>
              <a:rPr sz="850" i="0">
                <a:solidFill>
                  <a:srgbClr val="5C6773"/>
                </a:solidFill>
                <a:latin typeface="Consolas"/>
              </a:rPr>
              <a:t>40  </a:t>
            </a:r>
            <a:r>
              <a:rPr sz="850" i="0">
                <a:solidFill>
                  <a:srgbClr val="E6EDF3"/>
                </a:solidFill>
                <a:latin typeface="Consolas"/>
              </a:rPr>
              <a:t>        </a:t>
            </a:r>
            <a:r>
              <a:rPr sz="850" i="0">
                <a:solidFill>
                  <a:srgbClr val="E6EDF3"/>
                </a:solidFill>
                <a:latin typeface="Consolas"/>
              </a:rPr>
              <a:t>order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a:t>
            </a:r>
            <a:r>
              <a:rPr sz="850" i="0">
                <a:solidFill>
                  <a:srgbClr val="E6EDF3"/>
                </a:solidFill>
                <a:latin typeface="Consolas"/>
              </a:rPr>
              <a:t>add</a:t>
            </a:r>
            <a:r>
              <a:rPr sz="850" i="0">
                <a:solidFill>
                  <a:srgbClr val="E6EDF3"/>
                </a:solidFill>
                <a:latin typeface="Consolas"/>
              </a:rPr>
              <a:t>(</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p>
          <a:p>
            <a:pPr>
              <a:lnSpc>
                <a:spcPts val="1100"/>
              </a:lnSpc>
              <a:spcAft>
                <a:spcPts val="0"/>
              </a:spcAft>
            </a:pPr>
            <a:r>
              <a:rPr sz="850" i="0">
                <a:solidFill>
                  <a:srgbClr val="5C6773"/>
                </a:solidFill>
                <a:latin typeface="Consolas"/>
              </a:rPr>
              <a:t>41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notifier</a:t>
            </a:r>
            <a:r>
              <a:rPr sz="850" i="0">
                <a:solidFill>
                  <a:srgbClr val="E6EDF3"/>
                </a:solidFill>
                <a:latin typeface="Consolas"/>
              </a:rPr>
              <a:t>.</a:t>
            </a:r>
            <a:r>
              <a:rPr sz="850" i="0">
                <a:solidFill>
                  <a:srgbClr val="E6EDF3"/>
                </a:solidFill>
                <a:latin typeface="Consolas"/>
              </a:rPr>
              <a:t>send</a:t>
            </a:r>
            <a:r>
              <a:rPr sz="850" i="0">
                <a:solidFill>
                  <a:srgbClr val="E6EDF3"/>
                </a:solidFill>
                <a:latin typeface="Consolas"/>
              </a:rPr>
              <a:t>(</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f"Order #{order['id']} total Rp{total:,}"</a:t>
            </a:r>
            <a:r>
              <a:rPr sz="850" i="0">
                <a:solidFill>
                  <a:srgbClr val="E6EDF3"/>
                </a:solidFill>
                <a:latin typeface="Consolas"/>
              </a:rPr>
              <a:t>)</a:t>
            </a:r>
          </a:p>
          <a:p>
            <a:pPr>
              <a:lnSpc>
                <a:spcPts val="1100"/>
              </a:lnSpc>
              <a:spcAft>
                <a:spcPts val="0"/>
              </a:spcAft>
            </a:pPr>
            <a:r>
              <a:rPr sz="850" i="0">
                <a:solidFill>
                  <a:srgbClr val="5C6773"/>
                </a:solidFill>
                <a:latin typeface="Consolas"/>
              </a:rPr>
              <a:t>42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order</a:t>
            </a:r>
          </a:p>
          <a:p>
            <a:pPr>
              <a:lnSpc>
                <a:spcPts val="1100"/>
              </a:lnSpc>
              <a:spcAft>
                <a:spcPts val="0"/>
              </a:spcAft>
            </a:pPr>
            <a:r>
              <a:rPr sz="850" i="0">
                <a:solidFill>
                  <a:srgbClr val="5C6773"/>
                </a:solidFill>
                <a:latin typeface="Consolas"/>
              </a:rPr>
              <a:t>43  </a:t>
            </a:r>
            <a:r>
              <a:rPr sz="850" i="0">
                <a:solidFill>
                  <a:srgbClr val="E6EDF3"/>
                </a:solidFill>
                <a:latin typeface="Consolas"/>
              </a:rPr>
              <a:t> </a:t>
            </a:r>
          </a:p>
          <a:p>
            <a:pPr>
              <a:lnSpc>
                <a:spcPts val="1100"/>
              </a:lnSpc>
              <a:spcAft>
                <a:spcPts val="0"/>
              </a:spcAft>
            </a:pPr>
            <a:r>
              <a:rPr sz="850" i="0">
                <a:solidFill>
                  <a:srgbClr val="5C6773"/>
                </a:solidFill>
                <a:latin typeface="Consolas"/>
              </a:rPr>
              <a:t>44  </a:t>
            </a:r>
            <a:r>
              <a:rPr sz="850" i="0">
                <a:solidFill>
                  <a:srgbClr val="E6EDF3"/>
                </a:solidFill>
                <a:latin typeface="Consolas"/>
              </a:rPr>
              <a:t> </a:t>
            </a:r>
          </a:p>
          <a:p>
            <a:pPr>
              <a:lnSpc>
                <a:spcPts val="1100"/>
              </a:lnSpc>
              <a:spcAft>
                <a:spcPts val="0"/>
              </a:spcAft>
            </a:pPr>
            <a:r>
              <a:rPr sz="850" i="0">
                <a:solidFill>
                  <a:srgbClr val="5C6773"/>
                </a:solidFill>
                <a:latin typeface="Consolas"/>
              </a:rPr>
              <a:t>45  </a:t>
            </a:r>
            <a:r>
              <a:rPr sz="850" i="0">
                <a:solidFill>
                  <a:srgbClr val="FF8E6E"/>
                </a:solidFill>
                <a:latin typeface="Consolas"/>
              </a:rPr>
              <a:t>if</a:t>
            </a:r>
            <a:r>
              <a:rPr sz="850" i="0">
                <a:solidFill>
                  <a:srgbClr val="E6EDF3"/>
                </a:solidFill>
                <a:latin typeface="Consolas"/>
              </a:rPr>
              <a:t> </a:t>
            </a:r>
            <a:r>
              <a:rPr sz="850" i="0">
                <a:solidFill>
                  <a:srgbClr val="E6EDF3"/>
                </a:solidFill>
                <a:latin typeface="Consolas"/>
              </a:rPr>
              <a:t>__name__</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"__main__"</a:t>
            </a:r>
            <a:r>
              <a:rPr sz="850" i="0">
                <a:solidFill>
                  <a:srgbClr val="E6EDF3"/>
                </a:solidFill>
                <a:latin typeface="Consolas"/>
              </a:rPr>
              <a:t>:</a:t>
            </a:r>
          </a:p>
          <a:p>
            <a:pPr>
              <a:lnSpc>
                <a:spcPts val="1100"/>
              </a:lnSpc>
              <a:spcAft>
                <a:spcPts val="0"/>
              </a:spcAft>
            </a:pPr>
            <a:r>
              <a:rPr sz="850" i="0">
                <a:solidFill>
                  <a:srgbClr val="5C6773"/>
                </a:solidFill>
                <a:latin typeface="Consolas"/>
              </a:rPr>
              <a:t>46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7FDBCA"/>
                </a:solidFill>
                <a:latin typeface="Consolas"/>
              </a:rPr>
              <a:t>OrderService</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place_order</a:t>
            </a:r>
            <a:r>
              <a:rPr sz="850" i="0">
                <a:solidFill>
                  <a:srgbClr val="E6EDF3"/>
                </a:solidFill>
                <a:latin typeface="Consolas"/>
              </a:rPr>
              <a:t>(</a:t>
            </a:r>
            <a:r>
              <a:rPr sz="850" i="0">
                <a:solidFill>
                  <a:srgbClr val="A5D6A7"/>
                </a:solidFill>
                <a:latin typeface="Consolas"/>
              </a:rPr>
              <a:t>"budi@mail.com"</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A5D6A7"/>
                </a:solidFill>
                <a:latin typeface="Consolas"/>
              </a:rPr>
              <a:t>"price"</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100_000</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"qty"</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2</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p:txBody>
      </p:sp>
      <p:sp>
        <p:nvSpPr>
          <p:cNvPr id="29" name="Box 12"/>
          <p:cNvSpPr/>
          <p:nvPr/>
        </p:nvSpPr>
        <p:spPr>
          <a:xfrm>
            <a:off x="704088" y="1828673"/>
            <a:ext cx="7699248" cy="1528318"/>
          </a:xfrm>
          <a:prstGeom prst="roundRect">
            <a:avLst>
              <a:gd name="adj" fmla="val 299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4739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 · Single Responsibility</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01-srp/after.py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sesi-02-solid-clean-architecture/01-srp</a:t>
            </a:r>
          </a:p>
          <a:p>
            <a:pPr>
              <a:lnSpc>
                <a:spcPts val="1000"/>
              </a:lnSpc>
              <a:spcAft>
                <a:spcPts val="0"/>
              </a:spcAft>
            </a:pPr>
            <a:r>
              <a:rPr sz="775" i="0">
                <a:solidFill>
                  <a:srgbClr val="82B1FF"/>
                </a:solidFill>
                <a:latin typeface="Consolas"/>
              </a:rPr>
              <a:t>$ python after.py</a:t>
            </a:r>
          </a:p>
        </p:txBody>
      </p:sp>
      <p:pic>
        <p:nvPicPr>
          <p:cNvPr id="29" name="Image 12" descr="s02-01-srp-after.png"/>
          <p:cNvPicPr>
            <a:picLocks noChangeAspect="1"/>
          </p:cNvPicPr>
          <p:nvPr/>
        </p:nvPicPr>
        <p:blipFill>
          <a:blip r:embed="rId2"/>
          <a:stretch>
            <a:fillRect/>
          </a:stretch>
        </p:blipFill>
        <p:spPr>
          <a:xfrm>
            <a:off x="621792" y="2240280"/>
            <a:ext cx="4297680" cy="1088136"/>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Rumus berubah → cukup </a:t>
            </a:r>
            <a:r>
              <a:rPr sz="950" i="0" b="0">
                <a:solidFill>
                  <a:srgbClr val="B5482A"/>
                </a:solidFill>
                <a:latin typeface="Consolas"/>
              </a:rPr>
              <a:t>PriceCalculator</a:t>
            </a:r>
            <a:r>
              <a:rPr sz="950" i="0" b="0">
                <a:solidFill>
                  <a:srgbClr val="434343"/>
                </a:solidFill>
                <a:latin typeface="Inter"/>
              </a:rPr>
              <a:t> (baris 11-14)</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Cara simpan berubah → cukup </a:t>
            </a:r>
            <a:r>
              <a:rPr sz="950" i="0" b="0">
                <a:solidFill>
                  <a:srgbClr val="B5482A"/>
                </a:solidFill>
                <a:latin typeface="Consolas"/>
              </a:rPr>
              <a:t>OrderRepository</a:t>
            </a:r>
            <a:r>
              <a:rPr sz="950" i="0" b="0">
                <a:solidFill>
                  <a:srgbClr val="434343"/>
                </a:solidFill>
                <a:latin typeface="Inter"/>
              </a:rPr>
              <a:t> (baris 17-24)</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Email berubah → cukup </a:t>
            </a:r>
            <a:r>
              <a:rPr sz="950" i="0" b="0">
                <a:solidFill>
                  <a:srgbClr val="B5482A"/>
                </a:solidFill>
                <a:latin typeface="Consolas"/>
              </a:rPr>
              <a:t>EmailNotifier</a:t>
            </a:r>
            <a:r>
              <a:rPr sz="950" i="0" b="0">
                <a:solidFill>
                  <a:srgbClr val="434343"/>
                </a:solidFill>
                <a:latin typeface="Inter"/>
              </a:rPr>
              <a:t> (baris 27-29)</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OrderService</a:t>
            </a:r>
            <a:r>
              <a:rPr sz="950" i="0" b="0">
                <a:solidFill>
                  <a:srgbClr val="434343"/>
                </a:solidFill>
                <a:latin typeface="Inter"/>
              </a:rPr>
              <a:t> hanya mengatur urutannya (baris 32-42)</a:t>
            </a:r>
          </a:p>
          <a:p>
            <a:pPr algn="l">
              <a:lnSpc>
                <a:spcPct val="115000"/>
              </a:lnSpc>
              <a:spcAft>
                <a:spcPts val="0"/>
              </a:spcAft>
            </a:pPr>
            <a:r>
              <a:rPr sz="570"/>
              <a:t/>
            </a:r>
          </a:p>
          <a:p>
            <a:pPr algn="l">
              <a:lnSpc>
                <a:spcPct val="115000"/>
              </a:lnSpc>
              <a:spcAft>
                <a:spcPts val="400"/>
              </a:spcAft>
            </a:pPr>
            <a:r>
              <a:rPr sz="950" i="0" b="0">
                <a:solidFill>
                  <a:srgbClr val="434343"/>
                </a:solidFill>
                <a:latin typeface="Inter"/>
              </a:rPr>
              <a:t>Output-nya sama dengan before: total Rp190,000.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O · Open/Closed</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Open/Closed?</a:t>
            </a:r>
          </a:p>
        </p:txBody>
      </p:sp>
      <p:sp>
        <p:nvSpPr>
          <p:cNvPr id="22" name="Text 3"/>
          <p:cNvSpPr txBox="1"/>
          <p:nvPr/>
        </p:nvSpPr>
        <p:spPr>
          <a:xfrm>
            <a:off x="621792" y="1481328"/>
            <a:ext cx="4114800" cy="329184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Artinya</a:t>
            </a:r>
          </a:p>
          <a:p>
            <a:pPr algn="l">
              <a:lnSpc>
                <a:spcPct val="115000"/>
              </a:lnSpc>
              <a:spcAft>
                <a:spcPts val="400"/>
              </a:spcAft>
            </a:pPr>
            <a:r>
              <a:rPr sz="950" i="0" b="0">
                <a:solidFill>
                  <a:srgbClr val="434343"/>
                </a:solidFill>
                <a:latin typeface="Inter"/>
              </a:rPr>
              <a:t>Kode </a:t>
            </a:r>
            <a:r>
              <a:rPr sz="950" i="0" b="1">
                <a:solidFill>
                  <a:srgbClr val="434343"/>
                </a:solidFill>
                <a:latin typeface="Inter"/>
              </a:rPr>
              <a:t>terbuka untuk ditambah</a:t>
            </a:r>
            <a:r>
              <a:rPr sz="950" i="0" b="0">
                <a:solidFill>
                  <a:srgbClr val="434343"/>
                </a:solidFill>
                <a:latin typeface="Inter"/>
              </a:rPr>
              <a:t> (fitur baru) tapi </a:t>
            </a:r>
            <a:r>
              <a:rPr sz="950" i="0" b="1">
                <a:solidFill>
                  <a:srgbClr val="434343"/>
                </a:solidFill>
                <a:latin typeface="Inter"/>
              </a:rPr>
              <a:t>tertutup untuk diubah</a:t>
            </a:r>
            <a:r>
              <a:rPr sz="950" i="0" b="0">
                <a:solidFill>
                  <a:srgbClr val="434343"/>
                </a:solidFill>
                <a:latin typeface="Inter"/>
              </a:rPr>
              <a:t> (kode lama yang sudah jalan dan dites tidak perlu diedit).</a:t>
            </a:r>
          </a:p>
          <a:p>
            <a:pPr algn="l">
              <a:lnSpc>
                <a:spcPct val="115000"/>
              </a:lnSpc>
              <a:spcAft>
                <a:spcPts val="400"/>
              </a:spcAft>
            </a:pPr>
            <a:r>
              <a:rPr sz="1050" i="0" b="1">
                <a:solidFill>
                  <a:srgbClr val="1C4587"/>
                </a:solidFill>
                <a:latin typeface="Inter"/>
              </a:rPr>
              <a:t>Analogi</a:t>
            </a:r>
          </a:p>
          <a:p>
            <a:pPr algn="l">
              <a:lnSpc>
                <a:spcPct val="115000"/>
              </a:lnSpc>
              <a:spcAft>
                <a:spcPts val="400"/>
              </a:spcAft>
            </a:pPr>
            <a:r>
              <a:rPr sz="950" i="0" b="0">
                <a:solidFill>
                  <a:srgbClr val="434343"/>
                </a:solidFill>
                <a:latin typeface="Inter"/>
              </a:rPr>
              <a:t>Stop kontak: mau pakai alat elektronik baru, tinggal colok. Tidak perlu membongkar instalasi listrik rumah.</a:t>
            </a:r>
          </a:p>
          <a:p>
            <a:pPr algn="l">
              <a:lnSpc>
                <a:spcPct val="115000"/>
              </a:lnSpc>
              <a:spcAft>
                <a:spcPts val="400"/>
              </a:spcAft>
            </a:pPr>
            <a:r>
              <a:rPr sz="1050" i="0" b="1">
                <a:solidFill>
                  <a:srgbClr val="1C4587"/>
                </a:solidFill>
                <a:latin typeface="Inter"/>
              </a:rPr>
              <a:t>Cara mengecek</a:t>
            </a:r>
          </a:p>
          <a:p>
            <a:pPr algn="l">
              <a:lnSpc>
                <a:spcPct val="115000"/>
              </a:lnSpc>
              <a:spcAft>
                <a:spcPts val="400"/>
              </a:spcAft>
            </a:pPr>
            <a:r>
              <a:rPr sz="950" i="0" b="0">
                <a:solidFill>
                  <a:srgbClr val="434343"/>
                </a:solidFill>
                <a:latin typeface="Inter"/>
              </a:rPr>
              <a:t>Kalau menambah satu jenis baru (kurir, channel, tipe customer) berarti membuka function lama dan menambah </a:t>
            </a:r>
            <a:r>
              <a:rPr sz="950" i="0" b="0">
                <a:solidFill>
                  <a:srgbClr val="B5482A"/>
                </a:solidFill>
                <a:latin typeface="Consolas"/>
              </a:rPr>
              <a:t>elif</a:t>
            </a:r>
            <a:r>
              <a:rPr sz="950" i="0" b="0">
                <a:solidFill>
                  <a:srgbClr val="434343"/>
                </a:solidFill>
                <a:latin typeface="Inter"/>
              </a:rPr>
              <a:t>, OCP dilanggar.</a:t>
            </a:r>
          </a:p>
        </p:txBody>
      </p:sp>
      <p:sp>
        <p:nvSpPr>
          <p:cNvPr id="23" name="Box 4"/>
          <p:cNvSpPr/>
          <p:nvPr/>
        </p:nvSpPr>
        <p:spPr>
          <a:xfrm>
            <a:off x="4892040" y="1481328"/>
            <a:ext cx="3593592" cy="960120"/>
          </a:xfrm>
          <a:prstGeom prst="roundRect">
            <a:avLst>
              <a:gd name="adj" fmla="val 11428"/>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200"/>
              </a:spcAft>
            </a:pPr>
            <a:r>
              <a:rPr sz="950" i="0" b="0">
                <a:solidFill>
                  <a:srgbClr val="434343"/>
                </a:solidFill>
                <a:latin typeface="Inter"/>
              </a:rPr>
              <a:t>"Software entities should be open for extension, but closed for modification."</a:t>
            </a:r>
          </a:p>
          <a:p>
            <a:pPr algn="l">
              <a:lnSpc>
                <a:spcPct val="105000"/>
              </a:lnSpc>
              <a:spcAft>
                <a:spcPts val="200"/>
              </a:spcAft>
            </a:pPr>
            <a:r>
              <a:rPr sz="950" i="0" b="0">
                <a:solidFill>
                  <a:srgbClr val="434343"/>
                </a:solidFill>
                <a:latin typeface="Inter"/>
              </a:rPr>
              <a:t>Bertrand Meyer</a:t>
            </a:r>
          </a:p>
        </p:txBody>
      </p:sp>
      <p:sp>
        <p:nvSpPr>
          <p:cNvPr id="24" name="Box 5"/>
          <p:cNvSpPr/>
          <p:nvPr/>
        </p:nvSpPr>
        <p:spPr>
          <a:xfrm>
            <a:off x="4892040" y="2560320"/>
            <a:ext cx="3593592" cy="1600200"/>
          </a:xfrm>
          <a:prstGeom prst="roundRect">
            <a:avLst>
              <a:gd name="adj" fmla="val 6857"/>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5" name="Text 6"/>
          <p:cNvSpPr txBox="1"/>
          <p:nvPr/>
        </p:nvSpPr>
        <p:spPr>
          <a:xfrm>
            <a:off x="5029200" y="2651760"/>
            <a:ext cx="3319272" cy="310896"/>
          </a:xfrm>
          <a:prstGeom prst="rect">
            <a:avLst/>
          </a:prstGeom>
          <a:noFill/>
        </p:spPr>
        <p:txBody>
          <a:bodyPr wrap="square" anchor="t" lIns="45720" rIns="45720">
            <a:spAutoFit/>
          </a:bodyPr>
          <a:lstStyle/>
          <a:p>
            <a:pPr algn="l">
              <a:lnSpc>
                <a:spcPct val="115000"/>
              </a:lnSpc>
              <a:spcAft>
                <a:spcPts val="400"/>
              </a:spcAft>
            </a:pPr>
            <a:r>
              <a:rPr sz="1050" i="0" b="1">
                <a:solidFill>
                  <a:srgbClr val="C0392B"/>
                </a:solidFill>
                <a:latin typeface="Inter"/>
              </a:rPr>
              <a:t>Code smell yang dicari</a:t>
            </a:r>
          </a:p>
        </p:txBody>
      </p:sp>
      <p:sp>
        <p:nvSpPr>
          <p:cNvPr id="26" name="Text 7"/>
          <p:cNvSpPr txBox="1"/>
          <p:nvPr/>
        </p:nvSpPr>
        <p:spPr>
          <a:xfrm>
            <a:off x="5029200" y="2971800"/>
            <a:ext cx="3319272" cy="109728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If/elif berdasarkan tipe yang terus bertambah</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Komentar "tambah di sini kalau ada yang baru"</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Test lama harus diubah setiap ada fitur baru</a:t>
            </a:r>
          </a:p>
        </p:txBody>
      </p:sp>
      <p:sp>
        <p:nvSpPr>
          <p:cNvPr id="27" name="Text 8"/>
          <p:cNvSpPr txBox="1"/>
          <p:nvPr/>
        </p:nvSpPr>
        <p:spPr>
          <a:xfrm>
            <a:off x="4892040" y="4251960"/>
            <a:ext cx="3593592" cy="457200"/>
          </a:xfrm>
          <a:prstGeom prst="rect">
            <a:avLst/>
          </a:prstGeom>
          <a:noFill/>
        </p:spPr>
        <p:txBody>
          <a:bodyPr wrap="square" anchor="t" lIns="45720" rIns="45720">
            <a:spAutoFit/>
          </a:bodyPr>
          <a:lstStyle/>
          <a:p>
            <a:pPr algn="l">
              <a:lnSpc>
                <a:spcPct val="115000"/>
              </a:lnSpc>
              <a:spcAft>
                <a:spcPts val="400"/>
              </a:spcAft>
            </a:pPr>
            <a:r>
              <a:rPr sz="900" i="0" b="0">
                <a:solidFill>
                  <a:srgbClr val="7A7A7A"/>
                </a:solidFill>
                <a:latin typeface="Inter"/>
              </a:rPr>
              <a:t>Di Sesi 1 diterapkan lewat Strategy dan Factory.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O · Open/Closed</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Kurir Baru = Edit Function</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02-ocp/before.py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200"/>
              </a:lnSpc>
              <a:spcAft>
                <a:spcPts val="0"/>
              </a:spcAft>
            </a:pPr>
            <a:r>
              <a:rPr sz="900" i="0">
                <a:solidFill>
                  <a:srgbClr val="5C6773"/>
                </a:solidFill>
                <a:latin typeface="Consolas"/>
              </a:rPr>
              <a:t> 8  </a:t>
            </a:r>
            <a:r>
              <a:rPr sz="900" i="0">
                <a:solidFill>
                  <a:srgbClr val="FF8E6E"/>
                </a:solidFill>
                <a:latin typeface="Consolas"/>
              </a:rPr>
              <a:t>def</a:t>
            </a:r>
            <a:r>
              <a:rPr sz="900" i="0">
                <a:solidFill>
                  <a:srgbClr val="E6EDF3"/>
                </a:solidFill>
                <a:latin typeface="Consolas"/>
              </a:rPr>
              <a:t> </a:t>
            </a:r>
            <a:r>
              <a:rPr sz="900" i="0">
                <a:solidFill>
                  <a:srgbClr val="82B1FF"/>
                </a:solidFill>
                <a:latin typeface="Consolas"/>
              </a:rPr>
              <a:t>shipping_cost</a:t>
            </a:r>
            <a:r>
              <a:rPr sz="900" i="0">
                <a:solidFill>
                  <a:srgbClr val="E6EDF3"/>
                </a:solidFill>
                <a:latin typeface="Consolas"/>
              </a:rPr>
              <a:t>(</a:t>
            </a:r>
            <a:r>
              <a:rPr sz="900" i="0">
                <a:solidFill>
                  <a:srgbClr val="E6EDF3"/>
                </a:solidFill>
                <a:latin typeface="Consolas"/>
              </a:rPr>
              <a:t>courier</a:t>
            </a:r>
            <a:r>
              <a:rPr sz="900" i="0">
                <a:solidFill>
                  <a:srgbClr val="E6EDF3"/>
                </a:solidFill>
                <a:latin typeface="Consolas"/>
              </a:rPr>
              <a:t>:</a:t>
            </a:r>
            <a:r>
              <a:rPr sz="900" i="0">
                <a:solidFill>
                  <a:srgbClr val="E6EDF3"/>
                </a:solidFill>
                <a:latin typeface="Consolas"/>
              </a:rPr>
              <a:t> </a:t>
            </a:r>
            <a:r>
              <a:rPr sz="900" i="0">
                <a:solidFill>
                  <a:srgbClr val="C3A6FF"/>
                </a:solidFill>
                <a:latin typeface="Consolas"/>
              </a:rPr>
              <a:t>str</a:t>
            </a:r>
            <a:r>
              <a:rPr sz="900" i="0">
                <a:solidFill>
                  <a:srgbClr val="E6EDF3"/>
                </a:solidFill>
                <a:latin typeface="Consolas"/>
              </a:rPr>
              <a:t>,</a:t>
            </a:r>
            <a:r>
              <a:rPr sz="900" i="0">
                <a:solidFill>
                  <a:srgbClr val="E6EDF3"/>
                </a:solidFill>
                <a:latin typeface="Consolas"/>
              </a:rPr>
              <a:t> </a:t>
            </a:r>
            <a:r>
              <a:rPr sz="900" i="0">
                <a:solidFill>
                  <a:srgbClr val="E6EDF3"/>
                </a:solidFill>
                <a:latin typeface="Consolas"/>
              </a:rPr>
              <a:t>weight_kg</a:t>
            </a:r>
            <a:r>
              <a:rPr sz="900" i="0">
                <a:solidFill>
                  <a:srgbClr val="E6EDF3"/>
                </a:solidFill>
                <a:latin typeface="Consolas"/>
              </a:rPr>
              <a:t>:</a:t>
            </a:r>
            <a:r>
              <a:rPr sz="900" i="0">
                <a:solidFill>
                  <a:srgbClr val="E6EDF3"/>
                </a:solidFill>
                <a:latin typeface="Consolas"/>
              </a:rPr>
              <a:t> </a:t>
            </a:r>
            <a:r>
              <a:rPr sz="900" i="0">
                <a:solidFill>
                  <a:srgbClr val="C3A6FF"/>
                </a:solidFill>
                <a:latin typeface="Consolas"/>
              </a:rPr>
              <a:t>int</a:t>
            </a:r>
            <a:r>
              <a:rPr sz="900" i="0">
                <a:solidFill>
                  <a:srgbClr val="E6EDF3"/>
                </a:solidFill>
                <a:latin typeface="Consolas"/>
              </a:rPr>
              <a:t>)</a:t>
            </a:r>
            <a:r>
              <a:rPr sz="900" i="0">
                <a:solidFill>
                  <a:srgbClr val="E6EDF3"/>
                </a:solidFill>
                <a:latin typeface="Consolas"/>
              </a:rPr>
              <a:t> </a:t>
            </a:r>
            <a:r>
              <a:rPr sz="900" i="0">
                <a:solidFill>
                  <a:srgbClr val="E6EDF3"/>
                </a:solidFill>
                <a:latin typeface="Consolas"/>
              </a:rPr>
              <a:t>-</a:t>
            </a:r>
            <a:r>
              <a:rPr sz="900" i="0">
                <a:solidFill>
                  <a:srgbClr val="E6EDF3"/>
                </a:solidFill>
                <a:latin typeface="Consolas"/>
              </a:rPr>
              <a:t>&gt;</a:t>
            </a:r>
            <a:r>
              <a:rPr sz="900" i="0">
                <a:solidFill>
                  <a:srgbClr val="E6EDF3"/>
                </a:solidFill>
                <a:latin typeface="Consolas"/>
              </a:rPr>
              <a:t> </a:t>
            </a:r>
            <a:r>
              <a:rPr sz="900" i="0">
                <a:solidFill>
                  <a:srgbClr val="C3A6FF"/>
                </a:solidFill>
                <a:latin typeface="Consolas"/>
              </a:rPr>
              <a:t>int</a:t>
            </a:r>
            <a:r>
              <a:rPr sz="900" i="0">
                <a:solidFill>
                  <a:srgbClr val="E6EDF3"/>
                </a:solidFill>
                <a:latin typeface="Consolas"/>
              </a:rPr>
              <a:t>:</a:t>
            </a:r>
          </a:p>
          <a:p>
            <a:pPr>
              <a:lnSpc>
                <a:spcPts val="1200"/>
              </a:lnSpc>
              <a:spcAft>
                <a:spcPts val="0"/>
              </a:spcAft>
            </a:pPr>
            <a:r>
              <a:rPr sz="900" i="0">
                <a:solidFill>
                  <a:srgbClr val="5C6773"/>
                </a:solidFill>
                <a:latin typeface="Consolas"/>
              </a:rPr>
              <a:t> 9  </a:t>
            </a:r>
            <a:r>
              <a:rPr sz="900" i="0">
                <a:solidFill>
                  <a:srgbClr val="E6EDF3"/>
                </a:solidFill>
                <a:latin typeface="Consolas"/>
              </a:rPr>
              <a:t>    </a:t>
            </a:r>
            <a:r>
              <a:rPr sz="900" i="0">
                <a:solidFill>
                  <a:srgbClr val="FF8E6E"/>
                </a:solidFill>
                <a:latin typeface="Consolas"/>
              </a:rPr>
              <a:t>if</a:t>
            </a:r>
            <a:r>
              <a:rPr sz="900" i="0">
                <a:solidFill>
                  <a:srgbClr val="E6EDF3"/>
                </a:solidFill>
                <a:latin typeface="Consolas"/>
              </a:rPr>
              <a:t> </a:t>
            </a:r>
            <a:r>
              <a:rPr sz="900" i="0">
                <a:solidFill>
                  <a:srgbClr val="E6EDF3"/>
                </a:solidFill>
                <a:latin typeface="Consolas"/>
              </a:rPr>
              <a:t>courier</a:t>
            </a:r>
            <a:r>
              <a:rPr sz="900" i="0">
                <a:solidFill>
                  <a:srgbClr val="E6EDF3"/>
                </a:solidFill>
                <a:latin typeface="Consolas"/>
              </a:rPr>
              <a:t> </a:t>
            </a:r>
            <a:r>
              <a:rPr sz="900" i="0">
                <a:solidFill>
                  <a:srgbClr val="E6EDF3"/>
                </a:solidFill>
                <a:latin typeface="Consolas"/>
              </a:rPr>
              <a:t>=</a:t>
            </a:r>
            <a:r>
              <a:rPr sz="900" i="0">
                <a:solidFill>
                  <a:srgbClr val="E6EDF3"/>
                </a:solidFill>
                <a:latin typeface="Consolas"/>
              </a:rPr>
              <a:t>=</a:t>
            </a:r>
            <a:r>
              <a:rPr sz="900" i="0">
                <a:solidFill>
                  <a:srgbClr val="E6EDF3"/>
                </a:solidFill>
                <a:latin typeface="Consolas"/>
              </a:rPr>
              <a:t> </a:t>
            </a:r>
            <a:r>
              <a:rPr sz="900" i="0">
                <a:solidFill>
                  <a:srgbClr val="A5D6A7"/>
                </a:solidFill>
                <a:latin typeface="Consolas"/>
              </a:rPr>
              <a:t>"regular"</a:t>
            </a:r>
            <a:r>
              <a:rPr sz="900" i="0">
                <a:solidFill>
                  <a:srgbClr val="E6EDF3"/>
                </a:solidFill>
                <a:latin typeface="Consolas"/>
              </a:rPr>
              <a:t>:</a:t>
            </a:r>
          </a:p>
          <a:p>
            <a:pPr>
              <a:lnSpc>
                <a:spcPts val="1200"/>
              </a:lnSpc>
              <a:spcAft>
                <a:spcPts val="0"/>
              </a:spcAft>
            </a:pPr>
            <a:r>
              <a:rPr sz="900" i="0">
                <a:solidFill>
                  <a:srgbClr val="5C6773"/>
                </a:solidFill>
                <a:latin typeface="Consolas"/>
              </a:rPr>
              <a:t>10  </a:t>
            </a:r>
            <a:r>
              <a:rPr sz="900" i="0">
                <a:solidFill>
                  <a:srgbClr val="E6EDF3"/>
                </a:solidFill>
                <a:latin typeface="Consolas"/>
              </a:rPr>
              <a:t>        </a:t>
            </a:r>
            <a:r>
              <a:rPr sz="900" i="0">
                <a:solidFill>
                  <a:srgbClr val="FF8E6E"/>
                </a:solidFill>
                <a:latin typeface="Consolas"/>
              </a:rPr>
              <a:t>return</a:t>
            </a:r>
            <a:r>
              <a:rPr sz="900" i="0">
                <a:solidFill>
                  <a:srgbClr val="E6EDF3"/>
                </a:solidFill>
                <a:latin typeface="Consolas"/>
              </a:rPr>
              <a:t> </a:t>
            </a:r>
            <a:r>
              <a:rPr sz="900" i="0">
                <a:solidFill>
                  <a:srgbClr val="F9C97A"/>
                </a:solidFill>
                <a:latin typeface="Consolas"/>
              </a:rPr>
              <a:t>10_000</a:t>
            </a:r>
            <a:r>
              <a:rPr sz="900" i="0">
                <a:solidFill>
                  <a:srgbClr val="E6EDF3"/>
                </a:solidFill>
                <a:latin typeface="Consolas"/>
              </a:rPr>
              <a:t> </a:t>
            </a:r>
            <a:r>
              <a:rPr sz="900" i="0">
                <a:solidFill>
                  <a:srgbClr val="E6EDF3"/>
                </a:solidFill>
                <a:latin typeface="Consolas"/>
              </a:rPr>
              <a:t>*</a:t>
            </a:r>
            <a:r>
              <a:rPr sz="900" i="0">
                <a:solidFill>
                  <a:srgbClr val="E6EDF3"/>
                </a:solidFill>
                <a:latin typeface="Consolas"/>
              </a:rPr>
              <a:t> </a:t>
            </a:r>
            <a:r>
              <a:rPr sz="900" i="0">
                <a:solidFill>
                  <a:srgbClr val="E6EDF3"/>
                </a:solidFill>
                <a:latin typeface="Consolas"/>
              </a:rPr>
              <a:t>weight_kg</a:t>
            </a:r>
          </a:p>
          <a:p>
            <a:pPr>
              <a:lnSpc>
                <a:spcPts val="1200"/>
              </a:lnSpc>
              <a:spcAft>
                <a:spcPts val="0"/>
              </a:spcAft>
            </a:pPr>
            <a:r>
              <a:rPr sz="900" i="0">
                <a:solidFill>
                  <a:srgbClr val="5C6773"/>
                </a:solidFill>
                <a:latin typeface="Consolas"/>
              </a:rPr>
              <a:t>11  </a:t>
            </a:r>
            <a:r>
              <a:rPr sz="900" i="0">
                <a:solidFill>
                  <a:srgbClr val="E6EDF3"/>
                </a:solidFill>
                <a:latin typeface="Consolas"/>
              </a:rPr>
              <a:t>    </a:t>
            </a:r>
            <a:r>
              <a:rPr sz="900" i="0">
                <a:solidFill>
                  <a:srgbClr val="FF8E6E"/>
                </a:solidFill>
                <a:latin typeface="Consolas"/>
              </a:rPr>
              <a:t>elif</a:t>
            </a:r>
            <a:r>
              <a:rPr sz="900" i="0">
                <a:solidFill>
                  <a:srgbClr val="E6EDF3"/>
                </a:solidFill>
                <a:latin typeface="Consolas"/>
              </a:rPr>
              <a:t> </a:t>
            </a:r>
            <a:r>
              <a:rPr sz="900" i="0">
                <a:solidFill>
                  <a:srgbClr val="E6EDF3"/>
                </a:solidFill>
                <a:latin typeface="Consolas"/>
              </a:rPr>
              <a:t>courier</a:t>
            </a:r>
            <a:r>
              <a:rPr sz="900" i="0">
                <a:solidFill>
                  <a:srgbClr val="E6EDF3"/>
                </a:solidFill>
                <a:latin typeface="Consolas"/>
              </a:rPr>
              <a:t> </a:t>
            </a:r>
            <a:r>
              <a:rPr sz="900" i="0">
                <a:solidFill>
                  <a:srgbClr val="E6EDF3"/>
                </a:solidFill>
                <a:latin typeface="Consolas"/>
              </a:rPr>
              <a:t>=</a:t>
            </a:r>
            <a:r>
              <a:rPr sz="900" i="0">
                <a:solidFill>
                  <a:srgbClr val="E6EDF3"/>
                </a:solidFill>
                <a:latin typeface="Consolas"/>
              </a:rPr>
              <a:t>=</a:t>
            </a:r>
            <a:r>
              <a:rPr sz="900" i="0">
                <a:solidFill>
                  <a:srgbClr val="E6EDF3"/>
                </a:solidFill>
                <a:latin typeface="Consolas"/>
              </a:rPr>
              <a:t> </a:t>
            </a:r>
            <a:r>
              <a:rPr sz="900" i="0">
                <a:solidFill>
                  <a:srgbClr val="A5D6A7"/>
                </a:solidFill>
                <a:latin typeface="Consolas"/>
              </a:rPr>
              <a:t>"express"</a:t>
            </a:r>
            <a:r>
              <a:rPr sz="900" i="0">
                <a:solidFill>
                  <a:srgbClr val="E6EDF3"/>
                </a:solidFill>
                <a:latin typeface="Consolas"/>
              </a:rPr>
              <a:t>:</a:t>
            </a:r>
          </a:p>
          <a:p>
            <a:pPr>
              <a:lnSpc>
                <a:spcPts val="1200"/>
              </a:lnSpc>
              <a:spcAft>
                <a:spcPts val="0"/>
              </a:spcAft>
            </a:pPr>
            <a:r>
              <a:rPr sz="900" i="0">
                <a:solidFill>
                  <a:srgbClr val="5C6773"/>
                </a:solidFill>
                <a:latin typeface="Consolas"/>
              </a:rPr>
              <a:t>12  </a:t>
            </a:r>
            <a:r>
              <a:rPr sz="900" i="0">
                <a:solidFill>
                  <a:srgbClr val="E6EDF3"/>
                </a:solidFill>
                <a:latin typeface="Consolas"/>
              </a:rPr>
              <a:t>        </a:t>
            </a:r>
            <a:r>
              <a:rPr sz="900" i="0">
                <a:solidFill>
                  <a:srgbClr val="FF8E6E"/>
                </a:solidFill>
                <a:latin typeface="Consolas"/>
              </a:rPr>
              <a:t>return</a:t>
            </a:r>
            <a:r>
              <a:rPr sz="900" i="0">
                <a:solidFill>
                  <a:srgbClr val="E6EDF3"/>
                </a:solidFill>
                <a:latin typeface="Consolas"/>
              </a:rPr>
              <a:t> </a:t>
            </a:r>
            <a:r>
              <a:rPr sz="900" i="0">
                <a:solidFill>
                  <a:srgbClr val="F9C97A"/>
                </a:solidFill>
                <a:latin typeface="Consolas"/>
              </a:rPr>
              <a:t>20_000</a:t>
            </a:r>
            <a:r>
              <a:rPr sz="900" i="0">
                <a:solidFill>
                  <a:srgbClr val="E6EDF3"/>
                </a:solidFill>
                <a:latin typeface="Consolas"/>
              </a:rPr>
              <a:t> </a:t>
            </a:r>
            <a:r>
              <a:rPr sz="900" i="0">
                <a:solidFill>
                  <a:srgbClr val="E6EDF3"/>
                </a:solidFill>
                <a:latin typeface="Consolas"/>
              </a:rPr>
              <a:t>*</a:t>
            </a:r>
            <a:r>
              <a:rPr sz="900" i="0">
                <a:solidFill>
                  <a:srgbClr val="E6EDF3"/>
                </a:solidFill>
                <a:latin typeface="Consolas"/>
              </a:rPr>
              <a:t> </a:t>
            </a:r>
            <a:r>
              <a:rPr sz="900" i="0">
                <a:solidFill>
                  <a:srgbClr val="E6EDF3"/>
                </a:solidFill>
                <a:latin typeface="Consolas"/>
              </a:rPr>
              <a:t>weight_kg</a:t>
            </a:r>
          </a:p>
          <a:p>
            <a:pPr>
              <a:lnSpc>
                <a:spcPts val="1200"/>
              </a:lnSpc>
              <a:spcAft>
                <a:spcPts val="0"/>
              </a:spcAft>
            </a:pPr>
            <a:r>
              <a:rPr sz="900" i="0">
                <a:solidFill>
                  <a:srgbClr val="5C6773"/>
                </a:solidFill>
                <a:latin typeface="Consolas"/>
              </a:rPr>
              <a:t>13  </a:t>
            </a:r>
            <a:r>
              <a:rPr sz="900" i="0">
                <a:solidFill>
                  <a:srgbClr val="E6EDF3"/>
                </a:solidFill>
                <a:latin typeface="Consolas"/>
              </a:rPr>
              <a:t>    </a:t>
            </a:r>
            <a:r>
              <a:rPr sz="900" i="1">
                <a:solidFill>
                  <a:srgbClr val="8B98A8"/>
                </a:solidFill>
                <a:latin typeface="Consolas"/>
              </a:rPr>
              <a:t># elif courier == "same_day": ...  &lt;- edit lagi di sini</a:t>
            </a:r>
          </a:p>
          <a:p>
            <a:pPr>
              <a:lnSpc>
                <a:spcPts val="1200"/>
              </a:lnSpc>
              <a:spcAft>
                <a:spcPts val="0"/>
              </a:spcAft>
            </a:pPr>
            <a:r>
              <a:rPr sz="900" i="0">
                <a:solidFill>
                  <a:srgbClr val="5C6773"/>
                </a:solidFill>
                <a:latin typeface="Consolas"/>
              </a:rPr>
              <a:t>14  </a:t>
            </a:r>
            <a:r>
              <a:rPr sz="900" i="0">
                <a:solidFill>
                  <a:srgbClr val="E6EDF3"/>
                </a:solidFill>
                <a:latin typeface="Consolas"/>
              </a:rPr>
              <a:t>    </a:t>
            </a:r>
            <a:r>
              <a:rPr sz="900" i="0">
                <a:solidFill>
                  <a:srgbClr val="FF8E6E"/>
                </a:solidFill>
                <a:latin typeface="Consolas"/>
              </a:rPr>
              <a:t>raise</a:t>
            </a:r>
            <a:r>
              <a:rPr sz="900" i="0">
                <a:solidFill>
                  <a:srgbClr val="E6EDF3"/>
                </a:solidFill>
                <a:latin typeface="Consolas"/>
              </a:rPr>
              <a:t> </a:t>
            </a:r>
            <a:r>
              <a:rPr sz="900" i="0">
                <a:solidFill>
                  <a:srgbClr val="7FDBCA"/>
                </a:solidFill>
                <a:latin typeface="Consolas"/>
              </a:rPr>
              <a:t>ValueError</a:t>
            </a:r>
            <a:r>
              <a:rPr sz="900" i="0">
                <a:solidFill>
                  <a:srgbClr val="E6EDF3"/>
                </a:solidFill>
                <a:latin typeface="Consolas"/>
              </a:rPr>
              <a:t>(</a:t>
            </a:r>
            <a:r>
              <a:rPr sz="900" i="0">
                <a:solidFill>
                  <a:srgbClr val="A5D6A7"/>
                </a:solidFill>
                <a:latin typeface="Consolas"/>
              </a:rPr>
              <a:t>f"Kurir tidak dikenal: {courier}"</a:t>
            </a:r>
            <a:r>
              <a:rPr sz="900" i="0">
                <a:solidFill>
                  <a:srgbClr val="E6EDF3"/>
                </a:solidFill>
                <a:latin typeface="Consolas"/>
              </a:rPr>
              <a:t>)</a:t>
            </a:r>
          </a:p>
          <a:p>
            <a:pPr>
              <a:lnSpc>
                <a:spcPts val="1200"/>
              </a:lnSpc>
              <a:spcAft>
                <a:spcPts val="0"/>
              </a:spcAft>
            </a:pPr>
            <a:r>
              <a:rPr sz="900" i="0">
                <a:solidFill>
                  <a:srgbClr val="5C6773"/>
                </a:solidFill>
                <a:latin typeface="Consolas"/>
              </a:rPr>
              <a:t>15  </a:t>
            </a:r>
            <a:r>
              <a:rPr sz="900" i="0">
                <a:solidFill>
                  <a:srgbClr val="E6EDF3"/>
                </a:solidFill>
                <a:latin typeface="Consolas"/>
              </a:rPr>
              <a:t> </a:t>
            </a:r>
          </a:p>
          <a:p>
            <a:pPr>
              <a:lnSpc>
                <a:spcPts val="1200"/>
              </a:lnSpc>
              <a:spcAft>
                <a:spcPts val="0"/>
              </a:spcAft>
            </a:pPr>
            <a:r>
              <a:rPr sz="900" i="0">
                <a:solidFill>
                  <a:srgbClr val="5C6773"/>
                </a:solidFill>
                <a:latin typeface="Consolas"/>
              </a:rPr>
              <a:t>16  </a:t>
            </a:r>
            <a:r>
              <a:rPr sz="900" i="0">
                <a:solidFill>
                  <a:srgbClr val="E6EDF3"/>
                </a:solidFill>
                <a:latin typeface="Consolas"/>
              </a:rPr>
              <a:t> </a:t>
            </a:r>
          </a:p>
          <a:p>
            <a:pPr>
              <a:lnSpc>
                <a:spcPts val="1200"/>
              </a:lnSpc>
              <a:spcAft>
                <a:spcPts val="0"/>
              </a:spcAft>
            </a:pPr>
            <a:r>
              <a:rPr sz="900" i="0">
                <a:solidFill>
                  <a:srgbClr val="5C6773"/>
                </a:solidFill>
                <a:latin typeface="Consolas"/>
              </a:rPr>
              <a:t>17  </a:t>
            </a:r>
            <a:r>
              <a:rPr sz="900" i="0">
                <a:solidFill>
                  <a:srgbClr val="FF8E6E"/>
                </a:solidFill>
                <a:latin typeface="Consolas"/>
              </a:rPr>
              <a:t>if</a:t>
            </a:r>
            <a:r>
              <a:rPr sz="900" i="0">
                <a:solidFill>
                  <a:srgbClr val="E6EDF3"/>
                </a:solidFill>
                <a:latin typeface="Consolas"/>
              </a:rPr>
              <a:t> </a:t>
            </a:r>
            <a:r>
              <a:rPr sz="900" i="0">
                <a:solidFill>
                  <a:srgbClr val="E6EDF3"/>
                </a:solidFill>
                <a:latin typeface="Consolas"/>
              </a:rPr>
              <a:t>__name__</a:t>
            </a:r>
            <a:r>
              <a:rPr sz="900" i="0">
                <a:solidFill>
                  <a:srgbClr val="E6EDF3"/>
                </a:solidFill>
                <a:latin typeface="Consolas"/>
              </a:rPr>
              <a:t> </a:t>
            </a:r>
            <a:r>
              <a:rPr sz="900" i="0">
                <a:solidFill>
                  <a:srgbClr val="E6EDF3"/>
                </a:solidFill>
                <a:latin typeface="Consolas"/>
              </a:rPr>
              <a:t>=</a:t>
            </a:r>
            <a:r>
              <a:rPr sz="900" i="0">
                <a:solidFill>
                  <a:srgbClr val="E6EDF3"/>
                </a:solidFill>
                <a:latin typeface="Consolas"/>
              </a:rPr>
              <a:t>=</a:t>
            </a:r>
            <a:r>
              <a:rPr sz="900" i="0">
                <a:solidFill>
                  <a:srgbClr val="E6EDF3"/>
                </a:solidFill>
                <a:latin typeface="Consolas"/>
              </a:rPr>
              <a:t> </a:t>
            </a:r>
            <a:r>
              <a:rPr sz="900" i="0">
                <a:solidFill>
                  <a:srgbClr val="A5D6A7"/>
                </a:solidFill>
                <a:latin typeface="Consolas"/>
              </a:rPr>
              <a:t>"__main__"</a:t>
            </a:r>
            <a:r>
              <a:rPr sz="900" i="0">
                <a:solidFill>
                  <a:srgbClr val="E6EDF3"/>
                </a:solidFill>
                <a:latin typeface="Consolas"/>
              </a:rPr>
              <a:t>:</a:t>
            </a:r>
          </a:p>
          <a:p>
            <a:pPr>
              <a:lnSpc>
                <a:spcPts val="1200"/>
              </a:lnSpc>
              <a:spcAft>
                <a:spcPts val="0"/>
              </a:spcAft>
            </a:pPr>
            <a:r>
              <a:rPr sz="900" i="0">
                <a:solidFill>
                  <a:srgbClr val="5C6773"/>
                </a:solidFill>
                <a:latin typeface="Consolas"/>
              </a:rPr>
              <a:t>18  </a:t>
            </a:r>
            <a:r>
              <a:rPr sz="900" i="0">
                <a:solidFill>
                  <a:srgbClr val="E6EDF3"/>
                </a:solidFill>
                <a:latin typeface="Consolas"/>
              </a:rPr>
              <a:t>    </a:t>
            </a:r>
            <a:r>
              <a:rPr sz="900" i="0">
                <a:solidFill>
                  <a:srgbClr val="C3A6FF"/>
                </a:solidFill>
                <a:latin typeface="Consolas"/>
              </a:rPr>
              <a:t>print</a:t>
            </a:r>
            <a:r>
              <a:rPr sz="900" i="0">
                <a:solidFill>
                  <a:srgbClr val="E6EDF3"/>
                </a:solidFill>
                <a:latin typeface="Consolas"/>
              </a:rPr>
              <a:t>(</a:t>
            </a:r>
            <a:r>
              <a:rPr sz="900" i="0">
                <a:solidFill>
                  <a:srgbClr val="E6EDF3"/>
                </a:solidFill>
                <a:latin typeface="Consolas"/>
              </a:rPr>
              <a:t>shipping_cost</a:t>
            </a:r>
            <a:r>
              <a:rPr sz="900" i="0">
                <a:solidFill>
                  <a:srgbClr val="E6EDF3"/>
                </a:solidFill>
                <a:latin typeface="Consolas"/>
              </a:rPr>
              <a:t>(</a:t>
            </a:r>
            <a:r>
              <a:rPr sz="900" i="0">
                <a:solidFill>
                  <a:srgbClr val="A5D6A7"/>
                </a:solidFill>
                <a:latin typeface="Consolas"/>
              </a:rPr>
              <a:t>"regular"</a:t>
            </a:r>
            <a:r>
              <a:rPr sz="900" i="0">
                <a:solidFill>
                  <a:srgbClr val="E6EDF3"/>
                </a:solidFill>
                <a:latin typeface="Consolas"/>
              </a:rPr>
              <a:t>,</a:t>
            </a:r>
            <a:r>
              <a:rPr sz="900" i="0">
                <a:solidFill>
                  <a:srgbClr val="E6EDF3"/>
                </a:solidFill>
                <a:latin typeface="Consolas"/>
              </a:rPr>
              <a:t> </a:t>
            </a:r>
            <a:r>
              <a:rPr sz="900" i="0">
                <a:solidFill>
                  <a:srgbClr val="F9C97A"/>
                </a:solidFill>
                <a:latin typeface="Consolas"/>
              </a:rPr>
              <a:t>2</a:t>
            </a:r>
            <a:r>
              <a:rPr sz="900" i="0">
                <a:solidFill>
                  <a:srgbClr val="E6EDF3"/>
                </a:solidFill>
                <a:latin typeface="Consolas"/>
              </a:rPr>
              <a:t>)</a:t>
            </a:r>
            <a:r>
              <a:rPr sz="900" i="0">
                <a:solidFill>
                  <a:srgbClr val="E6EDF3"/>
                </a:solidFill>
                <a:latin typeface="Consolas"/>
              </a:rPr>
              <a:t>)</a:t>
            </a:r>
          </a:p>
          <a:p>
            <a:pPr>
              <a:lnSpc>
                <a:spcPts val="1200"/>
              </a:lnSpc>
              <a:spcAft>
                <a:spcPts val="0"/>
              </a:spcAft>
            </a:pPr>
            <a:r>
              <a:rPr sz="900" i="0">
                <a:solidFill>
                  <a:srgbClr val="5C6773"/>
                </a:solidFill>
                <a:latin typeface="Consolas"/>
              </a:rPr>
              <a:t>19  </a:t>
            </a:r>
            <a:r>
              <a:rPr sz="900" i="0">
                <a:solidFill>
                  <a:srgbClr val="E6EDF3"/>
                </a:solidFill>
                <a:latin typeface="Consolas"/>
              </a:rPr>
              <a:t>    </a:t>
            </a:r>
            <a:r>
              <a:rPr sz="900" i="0">
                <a:solidFill>
                  <a:srgbClr val="C3A6FF"/>
                </a:solidFill>
                <a:latin typeface="Consolas"/>
              </a:rPr>
              <a:t>print</a:t>
            </a:r>
            <a:r>
              <a:rPr sz="900" i="0">
                <a:solidFill>
                  <a:srgbClr val="E6EDF3"/>
                </a:solidFill>
                <a:latin typeface="Consolas"/>
              </a:rPr>
              <a:t>(</a:t>
            </a:r>
            <a:r>
              <a:rPr sz="900" i="0">
                <a:solidFill>
                  <a:srgbClr val="E6EDF3"/>
                </a:solidFill>
                <a:latin typeface="Consolas"/>
              </a:rPr>
              <a:t>shipping_cost</a:t>
            </a:r>
            <a:r>
              <a:rPr sz="900" i="0">
                <a:solidFill>
                  <a:srgbClr val="E6EDF3"/>
                </a:solidFill>
                <a:latin typeface="Consolas"/>
              </a:rPr>
              <a:t>(</a:t>
            </a:r>
            <a:r>
              <a:rPr sz="900" i="0">
                <a:solidFill>
                  <a:srgbClr val="A5D6A7"/>
                </a:solidFill>
                <a:latin typeface="Consolas"/>
              </a:rPr>
              <a:t>"express"</a:t>
            </a:r>
            <a:r>
              <a:rPr sz="900" i="0">
                <a:solidFill>
                  <a:srgbClr val="E6EDF3"/>
                </a:solidFill>
                <a:latin typeface="Consolas"/>
              </a:rPr>
              <a:t>,</a:t>
            </a:r>
            <a:r>
              <a:rPr sz="900" i="0">
                <a:solidFill>
                  <a:srgbClr val="E6EDF3"/>
                </a:solidFill>
                <a:latin typeface="Consolas"/>
              </a:rPr>
              <a:t> </a:t>
            </a:r>
            <a:r>
              <a:rPr sz="900" i="0">
                <a:solidFill>
                  <a:srgbClr val="F9C97A"/>
                </a:solidFill>
                <a:latin typeface="Consolas"/>
              </a:rPr>
              <a:t>2</a:t>
            </a:r>
            <a:r>
              <a:rPr sz="900" i="0">
                <a:solidFill>
                  <a:srgbClr val="E6EDF3"/>
                </a:solidFill>
                <a:latin typeface="Consolas"/>
              </a:rPr>
              <a:t>)</a:t>
            </a:r>
            <a:r>
              <a:rPr sz="900" i="0">
                <a:solidFill>
                  <a:srgbClr val="E6EDF3"/>
                </a:solidFill>
                <a:latin typeface="Consolas"/>
              </a:rPr>
              <a:t>)</a:t>
            </a:r>
          </a:p>
        </p:txBody>
      </p:sp>
      <p:sp>
        <p:nvSpPr>
          <p:cNvPr id="29" name="Box 12"/>
          <p:cNvSpPr/>
          <p:nvPr/>
        </p:nvSpPr>
        <p:spPr>
          <a:xfrm>
            <a:off x="704088" y="1982724"/>
            <a:ext cx="7699248" cy="600456"/>
          </a:xfrm>
          <a:prstGeom prst="roundRect">
            <a:avLst>
              <a:gd name="adj" fmla="val 76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1640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2592324"/>
            <a:ext cx="769924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25450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O · Open/Closed</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02-ocp/before.py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sesi-02-solid-clean-architecture/02-ocp</a:t>
            </a:r>
          </a:p>
          <a:p>
            <a:pPr>
              <a:lnSpc>
                <a:spcPts val="1000"/>
              </a:lnSpc>
              <a:spcAft>
                <a:spcPts val="0"/>
              </a:spcAft>
            </a:pPr>
            <a:r>
              <a:rPr sz="775" i="0">
                <a:solidFill>
                  <a:srgbClr val="82B1FF"/>
                </a:solidFill>
                <a:latin typeface="Consolas"/>
              </a:rPr>
              <a:t>$ python before.py</a:t>
            </a:r>
          </a:p>
        </p:txBody>
      </p:sp>
      <p:pic>
        <p:nvPicPr>
          <p:cNvPr id="29" name="Image 12" descr="s02-02-ocp-before.png"/>
          <p:cNvPicPr>
            <a:picLocks noChangeAspect="1"/>
          </p:cNvPicPr>
          <p:nvPr/>
        </p:nvPicPr>
        <p:blipFill>
          <a:blip r:embed="rId2"/>
          <a:stretch>
            <a:fillRect/>
          </a:stretch>
        </p:blipFill>
        <p:spPr>
          <a:xfrm>
            <a:off x="621792" y="2240280"/>
            <a:ext cx="4297680" cy="1088136"/>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Setiap kurir = satu cabang if/elif (baris 9-12)</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Kurir baru (same_day) = membuka dan mengedit function yang sudah jalan (baris 13)</a:t>
            </a:r>
          </a:p>
          <a:p>
            <a:pPr algn="l">
              <a:lnSpc>
                <a:spcPct val="115000"/>
              </a:lnSpc>
              <a:spcAft>
                <a:spcPts val="0"/>
              </a:spcAft>
            </a:pPr>
            <a:r>
              <a:rPr sz="570"/>
              <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Kode lama yang sudah dites ikut berisiko rusak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O · Open/Closed</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Kurir Baru = Class Baru</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218687"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02-ocp/after.py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3858768" cy="2980944"/>
          </a:xfrm>
          <a:prstGeom prst="rect">
            <a:avLst/>
          </a:prstGeom>
          <a:noFill/>
        </p:spPr>
        <p:txBody>
          <a:bodyPr wrap="none" lIns="146304" rIns="146304" tIns="91440" bIns="54864">
            <a:spAutoFit/>
          </a:bodyPr>
          <a:lstStyle/>
          <a:p>
            <a:pPr>
              <a:lnSpc>
                <a:spcPts val="1000"/>
              </a:lnSpc>
              <a:spcAft>
                <a:spcPts val="0"/>
              </a:spcAft>
            </a:pPr>
            <a:r>
              <a:rPr sz="783" i="0">
                <a:solidFill>
                  <a:srgbClr val="5C6773"/>
                </a:solidFill>
                <a:latin typeface="Consolas"/>
              </a:rPr>
              <a:t> 8  </a:t>
            </a:r>
            <a:r>
              <a:rPr sz="783" i="0">
                <a:solidFill>
                  <a:srgbClr val="FF8E6E"/>
                </a:solidFill>
                <a:latin typeface="Consolas"/>
              </a:rPr>
              <a:t>class</a:t>
            </a:r>
            <a:r>
              <a:rPr sz="783" i="0">
                <a:solidFill>
                  <a:srgbClr val="E6EDF3"/>
                </a:solidFill>
                <a:latin typeface="Consolas"/>
              </a:rPr>
              <a:t> </a:t>
            </a:r>
            <a:r>
              <a:rPr sz="783" i="0">
                <a:solidFill>
                  <a:srgbClr val="7FDBCA"/>
                </a:solidFill>
                <a:latin typeface="Consolas"/>
              </a:rPr>
              <a:t>RegularCourier</a:t>
            </a:r>
            <a:r>
              <a:rPr sz="783" i="0">
                <a:solidFill>
                  <a:srgbClr val="E6EDF3"/>
                </a:solidFill>
                <a:latin typeface="Consolas"/>
              </a:rPr>
              <a:t>:</a:t>
            </a:r>
          </a:p>
          <a:p>
            <a:pPr>
              <a:lnSpc>
                <a:spcPts val="1000"/>
              </a:lnSpc>
              <a:spcAft>
                <a:spcPts val="0"/>
              </a:spcAft>
            </a:pPr>
            <a:r>
              <a:rPr sz="783" i="0">
                <a:solidFill>
                  <a:srgbClr val="5C6773"/>
                </a:solidFill>
                <a:latin typeface="Consolas"/>
              </a:rPr>
              <a:t> 9  </a:t>
            </a:r>
            <a:r>
              <a:rPr sz="783" i="0">
                <a:solidFill>
                  <a:srgbClr val="E6EDF3"/>
                </a:solidFill>
                <a:latin typeface="Consolas"/>
              </a:rPr>
              <a:t>    </a:t>
            </a:r>
            <a:r>
              <a:rPr sz="783" i="0">
                <a:solidFill>
                  <a:srgbClr val="FF8E6E"/>
                </a:solidFill>
                <a:latin typeface="Consolas"/>
              </a:rPr>
              <a:t>def</a:t>
            </a:r>
            <a:r>
              <a:rPr sz="783" i="0">
                <a:solidFill>
                  <a:srgbClr val="E6EDF3"/>
                </a:solidFill>
                <a:latin typeface="Consolas"/>
              </a:rPr>
              <a:t> </a:t>
            </a:r>
            <a:r>
              <a:rPr sz="783" i="0">
                <a:solidFill>
                  <a:srgbClr val="82B1FF"/>
                </a:solidFill>
                <a:latin typeface="Consolas"/>
              </a:rPr>
              <a:t>cost</a:t>
            </a:r>
            <a:r>
              <a:rPr sz="783" i="0">
                <a:solidFill>
                  <a:srgbClr val="E6EDF3"/>
                </a:solidFill>
                <a:latin typeface="Consolas"/>
              </a:rPr>
              <a:t>(</a:t>
            </a:r>
            <a:r>
              <a:rPr sz="783" i="0">
                <a:solidFill>
                  <a:srgbClr val="C3A6FF"/>
                </a:solidFill>
                <a:latin typeface="Consolas"/>
              </a:rPr>
              <a:t>self</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weight_kg</a:t>
            </a:r>
            <a:r>
              <a:rPr sz="783" i="0">
                <a:solidFill>
                  <a:srgbClr val="E6EDF3"/>
                </a:solidFill>
                <a:latin typeface="Consolas"/>
              </a:rPr>
              <a: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&gt;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p>
          <a:p>
            <a:pPr>
              <a:lnSpc>
                <a:spcPts val="1000"/>
              </a:lnSpc>
              <a:spcAft>
                <a:spcPts val="0"/>
              </a:spcAft>
            </a:pPr>
            <a:r>
              <a:rPr sz="783" i="0">
                <a:solidFill>
                  <a:srgbClr val="5C6773"/>
                </a:solidFill>
                <a:latin typeface="Consolas"/>
              </a:rPr>
              <a:t>10  </a:t>
            </a:r>
            <a:r>
              <a:rPr sz="783" i="0">
                <a:solidFill>
                  <a:srgbClr val="E6EDF3"/>
                </a:solidFill>
                <a:latin typeface="Consolas"/>
              </a:rPr>
              <a:t>        </a:t>
            </a:r>
            <a:r>
              <a:rPr sz="783" i="0">
                <a:solidFill>
                  <a:srgbClr val="FF8E6E"/>
                </a:solidFill>
                <a:latin typeface="Consolas"/>
              </a:rPr>
              <a:t>return</a:t>
            </a:r>
            <a:r>
              <a:rPr sz="783" i="0">
                <a:solidFill>
                  <a:srgbClr val="E6EDF3"/>
                </a:solidFill>
                <a:latin typeface="Consolas"/>
              </a:rPr>
              <a:t> </a:t>
            </a:r>
            <a:r>
              <a:rPr sz="783" i="0">
                <a:solidFill>
                  <a:srgbClr val="F9C97A"/>
                </a:solidFill>
                <a:latin typeface="Consolas"/>
              </a:rPr>
              <a:t>10_000</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weight_kg</a:t>
            </a:r>
          </a:p>
          <a:p>
            <a:pPr>
              <a:lnSpc>
                <a:spcPts val="1000"/>
              </a:lnSpc>
              <a:spcAft>
                <a:spcPts val="0"/>
              </a:spcAft>
            </a:pPr>
            <a:r>
              <a:rPr sz="783" i="0">
                <a:solidFill>
                  <a:srgbClr val="5C6773"/>
                </a:solidFill>
                <a:latin typeface="Consolas"/>
              </a:rPr>
              <a:t>11  </a:t>
            </a:r>
            <a:r>
              <a:rPr sz="783" i="0">
                <a:solidFill>
                  <a:srgbClr val="E6EDF3"/>
                </a:solidFill>
                <a:latin typeface="Consolas"/>
              </a:rPr>
              <a:t> </a:t>
            </a:r>
          </a:p>
          <a:p>
            <a:pPr>
              <a:lnSpc>
                <a:spcPts val="1000"/>
              </a:lnSpc>
              <a:spcAft>
                <a:spcPts val="0"/>
              </a:spcAft>
            </a:pPr>
            <a:r>
              <a:rPr sz="783" i="0">
                <a:solidFill>
                  <a:srgbClr val="5C6773"/>
                </a:solidFill>
                <a:latin typeface="Consolas"/>
              </a:rPr>
              <a:t>12  </a:t>
            </a:r>
            <a:r>
              <a:rPr sz="783" i="0">
                <a:solidFill>
                  <a:srgbClr val="E6EDF3"/>
                </a:solidFill>
                <a:latin typeface="Consolas"/>
              </a:rPr>
              <a:t> </a:t>
            </a:r>
          </a:p>
          <a:p>
            <a:pPr>
              <a:lnSpc>
                <a:spcPts val="1000"/>
              </a:lnSpc>
              <a:spcAft>
                <a:spcPts val="0"/>
              </a:spcAft>
            </a:pPr>
            <a:r>
              <a:rPr sz="783" i="0">
                <a:solidFill>
                  <a:srgbClr val="5C6773"/>
                </a:solidFill>
                <a:latin typeface="Consolas"/>
              </a:rPr>
              <a:t>13  </a:t>
            </a:r>
            <a:r>
              <a:rPr sz="783" i="0">
                <a:solidFill>
                  <a:srgbClr val="FF8E6E"/>
                </a:solidFill>
                <a:latin typeface="Consolas"/>
              </a:rPr>
              <a:t>class</a:t>
            </a:r>
            <a:r>
              <a:rPr sz="783" i="0">
                <a:solidFill>
                  <a:srgbClr val="E6EDF3"/>
                </a:solidFill>
                <a:latin typeface="Consolas"/>
              </a:rPr>
              <a:t> </a:t>
            </a:r>
            <a:r>
              <a:rPr sz="783" i="0">
                <a:solidFill>
                  <a:srgbClr val="7FDBCA"/>
                </a:solidFill>
                <a:latin typeface="Consolas"/>
              </a:rPr>
              <a:t>ExpressCourier</a:t>
            </a:r>
            <a:r>
              <a:rPr sz="783" i="0">
                <a:solidFill>
                  <a:srgbClr val="E6EDF3"/>
                </a:solidFill>
                <a:latin typeface="Consolas"/>
              </a:rPr>
              <a:t>:</a:t>
            </a:r>
          </a:p>
          <a:p>
            <a:pPr>
              <a:lnSpc>
                <a:spcPts val="1000"/>
              </a:lnSpc>
              <a:spcAft>
                <a:spcPts val="0"/>
              </a:spcAft>
            </a:pPr>
            <a:r>
              <a:rPr sz="783" i="0">
                <a:solidFill>
                  <a:srgbClr val="5C6773"/>
                </a:solidFill>
                <a:latin typeface="Consolas"/>
              </a:rPr>
              <a:t>14  </a:t>
            </a:r>
            <a:r>
              <a:rPr sz="783" i="0">
                <a:solidFill>
                  <a:srgbClr val="E6EDF3"/>
                </a:solidFill>
                <a:latin typeface="Consolas"/>
              </a:rPr>
              <a:t>    </a:t>
            </a:r>
            <a:r>
              <a:rPr sz="783" i="0">
                <a:solidFill>
                  <a:srgbClr val="FF8E6E"/>
                </a:solidFill>
                <a:latin typeface="Consolas"/>
              </a:rPr>
              <a:t>def</a:t>
            </a:r>
            <a:r>
              <a:rPr sz="783" i="0">
                <a:solidFill>
                  <a:srgbClr val="E6EDF3"/>
                </a:solidFill>
                <a:latin typeface="Consolas"/>
              </a:rPr>
              <a:t> </a:t>
            </a:r>
            <a:r>
              <a:rPr sz="783" i="0">
                <a:solidFill>
                  <a:srgbClr val="82B1FF"/>
                </a:solidFill>
                <a:latin typeface="Consolas"/>
              </a:rPr>
              <a:t>cost</a:t>
            </a:r>
            <a:r>
              <a:rPr sz="783" i="0">
                <a:solidFill>
                  <a:srgbClr val="E6EDF3"/>
                </a:solidFill>
                <a:latin typeface="Consolas"/>
              </a:rPr>
              <a:t>(</a:t>
            </a:r>
            <a:r>
              <a:rPr sz="783" i="0">
                <a:solidFill>
                  <a:srgbClr val="C3A6FF"/>
                </a:solidFill>
                <a:latin typeface="Consolas"/>
              </a:rPr>
              <a:t>self</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weight_kg</a:t>
            </a:r>
            <a:r>
              <a:rPr sz="783" i="0">
                <a:solidFill>
                  <a:srgbClr val="E6EDF3"/>
                </a:solidFill>
                <a:latin typeface="Consolas"/>
              </a:rPr>
              <a: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&gt;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p>
          <a:p>
            <a:pPr>
              <a:lnSpc>
                <a:spcPts val="1000"/>
              </a:lnSpc>
              <a:spcAft>
                <a:spcPts val="0"/>
              </a:spcAft>
            </a:pPr>
            <a:r>
              <a:rPr sz="783" i="0">
                <a:solidFill>
                  <a:srgbClr val="5C6773"/>
                </a:solidFill>
                <a:latin typeface="Consolas"/>
              </a:rPr>
              <a:t>15  </a:t>
            </a:r>
            <a:r>
              <a:rPr sz="783" i="0">
                <a:solidFill>
                  <a:srgbClr val="E6EDF3"/>
                </a:solidFill>
                <a:latin typeface="Consolas"/>
              </a:rPr>
              <a:t>        </a:t>
            </a:r>
            <a:r>
              <a:rPr sz="783" i="0">
                <a:solidFill>
                  <a:srgbClr val="FF8E6E"/>
                </a:solidFill>
                <a:latin typeface="Consolas"/>
              </a:rPr>
              <a:t>return</a:t>
            </a:r>
            <a:r>
              <a:rPr sz="783" i="0">
                <a:solidFill>
                  <a:srgbClr val="E6EDF3"/>
                </a:solidFill>
                <a:latin typeface="Consolas"/>
              </a:rPr>
              <a:t> </a:t>
            </a:r>
            <a:r>
              <a:rPr sz="783" i="0">
                <a:solidFill>
                  <a:srgbClr val="F9C97A"/>
                </a:solidFill>
                <a:latin typeface="Consolas"/>
              </a:rPr>
              <a:t>20_000</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weight_kg</a:t>
            </a:r>
          </a:p>
          <a:p>
            <a:pPr>
              <a:lnSpc>
                <a:spcPts val="1000"/>
              </a:lnSpc>
              <a:spcAft>
                <a:spcPts val="0"/>
              </a:spcAft>
            </a:pPr>
            <a:r>
              <a:rPr sz="783" i="0">
                <a:solidFill>
                  <a:srgbClr val="5C6773"/>
                </a:solidFill>
                <a:latin typeface="Consolas"/>
              </a:rPr>
              <a:t>16  </a:t>
            </a:r>
            <a:r>
              <a:rPr sz="783" i="0">
                <a:solidFill>
                  <a:srgbClr val="E6EDF3"/>
                </a:solidFill>
                <a:latin typeface="Consolas"/>
              </a:rPr>
              <a:t> </a:t>
            </a:r>
          </a:p>
          <a:p>
            <a:pPr>
              <a:lnSpc>
                <a:spcPts val="1000"/>
              </a:lnSpc>
              <a:spcAft>
                <a:spcPts val="0"/>
              </a:spcAft>
            </a:pPr>
            <a:r>
              <a:rPr sz="783" i="0">
                <a:solidFill>
                  <a:srgbClr val="5C6773"/>
                </a:solidFill>
                <a:latin typeface="Consolas"/>
              </a:rPr>
              <a:t>17  </a:t>
            </a:r>
            <a:r>
              <a:rPr sz="783" i="0">
                <a:solidFill>
                  <a:srgbClr val="E6EDF3"/>
                </a:solidFill>
                <a:latin typeface="Consolas"/>
              </a:rPr>
              <a:t> </a:t>
            </a:r>
          </a:p>
          <a:p>
            <a:pPr>
              <a:lnSpc>
                <a:spcPts val="1000"/>
              </a:lnSpc>
              <a:spcAft>
                <a:spcPts val="0"/>
              </a:spcAft>
            </a:pPr>
            <a:r>
              <a:rPr sz="783" i="0">
                <a:solidFill>
                  <a:srgbClr val="5C6773"/>
                </a:solidFill>
                <a:latin typeface="Consolas"/>
              </a:rPr>
              <a:t>18  </a:t>
            </a:r>
            <a:r>
              <a:rPr sz="783" i="0">
                <a:solidFill>
                  <a:srgbClr val="FF8E6E"/>
                </a:solidFill>
                <a:latin typeface="Consolas"/>
              </a:rPr>
              <a:t>class</a:t>
            </a:r>
            <a:r>
              <a:rPr sz="783" i="0">
                <a:solidFill>
                  <a:srgbClr val="E6EDF3"/>
                </a:solidFill>
                <a:latin typeface="Consolas"/>
              </a:rPr>
              <a:t> </a:t>
            </a:r>
            <a:r>
              <a:rPr sz="783" i="0">
                <a:solidFill>
                  <a:srgbClr val="7FDBCA"/>
                </a:solidFill>
                <a:latin typeface="Consolas"/>
              </a:rPr>
              <a:t>SameDayCourier</a:t>
            </a:r>
            <a:r>
              <a:rPr sz="783" i="0">
                <a:solidFill>
                  <a:srgbClr val="E6EDF3"/>
                </a:solidFill>
                <a:latin typeface="Consolas"/>
              </a:rPr>
              <a:t>:</a:t>
            </a:r>
            <a:r>
              <a:rPr sz="783" i="0">
                <a:solidFill>
                  <a:srgbClr val="E6EDF3"/>
                </a:solidFill>
                <a:latin typeface="Consolas"/>
              </a:rPr>
              <a:t>  </a:t>
            </a:r>
            <a:r>
              <a:rPr sz="783" i="1">
                <a:solidFill>
                  <a:srgbClr val="8B98A8"/>
                </a:solidFill>
                <a:latin typeface="Consolas"/>
              </a:rPr>
              <a:t># kurir baru</a:t>
            </a:r>
          </a:p>
          <a:p>
            <a:pPr>
              <a:lnSpc>
                <a:spcPts val="1000"/>
              </a:lnSpc>
              <a:spcAft>
                <a:spcPts val="0"/>
              </a:spcAft>
            </a:pPr>
            <a:r>
              <a:rPr sz="783" i="0">
                <a:solidFill>
                  <a:srgbClr val="5C6773"/>
                </a:solidFill>
                <a:latin typeface="Consolas"/>
              </a:rPr>
              <a:t>19  </a:t>
            </a:r>
            <a:r>
              <a:rPr sz="783" i="0">
                <a:solidFill>
                  <a:srgbClr val="E6EDF3"/>
                </a:solidFill>
                <a:latin typeface="Consolas"/>
              </a:rPr>
              <a:t>    </a:t>
            </a:r>
            <a:r>
              <a:rPr sz="783" i="0">
                <a:solidFill>
                  <a:srgbClr val="FF8E6E"/>
                </a:solidFill>
                <a:latin typeface="Consolas"/>
              </a:rPr>
              <a:t>def</a:t>
            </a:r>
            <a:r>
              <a:rPr sz="783" i="0">
                <a:solidFill>
                  <a:srgbClr val="E6EDF3"/>
                </a:solidFill>
                <a:latin typeface="Consolas"/>
              </a:rPr>
              <a:t> </a:t>
            </a:r>
            <a:r>
              <a:rPr sz="783" i="0">
                <a:solidFill>
                  <a:srgbClr val="82B1FF"/>
                </a:solidFill>
                <a:latin typeface="Consolas"/>
              </a:rPr>
              <a:t>cost</a:t>
            </a:r>
            <a:r>
              <a:rPr sz="783" i="0">
                <a:solidFill>
                  <a:srgbClr val="E6EDF3"/>
                </a:solidFill>
                <a:latin typeface="Consolas"/>
              </a:rPr>
              <a:t>(</a:t>
            </a:r>
            <a:r>
              <a:rPr sz="783" i="0">
                <a:solidFill>
                  <a:srgbClr val="C3A6FF"/>
                </a:solidFill>
                <a:latin typeface="Consolas"/>
              </a:rPr>
              <a:t>self</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weight_kg</a:t>
            </a:r>
            <a:r>
              <a:rPr sz="783" i="0">
                <a:solidFill>
                  <a:srgbClr val="E6EDF3"/>
                </a:solidFill>
                <a:latin typeface="Consolas"/>
              </a:rPr>
              <a: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&gt;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p>
          <a:p>
            <a:pPr>
              <a:lnSpc>
                <a:spcPts val="1000"/>
              </a:lnSpc>
              <a:spcAft>
                <a:spcPts val="0"/>
              </a:spcAft>
            </a:pPr>
            <a:r>
              <a:rPr sz="783" i="0">
                <a:solidFill>
                  <a:srgbClr val="5C6773"/>
                </a:solidFill>
                <a:latin typeface="Consolas"/>
              </a:rPr>
              <a:t>20  </a:t>
            </a:r>
            <a:r>
              <a:rPr sz="783" i="0">
                <a:solidFill>
                  <a:srgbClr val="E6EDF3"/>
                </a:solidFill>
                <a:latin typeface="Consolas"/>
              </a:rPr>
              <a:t>        </a:t>
            </a:r>
            <a:r>
              <a:rPr sz="783" i="0">
                <a:solidFill>
                  <a:srgbClr val="FF8E6E"/>
                </a:solidFill>
                <a:latin typeface="Consolas"/>
              </a:rPr>
              <a:t>return</a:t>
            </a:r>
            <a:r>
              <a:rPr sz="783" i="0">
                <a:solidFill>
                  <a:srgbClr val="E6EDF3"/>
                </a:solidFill>
                <a:latin typeface="Consolas"/>
              </a:rPr>
              <a:t> </a:t>
            </a:r>
            <a:r>
              <a:rPr sz="783" i="0">
                <a:solidFill>
                  <a:srgbClr val="F9C97A"/>
                </a:solidFill>
                <a:latin typeface="Consolas"/>
              </a:rPr>
              <a:t>35_000</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 </a:t>
            </a:r>
            <a:r>
              <a:rPr sz="783" i="0">
                <a:solidFill>
                  <a:srgbClr val="F9C97A"/>
                </a:solidFill>
                <a:latin typeface="Consolas"/>
              </a:rPr>
              <a:t>15_000</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weight_kg</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17"/>
          <p:cNvSpPr txBox="1"/>
          <p:nvPr/>
        </p:nvSpPr>
        <p:spPr>
          <a:xfrm>
            <a:off x="5175503" y="1490472"/>
            <a:ext cx="3218687"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02-ocp/after.py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5" name="Code 20"/>
          <p:cNvSpPr txBox="1"/>
          <p:nvPr/>
        </p:nvSpPr>
        <p:spPr>
          <a:xfrm>
            <a:off x="4626864" y="1719072"/>
            <a:ext cx="3858768" cy="2980944"/>
          </a:xfrm>
          <a:prstGeom prst="rect">
            <a:avLst/>
          </a:prstGeom>
          <a:noFill/>
        </p:spPr>
        <p:txBody>
          <a:bodyPr wrap="none" lIns="146304" rIns="146304" tIns="91440" bIns="54864">
            <a:spAutoFit/>
          </a:bodyPr>
          <a:lstStyle/>
          <a:p>
            <a:pPr>
              <a:lnSpc>
                <a:spcPts val="1000"/>
              </a:lnSpc>
              <a:spcAft>
                <a:spcPts val="0"/>
              </a:spcAft>
            </a:pPr>
            <a:r>
              <a:rPr sz="783" i="0">
                <a:solidFill>
                  <a:srgbClr val="5C6773"/>
                </a:solidFill>
                <a:latin typeface="Consolas"/>
              </a:rPr>
              <a:t>23  </a:t>
            </a:r>
            <a:r>
              <a:rPr sz="783" i="0">
                <a:solidFill>
                  <a:srgbClr val="7FDBCA"/>
                </a:solidFill>
                <a:latin typeface="Consolas"/>
              </a:rPr>
              <a:t>COURIERS</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a:t>
            </a:r>
          </a:p>
          <a:p>
            <a:pPr>
              <a:lnSpc>
                <a:spcPts val="1000"/>
              </a:lnSpc>
              <a:spcAft>
                <a:spcPts val="0"/>
              </a:spcAft>
            </a:pPr>
            <a:r>
              <a:rPr sz="783" i="0">
                <a:solidFill>
                  <a:srgbClr val="5C6773"/>
                </a:solidFill>
                <a:latin typeface="Consolas"/>
              </a:rPr>
              <a:t>24  </a:t>
            </a:r>
            <a:r>
              <a:rPr sz="783" i="0">
                <a:solidFill>
                  <a:srgbClr val="E6EDF3"/>
                </a:solidFill>
                <a:latin typeface="Consolas"/>
              </a:rPr>
              <a:t>    </a:t>
            </a:r>
            <a:r>
              <a:rPr sz="783" i="0">
                <a:solidFill>
                  <a:srgbClr val="A5D6A7"/>
                </a:solidFill>
                <a:latin typeface="Consolas"/>
              </a:rPr>
              <a:t>"regular"</a:t>
            </a:r>
            <a:r>
              <a:rPr sz="783" i="0">
                <a:solidFill>
                  <a:srgbClr val="E6EDF3"/>
                </a:solidFill>
                <a:latin typeface="Consolas"/>
              </a:rPr>
              <a:t>:</a:t>
            </a:r>
            <a:r>
              <a:rPr sz="783" i="0">
                <a:solidFill>
                  <a:srgbClr val="E6EDF3"/>
                </a:solidFill>
                <a:latin typeface="Consolas"/>
              </a:rPr>
              <a:t> </a:t>
            </a:r>
            <a:r>
              <a:rPr sz="783" i="0">
                <a:solidFill>
                  <a:srgbClr val="7FDBCA"/>
                </a:solidFill>
                <a:latin typeface="Consolas"/>
              </a:rPr>
              <a:t>RegularCourier</a:t>
            </a:r>
            <a:r>
              <a:rPr sz="783" i="0">
                <a:solidFill>
                  <a:srgbClr val="E6EDF3"/>
                </a:solidFill>
                <a:latin typeface="Consolas"/>
              </a:rPr>
              <a:t>(</a:t>
            </a:r>
            <a:r>
              <a:rPr sz="783" i="0">
                <a:solidFill>
                  <a:srgbClr val="E6EDF3"/>
                </a:solidFill>
                <a:latin typeface="Consolas"/>
              </a:rPr>
              <a:t>)</a:t>
            </a:r>
            <a:r>
              <a:rPr sz="783" i="0">
                <a:solidFill>
                  <a:srgbClr val="E6EDF3"/>
                </a:solidFill>
                <a:latin typeface="Consolas"/>
              </a:rPr>
              <a:t>,</a:t>
            </a:r>
          </a:p>
          <a:p>
            <a:pPr>
              <a:lnSpc>
                <a:spcPts val="1000"/>
              </a:lnSpc>
              <a:spcAft>
                <a:spcPts val="0"/>
              </a:spcAft>
            </a:pPr>
            <a:r>
              <a:rPr sz="783" i="0">
                <a:solidFill>
                  <a:srgbClr val="5C6773"/>
                </a:solidFill>
                <a:latin typeface="Consolas"/>
              </a:rPr>
              <a:t>25  </a:t>
            </a:r>
            <a:r>
              <a:rPr sz="783" i="0">
                <a:solidFill>
                  <a:srgbClr val="E6EDF3"/>
                </a:solidFill>
                <a:latin typeface="Consolas"/>
              </a:rPr>
              <a:t>    </a:t>
            </a:r>
            <a:r>
              <a:rPr sz="783" i="0">
                <a:solidFill>
                  <a:srgbClr val="A5D6A7"/>
                </a:solidFill>
                <a:latin typeface="Consolas"/>
              </a:rPr>
              <a:t>"express"</a:t>
            </a:r>
            <a:r>
              <a:rPr sz="783" i="0">
                <a:solidFill>
                  <a:srgbClr val="E6EDF3"/>
                </a:solidFill>
                <a:latin typeface="Consolas"/>
              </a:rPr>
              <a:t>:</a:t>
            </a:r>
            <a:r>
              <a:rPr sz="783" i="0">
                <a:solidFill>
                  <a:srgbClr val="E6EDF3"/>
                </a:solidFill>
                <a:latin typeface="Consolas"/>
              </a:rPr>
              <a:t> </a:t>
            </a:r>
            <a:r>
              <a:rPr sz="783" i="0">
                <a:solidFill>
                  <a:srgbClr val="7FDBCA"/>
                </a:solidFill>
                <a:latin typeface="Consolas"/>
              </a:rPr>
              <a:t>ExpressCourier</a:t>
            </a:r>
            <a:r>
              <a:rPr sz="783" i="0">
                <a:solidFill>
                  <a:srgbClr val="E6EDF3"/>
                </a:solidFill>
                <a:latin typeface="Consolas"/>
              </a:rPr>
              <a:t>(</a:t>
            </a:r>
            <a:r>
              <a:rPr sz="783" i="0">
                <a:solidFill>
                  <a:srgbClr val="E6EDF3"/>
                </a:solidFill>
                <a:latin typeface="Consolas"/>
              </a:rPr>
              <a:t>)</a:t>
            </a:r>
            <a:r>
              <a:rPr sz="783" i="0">
                <a:solidFill>
                  <a:srgbClr val="E6EDF3"/>
                </a:solidFill>
                <a:latin typeface="Consolas"/>
              </a:rPr>
              <a:t>,</a:t>
            </a:r>
          </a:p>
          <a:p>
            <a:pPr>
              <a:lnSpc>
                <a:spcPts val="1000"/>
              </a:lnSpc>
              <a:spcAft>
                <a:spcPts val="0"/>
              </a:spcAft>
            </a:pPr>
            <a:r>
              <a:rPr sz="783" i="0">
                <a:solidFill>
                  <a:srgbClr val="5C6773"/>
                </a:solidFill>
                <a:latin typeface="Consolas"/>
              </a:rPr>
              <a:t>26  </a:t>
            </a:r>
            <a:r>
              <a:rPr sz="783" i="0">
                <a:solidFill>
                  <a:srgbClr val="E6EDF3"/>
                </a:solidFill>
                <a:latin typeface="Consolas"/>
              </a:rPr>
              <a:t>    </a:t>
            </a:r>
            <a:r>
              <a:rPr sz="783" i="0">
                <a:solidFill>
                  <a:srgbClr val="A5D6A7"/>
                </a:solidFill>
                <a:latin typeface="Consolas"/>
              </a:rPr>
              <a:t>"same_day"</a:t>
            </a:r>
            <a:r>
              <a:rPr sz="783" i="0">
                <a:solidFill>
                  <a:srgbClr val="E6EDF3"/>
                </a:solidFill>
                <a:latin typeface="Consolas"/>
              </a:rPr>
              <a:t>:</a:t>
            </a:r>
            <a:r>
              <a:rPr sz="783" i="0">
                <a:solidFill>
                  <a:srgbClr val="E6EDF3"/>
                </a:solidFill>
                <a:latin typeface="Consolas"/>
              </a:rPr>
              <a:t> </a:t>
            </a:r>
            <a:r>
              <a:rPr sz="783" i="0">
                <a:solidFill>
                  <a:srgbClr val="7FDBCA"/>
                </a:solidFill>
                <a:latin typeface="Consolas"/>
              </a:rPr>
              <a:t>SameDayCourier</a:t>
            </a:r>
            <a:r>
              <a:rPr sz="783" i="0">
                <a:solidFill>
                  <a:srgbClr val="E6EDF3"/>
                </a:solidFill>
                <a:latin typeface="Consolas"/>
              </a:rPr>
              <a:t>(</a:t>
            </a:r>
            <a:r>
              <a:rPr sz="783" i="0">
                <a:solidFill>
                  <a:srgbClr val="E6EDF3"/>
                </a:solidFill>
                <a:latin typeface="Consolas"/>
              </a:rPr>
              <a:t>)</a:t>
            </a:r>
            <a:r>
              <a:rPr sz="783" i="0">
                <a:solidFill>
                  <a:srgbClr val="E6EDF3"/>
                </a:solidFill>
                <a:latin typeface="Consolas"/>
              </a:rPr>
              <a:t>,</a:t>
            </a:r>
          </a:p>
          <a:p>
            <a:pPr>
              <a:lnSpc>
                <a:spcPts val="1000"/>
              </a:lnSpc>
              <a:spcAft>
                <a:spcPts val="0"/>
              </a:spcAft>
            </a:pPr>
            <a:r>
              <a:rPr sz="783" i="0">
                <a:solidFill>
                  <a:srgbClr val="5C6773"/>
                </a:solidFill>
                <a:latin typeface="Consolas"/>
              </a:rPr>
              <a:t>27  </a:t>
            </a:r>
            <a:r>
              <a:rPr sz="783" i="0">
                <a:solidFill>
                  <a:srgbClr val="E6EDF3"/>
                </a:solidFill>
                <a:latin typeface="Consolas"/>
              </a:rPr>
              <a:t>}</a:t>
            </a:r>
          </a:p>
          <a:p>
            <a:pPr>
              <a:lnSpc>
                <a:spcPts val="1000"/>
              </a:lnSpc>
              <a:spcAft>
                <a:spcPts val="0"/>
              </a:spcAft>
            </a:pPr>
            <a:r>
              <a:rPr sz="783" i="0">
                <a:solidFill>
                  <a:srgbClr val="5C6773"/>
                </a:solidFill>
                <a:latin typeface="Consolas"/>
              </a:rPr>
              <a:t>28  </a:t>
            </a:r>
            <a:r>
              <a:rPr sz="783" i="0">
                <a:solidFill>
                  <a:srgbClr val="E6EDF3"/>
                </a:solidFill>
                <a:latin typeface="Consolas"/>
              </a:rPr>
              <a:t> </a:t>
            </a:r>
          </a:p>
          <a:p>
            <a:pPr>
              <a:lnSpc>
                <a:spcPts val="1000"/>
              </a:lnSpc>
              <a:spcAft>
                <a:spcPts val="0"/>
              </a:spcAft>
            </a:pPr>
            <a:r>
              <a:rPr sz="783" i="0">
                <a:solidFill>
                  <a:srgbClr val="5C6773"/>
                </a:solidFill>
                <a:latin typeface="Consolas"/>
              </a:rPr>
              <a:t>29  </a:t>
            </a:r>
            <a:r>
              <a:rPr sz="783" i="0">
                <a:solidFill>
                  <a:srgbClr val="E6EDF3"/>
                </a:solidFill>
                <a:latin typeface="Consolas"/>
              </a:rPr>
              <a:t> </a:t>
            </a:r>
          </a:p>
          <a:p>
            <a:pPr>
              <a:lnSpc>
                <a:spcPts val="1000"/>
              </a:lnSpc>
              <a:spcAft>
                <a:spcPts val="0"/>
              </a:spcAft>
            </a:pPr>
            <a:r>
              <a:rPr sz="783" i="0">
                <a:solidFill>
                  <a:srgbClr val="5C6773"/>
                </a:solidFill>
                <a:latin typeface="Consolas"/>
              </a:rPr>
              <a:t>30  </a:t>
            </a:r>
            <a:r>
              <a:rPr sz="783" i="0">
                <a:solidFill>
                  <a:srgbClr val="FF8E6E"/>
                </a:solidFill>
                <a:latin typeface="Consolas"/>
              </a:rPr>
              <a:t>def</a:t>
            </a:r>
            <a:r>
              <a:rPr sz="783" i="0">
                <a:solidFill>
                  <a:srgbClr val="E6EDF3"/>
                </a:solidFill>
                <a:latin typeface="Consolas"/>
              </a:rPr>
              <a:t> </a:t>
            </a:r>
            <a:r>
              <a:rPr sz="783" i="0">
                <a:solidFill>
                  <a:srgbClr val="82B1FF"/>
                </a:solidFill>
                <a:latin typeface="Consolas"/>
              </a:rPr>
              <a:t>shipping_cost</a:t>
            </a:r>
            <a:r>
              <a:rPr sz="783" i="0">
                <a:solidFill>
                  <a:srgbClr val="E6EDF3"/>
                </a:solidFill>
                <a:latin typeface="Consolas"/>
              </a:rPr>
              <a:t>(</a:t>
            </a:r>
            <a:r>
              <a:rPr sz="783" i="0">
                <a:solidFill>
                  <a:srgbClr val="E6EDF3"/>
                </a:solidFill>
                <a:latin typeface="Consolas"/>
              </a:rPr>
              <a:t>courier</a:t>
            </a:r>
            <a:r>
              <a:rPr sz="783" i="0">
                <a:solidFill>
                  <a:srgbClr val="E6EDF3"/>
                </a:solidFill>
                <a:latin typeface="Consolas"/>
              </a:rPr>
              <a:t>:</a:t>
            </a:r>
            <a:r>
              <a:rPr sz="783" i="0">
                <a:solidFill>
                  <a:srgbClr val="E6EDF3"/>
                </a:solidFill>
                <a:latin typeface="Consolas"/>
              </a:rPr>
              <a:t> </a:t>
            </a:r>
            <a:r>
              <a:rPr sz="783" i="0">
                <a:solidFill>
                  <a:srgbClr val="C3A6FF"/>
                </a:solidFill>
                <a:latin typeface="Consolas"/>
              </a:rPr>
              <a:t>str</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weight_kg</a:t>
            </a:r>
            <a:r>
              <a:rPr sz="783" i="0">
                <a:solidFill>
                  <a:srgbClr val="E6EDF3"/>
                </a:solidFill>
                <a:latin typeface="Consolas"/>
              </a:rPr>
              <a: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&gt;</a:t>
            </a:r>
            <a:r>
              <a:rPr sz="783" i="0">
                <a:solidFill>
                  <a:srgbClr val="E6EDF3"/>
                </a:solidFill>
                <a:latin typeface="Consolas"/>
              </a:rPr>
              <a:t> </a:t>
            </a:r>
            <a:r>
              <a:rPr sz="783" i="0">
                <a:solidFill>
                  <a:srgbClr val="C3A6FF"/>
                </a:solidFill>
                <a:latin typeface="Consolas"/>
              </a:rPr>
              <a:t>int</a:t>
            </a:r>
            <a:r>
              <a:rPr sz="783" i="0">
                <a:solidFill>
                  <a:srgbClr val="E6EDF3"/>
                </a:solidFill>
                <a:latin typeface="Consolas"/>
              </a:rPr>
              <a:t>:</a:t>
            </a:r>
          </a:p>
          <a:p>
            <a:pPr>
              <a:lnSpc>
                <a:spcPts val="1000"/>
              </a:lnSpc>
              <a:spcAft>
                <a:spcPts val="0"/>
              </a:spcAft>
            </a:pPr>
            <a:r>
              <a:rPr sz="783" i="0">
                <a:solidFill>
                  <a:srgbClr val="5C6773"/>
                </a:solidFill>
                <a:latin typeface="Consolas"/>
              </a:rPr>
              <a:t>31  </a:t>
            </a:r>
            <a:r>
              <a:rPr sz="783" i="0">
                <a:solidFill>
                  <a:srgbClr val="E6EDF3"/>
                </a:solidFill>
                <a:latin typeface="Consolas"/>
              </a:rPr>
              <a:t>    </a:t>
            </a:r>
            <a:r>
              <a:rPr sz="783" i="0">
                <a:solidFill>
                  <a:srgbClr val="FF8E6E"/>
                </a:solidFill>
                <a:latin typeface="Consolas"/>
              </a:rPr>
              <a:t>if</a:t>
            </a:r>
            <a:r>
              <a:rPr sz="783" i="0">
                <a:solidFill>
                  <a:srgbClr val="E6EDF3"/>
                </a:solidFill>
                <a:latin typeface="Consolas"/>
              </a:rPr>
              <a:t> </a:t>
            </a:r>
            <a:r>
              <a:rPr sz="783" i="0">
                <a:solidFill>
                  <a:srgbClr val="E6EDF3"/>
                </a:solidFill>
                <a:latin typeface="Consolas"/>
              </a:rPr>
              <a:t>courier</a:t>
            </a:r>
            <a:r>
              <a:rPr sz="783" i="0">
                <a:solidFill>
                  <a:srgbClr val="E6EDF3"/>
                </a:solidFill>
                <a:latin typeface="Consolas"/>
              </a:rPr>
              <a:t> </a:t>
            </a:r>
            <a:r>
              <a:rPr sz="783" i="0">
                <a:solidFill>
                  <a:srgbClr val="FF8E6E"/>
                </a:solidFill>
                <a:latin typeface="Consolas"/>
              </a:rPr>
              <a:t>not</a:t>
            </a:r>
            <a:r>
              <a:rPr sz="783" i="0">
                <a:solidFill>
                  <a:srgbClr val="E6EDF3"/>
                </a:solidFill>
                <a:latin typeface="Consolas"/>
              </a:rPr>
              <a:t> </a:t>
            </a:r>
            <a:r>
              <a:rPr sz="783" i="0">
                <a:solidFill>
                  <a:srgbClr val="FF8E6E"/>
                </a:solidFill>
                <a:latin typeface="Consolas"/>
              </a:rPr>
              <a:t>in</a:t>
            </a:r>
            <a:r>
              <a:rPr sz="783" i="0">
                <a:solidFill>
                  <a:srgbClr val="E6EDF3"/>
                </a:solidFill>
                <a:latin typeface="Consolas"/>
              </a:rPr>
              <a:t> </a:t>
            </a:r>
            <a:r>
              <a:rPr sz="783" i="0">
                <a:solidFill>
                  <a:srgbClr val="7FDBCA"/>
                </a:solidFill>
                <a:latin typeface="Consolas"/>
              </a:rPr>
              <a:t>COURIERS</a:t>
            </a:r>
            <a:r>
              <a:rPr sz="783" i="0">
                <a:solidFill>
                  <a:srgbClr val="E6EDF3"/>
                </a:solidFill>
                <a:latin typeface="Consolas"/>
              </a:rPr>
              <a:t>:</a:t>
            </a:r>
          </a:p>
          <a:p>
            <a:pPr>
              <a:lnSpc>
                <a:spcPts val="1000"/>
              </a:lnSpc>
              <a:spcAft>
                <a:spcPts val="0"/>
              </a:spcAft>
            </a:pPr>
            <a:r>
              <a:rPr sz="783" i="0">
                <a:solidFill>
                  <a:srgbClr val="5C6773"/>
                </a:solidFill>
                <a:latin typeface="Consolas"/>
              </a:rPr>
              <a:t>32  </a:t>
            </a:r>
            <a:r>
              <a:rPr sz="783" i="0">
                <a:solidFill>
                  <a:srgbClr val="E6EDF3"/>
                </a:solidFill>
                <a:latin typeface="Consolas"/>
              </a:rPr>
              <a:t>        </a:t>
            </a:r>
            <a:r>
              <a:rPr sz="783" i="0">
                <a:solidFill>
                  <a:srgbClr val="FF8E6E"/>
                </a:solidFill>
                <a:latin typeface="Consolas"/>
              </a:rPr>
              <a:t>raise</a:t>
            </a:r>
            <a:r>
              <a:rPr sz="783" i="0">
                <a:solidFill>
                  <a:srgbClr val="E6EDF3"/>
                </a:solidFill>
                <a:latin typeface="Consolas"/>
              </a:rPr>
              <a:t> </a:t>
            </a:r>
            <a:r>
              <a:rPr sz="783" i="0">
                <a:solidFill>
                  <a:srgbClr val="7FDBCA"/>
                </a:solidFill>
                <a:latin typeface="Consolas"/>
              </a:rPr>
              <a:t>ValueError</a:t>
            </a:r>
            <a:r>
              <a:rPr sz="783" i="0">
                <a:solidFill>
                  <a:srgbClr val="E6EDF3"/>
                </a:solidFill>
                <a:latin typeface="Consolas"/>
              </a:rPr>
              <a:t>(</a:t>
            </a:r>
            <a:r>
              <a:rPr sz="783" i="0">
                <a:solidFill>
                  <a:srgbClr val="A5D6A7"/>
                </a:solidFill>
                <a:latin typeface="Consolas"/>
              </a:rPr>
              <a:t>f"Kurir tidak dikenal: {courier}"</a:t>
            </a:r>
            <a:r>
              <a:rPr sz="783" i="0">
                <a:solidFill>
                  <a:srgbClr val="E6EDF3"/>
                </a:solidFill>
                <a:latin typeface="Consolas"/>
              </a:rPr>
              <a:t>)</a:t>
            </a:r>
          </a:p>
          <a:p>
            <a:pPr>
              <a:lnSpc>
                <a:spcPts val="1000"/>
              </a:lnSpc>
              <a:spcAft>
                <a:spcPts val="0"/>
              </a:spcAft>
            </a:pPr>
            <a:r>
              <a:rPr sz="783" i="0">
                <a:solidFill>
                  <a:srgbClr val="5C6773"/>
                </a:solidFill>
                <a:latin typeface="Consolas"/>
              </a:rPr>
              <a:t>33  </a:t>
            </a:r>
            <a:r>
              <a:rPr sz="783" i="0">
                <a:solidFill>
                  <a:srgbClr val="E6EDF3"/>
                </a:solidFill>
                <a:latin typeface="Consolas"/>
              </a:rPr>
              <a:t>    </a:t>
            </a:r>
            <a:r>
              <a:rPr sz="783" i="0">
                <a:solidFill>
                  <a:srgbClr val="FF8E6E"/>
                </a:solidFill>
                <a:latin typeface="Consolas"/>
              </a:rPr>
              <a:t>return</a:t>
            </a:r>
            <a:r>
              <a:rPr sz="783" i="0">
                <a:solidFill>
                  <a:srgbClr val="E6EDF3"/>
                </a:solidFill>
                <a:latin typeface="Consolas"/>
              </a:rPr>
              <a:t> </a:t>
            </a:r>
            <a:r>
              <a:rPr sz="783" i="0">
                <a:solidFill>
                  <a:srgbClr val="7FDBCA"/>
                </a:solidFill>
                <a:latin typeface="Consolas"/>
              </a:rPr>
              <a:t>COURIERS</a:t>
            </a:r>
            <a:r>
              <a:rPr sz="783" i="0">
                <a:solidFill>
                  <a:srgbClr val="E6EDF3"/>
                </a:solidFill>
                <a:latin typeface="Consolas"/>
              </a:rPr>
              <a:t>[</a:t>
            </a:r>
            <a:r>
              <a:rPr sz="783" i="0">
                <a:solidFill>
                  <a:srgbClr val="E6EDF3"/>
                </a:solidFill>
                <a:latin typeface="Consolas"/>
              </a:rPr>
              <a:t>courier</a:t>
            </a:r>
            <a:r>
              <a:rPr sz="783" i="0">
                <a:solidFill>
                  <a:srgbClr val="E6EDF3"/>
                </a:solidFill>
                <a:latin typeface="Consolas"/>
              </a:rPr>
              <a:t>]</a:t>
            </a:r>
            <a:r>
              <a:rPr sz="783" i="0">
                <a:solidFill>
                  <a:srgbClr val="E6EDF3"/>
                </a:solidFill>
                <a:latin typeface="Consolas"/>
              </a:rPr>
              <a:t>.</a:t>
            </a:r>
            <a:r>
              <a:rPr sz="783" i="0">
                <a:solidFill>
                  <a:srgbClr val="E6EDF3"/>
                </a:solidFill>
                <a:latin typeface="Consolas"/>
              </a:rPr>
              <a:t>cost</a:t>
            </a:r>
            <a:r>
              <a:rPr sz="783" i="0">
                <a:solidFill>
                  <a:srgbClr val="E6EDF3"/>
                </a:solidFill>
                <a:latin typeface="Consolas"/>
              </a:rPr>
              <a:t>(</a:t>
            </a:r>
            <a:r>
              <a:rPr sz="783" i="0">
                <a:solidFill>
                  <a:srgbClr val="E6EDF3"/>
                </a:solidFill>
                <a:latin typeface="Consolas"/>
              </a:rPr>
              <a:t>weight_kg</a:t>
            </a:r>
            <a:r>
              <a:rPr sz="783" i="0">
                <a:solidFill>
                  <a:srgbClr val="E6EDF3"/>
                </a:solidFill>
                <a:latin typeface="Consolas"/>
              </a:rPr>
              <a:t>)</a:t>
            </a:r>
          </a:p>
          <a:p>
            <a:pPr>
              <a:lnSpc>
                <a:spcPts val="1000"/>
              </a:lnSpc>
              <a:spcAft>
                <a:spcPts val="0"/>
              </a:spcAft>
            </a:pPr>
            <a:r>
              <a:rPr sz="783" i="0">
                <a:solidFill>
                  <a:srgbClr val="5C6773"/>
                </a:solidFill>
                <a:latin typeface="Consolas"/>
              </a:rPr>
              <a:t>34  </a:t>
            </a:r>
            <a:r>
              <a:rPr sz="783" i="0">
                <a:solidFill>
                  <a:srgbClr val="E6EDF3"/>
                </a:solidFill>
                <a:latin typeface="Consolas"/>
              </a:rPr>
              <a:t> </a:t>
            </a:r>
          </a:p>
          <a:p>
            <a:pPr>
              <a:lnSpc>
                <a:spcPts val="1000"/>
              </a:lnSpc>
              <a:spcAft>
                <a:spcPts val="0"/>
              </a:spcAft>
            </a:pPr>
            <a:r>
              <a:rPr sz="783" i="0">
                <a:solidFill>
                  <a:srgbClr val="5C6773"/>
                </a:solidFill>
                <a:latin typeface="Consolas"/>
              </a:rPr>
              <a:t>35  </a:t>
            </a:r>
            <a:r>
              <a:rPr sz="783" i="0">
                <a:solidFill>
                  <a:srgbClr val="E6EDF3"/>
                </a:solidFill>
                <a:latin typeface="Consolas"/>
              </a:rPr>
              <a:t> </a:t>
            </a:r>
          </a:p>
          <a:p>
            <a:pPr>
              <a:lnSpc>
                <a:spcPts val="1000"/>
              </a:lnSpc>
              <a:spcAft>
                <a:spcPts val="0"/>
              </a:spcAft>
            </a:pPr>
            <a:r>
              <a:rPr sz="783" i="0">
                <a:solidFill>
                  <a:srgbClr val="5C6773"/>
                </a:solidFill>
                <a:latin typeface="Consolas"/>
              </a:rPr>
              <a:t>36  </a:t>
            </a:r>
            <a:r>
              <a:rPr sz="783" i="0">
                <a:solidFill>
                  <a:srgbClr val="FF8E6E"/>
                </a:solidFill>
                <a:latin typeface="Consolas"/>
              </a:rPr>
              <a:t>if</a:t>
            </a:r>
            <a:r>
              <a:rPr sz="783" i="0">
                <a:solidFill>
                  <a:srgbClr val="E6EDF3"/>
                </a:solidFill>
                <a:latin typeface="Consolas"/>
              </a:rPr>
              <a:t> </a:t>
            </a:r>
            <a:r>
              <a:rPr sz="783" i="0">
                <a:solidFill>
                  <a:srgbClr val="E6EDF3"/>
                </a:solidFill>
                <a:latin typeface="Consolas"/>
              </a:rPr>
              <a:t>__name__</a:t>
            </a:r>
            <a:r>
              <a:rPr sz="783" i="0">
                <a:solidFill>
                  <a:srgbClr val="E6EDF3"/>
                </a:solidFill>
                <a:latin typeface="Consolas"/>
              </a:rPr>
              <a:t> </a:t>
            </a:r>
            <a:r>
              <a:rPr sz="783" i="0">
                <a:solidFill>
                  <a:srgbClr val="E6EDF3"/>
                </a:solidFill>
                <a:latin typeface="Consolas"/>
              </a:rPr>
              <a:t>=</a:t>
            </a:r>
            <a:r>
              <a:rPr sz="783" i="0">
                <a:solidFill>
                  <a:srgbClr val="E6EDF3"/>
                </a:solidFill>
                <a:latin typeface="Consolas"/>
              </a:rPr>
              <a:t>=</a:t>
            </a:r>
            <a:r>
              <a:rPr sz="783" i="0">
                <a:solidFill>
                  <a:srgbClr val="E6EDF3"/>
                </a:solidFill>
                <a:latin typeface="Consolas"/>
              </a:rPr>
              <a:t> </a:t>
            </a:r>
            <a:r>
              <a:rPr sz="783" i="0">
                <a:solidFill>
                  <a:srgbClr val="A5D6A7"/>
                </a:solidFill>
                <a:latin typeface="Consolas"/>
              </a:rPr>
              <a:t>"__main__"</a:t>
            </a:r>
            <a:r>
              <a:rPr sz="783" i="0">
                <a:solidFill>
                  <a:srgbClr val="E6EDF3"/>
                </a:solidFill>
                <a:latin typeface="Consolas"/>
              </a:rPr>
              <a:t>:</a:t>
            </a:r>
          </a:p>
          <a:p>
            <a:pPr>
              <a:lnSpc>
                <a:spcPts val="1000"/>
              </a:lnSpc>
              <a:spcAft>
                <a:spcPts val="0"/>
              </a:spcAft>
            </a:pPr>
            <a:r>
              <a:rPr sz="783" i="0">
                <a:solidFill>
                  <a:srgbClr val="5C6773"/>
                </a:solidFill>
                <a:latin typeface="Consolas"/>
              </a:rPr>
              <a:t>37  </a:t>
            </a:r>
            <a:r>
              <a:rPr sz="783" i="0">
                <a:solidFill>
                  <a:srgbClr val="E6EDF3"/>
                </a:solidFill>
                <a:latin typeface="Consolas"/>
              </a:rPr>
              <a:t>    </a:t>
            </a:r>
            <a:r>
              <a:rPr sz="783" i="0">
                <a:solidFill>
                  <a:srgbClr val="FF8E6E"/>
                </a:solidFill>
                <a:latin typeface="Consolas"/>
              </a:rPr>
              <a:t>for</a:t>
            </a:r>
            <a:r>
              <a:rPr sz="783" i="0">
                <a:solidFill>
                  <a:srgbClr val="E6EDF3"/>
                </a:solidFill>
                <a:latin typeface="Consolas"/>
              </a:rPr>
              <a:t> </a:t>
            </a:r>
            <a:r>
              <a:rPr sz="783" i="0">
                <a:solidFill>
                  <a:srgbClr val="E6EDF3"/>
                </a:solidFill>
                <a:latin typeface="Consolas"/>
              </a:rPr>
              <a:t>name</a:t>
            </a:r>
            <a:r>
              <a:rPr sz="783" i="0">
                <a:solidFill>
                  <a:srgbClr val="E6EDF3"/>
                </a:solidFill>
                <a:latin typeface="Consolas"/>
              </a:rPr>
              <a:t> </a:t>
            </a:r>
            <a:r>
              <a:rPr sz="783" i="0">
                <a:solidFill>
                  <a:srgbClr val="FF8E6E"/>
                </a:solidFill>
                <a:latin typeface="Consolas"/>
              </a:rPr>
              <a:t>in</a:t>
            </a:r>
            <a:r>
              <a:rPr sz="783" i="0">
                <a:solidFill>
                  <a:srgbClr val="E6EDF3"/>
                </a:solidFill>
                <a:latin typeface="Consolas"/>
              </a:rPr>
              <a:t> </a:t>
            </a:r>
            <a:r>
              <a:rPr sz="783" i="0">
                <a:solidFill>
                  <a:srgbClr val="7FDBCA"/>
                </a:solidFill>
                <a:latin typeface="Consolas"/>
              </a:rPr>
              <a:t>COURIERS</a:t>
            </a:r>
            <a:r>
              <a:rPr sz="783" i="0">
                <a:solidFill>
                  <a:srgbClr val="E6EDF3"/>
                </a:solidFill>
                <a:latin typeface="Consolas"/>
              </a:rPr>
              <a:t>:</a:t>
            </a:r>
          </a:p>
          <a:p>
            <a:pPr>
              <a:lnSpc>
                <a:spcPts val="1000"/>
              </a:lnSpc>
              <a:spcAft>
                <a:spcPts val="0"/>
              </a:spcAft>
            </a:pPr>
            <a:r>
              <a:rPr sz="783" i="0">
                <a:solidFill>
                  <a:srgbClr val="5C6773"/>
                </a:solidFill>
                <a:latin typeface="Consolas"/>
              </a:rPr>
              <a:t>38  </a:t>
            </a:r>
            <a:r>
              <a:rPr sz="783" i="0">
                <a:solidFill>
                  <a:srgbClr val="E6EDF3"/>
                </a:solidFill>
                <a:latin typeface="Consolas"/>
              </a:rPr>
              <a:t>        </a:t>
            </a:r>
            <a:r>
              <a:rPr sz="783" i="0">
                <a:solidFill>
                  <a:srgbClr val="C3A6FF"/>
                </a:solidFill>
                <a:latin typeface="Consolas"/>
              </a:rPr>
              <a:t>print</a:t>
            </a:r>
            <a:r>
              <a:rPr sz="783" i="0">
                <a:solidFill>
                  <a:srgbClr val="E6EDF3"/>
                </a:solidFill>
                <a:latin typeface="Consolas"/>
              </a:rPr>
              <a:t>(</a:t>
            </a:r>
            <a:r>
              <a:rPr sz="783" i="0">
                <a:solidFill>
                  <a:srgbClr val="E6EDF3"/>
                </a:solidFill>
                <a:latin typeface="Consolas"/>
              </a:rPr>
              <a:t>name</a:t>
            </a:r>
            <a:r>
              <a:rPr sz="783" i="0">
                <a:solidFill>
                  <a:srgbClr val="E6EDF3"/>
                </a:solidFill>
                <a:latin typeface="Consolas"/>
              </a:rPr>
              <a:t>,</a:t>
            </a:r>
            <a:r>
              <a:rPr sz="783" i="0">
                <a:solidFill>
                  <a:srgbClr val="E6EDF3"/>
                </a:solidFill>
                <a:latin typeface="Consolas"/>
              </a:rPr>
              <a:t> </a:t>
            </a:r>
            <a:r>
              <a:rPr sz="783" i="0">
                <a:solidFill>
                  <a:srgbClr val="E6EDF3"/>
                </a:solidFill>
                <a:latin typeface="Consolas"/>
              </a:rPr>
              <a:t>shipping_cost</a:t>
            </a:r>
            <a:r>
              <a:rPr sz="783" i="0">
                <a:solidFill>
                  <a:srgbClr val="E6EDF3"/>
                </a:solidFill>
                <a:latin typeface="Consolas"/>
              </a:rPr>
              <a:t>(</a:t>
            </a:r>
            <a:r>
              <a:rPr sz="783" i="0">
                <a:solidFill>
                  <a:srgbClr val="E6EDF3"/>
                </a:solidFill>
                <a:latin typeface="Consolas"/>
              </a:rPr>
              <a:t>name</a:t>
            </a:r>
            <a:r>
              <a:rPr sz="783" i="0">
                <a:solidFill>
                  <a:srgbClr val="E6EDF3"/>
                </a:solidFill>
                <a:latin typeface="Consolas"/>
              </a:rPr>
              <a:t>,</a:t>
            </a:r>
            <a:r>
              <a:rPr sz="783" i="0">
                <a:solidFill>
                  <a:srgbClr val="E6EDF3"/>
                </a:solidFill>
                <a:latin typeface="Consolas"/>
              </a:rPr>
              <a:t> </a:t>
            </a:r>
            <a:r>
              <a:rPr sz="783" i="0">
                <a:solidFill>
                  <a:srgbClr val="F9C97A"/>
                </a:solidFill>
                <a:latin typeface="Consolas"/>
              </a:rPr>
              <a:t>2</a:t>
            </a:r>
            <a:r>
              <a:rPr sz="783" i="0">
                <a:solidFill>
                  <a:srgbClr val="E6EDF3"/>
                </a:solidFill>
                <a:latin typeface="Consolas"/>
              </a:rPr>
              <a:t>)</a:t>
            </a:r>
            <a:r>
              <a:rPr sz="783" i="0">
                <a:solidFill>
                  <a:srgbClr val="E6EDF3"/>
                </a:solidFill>
                <a:latin typeface="Consolas"/>
              </a:rPr>
              <a:t>)</a:t>
            </a:r>
          </a:p>
        </p:txBody>
      </p:sp>
      <p:sp>
        <p:nvSpPr>
          <p:cNvPr id="36" name="Box 21"/>
          <p:cNvSpPr/>
          <p:nvPr/>
        </p:nvSpPr>
        <p:spPr>
          <a:xfrm>
            <a:off x="704088" y="3097022"/>
            <a:ext cx="3694176"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7" name="Box 22"/>
          <p:cNvSpPr/>
          <p:nvPr/>
        </p:nvSpPr>
        <p:spPr>
          <a:xfrm>
            <a:off x="4279392" y="3164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8" name="Box 23"/>
          <p:cNvSpPr/>
          <p:nvPr/>
        </p:nvSpPr>
        <p:spPr>
          <a:xfrm>
            <a:off x="4709159" y="1827022"/>
            <a:ext cx="3694176" cy="627380"/>
          </a:xfrm>
          <a:prstGeom prst="roundRect">
            <a:avLst>
              <a:gd name="adj" fmla="val 728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9" name="Box 24"/>
          <p:cNvSpPr/>
          <p:nvPr/>
        </p:nvSpPr>
        <p:spPr>
          <a:xfrm>
            <a:off x="8284463" y="2021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40" name="Box 25"/>
          <p:cNvSpPr/>
          <p:nvPr/>
        </p:nvSpPr>
        <p:spPr>
          <a:xfrm>
            <a:off x="4709159" y="2716022"/>
            <a:ext cx="3694176" cy="500380"/>
          </a:xfrm>
          <a:prstGeom prst="roundRect">
            <a:avLst>
              <a:gd name="adj" fmla="val 913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41" name="Box 26"/>
          <p:cNvSpPr/>
          <p:nvPr/>
        </p:nvSpPr>
        <p:spPr>
          <a:xfrm>
            <a:off x="8284463" y="2847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O · Open/Closed</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02-ocp/after.py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sesi-02-solid-clean-architecture/02-ocp</a:t>
            </a:r>
          </a:p>
          <a:p>
            <a:pPr>
              <a:lnSpc>
                <a:spcPts val="1000"/>
              </a:lnSpc>
              <a:spcAft>
                <a:spcPts val="0"/>
              </a:spcAft>
            </a:pPr>
            <a:r>
              <a:rPr sz="775" i="0">
                <a:solidFill>
                  <a:srgbClr val="82B1FF"/>
                </a:solidFill>
                <a:latin typeface="Consolas"/>
              </a:rPr>
              <a:t>$ python after.py</a:t>
            </a:r>
          </a:p>
        </p:txBody>
      </p:sp>
      <p:pic>
        <p:nvPicPr>
          <p:cNvPr id="29" name="Image 12" descr="s02-02-ocp-after.png"/>
          <p:cNvPicPr>
            <a:picLocks noChangeAspect="1"/>
          </p:cNvPicPr>
          <p:nvPr/>
        </p:nvPicPr>
        <p:blipFill>
          <a:blip r:embed="rId2"/>
          <a:stretch>
            <a:fillRect/>
          </a:stretch>
        </p:blipFill>
        <p:spPr>
          <a:xfrm>
            <a:off x="621792" y="2240280"/>
            <a:ext cx="4297680" cy="1280160"/>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Kurir baru = class baru, cukup ditambah (baris 18-20)</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Didaftarkan di </a:t>
            </a:r>
            <a:r>
              <a:rPr sz="950" i="0" b="0">
                <a:solidFill>
                  <a:srgbClr val="B5482A"/>
                </a:solidFill>
                <a:latin typeface="Consolas"/>
              </a:rPr>
              <a:t>COURIERS</a:t>
            </a:r>
            <a:r>
              <a:rPr sz="950" i="0" b="0">
                <a:solidFill>
                  <a:srgbClr val="434343"/>
                </a:solidFill>
                <a:latin typeface="Inter"/>
              </a:rPr>
              <a:t> (baris 23-27)</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shipping_cost</a:t>
            </a:r>
            <a:r>
              <a:rPr sz="950" i="0" b="0">
                <a:solidFill>
                  <a:srgbClr val="434343"/>
                </a:solidFill>
                <a:latin typeface="Inter"/>
              </a:rPr>
              <a:t> tidak pernah diedit lagi (baris 30-33)</a:t>
            </a:r>
          </a:p>
          <a:p>
            <a:pPr algn="l">
              <a:lnSpc>
                <a:spcPct val="115000"/>
              </a:lnSpc>
              <a:spcAft>
                <a:spcPts val="0"/>
              </a:spcAft>
            </a:pPr>
            <a:r>
              <a:rPr sz="570"/>
              <a:t/>
            </a:r>
          </a:p>
          <a:p>
            <a:pPr algn="l">
              <a:lnSpc>
                <a:spcPct val="115000"/>
              </a:lnSpc>
              <a:spcAft>
                <a:spcPts val="400"/>
              </a:spcAft>
            </a:pPr>
            <a:r>
              <a:rPr sz="950" i="0" b="0">
                <a:solidFill>
                  <a:srgbClr val="434343"/>
                </a:solidFill>
                <a:latin typeface="Inter"/>
              </a:rPr>
              <a:t>Bentuknya sama dengan Strategy di Sesi 1: pattern adalah cara menerapkan prinsip.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L · Liskov Substitution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Liskov Substitution?</a:t>
            </a:r>
          </a:p>
        </p:txBody>
      </p:sp>
      <p:sp>
        <p:nvSpPr>
          <p:cNvPr id="22" name="Text 3"/>
          <p:cNvSpPr txBox="1"/>
          <p:nvPr/>
        </p:nvSpPr>
        <p:spPr>
          <a:xfrm>
            <a:off x="621792" y="1481328"/>
            <a:ext cx="4114800" cy="329184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Artinya</a:t>
            </a:r>
          </a:p>
          <a:p>
            <a:pPr algn="l">
              <a:lnSpc>
                <a:spcPct val="115000"/>
              </a:lnSpc>
              <a:spcAft>
                <a:spcPts val="400"/>
              </a:spcAft>
            </a:pPr>
            <a:r>
              <a:rPr sz="950" i="0" b="0">
                <a:solidFill>
                  <a:srgbClr val="434343"/>
                </a:solidFill>
                <a:latin typeface="Inter"/>
              </a:rPr>
              <a:t>Subclass harus bisa </a:t>
            </a:r>
            <a:r>
              <a:rPr sz="950" i="0" b="1">
                <a:solidFill>
                  <a:srgbClr val="434343"/>
                </a:solidFill>
                <a:latin typeface="Inter"/>
              </a:rPr>
              <a:t>menggantikan</a:t>
            </a:r>
            <a:r>
              <a:rPr sz="950" i="0" b="0">
                <a:solidFill>
                  <a:srgbClr val="434343"/>
                </a:solidFill>
                <a:latin typeface="Inter"/>
              </a:rPr>
              <a:t> parent-nya tanpa mengubah arti hasilnya. Kode yang memakai parent tidak perlu tahu subclass mana yang sedang dipakai.</a:t>
            </a:r>
          </a:p>
          <a:p>
            <a:pPr algn="l">
              <a:lnSpc>
                <a:spcPct val="115000"/>
              </a:lnSpc>
              <a:spcAft>
                <a:spcPts val="400"/>
              </a:spcAft>
            </a:pPr>
            <a:r>
              <a:rPr sz="1050" i="0" b="1">
                <a:solidFill>
                  <a:srgbClr val="1C4587"/>
                </a:solidFill>
                <a:latin typeface="Inter"/>
              </a:rPr>
              <a:t>Analogi</a:t>
            </a:r>
          </a:p>
          <a:p>
            <a:pPr algn="l">
              <a:lnSpc>
                <a:spcPct val="115000"/>
              </a:lnSpc>
              <a:spcAft>
                <a:spcPts val="400"/>
              </a:spcAft>
            </a:pPr>
            <a:r>
              <a:rPr sz="950" i="0" b="0">
                <a:solidFill>
                  <a:srgbClr val="434343"/>
                </a:solidFill>
                <a:latin typeface="Inter"/>
              </a:rPr>
              <a:t>Baterai AA merek apa pun harus 1,5 volt. Kalau ada "baterai AA" 9 volt, bentuknya sama, tapi remote-nya rusak.</a:t>
            </a:r>
          </a:p>
          <a:p>
            <a:pPr algn="l">
              <a:lnSpc>
                <a:spcPct val="115000"/>
              </a:lnSpc>
              <a:spcAft>
                <a:spcPts val="400"/>
              </a:spcAft>
            </a:pPr>
            <a:r>
              <a:rPr sz="1050" i="0" b="1">
                <a:solidFill>
                  <a:srgbClr val="1C4587"/>
                </a:solidFill>
                <a:latin typeface="Inter"/>
              </a:rPr>
              <a:t>Cara mengecek</a:t>
            </a:r>
          </a:p>
          <a:p>
            <a:pPr algn="l">
              <a:lnSpc>
                <a:spcPct val="115000"/>
              </a:lnSpc>
              <a:spcAft>
                <a:spcPts val="400"/>
              </a:spcAft>
            </a:pPr>
            <a:r>
              <a:rPr sz="950" i="0" b="0">
                <a:solidFill>
                  <a:srgbClr val="434343"/>
                </a:solidFill>
                <a:latin typeface="Inter"/>
              </a:rPr>
              <a:t>Tulis </a:t>
            </a:r>
            <a:r>
              <a:rPr sz="950" i="0" b="1">
                <a:solidFill>
                  <a:srgbClr val="434343"/>
                </a:solidFill>
                <a:latin typeface="Inter"/>
              </a:rPr>
              <a:t>kontrak</a:t>
            </a:r>
            <a:r>
              <a:rPr sz="950" i="0" b="0">
                <a:solidFill>
                  <a:srgbClr val="434343"/>
                </a:solidFill>
                <a:latin typeface="Inter"/>
              </a:rPr>
              <a:t> parent (misalnya "mengembalikan besar potongan, 0 sampai subtotal"), lalu tes semua subclass dengan kontrak yang sama.</a:t>
            </a:r>
          </a:p>
        </p:txBody>
      </p:sp>
      <p:sp>
        <p:nvSpPr>
          <p:cNvPr id="23" name="Box 4"/>
          <p:cNvSpPr/>
          <p:nvPr/>
        </p:nvSpPr>
        <p:spPr>
          <a:xfrm>
            <a:off x="4892040" y="1481328"/>
            <a:ext cx="3593592" cy="960120"/>
          </a:xfrm>
          <a:prstGeom prst="roundRect">
            <a:avLst>
              <a:gd name="adj" fmla="val 11428"/>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200"/>
              </a:spcAft>
            </a:pPr>
            <a:r>
              <a:rPr sz="950" i="0" b="0">
                <a:solidFill>
                  <a:srgbClr val="434343"/>
                </a:solidFill>
                <a:latin typeface="Inter"/>
              </a:rPr>
              <a:t>"Subtypes must be substitutable for their base types."</a:t>
            </a:r>
          </a:p>
          <a:p>
            <a:pPr algn="l">
              <a:lnSpc>
                <a:spcPct val="105000"/>
              </a:lnSpc>
              <a:spcAft>
                <a:spcPts val="200"/>
              </a:spcAft>
            </a:pPr>
            <a:r>
              <a:rPr sz="950" i="0" b="0">
                <a:solidFill>
                  <a:srgbClr val="434343"/>
                </a:solidFill>
                <a:latin typeface="Inter"/>
              </a:rPr>
              <a:t>Robert C. Martin, merumuskan prinsip dari Barbara Liskov</a:t>
            </a:r>
          </a:p>
        </p:txBody>
      </p:sp>
      <p:sp>
        <p:nvSpPr>
          <p:cNvPr id="24" name="Box 5"/>
          <p:cNvSpPr/>
          <p:nvPr/>
        </p:nvSpPr>
        <p:spPr>
          <a:xfrm>
            <a:off x="4892040" y="2560320"/>
            <a:ext cx="3593592" cy="1600200"/>
          </a:xfrm>
          <a:prstGeom prst="roundRect">
            <a:avLst>
              <a:gd name="adj" fmla="val 6857"/>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5" name="Text 6"/>
          <p:cNvSpPr txBox="1"/>
          <p:nvPr/>
        </p:nvSpPr>
        <p:spPr>
          <a:xfrm>
            <a:off x="5029200" y="2651760"/>
            <a:ext cx="3319272" cy="310896"/>
          </a:xfrm>
          <a:prstGeom prst="rect">
            <a:avLst/>
          </a:prstGeom>
          <a:noFill/>
        </p:spPr>
        <p:txBody>
          <a:bodyPr wrap="square" anchor="t" lIns="45720" rIns="45720">
            <a:spAutoFit/>
          </a:bodyPr>
          <a:lstStyle/>
          <a:p>
            <a:pPr algn="l">
              <a:lnSpc>
                <a:spcPct val="115000"/>
              </a:lnSpc>
              <a:spcAft>
                <a:spcPts val="400"/>
              </a:spcAft>
            </a:pPr>
            <a:r>
              <a:rPr sz="1050" i="0" b="1">
                <a:solidFill>
                  <a:srgbClr val="C0392B"/>
                </a:solidFill>
                <a:latin typeface="Inter"/>
              </a:rPr>
              <a:t>Code smell yang dicari</a:t>
            </a:r>
          </a:p>
        </p:txBody>
      </p:sp>
      <p:sp>
        <p:nvSpPr>
          <p:cNvPr id="26" name="Text 7"/>
          <p:cNvSpPr txBox="1"/>
          <p:nvPr/>
        </p:nvSpPr>
        <p:spPr>
          <a:xfrm>
            <a:off x="5029200" y="2971800"/>
            <a:ext cx="3319272" cy="109728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Subclass mengembalikan nilai dengan arti berbeda</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Pemakai harus cek </a:t>
            </a:r>
            <a:r>
              <a:rPr sz="900" i="0" b="0">
                <a:solidFill>
                  <a:srgbClr val="B5482A"/>
                </a:solidFill>
                <a:latin typeface="Consolas"/>
              </a:rPr>
              <a:t>isinstance(...)</a:t>
            </a:r>
            <a:r>
              <a:rPr sz="900" i="0" b="0">
                <a:solidFill>
                  <a:srgbClr val="434343"/>
                </a:solidFill>
                <a:latin typeface="Inter"/>
              </a:rPr>
              <a:t> dulu</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Subclass melempar </a:t>
            </a:r>
            <a:r>
              <a:rPr sz="900" i="0" b="0">
                <a:solidFill>
                  <a:srgbClr val="B5482A"/>
                </a:solidFill>
                <a:latin typeface="Consolas"/>
              </a:rPr>
              <a:t>NotImplementedError</a:t>
            </a:r>
          </a:p>
        </p:txBody>
      </p:sp>
      <p:sp>
        <p:nvSpPr>
          <p:cNvPr id="27" name="Text 8"/>
          <p:cNvSpPr txBox="1"/>
          <p:nvPr/>
        </p:nvSpPr>
        <p:spPr>
          <a:xfrm>
            <a:off x="4892040" y="4251960"/>
            <a:ext cx="3593592" cy="457200"/>
          </a:xfrm>
          <a:prstGeom prst="rect">
            <a:avLst/>
          </a:prstGeom>
          <a:noFill/>
        </p:spPr>
        <p:txBody>
          <a:bodyPr wrap="square" anchor="t" lIns="45720" rIns="45720">
            <a:spAutoFit/>
          </a:bodyPr>
          <a:lstStyle/>
          <a:p>
            <a:pPr algn="l">
              <a:lnSpc>
                <a:spcPct val="115000"/>
              </a:lnSpc>
              <a:spcAft>
                <a:spcPts val="400"/>
              </a:spcAft>
            </a:pPr>
            <a:r>
              <a:rPr sz="900" i="0" b="0">
                <a:solidFill>
                  <a:srgbClr val="7A7A7A"/>
                </a:solidFill>
                <a:latin typeface="Inter"/>
              </a:rPr>
              <a:t>Semua strategy diskon di Sesi 1 mengikuti kontrak yang sama: </a:t>
            </a:r>
            <a:r>
              <a:rPr sz="900" i="0" b="0">
                <a:solidFill>
                  <a:srgbClr val="B5482A"/>
                </a:solidFill>
                <a:latin typeface="Consolas"/>
              </a:rPr>
              <a:t>discount(subtotal)</a:t>
            </a:r>
            <a:r>
              <a:rPr sz="900" i="0" b="0">
                <a:solidFill>
                  <a:srgbClr val="7A7A7A"/>
                </a:solidFill>
                <a:latin typeface="Inter"/>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L · Liskov Substitution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Subclass yang Beda Arti</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03-lsp/before.py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900"/>
              </a:lnSpc>
              <a:spcAft>
                <a:spcPts val="0"/>
              </a:spcAft>
            </a:pPr>
            <a:r>
              <a:rPr sz="725" i="0">
                <a:solidFill>
                  <a:srgbClr val="5C6773"/>
                </a:solidFill>
                <a:latin typeface="Consolas"/>
              </a:rPr>
              <a:t> 9  </a:t>
            </a:r>
            <a:r>
              <a:rPr sz="725" i="0">
                <a:solidFill>
                  <a:srgbClr val="FF8E6E"/>
                </a:solidFill>
                <a:latin typeface="Consolas"/>
              </a:rPr>
              <a:t>class</a:t>
            </a:r>
            <a:r>
              <a:rPr sz="725" i="0">
                <a:solidFill>
                  <a:srgbClr val="E6EDF3"/>
                </a:solidFill>
                <a:latin typeface="Consolas"/>
              </a:rPr>
              <a:t> </a:t>
            </a:r>
            <a:r>
              <a:rPr sz="725" i="0">
                <a:solidFill>
                  <a:srgbClr val="7FDBCA"/>
                </a:solidFill>
                <a:latin typeface="Consolas"/>
              </a:rPr>
              <a:t>Discount</a:t>
            </a:r>
            <a:r>
              <a:rPr sz="725" i="0">
                <a:solidFill>
                  <a:srgbClr val="E6EDF3"/>
                </a:solidFill>
                <a:latin typeface="Consolas"/>
              </a:rPr>
              <a:t>:</a:t>
            </a:r>
          </a:p>
          <a:p>
            <a:pPr>
              <a:lnSpc>
                <a:spcPts val="900"/>
              </a:lnSpc>
              <a:spcAft>
                <a:spcPts val="0"/>
              </a:spcAft>
            </a:pPr>
            <a:r>
              <a:rPr sz="725" i="0">
                <a:solidFill>
                  <a:srgbClr val="5C6773"/>
                </a:solidFill>
                <a:latin typeface="Consolas"/>
              </a:rPr>
              <a:t>10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discount</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subtotal</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p>
          <a:p>
            <a:pPr>
              <a:lnSpc>
                <a:spcPts val="900"/>
              </a:lnSpc>
              <a:spcAft>
                <a:spcPts val="0"/>
              </a:spcAft>
            </a:pPr>
            <a:r>
              <a:rPr sz="725" i="0">
                <a:solidFill>
                  <a:srgbClr val="5C6773"/>
                </a:solidFill>
                <a:latin typeface="Consolas"/>
              </a:rPr>
              <a:t>11  </a:t>
            </a:r>
            <a:r>
              <a:rPr sz="725" i="0">
                <a:solidFill>
                  <a:srgbClr val="E6EDF3"/>
                </a:solidFill>
                <a:latin typeface="Consolas"/>
              </a:rPr>
              <a:t>        </a:t>
            </a:r>
            <a:r>
              <a:rPr sz="725" i="0">
                <a:solidFill>
                  <a:srgbClr val="A5D6A7"/>
                </a:solidFill>
                <a:latin typeface="Consolas"/>
              </a:rPr>
              <a:t>"""Kembalikan besar potongan (0 sampai subtotal)."""</a:t>
            </a:r>
          </a:p>
          <a:p>
            <a:pPr>
              <a:lnSpc>
                <a:spcPts val="900"/>
              </a:lnSpc>
              <a:spcAft>
                <a:spcPts val="0"/>
              </a:spcAft>
            </a:pPr>
            <a:r>
              <a:rPr sz="725" i="0">
                <a:solidFill>
                  <a:srgbClr val="5C6773"/>
                </a:solidFill>
                <a:latin typeface="Consolas"/>
              </a:rPr>
              <a:t>12  </a:t>
            </a:r>
            <a:r>
              <a:rPr sz="725" i="0">
                <a:solidFill>
                  <a:srgbClr val="E6EDF3"/>
                </a:solidFill>
                <a:latin typeface="Consolas"/>
              </a:rPr>
              <a:t>        </a:t>
            </a:r>
            <a:r>
              <a:rPr sz="725" i="0">
                <a:solidFill>
                  <a:srgbClr val="FF8E6E"/>
                </a:solidFill>
                <a:latin typeface="Consolas"/>
              </a:rPr>
              <a:t>return</a:t>
            </a:r>
            <a:r>
              <a:rPr sz="725" i="0">
                <a:solidFill>
                  <a:srgbClr val="E6EDF3"/>
                </a:solidFill>
                <a:latin typeface="Consolas"/>
              </a:rPr>
              <a:t> </a:t>
            </a:r>
            <a:r>
              <a:rPr sz="725" i="0">
                <a:solidFill>
                  <a:srgbClr val="F9C97A"/>
                </a:solidFill>
                <a:latin typeface="Consolas"/>
              </a:rPr>
              <a:t>0</a:t>
            </a:r>
          </a:p>
          <a:p>
            <a:pPr>
              <a:lnSpc>
                <a:spcPts val="900"/>
              </a:lnSpc>
              <a:spcAft>
                <a:spcPts val="0"/>
              </a:spcAft>
            </a:pPr>
            <a:r>
              <a:rPr sz="725" i="0">
                <a:solidFill>
                  <a:srgbClr val="5C6773"/>
                </a:solidFill>
                <a:latin typeface="Consolas"/>
              </a:rPr>
              <a:t>13  </a:t>
            </a:r>
            <a:r>
              <a:rPr sz="725" i="0">
                <a:solidFill>
                  <a:srgbClr val="E6EDF3"/>
                </a:solidFill>
                <a:latin typeface="Consolas"/>
              </a:rPr>
              <a:t> </a:t>
            </a:r>
          </a:p>
          <a:p>
            <a:pPr>
              <a:lnSpc>
                <a:spcPts val="900"/>
              </a:lnSpc>
              <a:spcAft>
                <a:spcPts val="0"/>
              </a:spcAft>
            </a:pPr>
            <a:r>
              <a:rPr sz="725" i="0">
                <a:solidFill>
                  <a:srgbClr val="5C6773"/>
                </a:solidFill>
                <a:latin typeface="Consolas"/>
              </a:rPr>
              <a:t>14  </a:t>
            </a:r>
            <a:r>
              <a:rPr sz="725" i="0">
                <a:solidFill>
                  <a:srgbClr val="E6EDF3"/>
                </a:solidFill>
                <a:latin typeface="Consolas"/>
              </a:rPr>
              <a:t> </a:t>
            </a:r>
          </a:p>
          <a:p>
            <a:pPr>
              <a:lnSpc>
                <a:spcPts val="900"/>
              </a:lnSpc>
              <a:spcAft>
                <a:spcPts val="0"/>
              </a:spcAft>
            </a:pPr>
            <a:r>
              <a:rPr sz="725" i="0">
                <a:solidFill>
                  <a:srgbClr val="5C6773"/>
                </a:solidFill>
                <a:latin typeface="Consolas"/>
              </a:rPr>
              <a:t>15  </a:t>
            </a:r>
            <a:r>
              <a:rPr sz="725" i="0">
                <a:solidFill>
                  <a:srgbClr val="FF8E6E"/>
                </a:solidFill>
                <a:latin typeface="Consolas"/>
              </a:rPr>
              <a:t>class</a:t>
            </a:r>
            <a:r>
              <a:rPr sz="725" i="0">
                <a:solidFill>
                  <a:srgbClr val="E6EDF3"/>
                </a:solidFill>
                <a:latin typeface="Consolas"/>
              </a:rPr>
              <a:t> </a:t>
            </a:r>
            <a:r>
              <a:rPr sz="725" i="0">
                <a:solidFill>
                  <a:srgbClr val="7FDBCA"/>
                </a:solidFill>
                <a:latin typeface="Consolas"/>
              </a:rPr>
              <a:t>MemberDiscount</a:t>
            </a:r>
            <a:r>
              <a:rPr sz="725" i="0">
                <a:solidFill>
                  <a:srgbClr val="E6EDF3"/>
                </a:solidFill>
                <a:latin typeface="Consolas"/>
              </a:rPr>
              <a:t>(</a:t>
            </a:r>
            <a:r>
              <a:rPr sz="725" i="0">
                <a:solidFill>
                  <a:srgbClr val="7FDBCA"/>
                </a:solidFill>
                <a:latin typeface="Consolas"/>
              </a:rPr>
              <a:t>Discount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16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discount</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subtotal</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p>
          <a:p>
            <a:pPr>
              <a:lnSpc>
                <a:spcPts val="900"/>
              </a:lnSpc>
              <a:spcAft>
                <a:spcPts val="0"/>
              </a:spcAft>
            </a:pPr>
            <a:r>
              <a:rPr sz="725" i="0">
                <a:solidFill>
                  <a:srgbClr val="5C6773"/>
                </a:solidFill>
                <a:latin typeface="Consolas"/>
              </a:rPr>
              <a:t>17  </a:t>
            </a:r>
            <a:r>
              <a:rPr sz="725" i="0">
                <a:solidFill>
                  <a:srgbClr val="E6EDF3"/>
                </a:solidFill>
                <a:latin typeface="Consolas"/>
              </a:rPr>
              <a:t>        </a:t>
            </a:r>
            <a:r>
              <a:rPr sz="725" i="0">
                <a:solidFill>
                  <a:srgbClr val="FF8E6E"/>
                </a:solidFill>
                <a:latin typeface="Consolas"/>
              </a:rPr>
              <a:t>return</a:t>
            </a:r>
            <a:r>
              <a:rPr sz="725" i="0">
                <a:solidFill>
                  <a:srgbClr val="E6EDF3"/>
                </a:solidFill>
                <a:latin typeface="Consolas"/>
              </a:rPr>
              <a:t> </a:t>
            </a:r>
            <a:r>
              <a:rPr sz="725" i="0">
                <a:solidFill>
                  <a:srgbClr val="E6EDF3"/>
                </a:solidFill>
                <a:latin typeface="Consolas"/>
              </a:rPr>
              <a:t>subtotal</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 </a:t>
            </a:r>
            <a:r>
              <a:rPr sz="725" i="0">
                <a:solidFill>
                  <a:srgbClr val="F9C97A"/>
                </a:solidFill>
                <a:latin typeface="Consolas"/>
              </a:rPr>
              <a:t>5</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 </a:t>
            </a:r>
            <a:r>
              <a:rPr sz="725" i="0">
                <a:solidFill>
                  <a:srgbClr val="F9C97A"/>
                </a:solidFill>
                <a:latin typeface="Consolas"/>
              </a:rPr>
              <a:t>100</a:t>
            </a:r>
          </a:p>
          <a:p>
            <a:pPr>
              <a:lnSpc>
                <a:spcPts val="900"/>
              </a:lnSpc>
              <a:spcAft>
                <a:spcPts val="0"/>
              </a:spcAft>
            </a:pPr>
            <a:r>
              <a:rPr sz="725" i="0">
                <a:solidFill>
                  <a:srgbClr val="5C6773"/>
                </a:solidFill>
                <a:latin typeface="Consolas"/>
              </a:rPr>
              <a:t>18  </a:t>
            </a:r>
            <a:r>
              <a:rPr sz="725" i="0">
                <a:solidFill>
                  <a:srgbClr val="E6EDF3"/>
                </a:solidFill>
                <a:latin typeface="Consolas"/>
              </a:rPr>
              <a:t> </a:t>
            </a:r>
          </a:p>
          <a:p>
            <a:pPr>
              <a:lnSpc>
                <a:spcPts val="900"/>
              </a:lnSpc>
              <a:spcAft>
                <a:spcPts val="0"/>
              </a:spcAft>
            </a:pPr>
            <a:r>
              <a:rPr sz="725" i="0">
                <a:solidFill>
                  <a:srgbClr val="5C6773"/>
                </a:solidFill>
                <a:latin typeface="Consolas"/>
              </a:rPr>
              <a:t>19  </a:t>
            </a:r>
            <a:r>
              <a:rPr sz="725" i="0">
                <a:solidFill>
                  <a:srgbClr val="E6EDF3"/>
                </a:solidFill>
                <a:latin typeface="Consolas"/>
              </a:rPr>
              <a:t> </a:t>
            </a:r>
          </a:p>
          <a:p>
            <a:pPr>
              <a:lnSpc>
                <a:spcPts val="900"/>
              </a:lnSpc>
              <a:spcAft>
                <a:spcPts val="0"/>
              </a:spcAft>
            </a:pPr>
            <a:r>
              <a:rPr sz="725" i="0">
                <a:solidFill>
                  <a:srgbClr val="5C6773"/>
                </a:solidFill>
                <a:latin typeface="Consolas"/>
              </a:rPr>
              <a:t>20  </a:t>
            </a:r>
            <a:r>
              <a:rPr sz="725" i="0">
                <a:solidFill>
                  <a:srgbClr val="FF8E6E"/>
                </a:solidFill>
                <a:latin typeface="Consolas"/>
              </a:rPr>
              <a:t>class</a:t>
            </a:r>
            <a:r>
              <a:rPr sz="725" i="0">
                <a:solidFill>
                  <a:srgbClr val="E6EDF3"/>
                </a:solidFill>
                <a:latin typeface="Consolas"/>
              </a:rPr>
              <a:t> </a:t>
            </a:r>
            <a:r>
              <a:rPr sz="725" i="0">
                <a:solidFill>
                  <a:srgbClr val="7FDBCA"/>
                </a:solidFill>
                <a:latin typeface="Consolas"/>
              </a:rPr>
              <a:t>VoucherDiscount</a:t>
            </a:r>
            <a:r>
              <a:rPr sz="725" i="0">
                <a:solidFill>
                  <a:srgbClr val="E6EDF3"/>
                </a:solidFill>
                <a:latin typeface="Consolas"/>
              </a:rPr>
              <a:t>(</a:t>
            </a:r>
            <a:r>
              <a:rPr sz="725" i="0">
                <a:solidFill>
                  <a:srgbClr val="7FDBCA"/>
                </a:solidFill>
                <a:latin typeface="Consolas"/>
              </a:rPr>
              <a:t>Discount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21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discount</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subtotal</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p>
          <a:p>
            <a:pPr>
              <a:lnSpc>
                <a:spcPts val="900"/>
              </a:lnSpc>
              <a:spcAft>
                <a:spcPts val="0"/>
              </a:spcAft>
            </a:pPr>
            <a:r>
              <a:rPr sz="725" i="0">
                <a:solidFill>
                  <a:srgbClr val="5C6773"/>
                </a:solidFill>
                <a:latin typeface="Consolas"/>
              </a:rPr>
              <a:t>22  </a:t>
            </a:r>
            <a:r>
              <a:rPr sz="725" i="0">
                <a:solidFill>
                  <a:srgbClr val="E6EDF3"/>
                </a:solidFill>
                <a:latin typeface="Consolas"/>
              </a:rPr>
              <a:t>        </a:t>
            </a:r>
            <a:r>
              <a:rPr sz="725" i="0">
                <a:solidFill>
                  <a:srgbClr val="FF8E6E"/>
                </a:solidFill>
                <a:latin typeface="Consolas"/>
              </a:rPr>
              <a:t>return</a:t>
            </a:r>
            <a:r>
              <a:rPr sz="725" i="0">
                <a:solidFill>
                  <a:srgbClr val="E6EDF3"/>
                </a:solidFill>
                <a:latin typeface="Consolas"/>
              </a:rPr>
              <a:t> </a:t>
            </a:r>
            <a:r>
              <a:rPr sz="725" i="0">
                <a:solidFill>
                  <a:srgbClr val="E6EDF3"/>
                </a:solidFill>
                <a:latin typeface="Consolas"/>
              </a:rPr>
              <a:t>subtotal</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 </a:t>
            </a:r>
            <a:r>
              <a:rPr sz="725" i="0">
                <a:solidFill>
                  <a:srgbClr val="F9C97A"/>
                </a:solidFill>
                <a:latin typeface="Consolas"/>
              </a:rPr>
              <a:t>50_000</a:t>
            </a:r>
            <a:r>
              <a:rPr sz="725" i="0">
                <a:solidFill>
                  <a:srgbClr val="E6EDF3"/>
                </a:solidFill>
                <a:latin typeface="Consolas"/>
              </a:rPr>
              <a:t>  </a:t>
            </a:r>
            <a:r>
              <a:rPr sz="725" i="1">
                <a:solidFill>
                  <a:srgbClr val="8B98A8"/>
                </a:solidFill>
                <a:latin typeface="Consolas"/>
              </a:rPr>
              <a:t># salah: ini harga akhir, bukan potongan</a:t>
            </a:r>
          </a:p>
          <a:p>
            <a:pPr>
              <a:lnSpc>
                <a:spcPts val="900"/>
              </a:lnSpc>
              <a:spcAft>
                <a:spcPts val="0"/>
              </a:spcAft>
            </a:pPr>
            <a:r>
              <a:rPr sz="725" i="0">
                <a:solidFill>
                  <a:srgbClr val="5C6773"/>
                </a:solidFill>
                <a:latin typeface="Consolas"/>
              </a:rPr>
              <a:t>23  </a:t>
            </a:r>
            <a:r>
              <a:rPr sz="725" i="0">
                <a:solidFill>
                  <a:srgbClr val="E6EDF3"/>
                </a:solidFill>
                <a:latin typeface="Consolas"/>
              </a:rPr>
              <a:t> </a:t>
            </a:r>
          </a:p>
          <a:p>
            <a:pPr>
              <a:lnSpc>
                <a:spcPts val="900"/>
              </a:lnSpc>
              <a:spcAft>
                <a:spcPts val="0"/>
              </a:spcAft>
            </a:pPr>
            <a:r>
              <a:rPr sz="725" i="0">
                <a:solidFill>
                  <a:srgbClr val="5C6773"/>
                </a:solidFill>
                <a:latin typeface="Consolas"/>
              </a:rPr>
              <a:t>24  </a:t>
            </a:r>
            <a:r>
              <a:rPr sz="725" i="0">
                <a:solidFill>
                  <a:srgbClr val="E6EDF3"/>
                </a:solidFill>
                <a:latin typeface="Consolas"/>
              </a:rPr>
              <a:t> </a:t>
            </a:r>
          </a:p>
          <a:p>
            <a:pPr>
              <a:lnSpc>
                <a:spcPts val="900"/>
              </a:lnSpc>
              <a:spcAft>
                <a:spcPts val="0"/>
              </a:spcAft>
            </a:pPr>
            <a:r>
              <a:rPr sz="725" i="0">
                <a:solidFill>
                  <a:srgbClr val="5C6773"/>
                </a:solidFill>
                <a:latin typeface="Consolas"/>
              </a:rPr>
              <a:t>25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calculate_total</a:t>
            </a:r>
            <a:r>
              <a:rPr sz="725" i="0">
                <a:solidFill>
                  <a:srgbClr val="E6EDF3"/>
                </a:solidFill>
                <a:latin typeface="Consolas"/>
              </a:rPr>
              <a:t>(</a:t>
            </a:r>
            <a:r>
              <a:rPr sz="725" i="0">
                <a:solidFill>
                  <a:srgbClr val="E6EDF3"/>
                </a:solidFill>
                <a:latin typeface="Consolas"/>
              </a:rPr>
              <a:t>subtotal</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rule</a:t>
            </a:r>
            <a:r>
              <a:rPr sz="725" i="0">
                <a:solidFill>
                  <a:srgbClr val="E6EDF3"/>
                </a:solidFill>
                <a:latin typeface="Consolas"/>
              </a:rPr>
              <a:t>:</a:t>
            </a:r>
            <a:r>
              <a:rPr sz="725" i="0">
                <a:solidFill>
                  <a:srgbClr val="E6EDF3"/>
                </a:solidFill>
                <a:latin typeface="Consolas"/>
              </a:rPr>
              <a:t> </a:t>
            </a:r>
            <a:r>
              <a:rPr sz="725" i="0">
                <a:solidFill>
                  <a:srgbClr val="7FDBCA"/>
                </a:solidFill>
                <a:latin typeface="Consolas"/>
              </a:rPr>
              <a:t>Discount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p>
          <a:p>
            <a:pPr>
              <a:lnSpc>
                <a:spcPts val="900"/>
              </a:lnSpc>
              <a:spcAft>
                <a:spcPts val="0"/>
              </a:spcAft>
            </a:pPr>
            <a:r>
              <a:rPr sz="725" i="0">
                <a:solidFill>
                  <a:srgbClr val="5C6773"/>
                </a:solidFill>
                <a:latin typeface="Consolas"/>
              </a:rPr>
              <a:t>26  </a:t>
            </a:r>
            <a:r>
              <a:rPr sz="725" i="0">
                <a:solidFill>
                  <a:srgbClr val="E6EDF3"/>
                </a:solidFill>
                <a:latin typeface="Consolas"/>
              </a:rPr>
              <a:t>    </a:t>
            </a:r>
            <a:r>
              <a:rPr sz="725" i="0">
                <a:solidFill>
                  <a:srgbClr val="FF8E6E"/>
                </a:solidFill>
                <a:latin typeface="Consolas"/>
              </a:rPr>
              <a:t>return</a:t>
            </a:r>
            <a:r>
              <a:rPr sz="725" i="0">
                <a:solidFill>
                  <a:srgbClr val="E6EDF3"/>
                </a:solidFill>
                <a:latin typeface="Consolas"/>
              </a:rPr>
              <a:t> </a:t>
            </a:r>
            <a:r>
              <a:rPr sz="725" i="0">
                <a:solidFill>
                  <a:srgbClr val="E6EDF3"/>
                </a:solidFill>
                <a:latin typeface="Consolas"/>
              </a:rPr>
              <a:t>subtotal</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rule</a:t>
            </a:r>
            <a:r>
              <a:rPr sz="725" i="0">
                <a:solidFill>
                  <a:srgbClr val="E6EDF3"/>
                </a:solidFill>
                <a:latin typeface="Consolas"/>
              </a:rPr>
              <a:t>.</a:t>
            </a:r>
            <a:r>
              <a:rPr sz="725" i="0">
                <a:solidFill>
                  <a:srgbClr val="E6EDF3"/>
                </a:solidFill>
                <a:latin typeface="Consolas"/>
              </a:rPr>
              <a:t>discount</a:t>
            </a:r>
            <a:r>
              <a:rPr sz="725" i="0">
                <a:solidFill>
                  <a:srgbClr val="E6EDF3"/>
                </a:solidFill>
                <a:latin typeface="Consolas"/>
              </a:rPr>
              <a:t>(</a:t>
            </a:r>
            <a:r>
              <a:rPr sz="725" i="0">
                <a:solidFill>
                  <a:srgbClr val="E6EDF3"/>
                </a:solidFill>
                <a:latin typeface="Consolas"/>
              </a:rPr>
              <a:t>subtotal</a:t>
            </a:r>
            <a:r>
              <a:rPr sz="725" i="0">
                <a:solidFill>
                  <a:srgbClr val="E6EDF3"/>
                </a:solidFill>
                <a:latin typeface="Consolas"/>
              </a:rPr>
              <a:t>)</a:t>
            </a:r>
          </a:p>
          <a:p>
            <a:pPr>
              <a:lnSpc>
                <a:spcPts val="900"/>
              </a:lnSpc>
              <a:spcAft>
                <a:spcPts val="0"/>
              </a:spcAft>
            </a:pPr>
            <a:r>
              <a:rPr sz="725" i="0">
                <a:solidFill>
                  <a:srgbClr val="5C6773"/>
                </a:solidFill>
                <a:latin typeface="Consolas"/>
              </a:rPr>
              <a:t>27  </a:t>
            </a:r>
            <a:r>
              <a:rPr sz="725" i="0">
                <a:solidFill>
                  <a:srgbClr val="E6EDF3"/>
                </a:solidFill>
                <a:latin typeface="Consolas"/>
              </a:rPr>
              <a:t> </a:t>
            </a:r>
          </a:p>
          <a:p>
            <a:pPr>
              <a:lnSpc>
                <a:spcPts val="900"/>
              </a:lnSpc>
              <a:spcAft>
                <a:spcPts val="0"/>
              </a:spcAft>
            </a:pPr>
            <a:r>
              <a:rPr sz="725" i="0">
                <a:solidFill>
                  <a:srgbClr val="5C6773"/>
                </a:solidFill>
                <a:latin typeface="Consolas"/>
              </a:rPr>
              <a:t>28  </a:t>
            </a:r>
            <a:r>
              <a:rPr sz="725" i="0">
                <a:solidFill>
                  <a:srgbClr val="E6EDF3"/>
                </a:solidFill>
                <a:latin typeface="Consolas"/>
              </a:rPr>
              <a:t> </a:t>
            </a:r>
          </a:p>
          <a:p>
            <a:pPr>
              <a:lnSpc>
                <a:spcPts val="900"/>
              </a:lnSpc>
              <a:spcAft>
                <a:spcPts val="0"/>
              </a:spcAft>
            </a:pPr>
            <a:r>
              <a:rPr sz="725" i="0">
                <a:solidFill>
                  <a:srgbClr val="5C6773"/>
                </a:solidFill>
                <a:latin typeface="Consolas"/>
              </a:rPr>
              <a:t>29  </a:t>
            </a:r>
            <a:r>
              <a:rPr sz="725" i="0">
                <a:solidFill>
                  <a:srgbClr val="FF8E6E"/>
                </a:solidFill>
                <a:latin typeface="Consolas"/>
              </a:rPr>
              <a:t>if</a:t>
            </a:r>
            <a:r>
              <a:rPr sz="725" i="0">
                <a:solidFill>
                  <a:srgbClr val="E6EDF3"/>
                </a:solidFill>
                <a:latin typeface="Consolas"/>
              </a:rPr>
              <a:t> </a:t>
            </a:r>
            <a:r>
              <a:rPr sz="725" i="0">
                <a:solidFill>
                  <a:srgbClr val="E6EDF3"/>
                </a:solidFill>
                <a:latin typeface="Consolas"/>
              </a:rPr>
              <a:t>__name__</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 </a:t>
            </a:r>
            <a:r>
              <a:rPr sz="725" i="0">
                <a:solidFill>
                  <a:srgbClr val="A5D6A7"/>
                </a:solidFill>
                <a:latin typeface="Consolas"/>
              </a:rPr>
              <a:t>"__main__"</a:t>
            </a:r>
            <a:r>
              <a:rPr sz="725" i="0">
                <a:solidFill>
                  <a:srgbClr val="E6EDF3"/>
                </a:solidFill>
                <a:latin typeface="Consolas"/>
              </a:rPr>
              <a:t>:</a:t>
            </a:r>
          </a:p>
          <a:p>
            <a:pPr>
              <a:lnSpc>
                <a:spcPts val="900"/>
              </a:lnSpc>
              <a:spcAft>
                <a:spcPts val="0"/>
              </a:spcAft>
            </a:pPr>
            <a:r>
              <a:rPr sz="725" i="0">
                <a:solidFill>
                  <a:srgbClr val="5C6773"/>
                </a:solidFill>
                <a:latin typeface="Consolas"/>
              </a:rPr>
              <a:t>30  </a:t>
            </a:r>
            <a:r>
              <a:rPr sz="725" i="0">
                <a:solidFill>
                  <a:srgbClr val="E6EDF3"/>
                </a:solidFill>
                <a:latin typeface="Consolas"/>
              </a:rPr>
              <a:t>    </a:t>
            </a:r>
            <a:r>
              <a:rPr sz="725" i="0">
                <a:solidFill>
                  <a:srgbClr val="C3A6FF"/>
                </a:solidFill>
                <a:latin typeface="Consolas"/>
              </a:rPr>
              <a:t>print</a:t>
            </a:r>
            <a:r>
              <a:rPr sz="725" i="0">
                <a:solidFill>
                  <a:srgbClr val="E6EDF3"/>
                </a:solidFill>
                <a:latin typeface="Consolas"/>
              </a:rPr>
              <a:t>(</a:t>
            </a:r>
            <a:r>
              <a:rPr sz="725" i="0">
                <a:solidFill>
                  <a:srgbClr val="A5D6A7"/>
                </a:solidFill>
                <a:latin typeface="Consolas"/>
              </a:rPr>
              <a:t>"member :"</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calculate_total</a:t>
            </a:r>
            <a:r>
              <a:rPr sz="725" i="0">
                <a:solidFill>
                  <a:srgbClr val="E6EDF3"/>
                </a:solidFill>
                <a:latin typeface="Consolas"/>
              </a:rPr>
              <a:t>(</a:t>
            </a:r>
            <a:r>
              <a:rPr sz="725" i="0">
                <a:solidFill>
                  <a:srgbClr val="F9C97A"/>
                </a:solidFill>
                <a:latin typeface="Consolas"/>
              </a:rPr>
              <a:t>200_000</a:t>
            </a:r>
            <a:r>
              <a:rPr sz="725" i="0">
                <a:solidFill>
                  <a:srgbClr val="E6EDF3"/>
                </a:solidFill>
                <a:latin typeface="Consolas"/>
              </a:rPr>
              <a:t>,</a:t>
            </a:r>
            <a:r>
              <a:rPr sz="725" i="0">
                <a:solidFill>
                  <a:srgbClr val="E6EDF3"/>
                </a:solidFill>
                <a:latin typeface="Consolas"/>
              </a:rPr>
              <a:t> </a:t>
            </a:r>
            <a:r>
              <a:rPr sz="725" i="0">
                <a:solidFill>
                  <a:srgbClr val="7FDBCA"/>
                </a:solidFill>
                <a:latin typeface="Consolas"/>
              </a:rPr>
              <a:t>MemberDiscount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   </a:t>
            </a:r>
            <a:r>
              <a:rPr sz="725" i="1">
                <a:solidFill>
                  <a:srgbClr val="8B98A8"/>
                </a:solidFill>
                <a:latin typeface="Consolas"/>
              </a:rPr>
              <a:t># 190000, benar</a:t>
            </a:r>
          </a:p>
          <a:p>
            <a:pPr>
              <a:lnSpc>
                <a:spcPts val="900"/>
              </a:lnSpc>
              <a:spcAft>
                <a:spcPts val="0"/>
              </a:spcAft>
            </a:pPr>
            <a:r>
              <a:rPr sz="725" i="0">
                <a:solidFill>
                  <a:srgbClr val="5C6773"/>
                </a:solidFill>
                <a:latin typeface="Consolas"/>
              </a:rPr>
              <a:t>31  </a:t>
            </a:r>
            <a:r>
              <a:rPr sz="725" i="0">
                <a:solidFill>
                  <a:srgbClr val="E6EDF3"/>
                </a:solidFill>
                <a:latin typeface="Consolas"/>
              </a:rPr>
              <a:t>    </a:t>
            </a:r>
            <a:r>
              <a:rPr sz="725" i="0">
                <a:solidFill>
                  <a:srgbClr val="C3A6FF"/>
                </a:solidFill>
                <a:latin typeface="Consolas"/>
              </a:rPr>
              <a:t>print</a:t>
            </a:r>
            <a:r>
              <a:rPr sz="725" i="0">
                <a:solidFill>
                  <a:srgbClr val="E6EDF3"/>
                </a:solidFill>
                <a:latin typeface="Consolas"/>
              </a:rPr>
              <a:t>(</a:t>
            </a:r>
            <a:r>
              <a:rPr sz="725" i="0">
                <a:solidFill>
                  <a:srgbClr val="A5D6A7"/>
                </a:solidFill>
                <a:latin typeface="Consolas"/>
              </a:rPr>
              <a:t>"voucher:"</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calculate_total</a:t>
            </a:r>
            <a:r>
              <a:rPr sz="725" i="0">
                <a:solidFill>
                  <a:srgbClr val="E6EDF3"/>
                </a:solidFill>
                <a:latin typeface="Consolas"/>
              </a:rPr>
              <a:t>(</a:t>
            </a:r>
            <a:r>
              <a:rPr sz="725" i="0">
                <a:solidFill>
                  <a:srgbClr val="F9C97A"/>
                </a:solidFill>
                <a:latin typeface="Consolas"/>
              </a:rPr>
              <a:t>200_000</a:t>
            </a:r>
            <a:r>
              <a:rPr sz="725" i="0">
                <a:solidFill>
                  <a:srgbClr val="E6EDF3"/>
                </a:solidFill>
                <a:latin typeface="Consolas"/>
              </a:rPr>
              <a:t>,</a:t>
            </a:r>
            <a:r>
              <a:rPr sz="725" i="0">
                <a:solidFill>
                  <a:srgbClr val="E6EDF3"/>
                </a:solidFill>
                <a:latin typeface="Consolas"/>
              </a:rPr>
              <a:t> </a:t>
            </a:r>
            <a:r>
              <a:rPr sz="725" i="0">
                <a:solidFill>
                  <a:srgbClr val="7FDBCA"/>
                </a:solidFill>
                <a:latin typeface="Consolas"/>
              </a:rPr>
              <a:t>VoucherDiscount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  </a:t>
            </a:r>
            <a:r>
              <a:rPr sz="725" i="1">
                <a:solidFill>
                  <a:srgbClr val="8B98A8"/>
                </a:solidFill>
                <a:latin typeface="Consolas"/>
              </a:rPr>
              <a:t># 50000, harusnya 150000</a:t>
            </a:r>
          </a:p>
        </p:txBody>
      </p:sp>
      <p:sp>
        <p:nvSpPr>
          <p:cNvPr id="29" name="Box 12"/>
          <p:cNvSpPr/>
          <p:nvPr/>
        </p:nvSpPr>
        <p:spPr>
          <a:xfrm>
            <a:off x="704088" y="2053971"/>
            <a:ext cx="7699248"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1988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3311271"/>
            <a:ext cx="7699248"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2461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704088" y="4339971"/>
            <a:ext cx="7699248"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Box 17"/>
          <p:cNvSpPr/>
          <p:nvPr/>
        </p:nvSpPr>
        <p:spPr>
          <a:xfrm>
            <a:off x="8284463" y="4274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L · Liskov Substitution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03-lsp/before.py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sesi-02-solid-clean-architecture/03-lsp</a:t>
            </a:r>
          </a:p>
          <a:p>
            <a:pPr>
              <a:lnSpc>
                <a:spcPts val="1000"/>
              </a:lnSpc>
              <a:spcAft>
                <a:spcPts val="0"/>
              </a:spcAft>
            </a:pPr>
            <a:r>
              <a:rPr sz="775" i="0">
                <a:solidFill>
                  <a:srgbClr val="82B1FF"/>
                </a:solidFill>
                <a:latin typeface="Consolas"/>
              </a:rPr>
              <a:t>$ python before.py</a:t>
            </a:r>
          </a:p>
        </p:txBody>
      </p:sp>
      <p:pic>
        <p:nvPicPr>
          <p:cNvPr id="29" name="Image 12" descr="s02-03-lsp-before.png"/>
          <p:cNvPicPr>
            <a:picLocks noChangeAspect="1"/>
          </p:cNvPicPr>
          <p:nvPr/>
        </p:nvPicPr>
        <p:blipFill>
          <a:blip r:embed="rId2"/>
          <a:stretch>
            <a:fillRect/>
          </a:stretch>
        </p:blipFill>
        <p:spPr>
          <a:xfrm>
            <a:off x="621792" y="2240280"/>
            <a:ext cx="4297680" cy="1088136"/>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Kontrak parent: kembalikan </a:t>
            </a:r>
            <a:r>
              <a:rPr sz="950" i="0" b="1">
                <a:solidFill>
                  <a:srgbClr val="434343"/>
                </a:solidFill>
                <a:latin typeface="Inter"/>
              </a:rPr>
              <a:t>besar potongan</a:t>
            </a:r>
            <a:r>
              <a:rPr sz="950" i="0" b="0">
                <a:solidFill>
                  <a:srgbClr val="434343"/>
                </a:solidFill>
                <a:latin typeface="Inter"/>
              </a:rPr>
              <a:t> (baris 11)</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VoucherDiscount</a:t>
            </a:r>
            <a:r>
              <a:rPr sz="950" i="0" b="0">
                <a:solidFill>
                  <a:srgbClr val="434343"/>
                </a:solidFill>
                <a:latin typeface="Inter"/>
              </a:rPr>
              <a:t> malah mengembalikan </a:t>
            </a:r>
            <a:r>
              <a:rPr sz="950" i="0" b="1">
                <a:solidFill>
                  <a:srgbClr val="434343"/>
                </a:solidFill>
                <a:latin typeface="Inter"/>
              </a:rPr>
              <a:t>harga akhir</a:t>
            </a:r>
            <a:r>
              <a:rPr sz="950" i="0" b="0">
                <a:solidFill>
                  <a:srgbClr val="434343"/>
                </a:solidFill>
                <a:latin typeface="Inter"/>
              </a:rPr>
              <a:t> (baris 22)</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Tidak ada error, tapi total voucher 50.000, harusnya 150.000 (baris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L · Liskov Substitution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Semua Ikut Kontrak yang Sama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03-lsp/after.py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 9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Discount</a:t>
            </a:r>
            <a:r>
              <a:rPr sz="850" i="0">
                <a:solidFill>
                  <a:srgbClr val="E6EDF3"/>
                </a:solidFill>
                <a:latin typeface="Consolas"/>
              </a:rPr>
              <a:t>:</a:t>
            </a:r>
          </a:p>
          <a:p>
            <a:pPr>
              <a:lnSpc>
                <a:spcPts val="1100"/>
              </a:lnSpc>
              <a:spcAft>
                <a:spcPts val="0"/>
              </a:spcAft>
            </a:pPr>
            <a:r>
              <a:rPr sz="850" i="0">
                <a:solidFill>
                  <a:srgbClr val="5C6773"/>
                </a:solidFill>
                <a:latin typeface="Consolas"/>
              </a:rPr>
              <a:t>10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discount</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11  </a:t>
            </a:r>
            <a:r>
              <a:rPr sz="850" i="0">
                <a:solidFill>
                  <a:srgbClr val="E6EDF3"/>
                </a:solidFill>
                <a:latin typeface="Consolas"/>
              </a:rPr>
              <a:t>        </a:t>
            </a:r>
            <a:r>
              <a:rPr sz="850" i="0">
                <a:solidFill>
                  <a:srgbClr val="A5D6A7"/>
                </a:solidFill>
                <a:latin typeface="Consolas"/>
              </a:rPr>
              <a:t>"""Kembalikan besar potongan (0 sampai subtotal)."""</a:t>
            </a:r>
          </a:p>
          <a:p>
            <a:pPr>
              <a:lnSpc>
                <a:spcPts val="1100"/>
              </a:lnSpc>
              <a:spcAft>
                <a:spcPts val="0"/>
              </a:spcAft>
            </a:pPr>
            <a:r>
              <a:rPr sz="850" i="0">
                <a:solidFill>
                  <a:srgbClr val="5C6773"/>
                </a:solidFill>
                <a:latin typeface="Consolas"/>
              </a:rPr>
              <a:t>12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F9C97A"/>
                </a:solidFill>
                <a:latin typeface="Consolas"/>
              </a:rPr>
              <a:t>0</a:t>
            </a:r>
          </a:p>
          <a:p>
            <a:pPr>
              <a:lnSpc>
                <a:spcPts val="1100"/>
              </a:lnSpc>
              <a:spcAft>
                <a:spcPts val="0"/>
              </a:spcAft>
            </a:pPr>
            <a:r>
              <a:rPr sz="850" i="0">
                <a:solidFill>
                  <a:srgbClr val="5C6773"/>
                </a:solidFill>
                <a:latin typeface="Consolas"/>
              </a:rPr>
              <a:t>13  </a:t>
            </a:r>
            <a:r>
              <a:rPr sz="850" i="0">
                <a:solidFill>
                  <a:srgbClr val="E6EDF3"/>
                </a:solidFill>
                <a:latin typeface="Consolas"/>
              </a:rPr>
              <a:t> </a:t>
            </a:r>
          </a:p>
          <a:p>
            <a:pPr>
              <a:lnSpc>
                <a:spcPts val="1100"/>
              </a:lnSpc>
              <a:spcAft>
                <a:spcPts val="0"/>
              </a:spcAft>
            </a:pPr>
            <a:r>
              <a:rPr sz="850" i="0">
                <a:solidFill>
                  <a:srgbClr val="5C6773"/>
                </a:solidFill>
                <a:latin typeface="Consolas"/>
              </a:rPr>
              <a:t>14  </a:t>
            </a:r>
            <a:r>
              <a:rPr sz="850" i="0">
                <a:solidFill>
                  <a:srgbClr val="E6EDF3"/>
                </a:solidFill>
                <a:latin typeface="Consolas"/>
              </a:rPr>
              <a:t> </a:t>
            </a:r>
          </a:p>
          <a:p>
            <a:pPr>
              <a:lnSpc>
                <a:spcPts val="1100"/>
              </a:lnSpc>
              <a:spcAft>
                <a:spcPts val="0"/>
              </a:spcAft>
            </a:pPr>
            <a:r>
              <a:rPr sz="850" i="0">
                <a:solidFill>
                  <a:srgbClr val="5C6773"/>
                </a:solidFill>
                <a:latin typeface="Consolas"/>
              </a:rPr>
              <a:t>15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MemberDiscount</a:t>
            </a:r>
            <a:r>
              <a:rPr sz="850" i="0">
                <a:solidFill>
                  <a:srgbClr val="E6EDF3"/>
                </a:solidFill>
                <a:latin typeface="Consolas"/>
              </a:rPr>
              <a:t>(</a:t>
            </a:r>
            <a:r>
              <a:rPr sz="850" i="0">
                <a:solidFill>
                  <a:srgbClr val="7FDBCA"/>
                </a:solidFill>
                <a:latin typeface="Consolas"/>
              </a:rPr>
              <a:t>Discount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16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discount</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17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5</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100</a:t>
            </a:r>
          </a:p>
          <a:p>
            <a:pPr>
              <a:lnSpc>
                <a:spcPts val="1100"/>
              </a:lnSpc>
              <a:spcAft>
                <a:spcPts val="0"/>
              </a:spcAft>
            </a:pPr>
            <a:r>
              <a:rPr sz="850" i="0">
                <a:solidFill>
                  <a:srgbClr val="5C6773"/>
                </a:solidFill>
                <a:latin typeface="Consolas"/>
              </a:rPr>
              <a:t>18  </a:t>
            </a:r>
            <a:r>
              <a:rPr sz="850" i="0">
                <a:solidFill>
                  <a:srgbClr val="E6EDF3"/>
                </a:solidFill>
                <a:latin typeface="Consolas"/>
              </a:rPr>
              <a:t> </a:t>
            </a:r>
          </a:p>
          <a:p>
            <a:pPr>
              <a:lnSpc>
                <a:spcPts val="1100"/>
              </a:lnSpc>
              <a:spcAft>
                <a:spcPts val="0"/>
              </a:spcAft>
            </a:pPr>
            <a:r>
              <a:rPr sz="850" i="0">
                <a:solidFill>
                  <a:srgbClr val="5C6773"/>
                </a:solidFill>
                <a:latin typeface="Consolas"/>
              </a:rPr>
              <a:t>19  </a:t>
            </a:r>
            <a:r>
              <a:rPr sz="850" i="0">
                <a:solidFill>
                  <a:srgbClr val="E6EDF3"/>
                </a:solidFill>
                <a:latin typeface="Consolas"/>
              </a:rPr>
              <a:t> </a:t>
            </a:r>
          </a:p>
          <a:p>
            <a:pPr>
              <a:lnSpc>
                <a:spcPts val="1100"/>
              </a:lnSpc>
              <a:spcAft>
                <a:spcPts val="0"/>
              </a:spcAft>
            </a:pPr>
            <a:r>
              <a:rPr sz="850" i="0">
                <a:solidFill>
                  <a:srgbClr val="5C6773"/>
                </a:solidFill>
                <a:latin typeface="Consolas"/>
              </a:rPr>
              <a:t>20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VoucherDiscount</a:t>
            </a:r>
            <a:r>
              <a:rPr sz="850" i="0">
                <a:solidFill>
                  <a:srgbClr val="E6EDF3"/>
                </a:solidFill>
                <a:latin typeface="Consolas"/>
              </a:rPr>
              <a:t>(</a:t>
            </a:r>
            <a:r>
              <a:rPr sz="850" i="0">
                <a:solidFill>
                  <a:srgbClr val="7FDBCA"/>
                </a:solidFill>
                <a:latin typeface="Consolas"/>
              </a:rPr>
              <a:t>Discount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21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amount</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50_000</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amount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amount</a:t>
            </a:r>
          </a:p>
          <a:p>
            <a:pPr>
              <a:lnSpc>
                <a:spcPts val="1100"/>
              </a:lnSpc>
              <a:spcAft>
                <a:spcPts val="0"/>
              </a:spcAft>
            </a:pPr>
            <a:r>
              <a:rPr sz="850" i="0">
                <a:solidFill>
                  <a:srgbClr val="5C6773"/>
                </a:solidFill>
                <a:latin typeface="Consolas"/>
              </a:rPr>
              <a:t>23  </a:t>
            </a:r>
            <a:r>
              <a:rPr sz="850" i="0">
                <a:solidFill>
                  <a:srgbClr val="E6EDF3"/>
                </a:solidFill>
                <a:latin typeface="Consolas"/>
              </a:rPr>
              <a:t> </a:t>
            </a:r>
          </a:p>
          <a:p>
            <a:pPr>
              <a:lnSpc>
                <a:spcPts val="1100"/>
              </a:lnSpc>
              <a:spcAft>
                <a:spcPts val="0"/>
              </a:spcAft>
            </a:pPr>
            <a:r>
              <a:rPr sz="850" i="0">
                <a:solidFill>
                  <a:srgbClr val="5C6773"/>
                </a:solidFill>
                <a:latin typeface="Consolas"/>
              </a:rPr>
              <a:t>24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discount</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25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C3A6FF"/>
                </a:solidFill>
                <a:latin typeface="Consolas"/>
              </a:rPr>
              <a:t>min</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amount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1">
                <a:solidFill>
                  <a:srgbClr val="8B98A8"/>
                </a:solidFill>
                <a:latin typeface="Consolas"/>
              </a:rPr>
              <a:t># potongan, tidak lebih dari subtotal</a:t>
            </a:r>
          </a:p>
        </p:txBody>
      </p:sp>
      <p:sp>
        <p:nvSpPr>
          <p:cNvPr id="29" name="Box 12"/>
          <p:cNvSpPr/>
          <p:nvPr/>
        </p:nvSpPr>
        <p:spPr>
          <a:xfrm>
            <a:off x="704088" y="40638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40106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L · Liskov Substitution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Semua Ikut Kontrak yang Sama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03-lsp/after.py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28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calculate_total</a:t>
            </a:r>
            <a:r>
              <a:rPr sz="850" i="0">
                <a:solidFill>
                  <a:srgbClr val="E6EDF3"/>
                </a:solidFill>
                <a:latin typeface="Consolas"/>
              </a:rPr>
              <a:t>(</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rule</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Discount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29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rule</a:t>
            </a:r>
            <a:r>
              <a:rPr sz="850" i="0">
                <a:solidFill>
                  <a:srgbClr val="E6EDF3"/>
                </a:solidFill>
                <a:latin typeface="Consolas"/>
              </a:rPr>
              <a:t>.</a:t>
            </a:r>
            <a:r>
              <a:rPr sz="850" i="0">
                <a:solidFill>
                  <a:srgbClr val="E6EDF3"/>
                </a:solidFill>
                <a:latin typeface="Consolas"/>
              </a:rPr>
              <a:t>discount</a:t>
            </a:r>
            <a:r>
              <a:rPr sz="850" i="0">
                <a:solidFill>
                  <a:srgbClr val="E6EDF3"/>
                </a:solidFill>
                <a:latin typeface="Consolas"/>
              </a:rPr>
              <a:t>(</a:t>
            </a:r>
            <a:r>
              <a:rPr sz="850" i="0">
                <a:solidFill>
                  <a:srgbClr val="E6EDF3"/>
                </a:solidFill>
                <a:latin typeface="Consolas"/>
              </a:rPr>
              <a:t>subtotal</a:t>
            </a:r>
            <a:r>
              <a:rPr sz="850" i="0">
                <a:solidFill>
                  <a:srgbClr val="E6EDF3"/>
                </a:solidFill>
                <a:latin typeface="Consolas"/>
              </a:rPr>
              <a:t>)</a:t>
            </a:r>
          </a:p>
          <a:p>
            <a:pPr>
              <a:lnSpc>
                <a:spcPts val="1100"/>
              </a:lnSpc>
              <a:spcAft>
                <a:spcPts val="0"/>
              </a:spcAft>
            </a:pPr>
            <a:r>
              <a:rPr sz="850" i="0">
                <a:solidFill>
                  <a:srgbClr val="5C6773"/>
                </a:solidFill>
                <a:latin typeface="Consolas"/>
              </a:rPr>
              <a:t>30  </a:t>
            </a:r>
            <a:r>
              <a:rPr sz="850" i="0">
                <a:solidFill>
                  <a:srgbClr val="E6EDF3"/>
                </a:solidFill>
                <a:latin typeface="Consolas"/>
              </a:rPr>
              <a:t> </a:t>
            </a:r>
          </a:p>
          <a:p>
            <a:pPr>
              <a:lnSpc>
                <a:spcPts val="1100"/>
              </a:lnSpc>
              <a:spcAft>
                <a:spcPts val="0"/>
              </a:spcAft>
            </a:pPr>
            <a:r>
              <a:rPr sz="850" i="0">
                <a:solidFill>
                  <a:srgbClr val="5C6773"/>
                </a:solidFill>
                <a:latin typeface="Consolas"/>
              </a:rPr>
              <a:t>31  </a:t>
            </a:r>
            <a:r>
              <a:rPr sz="850" i="0">
                <a:solidFill>
                  <a:srgbClr val="E6EDF3"/>
                </a:solidFill>
                <a:latin typeface="Consolas"/>
              </a:rPr>
              <a:t> </a:t>
            </a:r>
          </a:p>
          <a:p>
            <a:pPr>
              <a:lnSpc>
                <a:spcPts val="1100"/>
              </a:lnSpc>
              <a:spcAft>
                <a:spcPts val="0"/>
              </a:spcAft>
            </a:pPr>
            <a:r>
              <a:rPr sz="850" i="0">
                <a:solidFill>
                  <a:srgbClr val="5C6773"/>
                </a:solidFill>
                <a:latin typeface="Consolas"/>
              </a:rPr>
              <a:t>32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check_contract</a:t>
            </a:r>
            <a:r>
              <a:rPr sz="850" i="0">
                <a:solidFill>
                  <a:srgbClr val="E6EDF3"/>
                </a:solidFill>
                <a:latin typeface="Consolas"/>
              </a:rPr>
              <a:t>(</a:t>
            </a:r>
            <a:r>
              <a:rPr sz="850" i="0">
                <a:solidFill>
                  <a:srgbClr val="E6EDF3"/>
                </a:solidFill>
                <a:latin typeface="Consolas"/>
              </a:rPr>
              <a:t>rule</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Discount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p>
          <a:p>
            <a:pPr>
              <a:lnSpc>
                <a:spcPts val="1100"/>
              </a:lnSpc>
              <a:spcAft>
                <a:spcPts val="0"/>
              </a:spcAft>
            </a:pPr>
            <a:r>
              <a:rPr sz="850" i="0">
                <a:solidFill>
                  <a:srgbClr val="5C6773"/>
                </a:solidFill>
                <a:latin typeface="Consolas"/>
              </a:rPr>
              <a:t>33  </a:t>
            </a:r>
            <a:r>
              <a:rPr sz="850" i="0">
                <a:solidFill>
                  <a:srgbClr val="E6EDF3"/>
                </a:solidFill>
                <a:latin typeface="Consolas"/>
              </a:rPr>
              <a:t>    </a:t>
            </a:r>
            <a:r>
              <a:rPr sz="850" i="0">
                <a:solidFill>
                  <a:srgbClr val="FF8E6E"/>
                </a:solidFill>
                <a:latin typeface="Consolas"/>
              </a:rPr>
              <a:t>for</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 </a:t>
            </a:r>
            <a:r>
              <a:rPr sz="850" i="0">
                <a:solidFill>
                  <a:srgbClr val="FF8E6E"/>
                </a:solidFill>
                <a:latin typeface="Consolas"/>
              </a:rPr>
              <a:t>in</a:t>
            </a:r>
            <a:r>
              <a:rPr sz="850" i="0">
                <a:solidFill>
                  <a:srgbClr val="E6EDF3"/>
                </a:solidFill>
                <a:latin typeface="Consolas"/>
              </a:rPr>
              <a:t> </a:t>
            </a:r>
            <a:r>
              <a:rPr sz="850" i="0">
                <a:solidFill>
                  <a:srgbClr val="E6EDF3"/>
                </a:solidFill>
                <a:latin typeface="Consolas"/>
              </a:rPr>
              <a:t>(</a:t>
            </a:r>
            <a:r>
              <a:rPr sz="850" i="0">
                <a:solidFill>
                  <a:srgbClr val="F9C97A"/>
                </a:solidFill>
                <a:latin typeface="Consolas"/>
              </a:rPr>
              <a:t>0</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30_000</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200_000</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34  </a:t>
            </a:r>
            <a:r>
              <a:rPr sz="850" i="0">
                <a:solidFill>
                  <a:srgbClr val="E6EDF3"/>
                </a:solidFill>
                <a:latin typeface="Consolas"/>
              </a:rPr>
              <a:t>        </a:t>
            </a:r>
            <a:r>
              <a:rPr sz="850" i="0">
                <a:solidFill>
                  <a:srgbClr val="FF8E6E"/>
                </a:solidFill>
                <a:latin typeface="Consolas"/>
              </a:rPr>
              <a:t>assert</a:t>
            </a:r>
            <a:r>
              <a:rPr sz="850" i="0">
                <a:solidFill>
                  <a:srgbClr val="E6EDF3"/>
                </a:solidFill>
                <a:latin typeface="Consolas"/>
              </a:rPr>
              <a:t> </a:t>
            </a:r>
            <a:r>
              <a:rPr sz="850" i="0">
                <a:solidFill>
                  <a:srgbClr val="F9C97A"/>
                </a:solidFill>
                <a:latin typeface="Consolas"/>
              </a:rPr>
              <a:t>0</a:t>
            </a:r>
            <a:r>
              <a:rPr sz="850" i="0">
                <a:solidFill>
                  <a:srgbClr val="E6EDF3"/>
                </a:solidFill>
                <a:latin typeface="Consolas"/>
              </a:rPr>
              <a:t> </a:t>
            </a:r>
            <a:r>
              <a:rPr sz="850" i="0">
                <a:solidFill>
                  <a:srgbClr val="E6EDF3"/>
                </a:solidFill>
                <a:latin typeface="Consolas"/>
              </a:rPr>
              <a:t>&lt;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rule</a:t>
            </a:r>
            <a:r>
              <a:rPr sz="850" i="0">
                <a:solidFill>
                  <a:srgbClr val="E6EDF3"/>
                </a:solidFill>
                <a:latin typeface="Consolas"/>
              </a:rPr>
              <a:t>.</a:t>
            </a:r>
            <a:r>
              <a:rPr sz="850" i="0">
                <a:solidFill>
                  <a:srgbClr val="E6EDF3"/>
                </a:solidFill>
                <a:latin typeface="Consolas"/>
              </a:rPr>
              <a:t>discount</a:t>
            </a:r>
            <a:r>
              <a:rPr sz="850" i="0">
                <a:solidFill>
                  <a:srgbClr val="E6EDF3"/>
                </a:solidFill>
                <a:latin typeface="Consolas"/>
              </a:rPr>
              <a:t>(</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&lt;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type</a:t>
            </a:r>
            <a:r>
              <a:rPr sz="850" i="0">
                <a:solidFill>
                  <a:srgbClr val="E6EDF3"/>
                </a:solidFill>
                <a:latin typeface="Consolas"/>
              </a:rPr>
              <a:t>(</a:t>
            </a:r>
            <a:r>
              <a:rPr sz="850" i="0">
                <a:solidFill>
                  <a:srgbClr val="E6EDF3"/>
                </a:solidFill>
                <a:latin typeface="Consolas"/>
              </a:rPr>
              <a:t>rule</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__name__</a:t>
            </a:r>
          </a:p>
          <a:p>
            <a:pPr>
              <a:lnSpc>
                <a:spcPts val="1100"/>
              </a:lnSpc>
              <a:spcAft>
                <a:spcPts val="0"/>
              </a:spcAft>
            </a:pPr>
            <a:r>
              <a:rPr sz="850" i="0">
                <a:solidFill>
                  <a:srgbClr val="5C6773"/>
                </a:solidFill>
                <a:latin typeface="Consolas"/>
              </a:rPr>
              <a:t>35  </a:t>
            </a:r>
            <a:r>
              <a:rPr sz="850" i="0">
                <a:solidFill>
                  <a:srgbClr val="E6EDF3"/>
                </a:solidFill>
                <a:latin typeface="Consolas"/>
              </a:rPr>
              <a:t> </a:t>
            </a:r>
          </a:p>
          <a:p>
            <a:pPr>
              <a:lnSpc>
                <a:spcPts val="1100"/>
              </a:lnSpc>
              <a:spcAft>
                <a:spcPts val="0"/>
              </a:spcAft>
            </a:pPr>
            <a:r>
              <a:rPr sz="850" i="0">
                <a:solidFill>
                  <a:srgbClr val="5C6773"/>
                </a:solidFill>
                <a:latin typeface="Consolas"/>
              </a:rPr>
              <a:t>36  </a:t>
            </a:r>
            <a:r>
              <a:rPr sz="850" i="0">
                <a:solidFill>
                  <a:srgbClr val="E6EDF3"/>
                </a:solidFill>
                <a:latin typeface="Consolas"/>
              </a:rPr>
              <a:t> </a:t>
            </a:r>
          </a:p>
          <a:p>
            <a:pPr>
              <a:lnSpc>
                <a:spcPts val="1100"/>
              </a:lnSpc>
              <a:spcAft>
                <a:spcPts val="0"/>
              </a:spcAft>
            </a:pPr>
            <a:r>
              <a:rPr sz="850" i="0">
                <a:solidFill>
                  <a:srgbClr val="5C6773"/>
                </a:solidFill>
                <a:latin typeface="Consolas"/>
              </a:rPr>
              <a:t>37  </a:t>
            </a:r>
            <a:r>
              <a:rPr sz="850" i="0">
                <a:solidFill>
                  <a:srgbClr val="FF8E6E"/>
                </a:solidFill>
                <a:latin typeface="Consolas"/>
              </a:rPr>
              <a:t>if</a:t>
            </a:r>
            <a:r>
              <a:rPr sz="850" i="0">
                <a:solidFill>
                  <a:srgbClr val="E6EDF3"/>
                </a:solidFill>
                <a:latin typeface="Consolas"/>
              </a:rPr>
              <a:t> </a:t>
            </a:r>
            <a:r>
              <a:rPr sz="850" i="0">
                <a:solidFill>
                  <a:srgbClr val="E6EDF3"/>
                </a:solidFill>
                <a:latin typeface="Consolas"/>
              </a:rPr>
              <a:t>__name__</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"__main__"</a:t>
            </a:r>
            <a:r>
              <a:rPr sz="850" i="0">
                <a:solidFill>
                  <a:srgbClr val="E6EDF3"/>
                </a:solidFill>
                <a:latin typeface="Consolas"/>
              </a:rPr>
              <a:t>:</a:t>
            </a:r>
          </a:p>
          <a:p>
            <a:pPr>
              <a:lnSpc>
                <a:spcPts val="1100"/>
              </a:lnSpc>
              <a:spcAft>
                <a:spcPts val="0"/>
              </a:spcAft>
            </a:pPr>
            <a:r>
              <a:rPr sz="850" i="0">
                <a:solidFill>
                  <a:srgbClr val="5C6773"/>
                </a:solidFill>
                <a:latin typeface="Consolas"/>
              </a:rPr>
              <a:t>38  </a:t>
            </a:r>
            <a:r>
              <a:rPr sz="850" i="0">
                <a:solidFill>
                  <a:srgbClr val="E6EDF3"/>
                </a:solidFill>
                <a:latin typeface="Consolas"/>
              </a:rPr>
              <a:t>    </a:t>
            </a:r>
            <a:r>
              <a:rPr sz="850" i="0">
                <a:solidFill>
                  <a:srgbClr val="FF8E6E"/>
                </a:solidFill>
                <a:latin typeface="Consolas"/>
              </a:rPr>
              <a:t>for</a:t>
            </a:r>
            <a:r>
              <a:rPr sz="850" i="0">
                <a:solidFill>
                  <a:srgbClr val="E6EDF3"/>
                </a:solidFill>
                <a:latin typeface="Consolas"/>
              </a:rPr>
              <a:t> </a:t>
            </a:r>
            <a:r>
              <a:rPr sz="850" i="0">
                <a:solidFill>
                  <a:srgbClr val="E6EDF3"/>
                </a:solidFill>
                <a:latin typeface="Consolas"/>
              </a:rPr>
              <a:t>rule</a:t>
            </a:r>
            <a:r>
              <a:rPr sz="850" i="0">
                <a:solidFill>
                  <a:srgbClr val="E6EDF3"/>
                </a:solidFill>
                <a:latin typeface="Consolas"/>
              </a:rPr>
              <a:t> </a:t>
            </a:r>
            <a:r>
              <a:rPr sz="850" i="0">
                <a:solidFill>
                  <a:srgbClr val="FF8E6E"/>
                </a:solidFill>
                <a:latin typeface="Consolas"/>
              </a:rPr>
              <a:t>in</a:t>
            </a:r>
            <a:r>
              <a:rPr sz="850" i="0">
                <a:solidFill>
                  <a:srgbClr val="E6EDF3"/>
                </a:solidFill>
                <a:latin typeface="Consolas"/>
              </a:rPr>
              <a:t> </a:t>
            </a:r>
            <a:r>
              <a:rPr sz="850" i="0">
                <a:solidFill>
                  <a:srgbClr val="E6EDF3"/>
                </a:solidFill>
                <a:latin typeface="Consolas"/>
              </a:rPr>
              <a:t>(</a:t>
            </a:r>
            <a:r>
              <a:rPr sz="850" i="0">
                <a:solidFill>
                  <a:srgbClr val="7FDBCA"/>
                </a:solidFill>
                <a:latin typeface="Consolas"/>
              </a:rPr>
              <a:t>Discount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MemberDiscount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VoucherDiscount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39  </a:t>
            </a:r>
            <a:r>
              <a:rPr sz="850" i="0">
                <a:solidFill>
                  <a:srgbClr val="E6EDF3"/>
                </a:solidFill>
                <a:latin typeface="Consolas"/>
              </a:rPr>
              <a:t>        </a:t>
            </a:r>
            <a:r>
              <a:rPr sz="850" i="0">
                <a:solidFill>
                  <a:srgbClr val="E6EDF3"/>
                </a:solidFill>
                <a:latin typeface="Consolas"/>
              </a:rPr>
              <a:t>check_contract</a:t>
            </a:r>
            <a:r>
              <a:rPr sz="850" i="0">
                <a:solidFill>
                  <a:srgbClr val="E6EDF3"/>
                </a:solidFill>
                <a:latin typeface="Consolas"/>
              </a:rPr>
              <a:t>(</a:t>
            </a:r>
            <a:r>
              <a:rPr sz="850" i="0">
                <a:solidFill>
                  <a:srgbClr val="E6EDF3"/>
                </a:solidFill>
                <a:latin typeface="Consolas"/>
              </a:rPr>
              <a:t>rule</a:t>
            </a:r>
            <a:r>
              <a:rPr sz="850" i="0">
                <a:solidFill>
                  <a:srgbClr val="E6EDF3"/>
                </a:solidFill>
                <a:latin typeface="Consolas"/>
              </a:rPr>
              <a:t>)</a:t>
            </a:r>
          </a:p>
          <a:p>
            <a:pPr>
              <a:lnSpc>
                <a:spcPts val="1100"/>
              </a:lnSpc>
              <a:spcAft>
                <a:spcPts val="0"/>
              </a:spcAft>
            </a:pPr>
            <a:r>
              <a:rPr sz="850" i="0">
                <a:solidFill>
                  <a:srgbClr val="5C6773"/>
                </a:solidFill>
                <a:latin typeface="Consolas"/>
              </a:rPr>
              <a:t>40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C3A6FF"/>
                </a:solidFill>
                <a:latin typeface="Consolas"/>
              </a:rPr>
              <a:t>type</a:t>
            </a:r>
            <a:r>
              <a:rPr sz="850" i="0">
                <a:solidFill>
                  <a:srgbClr val="E6EDF3"/>
                </a:solidFill>
                <a:latin typeface="Consolas"/>
              </a:rPr>
              <a:t>(</a:t>
            </a:r>
            <a:r>
              <a:rPr sz="850" i="0">
                <a:solidFill>
                  <a:srgbClr val="E6EDF3"/>
                </a:solidFill>
                <a:latin typeface="Consolas"/>
              </a:rPr>
              <a:t>rule</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__name__</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calculate_total</a:t>
            </a:r>
            <a:r>
              <a:rPr sz="850" i="0">
                <a:solidFill>
                  <a:srgbClr val="E6EDF3"/>
                </a:solidFill>
                <a:latin typeface="Consolas"/>
              </a:rPr>
              <a:t>(</a:t>
            </a:r>
            <a:r>
              <a:rPr sz="850" i="0">
                <a:solidFill>
                  <a:srgbClr val="F9C97A"/>
                </a:solidFill>
                <a:latin typeface="Consolas"/>
              </a:rPr>
              <a:t>200_000</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rule</a:t>
            </a:r>
            <a:r>
              <a:rPr sz="850" i="0">
                <a:solidFill>
                  <a:srgbClr val="E6EDF3"/>
                </a:solidFill>
                <a:latin typeface="Consolas"/>
              </a:rPr>
              <a:t>)</a:t>
            </a:r>
            <a:r>
              <a:rPr sz="850" i="0">
                <a:solidFill>
                  <a:srgbClr val="E6EDF3"/>
                </a:solidFill>
                <a:latin typeface="Consolas"/>
              </a:rPr>
              <a:t>)</a:t>
            </a:r>
          </a:p>
        </p:txBody>
      </p:sp>
      <p:sp>
        <p:nvSpPr>
          <p:cNvPr id="29" name="Box 12"/>
          <p:cNvSpPr/>
          <p:nvPr/>
        </p:nvSpPr>
        <p:spPr>
          <a:xfrm>
            <a:off x="704088" y="2387473"/>
            <a:ext cx="7699248"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4739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1" name="Box 14"/>
          <p:cNvSpPr/>
          <p:nvPr/>
        </p:nvSpPr>
        <p:spPr>
          <a:xfrm>
            <a:off x="704088" y="35050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4518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L · Liskov Substitution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03-lsp/after.py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sesi-02-solid-clean-architecture/03-lsp</a:t>
            </a:r>
          </a:p>
          <a:p>
            <a:pPr>
              <a:lnSpc>
                <a:spcPts val="1000"/>
              </a:lnSpc>
              <a:spcAft>
                <a:spcPts val="0"/>
              </a:spcAft>
            </a:pPr>
            <a:r>
              <a:rPr sz="775" i="0">
                <a:solidFill>
                  <a:srgbClr val="82B1FF"/>
                </a:solidFill>
                <a:latin typeface="Consolas"/>
              </a:rPr>
              <a:t>$ python after.py</a:t>
            </a:r>
          </a:p>
        </p:txBody>
      </p:sp>
      <p:pic>
        <p:nvPicPr>
          <p:cNvPr id="29" name="Image 12" descr="s02-03-lsp-after.png"/>
          <p:cNvPicPr>
            <a:picLocks noChangeAspect="1"/>
          </p:cNvPicPr>
          <p:nvPr/>
        </p:nvPicPr>
        <p:blipFill>
          <a:blip r:embed="rId2"/>
          <a:stretch>
            <a:fillRect/>
          </a:stretch>
        </p:blipFill>
        <p:spPr>
          <a:xfrm>
            <a:off x="621792" y="2240280"/>
            <a:ext cx="4297680" cy="1280160"/>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VoucherDiscount</a:t>
            </a:r>
            <a:r>
              <a:rPr sz="950" i="0" b="0">
                <a:solidFill>
                  <a:srgbClr val="434343"/>
                </a:solidFill>
                <a:latin typeface="Inter"/>
              </a:rPr>
              <a:t> mengembalikan potongan, sesuai kontrak (baris 25)</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Satu test kontrak dijalankan untuk </a:t>
            </a:r>
            <a:r>
              <a:rPr sz="950" i="0" b="1">
                <a:solidFill>
                  <a:srgbClr val="434343"/>
                </a:solidFill>
                <a:latin typeface="Inter"/>
              </a:rPr>
              <a:t>semua</a:t>
            </a:r>
            <a:r>
              <a:rPr sz="950" i="0" b="0">
                <a:solidFill>
                  <a:srgbClr val="434343"/>
                </a:solidFill>
                <a:latin typeface="Inter"/>
              </a:rPr>
              <a:t> subclass (baris 32-34)</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Total voucher sekarang benar: 150.000 (baris 40)</a:t>
            </a:r>
          </a:p>
          <a:p>
            <a:pPr algn="l">
              <a:lnSpc>
                <a:spcPct val="115000"/>
              </a:lnSpc>
              <a:spcAft>
                <a:spcPts val="0"/>
              </a:spcAft>
            </a:pPr>
            <a:r>
              <a:rPr sz="570"/>
              <a:t/>
            </a:r>
          </a:p>
          <a:p>
            <a:pPr algn="l">
              <a:lnSpc>
                <a:spcPct val="115000"/>
              </a:lnSpc>
              <a:spcAft>
                <a:spcPts val="400"/>
              </a:spcAft>
            </a:pPr>
            <a:r>
              <a:rPr sz="950" i="0" b="0">
                <a:solidFill>
                  <a:srgbClr val="434343"/>
                </a:solidFill>
                <a:latin typeface="Inter"/>
              </a:rPr>
              <a:t>Subclass baru yang melanggar kontrak langsung ketahuan.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I · Interface Segregation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Interface Segregation?</a:t>
            </a:r>
          </a:p>
        </p:txBody>
      </p:sp>
      <p:sp>
        <p:nvSpPr>
          <p:cNvPr id="22" name="Text 3"/>
          <p:cNvSpPr txBox="1"/>
          <p:nvPr/>
        </p:nvSpPr>
        <p:spPr>
          <a:xfrm>
            <a:off x="621792" y="1481328"/>
            <a:ext cx="4114800" cy="329184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Artinya</a:t>
            </a:r>
          </a:p>
          <a:p>
            <a:pPr algn="l">
              <a:lnSpc>
                <a:spcPct val="115000"/>
              </a:lnSpc>
              <a:spcAft>
                <a:spcPts val="400"/>
              </a:spcAft>
            </a:pPr>
            <a:r>
              <a:rPr sz="950" i="0" b="0">
                <a:solidFill>
                  <a:srgbClr val="434343"/>
                </a:solidFill>
                <a:latin typeface="Inter"/>
              </a:rPr>
              <a:t>Interface dibuat </a:t>
            </a:r>
            <a:r>
              <a:rPr sz="950" i="0" b="1">
                <a:solidFill>
                  <a:srgbClr val="434343"/>
                </a:solidFill>
                <a:latin typeface="Inter"/>
              </a:rPr>
              <a:t>kecil sesuai kebutuhan pemakainya</a:t>
            </a:r>
            <a:r>
              <a:rPr sz="950" i="0" b="0">
                <a:solidFill>
                  <a:srgbClr val="434343"/>
                </a:solidFill>
                <a:latin typeface="Inter"/>
              </a:rPr>
              <a:t>. Class tidak dipaksa bergantung pada method yang tidak dia pakai.</a:t>
            </a:r>
          </a:p>
          <a:p>
            <a:pPr algn="l">
              <a:lnSpc>
                <a:spcPct val="115000"/>
              </a:lnSpc>
              <a:spcAft>
                <a:spcPts val="400"/>
              </a:spcAft>
            </a:pPr>
            <a:r>
              <a:rPr sz="1050" i="0" b="1">
                <a:solidFill>
                  <a:srgbClr val="1C4587"/>
                </a:solidFill>
                <a:latin typeface="Inter"/>
              </a:rPr>
              <a:t>Analogi</a:t>
            </a:r>
          </a:p>
          <a:p>
            <a:pPr algn="l">
              <a:lnSpc>
                <a:spcPct val="115000"/>
              </a:lnSpc>
              <a:spcAft>
                <a:spcPts val="400"/>
              </a:spcAft>
            </a:pPr>
            <a:r>
              <a:rPr sz="950" i="0" b="0">
                <a:solidFill>
                  <a:srgbClr val="434343"/>
                </a:solidFill>
                <a:latin typeface="Inter"/>
              </a:rPr>
              <a:t>Formulir langganan newsletter cukup minta email. Kalau formulirnya juga wajib isi alamat, NIK, dan nama ibu kandung, orang malas mengisinya.</a:t>
            </a:r>
          </a:p>
          <a:p>
            <a:pPr algn="l">
              <a:lnSpc>
                <a:spcPct val="115000"/>
              </a:lnSpc>
              <a:spcAft>
                <a:spcPts val="400"/>
              </a:spcAft>
            </a:pPr>
            <a:r>
              <a:rPr sz="1050" i="0" b="1">
                <a:solidFill>
                  <a:srgbClr val="1C4587"/>
                </a:solidFill>
                <a:latin typeface="Inter"/>
              </a:rPr>
              <a:t>Cara mengecek</a:t>
            </a:r>
          </a:p>
          <a:p>
            <a:pPr algn="l">
              <a:lnSpc>
                <a:spcPct val="115000"/>
              </a:lnSpc>
              <a:spcAft>
                <a:spcPts val="400"/>
              </a:spcAft>
            </a:pPr>
            <a:r>
              <a:rPr sz="950" i="0" b="0">
                <a:solidFill>
                  <a:srgbClr val="434343"/>
                </a:solidFill>
                <a:latin typeface="Inter"/>
              </a:rPr>
              <a:t>Lihat fake atau implementasi di test. Kalau banyak method yang isinya cuma </a:t>
            </a:r>
            <a:r>
              <a:rPr sz="950" i="0" b="0">
                <a:solidFill>
                  <a:srgbClr val="B5482A"/>
                </a:solidFill>
                <a:latin typeface="Consolas"/>
              </a:rPr>
              <a:t>raise NotImplementedError</a:t>
            </a:r>
            <a:r>
              <a:rPr sz="950" i="0" b="0">
                <a:solidFill>
                  <a:srgbClr val="434343"/>
                </a:solidFill>
                <a:latin typeface="Inter"/>
              </a:rPr>
              <a:t>, interface-nya kegemukan.</a:t>
            </a:r>
          </a:p>
        </p:txBody>
      </p:sp>
      <p:sp>
        <p:nvSpPr>
          <p:cNvPr id="23" name="Box 4"/>
          <p:cNvSpPr/>
          <p:nvPr/>
        </p:nvSpPr>
        <p:spPr>
          <a:xfrm>
            <a:off x="4892040" y="1481328"/>
            <a:ext cx="3593592" cy="960120"/>
          </a:xfrm>
          <a:prstGeom prst="roundRect">
            <a:avLst>
              <a:gd name="adj" fmla="val 11428"/>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200"/>
              </a:spcAft>
            </a:pPr>
            <a:r>
              <a:rPr sz="950" i="0" b="0">
                <a:solidFill>
                  <a:srgbClr val="434343"/>
                </a:solidFill>
                <a:latin typeface="Inter"/>
              </a:rPr>
              <a:t>"Clients should not be forced to depend upon interfaces that they do not use."</a:t>
            </a:r>
          </a:p>
          <a:p>
            <a:pPr algn="l">
              <a:lnSpc>
                <a:spcPct val="105000"/>
              </a:lnSpc>
              <a:spcAft>
                <a:spcPts val="200"/>
              </a:spcAft>
            </a:pPr>
            <a:r>
              <a:rPr sz="950" i="0" b="0">
                <a:solidFill>
                  <a:srgbClr val="434343"/>
                </a:solidFill>
                <a:latin typeface="Inter"/>
              </a:rPr>
              <a:t>Robert C. Martin</a:t>
            </a:r>
          </a:p>
        </p:txBody>
      </p:sp>
      <p:sp>
        <p:nvSpPr>
          <p:cNvPr id="24" name="Box 5"/>
          <p:cNvSpPr/>
          <p:nvPr/>
        </p:nvSpPr>
        <p:spPr>
          <a:xfrm>
            <a:off x="4892040" y="2560320"/>
            <a:ext cx="3593592" cy="1600200"/>
          </a:xfrm>
          <a:prstGeom prst="roundRect">
            <a:avLst>
              <a:gd name="adj" fmla="val 6857"/>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5" name="Text 6"/>
          <p:cNvSpPr txBox="1"/>
          <p:nvPr/>
        </p:nvSpPr>
        <p:spPr>
          <a:xfrm>
            <a:off x="5029200" y="2651760"/>
            <a:ext cx="3319272" cy="310896"/>
          </a:xfrm>
          <a:prstGeom prst="rect">
            <a:avLst/>
          </a:prstGeom>
          <a:noFill/>
        </p:spPr>
        <p:txBody>
          <a:bodyPr wrap="square" anchor="t" lIns="45720" rIns="45720">
            <a:spAutoFit/>
          </a:bodyPr>
          <a:lstStyle/>
          <a:p>
            <a:pPr algn="l">
              <a:lnSpc>
                <a:spcPct val="115000"/>
              </a:lnSpc>
              <a:spcAft>
                <a:spcPts val="400"/>
              </a:spcAft>
            </a:pPr>
            <a:r>
              <a:rPr sz="1050" i="0" b="1">
                <a:solidFill>
                  <a:srgbClr val="C0392B"/>
                </a:solidFill>
                <a:latin typeface="Inter"/>
              </a:rPr>
              <a:t>Code smell yang dicari</a:t>
            </a:r>
          </a:p>
        </p:txBody>
      </p:sp>
      <p:sp>
        <p:nvSpPr>
          <p:cNvPr id="26" name="Text 7"/>
          <p:cNvSpPr txBox="1"/>
          <p:nvPr/>
        </p:nvSpPr>
        <p:spPr>
          <a:xfrm>
            <a:off x="5029200" y="2971800"/>
            <a:ext cx="3319272" cy="109728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Banyak </a:t>
            </a:r>
            <a:r>
              <a:rPr sz="900" i="0" b="0">
                <a:solidFill>
                  <a:srgbClr val="B5482A"/>
                </a:solidFill>
                <a:latin typeface="Consolas"/>
              </a:rPr>
              <a:t>raise NotImplementedError</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Satu interface berisi operasi untuk banyak kebutuhan berbeda</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Fake test lebih panjang dari test-nya</a:t>
            </a:r>
          </a:p>
        </p:txBody>
      </p:sp>
      <p:sp>
        <p:nvSpPr>
          <p:cNvPr id="27" name="Text 8"/>
          <p:cNvSpPr txBox="1"/>
          <p:nvPr/>
        </p:nvSpPr>
        <p:spPr>
          <a:xfrm>
            <a:off x="4892040" y="4251960"/>
            <a:ext cx="3593592" cy="457200"/>
          </a:xfrm>
          <a:prstGeom prst="rect">
            <a:avLst/>
          </a:prstGeom>
          <a:noFill/>
        </p:spPr>
        <p:txBody>
          <a:bodyPr wrap="square" anchor="t" lIns="45720" rIns="45720">
            <a:spAutoFit/>
          </a:bodyPr>
          <a:lstStyle/>
          <a:p>
            <a:pPr algn="l">
              <a:lnSpc>
                <a:spcPct val="115000"/>
              </a:lnSpc>
              <a:spcAft>
                <a:spcPts val="400"/>
              </a:spcAft>
            </a:pPr>
            <a:r>
              <a:rPr sz="900" i="0" b="0">
                <a:solidFill>
                  <a:srgbClr val="7A7A7A"/>
                </a:solidFill>
                <a:latin typeface="Inter"/>
              </a:rPr>
              <a:t>Protocol di Sesi 1 sudah kecil: </a:t>
            </a:r>
            <a:r>
              <a:rPr sz="900" i="0" b="0">
                <a:solidFill>
                  <a:srgbClr val="B5482A"/>
                </a:solidFill>
                <a:latin typeface="Consolas"/>
              </a:rPr>
              <a:t>Notifier</a:t>
            </a:r>
            <a:r>
              <a:rPr sz="900" i="0" b="0">
                <a:solidFill>
                  <a:srgbClr val="7A7A7A"/>
                </a:solidFill>
                <a:latin typeface="Inter"/>
              </a:rPr>
              <a:t> hanya punya </a:t>
            </a:r>
            <a:r>
              <a:rPr sz="900" i="0" b="0">
                <a:solidFill>
                  <a:srgbClr val="B5482A"/>
                </a:solidFill>
                <a:latin typeface="Consolas"/>
              </a:rPr>
              <a:t>send()</a:t>
            </a:r>
            <a:r>
              <a:rPr sz="900" i="0" b="0">
                <a:solidFill>
                  <a:srgbClr val="7A7A7A"/>
                </a:solidFill>
                <a:latin typeface="Inter"/>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I · Interface Segregation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Interface Kegemukan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04-isp/before.py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900"/>
              </a:lnSpc>
              <a:spcAft>
                <a:spcPts val="0"/>
              </a:spcAft>
            </a:pPr>
            <a:r>
              <a:rPr sz="725" i="0">
                <a:solidFill>
                  <a:srgbClr val="5C6773"/>
                </a:solidFill>
                <a:latin typeface="Consolas"/>
              </a:rPr>
              <a:t> 7  </a:t>
            </a:r>
            <a:r>
              <a:rPr sz="725" i="0">
                <a:solidFill>
                  <a:srgbClr val="FF8E6E"/>
                </a:solidFill>
                <a:latin typeface="Consolas"/>
              </a:rPr>
              <a:t>from</a:t>
            </a:r>
            <a:r>
              <a:rPr sz="725" i="0">
                <a:solidFill>
                  <a:srgbClr val="E6EDF3"/>
                </a:solidFill>
                <a:latin typeface="Consolas"/>
              </a:rPr>
              <a:t> </a:t>
            </a:r>
            <a:r>
              <a:rPr sz="725" i="0">
                <a:solidFill>
                  <a:srgbClr val="E6EDF3"/>
                </a:solidFill>
                <a:latin typeface="Consolas"/>
              </a:rPr>
              <a:t>abc</a:t>
            </a:r>
            <a:r>
              <a:rPr sz="725" i="0">
                <a:solidFill>
                  <a:srgbClr val="E6EDF3"/>
                </a:solidFill>
                <a:latin typeface="Consolas"/>
              </a:rPr>
              <a:t> </a:t>
            </a:r>
            <a:r>
              <a:rPr sz="725" i="0">
                <a:solidFill>
                  <a:srgbClr val="FF8E6E"/>
                </a:solidFill>
                <a:latin typeface="Consolas"/>
              </a:rPr>
              <a:t>import</a:t>
            </a:r>
            <a:r>
              <a:rPr sz="725" i="0">
                <a:solidFill>
                  <a:srgbClr val="E6EDF3"/>
                </a:solidFill>
                <a:latin typeface="Consolas"/>
              </a:rPr>
              <a:t> </a:t>
            </a:r>
            <a:r>
              <a:rPr sz="725" i="0">
                <a:solidFill>
                  <a:srgbClr val="7FDBCA"/>
                </a:solidFill>
                <a:latin typeface="Consolas"/>
              </a:rPr>
              <a:t>ABC</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abstractmethod</a:t>
            </a:r>
          </a:p>
          <a:p>
            <a:pPr>
              <a:lnSpc>
                <a:spcPts val="900"/>
              </a:lnSpc>
              <a:spcAft>
                <a:spcPts val="0"/>
              </a:spcAft>
            </a:pPr>
            <a:r>
              <a:rPr sz="725" i="0">
                <a:solidFill>
                  <a:srgbClr val="5C6773"/>
                </a:solidFill>
                <a:latin typeface="Consolas"/>
              </a:rPr>
              <a:t> 8  </a:t>
            </a:r>
            <a:r>
              <a:rPr sz="725" i="0">
                <a:solidFill>
                  <a:srgbClr val="E6EDF3"/>
                </a:solidFill>
                <a:latin typeface="Consolas"/>
              </a:rPr>
              <a:t> </a:t>
            </a:r>
          </a:p>
          <a:p>
            <a:pPr>
              <a:lnSpc>
                <a:spcPts val="900"/>
              </a:lnSpc>
              <a:spcAft>
                <a:spcPts val="0"/>
              </a:spcAft>
            </a:pPr>
            <a:r>
              <a:rPr sz="725" i="0">
                <a:solidFill>
                  <a:srgbClr val="5C6773"/>
                </a:solidFill>
                <a:latin typeface="Consolas"/>
              </a:rPr>
              <a:t> 9  </a:t>
            </a:r>
            <a:r>
              <a:rPr sz="725" i="0">
                <a:solidFill>
                  <a:srgbClr val="E6EDF3"/>
                </a:solidFill>
                <a:latin typeface="Consolas"/>
              </a:rPr>
              <a:t> </a:t>
            </a:r>
          </a:p>
          <a:p>
            <a:pPr>
              <a:lnSpc>
                <a:spcPts val="900"/>
              </a:lnSpc>
              <a:spcAft>
                <a:spcPts val="0"/>
              </a:spcAft>
            </a:pPr>
            <a:r>
              <a:rPr sz="725" i="0">
                <a:solidFill>
                  <a:srgbClr val="5C6773"/>
                </a:solidFill>
                <a:latin typeface="Consolas"/>
              </a:rPr>
              <a:t>10  </a:t>
            </a:r>
            <a:r>
              <a:rPr sz="725" i="0">
                <a:solidFill>
                  <a:srgbClr val="FF8E6E"/>
                </a:solidFill>
                <a:latin typeface="Consolas"/>
              </a:rPr>
              <a:t>class</a:t>
            </a:r>
            <a:r>
              <a:rPr sz="725" i="0">
                <a:solidFill>
                  <a:srgbClr val="E6EDF3"/>
                </a:solidFill>
                <a:latin typeface="Consolas"/>
              </a:rPr>
              <a:t> </a:t>
            </a:r>
            <a:r>
              <a:rPr sz="725" i="0">
                <a:solidFill>
                  <a:srgbClr val="7FDBCA"/>
                </a:solidFill>
                <a:latin typeface="Consolas"/>
              </a:rPr>
              <a:t>OrderRepository</a:t>
            </a:r>
            <a:r>
              <a:rPr sz="725" i="0">
                <a:solidFill>
                  <a:srgbClr val="E6EDF3"/>
                </a:solidFill>
                <a:latin typeface="Consolas"/>
              </a:rPr>
              <a:t>(</a:t>
            </a:r>
            <a:r>
              <a:rPr sz="725" i="0">
                <a:solidFill>
                  <a:srgbClr val="7FDBCA"/>
                </a:solidFill>
                <a:latin typeface="Consolas"/>
              </a:rPr>
              <a:t>ABC</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11  </a:t>
            </a:r>
            <a:r>
              <a:rPr sz="725" i="0">
                <a:solidFill>
                  <a:srgbClr val="E6EDF3"/>
                </a:solidFill>
                <a:latin typeface="Consolas"/>
              </a:rPr>
              <a:t>    </a:t>
            </a:r>
            <a:r>
              <a:rPr sz="725" i="0">
                <a:solidFill>
                  <a:srgbClr val="F9C97A"/>
                </a:solidFill>
                <a:latin typeface="Consolas"/>
              </a:rPr>
              <a:t>@abstractmethod</a:t>
            </a:r>
          </a:p>
          <a:p>
            <a:pPr>
              <a:lnSpc>
                <a:spcPts val="900"/>
              </a:lnSpc>
              <a:spcAft>
                <a:spcPts val="0"/>
              </a:spcAft>
            </a:pPr>
            <a:r>
              <a:rPr sz="725" i="0">
                <a:solidFill>
                  <a:srgbClr val="5C6773"/>
                </a:solidFill>
                <a:latin typeface="Consolas"/>
              </a:rPr>
              <a:t>12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add</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dict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dict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13  </a:t>
            </a:r>
            <a:r>
              <a:rPr sz="725" i="0">
                <a:solidFill>
                  <a:srgbClr val="E6EDF3"/>
                </a:solidFill>
                <a:latin typeface="Consolas"/>
              </a:rPr>
              <a:t> </a:t>
            </a:r>
          </a:p>
          <a:p>
            <a:pPr>
              <a:lnSpc>
                <a:spcPts val="900"/>
              </a:lnSpc>
              <a:spcAft>
                <a:spcPts val="0"/>
              </a:spcAft>
            </a:pPr>
            <a:r>
              <a:rPr sz="725" i="0">
                <a:solidFill>
                  <a:srgbClr val="5C6773"/>
                </a:solidFill>
                <a:latin typeface="Consolas"/>
              </a:rPr>
              <a:t>14  </a:t>
            </a:r>
            <a:r>
              <a:rPr sz="725" i="0">
                <a:solidFill>
                  <a:srgbClr val="E6EDF3"/>
                </a:solidFill>
                <a:latin typeface="Consolas"/>
              </a:rPr>
              <a:t>    </a:t>
            </a:r>
            <a:r>
              <a:rPr sz="725" i="0">
                <a:solidFill>
                  <a:srgbClr val="F9C97A"/>
                </a:solidFill>
                <a:latin typeface="Consolas"/>
              </a:rPr>
              <a:t>@abstractmethod</a:t>
            </a:r>
          </a:p>
          <a:p>
            <a:pPr>
              <a:lnSpc>
                <a:spcPts val="900"/>
              </a:lnSpc>
              <a:spcAft>
                <a:spcPts val="0"/>
              </a:spcAft>
            </a:pPr>
            <a:r>
              <a:rPr sz="725" i="0">
                <a:solidFill>
                  <a:srgbClr val="5C6773"/>
                </a:solidFill>
                <a:latin typeface="Consolas"/>
              </a:rPr>
              <a:t>15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get</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order_id</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dict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 </a:t>
            </a:r>
            <a:r>
              <a:rPr sz="725" i="0">
                <a:solidFill>
                  <a:srgbClr val="FF8E6E"/>
                </a:solidFill>
                <a:latin typeface="Consolas"/>
              </a:rPr>
              <a:t>None</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16  </a:t>
            </a:r>
            <a:r>
              <a:rPr sz="725" i="0">
                <a:solidFill>
                  <a:srgbClr val="E6EDF3"/>
                </a:solidFill>
                <a:latin typeface="Consolas"/>
              </a:rPr>
              <a:t> </a:t>
            </a:r>
          </a:p>
          <a:p>
            <a:pPr>
              <a:lnSpc>
                <a:spcPts val="900"/>
              </a:lnSpc>
              <a:spcAft>
                <a:spcPts val="0"/>
              </a:spcAft>
            </a:pPr>
            <a:r>
              <a:rPr sz="725" i="0">
                <a:solidFill>
                  <a:srgbClr val="5C6773"/>
                </a:solidFill>
                <a:latin typeface="Consolas"/>
              </a:rPr>
              <a:t>17  </a:t>
            </a:r>
            <a:r>
              <a:rPr sz="725" i="0">
                <a:solidFill>
                  <a:srgbClr val="E6EDF3"/>
                </a:solidFill>
                <a:latin typeface="Consolas"/>
              </a:rPr>
              <a:t>    </a:t>
            </a:r>
            <a:r>
              <a:rPr sz="725" i="0">
                <a:solidFill>
                  <a:srgbClr val="F9C97A"/>
                </a:solidFill>
                <a:latin typeface="Consolas"/>
              </a:rPr>
              <a:t>@abstractmethod</a:t>
            </a:r>
          </a:p>
          <a:p>
            <a:pPr>
              <a:lnSpc>
                <a:spcPts val="900"/>
              </a:lnSpc>
              <a:spcAft>
                <a:spcPts val="0"/>
              </a:spcAft>
            </a:pPr>
            <a:r>
              <a:rPr sz="725" i="0">
                <a:solidFill>
                  <a:srgbClr val="5C6773"/>
                </a:solidFill>
                <a:latin typeface="Consolas"/>
              </a:rPr>
              <a:t>18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list_all</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list</a:t>
            </a:r>
            <a:r>
              <a:rPr sz="725" i="0">
                <a:solidFill>
                  <a:srgbClr val="E6EDF3"/>
                </a:solidFill>
                <a:latin typeface="Consolas"/>
              </a:rPr>
              <a:t>[</a:t>
            </a:r>
            <a:r>
              <a:rPr sz="725" i="0">
                <a:solidFill>
                  <a:srgbClr val="C3A6FF"/>
                </a:solidFill>
                <a:latin typeface="Consolas"/>
              </a:rPr>
              <a:t>dict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19  </a:t>
            </a:r>
            <a:r>
              <a:rPr sz="725" i="0">
                <a:solidFill>
                  <a:srgbClr val="E6EDF3"/>
                </a:solidFill>
                <a:latin typeface="Consolas"/>
              </a:rPr>
              <a:t> </a:t>
            </a:r>
          </a:p>
          <a:p>
            <a:pPr>
              <a:lnSpc>
                <a:spcPts val="900"/>
              </a:lnSpc>
              <a:spcAft>
                <a:spcPts val="0"/>
              </a:spcAft>
            </a:pPr>
            <a:r>
              <a:rPr sz="725" i="0">
                <a:solidFill>
                  <a:srgbClr val="5C6773"/>
                </a:solidFill>
                <a:latin typeface="Consolas"/>
              </a:rPr>
              <a:t>20  </a:t>
            </a:r>
            <a:r>
              <a:rPr sz="725" i="0">
                <a:solidFill>
                  <a:srgbClr val="E6EDF3"/>
                </a:solidFill>
                <a:latin typeface="Consolas"/>
              </a:rPr>
              <a:t>    </a:t>
            </a:r>
            <a:r>
              <a:rPr sz="725" i="0">
                <a:solidFill>
                  <a:srgbClr val="F9C97A"/>
                </a:solidFill>
                <a:latin typeface="Consolas"/>
              </a:rPr>
              <a:t>@abstractmethod</a:t>
            </a:r>
          </a:p>
          <a:p>
            <a:pPr>
              <a:lnSpc>
                <a:spcPts val="900"/>
              </a:lnSpc>
              <a:spcAft>
                <a:spcPts val="0"/>
              </a:spcAft>
            </a:pPr>
            <a:r>
              <a:rPr sz="725" i="0">
                <a:solidFill>
                  <a:srgbClr val="5C6773"/>
                </a:solidFill>
                <a:latin typeface="Consolas"/>
              </a:rPr>
              <a:t>21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update_status</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order_id</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status</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str</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FF8E6E"/>
                </a:solidFill>
                <a:latin typeface="Consolas"/>
              </a:rPr>
              <a:t>None</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22  </a:t>
            </a:r>
            <a:r>
              <a:rPr sz="725" i="0">
                <a:solidFill>
                  <a:srgbClr val="E6EDF3"/>
                </a:solidFill>
                <a:latin typeface="Consolas"/>
              </a:rPr>
              <a:t> </a:t>
            </a:r>
          </a:p>
          <a:p>
            <a:pPr>
              <a:lnSpc>
                <a:spcPts val="900"/>
              </a:lnSpc>
              <a:spcAft>
                <a:spcPts val="0"/>
              </a:spcAft>
            </a:pPr>
            <a:r>
              <a:rPr sz="725" i="0">
                <a:solidFill>
                  <a:srgbClr val="5C6773"/>
                </a:solidFill>
                <a:latin typeface="Consolas"/>
              </a:rPr>
              <a:t>23  </a:t>
            </a:r>
            <a:r>
              <a:rPr sz="725" i="0">
                <a:solidFill>
                  <a:srgbClr val="E6EDF3"/>
                </a:solidFill>
                <a:latin typeface="Consolas"/>
              </a:rPr>
              <a:t>    </a:t>
            </a:r>
            <a:r>
              <a:rPr sz="725" i="0">
                <a:solidFill>
                  <a:srgbClr val="F9C97A"/>
                </a:solidFill>
                <a:latin typeface="Consolas"/>
              </a:rPr>
              <a:t>@abstractmethod</a:t>
            </a:r>
          </a:p>
          <a:p>
            <a:pPr>
              <a:lnSpc>
                <a:spcPts val="900"/>
              </a:lnSpc>
              <a:spcAft>
                <a:spcPts val="0"/>
              </a:spcAft>
            </a:pPr>
            <a:r>
              <a:rPr sz="725" i="0">
                <a:solidFill>
                  <a:srgbClr val="5C6773"/>
                </a:solidFill>
                <a:latin typeface="Consolas"/>
              </a:rPr>
              <a:t>24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delete</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order_id</a:t>
            </a:r>
            <a:r>
              <a:rPr sz="725" i="0">
                <a:solidFill>
                  <a:srgbClr val="E6EDF3"/>
                </a:solidFill>
                <a:latin typeface="Consolas"/>
              </a:rPr>
              <a: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FF8E6E"/>
                </a:solidFill>
                <a:latin typeface="Consolas"/>
              </a:rPr>
              <a:t>None</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25  </a:t>
            </a:r>
            <a:r>
              <a:rPr sz="725" i="0">
                <a:solidFill>
                  <a:srgbClr val="E6EDF3"/>
                </a:solidFill>
                <a:latin typeface="Consolas"/>
              </a:rPr>
              <a:t> </a:t>
            </a:r>
          </a:p>
          <a:p>
            <a:pPr>
              <a:lnSpc>
                <a:spcPts val="900"/>
              </a:lnSpc>
              <a:spcAft>
                <a:spcPts val="0"/>
              </a:spcAft>
            </a:pPr>
            <a:r>
              <a:rPr sz="725" i="0">
                <a:solidFill>
                  <a:srgbClr val="5C6773"/>
                </a:solidFill>
                <a:latin typeface="Consolas"/>
              </a:rPr>
              <a:t>26  </a:t>
            </a:r>
            <a:r>
              <a:rPr sz="725" i="0">
                <a:solidFill>
                  <a:srgbClr val="E6EDF3"/>
                </a:solidFill>
                <a:latin typeface="Consolas"/>
              </a:rPr>
              <a:t> </a:t>
            </a:r>
          </a:p>
          <a:p>
            <a:pPr>
              <a:lnSpc>
                <a:spcPts val="900"/>
              </a:lnSpc>
              <a:spcAft>
                <a:spcPts val="0"/>
              </a:spcAft>
            </a:pPr>
            <a:r>
              <a:rPr sz="725" i="0">
                <a:solidFill>
                  <a:srgbClr val="5C6773"/>
                </a:solidFill>
                <a:latin typeface="Consolas"/>
              </a:rPr>
              <a:t>27  </a:t>
            </a:r>
            <a:r>
              <a:rPr sz="725" i="0">
                <a:solidFill>
                  <a:srgbClr val="FF8E6E"/>
                </a:solidFill>
                <a:latin typeface="Consolas"/>
              </a:rPr>
              <a:t>class</a:t>
            </a:r>
            <a:r>
              <a:rPr sz="725" i="0">
                <a:solidFill>
                  <a:srgbClr val="E6EDF3"/>
                </a:solidFill>
                <a:latin typeface="Consolas"/>
              </a:rPr>
              <a:t> </a:t>
            </a:r>
            <a:r>
              <a:rPr sz="725" i="0">
                <a:solidFill>
                  <a:srgbClr val="7FDBCA"/>
                </a:solidFill>
                <a:latin typeface="Consolas"/>
              </a:rPr>
              <a:t>ReportService</a:t>
            </a:r>
            <a:r>
              <a:rPr sz="725" i="0">
                <a:solidFill>
                  <a:srgbClr val="E6EDF3"/>
                </a:solidFill>
                <a:latin typeface="Consolas"/>
              </a:rPr>
              <a:t>:</a:t>
            </a:r>
          </a:p>
          <a:p>
            <a:pPr>
              <a:lnSpc>
                <a:spcPts val="900"/>
              </a:lnSpc>
              <a:spcAft>
                <a:spcPts val="0"/>
              </a:spcAft>
            </a:pPr>
            <a:r>
              <a:rPr sz="725" i="0">
                <a:solidFill>
                  <a:srgbClr val="5C6773"/>
                </a:solidFill>
                <a:latin typeface="Consolas"/>
              </a:rPr>
              <a:t>28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__init__</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repo</a:t>
            </a:r>
            <a:r>
              <a:rPr sz="725" i="0">
                <a:solidFill>
                  <a:srgbClr val="E6EDF3"/>
                </a:solidFill>
                <a:latin typeface="Consolas"/>
              </a:rPr>
              <a:t>:</a:t>
            </a:r>
            <a:r>
              <a:rPr sz="725" i="0">
                <a:solidFill>
                  <a:srgbClr val="E6EDF3"/>
                </a:solidFill>
                <a:latin typeface="Consolas"/>
              </a:rPr>
              <a:t> </a:t>
            </a:r>
            <a:r>
              <a:rPr sz="725" i="0">
                <a:solidFill>
                  <a:srgbClr val="7FDBCA"/>
                </a:solidFill>
                <a:latin typeface="Consolas"/>
              </a:rPr>
              <a:t>OrderRepository</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29  </a:t>
            </a:r>
            <a:r>
              <a:rPr sz="725" i="0">
                <a:solidFill>
                  <a:srgbClr val="E6EDF3"/>
                </a:solidFill>
                <a:latin typeface="Consolas"/>
              </a:rPr>
              <a:t>        </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repo</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repo</a:t>
            </a:r>
          </a:p>
        </p:txBody>
      </p:sp>
      <p:sp>
        <p:nvSpPr>
          <p:cNvPr id="29" name="Box 12"/>
          <p:cNvSpPr/>
          <p:nvPr/>
        </p:nvSpPr>
        <p:spPr>
          <a:xfrm>
            <a:off x="704088" y="2168271"/>
            <a:ext cx="7699248" cy="1707642"/>
          </a:xfrm>
          <a:prstGeom prst="roundRect">
            <a:avLst>
              <a:gd name="adj" fmla="val 267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9032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I · Interface Segregation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Interface Kegemukan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04-isp/before.py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900"/>
              </a:lnSpc>
              <a:spcAft>
                <a:spcPts val="0"/>
              </a:spcAft>
            </a:pPr>
            <a:r>
              <a:rPr sz="725" i="0">
                <a:solidFill>
                  <a:srgbClr val="5C6773"/>
                </a:solidFill>
                <a:latin typeface="Consolas"/>
              </a:rPr>
              <a:t>31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total_revenue</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&gt;</a:t>
            </a:r>
            <a:r>
              <a:rPr sz="725" i="0">
                <a:solidFill>
                  <a:srgbClr val="E6EDF3"/>
                </a:solidFill>
                <a:latin typeface="Consolas"/>
              </a:rPr>
              <a:t> </a:t>
            </a:r>
            <a:r>
              <a:rPr sz="725" i="0">
                <a:solidFill>
                  <a:srgbClr val="C3A6FF"/>
                </a:solidFill>
                <a:latin typeface="Consolas"/>
              </a:rPr>
              <a:t>int</a:t>
            </a:r>
            <a:r>
              <a:rPr sz="725" i="0">
                <a:solidFill>
                  <a:srgbClr val="E6EDF3"/>
                </a:solidFill>
                <a:latin typeface="Consolas"/>
              </a:rPr>
              <a:t>:</a:t>
            </a:r>
          </a:p>
          <a:p>
            <a:pPr>
              <a:lnSpc>
                <a:spcPts val="900"/>
              </a:lnSpc>
              <a:spcAft>
                <a:spcPts val="0"/>
              </a:spcAft>
            </a:pPr>
            <a:r>
              <a:rPr sz="725" i="0">
                <a:solidFill>
                  <a:srgbClr val="5C6773"/>
                </a:solidFill>
                <a:latin typeface="Consolas"/>
              </a:rPr>
              <a:t>32  </a:t>
            </a:r>
            <a:r>
              <a:rPr sz="725" i="0">
                <a:solidFill>
                  <a:srgbClr val="E6EDF3"/>
                </a:solidFill>
                <a:latin typeface="Consolas"/>
              </a:rPr>
              <a:t>        </a:t>
            </a:r>
            <a:r>
              <a:rPr sz="725" i="0">
                <a:solidFill>
                  <a:srgbClr val="FF8E6E"/>
                </a:solidFill>
                <a:latin typeface="Consolas"/>
              </a:rPr>
              <a:t>return</a:t>
            </a:r>
            <a:r>
              <a:rPr sz="725" i="0">
                <a:solidFill>
                  <a:srgbClr val="E6EDF3"/>
                </a:solidFill>
                <a:latin typeface="Consolas"/>
              </a:rPr>
              <a:t> </a:t>
            </a:r>
            <a:r>
              <a:rPr sz="725" i="0">
                <a:solidFill>
                  <a:srgbClr val="C3A6FF"/>
                </a:solidFill>
                <a:latin typeface="Consolas"/>
              </a:rPr>
              <a:t>sum</a:t>
            </a:r>
            <a:r>
              <a:rPr sz="725" i="0">
                <a:solidFill>
                  <a:srgbClr val="E6EDF3"/>
                </a:solidFill>
                <a:latin typeface="Consolas"/>
              </a:rPr>
              <a:t>(</a:t>
            </a:r>
            <a:r>
              <a:rPr sz="725" i="0">
                <a:solidFill>
                  <a:srgbClr val="E6EDF3"/>
                </a:solidFill>
                <a:latin typeface="Consolas"/>
              </a:rPr>
              <a:t>o</a:t>
            </a:r>
            <a:r>
              <a:rPr sz="725" i="0">
                <a:solidFill>
                  <a:srgbClr val="E6EDF3"/>
                </a:solidFill>
                <a:latin typeface="Consolas"/>
              </a:rPr>
              <a:t>[</a:t>
            </a:r>
            <a:r>
              <a:rPr sz="725" i="0">
                <a:solidFill>
                  <a:srgbClr val="A5D6A7"/>
                </a:solidFill>
                <a:latin typeface="Consolas"/>
              </a:rPr>
              <a:t>"total"</a:t>
            </a:r>
            <a:r>
              <a:rPr sz="725" i="0">
                <a:solidFill>
                  <a:srgbClr val="E6EDF3"/>
                </a:solidFill>
                <a:latin typeface="Consolas"/>
              </a:rPr>
              <a:t>]</a:t>
            </a:r>
            <a:r>
              <a:rPr sz="725" i="0">
                <a:solidFill>
                  <a:srgbClr val="E6EDF3"/>
                </a:solidFill>
                <a:latin typeface="Consolas"/>
              </a:rPr>
              <a:t> </a:t>
            </a:r>
            <a:r>
              <a:rPr sz="725" i="0">
                <a:solidFill>
                  <a:srgbClr val="FF8E6E"/>
                </a:solidFill>
                <a:latin typeface="Consolas"/>
              </a:rPr>
              <a:t>for</a:t>
            </a:r>
            <a:r>
              <a:rPr sz="725" i="0">
                <a:solidFill>
                  <a:srgbClr val="E6EDF3"/>
                </a:solidFill>
                <a:latin typeface="Consolas"/>
              </a:rPr>
              <a:t> </a:t>
            </a:r>
            <a:r>
              <a:rPr sz="725" i="0">
                <a:solidFill>
                  <a:srgbClr val="E6EDF3"/>
                </a:solidFill>
                <a:latin typeface="Consolas"/>
              </a:rPr>
              <a:t>o</a:t>
            </a:r>
            <a:r>
              <a:rPr sz="725" i="0">
                <a:solidFill>
                  <a:srgbClr val="E6EDF3"/>
                </a:solidFill>
                <a:latin typeface="Consolas"/>
              </a:rPr>
              <a:t> </a:t>
            </a:r>
            <a:r>
              <a:rPr sz="725" i="0">
                <a:solidFill>
                  <a:srgbClr val="FF8E6E"/>
                </a:solidFill>
                <a:latin typeface="Consolas"/>
              </a:rPr>
              <a:t>in</a:t>
            </a:r>
            <a:r>
              <a:rPr sz="725" i="0">
                <a:solidFill>
                  <a:srgbClr val="E6EDF3"/>
                </a:solidFill>
                <a:latin typeface="Consolas"/>
              </a:rPr>
              <a:t> </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repo</a:t>
            </a:r>
            <a:r>
              <a:rPr sz="725" i="0">
                <a:solidFill>
                  <a:srgbClr val="E6EDF3"/>
                </a:solidFill>
                <a:latin typeface="Consolas"/>
              </a:rPr>
              <a:t>.</a:t>
            </a:r>
            <a:r>
              <a:rPr sz="725" i="0">
                <a:solidFill>
                  <a:srgbClr val="E6EDF3"/>
                </a:solidFill>
                <a:latin typeface="Consolas"/>
              </a:rPr>
              <a:t>list_all</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33  </a:t>
            </a:r>
            <a:r>
              <a:rPr sz="725" i="0">
                <a:solidFill>
                  <a:srgbClr val="E6EDF3"/>
                </a:solidFill>
                <a:latin typeface="Consolas"/>
              </a:rPr>
              <a:t> </a:t>
            </a:r>
          </a:p>
          <a:p>
            <a:pPr>
              <a:lnSpc>
                <a:spcPts val="900"/>
              </a:lnSpc>
              <a:spcAft>
                <a:spcPts val="0"/>
              </a:spcAft>
            </a:pPr>
            <a:r>
              <a:rPr sz="725" i="0">
                <a:solidFill>
                  <a:srgbClr val="5C6773"/>
                </a:solidFill>
                <a:latin typeface="Consolas"/>
              </a:rPr>
              <a:t>34  </a:t>
            </a:r>
            <a:r>
              <a:rPr sz="725" i="0">
                <a:solidFill>
                  <a:srgbClr val="E6EDF3"/>
                </a:solidFill>
                <a:latin typeface="Consolas"/>
              </a:rPr>
              <a:t> </a:t>
            </a:r>
          </a:p>
          <a:p>
            <a:pPr>
              <a:lnSpc>
                <a:spcPts val="900"/>
              </a:lnSpc>
              <a:spcAft>
                <a:spcPts val="0"/>
              </a:spcAft>
            </a:pPr>
            <a:r>
              <a:rPr sz="725" i="0">
                <a:solidFill>
                  <a:srgbClr val="5C6773"/>
                </a:solidFill>
                <a:latin typeface="Consolas"/>
              </a:rPr>
              <a:t>35  </a:t>
            </a:r>
            <a:r>
              <a:rPr sz="725" i="0">
                <a:solidFill>
                  <a:srgbClr val="FF8E6E"/>
                </a:solidFill>
                <a:latin typeface="Consolas"/>
              </a:rPr>
              <a:t>class</a:t>
            </a:r>
            <a:r>
              <a:rPr sz="725" i="0">
                <a:solidFill>
                  <a:srgbClr val="E6EDF3"/>
                </a:solidFill>
                <a:latin typeface="Consolas"/>
              </a:rPr>
              <a:t> </a:t>
            </a:r>
            <a:r>
              <a:rPr sz="725" i="0">
                <a:solidFill>
                  <a:srgbClr val="7FDBCA"/>
                </a:solidFill>
                <a:latin typeface="Consolas"/>
              </a:rPr>
              <a:t>FakeRepoForReport</a:t>
            </a:r>
            <a:r>
              <a:rPr sz="725" i="0">
                <a:solidFill>
                  <a:srgbClr val="E6EDF3"/>
                </a:solidFill>
                <a:latin typeface="Consolas"/>
              </a:rPr>
              <a:t>(</a:t>
            </a:r>
            <a:r>
              <a:rPr sz="725" i="0">
                <a:solidFill>
                  <a:srgbClr val="7FDBCA"/>
                </a:solidFill>
                <a:latin typeface="Consolas"/>
              </a:rPr>
              <a:t>OrderRepository</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36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list_all</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37  </a:t>
            </a:r>
            <a:r>
              <a:rPr sz="725" i="0">
                <a:solidFill>
                  <a:srgbClr val="E6EDF3"/>
                </a:solidFill>
                <a:latin typeface="Consolas"/>
              </a:rPr>
              <a:t>        </a:t>
            </a:r>
            <a:r>
              <a:rPr sz="725" i="0">
                <a:solidFill>
                  <a:srgbClr val="FF8E6E"/>
                </a:solidFill>
                <a:latin typeface="Consolas"/>
              </a:rPr>
              <a:t>return</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A5D6A7"/>
                </a:solidFill>
                <a:latin typeface="Consolas"/>
              </a:rPr>
              <a:t>"total"</a:t>
            </a:r>
            <a:r>
              <a:rPr sz="725" i="0">
                <a:solidFill>
                  <a:srgbClr val="E6EDF3"/>
                </a:solidFill>
                <a:latin typeface="Consolas"/>
              </a:rPr>
              <a:t>:</a:t>
            </a:r>
            <a:r>
              <a:rPr sz="725" i="0">
                <a:solidFill>
                  <a:srgbClr val="E6EDF3"/>
                </a:solidFill>
                <a:latin typeface="Consolas"/>
              </a:rPr>
              <a:t> </a:t>
            </a:r>
            <a:r>
              <a:rPr sz="725" i="0">
                <a:solidFill>
                  <a:srgbClr val="F9C97A"/>
                </a:solidFill>
                <a:latin typeface="Consolas"/>
              </a:rPr>
              <a:t>100_000</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a:t>
            </a:r>
            <a:r>
              <a:rPr sz="725" i="0">
                <a:solidFill>
                  <a:srgbClr val="A5D6A7"/>
                </a:solidFill>
                <a:latin typeface="Consolas"/>
              </a:rPr>
              <a:t>"total"</a:t>
            </a:r>
            <a:r>
              <a:rPr sz="725" i="0">
                <a:solidFill>
                  <a:srgbClr val="E6EDF3"/>
                </a:solidFill>
                <a:latin typeface="Consolas"/>
              </a:rPr>
              <a:t>:</a:t>
            </a:r>
            <a:r>
              <a:rPr sz="725" i="0">
                <a:solidFill>
                  <a:srgbClr val="E6EDF3"/>
                </a:solidFill>
                <a:latin typeface="Consolas"/>
              </a:rPr>
              <a:t> </a:t>
            </a:r>
            <a:r>
              <a:rPr sz="725" i="0">
                <a:solidFill>
                  <a:srgbClr val="F9C97A"/>
                </a:solidFill>
                <a:latin typeface="Consolas"/>
              </a:rPr>
              <a:t>250_000</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38  </a:t>
            </a:r>
            <a:r>
              <a:rPr sz="725" i="0">
                <a:solidFill>
                  <a:srgbClr val="E6EDF3"/>
                </a:solidFill>
                <a:latin typeface="Consolas"/>
              </a:rPr>
              <a:t> </a:t>
            </a:r>
          </a:p>
          <a:p>
            <a:pPr>
              <a:lnSpc>
                <a:spcPts val="900"/>
              </a:lnSpc>
              <a:spcAft>
                <a:spcPts val="0"/>
              </a:spcAft>
            </a:pPr>
            <a:r>
              <a:rPr sz="725" i="0">
                <a:solidFill>
                  <a:srgbClr val="5C6773"/>
                </a:solidFill>
                <a:latin typeface="Consolas"/>
              </a:rPr>
              <a:t>39  </a:t>
            </a:r>
            <a:r>
              <a:rPr sz="725" i="0">
                <a:solidFill>
                  <a:srgbClr val="E6EDF3"/>
                </a:solidFill>
                <a:latin typeface="Consolas"/>
              </a:rPr>
              <a:t>    </a:t>
            </a:r>
            <a:r>
              <a:rPr sz="725" i="1">
                <a:solidFill>
                  <a:srgbClr val="8B98A8"/>
                </a:solidFill>
                <a:latin typeface="Consolas"/>
              </a:rPr>
              <a:t># method di bawah tidak dipakai, tapi wajib ditulis</a:t>
            </a:r>
          </a:p>
          <a:p>
            <a:pPr>
              <a:lnSpc>
                <a:spcPts val="900"/>
              </a:lnSpc>
              <a:spcAft>
                <a:spcPts val="0"/>
              </a:spcAft>
            </a:pPr>
            <a:r>
              <a:rPr sz="725" i="0">
                <a:solidFill>
                  <a:srgbClr val="5C6773"/>
                </a:solidFill>
                <a:latin typeface="Consolas"/>
              </a:rPr>
              <a:t>40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add</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41  </a:t>
            </a:r>
            <a:r>
              <a:rPr sz="725" i="0">
                <a:solidFill>
                  <a:srgbClr val="E6EDF3"/>
                </a:solidFill>
                <a:latin typeface="Consolas"/>
              </a:rPr>
              <a:t>        </a:t>
            </a:r>
            <a:r>
              <a:rPr sz="725" i="0">
                <a:solidFill>
                  <a:srgbClr val="FF8E6E"/>
                </a:solidFill>
                <a:latin typeface="Consolas"/>
              </a:rPr>
              <a:t>raise</a:t>
            </a:r>
            <a:r>
              <a:rPr sz="725" i="0">
                <a:solidFill>
                  <a:srgbClr val="E6EDF3"/>
                </a:solidFill>
                <a:latin typeface="Consolas"/>
              </a:rPr>
              <a:t> </a:t>
            </a:r>
            <a:r>
              <a:rPr sz="725" i="0">
                <a:solidFill>
                  <a:srgbClr val="7FDBCA"/>
                </a:solidFill>
                <a:latin typeface="Consolas"/>
              </a:rPr>
              <a:t>NotImplementedError</a:t>
            </a:r>
          </a:p>
          <a:p>
            <a:pPr>
              <a:lnSpc>
                <a:spcPts val="900"/>
              </a:lnSpc>
              <a:spcAft>
                <a:spcPts val="0"/>
              </a:spcAft>
            </a:pPr>
            <a:r>
              <a:rPr sz="725" i="0">
                <a:solidFill>
                  <a:srgbClr val="5C6773"/>
                </a:solidFill>
                <a:latin typeface="Consolas"/>
              </a:rPr>
              <a:t>42  </a:t>
            </a:r>
            <a:r>
              <a:rPr sz="725" i="0">
                <a:solidFill>
                  <a:srgbClr val="E6EDF3"/>
                </a:solidFill>
                <a:latin typeface="Consolas"/>
              </a:rPr>
              <a:t> </a:t>
            </a:r>
          </a:p>
          <a:p>
            <a:pPr>
              <a:lnSpc>
                <a:spcPts val="900"/>
              </a:lnSpc>
              <a:spcAft>
                <a:spcPts val="0"/>
              </a:spcAft>
            </a:pPr>
            <a:r>
              <a:rPr sz="725" i="0">
                <a:solidFill>
                  <a:srgbClr val="5C6773"/>
                </a:solidFill>
                <a:latin typeface="Consolas"/>
              </a:rPr>
              <a:t>43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get</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order_id</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44  </a:t>
            </a:r>
            <a:r>
              <a:rPr sz="725" i="0">
                <a:solidFill>
                  <a:srgbClr val="E6EDF3"/>
                </a:solidFill>
                <a:latin typeface="Consolas"/>
              </a:rPr>
              <a:t>        </a:t>
            </a:r>
            <a:r>
              <a:rPr sz="725" i="0">
                <a:solidFill>
                  <a:srgbClr val="FF8E6E"/>
                </a:solidFill>
                <a:latin typeface="Consolas"/>
              </a:rPr>
              <a:t>raise</a:t>
            </a:r>
            <a:r>
              <a:rPr sz="725" i="0">
                <a:solidFill>
                  <a:srgbClr val="E6EDF3"/>
                </a:solidFill>
                <a:latin typeface="Consolas"/>
              </a:rPr>
              <a:t> </a:t>
            </a:r>
            <a:r>
              <a:rPr sz="725" i="0">
                <a:solidFill>
                  <a:srgbClr val="7FDBCA"/>
                </a:solidFill>
                <a:latin typeface="Consolas"/>
              </a:rPr>
              <a:t>NotImplementedError</a:t>
            </a:r>
          </a:p>
          <a:p>
            <a:pPr>
              <a:lnSpc>
                <a:spcPts val="900"/>
              </a:lnSpc>
              <a:spcAft>
                <a:spcPts val="0"/>
              </a:spcAft>
            </a:pPr>
            <a:r>
              <a:rPr sz="725" i="0">
                <a:solidFill>
                  <a:srgbClr val="5C6773"/>
                </a:solidFill>
                <a:latin typeface="Consolas"/>
              </a:rPr>
              <a:t>45  </a:t>
            </a:r>
            <a:r>
              <a:rPr sz="725" i="0">
                <a:solidFill>
                  <a:srgbClr val="E6EDF3"/>
                </a:solidFill>
                <a:latin typeface="Consolas"/>
              </a:rPr>
              <a:t> </a:t>
            </a:r>
          </a:p>
          <a:p>
            <a:pPr>
              <a:lnSpc>
                <a:spcPts val="900"/>
              </a:lnSpc>
              <a:spcAft>
                <a:spcPts val="0"/>
              </a:spcAft>
            </a:pPr>
            <a:r>
              <a:rPr sz="725" i="0">
                <a:solidFill>
                  <a:srgbClr val="5C6773"/>
                </a:solidFill>
                <a:latin typeface="Consolas"/>
              </a:rPr>
              <a:t>46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update_status</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order_id</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status</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47  </a:t>
            </a:r>
            <a:r>
              <a:rPr sz="725" i="0">
                <a:solidFill>
                  <a:srgbClr val="E6EDF3"/>
                </a:solidFill>
                <a:latin typeface="Consolas"/>
              </a:rPr>
              <a:t>        </a:t>
            </a:r>
            <a:r>
              <a:rPr sz="725" i="0">
                <a:solidFill>
                  <a:srgbClr val="FF8E6E"/>
                </a:solidFill>
                <a:latin typeface="Consolas"/>
              </a:rPr>
              <a:t>raise</a:t>
            </a:r>
            <a:r>
              <a:rPr sz="725" i="0">
                <a:solidFill>
                  <a:srgbClr val="E6EDF3"/>
                </a:solidFill>
                <a:latin typeface="Consolas"/>
              </a:rPr>
              <a:t> </a:t>
            </a:r>
            <a:r>
              <a:rPr sz="725" i="0">
                <a:solidFill>
                  <a:srgbClr val="7FDBCA"/>
                </a:solidFill>
                <a:latin typeface="Consolas"/>
              </a:rPr>
              <a:t>NotImplementedError</a:t>
            </a:r>
          </a:p>
          <a:p>
            <a:pPr>
              <a:lnSpc>
                <a:spcPts val="900"/>
              </a:lnSpc>
              <a:spcAft>
                <a:spcPts val="0"/>
              </a:spcAft>
            </a:pPr>
            <a:r>
              <a:rPr sz="725" i="0">
                <a:solidFill>
                  <a:srgbClr val="5C6773"/>
                </a:solidFill>
                <a:latin typeface="Consolas"/>
              </a:rPr>
              <a:t>48  </a:t>
            </a:r>
            <a:r>
              <a:rPr sz="725" i="0">
                <a:solidFill>
                  <a:srgbClr val="E6EDF3"/>
                </a:solidFill>
                <a:latin typeface="Consolas"/>
              </a:rPr>
              <a:t> </a:t>
            </a:r>
          </a:p>
          <a:p>
            <a:pPr>
              <a:lnSpc>
                <a:spcPts val="900"/>
              </a:lnSpc>
              <a:spcAft>
                <a:spcPts val="0"/>
              </a:spcAft>
            </a:pPr>
            <a:r>
              <a:rPr sz="725" i="0">
                <a:solidFill>
                  <a:srgbClr val="5C6773"/>
                </a:solidFill>
                <a:latin typeface="Consolas"/>
              </a:rPr>
              <a:t>49  </a:t>
            </a:r>
            <a:r>
              <a:rPr sz="725" i="0">
                <a:solidFill>
                  <a:srgbClr val="E6EDF3"/>
                </a:solidFill>
                <a:latin typeface="Consolas"/>
              </a:rPr>
              <a:t>    </a:t>
            </a:r>
            <a:r>
              <a:rPr sz="725" i="0">
                <a:solidFill>
                  <a:srgbClr val="FF8E6E"/>
                </a:solidFill>
                <a:latin typeface="Consolas"/>
              </a:rPr>
              <a:t>def</a:t>
            </a:r>
            <a:r>
              <a:rPr sz="725" i="0">
                <a:solidFill>
                  <a:srgbClr val="E6EDF3"/>
                </a:solidFill>
                <a:latin typeface="Consolas"/>
              </a:rPr>
              <a:t> </a:t>
            </a:r>
            <a:r>
              <a:rPr sz="725" i="0">
                <a:solidFill>
                  <a:srgbClr val="82B1FF"/>
                </a:solidFill>
                <a:latin typeface="Consolas"/>
              </a:rPr>
              <a:t>delete</a:t>
            </a:r>
            <a:r>
              <a:rPr sz="725" i="0">
                <a:solidFill>
                  <a:srgbClr val="E6EDF3"/>
                </a:solidFill>
                <a:latin typeface="Consolas"/>
              </a:rPr>
              <a:t>(</a:t>
            </a:r>
            <a:r>
              <a:rPr sz="725" i="0">
                <a:solidFill>
                  <a:srgbClr val="C3A6FF"/>
                </a:solidFill>
                <a:latin typeface="Consolas"/>
              </a:rPr>
              <a:t>self</a:t>
            </a:r>
            <a:r>
              <a:rPr sz="725" i="0">
                <a:solidFill>
                  <a:srgbClr val="E6EDF3"/>
                </a:solidFill>
                <a:latin typeface="Consolas"/>
              </a:rPr>
              <a:t>,</a:t>
            </a:r>
            <a:r>
              <a:rPr sz="725" i="0">
                <a:solidFill>
                  <a:srgbClr val="E6EDF3"/>
                </a:solidFill>
                <a:latin typeface="Consolas"/>
              </a:rPr>
              <a:t> </a:t>
            </a:r>
            <a:r>
              <a:rPr sz="725" i="0">
                <a:solidFill>
                  <a:srgbClr val="E6EDF3"/>
                </a:solidFill>
                <a:latin typeface="Consolas"/>
              </a:rPr>
              <a:t>order_id</a:t>
            </a:r>
            <a:r>
              <a:rPr sz="725" i="0">
                <a:solidFill>
                  <a:srgbClr val="E6EDF3"/>
                </a:solidFill>
                <a:latin typeface="Consolas"/>
              </a:rPr>
              <a:t>)</a:t>
            </a:r>
            <a:r>
              <a:rPr sz="725" i="0">
                <a:solidFill>
                  <a:srgbClr val="E6EDF3"/>
                </a:solidFill>
                <a:latin typeface="Consolas"/>
              </a:rPr>
              <a:t>:</a:t>
            </a:r>
          </a:p>
          <a:p>
            <a:pPr>
              <a:lnSpc>
                <a:spcPts val="900"/>
              </a:lnSpc>
              <a:spcAft>
                <a:spcPts val="0"/>
              </a:spcAft>
            </a:pPr>
            <a:r>
              <a:rPr sz="725" i="0">
                <a:solidFill>
                  <a:srgbClr val="5C6773"/>
                </a:solidFill>
                <a:latin typeface="Consolas"/>
              </a:rPr>
              <a:t>50  </a:t>
            </a:r>
            <a:r>
              <a:rPr sz="725" i="0">
                <a:solidFill>
                  <a:srgbClr val="E6EDF3"/>
                </a:solidFill>
                <a:latin typeface="Consolas"/>
              </a:rPr>
              <a:t>        </a:t>
            </a:r>
            <a:r>
              <a:rPr sz="725" i="0">
                <a:solidFill>
                  <a:srgbClr val="FF8E6E"/>
                </a:solidFill>
                <a:latin typeface="Consolas"/>
              </a:rPr>
              <a:t>raise</a:t>
            </a:r>
            <a:r>
              <a:rPr sz="725" i="0">
                <a:solidFill>
                  <a:srgbClr val="E6EDF3"/>
                </a:solidFill>
                <a:latin typeface="Consolas"/>
              </a:rPr>
              <a:t> </a:t>
            </a:r>
            <a:r>
              <a:rPr sz="725" i="0">
                <a:solidFill>
                  <a:srgbClr val="7FDBCA"/>
                </a:solidFill>
                <a:latin typeface="Consolas"/>
              </a:rPr>
              <a:t>NotImplementedError</a:t>
            </a:r>
          </a:p>
          <a:p>
            <a:pPr>
              <a:lnSpc>
                <a:spcPts val="900"/>
              </a:lnSpc>
              <a:spcAft>
                <a:spcPts val="0"/>
              </a:spcAft>
            </a:pPr>
            <a:r>
              <a:rPr sz="725" i="0">
                <a:solidFill>
                  <a:srgbClr val="5C6773"/>
                </a:solidFill>
                <a:latin typeface="Consolas"/>
              </a:rPr>
              <a:t>51  </a:t>
            </a:r>
            <a:r>
              <a:rPr sz="725" i="0">
                <a:solidFill>
                  <a:srgbClr val="E6EDF3"/>
                </a:solidFill>
                <a:latin typeface="Consolas"/>
              </a:rPr>
              <a:t> </a:t>
            </a:r>
          </a:p>
          <a:p>
            <a:pPr>
              <a:lnSpc>
                <a:spcPts val="900"/>
              </a:lnSpc>
              <a:spcAft>
                <a:spcPts val="0"/>
              </a:spcAft>
            </a:pPr>
            <a:r>
              <a:rPr sz="725" i="0">
                <a:solidFill>
                  <a:srgbClr val="5C6773"/>
                </a:solidFill>
                <a:latin typeface="Consolas"/>
              </a:rPr>
              <a:t>52  </a:t>
            </a:r>
            <a:r>
              <a:rPr sz="725" i="0">
                <a:solidFill>
                  <a:srgbClr val="E6EDF3"/>
                </a:solidFill>
                <a:latin typeface="Consolas"/>
              </a:rPr>
              <a:t> </a:t>
            </a:r>
          </a:p>
          <a:p>
            <a:pPr>
              <a:lnSpc>
                <a:spcPts val="900"/>
              </a:lnSpc>
              <a:spcAft>
                <a:spcPts val="0"/>
              </a:spcAft>
            </a:pPr>
            <a:r>
              <a:rPr sz="725" i="0">
                <a:solidFill>
                  <a:srgbClr val="5C6773"/>
                </a:solidFill>
                <a:latin typeface="Consolas"/>
              </a:rPr>
              <a:t>53  </a:t>
            </a:r>
            <a:r>
              <a:rPr sz="725" i="0">
                <a:solidFill>
                  <a:srgbClr val="FF8E6E"/>
                </a:solidFill>
                <a:latin typeface="Consolas"/>
              </a:rPr>
              <a:t>if</a:t>
            </a:r>
            <a:r>
              <a:rPr sz="725" i="0">
                <a:solidFill>
                  <a:srgbClr val="E6EDF3"/>
                </a:solidFill>
                <a:latin typeface="Consolas"/>
              </a:rPr>
              <a:t> </a:t>
            </a:r>
            <a:r>
              <a:rPr sz="725" i="0">
                <a:solidFill>
                  <a:srgbClr val="E6EDF3"/>
                </a:solidFill>
                <a:latin typeface="Consolas"/>
              </a:rPr>
              <a:t>__name__</a:t>
            </a:r>
            <a:r>
              <a:rPr sz="725" i="0">
                <a:solidFill>
                  <a:srgbClr val="E6EDF3"/>
                </a:solidFill>
                <a:latin typeface="Consolas"/>
              </a:rPr>
              <a:t> </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 </a:t>
            </a:r>
            <a:r>
              <a:rPr sz="725" i="0">
                <a:solidFill>
                  <a:srgbClr val="A5D6A7"/>
                </a:solidFill>
                <a:latin typeface="Consolas"/>
              </a:rPr>
              <a:t>"__main__"</a:t>
            </a:r>
            <a:r>
              <a:rPr sz="725" i="0">
                <a:solidFill>
                  <a:srgbClr val="E6EDF3"/>
                </a:solidFill>
                <a:latin typeface="Consolas"/>
              </a:rPr>
              <a:t>:</a:t>
            </a:r>
          </a:p>
          <a:p>
            <a:pPr>
              <a:lnSpc>
                <a:spcPts val="900"/>
              </a:lnSpc>
              <a:spcAft>
                <a:spcPts val="0"/>
              </a:spcAft>
            </a:pPr>
            <a:r>
              <a:rPr sz="725" i="0">
                <a:solidFill>
                  <a:srgbClr val="5C6773"/>
                </a:solidFill>
                <a:latin typeface="Consolas"/>
              </a:rPr>
              <a:t>54  </a:t>
            </a:r>
            <a:r>
              <a:rPr sz="725" i="0">
                <a:solidFill>
                  <a:srgbClr val="E6EDF3"/>
                </a:solidFill>
                <a:latin typeface="Consolas"/>
              </a:rPr>
              <a:t>    </a:t>
            </a:r>
            <a:r>
              <a:rPr sz="725" i="0">
                <a:solidFill>
                  <a:srgbClr val="C3A6FF"/>
                </a:solidFill>
                <a:latin typeface="Consolas"/>
              </a:rPr>
              <a:t>print</a:t>
            </a:r>
            <a:r>
              <a:rPr sz="725" i="0">
                <a:solidFill>
                  <a:srgbClr val="E6EDF3"/>
                </a:solidFill>
                <a:latin typeface="Consolas"/>
              </a:rPr>
              <a:t>(</a:t>
            </a:r>
            <a:r>
              <a:rPr sz="725" i="0">
                <a:solidFill>
                  <a:srgbClr val="7FDBCA"/>
                </a:solidFill>
                <a:latin typeface="Consolas"/>
              </a:rPr>
              <a:t>ReportService</a:t>
            </a:r>
            <a:r>
              <a:rPr sz="725" i="0">
                <a:solidFill>
                  <a:srgbClr val="E6EDF3"/>
                </a:solidFill>
                <a:latin typeface="Consolas"/>
              </a:rPr>
              <a:t>(</a:t>
            </a:r>
            <a:r>
              <a:rPr sz="725" i="0">
                <a:solidFill>
                  <a:srgbClr val="7FDBCA"/>
                </a:solidFill>
                <a:latin typeface="Consolas"/>
              </a:rPr>
              <a:t>FakeRepoForReport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total_revenue</a:t>
            </a:r>
            <a:r>
              <a:rPr sz="725" i="0">
                <a:solidFill>
                  <a:srgbClr val="E6EDF3"/>
                </a:solidFill>
                <a:latin typeface="Consolas"/>
              </a:rPr>
              <a:t>(</a:t>
            </a:r>
            <a:r>
              <a:rPr sz="725" i="0">
                <a:solidFill>
                  <a:srgbClr val="E6EDF3"/>
                </a:solidFill>
                <a:latin typeface="Consolas"/>
              </a:rPr>
              <a:t>)</a:t>
            </a:r>
            <a:r>
              <a:rPr sz="725" i="0">
                <a:solidFill>
                  <a:srgbClr val="E6EDF3"/>
                </a:solidFill>
                <a:latin typeface="Consolas"/>
              </a:rPr>
              <a:t>)</a:t>
            </a:r>
          </a:p>
        </p:txBody>
      </p:sp>
      <p:sp>
        <p:nvSpPr>
          <p:cNvPr id="29" name="Box 12"/>
          <p:cNvSpPr/>
          <p:nvPr/>
        </p:nvSpPr>
        <p:spPr>
          <a:xfrm>
            <a:off x="704088" y="1939671"/>
            <a:ext cx="7699248"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18745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1" name="Box 14"/>
          <p:cNvSpPr/>
          <p:nvPr/>
        </p:nvSpPr>
        <p:spPr>
          <a:xfrm>
            <a:off x="704088" y="2739771"/>
            <a:ext cx="7699248" cy="1250442"/>
          </a:xfrm>
          <a:prstGeom prst="roundRect">
            <a:avLst>
              <a:gd name="adj" fmla="val 36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2461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I · Interface Segregation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04-isp/before.py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sesi-02-solid-clean-architecture/04-isp</a:t>
            </a:r>
          </a:p>
          <a:p>
            <a:pPr>
              <a:lnSpc>
                <a:spcPts val="1000"/>
              </a:lnSpc>
              <a:spcAft>
                <a:spcPts val="0"/>
              </a:spcAft>
            </a:pPr>
            <a:r>
              <a:rPr sz="775" i="0">
                <a:solidFill>
                  <a:srgbClr val="82B1FF"/>
                </a:solidFill>
                <a:latin typeface="Consolas"/>
              </a:rPr>
              <a:t>$ python before.py</a:t>
            </a:r>
          </a:p>
        </p:txBody>
      </p:sp>
      <p:pic>
        <p:nvPicPr>
          <p:cNvPr id="29" name="Image 12" descr="s02-04-isp-before.png"/>
          <p:cNvPicPr>
            <a:picLocks noChangeAspect="1"/>
          </p:cNvPicPr>
          <p:nvPr/>
        </p:nvPicPr>
        <p:blipFill>
          <a:blip r:embed="rId2"/>
          <a:stretch>
            <a:fillRect/>
          </a:stretch>
        </p:blipFill>
        <p:spPr>
          <a:xfrm>
            <a:off x="621792" y="2240280"/>
            <a:ext cx="4297680" cy="905256"/>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Satu interface berisi 5 method untuk semua kebutuhan (baris 10-24)</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ReportService</a:t>
            </a:r>
            <a:r>
              <a:rPr sz="950" i="0" b="0">
                <a:solidFill>
                  <a:srgbClr val="434343"/>
                </a:solidFill>
                <a:latin typeface="Inter"/>
              </a:rPr>
              <a:t> cuma memakai </a:t>
            </a:r>
            <a:r>
              <a:rPr sz="950" i="0" b="0">
                <a:solidFill>
                  <a:srgbClr val="B5482A"/>
                </a:solidFill>
                <a:latin typeface="Consolas"/>
              </a:rPr>
              <a:t>list_all()</a:t>
            </a:r>
            <a:r>
              <a:rPr sz="950" i="0" b="0">
                <a:solidFill>
                  <a:srgbClr val="434343"/>
                </a:solidFill>
                <a:latin typeface="Inter"/>
              </a:rPr>
              <a:t> (baris 32)</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Fake untuk test wajib mengisi method yang tidak dipakai (baris 39-50)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I · Interface Segregation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Interface Sesuai Kebutuhan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04-isp/after.py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 7  </a:t>
            </a: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typing</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7FDBCA"/>
                </a:solidFill>
                <a:latin typeface="Consolas"/>
              </a:rPr>
              <a:t>Protocol</a:t>
            </a:r>
          </a:p>
          <a:p>
            <a:pPr>
              <a:lnSpc>
                <a:spcPts val="1100"/>
              </a:lnSpc>
              <a:spcAft>
                <a:spcPts val="0"/>
              </a:spcAft>
            </a:pPr>
            <a:r>
              <a:rPr sz="850" i="0">
                <a:solidFill>
                  <a:srgbClr val="5C6773"/>
                </a:solidFill>
                <a:latin typeface="Consolas"/>
              </a:rPr>
              <a:t> 8  </a:t>
            </a:r>
            <a:r>
              <a:rPr sz="850" i="0">
                <a:solidFill>
                  <a:srgbClr val="E6EDF3"/>
                </a:solidFill>
                <a:latin typeface="Consolas"/>
              </a:rPr>
              <a:t> </a:t>
            </a:r>
          </a:p>
          <a:p>
            <a:pPr>
              <a:lnSpc>
                <a:spcPts val="1100"/>
              </a:lnSpc>
              <a:spcAft>
                <a:spcPts val="0"/>
              </a:spcAft>
            </a:pPr>
            <a:r>
              <a:rPr sz="850" i="0">
                <a:solidFill>
                  <a:srgbClr val="5C6773"/>
                </a:solidFill>
                <a:latin typeface="Consolas"/>
              </a:rPr>
              <a:t> 9  </a:t>
            </a:r>
            <a:r>
              <a:rPr sz="850" i="0">
                <a:solidFill>
                  <a:srgbClr val="E6EDF3"/>
                </a:solidFill>
                <a:latin typeface="Consolas"/>
              </a:rPr>
              <a:t> </a:t>
            </a:r>
          </a:p>
          <a:p>
            <a:pPr>
              <a:lnSpc>
                <a:spcPts val="1100"/>
              </a:lnSpc>
              <a:spcAft>
                <a:spcPts val="0"/>
              </a:spcAft>
            </a:pPr>
            <a:r>
              <a:rPr sz="850" i="0">
                <a:solidFill>
                  <a:srgbClr val="5C6773"/>
                </a:solidFill>
                <a:latin typeface="Consolas"/>
              </a:rPr>
              <a:t>10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OrderReader</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11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get</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order_id</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12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list_all</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list</a:t>
            </a:r>
            <a:r>
              <a:rPr sz="850" i="0">
                <a:solidFill>
                  <a:srgbClr val="E6EDF3"/>
                </a:solidFill>
                <a:latin typeface="Consolas"/>
              </a:rPr>
              <a:t>[</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13  </a:t>
            </a:r>
            <a:r>
              <a:rPr sz="850" i="0">
                <a:solidFill>
                  <a:srgbClr val="E6EDF3"/>
                </a:solidFill>
                <a:latin typeface="Consolas"/>
              </a:rPr>
              <a:t> </a:t>
            </a:r>
          </a:p>
          <a:p>
            <a:pPr>
              <a:lnSpc>
                <a:spcPts val="1100"/>
              </a:lnSpc>
              <a:spcAft>
                <a:spcPts val="0"/>
              </a:spcAft>
            </a:pPr>
            <a:r>
              <a:rPr sz="850" i="0">
                <a:solidFill>
                  <a:srgbClr val="5C6773"/>
                </a:solidFill>
                <a:latin typeface="Consolas"/>
              </a:rPr>
              <a:t>14  </a:t>
            </a:r>
            <a:r>
              <a:rPr sz="850" i="0">
                <a:solidFill>
                  <a:srgbClr val="E6EDF3"/>
                </a:solidFill>
                <a:latin typeface="Consolas"/>
              </a:rPr>
              <a:t> </a:t>
            </a:r>
          </a:p>
          <a:p>
            <a:pPr>
              <a:lnSpc>
                <a:spcPts val="1100"/>
              </a:lnSpc>
              <a:spcAft>
                <a:spcPts val="0"/>
              </a:spcAft>
            </a:pPr>
            <a:r>
              <a:rPr sz="850" i="0">
                <a:solidFill>
                  <a:srgbClr val="5C6773"/>
                </a:solidFill>
                <a:latin typeface="Consolas"/>
              </a:rPr>
              <a:t>15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OrderWriter</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16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17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update_status</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order_id</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status</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p:txBody>
      </p:sp>
      <p:sp>
        <p:nvSpPr>
          <p:cNvPr id="29" name="Box 12"/>
          <p:cNvSpPr/>
          <p:nvPr/>
        </p:nvSpPr>
        <p:spPr>
          <a:xfrm>
            <a:off x="704088" y="2247773"/>
            <a:ext cx="7699248" cy="1109218"/>
          </a:xfrm>
          <a:prstGeom prst="roundRect">
            <a:avLst>
              <a:gd name="adj" fmla="val 412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6835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I · Interface Segregation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Interface Sesuai Kebutuhan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04-isp/after.py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20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ReportService</a:t>
            </a:r>
            <a:r>
              <a:rPr sz="850" i="0">
                <a:solidFill>
                  <a:srgbClr val="E6EDF3"/>
                </a:solidFill>
                <a:latin typeface="Consolas"/>
              </a:rPr>
              <a:t>:</a:t>
            </a:r>
          </a:p>
          <a:p>
            <a:pPr>
              <a:lnSpc>
                <a:spcPts val="1100"/>
              </a:lnSpc>
              <a:spcAft>
                <a:spcPts val="0"/>
              </a:spcAft>
            </a:pPr>
            <a:r>
              <a:rPr sz="850" i="0">
                <a:solidFill>
                  <a:srgbClr val="5C6773"/>
                </a:solidFill>
                <a:latin typeface="Consolas"/>
              </a:rPr>
              <a:t>21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reader</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OrderReader</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reader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reader</a:t>
            </a:r>
          </a:p>
          <a:p>
            <a:pPr>
              <a:lnSpc>
                <a:spcPts val="1100"/>
              </a:lnSpc>
              <a:spcAft>
                <a:spcPts val="0"/>
              </a:spcAft>
            </a:pPr>
            <a:r>
              <a:rPr sz="850" i="0">
                <a:solidFill>
                  <a:srgbClr val="5C6773"/>
                </a:solidFill>
                <a:latin typeface="Consolas"/>
              </a:rPr>
              <a:t>23  </a:t>
            </a:r>
            <a:r>
              <a:rPr sz="850" i="0">
                <a:solidFill>
                  <a:srgbClr val="E6EDF3"/>
                </a:solidFill>
                <a:latin typeface="Consolas"/>
              </a:rPr>
              <a:t> </a:t>
            </a:r>
          </a:p>
          <a:p>
            <a:pPr>
              <a:lnSpc>
                <a:spcPts val="1100"/>
              </a:lnSpc>
              <a:spcAft>
                <a:spcPts val="0"/>
              </a:spcAft>
            </a:pPr>
            <a:r>
              <a:rPr sz="850" i="0">
                <a:solidFill>
                  <a:srgbClr val="5C6773"/>
                </a:solidFill>
                <a:latin typeface="Consolas"/>
              </a:rPr>
              <a:t>24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total_revenue</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25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C3A6FF"/>
                </a:solidFill>
                <a:latin typeface="Consolas"/>
              </a:rPr>
              <a:t>sum</a:t>
            </a:r>
            <a:r>
              <a:rPr sz="850" i="0">
                <a:solidFill>
                  <a:srgbClr val="E6EDF3"/>
                </a:solidFill>
                <a:latin typeface="Consolas"/>
              </a:rPr>
              <a:t>(</a:t>
            </a:r>
            <a:r>
              <a:rPr sz="850" i="0">
                <a:solidFill>
                  <a:srgbClr val="E6EDF3"/>
                </a:solidFill>
                <a:latin typeface="Consolas"/>
              </a:rPr>
              <a:t>o</a:t>
            </a:r>
            <a:r>
              <a:rPr sz="850" i="0">
                <a:solidFill>
                  <a:srgbClr val="E6EDF3"/>
                </a:solidFill>
                <a:latin typeface="Consolas"/>
              </a:rPr>
              <a:t>[</a:t>
            </a:r>
            <a:r>
              <a:rPr sz="850" i="0">
                <a:solidFill>
                  <a:srgbClr val="A5D6A7"/>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FF8E6E"/>
                </a:solidFill>
                <a:latin typeface="Consolas"/>
              </a:rPr>
              <a:t>for</a:t>
            </a:r>
            <a:r>
              <a:rPr sz="850" i="0">
                <a:solidFill>
                  <a:srgbClr val="E6EDF3"/>
                </a:solidFill>
                <a:latin typeface="Consolas"/>
              </a:rPr>
              <a:t> </a:t>
            </a:r>
            <a:r>
              <a:rPr sz="850" i="0">
                <a:solidFill>
                  <a:srgbClr val="E6EDF3"/>
                </a:solidFill>
                <a:latin typeface="Consolas"/>
              </a:rPr>
              <a:t>o</a:t>
            </a:r>
            <a:r>
              <a:rPr sz="850" i="0">
                <a:solidFill>
                  <a:srgbClr val="E6EDF3"/>
                </a:solidFill>
                <a:latin typeface="Consolas"/>
              </a:rPr>
              <a:t> </a:t>
            </a:r>
            <a:r>
              <a:rPr sz="850" i="0">
                <a:solidFill>
                  <a:srgbClr val="FF8E6E"/>
                </a:solidFill>
                <a:latin typeface="Consolas"/>
              </a:rPr>
              <a:t>in</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reader</a:t>
            </a:r>
            <a:r>
              <a:rPr sz="850" i="0">
                <a:solidFill>
                  <a:srgbClr val="E6EDF3"/>
                </a:solidFill>
                <a:latin typeface="Consolas"/>
              </a:rPr>
              <a:t>.</a:t>
            </a:r>
            <a:r>
              <a:rPr sz="850" i="0">
                <a:solidFill>
                  <a:srgbClr val="E6EDF3"/>
                </a:solidFill>
                <a:latin typeface="Consolas"/>
              </a:rPr>
              <a:t>list_all</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26  </a:t>
            </a:r>
            <a:r>
              <a:rPr sz="850" i="0">
                <a:solidFill>
                  <a:srgbClr val="E6EDF3"/>
                </a:solidFill>
                <a:latin typeface="Consolas"/>
              </a:rPr>
              <a:t> </a:t>
            </a:r>
          </a:p>
          <a:p>
            <a:pPr>
              <a:lnSpc>
                <a:spcPts val="1100"/>
              </a:lnSpc>
              <a:spcAft>
                <a:spcPts val="0"/>
              </a:spcAft>
            </a:pPr>
            <a:r>
              <a:rPr sz="850" i="0">
                <a:solidFill>
                  <a:srgbClr val="5C6773"/>
                </a:solidFill>
                <a:latin typeface="Consolas"/>
              </a:rPr>
              <a:t>27  </a:t>
            </a:r>
            <a:r>
              <a:rPr sz="850" i="0">
                <a:solidFill>
                  <a:srgbClr val="E6EDF3"/>
                </a:solidFill>
                <a:latin typeface="Consolas"/>
              </a:rPr>
              <a:t> </a:t>
            </a:r>
          </a:p>
          <a:p>
            <a:pPr>
              <a:lnSpc>
                <a:spcPts val="1100"/>
              </a:lnSpc>
              <a:spcAft>
                <a:spcPts val="0"/>
              </a:spcAft>
            </a:pPr>
            <a:r>
              <a:rPr sz="850" i="0">
                <a:solidFill>
                  <a:srgbClr val="5C6773"/>
                </a:solidFill>
                <a:latin typeface="Consolas"/>
              </a:rPr>
              <a:t>28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FakeReader</a:t>
            </a:r>
            <a:r>
              <a:rPr sz="850" i="0">
                <a:solidFill>
                  <a:srgbClr val="E6EDF3"/>
                </a:solidFill>
                <a:latin typeface="Consolas"/>
              </a:rPr>
              <a:t>:</a:t>
            </a:r>
          </a:p>
          <a:p>
            <a:pPr>
              <a:lnSpc>
                <a:spcPts val="1100"/>
              </a:lnSpc>
              <a:spcAft>
                <a:spcPts val="0"/>
              </a:spcAft>
            </a:pPr>
            <a:r>
              <a:rPr sz="850" i="0">
                <a:solidFill>
                  <a:srgbClr val="5C6773"/>
                </a:solidFill>
                <a:latin typeface="Consolas"/>
              </a:rPr>
              <a:t>29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list_all</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30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A5D6A7"/>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100_000</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A5D6A7"/>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250_000</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31  </a:t>
            </a:r>
            <a:r>
              <a:rPr sz="850" i="0">
                <a:solidFill>
                  <a:srgbClr val="E6EDF3"/>
                </a:solidFill>
                <a:latin typeface="Consolas"/>
              </a:rPr>
              <a:t> </a:t>
            </a:r>
          </a:p>
          <a:p>
            <a:pPr>
              <a:lnSpc>
                <a:spcPts val="1100"/>
              </a:lnSpc>
              <a:spcAft>
                <a:spcPts val="0"/>
              </a:spcAft>
            </a:pPr>
            <a:r>
              <a:rPr sz="850" i="0">
                <a:solidFill>
                  <a:srgbClr val="5C6773"/>
                </a:solidFill>
                <a:latin typeface="Consolas"/>
              </a:rPr>
              <a:t>32  </a:t>
            </a:r>
            <a:r>
              <a:rPr sz="850" i="0">
                <a:solidFill>
                  <a:srgbClr val="E6EDF3"/>
                </a:solidFill>
                <a:latin typeface="Consolas"/>
              </a:rPr>
              <a:t> </a:t>
            </a:r>
          </a:p>
          <a:p>
            <a:pPr>
              <a:lnSpc>
                <a:spcPts val="1100"/>
              </a:lnSpc>
              <a:spcAft>
                <a:spcPts val="0"/>
              </a:spcAft>
            </a:pPr>
            <a:r>
              <a:rPr sz="850" i="0">
                <a:solidFill>
                  <a:srgbClr val="5C6773"/>
                </a:solidFill>
                <a:latin typeface="Consolas"/>
              </a:rPr>
              <a:t>33  </a:t>
            </a:r>
            <a:r>
              <a:rPr sz="850" i="0">
                <a:solidFill>
                  <a:srgbClr val="FF8E6E"/>
                </a:solidFill>
                <a:latin typeface="Consolas"/>
              </a:rPr>
              <a:t>if</a:t>
            </a:r>
            <a:r>
              <a:rPr sz="850" i="0">
                <a:solidFill>
                  <a:srgbClr val="E6EDF3"/>
                </a:solidFill>
                <a:latin typeface="Consolas"/>
              </a:rPr>
              <a:t> </a:t>
            </a:r>
            <a:r>
              <a:rPr sz="850" i="0">
                <a:solidFill>
                  <a:srgbClr val="E6EDF3"/>
                </a:solidFill>
                <a:latin typeface="Consolas"/>
              </a:rPr>
              <a:t>__name__</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"__main__"</a:t>
            </a:r>
            <a:r>
              <a:rPr sz="850" i="0">
                <a:solidFill>
                  <a:srgbClr val="E6EDF3"/>
                </a:solidFill>
                <a:latin typeface="Consolas"/>
              </a:rPr>
              <a:t>:</a:t>
            </a:r>
          </a:p>
          <a:p>
            <a:pPr>
              <a:lnSpc>
                <a:spcPts val="1100"/>
              </a:lnSpc>
              <a:spcAft>
                <a:spcPts val="0"/>
              </a:spcAft>
            </a:pPr>
            <a:r>
              <a:rPr sz="850" i="0">
                <a:solidFill>
                  <a:srgbClr val="5C6773"/>
                </a:solidFill>
                <a:latin typeface="Consolas"/>
              </a:rPr>
              <a:t>34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7FDBCA"/>
                </a:solidFill>
                <a:latin typeface="Consolas"/>
              </a:rPr>
              <a:t>ReportService</a:t>
            </a:r>
            <a:r>
              <a:rPr sz="850" i="0">
                <a:solidFill>
                  <a:srgbClr val="E6EDF3"/>
                </a:solidFill>
                <a:latin typeface="Consolas"/>
              </a:rPr>
              <a:t>(</a:t>
            </a:r>
            <a:r>
              <a:rPr sz="850" i="0">
                <a:solidFill>
                  <a:srgbClr val="7FDBCA"/>
                </a:solidFill>
                <a:latin typeface="Consolas"/>
              </a:rPr>
              <a:t>FakeReader</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total_revenue</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p:txBody>
      </p:sp>
      <p:sp>
        <p:nvSpPr>
          <p:cNvPr id="29" name="Box 12"/>
          <p:cNvSpPr/>
          <p:nvPr/>
        </p:nvSpPr>
        <p:spPr>
          <a:xfrm>
            <a:off x="704088" y="19683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19151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1" name="Box 14"/>
          <p:cNvSpPr/>
          <p:nvPr/>
        </p:nvSpPr>
        <p:spPr>
          <a:xfrm>
            <a:off x="704088" y="2946273"/>
            <a:ext cx="7699248"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0327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I · Interface Segregation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04-isp/after.py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sesi-02-solid-clean-architecture/04-isp</a:t>
            </a:r>
          </a:p>
          <a:p>
            <a:pPr>
              <a:lnSpc>
                <a:spcPts val="1000"/>
              </a:lnSpc>
              <a:spcAft>
                <a:spcPts val="0"/>
              </a:spcAft>
            </a:pPr>
            <a:r>
              <a:rPr sz="775" i="0">
                <a:solidFill>
                  <a:srgbClr val="82B1FF"/>
                </a:solidFill>
                <a:latin typeface="Consolas"/>
              </a:rPr>
              <a:t>$ python after.py</a:t>
            </a:r>
          </a:p>
        </p:txBody>
      </p:sp>
      <p:pic>
        <p:nvPicPr>
          <p:cNvPr id="29" name="Image 12" descr="s02-04-isp-after.png"/>
          <p:cNvPicPr>
            <a:picLocks noChangeAspect="1"/>
          </p:cNvPicPr>
          <p:nvPr/>
        </p:nvPicPr>
        <p:blipFill>
          <a:blip r:embed="rId2"/>
          <a:stretch>
            <a:fillRect/>
          </a:stretch>
        </p:blipFill>
        <p:spPr>
          <a:xfrm>
            <a:off x="621792" y="2240280"/>
            <a:ext cx="4297680" cy="905256"/>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Interface dipecah: membaca dan menulis (baris 10-17)</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ReportService</a:t>
            </a:r>
            <a:r>
              <a:rPr sz="950" i="0" b="0">
                <a:solidFill>
                  <a:srgbClr val="434343"/>
                </a:solidFill>
                <a:latin typeface="Inter"/>
              </a:rPr>
              <a:t> hanya minta </a:t>
            </a:r>
            <a:r>
              <a:rPr sz="950" i="0" b="0">
                <a:solidFill>
                  <a:srgbClr val="B5482A"/>
                </a:solidFill>
                <a:latin typeface="Consolas"/>
              </a:rPr>
              <a:t>OrderReader</a:t>
            </a:r>
            <a:r>
              <a:rPr sz="950" i="0" b="0">
                <a:solidFill>
                  <a:srgbClr val="434343"/>
                </a:solidFill>
                <a:latin typeface="Inter"/>
              </a:rPr>
              <a:t> (baris 21)</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Fake cukup satu method (baris 28-30)</a:t>
            </a:r>
          </a:p>
          <a:p>
            <a:pPr algn="l">
              <a:lnSpc>
                <a:spcPct val="115000"/>
              </a:lnSpc>
              <a:spcAft>
                <a:spcPts val="0"/>
              </a:spcAft>
            </a:pPr>
            <a:r>
              <a:rPr sz="570"/>
              <a:t/>
            </a:r>
          </a:p>
          <a:p>
            <a:pPr algn="l">
              <a:lnSpc>
                <a:spcPct val="115000"/>
              </a:lnSpc>
              <a:spcAft>
                <a:spcPts val="400"/>
              </a:spcAft>
            </a:pPr>
            <a:r>
              <a:rPr sz="950" i="0" b="0">
                <a:solidFill>
                  <a:srgbClr val="434343"/>
                </a:solidFill>
                <a:latin typeface="Inter"/>
              </a:rPr>
              <a:t>Repository asli tetap boleh mengimplementasikan keduanya.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Dependency Inversion?</a:t>
            </a:r>
          </a:p>
        </p:txBody>
      </p:sp>
      <p:sp>
        <p:nvSpPr>
          <p:cNvPr id="22" name="Text 3"/>
          <p:cNvSpPr txBox="1"/>
          <p:nvPr/>
        </p:nvSpPr>
        <p:spPr>
          <a:xfrm>
            <a:off x="621792" y="1481328"/>
            <a:ext cx="4114800" cy="329184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Artinya</a:t>
            </a:r>
          </a:p>
          <a:p>
            <a:pPr algn="l">
              <a:lnSpc>
                <a:spcPct val="115000"/>
              </a:lnSpc>
              <a:spcAft>
                <a:spcPts val="400"/>
              </a:spcAft>
            </a:pPr>
            <a:r>
              <a:rPr sz="950" i="0" b="0">
                <a:solidFill>
                  <a:srgbClr val="434343"/>
                </a:solidFill>
                <a:latin typeface="Inter"/>
              </a:rPr>
              <a:t>Business logic (modul tingkat tinggi) tidak bergantung langsung pada detail teknis seperti SQLite atau email. Keduanya bergantung pada </a:t>
            </a:r>
            <a:r>
              <a:rPr sz="950" i="0" b="1">
                <a:solidFill>
                  <a:srgbClr val="434343"/>
                </a:solidFill>
                <a:latin typeface="Inter"/>
              </a:rPr>
              <a:t>abstraksi</a:t>
            </a:r>
            <a:r>
              <a:rPr sz="950" i="0" b="0">
                <a:solidFill>
                  <a:srgbClr val="434343"/>
                </a:solidFill>
                <a:latin typeface="Inter"/>
              </a:rPr>
              <a:t> (interface).</a:t>
            </a:r>
          </a:p>
          <a:p>
            <a:pPr algn="l">
              <a:lnSpc>
                <a:spcPct val="115000"/>
              </a:lnSpc>
              <a:spcAft>
                <a:spcPts val="400"/>
              </a:spcAft>
            </a:pPr>
            <a:r>
              <a:rPr sz="1050" i="0" b="1">
                <a:solidFill>
                  <a:srgbClr val="1C4587"/>
                </a:solidFill>
                <a:latin typeface="Inter"/>
              </a:rPr>
              <a:t>Analogi</a:t>
            </a:r>
          </a:p>
          <a:p>
            <a:pPr algn="l">
              <a:lnSpc>
                <a:spcPct val="115000"/>
              </a:lnSpc>
              <a:spcAft>
                <a:spcPts val="400"/>
              </a:spcAft>
            </a:pPr>
            <a:r>
              <a:rPr sz="950" i="0" b="0">
                <a:solidFill>
                  <a:srgbClr val="434343"/>
                </a:solidFill>
                <a:latin typeface="Inter"/>
              </a:rPr>
              <a:t>Lampu tidak disolder langsung ke kabel PLN, tapi lewat stop kontak. Lampu bisa dipindah, sumber listrik bisa diganti.</a:t>
            </a:r>
          </a:p>
          <a:p>
            <a:pPr algn="l">
              <a:lnSpc>
                <a:spcPct val="115000"/>
              </a:lnSpc>
              <a:spcAft>
                <a:spcPts val="400"/>
              </a:spcAft>
            </a:pPr>
            <a:r>
              <a:rPr sz="1050" i="0" b="1">
                <a:solidFill>
                  <a:srgbClr val="1C4587"/>
                </a:solidFill>
                <a:latin typeface="Inter"/>
              </a:rPr>
              <a:t>DIP dan Dependency Injection</a:t>
            </a:r>
          </a:p>
          <a:p>
            <a:pPr algn="l">
              <a:lnSpc>
                <a:spcPct val="115000"/>
              </a:lnSpc>
              <a:spcAft>
                <a:spcPts val="400"/>
              </a:spcAft>
            </a:pPr>
            <a:r>
              <a:rPr sz="950" i="0" b="1">
                <a:solidFill>
                  <a:srgbClr val="434343"/>
                </a:solidFill>
                <a:latin typeface="Inter"/>
              </a:rPr>
              <a:t>DIP</a:t>
            </a:r>
            <a:r>
              <a:rPr sz="950" i="0" b="0">
                <a:solidFill>
                  <a:srgbClr val="434343"/>
                </a:solidFill>
                <a:latin typeface="Inter"/>
              </a:rPr>
              <a:t> adalah prinsip: arah dependency-nya. </a:t>
            </a:r>
            <a:r>
              <a:rPr sz="950" i="0" b="1">
                <a:solidFill>
                  <a:srgbClr val="434343"/>
                </a:solidFill>
                <a:latin typeface="Inter"/>
              </a:rPr>
              <a:t>Dependency Injection</a:t>
            </a:r>
            <a:r>
              <a:rPr sz="950" i="0" b="0">
                <a:solidFill>
                  <a:srgbClr val="434343"/>
                </a:solidFill>
                <a:latin typeface="Inter"/>
              </a:rPr>
              <a:t> adalah teknik menjalankannya: dependency dikirim dari luar, misalnya lewat </a:t>
            </a:r>
            <a:r>
              <a:rPr sz="950" i="0" b="0">
                <a:solidFill>
                  <a:srgbClr val="B5482A"/>
                </a:solidFill>
                <a:latin typeface="Consolas"/>
              </a:rPr>
              <a:t>__init__</a:t>
            </a:r>
            <a:r>
              <a:rPr sz="950" i="0" b="0">
                <a:solidFill>
                  <a:srgbClr val="434343"/>
                </a:solidFill>
                <a:latin typeface="Inter"/>
              </a:rPr>
              <a:t>.</a:t>
            </a:r>
          </a:p>
        </p:txBody>
      </p:sp>
      <p:sp>
        <p:nvSpPr>
          <p:cNvPr id="23" name="Box 4"/>
          <p:cNvSpPr/>
          <p:nvPr/>
        </p:nvSpPr>
        <p:spPr>
          <a:xfrm>
            <a:off x="4892040" y="1481328"/>
            <a:ext cx="3593592" cy="960120"/>
          </a:xfrm>
          <a:prstGeom prst="roundRect">
            <a:avLst>
              <a:gd name="adj" fmla="val 11428"/>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200"/>
              </a:spcAft>
            </a:pPr>
            <a:r>
              <a:rPr sz="950" i="0" b="0">
                <a:solidFill>
                  <a:srgbClr val="434343"/>
                </a:solidFill>
                <a:latin typeface="Inter"/>
              </a:rPr>
              <a:t>"High-level modules should not depend on low-level modules. Both should depend on abstractions."</a:t>
            </a:r>
          </a:p>
          <a:p>
            <a:pPr algn="l">
              <a:lnSpc>
                <a:spcPct val="105000"/>
              </a:lnSpc>
              <a:spcAft>
                <a:spcPts val="200"/>
              </a:spcAft>
            </a:pPr>
            <a:r>
              <a:rPr sz="950" i="0" b="0">
                <a:solidFill>
                  <a:srgbClr val="434343"/>
                </a:solidFill>
                <a:latin typeface="Inter"/>
              </a:rPr>
              <a:t>Robert C. Martin</a:t>
            </a:r>
          </a:p>
        </p:txBody>
      </p:sp>
      <p:sp>
        <p:nvSpPr>
          <p:cNvPr id="24" name="Box 5"/>
          <p:cNvSpPr/>
          <p:nvPr/>
        </p:nvSpPr>
        <p:spPr>
          <a:xfrm>
            <a:off x="4892040" y="2560320"/>
            <a:ext cx="3593592" cy="1600200"/>
          </a:xfrm>
          <a:prstGeom prst="roundRect">
            <a:avLst>
              <a:gd name="adj" fmla="val 6857"/>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5" name="Text 6"/>
          <p:cNvSpPr txBox="1"/>
          <p:nvPr/>
        </p:nvSpPr>
        <p:spPr>
          <a:xfrm>
            <a:off x="5029200" y="2651760"/>
            <a:ext cx="3319272" cy="310896"/>
          </a:xfrm>
          <a:prstGeom prst="rect">
            <a:avLst/>
          </a:prstGeom>
          <a:noFill/>
        </p:spPr>
        <p:txBody>
          <a:bodyPr wrap="square" anchor="t" lIns="45720" rIns="45720">
            <a:spAutoFit/>
          </a:bodyPr>
          <a:lstStyle/>
          <a:p>
            <a:pPr algn="l">
              <a:lnSpc>
                <a:spcPct val="115000"/>
              </a:lnSpc>
              <a:spcAft>
                <a:spcPts val="400"/>
              </a:spcAft>
            </a:pPr>
            <a:r>
              <a:rPr sz="1050" i="0" b="1">
                <a:solidFill>
                  <a:srgbClr val="C0392B"/>
                </a:solidFill>
                <a:latin typeface="Inter"/>
              </a:rPr>
              <a:t>Code smell yang dicari</a:t>
            </a:r>
          </a:p>
        </p:txBody>
      </p:sp>
      <p:sp>
        <p:nvSpPr>
          <p:cNvPr id="26" name="Text 7"/>
          <p:cNvSpPr txBox="1"/>
          <p:nvPr/>
        </p:nvSpPr>
        <p:spPr>
          <a:xfrm>
            <a:off x="5029200" y="2971800"/>
            <a:ext cx="3319272" cy="109728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900" i="0" b="0">
                <a:solidFill>
                  <a:srgbClr val="B5482A"/>
                </a:solidFill>
                <a:latin typeface="Consolas"/>
              </a:rPr>
              <a:t>self.repo = SqliteOrderRepository()</a:t>
            </a:r>
            <a:r>
              <a:rPr sz="900" i="0" b="0">
                <a:solidFill>
                  <a:srgbClr val="434343"/>
                </a:solidFill>
                <a:latin typeface="Inter"/>
              </a:rPr>
              <a:t> di dalam </a:t>
            </a:r>
            <a:r>
              <a:rPr sz="900" i="0" b="0">
                <a:solidFill>
                  <a:srgbClr val="B5482A"/>
                </a:solidFill>
                <a:latin typeface="Consolas"/>
              </a:rPr>
              <a:t>__init__</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Service meng-import library database</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Tidak bisa test tanpa database asli</a:t>
            </a:r>
          </a:p>
        </p:txBody>
      </p:sp>
      <p:sp>
        <p:nvSpPr>
          <p:cNvPr id="27" name="Text 8"/>
          <p:cNvSpPr txBox="1"/>
          <p:nvPr/>
        </p:nvSpPr>
        <p:spPr>
          <a:xfrm>
            <a:off x="4892040" y="4251960"/>
            <a:ext cx="3593592" cy="457200"/>
          </a:xfrm>
          <a:prstGeom prst="rect">
            <a:avLst/>
          </a:prstGeom>
          <a:noFill/>
        </p:spPr>
        <p:txBody>
          <a:bodyPr wrap="square" anchor="t" lIns="45720" rIns="45720">
            <a:spAutoFit/>
          </a:bodyPr>
          <a:lstStyle/>
          <a:p>
            <a:pPr algn="l">
              <a:lnSpc>
                <a:spcPct val="115000"/>
              </a:lnSpc>
              <a:spcAft>
                <a:spcPts val="400"/>
              </a:spcAft>
            </a:pPr>
            <a:r>
              <a:rPr sz="900" i="0" b="0">
                <a:solidFill>
                  <a:srgbClr val="7A7A7A"/>
                </a:solidFill>
                <a:latin typeface="Inter"/>
              </a:rPr>
              <a:t>Di Sesi 1, repository sudah dikirim dari luar ke </a:t>
            </a:r>
            <a:r>
              <a:rPr sz="900" i="0" b="0">
                <a:solidFill>
                  <a:srgbClr val="B5482A"/>
                </a:solidFill>
                <a:latin typeface="Consolas"/>
              </a:rPr>
              <a:t>OrderService</a:t>
            </a:r>
            <a:r>
              <a:rPr sz="900" i="0" b="0">
                <a:solidFill>
                  <a:srgbClr val="7A7A7A"/>
                </a:solidFill>
                <a:latin typeface="Inter"/>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Service Membuat Dependency Sendiri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05-dip/before.py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 7  </a:t>
            </a:r>
            <a:r>
              <a:rPr sz="850" i="0">
                <a:solidFill>
                  <a:srgbClr val="FF8E6E"/>
                </a:solidFill>
                <a:latin typeface="Consolas"/>
              </a:rPr>
              <a:t>import</a:t>
            </a:r>
            <a:r>
              <a:rPr sz="850" i="0">
                <a:solidFill>
                  <a:srgbClr val="E6EDF3"/>
                </a:solidFill>
                <a:latin typeface="Consolas"/>
              </a:rPr>
              <a:t> </a:t>
            </a:r>
            <a:r>
              <a:rPr sz="850" i="0">
                <a:solidFill>
                  <a:srgbClr val="E6EDF3"/>
                </a:solidFill>
                <a:latin typeface="Consolas"/>
              </a:rPr>
              <a:t>sqlite3</a:t>
            </a:r>
          </a:p>
          <a:p>
            <a:pPr>
              <a:lnSpc>
                <a:spcPts val="1100"/>
              </a:lnSpc>
              <a:spcAft>
                <a:spcPts val="0"/>
              </a:spcAft>
            </a:pPr>
            <a:r>
              <a:rPr sz="850" i="0">
                <a:solidFill>
                  <a:srgbClr val="5C6773"/>
                </a:solidFill>
                <a:latin typeface="Consolas"/>
              </a:rPr>
              <a:t> 8  </a:t>
            </a:r>
            <a:r>
              <a:rPr sz="850" i="0">
                <a:solidFill>
                  <a:srgbClr val="E6EDF3"/>
                </a:solidFill>
                <a:latin typeface="Consolas"/>
              </a:rPr>
              <a:t> </a:t>
            </a:r>
          </a:p>
          <a:p>
            <a:pPr>
              <a:lnSpc>
                <a:spcPts val="1100"/>
              </a:lnSpc>
              <a:spcAft>
                <a:spcPts val="0"/>
              </a:spcAft>
            </a:pPr>
            <a:r>
              <a:rPr sz="850" i="0">
                <a:solidFill>
                  <a:srgbClr val="5C6773"/>
                </a:solidFill>
                <a:latin typeface="Consolas"/>
              </a:rPr>
              <a:t> 9  </a:t>
            </a:r>
            <a:r>
              <a:rPr sz="850" i="0">
                <a:solidFill>
                  <a:srgbClr val="E6EDF3"/>
                </a:solidFill>
                <a:latin typeface="Consolas"/>
              </a:rPr>
              <a:t> </a:t>
            </a:r>
          </a:p>
          <a:p>
            <a:pPr>
              <a:lnSpc>
                <a:spcPts val="1100"/>
              </a:lnSpc>
              <a:spcAft>
                <a:spcPts val="0"/>
              </a:spcAft>
            </a:pPr>
            <a:r>
              <a:rPr sz="850" i="0">
                <a:solidFill>
                  <a:srgbClr val="5C6773"/>
                </a:solidFill>
                <a:latin typeface="Consolas"/>
              </a:rPr>
              <a:t>10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SqliteOrderRepository</a:t>
            </a:r>
            <a:r>
              <a:rPr sz="850" i="0">
                <a:solidFill>
                  <a:srgbClr val="E6EDF3"/>
                </a:solidFill>
                <a:latin typeface="Consolas"/>
              </a:rPr>
              <a:t>:</a:t>
            </a:r>
          </a:p>
          <a:p>
            <a:pPr>
              <a:lnSpc>
                <a:spcPts val="1100"/>
              </a:lnSpc>
              <a:spcAft>
                <a:spcPts val="0"/>
              </a:spcAft>
            </a:pPr>
            <a:r>
              <a:rPr sz="850" i="0">
                <a:solidFill>
                  <a:srgbClr val="5C6773"/>
                </a:solidFill>
                <a:latin typeface="Consolas"/>
              </a:rPr>
              <a:t>11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12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conn</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sqlite3</a:t>
            </a:r>
            <a:r>
              <a:rPr sz="850" i="0">
                <a:solidFill>
                  <a:srgbClr val="E6EDF3"/>
                </a:solidFill>
                <a:latin typeface="Consolas"/>
              </a:rPr>
              <a:t>.</a:t>
            </a:r>
            <a:r>
              <a:rPr sz="850" i="0">
                <a:solidFill>
                  <a:srgbClr val="E6EDF3"/>
                </a:solidFill>
                <a:latin typeface="Consolas"/>
              </a:rPr>
              <a:t>connect</a:t>
            </a:r>
            <a:r>
              <a:rPr sz="850" i="0">
                <a:solidFill>
                  <a:srgbClr val="E6EDF3"/>
                </a:solidFill>
                <a:latin typeface="Consolas"/>
              </a:rPr>
              <a:t>(</a:t>
            </a:r>
            <a:r>
              <a:rPr sz="850" i="0">
                <a:solidFill>
                  <a:srgbClr val="A5D6A7"/>
                </a:solidFill>
                <a:latin typeface="Consolas"/>
              </a:rPr>
              <a:t>"orders.db"</a:t>
            </a:r>
            <a:r>
              <a:rPr sz="850" i="0">
                <a:solidFill>
                  <a:srgbClr val="E6EDF3"/>
                </a:solidFill>
                <a:latin typeface="Consolas"/>
              </a:rPr>
              <a:t>)</a:t>
            </a:r>
          </a:p>
          <a:p>
            <a:pPr>
              <a:lnSpc>
                <a:spcPts val="1100"/>
              </a:lnSpc>
              <a:spcAft>
                <a:spcPts val="0"/>
              </a:spcAft>
            </a:pPr>
            <a:r>
              <a:rPr sz="850" i="0">
                <a:solidFill>
                  <a:srgbClr val="5C6773"/>
                </a:solidFill>
                <a:latin typeface="Consolas"/>
              </a:rPr>
              <a:t>13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conn</a:t>
            </a:r>
            <a:r>
              <a:rPr sz="850" i="0">
                <a:solidFill>
                  <a:srgbClr val="E6EDF3"/>
                </a:solidFill>
                <a:latin typeface="Consolas"/>
              </a:rPr>
              <a:t>.</a:t>
            </a:r>
            <a:r>
              <a:rPr sz="850" i="0">
                <a:solidFill>
                  <a:srgbClr val="E6EDF3"/>
                </a:solidFill>
                <a:latin typeface="Consolas"/>
              </a:rPr>
              <a:t>execute</a:t>
            </a:r>
            <a:r>
              <a:rPr sz="850" i="0">
                <a:solidFill>
                  <a:srgbClr val="E6EDF3"/>
                </a:solidFill>
                <a:latin typeface="Consolas"/>
              </a:rPr>
              <a:t>(</a:t>
            </a:r>
          </a:p>
          <a:p>
            <a:pPr>
              <a:lnSpc>
                <a:spcPts val="1100"/>
              </a:lnSpc>
              <a:spcAft>
                <a:spcPts val="0"/>
              </a:spcAft>
            </a:pPr>
            <a:r>
              <a:rPr sz="850" i="0">
                <a:solidFill>
                  <a:srgbClr val="5C6773"/>
                </a:solidFill>
                <a:latin typeface="Consolas"/>
              </a:rPr>
              <a:t>14  </a:t>
            </a:r>
            <a:r>
              <a:rPr sz="850" i="0">
                <a:solidFill>
                  <a:srgbClr val="E6EDF3"/>
                </a:solidFill>
                <a:latin typeface="Consolas"/>
              </a:rPr>
              <a:t>            </a:t>
            </a:r>
            <a:r>
              <a:rPr sz="850" i="0">
                <a:solidFill>
                  <a:srgbClr val="A5D6A7"/>
                </a:solidFill>
                <a:latin typeface="Consolas"/>
              </a:rPr>
              <a:t>"CREATE TABLE IF NOT EXISTS orders "</a:t>
            </a:r>
          </a:p>
          <a:p>
            <a:pPr>
              <a:lnSpc>
                <a:spcPts val="1100"/>
              </a:lnSpc>
              <a:spcAft>
                <a:spcPts val="0"/>
              </a:spcAft>
            </a:pPr>
            <a:r>
              <a:rPr sz="850" i="0">
                <a:solidFill>
                  <a:srgbClr val="5C6773"/>
                </a:solidFill>
                <a:latin typeface="Consolas"/>
              </a:rPr>
              <a:t>15  </a:t>
            </a:r>
            <a:r>
              <a:rPr sz="850" i="0">
                <a:solidFill>
                  <a:srgbClr val="E6EDF3"/>
                </a:solidFill>
                <a:latin typeface="Consolas"/>
              </a:rPr>
              <a:t>            </a:t>
            </a:r>
            <a:r>
              <a:rPr sz="850" i="0">
                <a:solidFill>
                  <a:srgbClr val="A5D6A7"/>
                </a:solidFill>
                <a:latin typeface="Consolas"/>
              </a:rPr>
              <a:t>"(id INTEGER PRIMARY KEY, customer TEXT, total INTEGER)"</a:t>
            </a:r>
          </a:p>
          <a:p>
            <a:pPr>
              <a:lnSpc>
                <a:spcPts val="1100"/>
              </a:lnSpc>
              <a:spcAft>
                <a:spcPts val="0"/>
              </a:spcAft>
            </a:pPr>
            <a:r>
              <a:rPr sz="850" i="0">
                <a:solidFill>
                  <a:srgbClr val="5C6773"/>
                </a:solidFill>
                <a:latin typeface="Consolas"/>
              </a:rPr>
              <a:t>16  </a:t>
            </a:r>
            <a:r>
              <a:rPr sz="850" i="0">
                <a:solidFill>
                  <a:srgbClr val="E6EDF3"/>
                </a:solidFill>
                <a:latin typeface="Consolas"/>
              </a:rPr>
              <a:t>        </a:t>
            </a:r>
            <a:r>
              <a:rPr sz="850" i="0">
                <a:solidFill>
                  <a:srgbClr val="E6EDF3"/>
                </a:solidFill>
                <a:latin typeface="Consolas"/>
              </a:rPr>
              <a:t>)</a:t>
            </a:r>
          </a:p>
          <a:p>
            <a:pPr>
              <a:lnSpc>
                <a:spcPts val="1100"/>
              </a:lnSpc>
              <a:spcAft>
                <a:spcPts val="0"/>
              </a:spcAft>
            </a:pPr>
            <a:r>
              <a:rPr sz="850" i="0">
                <a:solidFill>
                  <a:srgbClr val="5C6773"/>
                </a:solidFill>
                <a:latin typeface="Consolas"/>
              </a:rPr>
              <a:t>17  </a:t>
            </a:r>
            <a:r>
              <a:rPr sz="850" i="0">
                <a:solidFill>
                  <a:srgbClr val="E6EDF3"/>
                </a:solidFill>
                <a:latin typeface="Consolas"/>
              </a:rPr>
              <a:t> </a:t>
            </a:r>
          </a:p>
          <a:p>
            <a:pPr>
              <a:lnSpc>
                <a:spcPts val="1100"/>
              </a:lnSpc>
              <a:spcAft>
                <a:spcPts val="0"/>
              </a:spcAft>
            </a:pPr>
            <a:r>
              <a:rPr sz="850" i="0">
                <a:solidFill>
                  <a:srgbClr val="5C6773"/>
                </a:solidFill>
                <a:latin typeface="Consolas"/>
              </a:rPr>
              <a:t>18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19  </a:t>
            </a:r>
            <a:r>
              <a:rPr sz="850" i="0">
                <a:solidFill>
                  <a:srgbClr val="E6EDF3"/>
                </a:solidFill>
                <a:latin typeface="Consolas"/>
              </a:rPr>
              <a:t>        </a:t>
            </a:r>
            <a:r>
              <a:rPr sz="850" i="0">
                <a:solidFill>
                  <a:srgbClr val="E6EDF3"/>
                </a:solidFill>
                <a:latin typeface="Consolas"/>
              </a:rPr>
              <a:t>cur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conn</a:t>
            </a:r>
            <a:r>
              <a:rPr sz="850" i="0">
                <a:solidFill>
                  <a:srgbClr val="E6EDF3"/>
                </a:solidFill>
                <a:latin typeface="Consolas"/>
              </a:rPr>
              <a:t>.</a:t>
            </a:r>
            <a:r>
              <a:rPr sz="850" i="0">
                <a:solidFill>
                  <a:srgbClr val="E6EDF3"/>
                </a:solidFill>
                <a:latin typeface="Consolas"/>
              </a:rPr>
              <a:t>execute</a:t>
            </a:r>
            <a:r>
              <a:rPr sz="850" i="0">
                <a:solidFill>
                  <a:srgbClr val="E6EDF3"/>
                </a:solidFill>
                <a:latin typeface="Consolas"/>
              </a:rPr>
              <a:t>(</a:t>
            </a:r>
          </a:p>
          <a:p>
            <a:pPr>
              <a:lnSpc>
                <a:spcPts val="1100"/>
              </a:lnSpc>
              <a:spcAft>
                <a:spcPts val="0"/>
              </a:spcAft>
            </a:pPr>
            <a:r>
              <a:rPr sz="850" i="0">
                <a:solidFill>
                  <a:srgbClr val="5C6773"/>
                </a:solidFill>
                <a:latin typeface="Consolas"/>
              </a:rPr>
              <a:t>20  </a:t>
            </a:r>
            <a:r>
              <a:rPr sz="850" i="0">
                <a:solidFill>
                  <a:srgbClr val="E6EDF3"/>
                </a:solidFill>
                <a:latin typeface="Consolas"/>
              </a:rPr>
              <a:t>            </a:t>
            </a:r>
            <a:r>
              <a:rPr sz="850" i="0">
                <a:solidFill>
                  <a:srgbClr val="A5D6A7"/>
                </a:solidFill>
                <a:latin typeface="Consolas"/>
              </a:rPr>
              <a:t>"INSERT INTO orders (customer, total) VALUES (?, ?)"</a:t>
            </a:r>
            <a:r>
              <a:rPr sz="850" i="0">
                <a:solidFill>
                  <a:srgbClr val="E6EDF3"/>
                </a:solidFill>
                <a:latin typeface="Consolas"/>
              </a:rPr>
              <a:t>,</a:t>
            </a:r>
          </a:p>
          <a:p>
            <a:pPr>
              <a:lnSpc>
                <a:spcPts val="1100"/>
              </a:lnSpc>
              <a:spcAft>
                <a:spcPts val="0"/>
              </a:spcAft>
            </a:pPr>
            <a:r>
              <a:rPr sz="850" i="0">
                <a:solidFill>
                  <a:srgbClr val="5C6773"/>
                </a:solidFill>
                <a:latin typeface="Consolas"/>
              </a:rPr>
              <a:t>21  </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0">
                <a:solidFill>
                  <a:srgbClr val="E6EDF3"/>
                </a:solidFill>
                <a:latin typeface="Consolas"/>
              </a:rPr>
              <a:t>)</a:t>
            </a:r>
          </a:p>
          <a:p>
            <a:pPr>
              <a:lnSpc>
                <a:spcPts val="1100"/>
              </a:lnSpc>
              <a:spcAft>
                <a:spcPts val="0"/>
              </a:spcAft>
            </a:pPr>
            <a:r>
              <a:rPr sz="850" i="0">
                <a:solidFill>
                  <a:srgbClr val="5C6773"/>
                </a:solidFill>
                <a:latin typeface="Consolas"/>
              </a:rPr>
              <a:t>23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conn</a:t>
            </a:r>
            <a:r>
              <a:rPr sz="850" i="0">
                <a:solidFill>
                  <a:srgbClr val="E6EDF3"/>
                </a:solidFill>
                <a:latin typeface="Consolas"/>
              </a:rPr>
              <a:t>.</a:t>
            </a:r>
            <a:r>
              <a:rPr sz="850" i="0">
                <a:solidFill>
                  <a:srgbClr val="E6EDF3"/>
                </a:solidFill>
                <a:latin typeface="Consolas"/>
              </a:rPr>
              <a:t>commit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24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cur</a:t>
            </a:r>
            <a:r>
              <a:rPr sz="850" i="0">
                <a:solidFill>
                  <a:srgbClr val="E6EDF3"/>
                </a:solidFill>
                <a:latin typeface="Consolas"/>
              </a:rPr>
              <a:t>.</a:t>
            </a:r>
            <a:r>
              <a:rPr sz="850" i="0">
                <a:solidFill>
                  <a:srgbClr val="E6EDF3"/>
                </a:solidFill>
                <a:latin typeface="Consolas"/>
              </a:rPr>
              <a:t>lastrowid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Service Membuat Dependency Sendiri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05-dip/before.py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27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EmailNotifier</a:t>
            </a:r>
            <a:r>
              <a:rPr sz="850" i="0">
                <a:solidFill>
                  <a:srgbClr val="E6EDF3"/>
                </a:solidFill>
                <a:latin typeface="Consolas"/>
              </a:rPr>
              <a:t>:</a:t>
            </a:r>
          </a:p>
          <a:p>
            <a:pPr>
              <a:lnSpc>
                <a:spcPts val="1100"/>
              </a:lnSpc>
              <a:spcAft>
                <a:spcPts val="0"/>
              </a:spcAft>
            </a:pPr>
            <a:r>
              <a:rPr sz="850" i="0">
                <a:solidFill>
                  <a:srgbClr val="5C6773"/>
                </a:solidFill>
                <a:latin typeface="Consolas"/>
              </a:rPr>
              <a:t>28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send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message</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p>
          <a:p>
            <a:pPr>
              <a:lnSpc>
                <a:spcPts val="1100"/>
              </a:lnSpc>
              <a:spcAft>
                <a:spcPts val="0"/>
              </a:spcAft>
            </a:pPr>
            <a:r>
              <a:rPr sz="850" i="0">
                <a:solidFill>
                  <a:srgbClr val="5C6773"/>
                </a:solidFill>
                <a:latin typeface="Consolas"/>
              </a:rPr>
              <a:t>29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A5D6A7"/>
                </a:solidFill>
                <a:latin typeface="Consolas"/>
              </a:rPr>
              <a:t>f"[EMAIL] ke {to}: {message}"</a:t>
            </a:r>
            <a:r>
              <a:rPr sz="850" i="0">
                <a:solidFill>
                  <a:srgbClr val="E6EDF3"/>
                </a:solidFill>
                <a:latin typeface="Consolas"/>
              </a:rPr>
              <a:t>)</a:t>
            </a:r>
          </a:p>
          <a:p>
            <a:pPr>
              <a:lnSpc>
                <a:spcPts val="1100"/>
              </a:lnSpc>
              <a:spcAft>
                <a:spcPts val="0"/>
              </a:spcAft>
            </a:pPr>
            <a:r>
              <a:rPr sz="850" i="0">
                <a:solidFill>
                  <a:srgbClr val="5C6773"/>
                </a:solidFill>
                <a:latin typeface="Consolas"/>
              </a:rPr>
              <a:t>30  </a:t>
            </a:r>
            <a:r>
              <a:rPr sz="850" i="0">
                <a:solidFill>
                  <a:srgbClr val="E6EDF3"/>
                </a:solidFill>
                <a:latin typeface="Consolas"/>
              </a:rPr>
              <a:t> </a:t>
            </a:r>
          </a:p>
          <a:p>
            <a:pPr>
              <a:lnSpc>
                <a:spcPts val="1100"/>
              </a:lnSpc>
              <a:spcAft>
                <a:spcPts val="0"/>
              </a:spcAft>
            </a:pPr>
            <a:r>
              <a:rPr sz="850" i="0">
                <a:solidFill>
                  <a:srgbClr val="5C6773"/>
                </a:solidFill>
                <a:latin typeface="Consolas"/>
              </a:rPr>
              <a:t>31  </a:t>
            </a:r>
            <a:r>
              <a:rPr sz="850" i="0">
                <a:solidFill>
                  <a:srgbClr val="E6EDF3"/>
                </a:solidFill>
                <a:latin typeface="Consolas"/>
              </a:rPr>
              <a:t> </a:t>
            </a:r>
          </a:p>
          <a:p>
            <a:pPr>
              <a:lnSpc>
                <a:spcPts val="1100"/>
              </a:lnSpc>
              <a:spcAft>
                <a:spcPts val="0"/>
              </a:spcAft>
            </a:pPr>
            <a:r>
              <a:rPr sz="850" i="0">
                <a:solidFill>
                  <a:srgbClr val="5C6773"/>
                </a:solidFill>
                <a:latin typeface="Consolas"/>
              </a:rPr>
              <a:t>32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p>
          <a:p>
            <a:pPr>
              <a:lnSpc>
                <a:spcPts val="1100"/>
              </a:lnSpc>
              <a:spcAft>
                <a:spcPts val="0"/>
              </a:spcAft>
            </a:pPr>
            <a:r>
              <a:rPr sz="850" i="0">
                <a:solidFill>
                  <a:srgbClr val="5C6773"/>
                </a:solidFill>
                <a:latin typeface="Consolas"/>
              </a:rPr>
              <a:t>33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34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SqliteOrderRepository</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1">
                <a:solidFill>
                  <a:srgbClr val="8B98A8"/>
                </a:solidFill>
                <a:latin typeface="Consolas"/>
              </a:rPr>
              <a:t># terikat ke SQLite</a:t>
            </a:r>
          </a:p>
          <a:p>
            <a:pPr>
              <a:lnSpc>
                <a:spcPts val="1100"/>
              </a:lnSpc>
              <a:spcAft>
                <a:spcPts val="0"/>
              </a:spcAft>
            </a:pPr>
            <a:r>
              <a:rPr sz="850" i="0">
                <a:solidFill>
                  <a:srgbClr val="5C6773"/>
                </a:solidFill>
                <a:latin typeface="Consolas"/>
              </a:rPr>
              <a:t>35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notifier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EmailNotifier</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1">
                <a:solidFill>
                  <a:srgbClr val="8B98A8"/>
                </a:solidFill>
                <a:latin typeface="Consolas"/>
              </a:rPr>
              <a:t># terikat ke email</a:t>
            </a:r>
          </a:p>
          <a:p>
            <a:pPr>
              <a:lnSpc>
                <a:spcPts val="1100"/>
              </a:lnSpc>
              <a:spcAft>
                <a:spcPts val="0"/>
              </a:spcAft>
            </a:pPr>
            <a:r>
              <a:rPr sz="850" i="0">
                <a:solidFill>
                  <a:srgbClr val="5C6773"/>
                </a:solidFill>
                <a:latin typeface="Consolas"/>
              </a:rPr>
              <a:t>36  </a:t>
            </a:r>
            <a:r>
              <a:rPr sz="850" i="0">
                <a:solidFill>
                  <a:srgbClr val="E6EDF3"/>
                </a:solidFill>
                <a:latin typeface="Consolas"/>
              </a:rPr>
              <a:t> </a:t>
            </a:r>
          </a:p>
          <a:p>
            <a:pPr>
              <a:lnSpc>
                <a:spcPts val="1100"/>
              </a:lnSpc>
              <a:spcAft>
                <a:spcPts val="0"/>
              </a:spcAft>
            </a:pPr>
            <a:r>
              <a:rPr sz="850" i="0">
                <a:solidFill>
                  <a:srgbClr val="5C6773"/>
                </a:solidFill>
                <a:latin typeface="Consolas"/>
              </a:rPr>
              <a:t>37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place_order</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38  </a:t>
            </a:r>
            <a:r>
              <a:rPr sz="850" i="0">
                <a:solidFill>
                  <a:srgbClr val="E6EDF3"/>
                </a:solidFill>
                <a:latin typeface="Consolas"/>
              </a:rPr>
              <a:t>        </a:t>
            </a:r>
            <a:r>
              <a:rPr sz="850" i="0">
                <a:solidFill>
                  <a:srgbClr val="E6EDF3"/>
                </a:solidFill>
                <a:latin typeface="Consolas"/>
              </a:rPr>
              <a:t>order_id</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a:t>
            </a:r>
            <a:r>
              <a:rPr sz="850" i="0">
                <a:solidFill>
                  <a:srgbClr val="E6EDF3"/>
                </a:solidFill>
                <a:latin typeface="Consolas"/>
              </a:rPr>
              <a:t>add</a:t>
            </a:r>
            <a:r>
              <a:rPr sz="850" i="0">
                <a:solidFill>
                  <a:srgbClr val="E6EDF3"/>
                </a:solidFill>
                <a:latin typeface="Consolas"/>
              </a:rPr>
              <a:t>(</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p>
          <a:p>
            <a:pPr>
              <a:lnSpc>
                <a:spcPts val="1100"/>
              </a:lnSpc>
              <a:spcAft>
                <a:spcPts val="0"/>
              </a:spcAft>
            </a:pPr>
            <a:r>
              <a:rPr sz="850" i="0">
                <a:solidFill>
                  <a:srgbClr val="5C6773"/>
                </a:solidFill>
                <a:latin typeface="Consolas"/>
              </a:rPr>
              <a:t>39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notifier</a:t>
            </a:r>
            <a:r>
              <a:rPr sz="850" i="0">
                <a:solidFill>
                  <a:srgbClr val="E6EDF3"/>
                </a:solidFill>
                <a:latin typeface="Consolas"/>
              </a:rPr>
              <a:t>.</a:t>
            </a:r>
            <a:r>
              <a:rPr sz="850" i="0">
                <a:solidFill>
                  <a:srgbClr val="E6EDF3"/>
                </a:solidFill>
                <a:latin typeface="Consolas"/>
              </a:rPr>
              <a:t>send</a:t>
            </a:r>
            <a:r>
              <a:rPr sz="850" i="0">
                <a:solidFill>
                  <a:srgbClr val="E6EDF3"/>
                </a:solidFill>
                <a:latin typeface="Consolas"/>
              </a:rPr>
              <a:t>(</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f"Order #{order_id} dibuat"</a:t>
            </a:r>
            <a:r>
              <a:rPr sz="850" i="0">
                <a:solidFill>
                  <a:srgbClr val="E6EDF3"/>
                </a:solidFill>
                <a:latin typeface="Consolas"/>
              </a:rPr>
              <a:t>)</a:t>
            </a:r>
          </a:p>
          <a:p>
            <a:pPr>
              <a:lnSpc>
                <a:spcPts val="1100"/>
              </a:lnSpc>
              <a:spcAft>
                <a:spcPts val="0"/>
              </a:spcAft>
            </a:pPr>
            <a:r>
              <a:rPr sz="850" i="0">
                <a:solidFill>
                  <a:srgbClr val="5C6773"/>
                </a:solidFill>
                <a:latin typeface="Consolas"/>
              </a:rPr>
              <a:t>40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order_id</a:t>
            </a:r>
          </a:p>
          <a:p>
            <a:pPr>
              <a:lnSpc>
                <a:spcPts val="1100"/>
              </a:lnSpc>
              <a:spcAft>
                <a:spcPts val="0"/>
              </a:spcAft>
            </a:pPr>
            <a:r>
              <a:rPr sz="850" i="0">
                <a:solidFill>
                  <a:srgbClr val="5C6773"/>
                </a:solidFill>
                <a:latin typeface="Consolas"/>
              </a:rPr>
              <a:t>41  </a:t>
            </a:r>
            <a:r>
              <a:rPr sz="850" i="0">
                <a:solidFill>
                  <a:srgbClr val="E6EDF3"/>
                </a:solidFill>
                <a:latin typeface="Consolas"/>
              </a:rPr>
              <a:t> </a:t>
            </a:r>
          </a:p>
          <a:p>
            <a:pPr>
              <a:lnSpc>
                <a:spcPts val="1100"/>
              </a:lnSpc>
              <a:spcAft>
                <a:spcPts val="0"/>
              </a:spcAft>
            </a:pPr>
            <a:r>
              <a:rPr sz="850" i="0">
                <a:solidFill>
                  <a:srgbClr val="5C6773"/>
                </a:solidFill>
                <a:latin typeface="Consolas"/>
              </a:rPr>
              <a:t>42  </a:t>
            </a:r>
            <a:r>
              <a:rPr sz="850" i="0">
                <a:solidFill>
                  <a:srgbClr val="E6EDF3"/>
                </a:solidFill>
                <a:latin typeface="Consolas"/>
              </a:rPr>
              <a:t> </a:t>
            </a:r>
          </a:p>
          <a:p>
            <a:pPr>
              <a:lnSpc>
                <a:spcPts val="1100"/>
              </a:lnSpc>
              <a:spcAft>
                <a:spcPts val="0"/>
              </a:spcAft>
            </a:pPr>
            <a:r>
              <a:rPr sz="850" i="0">
                <a:solidFill>
                  <a:srgbClr val="5C6773"/>
                </a:solidFill>
                <a:latin typeface="Consolas"/>
              </a:rPr>
              <a:t>43  </a:t>
            </a:r>
            <a:r>
              <a:rPr sz="850" i="0">
                <a:solidFill>
                  <a:srgbClr val="FF8E6E"/>
                </a:solidFill>
                <a:latin typeface="Consolas"/>
              </a:rPr>
              <a:t>if</a:t>
            </a:r>
            <a:r>
              <a:rPr sz="850" i="0">
                <a:solidFill>
                  <a:srgbClr val="E6EDF3"/>
                </a:solidFill>
                <a:latin typeface="Consolas"/>
              </a:rPr>
              <a:t> </a:t>
            </a:r>
            <a:r>
              <a:rPr sz="850" i="0">
                <a:solidFill>
                  <a:srgbClr val="E6EDF3"/>
                </a:solidFill>
                <a:latin typeface="Consolas"/>
              </a:rPr>
              <a:t>__name__</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"__main__"</a:t>
            </a:r>
            <a:r>
              <a:rPr sz="850" i="0">
                <a:solidFill>
                  <a:srgbClr val="E6EDF3"/>
                </a:solidFill>
                <a:latin typeface="Consolas"/>
              </a:rPr>
              <a:t>:</a:t>
            </a:r>
          </a:p>
          <a:p>
            <a:pPr>
              <a:lnSpc>
                <a:spcPts val="1100"/>
              </a:lnSpc>
              <a:spcAft>
                <a:spcPts val="0"/>
              </a:spcAft>
            </a:pPr>
            <a:r>
              <a:rPr sz="850" i="0">
                <a:solidFill>
                  <a:srgbClr val="5C6773"/>
                </a:solidFill>
                <a:latin typeface="Consolas"/>
              </a:rPr>
              <a:t>44  </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place_order</a:t>
            </a:r>
            <a:r>
              <a:rPr sz="850" i="0">
                <a:solidFill>
                  <a:srgbClr val="E6EDF3"/>
                </a:solidFill>
                <a:latin typeface="Consolas"/>
              </a:rPr>
              <a:t>(</a:t>
            </a:r>
            <a:r>
              <a:rPr sz="850" i="0">
                <a:solidFill>
                  <a:srgbClr val="A5D6A7"/>
                </a:solidFill>
                <a:latin typeface="Consolas"/>
              </a:rPr>
              <a:t>"budi@mail.com"</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150_000</a:t>
            </a:r>
            <a:r>
              <a:rPr sz="850" i="0">
                <a:solidFill>
                  <a:srgbClr val="E6EDF3"/>
                </a:solidFill>
                <a:latin typeface="Consolas"/>
              </a:rPr>
              <a:t>)</a:t>
            </a:r>
          </a:p>
        </p:txBody>
      </p:sp>
      <p:sp>
        <p:nvSpPr>
          <p:cNvPr id="29" name="Box 12"/>
          <p:cNvSpPr/>
          <p:nvPr/>
        </p:nvSpPr>
        <p:spPr>
          <a:xfrm>
            <a:off x="704088" y="2806573"/>
            <a:ext cx="7699248"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82321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4203573"/>
            <a:ext cx="7699248"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41503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05-dip/before.py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sesi-02-solid-clean-architecture/05-dip</a:t>
            </a:r>
          </a:p>
          <a:p>
            <a:pPr>
              <a:lnSpc>
                <a:spcPts val="1000"/>
              </a:lnSpc>
              <a:spcAft>
                <a:spcPts val="0"/>
              </a:spcAft>
            </a:pPr>
            <a:r>
              <a:rPr sz="775" i="0">
                <a:solidFill>
                  <a:srgbClr val="82B1FF"/>
                </a:solidFill>
                <a:latin typeface="Consolas"/>
              </a:rPr>
              <a:t>$ python before.py</a:t>
            </a:r>
          </a:p>
        </p:txBody>
      </p:sp>
      <p:pic>
        <p:nvPicPr>
          <p:cNvPr id="29" name="Image 12" descr="s02-05-dip-before.png"/>
          <p:cNvPicPr>
            <a:picLocks noChangeAspect="1"/>
          </p:cNvPicPr>
          <p:nvPr/>
        </p:nvPicPr>
        <p:blipFill>
          <a:blip r:embed="rId2"/>
          <a:stretch>
            <a:fillRect/>
          </a:stretch>
        </p:blipFill>
        <p:spPr>
          <a:xfrm>
            <a:off x="621792" y="2240280"/>
            <a:ext cx="4297680" cy="905256"/>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OrderService</a:t>
            </a:r>
            <a:r>
              <a:rPr sz="950" i="0" b="0">
                <a:solidFill>
                  <a:srgbClr val="434343"/>
                </a:solidFill>
                <a:latin typeface="Inter"/>
              </a:rPr>
              <a:t> membuat repository dan notifier-nya sendiri (baris 34-35)</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Dari luar, tidak ada cara mengganti keduanya (baris 44)</a:t>
            </a:r>
          </a:p>
          <a:p>
            <a:pPr algn="l">
              <a:lnSpc>
                <a:spcPct val="115000"/>
              </a:lnSpc>
              <a:spcAft>
                <a:spcPts val="0"/>
              </a:spcAft>
            </a:pPr>
            <a:r>
              <a:rPr sz="570"/>
              <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Test pasti menulis ke </a:t>
            </a:r>
            <a:r>
              <a:rPr sz="950" i="0" b="0">
                <a:solidFill>
                  <a:srgbClr val="B5482A"/>
                </a:solidFill>
                <a:latin typeface="Consolas"/>
              </a:rPr>
              <a:t>orders.db</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Ganti ke SMS = edit </a:t>
            </a:r>
            <a:r>
              <a:rPr sz="950" i="0" b="0">
                <a:solidFill>
                  <a:srgbClr val="B5482A"/>
                </a:solidFill>
                <a:latin typeface="Consolas"/>
              </a:rPr>
              <a:t>OrderService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Dependency Dikirim dari Luar (1/4)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05-dip/after.py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 7  </a:t>
            </a:r>
            <a:r>
              <a:rPr sz="850" i="0">
                <a:solidFill>
                  <a:srgbClr val="FF8E6E"/>
                </a:solidFill>
                <a:latin typeface="Consolas"/>
              </a:rPr>
              <a:t>import</a:t>
            </a:r>
            <a:r>
              <a:rPr sz="850" i="0">
                <a:solidFill>
                  <a:srgbClr val="E6EDF3"/>
                </a:solidFill>
                <a:latin typeface="Consolas"/>
              </a:rPr>
              <a:t> </a:t>
            </a:r>
            <a:r>
              <a:rPr sz="850" i="0">
                <a:solidFill>
                  <a:srgbClr val="E6EDF3"/>
                </a:solidFill>
                <a:latin typeface="Consolas"/>
              </a:rPr>
              <a:t>sqlite3</a:t>
            </a:r>
          </a:p>
          <a:p>
            <a:pPr>
              <a:lnSpc>
                <a:spcPts val="1100"/>
              </a:lnSpc>
              <a:spcAft>
                <a:spcPts val="0"/>
              </a:spcAft>
            </a:pPr>
            <a:r>
              <a:rPr sz="850" i="0">
                <a:solidFill>
                  <a:srgbClr val="5C6773"/>
                </a:solidFill>
                <a:latin typeface="Consolas"/>
              </a:rPr>
              <a:t> 8  </a:t>
            </a: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typing</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7FDBCA"/>
                </a:solidFill>
                <a:latin typeface="Consolas"/>
              </a:rPr>
              <a:t>Protocol</a:t>
            </a:r>
          </a:p>
          <a:p>
            <a:pPr>
              <a:lnSpc>
                <a:spcPts val="1100"/>
              </a:lnSpc>
              <a:spcAft>
                <a:spcPts val="0"/>
              </a:spcAft>
            </a:pPr>
            <a:r>
              <a:rPr sz="850" i="0">
                <a:solidFill>
                  <a:srgbClr val="5C6773"/>
                </a:solidFill>
                <a:latin typeface="Consolas"/>
              </a:rPr>
              <a:t> 9  </a:t>
            </a:r>
            <a:r>
              <a:rPr sz="850" i="0">
                <a:solidFill>
                  <a:srgbClr val="E6EDF3"/>
                </a:solidFill>
                <a:latin typeface="Consolas"/>
              </a:rPr>
              <a:t> </a:t>
            </a:r>
          </a:p>
          <a:p>
            <a:pPr>
              <a:lnSpc>
                <a:spcPts val="1100"/>
              </a:lnSpc>
              <a:spcAft>
                <a:spcPts val="0"/>
              </a:spcAft>
            </a:pPr>
            <a:r>
              <a:rPr sz="850" i="0">
                <a:solidFill>
                  <a:srgbClr val="5C6773"/>
                </a:solidFill>
                <a:latin typeface="Consolas"/>
              </a:rPr>
              <a:t>10  </a:t>
            </a:r>
            <a:r>
              <a:rPr sz="850" i="0">
                <a:solidFill>
                  <a:srgbClr val="E6EDF3"/>
                </a:solidFill>
                <a:latin typeface="Consolas"/>
              </a:rPr>
              <a:t> </a:t>
            </a:r>
          </a:p>
          <a:p>
            <a:pPr>
              <a:lnSpc>
                <a:spcPts val="1100"/>
              </a:lnSpc>
              <a:spcAft>
                <a:spcPts val="0"/>
              </a:spcAft>
            </a:pPr>
            <a:r>
              <a:rPr sz="850" i="0">
                <a:solidFill>
                  <a:srgbClr val="5C6773"/>
                </a:solidFill>
                <a:latin typeface="Consolas"/>
              </a:rPr>
              <a:t>11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12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13  </a:t>
            </a:r>
            <a:r>
              <a:rPr sz="850" i="0">
                <a:solidFill>
                  <a:srgbClr val="E6EDF3"/>
                </a:solidFill>
                <a:latin typeface="Consolas"/>
              </a:rPr>
              <a:t> </a:t>
            </a:r>
          </a:p>
          <a:p>
            <a:pPr>
              <a:lnSpc>
                <a:spcPts val="1100"/>
              </a:lnSpc>
              <a:spcAft>
                <a:spcPts val="0"/>
              </a:spcAft>
            </a:pPr>
            <a:r>
              <a:rPr sz="850" i="0">
                <a:solidFill>
                  <a:srgbClr val="5C6773"/>
                </a:solidFill>
                <a:latin typeface="Consolas"/>
              </a:rPr>
              <a:t>14  </a:t>
            </a:r>
            <a:r>
              <a:rPr sz="850" i="0">
                <a:solidFill>
                  <a:srgbClr val="E6EDF3"/>
                </a:solidFill>
                <a:latin typeface="Consolas"/>
              </a:rPr>
              <a:t> </a:t>
            </a:r>
          </a:p>
          <a:p>
            <a:pPr>
              <a:lnSpc>
                <a:spcPts val="1100"/>
              </a:lnSpc>
              <a:spcAft>
                <a:spcPts val="0"/>
              </a:spcAft>
            </a:pPr>
            <a:r>
              <a:rPr sz="850" i="0">
                <a:solidFill>
                  <a:srgbClr val="5C6773"/>
                </a:solidFill>
                <a:latin typeface="Consolas"/>
              </a:rPr>
              <a:t>15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Notifier</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16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send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message</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17  </a:t>
            </a:r>
            <a:r>
              <a:rPr sz="850" i="0">
                <a:solidFill>
                  <a:srgbClr val="E6EDF3"/>
                </a:solidFill>
                <a:latin typeface="Consolas"/>
              </a:rPr>
              <a:t> </a:t>
            </a:r>
          </a:p>
          <a:p>
            <a:pPr>
              <a:lnSpc>
                <a:spcPts val="1100"/>
              </a:lnSpc>
              <a:spcAft>
                <a:spcPts val="0"/>
              </a:spcAft>
            </a:pPr>
            <a:r>
              <a:rPr sz="850" i="0">
                <a:solidFill>
                  <a:srgbClr val="5C6773"/>
                </a:solidFill>
                <a:latin typeface="Consolas"/>
              </a:rPr>
              <a:t>18  </a:t>
            </a:r>
            <a:r>
              <a:rPr sz="850" i="0">
                <a:solidFill>
                  <a:srgbClr val="E6EDF3"/>
                </a:solidFill>
                <a:latin typeface="Consolas"/>
              </a:rPr>
              <a:t> </a:t>
            </a:r>
          </a:p>
          <a:p>
            <a:pPr>
              <a:lnSpc>
                <a:spcPts val="1100"/>
              </a:lnSpc>
              <a:spcAft>
                <a:spcPts val="0"/>
              </a:spcAft>
            </a:pPr>
            <a:r>
              <a:rPr sz="850" i="0">
                <a:solidFill>
                  <a:srgbClr val="5C6773"/>
                </a:solidFill>
                <a:latin typeface="Consolas"/>
              </a:rPr>
              <a:t>19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p>
          <a:p>
            <a:pPr>
              <a:lnSpc>
                <a:spcPts val="1100"/>
              </a:lnSpc>
              <a:spcAft>
                <a:spcPts val="0"/>
              </a:spcAft>
            </a:pPr>
            <a:r>
              <a:rPr sz="850" i="0">
                <a:solidFill>
                  <a:srgbClr val="5C6773"/>
                </a:solidFill>
                <a:latin typeface="Consolas"/>
              </a:rPr>
              <a:t>20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repo</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notifier</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Notifier</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21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repo</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notifier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notifier</a:t>
            </a:r>
          </a:p>
        </p:txBody>
      </p:sp>
      <p:sp>
        <p:nvSpPr>
          <p:cNvPr id="29" name="Box 12"/>
          <p:cNvSpPr/>
          <p:nvPr/>
        </p:nvSpPr>
        <p:spPr>
          <a:xfrm>
            <a:off x="704088" y="2387473"/>
            <a:ext cx="7699248" cy="829818"/>
          </a:xfrm>
          <a:prstGeom prst="roundRect">
            <a:avLst>
              <a:gd name="adj" fmla="val 550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6835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3644773"/>
            <a:ext cx="7699248"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7312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Dependency Dikirim dari Luar (2/4)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05-dip/after.py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000"/>
              </a:lnSpc>
              <a:spcAft>
                <a:spcPts val="0"/>
              </a:spcAft>
            </a:pPr>
            <a:r>
              <a:rPr sz="775" i="0">
                <a:solidFill>
                  <a:srgbClr val="5C6773"/>
                </a:solidFill>
                <a:latin typeface="Consolas"/>
              </a:rPr>
              <a:t>24  </a:t>
            </a:r>
            <a:r>
              <a:rPr sz="775" i="0">
                <a:solidFill>
                  <a:srgbClr val="E6EDF3"/>
                </a:solidFill>
                <a:latin typeface="Consolas"/>
              </a:rPr>
              <a:t>    </a:t>
            </a:r>
            <a:r>
              <a:rPr sz="775" i="0">
                <a:solidFill>
                  <a:srgbClr val="FF8E6E"/>
                </a:solidFill>
                <a:latin typeface="Consolas"/>
              </a:rPr>
              <a:t>def</a:t>
            </a:r>
            <a:r>
              <a:rPr sz="775" i="0">
                <a:solidFill>
                  <a:srgbClr val="E6EDF3"/>
                </a:solidFill>
                <a:latin typeface="Consolas"/>
              </a:rPr>
              <a:t> </a:t>
            </a:r>
            <a:r>
              <a:rPr sz="775" i="0">
                <a:solidFill>
                  <a:srgbClr val="82B1FF"/>
                </a:solidFill>
                <a:latin typeface="Consolas"/>
              </a:rPr>
              <a:t>place_order</a:t>
            </a:r>
            <a:r>
              <a:rPr sz="775" i="0">
                <a:solidFill>
                  <a:srgbClr val="E6EDF3"/>
                </a:solidFill>
                <a:latin typeface="Consolas"/>
              </a:rPr>
              <a:t>(</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customer</a:t>
            </a:r>
            <a:r>
              <a:rPr sz="775" i="0">
                <a:solidFill>
                  <a:srgbClr val="E6EDF3"/>
                </a:solidFill>
                <a:latin typeface="Consolas"/>
              </a:rPr>
              <a:t>:</a:t>
            </a:r>
            <a:r>
              <a:rPr sz="775" i="0">
                <a:solidFill>
                  <a:srgbClr val="E6EDF3"/>
                </a:solidFill>
                <a:latin typeface="Consolas"/>
              </a:rPr>
              <a:t> </a:t>
            </a:r>
            <a:r>
              <a:rPr sz="775" i="0">
                <a:solidFill>
                  <a:srgbClr val="C3A6FF"/>
                </a:solidFill>
                <a:latin typeface="Consolas"/>
              </a:rPr>
              <a:t>str</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total</a:t>
            </a:r>
            <a:r>
              <a:rPr sz="775" i="0">
                <a:solidFill>
                  <a:srgbClr val="E6EDF3"/>
                </a:solidFill>
                <a:latin typeface="Consolas"/>
              </a:rPr>
              <a:t>:</a:t>
            </a:r>
            <a:r>
              <a:rPr sz="775" i="0">
                <a:solidFill>
                  <a:srgbClr val="E6EDF3"/>
                </a:solidFill>
                <a:latin typeface="Consolas"/>
              </a:rPr>
              <a:t> </a:t>
            </a:r>
            <a:r>
              <a:rPr sz="775" i="0">
                <a:solidFill>
                  <a:srgbClr val="C3A6FF"/>
                </a:solidFill>
                <a:latin typeface="Consolas"/>
              </a:rPr>
              <a:t>int</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a:t>
            </a:r>
            <a:r>
              <a:rPr sz="775" i="0">
                <a:solidFill>
                  <a:srgbClr val="E6EDF3"/>
                </a:solidFill>
                <a:latin typeface="Consolas"/>
              </a:rPr>
              <a:t>&gt;</a:t>
            </a:r>
            <a:r>
              <a:rPr sz="775" i="0">
                <a:solidFill>
                  <a:srgbClr val="E6EDF3"/>
                </a:solidFill>
                <a:latin typeface="Consolas"/>
              </a:rPr>
              <a:t> </a:t>
            </a:r>
            <a:r>
              <a:rPr sz="775" i="0">
                <a:solidFill>
                  <a:srgbClr val="C3A6FF"/>
                </a:solidFill>
                <a:latin typeface="Consolas"/>
              </a:rPr>
              <a:t>int</a:t>
            </a:r>
            <a:r>
              <a:rPr sz="775" i="0">
                <a:solidFill>
                  <a:srgbClr val="E6EDF3"/>
                </a:solidFill>
                <a:latin typeface="Consolas"/>
              </a:rPr>
              <a:t>:</a:t>
            </a:r>
          </a:p>
          <a:p>
            <a:pPr>
              <a:lnSpc>
                <a:spcPts val="1000"/>
              </a:lnSpc>
              <a:spcAft>
                <a:spcPts val="0"/>
              </a:spcAft>
            </a:pPr>
            <a:r>
              <a:rPr sz="775" i="0">
                <a:solidFill>
                  <a:srgbClr val="5C6773"/>
                </a:solidFill>
                <a:latin typeface="Consolas"/>
              </a:rPr>
              <a:t>25  </a:t>
            </a:r>
            <a:r>
              <a:rPr sz="775" i="0">
                <a:solidFill>
                  <a:srgbClr val="E6EDF3"/>
                </a:solidFill>
                <a:latin typeface="Consolas"/>
              </a:rPr>
              <a:t>        </a:t>
            </a:r>
            <a:r>
              <a:rPr sz="775" i="0">
                <a:solidFill>
                  <a:srgbClr val="E6EDF3"/>
                </a:solidFill>
                <a:latin typeface="Consolas"/>
              </a:rPr>
              <a:t>order_id</a:t>
            </a:r>
            <a:r>
              <a:rPr sz="775" i="0">
                <a:solidFill>
                  <a:srgbClr val="E6EDF3"/>
                </a:solidFill>
                <a:latin typeface="Consolas"/>
              </a:rPr>
              <a:t> </a:t>
            </a:r>
            <a:r>
              <a:rPr sz="775" i="0">
                <a:solidFill>
                  <a:srgbClr val="E6EDF3"/>
                </a:solidFill>
                <a:latin typeface="Consolas"/>
              </a:rPr>
              <a:t>=</a:t>
            </a:r>
            <a:r>
              <a:rPr sz="775" i="0">
                <a:solidFill>
                  <a:srgbClr val="E6EDF3"/>
                </a:solidFill>
                <a:latin typeface="Consolas"/>
              </a:rPr>
              <a:t> </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repo</a:t>
            </a:r>
            <a:r>
              <a:rPr sz="775" i="0">
                <a:solidFill>
                  <a:srgbClr val="E6EDF3"/>
                </a:solidFill>
                <a:latin typeface="Consolas"/>
              </a:rPr>
              <a:t>.</a:t>
            </a:r>
            <a:r>
              <a:rPr sz="775" i="0">
                <a:solidFill>
                  <a:srgbClr val="E6EDF3"/>
                </a:solidFill>
                <a:latin typeface="Consolas"/>
              </a:rPr>
              <a:t>add</a:t>
            </a:r>
            <a:r>
              <a:rPr sz="775" i="0">
                <a:solidFill>
                  <a:srgbClr val="E6EDF3"/>
                </a:solidFill>
                <a:latin typeface="Consolas"/>
              </a:rPr>
              <a:t>(</a:t>
            </a:r>
            <a:r>
              <a:rPr sz="775" i="0">
                <a:solidFill>
                  <a:srgbClr val="E6EDF3"/>
                </a:solidFill>
                <a:latin typeface="Consolas"/>
              </a:rPr>
              <a:t>customer</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total</a:t>
            </a:r>
            <a:r>
              <a:rPr sz="775" i="0">
                <a:solidFill>
                  <a:srgbClr val="E6EDF3"/>
                </a:solidFill>
                <a:latin typeface="Consolas"/>
              </a:rPr>
              <a:t>)</a:t>
            </a:r>
          </a:p>
          <a:p>
            <a:pPr>
              <a:lnSpc>
                <a:spcPts val="1000"/>
              </a:lnSpc>
              <a:spcAft>
                <a:spcPts val="0"/>
              </a:spcAft>
            </a:pPr>
            <a:r>
              <a:rPr sz="775" i="0">
                <a:solidFill>
                  <a:srgbClr val="5C6773"/>
                </a:solidFill>
                <a:latin typeface="Consolas"/>
              </a:rPr>
              <a:t>26  </a:t>
            </a:r>
            <a:r>
              <a:rPr sz="775" i="0">
                <a:solidFill>
                  <a:srgbClr val="E6EDF3"/>
                </a:solidFill>
                <a:latin typeface="Consolas"/>
              </a:rPr>
              <a:t>        </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notifier</a:t>
            </a:r>
            <a:r>
              <a:rPr sz="775" i="0">
                <a:solidFill>
                  <a:srgbClr val="E6EDF3"/>
                </a:solidFill>
                <a:latin typeface="Consolas"/>
              </a:rPr>
              <a:t>.</a:t>
            </a:r>
            <a:r>
              <a:rPr sz="775" i="0">
                <a:solidFill>
                  <a:srgbClr val="E6EDF3"/>
                </a:solidFill>
                <a:latin typeface="Consolas"/>
              </a:rPr>
              <a:t>send</a:t>
            </a:r>
            <a:r>
              <a:rPr sz="775" i="0">
                <a:solidFill>
                  <a:srgbClr val="E6EDF3"/>
                </a:solidFill>
                <a:latin typeface="Consolas"/>
              </a:rPr>
              <a:t>(</a:t>
            </a:r>
            <a:r>
              <a:rPr sz="775" i="0">
                <a:solidFill>
                  <a:srgbClr val="E6EDF3"/>
                </a:solidFill>
                <a:latin typeface="Consolas"/>
              </a:rPr>
              <a:t>customer</a:t>
            </a:r>
            <a:r>
              <a:rPr sz="775" i="0">
                <a:solidFill>
                  <a:srgbClr val="E6EDF3"/>
                </a:solidFill>
                <a:latin typeface="Consolas"/>
              </a:rPr>
              <a:t>,</a:t>
            </a:r>
            <a:r>
              <a:rPr sz="775" i="0">
                <a:solidFill>
                  <a:srgbClr val="E6EDF3"/>
                </a:solidFill>
                <a:latin typeface="Consolas"/>
              </a:rPr>
              <a:t> </a:t>
            </a:r>
            <a:r>
              <a:rPr sz="775" i="0">
                <a:solidFill>
                  <a:srgbClr val="A5D6A7"/>
                </a:solidFill>
                <a:latin typeface="Consolas"/>
              </a:rPr>
              <a:t>f"Order #{order_id} dibuat"</a:t>
            </a:r>
            <a:r>
              <a:rPr sz="775" i="0">
                <a:solidFill>
                  <a:srgbClr val="E6EDF3"/>
                </a:solidFill>
                <a:latin typeface="Consolas"/>
              </a:rPr>
              <a:t>)</a:t>
            </a:r>
          </a:p>
          <a:p>
            <a:pPr>
              <a:lnSpc>
                <a:spcPts val="1000"/>
              </a:lnSpc>
              <a:spcAft>
                <a:spcPts val="0"/>
              </a:spcAft>
            </a:pPr>
            <a:r>
              <a:rPr sz="775" i="0">
                <a:solidFill>
                  <a:srgbClr val="5C6773"/>
                </a:solidFill>
                <a:latin typeface="Consolas"/>
              </a:rPr>
              <a:t>27  </a:t>
            </a:r>
            <a:r>
              <a:rPr sz="775" i="0">
                <a:solidFill>
                  <a:srgbClr val="E6EDF3"/>
                </a:solidFill>
                <a:latin typeface="Consolas"/>
              </a:rPr>
              <a:t>        </a:t>
            </a:r>
            <a:r>
              <a:rPr sz="775" i="0">
                <a:solidFill>
                  <a:srgbClr val="FF8E6E"/>
                </a:solidFill>
                <a:latin typeface="Consolas"/>
              </a:rPr>
              <a:t>return</a:t>
            </a:r>
            <a:r>
              <a:rPr sz="775" i="0">
                <a:solidFill>
                  <a:srgbClr val="E6EDF3"/>
                </a:solidFill>
                <a:latin typeface="Consolas"/>
              </a:rPr>
              <a:t> </a:t>
            </a:r>
            <a:r>
              <a:rPr sz="775" i="0">
                <a:solidFill>
                  <a:srgbClr val="E6EDF3"/>
                </a:solidFill>
                <a:latin typeface="Consolas"/>
              </a:rPr>
              <a:t>order_id</a:t>
            </a:r>
          </a:p>
          <a:p>
            <a:pPr>
              <a:lnSpc>
                <a:spcPts val="1000"/>
              </a:lnSpc>
              <a:spcAft>
                <a:spcPts val="0"/>
              </a:spcAft>
            </a:pPr>
            <a:r>
              <a:rPr sz="775" i="0">
                <a:solidFill>
                  <a:srgbClr val="5C6773"/>
                </a:solidFill>
                <a:latin typeface="Consolas"/>
              </a:rPr>
              <a:t>28  </a:t>
            </a:r>
            <a:r>
              <a:rPr sz="775" i="0">
                <a:solidFill>
                  <a:srgbClr val="E6EDF3"/>
                </a:solidFill>
                <a:latin typeface="Consolas"/>
              </a:rPr>
              <a:t> </a:t>
            </a:r>
          </a:p>
          <a:p>
            <a:pPr>
              <a:lnSpc>
                <a:spcPts val="1000"/>
              </a:lnSpc>
              <a:spcAft>
                <a:spcPts val="0"/>
              </a:spcAft>
            </a:pPr>
            <a:r>
              <a:rPr sz="775" i="0">
                <a:solidFill>
                  <a:srgbClr val="5C6773"/>
                </a:solidFill>
                <a:latin typeface="Consolas"/>
              </a:rPr>
              <a:t>29  </a:t>
            </a:r>
            <a:r>
              <a:rPr sz="775" i="0">
                <a:solidFill>
                  <a:srgbClr val="E6EDF3"/>
                </a:solidFill>
                <a:latin typeface="Consolas"/>
              </a:rPr>
              <a:t> </a:t>
            </a:r>
          </a:p>
          <a:p>
            <a:pPr>
              <a:lnSpc>
                <a:spcPts val="1000"/>
              </a:lnSpc>
              <a:spcAft>
                <a:spcPts val="0"/>
              </a:spcAft>
            </a:pPr>
            <a:r>
              <a:rPr sz="775" i="0">
                <a:solidFill>
                  <a:srgbClr val="5C6773"/>
                </a:solidFill>
                <a:latin typeface="Consolas"/>
              </a:rPr>
              <a:t>30  </a:t>
            </a:r>
            <a:r>
              <a:rPr sz="775" i="1">
                <a:solidFill>
                  <a:srgbClr val="8B98A8"/>
                </a:solidFill>
                <a:latin typeface="Consolas"/>
              </a:rPr>
              <a:t># ---------- implementasi untuk aplikasi ----------</a:t>
            </a:r>
          </a:p>
          <a:p>
            <a:pPr>
              <a:lnSpc>
                <a:spcPts val="1000"/>
              </a:lnSpc>
              <a:spcAft>
                <a:spcPts val="0"/>
              </a:spcAft>
            </a:pPr>
            <a:r>
              <a:rPr sz="775" i="0">
                <a:solidFill>
                  <a:srgbClr val="5C6773"/>
                </a:solidFill>
                <a:latin typeface="Consolas"/>
              </a:rPr>
              <a:t>31  </a:t>
            </a:r>
            <a:r>
              <a:rPr sz="775" i="0">
                <a:solidFill>
                  <a:srgbClr val="FF8E6E"/>
                </a:solidFill>
                <a:latin typeface="Consolas"/>
              </a:rPr>
              <a:t>class</a:t>
            </a:r>
            <a:r>
              <a:rPr sz="775" i="0">
                <a:solidFill>
                  <a:srgbClr val="E6EDF3"/>
                </a:solidFill>
                <a:latin typeface="Consolas"/>
              </a:rPr>
              <a:t> </a:t>
            </a:r>
            <a:r>
              <a:rPr sz="775" i="0">
                <a:solidFill>
                  <a:srgbClr val="7FDBCA"/>
                </a:solidFill>
                <a:latin typeface="Consolas"/>
              </a:rPr>
              <a:t>SqliteOrderRepository</a:t>
            </a:r>
            <a:r>
              <a:rPr sz="775" i="0">
                <a:solidFill>
                  <a:srgbClr val="E6EDF3"/>
                </a:solidFill>
                <a:latin typeface="Consolas"/>
              </a:rPr>
              <a:t>:</a:t>
            </a:r>
          </a:p>
          <a:p>
            <a:pPr>
              <a:lnSpc>
                <a:spcPts val="1000"/>
              </a:lnSpc>
              <a:spcAft>
                <a:spcPts val="0"/>
              </a:spcAft>
            </a:pPr>
            <a:r>
              <a:rPr sz="775" i="0">
                <a:solidFill>
                  <a:srgbClr val="5C6773"/>
                </a:solidFill>
                <a:latin typeface="Consolas"/>
              </a:rPr>
              <a:t>32  </a:t>
            </a:r>
            <a:r>
              <a:rPr sz="775" i="0">
                <a:solidFill>
                  <a:srgbClr val="E6EDF3"/>
                </a:solidFill>
                <a:latin typeface="Consolas"/>
              </a:rPr>
              <a:t>    </a:t>
            </a:r>
            <a:r>
              <a:rPr sz="775" i="0">
                <a:solidFill>
                  <a:srgbClr val="FF8E6E"/>
                </a:solidFill>
                <a:latin typeface="Consolas"/>
              </a:rPr>
              <a:t>def</a:t>
            </a:r>
            <a:r>
              <a:rPr sz="775" i="0">
                <a:solidFill>
                  <a:srgbClr val="E6EDF3"/>
                </a:solidFill>
                <a:latin typeface="Consolas"/>
              </a:rPr>
              <a:t> </a:t>
            </a:r>
            <a:r>
              <a:rPr sz="775" i="0">
                <a:solidFill>
                  <a:srgbClr val="82B1FF"/>
                </a:solidFill>
                <a:latin typeface="Consolas"/>
              </a:rPr>
              <a:t>__init__</a:t>
            </a:r>
            <a:r>
              <a:rPr sz="775" i="0">
                <a:solidFill>
                  <a:srgbClr val="E6EDF3"/>
                </a:solidFill>
                <a:latin typeface="Consolas"/>
              </a:rPr>
              <a:t>(</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path</a:t>
            </a:r>
            <a:r>
              <a:rPr sz="775" i="0">
                <a:solidFill>
                  <a:srgbClr val="E6EDF3"/>
                </a:solidFill>
                <a:latin typeface="Consolas"/>
              </a:rPr>
              <a:t>:</a:t>
            </a:r>
            <a:r>
              <a:rPr sz="775" i="0">
                <a:solidFill>
                  <a:srgbClr val="E6EDF3"/>
                </a:solidFill>
                <a:latin typeface="Consolas"/>
              </a:rPr>
              <a:t> </a:t>
            </a:r>
            <a:r>
              <a:rPr sz="775" i="0">
                <a:solidFill>
                  <a:srgbClr val="C3A6FF"/>
                </a:solidFill>
                <a:latin typeface="Consolas"/>
              </a:rPr>
              <a:t>str</a:t>
            </a:r>
            <a:r>
              <a:rPr sz="775" i="0">
                <a:solidFill>
                  <a:srgbClr val="E6EDF3"/>
                </a:solidFill>
                <a:latin typeface="Consolas"/>
              </a:rPr>
              <a:t> </a:t>
            </a:r>
            <a:r>
              <a:rPr sz="775" i="0">
                <a:solidFill>
                  <a:srgbClr val="E6EDF3"/>
                </a:solidFill>
                <a:latin typeface="Consolas"/>
              </a:rPr>
              <a:t>=</a:t>
            </a:r>
            <a:r>
              <a:rPr sz="775" i="0">
                <a:solidFill>
                  <a:srgbClr val="E6EDF3"/>
                </a:solidFill>
                <a:latin typeface="Consolas"/>
              </a:rPr>
              <a:t> </a:t>
            </a:r>
            <a:r>
              <a:rPr sz="775" i="0">
                <a:solidFill>
                  <a:srgbClr val="A5D6A7"/>
                </a:solidFill>
                <a:latin typeface="Consolas"/>
              </a:rPr>
              <a:t>"orders.db"</a:t>
            </a:r>
            <a:r>
              <a:rPr sz="775" i="0">
                <a:solidFill>
                  <a:srgbClr val="E6EDF3"/>
                </a:solidFill>
                <a:latin typeface="Consolas"/>
              </a:rPr>
              <a:t>)</a:t>
            </a:r>
            <a:r>
              <a:rPr sz="775" i="0">
                <a:solidFill>
                  <a:srgbClr val="E6EDF3"/>
                </a:solidFill>
                <a:latin typeface="Consolas"/>
              </a:rPr>
              <a:t>:</a:t>
            </a:r>
          </a:p>
          <a:p>
            <a:pPr>
              <a:lnSpc>
                <a:spcPts val="1000"/>
              </a:lnSpc>
              <a:spcAft>
                <a:spcPts val="0"/>
              </a:spcAft>
            </a:pPr>
            <a:r>
              <a:rPr sz="775" i="0">
                <a:solidFill>
                  <a:srgbClr val="5C6773"/>
                </a:solidFill>
                <a:latin typeface="Consolas"/>
              </a:rPr>
              <a:t>33  </a:t>
            </a:r>
            <a:r>
              <a:rPr sz="775" i="0">
                <a:solidFill>
                  <a:srgbClr val="E6EDF3"/>
                </a:solidFill>
                <a:latin typeface="Consolas"/>
              </a:rPr>
              <a:t>        </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conn</a:t>
            </a:r>
            <a:r>
              <a:rPr sz="775" i="0">
                <a:solidFill>
                  <a:srgbClr val="E6EDF3"/>
                </a:solidFill>
                <a:latin typeface="Consolas"/>
              </a:rPr>
              <a:t> </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sqlite3</a:t>
            </a:r>
            <a:r>
              <a:rPr sz="775" i="0">
                <a:solidFill>
                  <a:srgbClr val="E6EDF3"/>
                </a:solidFill>
                <a:latin typeface="Consolas"/>
              </a:rPr>
              <a:t>.</a:t>
            </a:r>
            <a:r>
              <a:rPr sz="775" i="0">
                <a:solidFill>
                  <a:srgbClr val="E6EDF3"/>
                </a:solidFill>
                <a:latin typeface="Consolas"/>
              </a:rPr>
              <a:t>connect</a:t>
            </a:r>
            <a:r>
              <a:rPr sz="775" i="0">
                <a:solidFill>
                  <a:srgbClr val="E6EDF3"/>
                </a:solidFill>
                <a:latin typeface="Consolas"/>
              </a:rPr>
              <a:t>(</a:t>
            </a:r>
            <a:r>
              <a:rPr sz="775" i="0">
                <a:solidFill>
                  <a:srgbClr val="E6EDF3"/>
                </a:solidFill>
                <a:latin typeface="Consolas"/>
              </a:rPr>
              <a:t>path</a:t>
            </a:r>
            <a:r>
              <a:rPr sz="775" i="0">
                <a:solidFill>
                  <a:srgbClr val="E6EDF3"/>
                </a:solidFill>
                <a:latin typeface="Consolas"/>
              </a:rPr>
              <a:t>)</a:t>
            </a:r>
          </a:p>
          <a:p>
            <a:pPr>
              <a:lnSpc>
                <a:spcPts val="1000"/>
              </a:lnSpc>
              <a:spcAft>
                <a:spcPts val="0"/>
              </a:spcAft>
            </a:pPr>
            <a:r>
              <a:rPr sz="775" i="0">
                <a:solidFill>
                  <a:srgbClr val="5C6773"/>
                </a:solidFill>
                <a:latin typeface="Consolas"/>
              </a:rPr>
              <a:t>34  </a:t>
            </a:r>
            <a:r>
              <a:rPr sz="775" i="0">
                <a:solidFill>
                  <a:srgbClr val="E6EDF3"/>
                </a:solidFill>
                <a:latin typeface="Consolas"/>
              </a:rPr>
              <a:t>        </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conn</a:t>
            </a:r>
            <a:r>
              <a:rPr sz="775" i="0">
                <a:solidFill>
                  <a:srgbClr val="E6EDF3"/>
                </a:solidFill>
                <a:latin typeface="Consolas"/>
              </a:rPr>
              <a:t>.</a:t>
            </a:r>
            <a:r>
              <a:rPr sz="775" i="0">
                <a:solidFill>
                  <a:srgbClr val="E6EDF3"/>
                </a:solidFill>
                <a:latin typeface="Consolas"/>
              </a:rPr>
              <a:t>execute</a:t>
            </a:r>
            <a:r>
              <a:rPr sz="775" i="0">
                <a:solidFill>
                  <a:srgbClr val="E6EDF3"/>
                </a:solidFill>
                <a:latin typeface="Consolas"/>
              </a:rPr>
              <a:t>(</a:t>
            </a:r>
          </a:p>
          <a:p>
            <a:pPr>
              <a:lnSpc>
                <a:spcPts val="1000"/>
              </a:lnSpc>
              <a:spcAft>
                <a:spcPts val="0"/>
              </a:spcAft>
            </a:pPr>
            <a:r>
              <a:rPr sz="775" i="0">
                <a:solidFill>
                  <a:srgbClr val="5C6773"/>
                </a:solidFill>
                <a:latin typeface="Consolas"/>
              </a:rPr>
              <a:t>35  </a:t>
            </a:r>
            <a:r>
              <a:rPr sz="775" i="0">
                <a:solidFill>
                  <a:srgbClr val="E6EDF3"/>
                </a:solidFill>
                <a:latin typeface="Consolas"/>
              </a:rPr>
              <a:t>            </a:t>
            </a:r>
            <a:r>
              <a:rPr sz="775" i="0">
                <a:solidFill>
                  <a:srgbClr val="A5D6A7"/>
                </a:solidFill>
                <a:latin typeface="Consolas"/>
              </a:rPr>
              <a:t>"CREATE TABLE IF NOT EXISTS orders "</a:t>
            </a:r>
          </a:p>
          <a:p>
            <a:pPr>
              <a:lnSpc>
                <a:spcPts val="1000"/>
              </a:lnSpc>
              <a:spcAft>
                <a:spcPts val="0"/>
              </a:spcAft>
            </a:pPr>
            <a:r>
              <a:rPr sz="775" i="0">
                <a:solidFill>
                  <a:srgbClr val="5C6773"/>
                </a:solidFill>
                <a:latin typeface="Consolas"/>
              </a:rPr>
              <a:t>36  </a:t>
            </a:r>
            <a:r>
              <a:rPr sz="775" i="0">
                <a:solidFill>
                  <a:srgbClr val="E6EDF3"/>
                </a:solidFill>
                <a:latin typeface="Consolas"/>
              </a:rPr>
              <a:t>            </a:t>
            </a:r>
            <a:r>
              <a:rPr sz="775" i="0">
                <a:solidFill>
                  <a:srgbClr val="A5D6A7"/>
                </a:solidFill>
                <a:latin typeface="Consolas"/>
              </a:rPr>
              <a:t>"(id INTEGER PRIMARY KEY, customer TEXT, total INTEGER)"</a:t>
            </a:r>
          </a:p>
          <a:p>
            <a:pPr>
              <a:lnSpc>
                <a:spcPts val="1000"/>
              </a:lnSpc>
              <a:spcAft>
                <a:spcPts val="0"/>
              </a:spcAft>
            </a:pPr>
            <a:r>
              <a:rPr sz="775" i="0">
                <a:solidFill>
                  <a:srgbClr val="5C6773"/>
                </a:solidFill>
                <a:latin typeface="Consolas"/>
              </a:rPr>
              <a:t>37  </a:t>
            </a:r>
            <a:r>
              <a:rPr sz="775" i="0">
                <a:solidFill>
                  <a:srgbClr val="E6EDF3"/>
                </a:solidFill>
                <a:latin typeface="Consolas"/>
              </a:rPr>
              <a:t>        </a:t>
            </a:r>
            <a:r>
              <a:rPr sz="775" i="0">
                <a:solidFill>
                  <a:srgbClr val="E6EDF3"/>
                </a:solidFill>
                <a:latin typeface="Consolas"/>
              </a:rPr>
              <a:t>)</a:t>
            </a:r>
          </a:p>
          <a:p>
            <a:pPr>
              <a:lnSpc>
                <a:spcPts val="1000"/>
              </a:lnSpc>
              <a:spcAft>
                <a:spcPts val="0"/>
              </a:spcAft>
            </a:pPr>
            <a:r>
              <a:rPr sz="775" i="0">
                <a:solidFill>
                  <a:srgbClr val="5C6773"/>
                </a:solidFill>
                <a:latin typeface="Consolas"/>
              </a:rPr>
              <a:t>38  </a:t>
            </a:r>
            <a:r>
              <a:rPr sz="775" i="0">
                <a:solidFill>
                  <a:srgbClr val="E6EDF3"/>
                </a:solidFill>
                <a:latin typeface="Consolas"/>
              </a:rPr>
              <a:t> </a:t>
            </a:r>
          </a:p>
          <a:p>
            <a:pPr>
              <a:lnSpc>
                <a:spcPts val="1000"/>
              </a:lnSpc>
              <a:spcAft>
                <a:spcPts val="0"/>
              </a:spcAft>
            </a:pPr>
            <a:r>
              <a:rPr sz="775" i="0">
                <a:solidFill>
                  <a:srgbClr val="5C6773"/>
                </a:solidFill>
                <a:latin typeface="Consolas"/>
              </a:rPr>
              <a:t>39  </a:t>
            </a:r>
            <a:r>
              <a:rPr sz="775" i="0">
                <a:solidFill>
                  <a:srgbClr val="E6EDF3"/>
                </a:solidFill>
                <a:latin typeface="Consolas"/>
              </a:rPr>
              <a:t>    </a:t>
            </a:r>
            <a:r>
              <a:rPr sz="775" i="0">
                <a:solidFill>
                  <a:srgbClr val="FF8E6E"/>
                </a:solidFill>
                <a:latin typeface="Consolas"/>
              </a:rPr>
              <a:t>def</a:t>
            </a:r>
            <a:r>
              <a:rPr sz="775" i="0">
                <a:solidFill>
                  <a:srgbClr val="E6EDF3"/>
                </a:solidFill>
                <a:latin typeface="Consolas"/>
              </a:rPr>
              <a:t> </a:t>
            </a:r>
            <a:r>
              <a:rPr sz="775" i="0">
                <a:solidFill>
                  <a:srgbClr val="82B1FF"/>
                </a:solidFill>
                <a:latin typeface="Consolas"/>
              </a:rPr>
              <a:t>add</a:t>
            </a:r>
            <a:r>
              <a:rPr sz="775" i="0">
                <a:solidFill>
                  <a:srgbClr val="E6EDF3"/>
                </a:solidFill>
                <a:latin typeface="Consolas"/>
              </a:rPr>
              <a:t>(</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customer</a:t>
            </a:r>
            <a:r>
              <a:rPr sz="775" i="0">
                <a:solidFill>
                  <a:srgbClr val="E6EDF3"/>
                </a:solidFill>
                <a:latin typeface="Consolas"/>
              </a:rPr>
              <a:t>:</a:t>
            </a:r>
            <a:r>
              <a:rPr sz="775" i="0">
                <a:solidFill>
                  <a:srgbClr val="E6EDF3"/>
                </a:solidFill>
                <a:latin typeface="Consolas"/>
              </a:rPr>
              <a:t> </a:t>
            </a:r>
            <a:r>
              <a:rPr sz="775" i="0">
                <a:solidFill>
                  <a:srgbClr val="C3A6FF"/>
                </a:solidFill>
                <a:latin typeface="Consolas"/>
              </a:rPr>
              <a:t>str</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total</a:t>
            </a:r>
            <a:r>
              <a:rPr sz="775" i="0">
                <a:solidFill>
                  <a:srgbClr val="E6EDF3"/>
                </a:solidFill>
                <a:latin typeface="Consolas"/>
              </a:rPr>
              <a:t>:</a:t>
            </a:r>
            <a:r>
              <a:rPr sz="775" i="0">
                <a:solidFill>
                  <a:srgbClr val="E6EDF3"/>
                </a:solidFill>
                <a:latin typeface="Consolas"/>
              </a:rPr>
              <a:t> </a:t>
            </a:r>
            <a:r>
              <a:rPr sz="775" i="0">
                <a:solidFill>
                  <a:srgbClr val="C3A6FF"/>
                </a:solidFill>
                <a:latin typeface="Consolas"/>
              </a:rPr>
              <a:t>int</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a:t>
            </a:r>
            <a:r>
              <a:rPr sz="775" i="0">
                <a:solidFill>
                  <a:srgbClr val="E6EDF3"/>
                </a:solidFill>
                <a:latin typeface="Consolas"/>
              </a:rPr>
              <a:t>&gt;</a:t>
            </a:r>
            <a:r>
              <a:rPr sz="775" i="0">
                <a:solidFill>
                  <a:srgbClr val="E6EDF3"/>
                </a:solidFill>
                <a:latin typeface="Consolas"/>
              </a:rPr>
              <a:t> </a:t>
            </a:r>
            <a:r>
              <a:rPr sz="775" i="0">
                <a:solidFill>
                  <a:srgbClr val="C3A6FF"/>
                </a:solidFill>
                <a:latin typeface="Consolas"/>
              </a:rPr>
              <a:t>int</a:t>
            </a:r>
            <a:r>
              <a:rPr sz="775" i="0">
                <a:solidFill>
                  <a:srgbClr val="E6EDF3"/>
                </a:solidFill>
                <a:latin typeface="Consolas"/>
              </a:rPr>
              <a:t>:</a:t>
            </a:r>
          </a:p>
          <a:p>
            <a:pPr>
              <a:lnSpc>
                <a:spcPts val="1000"/>
              </a:lnSpc>
              <a:spcAft>
                <a:spcPts val="0"/>
              </a:spcAft>
            </a:pPr>
            <a:r>
              <a:rPr sz="775" i="0">
                <a:solidFill>
                  <a:srgbClr val="5C6773"/>
                </a:solidFill>
                <a:latin typeface="Consolas"/>
              </a:rPr>
              <a:t>40  </a:t>
            </a:r>
            <a:r>
              <a:rPr sz="775" i="0">
                <a:solidFill>
                  <a:srgbClr val="E6EDF3"/>
                </a:solidFill>
                <a:latin typeface="Consolas"/>
              </a:rPr>
              <a:t>        </a:t>
            </a:r>
            <a:r>
              <a:rPr sz="775" i="0">
                <a:solidFill>
                  <a:srgbClr val="E6EDF3"/>
                </a:solidFill>
                <a:latin typeface="Consolas"/>
              </a:rPr>
              <a:t>cur</a:t>
            </a:r>
            <a:r>
              <a:rPr sz="775" i="0">
                <a:solidFill>
                  <a:srgbClr val="E6EDF3"/>
                </a:solidFill>
                <a:latin typeface="Consolas"/>
              </a:rPr>
              <a:t> </a:t>
            </a:r>
            <a:r>
              <a:rPr sz="775" i="0">
                <a:solidFill>
                  <a:srgbClr val="E6EDF3"/>
                </a:solidFill>
                <a:latin typeface="Consolas"/>
              </a:rPr>
              <a:t>=</a:t>
            </a:r>
            <a:r>
              <a:rPr sz="775" i="0">
                <a:solidFill>
                  <a:srgbClr val="E6EDF3"/>
                </a:solidFill>
                <a:latin typeface="Consolas"/>
              </a:rPr>
              <a:t> </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conn</a:t>
            </a:r>
            <a:r>
              <a:rPr sz="775" i="0">
                <a:solidFill>
                  <a:srgbClr val="E6EDF3"/>
                </a:solidFill>
                <a:latin typeface="Consolas"/>
              </a:rPr>
              <a:t>.</a:t>
            </a:r>
            <a:r>
              <a:rPr sz="775" i="0">
                <a:solidFill>
                  <a:srgbClr val="E6EDF3"/>
                </a:solidFill>
                <a:latin typeface="Consolas"/>
              </a:rPr>
              <a:t>execute</a:t>
            </a:r>
            <a:r>
              <a:rPr sz="775" i="0">
                <a:solidFill>
                  <a:srgbClr val="E6EDF3"/>
                </a:solidFill>
                <a:latin typeface="Consolas"/>
              </a:rPr>
              <a:t>(</a:t>
            </a:r>
          </a:p>
          <a:p>
            <a:pPr>
              <a:lnSpc>
                <a:spcPts val="1000"/>
              </a:lnSpc>
              <a:spcAft>
                <a:spcPts val="0"/>
              </a:spcAft>
            </a:pPr>
            <a:r>
              <a:rPr sz="775" i="0">
                <a:solidFill>
                  <a:srgbClr val="5C6773"/>
                </a:solidFill>
                <a:latin typeface="Consolas"/>
              </a:rPr>
              <a:t>41  </a:t>
            </a:r>
            <a:r>
              <a:rPr sz="775" i="0">
                <a:solidFill>
                  <a:srgbClr val="E6EDF3"/>
                </a:solidFill>
                <a:latin typeface="Consolas"/>
              </a:rPr>
              <a:t>            </a:t>
            </a:r>
            <a:r>
              <a:rPr sz="775" i="0">
                <a:solidFill>
                  <a:srgbClr val="A5D6A7"/>
                </a:solidFill>
                <a:latin typeface="Consolas"/>
              </a:rPr>
              <a:t>"INSERT INTO orders (customer, total) VALUES (?, ?)"</a:t>
            </a:r>
            <a:r>
              <a:rPr sz="775" i="0">
                <a:solidFill>
                  <a:srgbClr val="E6EDF3"/>
                </a:solidFill>
                <a:latin typeface="Consolas"/>
              </a:rPr>
              <a:t>,</a:t>
            </a:r>
          </a:p>
          <a:p>
            <a:pPr>
              <a:lnSpc>
                <a:spcPts val="1000"/>
              </a:lnSpc>
              <a:spcAft>
                <a:spcPts val="0"/>
              </a:spcAft>
            </a:pPr>
            <a:r>
              <a:rPr sz="775" i="0">
                <a:solidFill>
                  <a:srgbClr val="5C6773"/>
                </a:solidFill>
                <a:latin typeface="Consolas"/>
              </a:rPr>
              <a:t>42  </a:t>
            </a:r>
            <a:r>
              <a:rPr sz="775" i="0">
                <a:solidFill>
                  <a:srgbClr val="E6EDF3"/>
                </a:solidFill>
                <a:latin typeface="Consolas"/>
              </a:rPr>
              <a:t>            </a:t>
            </a:r>
            <a:r>
              <a:rPr sz="775" i="0">
                <a:solidFill>
                  <a:srgbClr val="E6EDF3"/>
                </a:solidFill>
                <a:latin typeface="Consolas"/>
              </a:rPr>
              <a:t>(</a:t>
            </a:r>
            <a:r>
              <a:rPr sz="775" i="0">
                <a:solidFill>
                  <a:srgbClr val="E6EDF3"/>
                </a:solidFill>
                <a:latin typeface="Consolas"/>
              </a:rPr>
              <a:t>customer</a:t>
            </a:r>
            <a:r>
              <a:rPr sz="775" i="0">
                <a:solidFill>
                  <a:srgbClr val="E6EDF3"/>
                </a:solidFill>
                <a:latin typeface="Consolas"/>
              </a:rPr>
              <a:t>,</a:t>
            </a:r>
            <a:r>
              <a:rPr sz="775" i="0">
                <a:solidFill>
                  <a:srgbClr val="E6EDF3"/>
                </a:solidFill>
                <a:latin typeface="Consolas"/>
              </a:rPr>
              <a:t> </a:t>
            </a:r>
            <a:r>
              <a:rPr sz="775" i="0">
                <a:solidFill>
                  <a:srgbClr val="E6EDF3"/>
                </a:solidFill>
                <a:latin typeface="Consolas"/>
              </a:rPr>
              <a:t>total</a:t>
            </a:r>
            <a:r>
              <a:rPr sz="775" i="0">
                <a:solidFill>
                  <a:srgbClr val="E6EDF3"/>
                </a:solidFill>
                <a:latin typeface="Consolas"/>
              </a:rPr>
              <a:t>)</a:t>
            </a:r>
            <a:r>
              <a:rPr sz="775" i="0">
                <a:solidFill>
                  <a:srgbClr val="E6EDF3"/>
                </a:solidFill>
                <a:latin typeface="Consolas"/>
              </a:rPr>
              <a:t>,</a:t>
            </a:r>
          </a:p>
          <a:p>
            <a:pPr>
              <a:lnSpc>
                <a:spcPts val="1000"/>
              </a:lnSpc>
              <a:spcAft>
                <a:spcPts val="0"/>
              </a:spcAft>
            </a:pPr>
            <a:r>
              <a:rPr sz="775" i="0">
                <a:solidFill>
                  <a:srgbClr val="5C6773"/>
                </a:solidFill>
                <a:latin typeface="Consolas"/>
              </a:rPr>
              <a:t>43  </a:t>
            </a:r>
            <a:r>
              <a:rPr sz="775" i="0">
                <a:solidFill>
                  <a:srgbClr val="E6EDF3"/>
                </a:solidFill>
                <a:latin typeface="Consolas"/>
              </a:rPr>
              <a:t>        </a:t>
            </a:r>
            <a:r>
              <a:rPr sz="775" i="0">
                <a:solidFill>
                  <a:srgbClr val="E6EDF3"/>
                </a:solidFill>
                <a:latin typeface="Consolas"/>
              </a:rPr>
              <a:t>)</a:t>
            </a:r>
          </a:p>
          <a:p>
            <a:pPr>
              <a:lnSpc>
                <a:spcPts val="1000"/>
              </a:lnSpc>
              <a:spcAft>
                <a:spcPts val="0"/>
              </a:spcAft>
            </a:pPr>
            <a:r>
              <a:rPr sz="775" i="0">
                <a:solidFill>
                  <a:srgbClr val="5C6773"/>
                </a:solidFill>
                <a:latin typeface="Consolas"/>
              </a:rPr>
              <a:t>44  </a:t>
            </a:r>
            <a:r>
              <a:rPr sz="775" i="0">
                <a:solidFill>
                  <a:srgbClr val="E6EDF3"/>
                </a:solidFill>
                <a:latin typeface="Consolas"/>
              </a:rPr>
              <a:t>        </a:t>
            </a:r>
            <a:r>
              <a:rPr sz="775" i="0">
                <a:solidFill>
                  <a:srgbClr val="C3A6FF"/>
                </a:solidFill>
                <a:latin typeface="Consolas"/>
              </a:rPr>
              <a:t>self</a:t>
            </a:r>
            <a:r>
              <a:rPr sz="775" i="0">
                <a:solidFill>
                  <a:srgbClr val="E6EDF3"/>
                </a:solidFill>
                <a:latin typeface="Consolas"/>
              </a:rPr>
              <a:t>.</a:t>
            </a:r>
            <a:r>
              <a:rPr sz="775" i="0">
                <a:solidFill>
                  <a:srgbClr val="E6EDF3"/>
                </a:solidFill>
                <a:latin typeface="Consolas"/>
              </a:rPr>
              <a:t>conn</a:t>
            </a:r>
            <a:r>
              <a:rPr sz="775" i="0">
                <a:solidFill>
                  <a:srgbClr val="E6EDF3"/>
                </a:solidFill>
                <a:latin typeface="Consolas"/>
              </a:rPr>
              <a:t>.</a:t>
            </a:r>
            <a:r>
              <a:rPr sz="775" i="0">
                <a:solidFill>
                  <a:srgbClr val="E6EDF3"/>
                </a:solidFill>
                <a:latin typeface="Consolas"/>
              </a:rPr>
              <a:t>commit</a:t>
            </a:r>
            <a:r>
              <a:rPr sz="775" i="0">
                <a:solidFill>
                  <a:srgbClr val="E6EDF3"/>
                </a:solidFill>
                <a:latin typeface="Consolas"/>
              </a:rPr>
              <a:t>(</a:t>
            </a:r>
            <a:r>
              <a:rPr sz="775" i="0">
                <a:solidFill>
                  <a:srgbClr val="E6EDF3"/>
                </a:solidFill>
                <a:latin typeface="Consolas"/>
              </a:rPr>
              <a:t>)</a:t>
            </a:r>
          </a:p>
          <a:p>
            <a:pPr>
              <a:lnSpc>
                <a:spcPts val="1000"/>
              </a:lnSpc>
              <a:spcAft>
                <a:spcPts val="0"/>
              </a:spcAft>
            </a:pPr>
            <a:r>
              <a:rPr sz="775" i="0">
                <a:solidFill>
                  <a:srgbClr val="5C6773"/>
                </a:solidFill>
                <a:latin typeface="Consolas"/>
              </a:rPr>
              <a:t>45  </a:t>
            </a:r>
            <a:r>
              <a:rPr sz="775" i="0">
                <a:solidFill>
                  <a:srgbClr val="E6EDF3"/>
                </a:solidFill>
                <a:latin typeface="Consolas"/>
              </a:rPr>
              <a:t>        </a:t>
            </a:r>
            <a:r>
              <a:rPr sz="775" i="0">
                <a:solidFill>
                  <a:srgbClr val="FF8E6E"/>
                </a:solidFill>
                <a:latin typeface="Consolas"/>
              </a:rPr>
              <a:t>return</a:t>
            </a:r>
            <a:r>
              <a:rPr sz="775" i="0">
                <a:solidFill>
                  <a:srgbClr val="E6EDF3"/>
                </a:solidFill>
                <a:latin typeface="Consolas"/>
              </a:rPr>
              <a:t> </a:t>
            </a:r>
            <a:r>
              <a:rPr sz="775" i="0">
                <a:solidFill>
                  <a:srgbClr val="E6EDF3"/>
                </a:solidFill>
                <a:latin typeface="Consolas"/>
              </a:rPr>
              <a:t>cur</a:t>
            </a:r>
            <a:r>
              <a:rPr sz="775" i="0">
                <a:solidFill>
                  <a:srgbClr val="E6EDF3"/>
                </a:solidFill>
                <a:latin typeface="Consolas"/>
              </a:rPr>
              <a:t>.</a:t>
            </a:r>
            <a:r>
              <a:rPr sz="775" i="0">
                <a:solidFill>
                  <a:srgbClr val="E6EDF3"/>
                </a:solidFill>
                <a:latin typeface="Consolas"/>
              </a:rPr>
              <a:t>lastrowid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Dependency Dikirim dari Luar (3/4)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05-dip/after.py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48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EmailNotifier</a:t>
            </a:r>
            <a:r>
              <a:rPr sz="850" i="0">
                <a:solidFill>
                  <a:srgbClr val="E6EDF3"/>
                </a:solidFill>
                <a:latin typeface="Consolas"/>
              </a:rPr>
              <a:t>:</a:t>
            </a:r>
          </a:p>
          <a:p>
            <a:pPr>
              <a:lnSpc>
                <a:spcPts val="1100"/>
              </a:lnSpc>
              <a:spcAft>
                <a:spcPts val="0"/>
              </a:spcAft>
            </a:pPr>
            <a:r>
              <a:rPr sz="850" i="0">
                <a:solidFill>
                  <a:srgbClr val="5C6773"/>
                </a:solidFill>
                <a:latin typeface="Consolas"/>
              </a:rPr>
              <a:t>49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send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message</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p>
          <a:p>
            <a:pPr>
              <a:lnSpc>
                <a:spcPts val="1100"/>
              </a:lnSpc>
              <a:spcAft>
                <a:spcPts val="0"/>
              </a:spcAft>
            </a:pPr>
            <a:r>
              <a:rPr sz="850" i="0">
                <a:solidFill>
                  <a:srgbClr val="5C6773"/>
                </a:solidFill>
                <a:latin typeface="Consolas"/>
              </a:rPr>
              <a:t>50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A5D6A7"/>
                </a:solidFill>
                <a:latin typeface="Consolas"/>
              </a:rPr>
              <a:t>f"[EMAIL] ke {to}: {message}"</a:t>
            </a:r>
            <a:r>
              <a:rPr sz="850" i="0">
                <a:solidFill>
                  <a:srgbClr val="E6EDF3"/>
                </a:solidFill>
                <a:latin typeface="Consolas"/>
              </a:rPr>
              <a:t>)</a:t>
            </a:r>
          </a:p>
          <a:p>
            <a:pPr>
              <a:lnSpc>
                <a:spcPts val="1100"/>
              </a:lnSpc>
              <a:spcAft>
                <a:spcPts val="0"/>
              </a:spcAft>
            </a:pPr>
            <a:r>
              <a:rPr sz="850" i="0">
                <a:solidFill>
                  <a:srgbClr val="5C6773"/>
                </a:solidFill>
                <a:latin typeface="Consolas"/>
              </a:rPr>
              <a:t>51  </a:t>
            </a:r>
            <a:r>
              <a:rPr sz="850" i="0">
                <a:solidFill>
                  <a:srgbClr val="E6EDF3"/>
                </a:solidFill>
                <a:latin typeface="Consolas"/>
              </a:rPr>
              <a:t> </a:t>
            </a:r>
          </a:p>
          <a:p>
            <a:pPr>
              <a:lnSpc>
                <a:spcPts val="1100"/>
              </a:lnSpc>
              <a:spcAft>
                <a:spcPts val="0"/>
              </a:spcAft>
            </a:pPr>
            <a:r>
              <a:rPr sz="850" i="0">
                <a:solidFill>
                  <a:srgbClr val="5C6773"/>
                </a:solidFill>
                <a:latin typeface="Consolas"/>
              </a:rPr>
              <a:t>52  </a:t>
            </a:r>
            <a:r>
              <a:rPr sz="850" i="0">
                <a:solidFill>
                  <a:srgbClr val="E6EDF3"/>
                </a:solidFill>
                <a:latin typeface="Consolas"/>
              </a:rPr>
              <a:t> </a:t>
            </a:r>
          </a:p>
          <a:p>
            <a:pPr>
              <a:lnSpc>
                <a:spcPts val="1100"/>
              </a:lnSpc>
              <a:spcAft>
                <a:spcPts val="0"/>
              </a:spcAft>
            </a:pPr>
            <a:r>
              <a:rPr sz="850" i="0">
                <a:solidFill>
                  <a:srgbClr val="5C6773"/>
                </a:solidFill>
                <a:latin typeface="Consolas"/>
              </a:rPr>
              <a:t>53  </a:t>
            </a:r>
            <a:r>
              <a:rPr sz="850" i="1">
                <a:solidFill>
                  <a:srgbClr val="8B98A8"/>
                </a:solidFill>
                <a:latin typeface="Consolas"/>
              </a:rPr>
              <a:t># ---------- implementasi untuk test ----------</a:t>
            </a:r>
          </a:p>
          <a:p>
            <a:pPr>
              <a:lnSpc>
                <a:spcPts val="1100"/>
              </a:lnSpc>
              <a:spcAft>
                <a:spcPts val="0"/>
              </a:spcAft>
            </a:pPr>
            <a:r>
              <a:rPr sz="850" i="0">
                <a:solidFill>
                  <a:srgbClr val="5C6773"/>
                </a:solidFill>
                <a:latin typeface="Consolas"/>
              </a:rPr>
              <a:t>54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InMemoryOrderRepository</a:t>
            </a:r>
            <a:r>
              <a:rPr sz="850" i="0">
                <a:solidFill>
                  <a:srgbClr val="E6EDF3"/>
                </a:solidFill>
                <a:latin typeface="Consolas"/>
              </a:rPr>
              <a:t>:</a:t>
            </a:r>
          </a:p>
          <a:p>
            <a:pPr>
              <a:lnSpc>
                <a:spcPts val="1100"/>
              </a:lnSpc>
              <a:spcAft>
                <a:spcPts val="0"/>
              </a:spcAft>
            </a:pPr>
            <a:r>
              <a:rPr sz="850" i="0">
                <a:solidFill>
                  <a:srgbClr val="5C6773"/>
                </a:solidFill>
                <a:latin typeface="Consolas"/>
              </a:rPr>
              <a:t>55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56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rows</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list</a:t>
            </a:r>
            <a:r>
              <a:rPr sz="850" i="0">
                <a:solidFill>
                  <a:srgbClr val="E6EDF3"/>
                </a:solidFill>
                <a:latin typeface="Consolas"/>
              </a:rPr>
              <a:t>[</a:t>
            </a:r>
            <a:r>
              <a:rPr sz="850" i="0">
                <a:solidFill>
                  <a:srgbClr val="C3A6FF"/>
                </a:solidFill>
                <a:latin typeface="Consolas"/>
              </a:rPr>
              <a:t>tuple</a:t>
            </a:r>
            <a:r>
              <a:rPr sz="850" i="0">
                <a:solidFill>
                  <a:srgbClr val="E6EDF3"/>
                </a:solidFill>
                <a:latin typeface="Consolas"/>
              </a:rPr>
              <a:t>[</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57  </a:t>
            </a:r>
            <a:r>
              <a:rPr sz="850" i="0">
                <a:solidFill>
                  <a:srgbClr val="E6EDF3"/>
                </a:solidFill>
                <a:latin typeface="Consolas"/>
              </a:rPr>
              <a:t> </a:t>
            </a:r>
          </a:p>
          <a:p>
            <a:pPr>
              <a:lnSpc>
                <a:spcPts val="1100"/>
              </a:lnSpc>
              <a:spcAft>
                <a:spcPts val="0"/>
              </a:spcAft>
            </a:pPr>
            <a:r>
              <a:rPr sz="850" i="0">
                <a:solidFill>
                  <a:srgbClr val="5C6773"/>
                </a:solidFill>
                <a:latin typeface="Consolas"/>
              </a:rPr>
              <a:t>58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p>
          <a:p>
            <a:pPr>
              <a:lnSpc>
                <a:spcPts val="1100"/>
              </a:lnSpc>
              <a:spcAft>
                <a:spcPts val="0"/>
              </a:spcAft>
            </a:pPr>
            <a:r>
              <a:rPr sz="850" i="0">
                <a:solidFill>
                  <a:srgbClr val="5C6773"/>
                </a:solidFill>
                <a:latin typeface="Consolas"/>
              </a:rPr>
              <a:t>59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rows</a:t>
            </a:r>
            <a:r>
              <a:rPr sz="850" i="0">
                <a:solidFill>
                  <a:srgbClr val="E6EDF3"/>
                </a:solidFill>
                <a:latin typeface="Consolas"/>
              </a:rPr>
              <a:t>.</a:t>
            </a:r>
            <a:r>
              <a:rPr sz="850" i="0">
                <a:solidFill>
                  <a:srgbClr val="E6EDF3"/>
                </a:solidFill>
                <a:latin typeface="Consolas"/>
              </a:rPr>
              <a:t>append</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60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C3A6FF"/>
                </a:solidFill>
                <a:latin typeface="Consolas"/>
              </a:rPr>
              <a:t>len</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rows</a:t>
            </a:r>
            <a:r>
              <a:rPr sz="850" i="0">
                <a:solidFill>
                  <a:srgbClr val="E6EDF3"/>
                </a:solidFill>
                <a:latin typeface="Consolas"/>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Dependency Dikirim dari Luar (4/4)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05-dip/after.py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63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FakeNotifier</a:t>
            </a:r>
            <a:r>
              <a:rPr sz="850" i="0">
                <a:solidFill>
                  <a:srgbClr val="E6EDF3"/>
                </a:solidFill>
                <a:latin typeface="Consolas"/>
              </a:rPr>
              <a:t>:</a:t>
            </a:r>
          </a:p>
          <a:p>
            <a:pPr>
              <a:lnSpc>
                <a:spcPts val="1100"/>
              </a:lnSpc>
              <a:spcAft>
                <a:spcPts val="0"/>
              </a:spcAft>
            </a:pPr>
            <a:r>
              <a:rPr sz="850" i="0">
                <a:solidFill>
                  <a:srgbClr val="5C6773"/>
                </a:solidFill>
                <a:latin typeface="Consolas"/>
              </a:rPr>
              <a:t>64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65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sent</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list</a:t>
            </a:r>
            <a:r>
              <a:rPr sz="850" i="0">
                <a:solidFill>
                  <a:srgbClr val="E6EDF3"/>
                </a:solidFill>
                <a:latin typeface="Consolas"/>
              </a:rPr>
              <a:t>[</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66  </a:t>
            </a:r>
            <a:r>
              <a:rPr sz="850" i="0">
                <a:solidFill>
                  <a:srgbClr val="E6EDF3"/>
                </a:solidFill>
                <a:latin typeface="Consolas"/>
              </a:rPr>
              <a:t> </a:t>
            </a:r>
          </a:p>
          <a:p>
            <a:pPr>
              <a:lnSpc>
                <a:spcPts val="1100"/>
              </a:lnSpc>
              <a:spcAft>
                <a:spcPts val="0"/>
              </a:spcAft>
            </a:pPr>
            <a:r>
              <a:rPr sz="850" i="0">
                <a:solidFill>
                  <a:srgbClr val="5C6773"/>
                </a:solidFill>
                <a:latin typeface="Consolas"/>
              </a:rPr>
              <a:t>67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send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message</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p>
          <a:p>
            <a:pPr>
              <a:lnSpc>
                <a:spcPts val="1100"/>
              </a:lnSpc>
              <a:spcAft>
                <a:spcPts val="0"/>
              </a:spcAft>
            </a:pPr>
            <a:r>
              <a:rPr sz="850" i="0">
                <a:solidFill>
                  <a:srgbClr val="5C6773"/>
                </a:solidFill>
                <a:latin typeface="Consolas"/>
              </a:rPr>
              <a:t>68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sent</a:t>
            </a:r>
            <a:r>
              <a:rPr sz="850" i="0">
                <a:solidFill>
                  <a:srgbClr val="E6EDF3"/>
                </a:solidFill>
                <a:latin typeface="Consolas"/>
              </a:rPr>
              <a:t>.</a:t>
            </a:r>
            <a:r>
              <a:rPr sz="850" i="0">
                <a:solidFill>
                  <a:srgbClr val="E6EDF3"/>
                </a:solidFill>
                <a:latin typeface="Consolas"/>
              </a:rPr>
              <a:t>append</a:t>
            </a:r>
            <a:r>
              <a:rPr sz="850" i="0">
                <a:solidFill>
                  <a:srgbClr val="E6EDF3"/>
                </a:solidFill>
                <a:latin typeface="Consolas"/>
              </a:rPr>
              <a:t>(</a:t>
            </a:r>
            <a:r>
              <a:rPr sz="850" i="0">
                <a:solidFill>
                  <a:srgbClr val="E6EDF3"/>
                </a:solidFill>
                <a:latin typeface="Consolas"/>
              </a:rPr>
              <a:t>to</a:t>
            </a:r>
            <a:r>
              <a:rPr sz="850" i="0">
                <a:solidFill>
                  <a:srgbClr val="E6EDF3"/>
                </a:solidFill>
                <a:latin typeface="Consolas"/>
              </a:rPr>
              <a:t>)</a:t>
            </a:r>
          </a:p>
          <a:p>
            <a:pPr>
              <a:lnSpc>
                <a:spcPts val="1100"/>
              </a:lnSpc>
              <a:spcAft>
                <a:spcPts val="0"/>
              </a:spcAft>
            </a:pPr>
            <a:r>
              <a:rPr sz="850" i="0">
                <a:solidFill>
                  <a:srgbClr val="5C6773"/>
                </a:solidFill>
                <a:latin typeface="Consolas"/>
              </a:rPr>
              <a:t>69  </a:t>
            </a:r>
            <a:r>
              <a:rPr sz="850" i="0">
                <a:solidFill>
                  <a:srgbClr val="E6EDF3"/>
                </a:solidFill>
                <a:latin typeface="Consolas"/>
              </a:rPr>
              <a:t> </a:t>
            </a:r>
          </a:p>
          <a:p>
            <a:pPr>
              <a:lnSpc>
                <a:spcPts val="1100"/>
              </a:lnSpc>
              <a:spcAft>
                <a:spcPts val="0"/>
              </a:spcAft>
            </a:pPr>
            <a:r>
              <a:rPr sz="850" i="0">
                <a:solidFill>
                  <a:srgbClr val="5C6773"/>
                </a:solidFill>
                <a:latin typeface="Consolas"/>
              </a:rPr>
              <a:t>70  </a:t>
            </a:r>
            <a:r>
              <a:rPr sz="850" i="0">
                <a:solidFill>
                  <a:srgbClr val="E6EDF3"/>
                </a:solidFill>
                <a:latin typeface="Consolas"/>
              </a:rPr>
              <a:t> </a:t>
            </a:r>
          </a:p>
          <a:p>
            <a:pPr>
              <a:lnSpc>
                <a:spcPts val="1100"/>
              </a:lnSpc>
              <a:spcAft>
                <a:spcPts val="0"/>
              </a:spcAft>
            </a:pPr>
            <a:r>
              <a:rPr sz="850" i="0">
                <a:solidFill>
                  <a:srgbClr val="5C6773"/>
                </a:solidFill>
                <a:latin typeface="Consolas"/>
              </a:rPr>
              <a:t>71  </a:t>
            </a:r>
            <a:r>
              <a:rPr sz="850" i="0">
                <a:solidFill>
                  <a:srgbClr val="FF8E6E"/>
                </a:solidFill>
                <a:latin typeface="Consolas"/>
              </a:rPr>
              <a:t>if</a:t>
            </a:r>
            <a:r>
              <a:rPr sz="850" i="0">
                <a:solidFill>
                  <a:srgbClr val="E6EDF3"/>
                </a:solidFill>
                <a:latin typeface="Consolas"/>
              </a:rPr>
              <a:t> </a:t>
            </a:r>
            <a:r>
              <a:rPr sz="850" i="0">
                <a:solidFill>
                  <a:srgbClr val="E6EDF3"/>
                </a:solidFill>
                <a:latin typeface="Consolas"/>
              </a:rPr>
              <a:t>__name__</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"__main__"</a:t>
            </a:r>
            <a:r>
              <a:rPr sz="850" i="0">
                <a:solidFill>
                  <a:srgbClr val="E6EDF3"/>
                </a:solidFill>
                <a:latin typeface="Consolas"/>
              </a:rPr>
              <a:t>:</a:t>
            </a:r>
          </a:p>
          <a:p>
            <a:pPr>
              <a:lnSpc>
                <a:spcPts val="1100"/>
              </a:lnSpc>
              <a:spcAft>
                <a:spcPts val="0"/>
              </a:spcAft>
            </a:pPr>
            <a:r>
              <a:rPr sz="850" i="0">
                <a:solidFill>
                  <a:srgbClr val="5C6773"/>
                </a:solidFill>
                <a:latin typeface="Consolas"/>
              </a:rPr>
              <a:t>72  </a:t>
            </a:r>
            <a:r>
              <a:rPr sz="850" i="0">
                <a:solidFill>
                  <a:srgbClr val="E6EDF3"/>
                </a:solidFill>
                <a:latin typeface="Consolas"/>
              </a:rPr>
              <a:t>    </a:t>
            </a:r>
            <a:r>
              <a:rPr sz="850" i="0">
                <a:solidFill>
                  <a:srgbClr val="E6EDF3"/>
                </a:solidFill>
                <a:latin typeface="Consolas"/>
              </a:rPr>
              <a:t>app_service</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r>
              <a:rPr sz="850" i="0">
                <a:solidFill>
                  <a:srgbClr val="7FDBCA"/>
                </a:solidFill>
                <a:latin typeface="Consolas"/>
              </a:rPr>
              <a:t>SqliteOrderRepository</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EmailNotifier</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73  </a:t>
            </a:r>
            <a:r>
              <a:rPr sz="850" i="0">
                <a:solidFill>
                  <a:srgbClr val="E6EDF3"/>
                </a:solidFill>
                <a:latin typeface="Consolas"/>
              </a:rPr>
              <a:t>    </a:t>
            </a:r>
            <a:r>
              <a:rPr sz="850" i="0">
                <a:solidFill>
                  <a:srgbClr val="E6EDF3"/>
                </a:solidFill>
                <a:latin typeface="Consolas"/>
              </a:rPr>
              <a:t>app_service</a:t>
            </a:r>
            <a:r>
              <a:rPr sz="850" i="0">
                <a:solidFill>
                  <a:srgbClr val="E6EDF3"/>
                </a:solidFill>
                <a:latin typeface="Consolas"/>
              </a:rPr>
              <a:t>.</a:t>
            </a:r>
            <a:r>
              <a:rPr sz="850" i="0">
                <a:solidFill>
                  <a:srgbClr val="E6EDF3"/>
                </a:solidFill>
                <a:latin typeface="Consolas"/>
              </a:rPr>
              <a:t>place_order</a:t>
            </a:r>
            <a:r>
              <a:rPr sz="850" i="0">
                <a:solidFill>
                  <a:srgbClr val="E6EDF3"/>
                </a:solidFill>
                <a:latin typeface="Consolas"/>
              </a:rPr>
              <a:t>(</a:t>
            </a:r>
            <a:r>
              <a:rPr sz="850" i="0">
                <a:solidFill>
                  <a:srgbClr val="A5D6A7"/>
                </a:solidFill>
                <a:latin typeface="Consolas"/>
              </a:rPr>
              <a:t>"budi@mail.com"</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150_000</a:t>
            </a:r>
            <a:r>
              <a:rPr sz="850" i="0">
                <a:solidFill>
                  <a:srgbClr val="E6EDF3"/>
                </a:solidFill>
                <a:latin typeface="Consolas"/>
              </a:rPr>
              <a:t>)</a:t>
            </a:r>
          </a:p>
          <a:p>
            <a:pPr>
              <a:lnSpc>
                <a:spcPts val="1100"/>
              </a:lnSpc>
              <a:spcAft>
                <a:spcPts val="0"/>
              </a:spcAft>
            </a:pPr>
            <a:r>
              <a:rPr sz="850" i="0">
                <a:solidFill>
                  <a:srgbClr val="5C6773"/>
                </a:solidFill>
                <a:latin typeface="Consolas"/>
              </a:rPr>
              <a:t>74  </a:t>
            </a:r>
            <a:r>
              <a:rPr sz="850" i="0">
                <a:solidFill>
                  <a:srgbClr val="E6EDF3"/>
                </a:solidFill>
                <a:latin typeface="Consolas"/>
              </a:rPr>
              <a:t> </a:t>
            </a:r>
          </a:p>
          <a:p>
            <a:pPr>
              <a:lnSpc>
                <a:spcPts val="1100"/>
              </a:lnSpc>
              <a:spcAft>
                <a:spcPts val="0"/>
              </a:spcAft>
            </a:pPr>
            <a:r>
              <a:rPr sz="850" i="0">
                <a:solidFill>
                  <a:srgbClr val="5C6773"/>
                </a:solidFill>
                <a:latin typeface="Consolas"/>
              </a:rPr>
              <a:t>75  </a:t>
            </a:r>
            <a:r>
              <a:rPr sz="850" i="0">
                <a:solidFill>
                  <a:srgbClr val="E6EDF3"/>
                </a:solidFill>
                <a:latin typeface="Consolas"/>
              </a:rPr>
              <a:t>    </a:t>
            </a:r>
            <a:r>
              <a:rPr sz="850" i="0">
                <a:solidFill>
                  <a:srgbClr val="E6EDF3"/>
                </a:solidFill>
                <a:latin typeface="Consolas"/>
              </a:rPr>
              <a:t>notifier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FakeNotifier</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76  </a:t>
            </a:r>
            <a:r>
              <a:rPr sz="850" i="0">
                <a:solidFill>
                  <a:srgbClr val="E6EDF3"/>
                </a:solidFill>
                <a:latin typeface="Consolas"/>
              </a:rPr>
              <a:t>    </a:t>
            </a:r>
            <a:r>
              <a:rPr sz="850" i="0">
                <a:solidFill>
                  <a:srgbClr val="E6EDF3"/>
                </a:solidFill>
                <a:latin typeface="Consolas"/>
              </a:rPr>
              <a:t>test_service</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r>
              <a:rPr sz="850" i="0">
                <a:solidFill>
                  <a:srgbClr val="7FDBCA"/>
                </a:solidFill>
                <a:latin typeface="Consolas"/>
              </a:rPr>
              <a:t>InMemoryOrderRepository</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notifier</a:t>
            </a:r>
            <a:r>
              <a:rPr sz="850" i="0">
                <a:solidFill>
                  <a:srgbClr val="E6EDF3"/>
                </a:solidFill>
                <a:latin typeface="Consolas"/>
              </a:rPr>
              <a:t>)</a:t>
            </a:r>
          </a:p>
          <a:p>
            <a:pPr>
              <a:lnSpc>
                <a:spcPts val="1100"/>
              </a:lnSpc>
              <a:spcAft>
                <a:spcPts val="0"/>
              </a:spcAft>
            </a:pPr>
            <a:r>
              <a:rPr sz="850" i="0">
                <a:solidFill>
                  <a:srgbClr val="5C6773"/>
                </a:solidFill>
                <a:latin typeface="Consolas"/>
              </a:rPr>
              <a:t>77  </a:t>
            </a:r>
            <a:r>
              <a:rPr sz="850" i="0">
                <a:solidFill>
                  <a:srgbClr val="E6EDF3"/>
                </a:solidFill>
                <a:latin typeface="Consolas"/>
              </a:rPr>
              <a:t>    </a:t>
            </a:r>
            <a:r>
              <a:rPr sz="850" i="0">
                <a:solidFill>
                  <a:srgbClr val="E6EDF3"/>
                </a:solidFill>
                <a:latin typeface="Consolas"/>
              </a:rPr>
              <a:t>test_service</a:t>
            </a:r>
            <a:r>
              <a:rPr sz="850" i="0">
                <a:solidFill>
                  <a:srgbClr val="E6EDF3"/>
                </a:solidFill>
                <a:latin typeface="Consolas"/>
              </a:rPr>
              <a:t>.</a:t>
            </a:r>
            <a:r>
              <a:rPr sz="850" i="0">
                <a:solidFill>
                  <a:srgbClr val="E6EDF3"/>
                </a:solidFill>
                <a:latin typeface="Consolas"/>
              </a:rPr>
              <a:t>place_order</a:t>
            </a:r>
            <a:r>
              <a:rPr sz="850" i="0">
                <a:solidFill>
                  <a:srgbClr val="E6EDF3"/>
                </a:solidFill>
                <a:latin typeface="Consolas"/>
              </a:rPr>
              <a:t>(</a:t>
            </a:r>
            <a:r>
              <a:rPr sz="850" i="0">
                <a:solidFill>
                  <a:srgbClr val="A5D6A7"/>
                </a:solidFill>
                <a:latin typeface="Consolas"/>
              </a:rPr>
              <a:t>"budi@mail.com"</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150_000</a:t>
            </a:r>
            <a:r>
              <a:rPr sz="850" i="0">
                <a:solidFill>
                  <a:srgbClr val="E6EDF3"/>
                </a:solidFill>
                <a:latin typeface="Consolas"/>
              </a:rPr>
              <a:t>)</a:t>
            </a:r>
          </a:p>
          <a:p>
            <a:pPr>
              <a:lnSpc>
                <a:spcPts val="1100"/>
              </a:lnSpc>
              <a:spcAft>
                <a:spcPts val="0"/>
              </a:spcAft>
            </a:pPr>
            <a:r>
              <a:rPr sz="850" i="0">
                <a:solidFill>
                  <a:srgbClr val="5C6773"/>
                </a:solidFill>
                <a:latin typeface="Consolas"/>
              </a:rPr>
              <a:t>78  </a:t>
            </a:r>
            <a:r>
              <a:rPr sz="850" i="0">
                <a:solidFill>
                  <a:srgbClr val="E6EDF3"/>
                </a:solidFill>
                <a:latin typeface="Consolas"/>
              </a:rPr>
              <a:t>    </a:t>
            </a:r>
            <a:r>
              <a:rPr sz="850" i="0">
                <a:solidFill>
                  <a:srgbClr val="C3A6FF"/>
                </a:solidFill>
                <a:latin typeface="Consolas"/>
              </a:rPr>
              <a:t>print</a:t>
            </a:r>
            <a:r>
              <a:rPr sz="850" i="0">
                <a:solidFill>
                  <a:srgbClr val="E6EDF3"/>
                </a:solidFill>
                <a:latin typeface="Consolas"/>
              </a:rPr>
              <a:t>(</a:t>
            </a:r>
            <a:r>
              <a:rPr sz="850" i="0">
                <a:solidFill>
                  <a:srgbClr val="A5D6A7"/>
                </a:solidFill>
                <a:latin typeface="Consolas"/>
              </a:rPr>
              <a:t>"fake notifier menerima:"</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notifier</a:t>
            </a:r>
            <a:r>
              <a:rPr sz="850" i="0">
                <a:solidFill>
                  <a:srgbClr val="E6EDF3"/>
                </a:solidFill>
                <a:latin typeface="Consolas"/>
              </a:rPr>
              <a:t>.</a:t>
            </a:r>
            <a:r>
              <a:rPr sz="850" i="0">
                <a:solidFill>
                  <a:srgbClr val="E6EDF3"/>
                </a:solidFill>
                <a:latin typeface="Consolas"/>
              </a:rPr>
              <a:t>sent</a:t>
            </a:r>
            <a:r>
              <a:rPr sz="850" i="0">
                <a:solidFill>
                  <a:srgbClr val="E6EDF3"/>
                </a:solidFill>
                <a:latin typeface="Consolas"/>
              </a:rPr>
              <a:t>)</a:t>
            </a:r>
          </a:p>
        </p:txBody>
      </p:sp>
      <p:sp>
        <p:nvSpPr>
          <p:cNvPr id="29" name="Box 12"/>
          <p:cNvSpPr/>
          <p:nvPr/>
        </p:nvSpPr>
        <p:spPr>
          <a:xfrm>
            <a:off x="704088" y="3085973"/>
            <a:ext cx="7699248"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31026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
        <p:nvSpPr>
          <p:cNvPr id="31" name="Box 14"/>
          <p:cNvSpPr/>
          <p:nvPr/>
        </p:nvSpPr>
        <p:spPr>
          <a:xfrm>
            <a:off x="704088" y="3505073"/>
            <a:ext cx="7699248" cy="550418"/>
          </a:xfrm>
          <a:prstGeom prst="roundRect">
            <a:avLst>
              <a:gd name="adj" fmla="val 830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6614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 · Dependency Inversion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05-dip/after.py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sesi-02-solid-clean-architecture/05-dip</a:t>
            </a:r>
          </a:p>
          <a:p>
            <a:pPr>
              <a:lnSpc>
                <a:spcPts val="1000"/>
              </a:lnSpc>
              <a:spcAft>
                <a:spcPts val="0"/>
              </a:spcAft>
            </a:pPr>
            <a:r>
              <a:rPr sz="775" i="0">
                <a:solidFill>
                  <a:srgbClr val="82B1FF"/>
                </a:solidFill>
                <a:latin typeface="Consolas"/>
              </a:rPr>
              <a:t>$ python after.py</a:t>
            </a:r>
          </a:p>
        </p:txBody>
      </p:sp>
      <p:pic>
        <p:nvPicPr>
          <p:cNvPr id="29" name="Image 12" descr="s02-05-dip-after.png"/>
          <p:cNvPicPr>
            <a:picLocks noChangeAspect="1"/>
          </p:cNvPicPr>
          <p:nvPr/>
        </p:nvPicPr>
        <p:blipFill>
          <a:blip r:embed="rId2"/>
          <a:stretch>
            <a:fillRect/>
          </a:stretch>
        </p:blipFill>
        <p:spPr>
          <a:xfrm>
            <a:off x="621792" y="2240280"/>
            <a:ext cx="4297680" cy="1088136"/>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Abstraksi: </a:t>
            </a:r>
            <a:r>
              <a:rPr sz="950" i="0" b="0">
                <a:solidFill>
                  <a:srgbClr val="B5482A"/>
                </a:solidFill>
                <a:latin typeface="Consolas"/>
              </a:rPr>
              <a:t>Protocol</a:t>
            </a:r>
            <a:r>
              <a:rPr sz="950" i="0" b="0">
                <a:solidFill>
                  <a:srgbClr val="434343"/>
                </a:solidFill>
                <a:latin typeface="Inter"/>
              </a:rPr>
              <a:t> berisi method yang dibutuhkan (baris 11-16)</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OrderService</a:t>
            </a:r>
            <a:r>
              <a:rPr sz="950" i="0" b="0">
                <a:solidFill>
                  <a:srgbClr val="434343"/>
                </a:solidFill>
                <a:latin typeface="Inter"/>
              </a:rPr>
              <a:t> menerima dependency lewat </a:t>
            </a:r>
            <a:r>
              <a:rPr sz="950" i="0" b="0">
                <a:solidFill>
                  <a:srgbClr val="B5482A"/>
                </a:solidFill>
                <a:latin typeface="Consolas"/>
              </a:rPr>
              <a:t>__init__</a:t>
            </a:r>
            <a:r>
              <a:rPr sz="950" i="0" b="0">
                <a:solidFill>
                  <a:srgbClr val="434343"/>
                </a:solidFill>
                <a:latin typeface="Inter"/>
              </a:rPr>
              <a:t> (baris 20-22)</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Aplikasi mengirim SQLite + email (baris 72-73)</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Test mengirim versi in-memory (baris 75-78)</a:t>
            </a:r>
          </a:p>
          <a:p>
            <a:pPr algn="l">
              <a:lnSpc>
                <a:spcPct val="115000"/>
              </a:lnSpc>
              <a:spcAft>
                <a:spcPts val="0"/>
              </a:spcAft>
            </a:pPr>
            <a:r>
              <a:rPr sz="570"/>
              <a:t/>
            </a:r>
          </a:p>
          <a:p>
            <a:pPr algn="l">
              <a:lnSpc>
                <a:spcPct val="115000"/>
              </a:lnSpc>
              <a:spcAft>
                <a:spcPts val="400"/>
              </a:spcAft>
            </a:pPr>
            <a:r>
              <a:rPr sz="950" i="0" b="0">
                <a:solidFill>
                  <a:srgbClr val="434343"/>
                </a:solidFill>
                <a:latin typeface="Inter"/>
              </a:rPr>
              <a:t>Inilah dependency injection, tanpa library apa pun.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 name="Text 1"/>
          <p:cNvSpPr txBox="1"/>
          <p:nvPr/>
        </p:nvSpPr>
        <p:spPr>
          <a:xfrm>
            <a:off x="822960" y="1600200"/>
            <a:ext cx="7315200" cy="365760"/>
          </a:xfrm>
          <a:prstGeom prst="rect">
            <a:avLst/>
          </a:prstGeom>
          <a:noFill/>
        </p:spPr>
        <p:txBody>
          <a:bodyPr wrap="square" anchor="t" lIns="45720" rIns="45720">
            <a:spAutoFit/>
          </a:bodyPr>
          <a:lstStyle/>
          <a:p>
            <a:pPr algn="l">
              <a:lnSpc>
                <a:spcPct val="115000"/>
              </a:lnSpc>
              <a:spcAft>
                <a:spcPts val="400"/>
              </a:spcAft>
            </a:pPr>
            <a:r>
              <a:rPr sz="1400" i="0" b="0">
                <a:solidFill>
                  <a:srgbClr val="CFE0FA"/>
                </a:solidFill>
                <a:latin typeface="Inter"/>
              </a:rPr>
              <a:t>Bagian 02</a:t>
            </a:r>
          </a:p>
        </p:txBody>
      </p:sp>
      <p:sp>
        <p:nvSpPr>
          <p:cNvPr id="32" name="Text 2"/>
          <p:cNvSpPr txBox="1"/>
          <p:nvPr/>
        </p:nvSpPr>
        <p:spPr>
          <a:xfrm>
            <a:off x="822960" y="1920240"/>
            <a:ext cx="7315200" cy="822960"/>
          </a:xfrm>
          <a:prstGeom prst="rect">
            <a:avLst/>
          </a:prstGeom>
          <a:noFill/>
        </p:spPr>
        <p:txBody>
          <a:bodyPr wrap="square" anchor="t" lIns="45720" rIns="45720">
            <a:spAutoFit/>
          </a:bodyPr>
          <a:lstStyle/>
          <a:p>
            <a:pPr algn="l">
              <a:lnSpc>
                <a:spcPct val="115000"/>
              </a:lnSpc>
              <a:spcAft>
                <a:spcPts val="400"/>
              </a:spcAft>
            </a:pPr>
            <a:r>
              <a:rPr sz="3000" i="0" b="0">
                <a:solidFill>
                  <a:srgbClr val="FFFFFF"/>
                </a:solidFill>
                <a:latin typeface="Work Sans ExtraBold"/>
              </a:rPr>
              <a:t>Clean Architecture</a:t>
            </a:r>
          </a:p>
        </p:txBody>
      </p:sp>
      <p:sp>
        <p:nvSpPr>
          <p:cNvPr id="33" name="Text 3"/>
          <p:cNvSpPr txBox="1"/>
          <p:nvPr/>
        </p:nvSpPr>
        <p:spPr>
          <a:xfrm>
            <a:off x="822960" y="2743200"/>
            <a:ext cx="6583680" cy="731520"/>
          </a:xfrm>
          <a:prstGeom prst="rect">
            <a:avLst/>
          </a:prstGeom>
          <a:noFill/>
        </p:spPr>
        <p:txBody>
          <a:bodyPr wrap="square" anchor="t" lIns="45720" rIns="45720">
            <a:spAutoFit/>
          </a:bodyPr>
          <a:lstStyle/>
          <a:p>
            <a:pPr algn="l">
              <a:lnSpc>
                <a:spcPct val="115000"/>
              </a:lnSpc>
              <a:spcAft>
                <a:spcPts val="400"/>
              </a:spcAft>
            </a:pPr>
            <a:r>
              <a:rPr sz="1200" i="0" b="0">
                <a:solidFill>
                  <a:srgbClr val="E3ECFA"/>
                </a:solidFill>
                <a:latin typeface="Inter"/>
              </a:rPr>
              <a:t>Membagi aplikasi per layer dan mengatur arah dependency-nya.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Clean Architecture</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Clean Architecture?</a:t>
            </a:r>
          </a:p>
        </p:txBody>
      </p:sp>
      <p:sp>
        <p:nvSpPr>
          <p:cNvPr id="22" name="Text 3"/>
          <p:cNvSpPr txBox="1"/>
          <p:nvPr/>
        </p:nvSpPr>
        <p:spPr>
          <a:xfrm>
            <a:off x="621792" y="1481328"/>
            <a:ext cx="4114800" cy="3291840"/>
          </a:xfrm>
          <a:prstGeom prst="rect">
            <a:avLst/>
          </a:prstGeom>
          <a:noFill/>
        </p:spPr>
        <p:txBody>
          <a:bodyPr wrap="square" anchor="t" lIns="45720" rIns="45720">
            <a:spAutoFit/>
          </a:bodyPr>
          <a:lstStyle/>
          <a:p>
            <a:pPr algn="l">
              <a:lnSpc>
                <a:spcPct val="115000"/>
              </a:lnSpc>
              <a:spcAft>
                <a:spcPts val="400"/>
              </a:spcAft>
            </a:pPr>
            <a:r>
              <a:rPr sz="1000" i="0" b="1">
                <a:solidFill>
                  <a:srgbClr val="1C4587"/>
                </a:solidFill>
                <a:latin typeface="Inter"/>
              </a:rPr>
              <a:t>Tanpa Clean Architecture</a:t>
            </a:r>
          </a:p>
          <a:p>
            <a:pPr algn="l">
              <a:lnSpc>
                <a:spcPct val="115000"/>
              </a:lnSpc>
              <a:spcAft>
                <a:spcPts val="400"/>
              </a:spcAft>
            </a:pPr>
            <a:r>
              <a:rPr sz="900" i="0" b="0">
                <a:solidFill>
                  <a:srgbClr val="434343"/>
                </a:solidFill>
                <a:latin typeface="Inter"/>
              </a:rPr>
              <a:t>Kode sudah dibagi per file (service, repository, route), tapi semua file sejajar di satu folder dan boleh saling import dengan bebas.</a:t>
            </a:r>
          </a:p>
          <a:p>
            <a:pPr algn="l">
              <a:lnSpc>
                <a:spcPct val="115000"/>
              </a:lnSpc>
              <a:spcAft>
                <a:spcPts val="400"/>
              </a:spcAft>
            </a:pPr>
            <a:r>
              <a:rPr sz="1000" i="0" b="1">
                <a:solidFill>
                  <a:srgbClr val="1C4587"/>
                </a:solidFill>
                <a:latin typeface="Inter"/>
              </a:rPr>
              <a:t>Kalau aplikasinya makin besar</a:t>
            </a:r>
          </a:p>
          <a:p>
            <a:pPr algn="l">
              <a:lnSpc>
                <a:spcPct val="115000"/>
              </a:lnSpc>
              <a:spcAft>
                <a:spcPts val="400"/>
              </a:spcAft>
            </a:pPr>
            <a:r>
              <a:rPr sz="900" i="0" b="0">
                <a:solidFill>
                  <a:srgbClr val="434343"/>
                </a:solidFill>
                <a:latin typeface="Inter"/>
              </a:rPr>
              <a:t>Tidak jelas file baru ditaruh di mana. Business logic pelan-pelan ikut import SQLite atau FastAPI, jadi ganti database atau framework berarti ikut membongkar aturan bisnis.</a:t>
            </a:r>
          </a:p>
          <a:p>
            <a:pPr algn="l">
              <a:lnSpc>
                <a:spcPct val="115000"/>
              </a:lnSpc>
              <a:spcAft>
                <a:spcPts val="400"/>
              </a:spcAft>
            </a:pPr>
            <a:r>
              <a:rPr sz="1000" i="0" b="1">
                <a:solidFill>
                  <a:srgbClr val="1C4587"/>
                </a:solidFill>
                <a:latin typeface="Inter"/>
              </a:rPr>
              <a:t>Clean Architecture adalah</a:t>
            </a:r>
          </a:p>
          <a:p>
            <a:pPr algn="l">
              <a:lnSpc>
                <a:spcPct val="115000"/>
              </a:lnSpc>
              <a:spcAft>
                <a:spcPts val="400"/>
              </a:spcAft>
            </a:pPr>
            <a:r>
              <a:rPr sz="900" i="0" b="0">
                <a:solidFill>
                  <a:srgbClr val="434343"/>
                </a:solidFill>
                <a:latin typeface="Inter"/>
              </a:rPr>
              <a:t>Cara membagi aplikasi jadi beberapa </a:t>
            </a:r>
            <a:r>
              <a:rPr sz="900" i="0" b="1">
                <a:solidFill>
                  <a:srgbClr val="434343"/>
                </a:solidFill>
                <a:latin typeface="Inter"/>
              </a:rPr>
              <a:t>layer</a:t>
            </a:r>
            <a:r>
              <a:rPr sz="900" i="0" b="0">
                <a:solidFill>
                  <a:srgbClr val="434343"/>
                </a:solidFill>
                <a:latin typeface="Inter"/>
              </a:rPr>
              <a:t>, dipopulerkan Robert C. Martin (2012). Inti bisnis ada di tengah, detail teknis (database, framework, email) di luar, dan </a:t>
            </a:r>
            <a:r>
              <a:rPr sz="900" i="0" b="1">
                <a:solidFill>
                  <a:srgbClr val="434343"/>
                </a:solidFill>
                <a:latin typeface="Inter"/>
              </a:rPr>
              <a:t>dependency hanya boleh mengarah ke dalam</a:t>
            </a:r>
            <a:r>
              <a:rPr sz="900" i="0" b="0">
                <a:solidFill>
                  <a:srgbClr val="434343"/>
                </a:solidFill>
                <a:latin typeface="Inter"/>
              </a:rPr>
              <a:t>.</a:t>
            </a:r>
          </a:p>
          <a:p>
            <a:pPr algn="l">
              <a:lnSpc>
                <a:spcPct val="115000"/>
              </a:lnSpc>
              <a:spcAft>
                <a:spcPts val="400"/>
              </a:spcAft>
            </a:pPr>
            <a:r>
              <a:rPr sz="1000" i="0" b="1">
                <a:solidFill>
                  <a:srgbClr val="1C4587"/>
                </a:solidFill>
                <a:latin typeface="Inter"/>
              </a:rPr>
              <a:t>Untuk apa</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Business logic tidak ikut berubah saat ganti database atau framework</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Business logic bisa dites tanpa FastAPI dan tanpa database</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Jelas file mana taruh di mana</a:t>
            </a:r>
          </a:p>
        </p:txBody>
      </p:sp>
      <p:sp>
        <p:nvSpPr>
          <p:cNvPr id="23" name="Box 4"/>
          <p:cNvSpPr/>
          <p:nvPr/>
        </p:nvSpPr>
        <p:spPr>
          <a:xfrm>
            <a:off x="5074920" y="1554480"/>
            <a:ext cx="3291840" cy="54864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API  ·  FastAPI route</a:t>
            </a:r>
          </a:p>
        </p:txBody>
      </p:sp>
      <p:sp>
        <p:nvSpPr>
          <p:cNvPr id="24" name="Box 5"/>
          <p:cNvSpPr/>
          <p:nvPr/>
        </p:nvSpPr>
        <p:spPr>
          <a:xfrm>
            <a:off x="5074920" y="2286000"/>
            <a:ext cx="3291840" cy="548640"/>
          </a:xfrm>
          <a:prstGeom prst="roundRect">
            <a:avLst>
              <a:gd name="adj" fmla="val 20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Infrastructure  ·  SQLite, email, config</a:t>
            </a:r>
          </a:p>
        </p:txBody>
      </p:sp>
      <p:sp>
        <p:nvSpPr>
          <p:cNvPr id="25" name="Box 6"/>
          <p:cNvSpPr/>
          <p:nvPr/>
        </p:nvSpPr>
        <p:spPr>
          <a:xfrm>
            <a:off x="5074920" y="3017520"/>
            <a:ext cx="3291840" cy="548640"/>
          </a:xfrm>
          <a:prstGeom prst="roundRect">
            <a:avLst>
              <a:gd name="adj" fmla="val 20000"/>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FFFFFF"/>
                </a:solidFill>
                <a:latin typeface="Inter"/>
              </a:rPr>
              <a:t>Application  ·  use case</a:t>
            </a:r>
          </a:p>
        </p:txBody>
      </p:sp>
      <p:sp>
        <p:nvSpPr>
          <p:cNvPr id="26" name="Box 7"/>
          <p:cNvSpPr/>
          <p:nvPr/>
        </p:nvSpPr>
        <p:spPr>
          <a:xfrm>
            <a:off x="5074920" y="3749040"/>
            <a:ext cx="3291840" cy="548640"/>
          </a:xfrm>
          <a:prstGeom prst="roundRect">
            <a:avLst>
              <a:gd name="adj" fmla="val 20000"/>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FFFFFF"/>
                </a:solidFill>
                <a:latin typeface="Inter"/>
              </a:rPr>
              <a:t>Domain  ·  Order, aturan diskon</a:t>
            </a:r>
          </a:p>
        </p:txBody>
      </p:sp>
      <p:sp>
        <p:nvSpPr>
          <p:cNvPr id="27" name="Text 8"/>
          <p:cNvSpPr txBox="1"/>
          <p:nvPr/>
        </p:nvSpPr>
        <p:spPr>
          <a:xfrm>
            <a:off x="5074920" y="4315968"/>
            <a:ext cx="3291840" cy="411480"/>
          </a:xfrm>
          <a:prstGeom prst="rect">
            <a:avLst/>
          </a:prstGeom>
          <a:noFill/>
        </p:spPr>
        <p:txBody>
          <a:bodyPr wrap="square" anchor="t" lIns="45720" rIns="45720">
            <a:spAutoFit/>
          </a:bodyPr>
          <a:lstStyle/>
          <a:p>
            <a:pPr algn="l">
              <a:lnSpc>
                <a:spcPct val="115000"/>
              </a:lnSpc>
              <a:spcAft>
                <a:spcPts val="400"/>
              </a:spcAft>
            </a:pPr>
            <a:r>
              <a:rPr sz="850" i="0" b="0">
                <a:solidFill>
                  <a:srgbClr val="7A7A7A"/>
                </a:solidFill>
                <a:latin typeface="Inter"/>
              </a:rPr>
              <a:t>Makin ke bawah = makin inti. </a:t>
            </a:r>
            <a:r>
              <a:rPr sz="850" i="0" b="1">
                <a:solidFill>
                  <a:srgbClr val="7A7A7A"/>
                </a:solidFill>
                <a:latin typeface="Inter"/>
              </a:rPr>
              <a:t>Analogi:</a:t>
            </a:r>
            <a:r>
              <a:rPr sz="850" i="0" b="0">
                <a:solidFill>
                  <a:srgbClr val="7A7A7A"/>
                </a:solidFill>
                <a:latin typeface="Inter"/>
              </a:rPr>
              <a:t> rumah. Fondasi (domain) tidak ikut dibongkar waktu ganti cat atau perabot (framework, database).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Clean Architecture</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Aturan Utama: Dependency Mengarah ke Dalam</a:t>
            </a:r>
          </a:p>
        </p:txBody>
      </p:sp>
      <p:sp>
        <p:nvSpPr>
          <p:cNvPr id="22" name="Text 3"/>
          <p:cNvSpPr txBox="1"/>
          <p:nvPr/>
        </p:nvSpPr>
        <p:spPr>
          <a:xfrm>
            <a:off x="621792" y="1417320"/>
            <a:ext cx="7863840" cy="548640"/>
          </a:xfrm>
          <a:prstGeom prst="rect">
            <a:avLst/>
          </a:prstGeom>
          <a:noFill/>
        </p:spPr>
        <p:txBody>
          <a:bodyPr wrap="square" anchor="t" lIns="45720" rIns="45720">
            <a:spAutoFit/>
          </a:bodyPr>
          <a:lstStyle/>
          <a:p>
            <a:pPr algn="l">
              <a:lnSpc>
                <a:spcPct val="115000"/>
              </a:lnSpc>
              <a:spcAft>
                <a:spcPts val="400"/>
              </a:spcAft>
            </a:pPr>
            <a:r>
              <a:rPr sz="1050" i="0" b="0">
                <a:solidFill>
                  <a:srgbClr val="1C4587"/>
                </a:solidFill>
                <a:latin typeface="Inter"/>
              </a:rPr>
              <a:t>"Source code dependencies can only point inwards."  Robert C. Martin</a:t>
            </a:r>
          </a:p>
        </p:txBody>
      </p:sp>
      <p:graphicFrame>
        <p:nvGraphicFramePr>
          <p:cNvPr id="23" name="Table 4"/>
          <p:cNvGraphicFramePr>
            <a:graphicFrameLocks noGrp="1"/>
          </p:cNvGraphicFramePr>
          <p:nvPr/>
        </p:nvGraphicFramePr>
        <p:xfrm>
          <a:off x="621792" y="1874519"/>
          <a:ext cx="4754880" cy="2057400"/>
        </p:xfrm>
        <a:graphic>
          <a:graphicData uri="http://schemas.openxmlformats.org/drawingml/2006/table">
            <a:tbl>
              <a:tblPr firstRow="1" bandRow="1"/>
              <a:tblGrid>
                <a:gridCol w="1234440"/>
                <a:gridCol w="2011680"/>
                <a:gridCol w="1508760"/>
              </a:tblGrid>
              <a:tr h="411480">
                <a:tc>
                  <a:txBody>
                    <a:bodyPr wrap="square"/>
                    <a:lstStyle/>
                    <a:p>
                      <a:pPr algn="l">
                        <a:lnSpc>
                          <a:spcPct val="100000"/>
                        </a:lnSpc>
                        <a:spcAft>
                          <a:spcPts val="0"/>
                        </a:spcAft>
                      </a:pPr>
                      <a:r>
                        <a:rPr sz="950" i="0" b="1">
                          <a:solidFill>
                            <a:srgbClr val="FFFFFF"/>
                          </a:solidFill>
                          <a:latin typeface="Inter"/>
                        </a:rPr>
                        <a:t>Layer</a:t>
                      </a:r>
                    </a:p>
                  </a:txBody>
                  <a:tcPr marL="73152" marR="73152" marT="36576" marB="36576" anchor="ctr">
                    <a:solidFill>
                      <a:srgbClr val="1C4587"/>
                    </a:solidFill>
                  </a:tcPr>
                </a:tc>
                <a:tc>
                  <a:txBody>
                    <a:bodyPr wrap="square"/>
                    <a:lstStyle/>
                    <a:p>
                      <a:pPr algn="l">
                        <a:lnSpc>
                          <a:spcPct val="100000"/>
                        </a:lnSpc>
                        <a:spcAft>
                          <a:spcPts val="0"/>
                        </a:spcAft>
                      </a:pPr>
                      <a:r>
                        <a:rPr sz="950" i="0" b="1">
                          <a:solidFill>
                            <a:srgbClr val="FFFFFF"/>
                          </a:solidFill>
                          <a:latin typeface="Inter"/>
                        </a:rPr>
                        <a:t>Isinya</a:t>
                      </a:r>
                    </a:p>
                  </a:txBody>
                  <a:tcPr marL="73152" marR="73152" marT="36576" marB="36576" anchor="ctr">
                    <a:solidFill>
                      <a:srgbClr val="1C4587"/>
                    </a:solidFill>
                  </a:tcPr>
                </a:tc>
                <a:tc>
                  <a:txBody>
                    <a:bodyPr wrap="square"/>
                    <a:lstStyle/>
                    <a:p>
                      <a:pPr algn="l">
                        <a:lnSpc>
                          <a:spcPct val="100000"/>
                        </a:lnSpc>
                        <a:spcAft>
                          <a:spcPts val="0"/>
                        </a:spcAft>
                      </a:pPr>
                      <a:r>
                        <a:rPr sz="950" i="0" b="1">
                          <a:solidFill>
                            <a:srgbClr val="FFFFFF"/>
                          </a:solidFill>
                          <a:latin typeface="Inter"/>
                        </a:rPr>
                        <a:t>Boleh import</a:t>
                      </a:r>
                    </a:p>
                  </a:txBody>
                  <a:tcPr marL="73152" marR="73152" marT="36576" marB="36576" anchor="ctr">
                    <a:solidFill>
                      <a:srgbClr val="1C4587"/>
                    </a:solidFill>
                  </a:tcPr>
                </a:tc>
              </a:tr>
              <a:tr h="411480">
                <a:tc>
                  <a:txBody>
                    <a:bodyPr wrap="square"/>
                    <a:lstStyle/>
                    <a:p>
                      <a:pPr algn="l">
                        <a:lnSpc>
                          <a:spcPct val="100000"/>
                        </a:lnSpc>
                        <a:spcAft>
                          <a:spcPts val="0"/>
                        </a:spcAft>
                      </a:pPr>
                      <a:r>
                        <a:rPr sz="950" i="0" b="1">
                          <a:solidFill>
                            <a:srgbClr val="1C4587"/>
                          </a:solidFill>
                          <a:latin typeface="Inter"/>
                        </a:rPr>
                        <a:t>Domain</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Order, aturan diskon</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tidak ada</a:t>
                      </a:r>
                    </a:p>
                  </a:txBody>
                  <a:tcPr marL="73152" marR="73152" marT="36576" marB="36576" anchor="ctr">
                    <a:solidFill>
                      <a:srgbClr val="FFFFFF"/>
                    </a:solidFill>
                  </a:tcPr>
                </a:tc>
              </a:tr>
              <a:tr h="411480">
                <a:tc>
                  <a:txBody>
                    <a:bodyPr wrap="square"/>
                    <a:lstStyle/>
                    <a:p>
                      <a:pPr algn="l">
                        <a:lnSpc>
                          <a:spcPct val="100000"/>
                        </a:lnSpc>
                        <a:spcAft>
                          <a:spcPts val="0"/>
                        </a:spcAft>
                      </a:pPr>
                      <a:r>
                        <a:rPr sz="950" i="0" b="1">
                          <a:solidFill>
                            <a:srgbClr val="1C4587"/>
                          </a:solidFill>
                          <a:latin typeface="Inter"/>
                        </a:rPr>
                        <a:t>Application</a:t>
                      </a:r>
                    </a:p>
                  </a:txBody>
                  <a:tcPr marL="73152" marR="73152" marT="36576" marB="36576" anchor="ctr">
                    <a:solidFill>
                      <a:srgbClr val="F3F4F6"/>
                    </a:solidFill>
                  </a:tcPr>
                </a:tc>
                <a:tc>
                  <a:txBody>
                    <a:bodyPr wrap="square"/>
                    <a:lstStyle/>
                    <a:p>
                      <a:pPr algn="l">
                        <a:lnSpc>
                          <a:spcPct val="100000"/>
                        </a:lnSpc>
                        <a:spcAft>
                          <a:spcPts val="0"/>
                        </a:spcAft>
                      </a:pPr>
                      <a:r>
                        <a:rPr sz="950" i="0" b="0">
                          <a:solidFill>
                            <a:srgbClr val="434343"/>
                          </a:solidFill>
                          <a:latin typeface="Inter"/>
                        </a:rPr>
                        <a:t>OrderService, ports</a:t>
                      </a:r>
                    </a:p>
                  </a:txBody>
                  <a:tcPr marL="73152" marR="73152" marT="36576" marB="36576" anchor="ctr">
                    <a:solidFill>
                      <a:srgbClr val="F3F4F6"/>
                    </a:solidFill>
                  </a:tcPr>
                </a:tc>
                <a:tc>
                  <a:txBody>
                    <a:bodyPr wrap="square"/>
                    <a:lstStyle/>
                    <a:p>
                      <a:pPr algn="l">
                        <a:lnSpc>
                          <a:spcPct val="100000"/>
                        </a:lnSpc>
                        <a:spcAft>
                          <a:spcPts val="0"/>
                        </a:spcAft>
                      </a:pPr>
                      <a:r>
                        <a:rPr sz="950" i="0" b="0">
                          <a:solidFill>
                            <a:srgbClr val="434343"/>
                          </a:solidFill>
                          <a:latin typeface="Inter"/>
                        </a:rPr>
                        <a:t>domain</a:t>
                      </a:r>
                    </a:p>
                  </a:txBody>
                  <a:tcPr marL="73152" marR="73152" marT="36576" marB="36576" anchor="ctr">
                    <a:solidFill>
                      <a:srgbClr val="F3F4F6"/>
                    </a:solidFill>
                  </a:tcPr>
                </a:tc>
              </a:tr>
              <a:tr h="411480">
                <a:tc>
                  <a:txBody>
                    <a:bodyPr wrap="square"/>
                    <a:lstStyle/>
                    <a:p>
                      <a:pPr algn="l">
                        <a:lnSpc>
                          <a:spcPct val="100000"/>
                        </a:lnSpc>
                        <a:spcAft>
                          <a:spcPts val="0"/>
                        </a:spcAft>
                      </a:pPr>
                      <a:r>
                        <a:rPr sz="950" i="0" b="1">
                          <a:solidFill>
                            <a:srgbClr val="1C4587"/>
                          </a:solidFill>
                          <a:latin typeface="Inter"/>
                        </a:rPr>
                        <a:t>Infrastructure</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SQLite repo, notifier, config</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application, domain</a:t>
                      </a:r>
                    </a:p>
                  </a:txBody>
                  <a:tcPr marL="73152" marR="73152" marT="36576" marB="36576" anchor="ctr">
                    <a:solidFill>
                      <a:srgbClr val="FFFFFF"/>
                    </a:solidFill>
                  </a:tcPr>
                </a:tc>
              </a:tr>
              <a:tr h="411480">
                <a:tc>
                  <a:txBody>
                    <a:bodyPr wrap="square"/>
                    <a:lstStyle/>
                    <a:p>
                      <a:pPr algn="l">
                        <a:lnSpc>
                          <a:spcPct val="100000"/>
                        </a:lnSpc>
                        <a:spcAft>
                          <a:spcPts val="0"/>
                        </a:spcAft>
                      </a:pPr>
                      <a:r>
                        <a:rPr sz="950" i="0" b="1">
                          <a:solidFill>
                            <a:srgbClr val="1C4587"/>
                          </a:solidFill>
                          <a:latin typeface="Inter"/>
                        </a:rPr>
                        <a:t>API</a:t>
                      </a:r>
                    </a:p>
                  </a:txBody>
                  <a:tcPr marL="73152" marR="73152" marT="36576" marB="36576" anchor="ctr">
                    <a:solidFill>
                      <a:srgbClr val="F3F4F6"/>
                    </a:solidFill>
                  </a:tcPr>
                </a:tc>
                <a:tc>
                  <a:txBody>
                    <a:bodyPr wrap="square"/>
                    <a:lstStyle/>
                    <a:p>
                      <a:pPr algn="l">
                        <a:lnSpc>
                          <a:spcPct val="100000"/>
                        </a:lnSpc>
                        <a:spcAft>
                          <a:spcPts val="0"/>
                        </a:spcAft>
                      </a:pPr>
                      <a:r>
                        <a:rPr sz="950" i="0" b="0">
                          <a:solidFill>
                            <a:srgbClr val="434343"/>
                          </a:solidFill>
                          <a:latin typeface="Inter"/>
                        </a:rPr>
                        <a:t>route, dependencies</a:t>
                      </a:r>
                    </a:p>
                  </a:txBody>
                  <a:tcPr marL="73152" marR="73152" marT="36576" marB="36576" anchor="ctr">
                    <a:solidFill>
                      <a:srgbClr val="F3F4F6"/>
                    </a:solidFill>
                  </a:tcPr>
                </a:tc>
                <a:tc>
                  <a:txBody>
                    <a:bodyPr wrap="square"/>
                    <a:lstStyle/>
                    <a:p>
                      <a:pPr algn="l">
                        <a:lnSpc>
                          <a:spcPct val="100000"/>
                        </a:lnSpc>
                        <a:spcAft>
                          <a:spcPts val="0"/>
                        </a:spcAft>
                      </a:pPr>
                      <a:r>
                        <a:rPr sz="950" i="0" b="0">
                          <a:solidFill>
                            <a:srgbClr val="434343"/>
                          </a:solidFill>
                          <a:latin typeface="Inter"/>
                        </a:rPr>
                        <a:t>semua layer</a:t>
                      </a:r>
                    </a:p>
                  </a:txBody>
                  <a:tcPr marL="73152" marR="73152" marT="36576" marB="36576" anchor="ctr">
                    <a:solidFill>
                      <a:srgbClr val="F3F4F6"/>
                    </a:solidFill>
                  </a:tcPr>
                </a:tc>
              </a:tr>
            </a:tbl>
          </a:graphicData>
        </a:graphic>
      </p:graphicFrame>
      <p:sp>
        <p:nvSpPr>
          <p:cNvPr id="24" name="Box 5"/>
          <p:cNvSpPr/>
          <p:nvPr/>
        </p:nvSpPr>
        <p:spPr>
          <a:xfrm>
            <a:off x="5760720" y="1874519"/>
            <a:ext cx="2724912" cy="384048"/>
          </a:xfrm>
          <a:prstGeom prst="roundRect">
            <a:avLst>
              <a:gd name="adj" fmla="val 28571"/>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API</a:t>
            </a:r>
          </a:p>
        </p:txBody>
      </p:sp>
      <p:sp>
        <p:nvSpPr>
          <p:cNvPr id="25" name="Box 6"/>
          <p:cNvSpPr/>
          <p:nvPr/>
        </p:nvSpPr>
        <p:spPr>
          <a:xfrm>
            <a:off x="5760720" y="2532887"/>
            <a:ext cx="2724912" cy="384048"/>
          </a:xfrm>
          <a:prstGeom prst="roundRect">
            <a:avLst>
              <a:gd name="adj" fmla="val 28571"/>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Infrastructure</a:t>
            </a:r>
          </a:p>
        </p:txBody>
      </p:sp>
      <p:cxnSp>
        <p:nvCxnSpPr>
          <p:cNvPr id="26" name="Arrow 7"/>
          <p:cNvCxnSpPr/>
          <p:nvPr/>
        </p:nvCxnSpPr>
        <p:spPr>
          <a:xfrm>
            <a:off x="7123176" y="2258568"/>
            <a:ext cx="0" cy="274319"/>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Box 8"/>
          <p:cNvSpPr/>
          <p:nvPr/>
        </p:nvSpPr>
        <p:spPr>
          <a:xfrm>
            <a:off x="5760720" y="3191256"/>
            <a:ext cx="2724912" cy="384048"/>
          </a:xfrm>
          <a:prstGeom prst="roundRect">
            <a:avLst>
              <a:gd name="adj" fmla="val 28571"/>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FFFFFF"/>
                </a:solidFill>
                <a:latin typeface="Inter"/>
              </a:rPr>
              <a:t>Application</a:t>
            </a:r>
          </a:p>
        </p:txBody>
      </p:sp>
      <p:cxnSp>
        <p:nvCxnSpPr>
          <p:cNvPr id="28" name="Arrow 9"/>
          <p:cNvCxnSpPr/>
          <p:nvPr/>
        </p:nvCxnSpPr>
        <p:spPr>
          <a:xfrm>
            <a:off x="7123176" y="2916936"/>
            <a:ext cx="0" cy="27432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Box 10"/>
          <p:cNvSpPr/>
          <p:nvPr/>
        </p:nvSpPr>
        <p:spPr>
          <a:xfrm>
            <a:off x="5760720" y="3849624"/>
            <a:ext cx="2724912" cy="384048"/>
          </a:xfrm>
          <a:prstGeom prst="roundRect">
            <a:avLst>
              <a:gd name="adj" fmla="val 28571"/>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FFFFFF"/>
                </a:solidFill>
                <a:latin typeface="Inter"/>
              </a:rPr>
              <a:t>Domain</a:t>
            </a:r>
          </a:p>
        </p:txBody>
      </p:sp>
      <p:cxnSp>
        <p:nvCxnSpPr>
          <p:cNvPr id="30" name="Arrow 11"/>
          <p:cNvCxnSpPr/>
          <p:nvPr/>
        </p:nvCxnSpPr>
        <p:spPr>
          <a:xfrm>
            <a:off x="7123176" y="3575304"/>
            <a:ext cx="0" cy="27432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 12"/>
          <p:cNvSpPr txBox="1"/>
          <p:nvPr/>
        </p:nvSpPr>
        <p:spPr>
          <a:xfrm>
            <a:off x="621792" y="4069080"/>
            <a:ext cx="4754880" cy="640080"/>
          </a:xfrm>
          <a:prstGeom prst="rect">
            <a:avLst/>
          </a:prstGeom>
          <a:noFill/>
        </p:spPr>
        <p:txBody>
          <a:bodyPr wrap="square" anchor="t" lIns="45720" rIns="45720">
            <a:spAutoFit/>
          </a:bodyPr>
          <a:lstStyle/>
          <a:p>
            <a:pPr algn="l">
              <a:lnSpc>
                <a:spcPct val="115000"/>
              </a:lnSpc>
              <a:spcAft>
                <a:spcPts val="400"/>
              </a:spcAft>
            </a:pPr>
            <a:r>
              <a:rPr sz="1050" i="0" b="0">
                <a:solidFill>
                  <a:srgbClr val="434343"/>
                </a:solidFill>
                <a:latin typeface="Inter"/>
              </a:rPr>
              <a:t>Cek cepat: file di </a:t>
            </a:r>
            <a:r>
              <a:rPr sz="1050" i="0" b="0">
                <a:solidFill>
                  <a:srgbClr val="B5482A"/>
                </a:solidFill>
                <a:latin typeface="Consolas"/>
              </a:rPr>
              <a:t>application/</a:t>
            </a:r>
            <a:r>
              <a:rPr sz="1050" i="0" b="0">
                <a:solidFill>
                  <a:srgbClr val="434343"/>
                </a:solidFill>
                <a:latin typeface="Inter"/>
              </a:rPr>
              <a:t> dan </a:t>
            </a:r>
            <a:r>
              <a:rPr sz="1050" i="0" b="0">
                <a:solidFill>
                  <a:srgbClr val="B5482A"/>
                </a:solidFill>
                <a:latin typeface="Consolas"/>
              </a:rPr>
              <a:t>domain/</a:t>
            </a:r>
            <a:r>
              <a:rPr sz="1050" i="0" b="0">
                <a:solidFill>
                  <a:srgbClr val="434343"/>
                </a:solidFill>
                <a:latin typeface="Inter"/>
              </a:rPr>
              <a:t> </a:t>
            </a:r>
            <a:r>
              <a:rPr sz="1050" i="0" b="1">
                <a:solidFill>
                  <a:srgbClr val="434343"/>
                </a:solidFill>
                <a:latin typeface="Inter"/>
              </a:rPr>
              <a:t>tidak boleh</a:t>
            </a:r>
            <a:r>
              <a:rPr sz="1050" i="0" b="0">
                <a:solidFill>
                  <a:srgbClr val="434343"/>
                </a:solidFill>
                <a:latin typeface="Inter"/>
              </a:rPr>
              <a:t> import </a:t>
            </a:r>
            <a:r>
              <a:rPr sz="1050" i="0" b="0">
                <a:solidFill>
                  <a:srgbClr val="B5482A"/>
                </a:solidFill>
                <a:latin typeface="Consolas"/>
              </a:rPr>
              <a:t>fastapi</a:t>
            </a:r>
            <a:r>
              <a:rPr sz="1050" i="0" b="0">
                <a:solidFill>
                  <a:srgbClr val="434343"/>
                </a:solidFill>
                <a:latin typeface="Inter"/>
              </a:rPr>
              <a:t> atau </a:t>
            </a:r>
            <a:r>
              <a:rPr sz="1050" i="0" b="0">
                <a:solidFill>
                  <a:srgbClr val="B5482A"/>
                </a:solidFill>
                <a:latin typeface="Consolas"/>
              </a:rPr>
              <a:t>sqlite3</a:t>
            </a:r>
            <a:r>
              <a:rPr sz="1050" i="0" b="0">
                <a:solidFill>
                  <a:srgbClr val="434343"/>
                </a:solidFill>
                <a:latin typeface="Inter"/>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Clean Architecture</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Ports &amp; Adapters</a:t>
            </a:r>
          </a:p>
        </p:txBody>
      </p:sp>
      <p:sp>
        <p:nvSpPr>
          <p:cNvPr id="22" name="Text 3"/>
          <p:cNvSpPr txBox="1"/>
          <p:nvPr/>
        </p:nvSpPr>
        <p:spPr>
          <a:xfrm>
            <a:off x="621792" y="1481328"/>
            <a:ext cx="4114800" cy="1188720"/>
          </a:xfrm>
          <a:prstGeom prst="rect">
            <a:avLst/>
          </a:prstGeom>
          <a:noFill/>
        </p:spPr>
        <p:txBody>
          <a:bodyPr wrap="square" anchor="t" lIns="45720" rIns="45720">
            <a:spAutoFit/>
          </a:bodyPr>
          <a:lstStyle/>
          <a:p>
            <a:pPr algn="l">
              <a:lnSpc>
                <a:spcPct val="115000"/>
              </a:lnSpc>
              <a:spcAft>
                <a:spcPts val="400"/>
              </a:spcAft>
            </a:pPr>
            <a:r>
              <a:rPr sz="1000" i="0" b="1">
                <a:solidFill>
                  <a:srgbClr val="434343"/>
                </a:solidFill>
                <a:latin typeface="Inter"/>
              </a:rPr>
              <a:t>Port</a:t>
            </a:r>
            <a:r>
              <a:rPr sz="1000" i="0" b="0">
                <a:solidFill>
                  <a:srgbClr val="434343"/>
                </a:solidFill>
                <a:latin typeface="Inter"/>
              </a:rPr>
              <a:t> = interface yang dibutuhkan use case, ditulis di layer application.</a:t>
            </a:r>
          </a:p>
          <a:p>
            <a:pPr algn="l">
              <a:lnSpc>
                <a:spcPct val="115000"/>
              </a:lnSpc>
              <a:spcAft>
                <a:spcPts val="400"/>
              </a:spcAft>
            </a:pPr>
            <a:r>
              <a:rPr sz="1000" i="0" b="1">
                <a:solidFill>
                  <a:srgbClr val="434343"/>
                </a:solidFill>
                <a:latin typeface="Inter"/>
              </a:rPr>
              <a:t>Adapter</a:t>
            </a:r>
            <a:r>
              <a:rPr sz="1000" i="0" b="0">
                <a:solidFill>
                  <a:srgbClr val="434343"/>
                </a:solidFill>
                <a:latin typeface="Inter"/>
              </a:rPr>
              <a:t> = implementasi port, ditulis di layer infrastructure (atau di test).</a:t>
            </a:r>
          </a:p>
          <a:p>
            <a:pPr algn="l">
              <a:lnSpc>
                <a:spcPct val="115000"/>
              </a:lnSpc>
              <a:spcAft>
                <a:spcPts val="400"/>
              </a:spcAft>
            </a:pPr>
            <a:r>
              <a:rPr sz="1000" i="0" b="0">
                <a:solidFill>
                  <a:srgbClr val="434343"/>
                </a:solidFill>
                <a:latin typeface="Inter"/>
              </a:rPr>
              <a:t>Nama lainnya: Hexagonal Architecture (Alistair Cockburn).</a:t>
            </a:r>
          </a:p>
        </p:txBody>
      </p:sp>
      <p:sp>
        <p:nvSpPr>
          <p:cNvPr id="23" name="CodeTab 5"/>
          <p:cNvSpPr/>
          <p:nvPr/>
        </p:nvSpPr>
        <p:spPr>
          <a:xfrm>
            <a:off x="621792" y="2743200"/>
            <a:ext cx="41148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4" name="Dot 6"/>
          <p:cNvSpPr/>
          <p:nvPr/>
        </p:nvSpPr>
        <p:spPr>
          <a:xfrm>
            <a:off x="731520" y="282092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868680" y="282092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t 8"/>
          <p:cNvSpPr/>
          <p:nvPr/>
        </p:nvSpPr>
        <p:spPr>
          <a:xfrm>
            <a:off x="1005840" y="282092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9"/>
          <p:cNvSpPr txBox="1"/>
          <p:nvPr/>
        </p:nvSpPr>
        <p:spPr>
          <a:xfrm>
            <a:off x="1170432" y="2752344"/>
            <a:ext cx="347472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application/ports.py</a:t>
            </a:r>
          </a:p>
        </p:txBody>
      </p:sp>
      <p:sp>
        <p:nvSpPr>
          <p:cNvPr id="28" name="CodeBg 11"/>
          <p:cNvSpPr/>
          <p:nvPr/>
        </p:nvSpPr>
        <p:spPr>
          <a:xfrm>
            <a:off x="621792" y="2980944"/>
            <a:ext cx="4114800" cy="1719072"/>
          </a:xfrm>
          <a:prstGeom prst="roundRect">
            <a:avLst>
              <a:gd name="adj" fmla="val 106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9" name="Code 12"/>
          <p:cNvSpPr txBox="1"/>
          <p:nvPr/>
        </p:nvSpPr>
        <p:spPr>
          <a:xfrm>
            <a:off x="621792" y="2980944"/>
            <a:ext cx="4114800" cy="1719072"/>
          </a:xfrm>
          <a:prstGeom prst="rect">
            <a:avLst/>
          </a:prstGeom>
          <a:noFill/>
        </p:spPr>
        <p:txBody>
          <a:bodyPr wrap="none" lIns="146304" rIns="146304" tIns="91440" bIns="54864">
            <a:spAutoFit/>
          </a:bodyPr>
          <a:lstStyle/>
          <a:p>
            <a:pPr>
              <a:lnSpc>
                <a:spcPts val="1100"/>
              </a:lnSpc>
              <a:spcAft>
                <a:spcPts val="0"/>
              </a:spcAft>
            </a:pP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Order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get</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order_id</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Order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p>
          <a:p>
            <a:pPr>
              <a:lnSpc>
                <a:spcPts val="1100"/>
              </a:lnSpc>
              <a:spcAft>
                <a:spcPts val="0"/>
              </a:spcAft>
            </a:pPr>
            <a:r>
              <a:rPr sz="850" i="0">
                <a:solidFill>
                  <a:srgbClr val="E6EDF3"/>
                </a:solidFill>
                <a:latin typeface="Consolas"/>
              </a:rPr>
              <a:t> </a:t>
            </a:r>
          </a:p>
          <a:p>
            <a:pPr>
              <a:lnSpc>
                <a:spcPts val="1100"/>
              </a:lnSpc>
              <a:spcAft>
                <a:spcPts val="0"/>
              </a:spcAft>
            </a:pP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Notifier</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send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message</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p:txBody>
      </p:sp>
      <p:sp>
        <p:nvSpPr>
          <p:cNvPr id="30" name="Box 13"/>
          <p:cNvSpPr/>
          <p:nvPr/>
        </p:nvSpPr>
        <p:spPr>
          <a:xfrm>
            <a:off x="5760720" y="1600200"/>
            <a:ext cx="1828800" cy="502920"/>
          </a:xfrm>
          <a:prstGeom prst="roundRect">
            <a:avLst>
              <a:gd name="adj" fmla="val 21818"/>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1000" i="0" b="1">
                <a:solidFill>
                  <a:srgbClr val="FFFFFF"/>
                </a:solidFill>
                <a:latin typeface="Inter"/>
              </a:rPr>
              <a:t>OrderService</a:t>
            </a:r>
          </a:p>
        </p:txBody>
      </p:sp>
      <p:cxnSp>
        <p:nvCxnSpPr>
          <p:cNvPr id="31" name="Arrow 14"/>
          <p:cNvCxnSpPr/>
          <p:nvPr/>
        </p:nvCxnSpPr>
        <p:spPr>
          <a:xfrm>
            <a:off x="6675120" y="2103120"/>
            <a:ext cx="0" cy="36576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Box 15"/>
          <p:cNvSpPr/>
          <p:nvPr/>
        </p:nvSpPr>
        <p:spPr>
          <a:xfrm>
            <a:off x="5577840" y="2468880"/>
            <a:ext cx="2194560" cy="502920"/>
          </a:xfrm>
          <a:prstGeom prst="roundRect">
            <a:avLst>
              <a:gd name="adj" fmla="val 21818"/>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950" i="0" b="1">
                <a:solidFill>
                  <a:srgbClr val="1C4587"/>
                </a:solidFill>
                <a:latin typeface="Inter"/>
              </a:rPr>
              <a:t>Port: OrderRepository</a:t>
            </a:r>
          </a:p>
        </p:txBody>
      </p:sp>
      <p:sp>
        <p:nvSpPr>
          <p:cNvPr id="33" name="Box 16"/>
          <p:cNvSpPr/>
          <p:nvPr/>
        </p:nvSpPr>
        <p:spPr>
          <a:xfrm>
            <a:off x="4892040" y="3474720"/>
            <a:ext cx="1755648" cy="457200"/>
          </a:xfrm>
          <a:prstGeom prst="roundRect">
            <a:avLst>
              <a:gd name="adj" fmla="val 2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750" i="0" b="1">
                <a:solidFill>
                  <a:srgbClr val="1C4587"/>
                </a:solidFill>
                <a:latin typeface="Inter"/>
              </a:rPr>
              <a:t>SqliteOrderRepository</a:t>
            </a:r>
          </a:p>
        </p:txBody>
      </p:sp>
      <p:cxnSp>
        <p:nvCxnSpPr>
          <p:cNvPr id="34" name="Arrow 17"/>
          <p:cNvCxnSpPr/>
          <p:nvPr/>
        </p:nvCxnSpPr>
        <p:spPr>
          <a:xfrm flipV="1">
            <a:off x="5769864" y="2971800"/>
            <a:ext cx="905256" cy="502920"/>
          </a:xfrm>
          <a:prstGeom prst="line">
            <a:avLst/>
          </a:prstGeom>
          <a:ln w="19050">
            <a:solidFill>
              <a:srgbClr val="7A7A7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Text 18"/>
          <p:cNvSpPr txBox="1"/>
          <p:nvPr/>
        </p:nvSpPr>
        <p:spPr>
          <a:xfrm>
            <a:off x="4892040" y="3977639"/>
            <a:ext cx="1755648" cy="274320"/>
          </a:xfrm>
          <a:prstGeom prst="rect">
            <a:avLst/>
          </a:prstGeom>
          <a:noFill/>
        </p:spPr>
        <p:txBody>
          <a:bodyPr wrap="square" anchor="t" lIns="45720" rIns="45720">
            <a:spAutoFit/>
          </a:bodyPr>
          <a:lstStyle/>
          <a:p>
            <a:pPr algn="ctr">
              <a:lnSpc>
                <a:spcPct val="115000"/>
              </a:lnSpc>
              <a:spcAft>
                <a:spcPts val="400"/>
              </a:spcAft>
            </a:pPr>
            <a:r>
              <a:rPr sz="850" i="0" b="0">
                <a:solidFill>
                  <a:srgbClr val="7A7A7A"/>
                </a:solidFill>
                <a:latin typeface="Inter"/>
              </a:rPr>
              <a:t>infrastructure</a:t>
            </a:r>
          </a:p>
        </p:txBody>
      </p:sp>
      <p:sp>
        <p:nvSpPr>
          <p:cNvPr id="36" name="Box 19"/>
          <p:cNvSpPr/>
          <p:nvPr/>
        </p:nvSpPr>
        <p:spPr>
          <a:xfrm>
            <a:off x="6720840" y="3474720"/>
            <a:ext cx="1755648" cy="457200"/>
          </a:xfrm>
          <a:prstGeom prst="roundRect">
            <a:avLst>
              <a:gd name="adj" fmla="val 2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lnSpc>
                <a:spcPct val="105000"/>
              </a:lnSpc>
              <a:spcAft>
                <a:spcPts val="200"/>
              </a:spcAft>
            </a:pPr>
            <a:r>
              <a:rPr sz="750" i="0" b="1">
                <a:solidFill>
                  <a:srgbClr val="1C4587"/>
                </a:solidFill>
                <a:latin typeface="Inter"/>
              </a:rPr>
              <a:t>FakeOrderRepository</a:t>
            </a:r>
          </a:p>
        </p:txBody>
      </p:sp>
      <p:cxnSp>
        <p:nvCxnSpPr>
          <p:cNvPr id="37" name="Arrow 20"/>
          <p:cNvCxnSpPr/>
          <p:nvPr/>
        </p:nvCxnSpPr>
        <p:spPr>
          <a:xfrm flipH="1" flipV="1">
            <a:off x="6675120" y="2971800"/>
            <a:ext cx="923543" cy="502920"/>
          </a:xfrm>
          <a:prstGeom prst="line">
            <a:avLst/>
          </a:prstGeom>
          <a:ln w="19050">
            <a:solidFill>
              <a:srgbClr val="7A7A7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Text 21"/>
          <p:cNvSpPr txBox="1"/>
          <p:nvPr/>
        </p:nvSpPr>
        <p:spPr>
          <a:xfrm>
            <a:off x="6720840" y="3977639"/>
            <a:ext cx="1755648" cy="274320"/>
          </a:xfrm>
          <a:prstGeom prst="rect">
            <a:avLst/>
          </a:prstGeom>
          <a:noFill/>
        </p:spPr>
        <p:txBody>
          <a:bodyPr wrap="square" anchor="t" lIns="45720" rIns="45720">
            <a:spAutoFit/>
          </a:bodyPr>
          <a:lstStyle/>
          <a:p>
            <a:pPr algn="ctr">
              <a:lnSpc>
                <a:spcPct val="115000"/>
              </a:lnSpc>
              <a:spcAft>
                <a:spcPts val="400"/>
              </a:spcAft>
            </a:pPr>
            <a:r>
              <a:rPr sz="850" i="0" b="0">
                <a:solidFill>
                  <a:srgbClr val="7A7A7A"/>
                </a:solidFill>
                <a:latin typeface="Inter"/>
              </a:rPr>
              <a:t>tests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Clean Architecture</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Request Flow Melewati Layer</a:t>
            </a:r>
          </a:p>
        </p:txBody>
      </p:sp>
      <p:sp>
        <p:nvSpPr>
          <p:cNvPr id="22" name="Box 3"/>
          <p:cNvSpPr/>
          <p:nvPr/>
        </p:nvSpPr>
        <p:spPr>
          <a:xfrm>
            <a:off x="621792" y="148132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1</a:t>
            </a:r>
          </a:p>
        </p:txBody>
      </p:sp>
      <p:sp>
        <p:nvSpPr>
          <p:cNvPr id="23" name="Text 4"/>
          <p:cNvSpPr txBox="1"/>
          <p:nvPr/>
        </p:nvSpPr>
        <p:spPr>
          <a:xfrm>
            <a:off x="987552" y="1453896"/>
            <a:ext cx="7498079" cy="530352"/>
          </a:xfrm>
          <a:prstGeom prst="rect">
            <a:avLst/>
          </a:prstGeom>
          <a:noFill/>
        </p:spPr>
        <p:txBody>
          <a:bodyPr wrap="square" anchor="t" lIns="45720" rIns="45720">
            <a:spAutoFit/>
          </a:bodyPr>
          <a:lstStyle/>
          <a:p>
            <a:pPr algn="l">
              <a:lnSpc>
                <a:spcPct val="115000"/>
              </a:lnSpc>
              <a:spcAft>
                <a:spcPts val="400"/>
              </a:spcAft>
            </a:pPr>
            <a:r>
              <a:rPr sz="950" i="0" b="1">
                <a:solidFill>
                  <a:srgbClr val="434343"/>
                </a:solidFill>
                <a:latin typeface="Inter"/>
              </a:rPr>
              <a:t>api/routes.py</a:t>
            </a:r>
            <a:r>
              <a:rPr sz="950" i="0" b="0">
                <a:solidFill>
                  <a:srgbClr val="434343"/>
                </a:solidFill>
                <a:latin typeface="Inter"/>
              </a:rPr>
              <a:t>  </a:t>
            </a:r>
            <a:r>
              <a:rPr sz="950" i="0" b="0">
                <a:solidFill>
                  <a:srgbClr val="B5482A"/>
                </a:solidFill>
                <a:latin typeface="Consolas"/>
              </a:rPr>
              <a:t>POST /orders</a:t>
            </a:r>
            <a:r>
              <a:rPr sz="950" i="0" b="0">
                <a:solidFill>
                  <a:srgbClr val="434343"/>
                </a:solidFill>
                <a:latin typeface="Inter"/>
              </a:rPr>
              <a:t> masuk ke </a:t>
            </a:r>
            <a:r>
              <a:rPr sz="950" i="0" b="0">
                <a:solidFill>
                  <a:srgbClr val="B5482A"/>
                </a:solidFill>
                <a:latin typeface="Consolas"/>
              </a:rPr>
              <a:t>create_order</a:t>
            </a:r>
            <a:r>
              <a:rPr sz="950" i="0" b="0">
                <a:solidFill>
                  <a:srgbClr val="434343"/>
                </a:solidFill>
                <a:latin typeface="Inter"/>
              </a:rPr>
              <a:t>, body divalidasi jadi </a:t>
            </a:r>
            <a:r>
              <a:rPr sz="950" i="0" b="0">
                <a:solidFill>
                  <a:srgbClr val="B5482A"/>
                </a:solidFill>
                <a:latin typeface="Consolas"/>
              </a:rPr>
              <a:t>OrderIn</a:t>
            </a:r>
          </a:p>
        </p:txBody>
      </p:sp>
      <p:sp>
        <p:nvSpPr>
          <p:cNvPr id="24" name="Box 5"/>
          <p:cNvSpPr/>
          <p:nvPr/>
        </p:nvSpPr>
        <p:spPr>
          <a:xfrm>
            <a:off x="621792" y="2011680"/>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2</a:t>
            </a:r>
          </a:p>
        </p:txBody>
      </p:sp>
      <p:sp>
        <p:nvSpPr>
          <p:cNvPr id="25" name="Text 6"/>
          <p:cNvSpPr txBox="1"/>
          <p:nvPr/>
        </p:nvSpPr>
        <p:spPr>
          <a:xfrm>
            <a:off x="987552" y="1984248"/>
            <a:ext cx="7498079" cy="530352"/>
          </a:xfrm>
          <a:prstGeom prst="rect">
            <a:avLst/>
          </a:prstGeom>
          <a:noFill/>
        </p:spPr>
        <p:txBody>
          <a:bodyPr wrap="square" anchor="t" lIns="45720" rIns="45720">
            <a:spAutoFit/>
          </a:bodyPr>
          <a:lstStyle/>
          <a:p>
            <a:pPr algn="l">
              <a:lnSpc>
                <a:spcPct val="115000"/>
              </a:lnSpc>
              <a:spcAft>
                <a:spcPts val="400"/>
              </a:spcAft>
            </a:pPr>
            <a:r>
              <a:rPr sz="950" i="0" b="1">
                <a:solidFill>
                  <a:srgbClr val="434343"/>
                </a:solidFill>
                <a:latin typeface="Inter"/>
              </a:rPr>
              <a:t>api/dependencies.py</a:t>
            </a:r>
            <a:r>
              <a:rPr sz="950" i="0" b="0">
                <a:solidFill>
                  <a:srgbClr val="434343"/>
                </a:solidFill>
                <a:latin typeface="Inter"/>
              </a:rPr>
              <a:t>  </a:t>
            </a:r>
            <a:r>
              <a:rPr sz="950" i="0" b="0">
                <a:solidFill>
                  <a:srgbClr val="B5482A"/>
                </a:solidFill>
                <a:latin typeface="Consolas"/>
              </a:rPr>
              <a:t>Depends(get_order_service)</a:t>
            </a:r>
            <a:r>
              <a:rPr sz="950" i="0" b="0">
                <a:solidFill>
                  <a:srgbClr val="434343"/>
                </a:solidFill>
                <a:latin typeface="Inter"/>
              </a:rPr>
              <a:t> menyiapkan </a:t>
            </a:r>
            <a:r>
              <a:rPr sz="950" i="0" b="0">
                <a:solidFill>
                  <a:srgbClr val="B5482A"/>
                </a:solidFill>
                <a:latin typeface="Consolas"/>
              </a:rPr>
              <a:t>OrderService</a:t>
            </a:r>
            <a:r>
              <a:rPr sz="950" i="0" b="0">
                <a:solidFill>
                  <a:srgbClr val="434343"/>
                </a:solidFill>
                <a:latin typeface="Inter"/>
              </a:rPr>
              <a:t> beserta repository dan notifier</a:t>
            </a:r>
          </a:p>
        </p:txBody>
      </p:sp>
      <p:sp>
        <p:nvSpPr>
          <p:cNvPr id="26" name="Box 7"/>
          <p:cNvSpPr/>
          <p:nvPr/>
        </p:nvSpPr>
        <p:spPr>
          <a:xfrm>
            <a:off x="621792" y="2542032"/>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3</a:t>
            </a:r>
          </a:p>
        </p:txBody>
      </p:sp>
      <p:sp>
        <p:nvSpPr>
          <p:cNvPr id="27" name="Text 8"/>
          <p:cNvSpPr txBox="1"/>
          <p:nvPr/>
        </p:nvSpPr>
        <p:spPr>
          <a:xfrm>
            <a:off x="987552" y="2514600"/>
            <a:ext cx="7498079" cy="530352"/>
          </a:xfrm>
          <a:prstGeom prst="rect">
            <a:avLst/>
          </a:prstGeom>
          <a:noFill/>
        </p:spPr>
        <p:txBody>
          <a:bodyPr wrap="square" anchor="t" lIns="45720" rIns="45720">
            <a:spAutoFit/>
          </a:bodyPr>
          <a:lstStyle/>
          <a:p>
            <a:pPr algn="l">
              <a:lnSpc>
                <a:spcPct val="115000"/>
              </a:lnSpc>
              <a:spcAft>
                <a:spcPts val="400"/>
              </a:spcAft>
            </a:pPr>
            <a:r>
              <a:rPr sz="950" i="0" b="1">
                <a:solidFill>
                  <a:srgbClr val="434343"/>
                </a:solidFill>
                <a:latin typeface="Inter"/>
              </a:rPr>
              <a:t>application/order_service.py</a:t>
            </a:r>
            <a:r>
              <a:rPr sz="950" i="0" b="0">
                <a:solidFill>
                  <a:srgbClr val="434343"/>
                </a:solidFill>
                <a:latin typeface="Inter"/>
              </a:rPr>
              <a:t>  </a:t>
            </a:r>
            <a:r>
              <a:rPr sz="950" i="0" b="0">
                <a:solidFill>
                  <a:srgbClr val="B5482A"/>
                </a:solidFill>
                <a:latin typeface="Consolas"/>
              </a:rPr>
              <a:t>place_order</a:t>
            </a:r>
            <a:r>
              <a:rPr sz="950" i="0" b="0">
                <a:solidFill>
                  <a:srgbClr val="434343"/>
                </a:solidFill>
                <a:latin typeface="Inter"/>
              </a:rPr>
              <a:t> menjalankan use case: hitung subtotal, diskon, total</a:t>
            </a:r>
          </a:p>
        </p:txBody>
      </p:sp>
      <p:sp>
        <p:nvSpPr>
          <p:cNvPr id="28" name="Box 9"/>
          <p:cNvSpPr/>
          <p:nvPr/>
        </p:nvSpPr>
        <p:spPr>
          <a:xfrm>
            <a:off x="621792" y="3072384"/>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4</a:t>
            </a:r>
          </a:p>
        </p:txBody>
      </p:sp>
      <p:sp>
        <p:nvSpPr>
          <p:cNvPr id="29" name="Text 10"/>
          <p:cNvSpPr txBox="1"/>
          <p:nvPr/>
        </p:nvSpPr>
        <p:spPr>
          <a:xfrm>
            <a:off x="987552" y="3044952"/>
            <a:ext cx="7498079" cy="530352"/>
          </a:xfrm>
          <a:prstGeom prst="rect">
            <a:avLst/>
          </a:prstGeom>
          <a:noFill/>
        </p:spPr>
        <p:txBody>
          <a:bodyPr wrap="square" anchor="t" lIns="45720" rIns="45720">
            <a:spAutoFit/>
          </a:bodyPr>
          <a:lstStyle/>
          <a:p>
            <a:pPr algn="l">
              <a:lnSpc>
                <a:spcPct val="115000"/>
              </a:lnSpc>
              <a:spcAft>
                <a:spcPts val="400"/>
              </a:spcAft>
            </a:pPr>
            <a:r>
              <a:rPr sz="950" i="0" b="1">
                <a:solidFill>
                  <a:srgbClr val="434343"/>
                </a:solidFill>
                <a:latin typeface="Inter"/>
              </a:rPr>
              <a:t>domain/</a:t>
            </a:r>
            <a:r>
              <a:rPr sz="950" i="0" b="0">
                <a:solidFill>
                  <a:srgbClr val="434343"/>
                </a:solidFill>
                <a:latin typeface="Inter"/>
              </a:rPr>
              <a:t>  </a:t>
            </a:r>
            <a:r>
              <a:rPr sz="950" i="0" b="0">
                <a:solidFill>
                  <a:srgbClr val="B5482A"/>
                </a:solidFill>
                <a:latin typeface="Consolas"/>
              </a:rPr>
              <a:t>get_discount()</a:t>
            </a:r>
            <a:r>
              <a:rPr sz="950" i="0" b="0">
                <a:solidFill>
                  <a:srgbClr val="434343"/>
                </a:solidFill>
                <a:latin typeface="Inter"/>
              </a:rPr>
              <a:t> memilih aturan diskon, hasilnya dibungkus jadi object </a:t>
            </a:r>
            <a:r>
              <a:rPr sz="950" i="0" b="0">
                <a:solidFill>
                  <a:srgbClr val="B5482A"/>
                </a:solidFill>
                <a:latin typeface="Consolas"/>
              </a:rPr>
              <a:t>Order</a:t>
            </a:r>
          </a:p>
        </p:txBody>
      </p:sp>
      <p:sp>
        <p:nvSpPr>
          <p:cNvPr id="30" name="Box 11"/>
          <p:cNvSpPr/>
          <p:nvPr/>
        </p:nvSpPr>
        <p:spPr>
          <a:xfrm>
            <a:off x="621792" y="3602736"/>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5</a:t>
            </a:r>
          </a:p>
        </p:txBody>
      </p:sp>
      <p:sp>
        <p:nvSpPr>
          <p:cNvPr id="31" name="Text 12"/>
          <p:cNvSpPr txBox="1"/>
          <p:nvPr/>
        </p:nvSpPr>
        <p:spPr>
          <a:xfrm>
            <a:off x="987552" y="3575304"/>
            <a:ext cx="7498079" cy="530352"/>
          </a:xfrm>
          <a:prstGeom prst="rect">
            <a:avLst/>
          </a:prstGeom>
          <a:noFill/>
        </p:spPr>
        <p:txBody>
          <a:bodyPr wrap="square" anchor="t" lIns="45720" rIns="45720">
            <a:spAutoFit/>
          </a:bodyPr>
          <a:lstStyle/>
          <a:p>
            <a:pPr algn="l">
              <a:lnSpc>
                <a:spcPct val="115000"/>
              </a:lnSpc>
              <a:spcAft>
                <a:spcPts val="400"/>
              </a:spcAft>
            </a:pPr>
            <a:r>
              <a:rPr sz="950" i="0" b="1">
                <a:solidFill>
                  <a:srgbClr val="434343"/>
                </a:solidFill>
                <a:latin typeface="Inter"/>
              </a:rPr>
              <a:t>infrastructure/</a:t>
            </a:r>
            <a:r>
              <a:rPr sz="950" i="0" b="0">
                <a:solidFill>
                  <a:srgbClr val="434343"/>
                </a:solidFill>
                <a:latin typeface="Inter"/>
              </a:rPr>
              <a:t>  </a:t>
            </a:r>
            <a:r>
              <a:rPr sz="950" i="0" b="0">
                <a:solidFill>
                  <a:srgbClr val="B5482A"/>
                </a:solidFill>
                <a:latin typeface="Consolas"/>
              </a:rPr>
              <a:t>repo.add(order)</a:t>
            </a:r>
            <a:r>
              <a:rPr sz="950" i="0" b="0">
                <a:solidFill>
                  <a:srgbClr val="434343"/>
                </a:solidFill>
                <a:latin typeface="Inter"/>
              </a:rPr>
              <a:t> lewat port, yang dijalankan adalah </a:t>
            </a:r>
            <a:r>
              <a:rPr sz="950" i="0" b="0">
                <a:solidFill>
                  <a:srgbClr val="B5482A"/>
                </a:solidFill>
                <a:latin typeface="Consolas"/>
              </a:rPr>
              <a:t>SqliteOrderRepository</a:t>
            </a:r>
          </a:p>
        </p:txBody>
      </p:sp>
      <p:sp>
        <p:nvSpPr>
          <p:cNvPr id="32" name="Box 13"/>
          <p:cNvSpPr/>
          <p:nvPr/>
        </p:nvSpPr>
        <p:spPr>
          <a:xfrm>
            <a:off x="621792" y="4133087"/>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6</a:t>
            </a:r>
          </a:p>
        </p:txBody>
      </p:sp>
      <p:sp>
        <p:nvSpPr>
          <p:cNvPr id="33" name="Text 14"/>
          <p:cNvSpPr txBox="1"/>
          <p:nvPr/>
        </p:nvSpPr>
        <p:spPr>
          <a:xfrm>
            <a:off x="987552" y="4105655"/>
            <a:ext cx="7498079" cy="530352"/>
          </a:xfrm>
          <a:prstGeom prst="rect">
            <a:avLst/>
          </a:prstGeom>
          <a:noFill/>
        </p:spPr>
        <p:txBody>
          <a:bodyPr wrap="square" anchor="t" lIns="45720" rIns="45720">
            <a:spAutoFit/>
          </a:bodyPr>
          <a:lstStyle/>
          <a:p>
            <a:pPr algn="l">
              <a:lnSpc>
                <a:spcPct val="115000"/>
              </a:lnSpc>
              <a:spcAft>
                <a:spcPts val="400"/>
              </a:spcAft>
            </a:pPr>
            <a:r>
              <a:rPr sz="950" i="0" b="1">
                <a:solidFill>
                  <a:srgbClr val="434343"/>
                </a:solidFill>
                <a:latin typeface="Inter"/>
              </a:rPr>
              <a:t>api/routes.py</a:t>
            </a:r>
            <a:r>
              <a:rPr sz="950" i="0" b="0">
                <a:solidFill>
                  <a:srgbClr val="434343"/>
                </a:solidFill>
                <a:latin typeface="Inter"/>
              </a:rPr>
              <a:t>  </a:t>
            </a:r>
            <a:r>
              <a:rPr sz="950" i="0" b="0">
                <a:solidFill>
                  <a:srgbClr val="B5482A"/>
                </a:solidFill>
                <a:latin typeface="Consolas"/>
              </a:rPr>
              <a:t>asdict(order)</a:t>
            </a:r>
            <a:r>
              <a:rPr sz="950" i="0" b="0">
                <a:solidFill>
                  <a:srgbClr val="434343"/>
                </a:solidFill>
                <a:latin typeface="Inter"/>
              </a:rPr>
              <a:t> dikirim sebagai JSON 201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 name="Text 1"/>
          <p:cNvSpPr txBox="1"/>
          <p:nvPr/>
        </p:nvSpPr>
        <p:spPr>
          <a:xfrm>
            <a:off x="822960" y="1600200"/>
            <a:ext cx="7315200" cy="365760"/>
          </a:xfrm>
          <a:prstGeom prst="rect">
            <a:avLst/>
          </a:prstGeom>
          <a:noFill/>
        </p:spPr>
        <p:txBody>
          <a:bodyPr wrap="square" anchor="t" lIns="45720" rIns="45720">
            <a:spAutoFit/>
          </a:bodyPr>
          <a:lstStyle/>
          <a:p>
            <a:pPr algn="l">
              <a:lnSpc>
                <a:spcPct val="115000"/>
              </a:lnSpc>
              <a:spcAft>
                <a:spcPts val="400"/>
              </a:spcAft>
            </a:pPr>
            <a:r>
              <a:rPr sz="1400" i="0" b="0">
                <a:solidFill>
                  <a:srgbClr val="CFE0FA"/>
                </a:solidFill>
                <a:latin typeface="Inter"/>
              </a:rPr>
              <a:t>Bagian 03</a:t>
            </a:r>
          </a:p>
        </p:txBody>
      </p:sp>
      <p:sp>
        <p:nvSpPr>
          <p:cNvPr id="32" name="Text 2"/>
          <p:cNvSpPr txBox="1"/>
          <p:nvPr/>
        </p:nvSpPr>
        <p:spPr>
          <a:xfrm>
            <a:off x="822960" y="1920240"/>
            <a:ext cx="7315200" cy="822960"/>
          </a:xfrm>
          <a:prstGeom prst="rect">
            <a:avLst/>
          </a:prstGeom>
          <a:noFill/>
        </p:spPr>
        <p:txBody>
          <a:bodyPr wrap="square" anchor="t" lIns="45720" rIns="45720">
            <a:spAutoFit/>
          </a:bodyPr>
          <a:lstStyle/>
          <a:p>
            <a:pPr algn="l">
              <a:lnSpc>
                <a:spcPct val="115000"/>
              </a:lnSpc>
              <a:spcAft>
                <a:spcPts val="400"/>
              </a:spcAft>
            </a:pPr>
            <a:r>
              <a:rPr sz="3000" i="0" b="0">
                <a:solidFill>
                  <a:srgbClr val="FFFFFF"/>
                </a:solidFill>
                <a:latin typeface="Work Sans ExtraBold"/>
              </a:rPr>
              <a:t>Dependency Injection di FastAPI</a:t>
            </a:r>
          </a:p>
        </p:txBody>
      </p:sp>
      <p:sp>
        <p:nvSpPr>
          <p:cNvPr id="33" name="Text 3"/>
          <p:cNvSpPr txBox="1"/>
          <p:nvPr/>
        </p:nvSpPr>
        <p:spPr>
          <a:xfrm>
            <a:off x="822960" y="2743200"/>
            <a:ext cx="6583680" cy="731520"/>
          </a:xfrm>
          <a:prstGeom prst="rect">
            <a:avLst/>
          </a:prstGeom>
          <a:noFill/>
        </p:spPr>
        <p:txBody>
          <a:bodyPr wrap="square" anchor="t" lIns="45720" rIns="45720">
            <a:spAutoFit/>
          </a:bodyPr>
          <a:lstStyle/>
          <a:p>
            <a:pPr algn="l">
              <a:lnSpc>
                <a:spcPct val="115000"/>
              </a:lnSpc>
              <a:spcAft>
                <a:spcPts val="400"/>
              </a:spcAft>
            </a:pPr>
            <a:r>
              <a:rPr sz="1200" i="0" b="0">
                <a:solidFill>
                  <a:srgbClr val="E3ECFA"/>
                </a:solidFill>
                <a:latin typeface="Inter"/>
              </a:rPr>
              <a:t>Menyiapkan dependency dengan Depends dan menggantinya saat test.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Apa Itu Dependency Injection?</a:t>
            </a:r>
          </a:p>
        </p:txBody>
      </p:sp>
      <p:sp>
        <p:nvSpPr>
          <p:cNvPr id="22" name="Text 3"/>
          <p:cNvSpPr txBox="1"/>
          <p:nvPr/>
        </p:nvSpPr>
        <p:spPr>
          <a:xfrm>
            <a:off x="621792" y="1481328"/>
            <a:ext cx="3520440" cy="3291840"/>
          </a:xfrm>
          <a:prstGeom prst="rect">
            <a:avLst/>
          </a:prstGeom>
          <a:noFill/>
        </p:spPr>
        <p:txBody>
          <a:bodyPr wrap="square" anchor="t" lIns="45720" rIns="45720">
            <a:spAutoFit/>
          </a:bodyPr>
          <a:lstStyle/>
          <a:p>
            <a:pPr algn="l">
              <a:lnSpc>
                <a:spcPct val="115000"/>
              </a:lnSpc>
              <a:spcAft>
                <a:spcPts val="400"/>
              </a:spcAft>
            </a:pPr>
            <a:r>
              <a:rPr sz="1000" i="0" b="1">
                <a:solidFill>
                  <a:srgbClr val="1C4587"/>
                </a:solidFill>
                <a:latin typeface="Inter"/>
              </a:rPr>
              <a:t>Tanpa Dependency Injection</a:t>
            </a:r>
          </a:p>
          <a:p>
            <a:pPr algn="l">
              <a:lnSpc>
                <a:spcPct val="115000"/>
              </a:lnSpc>
              <a:spcAft>
                <a:spcPts val="400"/>
              </a:spcAft>
            </a:pPr>
            <a:r>
              <a:rPr sz="900" i="0" b="0">
                <a:solidFill>
                  <a:srgbClr val="434343"/>
                </a:solidFill>
                <a:latin typeface="Inter"/>
              </a:rPr>
              <a:t>Class membuat dependency-nya sendiri di </a:t>
            </a:r>
            <a:r>
              <a:rPr sz="900" i="0" b="0">
                <a:solidFill>
                  <a:srgbClr val="B5482A"/>
                </a:solidFill>
                <a:latin typeface="Consolas"/>
              </a:rPr>
              <a:t>__init__</a:t>
            </a:r>
            <a:r>
              <a:rPr sz="900" i="0" b="0">
                <a:solidFill>
                  <a:srgbClr val="434343"/>
                </a:solidFill>
                <a:latin typeface="Inter"/>
              </a:rPr>
              <a:t>. Contohnya </a:t>
            </a:r>
            <a:r>
              <a:rPr sz="900" i="0" b="0">
                <a:solidFill>
                  <a:srgbClr val="B5482A"/>
                </a:solidFill>
                <a:latin typeface="Consolas"/>
              </a:rPr>
              <a:t>OrderService</a:t>
            </a:r>
            <a:r>
              <a:rPr sz="900" i="0" b="0">
                <a:solidFill>
                  <a:srgbClr val="434343"/>
                </a:solidFill>
                <a:latin typeface="Inter"/>
              </a:rPr>
              <a:t> langsung membuat </a:t>
            </a:r>
            <a:r>
              <a:rPr sz="900" i="0" b="0">
                <a:solidFill>
                  <a:srgbClr val="B5482A"/>
                </a:solidFill>
                <a:latin typeface="Consolas"/>
              </a:rPr>
              <a:t>SqliteOrderRepository()</a:t>
            </a:r>
            <a:r>
              <a:rPr sz="900" i="0" b="0">
                <a:solidFill>
                  <a:srgbClr val="434343"/>
                </a:solidFill>
                <a:latin typeface="Inter"/>
              </a:rPr>
              <a:t> dan </a:t>
            </a:r>
            <a:r>
              <a:rPr sz="900" i="0" b="0">
                <a:solidFill>
                  <a:srgbClr val="B5482A"/>
                </a:solidFill>
                <a:latin typeface="Consolas"/>
              </a:rPr>
              <a:t>EmailNotifier()</a:t>
            </a:r>
            <a:r>
              <a:rPr sz="900" i="0" b="0">
                <a:solidFill>
                  <a:srgbClr val="434343"/>
                </a:solidFill>
                <a:latin typeface="Inter"/>
              </a:rPr>
              <a:t>.</a:t>
            </a:r>
          </a:p>
          <a:p>
            <a:pPr algn="l">
              <a:lnSpc>
                <a:spcPct val="115000"/>
              </a:lnSpc>
              <a:spcAft>
                <a:spcPts val="400"/>
              </a:spcAft>
            </a:pPr>
            <a:r>
              <a:rPr sz="1000" i="0" b="1">
                <a:solidFill>
                  <a:srgbClr val="1C4587"/>
                </a:solidFill>
                <a:latin typeface="Inter"/>
              </a:rPr>
              <a:t>Kalau class-nya makin banyak</a:t>
            </a:r>
          </a:p>
          <a:p>
            <a:pPr algn="l">
              <a:lnSpc>
                <a:spcPct val="115000"/>
              </a:lnSpc>
              <a:spcAft>
                <a:spcPts val="400"/>
              </a:spcAft>
            </a:pPr>
            <a:r>
              <a:rPr sz="900" i="0" b="0">
                <a:solidFill>
                  <a:srgbClr val="434343"/>
                </a:solidFill>
                <a:latin typeface="Inter"/>
              </a:rPr>
              <a:t>Setiap class terikat ke class yang dibuatnya. Mau test dengan repository in-memory, atau ganti email ke SMS, berarti mengedit class itu satu per satu.</a:t>
            </a:r>
          </a:p>
          <a:p>
            <a:pPr algn="l">
              <a:lnSpc>
                <a:spcPct val="115000"/>
              </a:lnSpc>
              <a:spcAft>
                <a:spcPts val="400"/>
              </a:spcAft>
            </a:pPr>
            <a:r>
              <a:rPr sz="1000" i="0" b="1">
                <a:solidFill>
                  <a:srgbClr val="1C4587"/>
                </a:solidFill>
                <a:latin typeface="Inter"/>
              </a:rPr>
              <a:t>Dependency Injection adalah</a:t>
            </a:r>
          </a:p>
          <a:p>
            <a:pPr algn="l">
              <a:lnSpc>
                <a:spcPct val="115000"/>
              </a:lnSpc>
              <a:spcAft>
                <a:spcPts val="400"/>
              </a:spcAft>
            </a:pPr>
            <a:r>
              <a:rPr sz="900" i="0" b="0">
                <a:solidFill>
                  <a:srgbClr val="434343"/>
                </a:solidFill>
                <a:latin typeface="Inter"/>
              </a:rPr>
              <a:t>Teknik di mana object </a:t>
            </a:r>
            <a:r>
              <a:rPr sz="900" i="0" b="1">
                <a:solidFill>
                  <a:srgbClr val="434343"/>
                </a:solidFill>
                <a:latin typeface="Inter"/>
              </a:rPr>
              <a:t>tidak membuat</a:t>
            </a:r>
            <a:r>
              <a:rPr sz="900" i="0" b="0">
                <a:solidFill>
                  <a:srgbClr val="434343"/>
                </a:solidFill>
                <a:latin typeface="Inter"/>
              </a:rPr>
              <a:t> dependency-nya sendiri, tapi </a:t>
            </a:r>
            <a:r>
              <a:rPr sz="900" i="0" b="1">
                <a:solidFill>
                  <a:srgbClr val="434343"/>
                </a:solidFill>
                <a:latin typeface="Inter"/>
              </a:rPr>
              <a:t>menerima dari luar</a:t>
            </a:r>
            <a:r>
              <a:rPr sz="900" i="0" b="0">
                <a:solidFill>
                  <a:srgbClr val="434343"/>
                </a:solidFill>
                <a:latin typeface="Inter"/>
              </a:rPr>
              <a:t>, biasanya lewat </a:t>
            </a:r>
            <a:r>
              <a:rPr sz="900" i="0" b="0">
                <a:solidFill>
                  <a:srgbClr val="B5482A"/>
                </a:solidFill>
                <a:latin typeface="Consolas"/>
              </a:rPr>
              <a:t>__init__</a:t>
            </a:r>
            <a:r>
              <a:rPr sz="900" i="0" b="0">
                <a:solidFill>
                  <a:srgbClr val="434343"/>
                </a:solidFill>
                <a:latin typeface="Inter"/>
              </a:rPr>
              <a:t>.</a:t>
            </a:r>
          </a:p>
          <a:p>
            <a:pPr algn="l">
              <a:lnSpc>
                <a:spcPct val="115000"/>
              </a:lnSpc>
              <a:spcAft>
                <a:spcPts val="400"/>
              </a:spcAft>
            </a:pPr>
            <a:r>
              <a:rPr sz="1000" i="0" b="1">
                <a:solidFill>
                  <a:srgbClr val="1C4587"/>
                </a:solidFill>
                <a:latin typeface="Inter"/>
              </a:rPr>
              <a:t>Untuk apa</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Route tidak perlu tahu cara membuat service</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Dependency bisa diganti saat test dengan </a:t>
            </a:r>
            <a:r>
              <a:rPr sz="900" i="0" b="0">
                <a:solidFill>
                  <a:srgbClr val="B5482A"/>
                </a:solidFill>
                <a:latin typeface="Consolas"/>
              </a:rPr>
              <a:t>app.dependency_overrides</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9"/>
          <p:cNvSpPr txBox="1"/>
          <p:nvPr/>
        </p:nvSpPr>
        <p:spPr>
          <a:xfrm>
            <a:off x="4846320" y="1490472"/>
            <a:ext cx="3547871"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tanpa DI: 05-dip/before.py</a:t>
            </a:r>
          </a:p>
        </p:txBody>
      </p:sp>
      <p:sp>
        <p:nvSpPr>
          <p:cNvPr id="28" name="CodeBg 11"/>
          <p:cNvSpPr/>
          <p:nvPr/>
        </p:nvSpPr>
        <p:spPr>
          <a:xfrm>
            <a:off x="4297680" y="1719072"/>
            <a:ext cx="4187951" cy="1069848"/>
          </a:xfrm>
          <a:prstGeom prst="roundRect">
            <a:avLst>
              <a:gd name="adj" fmla="val 170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9" name="Code 12"/>
          <p:cNvSpPr txBox="1"/>
          <p:nvPr/>
        </p:nvSpPr>
        <p:spPr>
          <a:xfrm>
            <a:off x="4297680" y="1719072"/>
            <a:ext cx="4187951" cy="1069848"/>
          </a:xfrm>
          <a:prstGeom prst="rect">
            <a:avLst/>
          </a:prstGeom>
          <a:noFill/>
        </p:spPr>
        <p:txBody>
          <a:bodyPr wrap="none" lIns="146304" rIns="146304" tIns="91440" bIns="54864">
            <a:spAutoFit/>
          </a:bodyPr>
          <a:lstStyle/>
          <a:p>
            <a:pPr>
              <a:lnSpc>
                <a:spcPts val="1100"/>
              </a:lnSpc>
              <a:spcAft>
                <a:spcPts val="0"/>
              </a:spcAft>
            </a:pPr>
            <a:r>
              <a:rPr sz="825" i="0">
                <a:solidFill>
                  <a:srgbClr val="FF8E6E"/>
                </a:solidFill>
                <a:latin typeface="Consolas"/>
              </a:rPr>
              <a:t>class</a:t>
            </a:r>
            <a:r>
              <a:rPr sz="825" i="0">
                <a:solidFill>
                  <a:srgbClr val="E6EDF3"/>
                </a:solidFill>
                <a:latin typeface="Consolas"/>
              </a:rPr>
              <a:t> </a:t>
            </a:r>
            <a:r>
              <a:rPr sz="825" i="0">
                <a:solidFill>
                  <a:srgbClr val="7FDBCA"/>
                </a:solidFill>
                <a:latin typeface="Consolas"/>
              </a:rPr>
              <a:t>OrderService</a:t>
            </a:r>
            <a:r>
              <a:rPr sz="825" i="0">
                <a:solidFill>
                  <a:srgbClr val="E6EDF3"/>
                </a:solidFill>
                <a:latin typeface="Consolas"/>
              </a:rPr>
              <a:t>:</a:t>
            </a:r>
          </a:p>
          <a:p>
            <a:pPr>
              <a:lnSpc>
                <a:spcPts val="1100"/>
              </a:lnSpc>
              <a:spcAft>
                <a:spcPts val="0"/>
              </a:spcAft>
            </a:pPr>
            <a:r>
              <a:rPr sz="825" i="0">
                <a:solidFill>
                  <a:srgbClr val="E6EDF3"/>
                </a:solidFill>
                <a:latin typeface="Consolas"/>
              </a:rPr>
              <a:t>    </a:t>
            </a:r>
            <a:r>
              <a:rPr sz="825" i="0">
                <a:solidFill>
                  <a:srgbClr val="FF8E6E"/>
                </a:solidFill>
                <a:latin typeface="Consolas"/>
              </a:rPr>
              <a:t>def</a:t>
            </a:r>
            <a:r>
              <a:rPr sz="825" i="0">
                <a:solidFill>
                  <a:srgbClr val="E6EDF3"/>
                </a:solidFill>
                <a:latin typeface="Consolas"/>
              </a:rPr>
              <a:t> </a:t>
            </a:r>
            <a:r>
              <a:rPr sz="825" i="0">
                <a:solidFill>
                  <a:srgbClr val="82B1FF"/>
                </a:solidFill>
                <a:latin typeface="Consolas"/>
              </a:rPr>
              <a:t>__init__</a:t>
            </a:r>
            <a:r>
              <a:rPr sz="825" i="0">
                <a:solidFill>
                  <a:srgbClr val="E6EDF3"/>
                </a:solidFill>
                <a:latin typeface="Consolas"/>
              </a:rPr>
              <a:t>(</a:t>
            </a:r>
            <a:r>
              <a:rPr sz="825" i="0">
                <a:solidFill>
                  <a:srgbClr val="C3A6FF"/>
                </a:solidFill>
                <a:latin typeface="Consolas"/>
              </a:rPr>
              <a:t>self</a:t>
            </a:r>
            <a:r>
              <a:rPr sz="825" i="0">
                <a:solidFill>
                  <a:srgbClr val="E6EDF3"/>
                </a:solidFill>
                <a:latin typeface="Consolas"/>
              </a:rPr>
              <a:t>)</a:t>
            </a:r>
            <a:r>
              <a:rPr sz="825" i="0">
                <a:solidFill>
                  <a:srgbClr val="E6EDF3"/>
                </a:solidFill>
                <a:latin typeface="Consolas"/>
              </a:rPr>
              <a:t>:</a:t>
            </a:r>
          </a:p>
          <a:p>
            <a:pPr>
              <a:lnSpc>
                <a:spcPts val="1100"/>
              </a:lnSpc>
              <a:spcAft>
                <a:spcPts val="0"/>
              </a:spcAft>
            </a:pPr>
            <a:r>
              <a:rPr sz="825" i="0">
                <a:solidFill>
                  <a:srgbClr val="E6EDF3"/>
                </a:solidFill>
                <a:latin typeface="Consolas"/>
              </a:rPr>
              <a:t>        </a:t>
            </a:r>
            <a:r>
              <a:rPr sz="825" i="0">
                <a:solidFill>
                  <a:srgbClr val="C3A6FF"/>
                </a:solidFill>
                <a:latin typeface="Consolas"/>
              </a:rPr>
              <a:t>self</a:t>
            </a:r>
            <a:r>
              <a:rPr sz="825" i="0">
                <a:solidFill>
                  <a:srgbClr val="E6EDF3"/>
                </a:solidFill>
                <a:latin typeface="Consolas"/>
              </a:rPr>
              <a:t>.</a:t>
            </a:r>
            <a:r>
              <a:rPr sz="825" i="0">
                <a:solidFill>
                  <a:srgbClr val="E6EDF3"/>
                </a:solidFill>
                <a:latin typeface="Consolas"/>
              </a:rPr>
              <a:t>repo</a:t>
            </a:r>
            <a:r>
              <a:rPr sz="825" i="0">
                <a:solidFill>
                  <a:srgbClr val="E6EDF3"/>
                </a:solidFill>
                <a:latin typeface="Consolas"/>
              </a:rPr>
              <a:t> </a:t>
            </a:r>
            <a:r>
              <a:rPr sz="825" i="0">
                <a:solidFill>
                  <a:srgbClr val="E6EDF3"/>
                </a:solidFill>
                <a:latin typeface="Consolas"/>
              </a:rPr>
              <a:t>=</a:t>
            </a:r>
            <a:r>
              <a:rPr sz="825" i="0">
                <a:solidFill>
                  <a:srgbClr val="E6EDF3"/>
                </a:solidFill>
                <a:latin typeface="Consolas"/>
              </a:rPr>
              <a:t> </a:t>
            </a:r>
            <a:r>
              <a:rPr sz="825" i="0">
                <a:solidFill>
                  <a:srgbClr val="7FDBCA"/>
                </a:solidFill>
                <a:latin typeface="Consolas"/>
              </a:rPr>
              <a:t>SqliteOrderRepository</a:t>
            </a:r>
            <a:r>
              <a:rPr sz="825" i="0">
                <a:solidFill>
                  <a:srgbClr val="E6EDF3"/>
                </a:solidFill>
                <a:latin typeface="Consolas"/>
              </a:rPr>
              <a:t>(</a:t>
            </a:r>
            <a:r>
              <a:rPr sz="825" i="0">
                <a:solidFill>
                  <a:srgbClr val="E6EDF3"/>
                </a:solidFill>
                <a:latin typeface="Consolas"/>
              </a:rPr>
              <a:t>)</a:t>
            </a:r>
            <a:r>
              <a:rPr sz="825" i="0">
                <a:solidFill>
                  <a:srgbClr val="E6EDF3"/>
                </a:solidFill>
                <a:latin typeface="Consolas"/>
              </a:rPr>
              <a:t>  </a:t>
            </a:r>
            <a:r>
              <a:rPr sz="825" i="1">
                <a:solidFill>
                  <a:srgbClr val="8B98A8"/>
                </a:solidFill>
                <a:latin typeface="Consolas"/>
              </a:rPr>
              <a:t># terikat ke SQLite</a:t>
            </a:r>
          </a:p>
          <a:p>
            <a:pPr>
              <a:lnSpc>
                <a:spcPts val="1100"/>
              </a:lnSpc>
              <a:spcAft>
                <a:spcPts val="0"/>
              </a:spcAft>
            </a:pPr>
            <a:r>
              <a:rPr sz="825" i="0">
                <a:solidFill>
                  <a:srgbClr val="E6EDF3"/>
                </a:solidFill>
                <a:latin typeface="Consolas"/>
              </a:rPr>
              <a:t>        </a:t>
            </a:r>
            <a:r>
              <a:rPr sz="825" i="0">
                <a:solidFill>
                  <a:srgbClr val="C3A6FF"/>
                </a:solidFill>
                <a:latin typeface="Consolas"/>
              </a:rPr>
              <a:t>self</a:t>
            </a:r>
            <a:r>
              <a:rPr sz="825" i="0">
                <a:solidFill>
                  <a:srgbClr val="E6EDF3"/>
                </a:solidFill>
                <a:latin typeface="Consolas"/>
              </a:rPr>
              <a:t>.</a:t>
            </a:r>
            <a:r>
              <a:rPr sz="825" i="0">
                <a:solidFill>
                  <a:srgbClr val="E6EDF3"/>
                </a:solidFill>
                <a:latin typeface="Consolas"/>
              </a:rPr>
              <a:t>notifier</a:t>
            </a:r>
            <a:r>
              <a:rPr sz="825" i="0">
                <a:solidFill>
                  <a:srgbClr val="E6EDF3"/>
                </a:solidFill>
                <a:latin typeface="Consolas"/>
              </a:rPr>
              <a:t> </a:t>
            </a:r>
            <a:r>
              <a:rPr sz="825" i="0">
                <a:solidFill>
                  <a:srgbClr val="E6EDF3"/>
                </a:solidFill>
                <a:latin typeface="Consolas"/>
              </a:rPr>
              <a:t>=</a:t>
            </a:r>
            <a:r>
              <a:rPr sz="825" i="0">
                <a:solidFill>
                  <a:srgbClr val="E6EDF3"/>
                </a:solidFill>
                <a:latin typeface="Consolas"/>
              </a:rPr>
              <a:t> </a:t>
            </a:r>
            <a:r>
              <a:rPr sz="825" i="0">
                <a:solidFill>
                  <a:srgbClr val="7FDBCA"/>
                </a:solidFill>
                <a:latin typeface="Consolas"/>
              </a:rPr>
              <a:t>EmailNotifier</a:t>
            </a:r>
            <a:r>
              <a:rPr sz="825" i="0">
                <a:solidFill>
                  <a:srgbClr val="E6EDF3"/>
                </a:solidFill>
                <a:latin typeface="Consolas"/>
              </a:rPr>
              <a:t>(</a:t>
            </a:r>
            <a:r>
              <a:rPr sz="825" i="0">
                <a:solidFill>
                  <a:srgbClr val="E6EDF3"/>
                </a:solidFill>
                <a:latin typeface="Consolas"/>
              </a:rPr>
              <a:t>)</a:t>
            </a:r>
            <a:r>
              <a:rPr sz="825" i="0">
                <a:solidFill>
                  <a:srgbClr val="E6EDF3"/>
                </a:solidFill>
                <a:latin typeface="Consolas"/>
              </a:rPr>
              <a:t>      </a:t>
            </a:r>
            <a:r>
              <a:rPr sz="825" i="1">
                <a:solidFill>
                  <a:srgbClr val="8B98A8"/>
                </a:solidFill>
                <a:latin typeface="Consolas"/>
              </a:rPr>
              <a:t># terikat ke email</a:t>
            </a:r>
          </a:p>
        </p:txBody>
      </p:sp>
      <p:sp>
        <p:nvSpPr>
          <p:cNvPr id="30" name="Box 13"/>
          <p:cNvSpPr/>
          <p:nvPr/>
        </p:nvSpPr>
        <p:spPr>
          <a:xfrm>
            <a:off x="4379976" y="2108073"/>
            <a:ext cx="4023359"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CodeTab 15"/>
          <p:cNvSpPr/>
          <p:nvPr/>
        </p:nvSpPr>
        <p:spPr>
          <a:xfrm>
            <a:off x="4297680" y="288036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Dot 16"/>
          <p:cNvSpPr/>
          <p:nvPr/>
        </p:nvSpPr>
        <p:spPr>
          <a:xfrm>
            <a:off x="4407408" y="295808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t 17"/>
          <p:cNvSpPr/>
          <p:nvPr/>
        </p:nvSpPr>
        <p:spPr>
          <a:xfrm>
            <a:off x="4544568" y="295808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ot 18"/>
          <p:cNvSpPr/>
          <p:nvPr/>
        </p:nvSpPr>
        <p:spPr>
          <a:xfrm>
            <a:off x="4681728" y="295808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19"/>
          <p:cNvSpPr txBox="1"/>
          <p:nvPr/>
        </p:nvSpPr>
        <p:spPr>
          <a:xfrm>
            <a:off x="4846320" y="2889504"/>
            <a:ext cx="3547871"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dengan DI: 05-dip/after.py</a:t>
            </a:r>
          </a:p>
        </p:txBody>
      </p:sp>
      <p:sp>
        <p:nvSpPr>
          <p:cNvPr id="36" name="CodeBg 21"/>
          <p:cNvSpPr/>
          <p:nvPr/>
        </p:nvSpPr>
        <p:spPr>
          <a:xfrm>
            <a:off x="4297680" y="3118104"/>
            <a:ext cx="4187951" cy="1078992"/>
          </a:xfrm>
          <a:prstGeom prst="roundRect">
            <a:avLst>
              <a:gd name="adj" fmla="val 1694"/>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7" name="Code 22"/>
          <p:cNvSpPr txBox="1"/>
          <p:nvPr/>
        </p:nvSpPr>
        <p:spPr>
          <a:xfrm>
            <a:off x="4297680" y="3118104"/>
            <a:ext cx="4187951" cy="1078992"/>
          </a:xfrm>
          <a:prstGeom prst="rect">
            <a:avLst/>
          </a:prstGeom>
          <a:noFill/>
        </p:spPr>
        <p:txBody>
          <a:bodyPr wrap="none" lIns="146304" rIns="146304" tIns="91440" bIns="54864">
            <a:spAutoFit/>
          </a:bodyPr>
          <a:lstStyle/>
          <a:p>
            <a:pPr>
              <a:lnSpc>
                <a:spcPts val="1000"/>
              </a:lnSpc>
              <a:spcAft>
                <a:spcPts val="0"/>
              </a:spcAft>
            </a:pPr>
            <a:r>
              <a:rPr sz="800" i="0">
                <a:solidFill>
                  <a:srgbClr val="FF8E6E"/>
                </a:solidFill>
                <a:latin typeface="Consolas"/>
              </a:rPr>
              <a:t>class</a:t>
            </a:r>
            <a:r>
              <a:rPr sz="800" i="0">
                <a:solidFill>
                  <a:srgbClr val="E6EDF3"/>
                </a:solidFill>
                <a:latin typeface="Consolas"/>
              </a:rPr>
              <a:t> </a:t>
            </a:r>
            <a:r>
              <a:rPr sz="800" i="0">
                <a:solidFill>
                  <a:srgbClr val="7FDBCA"/>
                </a:solidFill>
                <a:latin typeface="Consolas"/>
              </a:rPr>
              <a:t>OrderService</a:t>
            </a:r>
            <a:r>
              <a:rPr sz="800" i="0">
                <a:solidFill>
                  <a:srgbClr val="E6EDF3"/>
                </a:solidFill>
                <a:latin typeface="Consolas"/>
              </a:rPr>
              <a:t>:</a:t>
            </a:r>
          </a:p>
          <a:p>
            <a:pPr>
              <a:lnSpc>
                <a:spcPts val="1000"/>
              </a:lnSpc>
              <a:spcAft>
                <a:spcPts val="0"/>
              </a:spcAft>
            </a:pP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__init__</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repo</a:t>
            </a:r>
            <a:r>
              <a:rPr sz="800" i="0">
                <a:solidFill>
                  <a:srgbClr val="E6EDF3"/>
                </a:solidFill>
                <a:latin typeface="Consolas"/>
              </a:rPr>
              <a:t>:</a:t>
            </a:r>
            <a:r>
              <a:rPr sz="800" i="0">
                <a:solidFill>
                  <a:srgbClr val="E6EDF3"/>
                </a:solidFill>
                <a:latin typeface="Consolas"/>
              </a:rPr>
              <a:t> </a:t>
            </a:r>
            <a:r>
              <a:rPr sz="800" i="0">
                <a:solidFill>
                  <a:srgbClr val="7FDBCA"/>
                </a:solidFill>
                <a:latin typeface="Consolas"/>
              </a:rPr>
              <a:t>OrderRepository</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notifier</a:t>
            </a:r>
            <a:r>
              <a:rPr sz="800" i="0">
                <a:solidFill>
                  <a:srgbClr val="E6EDF3"/>
                </a:solidFill>
                <a:latin typeface="Consolas"/>
              </a:rPr>
              <a:t>:</a:t>
            </a:r>
            <a:r>
              <a:rPr sz="800" i="0">
                <a:solidFill>
                  <a:srgbClr val="E6EDF3"/>
                </a:solidFill>
                <a:latin typeface="Consolas"/>
              </a:rPr>
              <a:t> </a:t>
            </a:r>
            <a:r>
              <a:rPr sz="800" i="0">
                <a:solidFill>
                  <a:srgbClr val="7FDBCA"/>
                </a:solidFill>
                <a:latin typeface="Consolas"/>
              </a:rPr>
              <a:t>Notifier</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repo</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repo</a:t>
            </a:r>
          </a:p>
          <a:p>
            <a:pPr>
              <a:lnSpc>
                <a:spcPts val="1000"/>
              </a:lnSpc>
              <a:spcAft>
                <a:spcPts val="0"/>
              </a:spcAft>
            </a:pP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notifier</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notifier</a:t>
            </a:r>
          </a:p>
        </p:txBody>
      </p:sp>
      <p:sp>
        <p:nvSpPr>
          <p:cNvPr id="38" name="Box 23"/>
          <p:cNvSpPr/>
          <p:nvPr/>
        </p:nvSpPr>
        <p:spPr>
          <a:xfrm>
            <a:off x="4379976" y="3353054"/>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9" name="Text 24"/>
          <p:cNvSpPr txBox="1"/>
          <p:nvPr/>
        </p:nvSpPr>
        <p:spPr>
          <a:xfrm>
            <a:off x="4297680" y="4288536"/>
            <a:ext cx="4187951" cy="502920"/>
          </a:xfrm>
          <a:prstGeom prst="rect">
            <a:avLst/>
          </a:prstGeom>
          <a:noFill/>
        </p:spPr>
        <p:txBody>
          <a:bodyPr wrap="square" anchor="t" lIns="45720" rIns="45720">
            <a:spAutoFit/>
          </a:bodyPr>
          <a:lstStyle/>
          <a:p>
            <a:pPr algn="l">
              <a:lnSpc>
                <a:spcPct val="115000"/>
              </a:lnSpc>
              <a:spcAft>
                <a:spcPts val="400"/>
              </a:spcAft>
            </a:pPr>
            <a:r>
              <a:rPr sz="850" i="0" b="0">
                <a:solidFill>
                  <a:srgbClr val="7A7A7A"/>
                </a:solidFill>
                <a:latin typeface="Inter"/>
              </a:rPr>
              <a:t>Di FastAPI, yang membuat lalu mengirim </a:t>
            </a:r>
            <a:r>
              <a:rPr sz="850" i="0" b="0">
                <a:solidFill>
                  <a:srgbClr val="B5482A"/>
                </a:solidFill>
                <a:latin typeface="Consolas"/>
              </a:rPr>
              <a:t>repo</a:t>
            </a:r>
            <a:r>
              <a:rPr sz="850" i="0" b="0">
                <a:solidFill>
                  <a:srgbClr val="7A7A7A"/>
                </a:solidFill>
                <a:latin typeface="Inter"/>
              </a:rPr>
              <a:t> dan </a:t>
            </a:r>
            <a:r>
              <a:rPr sz="850" i="0" b="0">
                <a:solidFill>
                  <a:srgbClr val="B5482A"/>
                </a:solidFill>
                <a:latin typeface="Consolas"/>
              </a:rPr>
              <a:t>notifier</a:t>
            </a:r>
            <a:r>
              <a:rPr sz="850" i="0" b="0">
                <a:solidFill>
                  <a:srgbClr val="7A7A7A"/>
                </a:solidFill>
                <a:latin typeface="Inter"/>
              </a:rPr>
              <a:t> adalah </a:t>
            </a:r>
            <a:r>
              <a:rPr sz="850" i="0" b="0">
                <a:solidFill>
                  <a:srgbClr val="B5482A"/>
                </a:solidFill>
                <a:latin typeface="Consolas"/>
              </a:rPr>
              <a:t>Depends()</a:t>
            </a:r>
            <a:r>
              <a:rPr sz="850" i="0" b="0">
                <a:solidFill>
                  <a:srgbClr val="7A7A7A"/>
                </a:solidFill>
                <a:latin typeface="Inter"/>
              </a:rPr>
              <a:t>, fitur bawaan FastAPI. Kita tulis function pembuatnya (sebuah factory), FastAPI yang memanggil.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Service Dibuat Global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000"/>
              </a:lnSpc>
              <a:spcAft>
                <a:spcPts val="0"/>
              </a:spcAft>
            </a:pPr>
            <a:r>
              <a:rPr sz="800" i="0">
                <a:solidFill>
                  <a:srgbClr val="5C6773"/>
                </a:solidFill>
                <a:latin typeface="Consolas"/>
              </a:rPr>
              <a:t> 9  </a:t>
            </a:r>
            <a:r>
              <a:rPr sz="800" i="0">
                <a:solidFill>
                  <a:srgbClr val="FF8E6E"/>
                </a:solidFill>
                <a:latin typeface="Consolas"/>
              </a:rPr>
              <a:t>import</a:t>
            </a:r>
            <a:r>
              <a:rPr sz="800" i="0">
                <a:solidFill>
                  <a:srgbClr val="E6EDF3"/>
                </a:solidFill>
                <a:latin typeface="Consolas"/>
              </a:rPr>
              <a:t> </a:t>
            </a:r>
            <a:r>
              <a:rPr sz="800" i="0">
                <a:solidFill>
                  <a:srgbClr val="E6EDF3"/>
                </a:solidFill>
                <a:latin typeface="Consolas"/>
              </a:rPr>
              <a:t>sqlite3</a:t>
            </a:r>
          </a:p>
          <a:p>
            <a:pPr>
              <a:lnSpc>
                <a:spcPts val="1000"/>
              </a:lnSpc>
              <a:spcAft>
                <a:spcPts val="0"/>
              </a:spcAft>
            </a:pPr>
            <a:r>
              <a:rPr sz="800" i="0">
                <a:solidFill>
                  <a:srgbClr val="5C6773"/>
                </a:solidFill>
                <a:latin typeface="Consolas"/>
              </a:rPr>
              <a:t>10  </a:t>
            </a:r>
            <a:r>
              <a:rPr sz="800" i="0">
                <a:solidFill>
                  <a:srgbClr val="E6EDF3"/>
                </a:solidFill>
                <a:latin typeface="Consolas"/>
              </a:rPr>
              <a:t> </a:t>
            </a:r>
          </a:p>
          <a:p>
            <a:pPr>
              <a:lnSpc>
                <a:spcPts val="1000"/>
              </a:lnSpc>
              <a:spcAft>
                <a:spcPts val="0"/>
              </a:spcAft>
            </a:pPr>
            <a:r>
              <a:rPr sz="800" i="0">
                <a:solidFill>
                  <a:srgbClr val="5C6773"/>
                </a:solidFill>
                <a:latin typeface="Consolas"/>
              </a:rPr>
              <a:t>11  </a:t>
            </a:r>
            <a:r>
              <a:rPr sz="800" i="0">
                <a:solidFill>
                  <a:srgbClr val="FF8E6E"/>
                </a:solidFill>
                <a:latin typeface="Consolas"/>
              </a:rPr>
              <a:t>from</a:t>
            </a:r>
            <a:r>
              <a:rPr sz="800" i="0">
                <a:solidFill>
                  <a:srgbClr val="E6EDF3"/>
                </a:solidFill>
                <a:latin typeface="Consolas"/>
              </a:rPr>
              <a:t> </a:t>
            </a:r>
            <a:r>
              <a:rPr sz="800" i="0">
                <a:solidFill>
                  <a:srgbClr val="E6EDF3"/>
                </a:solidFill>
                <a:latin typeface="Consolas"/>
              </a:rPr>
              <a:t>fastapi</a:t>
            </a:r>
            <a:r>
              <a:rPr sz="800" i="0">
                <a:solidFill>
                  <a:srgbClr val="E6EDF3"/>
                </a:solidFill>
                <a:latin typeface="Consolas"/>
              </a:rPr>
              <a:t> </a:t>
            </a:r>
            <a:r>
              <a:rPr sz="800" i="0">
                <a:solidFill>
                  <a:srgbClr val="FF8E6E"/>
                </a:solidFill>
                <a:latin typeface="Consolas"/>
              </a:rPr>
              <a:t>import</a:t>
            </a:r>
            <a:r>
              <a:rPr sz="800" i="0">
                <a:solidFill>
                  <a:srgbClr val="E6EDF3"/>
                </a:solidFill>
                <a:latin typeface="Consolas"/>
              </a:rPr>
              <a:t> </a:t>
            </a:r>
            <a:r>
              <a:rPr sz="800" i="0">
                <a:solidFill>
                  <a:srgbClr val="7FDBCA"/>
                </a:solidFill>
                <a:latin typeface="Consolas"/>
              </a:rPr>
              <a:t>FastAPI</a:t>
            </a:r>
          </a:p>
          <a:p>
            <a:pPr>
              <a:lnSpc>
                <a:spcPts val="1000"/>
              </a:lnSpc>
              <a:spcAft>
                <a:spcPts val="0"/>
              </a:spcAft>
            </a:pPr>
            <a:r>
              <a:rPr sz="800" i="0">
                <a:solidFill>
                  <a:srgbClr val="5C6773"/>
                </a:solidFill>
                <a:latin typeface="Consolas"/>
              </a:rPr>
              <a:t>12  </a:t>
            </a:r>
            <a:r>
              <a:rPr sz="800" i="0">
                <a:solidFill>
                  <a:srgbClr val="FF8E6E"/>
                </a:solidFill>
                <a:latin typeface="Consolas"/>
              </a:rPr>
              <a:t>from</a:t>
            </a:r>
            <a:r>
              <a:rPr sz="800" i="0">
                <a:solidFill>
                  <a:srgbClr val="E6EDF3"/>
                </a:solidFill>
                <a:latin typeface="Consolas"/>
              </a:rPr>
              <a:t> </a:t>
            </a:r>
            <a:r>
              <a:rPr sz="800" i="0">
                <a:solidFill>
                  <a:srgbClr val="E6EDF3"/>
                </a:solidFill>
                <a:latin typeface="Consolas"/>
              </a:rPr>
              <a:t>pydantic</a:t>
            </a:r>
            <a:r>
              <a:rPr sz="800" i="0">
                <a:solidFill>
                  <a:srgbClr val="E6EDF3"/>
                </a:solidFill>
                <a:latin typeface="Consolas"/>
              </a:rPr>
              <a:t> </a:t>
            </a:r>
            <a:r>
              <a:rPr sz="800" i="0">
                <a:solidFill>
                  <a:srgbClr val="FF8E6E"/>
                </a:solidFill>
                <a:latin typeface="Consolas"/>
              </a:rPr>
              <a:t>import</a:t>
            </a:r>
            <a:r>
              <a:rPr sz="800" i="0">
                <a:solidFill>
                  <a:srgbClr val="E6EDF3"/>
                </a:solidFill>
                <a:latin typeface="Consolas"/>
              </a:rPr>
              <a:t> </a:t>
            </a:r>
            <a:r>
              <a:rPr sz="800" i="0">
                <a:solidFill>
                  <a:srgbClr val="7FDBCA"/>
                </a:solidFill>
                <a:latin typeface="Consolas"/>
              </a:rPr>
              <a:t>BaseModel</a:t>
            </a:r>
          </a:p>
          <a:p>
            <a:pPr>
              <a:lnSpc>
                <a:spcPts val="1000"/>
              </a:lnSpc>
              <a:spcAft>
                <a:spcPts val="0"/>
              </a:spcAft>
            </a:pPr>
            <a:r>
              <a:rPr sz="800" i="0">
                <a:solidFill>
                  <a:srgbClr val="5C6773"/>
                </a:solidFill>
                <a:latin typeface="Consolas"/>
              </a:rPr>
              <a:t>13  </a:t>
            </a:r>
            <a:r>
              <a:rPr sz="800" i="0">
                <a:solidFill>
                  <a:srgbClr val="E6EDF3"/>
                </a:solidFill>
                <a:latin typeface="Consolas"/>
              </a:rPr>
              <a:t> </a:t>
            </a:r>
          </a:p>
          <a:p>
            <a:pPr>
              <a:lnSpc>
                <a:spcPts val="1000"/>
              </a:lnSpc>
              <a:spcAft>
                <a:spcPts val="0"/>
              </a:spcAft>
            </a:pPr>
            <a:r>
              <a:rPr sz="800" i="0">
                <a:solidFill>
                  <a:srgbClr val="5C6773"/>
                </a:solidFill>
                <a:latin typeface="Consolas"/>
              </a:rPr>
              <a:t>14  </a:t>
            </a:r>
            <a:r>
              <a:rPr sz="800" i="0">
                <a:solidFill>
                  <a:srgbClr val="E6EDF3"/>
                </a:solidFill>
                <a:latin typeface="Consolas"/>
              </a:rPr>
              <a:t> </a:t>
            </a:r>
          </a:p>
          <a:p>
            <a:pPr>
              <a:lnSpc>
                <a:spcPts val="1000"/>
              </a:lnSpc>
              <a:spcAft>
                <a:spcPts val="0"/>
              </a:spcAft>
            </a:pPr>
            <a:r>
              <a:rPr sz="800" i="0">
                <a:solidFill>
                  <a:srgbClr val="5C6773"/>
                </a:solidFill>
                <a:latin typeface="Consolas"/>
              </a:rPr>
              <a:t>15  </a:t>
            </a:r>
            <a:r>
              <a:rPr sz="800" i="0">
                <a:solidFill>
                  <a:srgbClr val="FF8E6E"/>
                </a:solidFill>
                <a:latin typeface="Consolas"/>
              </a:rPr>
              <a:t>class</a:t>
            </a:r>
            <a:r>
              <a:rPr sz="800" i="0">
                <a:solidFill>
                  <a:srgbClr val="E6EDF3"/>
                </a:solidFill>
                <a:latin typeface="Consolas"/>
              </a:rPr>
              <a:t> </a:t>
            </a:r>
            <a:r>
              <a:rPr sz="800" i="0">
                <a:solidFill>
                  <a:srgbClr val="7FDBCA"/>
                </a:solidFill>
                <a:latin typeface="Consolas"/>
              </a:rPr>
              <a:t>SqliteOrderRepository</a:t>
            </a:r>
            <a:r>
              <a:rPr sz="800" i="0">
                <a:solidFill>
                  <a:srgbClr val="E6EDF3"/>
                </a:solidFill>
                <a:latin typeface="Consolas"/>
              </a:rPr>
              <a:t>:</a:t>
            </a:r>
          </a:p>
          <a:p>
            <a:pPr>
              <a:lnSpc>
                <a:spcPts val="1000"/>
              </a:lnSpc>
              <a:spcAft>
                <a:spcPts val="0"/>
              </a:spcAft>
            </a:pPr>
            <a:r>
              <a:rPr sz="800" i="0">
                <a:solidFill>
                  <a:srgbClr val="5C6773"/>
                </a:solidFill>
                <a:latin typeface="Consolas"/>
              </a:rPr>
              <a:t>16  </a:t>
            </a: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__init__</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path</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17  </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conn</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sqlite3</a:t>
            </a:r>
            <a:r>
              <a:rPr sz="800" i="0">
                <a:solidFill>
                  <a:srgbClr val="E6EDF3"/>
                </a:solidFill>
                <a:latin typeface="Consolas"/>
              </a:rPr>
              <a:t>.</a:t>
            </a:r>
            <a:r>
              <a:rPr sz="800" i="0">
                <a:solidFill>
                  <a:srgbClr val="E6EDF3"/>
                </a:solidFill>
                <a:latin typeface="Consolas"/>
              </a:rPr>
              <a:t>connect</a:t>
            </a:r>
            <a:r>
              <a:rPr sz="800" i="0">
                <a:solidFill>
                  <a:srgbClr val="E6EDF3"/>
                </a:solidFill>
                <a:latin typeface="Consolas"/>
              </a:rPr>
              <a:t>(</a:t>
            </a:r>
            <a:r>
              <a:rPr sz="800" i="0">
                <a:solidFill>
                  <a:srgbClr val="E6EDF3"/>
                </a:solidFill>
                <a:latin typeface="Consolas"/>
              </a:rPr>
              <a:t>path</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check_same_thread</a:t>
            </a:r>
            <a:r>
              <a:rPr sz="800" i="0">
                <a:solidFill>
                  <a:srgbClr val="E6EDF3"/>
                </a:solidFill>
                <a:latin typeface="Consolas"/>
              </a:rPr>
              <a:t>=</a:t>
            </a:r>
            <a:r>
              <a:rPr sz="800" i="0">
                <a:solidFill>
                  <a:srgbClr val="FF8E6E"/>
                </a:solidFill>
                <a:latin typeface="Consolas"/>
              </a:rPr>
              <a:t>False</a:t>
            </a:r>
            <a:r>
              <a:rPr sz="800" i="0">
                <a:solidFill>
                  <a:srgbClr val="E6EDF3"/>
                </a:solidFill>
                <a:latin typeface="Consolas"/>
              </a:rPr>
              <a:t>)</a:t>
            </a:r>
          </a:p>
          <a:p>
            <a:pPr>
              <a:lnSpc>
                <a:spcPts val="1000"/>
              </a:lnSpc>
              <a:spcAft>
                <a:spcPts val="0"/>
              </a:spcAft>
            </a:pPr>
            <a:r>
              <a:rPr sz="800" i="0">
                <a:solidFill>
                  <a:srgbClr val="5C6773"/>
                </a:solidFill>
                <a:latin typeface="Consolas"/>
              </a:rPr>
              <a:t>18  </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conn</a:t>
            </a:r>
            <a:r>
              <a:rPr sz="800" i="0">
                <a:solidFill>
                  <a:srgbClr val="E6EDF3"/>
                </a:solidFill>
                <a:latin typeface="Consolas"/>
              </a:rPr>
              <a:t>.</a:t>
            </a:r>
            <a:r>
              <a:rPr sz="800" i="0">
                <a:solidFill>
                  <a:srgbClr val="E6EDF3"/>
                </a:solidFill>
                <a:latin typeface="Consolas"/>
              </a:rPr>
              <a:t>execute</a:t>
            </a:r>
            <a:r>
              <a:rPr sz="800" i="0">
                <a:solidFill>
                  <a:srgbClr val="E6EDF3"/>
                </a:solidFill>
                <a:latin typeface="Consolas"/>
              </a:rPr>
              <a:t>(</a:t>
            </a:r>
          </a:p>
          <a:p>
            <a:pPr>
              <a:lnSpc>
                <a:spcPts val="1000"/>
              </a:lnSpc>
              <a:spcAft>
                <a:spcPts val="0"/>
              </a:spcAft>
            </a:pPr>
            <a:r>
              <a:rPr sz="800" i="0">
                <a:solidFill>
                  <a:srgbClr val="5C6773"/>
                </a:solidFill>
                <a:latin typeface="Consolas"/>
              </a:rPr>
              <a:t>19  </a:t>
            </a:r>
            <a:r>
              <a:rPr sz="800" i="0">
                <a:solidFill>
                  <a:srgbClr val="E6EDF3"/>
                </a:solidFill>
                <a:latin typeface="Consolas"/>
              </a:rPr>
              <a:t>            </a:t>
            </a:r>
            <a:r>
              <a:rPr sz="800" i="0">
                <a:solidFill>
                  <a:srgbClr val="A5D6A7"/>
                </a:solidFill>
                <a:latin typeface="Consolas"/>
              </a:rPr>
              <a:t>"CREATE TABLE IF NOT EXISTS orders "</a:t>
            </a:r>
          </a:p>
          <a:p>
            <a:pPr>
              <a:lnSpc>
                <a:spcPts val="1000"/>
              </a:lnSpc>
              <a:spcAft>
                <a:spcPts val="0"/>
              </a:spcAft>
            </a:pPr>
            <a:r>
              <a:rPr sz="800" i="0">
                <a:solidFill>
                  <a:srgbClr val="5C6773"/>
                </a:solidFill>
                <a:latin typeface="Consolas"/>
              </a:rPr>
              <a:t>20  </a:t>
            </a:r>
            <a:r>
              <a:rPr sz="800" i="0">
                <a:solidFill>
                  <a:srgbClr val="E6EDF3"/>
                </a:solidFill>
                <a:latin typeface="Consolas"/>
              </a:rPr>
              <a:t>            </a:t>
            </a:r>
            <a:r>
              <a:rPr sz="800" i="0">
                <a:solidFill>
                  <a:srgbClr val="A5D6A7"/>
                </a:solidFill>
                <a:latin typeface="Consolas"/>
              </a:rPr>
              <a:t>"(id INTEGER PRIMARY KEY, customer TEXT, total INTEGER)"</a:t>
            </a:r>
          </a:p>
          <a:p>
            <a:pPr>
              <a:lnSpc>
                <a:spcPts val="1000"/>
              </a:lnSpc>
              <a:spcAft>
                <a:spcPts val="0"/>
              </a:spcAft>
            </a:pPr>
            <a:r>
              <a:rPr sz="800" i="0">
                <a:solidFill>
                  <a:srgbClr val="5C6773"/>
                </a:solidFill>
                <a:latin typeface="Consolas"/>
              </a:rPr>
              <a:t>21  </a:t>
            </a:r>
            <a:r>
              <a:rPr sz="800" i="0">
                <a:solidFill>
                  <a:srgbClr val="E6EDF3"/>
                </a:solidFill>
                <a:latin typeface="Consolas"/>
              </a:rPr>
              <a:t>        </a:t>
            </a:r>
            <a:r>
              <a:rPr sz="800" i="0">
                <a:solidFill>
                  <a:srgbClr val="E6EDF3"/>
                </a:solidFill>
                <a:latin typeface="Consolas"/>
              </a:rPr>
              <a:t>)</a:t>
            </a:r>
          </a:p>
          <a:p>
            <a:pPr>
              <a:lnSpc>
                <a:spcPts val="1000"/>
              </a:lnSpc>
              <a:spcAft>
                <a:spcPts val="0"/>
              </a:spcAft>
            </a:pPr>
            <a:r>
              <a:rPr sz="800" i="0">
                <a:solidFill>
                  <a:srgbClr val="5C6773"/>
                </a:solidFill>
                <a:latin typeface="Consolas"/>
              </a:rPr>
              <a:t>22  </a:t>
            </a:r>
            <a:r>
              <a:rPr sz="800" i="0">
                <a:solidFill>
                  <a:srgbClr val="E6EDF3"/>
                </a:solidFill>
                <a:latin typeface="Consolas"/>
              </a:rPr>
              <a:t> </a:t>
            </a:r>
          </a:p>
          <a:p>
            <a:pPr>
              <a:lnSpc>
                <a:spcPts val="1000"/>
              </a:lnSpc>
              <a:spcAft>
                <a:spcPts val="0"/>
              </a:spcAft>
            </a:pPr>
            <a:r>
              <a:rPr sz="800" i="0">
                <a:solidFill>
                  <a:srgbClr val="5C6773"/>
                </a:solidFill>
                <a:latin typeface="Consolas"/>
              </a:rPr>
              <a:t>23  </a:t>
            </a: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add</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total</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&gt;</a:t>
            </a:r>
            <a:r>
              <a:rPr sz="800" i="0">
                <a:solidFill>
                  <a:srgbClr val="E6EDF3"/>
                </a:solidFill>
                <a:latin typeface="Consolas"/>
              </a:rPr>
              <a:t> </a:t>
            </a:r>
            <a:r>
              <a:rPr sz="800" i="0">
                <a:solidFill>
                  <a:srgbClr val="C3A6FF"/>
                </a:solidFill>
                <a:latin typeface="Consolas"/>
              </a:rPr>
              <a:t>dict</a:t>
            </a:r>
            <a:r>
              <a:rPr sz="800" i="0">
                <a:solidFill>
                  <a:srgbClr val="E6EDF3"/>
                </a:solidFill>
                <a:latin typeface="Consolas"/>
              </a:rPr>
              <a:t>:</a:t>
            </a:r>
          </a:p>
          <a:p>
            <a:pPr>
              <a:lnSpc>
                <a:spcPts val="1000"/>
              </a:lnSpc>
              <a:spcAft>
                <a:spcPts val="0"/>
              </a:spcAft>
            </a:pPr>
            <a:r>
              <a:rPr sz="800" i="0">
                <a:solidFill>
                  <a:srgbClr val="5C6773"/>
                </a:solidFill>
                <a:latin typeface="Consolas"/>
              </a:rPr>
              <a:t>24  </a:t>
            </a:r>
            <a:r>
              <a:rPr sz="800" i="0">
                <a:solidFill>
                  <a:srgbClr val="E6EDF3"/>
                </a:solidFill>
                <a:latin typeface="Consolas"/>
              </a:rPr>
              <a:t>        </a:t>
            </a:r>
            <a:r>
              <a:rPr sz="800" i="0">
                <a:solidFill>
                  <a:srgbClr val="E6EDF3"/>
                </a:solidFill>
                <a:latin typeface="Consolas"/>
              </a:rPr>
              <a:t>cur</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conn</a:t>
            </a:r>
            <a:r>
              <a:rPr sz="800" i="0">
                <a:solidFill>
                  <a:srgbClr val="E6EDF3"/>
                </a:solidFill>
                <a:latin typeface="Consolas"/>
              </a:rPr>
              <a:t>.</a:t>
            </a:r>
            <a:r>
              <a:rPr sz="800" i="0">
                <a:solidFill>
                  <a:srgbClr val="E6EDF3"/>
                </a:solidFill>
                <a:latin typeface="Consolas"/>
              </a:rPr>
              <a:t>execute</a:t>
            </a:r>
            <a:r>
              <a:rPr sz="800" i="0">
                <a:solidFill>
                  <a:srgbClr val="E6EDF3"/>
                </a:solidFill>
                <a:latin typeface="Consolas"/>
              </a:rPr>
              <a:t>(</a:t>
            </a:r>
          </a:p>
          <a:p>
            <a:pPr>
              <a:lnSpc>
                <a:spcPts val="1000"/>
              </a:lnSpc>
              <a:spcAft>
                <a:spcPts val="0"/>
              </a:spcAft>
            </a:pPr>
            <a:r>
              <a:rPr sz="800" i="0">
                <a:solidFill>
                  <a:srgbClr val="5C6773"/>
                </a:solidFill>
                <a:latin typeface="Consolas"/>
              </a:rPr>
              <a:t>25  </a:t>
            </a:r>
            <a:r>
              <a:rPr sz="800" i="0">
                <a:solidFill>
                  <a:srgbClr val="E6EDF3"/>
                </a:solidFill>
                <a:latin typeface="Consolas"/>
              </a:rPr>
              <a:t>            </a:t>
            </a:r>
            <a:r>
              <a:rPr sz="800" i="0">
                <a:solidFill>
                  <a:srgbClr val="A5D6A7"/>
                </a:solidFill>
                <a:latin typeface="Consolas"/>
              </a:rPr>
              <a:t>"INSERT INTO orders (customer, total) VALUES (?, ?)"</a:t>
            </a:r>
            <a:r>
              <a:rPr sz="800" i="0">
                <a:solidFill>
                  <a:srgbClr val="E6EDF3"/>
                </a:solidFill>
                <a:latin typeface="Consolas"/>
              </a:rPr>
              <a:t>,</a:t>
            </a:r>
          </a:p>
          <a:p>
            <a:pPr>
              <a:lnSpc>
                <a:spcPts val="1000"/>
              </a:lnSpc>
              <a:spcAft>
                <a:spcPts val="0"/>
              </a:spcAft>
            </a:pPr>
            <a:r>
              <a:rPr sz="800" i="0">
                <a:solidFill>
                  <a:srgbClr val="5C6773"/>
                </a:solidFill>
                <a:latin typeface="Consolas"/>
              </a:rPr>
              <a:t>26  </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total</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27  </a:t>
            </a:r>
            <a:r>
              <a:rPr sz="800" i="0">
                <a:solidFill>
                  <a:srgbClr val="E6EDF3"/>
                </a:solidFill>
                <a:latin typeface="Consolas"/>
              </a:rPr>
              <a:t>        </a:t>
            </a:r>
            <a:r>
              <a:rPr sz="800" i="0">
                <a:solidFill>
                  <a:srgbClr val="E6EDF3"/>
                </a:solidFill>
                <a:latin typeface="Consolas"/>
              </a:rPr>
              <a:t>)</a:t>
            </a:r>
          </a:p>
          <a:p>
            <a:pPr>
              <a:lnSpc>
                <a:spcPts val="1000"/>
              </a:lnSpc>
              <a:spcAft>
                <a:spcPts val="0"/>
              </a:spcAft>
            </a:pPr>
            <a:r>
              <a:rPr sz="800" i="0">
                <a:solidFill>
                  <a:srgbClr val="5C6773"/>
                </a:solidFill>
                <a:latin typeface="Consolas"/>
              </a:rPr>
              <a:t>28  </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conn</a:t>
            </a:r>
            <a:r>
              <a:rPr sz="800" i="0">
                <a:solidFill>
                  <a:srgbClr val="E6EDF3"/>
                </a:solidFill>
                <a:latin typeface="Consolas"/>
              </a:rPr>
              <a:t>.</a:t>
            </a:r>
            <a:r>
              <a:rPr sz="800" i="0">
                <a:solidFill>
                  <a:srgbClr val="E6EDF3"/>
                </a:solidFill>
                <a:latin typeface="Consolas"/>
              </a:rPr>
              <a:t>commit</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29  </a:t>
            </a:r>
            <a:r>
              <a:rPr sz="800" i="0">
                <a:solidFill>
                  <a:srgbClr val="E6EDF3"/>
                </a:solidFill>
                <a:latin typeface="Consolas"/>
              </a:rPr>
              <a:t>        </a:t>
            </a:r>
            <a:r>
              <a:rPr sz="800" i="0">
                <a:solidFill>
                  <a:srgbClr val="FF8E6E"/>
                </a:solidFill>
                <a:latin typeface="Consolas"/>
              </a:rPr>
              <a:t>return</a:t>
            </a:r>
            <a:r>
              <a:rPr sz="800" i="0">
                <a:solidFill>
                  <a:srgbClr val="E6EDF3"/>
                </a:solidFill>
                <a:latin typeface="Consolas"/>
              </a:rPr>
              <a:t> </a:t>
            </a:r>
            <a:r>
              <a:rPr sz="800" i="0">
                <a:solidFill>
                  <a:srgbClr val="E6EDF3"/>
                </a:solidFill>
                <a:latin typeface="Consolas"/>
              </a:rPr>
              <a:t>{</a:t>
            </a:r>
            <a:r>
              <a:rPr sz="800" i="0">
                <a:solidFill>
                  <a:srgbClr val="A5D6A7"/>
                </a:solidFill>
                <a:latin typeface="Consolas"/>
              </a:rPr>
              <a:t>"id"</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cur</a:t>
            </a:r>
            <a:r>
              <a:rPr sz="800" i="0">
                <a:solidFill>
                  <a:srgbClr val="E6EDF3"/>
                </a:solidFill>
                <a:latin typeface="Consolas"/>
              </a:rPr>
              <a:t>.</a:t>
            </a:r>
            <a:r>
              <a:rPr sz="800" i="0">
                <a:solidFill>
                  <a:srgbClr val="E6EDF3"/>
                </a:solidFill>
                <a:latin typeface="Consolas"/>
              </a:rPr>
              <a:t>lastrowid</a:t>
            </a:r>
            <a:r>
              <a:rPr sz="800" i="0">
                <a:solidFill>
                  <a:srgbClr val="E6EDF3"/>
                </a:solidFill>
                <a:latin typeface="Consolas"/>
              </a:rPr>
              <a:t>,</a:t>
            </a:r>
            <a:r>
              <a:rPr sz="800" i="0">
                <a:solidFill>
                  <a:srgbClr val="E6EDF3"/>
                </a:solidFill>
                <a:latin typeface="Consolas"/>
              </a:rPr>
              <a:t> </a:t>
            </a:r>
            <a:r>
              <a:rPr sz="800" i="0">
                <a:solidFill>
                  <a:srgbClr val="A5D6A7"/>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A5D6A7"/>
                </a:solidFill>
                <a:latin typeface="Consolas"/>
              </a:rPr>
              <a:t>"total"</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total</a:t>
            </a:r>
            <a:r>
              <a:rPr sz="800" i="0">
                <a:solidFill>
                  <a:srgbClr val="E6EDF3"/>
                </a:solidFill>
                <a:latin typeface="Consolas"/>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Before: Service Dibuat Global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06-dependency-injection/before.py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000"/>
              </a:lnSpc>
              <a:spcAft>
                <a:spcPts val="0"/>
              </a:spcAft>
            </a:pPr>
            <a:r>
              <a:rPr sz="800" i="0">
                <a:solidFill>
                  <a:srgbClr val="5C6773"/>
                </a:solidFill>
                <a:latin typeface="Consolas"/>
              </a:rPr>
              <a:t>32  </a:t>
            </a:r>
            <a:r>
              <a:rPr sz="800" i="0">
                <a:solidFill>
                  <a:srgbClr val="FF8E6E"/>
                </a:solidFill>
                <a:latin typeface="Consolas"/>
              </a:rPr>
              <a:t>class</a:t>
            </a:r>
            <a:r>
              <a:rPr sz="800" i="0">
                <a:solidFill>
                  <a:srgbClr val="E6EDF3"/>
                </a:solidFill>
                <a:latin typeface="Consolas"/>
              </a:rPr>
              <a:t> </a:t>
            </a:r>
            <a:r>
              <a:rPr sz="800" i="0">
                <a:solidFill>
                  <a:srgbClr val="7FDBCA"/>
                </a:solidFill>
                <a:latin typeface="Consolas"/>
              </a:rPr>
              <a:t>OrderService</a:t>
            </a:r>
            <a:r>
              <a:rPr sz="800" i="0">
                <a:solidFill>
                  <a:srgbClr val="E6EDF3"/>
                </a:solidFill>
                <a:latin typeface="Consolas"/>
              </a:rPr>
              <a:t>:</a:t>
            </a:r>
          </a:p>
          <a:p>
            <a:pPr>
              <a:lnSpc>
                <a:spcPts val="1000"/>
              </a:lnSpc>
              <a:spcAft>
                <a:spcPts val="0"/>
              </a:spcAft>
            </a:pPr>
            <a:r>
              <a:rPr sz="800" i="0">
                <a:solidFill>
                  <a:srgbClr val="5C6773"/>
                </a:solidFill>
                <a:latin typeface="Consolas"/>
              </a:rPr>
              <a:t>33  </a:t>
            </a: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__init__</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repo</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34  </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repo</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repo</a:t>
            </a:r>
          </a:p>
          <a:p>
            <a:pPr>
              <a:lnSpc>
                <a:spcPts val="1000"/>
              </a:lnSpc>
              <a:spcAft>
                <a:spcPts val="0"/>
              </a:spcAft>
            </a:pPr>
            <a:r>
              <a:rPr sz="800" i="0">
                <a:solidFill>
                  <a:srgbClr val="5C6773"/>
                </a:solidFill>
                <a:latin typeface="Consolas"/>
              </a:rPr>
              <a:t>35  </a:t>
            </a:r>
            <a:r>
              <a:rPr sz="800" i="0">
                <a:solidFill>
                  <a:srgbClr val="E6EDF3"/>
                </a:solidFill>
                <a:latin typeface="Consolas"/>
              </a:rPr>
              <a:t> </a:t>
            </a:r>
          </a:p>
          <a:p>
            <a:pPr>
              <a:lnSpc>
                <a:spcPts val="1000"/>
              </a:lnSpc>
              <a:spcAft>
                <a:spcPts val="0"/>
              </a:spcAft>
            </a:pPr>
            <a:r>
              <a:rPr sz="800" i="0">
                <a:solidFill>
                  <a:srgbClr val="5C6773"/>
                </a:solidFill>
                <a:latin typeface="Consolas"/>
              </a:rPr>
              <a:t>36  </a:t>
            </a: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place_order</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&gt;</a:t>
            </a:r>
            <a:r>
              <a:rPr sz="800" i="0">
                <a:solidFill>
                  <a:srgbClr val="E6EDF3"/>
                </a:solidFill>
                <a:latin typeface="Consolas"/>
              </a:rPr>
              <a:t> </a:t>
            </a:r>
            <a:r>
              <a:rPr sz="800" i="0">
                <a:solidFill>
                  <a:srgbClr val="C3A6FF"/>
                </a:solidFill>
                <a:latin typeface="Consolas"/>
              </a:rPr>
              <a:t>dict</a:t>
            </a:r>
            <a:r>
              <a:rPr sz="800" i="0">
                <a:solidFill>
                  <a:srgbClr val="E6EDF3"/>
                </a:solidFill>
                <a:latin typeface="Consolas"/>
              </a:rPr>
              <a:t>:</a:t>
            </a:r>
          </a:p>
          <a:p>
            <a:pPr>
              <a:lnSpc>
                <a:spcPts val="1000"/>
              </a:lnSpc>
              <a:spcAft>
                <a:spcPts val="0"/>
              </a:spcAft>
            </a:pPr>
            <a:r>
              <a:rPr sz="800" i="0">
                <a:solidFill>
                  <a:srgbClr val="5C6773"/>
                </a:solidFill>
                <a:latin typeface="Consolas"/>
              </a:rPr>
              <a:t>37  </a:t>
            </a:r>
            <a:r>
              <a:rPr sz="800" i="0">
                <a:solidFill>
                  <a:srgbClr val="E6EDF3"/>
                </a:solidFill>
                <a:latin typeface="Consolas"/>
              </a:rPr>
              <a:t>        </a:t>
            </a:r>
            <a:r>
              <a:rPr sz="800" i="0">
                <a:solidFill>
                  <a:srgbClr val="FF8E6E"/>
                </a:solidFill>
                <a:latin typeface="Consolas"/>
              </a:rPr>
              <a:t>return</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repo</a:t>
            </a:r>
            <a:r>
              <a:rPr sz="800" i="0">
                <a:solidFill>
                  <a:srgbClr val="E6EDF3"/>
                </a:solidFill>
                <a:latin typeface="Consolas"/>
              </a:rPr>
              <a:t>.</a:t>
            </a:r>
            <a:r>
              <a:rPr sz="800" i="0">
                <a:solidFill>
                  <a:srgbClr val="E6EDF3"/>
                </a:solidFill>
                <a:latin typeface="Consolas"/>
              </a:rPr>
              <a:t>add</a:t>
            </a:r>
            <a:r>
              <a:rPr sz="800" i="0">
                <a:solidFill>
                  <a:srgbClr val="E6EDF3"/>
                </a:solidFill>
                <a:latin typeface="Consolas"/>
              </a:rPr>
              <a:t>(</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F9C97A"/>
                </a:solidFill>
                <a:latin typeface="Consolas"/>
              </a:rPr>
              <a:t>5</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a:t>
            </a:r>
            <a:r>
              <a:rPr sz="800" i="0">
                <a:solidFill>
                  <a:srgbClr val="E6EDF3"/>
                </a:solidFill>
                <a:latin typeface="Consolas"/>
              </a:rPr>
              <a:t> </a:t>
            </a:r>
            <a:r>
              <a:rPr sz="800" i="0">
                <a:solidFill>
                  <a:srgbClr val="F9C97A"/>
                </a:solidFill>
                <a:latin typeface="Consolas"/>
              </a:rPr>
              <a:t>100</a:t>
            </a:r>
            <a:r>
              <a:rPr sz="800" i="0">
                <a:solidFill>
                  <a:srgbClr val="E6EDF3"/>
                </a:solidFill>
                <a:latin typeface="Consolas"/>
              </a:rPr>
              <a:t>)</a:t>
            </a:r>
          </a:p>
          <a:p>
            <a:pPr>
              <a:lnSpc>
                <a:spcPts val="1000"/>
              </a:lnSpc>
              <a:spcAft>
                <a:spcPts val="0"/>
              </a:spcAft>
            </a:pPr>
            <a:r>
              <a:rPr sz="800" i="0">
                <a:solidFill>
                  <a:srgbClr val="5C6773"/>
                </a:solidFill>
                <a:latin typeface="Consolas"/>
              </a:rPr>
              <a:t>38  </a:t>
            </a:r>
            <a:r>
              <a:rPr sz="800" i="0">
                <a:solidFill>
                  <a:srgbClr val="E6EDF3"/>
                </a:solidFill>
                <a:latin typeface="Consolas"/>
              </a:rPr>
              <a:t> </a:t>
            </a:r>
          </a:p>
          <a:p>
            <a:pPr>
              <a:lnSpc>
                <a:spcPts val="1000"/>
              </a:lnSpc>
              <a:spcAft>
                <a:spcPts val="0"/>
              </a:spcAft>
            </a:pPr>
            <a:r>
              <a:rPr sz="800" i="0">
                <a:solidFill>
                  <a:srgbClr val="5C6773"/>
                </a:solidFill>
                <a:latin typeface="Consolas"/>
              </a:rPr>
              <a:t>39  </a:t>
            </a:r>
            <a:r>
              <a:rPr sz="800" i="0">
                <a:solidFill>
                  <a:srgbClr val="E6EDF3"/>
                </a:solidFill>
                <a:latin typeface="Consolas"/>
              </a:rPr>
              <a:t> </a:t>
            </a:r>
          </a:p>
          <a:p>
            <a:pPr>
              <a:lnSpc>
                <a:spcPts val="1000"/>
              </a:lnSpc>
              <a:spcAft>
                <a:spcPts val="0"/>
              </a:spcAft>
            </a:pPr>
            <a:r>
              <a:rPr sz="800" i="0">
                <a:solidFill>
                  <a:srgbClr val="5C6773"/>
                </a:solidFill>
                <a:latin typeface="Consolas"/>
              </a:rPr>
              <a:t>40  </a:t>
            </a:r>
            <a:r>
              <a:rPr sz="800" i="0">
                <a:solidFill>
                  <a:srgbClr val="E6EDF3"/>
                </a:solidFill>
                <a:latin typeface="Consolas"/>
              </a:rPr>
              <a:t>app</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7FDBCA"/>
                </a:solidFill>
                <a:latin typeface="Consolas"/>
              </a:rPr>
              <a:t>FastAPI</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41  </a:t>
            </a:r>
            <a:r>
              <a:rPr sz="800" i="1">
                <a:solidFill>
                  <a:srgbClr val="8B98A8"/>
                </a:solidFill>
                <a:latin typeface="Consolas"/>
              </a:rPr>
              <a:t># dibuat global saat file di-import, susah diganti</a:t>
            </a:r>
          </a:p>
          <a:p>
            <a:pPr>
              <a:lnSpc>
                <a:spcPts val="1000"/>
              </a:lnSpc>
              <a:spcAft>
                <a:spcPts val="0"/>
              </a:spcAft>
            </a:pPr>
            <a:r>
              <a:rPr sz="800" i="0">
                <a:solidFill>
                  <a:srgbClr val="5C6773"/>
                </a:solidFill>
                <a:latin typeface="Consolas"/>
              </a:rPr>
              <a:t>42  </a:t>
            </a:r>
            <a:r>
              <a:rPr sz="800" i="0">
                <a:solidFill>
                  <a:srgbClr val="E6EDF3"/>
                </a:solidFill>
                <a:latin typeface="Consolas"/>
              </a:rPr>
              <a:t>service</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7FDBCA"/>
                </a:solidFill>
                <a:latin typeface="Consolas"/>
              </a:rPr>
              <a:t>OrderService</a:t>
            </a:r>
            <a:r>
              <a:rPr sz="800" i="0">
                <a:solidFill>
                  <a:srgbClr val="E6EDF3"/>
                </a:solidFill>
                <a:latin typeface="Consolas"/>
              </a:rPr>
              <a:t>(</a:t>
            </a:r>
            <a:r>
              <a:rPr sz="800" i="0">
                <a:solidFill>
                  <a:srgbClr val="7FDBCA"/>
                </a:solidFill>
                <a:latin typeface="Consolas"/>
              </a:rPr>
              <a:t>SqliteOrderRepository</a:t>
            </a:r>
            <a:r>
              <a:rPr sz="800" i="0">
                <a:solidFill>
                  <a:srgbClr val="E6EDF3"/>
                </a:solidFill>
                <a:latin typeface="Consolas"/>
              </a:rPr>
              <a:t>(</a:t>
            </a:r>
            <a:r>
              <a:rPr sz="800" i="0">
                <a:solidFill>
                  <a:srgbClr val="A5D6A7"/>
                </a:solidFill>
                <a:latin typeface="Consolas"/>
              </a:rPr>
              <a:t>"orders.db"</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43  </a:t>
            </a:r>
            <a:r>
              <a:rPr sz="800" i="0">
                <a:solidFill>
                  <a:srgbClr val="E6EDF3"/>
                </a:solidFill>
                <a:latin typeface="Consolas"/>
              </a:rPr>
              <a:t> </a:t>
            </a:r>
          </a:p>
          <a:p>
            <a:pPr>
              <a:lnSpc>
                <a:spcPts val="1000"/>
              </a:lnSpc>
              <a:spcAft>
                <a:spcPts val="0"/>
              </a:spcAft>
            </a:pPr>
            <a:r>
              <a:rPr sz="800" i="0">
                <a:solidFill>
                  <a:srgbClr val="5C6773"/>
                </a:solidFill>
                <a:latin typeface="Consolas"/>
              </a:rPr>
              <a:t>44  </a:t>
            </a:r>
            <a:r>
              <a:rPr sz="800" i="0">
                <a:solidFill>
                  <a:srgbClr val="E6EDF3"/>
                </a:solidFill>
                <a:latin typeface="Consolas"/>
              </a:rPr>
              <a:t> </a:t>
            </a:r>
          </a:p>
          <a:p>
            <a:pPr>
              <a:lnSpc>
                <a:spcPts val="1000"/>
              </a:lnSpc>
              <a:spcAft>
                <a:spcPts val="0"/>
              </a:spcAft>
            </a:pPr>
            <a:r>
              <a:rPr sz="800" i="0">
                <a:solidFill>
                  <a:srgbClr val="5C6773"/>
                </a:solidFill>
                <a:latin typeface="Consolas"/>
              </a:rPr>
              <a:t>45  </a:t>
            </a:r>
            <a:r>
              <a:rPr sz="800" i="0">
                <a:solidFill>
                  <a:srgbClr val="FF8E6E"/>
                </a:solidFill>
                <a:latin typeface="Consolas"/>
              </a:rPr>
              <a:t>class</a:t>
            </a:r>
            <a:r>
              <a:rPr sz="800" i="0">
                <a:solidFill>
                  <a:srgbClr val="E6EDF3"/>
                </a:solidFill>
                <a:latin typeface="Consolas"/>
              </a:rPr>
              <a:t> </a:t>
            </a:r>
            <a:r>
              <a:rPr sz="800" i="0">
                <a:solidFill>
                  <a:srgbClr val="7FDBCA"/>
                </a:solidFill>
                <a:latin typeface="Consolas"/>
              </a:rPr>
              <a:t>OrderIn</a:t>
            </a:r>
            <a:r>
              <a:rPr sz="800" i="0">
                <a:solidFill>
                  <a:srgbClr val="E6EDF3"/>
                </a:solidFill>
                <a:latin typeface="Consolas"/>
              </a:rPr>
              <a:t>(</a:t>
            </a:r>
            <a:r>
              <a:rPr sz="800" i="0">
                <a:solidFill>
                  <a:srgbClr val="7FDBCA"/>
                </a:solidFill>
                <a:latin typeface="Consolas"/>
              </a:rPr>
              <a:t>BaseModel</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46  </a:t>
            </a: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p>
          <a:p>
            <a:pPr>
              <a:lnSpc>
                <a:spcPts val="1000"/>
              </a:lnSpc>
              <a:spcAft>
                <a:spcPts val="0"/>
              </a:spcAft>
            </a:pPr>
            <a:r>
              <a:rPr sz="800" i="0">
                <a:solidFill>
                  <a:srgbClr val="5C6773"/>
                </a:solidFill>
                <a:latin typeface="Consolas"/>
              </a:rPr>
              <a:t>47  </a:t>
            </a: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p>
          <a:p>
            <a:pPr>
              <a:lnSpc>
                <a:spcPts val="1000"/>
              </a:lnSpc>
              <a:spcAft>
                <a:spcPts val="0"/>
              </a:spcAft>
            </a:pPr>
            <a:r>
              <a:rPr sz="800" i="0">
                <a:solidFill>
                  <a:srgbClr val="5C6773"/>
                </a:solidFill>
                <a:latin typeface="Consolas"/>
              </a:rPr>
              <a:t>48  </a:t>
            </a:r>
            <a:r>
              <a:rPr sz="800" i="0">
                <a:solidFill>
                  <a:srgbClr val="E6EDF3"/>
                </a:solidFill>
                <a:latin typeface="Consolas"/>
              </a:rPr>
              <a:t> </a:t>
            </a:r>
          </a:p>
          <a:p>
            <a:pPr>
              <a:lnSpc>
                <a:spcPts val="1000"/>
              </a:lnSpc>
              <a:spcAft>
                <a:spcPts val="0"/>
              </a:spcAft>
            </a:pPr>
            <a:r>
              <a:rPr sz="800" i="0">
                <a:solidFill>
                  <a:srgbClr val="5C6773"/>
                </a:solidFill>
                <a:latin typeface="Consolas"/>
              </a:rPr>
              <a:t>49  </a:t>
            </a:r>
            <a:r>
              <a:rPr sz="800" i="0">
                <a:solidFill>
                  <a:srgbClr val="E6EDF3"/>
                </a:solidFill>
                <a:latin typeface="Consolas"/>
              </a:rPr>
              <a:t> </a:t>
            </a:r>
          </a:p>
          <a:p>
            <a:pPr>
              <a:lnSpc>
                <a:spcPts val="1000"/>
              </a:lnSpc>
              <a:spcAft>
                <a:spcPts val="0"/>
              </a:spcAft>
            </a:pPr>
            <a:r>
              <a:rPr sz="800" i="0">
                <a:solidFill>
                  <a:srgbClr val="5C6773"/>
                </a:solidFill>
                <a:latin typeface="Consolas"/>
              </a:rPr>
              <a:t>50  </a:t>
            </a:r>
            <a:r>
              <a:rPr sz="800" i="0">
                <a:solidFill>
                  <a:srgbClr val="F9C97A"/>
                </a:solidFill>
                <a:latin typeface="Consolas"/>
              </a:rPr>
              <a:t>@app.post</a:t>
            </a:r>
            <a:r>
              <a:rPr sz="800" i="0">
                <a:solidFill>
                  <a:srgbClr val="E6EDF3"/>
                </a:solidFill>
                <a:latin typeface="Consolas"/>
              </a:rPr>
              <a:t>(</a:t>
            </a:r>
            <a:r>
              <a:rPr sz="800" i="0">
                <a:solidFill>
                  <a:srgbClr val="A5D6A7"/>
                </a:solidFill>
                <a:latin typeface="Consolas"/>
              </a:rPr>
              <a:t>"/orders"</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status_code</a:t>
            </a:r>
            <a:r>
              <a:rPr sz="800" i="0">
                <a:solidFill>
                  <a:srgbClr val="E6EDF3"/>
                </a:solidFill>
                <a:latin typeface="Consolas"/>
              </a:rPr>
              <a:t>=</a:t>
            </a:r>
            <a:r>
              <a:rPr sz="800" i="0">
                <a:solidFill>
                  <a:srgbClr val="F9C97A"/>
                </a:solidFill>
                <a:latin typeface="Consolas"/>
              </a:rPr>
              <a:t>201</a:t>
            </a:r>
            <a:r>
              <a:rPr sz="800" i="0">
                <a:solidFill>
                  <a:srgbClr val="E6EDF3"/>
                </a:solidFill>
                <a:latin typeface="Consolas"/>
              </a:rPr>
              <a:t>)</a:t>
            </a:r>
          </a:p>
          <a:p>
            <a:pPr>
              <a:lnSpc>
                <a:spcPts val="1000"/>
              </a:lnSpc>
              <a:spcAft>
                <a:spcPts val="0"/>
              </a:spcAft>
            </a:pPr>
            <a:r>
              <a:rPr sz="800" i="0">
                <a:solidFill>
                  <a:srgbClr val="5C6773"/>
                </a:solidFill>
                <a:latin typeface="Consolas"/>
              </a:rPr>
              <a:t>51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create_order</a:t>
            </a:r>
            <a:r>
              <a:rPr sz="800" i="0">
                <a:solidFill>
                  <a:srgbClr val="E6EDF3"/>
                </a:solidFill>
                <a:latin typeface="Consolas"/>
              </a:rPr>
              <a:t>(</a:t>
            </a:r>
            <a:r>
              <a:rPr sz="800" i="0">
                <a:solidFill>
                  <a:srgbClr val="E6EDF3"/>
                </a:solidFill>
                <a:latin typeface="Consolas"/>
              </a:rPr>
              <a:t>payload</a:t>
            </a:r>
            <a:r>
              <a:rPr sz="800" i="0">
                <a:solidFill>
                  <a:srgbClr val="E6EDF3"/>
                </a:solidFill>
                <a:latin typeface="Consolas"/>
              </a:rPr>
              <a:t>:</a:t>
            </a:r>
            <a:r>
              <a:rPr sz="800" i="0">
                <a:solidFill>
                  <a:srgbClr val="E6EDF3"/>
                </a:solidFill>
                <a:latin typeface="Consolas"/>
              </a:rPr>
              <a:t> </a:t>
            </a:r>
            <a:r>
              <a:rPr sz="800" i="0">
                <a:solidFill>
                  <a:srgbClr val="7FDBCA"/>
                </a:solidFill>
                <a:latin typeface="Consolas"/>
              </a:rPr>
              <a:t>OrderIn</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52  </a:t>
            </a:r>
            <a:r>
              <a:rPr sz="800" i="0">
                <a:solidFill>
                  <a:srgbClr val="E6EDF3"/>
                </a:solidFill>
                <a:latin typeface="Consolas"/>
              </a:rPr>
              <a:t>    </a:t>
            </a:r>
            <a:r>
              <a:rPr sz="800" i="0">
                <a:solidFill>
                  <a:srgbClr val="FF8E6E"/>
                </a:solidFill>
                <a:latin typeface="Consolas"/>
              </a:rPr>
              <a:t>return</a:t>
            </a:r>
            <a:r>
              <a:rPr sz="800" i="0">
                <a:solidFill>
                  <a:srgbClr val="E6EDF3"/>
                </a:solidFill>
                <a:latin typeface="Consolas"/>
              </a:rPr>
              <a:t> </a:t>
            </a:r>
            <a:r>
              <a:rPr sz="800" i="0">
                <a:solidFill>
                  <a:srgbClr val="E6EDF3"/>
                </a:solidFill>
                <a:latin typeface="Consolas"/>
              </a:rPr>
              <a:t>service</a:t>
            </a:r>
            <a:r>
              <a:rPr sz="800" i="0">
                <a:solidFill>
                  <a:srgbClr val="E6EDF3"/>
                </a:solidFill>
                <a:latin typeface="Consolas"/>
              </a:rPr>
              <a:t>.</a:t>
            </a:r>
            <a:r>
              <a:rPr sz="800" i="0">
                <a:solidFill>
                  <a:srgbClr val="E6EDF3"/>
                </a:solidFill>
                <a:latin typeface="Consolas"/>
              </a:rPr>
              <a:t>place_order</a:t>
            </a:r>
            <a:r>
              <a:rPr sz="800" i="0">
                <a:solidFill>
                  <a:srgbClr val="E6EDF3"/>
                </a:solidFill>
                <a:latin typeface="Consolas"/>
              </a:rPr>
              <a:t>(</a:t>
            </a:r>
            <a:r>
              <a:rPr sz="800" i="0">
                <a:solidFill>
                  <a:srgbClr val="E6EDF3"/>
                </a:solidFill>
                <a:latin typeface="Consolas"/>
              </a:rPr>
              <a:t>payload</a:t>
            </a:r>
            <a:r>
              <a:rPr sz="800" i="0">
                <a:solidFill>
                  <a:srgbClr val="E6EDF3"/>
                </a:solidFill>
                <a:latin typeface="Consolas"/>
              </a:rPr>
              <a:t>.</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payload</a:t>
            </a:r>
            <a:r>
              <a:rPr sz="800" i="0">
                <a:solidFill>
                  <a:srgbClr val="E6EDF3"/>
                </a:solidFill>
                <a:latin typeface="Consolas"/>
              </a:rPr>
              <a:t>.</a:t>
            </a:r>
            <a:r>
              <a:rPr sz="800" i="0">
                <a:solidFill>
                  <a:srgbClr val="E6EDF3"/>
                </a:solidFill>
                <a:latin typeface="Consolas"/>
              </a:rPr>
              <a:t>subtotal</a:t>
            </a:r>
            <a:r>
              <a:rPr sz="800" i="0">
                <a:solidFill>
                  <a:srgbClr val="E6EDF3"/>
                </a:solidFill>
                <a:latin typeface="Consolas"/>
              </a:rPr>
              <a:t>)</a:t>
            </a:r>
          </a:p>
        </p:txBody>
      </p:sp>
      <p:sp>
        <p:nvSpPr>
          <p:cNvPr id="29" name="Box 12"/>
          <p:cNvSpPr/>
          <p:nvPr/>
        </p:nvSpPr>
        <p:spPr>
          <a:xfrm>
            <a:off x="704088" y="3097022"/>
            <a:ext cx="7699248"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3037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4367022"/>
            <a:ext cx="7699248"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4307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06-dependency-injection/before.py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sesi-02-solid-clean-architecture/06-dependency-injection</a:t>
            </a:r>
          </a:p>
          <a:p>
            <a:pPr>
              <a:lnSpc>
                <a:spcPts val="1000"/>
              </a:lnSpc>
              <a:spcAft>
                <a:spcPts val="0"/>
              </a:spcAft>
            </a:pPr>
            <a:r>
              <a:rPr sz="775" i="0">
                <a:solidFill>
                  <a:srgbClr val="82B1FF"/>
                </a:solidFill>
                <a:latin typeface="Consolas"/>
              </a:rPr>
              <a:t>$ uvicorn before:app --reload</a:t>
            </a:r>
          </a:p>
        </p:txBody>
      </p:sp>
      <p:pic>
        <p:nvPicPr>
          <p:cNvPr id="29" name="Image 12" descr="s02-06-dependency-injection-before.png"/>
          <p:cNvPicPr>
            <a:picLocks noChangeAspect="1"/>
          </p:cNvPicPr>
          <p:nvPr/>
        </p:nvPicPr>
        <p:blipFill>
          <a:blip r:embed="rId2"/>
          <a:stretch>
            <a:fillRect/>
          </a:stretch>
        </p:blipFill>
        <p:spPr>
          <a:xfrm>
            <a:off x="621792" y="2240280"/>
            <a:ext cx="4297680" cy="1155570"/>
          </a:xfrm>
          <a:prstGeom prst="rect">
            <a:avLst/>
          </a:prstGeom>
        </p:spPr>
      </p:pic>
      <p:sp>
        <p:nvSpPr>
          <p:cNvPr id="30" name="Text 13"/>
          <p:cNvSpPr txBox="1"/>
          <p:nvPr/>
        </p:nvSpPr>
        <p:spPr>
          <a:xfrm>
            <a:off x="621792" y="3441569"/>
            <a:ext cx="4297680" cy="365760"/>
          </a:xfrm>
          <a:prstGeom prst="rect">
            <a:avLst/>
          </a:prstGeom>
          <a:noFill/>
        </p:spPr>
        <p:txBody>
          <a:bodyPr wrap="square" anchor="t" lIns="45720" rIns="45720">
            <a:spAutoFit/>
          </a:bodyPr>
          <a:lstStyle/>
          <a:p>
            <a:pPr algn="l">
              <a:lnSpc>
                <a:spcPct val="115000"/>
              </a:lnSpc>
              <a:spcAft>
                <a:spcPts val="400"/>
              </a:spcAft>
            </a:pPr>
            <a:r>
              <a:rPr sz="850" i="0" b="0">
                <a:solidFill>
                  <a:srgbClr val="7A7A7A"/>
                </a:solidFill>
                <a:latin typeface="Inter"/>
              </a:rPr>
              <a:t>Buka http://127.0.0.1:8000/docs, POST /orders dengan body {"customer": "budi@mail.com", "subtotal": 200000}</a:t>
            </a:r>
          </a:p>
        </p:txBody>
      </p:sp>
      <p:sp>
        <p:nvSpPr>
          <p:cNvPr id="31" name="Box 14"/>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Text 15"/>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C0392B"/>
                </a:solidFill>
                <a:latin typeface="Inter"/>
              </a:rPr>
              <a:t>Masalahnya</a:t>
            </a:r>
          </a:p>
        </p:txBody>
      </p:sp>
      <p:sp>
        <p:nvSpPr>
          <p:cNvPr id="33" name="Text 16"/>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Service dan repository sudah dibuat saat file di-import (baris 42)</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Route memakai variabel global itu langsung (baris 52)</a:t>
            </a:r>
          </a:p>
          <a:p>
            <a:pPr algn="l">
              <a:lnSpc>
                <a:spcPct val="115000"/>
              </a:lnSpc>
              <a:spcAft>
                <a:spcPts val="0"/>
              </a:spcAft>
            </a:pPr>
            <a:r>
              <a:rPr sz="570"/>
              <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Test API ikut menulis ke </a:t>
            </a:r>
            <a:r>
              <a:rPr sz="950" i="0" b="0">
                <a:solidFill>
                  <a:srgbClr val="B5482A"/>
                </a:solidFill>
                <a:latin typeface="Consolas"/>
              </a:rPr>
              <a:t>orders.db</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Tidak ada cara rapi untuk mengganti repository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Disiapkan dengan Depends (1/3)</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 9  </a:t>
            </a:r>
            <a:r>
              <a:rPr sz="850" i="0">
                <a:solidFill>
                  <a:srgbClr val="FF8E6E"/>
                </a:solidFill>
                <a:latin typeface="Consolas"/>
              </a:rPr>
              <a:t>import</a:t>
            </a:r>
            <a:r>
              <a:rPr sz="850" i="0">
                <a:solidFill>
                  <a:srgbClr val="E6EDF3"/>
                </a:solidFill>
                <a:latin typeface="Consolas"/>
              </a:rPr>
              <a:t> </a:t>
            </a:r>
            <a:r>
              <a:rPr sz="850" i="0">
                <a:solidFill>
                  <a:srgbClr val="E6EDF3"/>
                </a:solidFill>
                <a:latin typeface="Consolas"/>
              </a:rPr>
              <a:t>sqlite3</a:t>
            </a:r>
          </a:p>
          <a:p>
            <a:pPr>
              <a:lnSpc>
                <a:spcPts val="1100"/>
              </a:lnSpc>
              <a:spcAft>
                <a:spcPts val="0"/>
              </a:spcAft>
            </a:pPr>
            <a:r>
              <a:rPr sz="850" i="0">
                <a:solidFill>
                  <a:srgbClr val="5C6773"/>
                </a:solidFill>
                <a:latin typeface="Consolas"/>
              </a:rPr>
              <a:t>10  </a:t>
            </a: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functools</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E6EDF3"/>
                </a:solidFill>
                <a:latin typeface="Consolas"/>
              </a:rPr>
              <a:t>lru_cache</a:t>
            </a:r>
          </a:p>
          <a:p>
            <a:pPr>
              <a:lnSpc>
                <a:spcPts val="1100"/>
              </a:lnSpc>
              <a:spcAft>
                <a:spcPts val="0"/>
              </a:spcAft>
            </a:pPr>
            <a:r>
              <a:rPr sz="850" i="0">
                <a:solidFill>
                  <a:srgbClr val="5C6773"/>
                </a:solidFill>
                <a:latin typeface="Consolas"/>
              </a:rPr>
              <a:t>11  </a:t>
            </a:r>
            <a:r>
              <a:rPr sz="850" i="0">
                <a:solidFill>
                  <a:srgbClr val="E6EDF3"/>
                </a:solidFill>
                <a:latin typeface="Consolas"/>
              </a:rPr>
              <a:t> </a:t>
            </a:r>
          </a:p>
          <a:p>
            <a:pPr>
              <a:lnSpc>
                <a:spcPts val="1100"/>
              </a:lnSpc>
              <a:spcAft>
                <a:spcPts val="0"/>
              </a:spcAft>
            </a:pPr>
            <a:r>
              <a:rPr sz="850" i="0">
                <a:solidFill>
                  <a:srgbClr val="5C6773"/>
                </a:solidFill>
                <a:latin typeface="Consolas"/>
              </a:rPr>
              <a:t>12  </a:t>
            </a: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fastapi</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7FDBCA"/>
                </a:solidFill>
                <a:latin typeface="Consolas"/>
              </a:rPr>
              <a:t>Depends</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FastAPI</a:t>
            </a:r>
          </a:p>
          <a:p>
            <a:pPr>
              <a:lnSpc>
                <a:spcPts val="1100"/>
              </a:lnSpc>
              <a:spcAft>
                <a:spcPts val="0"/>
              </a:spcAft>
            </a:pPr>
            <a:r>
              <a:rPr sz="850" i="0">
                <a:solidFill>
                  <a:srgbClr val="5C6773"/>
                </a:solidFill>
                <a:latin typeface="Consolas"/>
              </a:rPr>
              <a:t>13  </a:t>
            </a: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pydantic</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7FDBCA"/>
                </a:solidFill>
                <a:latin typeface="Consolas"/>
              </a:rPr>
              <a:t>BaseModel</a:t>
            </a:r>
          </a:p>
          <a:p>
            <a:pPr>
              <a:lnSpc>
                <a:spcPts val="1100"/>
              </a:lnSpc>
              <a:spcAft>
                <a:spcPts val="0"/>
              </a:spcAft>
            </a:pPr>
            <a:r>
              <a:rPr sz="850" i="0">
                <a:solidFill>
                  <a:srgbClr val="5C6773"/>
                </a:solidFill>
                <a:latin typeface="Consolas"/>
              </a:rPr>
              <a:t>14  </a:t>
            </a:r>
            <a:r>
              <a:rPr sz="850" i="0">
                <a:solidFill>
                  <a:srgbClr val="E6EDF3"/>
                </a:solidFill>
                <a:latin typeface="Consolas"/>
              </a:rPr>
              <a:t> </a:t>
            </a:r>
          </a:p>
          <a:p>
            <a:pPr>
              <a:lnSpc>
                <a:spcPts val="1100"/>
              </a:lnSpc>
              <a:spcAft>
                <a:spcPts val="0"/>
              </a:spcAft>
            </a:pPr>
            <a:r>
              <a:rPr sz="850" i="0">
                <a:solidFill>
                  <a:srgbClr val="5C6773"/>
                </a:solidFill>
                <a:latin typeface="Consolas"/>
              </a:rPr>
              <a:t>15  </a:t>
            </a:r>
            <a:r>
              <a:rPr sz="850" i="0">
                <a:solidFill>
                  <a:srgbClr val="E6EDF3"/>
                </a:solidFill>
                <a:latin typeface="Consolas"/>
              </a:rPr>
              <a:t> </a:t>
            </a:r>
          </a:p>
          <a:p>
            <a:pPr>
              <a:lnSpc>
                <a:spcPts val="1100"/>
              </a:lnSpc>
              <a:spcAft>
                <a:spcPts val="0"/>
              </a:spcAft>
            </a:pPr>
            <a:r>
              <a:rPr sz="850" i="0">
                <a:solidFill>
                  <a:srgbClr val="5C6773"/>
                </a:solidFill>
                <a:latin typeface="Consolas"/>
              </a:rPr>
              <a:t>16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SqliteOrderRepository</a:t>
            </a:r>
            <a:r>
              <a:rPr sz="850" i="0">
                <a:solidFill>
                  <a:srgbClr val="E6EDF3"/>
                </a:solidFill>
                <a:latin typeface="Consolas"/>
              </a:rPr>
              <a:t>:</a:t>
            </a:r>
          </a:p>
          <a:p>
            <a:pPr>
              <a:lnSpc>
                <a:spcPts val="1100"/>
              </a:lnSpc>
              <a:spcAft>
                <a:spcPts val="0"/>
              </a:spcAft>
            </a:pPr>
            <a:r>
              <a:rPr sz="850" i="0">
                <a:solidFill>
                  <a:srgbClr val="5C6773"/>
                </a:solidFill>
                <a:latin typeface="Consolas"/>
              </a:rPr>
              <a:t>17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path</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18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conn</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sqlite3</a:t>
            </a:r>
            <a:r>
              <a:rPr sz="850" i="0">
                <a:solidFill>
                  <a:srgbClr val="E6EDF3"/>
                </a:solidFill>
                <a:latin typeface="Consolas"/>
              </a:rPr>
              <a:t>.</a:t>
            </a:r>
            <a:r>
              <a:rPr sz="850" i="0">
                <a:solidFill>
                  <a:srgbClr val="E6EDF3"/>
                </a:solidFill>
                <a:latin typeface="Consolas"/>
              </a:rPr>
              <a:t>connect</a:t>
            </a:r>
            <a:r>
              <a:rPr sz="850" i="0">
                <a:solidFill>
                  <a:srgbClr val="E6EDF3"/>
                </a:solidFill>
                <a:latin typeface="Consolas"/>
              </a:rPr>
              <a:t>(</a:t>
            </a:r>
            <a:r>
              <a:rPr sz="850" i="0">
                <a:solidFill>
                  <a:srgbClr val="E6EDF3"/>
                </a:solidFill>
                <a:latin typeface="Consolas"/>
              </a:rPr>
              <a:t>path</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check_same_thread</a:t>
            </a:r>
            <a:r>
              <a:rPr sz="850" i="0">
                <a:solidFill>
                  <a:srgbClr val="E6EDF3"/>
                </a:solidFill>
                <a:latin typeface="Consolas"/>
              </a:rPr>
              <a:t>=</a:t>
            </a:r>
            <a:r>
              <a:rPr sz="850" i="0">
                <a:solidFill>
                  <a:srgbClr val="FF8E6E"/>
                </a:solidFill>
                <a:latin typeface="Consolas"/>
              </a:rPr>
              <a:t>False</a:t>
            </a:r>
            <a:r>
              <a:rPr sz="850" i="0">
                <a:solidFill>
                  <a:srgbClr val="E6EDF3"/>
                </a:solidFill>
                <a:latin typeface="Consolas"/>
              </a:rPr>
              <a:t>)</a:t>
            </a:r>
          </a:p>
          <a:p>
            <a:pPr>
              <a:lnSpc>
                <a:spcPts val="1100"/>
              </a:lnSpc>
              <a:spcAft>
                <a:spcPts val="0"/>
              </a:spcAft>
            </a:pPr>
            <a:r>
              <a:rPr sz="850" i="0">
                <a:solidFill>
                  <a:srgbClr val="5C6773"/>
                </a:solidFill>
                <a:latin typeface="Consolas"/>
              </a:rPr>
              <a:t>19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conn</a:t>
            </a:r>
            <a:r>
              <a:rPr sz="850" i="0">
                <a:solidFill>
                  <a:srgbClr val="E6EDF3"/>
                </a:solidFill>
                <a:latin typeface="Consolas"/>
              </a:rPr>
              <a:t>.</a:t>
            </a:r>
            <a:r>
              <a:rPr sz="850" i="0">
                <a:solidFill>
                  <a:srgbClr val="E6EDF3"/>
                </a:solidFill>
                <a:latin typeface="Consolas"/>
              </a:rPr>
              <a:t>execute</a:t>
            </a:r>
            <a:r>
              <a:rPr sz="850" i="0">
                <a:solidFill>
                  <a:srgbClr val="E6EDF3"/>
                </a:solidFill>
                <a:latin typeface="Consolas"/>
              </a:rPr>
              <a:t>(</a:t>
            </a:r>
          </a:p>
          <a:p>
            <a:pPr>
              <a:lnSpc>
                <a:spcPts val="1100"/>
              </a:lnSpc>
              <a:spcAft>
                <a:spcPts val="0"/>
              </a:spcAft>
            </a:pPr>
            <a:r>
              <a:rPr sz="850" i="0">
                <a:solidFill>
                  <a:srgbClr val="5C6773"/>
                </a:solidFill>
                <a:latin typeface="Consolas"/>
              </a:rPr>
              <a:t>20  </a:t>
            </a:r>
            <a:r>
              <a:rPr sz="850" i="0">
                <a:solidFill>
                  <a:srgbClr val="E6EDF3"/>
                </a:solidFill>
                <a:latin typeface="Consolas"/>
              </a:rPr>
              <a:t>            </a:t>
            </a:r>
            <a:r>
              <a:rPr sz="850" i="0">
                <a:solidFill>
                  <a:srgbClr val="A5D6A7"/>
                </a:solidFill>
                <a:latin typeface="Consolas"/>
              </a:rPr>
              <a:t>"CREATE TABLE IF NOT EXISTS orders "</a:t>
            </a:r>
          </a:p>
          <a:p>
            <a:pPr>
              <a:lnSpc>
                <a:spcPts val="1100"/>
              </a:lnSpc>
              <a:spcAft>
                <a:spcPts val="0"/>
              </a:spcAft>
            </a:pPr>
            <a:r>
              <a:rPr sz="850" i="0">
                <a:solidFill>
                  <a:srgbClr val="5C6773"/>
                </a:solidFill>
                <a:latin typeface="Consolas"/>
              </a:rPr>
              <a:t>21  </a:t>
            </a:r>
            <a:r>
              <a:rPr sz="850" i="0">
                <a:solidFill>
                  <a:srgbClr val="E6EDF3"/>
                </a:solidFill>
                <a:latin typeface="Consolas"/>
              </a:rPr>
              <a:t>            </a:t>
            </a:r>
            <a:r>
              <a:rPr sz="850" i="0">
                <a:solidFill>
                  <a:srgbClr val="A5D6A7"/>
                </a:solidFill>
                <a:latin typeface="Consolas"/>
              </a:rPr>
              <a:t>"(id INTEGER PRIMARY KEY, customer TEXT, total INTEGER)"</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0">
                <a:solidFill>
                  <a:srgbClr val="E6EDF3"/>
                </a:solidFill>
                <a:latin typeface="Consolas"/>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Disiapkan dengan Depends (2/3)</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000"/>
              </a:lnSpc>
              <a:spcAft>
                <a:spcPts val="0"/>
              </a:spcAft>
            </a:pPr>
            <a:r>
              <a:rPr sz="800" i="0">
                <a:solidFill>
                  <a:srgbClr val="5C6773"/>
                </a:solidFill>
                <a:latin typeface="Consolas"/>
              </a:rPr>
              <a:t>24  </a:t>
            </a: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add</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total</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&gt;</a:t>
            </a:r>
            <a:r>
              <a:rPr sz="800" i="0">
                <a:solidFill>
                  <a:srgbClr val="E6EDF3"/>
                </a:solidFill>
                <a:latin typeface="Consolas"/>
              </a:rPr>
              <a:t> </a:t>
            </a:r>
            <a:r>
              <a:rPr sz="800" i="0">
                <a:solidFill>
                  <a:srgbClr val="C3A6FF"/>
                </a:solidFill>
                <a:latin typeface="Consolas"/>
              </a:rPr>
              <a:t>dict</a:t>
            </a:r>
            <a:r>
              <a:rPr sz="800" i="0">
                <a:solidFill>
                  <a:srgbClr val="E6EDF3"/>
                </a:solidFill>
                <a:latin typeface="Consolas"/>
              </a:rPr>
              <a:t>:</a:t>
            </a:r>
          </a:p>
          <a:p>
            <a:pPr>
              <a:lnSpc>
                <a:spcPts val="1000"/>
              </a:lnSpc>
              <a:spcAft>
                <a:spcPts val="0"/>
              </a:spcAft>
            </a:pPr>
            <a:r>
              <a:rPr sz="800" i="0">
                <a:solidFill>
                  <a:srgbClr val="5C6773"/>
                </a:solidFill>
                <a:latin typeface="Consolas"/>
              </a:rPr>
              <a:t>25  </a:t>
            </a:r>
            <a:r>
              <a:rPr sz="800" i="0">
                <a:solidFill>
                  <a:srgbClr val="E6EDF3"/>
                </a:solidFill>
                <a:latin typeface="Consolas"/>
              </a:rPr>
              <a:t>        </a:t>
            </a:r>
            <a:r>
              <a:rPr sz="800" i="0">
                <a:solidFill>
                  <a:srgbClr val="E6EDF3"/>
                </a:solidFill>
                <a:latin typeface="Consolas"/>
              </a:rPr>
              <a:t>cur</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conn</a:t>
            </a:r>
            <a:r>
              <a:rPr sz="800" i="0">
                <a:solidFill>
                  <a:srgbClr val="E6EDF3"/>
                </a:solidFill>
                <a:latin typeface="Consolas"/>
              </a:rPr>
              <a:t>.</a:t>
            </a:r>
            <a:r>
              <a:rPr sz="800" i="0">
                <a:solidFill>
                  <a:srgbClr val="E6EDF3"/>
                </a:solidFill>
                <a:latin typeface="Consolas"/>
              </a:rPr>
              <a:t>execute</a:t>
            </a:r>
            <a:r>
              <a:rPr sz="800" i="0">
                <a:solidFill>
                  <a:srgbClr val="E6EDF3"/>
                </a:solidFill>
                <a:latin typeface="Consolas"/>
              </a:rPr>
              <a:t>(</a:t>
            </a:r>
          </a:p>
          <a:p>
            <a:pPr>
              <a:lnSpc>
                <a:spcPts val="1000"/>
              </a:lnSpc>
              <a:spcAft>
                <a:spcPts val="0"/>
              </a:spcAft>
            </a:pPr>
            <a:r>
              <a:rPr sz="800" i="0">
                <a:solidFill>
                  <a:srgbClr val="5C6773"/>
                </a:solidFill>
                <a:latin typeface="Consolas"/>
              </a:rPr>
              <a:t>26  </a:t>
            </a:r>
            <a:r>
              <a:rPr sz="800" i="0">
                <a:solidFill>
                  <a:srgbClr val="E6EDF3"/>
                </a:solidFill>
                <a:latin typeface="Consolas"/>
              </a:rPr>
              <a:t>            </a:t>
            </a:r>
            <a:r>
              <a:rPr sz="800" i="0">
                <a:solidFill>
                  <a:srgbClr val="A5D6A7"/>
                </a:solidFill>
                <a:latin typeface="Consolas"/>
              </a:rPr>
              <a:t>"INSERT INTO orders (customer, total) VALUES (?, ?)"</a:t>
            </a:r>
            <a:r>
              <a:rPr sz="800" i="0">
                <a:solidFill>
                  <a:srgbClr val="E6EDF3"/>
                </a:solidFill>
                <a:latin typeface="Consolas"/>
              </a:rPr>
              <a:t>,</a:t>
            </a:r>
          </a:p>
          <a:p>
            <a:pPr>
              <a:lnSpc>
                <a:spcPts val="1000"/>
              </a:lnSpc>
              <a:spcAft>
                <a:spcPts val="0"/>
              </a:spcAft>
            </a:pPr>
            <a:r>
              <a:rPr sz="800" i="0">
                <a:solidFill>
                  <a:srgbClr val="5C6773"/>
                </a:solidFill>
                <a:latin typeface="Consolas"/>
              </a:rPr>
              <a:t>27  </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total</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28  </a:t>
            </a:r>
            <a:r>
              <a:rPr sz="800" i="0">
                <a:solidFill>
                  <a:srgbClr val="E6EDF3"/>
                </a:solidFill>
                <a:latin typeface="Consolas"/>
              </a:rPr>
              <a:t>        </a:t>
            </a:r>
            <a:r>
              <a:rPr sz="800" i="0">
                <a:solidFill>
                  <a:srgbClr val="E6EDF3"/>
                </a:solidFill>
                <a:latin typeface="Consolas"/>
              </a:rPr>
              <a:t>)</a:t>
            </a:r>
          </a:p>
          <a:p>
            <a:pPr>
              <a:lnSpc>
                <a:spcPts val="1000"/>
              </a:lnSpc>
              <a:spcAft>
                <a:spcPts val="0"/>
              </a:spcAft>
            </a:pPr>
            <a:r>
              <a:rPr sz="800" i="0">
                <a:solidFill>
                  <a:srgbClr val="5C6773"/>
                </a:solidFill>
                <a:latin typeface="Consolas"/>
              </a:rPr>
              <a:t>29  </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conn</a:t>
            </a:r>
            <a:r>
              <a:rPr sz="800" i="0">
                <a:solidFill>
                  <a:srgbClr val="E6EDF3"/>
                </a:solidFill>
                <a:latin typeface="Consolas"/>
              </a:rPr>
              <a:t>.</a:t>
            </a:r>
            <a:r>
              <a:rPr sz="800" i="0">
                <a:solidFill>
                  <a:srgbClr val="E6EDF3"/>
                </a:solidFill>
                <a:latin typeface="Consolas"/>
              </a:rPr>
              <a:t>commit</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30  </a:t>
            </a:r>
            <a:r>
              <a:rPr sz="800" i="0">
                <a:solidFill>
                  <a:srgbClr val="E6EDF3"/>
                </a:solidFill>
                <a:latin typeface="Consolas"/>
              </a:rPr>
              <a:t>        </a:t>
            </a:r>
            <a:r>
              <a:rPr sz="800" i="0">
                <a:solidFill>
                  <a:srgbClr val="FF8E6E"/>
                </a:solidFill>
                <a:latin typeface="Consolas"/>
              </a:rPr>
              <a:t>return</a:t>
            </a:r>
            <a:r>
              <a:rPr sz="800" i="0">
                <a:solidFill>
                  <a:srgbClr val="E6EDF3"/>
                </a:solidFill>
                <a:latin typeface="Consolas"/>
              </a:rPr>
              <a:t> </a:t>
            </a:r>
            <a:r>
              <a:rPr sz="800" i="0">
                <a:solidFill>
                  <a:srgbClr val="E6EDF3"/>
                </a:solidFill>
                <a:latin typeface="Consolas"/>
              </a:rPr>
              <a:t>{</a:t>
            </a:r>
            <a:r>
              <a:rPr sz="800" i="0">
                <a:solidFill>
                  <a:srgbClr val="A5D6A7"/>
                </a:solidFill>
                <a:latin typeface="Consolas"/>
              </a:rPr>
              <a:t>"id"</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cur</a:t>
            </a:r>
            <a:r>
              <a:rPr sz="800" i="0">
                <a:solidFill>
                  <a:srgbClr val="E6EDF3"/>
                </a:solidFill>
                <a:latin typeface="Consolas"/>
              </a:rPr>
              <a:t>.</a:t>
            </a:r>
            <a:r>
              <a:rPr sz="800" i="0">
                <a:solidFill>
                  <a:srgbClr val="E6EDF3"/>
                </a:solidFill>
                <a:latin typeface="Consolas"/>
              </a:rPr>
              <a:t>lastrowid</a:t>
            </a:r>
            <a:r>
              <a:rPr sz="800" i="0">
                <a:solidFill>
                  <a:srgbClr val="E6EDF3"/>
                </a:solidFill>
                <a:latin typeface="Consolas"/>
              </a:rPr>
              <a:t>,</a:t>
            </a:r>
            <a:r>
              <a:rPr sz="800" i="0">
                <a:solidFill>
                  <a:srgbClr val="E6EDF3"/>
                </a:solidFill>
                <a:latin typeface="Consolas"/>
              </a:rPr>
              <a:t> </a:t>
            </a:r>
            <a:r>
              <a:rPr sz="800" i="0">
                <a:solidFill>
                  <a:srgbClr val="A5D6A7"/>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A5D6A7"/>
                </a:solidFill>
                <a:latin typeface="Consolas"/>
              </a:rPr>
              <a:t>"total"</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total</a:t>
            </a:r>
            <a:r>
              <a:rPr sz="800" i="0">
                <a:solidFill>
                  <a:srgbClr val="E6EDF3"/>
                </a:solidFill>
                <a:latin typeface="Consolas"/>
              </a:rPr>
              <a:t>}</a:t>
            </a:r>
          </a:p>
          <a:p>
            <a:pPr>
              <a:lnSpc>
                <a:spcPts val="1000"/>
              </a:lnSpc>
              <a:spcAft>
                <a:spcPts val="0"/>
              </a:spcAft>
            </a:pPr>
            <a:r>
              <a:rPr sz="800" i="0">
                <a:solidFill>
                  <a:srgbClr val="5C6773"/>
                </a:solidFill>
                <a:latin typeface="Consolas"/>
              </a:rPr>
              <a:t>31  </a:t>
            </a:r>
            <a:r>
              <a:rPr sz="800" i="0">
                <a:solidFill>
                  <a:srgbClr val="E6EDF3"/>
                </a:solidFill>
                <a:latin typeface="Consolas"/>
              </a:rPr>
              <a:t> </a:t>
            </a:r>
          </a:p>
          <a:p>
            <a:pPr>
              <a:lnSpc>
                <a:spcPts val="1000"/>
              </a:lnSpc>
              <a:spcAft>
                <a:spcPts val="0"/>
              </a:spcAft>
            </a:pPr>
            <a:r>
              <a:rPr sz="800" i="0">
                <a:solidFill>
                  <a:srgbClr val="5C6773"/>
                </a:solidFill>
                <a:latin typeface="Consolas"/>
              </a:rPr>
              <a:t>32  </a:t>
            </a:r>
            <a:r>
              <a:rPr sz="800" i="0">
                <a:solidFill>
                  <a:srgbClr val="E6EDF3"/>
                </a:solidFill>
                <a:latin typeface="Consolas"/>
              </a:rPr>
              <a:t> </a:t>
            </a:r>
          </a:p>
          <a:p>
            <a:pPr>
              <a:lnSpc>
                <a:spcPts val="1000"/>
              </a:lnSpc>
              <a:spcAft>
                <a:spcPts val="0"/>
              </a:spcAft>
            </a:pPr>
            <a:r>
              <a:rPr sz="800" i="0">
                <a:solidFill>
                  <a:srgbClr val="5C6773"/>
                </a:solidFill>
                <a:latin typeface="Consolas"/>
              </a:rPr>
              <a:t>33  </a:t>
            </a:r>
            <a:r>
              <a:rPr sz="800" i="0">
                <a:solidFill>
                  <a:srgbClr val="FF8E6E"/>
                </a:solidFill>
                <a:latin typeface="Consolas"/>
              </a:rPr>
              <a:t>class</a:t>
            </a:r>
            <a:r>
              <a:rPr sz="800" i="0">
                <a:solidFill>
                  <a:srgbClr val="E6EDF3"/>
                </a:solidFill>
                <a:latin typeface="Consolas"/>
              </a:rPr>
              <a:t> </a:t>
            </a:r>
            <a:r>
              <a:rPr sz="800" i="0">
                <a:solidFill>
                  <a:srgbClr val="7FDBCA"/>
                </a:solidFill>
                <a:latin typeface="Consolas"/>
              </a:rPr>
              <a:t>OrderService</a:t>
            </a:r>
            <a:r>
              <a:rPr sz="800" i="0">
                <a:solidFill>
                  <a:srgbClr val="E6EDF3"/>
                </a:solidFill>
                <a:latin typeface="Consolas"/>
              </a:rPr>
              <a:t>:</a:t>
            </a:r>
          </a:p>
          <a:p>
            <a:pPr>
              <a:lnSpc>
                <a:spcPts val="1000"/>
              </a:lnSpc>
              <a:spcAft>
                <a:spcPts val="0"/>
              </a:spcAft>
            </a:pPr>
            <a:r>
              <a:rPr sz="800" i="0">
                <a:solidFill>
                  <a:srgbClr val="5C6773"/>
                </a:solidFill>
                <a:latin typeface="Consolas"/>
              </a:rPr>
              <a:t>34  </a:t>
            </a: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__init__</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repo</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5C6773"/>
                </a:solidFill>
                <a:latin typeface="Consolas"/>
              </a:rPr>
              <a:t>35  </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repo</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repo</a:t>
            </a:r>
          </a:p>
          <a:p>
            <a:pPr>
              <a:lnSpc>
                <a:spcPts val="1000"/>
              </a:lnSpc>
              <a:spcAft>
                <a:spcPts val="0"/>
              </a:spcAft>
            </a:pPr>
            <a:r>
              <a:rPr sz="800" i="0">
                <a:solidFill>
                  <a:srgbClr val="5C6773"/>
                </a:solidFill>
                <a:latin typeface="Consolas"/>
              </a:rPr>
              <a:t>36  </a:t>
            </a:r>
            <a:r>
              <a:rPr sz="800" i="0">
                <a:solidFill>
                  <a:srgbClr val="E6EDF3"/>
                </a:solidFill>
                <a:latin typeface="Consolas"/>
              </a:rPr>
              <a:t> </a:t>
            </a:r>
          </a:p>
          <a:p>
            <a:pPr>
              <a:lnSpc>
                <a:spcPts val="1000"/>
              </a:lnSpc>
              <a:spcAft>
                <a:spcPts val="0"/>
              </a:spcAft>
            </a:pPr>
            <a:r>
              <a:rPr sz="800" i="0">
                <a:solidFill>
                  <a:srgbClr val="5C6773"/>
                </a:solidFill>
                <a:latin typeface="Consolas"/>
              </a:rPr>
              <a:t>37  </a:t>
            </a:r>
            <a:r>
              <a:rPr sz="800" i="0">
                <a:solidFill>
                  <a:srgbClr val="E6EDF3"/>
                </a:solidFill>
                <a:latin typeface="Consolas"/>
              </a:rPr>
              <a:t>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place_order</a:t>
            </a:r>
            <a:r>
              <a:rPr sz="800" i="0">
                <a:solidFill>
                  <a:srgbClr val="E6EDF3"/>
                </a:solidFill>
                <a:latin typeface="Consolas"/>
              </a:rPr>
              <a:t>(</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&gt;</a:t>
            </a:r>
            <a:r>
              <a:rPr sz="800" i="0">
                <a:solidFill>
                  <a:srgbClr val="E6EDF3"/>
                </a:solidFill>
                <a:latin typeface="Consolas"/>
              </a:rPr>
              <a:t> </a:t>
            </a:r>
            <a:r>
              <a:rPr sz="800" i="0">
                <a:solidFill>
                  <a:srgbClr val="C3A6FF"/>
                </a:solidFill>
                <a:latin typeface="Consolas"/>
              </a:rPr>
              <a:t>dict</a:t>
            </a:r>
            <a:r>
              <a:rPr sz="800" i="0">
                <a:solidFill>
                  <a:srgbClr val="E6EDF3"/>
                </a:solidFill>
                <a:latin typeface="Consolas"/>
              </a:rPr>
              <a:t>:</a:t>
            </a:r>
          </a:p>
          <a:p>
            <a:pPr>
              <a:lnSpc>
                <a:spcPts val="1000"/>
              </a:lnSpc>
              <a:spcAft>
                <a:spcPts val="0"/>
              </a:spcAft>
            </a:pPr>
            <a:r>
              <a:rPr sz="800" i="0">
                <a:solidFill>
                  <a:srgbClr val="5C6773"/>
                </a:solidFill>
                <a:latin typeface="Consolas"/>
              </a:rPr>
              <a:t>38  </a:t>
            </a:r>
            <a:r>
              <a:rPr sz="800" i="0">
                <a:solidFill>
                  <a:srgbClr val="E6EDF3"/>
                </a:solidFill>
                <a:latin typeface="Consolas"/>
              </a:rPr>
              <a:t>        </a:t>
            </a:r>
            <a:r>
              <a:rPr sz="800" i="0">
                <a:solidFill>
                  <a:srgbClr val="FF8E6E"/>
                </a:solidFill>
                <a:latin typeface="Consolas"/>
              </a:rPr>
              <a:t>return</a:t>
            </a:r>
            <a:r>
              <a:rPr sz="800" i="0">
                <a:solidFill>
                  <a:srgbClr val="E6EDF3"/>
                </a:solidFill>
                <a:latin typeface="Consolas"/>
              </a:rPr>
              <a:t> </a:t>
            </a:r>
            <a:r>
              <a:rPr sz="800" i="0">
                <a:solidFill>
                  <a:srgbClr val="C3A6FF"/>
                </a:solidFill>
                <a:latin typeface="Consolas"/>
              </a:rPr>
              <a:t>self</a:t>
            </a:r>
            <a:r>
              <a:rPr sz="800" i="0">
                <a:solidFill>
                  <a:srgbClr val="E6EDF3"/>
                </a:solidFill>
                <a:latin typeface="Consolas"/>
              </a:rPr>
              <a:t>.</a:t>
            </a:r>
            <a:r>
              <a:rPr sz="800" i="0">
                <a:solidFill>
                  <a:srgbClr val="E6EDF3"/>
                </a:solidFill>
                <a:latin typeface="Consolas"/>
              </a:rPr>
              <a:t>repo</a:t>
            </a:r>
            <a:r>
              <a:rPr sz="800" i="0">
                <a:solidFill>
                  <a:srgbClr val="E6EDF3"/>
                </a:solidFill>
                <a:latin typeface="Consolas"/>
              </a:rPr>
              <a:t>.</a:t>
            </a:r>
            <a:r>
              <a:rPr sz="800" i="0">
                <a:solidFill>
                  <a:srgbClr val="E6EDF3"/>
                </a:solidFill>
                <a:latin typeface="Consolas"/>
              </a:rPr>
              <a:t>add</a:t>
            </a:r>
            <a:r>
              <a:rPr sz="800" i="0">
                <a:solidFill>
                  <a:srgbClr val="E6EDF3"/>
                </a:solidFill>
                <a:latin typeface="Consolas"/>
              </a:rPr>
              <a:t>(</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F9C97A"/>
                </a:solidFill>
                <a:latin typeface="Consolas"/>
              </a:rPr>
              <a:t>5</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a:t>
            </a:r>
            <a:r>
              <a:rPr sz="800" i="0">
                <a:solidFill>
                  <a:srgbClr val="E6EDF3"/>
                </a:solidFill>
                <a:latin typeface="Consolas"/>
              </a:rPr>
              <a:t> </a:t>
            </a:r>
            <a:r>
              <a:rPr sz="800" i="0">
                <a:solidFill>
                  <a:srgbClr val="F9C97A"/>
                </a:solidFill>
                <a:latin typeface="Consolas"/>
              </a:rPr>
              <a:t>100</a:t>
            </a:r>
            <a:r>
              <a:rPr sz="800" i="0">
                <a:solidFill>
                  <a:srgbClr val="E6EDF3"/>
                </a:solidFill>
                <a:latin typeface="Consolas"/>
              </a:rPr>
              <a:t>)</a:t>
            </a:r>
          </a:p>
          <a:p>
            <a:pPr>
              <a:lnSpc>
                <a:spcPts val="1000"/>
              </a:lnSpc>
              <a:spcAft>
                <a:spcPts val="0"/>
              </a:spcAft>
            </a:pPr>
            <a:r>
              <a:rPr sz="800" i="0">
                <a:solidFill>
                  <a:srgbClr val="5C6773"/>
                </a:solidFill>
                <a:latin typeface="Consolas"/>
              </a:rPr>
              <a:t>39  </a:t>
            </a:r>
            <a:r>
              <a:rPr sz="800" i="0">
                <a:solidFill>
                  <a:srgbClr val="E6EDF3"/>
                </a:solidFill>
                <a:latin typeface="Consolas"/>
              </a:rPr>
              <a:t> </a:t>
            </a:r>
          </a:p>
          <a:p>
            <a:pPr>
              <a:lnSpc>
                <a:spcPts val="1000"/>
              </a:lnSpc>
              <a:spcAft>
                <a:spcPts val="0"/>
              </a:spcAft>
            </a:pPr>
            <a:r>
              <a:rPr sz="800" i="0">
                <a:solidFill>
                  <a:srgbClr val="5C6773"/>
                </a:solidFill>
                <a:latin typeface="Consolas"/>
              </a:rPr>
              <a:t>40  </a:t>
            </a:r>
            <a:r>
              <a:rPr sz="800" i="0">
                <a:solidFill>
                  <a:srgbClr val="E6EDF3"/>
                </a:solidFill>
                <a:latin typeface="Consolas"/>
              </a:rPr>
              <a:t> </a:t>
            </a:r>
          </a:p>
          <a:p>
            <a:pPr>
              <a:lnSpc>
                <a:spcPts val="1000"/>
              </a:lnSpc>
              <a:spcAft>
                <a:spcPts val="0"/>
              </a:spcAft>
            </a:pPr>
            <a:r>
              <a:rPr sz="800" i="0">
                <a:solidFill>
                  <a:srgbClr val="5C6773"/>
                </a:solidFill>
                <a:latin typeface="Consolas"/>
              </a:rPr>
              <a:t>41  </a:t>
            </a:r>
            <a:r>
              <a:rPr sz="800" i="1">
                <a:solidFill>
                  <a:srgbClr val="8B98A8"/>
                </a:solidFill>
                <a:latin typeface="Consolas"/>
              </a:rPr>
              <a:t># ---------- dependency ----------</a:t>
            </a:r>
          </a:p>
          <a:p>
            <a:pPr>
              <a:lnSpc>
                <a:spcPts val="1000"/>
              </a:lnSpc>
              <a:spcAft>
                <a:spcPts val="0"/>
              </a:spcAft>
            </a:pPr>
            <a:r>
              <a:rPr sz="800" i="0">
                <a:solidFill>
                  <a:srgbClr val="5C6773"/>
                </a:solidFill>
                <a:latin typeface="Consolas"/>
              </a:rPr>
              <a:t>42  </a:t>
            </a:r>
            <a:r>
              <a:rPr sz="800" i="0">
                <a:solidFill>
                  <a:srgbClr val="F9C97A"/>
                </a:solidFill>
                <a:latin typeface="Consolas"/>
              </a:rPr>
              <a:t>@lru_cache</a:t>
            </a:r>
          </a:p>
          <a:p>
            <a:pPr>
              <a:lnSpc>
                <a:spcPts val="1000"/>
              </a:lnSpc>
              <a:spcAft>
                <a:spcPts val="0"/>
              </a:spcAft>
            </a:pPr>
            <a:r>
              <a:rPr sz="800" i="0">
                <a:solidFill>
                  <a:srgbClr val="5C6773"/>
                </a:solidFill>
                <a:latin typeface="Consolas"/>
              </a:rPr>
              <a:t>43  </a:t>
            </a: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get_repository</a:t>
            </a:r>
            <a:r>
              <a:rPr sz="800" i="0">
                <a:solidFill>
                  <a:srgbClr val="E6EDF3"/>
                </a:solidFill>
                <a:latin typeface="Consolas"/>
              </a:rPr>
              <a:t>(</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&gt;</a:t>
            </a:r>
            <a:r>
              <a:rPr sz="800" i="0">
                <a:solidFill>
                  <a:srgbClr val="E6EDF3"/>
                </a:solidFill>
                <a:latin typeface="Consolas"/>
              </a:rPr>
              <a:t> </a:t>
            </a:r>
            <a:r>
              <a:rPr sz="800" i="0">
                <a:solidFill>
                  <a:srgbClr val="7FDBCA"/>
                </a:solidFill>
                <a:latin typeface="Consolas"/>
              </a:rPr>
              <a:t>SqliteOrderRepository</a:t>
            </a:r>
            <a:r>
              <a:rPr sz="800" i="0">
                <a:solidFill>
                  <a:srgbClr val="E6EDF3"/>
                </a:solidFill>
                <a:latin typeface="Consolas"/>
              </a:rPr>
              <a:t>:</a:t>
            </a:r>
          </a:p>
          <a:p>
            <a:pPr>
              <a:lnSpc>
                <a:spcPts val="1000"/>
              </a:lnSpc>
              <a:spcAft>
                <a:spcPts val="0"/>
              </a:spcAft>
            </a:pPr>
            <a:r>
              <a:rPr sz="800" i="0">
                <a:solidFill>
                  <a:srgbClr val="5C6773"/>
                </a:solidFill>
                <a:latin typeface="Consolas"/>
              </a:rPr>
              <a:t>44  </a:t>
            </a:r>
            <a:r>
              <a:rPr sz="800" i="0">
                <a:solidFill>
                  <a:srgbClr val="E6EDF3"/>
                </a:solidFill>
                <a:latin typeface="Consolas"/>
              </a:rPr>
              <a:t>    </a:t>
            </a:r>
            <a:r>
              <a:rPr sz="800" i="0">
                <a:solidFill>
                  <a:srgbClr val="FF8E6E"/>
                </a:solidFill>
                <a:latin typeface="Consolas"/>
              </a:rPr>
              <a:t>return</a:t>
            </a:r>
            <a:r>
              <a:rPr sz="800" i="0">
                <a:solidFill>
                  <a:srgbClr val="E6EDF3"/>
                </a:solidFill>
                <a:latin typeface="Consolas"/>
              </a:rPr>
              <a:t> </a:t>
            </a:r>
            <a:r>
              <a:rPr sz="800" i="0">
                <a:solidFill>
                  <a:srgbClr val="7FDBCA"/>
                </a:solidFill>
                <a:latin typeface="Consolas"/>
              </a:rPr>
              <a:t>SqliteOrderRepository</a:t>
            </a:r>
            <a:r>
              <a:rPr sz="800" i="0">
                <a:solidFill>
                  <a:srgbClr val="E6EDF3"/>
                </a:solidFill>
                <a:latin typeface="Consolas"/>
              </a:rPr>
              <a:t>(</a:t>
            </a:r>
            <a:r>
              <a:rPr sz="800" i="0">
                <a:solidFill>
                  <a:srgbClr val="A5D6A7"/>
                </a:solidFill>
                <a:latin typeface="Consolas"/>
              </a:rPr>
              <a:t>"orders.db"</a:t>
            </a:r>
            <a:r>
              <a:rPr sz="800" i="0">
                <a:solidFill>
                  <a:srgbClr val="E6EDF3"/>
                </a:solidFill>
                <a:latin typeface="Consolas"/>
              </a:rPr>
              <a:t>)</a:t>
            </a:r>
          </a:p>
        </p:txBody>
      </p:sp>
      <p:sp>
        <p:nvSpPr>
          <p:cNvPr id="29" name="Box 12"/>
          <p:cNvSpPr/>
          <p:nvPr/>
        </p:nvSpPr>
        <p:spPr>
          <a:xfrm>
            <a:off x="704088" y="4113022"/>
            <a:ext cx="7699248"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4180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After: Disiapkan dengan Depends (3/3)</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47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get_order_service</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a:t>
            </a:r>
            <a:r>
              <a:rPr sz="850" i="0">
                <a:solidFill>
                  <a:srgbClr val="7FDBCA"/>
                </a:solidFill>
                <a:latin typeface="Consolas"/>
              </a:rPr>
              <a:t>Depends</a:t>
            </a:r>
            <a:r>
              <a:rPr sz="850" i="0">
                <a:solidFill>
                  <a:srgbClr val="E6EDF3"/>
                </a:solidFill>
                <a:latin typeface="Consolas"/>
              </a:rPr>
              <a:t>(</a:t>
            </a:r>
            <a:r>
              <a:rPr sz="850" i="0">
                <a:solidFill>
                  <a:srgbClr val="E6EDF3"/>
                </a:solidFill>
                <a:latin typeface="Consolas"/>
              </a:rPr>
              <a:t>get_repository</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p>
          <a:p>
            <a:pPr>
              <a:lnSpc>
                <a:spcPts val="1100"/>
              </a:lnSpc>
              <a:spcAft>
                <a:spcPts val="0"/>
              </a:spcAft>
            </a:pPr>
            <a:r>
              <a:rPr sz="850" i="0">
                <a:solidFill>
                  <a:srgbClr val="5C6773"/>
                </a:solidFill>
                <a:latin typeface="Consolas"/>
              </a:rPr>
              <a:t>48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a:t>
            </a:r>
          </a:p>
          <a:p>
            <a:pPr>
              <a:lnSpc>
                <a:spcPts val="1100"/>
              </a:lnSpc>
              <a:spcAft>
                <a:spcPts val="0"/>
              </a:spcAft>
            </a:pPr>
            <a:r>
              <a:rPr sz="850" i="0">
                <a:solidFill>
                  <a:srgbClr val="5C6773"/>
                </a:solidFill>
                <a:latin typeface="Consolas"/>
              </a:rPr>
              <a:t>49  </a:t>
            </a:r>
            <a:r>
              <a:rPr sz="850" i="0">
                <a:solidFill>
                  <a:srgbClr val="E6EDF3"/>
                </a:solidFill>
                <a:latin typeface="Consolas"/>
              </a:rPr>
              <a:t> </a:t>
            </a:r>
          </a:p>
          <a:p>
            <a:pPr>
              <a:lnSpc>
                <a:spcPts val="1100"/>
              </a:lnSpc>
              <a:spcAft>
                <a:spcPts val="0"/>
              </a:spcAft>
            </a:pPr>
            <a:r>
              <a:rPr sz="850" i="0">
                <a:solidFill>
                  <a:srgbClr val="5C6773"/>
                </a:solidFill>
                <a:latin typeface="Consolas"/>
              </a:rPr>
              <a:t>50  </a:t>
            </a:r>
            <a:r>
              <a:rPr sz="850" i="0">
                <a:solidFill>
                  <a:srgbClr val="E6EDF3"/>
                </a:solidFill>
                <a:latin typeface="Consolas"/>
              </a:rPr>
              <a:t> </a:t>
            </a:r>
          </a:p>
          <a:p>
            <a:pPr>
              <a:lnSpc>
                <a:spcPts val="1100"/>
              </a:lnSpc>
              <a:spcAft>
                <a:spcPts val="0"/>
              </a:spcAft>
            </a:pPr>
            <a:r>
              <a:rPr sz="850" i="0">
                <a:solidFill>
                  <a:srgbClr val="5C6773"/>
                </a:solidFill>
                <a:latin typeface="Consolas"/>
              </a:rPr>
              <a:t>51  </a:t>
            </a:r>
            <a:r>
              <a:rPr sz="850" i="1">
                <a:solidFill>
                  <a:srgbClr val="8B98A8"/>
                </a:solidFill>
                <a:latin typeface="Consolas"/>
              </a:rPr>
              <a:t># ---------- route ----------</a:t>
            </a:r>
          </a:p>
          <a:p>
            <a:pPr>
              <a:lnSpc>
                <a:spcPts val="1100"/>
              </a:lnSpc>
              <a:spcAft>
                <a:spcPts val="0"/>
              </a:spcAft>
            </a:pPr>
            <a:r>
              <a:rPr sz="850" i="0">
                <a:solidFill>
                  <a:srgbClr val="5C6773"/>
                </a:solidFill>
                <a:latin typeface="Consolas"/>
              </a:rPr>
              <a:t>52  </a:t>
            </a:r>
            <a:r>
              <a:rPr sz="850" i="0">
                <a:solidFill>
                  <a:srgbClr val="E6EDF3"/>
                </a:solidFill>
                <a:latin typeface="Consolas"/>
              </a:rPr>
              <a:t>app</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FastAPI</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53  </a:t>
            </a:r>
            <a:r>
              <a:rPr sz="850" i="0">
                <a:solidFill>
                  <a:srgbClr val="E6EDF3"/>
                </a:solidFill>
                <a:latin typeface="Consolas"/>
              </a:rPr>
              <a:t> </a:t>
            </a:r>
          </a:p>
          <a:p>
            <a:pPr>
              <a:lnSpc>
                <a:spcPts val="1100"/>
              </a:lnSpc>
              <a:spcAft>
                <a:spcPts val="0"/>
              </a:spcAft>
            </a:pPr>
            <a:r>
              <a:rPr sz="850" i="0">
                <a:solidFill>
                  <a:srgbClr val="5C6773"/>
                </a:solidFill>
                <a:latin typeface="Consolas"/>
              </a:rPr>
              <a:t>54  </a:t>
            </a:r>
            <a:r>
              <a:rPr sz="850" i="0">
                <a:solidFill>
                  <a:srgbClr val="E6EDF3"/>
                </a:solidFill>
                <a:latin typeface="Consolas"/>
              </a:rPr>
              <a:t> </a:t>
            </a:r>
          </a:p>
          <a:p>
            <a:pPr>
              <a:lnSpc>
                <a:spcPts val="1100"/>
              </a:lnSpc>
              <a:spcAft>
                <a:spcPts val="0"/>
              </a:spcAft>
            </a:pPr>
            <a:r>
              <a:rPr sz="850" i="0">
                <a:solidFill>
                  <a:srgbClr val="5C6773"/>
                </a:solidFill>
                <a:latin typeface="Consolas"/>
              </a:rPr>
              <a:t>55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OrderIn</a:t>
            </a:r>
            <a:r>
              <a:rPr sz="850" i="0">
                <a:solidFill>
                  <a:srgbClr val="E6EDF3"/>
                </a:solidFill>
                <a:latin typeface="Consolas"/>
              </a:rPr>
              <a:t>(</a:t>
            </a:r>
            <a:r>
              <a:rPr sz="850" i="0">
                <a:solidFill>
                  <a:srgbClr val="7FDBCA"/>
                </a:solidFill>
                <a:latin typeface="Consolas"/>
              </a:rPr>
              <a:t>BaseModel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56  </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p>
          <a:p>
            <a:pPr>
              <a:lnSpc>
                <a:spcPts val="1100"/>
              </a:lnSpc>
              <a:spcAft>
                <a:spcPts val="0"/>
              </a:spcAft>
            </a:pPr>
            <a:r>
              <a:rPr sz="850" i="0">
                <a:solidFill>
                  <a:srgbClr val="5C6773"/>
                </a:solidFill>
                <a:latin typeface="Consolas"/>
              </a:rPr>
              <a:t>57  </a:t>
            </a:r>
            <a:r>
              <a:rPr sz="850" i="0">
                <a:solidFill>
                  <a:srgbClr val="E6EDF3"/>
                </a:solidFill>
                <a:latin typeface="Consolas"/>
              </a:rPr>
              <a:t>    </a:t>
            </a:r>
            <a:r>
              <a:rPr sz="850" i="0">
                <a:solidFill>
                  <a:srgbClr val="E6EDF3"/>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p>
          <a:p>
            <a:pPr>
              <a:lnSpc>
                <a:spcPts val="1100"/>
              </a:lnSpc>
              <a:spcAft>
                <a:spcPts val="0"/>
              </a:spcAft>
            </a:pPr>
            <a:r>
              <a:rPr sz="850" i="0">
                <a:solidFill>
                  <a:srgbClr val="5C6773"/>
                </a:solidFill>
                <a:latin typeface="Consolas"/>
              </a:rPr>
              <a:t>58  </a:t>
            </a:r>
            <a:r>
              <a:rPr sz="850" i="0">
                <a:solidFill>
                  <a:srgbClr val="E6EDF3"/>
                </a:solidFill>
                <a:latin typeface="Consolas"/>
              </a:rPr>
              <a:t> </a:t>
            </a:r>
          </a:p>
          <a:p>
            <a:pPr>
              <a:lnSpc>
                <a:spcPts val="1100"/>
              </a:lnSpc>
              <a:spcAft>
                <a:spcPts val="0"/>
              </a:spcAft>
            </a:pPr>
            <a:r>
              <a:rPr sz="850" i="0">
                <a:solidFill>
                  <a:srgbClr val="5C6773"/>
                </a:solidFill>
                <a:latin typeface="Consolas"/>
              </a:rPr>
              <a:t>59  </a:t>
            </a:r>
            <a:r>
              <a:rPr sz="850" i="0">
                <a:solidFill>
                  <a:srgbClr val="E6EDF3"/>
                </a:solidFill>
                <a:latin typeface="Consolas"/>
              </a:rPr>
              <a:t> </a:t>
            </a:r>
          </a:p>
          <a:p>
            <a:pPr>
              <a:lnSpc>
                <a:spcPts val="1100"/>
              </a:lnSpc>
              <a:spcAft>
                <a:spcPts val="0"/>
              </a:spcAft>
            </a:pPr>
            <a:r>
              <a:rPr sz="850" i="0">
                <a:solidFill>
                  <a:srgbClr val="5C6773"/>
                </a:solidFill>
                <a:latin typeface="Consolas"/>
              </a:rPr>
              <a:t>60  </a:t>
            </a:r>
            <a:r>
              <a:rPr sz="850" i="0">
                <a:solidFill>
                  <a:srgbClr val="F9C97A"/>
                </a:solidFill>
                <a:latin typeface="Consolas"/>
              </a:rPr>
              <a:t>@app.post</a:t>
            </a:r>
            <a:r>
              <a:rPr sz="850" i="0">
                <a:solidFill>
                  <a:srgbClr val="E6EDF3"/>
                </a:solidFill>
                <a:latin typeface="Consolas"/>
              </a:rPr>
              <a:t>(</a:t>
            </a:r>
            <a:r>
              <a:rPr sz="850" i="0">
                <a:solidFill>
                  <a:srgbClr val="A5D6A7"/>
                </a:solidFill>
                <a:latin typeface="Consolas"/>
              </a:rPr>
              <a:t>"/orders"</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status_code</a:t>
            </a:r>
            <a:r>
              <a:rPr sz="850" i="0">
                <a:solidFill>
                  <a:srgbClr val="E6EDF3"/>
                </a:solidFill>
                <a:latin typeface="Consolas"/>
              </a:rPr>
              <a:t>=</a:t>
            </a:r>
            <a:r>
              <a:rPr sz="850" i="0">
                <a:solidFill>
                  <a:srgbClr val="F9C97A"/>
                </a:solidFill>
                <a:latin typeface="Consolas"/>
              </a:rPr>
              <a:t>201</a:t>
            </a:r>
            <a:r>
              <a:rPr sz="850" i="0">
                <a:solidFill>
                  <a:srgbClr val="E6EDF3"/>
                </a:solidFill>
                <a:latin typeface="Consolas"/>
              </a:rPr>
              <a:t>)</a:t>
            </a:r>
          </a:p>
          <a:p>
            <a:pPr>
              <a:lnSpc>
                <a:spcPts val="1100"/>
              </a:lnSpc>
              <a:spcAft>
                <a:spcPts val="0"/>
              </a:spcAft>
            </a:pPr>
            <a:r>
              <a:rPr sz="850" i="0">
                <a:solidFill>
                  <a:srgbClr val="5C6773"/>
                </a:solidFill>
                <a:latin typeface="Consolas"/>
              </a:rPr>
              <a:t>61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create_order</a:t>
            </a:r>
            <a:r>
              <a:rPr sz="850" i="0">
                <a:solidFill>
                  <a:srgbClr val="E6EDF3"/>
                </a:solidFill>
                <a:latin typeface="Consolas"/>
              </a:rPr>
              <a:t>(</a:t>
            </a:r>
            <a:r>
              <a:rPr sz="850" i="0">
                <a:solidFill>
                  <a:srgbClr val="E6EDF3"/>
                </a:solidFill>
                <a:latin typeface="Consolas"/>
              </a:rPr>
              <a:t>payload</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OrderIn</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service</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Depends</a:t>
            </a:r>
            <a:r>
              <a:rPr sz="850" i="0">
                <a:solidFill>
                  <a:srgbClr val="E6EDF3"/>
                </a:solidFill>
                <a:latin typeface="Consolas"/>
              </a:rPr>
              <a:t>(</a:t>
            </a:r>
            <a:r>
              <a:rPr sz="850" i="0">
                <a:solidFill>
                  <a:srgbClr val="E6EDF3"/>
                </a:solidFill>
                <a:latin typeface="Consolas"/>
              </a:rPr>
              <a:t>get_order_service</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62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service</a:t>
            </a:r>
            <a:r>
              <a:rPr sz="850" i="0">
                <a:solidFill>
                  <a:srgbClr val="E6EDF3"/>
                </a:solidFill>
                <a:latin typeface="Consolas"/>
              </a:rPr>
              <a:t>.</a:t>
            </a:r>
            <a:r>
              <a:rPr sz="850" i="0">
                <a:solidFill>
                  <a:srgbClr val="E6EDF3"/>
                </a:solidFill>
                <a:latin typeface="Consolas"/>
              </a:rPr>
              <a:t>place_order</a:t>
            </a:r>
            <a:r>
              <a:rPr sz="850" i="0">
                <a:solidFill>
                  <a:srgbClr val="E6EDF3"/>
                </a:solidFill>
                <a:latin typeface="Consolas"/>
              </a:rPr>
              <a:t>(</a:t>
            </a:r>
            <a:r>
              <a:rPr sz="850" i="0">
                <a:solidFill>
                  <a:srgbClr val="E6EDF3"/>
                </a:solidFill>
                <a:latin typeface="Consolas"/>
              </a:rPr>
              <a:t>payload</a:t>
            </a:r>
            <a:r>
              <a:rPr sz="850" i="0">
                <a:solidFill>
                  <a:srgbClr val="E6EDF3"/>
                </a:solidFill>
                <a:latin typeface="Consolas"/>
              </a:rPr>
              <a:t>.</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payload</a:t>
            </a:r>
            <a:r>
              <a:rPr sz="850" i="0">
                <a:solidFill>
                  <a:srgbClr val="E6EDF3"/>
                </a:solidFill>
                <a:latin typeface="Consolas"/>
              </a:rPr>
              <a:t>.</a:t>
            </a:r>
            <a:r>
              <a:rPr sz="850" i="0">
                <a:solidFill>
                  <a:srgbClr val="E6EDF3"/>
                </a:solidFill>
                <a:latin typeface="Consolas"/>
              </a:rPr>
              <a:t>subtotal</a:t>
            </a:r>
            <a:r>
              <a:rPr sz="850" i="0">
                <a:solidFill>
                  <a:srgbClr val="E6EDF3"/>
                </a:solidFill>
                <a:latin typeface="Consolas"/>
              </a:rPr>
              <a:t>)</a:t>
            </a:r>
          </a:p>
        </p:txBody>
      </p:sp>
      <p:sp>
        <p:nvSpPr>
          <p:cNvPr id="29" name="Box 12"/>
          <p:cNvSpPr/>
          <p:nvPr/>
        </p:nvSpPr>
        <p:spPr>
          <a:xfrm>
            <a:off x="704088" y="1828673"/>
            <a:ext cx="7699248"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18453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1" name="Box 14"/>
          <p:cNvSpPr/>
          <p:nvPr/>
        </p:nvSpPr>
        <p:spPr>
          <a:xfrm>
            <a:off x="704088" y="37844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7312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06-dependency-injection/after.py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sesi-02-solid-clean-architecture/06-dependency-injection</a:t>
            </a:r>
          </a:p>
          <a:p>
            <a:pPr>
              <a:lnSpc>
                <a:spcPts val="1000"/>
              </a:lnSpc>
              <a:spcAft>
                <a:spcPts val="0"/>
              </a:spcAft>
            </a:pPr>
            <a:r>
              <a:rPr sz="775" i="0">
                <a:solidFill>
                  <a:srgbClr val="82B1FF"/>
                </a:solidFill>
                <a:latin typeface="Consolas"/>
              </a:rPr>
              <a:t>$ uvicorn after:app --reload</a:t>
            </a:r>
          </a:p>
        </p:txBody>
      </p:sp>
      <p:pic>
        <p:nvPicPr>
          <p:cNvPr id="29" name="Image 12" descr="s02-06-dependency-injection-before.png"/>
          <p:cNvPicPr>
            <a:picLocks noChangeAspect="1"/>
          </p:cNvPicPr>
          <p:nvPr/>
        </p:nvPicPr>
        <p:blipFill>
          <a:blip r:embed="rId2"/>
          <a:stretch>
            <a:fillRect/>
          </a:stretch>
        </p:blipFill>
        <p:spPr>
          <a:xfrm>
            <a:off x="621792" y="2240280"/>
            <a:ext cx="4297680" cy="1155570"/>
          </a:xfrm>
          <a:prstGeom prst="rect">
            <a:avLst/>
          </a:prstGeom>
        </p:spPr>
      </p:pic>
      <p:sp>
        <p:nvSpPr>
          <p:cNvPr id="30" name="Text 13"/>
          <p:cNvSpPr txBox="1"/>
          <p:nvPr/>
        </p:nvSpPr>
        <p:spPr>
          <a:xfrm>
            <a:off x="621792" y="3441569"/>
            <a:ext cx="4297680" cy="365760"/>
          </a:xfrm>
          <a:prstGeom prst="rect">
            <a:avLst/>
          </a:prstGeom>
          <a:noFill/>
        </p:spPr>
        <p:txBody>
          <a:bodyPr wrap="square" anchor="t" lIns="45720" rIns="45720">
            <a:spAutoFit/>
          </a:bodyPr>
          <a:lstStyle/>
          <a:p>
            <a:pPr algn="l">
              <a:lnSpc>
                <a:spcPct val="115000"/>
              </a:lnSpc>
              <a:spcAft>
                <a:spcPts val="400"/>
              </a:spcAft>
            </a:pPr>
            <a:r>
              <a:rPr sz="850" i="0" b="0">
                <a:solidFill>
                  <a:srgbClr val="7A7A7A"/>
                </a:solidFill>
                <a:latin typeface="Inter"/>
              </a:rPr>
              <a:t>Request yang sama di Swagger, response tetap 201 dengan total 190000</a:t>
            </a:r>
          </a:p>
        </p:txBody>
      </p:sp>
      <p:sp>
        <p:nvSpPr>
          <p:cNvPr id="31" name="Box 14"/>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Text 15"/>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Perbaikannya</a:t>
            </a:r>
          </a:p>
        </p:txBody>
      </p:sp>
      <p:sp>
        <p:nvSpPr>
          <p:cNvPr id="33" name="Text 16"/>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get_repository()</a:t>
            </a:r>
            <a:r>
              <a:rPr sz="950" i="0" b="0">
                <a:solidFill>
                  <a:srgbClr val="434343"/>
                </a:solidFill>
                <a:latin typeface="Inter"/>
              </a:rPr>
              <a:t> membuat repository, sekali saja karena </a:t>
            </a:r>
            <a:r>
              <a:rPr sz="950" i="0" b="0">
                <a:solidFill>
                  <a:srgbClr val="B5482A"/>
                </a:solidFill>
                <a:latin typeface="Consolas"/>
              </a:rPr>
              <a:t>@lru_cache</a:t>
            </a:r>
            <a:r>
              <a:rPr sz="950" i="0" b="0">
                <a:solidFill>
                  <a:srgbClr val="434343"/>
                </a:solidFill>
                <a:latin typeface="Inter"/>
              </a:rPr>
              <a:t> (baris 42-44)</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get_order_service</a:t>
            </a:r>
            <a:r>
              <a:rPr sz="950" i="0" b="0">
                <a:solidFill>
                  <a:srgbClr val="434343"/>
                </a:solidFill>
                <a:latin typeface="Inter"/>
              </a:rPr>
              <a:t> meminta repository lewat </a:t>
            </a:r>
            <a:r>
              <a:rPr sz="950" i="0" b="0">
                <a:solidFill>
                  <a:srgbClr val="B5482A"/>
                </a:solidFill>
                <a:latin typeface="Consolas"/>
              </a:rPr>
              <a:t>Depends</a:t>
            </a:r>
            <a:r>
              <a:rPr sz="950" i="0" b="0">
                <a:solidFill>
                  <a:srgbClr val="434343"/>
                </a:solidFill>
                <a:latin typeface="Inter"/>
              </a:rPr>
              <a:t> (baris 47-48)</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Route cukup minta service (baris 61)</a:t>
            </a:r>
          </a:p>
          <a:p>
            <a:pPr algn="l">
              <a:lnSpc>
                <a:spcPct val="115000"/>
              </a:lnSpc>
              <a:spcAft>
                <a:spcPts val="0"/>
              </a:spcAft>
            </a:pPr>
            <a:r>
              <a:rPr sz="570"/>
              <a:t/>
            </a:r>
          </a:p>
          <a:p>
            <a:pPr algn="l">
              <a:lnSpc>
                <a:spcPct val="115000"/>
              </a:lnSpc>
              <a:spcAft>
                <a:spcPts val="400"/>
              </a:spcAft>
            </a:pPr>
            <a:r>
              <a:rPr sz="950" i="0" b="0">
                <a:solidFill>
                  <a:srgbClr val="434343"/>
                </a:solidFill>
                <a:latin typeface="Inter"/>
              </a:rPr>
              <a:t>Response-nya sama. Setiap function dependency bisa diganti saat test.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Cara Membaca Flow</a:t>
            </a:r>
          </a:p>
        </p:txBody>
      </p:sp>
      <p:sp>
        <p:nvSpPr>
          <p:cNvPr id="22" name="CodeTab 4"/>
          <p:cNvSpPr/>
          <p:nvPr/>
        </p:nvSpPr>
        <p:spPr>
          <a:xfrm>
            <a:off x="621792" y="1481328"/>
            <a:ext cx="507492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43484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06-dependency-injection/after.py</a:t>
            </a:r>
          </a:p>
        </p:txBody>
      </p:sp>
      <p:sp>
        <p:nvSpPr>
          <p:cNvPr id="27" name="CodeBg 10"/>
          <p:cNvSpPr/>
          <p:nvPr/>
        </p:nvSpPr>
        <p:spPr>
          <a:xfrm>
            <a:off x="621792" y="1719072"/>
            <a:ext cx="507492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5074920" cy="2980944"/>
          </a:xfrm>
          <a:prstGeom prst="rect">
            <a:avLst/>
          </a:prstGeom>
          <a:noFill/>
        </p:spPr>
        <p:txBody>
          <a:bodyPr wrap="none" lIns="146304" rIns="146304" tIns="91440" bIns="54864">
            <a:spAutoFit/>
          </a:bodyPr>
          <a:lstStyle/>
          <a:p>
            <a:pPr>
              <a:lnSpc>
                <a:spcPts val="1000"/>
              </a:lnSpc>
              <a:spcAft>
                <a:spcPts val="0"/>
              </a:spcAft>
            </a:pPr>
            <a:r>
              <a:rPr sz="750" i="0">
                <a:solidFill>
                  <a:srgbClr val="F9C97A"/>
                </a:solidFill>
                <a:latin typeface="Consolas"/>
              </a:rPr>
              <a:t>@lru_cache</a:t>
            </a:r>
          </a:p>
          <a:p>
            <a:pPr>
              <a:lnSpc>
                <a:spcPts val="1000"/>
              </a:lnSpc>
              <a:spcAft>
                <a:spcPts val="0"/>
              </a:spcAft>
            </a:pPr>
            <a:r>
              <a:rPr sz="750" i="0">
                <a:solidFill>
                  <a:srgbClr val="FF8E6E"/>
                </a:solidFill>
                <a:latin typeface="Consolas"/>
              </a:rPr>
              <a:t>def</a:t>
            </a:r>
            <a:r>
              <a:rPr sz="750" i="0">
                <a:solidFill>
                  <a:srgbClr val="E6EDF3"/>
                </a:solidFill>
                <a:latin typeface="Consolas"/>
              </a:rPr>
              <a:t> </a:t>
            </a:r>
            <a:r>
              <a:rPr sz="750" i="0">
                <a:solidFill>
                  <a:srgbClr val="82B1FF"/>
                </a:solidFill>
                <a:latin typeface="Consolas"/>
              </a:rPr>
              <a:t>get_repository</a:t>
            </a:r>
            <a:r>
              <a:rPr sz="750" i="0">
                <a:solidFill>
                  <a:srgbClr val="E6EDF3"/>
                </a:solidFill>
                <a:latin typeface="Consolas"/>
              </a:rPr>
              <a:t>(</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&gt;</a:t>
            </a:r>
            <a:r>
              <a:rPr sz="750" i="0">
                <a:solidFill>
                  <a:srgbClr val="E6EDF3"/>
                </a:solidFill>
                <a:latin typeface="Consolas"/>
              </a:rPr>
              <a:t> </a:t>
            </a:r>
            <a:r>
              <a:rPr sz="750" i="0">
                <a:solidFill>
                  <a:srgbClr val="7FDBCA"/>
                </a:solidFill>
                <a:latin typeface="Consolas"/>
              </a:rPr>
              <a:t>SqliteOrderRepository</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FF8E6E"/>
                </a:solidFill>
                <a:latin typeface="Consolas"/>
              </a:rPr>
              <a:t>return</a:t>
            </a:r>
            <a:r>
              <a:rPr sz="750" i="0">
                <a:solidFill>
                  <a:srgbClr val="E6EDF3"/>
                </a:solidFill>
                <a:latin typeface="Consolas"/>
              </a:rPr>
              <a:t> </a:t>
            </a:r>
            <a:r>
              <a:rPr sz="750" i="0">
                <a:solidFill>
                  <a:srgbClr val="7FDBCA"/>
                </a:solidFill>
                <a:latin typeface="Consolas"/>
              </a:rPr>
              <a:t>SqliteOrderRepository</a:t>
            </a:r>
            <a:r>
              <a:rPr sz="750" i="0">
                <a:solidFill>
                  <a:srgbClr val="E6EDF3"/>
                </a:solidFill>
                <a:latin typeface="Consolas"/>
              </a:rPr>
              <a:t>(</a:t>
            </a:r>
            <a:r>
              <a:rPr sz="750" i="0">
                <a:solidFill>
                  <a:srgbClr val="A5D6A7"/>
                </a:solidFill>
                <a:latin typeface="Consolas"/>
              </a:rPr>
              <a:t>"orders.db"</a:t>
            </a:r>
            <a:r>
              <a:rPr sz="750" i="0">
                <a:solidFill>
                  <a:srgbClr val="E6EDF3"/>
                </a:solidFill>
                <a:latin typeface="Consolas"/>
              </a:rPr>
              <a:t>)</a:t>
            </a:r>
          </a:p>
          <a:p>
            <a:pPr>
              <a:lnSpc>
                <a:spcPts val="1000"/>
              </a:lnSpc>
              <a:spcAft>
                <a:spcPts val="0"/>
              </a:spcAft>
            </a:pPr>
            <a:r>
              <a:rPr sz="750" i="0">
                <a:solidFill>
                  <a:srgbClr val="E6EDF3"/>
                </a:solidFill>
                <a:latin typeface="Consolas"/>
              </a:rPr>
              <a:t> </a:t>
            </a:r>
          </a:p>
          <a:p>
            <a:pPr>
              <a:lnSpc>
                <a:spcPts val="1000"/>
              </a:lnSpc>
              <a:spcAft>
                <a:spcPts val="0"/>
              </a:spcAft>
            </a:pPr>
            <a:r>
              <a:rPr sz="750" i="0">
                <a:solidFill>
                  <a:srgbClr val="FF8E6E"/>
                </a:solidFill>
                <a:latin typeface="Consolas"/>
              </a:rPr>
              <a:t>def</a:t>
            </a:r>
            <a:r>
              <a:rPr sz="750" i="0">
                <a:solidFill>
                  <a:srgbClr val="E6EDF3"/>
                </a:solidFill>
                <a:latin typeface="Consolas"/>
              </a:rPr>
              <a:t> </a:t>
            </a:r>
            <a:r>
              <a:rPr sz="750" i="0">
                <a:solidFill>
                  <a:srgbClr val="82B1FF"/>
                </a:solidFill>
                <a:latin typeface="Consolas"/>
              </a:rPr>
              <a:t>get_order_service</a:t>
            </a:r>
            <a:r>
              <a:rPr sz="750" i="0">
                <a:solidFill>
                  <a:srgbClr val="E6EDF3"/>
                </a:solidFill>
                <a:latin typeface="Consolas"/>
              </a:rPr>
              <a:t>(</a:t>
            </a:r>
            <a:r>
              <a:rPr sz="750" i="0">
                <a:solidFill>
                  <a:srgbClr val="E6EDF3"/>
                </a:solidFill>
                <a:latin typeface="Consolas"/>
              </a:rPr>
              <a:t>repo</a:t>
            </a:r>
            <a:r>
              <a:rPr sz="750" i="0">
                <a:solidFill>
                  <a:srgbClr val="E6EDF3"/>
                </a:solidFill>
                <a:latin typeface="Consolas"/>
              </a:rPr>
              <a:t>=</a:t>
            </a:r>
            <a:r>
              <a:rPr sz="750" i="0">
                <a:solidFill>
                  <a:srgbClr val="7FDBCA"/>
                </a:solidFill>
                <a:latin typeface="Consolas"/>
              </a:rPr>
              <a:t>Depends</a:t>
            </a:r>
            <a:r>
              <a:rPr sz="750" i="0">
                <a:solidFill>
                  <a:srgbClr val="E6EDF3"/>
                </a:solidFill>
                <a:latin typeface="Consolas"/>
              </a:rPr>
              <a:t>(</a:t>
            </a:r>
            <a:r>
              <a:rPr sz="750" i="0">
                <a:solidFill>
                  <a:srgbClr val="E6EDF3"/>
                </a:solidFill>
                <a:latin typeface="Consolas"/>
              </a:rPr>
              <a:t>get_repository</a:t>
            </a:r>
            <a:r>
              <a:rPr sz="750" i="0">
                <a:solidFill>
                  <a:srgbClr val="E6EDF3"/>
                </a:solidFill>
                <a:latin typeface="Consolas"/>
              </a:rPr>
              <a:t>)</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&gt;</a:t>
            </a:r>
            <a:r>
              <a:rPr sz="750" i="0">
                <a:solidFill>
                  <a:srgbClr val="E6EDF3"/>
                </a:solidFill>
                <a:latin typeface="Consolas"/>
              </a:rPr>
              <a:t> </a:t>
            </a:r>
            <a:r>
              <a:rPr sz="750" i="0">
                <a:solidFill>
                  <a:srgbClr val="7FDBCA"/>
                </a:solidFill>
                <a:latin typeface="Consolas"/>
              </a:rPr>
              <a:t>OrderService</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FF8E6E"/>
                </a:solidFill>
                <a:latin typeface="Consolas"/>
              </a:rPr>
              <a:t>return</a:t>
            </a:r>
            <a:r>
              <a:rPr sz="750" i="0">
                <a:solidFill>
                  <a:srgbClr val="E6EDF3"/>
                </a:solidFill>
                <a:latin typeface="Consolas"/>
              </a:rPr>
              <a:t> </a:t>
            </a:r>
            <a:r>
              <a:rPr sz="750" i="0">
                <a:solidFill>
                  <a:srgbClr val="7FDBCA"/>
                </a:solidFill>
                <a:latin typeface="Consolas"/>
              </a:rPr>
              <a:t>OrderService</a:t>
            </a:r>
            <a:r>
              <a:rPr sz="750" i="0">
                <a:solidFill>
                  <a:srgbClr val="E6EDF3"/>
                </a:solidFill>
                <a:latin typeface="Consolas"/>
              </a:rPr>
              <a:t>(</a:t>
            </a:r>
            <a:r>
              <a:rPr sz="750" i="0">
                <a:solidFill>
                  <a:srgbClr val="E6EDF3"/>
                </a:solidFill>
                <a:latin typeface="Consolas"/>
              </a:rPr>
              <a:t>repo</a:t>
            </a:r>
            <a:r>
              <a:rPr sz="750" i="0">
                <a:solidFill>
                  <a:srgbClr val="E6EDF3"/>
                </a:solidFill>
                <a:latin typeface="Consolas"/>
              </a:rPr>
              <a:t>)</a:t>
            </a:r>
          </a:p>
          <a:p>
            <a:pPr>
              <a:lnSpc>
                <a:spcPts val="1000"/>
              </a:lnSpc>
              <a:spcAft>
                <a:spcPts val="0"/>
              </a:spcAft>
            </a:pPr>
            <a:r>
              <a:rPr sz="750" i="0">
                <a:solidFill>
                  <a:srgbClr val="E6EDF3"/>
                </a:solidFill>
                <a:latin typeface="Consolas"/>
              </a:rPr>
              <a:t> </a:t>
            </a:r>
          </a:p>
          <a:p>
            <a:pPr>
              <a:lnSpc>
                <a:spcPts val="1000"/>
              </a:lnSpc>
              <a:spcAft>
                <a:spcPts val="0"/>
              </a:spcAft>
            </a:pPr>
            <a:r>
              <a:rPr sz="750" i="0">
                <a:solidFill>
                  <a:srgbClr val="F9C97A"/>
                </a:solidFill>
                <a:latin typeface="Consolas"/>
              </a:rPr>
              <a:t>@app.post</a:t>
            </a:r>
            <a:r>
              <a:rPr sz="750" i="0">
                <a:solidFill>
                  <a:srgbClr val="E6EDF3"/>
                </a:solidFill>
                <a:latin typeface="Consolas"/>
              </a:rPr>
              <a:t>(</a:t>
            </a:r>
            <a:r>
              <a:rPr sz="750" i="0">
                <a:solidFill>
                  <a:srgbClr val="A5D6A7"/>
                </a:solidFill>
                <a:latin typeface="Consolas"/>
              </a:rPr>
              <a:t>"/orders"</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status_code</a:t>
            </a:r>
            <a:r>
              <a:rPr sz="750" i="0">
                <a:solidFill>
                  <a:srgbClr val="E6EDF3"/>
                </a:solidFill>
                <a:latin typeface="Consolas"/>
              </a:rPr>
              <a:t>=</a:t>
            </a:r>
            <a:r>
              <a:rPr sz="750" i="0">
                <a:solidFill>
                  <a:srgbClr val="F9C97A"/>
                </a:solidFill>
                <a:latin typeface="Consolas"/>
              </a:rPr>
              <a:t>201</a:t>
            </a:r>
            <a:r>
              <a:rPr sz="750" i="0">
                <a:solidFill>
                  <a:srgbClr val="E6EDF3"/>
                </a:solidFill>
                <a:latin typeface="Consolas"/>
              </a:rPr>
              <a:t>)</a:t>
            </a:r>
          </a:p>
          <a:p>
            <a:pPr>
              <a:lnSpc>
                <a:spcPts val="1000"/>
              </a:lnSpc>
              <a:spcAft>
                <a:spcPts val="0"/>
              </a:spcAft>
            </a:pPr>
            <a:r>
              <a:rPr sz="750" i="0">
                <a:solidFill>
                  <a:srgbClr val="FF8E6E"/>
                </a:solidFill>
                <a:latin typeface="Consolas"/>
              </a:rPr>
              <a:t>def</a:t>
            </a:r>
            <a:r>
              <a:rPr sz="750" i="0">
                <a:solidFill>
                  <a:srgbClr val="E6EDF3"/>
                </a:solidFill>
                <a:latin typeface="Consolas"/>
              </a:rPr>
              <a:t> </a:t>
            </a:r>
            <a:r>
              <a:rPr sz="750" i="0">
                <a:solidFill>
                  <a:srgbClr val="82B1FF"/>
                </a:solidFill>
                <a:latin typeface="Consolas"/>
              </a:rPr>
              <a:t>create_order</a:t>
            </a:r>
            <a:r>
              <a:rPr sz="750" i="0">
                <a:solidFill>
                  <a:srgbClr val="E6EDF3"/>
                </a:solidFill>
                <a:latin typeface="Consolas"/>
              </a:rPr>
              <a:t>(</a:t>
            </a:r>
            <a:r>
              <a:rPr sz="750" i="0">
                <a:solidFill>
                  <a:srgbClr val="E6EDF3"/>
                </a:solidFill>
                <a:latin typeface="Consolas"/>
              </a:rPr>
              <a:t>payload</a:t>
            </a:r>
            <a:r>
              <a:rPr sz="750" i="0">
                <a:solidFill>
                  <a:srgbClr val="E6EDF3"/>
                </a:solidFill>
                <a:latin typeface="Consolas"/>
              </a:rPr>
              <a:t>:</a:t>
            </a:r>
            <a:r>
              <a:rPr sz="750" i="0">
                <a:solidFill>
                  <a:srgbClr val="E6EDF3"/>
                </a:solidFill>
                <a:latin typeface="Consolas"/>
              </a:rPr>
              <a:t> </a:t>
            </a:r>
            <a:r>
              <a:rPr sz="750" i="0">
                <a:solidFill>
                  <a:srgbClr val="7FDBCA"/>
                </a:solidFill>
                <a:latin typeface="Consolas"/>
              </a:rPr>
              <a:t>OrderIn</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service</a:t>
            </a:r>
            <a:r>
              <a:rPr sz="750" i="0">
                <a:solidFill>
                  <a:srgbClr val="E6EDF3"/>
                </a:solidFill>
                <a:latin typeface="Consolas"/>
              </a:rPr>
              <a:t>:</a:t>
            </a:r>
            <a:r>
              <a:rPr sz="750" i="0">
                <a:solidFill>
                  <a:srgbClr val="E6EDF3"/>
                </a:solidFill>
                <a:latin typeface="Consolas"/>
              </a:rPr>
              <a:t> </a:t>
            </a:r>
            <a:r>
              <a:rPr sz="750" i="0">
                <a:solidFill>
                  <a:srgbClr val="7FDBCA"/>
                </a:solidFill>
                <a:latin typeface="Consolas"/>
              </a:rPr>
              <a:t>OrderService</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7FDBCA"/>
                </a:solidFill>
                <a:latin typeface="Consolas"/>
              </a:rPr>
              <a:t>Depends</a:t>
            </a:r>
            <a:r>
              <a:rPr sz="750" i="0">
                <a:solidFill>
                  <a:srgbClr val="E6EDF3"/>
                </a:solidFill>
                <a:latin typeface="Consolas"/>
              </a:rPr>
              <a:t>(</a:t>
            </a:r>
            <a:r>
              <a:rPr sz="750" i="0">
                <a:solidFill>
                  <a:srgbClr val="E6EDF3"/>
                </a:solidFill>
                <a:latin typeface="Consolas"/>
              </a:rPr>
              <a:t>get_order_service</a:t>
            </a:r>
            <a:r>
              <a:rPr sz="750" i="0">
                <a:solidFill>
                  <a:srgbClr val="E6EDF3"/>
                </a:solidFill>
                <a:latin typeface="Consolas"/>
              </a:rPr>
              <a:t>)</a:t>
            </a:r>
            <a:r>
              <a:rPr sz="750" i="0">
                <a:solidFill>
                  <a:srgbClr val="E6EDF3"/>
                </a:solidFill>
                <a:latin typeface="Consolas"/>
              </a:rPr>
              <a:t>)</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FF8E6E"/>
                </a:solidFill>
                <a:latin typeface="Consolas"/>
              </a:rPr>
              <a:t>return</a:t>
            </a:r>
            <a:r>
              <a:rPr sz="750" i="0">
                <a:solidFill>
                  <a:srgbClr val="E6EDF3"/>
                </a:solidFill>
                <a:latin typeface="Consolas"/>
              </a:rPr>
              <a:t> </a:t>
            </a:r>
            <a:r>
              <a:rPr sz="750" i="0">
                <a:solidFill>
                  <a:srgbClr val="E6EDF3"/>
                </a:solidFill>
                <a:latin typeface="Consolas"/>
              </a:rPr>
              <a:t>service</a:t>
            </a:r>
            <a:r>
              <a:rPr sz="750" i="0">
                <a:solidFill>
                  <a:srgbClr val="E6EDF3"/>
                </a:solidFill>
                <a:latin typeface="Consolas"/>
              </a:rPr>
              <a:t>.</a:t>
            </a:r>
            <a:r>
              <a:rPr sz="750" i="0">
                <a:solidFill>
                  <a:srgbClr val="E6EDF3"/>
                </a:solidFill>
                <a:latin typeface="Consolas"/>
              </a:rPr>
              <a:t>place_order</a:t>
            </a:r>
            <a:r>
              <a:rPr sz="750" i="0">
                <a:solidFill>
                  <a:srgbClr val="E6EDF3"/>
                </a:solidFill>
                <a:latin typeface="Consolas"/>
              </a:rPr>
              <a:t>(</a:t>
            </a:r>
            <a:r>
              <a:rPr sz="750" i="0">
                <a:solidFill>
                  <a:srgbClr val="E6EDF3"/>
                </a:solidFill>
                <a:latin typeface="Consolas"/>
              </a:rPr>
              <a:t>payload</a:t>
            </a:r>
            <a:r>
              <a:rPr sz="750" i="0">
                <a:solidFill>
                  <a:srgbClr val="E6EDF3"/>
                </a:solidFill>
                <a:latin typeface="Consolas"/>
              </a:rPr>
              <a:t>.</a:t>
            </a:r>
            <a:r>
              <a:rPr sz="750" i="0">
                <a:solidFill>
                  <a:srgbClr val="E6EDF3"/>
                </a:solidFill>
                <a:latin typeface="Consolas"/>
              </a:rPr>
              <a:t>customer</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payload</a:t>
            </a:r>
            <a:r>
              <a:rPr sz="750" i="0">
                <a:solidFill>
                  <a:srgbClr val="E6EDF3"/>
                </a:solidFill>
                <a:latin typeface="Consolas"/>
              </a:rPr>
              <a:t>.</a:t>
            </a:r>
            <a:r>
              <a:rPr sz="750" i="0">
                <a:solidFill>
                  <a:srgbClr val="E6EDF3"/>
                </a:solidFill>
                <a:latin typeface="Consolas"/>
              </a:rPr>
              <a:t>subtotal</a:t>
            </a:r>
            <a:r>
              <a:rPr sz="750" i="0">
                <a:solidFill>
                  <a:srgbClr val="E6EDF3"/>
                </a:solidFill>
                <a:latin typeface="Consolas"/>
              </a:rPr>
              <a:t>)</a:t>
            </a:r>
          </a:p>
        </p:txBody>
      </p:sp>
      <p:sp>
        <p:nvSpPr>
          <p:cNvPr id="29" name="Box 12"/>
          <p:cNvSpPr/>
          <p:nvPr/>
        </p:nvSpPr>
        <p:spPr>
          <a:xfrm>
            <a:off x="704088" y="2843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495544" y="2783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2335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5495544" y="2275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704088" y="2081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Box 17"/>
          <p:cNvSpPr/>
          <p:nvPr/>
        </p:nvSpPr>
        <p:spPr>
          <a:xfrm>
            <a:off x="5495544" y="2021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
        <p:nvSpPr>
          <p:cNvPr id="35" name="Box 18"/>
          <p:cNvSpPr/>
          <p:nvPr/>
        </p:nvSpPr>
        <p:spPr>
          <a:xfrm>
            <a:off x="704088" y="2462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6" name="Box 19"/>
          <p:cNvSpPr/>
          <p:nvPr/>
        </p:nvSpPr>
        <p:spPr>
          <a:xfrm>
            <a:off x="5202936" y="2402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4</a:t>
            </a:r>
          </a:p>
        </p:txBody>
      </p:sp>
      <p:sp>
        <p:nvSpPr>
          <p:cNvPr id="37" name="Box 20"/>
          <p:cNvSpPr/>
          <p:nvPr/>
        </p:nvSpPr>
        <p:spPr>
          <a:xfrm>
            <a:off x="704088" y="2970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8" name="Box 21"/>
          <p:cNvSpPr/>
          <p:nvPr/>
        </p:nvSpPr>
        <p:spPr>
          <a:xfrm>
            <a:off x="5202936" y="2910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5</a:t>
            </a:r>
          </a:p>
        </p:txBody>
      </p:sp>
      <p:sp>
        <p:nvSpPr>
          <p:cNvPr id="39" name="Box 22"/>
          <p:cNvSpPr/>
          <p:nvPr/>
        </p:nvSpPr>
        <p:spPr>
          <a:xfrm>
            <a:off x="587959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1</a:t>
            </a:r>
          </a:p>
        </p:txBody>
      </p:sp>
      <p:sp>
        <p:nvSpPr>
          <p:cNvPr id="40" name="Text 23"/>
          <p:cNvSpPr txBox="1"/>
          <p:nvPr/>
        </p:nvSpPr>
        <p:spPr>
          <a:xfrm>
            <a:off x="6208776" y="1463040"/>
            <a:ext cx="2276856" cy="643737"/>
          </a:xfrm>
          <a:prstGeom prst="rect">
            <a:avLst/>
          </a:prstGeom>
          <a:noFill/>
        </p:spPr>
        <p:txBody>
          <a:bodyPr wrap="square" anchor="t" lIns="45720" rIns="45720">
            <a:spAutoFit/>
          </a:bodyPr>
          <a:lstStyle/>
          <a:p>
            <a:pPr algn="l">
              <a:lnSpc>
                <a:spcPct val="115000"/>
              </a:lnSpc>
              <a:spcAft>
                <a:spcPts val="400"/>
              </a:spcAft>
            </a:pPr>
            <a:r>
              <a:rPr sz="850" i="0" b="0">
                <a:solidFill>
                  <a:srgbClr val="434343"/>
                </a:solidFill>
                <a:latin typeface="Inter"/>
              </a:rPr>
              <a:t>Request </a:t>
            </a:r>
            <a:r>
              <a:rPr sz="850" i="0" b="0">
                <a:solidFill>
                  <a:srgbClr val="B5482A"/>
                </a:solidFill>
                <a:latin typeface="Consolas"/>
              </a:rPr>
              <a:t>POST /orders</a:t>
            </a:r>
            <a:r>
              <a:rPr sz="850" i="0" b="0">
                <a:solidFill>
                  <a:srgbClr val="434343"/>
                </a:solidFill>
                <a:latin typeface="Inter"/>
              </a:rPr>
              <a:t> masuk. FastAPI melihat route butuh </a:t>
            </a:r>
            <a:r>
              <a:rPr sz="850" i="0" b="0">
                <a:solidFill>
                  <a:srgbClr val="B5482A"/>
                </a:solidFill>
                <a:latin typeface="Consolas"/>
              </a:rPr>
              <a:t>Depends(get_order_service)</a:t>
            </a:r>
          </a:p>
        </p:txBody>
      </p:sp>
      <p:sp>
        <p:nvSpPr>
          <p:cNvPr id="41" name="Box 24"/>
          <p:cNvSpPr/>
          <p:nvPr/>
        </p:nvSpPr>
        <p:spPr>
          <a:xfrm>
            <a:off x="5879592" y="2143353"/>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2</a:t>
            </a:r>
          </a:p>
        </p:txBody>
      </p:sp>
      <p:sp>
        <p:nvSpPr>
          <p:cNvPr id="42" name="Text 25"/>
          <p:cNvSpPr txBox="1"/>
          <p:nvPr/>
        </p:nvSpPr>
        <p:spPr>
          <a:xfrm>
            <a:off x="6208776" y="2106777"/>
            <a:ext cx="2276856" cy="643737"/>
          </a:xfrm>
          <a:prstGeom prst="rect">
            <a:avLst/>
          </a:prstGeom>
          <a:noFill/>
        </p:spPr>
        <p:txBody>
          <a:bodyPr wrap="square" anchor="t" lIns="45720" rIns="45720">
            <a:spAutoFit/>
          </a:bodyPr>
          <a:lstStyle/>
          <a:p>
            <a:pPr algn="l">
              <a:lnSpc>
                <a:spcPct val="115000"/>
              </a:lnSpc>
              <a:spcAft>
                <a:spcPts val="400"/>
              </a:spcAft>
            </a:pPr>
            <a:r>
              <a:rPr sz="850" i="0" b="0">
                <a:solidFill>
                  <a:srgbClr val="B5482A"/>
                </a:solidFill>
                <a:latin typeface="Consolas"/>
              </a:rPr>
              <a:t>get_order_service</a:t>
            </a:r>
            <a:r>
              <a:rPr sz="850" i="0" b="0">
                <a:solidFill>
                  <a:srgbClr val="434343"/>
                </a:solidFill>
                <a:latin typeface="Inter"/>
              </a:rPr>
              <a:t> sendiri butuh </a:t>
            </a:r>
            <a:r>
              <a:rPr sz="850" i="0" b="0">
                <a:solidFill>
                  <a:srgbClr val="B5482A"/>
                </a:solidFill>
                <a:latin typeface="Consolas"/>
              </a:rPr>
              <a:t>Depends(get_repository)</a:t>
            </a:r>
            <a:r>
              <a:rPr sz="850" i="0" b="0">
                <a:solidFill>
                  <a:srgbClr val="434343"/>
                </a:solidFill>
                <a:latin typeface="Inter"/>
              </a:rPr>
              <a:t>, jadi itu dipanggil dulu</a:t>
            </a:r>
          </a:p>
        </p:txBody>
      </p:sp>
      <p:sp>
        <p:nvSpPr>
          <p:cNvPr id="43" name="Box 26"/>
          <p:cNvSpPr/>
          <p:nvPr/>
        </p:nvSpPr>
        <p:spPr>
          <a:xfrm>
            <a:off x="5879592" y="2787091"/>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3</a:t>
            </a:r>
          </a:p>
        </p:txBody>
      </p:sp>
      <p:sp>
        <p:nvSpPr>
          <p:cNvPr id="44" name="Text 27"/>
          <p:cNvSpPr txBox="1"/>
          <p:nvPr/>
        </p:nvSpPr>
        <p:spPr>
          <a:xfrm>
            <a:off x="6208776" y="2750515"/>
            <a:ext cx="2276856" cy="643737"/>
          </a:xfrm>
          <a:prstGeom prst="rect">
            <a:avLst/>
          </a:prstGeom>
          <a:noFill/>
        </p:spPr>
        <p:txBody>
          <a:bodyPr wrap="square" anchor="t" lIns="45720" rIns="45720">
            <a:spAutoFit/>
          </a:bodyPr>
          <a:lstStyle/>
          <a:p>
            <a:pPr algn="l">
              <a:lnSpc>
                <a:spcPct val="115000"/>
              </a:lnSpc>
              <a:spcAft>
                <a:spcPts val="400"/>
              </a:spcAft>
            </a:pPr>
            <a:r>
              <a:rPr sz="850" i="0" b="0">
                <a:solidFill>
                  <a:srgbClr val="B5482A"/>
                </a:solidFill>
                <a:latin typeface="Consolas"/>
              </a:rPr>
              <a:t>get_repository()</a:t>
            </a:r>
            <a:r>
              <a:rPr sz="850" i="0" b="0">
                <a:solidFill>
                  <a:srgbClr val="434343"/>
                </a:solidFill>
                <a:latin typeface="Inter"/>
              </a:rPr>
              <a:t> membuat repository. Karena </a:t>
            </a:r>
            <a:r>
              <a:rPr sz="850" i="0" b="0">
                <a:solidFill>
                  <a:srgbClr val="B5482A"/>
                </a:solidFill>
                <a:latin typeface="Consolas"/>
              </a:rPr>
              <a:t>@lru_cache</a:t>
            </a:r>
            <a:r>
              <a:rPr sz="850" i="0" b="0">
                <a:solidFill>
                  <a:srgbClr val="434343"/>
                </a:solidFill>
                <a:latin typeface="Inter"/>
              </a:rPr>
              <a:t>, request berikutnya memakai object yang sama</a:t>
            </a:r>
          </a:p>
        </p:txBody>
      </p:sp>
      <p:sp>
        <p:nvSpPr>
          <p:cNvPr id="45" name="Box 28"/>
          <p:cNvSpPr/>
          <p:nvPr/>
        </p:nvSpPr>
        <p:spPr>
          <a:xfrm>
            <a:off x="5879592" y="343082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4</a:t>
            </a:r>
          </a:p>
        </p:txBody>
      </p:sp>
      <p:sp>
        <p:nvSpPr>
          <p:cNvPr id="46" name="Text 29"/>
          <p:cNvSpPr txBox="1"/>
          <p:nvPr/>
        </p:nvSpPr>
        <p:spPr>
          <a:xfrm>
            <a:off x="6208776" y="3394252"/>
            <a:ext cx="2276856" cy="643737"/>
          </a:xfrm>
          <a:prstGeom prst="rect">
            <a:avLst/>
          </a:prstGeom>
          <a:noFill/>
        </p:spPr>
        <p:txBody>
          <a:bodyPr wrap="square" anchor="t" lIns="45720" rIns="45720">
            <a:spAutoFit/>
          </a:bodyPr>
          <a:lstStyle/>
          <a:p>
            <a:pPr algn="l">
              <a:lnSpc>
                <a:spcPct val="115000"/>
              </a:lnSpc>
              <a:spcAft>
                <a:spcPts val="400"/>
              </a:spcAft>
            </a:pPr>
            <a:r>
              <a:rPr sz="850" i="0" b="0">
                <a:solidFill>
                  <a:srgbClr val="434343"/>
                </a:solidFill>
                <a:latin typeface="Inter"/>
              </a:rPr>
              <a:t>Repository diberikan ke </a:t>
            </a:r>
            <a:r>
              <a:rPr sz="850" i="0" b="0">
                <a:solidFill>
                  <a:srgbClr val="B5482A"/>
                </a:solidFill>
                <a:latin typeface="Consolas"/>
              </a:rPr>
              <a:t>get_order_service</a:t>
            </a:r>
            <a:r>
              <a:rPr sz="850" i="0" b="0">
                <a:solidFill>
                  <a:srgbClr val="434343"/>
                </a:solidFill>
                <a:latin typeface="Inter"/>
              </a:rPr>
              <a:t>, yang mengembalikan </a:t>
            </a:r>
            <a:r>
              <a:rPr sz="850" i="0" b="0">
                <a:solidFill>
                  <a:srgbClr val="B5482A"/>
                </a:solidFill>
                <a:latin typeface="Consolas"/>
              </a:rPr>
              <a:t>OrderService</a:t>
            </a:r>
          </a:p>
        </p:txBody>
      </p:sp>
      <p:sp>
        <p:nvSpPr>
          <p:cNvPr id="47" name="Box 30"/>
          <p:cNvSpPr/>
          <p:nvPr/>
        </p:nvSpPr>
        <p:spPr>
          <a:xfrm>
            <a:off x="5879592" y="407456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5</a:t>
            </a:r>
          </a:p>
        </p:txBody>
      </p:sp>
      <p:sp>
        <p:nvSpPr>
          <p:cNvPr id="48" name="Text 31"/>
          <p:cNvSpPr txBox="1"/>
          <p:nvPr/>
        </p:nvSpPr>
        <p:spPr>
          <a:xfrm>
            <a:off x="6208776" y="4037990"/>
            <a:ext cx="2276856" cy="643737"/>
          </a:xfrm>
          <a:prstGeom prst="rect">
            <a:avLst/>
          </a:prstGeom>
          <a:noFill/>
        </p:spPr>
        <p:txBody>
          <a:bodyPr wrap="square" anchor="t" lIns="45720" rIns="45720">
            <a:spAutoFit/>
          </a:bodyPr>
          <a:lstStyle/>
          <a:p>
            <a:pPr algn="l">
              <a:lnSpc>
                <a:spcPct val="115000"/>
              </a:lnSpc>
              <a:spcAft>
                <a:spcPts val="400"/>
              </a:spcAft>
            </a:pPr>
            <a:r>
              <a:rPr sz="850" i="0" b="0">
                <a:solidFill>
                  <a:srgbClr val="434343"/>
                </a:solidFill>
                <a:latin typeface="Inter"/>
              </a:rPr>
              <a:t>Route dipanggil dengan </a:t>
            </a:r>
            <a:r>
              <a:rPr sz="850" i="0" b="0">
                <a:solidFill>
                  <a:srgbClr val="B5482A"/>
                </a:solidFill>
                <a:latin typeface="Consolas"/>
              </a:rPr>
              <a:t>service</a:t>
            </a:r>
            <a:r>
              <a:rPr sz="850" i="0" b="0">
                <a:solidFill>
                  <a:srgbClr val="434343"/>
                </a:solidFill>
                <a:latin typeface="Inter"/>
              </a:rPr>
              <a:t> yang sudah siap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Test: Ganti Repository dengan dependency_overrides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06-dependency-injection/test_after.py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 2  </a:t>
            </a: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fastapi</a:t>
            </a:r>
            <a:r>
              <a:rPr sz="850" i="0">
                <a:solidFill>
                  <a:srgbClr val="E6EDF3"/>
                </a:solidFill>
                <a:latin typeface="Consolas"/>
              </a:rPr>
              <a:t>.</a:t>
            </a:r>
            <a:r>
              <a:rPr sz="850" i="0">
                <a:solidFill>
                  <a:srgbClr val="E6EDF3"/>
                </a:solidFill>
                <a:latin typeface="Consolas"/>
              </a:rPr>
              <a:t>testclient</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7FDBCA"/>
                </a:solidFill>
                <a:latin typeface="Consolas"/>
              </a:rPr>
              <a:t>TestClient</a:t>
            </a:r>
          </a:p>
          <a:p>
            <a:pPr>
              <a:lnSpc>
                <a:spcPts val="1100"/>
              </a:lnSpc>
              <a:spcAft>
                <a:spcPts val="0"/>
              </a:spcAft>
            </a:pPr>
            <a:r>
              <a:rPr sz="850" i="0">
                <a:solidFill>
                  <a:srgbClr val="5C6773"/>
                </a:solidFill>
                <a:latin typeface="Consolas"/>
              </a:rPr>
              <a:t> 3  </a:t>
            </a:r>
            <a:r>
              <a:rPr sz="850" i="0">
                <a:solidFill>
                  <a:srgbClr val="E6EDF3"/>
                </a:solidFill>
                <a:latin typeface="Consolas"/>
              </a:rPr>
              <a:t> </a:t>
            </a:r>
          </a:p>
          <a:p>
            <a:pPr>
              <a:lnSpc>
                <a:spcPts val="1100"/>
              </a:lnSpc>
              <a:spcAft>
                <a:spcPts val="0"/>
              </a:spcAft>
            </a:pPr>
            <a:r>
              <a:rPr sz="850" i="0">
                <a:solidFill>
                  <a:srgbClr val="5C6773"/>
                </a:solidFill>
                <a:latin typeface="Consolas"/>
              </a:rPr>
              <a:t> 4  </a:t>
            </a: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after</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E6EDF3"/>
                </a:solidFill>
                <a:latin typeface="Consolas"/>
              </a:rPr>
              <a:t>app</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get_repository</a:t>
            </a:r>
          </a:p>
          <a:p>
            <a:pPr>
              <a:lnSpc>
                <a:spcPts val="1100"/>
              </a:lnSpc>
              <a:spcAft>
                <a:spcPts val="0"/>
              </a:spcAft>
            </a:pPr>
            <a:r>
              <a:rPr sz="850" i="0">
                <a:solidFill>
                  <a:srgbClr val="5C6773"/>
                </a:solidFill>
                <a:latin typeface="Consolas"/>
              </a:rPr>
              <a:t> 5  </a:t>
            </a:r>
            <a:r>
              <a:rPr sz="850" i="0">
                <a:solidFill>
                  <a:srgbClr val="E6EDF3"/>
                </a:solidFill>
                <a:latin typeface="Consolas"/>
              </a:rPr>
              <a:t> </a:t>
            </a:r>
          </a:p>
          <a:p>
            <a:pPr>
              <a:lnSpc>
                <a:spcPts val="1100"/>
              </a:lnSpc>
              <a:spcAft>
                <a:spcPts val="0"/>
              </a:spcAft>
            </a:pPr>
            <a:r>
              <a:rPr sz="850" i="0">
                <a:solidFill>
                  <a:srgbClr val="5C6773"/>
                </a:solidFill>
                <a:latin typeface="Consolas"/>
              </a:rPr>
              <a:t> 6  </a:t>
            </a:r>
            <a:r>
              <a:rPr sz="850" i="0">
                <a:solidFill>
                  <a:srgbClr val="E6EDF3"/>
                </a:solidFill>
                <a:latin typeface="Consolas"/>
              </a:rPr>
              <a:t> </a:t>
            </a:r>
          </a:p>
          <a:p>
            <a:pPr>
              <a:lnSpc>
                <a:spcPts val="1100"/>
              </a:lnSpc>
              <a:spcAft>
                <a:spcPts val="0"/>
              </a:spcAft>
            </a:pPr>
            <a:r>
              <a:rPr sz="850" i="0">
                <a:solidFill>
                  <a:srgbClr val="5C6773"/>
                </a:solidFill>
                <a:latin typeface="Consolas"/>
              </a:rPr>
              <a:t> 7  </a:t>
            </a: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InMemoryOrderRepository</a:t>
            </a:r>
            <a:r>
              <a:rPr sz="850" i="0">
                <a:solidFill>
                  <a:srgbClr val="E6EDF3"/>
                </a:solidFill>
                <a:latin typeface="Consolas"/>
              </a:rPr>
              <a:t>:</a:t>
            </a:r>
          </a:p>
          <a:p>
            <a:pPr>
              <a:lnSpc>
                <a:spcPts val="1100"/>
              </a:lnSpc>
              <a:spcAft>
                <a:spcPts val="0"/>
              </a:spcAft>
            </a:pPr>
            <a:r>
              <a:rPr sz="850" i="0">
                <a:solidFill>
                  <a:srgbClr val="5C6773"/>
                </a:solidFill>
                <a:latin typeface="Consolas"/>
              </a:rPr>
              <a:t> 8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__init__</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 9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rows</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10  </a:t>
            </a:r>
            <a:r>
              <a:rPr sz="850" i="0">
                <a:solidFill>
                  <a:srgbClr val="E6EDF3"/>
                </a:solidFill>
                <a:latin typeface="Consolas"/>
              </a:rPr>
              <a:t> </a:t>
            </a:r>
          </a:p>
          <a:p>
            <a:pPr>
              <a:lnSpc>
                <a:spcPts val="1100"/>
              </a:lnSpc>
              <a:spcAft>
                <a:spcPts val="0"/>
              </a:spcAft>
            </a:pPr>
            <a:r>
              <a:rPr sz="850" i="0">
                <a:solidFill>
                  <a:srgbClr val="5C6773"/>
                </a:solidFill>
                <a:latin typeface="Consolas"/>
              </a:rPr>
              <a:t>11  </a:t>
            </a: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C3A6FF"/>
                </a:solidFill>
                <a:latin typeface="Consolas"/>
              </a:rPr>
              <a:t>dict</a:t>
            </a:r>
            <a:r>
              <a:rPr sz="850" i="0">
                <a:solidFill>
                  <a:srgbClr val="E6EDF3"/>
                </a:solidFill>
                <a:latin typeface="Consolas"/>
              </a:rPr>
              <a:t>:</a:t>
            </a:r>
          </a:p>
          <a:p>
            <a:pPr>
              <a:lnSpc>
                <a:spcPts val="1100"/>
              </a:lnSpc>
              <a:spcAft>
                <a:spcPts val="0"/>
              </a:spcAft>
            </a:pPr>
            <a:r>
              <a:rPr sz="850" i="0">
                <a:solidFill>
                  <a:srgbClr val="5C6773"/>
                </a:solidFill>
                <a:latin typeface="Consolas"/>
              </a:rPr>
              <a:t>12  </a:t>
            </a:r>
            <a:r>
              <a:rPr sz="850" i="0">
                <a:solidFill>
                  <a:srgbClr val="E6EDF3"/>
                </a:solidFill>
                <a:latin typeface="Consolas"/>
              </a:rPr>
              <a:t>        </a:t>
            </a:r>
            <a:r>
              <a:rPr sz="850" i="0">
                <a:solidFill>
                  <a:srgbClr val="E6EDF3"/>
                </a:solidFill>
                <a:latin typeface="Consolas"/>
              </a:rPr>
              <a:t>order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A5D6A7"/>
                </a:solidFill>
                <a:latin typeface="Consolas"/>
              </a:rPr>
              <a:t>"id"</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len</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rows</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total</a:t>
            </a:r>
            <a:r>
              <a:rPr sz="850" i="0">
                <a:solidFill>
                  <a:srgbClr val="E6EDF3"/>
                </a:solidFill>
                <a:latin typeface="Consolas"/>
              </a:rPr>
              <a:t>}</a:t>
            </a:r>
          </a:p>
          <a:p>
            <a:pPr>
              <a:lnSpc>
                <a:spcPts val="1100"/>
              </a:lnSpc>
              <a:spcAft>
                <a:spcPts val="0"/>
              </a:spcAft>
            </a:pPr>
            <a:r>
              <a:rPr sz="850" i="0">
                <a:solidFill>
                  <a:srgbClr val="5C6773"/>
                </a:solidFill>
                <a:latin typeface="Consolas"/>
              </a:rPr>
              <a:t>13  </a:t>
            </a:r>
            <a:r>
              <a:rPr sz="850" i="0">
                <a:solidFill>
                  <a:srgbClr val="E6EDF3"/>
                </a:solidFill>
                <a:latin typeface="Consolas"/>
              </a:rPr>
              <a:t>        </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rows</a:t>
            </a:r>
            <a:r>
              <a:rPr sz="850" i="0">
                <a:solidFill>
                  <a:srgbClr val="E6EDF3"/>
                </a:solidFill>
                <a:latin typeface="Consolas"/>
              </a:rPr>
              <a:t>.</a:t>
            </a:r>
            <a:r>
              <a:rPr sz="850" i="0">
                <a:solidFill>
                  <a:srgbClr val="E6EDF3"/>
                </a:solidFill>
                <a:latin typeface="Consolas"/>
              </a:rPr>
              <a:t>append</a:t>
            </a:r>
            <a:r>
              <a:rPr sz="850" i="0">
                <a:solidFill>
                  <a:srgbClr val="E6EDF3"/>
                </a:solidFill>
                <a:latin typeface="Consolas"/>
              </a:rPr>
              <a:t>(</a:t>
            </a:r>
            <a:r>
              <a:rPr sz="850" i="0">
                <a:solidFill>
                  <a:srgbClr val="E6EDF3"/>
                </a:solidFill>
                <a:latin typeface="Consolas"/>
              </a:rPr>
              <a:t>order</a:t>
            </a:r>
            <a:r>
              <a:rPr sz="850" i="0">
                <a:solidFill>
                  <a:srgbClr val="E6EDF3"/>
                </a:solidFill>
                <a:latin typeface="Consolas"/>
              </a:rPr>
              <a:t>)</a:t>
            </a:r>
          </a:p>
          <a:p>
            <a:pPr>
              <a:lnSpc>
                <a:spcPts val="1100"/>
              </a:lnSpc>
              <a:spcAft>
                <a:spcPts val="0"/>
              </a:spcAft>
            </a:pPr>
            <a:r>
              <a:rPr sz="850" i="0">
                <a:solidFill>
                  <a:srgbClr val="5C6773"/>
                </a:solidFill>
                <a:latin typeface="Consolas"/>
              </a:rPr>
              <a:t>14  </a:t>
            </a: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order</a:t>
            </a:r>
          </a:p>
        </p:txBody>
      </p:sp>
      <p:sp>
        <p:nvSpPr>
          <p:cNvPr id="29" name="Box 12"/>
          <p:cNvSpPr/>
          <p:nvPr/>
        </p:nvSpPr>
        <p:spPr>
          <a:xfrm>
            <a:off x="704088" y="2527173"/>
            <a:ext cx="7699248" cy="1109218"/>
          </a:xfrm>
          <a:prstGeom prst="roundRect">
            <a:avLst>
              <a:gd name="adj" fmla="val 412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9629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Test: Ganti Repository dengan dependency_overrides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72237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06-dependency-injection/test_after.py</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7863840" cy="2980944"/>
          </a:xfrm>
          <a:prstGeom prst="rect">
            <a:avLst/>
          </a:prstGeom>
          <a:noFill/>
        </p:spPr>
        <p:txBody>
          <a:bodyPr wrap="none" lIns="146304" rIns="146304" tIns="91440" bIns="54864">
            <a:spAutoFit/>
          </a:bodyPr>
          <a:lstStyle/>
          <a:p>
            <a:pPr>
              <a:lnSpc>
                <a:spcPts val="1100"/>
              </a:lnSpc>
              <a:spcAft>
                <a:spcPts val="0"/>
              </a:spcAft>
            </a:pPr>
            <a:r>
              <a:rPr sz="850" i="0">
                <a:solidFill>
                  <a:srgbClr val="5C6773"/>
                </a:solidFill>
                <a:latin typeface="Consolas"/>
              </a:rPr>
              <a:t>17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test_create_order_pakai_fake_repository</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18  </a:t>
            </a:r>
            <a:r>
              <a:rPr sz="850" i="0">
                <a:solidFill>
                  <a:srgbClr val="E6EDF3"/>
                </a:solidFill>
                <a:latin typeface="Consolas"/>
              </a:rPr>
              <a:t>    </a:t>
            </a:r>
            <a:r>
              <a:rPr sz="850" i="0">
                <a:solidFill>
                  <a:srgbClr val="E6EDF3"/>
                </a:solidFill>
                <a:latin typeface="Consolas"/>
              </a:rPr>
              <a:t>fake</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InMemoryOrderRepository</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5C6773"/>
                </a:solidFill>
                <a:latin typeface="Consolas"/>
              </a:rPr>
              <a:t>19  </a:t>
            </a:r>
            <a:r>
              <a:rPr sz="850" i="0">
                <a:solidFill>
                  <a:srgbClr val="E6EDF3"/>
                </a:solidFill>
                <a:latin typeface="Consolas"/>
              </a:rPr>
              <a:t>    </a:t>
            </a:r>
            <a:r>
              <a:rPr sz="850" i="0">
                <a:solidFill>
                  <a:srgbClr val="E6EDF3"/>
                </a:solidFill>
                <a:latin typeface="Consolas"/>
              </a:rPr>
              <a:t>app</a:t>
            </a:r>
            <a:r>
              <a:rPr sz="850" i="0">
                <a:solidFill>
                  <a:srgbClr val="E6EDF3"/>
                </a:solidFill>
                <a:latin typeface="Consolas"/>
              </a:rPr>
              <a:t>.</a:t>
            </a:r>
            <a:r>
              <a:rPr sz="850" i="0">
                <a:solidFill>
                  <a:srgbClr val="E6EDF3"/>
                </a:solidFill>
                <a:latin typeface="Consolas"/>
              </a:rPr>
              <a:t>dependency_overrides</a:t>
            </a:r>
            <a:r>
              <a:rPr sz="850" i="0">
                <a:solidFill>
                  <a:srgbClr val="E6EDF3"/>
                </a:solidFill>
                <a:latin typeface="Consolas"/>
              </a:rPr>
              <a:t>[</a:t>
            </a:r>
            <a:r>
              <a:rPr sz="850" i="0">
                <a:solidFill>
                  <a:srgbClr val="E6EDF3"/>
                </a:solidFill>
                <a:latin typeface="Consolas"/>
              </a:rPr>
              <a:t>get_repository</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F8E6E"/>
                </a:solidFill>
                <a:latin typeface="Consolas"/>
              </a:rPr>
              <a:t>lambda</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fake</a:t>
            </a:r>
          </a:p>
          <a:p>
            <a:pPr>
              <a:lnSpc>
                <a:spcPts val="1100"/>
              </a:lnSpc>
              <a:spcAft>
                <a:spcPts val="0"/>
              </a:spcAft>
            </a:pPr>
            <a:r>
              <a:rPr sz="850" i="0">
                <a:solidFill>
                  <a:srgbClr val="5C6773"/>
                </a:solidFill>
                <a:latin typeface="Consolas"/>
              </a:rPr>
              <a:t>20  </a:t>
            </a:r>
            <a:r>
              <a:rPr sz="850" i="0">
                <a:solidFill>
                  <a:srgbClr val="E6EDF3"/>
                </a:solidFill>
                <a:latin typeface="Consolas"/>
              </a:rPr>
              <a:t>    </a:t>
            </a:r>
            <a:r>
              <a:rPr sz="850" i="0">
                <a:solidFill>
                  <a:srgbClr val="E6EDF3"/>
                </a:solidFill>
                <a:latin typeface="Consolas"/>
              </a:rPr>
              <a:t>client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TestClient</a:t>
            </a:r>
            <a:r>
              <a:rPr sz="850" i="0">
                <a:solidFill>
                  <a:srgbClr val="E6EDF3"/>
                </a:solidFill>
                <a:latin typeface="Consolas"/>
              </a:rPr>
              <a:t>(</a:t>
            </a:r>
            <a:r>
              <a:rPr sz="850" i="0">
                <a:solidFill>
                  <a:srgbClr val="E6EDF3"/>
                </a:solidFill>
                <a:latin typeface="Consolas"/>
              </a:rPr>
              <a:t>app</a:t>
            </a:r>
            <a:r>
              <a:rPr sz="850" i="0">
                <a:solidFill>
                  <a:srgbClr val="E6EDF3"/>
                </a:solidFill>
                <a:latin typeface="Consolas"/>
              </a:rPr>
              <a:t>)</a:t>
            </a:r>
          </a:p>
          <a:p>
            <a:pPr>
              <a:lnSpc>
                <a:spcPts val="1100"/>
              </a:lnSpc>
              <a:spcAft>
                <a:spcPts val="0"/>
              </a:spcAft>
            </a:pPr>
            <a:r>
              <a:rPr sz="850" i="0">
                <a:solidFill>
                  <a:srgbClr val="5C6773"/>
                </a:solidFill>
                <a:latin typeface="Consolas"/>
              </a:rPr>
              <a:t>21  </a:t>
            </a:r>
            <a:r>
              <a:rPr sz="850" i="0">
                <a:solidFill>
                  <a:srgbClr val="E6EDF3"/>
                </a:solidFill>
                <a:latin typeface="Consolas"/>
              </a:rPr>
              <a:t> </a:t>
            </a:r>
          </a:p>
          <a:p>
            <a:pPr>
              <a:lnSpc>
                <a:spcPts val="1100"/>
              </a:lnSpc>
              <a:spcAft>
                <a:spcPts val="0"/>
              </a:spcAft>
            </a:pPr>
            <a:r>
              <a:rPr sz="850" i="0">
                <a:solidFill>
                  <a:srgbClr val="5C6773"/>
                </a:solidFill>
                <a:latin typeface="Consolas"/>
              </a:rPr>
              <a:t>22  </a:t>
            </a:r>
            <a:r>
              <a:rPr sz="850" i="0">
                <a:solidFill>
                  <a:srgbClr val="E6EDF3"/>
                </a:solidFill>
                <a:latin typeface="Consolas"/>
              </a:rPr>
              <a:t>    </a:t>
            </a:r>
            <a:r>
              <a:rPr sz="850" i="0">
                <a:solidFill>
                  <a:srgbClr val="E6EDF3"/>
                </a:solidFill>
                <a:latin typeface="Consolas"/>
              </a:rPr>
              <a:t>payload</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A5D6A7"/>
                </a:solidFill>
                <a:latin typeface="Consolas"/>
              </a:rPr>
              <a:t>"customer"</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"budi@mail.com"</a:t>
            </a:r>
            <a:r>
              <a:rPr sz="850" i="0">
                <a:solidFill>
                  <a:srgbClr val="E6EDF3"/>
                </a:solidFill>
                <a:latin typeface="Consolas"/>
              </a:rPr>
              <a:t>,</a:t>
            </a:r>
            <a:r>
              <a:rPr sz="850" i="0">
                <a:solidFill>
                  <a:srgbClr val="E6EDF3"/>
                </a:solidFill>
                <a:latin typeface="Consolas"/>
              </a:rPr>
              <a:t> </a:t>
            </a:r>
            <a:r>
              <a:rPr sz="850" i="0">
                <a:solidFill>
                  <a:srgbClr val="A5D6A7"/>
                </a:solidFill>
                <a:latin typeface="Consolas"/>
              </a:rPr>
              <a:t>"subtotal"</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200_000</a:t>
            </a:r>
            <a:r>
              <a:rPr sz="850" i="0">
                <a:solidFill>
                  <a:srgbClr val="E6EDF3"/>
                </a:solidFill>
                <a:latin typeface="Consolas"/>
              </a:rPr>
              <a:t>}</a:t>
            </a:r>
          </a:p>
          <a:p>
            <a:pPr>
              <a:lnSpc>
                <a:spcPts val="1100"/>
              </a:lnSpc>
              <a:spcAft>
                <a:spcPts val="0"/>
              </a:spcAft>
            </a:pPr>
            <a:r>
              <a:rPr sz="850" i="0">
                <a:solidFill>
                  <a:srgbClr val="5C6773"/>
                </a:solidFill>
                <a:latin typeface="Consolas"/>
              </a:rPr>
              <a:t>23  </a:t>
            </a:r>
            <a:r>
              <a:rPr sz="850" i="0">
                <a:solidFill>
                  <a:srgbClr val="E6EDF3"/>
                </a:solidFill>
                <a:latin typeface="Consolas"/>
              </a:rPr>
              <a:t>    </a:t>
            </a:r>
            <a:r>
              <a:rPr sz="850" i="0">
                <a:solidFill>
                  <a:srgbClr val="E6EDF3"/>
                </a:solidFill>
                <a:latin typeface="Consolas"/>
              </a:rPr>
              <a:t>response</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client</a:t>
            </a:r>
            <a:r>
              <a:rPr sz="850" i="0">
                <a:solidFill>
                  <a:srgbClr val="E6EDF3"/>
                </a:solidFill>
                <a:latin typeface="Consolas"/>
              </a:rPr>
              <a:t>.</a:t>
            </a:r>
            <a:r>
              <a:rPr sz="850" i="0">
                <a:solidFill>
                  <a:srgbClr val="E6EDF3"/>
                </a:solidFill>
                <a:latin typeface="Consolas"/>
              </a:rPr>
              <a:t>post</a:t>
            </a:r>
            <a:r>
              <a:rPr sz="850" i="0">
                <a:solidFill>
                  <a:srgbClr val="E6EDF3"/>
                </a:solidFill>
                <a:latin typeface="Consolas"/>
              </a:rPr>
              <a:t>(</a:t>
            </a:r>
            <a:r>
              <a:rPr sz="850" i="0">
                <a:solidFill>
                  <a:srgbClr val="A5D6A7"/>
                </a:solidFill>
                <a:latin typeface="Consolas"/>
              </a:rPr>
              <a:t>"/orders"</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json</a:t>
            </a:r>
            <a:r>
              <a:rPr sz="850" i="0">
                <a:solidFill>
                  <a:srgbClr val="E6EDF3"/>
                </a:solidFill>
                <a:latin typeface="Consolas"/>
              </a:rPr>
              <a:t>=</a:t>
            </a:r>
            <a:r>
              <a:rPr sz="850" i="0">
                <a:solidFill>
                  <a:srgbClr val="E6EDF3"/>
                </a:solidFill>
                <a:latin typeface="Consolas"/>
              </a:rPr>
              <a:t>payload</a:t>
            </a:r>
            <a:r>
              <a:rPr sz="850" i="0">
                <a:solidFill>
                  <a:srgbClr val="E6EDF3"/>
                </a:solidFill>
                <a:latin typeface="Consolas"/>
              </a:rPr>
              <a:t>)</a:t>
            </a:r>
          </a:p>
          <a:p>
            <a:pPr>
              <a:lnSpc>
                <a:spcPts val="1100"/>
              </a:lnSpc>
              <a:spcAft>
                <a:spcPts val="0"/>
              </a:spcAft>
            </a:pPr>
            <a:r>
              <a:rPr sz="850" i="0">
                <a:solidFill>
                  <a:srgbClr val="5C6773"/>
                </a:solidFill>
                <a:latin typeface="Consolas"/>
              </a:rPr>
              <a:t>24  </a:t>
            </a:r>
            <a:r>
              <a:rPr sz="850" i="0">
                <a:solidFill>
                  <a:srgbClr val="E6EDF3"/>
                </a:solidFill>
                <a:latin typeface="Consolas"/>
              </a:rPr>
              <a:t> </a:t>
            </a:r>
          </a:p>
          <a:p>
            <a:pPr>
              <a:lnSpc>
                <a:spcPts val="1100"/>
              </a:lnSpc>
              <a:spcAft>
                <a:spcPts val="0"/>
              </a:spcAft>
            </a:pPr>
            <a:r>
              <a:rPr sz="850" i="0">
                <a:solidFill>
                  <a:srgbClr val="5C6773"/>
                </a:solidFill>
                <a:latin typeface="Consolas"/>
              </a:rPr>
              <a:t>25  </a:t>
            </a:r>
            <a:r>
              <a:rPr sz="850" i="0">
                <a:solidFill>
                  <a:srgbClr val="E6EDF3"/>
                </a:solidFill>
                <a:latin typeface="Consolas"/>
              </a:rPr>
              <a:t>    </a:t>
            </a:r>
            <a:r>
              <a:rPr sz="850" i="0">
                <a:solidFill>
                  <a:srgbClr val="FF8E6E"/>
                </a:solidFill>
                <a:latin typeface="Consolas"/>
              </a:rPr>
              <a:t>assert</a:t>
            </a:r>
            <a:r>
              <a:rPr sz="850" i="0">
                <a:solidFill>
                  <a:srgbClr val="E6EDF3"/>
                </a:solidFill>
                <a:latin typeface="Consolas"/>
              </a:rPr>
              <a:t> </a:t>
            </a:r>
            <a:r>
              <a:rPr sz="850" i="0">
                <a:solidFill>
                  <a:srgbClr val="E6EDF3"/>
                </a:solidFill>
                <a:latin typeface="Consolas"/>
              </a:rPr>
              <a:t>response</a:t>
            </a:r>
            <a:r>
              <a:rPr sz="850" i="0">
                <a:solidFill>
                  <a:srgbClr val="E6EDF3"/>
                </a:solidFill>
                <a:latin typeface="Consolas"/>
              </a:rPr>
              <a:t>.</a:t>
            </a:r>
            <a:r>
              <a:rPr sz="850" i="0">
                <a:solidFill>
                  <a:srgbClr val="E6EDF3"/>
                </a:solidFill>
                <a:latin typeface="Consolas"/>
              </a:rPr>
              <a:t>status_code</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201</a:t>
            </a:r>
          </a:p>
          <a:p>
            <a:pPr>
              <a:lnSpc>
                <a:spcPts val="1100"/>
              </a:lnSpc>
              <a:spcAft>
                <a:spcPts val="0"/>
              </a:spcAft>
            </a:pPr>
            <a:r>
              <a:rPr sz="850" i="0">
                <a:solidFill>
                  <a:srgbClr val="5C6773"/>
                </a:solidFill>
                <a:latin typeface="Consolas"/>
              </a:rPr>
              <a:t>26  </a:t>
            </a:r>
            <a:r>
              <a:rPr sz="850" i="0">
                <a:solidFill>
                  <a:srgbClr val="E6EDF3"/>
                </a:solidFill>
                <a:latin typeface="Consolas"/>
              </a:rPr>
              <a:t>    </a:t>
            </a:r>
            <a:r>
              <a:rPr sz="850" i="0">
                <a:solidFill>
                  <a:srgbClr val="FF8E6E"/>
                </a:solidFill>
                <a:latin typeface="Consolas"/>
              </a:rPr>
              <a:t>assert</a:t>
            </a:r>
            <a:r>
              <a:rPr sz="850" i="0">
                <a:solidFill>
                  <a:srgbClr val="E6EDF3"/>
                </a:solidFill>
                <a:latin typeface="Consolas"/>
              </a:rPr>
              <a:t> </a:t>
            </a:r>
            <a:r>
              <a:rPr sz="850" i="0">
                <a:solidFill>
                  <a:srgbClr val="E6EDF3"/>
                </a:solidFill>
                <a:latin typeface="Consolas"/>
              </a:rPr>
              <a:t>response</a:t>
            </a:r>
            <a:r>
              <a:rPr sz="850" i="0">
                <a:solidFill>
                  <a:srgbClr val="E6EDF3"/>
                </a:solidFill>
                <a:latin typeface="Consolas"/>
              </a:rPr>
              <a:t>.</a:t>
            </a:r>
            <a:r>
              <a:rPr sz="850" i="0">
                <a:solidFill>
                  <a:srgbClr val="E6EDF3"/>
                </a:solidFill>
                <a:latin typeface="Consolas"/>
              </a:rPr>
              <a:t>json</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A5D6A7"/>
                </a:solidFill>
                <a:latin typeface="Consolas"/>
              </a:rPr>
              <a:t>"total"</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190_000</a:t>
            </a:r>
          </a:p>
          <a:p>
            <a:pPr>
              <a:lnSpc>
                <a:spcPts val="1100"/>
              </a:lnSpc>
              <a:spcAft>
                <a:spcPts val="0"/>
              </a:spcAft>
            </a:pPr>
            <a:r>
              <a:rPr sz="850" i="0">
                <a:solidFill>
                  <a:srgbClr val="5C6773"/>
                </a:solidFill>
                <a:latin typeface="Consolas"/>
              </a:rPr>
              <a:t>27  </a:t>
            </a:r>
            <a:r>
              <a:rPr sz="850" i="0">
                <a:solidFill>
                  <a:srgbClr val="E6EDF3"/>
                </a:solidFill>
                <a:latin typeface="Consolas"/>
              </a:rPr>
              <a:t>    </a:t>
            </a:r>
            <a:r>
              <a:rPr sz="850" i="0">
                <a:solidFill>
                  <a:srgbClr val="FF8E6E"/>
                </a:solidFill>
                <a:latin typeface="Consolas"/>
              </a:rPr>
              <a:t>assert</a:t>
            </a:r>
            <a:r>
              <a:rPr sz="850" i="0">
                <a:solidFill>
                  <a:srgbClr val="E6EDF3"/>
                </a:solidFill>
                <a:latin typeface="Consolas"/>
              </a:rPr>
              <a:t> </a:t>
            </a:r>
            <a:r>
              <a:rPr sz="850" i="0">
                <a:solidFill>
                  <a:srgbClr val="C3A6FF"/>
                </a:solidFill>
                <a:latin typeface="Consolas"/>
              </a:rPr>
              <a:t>len</a:t>
            </a:r>
            <a:r>
              <a:rPr sz="850" i="0">
                <a:solidFill>
                  <a:srgbClr val="E6EDF3"/>
                </a:solidFill>
                <a:latin typeface="Consolas"/>
              </a:rPr>
              <a:t>(</a:t>
            </a:r>
            <a:r>
              <a:rPr sz="850" i="0">
                <a:solidFill>
                  <a:srgbClr val="E6EDF3"/>
                </a:solidFill>
                <a:latin typeface="Consolas"/>
              </a:rPr>
              <a:t>fake</a:t>
            </a:r>
            <a:r>
              <a:rPr sz="850" i="0">
                <a:solidFill>
                  <a:srgbClr val="E6EDF3"/>
                </a:solidFill>
                <a:latin typeface="Consolas"/>
              </a:rPr>
              <a:t>.</a:t>
            </a:r>
            <a:r>
              <a:rPr sz="850" i="0">
                <a:solidFill>
                  <a:srgbClr val="E6EDF3"/>
                </a:solidFill>
                <a:latin typeface="Consolas"/>
              </a:rPr>
              <a:t>rows</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F9C97A"/>
                </a:solidFill>
                <a:latin typeface="Consolas"/>
              </a:rPr>
              <a:t>1</a:t>
            </a:r>
            <a:r>
              <a:rPr sz="850" i="0">
                <a:solidFill>
                  <a:srgbClr val="E6EDF3"/>
                </a:solidFill>
                <a:latin typeface="Consolas"/>
              </a:rPr>
              <a:t>  </a:t>
            </a:r>
            <a:r>
              <a:rPr sz="850" i="1">
                <a:solidFill>
                  <a:srgbClr val="8B98A8"/>
                </a:solidFill>
                <a:latin typeface="Consolas"/>
              </a:rPr>
              <a:t># tersimpan di fake, bukan di database</a:t>
            </a:r>
          </a:p>
          <a:p>
            <a:pPr>
              <a:lnSpc>
                <a:spcPts val="1100"/>
              </a:lnSpc>
              <a:spcAft>
                <a:spcPts val="0"/>
              </a:spcAft>
            </a:pPr>
            <a:r>
              <a:rPr sz="850" i="0">
                <a:solidFill>
                  <a:srgbClr val="5C6773"/>
                </a:solidFill>
                <a:latin typeface="Consolas"/>
              </a:rPr>
              <a:t>28  </a:t>
            </a:r>
            <a:r>
              <a:rPr sz="850" i="0">
                <a:solidFill>
                  <a:srgbClr val="E6EDF3"/>
                </a:solidFill>
                <a:latin typeface="Consolas"/>
              </a:rPr>
              <a:t>    </a:t>
            </a:r>
            <a:r>
              <a:rPr sz="850" i="0">
                <a:solidFill>
                  <a:srgbClr val="E6EDF3"/>
                </a:solidFill>
                <a:latin typeface="Consolas"/>
              </a:rPr>
              <a:t>app</a:t>
            </a:r>
            <a:r>
              <a:rPr sz="850" i="0">
                <a:solidFill>
                  <a:srgbClr val="E6EDF3"/>
                </a:solidFill>
                <a:latin typeface="Consolas"/>
              </a:rPr>
              <a:t>.</a:t>
            </a:r>
            <a:r>
              <a:rPr sz="850" i="0">
                <a:solidFill>
                  <a:srgbClr val="E6EDF3"/>
                </a:solidFill>
                <a:latin typeface="Consolas"/>
              </a:rPr>
              <a:t>dependency_overrides</a:t>
            </a:r>
            <a:r>
              <a:rPr sz="850" i="0">
                <a:solidFill>
                  <a:srgbClr val="E6EDF3"/>
                </a:solidFill>
                <a:latin typeface="Consolas"/>
              </a:rPr>
              <a:t>.</a:t>
            </a:r>
            <a:r>
              <a:rPr sz="850" i="0">
                <a:solidFill>
                  <a:srgbClr val="E6EDF3"/>
                </a:solidFill>
                <a:latin typeface="Consolas"/>
              </a:rPr>
              <a:t>clear</a:t>
            </a:r>
            <a:r>
              <a:rPr sz="850" i="0">
                <a:solidFill>
                  <a:srgbClr val="E6EDF3"/>
                </a:solidFill>
                <a:latin typeface="Consolas"/>
              </a:rPr>
              <a:t>(</a:t>
            </a:r>
            <a:r>
              <a:rPr sz="850" i="0">
                <a:solidFill>
                  <a:srgbClr val="E6EDF3"/>
                </a:solidFill>
                <a:latin typeface="Consolas"/>
              </a:rPr>
              <a:t>)</a:t>
            </a:r>
          </a:p>
        </p:txBody>
      </p:sp>
      <p:sp>
        <p:nvSpPr>
          <p:cNvPr id="29" name="Box 12"/>
          <p:cNvSpPr/>
          <p:nvPr/>
        </p:nvSpPr>
        <p:spPr>
          <a:xfrm>
            <a:off x="704088" y="21080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8284463" y="20548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1" name="Box 14"/>
          <p:cNvSpPr/>
          <p:nvPr/>
        </p:nvSpPr>
        <p:spPr>
          <a:xfrm>
            <a:off x="704088" y="2946273"/>
            <a:ext cx="7699248"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8284463" y="30327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
        <p:nvSpPr>
          <p:cNvPr id="33" name="Box 16"/>
          <p:cNvSpPr/>
          <p:nvPr/>
        </p:nvSpPr>
        <p:spPr>
          <a:xfrm>
            <a:off x="704088" y="33653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Box 17"/>
          <p:cNvSpPr/>
          <p:nvPr/>
        </p:nvSpPr>
        <p:spPr>
          <a:xfrm>
            <a:off x="8284463" y="33121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Dependency Injection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Menjalankan 06-dependency-injection/test_after.py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365760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cara menjalankan</a:t>
            </a:r>
          </a:p>
        </p:txBody>
      </p:sp>
      <p:sp>
        <p:nvSpPr>
          <p:cNvPr id="27" name="CodeBg 10"/>
          <p:cNvSpPr/>
          <p:nvPr/>
        </p:nvSpPr>
        <p:spPr>
          <a:xfrm>
            <a:off x="621792" y="1719072"/>
            <a:ext cx="4297680" cy="402335"/>
          </a:xfrm>
          <a:prstGeom prst="roundRect">
            <a:avLst>
              <a:gd name="adj" fmla="val 454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297680" cy="402335"/>
          </a:xfrm>
          <a:prstGeom prst="rect">
            <a:avLst/>
          </a:prstGeom>
          <a:noFill/>
        </p:spPr>
        <p:txBody>
          <a:bodyPr wrap="none" lIns="146304" rIns="146304" tIns="91440" bIns="54864">
            <a:spAutoFit/>
          </a:bodyPr>
          <a:lstStyle/>
          <a:p>
            <a:pPr>
              <a:lnSpc>
                <a:spcPts val="1000"/>
              </a:lnSpc>
              <a:spcAft>
                <a:spcPts val="0"/>
              </a:spcAft>
            </a:pPr>
            <a:r>
              <a:rPr sz="775" i="0">
                <a:solidFill>
                  <a:srgbClr val="82B1FF"/>
                </a:solidFill>
                <a:latin typeface="Consolas"/>
              </a:rPr>
              <a:t>$ cd sesi-02-solid-clean-architecture/06-dependency-injection</a:t>
            </a:r>
          </a:p>
          <a:p>
            <a:pPr>
              <a:lnSpc>
                <a:spcPts val="1000"/>
              </a:lnSpc>
              <a:spcAft>
                <a:spcPts val="0"/>
              </a:spcAft>
            </a:pPr>
            <a:r>
              <a:rPr sz="775" i="0">
                <a:solidFill>
                  <a:srgbClr val="82B1FF"/>
                </a:solidFill>
                <a:latin typeface="Consolas"/>
              </a:rPr>
              <a:t>$ pytest -v test_after.py</a:t>
            </a:r>
          </a:p>
        </p:txBody>
      </p:sp>
      <p:pic>
        <p:nvPicPr>
          <p:cNvPr id="29" name="Image 12" descr="s02-06-dependency-injection-test.png"/>
          <p:cNvPicPr>
            <a:picLocks noChangeAspect="1"/>
          </p:cNvPicPr>
          <p:nvPr/>
        </p:nvPicPr>
        <p:blipFill>
          <a:blip r:embed="rId2"/>
          <a:stretch>
            <a:fillRect/>
          </a:stretch>
        </p:blipFill>
        <p:spPr>
          <a:xfrm>
            <a:off x="621792" y="2240280"/>
            <a:ext cx="4297680" cy="2020824"/>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Text 14"/>
          <p:cNvSpPr txBox="1"/>
          <p:nvPr/>
        </p:nvSpPr>
        <p:spPr>
          <a:xfrm>
            <a:off x="5212080" y="1572768"/>
            <a:ext cx="3136392"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Repository palsu: menyimpan order di list (baris 7-14)</a:t>
            </a:r>
          </a:p>
          <a:p>
            <a:pPr algn="l" marL="182880" indent="-182880">
              <a:lnSpc>
                <a:spcPct val="115000"/>
              </a:lnSpc>
              <a:spcAft>
                <a:spcPts val="400"/>
              </a:spcAft>
              <a:buClr>
                <a:srgbClr val="E0764F"/>
              </a:buClr>
              <a:buSzPct val="100000"/>
              <a:buFont typeface="+mj-lt"/>
              <a:buAutoNum type="arabicPeriod"/>
            </a:pPr>
            <a:r>
              <a:rPr sz="950" i="0" b="0">
                <a:solidFill>
                  <a:srgbClr val="B5482A"/>
                </a:solidFill>
                <a:latin typeface="Consolas"/>
              </a:rPr>
              <a:t>get_repository</a:t>
            </a:r>
            <a:r>
              <a:rPr sz="950" i="0" b="0">
                <a:solidFill>
                  <a:srgbClr val="434343"/>
                </a:solidFill>
                <a:latin typeface="Inter"/>
              </a:rPr>
              <a:t> diganti fake lewat </a:t>
            </a:r>
            <a:r>
              <a:rPr sz="950" i="0" b="0">
                <a:solidFill>
                  <a:srgbClr val="B5482A"/>
                </a:solidFill>
                <a:latin typeface="Consolas"/>
              </a:rPr>
              <a:t>dependency_overrides</a:t>
            </a:r>
            <a:r>
              <a:rPr sz="950" i="0" b="0">
                <a:solidFill>
                  <a:srgbClr val="434343"/>
                </a:solidFill>
                <a:latin typeface="Inter"/>
              </a:rPr>
              <a:t> (baris 19)</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Hasilnya dicek, dan order tersimpan di fake, bukan di </a:t>
            </a:r>
            <a:r>
              <a:rPr sz="950" i="0" b="0">
                <a:solidFill>
                  <a:srgbClr val="B5482A"/>
                </a:solidFill>
                <a:latin typeface="Consolas"/>
              </a:rPr>
              <a:t>orders.db</a:t>
            </a:r>
            <a:r>
              <a:rPr sz="950" i="0" b="0">
                <a:solidFill>
                  <a:srgbClr val="434343"/>
                </a:solidFill>
                <a:latin typeface="Inter"/>
              </a:rPr>
              <a:t> (baris 25-27)</a:t>
            </a:r>
          </a:p>
          <a:p>
            <a:pPr algn="l" marL="182880" indent="-182880">
              <a:lnSpc>
                <a:spcPct val="115000"/>
              </a:lnSpc>
              <a:spcAft>
                <a:spcPts val="400"/>
              </a:spcAft>
              <a:buClr>
                <a:srgbClr val="E0764F"/>
              </a:buClr>
              <a:buSzPct val="100000"/>
              <a:buFont typeface="+mj-lt"/>
              <a:buAutoNum type="arabicPeriod"/>
            </a:pPr>
            <a:r>
              <a:rPr sz="950" i="0" b="0">
                <a:solidFill>
                  <a:srgbClr val="434343"/>
                </a:solidFill>
                <a:latin typeface="Inter"/>
              </a:rPr>
              <a:t>Override dibersihkan setelah test (baris 28)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 name="Text 1"/>
          <p:cNvSpPr txBox="1"/>
          <p:nvPr/>
        </p:nvSpPr>
        <p:spPr>
          <a:xfrm>
            <a:off x="822960" y="1600200"/>
            <a:ext cx="7315200" cy="365760"/>
          </a:xfrm>
          <a:prstGeom prst="rect">
            <a:avLst/>
          </a:prstGeom>
          <a:noFill/>
        </p:spPr>
        <p:txBody>
          <a:bodyPr wrap="square" anchor="t" lIns="45720" rIns="45720">
            <a:spAutoFit/>
          </a:bodyPr>
          <a:lstStyle/>
          <a:p>
            <a:pPr algn="l">
              <a:lnSpc>
                <a:spcPct val="115000"/>
              </a:lnSpc>
              <a:spcAft>
                <a:spcPts val="400"/>
              </a:spcAft>
            </a:pPr>
            <a:r>
              <a:rPr sz="1400" i="0" b="0">
                <a:solidFill>
                  <a:srgbClr val="CFE0FA"/>
                </a:solidFill>
                <a:latin typeface="Inter"/>
              </a:rPr>
              <a:t>Bagian 04</a:t>
            </a:r>
          </a:p>
        </p:txBody>
      </p:sp>
      <p:sp>
        <p:nvSpPr>
          <p:cNvPr id="32" name="Text 2"/>
          <p:cNvSpPr txBox="1"/>
          <p:nvPr/>
        </p:nvSpPr>
        <p:spPr>
          <a:xfrm>
            <a:off x="822960" y="1920240"/>
            <a:ext cx="7315200" cy="822960"/>
          </a:xfrm>
          <a:prstGeom prst="rect">
            <a:avLst/>
          </a:prstGeom>
          <a:noFill/>
        </p:spPr>
        <p:txBody>
          <a:bodyPr wrap="square" anchor="t" lIns="45720" rIns="45720">
            <a:spAutoFit/>
          </a:bodyPr>
          <a:lstStyle/>
          <a:p>
            <a:pPr algn="l">
              <a:lnSpc>
                <a:spcPct val="115000"/>
              </a:lnSpc>
              <a:spcAft>
                <a:spcPts val="400"/>
              </a:spcAft>
            </a:pPr>
            <a:r>
              <a:rPr sz="3000" i="0" b="0">
                <a:solidFill>
                  <a:srgbClr val="FFFFFF"/>
                </a:solidFill>
                <a:latin typeface="Work Sans ExtraBold"/>
              </a:rPr>
              <a:t>Hands-on: Redesign Struktur Project</a:t>
            </a:r>
          </a:p>
        </p:txBody>
      </p:sp>
      <p:sp>
        <p:nvSpPr>
          <p:cNvPr id="33" name="Text 3"/>
          <p:cNvSpPr txBox="1"/>
          <p:nvPr/>
        </p:nvSpPr>
        <p:spPr>
          <a:xfrm>
            <a:off x="822960" y="3246120"/>
            <a:ext cx="6583680" cy="731520"/>
          </a:xfrm>
          <a:prstGeom prst="rect">
            <a:avLst/>
          </a:prstGeom>
          <a:noFill/>
        </p:spPr>
        <p:txBody>
          <a:bodyPr wrap="square" anchor="t" lIns="45720" rIns="45720">
            <a:spAutoFit/>
          </a:bodyPr>
          <a:lstStyle/>
          <a:p>
            <a:pPr algn="l">
              <a:lnSpc>
                <a:spcPct val="115000"/>
              </a:lnSpc>
              <a:spcAft>
                <a:spcPts val="400"/>
              </a:spcAft>
            </a:pPr>
            <a:r>
              <a:rPr sz="1200" i="0" b="0">
                <a:solidFill>
                  <a:srgbClr val="E3ECFA"/>
                </a:solidFill>
                <a:latin typeface="Inter"/>
              </a:rPr>
              <a:t>Dikerjakan bersama mentor, langkah demi langkah. Hasil Sesi 1 dipecah per layer.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Kondisi Awal</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Hasil Sesi 1: Sudah Rapi, Tapi...</a:t>
            </a:r>
          </a:p>
        </p:txBody>
      </p:sp>
      <p:sp>
        <p:nvSpPr>
          <p:cNvPr id="22" name="CodeTab 4"/>
          <p:cNvSpPr/>
          <p:nvPr/>
        </p:nvSpPr>
        <p:spPr>
          <a:xfrm>
            <a:off x="621792" y="1481328"/>
            <a:ext cx="3291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265176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07-clean-architecture</a:t>
            </a:r>
          </a:p>
        </p:txBody>
      </p:sp>
      <p:sp>
        <p:nvSpPr>
          <p:cNvPr id="27" name="CodeBg 10"/>
          <p:cNvSpPr/>
          <p:nvPr/>
        </p:nvSpPr>
        <p:spPr>
          <a:xfrm>
            <a:off x="621792" y="1719072"/>
            <a:ext cx="3291840" cy="2048256"/>
          </a:xfrm>
          <a:prstGeom prst="roundRect">
            <a:avLst>
              <a:gd name="adj" fmla="val 89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3291840" cy="2048256"/>
          </a:xfrm>
          <a:prstGeom prst="rect">
            <a:avLst/>
          </a:prstGeom>
          <a:noFill/>
        </p:spPr>
        <p:txBody>
          <a:bodyPr wrap="none" lIns="146304" rIns="146304" tIns="91440" bIns="54864">
            <a:spAutoFit/>
          </a:bodyPr>
          <a:lstStyle/>
          <a:p>
            <a:pPr>
              <a:lnSpc>
                <a:spcPts val="1300"/>
              </a:lnSpc>
              <a:spcAft>
                <a:spcPts val="0"/>
              </a:spcAft>
            </a:pPr>
            <a:r>
              <a:rPr sz="1000" i="0">
                <a:solidFill>
                  <a:srgbClr val="E6EDF3"/>
                </a:solidFill>
                <a:latin typeface="Consolas"/>
              </a:rPr>
              <a:t>before/</a:t>
            </a:r>
          </a:p>
          <a:p>
            <a:pPr>
              <a:lnSpc>
                <a:spcPts val="1300"/>
              </a:lnSpc>
              <a:spcAft>
                <a:spcPts val="0"/>
              </a:spcAft>
            </a:pPr>
            <a:r>
              <a:rPr sz="1000" i="0">
                <a:solidFill>
                  <a:srgbClr val="E6EDF3"/>
                </a:solidFill>
                <a:latin typeface="Consolas"/>
              </a:rPr>
              <a:t>  main.py</a:t>
            </a:r>
          </a:p>
          <a:p>
            <a:pPr>
              <a:lnSpc>
                <a:spcPts val="1300"/>
              </a:lnSpc>
              <a:spcAft>
                <a:spcPts val="0"/>
              </a:spcAft>
            </a:pPr>
            <a:r>
              <a:rPr sz="1000" i="0">
                <a:solidFill>
                  <a:srgbClr val="E6EDF3"/>
                </a:solidFill>
                <a:latin typeface="Consolas"/>
              </a:rPr>
              <a:t>  config.py</a:t>
            </a:r>
          </a:p>
          <a:p>
            <a:pPr>
              <a:lnSpc>
                <a:spcPts val="1300"/>
              </a:lnSpc>
              <a:spcAft>
                <a:spcPts val="0"/>
              </a:spcAft>
            </a:pPr>
            <a:r>
              <a:rPr sz="1000" i="0">
                <a:solidFill>
                  <a:srgbClr val="E6EDF3"/>
                </a:solidFill>
                <a:latin typeface="Consolas"/>
              </a:rPr>
              <a:t>  notifiers.py</a:t>
            </a:r>
          </a:p>
          <a:p>
            <a:pPr>
              <a:lnSpc>
                <a:spcPts val="1300"/>
              </a:lnSpc>
              <a:spcAft>
                <a:spcPts val="0"/>
              </a:spcAft>
            </a:pPr>
            <a:r>
              <a:rPr sz="1000" i="0">
                <a:solidFill>
                  <a:srgbClr val="E6EDF3"/>
                </a:solidFill>
                <a:latin typeface="Consolas"/>
              </a:rPr>
              <a:t>  discounts.py</a:t>
            </a:r>
          </a:p>
          <a:p>
            <a:pPr>
              <a:lnSpc>
                <a:spcPts val="1300"/>
              </a:lnSpc>
              <a:spcAft>
                <a:spcPts val="0"/>
              </a:spcAft>
            </a:pPr>
            <a:r>
              <a:rPr sz="1000" i="0">
                <a:solidFill>
                  <a:srgbClr val="E6EDF3"/>
                </a:solidFill>
                <a:latin typeface="Consolas"/>
              </a:rPr>
              <a:t>  repository.py</a:t>
            </a:r>
          </a:p>
          <a:p>
            <a:pPr>
              <a:lnSpc>
                <a:spcPts val="1300"/>
              </a:lnSpc>
              <a:spcAft>
                <a:spcPts val="0"/>
              </a:spcAft>
            </a:pPr>
            <a:r>
              <a:rPr sz="1000" i="0">
                <a:solidFill>
                  <a:srgbClr val="E6EDF3"/>
                </a:solidFill>
                <a:latin typeface="Consolas"/>
              </a:rPr>
              <a:t>  service.py</a:t>
            </a:r>
          </a:p>
          <a:p>
            <a:pPr>
              <a:lnSpc>
                <a:spcPts val="1300"/>
              </a:lnSpc>
              <a:spcAft>
                <a:spcPts val="0"/>
              </a:spcAft>
            </a:pPr>
            <a:r>
              <a:rPr sz="1000" i="0">
                <a:solidFill>
                  <a:srgbClr val="E6EDF3"/>
                </a:solidFill>
                <a:latin typeface="Consolas"/>
              </a:rPr>
              <a:t>  test_service.py</a:t>
            </a:r>
          </a:p>
        </p:txBody>
      </p:sp>
      <p:sp>
        <p:nvSpPr>
          <p:cNvPr id="29" name="Box 12"/>
          <p:cNvSpPr/>
          <p:nvPr/>
        </p:nvSpPr>
        <p:spPr>
          <a:xfrm>
            <a:off x="4114800" y="1481328"/>
            <a:ext cx="437083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Text 13"/>
          <p:cNvSpPr txBox="1"/>
          <p:nvPr/>
        </p:nvSpPr>
        <p:spPr>
          <a:xfrm>
            <a:off x="4251960" y="1572768"/>
            <a:ext cx="4096512" cy="310896"/>
          </a:xfrm>
          <a:prstGeom prst="rect">
            <a:avLst/>
          </a:prstGeom>
          <a:noFill/>
        </p:spPr>
        <p:txBody>
          <a:bodyPr wrap="square" anchor="t" lIns="45720" rIns="45720">
            <a:spAutoFit/>
          </a:bodyPr>
          <a:lstStyle/>
          <a:p>
            <a:pPr algn="l">
              <a:lnSpc>
                <a:spcPct val="115000"/>
              </a:lnSpc>
              <a:spcAft>
                <a:spcPts val="400"/>
              </a:spcAft>
            </a:pPr>
            <a:r>
              <a:rPr sz="1200" i="0" b="1">
                <a:solidFill>
                  <a:srgbClr val="C0392B"/>
                </a:solidFill>
                <a:latin typeface="Inter"/>
              </a:rPr>
              <a:t>Yang masih jadi masalah</a:t>
            </a:r>
          </a:p>
        </p:txBody>
      </p:sp>
      <p:sp>
        <p:nvSpPr>
          <p:cNvPr id="31" name="Text 14"/>
          <p:cNvSpPr txBox="1"/>
          <p:nvPr/>
        </p:nvSpPr>
        <p:spPr>
          <a:xfrm>
            <a:off x="4251960" y="1892808"/>
            <a:ext cx="4096512"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1050" i="0" b="0">
                <a:solidFill>
                  <a:srgbClr val="434343"/>
                </a:solidFill>
                <a:latin typeface="Inter"/>
              </a:rPr>
              <a:t>Semua file sejajar, tidak jelas mana </a:t>
            </a:r>
            <a:r>
              <a:rPr sz="1050" i="0" b="1">
                <a:solidFill>
                  <a:srgbClr val="434343"/>
                </a:solidFill>
                <a:latin typeface="Inter"/>
              </a:rPr>
              <a:t>inti bisnis</a:t>
            </a:r>
            <a:r>
              <a:rPr sz="1050" i="0" b="0">
                <a:solidFill>
                  <a:srgbClr val="434343"/>
                </a:solidFill>
                <a:latin typeface="Inter"/>
              </a:rPr>
              <a:t> dan mana </a:t>
            </a:r>
            <a:r>
              <a:rPr sz="1050" i="0" b="1">
                <a:solidFill>
                  <a:srgbClr val="434343"/>
                </a:solidFill>
                <a:latin typeface="Inter"/>
              </a:rPr>
              <a:t>detail teknis</a:t>
            </a:r>
          </a:p>
          <a:p>
            <a:pPr algn="l" marL="182880" indent="-182880">
              <a:lnSpc>
                <a:spcPct val="115000"/>
              </a:lnSpc>
              <a:spcAft>
                <a:spcPts val="400"/>
              </a:spcAft>
              <a:buClr>
                <a:srgbClr val="E0764F"/>
              </a:buClr>
              <a:buSzPct val="100000"/>
              <a:buFont typeface="Arial"/>
              <a:buChar char="•"/>
            </a:pPr>
            <a:r>
              <a:rPr sz="1050" i="0" b="0">
                <a:solidFill>
                  <a:srgbClr val="434343"/>
                </a:solidFill>
                <a:latin typeface="Inter"/>
              </a:rPr>
              <a:t>Tidak ada aturan siapa boleh import siapa</a:t>
            </a:r>
          </a:p>
          <a:p>
            <a:pPr algn="l" marL="182880" indent="-182880">
              <a:lnSpc>
                <a:spcPct val="115000"/>
              </a:lnSpc>
              <a:spcAft>
                <a:spcPts val="400"/>
              </a:spcAft>
              <a:buClr>
                <a:srgbClr val="E0764F"/>
              </a:buClr>
              <a:buSzPct val="100000"/>
              <a:buFont typeface="Arial"/>
              <a:buChar char="•"/>
            </a:pPr>
            <a:r>
              <a:rPr sz="1050" i="0" b="0">
                <a:solidFill>
                  <a:srgbClr val="434343"/>
                </a:solidFill>
                <a:latin typeface="Inter"/>
              </a:rPr>
              <a:t>Test API masih menulis ke database asli</a:t>
            </a:r>
          </a:p>
          <a:p>
            <a:pPr algn="l" marL="182880" indent="-182880">
              <a:lnSpc>
                <a:spcPct val="115000"/>
              </a:lnSpc>
              <a:spcAft>
                <a:spcPts val="400"/>
              </a:spcAft>
              <a:buClr>
                <a:srgbClr val="E0764F"/>
              </a:buClr>
              <a:buSzPct val="100000"/>
              <a:buFont typeface="Arial"/>
              <a:buChar char="•"/>
            </a:pPr>
            <a:r>
              <a:rPr sz="1050" i="0" b="0">
                <a:solidFill>
                  <a:srgbClr val="434343"/>
                </a:solidFill>
                <a:latin typeface="Inter"/>
              </a:rPr>
              <a:t>Belum tahu "kenapa" desainnya begini: itu yang dijawab </a:t>
            </a:r>
            <a:r>
              <a:rPr sz="1050" i="0" b="1">
                <a:solidFill>
                  <a:srgbClr val="434343"/>
                </a:solidFill>
                <a:latin typeface="Inter"/>
              </a:rPr>
              <a:t>SOLID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mulai dari 07-clean-architecture/before/</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Tujuan &amp; Kriteria Selesai</a:t>
            </a:r>
          </a:p>
        </p:txBody>
      </p:sp>
      <p:sp>
        <p:nvSpPr>
          <p:cNvPr id="22" name="Box 3"/>
          <p:cNvSpPr/>
          <p:nvPr/>
        </p:nvSpPr>
        <p:spPr>
          <a:xfrm>
            <a:off x="621792" y="1481328"/>
            <a:ext cx="3840480"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Text 4"/>
          <p:cNvSpPr txBox="1"/>
          <p:nvPr/>
        </p:nvSpPr>
        <p:spPr>
          <a:xfrm>
            <a:off x="758952" y="1572768"/>
            <a:ext cx="3566160" cy="310896"/>
          </a:xfrm>
          <a:prstGeom prst="rect">
            <a:avLst/>
          </a:prstGeom>
          <a:noFill/>
        </p:spPr>
        <p:txBody>
          <a:bodyPr wrap="square" anchor="t" lIns="45720" rIns="45720">
            <a:spAutoFit/>
          </a:bodyPr>
          <a:lstStyle/>
          <a:p>
            <a:pPr algn="l">
              <a:lnSpc>
                <a:spcPct val="115000"/>
              </a:lnSpc>
              <a:spcAft>
                <a:spcPts val="400"/>
              </a:spcAft>
            </a:pPr>
            <a:r>
              <a:rPr sz="1150" i="0" b="1">
                <a:solidFill>
                  <a:srgbClr val="1C4587"/>
                </a:solidFill>
                <a:latin typeface="Inter"/>
              </a:rPr>
              <a:t>Kriteria selesai</a:t>
            </a:r>
          </a:p>
        </p:txBody>
      </p:sp>
      <p:sp>
        <p:nvSpPr>
          <p:cNvPr id="24" name="Text 5"/>
          <p:cNvSpPr txBox="1"/>
          <p:nvPr/>
        </p:nvSpPr>
        <p:spPr>
          <a:xfrm>
            <a:off x="758952" y="1892808"/>
            <a:ext cx="3566160"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1000" i="0" b="0">
                <a:solidFill>
                  <a:srgbClr val="B5482A"/>
                </a:solidFill>
                <a:latin typeface="Consolas"/>
              </a:rPr>
              <a:t>POST /orders</a:t>
            </a:r>
            <a:r>
              <a:rPr sz="1000" i="0" b="0">
                <a:solidFill>
                  <a:srgbClr val="434343"/>
                </a:solidFill>
                <a:latin typeface="Inter"/>
              </a:rPr>
              <a:t> dan </a:t>
            </a:r>
            <a:r>
              <a:rPr sz="1000" i="0" b="0">
                <a:solidFill>
                  <a:srgbClr val="B5482A"/>
                </a:solidFill>
                <a:latin typeface="Consolas"/>
              </a:rPr>
              <a:t>GET /orders/{id}</a:t>
            </a:r>
            <a:r>
              <a:rPr sz="1000" i="0" b="0">
                <a:solidFill>
                  <a:srgbClr val="434343"/>
                </a:solidFill>
                <a:latin typeface="Inter"/>
              </a:rPr>
              <a:t> tetap jalan</a:t>
            </a:r>
          </a:p>
          <a:p>
            <a:pPr algn="l" marL="182880" indent="-182880">
              <a:lnSpc>
                <a:spcPct val="115000"/>
              </a:lnSpc>
              <a:spcAft>
                <a:spcPts val="400"/>
              </a:spcAft>
              <a:buClr>
                <a:srgbClr val="E0764F"/>
              </a:buClr>
              <a:buSzPct val="100000"/>
              <a:buFont typeface="Arial"/>
              <a:buChar char="•"/>
            </a:pPr>
            <a:r>
              <a:rPr sz="1000" i="0" b="0">
                <a:solidFill>
                  <a:srgbClr val="434343"/>
                </a:solidFill>
                <a:latin typeface="Inter"/>
              </a:rPr>
              <a:t>Kode dipecah ke </a:t>
            </a:r>
            <a:r>
              <a:rPr sz="1000" i="0" b="0">
                <a:solidFill>
                  <a:srgbClr val="B5482A"/>
                </a:solidFill>
                <a:latin typeface="Consolas"/>
              </a:rPr>
              <a:t>domain</a:t>
            </a:r>
            <a:r>
              <a:rPr sz="1000" i="0" b="0">
                <a:solidFill>
                  <a:srgbClr val="434343"/>
                </a:solidFill>
                <a:latin typeface="Inter"/>
              </a:rPr>
              <a:t>, </a:t>
            </a:r>
            <a:r>
              <a:rPr sz="1000" i="0" b="0">
                <a:solidFill>
                  <a:srgbClr val="B5482A"/>
                </a:solidFill>
                <a:latin typeface="Consolas"/>
              </a:rPr>
              <a:t>application</a:t>
            </a:r>
            <a:r>
              <a:rPr sz="1000" i="0" b="0">
                <a:solidFill>
                  <a:srgbClr val="434343"/>
                </a:solidFill>
                <a:latin typeface="Inter"/>
              </a:rPr>
              <a:t>, </a:t>
            </a:r>
            <a:r>
              <a:rPr sz="1000" i="0" b="0">
                <a:solidFill>
                  <a:srgbClr val="B5482A"/>
                </a:solidFill>
                <a:latin typeface="Consolas"/>
              </a:rPr>
              <a:t>infrastructure</a:t>
            </a:r>
            <a:r>
              <a:rPr sz="1000" i="0" b="0">
                <a:solidFill>
                  <a:srgbClr val="434343"/>
                </a:solidFill>
                <a:latin typeface="Inter"/>
              </a:rPr>
              <a:t>, </a:t>
            </a:r>
            <a:r>
              <a:rPr sz="1000" i="0" b="0">
                <a:solidFill>
                  <a:srgbClr val="B5482A"/>
                </a:solidFill>
                <a:latin typeface="Consolas"/>
              </a:rPr>
              <a:t>api</a:t>
            </a:r>
          </a:p>
          <a:p>
            <a:pPr algn="l" marL="182880" indent="-182880">
              <a:lnSpc>
                <a:spcPct val="115000"/>
              </a:lnSpc>
              <a:spcAft>
                <a:spcPts val="400"/>
              </a:spcAft>
              <a:buClr>
                <a:srgbClr val="E0764F"/>
              </a:buClr>
              <a:buSzPct val="100000"/>
              <a:buFont typeface="Arial"/>
              <a:buChar char="•"/>
            </a:pPr>
            <a:r>
              <a:rPr sz="1000" i="0" b="0">
                <a:solidFill>
                  <a:srgbClr val="B5482A"/>
                </a:solidFill>
                <a:latin typeface="Consolas"/>
              </a:rPr>
              <a:t>domain/</a:t>
            </a:r>
            <a:r>
              <a:rPr sz="1000" i="0" b="0">
                <a:solidFill>
                  <a:srgbClr val="434343"/>
                </a:solidFill>
                <a:latin typeface="Inter"/>
              </a:rPr>
              <a:t> dan </a:t>
            </a:r>
            <a:r>
              <a:rPr sz="1000" i="0" b="0">
                <a:solidFill>
                  <a:srgbClr val="B5482A"/>
                </a:solidFill>
                <a:latin typeface="Consolas"/>
              </a:rPr>
              <a:t>application/</a:t>
            </a:r>
            <a:r>
              <a:rPr sz="1000" i="0" b="0">
                <a:solidFill>
                  <a:srgbClr val="434343"/>
                </a:solidFill>
                <a:latin typeface="Inter"/>
              </a:rPr>
              <a:t> tidak import </a:t>
            </a:r>
            <a:r>
              <a:rPr sz="1000" i="0" b="0">
                <a:solidFill>
                  <a:srgbClr val="B5482A"/>
                </a:solidFill>
                <a:latin typeface="Consolas"/>
              </a:rPr>
              <a:t>fastapi</a:t>
            </a:r>
            <a:r>
              <a:rPr sz="1000" i="0" b="0">
                <a:solidFill>
                  <a:srgbClr val="434343"/>
                </a:solidFill>
                <a:latin typeface="Inter"/>
              </a:rPr>
              <a:t> maupun </a:t>
            </a:r>
            <a:r>
              <a:rPr sz="1000" i="0" b="0">
                <a:solidFill>
                  <a:srgbClr val="B5482A"/>
                </a:solidFill>
                <a:latin typeface="Consolas"/>
              </a:rPr>
              <a:t>sqlite3</a:t>
            </a:r>
          </a:p>
          <a:p>
            <a:pPr algn="l" marL="182880" indent="-182880">
              <a:lnSpc>
                <a:spcPct val="115000"/>
              </a:lnSpc>
              <a:spcAft>
                <a:spcPts val="400"/>
              </a:spcAft>
              <a:buClr>
                <a:srgbClr val="E0764F"/>
              </a:buClr>
              <a:buSzPct val="100000"/>
              <a:buFont typeface="Arial"/>
              <a:buChar char="•"/>
            </a:pPr>
            <a:r>
              <a:rPr sz="1000" i="0" b="0">
                <a:solidFill>
                  <a:srgbClr val="434343"/>
                </a:solidFill>
                <a:latin typeface="Inter"/>
              </a:rPr>
              <a:t>Dependency disiapkan lewat </a:t>
            </a:r>
            <a:r>
              <a:rPr sz="1000" i="0" b="0">
                <a:solidFill>
                  <a:srgbClr val="B5482A"/>
                </a:solidFill>
                <a:latin typeface="Consolas"/>
              </a:rPr>
              <a:t>Depends</a:t>
            </a:r>
            <a:r>
              <a:rPr sz="1000" i="0" b="0">
                <a:solidFill>
                  <a:srgbClr val="434343"/>
                </a:solidFill>
                <a:latin typeface="Inter"/>
              </a:rPr>
              <a:t> di </a:t>
            </a:r>
            <a:r>
              <a:rPr sz="1000" i="0" b="0">
                <a:solidFill>
                  <a:srgbClr val="B5482A"/>
                </a:solidFill>
                <a:latin typeface="Consolas"/>
              </a:rPr>
              <a:t>api/dependencies.py</a:t>
            </a:r>
          </a:p>
          <a:p>
            <a:pPr algn="l" marL="182880" indent="-182880">
              <a:lnSpc>
                <a:spcPct val="115000"/>
              </a:lnSpc>
              <a:spcAft>
                <a:spcPts val="400"/>
              </a:spcAft>
              <a:buClr>
                <a:srgbClr val="E0764F"/>
              </a:buClr>
              <a:buSzPct val="100000"/>
              <a:buFont typeface="Arial"/>
              <a:buChar char="•"/>
            </a:pPr>
            <a:r>
              <a:rPr sz="1000" i="0" b="0">
                <a:solidFill>
                  <a:srgbClr val="434343"/>
                </a:solidFill>
                <a:latin typeface="Inter"/>
              </a:rPr>
              <a:t>Unit test dan test API pakai fake repository, </a:t>
            </a:r>
            <a:r>
              <a:rPr sz="1000" i="0" b="0">
                <a:solidFill>
                  <a:srgbClr val="B5482A"/>
                </a:solidFill>
                <a:latin typeface="Consolas"/>
              </a:rPr>
              <a:t>pytest</a:t>
            </a:r>
            <a:r>
              <a:rPr sz="1000" i="0" b="0">
                <a:solidFill>
                  <a:srgbClr val="434343"/>
                </a:solidFill>
                <a:latin typeface="Inter"/>
              </a:rPr>
              <a:t> hijau</a:t>
            </a:r>
          </a:p>
        </p:txBody>
      </p:sp>
      <p:sp>
        <p:nvSpPr>
          <p:cNvPr id="25" name="CodeTab 7"/>
          <p:cNvSpPr/>
          <p:nvPr/>
        </p:nvSpPr>
        <p:spPr>
          <a:xfrm>
            <a:off x="4617720" y="1481328"/>
            <a:ext cx="386791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6" name="Dot 8"/>
          <p:cNvSpPr/>
          <p:nvPr/>
        </p:nvSpPr>
        <p:spPr>
          <a:xfrm>
            <a:off x="472744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t 9"/>
          <p:cNvSpPr/>
          <p:nvPr/>
        </p:nvSpPr>
        <p:spPr>
          <a:xfrm>
            <a:off x="486460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t 10"/>
          <p:cNvSpPr/>
          <p:nvPr/>
        </p:nvSpPr>
        <p:spPr>
          <a:xfrm>
            <a:off x="500176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11"/>
          <p:cNvSpPr txBox="1"/>
          <p:nvPr/>
        </p:nvSpPr>
        <p:spPr>
          <a:xfrm>
            <a:off x="5166359" y="1490472"/>
            <a:ext cx="3227832"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target struktur</a:t>
            </a:r>
          </a:p>
        </p:txBody>
      </p:sp>
      <p:sp>
        <p:nvSpPr>
          <p:cNvPr id="30" name="CodeBg 13"/>
          <p:cNvSpPr/>
          <p:nvPr/>
        </p:nvSpPr>
        <p:spPr>
          <a:xfrm>
            <a:off x="4617720" y="1719072"/>
            <a:ext cx="386791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1" name="Code 14"/>
          <p:cNvSpPr txBox="1"/>
          <p:nvPr/>
        </p:nvSpPr>
        <p:spPr>
          <a:xfrm>
            <a:off x="4617720" y="1719072"/>
            <a:ext cx="3867912" cy="2980944"/>
          </a:xfrm>
          <a:prstGeom prst="rect">
            <a:avLst/>
          </a:prstGeom>
          <a:noFill/>
        </p:spPr>
        <p:txBody>
          <a:bodyPr wrap="none" lIns="146304" rIns="146304" tIns="91440" bIns="54864">
            <a:spAutoFit/>
          </a:bodyPr>
          <a:lstStyle/>
          <a:p>
            <a:pPr>
              <a:lnSpc>
                <a:spcPts val="1200"/>
              </a:lnSpc>
              <a:spcAft>
                <a:spcPts val="0"/>
              </a:spcAft>
            </a:pPr>
            <a:r>
              <a:rPr sz="950" i="0">
                <a:solidFill>
                  <a:srgbClr val="E6EDF3"/>
                </a:solidFill>
                <a:latin typeface="Consolas"/>
              </a:rPr>
              <a:t>latihan/             (kunci: after/)</a:t>
            </a:r>
          </a:p>
          <a:p>
            <a:pPr>
              <a:lnSpc>
                <a:spcPts val="1200"/>
              </a:lnSpc>
              <a:spcAft>
                <a:spcPts val="0"/>
              </a:spcAft>
            </a:pPr>
            <a:r>
              <a:rPr sz="950" i="0">
                <a:solidFill>
                  <a:srgbClr val="E6EDF3"/>
                </a:solidFill>
                <a:latin typeface="Consolas"/>
              </a:rPr>
              <a:t>  app/</a:t>
            </a:r>
          </a:p>
          <a:p>
            <a:pPr>
              <a:lnSpc>
                <a:spcPts val="1200"/>
              </a:lnSpc>
              <a:spcAft>
                <a:spcPts val="0"/>
              </a:spcAft>
            </a:pPr>
            <a:r>
              <a:rPr sz="950" i="0">
                <a:solidFill>
                  <a:srgbClr val="E6EDF3"/>
                </a:solidFill>
                <a:latin typeface="Consolas"/>
              </a:rPr>
              <a:t>    domain/          # langkah 2</a:t>
            </a:r>
          </a:p>
          <a:p>
            <a:pPr>
              <a:lnSpc>
                <a:spcPts val="1200"/>
              </a:lnSpc>
              <a:spcAft>
                <a:spcPts val="0"/>
              </a:spcAft>
            </a:pPr>
            <a:r>
              <a:rPr sz="950" i="0">
                <a:solidFill>
                  <a:srgbClr val="E6EDF3"/>
                </a:solidFill>
                <a:latin typeface="Consolas"/>
              </a:rPr>
              <a:t>    application/     # langkah 3-4</a:t>
            </a:r>
          </a:p>
          <a:p>
            <a:pPr>
              <a:lnSpc>
                <a:spcPts val="1200"/>
              </a:lnSpc>
              <a:spcAft>
                <a:spcPts val="0"/>
              </a:spcAft>
            </a:pPr>
            <a:r>
              <a:rPr sz="950" i="0">
                <a:solidFill>
                  <a:srgbClr val="E6EDF3"/>
                </a:solidFill>
                <a:latin typeface="Consolas"/>
              </a:rPr>
              <a:t>    infrastructure/  # langkah 5</a:t>
            </a:r>
          </a:p>
          <a:p>
            <a:pPr>
              <a:lnSpc>
                <a:spcPts val="1200"/>
              </a:lnSpc>
              <a:spcAft>
                <a:spcPts val="0"/>
              </a:spcAft>
            </a:pPr>
            <a:r>
              <a:rPr sz="950" i="0">
                <a:solidFill>
                  <a:srgbClr val="E6EDF3"/>
                </a:solidFill>
                <a:latin typeface="Consolas"/>
              </a:rPr>
              <a:t>    api/             # langkah 6-7</a:t>
            </a:r>
          </a:p>
          <a:p>
            <a:pPr>
              <a:lnSpc>
                <a:spcPts val="1200"/>
              </a:lnSpc>
              <a:spcAft>
                <a:spcPts val="0"/>
              </a:spcAft>
            </a:pPr>
            <a:r>
              <a:rPr sz="950" i="0">
                <a:solidFill>
                  <a:srgbClr val="E6EDF3"/>
                </a:solidFill>
                <a:latin typeface="Consolas"/>
              </a:rPr>
              <a:t>    main.py          # langkah 7</a:t>
            </a:r>
          </a:p>
          <a:p>
            <a:pPr>
              <a:lnSpc>
                <a:spcPts val="1200"/>
              </a:lnSpc>
              <a:spcAft>
                <a:spcPts val="0"/>
              </a:spcAft>
            </a:pPr>
            <a:r>
              <a:rPr sz="950" i="0">
                <a:solidFill>
                  <a:srgbClr val="E6EDF3"/>
                </a:solidFill>
                <a:latin typeface="Consolas"/>
              </a:rPr>
              <a:t>  tests/             # langkah 8</a:t>
            </a:r>
          </a:p>
          <a:p>
            <a:pPr>
              <a:lnSpc>
                <a:spcPts val="1200"/>
              </a:lnSpc>
              <a:spcAft>
                <a:spcPts val="0"/>
              </a:spcAft>
            </a:pPr>
            <a:r>
              <a:rPr sz="950" i="0">
                <a:solidFill>
                  <a:srgbClr val="E6EDF3"/>
                </a:solidFill>
                <a:latin typeface="Consolas"/>
              </a:rPr>
              <a:t>  pytest.ini</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1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Siapkan Struktur Folder</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2519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terminal</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892040" cy="2980944"/>
          </a:xfrm>
          <a:prstGeom prst="rect">
            <a:avLst/>
          </a:prstGeom>
          <a:noFill/>
        </p:spPr>
        <p:txBody>
          <a:bodyPr wrap="none" lIns="146304" rIns="146304" tIns="91440" bIns="54864">
            <a:spAutoFit/>
          </a:bodyPr>
          <a:lstStyle/>
          <a:p>
            <a:pPr>
              <a:lnSpc>
                <a:spcPts val="1100"/>
              </a:lnSpc>
              <a:spcAft>
                <a:spcPts val="0"/>
              </a:spcAft>
            </a:pPr>
            <a:r>
              <a:rPr sz="850" i="0">
                <a:solidFill>
                  <a:srgbClr val="82B1FF"/>
                </a:solidFill>
                <a:latin typeface="Consolas"/>
              </a:rPr>
              <a:t>$ cd sesi-02-solid-clean-architecture/07-clean-architecture</a:t>
            </a:r>
          </a:p>
          <a:p>
            <a:pPr>
              <a:lnSpc>
                <a:spcPts val="1100"/>
              </a:lnSpc>
              <a:spcAft>
                <a:spcPts val="0"/>
              </a:spcAft>
            </a:pPr>
            <a:r>
              <a:rPr sz="850" i="0">
                <a:solidFill>
                  <a:srgbClr val="82B1FF"/>
                </a:solidFill>
                <a:latin typeface="Consolas"/>
              </a:rPr>
              <a:t>$ mkdir -p latihan/app/domain latihan/app/application</a:t>
            </a:r>
          </a:p>
          <a:p>
            <a:pPr>
              <a:lnSpc>
                <a:spcPts val="1100"/>
              </a:lnSpc>
              <a:spcAft>
                <a:spcPts val="0"/>
              </a:spcAft>
            </a:pPr>
            <a:r>
              <a:rPr sz="850" i="0">
                <a:solidFill>
                  <a:srgbClr val="82B1FF"/>
                </a:solidFill>
                <a:latin typeface="Consolas"/>
              </a:rPr>
              <a:t>$ mkdir -p latihan/app/infrastructure latihan/app/api latihan/tests</a:t>
            </a:r>
          </a:p>
          <a:p>
            <a:pPr>
              <a:lnSpc>
                <a:spcPts val="1100"/>
              </a:lnSpc>
              <a:spcAft>
                <a:spcPts val="0"/>
              </a:spcAft>
            </a:pPr>
            <a:r>
              <a:rPr sz="850" i="0">
                <a:solidFill>
                  <a:srgbClr val="E6EDF3"/>
                </a:solidFill>
                <a:latin typeface="Consolas"/>
              </a:rPr>
              <a:t/>
            </a:r>
          </a:p>
          <a:p>
            <a:pPr>
              <a:lnSpc>
                <a:spcPts val="1100"/>
              </a:lnSpc>
              <a:spcAft>
                <a:spcPts val="0"/>
              </a:spcAft>
            </a:pPr>
            <a:r>
              <a:rPr sz="850" i="1">
                <a:solidFill>
                  <a:srgbClr val="8B98A8"/>
                </a:solidFill>
                <a:latin typeface="Consolas"/>
              </a:rPr>
              <a:t># pytest.ini di latihan/: supaya "import app..." dikenali</a:t>
            </a:r>
          </a:p>
          <a:p>
            <a:pPr>
              <a:lnSpc>
                <a:spcPts val="1100"/>
              </a:lnSpc>
              <a:spcAft>
                <a:spcPts val="0"/>
              </a:spcAft>
            </a:pPr>
            <a:r>
              <a:rPr sz="850" i="0">
                <a:solidFill>
                  <a:srgbClr val="E6EDF3"/>
                </a:solidFill>
                <a:latin typeface="Consolas"/>
              </a:rPr>
              <a:t>[pytest]</a:t>
            </a:r>
          </a:p>
          <a:p>
            <a:pPr>
              <a:lnSpc>
                <a:spcPts val="1100"/>
              </a:lnSpc>
              <a:spcAft>
                <a:spcPts val="0"/>
              </a:spcAft>
            </a:pPr>
            <a:r>
              <a:rPr sz="850" i="0">
                <a:solidFill>
                  <a:srgbClr val="E6EDF3"/>
                </a:solidFill>
                <a:latin typeface="Consolas"/>
              </a:rPr>
              <a:t>pythonpath = .</a:t>
            </a:r>
          </a:p>
          <a:p>
            <a:pPr>
              <a:lnSpc>
                <a:spcPts val="1100"/>
              </a:lnSpc>
              <a:spcAft>
                <a:spcPts val="0"/>
              </a:spcAft>
            </a:pPr>
            <a:r>
              <a:rPr sz="850" i="0">
                <a:solidFill>
                  <a:srgbClr val="E6EDF3"/>
                </a:solidFill>
                <a:latin typeface="Consolas"/>
              </a:rPr>
              <a:t>testpaths = tests</a:t>
            </a:r>
          </a:p>
        </p:txBody>
      </p:sp>
      <p:sp>
        <p:nvSpPr>
          <p:cNvPr id="29" name="Box 12"/>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Text 13"/>
          <p:cNvSpPr txBox="1"/>
          <p:nvPr/>
        </p:nvSpPr>
        <p:spPr>
          <a:xfrm>
            <a:off x="5806440" y="157276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1" name="Text 14"/>
          <p:cNvSpPr txBox="1"/>
          <p:nvPr/>
        </p:nvSpPr>
        <p:spPr>
          <a:xfrm>
            <a:off x="5806440" y="1892808"/>
            <a:ext cx="2542032"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Buat folder kerja </a:t>
            </a:r>
            <a:r>
              <a:rPr sz="900" i="0" b="0">
                <a:solidFill>
                  <a:srgbClr val="B5482A"/>
                </a:solidFill>
                <a:latin typeface="Consolas"/>
              </a:rPr>
              <a:t>latihan/</a:t>
            </a:r>
            <a:r>
              <a:rPr sz="900" i="0" b="0">
                <a:solidFill>
                  <a:srgbClr val="434343"/>
                </a:solidFill>
                <a:latin typeface="Inter"/>
              </a:rPr>
              <a:t> (kunci jawaban ada di </a:t>
            </a:r>
            <a:r>
              <a:rPr sz="900" i="0" b="0">
                <a:solidFill>
                  <a:srgbClr val="B5482A"/>
                </a:solidFill>
                <a:latin typeface="Consolas"/>
              </a:rPr>
              <a:t>after/</a:t>
            </a:r>
            <a:r>
              <a:rPr sz="900" i="0" b="0">
                <a:solidFill>
                  <a:srgbClr val="434343"/>
                </a:solidFill>
                <a:latin typeface="Inter"/>
              </a:rPr>
              <a:t>), lalu folder per layer di dalamnya</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Buat </a:t>
            </a:r>
            <a:r>
              <a:rPr sz="900" i="0" b="0">
                <a:solidFill>
                  <a:srgbClr val="B5482A"/>
                </a:solidFill>
                <a:latin typeface="Consolas"/>
              </a:rPr>
              <a:t>latihan/pytest.ini</a:t>
            </a:r>
            <a:r>
              <a:rPr sz="900" i="0" b="0">
                <a:solidFill>
                  <a:srgbClr val="434343"/>
                </a:solidFill>
                <a:latin typeface="Inter"/>
              </a:rPr>
              <a:t> seperti di samping</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Semua import nanti diawali </a:t>
            </a:r>
            <a:r>
              <a:rPr sz="900" i="0" b="0">
                <a:solidFill>
                  <a:srgbClr val="B5482A"/>
                </a:solidFill>
                <a:latin typeface="Consolas"/>
              </a:rPr>
              <a:t>app.</a:t>
            </a:r>
            <a:r>
              <a:rPr sz="900" i="0" b="0">
                <a:solidFill>
                  <a:srgbClr val="434343"/>
                </a:solidFill>
                <a:latin typeface="Inter"/>
              </a:rPr>
              <a:t>, misalnya </a:t>
            </a:r>
            <a:r>
              <a:rPr sz="900" i="0" b="0">
                <a:solidFill>
                  <a:srgbClr val="B5482A"/>
                </a:solidFill>
                <a:latin typeface="Consolas"/>
              </a:rPr>
              <a:t>from app.domain.order import Order</a:t>
            </a:r>
          </a:p>
        </p:txBody>
      </p:sp>
      <p:sp>
        <p:nvSpPr>
          <p:cNvPr id="32" name="Box 15"/>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3" name="Text 16"/>
          <p:cNvSpPr txBox="1"/>
          <p:nvPr/>
        </p:nvSpPr>
        <p:spPr>
          <a:xfrm>
            <a:off x="5806440" y="381304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34" name="Text 17"/>
          <p:cNvSpPr txBox="1"/>
          <p:nvPr/>
        </p:nvSpPr>
        <p:spPr>
          <a:xfrm>
            <a:off x="5806440" y="4133088"/>
            <a:ext cx="2542032" cy="475488"/>
          </a:xfrm>
          <a:prstGeom prst="rect">
            <a:avLst/>
          </a:prstGeom>
          <a:noFill/>
        </p:spPr>
        <p:txBody>
          <a:bodyPr wrap="square" anchor="t" lIns="45720" rIns="45720">
            <a:spAutoFit/>
          </a:bodyPr>
          <a:lstStyle/>
          <a:p>
            <a:pPr algn="l">
              <a:lnSpc>
                <a:spcPct val="115000"/>
              </a:lnSpc>
              <a:spcAft>
                <a:spcPts val="400"/>
              </a:spcAft>
            </a:pPr>
            <a:r>
              <a:rPr sz="900" i="0" b="0">
                <a:solidFill>
                  <a:srgbClr val="434343"/>
                </a:solidFill>
                <a:latin typeface="Inter"/>
              </a:rPr>
              <a:t>Struktur folder sama dengan slide Tujuan.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2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domain/: Order dan Aturan Diskon</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2519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app/domain/order.py  +  discounts.py</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892040" cy="2980944"/>
          </a:xfrm>
          <a:prstGeom prst="rect">
            <a:avLst/>
          </a:prstGeom>
          <a:noFill/>
        </p:spPr>
        <p:txBody>
          <a:bodyPr wrap="none" lIns="146304" rIns="146304" tIns="91440" bIns="54864">
            <a:spAutoFit/>
          </a:bodyPr>
          <a:lstStyle/>
          <a:p>
            <a:pPr>
              <a:lnSpc>
                <a:spcPts val="1000"/>
              </a:lnSpc>
              <a:spcAft>
                <a:spcPts val="0"/>
              </a:spcAft>
            </a:pPr>
            <a:r>
              <a:rPr sz="800" i="1">
                <a:solidFill>
                  <a:srgbClr val="8B98A8"/>
                </a:solidFill>
                <a:latin typeface="Consolas"/>
              </a:rPr>
              <a:t># app/domain/order.py</a:t>
            </a:r>
          </a:p>
          <a:p>
            <a:pPr>
              <a:lnSpc>
                <a:spcPts val="1000"/>
              </a:lnSpc>
              <a:spcAft>
                <a:spcPts val="0"/>
              </a:spcAft>
            </a:pPr>
            <a:r>
              <a:rPr sz="800" i="0">
                <a:solidFill>
                  <a:srgbClr val="F9C97A"/>
                </a:solidFill>
                <a:latin typeface="Consolas"/>
              </a:rPr>
              <a:t>@dataclass</a:t>
            </a:r>
          </a:p>
          <a:p>
            <a:pPr>
              <a:lnSpc>
                <a:spcPts val="1000"/>
              </a:lnSpc>
              <a:spcAft>
                <a:spcPts val="0"/>
              </a:spcAft>
            </a:pPr>
            <a:r>
              <a:rPr sz="800" i="0">
                <a:solidFill>
                  <a:srgbClr val="FF8E6E"/>
                </a:solidFill>
                <a:latin typeface="Consolas"/>
              </a:rPr>
              <a:t>class</a:t>
            </a:r>
            <a:r>
              <a:rPr sz="800" i="0">
                <a:solidFill>
                  <a:srgbClr val="E6EDF3"/>
                </a:solidFill>
                <a:latin typeface="Consolas"/>
              </a:rPr>
              <a:t> </a:t>
            </a:r>
            <a:r>
              <a:rPr sz="800" i="0">
                <a:solidFill>
                  <a:srgbClr val="7FDBCA"/>
                </a:solidFill>
                <a:latin typeface="Consolas"/>
              </a:rPr>
              <a:t>Order</a:t>
            </a:r>
            <a:r>
              <a:rPr sz="800" i="0">
                <a:solidFill>
                  <a:srgbClr val="E6EDF3"/>
                </a:solidFill>
                <a:latin typeface="Consolas"/>
              </a:rPr>
              <a:t>:</a:t>
            </a:r>
          </a:p>
          <a:p>
            <a:pPr>
              <a:lnSpc>
                <a:spcPts val="1000"/>
              </a:lnSpc>
              <a:spcAft>
                <a:spcPts val="0"/>
              </a:spcAft>
            </a:pPr>
            <a:r>
              <a:rPr sz="800" i="0">
                <a:solidFill>
                  <a:srgbClr val="E6EDF3"/>
                </a:solidFill>
                <a:latin typeface="Consolas"/>
              </a:rPr>
              <a:t>    </a:t>
            </a:r>
            <a:r>
              <a:rPr sz="800" i="0">
                <a:solidFill>
                  <a:srgbClr val="E6EDF3"/>
                </a:solidFill>
                <a:latin typeface="Consolas"/>
              </a:rPr>
              <a:t>customer</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p>
          <a:p>
            <a:pPr>
              <a:lnSpc>
                <a:spcPts val="1000"/>
              </a:lnSpc>
              <a:spcAft>
                <a:spcPts val="0"/>
              </a:spcAft>
            </a:pPr>
            <a:r>
              <a:rPr sz="800" i="0">
                <a:solidFill>
                  <a:srgbClr val="E6EDF3"/>
                </a:solidFill>
                <a:latin typeface="Consolas"/>
              </a:rPr>
              <a:t>    </a:t>
            </a:r>
            <a:r>
              <a:rPr sz="800" i="0">
                <a:solidFill>
                  <a:srgbClr val="E6EDF3"/>
                </a:solidFill>
                <a:latin typeface="Consolas"/>
              </a:rPr>
              <a:t>customer_type</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p>
          <a:p>
            <a:pPr>
              <a:lnSpc>
                <a:spcPts val="1000"/>
              </a:lnSpc>
              <a:spcAft>
                <a:spcPts val="0"/>
              </a:spcAft>
            </a:pPr>
            <a:r>
              <a:rPr sz="800" i="0">
                <a:solidFill>
                  <a:srgbClr val="E6EDF3"/>
                </a:solidFill>
                <a:latin typeface="Consolas"/>
              </a:rPr>
              <a:t>    </a:t>
            </a:r>
            <a:r>
              <a:rPr sz="800" i="0">
                <a:solidFill>
                  <a:srgbClr val="E6EDF3"/>
                </a:solidFill>
                <a:latin typeface="Consolas"/>
              </a:rPr>
              <a:t>subtotal</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p>
          <a:p>
            <a:pPr>
              <a:lnSpc>
                <a:spcPts val="1000"/>
              </a:lnSpc>
              <a:spcAft>
                <a:spcPts val="0"/>
              </a:spcAft>
            </a:pPr>
            <a:r>
              <a:rPr sz="800" i="0">
                <a:solidFill>
                  <a:srgbClr val="E6EDF3"/>
                </a:solidFill>
                <a:latin typeface="Consolas"/>
              </a:rPr>
              <a:t>    </a:t>
            </a:r>
            <a:r>
              <a:rPr sz="800" i="0">
                <a:solidFill>
                  <a:srgbClr val="E6EDF3"/>
                </a:solidFill>
                <a:latin typeface="Consolas"/>
              </a:rPr>
              <a:t>total</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p>
          <a:p>
            <a:pPr>
              <a:lnSpc>
                <a:spcPts val="1000"/>
              </a:lnSpc>
              <a:spcAft>
                <a:spcPts val="0"/>
              </a:spcAft>
            </a:pPr>
            <a:r>
              <a:rPr sz="800" i="0">
                <a:solidFill>
                  <a:srgbClr val="E6EDF3"/>
                </a:solidFill>
                <a:latin typeface="Consolas"/>
              </a:rPr>
              <a:t>    </a:t>
            </a:r>
            <a:r>
              <a:rPr sz="800" i="0">
                <a:solidFill>
                  <a:srgbClr val="E6EDF3"/>
                </a:solidFill>
                <a:latin typeface="Consolas"/>
              </a:rPr>
              <a:t>id</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int</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FF8E6E"/>
                </a:solidFill>
                <a:latin typeface="Consolas"/>
              </a:rPr>
              <a:t>None</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 </a:t>
            </a:r>
            <a:r>
              <a:rPr sz="800" i="0">
                <a:solidFill>
                  <a:srgbClr val="FF8E6E"/>
                </a:solidFill>
                <a:latin typeface="Consolas"/>
              </a:rPr>
              <a:t>None</a:t>
            </a:r>
          </a:p>
          <a:p>
            <a:pPr>
              <a:lnSpc>
                <a:spcPts val="1000"/>
              </a:lnSpc>
              <a:spcAft>
                <a:spcPts val="0"/>
              </a:spcAft>
            </a:pPr>
            <a:r>
              <a:rPr sz="800" i="0">
                <a:solidFill>
                  <a:srgbClr val="E6EDF3"/>
                </a:solidFill>
                <a:latin typeface="Consolas"/>
              </a:rPr>
              <a:t> </a:t>
            </a:r>
          </a:p>
          <a:p>
            <a:pPr>
              <a:lnSpc>
                <a:spcPts val="1000"/>
              </a:lnSpc>
              <a:spcAft>
                <a:spcPts val="0"/>
              </a:spcAft>
            </a:pPr>
            <a:r>
              <a:rPr sz="800" i="1">
                <a:solidFill>
                  <a:srgbClr val="8B98A8"/>
                </a:solidFill>
                <a:latin typeface="Consolas"/>
              </a:rPr>
              <a:t># app/domain/discounts.py (dipindah dari before/discounts.py)</a:t>
            </a:r>
          </a:p>
          <a:p>
            <a:pPr>
              <a:lnSpc>
                <a:spcPts val="1000"/>
              </a:lnSpc>
              <a:spcAft>
                <a:spcPts val="0"/>
              </a:spcAft>
            </a:pPr>
            <a:r>
              <a:rPr sz="800" i="0">
                <a:solidFill>
                  <a:srgbClr val="FF8E6E"/>
                </a:solidFill>
                <a:latin typeface="Consolas"/>
              </a:rPr>
              <a:t>class</a:t>
            </a:r>
            <a:r>
              <a:rPr sz="800" i="0">
                <a:solidFill>
                  <a:srgbClr val="E6EDF3"/>
                </a:solidFill>
                <a:latin typeface="Consolas"/>
              </a:rPr>
              <a:t> </a:t>
            </a:r>
            <a:r>
              <a:rPr sz="800" i="0">
                <a:solidFill>
                  <a:srgbClr val="7FDBCA"/>
                </a:solidFill>
                <a:latin typeface="Consolas"/>
              </a:rPr>
              <a:t>UnknownCustomerType</a:t>
            </a:r>
            <a:r>
              <a:rPr sz="800" i="0">
                <a:solidFill>
                  <a:srgbClr val="E6EDF3"/>
                </a:solidFill>
                <a:latin typeface="Consolas"/>
              </a:rPr>
              <a:t>(</a:t>
            </a:r>
            <a:r>
              <a:rPr sz="800" i="0">
                <a:solidFill>
                  <a:srgbClr val="7FDBCA"/>
                </a:solidFill>
                <a:latin typeface="Consolas"/>
              </a:rPr>
              <a:t>Exception</a:t>
            </a:r>
            <a:r>
              <a:rPr sz="800" i="0">
                <a:solidFill>
                  <a:srgbClr val="E6EDF3"/>
                </a:solidFill>
                <a:latin typeface="Consolas"/>
              </a:rPr>
              <a:t>)</a:t>
            </a:r>
            <a:r>
              <a:rPr sz="800" i="0">
                <a:solidFill>
                  <a:srgbClr val="E6EDF3"/>
                </a:solidFill>
                <a:latin typeface="Consolas"/>
              </a:rPr>
              <a:t>:</a:t>
            </a:r>
          </a:p>
          <a:p>
            <a:pPr>
              <a:lnSpc>
                <a:spcPts val="1000"/>
              </a:lnSpc>
              <a:spcAft>
                <a:spcPts val="0"/>
              </a:spcAft>
            </a:pPr>
            <a:r>
              <a:rPr sz="800" i="0">
                <a:solidFill>
                  <a:srgbClr val="E6EDF3"/>
                </a:solidFill>
                <a:latin typeface="Consolas"/>
              </a:rPr>
              <a:t>    </a:t>
            </a:r>
            <a:r>
              <a:rPr sz="800" i="0">
                <a:solidFill>
                  <a:srgbClr val="FF8E6E"/>
                </a:solidFill>
                <a:latin typeface="Consolas"/>
              </a:rPr>
              <a:t>pass</a:t>
            </a:r>
          </a:p>
          <a:p>
            <a:pPr>
              <a:lnSpc>
                <a:spcPts val="1000"/>
              </a:lnSpc>
              <a:spcAft>
                <a:spcPts val="0"/>
              </a:spcAft>
            </a:pPr>
            <a:r>
              <a:rPr sz="800" i="0">
                <a:solidFill>
                  <a:srgbClr val="E6EDF3"/>
                </a:solidFill>
                <a:latin typeface="Consolas"/>
              </a:rPr>
              <a:t> </a:t>
            </a:r>
          </a:p>
          <a:p>
            <a:pPr>
              <a:lnSpc>
                <a:spcPts val="1000"/>
              </a:lnSpc>
              <a:spcAft>
                <a:spcPts val="0"/>
              </a:spcAft>
            </a:pPr>
            <a:r>
              <a:rPr sz="800" i="0">
                <a:solidFill>
                  <a:srgbClr val="FF8E6E"/>
                </a:solidFill>
                <a:latin typeface="Consolas"/>
              </a:rPr>
              <a:t>def</a:t>
            </a:r>
            <a:r>
              <a:rPr sz="800" i="0">
                <a:solidFill>
                  <a:srgbClr val="E6EDF3"/>
                </a:solidFill>
                <a:latin typeface="Consolas"/>
              </a:rPr>
              <a:t> </a:t>
            </a:r>
            <a:r>
              <a:rPr sz="800" i="0">
                <a:solidFill>
                  <a:srgbClr val="82B1FF"/>
                </a:solidFill>
                <a:latin typeface="Consolas"/>
              </a:rPr>
              <a:t>get_discount</a:t>
            </a:r>
            <a:r>
              <a:rPr sz="800" i="0">
                <a:solidFill>
                  <a:srgbClr val="E6EDF3"/>
                </a:solidFill>
                <a:latin typeface="Consolas"/>
              </a:rPr>
              <a:t>(</a:t>
            </a:r>
            <a:r>
              <a:rPr sz="800" i="0">
                <a:solidFill>
                  <a:srgbClr val="E6EDF3"/>
                </a:solidFill>
                <a:latin typeface="Consolas"/>
              </a:rPr>
              <a:t>customer_type</a:t>
            </a:r>
            <a:r>
              <a:rPr sz="800" i="0">
                <a:solidFill>
                  <a:srgbClr val="E6EDF3"/>
                </a:solidFill>
                <a:latin typeface="Consolas"/>
              </a:rPr>
              <a:t>:</a:t>
            </a:r>
            <a:r>
              <a:rPr sz="800" i="0">
                <a:solidFill>
                  <a:srgbClr val="E6EDF3"/>
                </a:solidFill>
                <a:latin typeface="Consolas"/>
              </a:rPr>
              <a:t> </a:t>
            </a:r>
            <a:r>
              <a:rPr sz="800" i="0">
                <a:solidFill>
                  <a:srgbClr val="C3A6FF"/>
                </a:solidFill>
                <a:latin typeface="Consolas"/>
              </a:rPr>
              <a:t>str</a:t>
            </a:r>
            <a:r>
              <a:rPr sz="800" i="0">
                <a:solidFill>
                  <a:srgbClr val="E6EDF3"/>
                </a:solidFill>
                <a:latin typeface="Consolas"/>
              </a:rPr>
              <a:t>)</a:t>
            </a:r>
            <a:r>
              <a:rPr sz="800" i="0">
                <a:solidFill>
                  <a:srgbClr val="E6EDF3"/>
                </a:solidFill>
                <a:latin typeface="Consolas"/>
              </a:rPr>
              <a:t> </a:t>
            </a:r>
            <a:r>
              <a:rPr sz="800" i="0">
                <a:solidFill>
                  <a:srgbClr val="E6EDF3"/>
                </a:solidFill>
                <a:latin typeface="Consolas"/>
              </a:rPr>
              <a:t>-</a:t>
            </a:r>
            <a:r>
              <a:rPr sz="800" i="0">
                <a:solidFill>
                  <a:srgbClr val="E6EDF3"/>
                </a:solidFill>
                <a:latin typeface="Consolas"/>
              </a:rPr>
              <a:t>&gt;</a:t>
            </a:r>
            <a:r>
              <a:rPr sz="800" i="0">
                <a:solidFill>
                  <a:srgbClr val="E6EDF3"/>
                </a:solidFill>
                <a:latin typeface="Consolas"/>
              </a:rPr>
              <a:t> </a:t>
            </a:r>
            <a:r>
              <a:rPr sz="800" i="0">
                <a:solidFill>
                  <a:srgbClr val="7FDBCA"/>
                </a:solidFill>
                <a:latin typeface="Consolas"/>
              </a:rPr>
              <a:t>DiscountStrategy</a:t>
            </a:r>
            <a:r>
              <a:rPr sz="800" i="0">
                <a:solidFill>
                  <a:srgbClr val="E6EDF3"/>
                </a:solidFill>
                <a:latin typeface="Consolas"/>
              </a:rPr>
              <a:t>:</a:t>
            </a:r>
          </a:p>
          <a:p>
            <a:pPr>
              <a:lnSpc>
                <a:spcPts val="1000"/>
              </a:lnSpc>
              <a:spcAft>
                <a:spcPts val="0"/>
              </a:spcAft>
            </a:pPr>
            <a:r>
              <a:rPr sz="800" i="0">
                <a:solidFill>
                  <a:srgbClr val="E6EDF3"/>
                </a:solidFill>
                <a:latin typeface="Consolas"/>
              </a:rPr>
              <a:t>    </a:t>
            </a:r>
            <a:r>
              <a:rPr sz="800" i="0">
                <a:solidFill>
                  <a:srgbClr val="FF8E6E"/>
                </a:solidFill>
                <a:latin typeface="Consolas"/>
              </a:rPr>
              <a:t>if</a:t>
            </a:r>
            <a:r>
              <a:rPr sz="800" i="0">
                <a:solidFill>
                  <a:srgbClr val="E6EDF3"/>
                </a:solidFill>
                <a:latin typeface="Consolas"/>
              </a:rPr>
              <a:t> </a:t>
            </a:r>
            <a:r>
              <a:rPr sz="800" i="0">
                <a:solidFill>
                  <a:srgbClr val="E6EDF3"/>
                </a:solidFill>
                <a:latin typeface="Consolas"/>
              </a:rPr>
              <a:t>customer_type</a:t>
            </a:r>
            <a:r>
              <a:rPr sz="800" i="0">
                <a:solidFill>
                  <a:srgbClr val="E6EDF3"/>
                </a:solidFill>
                <a:latin typeface="Consolas"/>
              </a:rPr>
              <a:t> </a:t>
            </a:r>
            <a:r>
              <a:rPr sz="800" i="0">
                <a:solidFill>
                  <a:srgbClr val="FF8E6E"/>
                </a:solidFill>
                <a:latin typeface="Consolas"/>
              </a:rPr>
              <a:t>not</a:t>
            </a:r>
            <a:r>
              <a:rPr sz="800" i="0">
                <a:solidFill>
                  <a:srgbClr val="E6EDF3"/>
                </a:solidFill>
                <a:latin typeface="Consolas"/>
              </a:rPr>
              <a:t> </a:t>
            </a:r>
            <a:r>
              <a:rPr sz="800" i="0">
                <a:solidFill>
                  <a:srgbClr val="FF8E6E"/>
                </a:solidFill>
                <a:latin typeface="Consolas"/>
              </a:rPr>
              <a:t>in</a:t>
            </a:r>
            <a:r>
              <a:rPr sz="800" i="0">
                <a:solidFill>
                  <a:srgbClr val="E6EDF3"/>
                </a:solidFill>
                <a:latin typeface="Consolas"/>
              </a:rPr>
              <a:t> </a:t>
            </a:r>
            <a:r>
              <a:rPr sz="800" i="0">
                <a:solidFill>
                  <a:srgbClr val="7FDBCA"/>
                </a:solidFill>
                <a:latin typeface="Consolas"/>
              </a:rPr>
              <a:t>DISCOUNTS</a:t>
            </a:r>
            <a:r>
              <a:rPr sz="800" i="0">
                <a:solidFill>
                  <a:srgbClr val="E6EDF3"/>
                </a:solidFill>
                <a:latin typeface="Consolas"/>
              </a:rPr>
              <a:t>:</a:t>
            </a:r>
          </a:p>
          <a:p>
            <a:pPr>
              <a:lnSpc>
                <a:spcPts val="1000"/>
              </a:lnSpc>
              <a:spcAft>
                <a:spcPts val="0"/>
              </a:spcAft>
            </a:pPr>
            <a:r>
              <a:rPr sz="800" i="0">
                <a:solidFill>
                  <a:srgbClr val="E6EDF3"/>
                </a:solidFill>
                <a:latin typeface="Consolas"/>
              </a:rPr>
              <a:t>        </a:t>
            </a:r>
            <a:r>
              <a:rPr sz="800" i="0">
                <a:solidFill>
                  <a:srgbClr val="FF8E6E"/>
                </a:solidFill>
                <a:latin typeface="Consolas"/>
              </a:rPr>
              <a:t>raise</a:t>
            </a:r>
            <a:r>
              <a:rPr sz="800" i="0">
                <a:solidFill>
                  <a:srgbClr val="E6EDF3"/>
                </a:solidFill>
                <a:latin typeface="Consolas"/>
              </a:rPr>
              <a:t> </a:t>
            </a:r>
            <a:r>
              <a:rPr sz="800" i="0">
                <a:solidFill>
                  <a:srgbClr val="7FDBCA"/>
                </a:solidFill>
                <a:latin typeface="Consolas"/>
              </a:rPr>
              <a:t>UnknownCustomerType</a:t>
            </a:r>
            <a:r>
              <a:rPr sz="800" i="0">
                <a:solidFill>
                  <a:srgbClr val="E6EDF3"/>
                </a:solidFill>
                <a:latin typeface="Consolas"/>
              </a:rPr>
              <a:t>(</a:t>
            </a:r>
            <a:r>
              <a:rPr sz="800" i="0">
                <a:solidFill>
                  <a:srgbClr val="A5D6A7"/>
                </a:solidFill>
                <a:latin typeface="Consolas"/>
              </a:rPr>
              <a:t>"Tipe customer tidak dikenal"</a:t>
            </a:r>
            <a:r>
              <a:rPr sz="800" i="0">
                <a:solidFill>
                  <a:srgbClr val="E6EDF3"/>
                </a:solidFill>
                <a:latin typeface="Consolas"/>
              </a:rPr>
              <a:t>)</a:t>
            </a:r>
          </a:p>
          <a:p>
            <a:pPr>
              <a:lnSpc>
                <a:spcPts val="1000"/>
              </a:lnSpc>
              <a:spcAft>
                <a:spcPts val="0"/>
              </a:spcAft>
            </a:pPr>
            <a:r>
              <a:rPr sz="800" i="0">
                <a:solidFill>
                  <a:srgbClr val="E6EDF3"/>
                </a:solidFill>
                <a:latin typeface="Consolas"/>
              </a:rPr>
              <a:t>    </a:t>
            </a:r>
            <a:r>
              <a:rPr sz="800" i="0">
                <a:solidFill>
                  <a:srgbClr val="FF8E6E"/>
                </a:solidFill>
                <a:latin typeface="Consolas"/>
              </a:rPr>
              <a:t>return</a:t>
            </a:r>
            <a:r>
              <a:rPr sz="800" i="0">
                <a:solidFill>
                  <a:srgbClr val="E6EDF3"/>
                </a:solidFill>
                <a:latin typeface="Consolas"/>
              </a:rPr>
              <a:t> </a:t>
            </a:r>
            <a:r>
              <a:rPr sz="800" i="0">
                <a:solidFill>
                  <a:srgbClr val="7FDBCA"/>
                </a:solidFill>
                <a:latin typeface="Consolas"/>
              </a:rPr>
              <a:t>DISCOUNTS</a:t>
            </a:r>
            <a:r>
              <a:rPr sz="800" i="0">
                <a:solidFill>
                  <a:srgbClr val="E6EDF3"/>
                </a:solidFill>
                <a:latin typeface="Consolas"/>
              </a:rPr>
              <a:t>[</a:t>
            </a:r>
            <a:r>
              <a:rPr sz="800" i="0">
                <a:solidFill>
                  <a:srgbClr val="E6EDF3"/>
                </a:solidFill>
                <a:latin typeface="Consolas"/>
              </a:rPr>
              <a:t>customer_type</a:t>
            </a:r>
            <a:r>
              <a:rPr sz="800" i="0">
                <a:solidFill>
                  <a:srgbClr val="E6EDF3"/>
                </a:solidFill>
                <a:latin typeface="Consolas"/>
              </a:rPr>
              <a:t>]</a:t>
            </a:r>
          </a:p>
        </p:txBody>
      </p:sp>
      <p:sp>
        <p:nvSpPr>
          <p:cNvPr id="29" name="Box 12"/>
          <p:cNvSpPr/>
          <p:nvPr/>
        </p:nvSpPr>
        <p:spPr>
          <a:xfrm>
            <a:off x="704088" y="1954022"/>
            <a:ext cx="4727448" cy="881380"/>
          </a:xfrm>
          <a:prstGeom prst="roundRect">
            <a:avLst>
              <a:gd name="adj" fmla="val 518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312664" y="2275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3097022"/>
            <a:ext cx="4727448" cy="754380"/>
          </a:xfrm>
          <a:prstGeom prst="roundRect">
            <a:avLst>
              <a:gd name="adj" fmla="val 6060"/>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5312664" y="33553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Text 17"/>
          <p:cNvSpPr txBox="1"/>
          <p:nvPr/>
        </p:nvSpPr>
        <p:spPr>
          <a:xfrm>
            <a:off x="5806440" y="157276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5" name="Text 18"/>
          <p:cNvSpPr txBox="1"/>
          <p:nvPr/>
        </p:nvSpPr>
        <p:spPr>
          <a:xfrm>
            <a:off x="5806440" y="1892808"/>
            <a:ext cx="2542032"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B5482A"/>
                </a:solidFill>
                <a:latin typeface="Consolas"/>
              </a:rPr>
              <a:t>Order</a:t>
            </a:r>
            <a:r>
              <a:rPr sz="900" i="0" b="0">
                <a:solidFill>
                  <a:srgbClr val="434343"/>
                </a:solidFill>
                <a:latin typeface="Inter"/>
              </a:rPr>
              <a:t> dataclass menggantikan dict, field-nya jelas</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Pindahkan </a:t>
            </a:r>
            <a:r>
              <a:rPr sz="900" i="0" b="0">
                <a:solidFill>
                  <a:srgbClr val="B5482A"/>
                </a:solidFill>
                <a:latin typeface="Consolas"/>
              </a:rPr>
              <a:t>discounts.py</a:t>
            </a:r>
            <a:r>
              <a:rPr sz="900" i="0" b="0">
                <a:solidFill>
                  <a:srgbClr val="434343"/>
                </a:solidFill>
                <a:latin typeface="Inter"/>
              </a:rPr>
              <a:t> ke </a:t>
            </a:r>
            <a:r>
              <a:rPr sz="900" i="0" b="0">
                <a:solidFill>
                  <a:srgbClr val="B5482A"/>
                </a:solidFill>
                <a:latin typeface="Consolas"/>
              </a:rPr>
              <a:t>domain/</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Ganti </a:t>
            </a:r>
            <a:r>
              <a:rPr sz="900" i="0" b="0">
                <a:solidFill>
                  <a:srgbClr val="B5482A"/>
                </a:solidFill>
                <a:latin typeface="Consolas"/>
              </a:rPr>
              <a:t>ValueError</a:t>
            </a:r>
            <a:r>
              <a:rPr sz="900" i="0" b="0">
                <a:solidFill>
                  <a:srgbClr val="434343"/>
                </a:solidFill>
                <a:latin typeface="Inter"/>
              </a:rPr>
              <a:t> dengan error domain sendiri: </a:t>
            </a:r>
            <a:r>
              <a:rPr sz="900" i="0" b="0">
                <a:solidFill>
                  <a:srgbClr val="B5482A"/>
                </a:solidFill>
                <a:latin typeface="Consolas"/>
              </a:rPr>
              <a:t>UnknownCustomerType</a:t>
            </a:r>
          </a:p>
          <a:p>
            <a:pPr algn="l">
              <a:lnSpc>
                <a:spcPct val="115000"/>
              </a:lnSpc>
              <a:spcAft>
                <a:spcPts val="0"/>
              </a:spcAft>
            </a:pPr>
            <a:r>
              <a:rPr sz="540"/>
              <a:t/>
            </a:r>
          </a:p>
          <a:p>
            <a:pPr algn="l">
              <a:lnSpc>
                <a:spcPct val="115000"/>
              </a:lnSpc>
              <a:spcAft>
                <a:spcPts val="400"/>
              </a:spcAft>
            </a:pPr>
            <a:r>
              <a:rPr sz="900" i="0" b="0">
                <a:solidFill>
                  <a:srgbClr val="434343"/>
                </a:solidFill>
                <a:latin typeface="Inter"/>
              </a:rPr>
              <a:t>Domain tidak import apa pun dari layer lain.</a:t>
            </a:r>
          </a:p>
        </p:txBody>
      </p:sp>
      <p:sp>
        <p:nvSpPr>
          <p:cNvPr id="36" name="Box 19"/>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7" name="Text 20"/>
          <p:cNvSpPr txBox="1"/>
          <p:nvPr/>
        </p:nvSpPr>
        <p:spPr>
          <a:xfrm>
            <a:off x="5806440" y="381304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38" name="Text 21"/>
          <p:cNvSpPr txBox="1"/>
          <p:nvPr/>
        </p:nvSpPr>
        <p:spPr>
          <a:xfrm>
            <a:off x="5806440" y="4133088"/>
            <a:ext cx="2542032" cy="475488"/>
          </a:xfrm>
          <a:prstGeom prst="rect">
            <a:avLst/>
          </a:prstGeom>
          <a:noFill/>
        </p:spPr>
        <p:txBody>
          <a:bodyPr wrap="square" anchor="t" lIns="45720" rIns="45720">
            <a:spAutoFit/>
          </a:bodyPr>
          <a:lstStyle/>
          <a:p>
            <a:pPr algn="l">
              <a:lnSpc>
                <a:spcPct val="115000"/>
              </a:lnSpc>
              <a:spcAft>
                <a:spcPts val="400"/>
              </a:spcAft>
            </a:pPr>
            <a:r>
              <a:rPr sz="900" i="0" b="0">
                <a:solidFill>
                  <a:srgbClr val="434343"/>
                </a:solidFill>
                <a:latin typeface="Inter"/>
              </a:rPr>
              <a:t>Isi </a:t>
            </a:r>
            <a:r>
              <a:rPr sz="900" i="0" b="0">
                <a:solidFill>
                  <a:srgbClr val="B5482A"/>
                </a:solidFill>
                <a:latin typeface="Consolas"/>
              </a:rPr>
              <a:t>domain/</a:t>
            </a:r>
            <a:r>
              <a:rPr sz="900" i="0" b="0">
                <a:solidFill>
                  <a:srgbClr val="434343"/>
                </a:solidFill>
                <a:latin typeface="Inter"/>
              </a:rPr>
              <a:t> tidak ada </a:t>
            </a:r>
            <a:r>
              <a:rPr sz="900" i="0" b="0">
                <a:solidFill>
                  <a:srgbClr val="B5482A"/>
                </a:solidFill>
                <a:latin typeface="Consolas"/>
              </a:rPr>
              <a:t>import fastapi</a:t>
            </a:r>
            <a:r>
              <a:rPr sz="900" i="0" b="0">
                <a:solidFill>
                  <a:srgbClr val="434343"/>
                </a:solidFill>
                <a:latin typeface="Inter"/>
              </a:rPr>
              <a:t> maupun </a:t>
            </a:r>
            <a:r>
              <a:rPr sz="900" i="0" b="0">
                <a:solidFill>
                  <a:srgbClr val="B5482A"/>
                </a:solidFill>
                <a:latin typeface="Consolas"/>
              </a:rPr>
              <a:t>sqlite3</a:t>
            </a:r>
            <a:r>
              <a:rPr sz="900" i="0" b="0">
                <a:solidFill>
                  <a:srgbClr val="434343"/>
                </a:solidFill>
                <a:latin typeface="Inter"/>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3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application/ports.py: Interface untuk Use Case</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2519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app/application/ports.py</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892040" cy="2980944"/>
          </a:xfrm>
          <a:prstGeom prst="rect">
            <a:avLst/>
          </a:prstGeom>
          <a:noFill/>
        </p:spPr>
        <p:txBody>
          <a:bodyPr wrap="none" lIns="146304" rIns="146304" tIns="91440" bIns="54864">
            <a:spAutoFit/>
          </a:bodyPr>
          <a:lstStyle/>
          <a:p>
            <a:pPr>
              <a:lnSpc>
                <a:spcPts val="1100"/>
              </a:lnSpc>
              <a:spcAft>
                <a:spcPts val="0"/>
              </a:spcAft>
            </a:pPr>
            <a:r>
              <a:rPr sz="850" i="0">
                <a:solidFill>
                  <a:srgbClr val="A5D6A7"/>
                </a:solidFill>
                <a:latin typeface="Consolas"/>
              </a:rPr>
              <a:t>"""Application: ports = interface yang dibutuhkan use case.</a:t>
            </a:r>
          </a:p>
          <a:p>
            <a:pPr>
              <a:lnSpc>
                <a:spcPts val="1100"/>
              </a:lnSpc>
              <a:spcAft>
                <a:spcPts val="0"/>
              </a:spcAft>
            </a:pPr>
            <a:r>
              <a:rPr sz="850" i="0">
                <a:solidFill>
                  <a:srgbClr val="A5D6A7"/>
                </a:solidFill>
                <a:latin typeface="Consolas"/>
              </a:rPr>
              <a:t>Implementasinya (adapter) ada di layer infrastructure.</a:t>
            </a:r>
          </a:p>
          <a:p>
            <a:pPr>
              <a:lnSpc>
                <a:spcPts val="1100"/>
              </a:lnSpc>
              <a:spcAft>
                <a:spcPts val="0"/>
              </a:spcAft>
            </a:pPr>
            <a:r>
              <a:rPr sz="850" i="0">
                <a:solidFill>
                  <a:srgbClr val="A5D6A7"/>
                </a:solidFill>
                <a:latin typeface="Consolas"/>
              </a:rPr>
              <a:t>"""</a:t>
            </a:r>
          </a:p>
          <a:p>
            <a:pPr>
              <a:lnSpc>
                <a:spcPts val="1100"/>
              </a:lnSpc>
              <a:spcAft>
                <a:spcPts val="0"/>
              </a:spcAft>
            </a:pP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typing</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7FDBCA"/>
                </a:solidFill>
                <a:latin typeface="Consolas"/>
              </a:rPr>
              <a:t>Protocol</a:t>
            </a:r>
          </a:p>
          <a:p>
            <a:pPr>
              <a:lnSpc>
                <a:spcPts val="1100"/>
              </a:lnSpc>
              <a:spcAft>
                <a:spcPts val="0"/>
              </a:spcAft>
            </a:pPr>
            <a:r>
              <a:rPr sz="850" i="0">
                <a:solidFill>
                  <a:srgbClr val="E6EDF3"/>
                </a:solidFill>
                <a:latin typeface="Consolas"/>
              </a:rPr>
              <a:t> </a:t>
            </a:r>
          </a:p>
          <a:p>
            <a:pPr>
              <a:lnSpc>
                <a:spcPts val="1100"/>
              </a:lnSpc>
              <a:spcAft>
                <a:spcPts val="0"/>
              </a:spcAft>
            </a:pPr>
            <a:r>
              <a:rPr sz="850" i="0">
                <a:solidFill>
                  <a:srgbClr val="FF8E6E"/>
                </a:solidFill>
                <a:latin typeface="Consolas"/>
              </a:rPr>
              <a:t>from</a:t>
            </a:r>
            <a:r>
              <a:rPr sz="850" i="0">
                <a:solidFill>
                  <a:srgbClr val="E6EDF3"/>
                </a:solidFill>
                <a:latin typeface="Consolas"/>
              </a:rPr>
              <a:t> </a:t>
            </a:r>
            <a:r>
              <a:rPr sz="850" i="0">
                <a:solidFill>
                  <a:srgbClr val="E6EDF3"/>
                </a:solidFill>
                <a:latin typeface="Consolas"/>
              </a:rPr>
              <a:t>app</a:t>
            </a:r>
            <a:r>
              <a:rPr sz="850" i="0">
                <a:solidFill>
                  <a:srgbClr val="E6EDF3"/>
                </a:solidFill>
                <a:latin typeface="Consolas"/>
              </a:rPr>
              <a:t>.</a:t>
            </a:r>
            <a:r>
              <a:rPr sz="850" i="0">
                <a:solidFill>
                  <a:srgbClr val="E6EDF3"/>
                </a:solidFill>
                <a:latin typeface="Consolas"/>
              </a:rPr>
              <a:t>domain</a:t>
            </a:r>
            <a:r>
              <a:rPr sz="850" i="0">
                <a:solidFill>
                  <a:srgbClr val="E6EDF3"/>
                </a:solidFill>
                <a:latin typeface="Consolas"/>
              </a:rPr>
              <a:t>.</a:t>
            </a:r>
            <a:r>
              <a:rPr sz="850" i="0">
                <a:solidFill>
                  <a:srgbClr val="E6EDF3"/>
                </a:solidFill>
                <a:latin typeface="Consolas"/>
              </a:rPr>
              <a:t>order</a:t>
            </a:r>
            <a:r>
              <a:rPr sz="850" i="0">
                <a:solidFill>
                  <a:srgbClr val="E6EDF3"/>
                </a:solidFill>
                <a:latin typeface="Consolas"/>
              </a:rPr>
              <a:t> </a:t>
            </a:r>
            <a:r>
              <a:rPr sz="850" i="0">
                <a:solidFill>
                  <a:srgbClr val="FF8E6E"/>
                </a:solidFill>
                <a:latin typeface="Consolas"/>
              </a:rPr>
              <a:t>import</a:t>
            </a:r>
            <a:r>
              <a:rPr sz="850" i="0">
                <a:solidFill>
                  <a:srgbClr val="E6EDF3"/>
                </a:solidFill>
                <a:latin typeface="Consolas"/>
              </a:rPr>
              <a:t> </a:t>
            </a:r>
            <a:r>
              <a:rPr sz="850" i="0">
                <a:solidFill>
                  <a:srgbClr val="7FDBCA"/>
                </a:solidFill>
                <a:latin typeface="Consolas"/>
              </a:rPr>
              <a:t>Order</a:t>
            </a:r>
          </a:p>
          <a:p>
            <a:pPr>
              <a:lnSpc>
                <a:spcPts val="1100"/>
              </a:lnSpc>
              <a:spcAft>
                <a:spcPts val="0"/>
              </a:spcAft>
            </a:pPr>
            <a:r>
              <a:rPr sz="850" i="0">
                <a:solidFill>
                  <a:srgbClr val="E6EDF3"/>
                </a:solidFill>
                <a:latin typeface="Consolas"/>
              </a:rPr>
              <a:t> </a:t>
            </a:r>
          </a:p>
          <a:p>
            <a:pPr>
              <a:lnSpc>
                <a:spcPts val="1100"/>
              </a:lnSpc>
              <a:spcAft>
                <a:spcPts val="0"/>
              </a:spcAft>
            </a:pP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add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Order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get</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order_id</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int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Order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p>
          <a:p>
            <a:pPr>
              <a:lnSpc>
                <a:spcPts val="1100"/>
              </a:lnSpc>
              <a:spcAft>
                <a:spcPts val="0"/>
              </a:spcAft>
            </a:pPr>
            <a:r>
              <a:rPr sz="850" i="0">
                <a:solidFill>
                  <a:srgbClr val="FF8E6E"/>
                </a:solidFill>
                <a:latin typeface="Consolas"/>
              </a:rPr>
              <a:t>class</a:t>
            </a:r>
            <a:r>
              <a:rPr sz="850" i="0">
                <a:solidFill>
                  <a:srgbClr val="E6EDF3"/>
                </a:solidFill>
                <a:latin typeface="Consolas"/>
              </a:rPr>
              <a:t> </a:t>
            </a:r>
            <a:r>
              <a:rPr sz="850" i="0">
                <a:solidFill>
                  <a:srgbClr val="7FDBCA"/>
                </a:solidFill>
                <a:latin typeface="Consolas"/>
              </a:rPr>
              <a:t>Notifier</a:t>
            </a:r>
            <a:r>
              <a:rPr sz="850" i="0">
                <a:solidFill>
                  <a:srgbClr val="E6EDF3"/>
                </a:solidFill>
                <a:latin typeface="Consolas"/>
              </a:rPr>
              <a:t>(</a:t>
            </a:r>
            <a:r>
              <a:rPr sz="850" i="0">
                <a:solidFill>
                  <a:srgbClr val="7FDBCA"/>
                </a:solidFill>
                <a:latin typeface="Consolas"/>
              </a:rPr>
              <a:t>Protocol</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send</a:t>
            </a:r>
            <a:r>
              <a:rPr sz="850" i="0">
                <a:solidFill>
                  <a:srgbClr val="E6EDF3"/>
                </a:solidFill>
                <a:latin typeface="Consolas"/>
              </a:rPr>
              <a:t>(</a:t>
            </a:r>
            <a:r>
              <a:rPr sz="850" i="0">
                <a:solidFill>
                  <a:srgbClr val="C3A6FF"/>
                </a:solidFill>
                <a:latin typeface="Consolas"/>
              </a:rPr>
              <a:t>self</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to</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message</a:t>
            </a:r>
            <a:r>
              <a:rPr sz="850" i="0">
                <a:solidFill>
                  <a:srgbClr val="E6EDF3"/>
                </a:solidFill>
                <a:latin typeface="Consolas"/>
              </a:rPr>
              <a:t>:</a:t>
            </a:r>
            <a:r>
              <a:rPr sz="850" i="0">
                <a:solidFill>
                  <a:srgbClr val="E6EDF3"/>
                </a:solidFill>
                <a:latin typeface="Consolas"/>
              </a:rPr>
              <a:t> </a:t>
            </a:r>
            <a:r>
              <a:rPr sz="850" i="0">
                <a:solidFill>
                  <a:srgbClr val="C3A6FF"/>
                </a:solidFill>
                <a:latin typeface="Consolas"/>
              </a:rPr>
              <a:t>str</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FF8E6E"/>
                </a:solidFill>
                <a:latin typeface="Consolas"/>
              </a:rPr>
              <a:t>None</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p>
        </p:txBody>
      </p:sp>
      <p:sp>
        <p:nvSpPr>
          <p:cNvPr id="29" name="Box 12"/>
          <p:cNvSpPr/>
          <p:nvPr/>
        </p:nvSpPr>
        <p:spPr>
          <a:xfrm>
            <a:off x="704088" y="2806573"/>
            <a:ext cx="4727448" cy="410718"/>
          </a:xfrm>
          <a:prstGeom prst="roundRect">
            <a:avLst>
              <a:gd name="adj" fmla="val 1113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312664" y="289306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3365373"/>
            <a:ext cx="4727448" cy="271018"/>
          </a:xfrm>
          <a:prstGeom prst="roundRect">
            <a:avLst>
              <a:gd name="adj" fmla="val 1686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5312664" y="338201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Text 17"/>
          <p:cNvSpPr txBox="1"/>
          <p:nvPr/>
        </p:nvSpPr>
        <p:spPr>
          <a:xfrm>
            <a:off x="5806440" y="157276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5" name="Text 18"/>
          <p:cNvSpPr txBox="1"/>
          <p:nvPr/>
        </p:nvSpPr>
        <p:spPr>
          <a:xfrm>
            <a:off x="5806440" y="1892808"/>
            <a:ext cx="2542032"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Tulis interface yang dibutuhkan </a:t>
            </a:r>
            <a:r>
              <a:rPr sz="900" i="0" b="0">
                <a:solidFill>
                  <a:srgbClr val="B5482A"/>
                </a:solidFill>
                <a:latin typeface="Consolas"/>
              </a:rPr>
              <a:t>OrderService</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Repository sekarang menerima dan mengembalikan </a:t>
            </a:r>
            <a:r>
              <a:rPr sz="900" i="0" b="0">
                <a:solidFill>
                  <a:srgbClr val="B5482A"/>
                </a:solidFill>
                <a:latin typeface="Consolas"/>
              </a:rPr>
              <a:t>Order</a:t>
            </a:r>
            <a:r>
              <a:rPr sz="900" i="0" b="0">
                <a:solidFill>
                  <a:srgbClr val="434343"/>
                </a:solidFill>
                <a:latin typeface="Inter"/>
              </a:rPr>
              <a:t>, bukan dict</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Belum ada implementasi di sini, cuma bentuknya</a:t>
            </a:r>
          </a:p>
        </p:txBody>
      </p:sp>
      <p:sp>
        <p:nvSpPr>
          <p:cNvPr id="36" name="Box 19"/>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7" name="Text 20"/>
          <p:cNvSpPr txBox="1"/>
          <p:nvPr/>
        </p:nvSpPr>
        <p:spPr>
          <a:xfrm>
            <a:off x="5806440" y="381304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38" name="Text 21"/>
          <p:cNvSpPr txBox="1"/>
          <p:nvPr/>
        </p:nvSpPr>
        <p:spPr>
          <a:xfrm>
            <a:off x="5806440" y="4133088"/>
            <a:ext cx="2542032" cy="475488"/>
          </a:xfrm>
          <a:prstGeom prst="rect">
            <a:avLst/>
          </a:prstGeom>
          <a:noFill/>
        </p:spPr>
        <p:txBody>
          <a:bodyPr wrap="square" anchor="t" lIns="45720" rIns="45720">
            <a:spAutoFit/>
          </a:bodyPr>
          <a:lstStyle/>
          <a:p>
            <a:pPr algn="l">
              <a:lnSpc>
                <a:spcPct val="115000"/>
              </a:lnSpc>
              <a:spcAft>
                <a:spcPts val="400"/>
              </a:spcAft>
            </a:pPr>
            <a:r>
              <a:rPr sz="900" i="0" b="0">
                <a:solidFill>
                  <a:srgbClr val="434343"/>
                </a:solidFill>
                <a:latin typeface="Inter"/>
              </a:rPr>
              <a:t>Port hanya import dari </a:t>
            </a:r>
            <a:r>
              <a:rPr sz="900" i="0" b="0">
                <a:solidFill>
                  <a:srgbClr val="B5482A"/>
                </a:solidFill>
                <a:latin typeface="Consolas"/>
              </a:rPr>
              <a:t>domain</a:t>
            </a:r>
            <a:r>
              <a:rPr sz="900" i="0" b="0">
                <a:solidFill>
                  <a:srgbClr val="434343"/>
                </a:solidFill>
                <a:latin typeface="Inter"/>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4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application/order_service.py: Use Case</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2519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app/application/order_service.py</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892040" cy="2980944"/>
          </a:xfrm>
          <a:prstGeom prst="rect">
            <a:avLst/>
          </a:prstGeom>
          <a:noFill/>
        </p:spPr>
        <p:txBody>
          <a:bodyPr wrap="none" lIns="146304" rIns="146304" tIns="91440" bIns="54864">
            <a:spAutoFit/>
          </a:bodyPr>
          <a:lstStyle/>
          <a:p>
            <a:pPr>
              <a:lnSpc>
                <a:spcPts val="900"/>
              </a:lnSpc>
              <a:spcAft>
                <a:spcPts val="0"/>
              </a:spcAft>
            </a:pPr>
            <a:r>
              <a:rPr sz="700" i="0">
                <a:solidFill>
                  <a:srgbClr val="FF8E6E"/>
                </a:solidFill>
                <a:latin typeface="Consolas"/>
              </a:rPr>
              <a:t>from</a:t>
            </a:r>
            <a:r>
              <a:rPr sz="700" i="0">
                <a:solidFill>
                  <a:srgbClr val="E6EDF3"/>
                </a:solidFill>
                <a:latin typeface="Consolas"/>
              </a:rPr>
              <a:t> </a:t>
            </a:r>
            <a:r>
              <a:rPr sz="700" i="0">
                <a:solidFill>
                  <a:srgbClr val="E6EDF3"/>
                </a:solidFill>
                <a:latin typeface="Consolas"/>
              </a:rPr>
              <a:t>app</a:t>
            </a:r>
            <a:r>
              <a:rPr sz="700" i="0">
                <a:solidFill>
                  <a:srgbClr val="E6EDF3"/>
                </a:solidFill>
                <a:latin typeface="Consolas"/>
              </a:rPr>
              <a:t>.</a:t>
            </a:r>
            <a:r>
              <a:rPr sz="700" i="0">
                <a:solidFill>
                  <a:srgbClr val="E6EDF3"/>
                </a:solidFill>
                <a:latin typeface="Consolas"/>
              </a:rPr>
              <a:t>application</a:t>
            </a:r>
            <a:r>
              <a:rPr sz="700" i="0">
                <a:solidFill>
                  <a:srgbClr val="E6EDF3"/>
                </a:solidFill>
                <a:latin typeface="Consolas"/>
              </a:rPr>
              <a:t>.</a:t>
            </a:r>
            <a:r>
              <a:rPr sz="700" i="0">
                <a:solidFill>
                  <a:srgbClr val="E6EDF3"/>
                </a:solidFill>
                <a:latin typeface="Consolas"/>
              </a:rPr>
              <a:t>ports</a:t>
            </a:r>
            <a:r>
              <a:rPr sz="700" i="0">
                <a:solidFill>
                  <a:srgbClr val="E6EDF3"/>
                </a:solidFill>
                <a:latin typeface="Consolas"/>
              </a:rPr>
              <a:t> </a:t>
            </a:r>
            <a:r>
              <a:rPr sz="700" i="0">
                <a:solidFill>
                  <a:srgbClr val="FF8E6E"/>
                </a:solidFill>
                <a:latin typeface="Consolas"/>
              </a:rPr>
              <a:t>import</a:t>
            </a:r>
            <a:r>
              <a:rPr sz="700" i="0">
                <a:solidFill>
                  <a:srgbClr val="E6EDF3"/>
                </a:solidFill>
                <a:latin typeface="Consolas"/>
              </a:rPr>
              <a:t> </a:t>
            </a:r>
            <a:r>
              <a:rPr sz="700" i="0">
                <a:solidFill>
                  <a:srgbClr val="7FDBCA"/>
                </a:solidFill>
                <a:latin typeface="Consolas"/>
              </a:rPr>
              <a:t>Notifier</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OrderRepository</a:t>
            </a:r>
          </a:p>
          <a:p>
            <a:pPr>
              <a:lnSpc>
                <a:spcPts val="900"/>
              </a:lnSpc>
              <a:spcAft>
                <a:spcPts val="0"/>
              </a:spcAft>
            </a:pPr>
            <a:r>
              <a:rPr sz="700" i="0">
                <a:solidFill>
                  <a:srgbClr val="FF8E6E"/>
                </a:solidFill>
                <a:latin typeface="Consolas"/>
              </a:rPr>
              <a:t>from</a:t>
            </a:r>
            <a:r>
              <a:rPr sz="700" i="0">
                <a:solidFill>
                  <a:srgbClr val="E6EDF3"/>
                </a:solidFill>
                <a:latin typeface="Consolas"/>
              </a:rPr>
              <a:t> </a:t>
            </a:r>
            <a:r>
              <a:rPr sz="700" i="0">
                <a:solidFill>
                  <a:srgbClr val="E6EDF3"/>
                </a:solidFill>
                <a:latin typeface="Consolas"/>
              </a:rPr>
              <a:t>app</a:t>
            </a:r>
            <a:r>
              <a:rPr sz="700" i="0">
                <a:solidFill>
                  <a:srgbClr val="E6EDF3"/>
                </a:solidFill>
                <a:latin typeface="Consolas"/>
              </a:rPr>
              <a:t>.</a:t>
            </a:r>
            <a:r>
              <a:rPr sz="700" i="0">
                <a:solidFill>
                  <a:srgbClr val="E6EDF3"/>
                </a:solidFill>
                <a:latin typeface="Consolas"/>
              </a:rPr>
              <a:t>domain</a:t>
            </a:r>
            <a:r>
              <a:rPr sz="700" i="0">
                <a:solidFill>
                  <a:srgbClr val="E6EDF3"/>
                </a:solidFill>
                <a:latin typeface="Consolas"/>
              </a:rPr>
              <a:t>.</a:t>
            </a:r>
            <a:r>
              <a:rPr sz="700" i="0">
                <a:solidFill>
                  <a:srgbClr val="E6EDF3"/>
                </a:solidFill>
                <a:latin typeface="Consolas"/>
              </a:rPr>
              <a:t>discounts</a:t>
            </a:r>
            <a:r>
              <a:rPr sz="700" i="0">
                <a:solidFill>
                  <a:srgbClr val="E6EDF3"/>
                </a:solidFill>
                <a:latin typeface="Consolas"/>
              </a:rPr>
              <a:t> </a:t>
            </a:r>
            <a:r>
              <a:rPr sz="700" i="0">
                <a:solidFill>
                  <a:srgbClr val="FF8E6E"/>
                </a:solidFill>
                <a:latin typeface="Consolas"/>
              </a:rPr>
              <a:t>import</a:t>
            </a:r>
            <a:r>
              <a:rPr sz="700" i="0">
                <a:solidFill>
                  <a:srgbClr val="E6EDF3"/>
                </a:solidFill>
                <a:latin typeface="Consolas"/>
              </a:rPr>
              <a:t> </a:t>
            </a:r>
            <a:r>
              <a:rPr sz="700" i="0">
                <a:solidFill>
                  <a:srgbClr val="E6EDF3"/>
                </a:solidFill>
                <a:latin typeface="Consolas"/>
              </a:rPr>
              <a:t>get_discount</a:t>
            </a:r>
          </a:p>
          <a:p>
            <a:pPr>
              <a:lnSpc>
                <a:spcPts val="900"/>
              </a:lnSpc>
              <a:spcAft>
                <a:spcPts val="0"/>
              </a:spcAft>
            </a:pPr>
            <a:r>
              <a:rPr sz="700" i="0">
                <a:solidFill>
                  <a:srgbClr val="FF8E6E"/>
                </a:solidFill>
                <a:latin typeface="Consolas"/>
              </a:rPr>
              <a:t>from</a:t>
            </a:r>
            <a:r>
              <a:rPr sz="700" i="0">
                <a:solidFill>
                  <a:srgbClr val="E6EDF3"/>
                </a:solidFill>
                <a:latin typeface="Consolas"/>
              </a:rPr>
              <a:t> </a:t>
            </a:r>
            <a:r>
              <a:rPr sz="700" i="0">
                <a:solidFill>
                  <a:srgbClr val="E6EDF3"/>
                </a:solidFill>
                <a:latin typeface="Consolas"/>
              </a:rPr>
              <a:t>app</a:t>
            </a:r>
            <a:r>
              <a:rPr sz="700" i="0">
                <a:solidFill>
                  <a:srgbClr val="E6EDF3"/>
                </a:solidFill>
                <a:latin typeface="Consolas"/>
              </a:rPr>
              <a:t>.</a:t>
            </a:r>
            <a:r>
              <a:rPr sz="700" i="0">
                <a:solidFill>
                  <a:srgbClr val="E6EDF3"/>
                </a:solidFill>
                <a:latin typeface="Consolas"/>
              </a:rPr>
              <a:t>domain</a:t>
            </a:r>
            <a:r>
              <a:rPr sz="700" i="0">
                <a:solidFill>
                  <a:srgbClr val="E6EDF3"/>
                </a:solidFill>
                <a:latin typeface="Consolas"/>
              </a:rPr>
              <a:t>.</a:t>
            </a:r>
            <a:r>
              <a:rPr sz="700" i="0">
                <a:solidFill>
                  <a:srgbClr val="E6EDF3"/>
                </a:solidFill>
                <a:latin typeface="Consolas"/>
              </a:rPr>
              <a:t>order</a:t>
            </a:r>
            <a:r>
              <a:rPr sz="700" i="0">
                <a:solidFill>
                  <a:srgbClr val="E6EDF3"/>
                </a:solidFill>
                <a:latin typeface="Consolas"/>
              </a:rPr>
              <a:t> </a:t>
            </a:r>
            <a:r>
              <a:rPr sz="700" i="0">
                <a:solidFill>
                  <a:srgbClr val="FF8E6E"/>
                </a:solidFill>
                <a:latin typeface="Consolas"/>
              </a:rPr>
              <a:t>import</a:t>
            </a:r>
            <a:r>
              <a:rPr sz="700" i="0">
                <a:solidFill>
                  <a:srgbClr val="E6EDF3"/>
                </a:solidFill>
                <a:latin typeface="Consolas"/>
              </a:rPr>
              <a:t> </a:t>
            </a:r>
            <a:r>
              <a:rPr sz="700" i="0">
                <a:solidFill>
                  <a:srgbClr val="7FDBCA"/>
                </a:solidFill>
                <a:latin typeface="Consolas"/>
              </a:rPr>
              <a:t>Order</a:t>
            </a:r>
          </a:p>
          <a:p>
            <a:pPr>
              <a:lnSpc>
                <a:spcPts val="900"/>
              </a:lnSpc>
              <a:spcAft>
                <a:spcPts val="0"/>
              </a:spcAft>
            </a:pPr>
            <a:r>
              <a:rPr sz="700" i="0">
                <a:solidFill>
                  <a:srgbClr val="E6EDF3"/>
                </a:solidFill>
                <a:latin typeface="Consolas"/>
              </a:rPr>
              <a:t> </a:t>
            </a:r>
          </a:p>
          <a:p>
            <a:pPr>
              <a:lnSpc>
                <a:spcPts val="900"/>
              </a:lnSpc>
              <a:spcAft>
                <a:spcPts val="0"/>
              </a:spcAft>
            </a:pPr>
            <a:r>
              <a:rPr sz="700" i="0">
                <a:solidFill>
                  <a:srgbClr val="FF8E6E"/>
                </a:solidFill>
                <a:latin typeface="Consolas"/>
              </a:rPr>
              <a:t>class</a:t>
            </a:r>
            <a:r>
              <a:rPr sz="700" i="0">
                <a:solidFill>
                  <a:srgbClr val="E6EDF3"/>
                </a:solidFill>
                <a:latin typeface="Consolas"/>
              </a:rPr>
              <a:t> </a:t>
            </a:r>
            <a:r>
              <a:rPr sz="700" i="0">
                <a:solidFill>
                  <a:srgbClr val="7FDBCA"/>
                </a:solidFill>
                <a:latin typeface="Consolas"/>
              </a:rPr>
              <a:t>OrderService</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FF8E6E"/>
                </a:solidFill>
                <a:latin typeface="Consolas"/>
              </a:rPr>
              <a:t>def</a:t>
            </a:r>
            <a:r>
              <a:rPr sz="700" i="0">
                <a:solidFill>
                  <a:srgbClr val="E6EDF3"/>
                </a:solidFill>
                <a:latin typeface="Consolas"/>
              </a:rPr>
              <a:t> </a:t>
            </a:r>
            <a:r>
              <a:rPr sz="700" i="0">
                <a:solidFill>
                  <a:srgbClr val="82B1FF"/>
                </a:solidFill>
                <a:latin typeface="Consolas"/>
              </a:rPr>
              <a:t>__init__</a:t>
            </a:r>
            <a:r>
              <a:rPr sz="700" i="0">
                <a:solidFill>
                  <a:srgbClr val="E6EDF3"/>
                </a:solidFill>
                <a:latin typeface="Consolas"/>
              </a:rPr>
              <a:t>(</a:t>
            </a:r>
            <a:r>
              <a:rPr sz="700" i="0">
                <a:solidFill>
                  <a:srgbClr val="C3A6FF"/>
                </a:solidFill>
                <a:latin typeface="Consolas"/>
              </a:rPr>
              <a:t>self</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repo</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OrderRepository</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notifier</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Notifier</a:t>
            </a:r>
            <a:r>
              <a:rPr sz="700" i="0">
                <a:solidFill>
                  <a:srgbClr val="E6EDF3"/>
                </a:solidFill>
                <a:latin typeface="Consolas"/>
              </a:rPr>
              <a:t>)</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C3A6FF"/>
                </a:solidFill>
                <a:latin typeface="Consolas"/>
              </a:rPr>
              <a:t>self</a:t>
            </a:r>
            <a:r>
              <a:rPr sz="700" i="0">
                <a:solidFill>
                  <a:srgbClr val="E6EDF3"/>
                </a:solidFill>
                <a:latin typeface="Consolas"/>
              </a:rPr>
              <a:t>.</a:t>
            </a:r>
            <a:r>
              <a:rPr sz="700" i="0">
                <a:solidFill>
                  <a:srgbClr val="E6EDF3"/>
                </a:solidFill>
                <a:latin typeface="Consolas"/>
              </a:rPr>
              <a:t>repo</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repo</a:t>
            </a:r>
          </a:p>
          <a:p>
            <a:pPr>
              <a:lnSpc>
                <a:spcPts val="900"/>
              </a:lnSpc>
              <a:spcAft>
                <a:spcPts val="0"/>
              </a:spcAft>
            </a:pPr>
            <a:r>
              <a:rPr sz="700" i="0">
                <a:solidFill>
                  <a:srgbClr val="E6EDF3"/>
                </a:solidFill>
                <a:latin typeface="Consolas"/>
              </a:rPr>
              <a:t>        </a:t>
            </a:r>
            <a:r>
              <a:rPr sz="700" i="0">
                <a:solidFill>
                  <a:srgbClr val="C3A6FF"/>
                </a:solidFill>
                <a:latin typeface="Consolas"/>
              </a:rPr>
              <a:t>self</a:t>
            </a:r>
            <a:r>
              <a:rPr sz="700" i="0">
                <a:solidFill>
                  <a:srgbClr val="E6EDF3"/>
                </a:solidFill>
                <a:latin typeface="Consolas"/>
              </a:rPr>
              <a:t>.</a:t>
            </a:r>
            <a:r>
              <a:rPr sz="700" i="0">
                <a:solidFill>
                  <a:srgbClr val="E6EDF3"/>
                </a:solidFill>
                <a:latin typeface="Consolas"/>
              </a:rPr>
              <a:t>notifier</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notifier</a:t>
            </a:r>
          </a:p>
          <a:p>
            <a:pPr>
              <a:lnSpc>
                <a:spcPts val="900"/>
              </a:lnSpc>
              <a:spcAft>
                <a:spcPts val="0"/>
              </a:spcAft>
            </a:pPr>
            <a:r>
              <a:rPr sz="700" i="0">
                <a:solidFill>
                  <a:srgbClr val="E6EDF3"/>
                </a:solidFill>
                <a:latin typeface="Consolas"/>
              </a:rPr>
              <a:t> </a:t>
            </a:r>
          </a:p>
          <a:p>
            <a:pPr>
              <a:lnSpc>
                <a:spcPts val="900"/>
              </a:lnSpc>
              <a:spcAft>
                <a:spcPts val="0"/>
              </a:spcAft>
            </a:pPr>
            <a:r>
              <a:rPr sz="700" i="0">
                <a:solidFill>
                  <a:srgbClr val="E6EDF3"/>
                </a:solidFill>
                <a:latin typeface="Consolas"/>
              </a:rPr>
              <a:t>    </a:t>
            </a:r>
            <a:r>
              <a:rPr sz="700" i="0">
                <a:solidFill>
                  <a:srgbClr val="FF8E6E"/>
                </a:solidFill>
                <a:latin typeface="Consolas"/>
              </a:rPr>
              <a:t>def</a:t>
            </a:r>
            <a:r>
              <a:rPr sz="700" i="0">
                <a:solidFill>
                  <a:srgbClr val="E6EDF3"/>
                </a:solidFill>
                <a:latin typeface="Consolas"/>
              </a:rPr>
              <a:t> </a:t>
            </a:r>
            <a:r>
              <a:rPr sz="700" i="0">
                <a:solidFill>
                  <a:srgbClr val="82B1FF"/>
                </a:solidFill>
                <a:latin typeface="Consolas"/>
              </a:rPr>
              <a:t>place_order</a:t>
            </a:r>
            <a:r>
              <a:rPr sz="700" i="0">
                <a:solidFill>
                  <a:srgbClr val="E6EDF3"/>
                </a:solidFill>
                <a:latin typeface="Consolas"/>
              </a:rPr>
              <a:t>(</a:t>
            </a:r>
            <a:r>
              <a:rPr sz="700" i="0">
                <a:solidFill>
                  <a:srgbClr val="C3A6FF"/>
                </a:solidFill>
                <a:latin typeface="Consolas"/>
              </a:rPr>
              <a:t>self</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customer</a:t>
            </a:r>
            <a:r>
              <a:rPr sz="700" i="0">
                <a:solidFill>
                  <a:srgbClr val="E6EDF3"/>
                </a:solidFill>
                <a:latin typeface="Consolas"/>
              </a:rPr>
              <a:t>:</a:t>
            </a:r>
            <a:r>
              <a:rPr sz="700" i="0">
                <a:solidFill>
                  <a:srgbClr val="E6EDF3"/>
                </a:solidFill>
                <a:latin typeface="Consolas"/>
              </a:rPr>
              <a:t> </a:t>
            </a:r>
            <a:r>
              <a:rPr sz="700" i="0">
                <a:solidFill>
                  <a:srgbClr val="C3A6FF"/>
                </a:solidFill>
                <a:latin typeface="Consolas"/>
              </a:rPr>
              <a:t>str</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customer_type</a:t>
            </a:r>
            <a:r>
              <a:rPr sz="700" i="0">
                <a:solidFill>
                  <a:srgbClr val="E6EDF3"/>
                </a:solidFill>
                <a:latin typeface="Consolas"/>
              </a:rPr>
              <a:t>:</a:t>
            </a:r>
            <a:r>
              <a:rPr sz="700" i="0">
                <a:solidFill>
                  <a:srgbClr val="E6EDF3"/>
                </a:solidFill>
                <a:latin typeface="Consolas"/>
              </a:rPr>
              <a:t> </a:t>
            </a:r>
            <a:r>
              <a:rPr sz="700" i="0">
                <a:solidFill>
                  <a:srgbClr val="C3A6FF"/>
                </a:solidFill>
                <a:latin typeface="Consolas"/>
              </a:rPr>
              <a:t>str</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items</a:t>
            </a:r>
            <a:r>
              <a:rPr sz="700" i="0">
                <a:solidFill>
                  <a:srgbClr val="E6EDF3"/>
                </a:solidFill>
                <a:latin typeface="Consolas"/>
              </a:rPr>
              <a:t>:</a:t>
            </a:r>
            <a:r>
              <a:rPr sz="700" i="0">
                <a:solidFill>
                  <a:srgbClr val="E6EDF3"/>
                </a:solidFill>
                <a:latin typeface="Consolas"/>
              </a:rPr>
              <a:t> </a:t>
            </a:r>
            <a:r>
              <a:rPr sz="700" i="0">
                <a:solidFill>
                  <a:srgbClr val="C3A6FF"/>
                </a:solidFill>
                <a:latin typeface="Consolas"/>
              </a:rPr>
              <a:t>list</a:t>
            </a:r>
            <a:r>
              <a:rPr sz="700" i="0">
                <a:solidFill>
                  <a:srgbClr val="E6EDF3"/>
                </a:solidFill>
                <a:latin typeface="Consolas"/>
              </a:rPr>
              <a:t>[</a:t>
            </a:r>
            <a:r>
              <a:rPr sz="700" i="0">
                <a:solidFill>
                  <a:srgbClr val="C3A6FF"/>
                </a:solidFill>
                <a:latin typeface="Consolas"/>
              </a:rPr>
              <a:t>dict</a:t>
            </a:r>
            <a:r>
              <a:rPr sz="700" i="0">
                <a:solidFill>
                  <a:srgbClr val="E6EDF3"/>
                </a:solidFill>
                <a:latin typeface="Consolas"/>
              </a:rPr>
              <a:t>]</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&gt;</a:t>
            </a:r>
            <a:r>
              <a:rPr sz="700" i="0">
                <a:solidFill>
                  <a:srgbClr val="E6EDF3"/>
                </a:solidFill>
                <a:latin typeface="Consolas"/>
              </a:rPr>
              <a:t> </a:t>
            </a:r>
            <a:r>
              <a:rPr sz="700" i="0">
                <a:solidFill>
                  <a:srgbClr val="7FDBCA"/>
                </a:solidFill>
                <a:latin typeface="Consolas"/>
              </a:rPr>
              <a:t>Order</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E6EDF3"/>
                </a:solidFill>
                <a:latin typeface="Consolas"/>
              </a:rPr>
              <a:t>subtotal</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C3A6FF"/>
                </a:solidFill>
                <a:latin typeface="Consolas"/>
              </a:rPr>
              <a:t>sum</a:t>
            </a:r>
            <a:r>
              <a:rPr sz="700" i="0">
                <a:solidFill>
                  <a:srgbClr val="E6EDF3"/>
                </a:solidFill>
                <a:latin typeface="Consolas"/>
              </a:rPr>
              <a:t>(</a:t>
            </a:r>
            <a:r>
              <a:rPr sz="700" i="0">
                <a:solidFill>
                  <a:srgbClr val="E6EDF3"/>
                </a:solidFill>
                <a:latin typeface="Consolas"/>
              </a:rPr>
              <a:t>i</a:t>
            </a:r>
            <a:r>
              <a:rPr sz="700" i="0">
                <a:solidFill>
                  <a:srgbClr val="E6EDF3"/>
                </a:solidFill>
                <a:latin typeface="Consolas"/>
              </a:rPr>
              <a:t>[</a:t>
            </a:r>
            <a:r>
              <a:rPr sz="700" i="0">
                <a:solidFill>
                  <a:srgbClr val="A5D6A7"/>
                </a:solidFill>
                <a:latin typeface="Consolas"/>
              </a:rPr>
              <a:t>"price"</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i</a:t>
            </a:r>
            <a:r>
              <a:rPr sz="700" i="0">
                <a:solidFill>
                  <a:srgbClr val="E6EDF3"/>
                </a:solidFill>
                <a:latin typeface="Consolas"/>
              </a:rPr>
              <a:t>[</a:t>
            </a:r>
            <a:r>
              <a:rPr sz="700" i="0">
                <a:solidFill>
                  <a:srgbClr val="A5D6A7"/>
                </a:solidFill>
                <a:latin typeface="Consolas"/>
              </a:rPr>
              <a:t>"qty"</a:t>
            </a:r>
            <a:r>
              <a:rPr sz="700" i="0">
                <a:solidFill>
                  <a:srgbClr val="E6EDF3"/>
                </a:solidFill>
                <a:latin typeface="Consolas"/>
              </a:rPr>
              <a:t>]</a:t>
            </a:r>
            <a:r>
              <a:rPr sz="700" i="0">
                <a:solidFill>
                  <a:srgbClr val="E6EDF3"/>
                </a:solidFill>
                <a:latin typeface="Consolas"/>
              </a:rPr>
              <a:t> </a:t>
            </a:r>
            <a:r>
              <a:rPr sz="700" i="0">
                <a:solidFill>
                  <a:srgbClr val="FF8E6E"/>
                </a:solidFill>
                <a:latin typeface="Consolas"/>
              </a:rPr>
              <a:t>for</a:t>
            </a:r>
            <a:r>
              <a:rPr sz="700" i="0">
                <a:solidFill>
                  <a:srgbClr val="E6EDF3"/>
                </a:solidFill>
                <a:latin typeface="Consolas"/>
              </a:rPr>
              <a:t> </a:t>
            </a:r>
            <a:r>
              <a:rPr sz="700" i="0">
                <a:solidFill>
                  <a:srgbClr val="E6EDF3"/>
                </a:solidFill>
                <a:latin typeface="Consolas"/>
              </a:rPr>
              <a:t>i</a:t>
            </a:r>
            <a:r>
              <a:rPr sz="700" i="0">
                <a:solidFill>
                  <a:srgbClr val="E6EDF3"/>
                </a:solidFill>
                <a:latin typeface="Consolas"/>
              </a:rPr>
              <a:t> </a:t>
            </a:r>
            <a:r>
              <a:rPr sz="700" i="0">
                <a:solidFill>
                  <a:srgbClr val="FF8E6E"/>
                </a:solidFill>
                <a:latin typeface="Consolas"/>
              </a:rPr>
              <a:t>in</a:t>
            </a:r>
            <a:r>
              <a:rPr sz="700" i="0">
                <a:solidFill>
                  <a:srgbClr val="E6EDF3"/>
                </a:solidFill>
                <a:latin typeface="Consolas"/>
              </a:rPr>
              <a:t> </a:t>
            </a:r>
            <a:r>
              <a:rPr sz="700" i="0">
                <a:solidFill>
                  <a:srgbClr val="E6EDF3"/>
                </a:solidFill>
                <a:latin typeface="Consolas"/>
              </a:rPr>
              <a:t>items</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E6EDF3"/>
                </a:solidFill>
                <a:latin typeface="Consolas"/>
              </a:rPr>
              <a:t>total</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subtotal</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get_discount</a:t>
            </a:r>
            <a:r>
              <a:rPr sz="700" i="0">
                <a:solidFill>
                  <a:srgbClr val="E6EDF3"/>
                </a:solidFill>
                <a:latin typeface="Consolas"/>
              </a:rPr>
              <a:t>(</a:t>
            </a:r>
            <a:r>
              <a:rPr sz="700" i="0">
                <a:solidFill>
                  <a:srgbClr val="E6EDF3"/>
                </a:solidFill>
                <a:latin typeface="Consolas"/>
              </a:rPr>
              <a:t>customer_type</a:t>
            </a:r>
            <a:r>
              <a:rPr sz="700" i="0">
                <a:solidFill>
                  <a:srgbClr val="E6EDF3"/>
                </a:solidFill>
                <a:latin typeface="Consolas"/>
              </a:rPr>
              <a:t>)</a:t>
            </a:r>
            <a:r>
              <a:rPr sz="700" i="0">
                <a:solidFill>
                  <a:srgbClr val="E6EDF3"/>
                </a:solidFill>
                <a:latin typeface="Consolas"/>
              </a:rPr>
              <a:t>.</a:t>
            </a:r>
            <a:r>
              <a:rPr sz="700" i="0">
                <a:solidFill>
                  <a:srgbClr val="E6EDF3"/>
                </a:solidFill>
                <a:latin typeface="Consolas"/>
              </a:rPr>
              <a:t>discount</a:t>
            </a:r>
            <a:r>
              <a:rPr sz="700" i="0">
                <a:solidFill>
                  <a:srgbClr val="E6EDF3"/>
                </a:solidFill>
                <a:latin typeface="Consolas"/>
              </a:rPr>
              <a:t>(</a:t>
            </a:r>
            <a:r>
              <a:rPr sz="700" i="0">
                <a:solidFill>
                  <a:srgbClr val="E6EDF3"/>
                </a:solidFill>
                <a:latin typeface="Consolas"/>
              </a:rPr>
              <a:t>subtotal</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E6EDF3"/>
                </a:solidFill>
                <a:latin typeface="Consolas"/>
              </a:rPr>
              <a:t>order</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C3A6FF"/>
                </a:solidFill>
                <a:latin typeface="Consolas"/>
              </a:rPr>
              <a:t>self</a:t>
            </a:r>
            <a:r>
              <a:rPr sz="700" i="0">
                <a:solidFill>
                  <a:srgbClr val="E6EDF3"/>
                </a:solidFill>
                <a:latin typeface="Consolas"/>
              </a:rPr>
              <a:t>.</a:t>
            </a:r>
            <a:r>
              <a:rPr sz="700" i="0">
                <a:solidFill>
                  <a:srgbClr val="E6EDF3"/>
                </a:solidFill>
                <a:latin typeface="Consolas"/>
              </a:rPr>
              <a:t>repo</a:t>
            </a:r>
            <a:r>
              <a:rPr sz="700" i="0">
                <a:solidFill>
                  <a:srgbClr val="E6EDF3"/>
                </a:solidFill>
                <a:latin typeface="Consolas"/>
              </a:rPr>
              <a:t>.</a:t>
            </a:r>
            <a:r>
              <a:rPr sz="700" i="0">
                <a:solidFill>
                  <a:srgbClr val="E6EDF3"/>
                </a:solidFill>
                <a:latin typeface="Consolas"/>
              </a:rPr>
              <a:t>add</a:t>
            </a:r>
            <a:r>
              <a:rPr sz="700" i="0">
                <a:solidFill>
                  <a:srgbClr val="E6EDF3"/>
                </a:solidFill>
                <a:latin typeface="Consolas"/>
              </a:rPr>
              <a:t>(</a:t>
            </a:r>
            <a:r>
              <a:rPr sz="700" i="0">
                <a:solidFill>
                  <a:srgbClr val="7FDBCA"/>
                </a:solidFill>
                <a:latin typeface="Consolas"/>
              </a:rPr>
              <a:t>Order</a:t>
            </a:r>
            <a:r>
              <a:rPr sz="700" i="0">
                <a:solidFill>
                  <a:srgbClr val="E6EDF3"/>
                </a:solidFill>
                <a:latin typeface="Consolas"/>
              </a:rPr>
              <a:t>(</a:t>
            </a:r>
            <a:r>
              <a:rPr sz="700" i="0">
                <a:solidFill>
                  <a:srgbClr val="E6EDF3"/>
                </a:solidFill>
                <a:latin typeface="Consolas"/>
              </a:rPr>
              <a:t>customer</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customer_type</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subtotal</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total</a:t>
            </a:r>
            <a:r>
              <a:rPr sz="700" i="0">
                <a:solidFill>
                  <a:srgbClr val="E6EDF3"/>
                </a:solidFill>
                <a:latin typeface="Consolas"/>
              </a:rPr>
              <a:t>)</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C3A6FF"/>
                </a:solidFill>
                <a:latin typeface="Consolas"/>
              </a:rPr>
              <a:t>self</a:t>
            </a:r>
            <a:r>
              <a:rPr sz="700" i="0">
                <a:solidFill>
                  <a:srgbClr val="E6EDF3"/>
                </a:solidFill>
                <a:latin typeface="Consolas"/>
              </a:rPr>
              <a:t>.</a:t>
            </a:r>
            <a:r>
              <a:rPr sz="700" i="0">
                <a:solidFill>
                  <a:srgbClr val="E6EDF3"/>
                </a:solidFill>
                <a:latin typeface="Consolas"/>
              </a:rPr>
              <a:t>notifier</a:t>
            </a:r>
            <a:r>
              <a:rPr sz="700" i="0">
                <a:solidFill>
                  <a:srgbClr val="E6EDF3"/>
                </a:solidFill>
                <a:latin typeface="Consolas"/>
              </a:rPr>
              <a:t>.</a:t>
            </a:r>
            <a:r>
              <a:rPr sz="700" i="0">
                <a:solidFill>
                  <a:srgbClr val="E6EDF3"/>
                </a:solidFill>
                <a:latin typeface="Consolas"/>
              </a:rPr>
              <a:t>send</a:t>
            </a:r>
            <a:r>
              <a:rPr sz="700" i="0">
                <a:solidFill>
                  <a:srgbClr val="E6EDF3"/>
                </a:solidFill>
                <a:latin typeface="Consolas"/>
              </a:rPr>
              <a:t>(</a:t>
            </a:r>
            <a:r>
              <a:rPr sz="700" i="0">
                <a:solidFill>
                  <a:srgbClr val="E6EDF3"/>
                </a:solidFill>
                <a:latin typeface="Consolas"/>
              </a:rPr>
              <a:t>customer</a:t>
            </a:r>
            <a:r>
              <a:rPr sz="700" i="0">
                <a:solidFill>
                  <a:srgbClr val="E6EDF3"/>
                </a:solidFill>
                <a:latin typeface="Consolas"/>
              </a:rPr>
              <a:t>,</a:t>
            </a:r>
            <a:r>
              <a:rPr sz="700" i="0">
                <a:solidFill>
                  <a:srgbClr val="E6EDF3"/>
                </a:solidFill>
                <a:latin typeface="Consolas"/>
              </a:rPr>
              <a:t> </a:t>
            </a:r>
            <a:r>
              <a:rPr sz="700" i="0">
                <a:solidFill>
                  <a:srgbClr val="A5D6A7"/>
                </a:solidFill>
                <a:latin typeface="Consolas"/>
              </a:rPr>
              <a:t>f"Order #{order.id} total Rp{total:,}"</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FF8E6E"/>
                </a:solidFill>
                <a:latin typeface="Consolas"/>
              </a:rPr>
              <a:t>return</a:t>
            </a:r>
            <a:r>
              <a:rPr sz="700" i="0">
                <a:solidFill>
                  <a:srgbClr val="E6EDF3"/>
                </a:solidFill>
                <a:latin typeface="Consolas"/>
              </a:rPr>
              <a:t> </a:t>
            </a:r>
            <a:r>
              <a:rPr sz="700" i="0">
                <a:solidFill>
                  <a:srgbClr val="E6EDF3"/>
                </a:solidFill>
                <a:latin typeface="Consolas"/>
              </a:rPr>
              <a:t>order</a:t>
            </a:r>
          </a:p>
          <a:p>
            <a:pPr>
              <a:lnSpc>
                <a:spcPts val="900"/>
              </a:lnSpc>
              <a:spcAft>
                <a:spcPts val="0"/>
              </a:spcAft>
            </a:pP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a:t>
            </a:r>
            <a:r>
              <a:rPr sz="700" i="0">
                <a:solidFill>
                  <a:srgbClr val="E6EDF3"/>
                </a:solidFill>
                <a:latin typeface="Consolas"/>
              </a:rPr>
              <a:t>.</a:t>
            </a:r>
          </a:p>
        </p:txBody>
      </p:sp>
      <p:sp>
        <p:nvSpPr>
          <p:cNvPr id="29" name="Box 12"/>
          <p:cNvSpPr/>
          <p:nvPr/>
        </p:nvSpPr>
        <p:spPr>
          <a:xfrm>
            <a:off x="704088" y="1825371"/>
            <a:ext cx="4727448" cy="336042"/>
          </a:xfrm>
          <a:prstGeom prst="roundRect">
            <a:avLst>
              <a:gd name="adj" fmla="val 1360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312664" y="18745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2396871"/>
            <a:ext cx="4727448" cy="336042"/>
          </a:xfrm>
          <a:prstGeom prst="roundRect">
            <a:avLst>
              <a:gd name="adj" fmla="val 1360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5312664" y="24460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704088" y="3196971"/>
            <a:ext cx="472744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Box 17"/>
          <p:cNvSpPr/>
          <p:nvPr/>
        </p:nvSpPr>
        <p:spPr>
          <a:xfrm>
            <a:off x="5312664" y="31318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
        <p:nvSpPr>
          <p:cNvPr id="35" name="Box 18"/>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6" name="Text 19"/>
          <p:cNvSpPr txBox="1"/>
          <p:nvPr/>
        </p:nvSpPr>
        <p:spPr>
          <a:xfrm>
            <a:off x="5806440" y="157276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7" name="Text 20"/>
          <p:cNvSpPr txBox="1"/>
          <p:nvPr/>
        </p:nvSpPr>
        <p:spPr>
          <a:xfrm>
            <a:off x="5806440" y="1892808"/>
            <a:ext cx="2542032"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Import hanya dari </a:t>
            </a:r>
            <a:r>
              <a:rPr sz="900" i="0" b="0">
                <a:solidFill>
                  <a:srgbClr val="B5482A"/>
                </a:solidFill>
                <a:latin typeface="Consolas"/>
              </a:rPr>
              <a:t>application.ports</a:t>
            </a:r>
            <a:r>
              <a:rPr sz="900" i="0" b="0">
                <a:solidFill>
                  <a:srgbClr val="434343"/>
                </a:solidFill>
                <a:latin typeface="Inter"/>
              </a:rPr>
              <a:t> dan </a:t>
            </a:r>
            <a:r>
              <a:rPr sz="900" i="0" b="0">
                <a:solidFill>
                  <a:srgbClr val="B5482A"/>
                </a:solidFill>
                <a:latin typeface="Consolas"/>
              </a:rPr>
              <a:t>domain</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Dependency diterima lewat </a:t>
            </a:r>
            <a:r>
              <a:rPr sz="900" i="0" b="0">
                <a:solidFill>
                  <a:srgbClr val="B5482A"/>
                </a:solidFill>
                <a:latin typeface="Consolas"/>
              </a:rPr>
              <a:t>__init__</a:t>
            </a:r>
            <a:r>
              <a:rPr sz="900" i="0" b="0">
                <a:solidFill>
                  <a:srgbClr val="434343"/>
                </a:solidFill>
                <a:latin typeface="Inter"/>
              </a:rPr>
              <a:t> dengan tipe port</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Logic sama seperti Sesi 1, sekarang memakai </a:t>
            </a:r>
            <a:r>
              <a:rPr sz="900" i="0" b="0">
                <a:solidFill>
                  <a:srgbClr val="B5482A"/>
                </a:solidFill>
                <a:latin typeface="Consolas"/>
              </a:rPr>
              <a:t>Order</a:t>
            </a:r>
          </a:p>
        </p:txBody>
      </p:sp>
      <p:sp>
        <p:nvSpPr>
          <p:cNvPr id="38" name="Box 21"/>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9" name="Text 22"/>
          <p:cNvSpPr txBox="1"/>
          <p:nvPr/>
        </p:nvSpPr>
        <p:spPr>
          <a:xfrm>
            <a:off x="5806440" y="381304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40" name="Text 23"/>
          <p:cNvSpPr txBox="1"/>
          <p:nvPr/>
        </p:nvSpPr>
        <p:spPr>
          <a:xfrm>
            <a:off x="5806440" y="4133088"/>
            <a:ext cx="2542032" cy="475488"/>
          </a:xfrm>
          <a:prstGeom prst="rect">
            <a:avLst/>
          </a:prstGeom>
          <a:noFill/>
        </p:spPr>
        <p:txBody>
          <a:bodyPr wrap="square" anchor="t" lIns="45720" rIns="45720">
            <a:spAutoFit/>
          </a:bodyPr>
          <a:lstStyle/>
          <a:p>
            <a:pPr algn="l">
              <a:lnSpc>
                <a:spcPct val="115000"/>
              </a:lnSpc>
              <a:spcAft>
                <a:spcPts val="400"/>
              </a:spcAft>
            </a:pPr>
            <a:r>
              <a:rPr sz="900" i="0" b="0">
                <a:solidFill>
                  <a:srgbClr val="B5482A"/>
                </a:solidFill>
                <a:latin typeface="Consolas"/>
              </a:rPr>
              <a:t>OrderNotFound</a:t>
            </a:r>
            <a:r>
              <a:rPr sz="900" i="0" b="0">
                <a:solidFill>
                  <a:srgbClr val="434343"/>
                </a:solidFill>
                <a:latin typeface="Inter"/>
              </a:rPr>
              <a:t> dan </a:t>
            </a:r>
            <a:r>
              <a:rPr sz="900" i="0" b="0">
                <a:solidFill>
                  <a:srgbClr val="B5482A"/>
                </a:solidFill>
                <a:latin typeface="Consolas"/>
              </a:rPr>
              <a:t>get_order()</a:t>
            </a:r>
            <a:r>
              <a:rPr sz="900" i="0" b="0">
                <a:solidFill>
                  <a:srgbClr val="434343"/>
                </a:solidFill>
                <a:latin typeface="Inter"/>
              </a:rPr>
              <a:t> lengkapnya ada di file.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5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infrastructure/: Adapter SQLite, Notifier, Config</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754880"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app/infrastructure/sqlite_repository.py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5394960" cy="2980944"/>
          </a:xfrm>
          <a:prstGeom prst="rect">
            <a:avLst/>
          </a:prstGeom>
          <a:noFill/>
        </p:spPr>
        <p:txBody>
          <a:bodyPr wrap="none" lIns="146304" rIns="146304" tIns="91440" bIns="54864">
            <a:spAutoFit/>
          </a:bodyPr>
          <a:lstStyle/>
          <a:p>
            <a:pPr>
              <a:lnSpc>
                <a:spcPts val="900"/>
              </a:lnSpc>
              <a:spcAft>
                <a:spcPts val="0"/>
              </a:spcAft>
            </a:pPr>
            <a:r>
              <a:rPr sz="675" i="0">
                <a:solidFill>
                  <a:srgbClr val="FF8E6E"/>
                </a:solidFill>
                <a:latin typeface="Consolas"/>
              </a:rPr>
              <a:t>class</a:t>
            </a:r>
            <a:r>
              <a:rPr sz="675" i="0">
                <a:solidFill>
                  <a:srgbClr val="E6EDF3"/>
                </a:solidFill>
                <a:latin typeface="Consolas"/>
              </a:rPr>
              <a:t> </a:t>
            </a:r>
            <a:r>
              <a:rPr sz="675" i="0">
                <a:solidFill>
                  <a:srgbClr val="7FDBCA"/>
                </a:solidFill>
                <a:latin typeface="Consolas"/>
              </a:rPr>
              <a:t>SqliteOrderRepository</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FF8E6E"/>
                </a:solidFill>
                <a:latin typeface="Consolas"/>
              </a:rPr>
              <a:t>def</a:t>
            </a:r>
            <a:r>
              <a:rPr sz="675" i="0">
                <a:solidFill>
                  <a:srgbClr val="E6EDF3"/>
                </a:solidFill>
                <a:latin typeface="Consolas"/>
              </a:rPr>
              <a:t> </a:t>
            </a:r>
            <a:r>
              <a:rPr sz="675" i="0">
                <a:solidFill>
                  <a:srgbClr val="82B1FF"/>
                </a:solidFill>
                <a:latin typeface="Consolas"/>
              </a:rPr>
              <a:t>__init__</a:t>
            </a:r>
            <a:r>
              <a:rPr sz="675" i="0">
                <a:solidFill>
                  <a:srgbClr val="E6EDF3"/>
                </a:solidFill>
                <a:latin typeface="Consolas"/>
              </a:rPr>
              <a:t>(</a:t>
            </a:r>
            <a:r>
              <a:rPr sz="675" i="0">
                <a:solidFill>
                  <a:srgbClr val="C3A6FF"/>
                </a:solidFill>
                <a:latin typeface="Consolas"/>
              </a:rPr>
              <a:t>self</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path</a:t>
            </a:r>
            <a:r>
              <a:rPr sz="675" i="0">
                <a:solidFill>
                  <a:srgbClr val="E6EDF3"/>
                </a:solidFill>
                <a:latin typeface="Consolas"/>
              </a:rPr>
              <a:t>:</a:t>
            </a:r>
            <a:r>
              <a:rPr sz="675" i="0">
                <a:solidFill>
                  <a:srgbClr val="E6EDF3"/>
                </a:solidFill>
                <a:latin typeface="Consolas"/>
              </a:rPr>
              <a:t> </a:t>
            </a:r>
            <a:r>
              <a:rPr sz="675" i="0">
                <a:solidFill>
                  <a:srgbClr val="C3A6FF"/>
                </a:solidFill>
                <a:latin typeface="Consolas"/>
              </a:rPr>
              <a:t>str</a:t>
            </a:r>
            <a:r>
              <a:rPr sz="675" i="0">
                <a:solidFill>
                  <a:srgbClr val="E6EDF3"/>
                </a:solidFill>
                <a:latin typeface="Consolas"/>
              </a:rPr>
              <a:t>)</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C3A6FF"/>
                </a:solidFill>
                <a:latin typeface="Consolas"/>
              </a:rPr>
              <a:t>self</a:t>
            </a:r>
            <a:r>
              <a:rPr sz="675" i="0">
                <a:solidFill>
                  <a:srgbClr val="E6EDF3"/>
                </a:solidFill>
                <a:latin typeface="Consolas"/>
              </a:rPr>
              <a:t>.</a:t>
            </a:r>
            <a:r>
              <a:rPr sz="675" i="0">
                <a:solidFill>
                  <a:srgbClr val="E6EDF3"/>
                </a:solidFill>
                <a:latin typeface="Consolas"/>
              </a:rPr>
              <a:t>conn</a:t>
            </a: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sqlite3</a:t>
            </a:r>
            <a:r>
              <a:rPr sz="675" i="0">
                <a:solidFill>
                  <a:srgbClr val="E6EDF3"/>
                </a:solidFill>
                <a:latin typeface="Consolas"/>
              </a:rPr>
              <a:t>.</a:t>
            </a:r>
            <a:r>
              <a:rPr sz="675" i="0">
                <a:solidFill>
                  <a:srgbClr val="E6EDF3"/>
                </a:solidFill>
                <a:latin typeface="Consolas"/>
              </a:rPr>
              <a:t>connect</a:t>
            </a:r>
            <a:r>
              <a:rPr sz="675" i="0">
                <a:solidFill>
                  <a:srgbClr val="E6EDF3"/>
                </a:solidFill>
                <a:latin typeface="Consolas"/>
              </a:rPr>
              <a:t>(</a:t>
            </a:r>
            <a:r>
              <a:rPr sz="675" i="0">
                <a:solidFill>
                  <a:srgbClr val="E6EDF3"/>
                </a:solidFill>
                <a:latin typeface="Consolas"/>
              </a:rPr>
              <a:t>path</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check_same_thread</a:t>
            </a:r>
            <a:r>
              <a:rPr sz="675" i="0">
                <a:solidFill>
                  <a:srgbClr val="E6EDF3"/>
                </a:solidFill>
                <a:latin typeface="Consolas"/>
              </a:rPr>
              <a:t>=</a:t>
            </a:r>
            <a:r>
              <a:rPr sz="675" i="0">
                <a:solidFill>
                  <a:srgbClr val="FF8E6E"/>
                </a:solidFill>
                <a:latin typeface="Consolas"/>
              </a:rPr>
              <a:t>False</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a:t>
            </a:r>
            <a:r>
              <a:rPr sz="675" i="0">
                <a:solidFill>
                  <a:srgbClr val="E6EDF3"/>
                </a:solidFill>
                <a:latin typeface="Consolas"/>
              </a:rPr>
              <a:t>.</a:t>
            </a:r>
          </a:p>
          <a:p>
            <a:pPr>
              <a:lnSpc>
                <a:spcPts val="900"/>
              </a:lnSpc>
              <a:spcAft>
                <a:spcPts val="0"/>
              </a:spcAft>
            </a:pPr>
            <a:r>
              <a:rPr sz="675" i="0">
                <a:solidFill>
                  <a:srgbClr val="E6EDF3"/>
                </a:solidFill>
                <a:latin typeface="Consolas"/>
              </a:rPr>
              <a:t> </a:t>
            </a:r>
          </a:p>
          <a:p>
            <a:pPr>
              <a:lnSpc>
                <a:spcPts val="900"/>
              </a:lnSpc>
              <a:spcAft>
                <a:spcPts val="0"/>
              </a:spcAft>
            </a:pPr>
            <a:r>
              <a:rPr sz="675" i="0">
                <a:solidFill>
                  <a:srgbClr val="E6EDF3"/>
                </a:solidFill>
                <a:latin typeface="Consolas"/>
              </a:rPr>
              <a:t>    </a:t>
            </a:r>
            <a:r>
              <a:rPr sz="675" i="0">
                <a:solidFill>
                  <a:srgbClr val="FF8E6E"/>
                </a:solidFill>
                <a:latin typeface="Consolas"/>
              </a:rPr>
              <a:t>def</a:t>
            </a:r>
            <a:r>
              <a:rPr sz="675" i="0">
                <a:solidFill>
                  <a:srgbClr val="E6EDF3"/>
                </a:solidFill>
                <a:latin typeface="Consolas"/>
              </a:rPr>
              <a:t> </a:t>
            </a:r>
            <a:r>
              <a:rPr sz="675" i="0">
                <a:solidFill>
                  <a:srgbClr val="82B1FF"/>
                </a:solidFill>
                <a:latin typeface="Consolas"/>
              </a:rPr>
              <a:t>add</a:t>
            </a:r>
            <a:r>
              <a:rPr sz="675" i="0">
                <a:solidFill>
                  <a:srgbClr val="E6EDF3"/>
                </a:solidFill>
                <a:latin typeface="Consolas"/>
              </a:rPr>
              <a:t>(</a:t>
            </a:r>
            <a:r>
              <a:rPr sz="675" i="0">
                <a:solidFill>
                  <a:srgbClr val="C3A6FF"/>
                </a:solidFill>
                <a:latin typeface="Consolas"/>
              </a:rPr>
              <a:t>self</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order</a:t>
            </a:r>
            <a:r>
              <a:rPr sz="675" i="0">
                <a:solidFill>
                  <a:srgbClr val="E6EDF3"/>
                </a:solidFill>
                <a:latin typeface="Consolas"/>
              </a:rPr>
              <a:t>:</a:t>
            </a:r>
            <a:r>
              <a:rPr sz="675" i="0">
                <a:solidFill>
                  <a:srgbClr val="E6EDF3"/>
                </a:solidFill>
                <a:latin typeface="Consolas"/>
              </a:rPr>
              <a:t> </a:t>
            </a:r>
            <a:r>
              <a:rPr sz="675" i="0">
                <a:solidFill>
                  <a:srgbClr val="7FDBCA"/>
                </a:solidFill>
                <a:latin typeface="Consolas"/>
              </a:rPr>
              <a:t>Order</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&gt;</a:t>
            </a:r>
            <a:r>
              <a:rPr sz="675" i="0">
                <a:solidFill>
                  <a:srgbClr val="E6EDF3"/>
                </a:solidFill>
                <a:latin typeface="Consolas"/>
              </a:rPr>
              <a:t> </a:t>
            </a:r>
            <a:r>
              <a:rPr sz="675" i="0">
                <a:solidFill>
                  <a:srgbClr val="7FDBCA"/>
                </a:solidFill>
                <a:latin typeface="Consolas"/>
              </a:rPr>
              <a:t>Order</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E6EDF3"/>
                </a:solidFill>
                <a:latin typeface="Consolas"/>
              </a:rPr>
              <a:t>cur</a:t>
            </a: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 </a:t>
            </a:r>
            <a:r>
              <a:rPr sz="675" i="0">
                <a:solidFill>
                  <a:srgbClr val="C3A6FF"/>
                </a:solidFill>
                <a:latin typeface="Consolas"/>
              </a:rPr>
              <a:t>self</a:t>
            </a:r>
            <a:r>
              <a:rPr sz="675" i="0">
                <a:solidFill>
                  <a:srgbClr val="E6EDF3"/>
                </a:solidFill>
                <a:latin typeface="Consolas"/>
              </a:rPr>
              <a:t>.</a:t>
            </a:r>
            <a:r>
              <a:rPr sz="675" i="0">
                <a:solidFill>
                  <a:srgbClr val="E6EDF3"/>
                </a:solidFill>
                <a:latin typeface="Consolas"/>
              </a:rPr>
              <a:t>conn</a:t>
            </a:r>
            <a:r>
              <a:rPr sz="675" i="0">
                <a:solidFill>
                  <a:srgbClr val="E6EDF3"/>
                </a:solidFill>
                <a:latin typeface="Consolas"/>
              </a:rPr>
              <a:t>.</a:t>
            </a:r>
            <a:r>
              <a:rPr sz="675" i="0">
                <a:solidFill>
                  <a:srgbClr val="E6EDF3"/>
                </a:solidFill>
                <a:latin typeface="Consolas"/>
              </a:rPr>
              <a:t>execute</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A5D6A7"/>
                </a:solidFill>
                <a:latin typeface="Consolas"/>
              </a:rPr>
              <a:t>"INSERT INTO orders (customer, customer_type, subtotal, total) VALUES (?, ?, ?, ?)"</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order</a:t>
            </a:r>
            <a:r>
              <a:rPr sz="675" i="0">
                <a:solidFill>
                  <a:srgbClr val="E6EDF3"/>
                </a:solidFill>
                <a:latin typeface="Consolas"/>
              </a:rPr>
              <a:t>.</a:t>
            </a:r>
            <a:r>
              <a:rPr sz="675" i="0">
                <a:solidFill>
                  <a:srgbClr val="E6EDF3"/>
                </a:solidFill>
                <a:latin typeface="Consolas"/>
              </a:rPr>
              <a:t>customer</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order</a:t>
            </a:r>
            <a:r>
              <a:rPr sz="675" i="0">
                <a:solidFill>
                  <a:srgbClr val="E6EDF3"/>
                </a:solidFill>
                <a:latin typeface="Consolas"/>
              </a:rPr>
              <a:t>.</a:t>
            </a:r>
            <a:r>
              <a:rPr sz="675" i="0">
                <a:solidFill>
                  <a:srgbClr val="E6EDF3"/>
                </a:solidFill>
                <a:latin typeface="Consolas"/>
              </a:rPr>
              <a:t>customer_type</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order</a:t>
            </a:r>
            <a:r>
              <a:rPr sz="675" i="0">
                <a:solidFill>
                  <a:srgbClr val="E6EDF3"/>
                </a:solidFill>
                <a:latin typeface="Consolas"/>
              </a:rPr>
              <a:t>.</a:t>
            </a:r>
            <a:r>
              <a:rPr sz="675" i="0">
                <a:solidFill>
                  <a:srgbClr val="E6EDF3"/>
                </a:solidFill>
                <a:latin typeface="Consolas"/>
              </a:rPr>
              <a:t>subtotal</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order</a:t>
            </a:r>
            <a:r>
              <a:rPr sz="675" i="0">
                <a:solidFill>
                  <a:srgbClr val="E6EDF3"/>
                </a:solidFill>
                <a:latin typeface="Consolas"/>
              </a:rPr>
              <a:t>.</a:t>
            </a:r>
            <a:r>
              <a:rPr sz="675" i="0">
                <a:solidFill>
                  <a:srgbClr val="E6EDF3"/>
                </a:solidFill>
                <a:latin typeface="Consolas"/>
              </a:rPr>
              <a:t>total</a:t>
            </a:r>
            <a:r>
              <a:rPr sz="675" i="0">
                <a:solidFill>
                  <a:srgbClr val="E6EDF3"/>
                </a:solidFill>
                <a:latin typeface="Consolas"/>
              </a:rPr>
              <a:t>)</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C3A6FF"/>
                </a:solidFill>
                <a:latin typeface="Consolas"/>
              </a:rPr>
              <a:t>self</a:t>
            </a:r>
            <a:r>
              <a:rPr sz="675" i="0">
                <a:solidFill>
                  <a:srgbClr val="E6EDF3"/>
                </a:solidFill>
                <a:latin typeface="Consolas"/>
              </a:rPr>
              <a:t>.</a:t>
            </a:r>
            <a:r>
              <a:rPr sz="675" i="0">
                <a:solidFill>
                  <a:srgbClr val="E6EDF3"/>
                </a:solidFill>
                <a:latin typeface="Consolas"/>
              </a:rPr>
              <a:t>conn</a:t>
            </a:r>
            <a:r>
              <a:rPr sz="675" i="0">
                <a:solidFill>
                  <a:srgbClr val="E6EDF3"/>
                </a:solidFill>
                <a:latin typeface="Consolas"/>
              </a:rPr>
              <a:t>.</a:t>
            </a:r>
            <a:r>
              <a:rPr sz="675" i="0">
                <a:solidFill>
                  <a:srgbClr val="E6EDF3"/>
                </a:solidFill>
                <a:latin typeface="Consolas"/>
              </a:rPr>
              <a:t>commit</a:t>
            </a:r>
            <a:r>
              <a:rPr sz="675" i="0">
                <a:solidFill>
                  <a:srgbClr val="E6EDF3"/>
                </a:solidFill>
                <a:latin typeface="Consolas"/>
              </a:rPr>
              <a:t>(</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FF8E6E"/>
                </a:solidFill>
                <a:latin typeface="Consolas"/>
              </a:rPr>
              <a:t>return</a:t>
            </a:r>
            <a:r>
              <a:rPr sz="675" i="0">
                <a:solidFill>
                  <a:srgbClr val="E6EDF3"/>
                </a:solidFill>
                <a:latin typeface="Consolas"/>
              </a:rPr>
              <a:t> </a:t>
            </a:r>
            <a:r>
              <a:rPr sz="675" i="0">
                <a:solidFill>
                  <a:srgbClr val="E6EDF3"/>
                </a:solidFill>
                <a:latin typeface="Consolas"/>
              </a:rPr>
              <a:t>replace</a:t>
            </a:r>
            <a:r>
              <a:rPr sz="675" i="0">
                <a:solidFill>
                  <a:srgbClr val="E6EDF3"/>
                </a:solidFill>
                <a:latin typeface="Consolas"/>
              </a:rPr>
              <a:t>(</a:t>
            </a:r>
            <a:r>
              <a:rPr sz="675" i="0">
                <a:solidFill>
                  <a:srgbClr val="E6EDF3"/>
                </a:solidFill>
                <a:latin typeface="Consolas"/>
              </a:rPr>
              <a:t>order</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id</a:t>
            </a:r>
            <a:r>
              <a:rPr sz="675" i="0">
                <a:solidFill>
                  <a:srgbClr val="E6EDF3"/>
                </a:solidFill>
                <a:latin typeface="Consolas"/>
              </a:rPr>
              <a:t>=</a:t>
            </a:r>
            <a:r>
              <a:rPr sz="675" i="0">
                <a:solidFill>
                  <a:srgbClr val="E6EDF3"/>
                </a:solidFill>
                <a:latin typeface="Consolas"/>
              </a:rPr>
              <a:t>cur</a:t>
            </a:r>
            <a:r>
              <a:rPr sz="675" i="0">
                <a:solidFill>
                  <a:srgbClr val="E6EDF3"/>
                </a:solidFill>
                <a:latin typeface="Consolas"/>
              </a:rPr>
              <a:t>.</a:t>
            </a:r>
            <a:r>
              <a:rPr sz="675" i="0">
                <a:solidFill>
                  <a:srgbClr val="E6EDF3"/>
                </a:solidFill>
                <a:latin typeface="Consolas"/>
              </a:rPr>
              <a:t>lastrowid</a:t>
            </a:r>
            <a:r>
              <a:rPr sz="675" i="0">
                <a:solidFill>
                  <a:srgbClr val="E6EDF3"/>
                </a:solidFill>
                <a:latin typeface="Consolas"/>
              </a:rPr>
              <a:t>)</a:t>
            </a:r>
          </a:p>
          <a:p>
            <a:pPr>
              <a:lnSpc>
                <a:spcPts val="900"/>
              </a:lnSpc>
              <a:spcAft>
                <a:spcPts val="0"/>
              </a:spcAft>
            </a:pPr>
            <a:r>
              <a:rPr sz="675" i="0">
                <a:solidFill>
                  <a:srgbClr val="E6EDF3"/>
                </a:solidFill>
                <a:latin typeface="Consolas"/>
              </a:rPr>
              <a:t> </a:t>
            </a:r>
          </a:p>
          <a:p>
            <a:pPr>
              <a:lnSpc>
                <a:spcPts val="900"/>
              </a:lnSpc>
              <a:spcAft>
                <a:spcPts val="0"/>
              </a:spcAft>
            </a:pPr>
            <a:r>
              <a:rPr sz="675" i="0">
                <a:solidFill>
                  <a:srgbClr val="E6EDF3"/>
                </a:solidFill>
                <a:latin typeface="Consolas"/>
              </a:rPr>
              <a:t>    </a:t>
            </a:r>
            <a:r>
              <a:rPr sz="675" i="0">
                <a:solidFill>
                  <a:srgbClr val="FF8E6E"/>
                </a:solidFill>
                <a:latin typeface="Consolas"/>
              </a:rPr>
              <a:t>def</a:t>
            </a:r>
            <a:r>
              <a:rPr sz="675" i="0">
                <a:solidFill>
                  <a:srgbClr val="E6EDF3"/>
                </a:solidFill>
                <a:latin typeface="Consolas"/>
              </a:rPr>
              <a:t> </a:t>
            </a:r>
            <a:r>
              <a:rPr sz="675" i="0">
                <a:solidFill>
                  <a:srgbClr val="82B1FF"/>
                </a:solidFill>
                <a:latin typeface="Consolas"/>
              </a:rPr>
              <a:t>get</a:t>
            </a:r>
            <a:r>
              <a:rPr sz="675" i="0">
                <a:solidFill>
                  <a:srgbClr val="E6EDF3"/>
                </a:solidFill>
                <a:latin typeface="Consolas"/>
              </a:rPr>
              <a:t>(</a:t>
            </a:r>
            <a:r>
              <a:rPr sz="675" i="0">
                <a:solidFill>
                  <a:srgbClr val="C3A6FF"/>
                </a:solidFill>
                <a:latin typeface="Consolas"/>
              </a:rPr>
              <a:t>self</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order_id</a:t>
            </a:r>
            <a:r>
              <a:rPr sz="675" i="0">
                <a:solidFill>
                  <a:srgbClr val="E6EDF3"/>
                </a:solidFill>
                <a:latin typeface="Consolas"/>
              </a:rPr>
              <a:t>:</a:t>
            </a:r>
            <a:r>
              <a:rPr sz="675" i="0">
                <a:solidFill>
                  <a:srgbClr val="E6EDF3"/>
                </a:solidFill>
                <a:latin typeface="Consolas"/>
              </a:rPr>
              <a:t> </a:t>
            </a:r>
            <a:r>
              <a:rPr sz="675" i="0">
                <a:solidFill>
                  <a:srgbClr val="C3A6FF"/>
                </a:solidFill>
                <a:latin typeface="Consolas"/>
              </a:rPr>
              <a:t>int</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&gt;</a:t>
            </a:r>
            <a:r>
              <a:rPr sz="675" i="0">
                <a:solidFill>
                  <a:srgbClr val="E6EDF3"/>
                </a:solidFill>
                <a:latin typeface="Consolas"/>
              </a:rPr>
              <a:t> </a:t>
            </a:r>
            <a:r>
              <a:rPr sz="675" i="0">
                <a:solidFill>
                  <a:srgbClr val="7FDBCA"/>
                </a:solidFill>
                <a:latin typeface="Consolas"/>
              </a:rPr>
              <a:t>Order</a:t>
            </a: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 </a:t>
            </a:r>
            <a:r>
              <a:rPr sz="675" i="0">
                <a:solidFill>
                  <a:srgbClr val="FF8E6E"/>
                </a:solidFill>
                <a:latin typeface="Consolas"/>
              </a:rPr>
              <a:t>None</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E6EDF3"/>
                </a:solidFill>
                <a:latin typeface="Consolas"/>
              </a:rPr>
              <a:t>row</a:t>
            </a: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 </a:t>
            </a:r>
            <a:r>
              <a:rPr sz="675" i="0">
                <a:solidFill>
                  <a:srgbClr val="C3A6FF"/>
                </a:solidFill>
                <a:latin typeface="Consolas"/>
              </a:rPr>
              <a:t>self</a:t>
            </a:r>
            <a:r>
              <a:rPr sz="675" i="0">
                <a:solidFill>
                  <a:srgbClr val="E6EDF3"/>
                </a:solidFill>
                <a:latin typeface="Consolas"/>
              </a:rPr>
              <a:t>.</a:t>
            </a:r>
            <a:r>
              <a:rPr sz="675" i="0">
                <a:solidFill>
                  <a:srgbClr val="E6EDF3"/>
                </a:solidFill>
                <a:latin typeface="Consolas"/>
              </a:rPr>
              <a:t>conn</a:t>
            </a:r>
            <a:r>
              <a:rPr sz="675" i="0">
                <a:solidFill>
                  <a:srgbClr val="E6EDF3"/>
                </a:solidFill>
                <a:latin typeface="Consolas"/>
              </a:rPr>
              <a:t>.</a:t>
            </a:r>
            <a:r>
              <a:rPr sz="675" i="0">
                <a:solidFill>
                  <a:srgbClr val="E6EDF3"/>
                </a:solidFill>
                <a:latin typeface="Consolas"/>
              </a:rPr>
              <a:t>execute</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A5D6A7"/>
                </a:solidFill>
                <a:latin typeface="Consolas"/>
              </a:rPr>
              <a:t>"SELECT customer, customer_type, subtotal, total, id FROM orders WHERE id = ?"</a:t>
            </a:r>
            <a:r>
              <a:rPr sz="675" i="0">
                <a:solidFill>
                  <a:srgbClr val="E6EDF3"/>
                </a:solidFill>
                <a:latin typeface="Consolas"/>
              </a:rPr>
              <a:t>,</a:t>
            </a: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order_id</a:t>
            </a:r>
            <a:r>
              <a:rPr sz="675" i="0">
                <a:solidFill>
                  <a:srgbClr val="E6EDF3"/>
                </a:solidFill>
                <a:latin typeface="Consolas"/>
              </a:rPr>
              <a:t>,</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E6EDF3"/>
                </a:solidFill>
                <a:latin typeface="Consolas"/>
              </a:rPr>
              <a:t>)</a:t>
            </a:r>
            <a:r>
              <a:rPr sz="675" i="0">
                <a:solidFill>
                  <a:srgbClr val="E6EDF3"/>
                </a:solidFill>
                <a:latin typeface="Consolas"/>
              </a:rPr>
              <a:t>.</a:t>
            </a:r>
            <a:r>
              <a:rPr sz="675" i="0">
                <a:solidFill>
                  <a:srgbClr val="E6EDF3"/>
                </a:solidFill>
                <a:latin typeface="Consolas"/>
              </a:rPr>
              <a:t>fetchone</a:t>
            </a:r>
            <a:r>
              <a:rPr sz="675" i="0">
                <a:solidFill>
                  <a:srgbClr val="E6EDF3"/>
                </a:solidFill>
                <a:latin typeface="Consolas"/>
              </a:rPr>
              <a:t>(</a:t>
            </a:r>
            <a:r>
              <a:rPr sz="675" i="0">
                <a:solidFill>
                  <a:srgbClr val="E6EDF3"/>
                </a:solidFill>
                <a:latin typeface="Consolas"/>
              </a:rPr>
              <a:t>)</a:t>
            </a:r>
          </a:p>
          <a:p>
            <a:pPr>
              <a:lnSpc>
                <a:spcPts val="900"/>
              </a:lnSpc>
              <a:spcAft>
                <a:spcPts val="0"/>
              </a:spcAft>
            </a:pPr>
            <a:r>
              <a:rPr sz="675" i="0">
                <a:solidFill>
                  <a:srgbClr val="E6EDF3"/>
                </a:solidFill>
                <a:latin typeface="Consolas"/>
              </a:rPr>
              <a:t>        </a:t>
            </a:r>
            <a:r>
              <a:rPr sz="675" i="0">
                <a:solidFill>
                  <a:srgbClr val="FF8E6E"/>
                </a:solidFill>
                <a:latin typeface="Consolas"/>
              </a:rPr>
              <a:t>return</a:t>
            </a:r>
            <a:r>
              <a:rPr sz="675" i="0">
                <a:solidFill>
                  <a:srgbClr val="E6EDF3"/>
                </a:solidFill>
                <a:latin typeface="Consolas"/>
              </a:rPr>
              <a:t> </a:t>
            </a:r>
            <a:r>
              <a:rPr sz="675" i="0">
                <a:solidFill>
                  <a:srgbClr val="7FDBCA"/>
                </a:solidFill>
                <a:latin typeface="Consolas"/>
              </a:rPr>
              <a:t>Order</a:t>
            </a:r>
            <a:r>
              <a:rPr sz="675" i="0">
                <a:solidFill>
                  <a:srgbClr val="E6EDF3"/>
                </a:solidFill>
                <a:latin typeface="Consolas"/>
              </a:rPr>
              <a:t>(</a:t>
            </a:r>
            <a:r>
              <a:rPr sz="675" i="0">
                <a:solidFill>
                  <a:srgbClr val="E6EDF3"/>
                </a:solidFill>
                <a:latin typeface="Consolas"/>
              </a:rPr>
              <a:t>*</a:t>
            </a:r>
            <a:r>
              <a:rPr sz="675" i="0">
                <a:solidFill>
                  <a:srgbClr val="E6EDF3"/>
                </a:solidFill>
                <a:latin typeface="Consolas"/>
              </a:rPr>
              <a:t>row</a:t>
            </a:r>
            <a:r>
              <a:rPr sz="675" i="0">
                <a:solidFill>
                  <a:srgbClr val="E6EDF3"/>
                </a:solidFill>
                <a:latin typeface="Consolas"/>
              </a:rPr>
              <a:t>)</a:t>
            </a:r>
            <a:r>
              <a:rPr sz="675" i="0">
                <a:solidFill>
                  <a:srgbClr val="E6EDF3"/>
                </a:solidFill>
                <a:latin typeface="Consolas"/>
              </a:rPr>
              <a:t> </a:t>
            </a:r>
            <a:r>
              <a:rPr sz="675" i="0">
                <a:solidFill>
                  <a:srgbClr val="FF8E6E"/>
                </a:solidFill>
                <a:latin typeface="Consolas"/>
              </a:rPr>
              <a:t>if</a:t>
            </a:r>
            <a:r>
              <a:rPr sz="675" i="0">
                <a:solidFill>
                  <a:srgbClr val="E6EDF3"/>
                </a:solidFill>
                <a:latin typeface="Consolas"/>
              </a:rPr>
              <a:t> </a:t>
            </a:r>
            <a:r>
              <a:rPr sz="675" i="0">
                <a:solidFill>
                  <a:srgbClr val="E6EDF3"/>
                </a:solidFill>
                <a:latin typeface="Consolas"/>
              </a:rPr>
              <a:t>row</a:t>
            </a:r>
            <a:r>
              <a:rPr sz="675" i="0">
                <a:solidFill>
                  <a:srgbClr val="E6EDF3"/>
                </a:solidFill>
                <a:latin typeface="Consolas"/>
              </a:rPr>
              <a:t> </a:t>
            </a:r>
            <a:r>
              <a:rPr sz="675" i="0">
                <a:solidFill>
                  <a:srgbClr val="FF8E6E"/>
                </a:solidFill>
                <a:latin typeface="Consolas"/>
              </a:rPr>
              <a:t>else</a:t>
            </a:r>
            <a:r>
              <a:rPr sz="675" i="0">
                <a:solidFill>
                  <a:srgbClr val="E6EDF3"/>
                </a:solidFill>
                <a:latin typeface="Consolas"/>
              </a:rPr>
              <a:t> </a:t>
            </a:r>
            <a:r>
              <a:rPr sz="675" i="0">
                <a:solidFill>
                  <a:srgbClr val="FF8E6E"/>
                </a:solidFill>
                <a:latin typeface="Consolas"/>
              </a:rPr>
              <a:t>None</a:t>
            </a:r>
          </a:p>
        </p:txBody>
      </p:sp>
      <p:sp>
        <p:nvSpPr>
          <p:cNvPr id="29" name="Box 12"/>
          <p:cNvSpPr/>
          <p:nvPr/>
        </p:nvSpPr>
        <p:spPr>
          <a:xfrm>
            <a:off x="704088" y="3082671"/>
            <a:ext cx="523036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815584" y="30175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3768471"/>
            <a:ext cx="523036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3" name="Text 16"/>
          <p:cNvSpPr txBox="1"/>
          <p:nvPr/>
        </p:nvSpPr>
        <p:spPr>
          <a:xfrm>
            <a:off x="6309360" y="1572768"/>
            <a:ext cx="2039111"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4" name="Text 17"/>
          <p:cNvSpPr txBox="1"/>
          <p:nvPr/>
        </p:nvSpPr>
        <p:spPr>
          <a:xfrm>
            <a:off x="6309360" y="1892808"/>
            <a:ext cx="2039111"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Pindahkan </a:t>
            </a:r>
            <a:r>
              <a:rPr sz="900" i="0" b="0">
                <a:solidFill>
                  <a:srgbClr val="B5482A"/>
                </a:solidFill>
                <a:latin typeface="Consolas"/>
              </a:rPr>
              <a:t>repository.py</a:t>
            </a:r>
            <a:r>
              <a:rPr sz="900" i="0" b="0">
                <a:solidFill>
                  <a:srgbClr val="434343"/>
                </a:solidFill>
                <a:latin typeface="Inter"/>
              </a:rPr>
              <a:t> jadi </a:t>
            </a:r>
            <a:r>
              <a:rPr sz="900" i="0" b="0">
                <a:solidFill>
                  <a:srgbClr val="B5482A"/>
                </a:solidFill>
                <a:latin typeface="Consolas"/>
              </a:rPr>
              <a:t>sqlite_repository.py</a:t>
            </a:r>
            <a:r>
              <a:rPr sz="900" i="0" b="0">
                <a:solidFill>
                  <a:srgbClr val="434343"/>
                </a:solidFill>
                <a:latin typeface="Inter"/>
              </a:rPr>
              <a:t>, sekarang bekerja dengan </a:t>
            </a:r>
            <a:r>
              <a:rPr sz="900" i="0" b="0">
                <a:solidFill>
                  <a:srgbClr val="B5482A"/>
                </a:solidFill>
                <a:latin typeface="Consolas"/>
              </a:rPr>
              <a:t>Order</a:t>
            </a:r>
          </a:p>
          <a:p>
            <a:pPr algn="l" marL="182880" indent="-182880">
              <a:lnSpc>
                <a:spcPct val="115000"/>
              </a:lnSpc>
              <a:spcAft>
                <a:spcPts val="400"/>
              </a:spcAft>
              <a:buClr>
                <a:srgbClr val="E0764F"/>
              </a:buClr>
              <a:buSzPct val="100000"/>
              <a:buFont typeface="+mj-lt"/>
              <a:buAutoNum type="arabicPeriod"/>
            </a:pPr>
            <a:r>
              <a:rPr sz="900" i="0" b="0">
                <a:solidFill>
                  <a:srgbClr val="B5482A"/>
                </a:solidFill>
                <a:latin typeface="Consolas"/>
              </a:rPr>
              <a:t>replace(order, id=...)</a:t>
            </a:r>
            <a:r>
              <a:rPr sz="900" i="0" b="0">
                <a:solidFill>
                  <a:srgbClr val="434343"/>
                </a:solidFill>
                <a:latin typeface="Inter"/>
              </a:rPr>
              <a:t> mengisi id dari database</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Pindahkan juga </a:t>
            </a:r>
            <a:r>
              <a:rPr sz="900" i="0" b="0">
                <a:solidFill>
                  <a:srgbClr val="B5482A"/>
                </a:solidFill>
                <a:latin typeface="Consolas"/>
              </a:rPr>
              <a:t>config.py</a:t>
            </a:r>
            <a:r>
              <a:rPr sz="900" i="0" b="0">
                <a:solidFill>
                  <a:srgbClr val="434343"/>
                </a:solidFill>
                <a:latin typeface="Inter"/>
              </a:rPr>
              <a:t> dan </a:t>
            </a:r>
            <a:r>
              <a:rPr sz="900" i="0" b="0">
                <a:solidFill>
                  <a:srgbClr val="B5482A"/>
                </a:solidFill>
                <a:latin typeface="Consolas"/>
              </a:rPr>
              <a:t>notifiers.py</a:t>
            </a:r>
            <a:r>
              <a:rPr sz="900" i="0" b="0">
                <a:solidFill>
                  <a:srgbClr val="434343"/>
                </a:solidFill>
                <a:latin typeface="Inter"/>
              </a:rPr>
              <a:t> ke </a:t>
            </a:r>
            <a:r>
              <a:rPr sz="900" i="0" b="0">
                <a:solidFill>
                  <a:srgbClr val="B5482A"/>
                </a:solidFill>
                <a:latin typeface="Consolas"/>
              </a:rPr>
              <a:t>infrastructure/</a:t>
            </a:r>
          </a:p>
        </p:txBody>
      </p:sp>
      <p:sp>
        <p:nvSpPr>
          <p:cNvPr id="35" name="Box 18"/>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6" name="Text 19"/>
          <p:cNvSpPr txBox="1"/>
          <p:nvPr/>
        </p:nvSpPr>
        <p:spPr>
          <a:xfrm>
            <a:off x="6309360" y="3813048"/>
            <a:ext cx="2039111"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37" name="Text 20"/>
          <p:cNvSpPr txBox="1"/>
          <p:nvPr/>
        </p:nvSpPr>
        <p:spPr>
          <a:xfrm>
            <a:off x="6309360" y="4133088"/>
            <a:ext cx="2039111" cy="475488"/>
          </a:xfrm>
          <a:prstGeom prst="rect">
            <a:avLst/>
          </a:prstGeom>
          <a:noFill/>
        </p:spPr>
        <p:txBody>
          <a:bodyPr wrap="square" anchor="t" lIns="45720" rIns="45720">
            <a:spAutoFit/>
          </a:bodyPr>
          <a:lstStyle/>
          <a:p>
            <a:pPr algn="l">
              <a:lnSpc>
                <a:spcPct val="115000"/>
              </a:lnSpc>
              <a:spcAft>
                <a:spcPts val="400"/>
              </a:spcAft>
            </a:pPr>
            <a:r>
              <a:rPr sz="900" i="0" b="0">
                <a:solidFill>
                  <a:srgbClr val="434343"/>
                </a:solidFill>
                <a:latin typeface="Inter"/>
              </a:rPr>
              <a:t>Hanya </a:t>
            </a:r>
            <a:r>
              <a:rPr sz="900" i="0" b="0">
                <a:solidFill>
                  <a:srgbClr val="B5482A"/>
                </a:solidFill>
                <a:latin typeface="Consolas"/>
              </a:rPr>
              <a:t>infrastructure/</a:t>
            </a:r>
            <a:r>
              <a:rPr sz="900" i="0" b="0">
                <a:solidFill>
                  <a:srgbClr val="434343"/>
                </a:solidFill>
                <a:latin typeface="Inter"/>
              </a:rPr>
              <a:t> yang import </a:t>
            </a:r>
            <a:r>
              <a:rPr sz="900" i="0" b="0">
                <a:solidFill>
                  <a:srgbClr val="B5482A"/>
                </a:solidFill>
                <a:latin typeface="Consolas"/>
              </a:rPr>
              <a:t>sqlite3</a:t>
            </a:r>
            <a:r>
              <a:rPr sz="900" i="0" b="0">
                <a:solidFill>
                  <a:srgbClr val="434343"/>
                </a:solidFill>
                <a:latin typeface="Inter"/>
              </a:rP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6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api/dependencies.py: Menyiapkan Dependency</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2519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app/api/dependencies.py</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892040" cy="2980944"/>
          </a:xfrm>
          <a:prstGeom prst="rect">
            <a:avLst/>
          </a:prstGeom>
          <a:noFill/>
        </p:spPr>
        <p:txBody>
          <a:bodyPr wrap="none" lIns="146304" rIns="146304" tIns="91440" bIns="54864">
            <a:spAutoFit/>
          </a:bodyPr>
          <a:lstStyle/>
          <a:p>
            <a:pPr>
              <a:lnSpc>
                <a:spcPts val="1100"/>
              </a:lnSpc>
              <a:spcAft>
                <a:spcPts val="0"/>
              </a:spcAft>
            </a:pPr>
            <a:r>
              <a:rPr sz="850" i="0">
                <a:solidFill>
                  <a:srgbClr val="F9C97A"/>
                </a:solidFill>
                <a:latin typeface="Consolas"/>
              </a:rPr>
              <a:t>@lru_cache</a:t>
            </a:r>
          </a:p>
          <a:p>
            <a:pPr>
              <a:lnSpc>
                <a:spcPts val="1100"/>
              </a:lnSpc>
              <a:spcAft>
                <a:spcPts val="0"/>
              </a:spcAft>
            </a:pP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get_repository</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7FDBCA"/>
                </a:solidFill>
                <a:latin typeface="Consolas"/>
              </a:rPr>
              <a:t>SqliteOrderRepository</a:t>
            </a:r>
            <a:r>
              <a:rPr sz="850" i="0">
                <a:solidFill>
                  <a:srgbClr val="E6EDF3"/>
                </a:solidFill>
                <a:latin typeface="Consolas"/>
              </a:rPr>
              <a:t>(</a:t>
            </a:r>
            <a:r>
              <a:rPr sz="850" i="0">
                <a:solidFill>
                  <a:srgbClr val="E6EDF3"/>
                </a:solidFill>
                <a:latin typeface="Consolas"/>
              </a:rPr>
              <a:t>get_settings</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database_path</a:t>
            </a:r>
            <a:r>
              <a:rPr sz="850" i="0">
                <a:solidFill>
                  <a:srgbClr val="E6EDF3"/>
                </a:solidFill>
                <a:latin typeface="Consolas"/>
              </a:rPr>
              <a:t>)</a:t>
            </a:r>
          </a:p>
          <a:p>
            <a:pPr>
              <a:lnSpc>
                <a:spcPts val="1100"/>
              </a:lnSpc>
              <a:spcAft>
                <a:spcPts val="0"/>
              </a:spcAft>
            </a:pPr>
            <a:r>
              <a:rPr sz="850" i="0">
                <a:solidFill>
                  <a:srgbClr val="E6EDF3"/>
                </a:solidFill>
                <a:latin typeface="Consolas"/>
              </a:rPr>
              <a:t> </a:t>
            </a:r>
          </a:p>
          <a:p>
            <a:pPr>
              <a:lnSpc>
                <a:spcPts val="1100"/>
              </a:lnSpc>
              <a:spcAft>
                <a:spcPts val="0"/>
              </a:spcAft>
            </a:pP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get_notifier</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Notifier</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E6EDF3"/>
                </a:solidFill>
                <a:latin typeface="Consolas"/>
              </a:rPr>
              <a:t>create_notifier</a:t>
            </a:r>
            <a:r>
              <a:rPr sz="850" i="0">
                <a:solidFill>
                  <a:srgbClr val="E6EDF3"/>
                </a:solidFill>
                <a:latin typeface="Consolas"/>
              </a:rPr>
              <a:t>(</a:t>
            </a:r>
            <a:r>
              <a:rPr sz="850" i="0">
                <a:solidFill>
                  <a:srgbClr val="E6EDF3"/>
                </a:solidFill>
                <a:latin typeface="Consolas"/>
              </a:rPr>
              <a:t>get_settings</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a:t>
            </a:r>
            <a:r>
              <a:rPr sz="850" i="0">
                <a:solidFill>
                  <a:srgbClr val="E6EDF3"/>
                </a:solidFill>
                <a:latin typeface="Consolas"/>
              </a:rPr>
              <a:t>notification_channel</a:t>
            </a:r>
            <a:r>
              <a:rPr sz="850" i="0">
                <a:solidFill>
                  <a:srgbClr val="E6EDF3"/>
                </a:solidFill>
                <a:latin typeface="Consolas"/>
              </a:rPr>
              <a:t>)</a:t>
            </a:r>
          </a:p>
          <a:p>
            <a:pPr>
              <a:lnSpc>
                <a:spcPts val="1100"/>
              </a:lnSpc>
              <a:spcAft>
                <a:spcPts val="0"/>
              </a:spcAft>
            </a:pPr>
            <a:r>
              <a:rPr sz="850" i="0">
                <a:solidFill>
                  <a:srgbClr val="E6EDF3"/>
                </a:solidFill>
                <a:latin typeface="Consolas"/>
              </a:rPr>
              <a:t> </a:t>
            </a:r>
          </a:p>
          <a:p>
            <a:pPr>
              <a:lnSpc>
                <a:spcPts val="1100"/>
              </a:lnSpc>
              <a:spcAft>
                <a:spcPts val="0"/>
              </a:spcAft>
            </a:pPr>
            <a:r>
              <a:rPr sz="850" i="0">
                <a:solidFill>
                  <a:srgbClr val="FF8E6E"/>
                </a:solidFill>
                <a:latin typeface="Consolas"/>
              </a:rPr>
              <a:t>def</a:t>
            </a:r>
            <a:r>
              <a:rPr sz="850" i="0">
                <a:solidFill>
                  <a:srgbClr val="E6EDF3"/>
                </a:solidFill>
                <a:latin typeface="Consolas"/>
              </a:rPr>
              <a:t> </a:t>
            </a:r>
            <a:r>
              <a:rPr sz="850" i="0">
                <a:solidFill>
                  <a:srgbClr val="82B1FF"/>
                </a:solidFill>
                <a:latin typeface="Consolas"/>
              </a:rPr>
              <a:t>get_order_service</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E6EDF3"/>
                </a:solidFill>
                <a:latin typeface="Consolas"/>
              </a:rPr>
              <a:t>repo</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OrderRepository</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Depends</a:t>
            </a:r>
            <a:r>
              <a:rPr sz="850" i="0">
                <a:solidFill>
                  <a:srgbClr val="E6EDF3"/>
                </a:solidFill>
                <a:latin typeface="Consolas"/>
              </a:rPr>
              <a:t>(</a:t>
            </a:r>
            <a:r>
              <a:rPr sz="850" i="0">
                <a:solidFill>
                  <a:srgbClr val="E6EDF3"/>
                </a:solidFill>
                <a:latin typeface="Consolas"/>
              </a:rPr>
              <a:t>get_repository</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E6EDF3"/>
                </a:solidFill>
                <a:latin typeface="Consolas"/>
              </a:rPr>
              <a:t>notifier</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Notifier</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 </a:t>
            </a:r>
            <a:r>
              <a:rPr sz="850" i="0">
                <a:solidFill>
                  <a:srgbClr val="7FDBCA"/>
                </a:solidFill>
                <a:latin typeface="Consolas"/>
              </a:rPr>
              <a:t>Depends</a:t>
            </a:r>
            <a:r>
              <a:rPr sz="850" i="0">
                <a:solidFill>
                  <a:srgbClr val="E6EDF3"/>
                </a:solidFill>
                <a:latin typeface="Consolas"/>
              </a:rPr>
              <a:t>(</a:t>
            </a:r>
            <a:r>
              <a:rPr sz="850" i="0">
                <a:solidFill>
                  <a:srgbClr val="E6EDF3"/>
                </a:solidFill>
                <a:latin typeface="Consolas"/>
              </a:rPr>
              <a:t>get_notifier</a:t>
            </a:r>
            <a:r>
              <a:rPr sz="850" i="0">
                <a:solidFill>
                  <a:srgbClr val="E6EDF3"/>
                </a:solidFill>
                <a:latin typeface="Consolas"/>
              </a:rPr>
              <a:t>)</a:t>
            </a:r>
            <a:r>
              <a:rPr sz="850" i="0">
                <a:solidFill>
                  <a:srgbClr val="E6EDF3"/>
                </a:solidFill>
                <a:latin typeface="Consolas"/>
              </a:rPr>
              <a:t>,</a:t>
            </a:r>
          </a:p>
          <a:p>
            <a:pPr>
              <a:lnSpc>
                <a:spcPts val="1100"/>
              </a:lnSpc>
              <a:spcAft>
                <a:spcPts val="0"/>
              </a:spcAft>
            </a:pP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a:t>
            </a:r>
            <a:r>
              <a:rPr sz="850" i="0">
                <a:solidFill>
                  <a:srgbClr val="E6EDF3"/>
                </a:solidFill>
                <a:latin typeface="Consolas"/>
              </a:rPr>
              <a:t>&gt;</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p>
          <a:p>
            <a:pPr>
              <a:lnSpc>
                <a:spcPts val="1100"/>
              </a:lnSpc>
              <a:spcAft>
                <a:spcPts val="0"/>
              </a:spcAft>
            </a:pPr>
            <a:r>
              <a:rPr sz="850" i="0">
                <a:solidFill>
                  <a:srgbClr val="E6EDF3"/>
                </a:solidFill>
                <a:latin typeface="Consolas"/>
              </a:rPr>
              <a:t>    </a:t>
            </a:r>
            <a:r>
              <a:rPr sz="850" i="0">
                <a:solidFill>
                  <a:srgbClr val="FF8E6E"/>
                </a:solidFill>
                <a:latin typeface="Consolas"/>
              </a:rPr>
              <a:t>return</a:t>
            </a:r>
            <a:r>
              <a:rPr sz="850" i="0">
                <a:solidFill>
                  <a:srgbClr val="E6EDF3"/>
                </a:solidFill>
                <a:latin typeface="Consolas"/>
              </a:rPr>
              <a:t> </a:t>
            </a:r>
            <a:r>
              <a:rPr sz="850" i="0">
                <a:solidFill>
                  <a:srgbClr val="7FDBCA"/>
                </a:solidFill>
                <a:latin typeface="Consolas"/>
              </a:rPr>
              <a:t>OrderService</a:t>
            </a:r>
            <a:r>
              <a:rPr sz="850" i="0">
                <a:solidFill>
                  <a:srgbClr val="E6EDF3"/>
                </a:solidFill>
                <a:latin typeface="Consolas"/>
              </a:rPr>
              <a:t>(</a:t>
            </a:r>
            <a:r>
              <a:rPr sz="850" i="0">
                <a:solidFill>
                  <a:srgbClr val="E6EDF3"/>
                </a:solidFill>
                <a:latin typeface="Consolas"/>
              </a:rPr>
              <a:t>repo</a:t>
            </a:r>
            <a:r>
              <a:rPr sz="850" i="0">
                <a:solidFill>
                  <a:srgbClr val="E6EDF3"/>
                </a:solidFill>
                <a:latin typeface="Consolas"/>
              </a:rPr>
              <a:t>,</a:t>
            </a:r>
            <a:r>
              <a:rPr sz="850" i="0">
                <a:solidFill>
                  <a:srgbClr val="E6EDF3"/>
                </a:solidFill>
                <a:latin typeface="Consolas"/>
              </a:rPr>
              <a:t> </a:t>
            </a:r>
            <a:r>
              <a:rPr sz="850" i="0">
                <a:solidFill>
                  <a:srgbClr val="E6EDF3"/>
                </a:solidFill>
                <a:latin typeface="Consolas"/>
              </a:rPr>
              <a:t>notifier</a:t>
            </a:r>
            <a:r>
              <a:rPr sz="850" i="0">
                <a:solidFill>
                  <a:srgbClr val="E6EDF3"/>
                </a:solidFill>
                <a:latin typeface="Consolas"/>
              </a:rPr>
              <a:t>)</a:t>
            </a:r>
          </a:p>
        </p:txBody>
      </p:sp>
      <p:sp>
        <p:nvSpPr>
          <p:cNvPr id="29" name="Box 12"/>
          <p:cNvSpPr/>
          <p:nvPr/>
        </p:nvSpPr>
        <p:spPr>
          <a:xfrm>
            <a:off x="704088" y="1968373"/>
            <a:ext cx="4727448" cy="271018"/>
          </a:xfrm>
          <a:prstGeom prst="roundRect">
            <a:avLst>
              <a:gd name="adj" fmla="val 1686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312664" y="198501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2387473"/>
            <a:ext cx="4727448" cy="271018"/>
          </a:xfrm>
          <a:prstGeom prst="roundRect">
            <a:avLst>
              <a:gd name="adj" fmla="val 1686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704088" y="2806573"/>
            <a:ext cx="4727448" cy="690118"/>
          </a:xfrm>
          <a:prstGeom prst="roundRect">
            <a:avLst>
              <a:gd name="adj" fmla="val 662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3" name="Box 16"/>
          <p:cNvSpPr/>
          <p:nvPr/>
        </p:nvSpPr>
        <p:spPr>
          <a:xfrm>
            <a:off x="5312664" y="303276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4" name="Box 17"/>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5" name="Text 18"/>
          <p:cNvSpPr txBox="1"/>
          <p:nvPr/>
        </p:nvSpPr>
        <p:spPr>
          <a:xfrm>
            <a:off x="5806440" y="157276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6" name="Text 19"/>
          <p:cNvSpPr txBox="1"/>
          <p:nvPr/>
        </p:nvSpPr>
        <p:spPr>
          <a:xfrm>
            <a:off x="5806440" y="1892808"/>
            <a:ext cx="2542032"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Satu function per dependency: repository, notifier</a:t>
            </a:r>
          </a:p>
          <a:p>
            <a:pPr algn="l" marL="182880" indent="-182880">
              <a:lnSpc>
                <a:spcPct val="115000"/>
              </a:lnSpc>
              <a:spcAft>
                <a:spcPts val="400"/>
              </a:spcAft>
              <a:buClr>
                <a:srgbClr val="E0764F"/>
              </a:buClr>
              <a:buSzPct val="100000"/>
              <a:buFont typeface="+mj-lt"/>
              <a:buAutoNum type="arabicPeriod"/>
            </a:pPr>
            <a:r>
              <a:rPr sz="900" i="0" b="0">
                <a:solidFill>
                  <a:srgbClr val="B5482A"/>
                </a:solidFill>
                <a:latin typeface="Consolas"/>
              </a:rPr>
              <a:t>get_order_service</a:t>
            </a:r>
            <a:r>
              <a:rPr sz="900" i="0" b="0">
                <a:solidFill>
                  <a:srgbClr val="434343"/>
                </a:solidFill>
                <a:latin typeface="Inter"/>
              </a:rPr>
              <a:t> meminta keduanya lewat </a:t>
            </a:r>
            <a:r>
              <a:rPr sz="900" i="0" b="0">
                <a:solidFill>
                  <a:srgbClr val="B5482A"/>
                </a:solidFill>
                <a:latin typeface="Consolas"/>
              </a:rPr>
              <a:t>Depends</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Di test, </a:t>
            </a:r>
            <a:r>
              <a:rPr sz="900" i="0" b="0">
                <a:solidFill>
                  <a:srgbClr val="B5482A"/>
                </a:solidFill>
                <a:latin typeface="Consolas"/>
              </a:rPr>
              <a:t>get_repository</a:t>
            </a:r>
            <a:r>
              <a:rPr sz="900" i="0" b="0">
                <a:solidFill>
                  <a:srgbClr val="434343"/>
                </a:solidFill>
                <a:latin typeface="Inter"/>
              </a:rPr>
              <a:t> dan </a:t>
            </a:r>
            <a:r>
              <a:rPr sz="900" i="0" b="0">
                <a:solidFill>
                  <a:srgbClr val="B5482A"/>
                </a:solidFill>
                <a:latin typeface="Consolas"/>
              </a:rPr>
              <a:t>get_notifier</a:t>
            </a:r>
            <a:r>
              <a:rPr sz="900" i="0" b="0">
                <a:solidFill>
                  <a:srgbClr val="434343"/>
                </a:solidFill>
                <a:latin typeface="Inter"/>
              </a:rPr>
              <a:t> bisa diganti fake</a:t>
            </a:r>
          </a:p>
          <a:p>
            <a:pPr algn="l">
              <a:lnSpc>
                <a:spcPct val="115000"/>
              </a:lnSpc>
              <a:spcAft>
                <a:spcPts val="0"/>
              </a:spcAft>
            </a:pPr>
            <a:r>
              <a:rPr sz="540"/>
              <a:t/>
            </a:r>
          </a:p>
          <a:p>
            <a:pPr algn="l">
              <a:lnSpc>
                <a:spcPct val="115000"/>
              </a:lnSpc>
              <a:spcAft>
                <a:spcPts val="400"/>
              </a:spcAft>
            </a:pPr>
            <a:r>
              <a:rPr sz="900" i="0" b="0">
                <a:solidFill>
                  <a:srgbClr val="434343"/>
                </a:solidFill>
                <a:latin typeface="Inter"/>
              </a:rPr>
              <a:t>Pindahkan </a:t>
            </a:r>
            <a:r>
              <a:rPr sz="900" i="0" b="0">
                <a:solidFill>
                  <a:srgbClr val="B5482A"/>
                </a:solidFill>
                <a:latin typeface="Consolas"/>
              </a:rPr>
              <a:t>get_order_service()</a:t>
            </a:r>
            <a:r>
              <a:rPr sz="900" i="0" b="0">
                <a:solidFill>
                  <a:srgbClr val="434343"/>
                </a:solidFill>
                <a:latin typeface="Inter"/>
              </a:rPr>
              <a:t> dari </a:t>
            </a:r>
            <a:r>
              <a:rPr sz="900" i="0" b="0">
                <a:solidFill>
                  <a:srgbClr val="B5482A"/>
                </a:solidFill>
                <a:latin typeface="Consolas"/>
              </a:rPr>
              <a:t>main.py</a:t>
            </a:r>
            <a:r>
              <a:rPr sz="900" i="0" b="0">
                <a:solidFill>
                  <a:srgbClr val="434343"/>
                </a:solidFill>
                <a:latin typeface="Inter"/>
              </a:rPr>
              <a:t> Sesi 1 ke sini.</a:t>
            </a:r>
          </a:p>
        </p:txBody>
      </p:sp>
      <p:sp>
        <p:nvSpPr>
          <p:cNvPr id="37" name="Box 20"/>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8" name="Text 21"/>
          <p:cNvSpPr txBox="1"/>
          <p:nvPr/>
        </p:nvSpPr>
        <p:spPr>
          <a:xfrm>
            <a:off x="5806440" y="381304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39" name="Text 22"/>
          <p:cNvSpPr txBox="1"/>
          <p:nvPr/>
        </p:nvSpPr>
        <p:spPr>
          <a:xfrm>
            <a:off x="5806440" y="4133088"/>
            <a:ext cx="2542032" cy="475488"/>
          </a:xfrm>
          <a:prstGeom prst="rect">
            <a:avLst/>
          </a:prstGeom>
          <a:noFill/>
        </p:spPr>
        <p:txBody>
          <a:bodyPr wrap="square" anchor="t" lIns="45720" rIns="45720">
            <a:spAutoFit/>
          </a:bodyPr>
          <a:lstStyle/>
          <a:p>
            <a:pPr algn="l">
              <a:lnSpc>
                <a:spcPct val="115000"/>
              </a:lnSpc>
              <a:spcAft>
                <a:spcPts val="400"/>
              </a:spcAft>
            </a:pPr>
            <a:r>
              <a:rPr sz="900" i="0" b="0">
                <a:solidFill>
                  <a:srgbClr val="434343"/>
                </a:solidFill>
                <a:latin typeface="Inter"/>
              </a:rPr>
              <a:t>File ini satu-satunya tempat yang tahu class konkret.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7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api/routes.py + main.py</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2519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app/api/routes.py  +  app/main.py</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892040" cy="2980944"/>
          </a:xfrm>
          <a:prstGeom prst="rect">
            <a:avLst/>
          </a:prstGeom>
          <a:noFill/>
        </p:spPr>
        <p:txBody>
          <a:bodyPr wrap="none" lIns="146304" rIns="146304" tIns="91440" bIns="54864">
            <a:spAutoFit/>
          </a:bodyPr>
          <a:lstStyle/>
          <a:p>
            <a:pPr>
              <a:lnSpc>
                <a:spcPts val="900"/>
              </a:lnSpc>
              <a:spcAft>
                <a:spcPts val="0"/>
              </a:spcAft>
            </a:pPr>
            <a:r>
              <a:rPr sz="700" i="0">
                <a:solidFill>
                  <a:srgbClr val="E6EDF3"/>
                </a:solidFill>
                <a:latin typeface="Consolas"/>
              </a:rPr>
              <a:t>router</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APIRouter</a:t>
            </a:r>
            <a:r>
              <a:rPr sz="700" i="0">
                <a:solidFill>
                  <a:srgbClr val="E6EDF3"/>
                </a:solidFill>
                <a:latin typeface="Consolas"/>
              </a:rPr>
              <a:t>(</a:t>
            </a:r>
            <a:r>
              <a:rPr sz="700" i="0">
                <a:solidFill>
                  <a:srgbClr val="E6EDF3"/>
                </a:solidFill>
                <a:latin typeface="Consolas"/>
              </a:rPr>
              <a:t>prefix</a:t>
            </a:r>
            <a:r>
              <a:rPr sz="700" i="0">
                <a:solidFill>
                  <a:srgbClr val="E6EDF3"/>
                </a:solidFill>
                <a:latin typeface="Consolas"/>
              </a:rPr>
              <a:t>=</a:t>
            </a:r>
            <a:r>
              <a:rPr sz="700" i="0">
                <a:solidFill>
                  <a:srgbClr val="A5D6A7"/>
                </a:solidFill>
                <a:latin typeface="Consolas"/>
              </a:rPr>
              <a:t>"/orders"</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tags</a:t>
            </a:r>
            <a:r>
              <a:rPr sz="700" i="0">
                <a:solidFill>
                  <a:srgbClr val="E6EDF3"/>
                </a:solidFill>
                <a:latin typeface="Consolas"/>
              </a:rPr>
              <a:t>=</a:t>
            </a:r>
            <a:r>
              <a:rPr sz="700" i="0">
                <a:solidFill>
                  <a:srgbClr val="E6EDF3"/>
                </a:solidFill>
                <a:latin typeface="Consolas"/>
              </a:rPr>
              <a:t>[</a:t>
            </a:r>
            <a:r>
              <a:rPr sz="700" i="0">
                <a:solidFill>
                  <a:srgbClr val="A5D6A7"/>
                </a:solidFill>
                <a:latin typeface="Consolas"/>
              </a:rPr>
              <a:t>"orders"</a:t>
            </a:r>
            <a:r>
              <a:rPr sz="700" i="0">
                <a:solidFill>
                  <a:srgbClr val="E6EDF3"/>
                </a:solidFill>
                <a:latin typeface="Consolas"/>
              </a:rPr>
              <a:t>]</a:t>
            </a:r>
            <a:r>
              <a:rPr sz="700" i="0">
                <a:solidFill>
                  <a:srgbClr val="E6EDF3"/>
                </a:solidFill>
                <a:latin typeface="Consolas"/>
              </a:rPr>
              <a:t>)</a:t>
            </a:r>
          </a:p>
          <a:p>
            <a:pPr>
              <a:lnSpc>
                <a:spcPts val="900"/>
              </a:lnSpc>
              <a:spcAft>
                <a:spcPts val="0"/>
              </a:spcAft>
            </a:pPr>
            <a:r>
              <a:rPr sz="700" i="0">
                <a:solidFill>
                  <a:srgbClr val="E6EDF3"/>
                </a:solidFill>
                <a:latin typeface="Consolas"/>
              </a:rPr>
              <a:t> </a:t>
            </a:r>
          </a:p>
          <a:p>
            <a:pPr>
              <a:lnSpc>
                <a:spcPts val="900"/>
              </a:lnSpc>
              <a:spcAft>
                <a:spcPts val="0"/>
              </a:spcAft>
            </a:pPr>
            <a:r>
              <a:rPr sz="700" i="0">
                <a:solidFill>
                  <a:srgbClr val="F9C97A"/>
                </a:solidFill>
                <a:latin typeface="Consolas"/>
              </a:rPr>
              <a:t>@router.post</a:t>
            </a:r>
            <a:r>
              <a:rPr sz="700" i="0">
                <a:solidFill>
                  <a:srgbClr val="E6EDF3"/>
                </a:solidFill>
                <a:latin typeface="Consolas"/>
              </a:rPr>
              <a:t>(</a:t>
            </a:r>
            <a:r>
              <a:rPr sz="700" i="0">
                <a:solidFill>
                  <a:srgbClr val="A5D6A7"/>
                </a:solidFill>
                <a:latin typeface="Consolas"/>
              </a:rPr>
              <a:t>""</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status_code</a:t>
            </a:r>
            <a:r>
              <a:rPr sz="700" i="0">
                <a:solidFill>
                  <a:srgbClr val="E6EDF3"/>
                </a:solidFill>
                <a:latin typeface="Consolas"/>
              </a:rPr>
              <a:t>=</a:t>
            </a:r>
            <a:r>
              <a:rPr sz="700" i="0">
                <a:solidFill>
                  <a:srgbClr val="F9C97A"/>
                </a:solidFill>
                <a:latin typeface="Consolas"/>
              </a:rPr>
              <a:t>201</a:t>
            </a:r>
            <a:r>
              <a:rPr sz="700" i="0">
                <a:solidFill>
                  <a:srgbClr val="E6EDF3"/>
                </a:solidFill>
                <a:latin typeface="Consolas"/>
              </a:rPr>
              <a:t>)</a:t>
            </a:r>
          </a:p>
          <a:p>
            <a:pPr>
              <a:lnSpc>
                <a:spcPts val="900"/>
              </a:lnSpc>
              <a:spcAft>
                <a:spcPts val="0"/>
              </a:spcAft>
            </a:pPr>
            <a:r>
              <a:rPr sz="700" i="0">
                <a:solidFill>
                  <a:srgbClr val="FF8E6E"/>
                </a:solidFill>
                <a:latin typeface="Consolas"/>
              </a:rPr>
              <a:t>def</a:t>
            </a:r>
            <a:r>
              <a:rPr sz="700" i="0">
                <a:solidFill>
                  <a:srgbClr val="E6EDF3"/>
                </a:solidFill>
                <a:latin typeface="Consolas"/>
              </a:rPr>
              <a:t> </a:t>
            </a:r>
            <a:r>
              <a:rPr sz="700" i="0">
                <a:solidFill>
                  <a:srgbClr val="82B1FF"/>
                </a:solidFill>
                <a:latin typeface="Consolas"/>
              </a:rPr>
              <a:t>create_order</a:t>
            </a:r>
            <a:r>
              <a:rPr sz="700" i="0">
                <a:solidFill>
                  <a:srgbClr val="E6EDF3"/>
                </a:solidFill>
                <a:latin typeface="Consolas"/>
              </a:rPr>
              <a:t>(</a:t>
            </a:r>
            <a:r>
              <a:rPr sz="700" i="0">
                <a:solidFill>
                  <a:srgbClr val="E6EDF3"/>
                </a:solidFill>
                <a:latin typeface="Consolas"/>
              </a:rPr>
              <a:t>payload</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OrderIn</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service</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OrderService</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Depends</a:t>
            </a:r>
            <a:r>
              <a:rPr sz="700" i="0">
                <a:solidFill>
                  <a:srgbClr val="E6EDF3"/>
                </a:solidFill>
                <a:latin typeface="Consolas"/>
              </a:rPr>
              <a:t>(</a:t>
            </a:r>
            <a:r>
              <a:rPr sz="700" i="0">
                <a:solidFill>
                  <a:srgbClr val="E6EDF3"/>
                </a:solidFill>
                <a:latin typeface="Consolas"/>
              </a:rPr>
              <a:t>get_order_service</a:t>
            </a:r>
            <a:r>
              <a:rPr sz="700" i="0">
                <a:solidFill>
                  <a:srgbClr val="E6EDF3"/>
                </a:solidFill>
                <a:latin typeface="Consolas"/>
              </a:rPr>
              <a:t>)</a:t>
            </a:r>
            <a:r>
              <a:rPr sz="700" i="0">
                <a:solidFill>
                  <a:srgbClr val="E6EDF3"/>
                </a:solidFill>
                <a:latin typeface="Consolas"/>
              </a:rPr>
              <a:t>)</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FF8E6E"/>
                </a:solidFill>
                <a:latin typeface="Consolas"/>
              </a:rPr>
              <a:t>try</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E6EDF3"/>
                </a:solidFill>
                <a:latin typeface="Consolas"/>
              </a:rPr>
              <a:t>items</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i</a:t>
            </a:r>
            <a:r>
              <a:rPr sz="700" i="0">
                <a:solidFill>
                  <a:srgbClr val="E6EDF3"/>
                </a:solidFill>
                <a:latin typeface="Consolas"/>
              </a:rPr>
              <a:t>.</a:t>
            </a:r>
            <a:r>
              <a:rPr sz="700" i="0">
                <a:solidFill>
                  <a:srgbClr val="E6EDF3"/>
                </a:solidFill>
                <a:latin typeface="Consolas"/>
              </a:rPr>
              <a:t>model_dump</a:t>
            </a:r>
            <a:r>
              <a:rPr sz="700" i="0">
                <a:solidFill>
                  <a:srgbClr val="E6EDF3"/>
                </a:solidFill>
                <a:latin typeface="Consolas"/>
              </a:rPr>
              <a:t>(</a:t>
            </a:r>
            <a:r>
              <a:rPr sz="700" i="0">
                <a:solidFill>
                  <a:srgbClr val="E6EDF3"/>
                </a:solidFill>
                <a:latin typeface="Consolas"/>
              </a:rPr>
              <a:t>)</a:t>
            </a:r>
            <a:r>
              <a:rPr sz="700" i="0">
                <a:solidFill>
                  <a:srgbClr val="E6EDF3"/>
                </a:solidFill>
                <a:latin typeface="Consolas"/>
              </a:rPr>
              <a:t> </a:t>
            </a:r>
            <a:r>
              <a:rPr sz="700" i="0">
                <a:solidFill>
                  <a:srgbClr val="FF8E6E"/>
                </a:solidFill>
                <a:latin typeface="Consolas"/>
              </a:rPr>
              <a:t>for</a:t>
            </a:r>
            <a:r>
              <a:rPr sz="700" i="0">
                <a:solidFill>
                  <a:srgbClr val="E6EDF3"/>
                </a:solidFill>
                <a:latin typeface="Consolas"/>
              </a:rPr>
              <a:t> </a:t>
            </a:r>
            <a:r>
              <a:rPr sz="700" i="0">
                <a:solidFill>
                  <a:srgbClr val="E6EDF3"/>
                </a:solidFill>
                <a:latin typeface="Consolas"/>
              </a:rPr>
              <a:t>i</a:t>
            </a:r>
            <a:r>
              <a:rPr sz="700" i="0">
                <a:solidFill>
                  <a:srgbClr val="E6EDF3"/>
                </a:solidFill>
                <a:latin typeface="Consolas"/>
              </a:rPr>
              <a:t> </a:t>
            </a:r>
            <a:r>
              <a:rPr sz="700" i="0">
                <a:solidFill>
                  <a:srgbClr val="FF8E6E"/>
                </a:solidFill>
                <a:latin typeface="Consolas"/>
              </a:rPr>
              <a:t>in</a:t>
            </a:r>
            <a:r>
              <a:rPr sz="700" i="0">
                <a:solidFill>
                  <a:srgbClr val="E6EDF3"/>
                </a:solidFill>
                <a:latin typeface="Consolas"/>
              </a:rPr>
              <a:t> </a:t>
            </a:r>
            <a:r>
              <a:rPr sz="700" i="0">
                <a:solidFill>
                  <a:srgbClr val="E6EDF3"/>
                </a:solidFill>
                <a:latin typeface="Consolas"/>
              </a:rPr>
              <a:t>payload</a:t>
            </a:r>
            <a:r>
              <a:rPr sz="700" i="0">
                <a:solidFill>
                  <a:srgbClr val="E6EDF3"/>
                </a:solidFill>
                <a:latin typeface="Consolas"/>
              </a:rPr>
              <a:t>.</a:t>
            </a:r>
            <a:r>
              <a:rPr sz="700" i="0">
                <a:solidFill>
                  <a:srgbClr val="E6EDF3"/>
                </a:solidFill>
                <a:latin typeface="Consolas"/>
              </a:rPr>
              <a:t>items</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FF8E6E"/>
                </a:solidFill>
                <a:latin typeface="Consolas"/>
              </a:rPr>
              <a:t>return</a:t>
            </a:r>
            <a:r>
              <a:rPr sz="700" i="0">
                <a:solidFill>
                  <a:srgbClr val="E6EDF3"/>
                </a:solidFill>
                <a:latin typeface="Consolas"/>
              </a:rPr>
              <a:t> </a:t>
            </a:r>
            <a:r>
              <a:rPr sz="700" i="0">
                <a:solidFill>
                  <a:srgbClr val="E6EDF3"/>
                </a:solidFill>
                <a:latin typeface="Consolas"/>
              </a:rPr>
              <a:t>asdict</a:t>
            </a:r>
            <a:r>
              <a:rPr sz="700" i="0">
                <a:solidFill>
                  <a:srgbClr val="E6EDF3"/>
                </a:solidFill>
                <a:latin typeface="Consolas"/>
              </a:rPr>
              <a:t>(</a:t>
            </a:r>
            <a:r>
              <a:rPr sz="700" i="0">
                <a:solidFill>
                  <a:srgbClr val="E6EDF3"/>
                </a:solidFill>
                <a:latin typeface="Consolas"/>
              </a:rPr>
              <a:t>service</a:t>
            </a:r>
            <a:r>
              <a:rPr sz="700" i="0">
                <a:solidFill>
                  <a:srgbClr val="E6EDF3"/>
                </a:solidFill>
                <a:latin typeface="Consolas"/>
              </a:rPr>
              <a:t>.</a:t>
            </a:r>
            <a:r>
              <a:rPr sz="700" i="0">
                <a:solidFill>
                  <a:srgbClr val="E6EDF3"/>
                </a:solidFill>
                <a:latin typeface="Consolas"/>
              </a:rPr>
              <a:t>place_order</a:t>
            </a:r>
            <a:r>
              <a:rPr sz="700" i="0">
                <a:solidFill>
                  <a:srgbClr val="E6EDF3"/>
                </a:solidFill>
                <a:latin typeface="Consolas"/>
              </a:rPr>
              <a:t>(</a:t>
            </a:r>
            <a:r>
              <a:rPr sz="700" i="0">
                <a:solidFill>
                  <a:srgbClr val="E6EDF3"/>
                </a:solidFill>
                <a:latin typeface="Consolas"/>
              </a:rPr>
              <a:t>payload</a:t>
            </a:r>
            <a:r>
              <a:rPr sz="700" i="0">
                <a:solidFill>
                  <a:srgbClr val="E6EDF3"/>
                </a:solidFill>
                <a:latin typeface="Consolas"/>
              </a:rPr>
              <a:t>.</a:t>
            </a:r>
            <a:r>
              <a:rPr sz="700" i="0">
                <a:solidFill>
                  <a:srgbClr val="E6EDF3"/>
                </a:solidFill>
                <a:latin typeface="Consolas"/>
              </a:rPr>
              <a:t>customer</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payload</a:t>
            </a:r>
            <a:r>
              <a:rPr sz="700" i="0">
                <a:solidFill>
                  <a:srgbClr val="E6EDF3"/>
                </a:solidFill>
                <a:latin typeface="Consolas"/>
              </a:rPr>
              <a:t>.</a:t>
            </a:r>
            <a:r>
              <a:rPr sz="700" i="0">
                <a:solidFill>
                  <a:srgbClr val="E6EDF3"/>
                </a:solidFill>
                <a:latin typeface="Consolas"/>
              </a:rPr>
              <a:t>customer_type</a:t>
            </a:r>
            <a:r>
              <a:rPr sz="700" i="0">
                <a:solidFill>
                  <a:srgbClr val="E6EDF3"/>
                </a:solidFill>
                <a:latin typeface="Consolas"/>
              </a:rPr>
              <a:t>,</a:t>
            </a:r>
            <a:r>
              <a:rPr sz="700" i="0">
                <a:solidFill>
                  <a:srgbClr val="E6EDF3"/>
                </a:solidFill>
                <a:latin typeface="Consolas"/>
              </a:rPr>
              <a:t> </a:t>
            </a:r>
            <a:r>
              <a:rPr sz="700" i="0">
                <a:solidFill>
                  <a:srgbClr val="E6EDF3"/>
                </a:solidFill>
                <a:latin typeface="Consolas"/>
              </a:rPr>
              <a:t>items</a:t>
            </a:r>
            <a:r>
              <a:rPr sz="700" i="0">
                <a:solidFill>
                  <a:srgbClr val="E6EDF3"/>
                </a:solidFill>
                <a:latin typeface="Consolas"/>
              </a:rPr>
              <a:t>)</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FF8E6E"/>
                </a:solidFill>
                <a:latin typeface="Consolas"/>
              </a:rPr>
              <a:t>except</a:t>
            </a:r>
            <a:r>
              <a:rPr sz="700" i="0">
                <a:solidFill>
                  <a:srgbClr val="E6EDF3"/>
                </a:solidFill>
                <a:latin typeface="Consolas"/>
              </a:rPr>
              <a:t> </a:t>
            </a:r>
            <a:r>
              <a:rPr sz="700" i="0">
                <a:solidFill>
                  <a:srgbClr val="7FDBCA"/>
                </a:solidFill>
                <a:latin typeface="Consolas"/>
              </a:rPr>
              <a:t>UnknownCustomerType</a:t>
            </a:r>
            <a:r>
              <a:rPr sz="700" i="0">
                <a:solidFill>
                  <a:srgbClr val="E6EDF3"/>
                </a:solidFill>
                <a:latin typeface="Consolas"/>
              </a:rPr>
              <a:t> </a:t>
            </a:r>
            <a:r>
              <a:rPr sz="700" i="0">
                <a:solidFill>
                  <a:srgbClr val="FF8E6E"/>
                </a:solidFill>
                <a:latin typeface="Consolas"/>
              </a:rPr>
              <a:t>as</a:t>
            </a:r>
            <a:r>
              <a:rPr sz="700" i="0">
                <a:solidFill>
                  <a:srgbClr val="E6EDF3"/>
                </a:solidFill>
                <a:latin typeface="Consolas"/>
              </a:rPr>
              <a:t> </a:t>
            </a:r>
            <a:r>
              <a:rPr sz="700" i="0">
                <a:solidFill>
                  <a:srgbClr val="E6EDF3"/>
                </a:solidFill>
                <a:latin typeface="Consolas"/>
              </a:rPr>
              <a:t>e</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FF8E6E"/>
                </a:solidFill>
                <a:latin typeface="Consolas"/>
              </a:rPr>
              <a:t>raise</a:t>
            </a:r>
            <a:r>
              <a:rPr sz="700" i="0">
                <a:solidFill>
                  <a:srgbClr val="E6EDF3"/>
                </a:solidFill>
                <a:latin typeface="Consolas"/>
              </a:rPr>
              <a:t> </a:t>
            </a:r>
            <a:r>
              <a:rPr sz="700" i="0">
                <a:solidFill>
                  <a:srgbClr val="7FDBCA"/>
                </a:solidFill>
                <a:latin typeface="Consolas"/>
              </a:rPr>
              <a:t>HTTPException</a:t>
            </a:r>
            <a:r>
              <a:rPr sz="700" i="0">
                <a:solidFill>
                  <a:srgbClr val="E6EDF3"/>
                </a:solidFill>
                <a:latin typeface="Consolas"/>
              </a:rPr>
              <a:t>(</a:t>
            </a:r>
            <a:r>
              <a:rPr sz="700" i="0">
                <a:solidFill>
                  <a:srgbClr val="F9C97A"/>
                </a:solidFill>
                <a:latin typeface="Consolas"/>
              </a:rPr>
              <a:t>400</a:t>
            </a:r>
            <a:r>
              <a:rPr sz="700" i="0">
                <a:solidFill>
                  <a:srgbClr val="E6EDF3"/>
                </a:solidFill>
                <a:latin typeface="Consolas"/>
              </a:rPr>
              <a:t>,</a:t>
            </a:r>
            <a:r>
              <a:rPr sz="700" i="0">
                <a:solidFill>
                  <a:srgbClr val="E6EDF3"/>
                </a:solidFill>
                <a:latin typeface="Consolas"/>
              </a:rPr>
              <a:t> </a:t>
            </a:r>
            <a:r>
              <a:rPr sz="700" i="0">
                <a:solidFill>
                  <a:srgbClr val="C3A6FF"/>
                </a:solidFill>
                <a:latin typeface="Consolas"/>
              </a:rPr>
              <a:t>str</a:t>
            </a:r>
            <a:r>
              <a:rPr sz="700" i="0">
                <a:solidFill>
                  <a:srgbClr val="E6EDF3"/>
                </a:solidFill>
                <a:latin typeface="Consolas"/>
              </a:rPr>
              <a:t>(</a:t>
            </a:r>
            <a:r>
              <a:rPr sz="700" i="0">
                <a:solidFill>
                  <a:srgbClr val="E6EDF3"/>
                </a:solidFill>
                <a:latin typeface="Consolas"/>
              </a:rPr>
              <a:t>e</a:t>
            </a:r>
            <a:r>
              <a:rPr sz="700" i="0">
                <a:solidFill>
                  <a:srgbClr val="E6EDF3"/>
                </a:solidFill>
                <a:latin typeface="Consolas"/>
              </a:rPr>
              <a:t>)</a:t>
            </a:r>
            <a:r>
              <a:rPr sz="700" i="0">
                <a:solidFill>
                  <a:srgbClr val="E6EDF3"/>
                </a:solidFill>
                <a:latin typeface="Consolas"/>
              </a:rPr>
              <a:t>)</a:t>
            </a:r>
          </a:p>
          <a:p>
            <a:pPr>
              <a:lnSpc>
                <a:spcPts val="900"/>
              </a:lnSpc>
              <a:spcAft>
                <a:spcPts val="0"/>
              </a:spcAft>
            </a:pP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a:t>
            </a:r>
            <a:r>
              <a:rPr sz="700" i="0">
                <a:solidFill>
                  <a:srgbClr val="E6EDF3"/>
                </a:solidFill>
                <a:latin typeface="Consolas"/>
              </a:rPr>
              <a:t>.</a:t>
            </a:r>
          </a:p>
          <a:p>
            <a:pPr>
              <a:lnSpc>
                <a:spcPts val="900"/>
              </a:lnSpc>
              <a:spcAft>
                <a:spcPts val="0"/>
              </a:spcAft>
            </a:pPr>
            <a:r>
              <a:rPr sz="700" i="0">
                <a:solidFill>
                  <a:srgbClr val="E6EDF3"/>
                </a:solidFill>
                <a:latin typeface="Consolas"/>
              </a:rPr>
              <a:t> </a:t>
            </a:r>
          </a:p>
          <a:p>
            <a:pPr>
              <a:lnSpc>
                <a:spcPts val="900"/>
              </a:lnSpc>
              <a:spcAft>
                <a:spcPts val="0"/>
              </a:spcAft>
            </a:pPr>
            <a:r>
              <a:rPr sz="700" i="1">
                <a:solidFill>
                  <a:srgbClr val="8B98A8"/>
                </a:solidFill>
                <a:latin typeface="Consolas"/>
              </a:rPr>
              <a:t># app/main.py</a:t>
            </a:r>
          </a:p>
          <a:p>
            <a:pPr>
              <a:lnSpc>
                <a:spcPts val="900"/>
              </a:lnSpc>
              <a:spcAft>
                <a:spcPts val="0"/>
              </a:spcAft>
            </a:pPr>
            <a:r>
              <a:rPr sz="700" i="0">
                <a:solidFill>
                  <a:srgbClr val="E6EDF3"/>
                </a:solidFill>
                <a:latin typeface="Consolas"/>
              </a:rPr>
              <a:t>app</a:t>
            </a:r>
            <a:r>
              <a:rPr sz="700" i="0">
                <a:solidFill>
                  <a:srgbClr val="E6EDF3"/>
                </a:solidFill>
                <a:latin typeface="Consolas"/>
              </a:rPr>
              <a:t> </a:t>
            </a:r>
            <a:r>
              <a:rPr sz="700" i="0">
                <a:solidFill>
                  <a:srgbClr val="E6EDF3"/>
                </a:solidFill>
                <a:latin typeface="Consolas"/>
              </a:rPr>
              <a:t>=</a:t>
            </a:r>
            <a:r>
              <a:rPr sz="700" i="0">
                <a:solidFill>
                  <a:srgbClr val="E6EDF3"/>
                </a:solidFill>
                <a:latin typeface="Consolas"/>
              </a:rPr>
              <a:t> </a:t>
            </a:r>
            <a:r>
              <a:rPr sz="700" i="0">
                <a:solidFill>
                  <a:srgbClr val="7FDBCA"/>
                </a:solidFill>
                <a:latin typeface="Consolas"/>
              </a:rPr>
              <a:t>FastAPI</a:t>
            </a:r>
            <a:r>
              <a:rPr sz="700" i="0">
                <a:solidFill>
                  <a:srgbClr val="E6EDF3"/>
                </a:solidFill>
                <a:latin typeface="Consolas"/>
              </a:rPr>
              <a:t>(</a:t>
            </a:r>
            <a:r>
              <a:rPr sz="700" i="0">
                <a:solidFill>
                  <a:srgbClr val="E6EDF3"/>
                </a:solidFill>
                <a:latin typeface="Consolas"/>
              </a:rPr>
              <a:t>title</a:t>
            </a:r>
            <a:r>
              <a:rPr sz="700" i="0">
                <a:solidFill>
                  <a:srgbClr val="E6EDF3"/>
                </a:solidFill>
                <a:latin typeface="Consolas"/>
              </a:rPr>
              <a:t>=</a:t>
            </a:r>
            <a:r>
              <a:rPr sz="700" i="0">
                <a:solidFill>
                  <a:srgbClr val="A5D6A7"/>
                </a:solidFill>
                <a:latin typeface="Consolas"/>
              </a:rPr>
              <a:t>"Order API"</a:t>
            </a:r>
            <a:r>
              <a:rPr sz="700" i="0">
                <a:solidFill>
                  <a:srgbClr val="E6EDF3"/>
                </a:solidFill>
                <a:latin typeface="Consolas"/>
              </a:rPr>
              <a:t>)</a:t>
            </a:r>
          </a:p>
          <a:p>
            <a:pPr>
              <a:lnSpc>
                <a:spcPts val="900"/>
              </a:lnSpc>
              <a:spcAft>
                <a:spcPts val="0"/>
              </a:spcAft>
            </a:pPr>
            <a:r>
              <a:rPr sz="700" i="0">
                <a:solidFill>
                  <a:srgbClr val="E6EDF3"/>
                </a:solidFill>
                <a:latin typeface="Consolas"/>
              </a:rPr>
              <a:t>app</a:t>
            </a:r>
            <a:r>
              <a:rPr sz="700" i="0">
                <a:solidFill>
                  <a:srgbClr val="E6EDF3"/>
                </a:solidFill>
                <a:latin typeface="Consolas"/>
              </a:rPr>
              <a:t>.</a:t>
            </a:r>
            <a:r>
              <a:rPr sz="700" i="0">
                <a:solidFill>
                  <a:srgbClr val="E6EDF3"/>
                </a:solidFill>
                <a:latin typeface="Consolas"/>
              </a:rPr>
              <a:t>include_router</a:t>
            </a:r>
            <a:r>
              <a:rPr sz="700" i="0">
                <a:solidFill>
                  <a:srgbClr val="E6EDF3"/>
                </a:solidFill>
                <a:latin typeface="Consolas"/>
              </a:rPr>
              <a:t>(</a:t>
            </a:r>
            <a:r>
              <a:rPr sz="700" i="0">
                <a:solidFill>
                  <a:srgbClr val="E6EDF3"/>
                </a:solidFill>
                <a:latin typeface="Consolas"/>
              </a:rPr>
              <a:t>router</a:t>
            </a:r>
            <a:r>
              <a:rPr sz="700" i="0">
                <a:solidFill>
                  <a:srgbClr val="E6EDF3"/>
                </a:solidFill>
                <a:latin typeface="Consolas"/>
              </a:rPr>
              <a:t>)</a:t>
            </a:r>
          </a:p>
        </p:txBody>
      </p:sp>
      <p:sp>
        <p:nvSpPr>
          <p:cNvPr id="29" name="Box 12"/>
          <p:cNvSpPr/>
          <p:nvPr/>
        </p:nvSpPr>
        <p:spPr>
          <a:xfrm>
            <a:off x="704088" y="1825371"/>
            <a:ext cx="472744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312664" y="17602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2511171"/>
            <a:ext cx="472744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5312664" y="24460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2</a:t>
            </a:r>
          </a:p>
        </p:txBody>
      </p:sp>
      <p:sp>
        <p:nvSpPr>
          <p:cNvPr id="33" name="Box 16"/>
          <p:cNvSpPr/>
          <p:nvPr/>
        </p:nvSpPr>
        <p:spPr>
          <a:xfrm>
            <a:off x="704088" y="3311271"/>
            <a:ext cx="472744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Box 17"/>
          <p:cNvSpPr/>
          <p:nvPr/>
        </p:nvSpPr>
        <p:spPr>
          <a:xfrm>
            <a:off x="5312664" y="32461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
        <p:nvSpPr>
          <p:cNvPr id="35" name="Box 18"/>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6" name="Text 19"/>
          <p:cNvSpPr txBox="1"/>
          <p:nvPr/>
        </p:nvSpPr>
        <p:spPr>
          <a:xfrm>
            <a:off x="5806440" y="157276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7" name="Text 20"/>
          <p:cNvSpPr txBox="1"/>
          <p:nvPr/>
        </p:nvSpPr>
        <p:spPr>
          <a:xfrm>
            <a:off x="5806440" y="1892808"/>
            <a:ext cx="2542032"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Route pindah ke </a:t>
            </a:r>
            <a:r>
              <a:rPr sz="900" i="0" b="0">
                <a:solidFill>
                  <a:srgbClr val="B5482A"/>
                </a:solidFill>
                <a:latin typeface="Consolas"/>
              </a:rPr>
              <a:t>APIRouter</a:t>
            </a:r>
            <a:r>
              <a:rPr sz="900" i="0" b="0">
                <a:solidFill>
                  <a:srgbClr val="434343"/>
                </a:solidFill>
                <a:latin typeface="Inter"/>
              </a:rPr>
              <a:t>, model </a:t>
            </a:r>
            <a:r>
              <a:rPr sz="900" i="0" b="0">
                <a:solidFill>
                  <a:srgbClr val="B5482A"/>
                </a:solidFill>
                <a:latin typeface="Consolas"/>
              </a:rPr>
              <a:t>Item</a:t>
            </a:r>
            <a:r>
              <a:rPr sz="900" i="0" b="0">
                <a:solidFill>
                  <a:srgbClr val="434343"/>
                </a:solidFill>
                <a:latin typeface="Inter"/>
              </a:rPr>
              <a:t>/</a:t>
            </a:r>
            <a:r>
              <a:rPr sz="900" i="0" b="0">
                <a:solidFill>
                  <a:srgbClr val="B5482A"/>
                </a:solidFill>
                <a:latin typeface="Consolas"/>
              </a:rPr>
              <a:t>OrderIn</a:t>
            </a:r>
            <a:r>
              <a:rPr sz="900" i="0" b="0">
                <a:solidFill>
                  <a:srgbClr val="434343"/>
                </a:solidFill>
                <a:latin typeface="Inter"/>
              </a:rPr>
              <a:t> ikut pindah ke sini</a:t>
            </a:r>
          </a:p>
          <a:p>
            <a:pPr algn="l" marL="182880" indent="-182880">
              <a:lnSpc>
                <a:spcPct val="115000"/>
              </a:lnSpc>
              <a:spcAft>
                <a:spcPts val="400"/>
              </a:spcAft>
              <a:buClr>
                <a:srgbClr val="E0764F"/>
              </a:buClr>
              <a:buSzPct val="100000"/>
              <a:buFont typeface="+mj-lt"/>
              <a:buAutoNum type="arabicPeriod"/>
            </a:pPr>
            <a:r>
              <a:rPr sz="900" i="0" b="0">
                <a:solidFill>
                  <a:srgbClr val="B5482A"/>
                </a:solidFill>
                <a:latin typeface="Consolas"/>
              </a:rPr>
              <a:t>asdict(order)</a:t>
            </a:r>
            <a:r>
              <a:rPr sz="900" i="0" b="0">
                <a:solidFill>
                  <a:srgbClr val="434343"/>
                </a:solidFill>
                <a:latin typeface="Inter"/>
              </a:rPr>
              <a:t> mengubah dataclass jadi JSON</a:t>
            </a:r>
          </a:p>
          <a:p>
            <a:pPr algn="l" marL="182880" indent="-182880">
              <a:lnSpc>
                <a:spcPct val="115000"/>
              </a:lnSpc>
              <a:spcAft>
                <a:spcPts val="400"/>
              </a:spcAft>
              <a:buClr>
                <a:srgbClr val="E0764F"/>
              </a:buClr>
              <a:buSzPct val="100000"/>
              <a:buFont typeface="+mj-lt"/>
              <a:buAutoNum type="arabicPeriod"/>
            </a:pPr>
            <a:r>
              <a:rPr sz="900" i="0" b="0">
                <a:solidFill>
                  <a:srgbClr val="B5482A"/>
                </a:solidFill>
                <a:latin typeface="Consolas"/>
              </a:rPr>
              <a:t>main.py</a:t>
            </a:r>
            <a:r>
              <a:rPr sz="900" i="0" b="0">
                <a:solidFill>
                  <a:srgbClr val="434343"/>
                </a:solidFill>
                <a:latin typeface="Inter"/>
              </a:rPr>
              <a:t> tinggal membuat app dan memasang router</a:t>
            </a:r>
          </a:p>
        </p:txBody>
      </p:sp>
      <p:sp>
        <p:nvSpPr>
          <p:cNvPr id="38" name="Box 21"/>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9" name="Text 22"/>
          <p:cNvSpPr txBox="1"/>
          <p:nvPr/>
        </p:nvSpPr>
        <p:spPr>
          <a:xfrm>
            <a:off x="5806440" y="381304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40" name="Text 23"/>
          <p:cNvSpPr txBox="1"/>
          <p:nvPr/>
        </p:nvSpPr>
        <p:spPr>
          <a:xfrm>
            <a:off x="5806440" y="4133088"/>
            <a:ext cx="2542032" cy="475488"/>
          </a:xfrm>
          <a:prstGeom prst="rect">
            <a:avLst/>
          </a:prstGeom>
          <a:noFill/>
        </p:spPr>
        <p:txBody>
          <a:bodyPr wrap="square" anchor="t" lIns="45720" rIns="45720">
            <a:spAutoFit/>
          </a:bodyPr>
          <a:lstStyle/>
          <a:p>
            <a:pPr algn="l">
              <a:lnSpc>
                <a:spcPct val="115000"/>
              </a:lnSpc>
              <a:spcAft>
                <a:spcPts val="400"/>
              </a:spcAft>
            </a:pPr>
            <a:r>
              <a:rPr sz="900" i="0" b="0">
                <a:solidFill>
                  <a:srgbClr val="B5482A"/>
                </a:solidFill>
                <a:latin typeface="Consolas"/>
              </a:rPr>
              <a:t>uvicorn app.main:app --reload</a:t>
            </a:r>
            <a:r>
              <a:rPr sz="900" i="0" b="0">
                <a:solidFill>
                  <a:srgbClr val="434343"/>
                </a:solidFill>
                <a:latin typeface="Inter"/>
              </a:rPr>
              <a:t> dari folder </a:t>
            </a:r>
            <a:r>
              <a:rPr sz="900" i="0" b="0">
                <a:solidFill>
                  <a:srgbClr val="B5482A"/>
                </a:solidFill>
                <a:latin typeface="Consolas"/>
              </a:rPr>
              <a:t>latihan/</a:t>
            </a:r>
            <a:r>
              <a:rPr sz="900" i="0" b="0">
                <a:solidFill>
                  <a:srgbClr val="434343"/>
                </a:solidFill>
                <a:latin typeface="Inter"/>
              </a:rPr>
              <a: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8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tests/: Fake Adapter + Test</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8"/>
          <p:cNvSpPr txBox="1"/>
          <p:nvPr/>
        </p:nvSpPr>
        <p:spPr>
          <a:xfrm>
            <a:off x="1170432" y="1490472"/>
            <a:ext cx="4251959"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tests/fakes.py  +  tests/test_api.py</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8" name="Code 11"/>
          <p:cNvSpPr txBox="1"/>
          <p:nvPr/>
        </p:nvSpPr>
        <p:spPr>
          <a:xfrm>
            <a:off x="621792" y="1719072"/>
            <a:ext cx="4892040" cy="2980944"/>
          </a:xfrm>
          <a:prstGeom prst="rect">
            <a:avLst/>
          </a:prstGeom>
          <a:noFill/>
        </p:spPr>
        <p:txBody>
          <a:bodyPr wrap="none" lIns="146304" rIns="146304" tIns="91440" bIns="54864">
            <a:spAutoFit/>
          </a:bodyPr>
          <a:lstStyle/>
          <a:p>
            <a:pPr>
              <a:lnSpc>
                <a:spcPts val="1000"/>
              </a:lnSpc>
              <a:spcAft>
                <a:spcPts val="0"/>
              </a:spcAft>
            </a:pPr>
            <a:r>
              <a:rPr sz="750" i="1">
                <a:solidFill>
                  <a:srgbClr val="8B98A8"/>
                </a:solidFill>
                <a:latin typeface="Consolas"/>
              </a:rPr>
              <a:t># tests/fakes.py</a:t>
            </a:r>
          </a:p>
          <a:p>
            <a:pPr>
              <a:lnSpc>
                <a:spcPts val="1000"/>
              </a:lnSpc>
              <a:spcAft>
                <a:spcPts val="0"/>
              </a:spcAft>
            </a:pPr>
            <a:r>
              <a:rPr sz="750" i="0">
                <a:solidFill>
                  <a:srgbClr val="FF8E6E"/>
                </a:solidFill>
                <a:latin typeface="Consolas"/>
              </a:rPr>
              <a:t>class</a:t>
            </a:r>
            <a:r>
              <a:rPr sz="750" i="0">
                <a:solidFill>
                  <a:srgbClr val="E6EDF3"/>
                </a:solidFill>
                <a:latin typeface="Consolas"/>
              </a:rPr>
              <a:t> </a:t>
            </a:r>
            <a:r>
              <a:rPr sz="750" i="0">
                <a:solidFill>
                  <a:srgbClr val="7FDBCA"/>
                </a:solidFill>
                <a:latin typeface="Consolas"/>
              </a:rPr>
              <a:t>FakeOrderRepository</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FF8E6E"/>
                </a:solidFill>
                <a:latin typeface="Consolas"/>
              </a:rPr>
              <a:t>def</a:t>
            </a:r>
            <a:r>
              <a:rPr sz="750" i="0">
                <a:solidFill>
                  <a:srgbClr val="E6EDF3"/>
                </a:solidFill>
                <a:latin typeface="Consolas"/>
              </a:rPr>
              <a:t> </a:t>
            </a:r>
            <a:r>
              <a:rPr sz="750" i="0">
                <a:solidFill>
                  <a:srgbClr val="82B1FF"/>
                </a:solidFill>
                <a:latin typeface="Consolas"/>
              </a:rPr>
              <a:t>__init__</a:t>
            </a:r>
            <a:r>
              <a:rPr sz="750" i="0">
                <a:solidFill>
                  <a:srgbClr val="E6EDF3"/>
                </a:solidFill>
                <a:latin typeface="Consolas"/>
              </a:rPr>
              <a:t>(</a:t>
            </a:r>
            <a:r>
              <a:rPr sz="750" i="0">
                <a:solidFill>
                  <a:srgbClr val="C3A6FF"/>
                </a:solidFill>
                <a:latin typeface="Consolas"/>
              </a:rPr>
              <a:t>self</a:t>
            </a:r>
            <a:r>
              <a:rPr sz="750" i="0">
                <a:solidFill>
                  <a:srgbClr val="E6EDF3"/>
                </a:solidFill>
                <a:latin typeface="Consolas"/>
              </a:rPr>
              <a:t>)</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C3A6FF"/>
                </a:solidFill>
                <a:latin typeface="Consolas"/>
              </a:rPr>
              <a:t>self</a:t>
            </a:r>
            <a:r>
              <a:rPr sz="750" i="0">
                <a:solidFill>
                  <a:srgbClr val="E6EDF3"/>
                </a:solidFill>
                <a:latin typeface="Consolas"/>
              </a:rPr>
              <a:t>.</a:t>
            </a:r>
            <a:r>
              <a:rPr sz="750" i="0">
                <a:solidFill>
                  <a:srgbClr val="E6EDF3"/>
                </a:solidFill>
                <a:latin typeface="Consolas"/>
              </a:rPr>
              <a:t>rows</a:t>
            </a:r>
            <a:r>
              <a:rPr sz="750" i="0">
                <a:solidFill>
                  <a:srgbClr val="E6EDF3"/>
                </a:solidFill>
                <a:latin typeface="Consolas"/>
              </a:rPr>
              <a:t>:</a:t>
            </a:r>
            <a:r>
              <a:rPr sz="750" i="0">
                <a:solidFill>
                  <a:srgbClr val="E6EDF3"/>
                </a:solidFill>
                <a:latin typeface="Consolas"/>
              </a:rPr>
              <a:t> </a:t>
            </a:r>
            <a:r>
              <a:rPr sz="750" i="0">
                <a:solidFill>
                  <a:srgbClr val="C3A6FF"/>
                </a:solidFill>
                <a:latin typeface="Consolas"/>
              </a:rPr>
              <a:t>dict</a:t>
            </a:r>
            <a:r>
              <a:rPr sz="750" i="0">
                <a:solidFill>
                  <a:srgbClr val="E6EDF3"/>
                </a:solidFill>
                <a:latin typeface="Consolas"/>
              </a:rPr>
              <a:t>[</a:t>
            </a:r>
            <a:r>
              <a:rPr sz="750" i="0">
                <a:solidFill>
                  <a:srgbClr val="C3A6FF"/>
                </a:solidFill>
                <a:latin typeface="Consolas"/>
              </a:rPr>
              <a:t>int</a:t>
            </a:r>
            <a:r>
              <a:rPr sz="750" i="0">
                <a:solidFill>
                  <a:srgbClr val="E6EDF3"/>
                </a:solidFill>
                <a:latin typeface="Consolas"/>
              </a:rPr>
              <a:t>,</a:t>
            </a:r>
            <a:r>
              <a:rPr sz="750" i="0">
                <a:solidFill>
                  <a:srgbClr val="E6EDF3"/>
                </a:solidFill>
                <a:latin typeface="Consolas"/>
              </a:rPr>
              <a:t> </a:t>
            </a:r>
            <a:r>
              <a:rPr sz="750" i="0">
                <a:solidFill>
                  <a:srgbClr val="7FDBCA"/>
                </a:solidFill>
                <a:latin typeface="Consolas"/>
              </a:rPr>
              <a:t>Order</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a:t>
            </a:r>
          </a:p>
          <a:p>
            <a:pPr>
              <a:lnSpc>
                <a:spcPts val="1000"/>
              </a:lnSpc>
              <a:spcAft>
                <a:spcPts val="0"/>
              </a:spcAft>
            </a:pPr>
            <a:r>
              <a:rPr sz="750" i="0">
                <a:solidFill>
                  <a:srgbClr val="E6EDF3"/>
                </a:solidFill>
                <a:latin typeface="Consolas"/>
              </a:rPr>
              <a:t> </a:t>
            </a:r>
          </a:p>
          <a:p>
            <a:pPr>
              <a:lnSpc>
                <a:spcPts val="1000"/>
              </a:lnSpc>
              <a:spcAft>
                <a:spcPts val="0"/>
              </a:spcAft>
            </a:pPr>
            <a:r>
              <a:rPr sz="750" i="0">
                <a:solidFill>
                  <a:srgbClr val="E6EDF3"/>
                </a:solidFill>
                <a:latin typeface="Consolas"/>
              </a:rPr>
              <a:t>    </a:t>
            </a:r>
            <a:r>
              <a:rPr sz="750" i="0">
                <a:solidFill>
                  <a:srgbClr val="FF8E6E"/>
                </a:solidFill>
                <a:latin typeface="Consolas"/>
              </a:rPr>
              <a:t>def</a:t>
            </a:r>
            <a:r>
              <a:rPr sz="750" i="0">
                <a:solidFill>
                  <a:srgbClr val="E6EDF3"/>
                </a:solidFill>
                <a:latin typeface="Consolas"/>
              </a:rPr>
              <a:t> </a:t>
            </a:r>
            <a:r>
              <a:rPr sz="750" i="0">
                <a:solidFill>
                  <a:srgbClr val="82B1FF"/>
                </a:solidFill>
                <a:latin typeface="Consolas"/>
              </a:rPr>
              <a:t>add</a:t>
            </a:r>
            <a:r>
              <a:rPr sz="750" i="0">
                <a:solidFill>
                  <a:srgbClr val="E6EDF3"/>
                </a:solidFill>
                <a:latin typeface="Consolas"/>
              </a:rPr>
              <a:t>(</a:t>
            </a:r>
            <a:r>
              <a:rPr sz="750" i="0">
                <a:solidFill>
                  <a:srgbClr val="C3A6FF"/>
                </a:solidFill>
                <a:latin typeface="Consolas"/>
              </a:rPr>
              <a:t>self</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order</a:t>
            </a:r>
            <a:r>
              <a:rPr sz="750" i="0">
                <a:solidFill>
                  <a:srgbClr val="E6EDF3"/>
                </a:solidFill>
                <a:latin typeface="Consolas"/>
              </a:rPr>
              <a:t>:</a:t>
            </a:r>
            <a:r>
              <a:rPr sz="750" i="0">
                <a:solidFill>
                  <a:srgbClr val="E6EDF3"/>
                </a:solidFill>
                <a:latin typeface="Consolas"/>
              </a:rPr>
              <a:t> </a:t>
            </a:r>
            <a:r>
              <a:rPr sz="750" i="0">
                <a:solidFill>
                  <a:srgbClr val="7FDBCA"/>
                </a:solidFill>
                <a:latin typeface="Consolas"/>
              </a:rPr>
              <a:t>Order</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&gt;</a:t>
            </a:r>
            <a:r>
              <a:rPr sz="750" i="0">
                <a:solidFill>
                  <a:srgbClr val="E6EDF3"/>
                </a:solidFill>
                <a:latin typeface="Consolas"/>
              </a:rPr>
              <a:t> </a:t>
            </a:r>
            <a:r>
              <a:rPr sz="750" i="0">
                <a:solidFill>
                  <a:srgbClr val="7FDBCA"/>
                </a:solidFill>
                <a:latin typeface="Consolas"/>
              </a:rPr>
              <a:t>Order</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E6EDF3"/>
                </a:solidFill>
                <a:latin typeface="Consolas"/>
              </a:rPr>
              <a:t>saved</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replace</a:t>
            </a:r>
            <a:r>
              <a:rPr sz="750" i="0">
                <a:solidFill>
                  <a:srgbClr val="E6EDF3"/>
                </a:solidFill>
                <a:latin typeface="Consolas"/>
              </a:rPr>
              <a:t>(</a:t>
            </a:r>
            <a:r>
              <a:rPr sz="750" i="0">
                <a:solidFill>
                  <a:srgbClr val="E6EDF3"/>
                </a:solidFill>
                <a:latin typeface="Consolas"/>
              </a:rPr>
              <a:t>order</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id</a:t>
            </a:r>
            <a:r>
              <a:rPr sz="750" i="0">
                <a:solidFill>
                  <a:srgbClr val="E6EDF3"/>
                </a:solidFill>
                <a:latin typeface="Consolas"/>
              </a:rPr>
              <a:t>=</a:t>
            </a:r>
            <a:r>
              <a:rPr sz="750" i="0">
                <a:solidFill>
                  <a:srgbClr val="C3A6FF"/>
                </a:solidFill>
                <a:latin typeface="Consolas"/>
              </a:rPr>
              <a:t>len</a:t>
            </a:r>
            <a:r>
              <a:rPr sz="750" i="0">
                <a:solidFill>
                  <a:srgbClr val="E6EDF3"/>
                </a:solidFill>
                <a:latin typeface="Consolas"/>
              </a:rPr>
              <a:t>(</a:t>
            </a:r>
            <a:r>
              <a:rPr sz="750" i="0">
                <a:solidFill>
                  <a:srgbClr val="C3A6FF"/>
                </a:solidFill>
                <a:latin typeface="Consolas"/>
              </a:rPr>
              <a:t>self</a:t>
            </a:r>
            <a:r>
              <a:rPr sz="750" i="0">
                <a:solidFill>
                  <a:srgbClr val="E6EDF3"/>
                </a:solidFill>
                <a:latin typeface="Consolas"/>
              </a:rPr>
              <a:t>.</a:t>
            </a:r>
            <a:r>
              <a:rPr sz="750" i="0">
                <a:solidFill>
                  <a:srgbClr val="E6EDF3"/>
                </a:solidFill>
                <a:latin typeface="Consolas"/>
              </a:rPr>
              <a:t>rows</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F9C97A"/>
                </a:solidFill>
                <a:latin typeface="Consolas"/>
              </a:rPr>
              <a:t>1</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C3A6FF"/>
                </a:solidFill>
                <a:latin typeface="Consolas"/>
              </a:rPr>
              <a:t>self</a:t>
            </a:r>
            <a:r>
              <a:rPr sz="750" i="0">
                <a:solidFill>
                  <a:srgbClr val="E6EDF3"/>
                </a:solidFill>
                <a:latin typeface="Consolas"/>
              </a:rPr>
              <a:t>.</a:t>
            </a:r>
            <a:r>
              <a:rPr sz="750" i="0">
                <a:solidFill>
                  <a:srgbClr val="E6EDF3"/>
                </a:solidFill>
                <a:latin typeface="Consolas"/>
              </a:rPr>
              <a:t>rows</a:t>
            </a:r>
            <a:r>
              <a:rPr sz="750" i="0">
                <a:solidFill>
                  <a:srgbClr val="E6EDF3"/>
                </a:solidFill>
                <a:latin typeface="Consolas"/>
              </a:rPr>
              <a:t>[</a:t>
            </a:r>
            <a:r>
              <a:rPr sz="750" i="0">
                <a:solidFill>
                  <a:srgbClr val="E6EDF3"/>
                </a:solidFill>
                <a:latin typeface="Consolas"/>
              </a:rPr>
              <a:t>saved</a:t>
            </a:r>
            <a:r>
              <a:rPr sz="750" i="0">
                <a:solidFill>
                  <a:srgbClr val="E6EDF3"/>
                </a:solidFill>
                <a:latin typeface="Consolas"/>
              </a:rPr>
              <a:t>.</a:t>
            </a:r>
            <a:r>
              <a:rPr sz="750" i="0">
                <a:solidFill>
                  <a:srgbClr val="E6EDF3"/>
                </a:solidFill>
                <a:latin typeface="Consolas"/>
              </a:rPr>
              <a:t>id</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saved</a:t>
            </a:r>
          </a:p>
          <a:p>
            <a:pPr>
              <a:lnSpc>
                <a:spcPts val="1000"/>
              </a:lnSpc>
              <a:spcAft>
                <a:spcPts val="0"/>
              </a:spcAft>
            </a:pPr>
            <a:r>
              <a:rPr sz="750" i="0">
                <a:solidFill>
                  <a:srgbClr val="E6EDF3"/>
                </a:solidFill>
                <a:latin typeface="Consolas"/>
              </a:rPr>
              <a:t>        </a:t>
            </a:r>
            <a:r>
              <a:rPr sz="750" i="0">
                <a:solidFill>
                  <a:srgbClr val="FF8E6E"/>
                </a:solidFill>
                <a:latin typeface="Consolas"/>
              </a:rPr>
              <a:t>return</a:t>
            </a:r>
            <a:r>
              <a:rPr sz="750" i="0">
                <a:solidFill>
                  <a:srgbClr val="E6EDF3"/>
                </a:solidFill>
                <a:latin typeface="Consolas"/>
              </a:rPr>
              <a:t> </a:t>
            </a:r>
            <a:r>
              <a:rPr sz="750" i="0">
                <a:solidFill>
                  <a:srgbClr val="E6EDF3"/>
                </a:solidFill>
                <a:latin typeface="Consolas"/>
              </a:rPr>
              <a:t>saved</a:t>
            </a:r>
          </a:p>
          <a:p>
            <a:pPr>
              <a:lnSpc>
                <a:spcPts val="1000"/>
              </a:lnSpc>
              <a:spcAft>
                <a:spcPts val="0"/>
              </a:spcAft>
            </a:pP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a:t>
            </a:r>
            <a:r>
              <a:rPr sz="750" i="0">
                <a:solidFill>
                  <a:srgbClr val="E6EDF3"/>
                </a:solidFill>
                <a:latin typeface="Consolas"/>
              </a:rPr>
              <a:t>.</a:t>
            </a:r>
          </a:p>
          <a:p>
            <a:pPr>
              <a:lnSpc>
                <a:spcPts val="1000"/>
              </a:lnSpc>
              <a:spcAft>
                <a:spcPts val="0"/>
              </a:spcAft>
            </a:pPr>
            <a:r>
              <a:rPr sz="750" i="0">
                <a:solidFill>
                  <a:srgbClr val="E6EDF3"/>
                </a:solidFill>
                <a:latin typeface="Consolas"/>
              </a:rPr>
              <a:t> </a:t>
            </a:r>
          </a:p>
          <a:p>
            <a:pPr>
              <a:lnSpc>
                <a:spcPts val="1000"/>
              </a:lnSpc>
              <a:spcAft>
                <a:spcPts val="0"/>
              </a:spcAft>
            </a:pPr>
            <a:r>
              <a:rPr sz="750" i="1">
                <a:solidFill>
                  <a:srgbClr val="8B98A8"/>
                </a:solidFill>
                <a:latin typeface="Consolas"/>
              </a:rPr>
              <a:t># tests/test_api.py</a:t>
            </a:r>
          </a:p>
          <a:p>
            <a:pPr>
              <a:lnSpc>
                <a:spcPts val="1000"/>
              </a:lnSpc>
              <a:spcAft>
                <a:spcPts val="0"/>
              </a:spcAft>
            </a:pPr>
            <a:r>
              <a:rPr sz="750" i="0">
                <a:solidFill>
                  <a:srgbClr val="F9C97A"/>
                </a:solidFill>
                <a:latin typeface="Consolas"/>
              </a:rPr>
              <a:t>@pytest.fixture</a:t>
            </a:r>
          </a:p>
          <a:p>
            <a:pPr>
              <a:lnSpc>
                <a:spcPts val="1000"/>
              </a:lnSpc>
              <a:spcAft>
                <a:spcPts val="0"/>
              </a:spcAft>
            </a:pPr>
            <a:r>
              <a:rPr sz="750" i="0">
                <a:solidFill>
                  <a:srgbClr val="FF8E6E"/>
                </a:solidFill>
                <a:latin typeface="Consolas"/>
              </a:rPr>
              <a:t>def</a:t>
            </a:r>
            <a:r>
              <a:rPr sz="750" i="0">
                <a:solidFill>
                  <a:srgbClr val="E6EDF3"/>
                </a:solidFill>
                <a:latin typeface="Consolas"/>
              </a:rPr>
              <a:t> </a:t>
            </a:r>
            <a:r>
              <a:rPr sz="750" i="0">
                <a:solidFill>
                  <a:srgbClr val="82B1FF"/>
                </a:solidFill>
                <a:latin typeface="Consolas"/>
              </a:rPr>
              <a:t>client</a:t>
            </a:r>
            <a:r>
              <a:rPr sz="750" i="0">
                <a:solidFill>
                  <a:srgbClr val="E6EDF3"/>
                </a:solidFill>
                <a:latin typeface="Consolas"/>
              </a:rPr>
              <a:t>(</a:t>
            </a:r>
            <a:r>
              <a:rPr sz="750" i="0">
                <a:solidFill>
                  <a:srgbClr val="E6EDF3"/>
                </a:solidFill>
                <a:latin typeface="Consolas"/>
              </a:rPr>
              <a:t>)</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E6EDF3"/>
                </a:solidFill>
                <a:latin typeface="Consolas"/>
              </a:rPr>
              <a:t>repo</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7FDBCA"/>
                </a:solidFill>
                <a:latin typeface="Consolas"/>
              </a:rPr>
              <a:t>FakeOrderRepository</a:t>
            </a:r>
            <a:r>
              <a:rPr sz="750" i="0">
                <a:solidFill>
                  <a:srgbClr val="E6EDF3"/>
                </a:solidFill>
                <a:latin typeface="Consolas"/>
              </a:rPr>
              <a:t>(</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E6EDF3"/>
                </a:solidFill>
                <a:latin typeface="Consolas"/>
              </a:rPr>
              <a:t>app</a:t>
            </a:r>
            <a:r>
              <a:rPr sz="750" i="0">
                <a:solidFill>
                  <a:srgbClr val="E6EDF3"/>
                </a:solidFill>
                <a:latin typeface="Consolas"/>
              </a:rPr>
              <a:t>.</a:t>
            </a:r>
            <a:r>
              <a:rPr sz="750" i="0">
                <a:solidFill>
                  <a:srgbClr val="E6EDF3"/>
                </a:solidFill>
                <a:latin typeface="Consolas"/>
              </a:rPr>
              <a:t>dependency_overrides</a:t>
            </a:r>
            <a:r>
              <a:rPr sz="750" i="0">
                <a:solidFill>
                  <a:srgbClr val="E6EDF3"/>
                </a:solidFill>
                <a:latin typeface="Consolas"/>
              </a:rPr>
              <a:t>[</a:t>
            </a:r>
            <a:r>
              <a:rPr sz="750" i="0">
                <a:solidFill>
                  <a:srgbClr val="E6EDF3"/>
                </a:solidFill>
                <a:latin typeface="Consolas"/>
              </a:rPr>
              <a:t>get_repository</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FF8E6E"/>
                </a:solidFill>
                <a:latin typeface="Consolas"/>
              </a:rPr>
              <a:t>lambda</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repo</a:t>
            </a:r>
          </a:p>
          <a:p>
            <a:pPr>
              <a:lnSpc>
                <a:spcPts val="1000"/>
              </a:lnSpc>
              <a:spcAft>
                <a:spcPts val="0"/>
              </a:spcAft>
            </a:pPr>
            <a:r>
              <a:rPr sz="750" i="0">
                <a:solidFill>
                  <a:srgbClr val="E6EDF3"/>
                </a:solidFill>
                <a:latin typeface="Consolas"/>
              </a:rPr>
              <a:t>    </a:t>
            </a:r>
            <a:r>
              <a:rPr sz="750" i="0">
                <a:solidFill>
                  <a:srgbClr val="E6EDF3"/>
                </a:solidFill>
                <a:latin typeface="Consolas"/>
              </a:rPr>
              <a:t>app</a:t>
            </a:r>
            <a:r>
              <a:rPr sz="750" i="0">
                <a:solidFill>
                  <a:srgbClr val="E6EDF3"/>
                </a:solidFill>
                <a:latin typeface="Consolas"/>
              </a:rPr>
              <a:t>.</a:t>
            </a:r>
            <a:r>
              <a:rPr sz="750" i="0">
                <a:solidFill>
                  <a:srgbClr val="E6EDF3"/>
                </a:solidFill>
                <a:latin typeface="Consolas"/>
              </a:rPr>
              <a:t>dependency_overrides</a:t>
            </a:r>
            <a:r>
              <a:rPr sz="750" i="0">
                <a:solidFill>
                  <a:srgbClr val="E6EDF3"/>
                </a:solidFill>
                <a:latin typeface="Consolas"/>
              </a:rPr>
              <a:t>[</a:t>
            </a:r>
            <a:r>
              <a:rPr sz="750" i="0">
                <a:solidFill>
                  <a:srgbClr val="E6EDF3"/>
                </a:solidFill>
                <a:latin typeface="Consolas"/>
              </a:rPr>
              <a:t>get_notifier</a:t>
            </a:r>
            <a:r>
              <a:rPr sz="750" i="0">
                <a:solidFill>
                  <a:srgbClr val="E6EDF3"/>
                </a:solidFill>
                <a:latin typeface="Consolas"/>
              </a:rPr>
              <a:t>]</a:t>
            </a:r>
            <a:r>
              <a:rPr sz="750" i="0">
                <a:solidFill>
                  <a:srgbClr val="E6EDF3"/>
                </a:solidFill>
                <a:latin typeface="Consolas"/>
              </a:rPr>
              <a:t> </a:t>
            </a:r>
            <a:r>
              <a:rPr sz="750" i="0">
                <a:solidFill>
                  <a:srgbClr val="E6EDF3"/>
                </a:solidFill>
                <a:latin typeface="Consolas"/>
              </a:rPr>
              <a:t>=</a:t>
            </a:r>
            <a:r>
              <a:rPr sz="750" i="0">
                <a:solidFill>
                  <a:srgbClr val="E6EDF3"/>
                </a:solidFill>
                <a:latin typeface="Consolas"/>
              </a:rPr>
              <a:t> </a:t>
            </a:r>
            <a:r>
              <a:rPr sz="750" i="0">
                <a:solidFill>
                  <a:srgbClr val="7FDBCA"/>
                </a:solidFill>
                <a:latin typeface="Consolas"/>
              </a:rPr>
              <a:t>FakeNotifier</a:t>
            </a:r>
          </a:p>
          <a:p>
            <a:pPr>
              <a:lnSpc>
                <a:spcPts val="1000"/>
              </a:lnSpc>
              <a:spcAft>
                <a:spcPts val="0"/>
              </a:spcAft>
            </a:pPr>
            <a:r>
              <a:rPr sz="750" i="0">
                <a:solidFill>
                  <a:srgbClr val="E6EDF3"/>
                </a:solidFill>
                <a:latin typeface="Consolas"/>
              </a:rPr>
              <a:t>    </a:t>
            </a:r>
            <a:r>
              <a:rPr sz="750" i="0">
                <a:solidFill>
                  <a:srgbClr val="FF8E6E"/>
                </a:solidFill>
                <a:latin typeface="Consolas"/>
              </a:rPr>
              <a:t>yield</a:t>
            </a:r>
            <a:r>
              <a:rPr sz="750" i="0">
                <a:solidFill>
                  <a:srgbClr val="E6EDF3"/>
                </a:solidFill>
                <a:latin typeface="Consolas"/>
              </a:rPr>
              <a:t> </a:t>
            </a:r>
            <a:r>
              <a:rPr sz="750" i="0">
                <a:solidFill>
                  <a:srgbClr val="7FDBCA"/>
                </a:solidFill>
                <a:latin typeface="Consolas"/>
              </a:rPr>
              <a:t>TestClient</a:t>
            </a:r>
            <a:r>
              <a:rPr sz="750" i="0">
                <a:solidFill>
                  <a:srgbClr val="E6EDF3"/>
                </a:solidFill>
                <a:latin typeface="Consolas"/>
              </a:rPr>
              <a:t>(</a:t>
            </a:r>
            <a:r>
              <a:rPr sz="750" i="0">
                <a:solidFill>
                  <a:srgbClr val="E6EDF3"/>
                </a:solidFill>
                <a:latin typeface="Consolas"/>
              </a:rPr>
              <a:t>app</a:t>
            </a:r>
            <a:r>
              <a:rPr sz="750" i="0">
                <a:solidFill>
                  <a:srgbClr val="E6EDF3"/>
                </a:solidFill>
                <a:latin typeface="Consolas"/>
              </a:rPr>
              <a:t>)</a:t>
            </a:r>
          </a:p>
          <a:p>
            <a:pPr>
              <a:lnSpc>
                <a:spcPts val="1000"/>
              </a:lnSpc>
              <a:spcAft>
                <a:spcPts val="0"/>
              </a:spcAft>
            </a:pPr>
            <a:r>
              <a:rPr sz="750" i="0">
                <a:solidFill>
                  <a:srgbClr val="E6EDF3"/>
                </a:solidFill>
                <a:latin typeface="Consolas"/>
              </a:rPr>
              <a:t>    </a:t>
            </a:r>
            <a:r>
              <a:rPr sz="750" i="0">
                <a:solidFill>
                  <a:srgbClr val="E6EDF3"/>
                </a:solidFill>
                <a:latin typeface="Consolas"/>
              </a:rPr>
              <a:t>app</a:t>
            </a:r>
            <a:r>
              <a:rPr sz="750" i="0">
                <a:solidFill>
                  <a:srgbClr val="E6EDF3"/>
                </a:solidFill>
                <a:latin typeface="Consolas"/>
              </a:rPr>
              <a:t>.</a:t>
            </a:r>
            <a:r>
              <a:rPr sz="750" i="0">
                <a:solidFill>
                  <a:srgbClr val="E6EDF3"/>
                </a:solidFill>
                <a:latin typeface="Consolas"/>
              </a:rPr>
              <a:t>dependency_overrides</a:t>
            </a:r>
            <a:r>
              <a:rPr sz="750" i="0">
                <a:solidFill>
                  <a:srgbClr val="E6EDF3"/>
                </a:solidFill>
                <a:latin typeface="Consolas"/>
              </a:rPr>
              <a:t>.</a:t>
            </a:r>
            <a:r>
              <a:rPr sz="750" i="0">
                <a:solidFill>
                  <a:srgbClr val="E6EDF3"/>
                </a:solidFill>
                <a:latin typeface="Consolas"/>
              </a:rPr>
              <a:t>clear</a:t>
            </a:r>
            <a:r>
              <a:rPr sz="750" i="0">
                <a:solidFill>
                  <a:srgbClr val="E6EDF3"/>
                </a:solidFill>
                <a:latin typeface="Consolas"/>
              </a:rPr>
              <a:t>(</a:t>
            </a:r>
            <a:r>
              <a:rPr sz="750" i="0">
                <a:solidFill>
                  <a:srgbClr val="E6EDF3"/>
                </a:solidFill>
                <a:latin typeface="Consolas"/>
              </a:rPr>
              <a:t>)</a:t>
            </a:r>
          </a:p>
        </p:txBody>
      </p:sp>
      <p:sp>
        <p:nvSpPr>
          <p:cNvPr id="29" name="Box 12"/>
          <p:cNvSpPr/>
          <p:nvPr/>
        </p:nvSpPr>
        <p:spPr>
          <a:xfrm>
            <a:off x="704088" y="1954022"/>
            <a:ext cx="4727448" cy="1008380"/>
          </a:xfrm>
          <a:prstGeom prst="roundRect">
            <a:avLst>
              <a:gd name="adj" fmla="val 453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0" name="Box 13"/>
          <p:cNvSpPr/>
          <p:nvPr/>
        </p:nvSpPr>
        <p:spPr>
          <a:xfrm>
            <a:off x="5312664" y="23393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1</a:t>
            </a:r>
          </a:p>
        </p:txBody>
      </p:sp>
      <p:sp>
        <p:nvSpPr>
          <p:cNvPr id="31" name="Box 14"/>
          <p:cNvSpPr/>
          <p:nvPr/>
        </p:nvSpPr>
        <p:spPr>
          <a:xfrm>
            <a:off x="704088" y="3732022"/>
            <a:ext cx="4727448" cy="246380"/>
          </a:xfrm>
          <a:prstGeom prst="roundRect">
            <a:avLst>
              <a:gd name="adj" fmla="val 1855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Box 15"/>
          <p:cNvSpPr/>
          <p:nvPr/>
        </p:nvSpPr>
        <p:spPr>
          <a:xfrm>
            <a:off x="5312664" y="37363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850" i="0" b="1">
                <a:solidFill>
                  <a:srgbClr val="FFFFFF"/>
                </a:solidFill>
                <a:latin typeface="Inter"/>
              </a:rPr>
              <a:t>3</a:t>
            </a:r>
          </a:p>
        </p:txBody>
      </p:sp>
      <p:sp>
        <p:nvSpPr>
          <p:cNvPr id="33" name="Box 16"/>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4" name="Text 17"/>
          <p:cNvSpPr txBox="1"/>
          <p:nvPr/>
        </p:nvSpPr>
        <p:spPr>
          <a:xfrm>
            <a:off x="5806440" y="157276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Yang dikerjakan</a:t>
            </a:r>
          </a:p>
        </p:txBody>
      </p:sp>
      <p:sp>
        <p:nvSpPr>
          <p:cNvPr id="35" name="Text 18"/>
          <p:cNvSpPr txBox="1"/>
          <p:nvPr/>
        </p:nvSpPr>
        <p:spPr>
          <a:xfrm>
            <a:off x="5806440" y="1892808"/>
            <a:ext cx="2542032" cy="1645920"/>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Fake adapter: bentuk sama dengan port, isinya dict</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Unit test service: </a:t>
            </a:r>
            <a:r>
              <a:rPr sz="900" i="0" b="0">
                <a:solidFill>
                  <a:srgbClr val="B5482A"/>
                </a:solidFill>
                <a:latin typeface="Consolas"/>
              </a:rPr>
              <a:t>OrderService(FakeOrderRepository(), FakeNotifier())</a:t>
            </a:r>
          </a:p>
          <a:p>
            <a:pPr algn="l" marL="182880" indent="-182880">
              <a:lnSpc>
                <a:spcPct val="115000"/>
              </a:lnSpc>
              <a:spcAft>
                <a:spcPts val="400"/>
              </a:spcAft>
              <a:buClr>
                <a:srgbClr val="E0764F"/>
              </a:buClr>
              <a:buSzPct val="100000"/>
              <a:buFont typeface="+mj-lt"/>
              <a:buAutoNum type="arabicPeriod"/>
            </a:pPr>
            <a:r>
              <a:rPr sz="900" i="0" b="0">
                <a:solidFill>
                  <a:srgbClr val="434343"/>
                </a:solidFill>
                <a:latin typeface="Inter"/>
              </a:rPr>
              <a:t>Test API: dependency asli diganti fake, </a:t>
            </a:r>
            <a:r>
              <a:rPr sz="900" i="0" b="0">
                <a:solidFill>
                  <a:srgbClr val="B5482A"/>
                </a:solidFill>
                <a:latin typeface="Consolas"/>
              </a:rPr>
              <a:t>orders.db</a:t>
            </a:r>
            <a:r>
              <a:rPr sz="900" i="0" b="0">
                <a:solidFill>
                  <a:srgbClr val="434343"/>
                </a:solidFill>
                <a:latin typeface="Inter"/>
              </a:rPr>
              <a:t> tidak disentuh</a:t>
            </a:r>
          </a:p>
        </p:txBody>
      </p:sp>
      <p:sp>
        <p:nvSpPr>
          <p:cNvPr id="36" name="Box 19"/>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7" name="Text 20"/>
          <p:cNvSpPr txBox="1"/>
          <p:nvPr/>
        </p:nvSpPr>
        <p:spPr>
          <a:xfrm>
            <a:off x="5806440" y="3813048"/>
            <a:ext cx="2542032" cy="310896"/>
          </a:xfrm>
          <a:prstGeom prst="rect">
            <a:avLst/>
          </a:prstGeom>
          <a:noFill/>
        </p:spPr>
        <p:txBody>
          <a:bodyPr wrap="square" anchor="t" lIns="45720" rIns="45720">
            <a:spAutoFit/>
          </a:bodyPr>
          <a:lstStyle/>
          <a:p>
            <a:pPr algn="l">
              <a:lnSpc>
                <a:spcPct val="115000"/>
              </a:lnSpc>
              <a:spcAft>
                <a:spcPts val="400"/>
              </a:spcAft>
            </a:pPr>
            <a:r>
              <a:rPr sz="1050" i="0" b="1">
                <a:solidFill>
                  <a:srgbClr val="2E7D5B"/>
                </a:solidFill>
                <a:latin typeface="Inter"/>
              </a:rPr>
              <a:t>Cek</a:t>
            </a:r>
          </a:p>
        </p:txBody>
      </p:sp>
      <p:sp>
        <p:nvSpPr>
          <p:cNvPr id="38" name="Text 21"/>
          <p:cNvSpPr txBox="1"/>
          <p:nvPr/>
        </p:nvSpPr>
        <p:spPr>
          <a:xfrm>
            <a:off x="5806440" y="4133088"/>
            <a:ext cx="2542032" cy="475488"/>
          </a:xfrm>
          <a:prstGeom prst="rect">
            <a:avLst/>
          </a:prstGeom>
          <a:noFill/>
        </p:spPr>
        <p:txBody>
          <a:bodyPr wrap="square" anchor="t" lIns="45720" rIns="45720">
            <a:spAutoFit/>
          </a:bodyPr>
          <a:lstStyle/>
          <a:p>
            <a:pPr algn="l">
              <a:lnSpc>
                <a:spcPct val="115000"/>
              </a:lnSpc>
              <a:spcAft>
                <a:spcPts val="400"/>
              </a:spcAft>
            </a:pPr>
            <a:r>
              <a:rPr sz="900" i="0" b="0">
                <a:solidFill>
                  <a:srgbClr val="434343"/>
                </a:solidFill>
                <a:latin typeface="Inter"/>
              </a:rPr>
              <a:t>Ada 7 test: 4 unit test + 3 test API.</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9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Jalankan Test &amp; Cek Aturan Import</a:t>
            </a:r>
          </a:p>
        </p:txBody>
      </p:sp>
      <p:pic>
        <p:nvPicPr>
          <p:cNvPr id="22" name="Image 3" descr="s02-pytest.png"/>
          <p:cNvPicPr>
            <a:picLocks noChangeAspect="1"/>
          </p:cNvPicPr>
          <p:nvPr/>
        </p:nvPicPr>
        <p:blipFill>
          <a:blip r:embed="rId2"/>
          <a:stretch>
            <a:fillRect/>
          </a:stretch>
        </p:blipFill>
        <p:spPr>
          <a:xfrm>
            <a:off x="621792" y="1481328"/>
            <a:ext cx="4937760" cy="1924604"/>
          </a:xfrm>
          <a:prstGeom prst="rect">
            <a:avLst/>
          </a:prstGeom>
          <a:ln w="9525">
            <a:solidFill>
              <a:srgbClr val="D0D5DD"/>
            </a:solidFill>
          </a:ln>
        </p:spPr>
      </p:pic>
      <p:sp>
        <p:nvSpPr>
          <p:cNvPr id="23" name="CodeTab 5"/>
          <p:cNvSpPr/>
          <p:nvPr/>
        </p:nvSpPr>
        <p:spPr>
          <a:xfrm>
            <a:off x="5715000" y="1481328"/>
            <a:ext cx="277063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4" name="Dot 6"/>
          <p:cNvSpPr/>
          <p:nvPr/>
        </p:nvSpPr>
        <p:spPr>
          <a:xfrm>
            <a:off x="582472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7"/>
          <p:cNvSpPr/>
          <p:nvPr/>
        </p:nvSpPr>
        <p:spPr>
          <a:xfrm>
            <a:off x="596188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t 8"/>
          <p:cNvSpPr/>
          <p:nvPr/>
        </p:nvSpPr>
        <p:spPr>
          <a:xfrm>
            <a:off x="609904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9"/>
          <p:cNvSpPr txBox="1"/>
          <p:nvPr/>
        </p:nvSpPr>
        <p:spPr>
          <a:xfrm>
            <a:off x="6263640" y="1490472"/>
            <a:ext cx="2130552"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cek import</a:t>
            </a:r>
          </a:p>
        </p:txBody>
      </p:sp>
      <p:sp>
        <p:nvSpPr>
          <p:cNvPr id="28" name="CodeBg 11"/>
          <p:cNvSpPr/>
          <p:nvPr/>
        </p:nvSpPr>
        <p:spPr>
          <a:xfrm>
            <a:off x="5715000" y="1719072"/>
            <a:ext cx="2770632" cy="1225296"/>
          </a:xfrm>
          <a:prstGeom prst="roundRect">
            <a:avLst>
              <a:gd name="adj" fmla="val 149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9" name="Code 12"/>
          <p:cNvSpPr txBox="1"/>
          <p:nvPr/>
        </p:nvSpPr>
        <p:spPr>
          <a:xfrm>
            <a:off x="5715000" y="1719072"/>
            <a:ext cx="2770632" cy="1225296"/>
          </a:xfrm>
          <a:prstGeom prst="rect">
            <a:avLst/>
          </a:prstGeom>
          <a:noFill/>
        </p:spPr>
        <p:txBody>
          <a:bodyPr wrap="none" lIns="146304" rIns="146304" tIns="91440" bIns="54864">
            <a:spAutoFit/>
          </a:bodyPr>
          <a:lstStyle/>
          <a:p>
            <a:pPr>
              <a:lnSpc>
                <a:spcPts val="1100"/>
              </a:lnSpc>
              <a:spcAft>
                <a:spcPts val="0"/>
              </a:spcAft>
            </a:pPr>
            <a:r>
              <a:rPr sz="850" i="0">
                <a:solidFill>
                  <a:srgbClr val="82B1FF"/>
                </a:solidFill>
                <a:latin typeface="Consolas"/>
              </a:rPr>
              <a:t>$ grep -rn "fastapi\|sqlite3" \</a:t>
            </a:r>
          </a:p>
          <a:p>
            <a:pPr>
              <a:lnSpc>
                <a:spcPts val="1100"/>
              </a:lnSpc>
              <a:spcAft>
                <a:spcPts val="0"/>
              </a:spcAft>
            </a:pPr>
            <a:r>
              <a:rPr sz="850" i="0">
                <a:solidFill>
                  <a:srgbClr val="E6EDF3"/>
                </a:solidFill>
                <a:latin typeface="Consolas"/>
              </a:rPr>
              <a:t>    app/domain app/application</a:t>
            </a:r>
          </a:p>
          <a:p>
            <a:pPr>
              <a:lnSpc>
                <a:spcPts val="1100"/>
              </a:lnSpc>
              <a:spcAft>
                <a:spcPts val="0"/>
              </a:spcAft>
            </a:pPr>
            <a:r>
              <a:rPr sz="850" i="0">
                <a:solidFill>
                  <a:srgbClr val="82B1FF"/>
                </a:solidFill>
                <a:latin typeface="Consolas"/>
              </a:rPr>
              <a:t>$ echo $?</a:t>
            </a:r>
          </a:p>
          <a:p>
            <a:pPr>
              <a:lnSpc>
                <a:spcPts val="1100"/>
              </a:lnSpc>
              <a:spcAft>
                <a:spcPts val="0"/>
              </a:spcAft>
            </a:pPr>
            <a:r>
              <a:rPr sz="850" i="0">
                <a:solidFill>
                  <a:srgbClr val="E6EDF3"/>
                </a:solidFill>
                <a:latin typeface="Consolas"/>
              </a:rPr>
              <a:t>1</a:t>
            </a:r>
          </a:p>
        </p:txBody>
      </p:sp>
      <p:sp>
        <p:nvSpPr>
          <p:cNvPr id="30" name="Text 13"/>
          <p:cNvSpPr txBox="1"/>
          <p:nvPr/>
        </p:nvSpPr>
        <p:spPr>
          <a:xfrm>
            <a:off x="5715000" y="3017520"/>
            <a:ext cx="2770632" cy="1691640"/>
          </a:xfrm>
          <a:prstGeom prst="rect">
            <a:avLst/>
          </a:prstGeom>
          <a:noFill/>
        </p:spPr>
        <p:txBody>
          <a:bodyPr wrap="square" anchor="t" lIns="45720" rIns="45720">
            <a:spAutoFit/>
          </a:bodyPr>
          <a:lstStyle/>
          <a:p>
            <a:pPr algn="l">
              <a:lnSpc>
                <a:spcPct val="115000"/>
              </a:lnSpc>
              <a:spcAft>
                <a:spcPts val="400"/>
              </a:spcAft>
            </a:pPr>
            <a:r>
              <a:rPr sz="900" i="0" b="0">
                <a:solidFill>
                  <a:srgbClr val="B5482A"/>
                </a:solidFill>
                <a:latin typeface="Consolas"/>
              </a:rPr>
              <a:t>grep</a:t>
            </a:r>
            <a:r>
              <a:rPr sz="900" i="0" b="0">
                <a:solidFill>
                  <a:srgbClr val="434343"/>
                </a:solidFill>
                <a:latin typeface="Inter"/>
              </a:rPr>
              <a:t> tidak menemukan apa pun (exit code 1): </a:t>
            </a:r>
            <a:r>
              <a:rPr sz="900" i="0" b="0">
                <a:solidFill>
                  <a:srgbClr val="B5482A"/>
                </a:solidFill>
                <a:latin typeface="Consolas"/>
              </a:rPr>
              <a:t>domain/</a:t>
            </a:r>
            <a:r>
              <a:rPr sz="900" i="0" b="0">
                <a:solidFill>
                  <a:srgbClr val="434343"/>
                </a:solidFill>
                <a:latin typeface="Inter"/>
              </a:rPr>
              <a:t> dan </a:t>
            </a:r>
            <a:r>
              <a:rPr sz="900" i="0" b="0">
                <a:solidFill>
                  <a:srgbClr val="B5482A"/>
                </a:solidFill>
                <a:latin typeface="Consolas"/>
              </a:rPr>
              <a:t>application/</a:t>
            </a:r>
            <a:r>
              <a:rPr sz="900" i="0" b="0">
                <a:solidFill>
                  <a:srgbClr val="434343"/>
                </a:solidFill>
                <a:latin typeface="Inter"/>
              </a:rPr>
              <a:t> bersih dari FastAPI dan SQLite.</a:t>
            </a:r>
          </a:p>
          <a:p>
            <a:pPr algn="l">
              <a:lnSpc>
                <a:spcPct val="115000"/>
              </a:lnSpc>
              <a:spcAft>
                <a:spcPts val="0"/>
              </a:spcAft>
            </a:pPr>
            <a:r>
              <a:rPr sz="540"/>
              <a:t/>
            </a:r>
          </a:p>
          <a:p>
            <a:pPr algn="l">
              <a:lnSpc>
                <a:spcPct val="115000"/>
              </a:lnSpc>
              <a:spcAft>
                <a:spcPts val="400"/>
              </a:spcAft>
            </a:pPr>
            <a:r>
              <a:rPr sz="900" i="0" b="0">
                <a:solidFill>
                  <a:srgbClr val="434343"/>
                </a:solidFill>
                <a:latin typeface="Inter"/>
              </a:rPr>
              <a:t>Di Windows tanpa </a:t>
            </a:r>
            <a:r>
              <a:rPr sz="900" i="0" b="0">
                <a:solidFill>
                  <a:srgbClr val="B5482A"/>
                </a:solidFill>
                <a:latin typeface="Consolas"/>
              </a:rPr>
              <a:t>grep</a:t>
            </a:r>
            <a:r>
              <a:rPr sz="900" i="0" b="0">
                <a:solidFill>
                  <a:srgbClr val="434343"/>
                </a:solidFill>
                <a:latin typeface="Inter"/>
              </a:rPr>
              <a:t>, cek manual baris import di folder itu.</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  ·  Langkah 9 dari 9</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Coba di Swagger</a:t>
            </a:r>
          </a:p>
        </p:txBody>
      </p:sp>
      <p:pic>
        <p:nvPicPr>
          <p:cNvPr id="22" name="Image 3" descr="s02-post.png"/>
          <p:cNvPicPr>
            <a:picLocks noChangeAspect="1"/>
          </p:cNvPicPr>
          <p:nvPr/>
        </p:nvPicPr>
        <p:blipFill>
          <a:blip r:embed="rId2"/>
          <a:stretch>
            <a:fillRect/>
          </a:stretch>
        </p:blipFill>
        <p:spPr>
          <a:xfrm>
            <a:off x="621792" y="1481328"/>
            <a:ext cx="2481880" cy="3218688"/>
          </a:xfrm>
          <a:prstGeom prst="rect">
            <a:avLst/>
          </a:prstGeom>
          <a:ln w="9525">
            <a:solidFill>
              <a:srgbClr val="D0D5DD"/>
            </a:solidFill>
          </a:ln>
        </p:spPr>
      </p:pic>
      <p:pic>
        <p:nvPicPr>
          <p:cNvPr id="23" name="Image 4" descr="s02-get-resp.png"/>
          <p:cNvPicPr>
            <a:picLocks noChangeAspect="1"/>
          </p:cNvPicPr>
          <p:nvPr/>
        </p:nvPicPr>
        <p:blipFill>
          <a:blip r:embed="rId3"/>
          <a:stretch>
            <a:fillRect/>
          </a:stretch>
        </p:blipFill>
        <p:spPr>
          <a:xfrm>
            <a:off x="3291840" y="1481328"/>
            <a:ext cx="4206240" cy="1213583"/>
          </a:xfrm>
          <a:prstGeom prst="rect">
            <a:avLst/>
          </a:prstGeom>
          <a:ln w="9525">
            <a:solidFill>
              <a:srgbClr val="D0D5DD"/>
            </a:solidFill>
          </a:ln>
        </p:spPr>
      </p:pic>
      <p:sp>
        <p:nvSpPr>
          <p:cNvPr id="24" name="Text 5"/>
          <p:cNvSpPr txBox="1"/>
          <p:nvPr/>
        </p:nvSpPr>
        <p:spPr>
          <a:xfrm>
            <a:off x="3291840" y="2715768"/>
            <a:ext cx="5193792" cy="274320"/>
          </a:xfrm>
          <a:prstGeom prst="rect">
            <a:avLst/>
          </a:prstGeom>
          <a:noFill/>
        </p:spPr>
        <p:txBody>
          <a:bodyPr wrap="square" anchor="t" lIns="45720" rIns="45720">
            <a:spAutoFit/>
          </a:bodyPr>
          <a:lstStyle/>
          <a:p>
            <a:pPr algn="l">
              <a:lnSpc>
                <a:spcPct val="115000"/>
              </a:lnSpc>
              <a:spcAft>
                <a:spcPts val="400"/>
              </a:spcAft>
            </a:pPr>
            <a:r>
              <a:rPr sz="850" i="0" b="0">
                <a:solidFill>
                  <a:srgbClr val="7A7A7A"/>
                </a:solidFill>
                <a:latin typeface="Inter"/>
              </a:rPr>
              <a:t>GET /orders/1</a:t>
            </a:r>
          </a:p>
        </p:txBody>
      </p:sp>
      <p:sp>
        <p:nvSpPr>
          <p:cNvPr id="25" name="Text 6"/>
          <p:cNvSpPr txBox="1"/>
          <p:nvPr/>
        </p:nvSpPr>
        <p:spPr>
          <a:xfrm>
            <a:off x="3291840" y="3108960"/>
            <a:ext cx="5193792" cy="155448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Hasilnya</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Response sama dengan Sesi 1: 201, total 900.000</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Endpoint sekarang dikelompokkan di tag </a:t>
            </a:r>
            <a:r>
              <a:rPr sz="950" i="0" b="1">
                <a:solidFill>
                  <a:srgbClr val="434343"/>
                </a:solidFill>
                <a:latin typeface="Inter"/>
              </a:rPr>
              <a:t>orders</a:t>
            </a:r>
            <a:r>
              <a:rPr sz="950" i="0" b="0">
                <a:solidFill>
                  <a:srgbClr val="434343"/>
                </a:solidFill>
                <a:latin typeface="Inter"/>
              </a:rPr>
              <a:t> (</a:t>
            </a:r>
            <a:r>
              <a:rPr sz="950" i="0" b="0">
                <a:solidFill>
                  <a:srgbClr val="B5482A"/>
                </a:solidFill>
                <a:latin typeface="Consolas"/>
              </a:rPr>
              <a:t>APIRouter</a:t>
            </a:r>
            <a:r>
              <a:rPr sz="950" i="0" b="0">
                <a:solidFill>
                  <a:srgbClr val="434343"/>
                </a:solidFill>
                <a:latin typeface="Inter"/>
              </a:rPr>
              <a:t>)</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Data dibaca lewat port </a:t>
            </a:r>
            <a:r>
              <a:rPr sz="950" i="0" b="0">
                <a:solidFill>
                  <a:srgbClr val="B5482A"/>
                </a:solidFill>
                <a:latin typeface="Consolas"/>
              </a:rPr>
              <a:t>OrderRepository</a:t>
            </a:r>
            <a:r>
              <a:rPr sz="950" i="0" b="0">
                <a:solidFill>
                  <a:srgbClr val="434343"/>
                </a:solidFill>
                <a:latin typeface="Inter"/>
              </a:rPr>
              <a:t>, yang dijalankan </a:t>
            </a:r>
            <a:r>
              <a:rPr sz="950" i="0" b="0">
                <a:solidFill>
                  <a:srgbClr val="B5482A"/>
                </a:solidFill>
                <a:latin typeface="Consolas"/>
              </a:rPr>
              <a:t>SqliteOrderRepository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Cek Kriteria Selesai</a:t>
            </a:r>
          </a:p>
        </p:txBody>
      </p:sp>
      <p:graphicFrame>
        <p:nvGraphicFramePr>
          <p:cNvPr id="22" name="Table 3"/>
          <p:cNvGraphicFramePr>
            <a:graphicFrameLocks noGrp="1"/>
          </p:cNvGraphicFramePr>
          <p:nvPr/>
        </p:nvGraphicFramePr>
        <p:xfrm>
          <a:off x="621792" y="1481328"/>
          <a:ext cx="7863840" cy="3017520"/>
        </p:xfrm>
        <a:graphic>
          <a:graphicData uri="http://schemas.openxmlformats.org/drawingml/2006/table">
            <a:tbl>
              <a:tblPr firstRow="1" bandRow="1"/>
              <a:tblGrid>
                <a:gridCol w="3657600"/>
                <a:gridCol w="4206240"/>
              </a:tblGrid>
              <a:tr h="502920">
                <a:tc>
                  <a:txBody>
                    <a:bodyPr wrap="square"/>
                    <a:lstStyle/>
                    <a:p>
                      <a:pPr algn="l">
                        <a:lnSpc>
                          <a:spcPct val="100000"/>
                        </a:lnSpc>
                        <a:spcAft>
                          <a:spcPts val="0"/>
                        </a:spcAft>
                      </a:pPr>
                      <a:r>
                        <a:rPr sz="950" i="0" b="1">
                          <a:solidFill>
                            <a:srgbClr val="FFFFFF"/>
                          </a:solidFill>
                          <a:latin typeface="Inter"/>
                        </a:rPr>
                        <a:t>Kriteria</a:t>
                      </a:r>
                    </a:p>
                  </a:txBody>
                  <a:tcPr marL="73152" marR="73152" marT="36576" marB="36576" anchor="ctr">
                    <a:solidFill>
                      <a:srgbClr val="1C4587"/>
                    </a:solidFill>
                  </a:tcPr>
                </a:tc>
                <a:tc>
                  <a:txBody>
                    <a:bodyPr wrap="square"/>
                    <a:lstStyle/>
                    <a:p>
                      <a:pPr algn="l">
                        <a:lnSpc>
                          <a:spcPct val="100000"/>
                        </a:lnSpc>
                        <a:spcAft>
                          <a:spcPts val="0"/>
                        </a:spcAft>
                      </a:pPr>
                      <a:r>
                        <a:rPr sz="950" i="0" b="1">
                          <a:solidFill>
                            <a:srgbClr val="FFFFFF"/>
                          </a:solidFill>
                          <a:latin typeface="Inter"/>
                        </a:rPr>
                        <a:t>Cara mengecek</a:t>
                      </a:r>
                    </a:p>
                  </a:txBody>
                  <a:tcPr marL="73152" marR="73152" marT="36576" marB="36576" anchor="ctr">
                    <a:solidFill>
                      <a:srgbClr val="1C4587"/>
                    </a:solidFill>
                  </a:tcPr>
                </a:tc>
              </a:tr>
              <a:tr h="502920">
                <a:tc>
                  <a:txBody>
                    <a:bodyPr wrap="square"/>
                    <a:lstStyle/>
                    <a:p>
                      <a:pPr algn="l">
                        <a:lnSpc>
                          <a:spcPct val="100000"/>
                        </a:lnSpc>
                        <a:spcAft>
                          <a:spcPts val="0"/>
                        </a:spcAft>
                      </a:pPr>
                      <a:r>
                        <a:rPr sz="950" i="0" b="1">
                          <a:solidFill>
                            <a:srgbClr val="1C4587"/>
                          </a:solidFill>
                          <a:latin typeface="Inter"/>
                        </a:rPr>
                        <a:t>POST &amp; GET tetap jalan</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Swagger: POST /orders lalu GET /orders/1</a:t>
                      </a:r>
                    </a:p>
                  </a:txBody>
                  <a:tcPr marL="73152" marR="73152" marT="36576" marB="36576" anchor="ctr">
                    <a:solidFill>
                      <a:srgbClr val="FFFFFF"/>
                    </a:solidFill>
                  </a:tcPr>
                </a:tc>
              </a:tr>
              <a:tr h="502920">
                <a:tc>
                  <a:txBody>
                    <a:bodyPr wrap="square"/>
                    <a:lstStyle/>
                    <a:p>
                      <a:pPr algn="l">
                        <a:lnSpc>
                          <a:spcPct val="100000"/>
                        </a:lnSpc>
                        <a:spcAft>
                          <a:spcPts val="0"/>
                        </a:spcAft>
                      </a:pPr>
                      <a:r>
                        <a:rPr sz="950" i="0" b="1">
                          <a:solidFill>
                            <a:srgbClr val="1C4587"/>
                          </a:solidFill>
                          <a:latin typeface="Inter"/>
                        </a:rPr>
                        <a:t>Dipecah ke domain, application, infrastructure, api</a:t>
                      </a:r>
                    </a:p>
                  </a:txBody>
                  <a:tcPr marL="73152" marR="73152" marT="36576" marB="36576" anchor="ctr">
                    <a:solidFill>
                      <a:srgbClr val="F3F4F6"/>
                    </a:solidFill>
                  </a:tcPr>
                </a:tc>
                <a:tc>
                  <a:txBody>
                    <a:bodyPr wrap="square"/>
                    <a:lstStyle/>
                    <a:p>
                      <a:pPr algn="l">
                        <a:lnSpc>
                          <a:spcPct val="100000"/>
                        </a:lnSpc>
                        <a:spcAft>
                          <a:spcPts val="0"/>
                        </a:spcAft>
                      </a:pPr>
                      <a:r>
                        <a:rPr sz="950" i="0" b="0">
                          <a:solidFill>
                            <a:srgbClr val="434343"/>
                          </a:solidFill>
                          <a:latin typeface="Inter"/>
                        </a:rPr>
                        <a:t>Struktur folder sama dengan target</a:t>
                      </a:r>
                    </a:p>
                  </a:txBody>
                  <a:tcPr marL="73152" marR="73152" marT="36576" marB="36576" anchor="ctr">
                    <a:solidFill>
                      <a:srgbClr val="F3F4F6"/>
                    </a:solidFill>
                  </a:tcPr>
                </a:tc>
              </a:tr>
              <a:tr h="502920">
                <a:tc>
                  <a:txBody>
                    <a:bodyPr wrap="square"/>
                    <a:lstStyle/>
                    <a:p>
                      <a:pPr algn="l">
                        <a:lnSpc>
                          <a:spcPct val="100000"/>
                        </a:lnSpc>
                        <a:spcAft>
                          <a:spcPts val="0"/>
                        </a:spcAft>
                      </a:pPr>
                      <a:r>
                        <a:rPr sz="950" i="0" b="1">
                          <a:solidFill>
                            <a:srgbClr val="1C4587"/>
                          </a:solidFill>
                          <a:latin typeface="Inter"/>
                        </a:rPr>
                        <a:t>domain &amp; application tanpa fastapi/sqlite3</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grep tidak menemukan apa pun</a:t>
                      </a:r>
                    </a:p>
                  </a:txBody>
                  <a:tcPr marL="73152" marR="73152" marT="36576" marB="36576" anchor="ctr">
                    <a:solidFill>
                      <a:srgbClr val="FFFFFF"/>
                    </a:solidFill>
                  </a:tcPr>
                </a:tc>
              </a:tr>
              <a:tr h="502920">
                <a:tc>
                  <a:txBody>
                    <a:bodyPr wrap="square"/>
                    <a:lstStyle/>
                    <a:p>
                      <a:pPr algn="l">
                        <a:lnSpc>
                          <a:spcPct val="100000"/>
                        </a:lnSpc>
                        <a:spcAft>
                          <a:spcPts val="0"/>
                        </a:spcAft>
                      </a:pPr>
                      <a:r>
                        <a:rPr sz="950" i="0" b="1">
                          <a:solidFill>
                            <a:srgbClr val="1C4587"/>
                          </a:solidFill>
                          <a:latin typeface="Inter"/>
                        </a:rPr>
                        <a:t>Dependency lewat Depends di api/dependencies.py</a:t>
                      </a:r>
                    </a:p>
                  </a:txBody>
                  <a:tcPr marL="73152" marR="73152" marT="36576" marB="36576" anchor="ctr">
                    <a:solidFill>
                      <a:srgbClr val="F3F4F6"/>
                    </a:solidFill>
                  </a:tcPr>
                </a:tc>
                <a:tc>
                  <a:txBody>
                    <a:bodyPr wrap="square"/>
                    <a:lstStyle/>
                    <a:p>
                      <a:pPr algn="l">
                        <a:lnSpc>
                          <a:spcPct val="100000"/>
                        </a:lnSpc>
                        <a:spcAft>
                          <a:spcPts val="0"/>
                        </a:spcAft>
                      </a:pPr>
                      <a:r>
                        <a:rPr sz="950" i="0" b="0">
                          <a:solidFill>
                            <a:srgbClr val="434343"/>
                          </a:solidFill>
                          <a:latin typeface="Inter"/>
                        </a:rPr>
                        <a:t>Route hanya punya Depends(get_order_service)</a:t>
                      </a:r>
                    </a:p>
                  </a:txBody>
                  <a:tcPr marL="73152" marR="73152" marT="36576" marB="36576" anchor="ctr">
                    <a:solidFill>
                      <a:srgbClr val="F3F4F6"/>
                    </a:solidFill>
                  </a:tcPr>
                </a:tc>
              </a:tr>
              <a:tr h="502920">
                <a:tc>
                  <a:txBody>
                    <a:bodyPr wrap="square"/>
                    <a:lstStyle/>
                    <a:p>
                      <a:pPr algn="l">
                        <a:lnSpc>
                          <a:spcPct val="100000"/>
                        </a:lnSpc>
                        <a:spcAft>
                          <a:spcPts val="0"/>
                        </a:spcAft>
                      </a:pPr>
                      <a:r>
                        <a:rPr sz="950" i="0" b="1">
                          <a:solidFill>
                            <a:srgbClr val="1C4587"/>
                          </a:solidFill>
                          <a:latin typeface="Inter"/>
                        </a:rPr>
                        <a:t>Test pakai fake, pytest hijau</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pytest -v → 7 passed</a:t>
                      </a:r>
                    </a:p>
                  </a:txBody>
                  <a:tcPr marL="73152" marR="73152" marT="36576" marB="36576" anchor="ctr">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 name="Text 1"/>
          <p:cNvSpPr txBox="1"/>
          <p:nvPr/>
        </p:nvSpPr>
        <p:spPr>
          <a:xfrm>
            <a:off x="822960" y="1600200"/>
            <a:ext cx="7315200" cy="365760"/>
          </a:xfrm>
          <a:prstGeom prst="rect">
            <a:avLst/>
          </a:prstGeom>
          <a:noFill/>
        </p:spPr>
        <p:txBody>
          <a:bodyPr wrap="square" anchor="t" lIns="45720" rIns="45720">
            <a:spAutoFit/>
          </a:bodyPr>
          <a:lstStyle/>
          <a:p>
            <a:pPr algn="l">
              <a:lnSpc>
                <a:spcPct val="115000"/>
              </a:lnSpc>
              <a:spcAft>
                <a:spcPts val="400"/>
              </a:spcAft>
            </a:pPr>
            <a:r>
              <a:rPr sz="1400" i="0" b="0">
                <a:solidFill>
                  <a:srgbClr val="CFE0FA"/>
                </a:solidFill>
                <a:latin typeface="Inter"/>
              </a:rPr>
              <a:t>Bagian 05</a:t>
            </a:r>
          </a:p>
        </p:txBody>
      </p:sp>
      <p:sp>
        <p:nvSpPr>
          <p:cNvPr id="32" name="Text 2"/>
          <p:cNvSpPr txBox="1"/>
          <p:nvPr/>
        </p:nvSpPr>
        <p:spPr>
          <a:xfrm>
            <a:off x="822960" y="1920240"/>
            <a:ext cx="7315200" cy="822960"/>
          </a:xfrm>
          <a:prstGeom prst="rect">
            <a:avLst/>
          </a:prstGeom>
          <a:noFill/>
        </p:spPr>
        <p:txBody>
          <a:bodyPr wrap="square" anchor="t" lIns="45720" rIns="45720">
            <a:spAutoFit/>
          </a:bodyPr>
          <a:lstStyle/>
          <a:p>
            <a:pPr algn="l">
              <a:lnSpc>
                <a:spcPct val="115000"/>
              </a:lnSpc>
              <a:spcAft>
                <a:spcPts val="400"/>
              </a:spcAft>
            </a:pPr>
            <a:r>
              <a:rPr sz="3000" i="0" b="0">
                <a:solidFill>
                  <a:srgbClr val="FFFFFF"/>
                </a:solidFill>
                <a:latin typeface="Work Sans ExtraBold"/>
              </a:rPr>
              <a:t>Studi Kasus: Tambah Ongkos Kirim</a:t>
            </a:r>
          </a:p>
        </p:txBody>
      </p:sp>
      <p:sp>
        <p:nvSpPr>
          <p:cNvPr id="33" name="Text 3"/>
          <p:cNvSpPr txBox="1"/>
          <p:nvPr/>
        </p:nvSpPr>
        <p:spPr>
          <a:xfrm>
            <a:off x="822960" y="3246120"/>
            <a:ext cx="6583680" cy="731520"/>
          </a:xfrm>
          <a:prstGeom prst="rect">
            <a:avLst/>
          </a:prstGeom>
          <a:noFill/>
        </p:spPr>
        <p:txBody>
          <a:bodyPr wrap="square" anchor="t" lIns="45720" rIns="45720">
            <a:spAutoFit/>
          </a:bodyPr>
          <a:lstStyle/>
          <a:p>
            <a:pPr algn="l">
              <a:lnSpc>
                <a:spcPct val="115000"/>
              </a:lnSpc>
              <a:spcAft>
                <a:spcPts val="400"/>
              </a:spcAft>
            </a:pPr>
            <a:r>
              <a:rPr sz="1200" i="0" b="0">
                <a:solidFill>
                  <a:srgbClr val="E3ECFA"/>
                </a:solidFill>
                <a:latin typeface="Inter"/>
              </a:rPr>
              <a:t>Dikerjakan mandiri. Menggabungkan materi Sesi 1 dan Sesi 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Studi Kasus  ·  mulai dari 08-studi-kasus-ongkir/before/</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Instruksi &amp; Requirement</a:t>
            </a:r>
          </a:p>
        </p:txBody>
      </p:sp>
      <p:sp>
        <p:nvSpPr>
          <p:cNvPr id="22" name="Text 3"/>
          <p:cNvSpPr txBox="1"/>
          <p:nvPr/>
        </p:nvSpPr>
        <p:spPr>
          <a:xfrm>
            <a:off x="621792" y="1481328"/>
            <a:ext cx="4206240" cy="320040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Latar belakang</a:t>
            </a:r>
          </a:p>
          <a:p>
            <a:pPr algn="l">
              <a:lnSpc>
                <a:spcPct val="115000"/>
              </a:lnSpc>
              <a:spcAft>
                <a:spcPts val="400"/>
              </a:spcAft>
            </a:pPr>
            <a:r>
              <a:rPr sz="950" i="0" b="0">
                <a:solidFill>
                  <a:srgbClr val="434343"/>
                </a:solidFill>
                <a:latin typeface="Inter"/>
              </a:rPr>
              <a:t>Tim bisnis ingin customer bisa memilih cara pengiriman, dan ongkos kirimnya ikut masuk ke total order.</a:t>
            </a:r>
          </a:p>
          <a:p>
            <a:pPr algn="l">
              <a:lnSpc>
                <a:spcPct val="115000"/>
              </a:lnSpc>
              <a:spcAft>
                <a:spcPts val="400"/>
              </a:spcAft>
            </a:pPr>
            <a:r>
              <a:rPr sz="1050" i="0" b="1">
                <a:solidFill>
                  <a:srgbClr val="1C4587"/>
                </a:solidFill>
                <a:latin typeface="Inter"/>
              </a:rPr>
              <a:t>Requirement</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Request </a:t>
            </a:r>
            <a:r>
              <a:rPr sz="950" i="0" b="0">
                <a:solidFill>
                  <a:srgbClr val="B5482A"/>
                </a:solidFill>
                <a:latin typeface="Consolas"/>
              </a:rPr>
              <a:t>POST /orders</a:t>
            </a:r>
            <a:r>
              <a:rPr sz="950" i="0" b="0">
                <a:solidFill>
                  <a:srgbClr val="434343"/>
                </a:solidFill>
                <a:latin typeface="Inter"/>
              </a:rPr>
              <a:t> punya field baru </a:t>
            </a:r>
            <a:r>
              <a:rPr sz="950" i="0" b="0">
                <a:solidFill>
                  <a:srgbClr val="B5482A"/>
                </a:solidFill>
                <a:latin typeface="Consolas"/>
              </a:rPr>
              <a:t>courier</a:t>
            </a:r>
            <a:r>
              <a:rPr sz="950" i="0" b="0">
                <a:solidFill>
                  <a:srgbClr val="434343"/>
                </a:solidFill>
                <a:latin typeface="Inter"/>
              </a:rPr>
              <a:t> (default </a:t>
            </a:r>
            <a:r>
              <a:rPr sz="950" i="0" b="0">
                <a:solidFill>
                  <a:srgbClr val="B5482A"/>
                </a:solidFill>
                <a:latin typeface="Consolas"/>
              </a:rPr>
              <a:t>pickup</a:t>
            </a:r>
            <a:r>
              <a:rPr sz="950" i="0" b="0">
                <a:solidFill>
                  <a:srgbClr val="434343"/>
                </a:solidFill>
                <a:latin typeface="Inter"/>
              </a:rPr>
              <a:t>)</a:t>
            </a:r>
          </a:p>
          <a:p>
            <a:pPr algn="l" marL="182880" indent="-182880">
              <a:lnSpc>
                <a:spcPct val="115000"/>
              </a:lnSpc>
              <a:spcAft>
                <a:spcPts val="400"/>
              </a:spcAft>
              <a:buClr>
                <a:srgbClr val="E0764F"/>
              </a:buClr>
              <a:buSzPct val="100000"/>
              <a:buFont typeface="Arial"/>
              <a:buChar char="•"/>
            </a:pPr>
            <a:r>
              <a:rPr sz="950" i="0" b="1">
                <a:solidFill>
                  <a:srgbClr val="434343"/>
                </a:solidFill>
                <a:latin typeface="Inter"/>
              </a:rPr>
              <a:t>Gratis ongkir</a:t>
            </a:r>
            <a:r>
              <a:rPr sz="950" i="0" b="0">
                <a:solidFill>
                  <a:srgbClr val="434343"/>
                </a:solidFill>
                <a:latin typeface="Inter"/>
              </a:rPr>
              <a:t> kalau belanja setelah diskon minimal Rp500.000</a:t>
            </a:r>
          </a:p>
          <a:p>
            <a:pPr algn="l" marL="182880" indent="-182880">
              <a:lnSpc>
                <a:spcPct val="115000"/>
              </a:lnSpc>
              <a:spcAft>
                <a:spcPts val="400"/>
              </a:spcAft>
              <a:buClr>
                <a:srgbClr val="E0764F"/>
              </a:buClr>
              <a:buSzPct val="100000"/>
              <a:buFont typeface="Arial"/>
              <a:buChar char="•"/>
            </a:pPr>
            <a:r>
              <a:rPr sz="950" i="0" b="0">
                <a:solidFill>
                  <a:srgbClr val="B5482A"/>
                </a:solidFill>
                <a:latin typeface="Consolas"/>
              </a:rPr>
              <a:t>total</a:t>
            </a:r>
            <a:r>
              <a:rPr sz="950" i="0" b="0">
                <a:solidFill>
                  <a:srgbClr val="434343"/>
                </a:solidFill>
                <a:latin typeface="Inter"/>
              </a:rPr>
              <a:t> = subtotal - diskon + ongkir</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Response menampilkan </a:t>
            </a:r>
            <a:r>
              <a:rPr sz="950" i="0" b="0">
                <a:solidFill>
                  <a:srgbClr val="B5482A"/>
                </a:solidFill>
                <a:latin typeface="Consolas"/>
              </a:rPr>
              <a:t>courier</a:t>
            </a:r>
            <a:r>
              <a:rPr sz="950" i="0" b="0">
                <a:solidFill>
                  <a:srgbClr val="434343"/>
                </a:solidFill>
                <a:latin typeface="Inter"/>
              </a:rPr>
              <a:t> dan </a:t>
            </a:r>
            <a:r>
              <a:rPr sz="950" i="0" b="0">
                <a:solidFill>
                  <a:srgbClr val="B5482A"/>
                </a:solidFill>
                <a:latin typeface="Consolas"/>
              </a:rPr>
              <a:t>shipping_cost</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Kurir tidak dikenal → </a:t>
            </a:r>
            <a:r>
              <a:rPr sz="950" i="0" b="1">
                <a:solidFill>
                  <a:srgbClr val="434343"/>
                </a:solidFill>
                <a:latin typeface="Inter"/>
              </a:rPr>
              <a:t>400</a:t>
            </a:r>
            <a:r>
              <a:rPr sz="950" i="0" b="0">
                <a:solidFill>
                  <a:srgbClr val="434343"/>
                </a:solidFill>
                <a:latin typeface="Inter"/>
              </a:rPr>
              <a:t> </a:t>
            </a:r>
            <a:r>
              <a:rPr sz="950" i="0" b="0">
                <a:solidFill>
                  <a:srgbClr val="B5482A"/>
                </a:solidFill>
                <a:latin typeface="Consolas"/>
              </a:rPr>
              <a:t>Kurir tidak dikenal</a:t>
            </a:r>
          </a:p>
        </p:txBody>
      </p:sp>
      <p:graphicFrame>
        <p:nvGraphicFramePr>
          <p:cNvPr id="23" name="Table 4"/>
          <p:cNvGraphicFramePr>
            <a:graphicFrameLocks noGrp="1"/>
          </p:cNvGraphicFramePr>
          <p:nvPr/>
        </p:nvGraphicFramePr>
        <p:xfrm>
          <a:off x="5029200" y="1481328"/>
          <a:ext cx="3456432" cy="1645920"/>
        </p:xfrm>
        <a:graphic>
          <a:graphicData uri="http://schemas.openxmlformats.org/drawingml/2006/table">
            <a:tbl>
              <a:tblPr firstRow="1" bandRow="1"/>
              <a:tblGrid>
                <a:gridCol w="1828800"/>
                <a:gridCol w="1627632"/>
              </a:tblGrid>
              <a:tr h="411480">
                <a:tc>
                  <a:txBody>
                    <a:bodyPr wrap="square"/>
                    <a:lstStyle/>
                    <a:p>
                      <a:pPr algn="l">
                        <a:lnSpc>
                          <a:spcPct val="100000"/>
                        </a:lnSpc>
                        <a:spcAft>
                          <a:spcPts val="0"/>
                        </a:spcAft>
                      </a:pPr>
                      <a:r>
                        <a:rPr sz="950" i="0" b="1">
                          <a:solidFill>
                            <a:srgbClr val="FFFFFF"/>
                          </a:solidFill>
                          <a:latin typeface="Inter"/>
                        </a:rPr>
                        <a:t>Kurir</a:t>
                      </a:r>
                    </a:p>
                  </a:txBody>
                  <a:tcPr marL="73152" marR="73152" marT="36576" marB="36576" anchor="ctr">
                    <a:solidFill>
                      <a:srgbClr val="1C4587"/>
                    </a:solidFill>
                  </a:tcPr>
                </a:tc>
                <a:tc>
                  <a:txBody>
                    <a:bodyPr wrap="square"/>
                    <a:lstStyle/>
                    <a:p>
                      <a:pPr algn="l">
                        <a:lnSpc>
                          <a:spcPct val="100000"/>
                        </a:lnSpc>
                        <a:spcAft>
                          <a:spcPts val="0"/>
                        </a:spcAft>
                      </a:pPr>
                      <a:r>
                        <a:rPr sz="950" i="0" b="1">
                          <a:solidFill>
                            <a:srgbClr val="FFFFFF"/>
                          </a:solidFill>
                          <a:latin typeface="Inter"/>
                        </a:rPr>
                        <a:t>Ongkos kirim</a:t>
                      </a:r>
                    </a:p>
                  </a:txBody>
                  <a:tcPr marL="73152" marR="73152" marT="36576" marB="36576" anchor="ctr">
                    <a:solidFill>
                      <a:srgbClr val="1C4587"/>
                    </a:solidFill>
                  </a:tcPr>
                </a:tc>
              </a:tr>
              <a:tr h="411480">
                <a:tc>
                  <a:txBody>
                    <a:bodyPr wrap="square"/>
                    <a:lstStyle/>
                    <a:p>
                      <a:pPr algn="l">
                        <a:lnSpc>
                          <a:spcPct val="100000"/>
                        </a:lnSpc>
                        <a:spcAft>
                          <a:spcPts val="0"/>
                        </a:spcAft>
                      </a:pPr>
                      <a:r>
                        <a:rPr sz="950" i="0" b="1">
                          <a:solidFill>
                            <a:srgbClr val="1C4587"/>
                          </a:solidFill>
                          <a:latin typeface="Inter"/>
                        </a:rPr>
                        <a:t>pickup (default)</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Rp0</a:t>
                      </a:r>
                    </a:p>
                  </a:txBody>
                  <a:tcPr marL="73152" marR="73152" marT="36576" marB="36576" anchor="ctr">
                    <a:solidFill>
                      <a:srgbClr val="FFFFFF"/>
                    </a:solidFill>
                  </a:tcPr>
                </a:tc>
              </a:tr>
              <a:tr h="411480">
                <a:tc>
                  <a:txBody>
                    <a:bodyPr wrap="square"/>
                    <a:lstStyle/>
                    <a:p>
                      <a:pPr algn="l">
                        <a:lnSpc>
                          <a:spcPct val="100000"/>
                        </a:lnSpc>
                        <a:spcAft>
                          <a:spcPts val="0"/>
                        </a:spcAft>
                      </a:pPr>
                      <a:r>
                        <a:rPr sz="950" i="0" b="1">
                          <a:solidFill>
                            <a:srgbClr val="1C4587"/>
                          </a:solidFill>
                          <a:latin typeface="Inter"/>
                        </a:rPr>
                        <a:t>jne</a:t>
                      </a:r>
                    </a:p>
                  </a:txBody>
                  <a:tcPr marL="73152" marR="73152" marT="36576" marB="36576" anchor="ctr">
                    <a:solidFill>
                      <a:srgbClr val="F3F4F6"/>
                    </a:solidFill>
                  </a:tcPr>
                </a:tc>
                <a:tc>
                  <a:txBody>
                    <a:bodyPr wrap="square"/>
                    <a:lstStyle/>
                    <a:p>
                      <a:pPr algn="l">
                        <a:lnSpc>
                          <a:spcPct val="100000"/>
                        </a:lnSpc>
                        <a:spcAft>
                          <a:spcPts val="0"/>
                        </a:spcAft>
                      </a:pPr>
                      <a:r>
                        <a:rPr sz="950" i="0" b="0">
                          <a:solidFill>
                            <a:srgbClr val="434343"/>
                          </a:solidFill>
                          <a:latin typeface="Inter"/>
                        </a:rPr>
                        <a:t>Rp15.000</a:t>
                      </a:r>
                    </a:p>
                  </a:txBody>
                  <a:tcPr marL="73152" marR="73152" marT="36576" marB="36576" anchor="ctr">
                    <a:solidFill>
                      <a:srgbClr val="F3F4F6"/>
                    </a:solidFill>
                  </a:tcPr>
                </a:tc>
              </a:tr>
              <a:tr h="411480">
                <a:tc>
                  <a:txBody>
                    <a:bodyPr wrap="square"/>
                    <a:lstStyle/>
                    <a:p>
                      <a:pPr algn="l">
                        <a:lnSpc>
                          <a:spcPct val="100000"/>
                        </a:lnSpc>
                        <a:spcAft>
                          <a:spcPts val="0"/>
                        </a:spcAft>
                      </a:pPr>
                      <a:r>
                        <a:rPr sz="950" i="0" b="1">
                          <a:solidFill>
                            <a:srgbClr val="1C4587"/>
                          </a:solidFill>
                          <a:latin typeface="Inter"/>
                        </a:rPr>
                        <a:t>sicepat</a:t>
                      </a:r>
                    </a:p>
                  </a:txBody>
                  <a:tcPr marL="73152" marR="73152" marT="36576" marB="36576" anchor="ctr">
                    <a:solidFill>
                      <a:srgbClr val="FFFFFF"/>
                    </a:solidFill>
                  </a:tcPr>
                </a:tc>
                <a:tc>
                  <a:txBody>
                    <a:bodyPr wrap="square"/>
                    <a:lstStyle/>
                    <a:p>
                      <a:pPr algn="l">
                        <a:lnSpc>
                          <a:spcPct val="100000"/>
                        </a:lnSpc>
                        <a:spcAft>
                          <a:spcPts val="0"/>
                        </a:spcAft>
                      </a:pPr>
                      <a:r>
                        <a:rPr sz="950" i="0" b="0">
                          <a:solidFill>
                            <a:srgbClr val="434343"/>
                          </a:solidFill>
                          <a:latin typeface="Inter"/>
                        </a:rPr>
                        <a:t>Rp12.000</a:t>
                      </a:r>
                    </a:p>
                  </a:txBody>
                  <a:tcPr marL="73152" marR="73152" marT="36576" marB="36576" anchor="ctr">
                    <a:solidFill>
                      <a:srgbClr val="FFFFFF"/>
                    </a:solidFill>
                  </a:tcPr>
                </a:tc>
              </a:tr>
            </a:tbl>
          </a:graphicData>
        </a:graphic>
      </p:graphicFrame>
      <p:sp>
        <p:nvSpPr>
          <p:cNvPr id="24" name="Box 5"/>
          <p:cNvSpPr/>
          <p:nvPr/>
        </p:nvSpPr>
        <p:spPr>
          <a:xfrm>
            <a:off x="5029200" y="3291840"/>
            <a:ext cx="3456432" cy="1408176"/>
          </a:xfrm>
          <a:prstGeom prst="roundRect">
            <a:avLst>
              <a:gd name="adj" fmla="val 7792"/>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5" name="Text 6"/>
          <p:cNvSpPr txBox="1"/>
          <p:nvPr/>
        </p:nvSpPr>
        <p:spPr>
          <a:xfrm>
            <a:off x="5166360" y="3383280"/>
            <a:ext cx="3182112" cy="310896"/>
          </a:xfrm>
          <a:prstGeom prst="rect">
            <a:avLst/>
          </a:prstGeom>
          <a:noFill/>
        </p:spPr>
        <p:txBody>
          <a:bodyPr wrap="square" anchor="t" lIns="45720" rIns="45720">
            <a:spAutoFit/>
          </a:bodyPr>
          <a:lstStyle/>
          <a:p>
            <a:pPr algn="l">
              <a:lnSpc>
                <a:spcPct val="115000"/>
              </a:lnSpc>
              <a:spcAft>
                <a:spcPts val="400"/>
              </a:spcAft>
            </a:pPr>
            <a:r>
              <a:rPr sz="1050" i="0" b="1">
                <a:solidFill>
                  <a:srgbClr val="E0764F"/>
                </a:solidFill>
                <a:latin typeface="Inter"/>
              </a:rPr>
              <a:t>Aturan arsitektur</a:t>
            </a:r>
          </a:p>
        </p:txBody>
      </p:sp>
      <p:sp>
        <p:nvSpPr>
          <p:cNvPr id="26" name="Text 7"/>
          <p:cNvSpPr txBox="1"/>
          <p:nvPr/>
        </p:nvSpPr>
        <p:spPr>
          <a:xfrm>
            <a:off x="5166360" y="3703320"/>
            <a:ext cx="3182112" cy="905256"/>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900" i="0" b="0">
                <a:solidFill>
                  <a:srgbClr val="B5482A"/>
                </a:solidFill>
                <a:latin typeface="Consolas"/>
              </a:rPr>
              <a:t>domain/</a:t>
            </a:r>
            <a:r>
              <a:rPr sz="900" i="0" b="0">
                <a:solidFill>
                  <a:srgbClr val="434343"/>
                </a:solidFill>
                <a:latin typeface="Inter"/>
              </a:rPr>
              <a:t> &amp; </a:t>
            </a:r>
            <a:r>
              <a:rPr sz="900" i="0" b="0">
                <a:solidFill>
                  <a:srgbClr val="B5482A"/>
                </a:solidFill>
                <a:latin typeface="Consolas"/>
              </a:rPr>
              <a:t>application/</a:t>
            </a:r>
            <a:r>
              <a:rPr sz="900" i="0" b="0">
                <a:solidFill>
                  <a:srgbClr val="434343"/>
                </a:solidFill>
                <a:latin typeface="Inter"/>
              </a:rPr>
              <a:t> tetap tanpa </a:t>
            </a:r>
            <a:r>
              <a:rPr sz="900" i="0" b="0">
                <a:solidFill>
                  <a:srgbClr val="B5482A"/>
                </a:solidFill>
                <a:latin typeface="Consolas"/>
              </a:rPr>
              <a:t>fastapi</a:t>
            </a:r>
            <a:r>
              <a:rPr sz="900" i="0" b="0">
                <a:solidFill>
                  <a:srgbClr val="434343"/>
                </a:solidFill>
                <a:latin typeface="Inter"/>
              </a:rPr>
              <a:t>/</a:t>
            </a:r>
            <a:r>
              <a:rPr sz="900" i="0" b="0">
                <a:solidFill>
                  <a:srgbClr val="B5482A"/>
                </a:solidFill>
                <a:latin typeface="Consolas"/>
              </a:rPr>
              <a:t>sqlite3</a:t>
            </a:r>
          </a:p>
          <a:p>
            <a:pPr algn="l" marL="182880" indent="-182880">
              <a:lnSpc>
                <a:spcPct val="115000"/>
              </a:lnSpc>
              <a:spcAft>
                <a:spcPts val="400"/>
              </a:spcAft>
              <a:buClr>
                <a:srgbClr val="E0764F"/>
              </a:buClr>
              <a:buSzPct val="100000"/>
              <a:buFont typeface="Arial"/>
              <a:buChar char="•"/>
            </a:pPr>
            <a:r>
              <a:rPr sz="900" i="0" b="0">
                <a:solidFill>
                  <a:srgbClr val="434343"/>
                </a:solidFill>
                <a:latin typeface="Inter"/>
              </a:rPr>
              <a:t>Kurir baru nanti </a:t>
            </a:r>
            <a:r>
              <a:rPr sz="900" i="0" b="1">
                <a:solidFill>
                  <a:srgbClr val="434343"/>
                </a:solidFill>
                <a:latin typeface="Inter"/>
              </a:rPr>
              <a:t>tidak boleh</a:t>
            </a:r>
            <a:r>
              <a:rPr sz="900" i="0" b="0">
                <a:solidFill>
                  <a:srgbClr val="434343"/>
                </a:solidFill>
                <a:latin typeface="Inter"/>
              </a:rPr>
              <a:t> mengubah </a:t>
            </a:r>
            <a:r>
              <a:rPr sz="900" i="0" b="0">
                <a:solidFill>
                  <a:srgbClr val="B5482A"/>
                </a:solidFill>
                <a:latin typeface="Consolas"/>
              </a:rPr>
              <a:t>OrderService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Langkah Singkat</a:t>
            </a:r>
          </a:p>
        </p:txBody>
      </p:sp>
      <p:sp>
        <p:nvSpPr>
          <p:cNvPr id="22" name="Box 3"/>
          <p:cNvSpPr/>
          <p:nvPr/>
        </p:nvSpPr>
        <p:spPr>
          <a:xfrm>
            <a:off x="621792" y="148132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1</a:t>
            </a:r>
          </a:p>
        </p:txBody>
      </p:sp>
      <p:sp>
        <p:nvSpPr>
          <p:cNvPr id="23" name="Text 4"/>
          <p:cNvSpPr txBox="1"/>
          <p:nvPr/>
        </p:nvSpPr>
        <p:spPr>
          <a:xfrm>
            <a:off x="987552" y="1453896"/>
            <a:ext cx="4206240" cy="530352"/>
          </a:xfrm>
          <a:prstGeom prst="rect">
            <a:avLst/>
          </a:prstGeom>
          <a:noFill/>
        </p:spPr>
        <p:txBody>
          <a:bodyPr wrap="square" anchor="t" lIns="45720" rIns="45720">
            <a:spAutoFit/>
          </a:bodyPr>
          <a:lstStyle/>
          <a:p>
            <a:pPr algn="l">
              <a:lnSpc>
                <a:spcPct val="115000"/>
              </a:lnSpc>
              <a:spcAft>
                <a:spcPts val="400"/>
              </a:spcAft>
            </a:pPr>
            <a:r>
              <a:rPr sz="950" i="0" b="0">
                <a:solidFill>
                  <a:srgbClr val="434343"/>
                </a:solidFill>
                <a:latin typeface="Inter"/>
              </a:rPr>
              <a:t>Buat aturan ongkir di layer domain: satu class per cara kirim (Strategy) + function untuk memilih kurir</a:t>
            </a:r>
          </a:p>
        </p:txBody>
      </p:sp>
      <p:sp>
        <p:nvSpPr>
          <p:cNvPr id="24" name="Box 5"/>
          <p:cNvSpPr/>
          <p:nvPr/>
        </p:nvSpPr>
        <p:spPr>
          <a:xfrm>
            <a:off x="621792" y="2011680"/>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2</a:t>
            </a:r>
          </a:p>
        </p:txBody>
      </p:sp>
      <p:sp>
        <p:nvSpPr>
          <p:cNvPr id="25" name="Text 6"/>
          <p:cNvSpPr txBox="1"/>
          <p:nvPr/>
        </p:nvSpPr>
        <p:spPr>
          <a:xfrm>
            <a:off x="987552" y="1984248"/>
            <a:ext cx="4206240" cy="530352"/>
          </a:xfrm>
          <a:prstGeom prst="rect">
            <a:avLst/>
          </a:prstGeom>
          <a:noFill/>
        </p:spPr>
        <p:txBody>
          <a:bodyPr wrap="square" anchor="t" lIns="45720" rIns="45720">
            <a:spAutoFit/>
          </a:bodyPr>
          <a:lstStyle/>
          <a:p>
            <a:pPr algn="l">
              <a:lnSpc>
                <a:spcPct val="115000"/>
              </a:lnSpc>
              <a:spcAft>
                <a:spcPts val="400"/>
              </a:spcAft>
            </a:pPr>
            <a:r>
              <a:rPr sz="950" i="0" b="0">
                <a:solidFill>
                  <a:srgbClr val="434343"/>
                </a:solidFill>
                <a:latin typeface="Inter"/>
              </a:rPr>
              <a:t>Tambahkan </a:t>
            </a:r>
            <a:r>
              <a:rPr sz="950" i="0" b="0">
                <a:solidFill>
                  <a:srgbClr val="B5482A"/>
                </a:solidFill>
                <a:latin typeface="Consolas"/>
              </a:rPr>
              <a:t>courier</a:t>
            </a:r>
            <a:r>
              <a:rPr sz="950" i="0" b="0">
                <a:solidFill>
                  <a:srgbClr val="434343"/>
                </a:solidFill>
                <a:latin typeface="Inter"/>
              </a:rPr>
              <a:t> dan </a:t>
            </a:r>
            <a:r>
              <a:rPr sz="950" i="0" b="0">
                <a:solidFill>
                  <a:srgbClr val="B5482A"/>
                </a:solidFill>
                <a:latin typeface="Consolas"/>
              </a:rPr>
              <a:t>shipping_cost</a:t>
            </a:r>
            <a:r>
              <a:rPr sz="950" i="0" b="0">
                <a:solidFill>
                  <a:srgbClr val="434343"/>
                </a:solidFill>
                <a:latin typeface="Inter"/>
              </a:rPr>
              <a:t> ke </a:t>
            </a:r>
            <a:r>
              <a:rPr sz="950" i="0" b="0">
                <a:solidFill>
                  <a:srgbClr val="B5482A"/>
                </a:solidFill>
                <a:latin typeface="Consolas"/>
              </a:rPr>
              <a:t>Order</a:t>
            </a:r>
          </a:p>
        </p:txBody>
      </p:sp>
      <p:sp>
        <p:nvSpPr>
          <p:cNvPr id="26" name="Box 7"/>
          <p:cNvSpPr/>
          <p:nvPr/>
        </p:nvSpPr>
        <p:spPr>
          <a:xfrm>
            <a:off x="621792" y="2542032"/>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3</a:t>
            </a:r>
          </a:p>
        </p:txBody>
      </p:sp>
      <p:sp>
        <p:nvSpPr>
          <p:cNvPr id="27" name="Text 8"/>
          <p:cNvSpPr txBox="1"/>
          <p:nvPr/>
        </p:nvSpPr>
        <p:spPr>
          <a:xfrm>
            <a:off x="987552" y="2514600"/>
            <a:ext cx="4206240" cy="530352"/>
          </a:xfrm>
          <a:prstGeom prst="rect">
            <a:avLst/>
          </a:prstGeom>
          <a:noFill/>
        </p:spPr>
        <p:txBody>
          <a:bodyPr wrap="square" anchor="t" lIns="45720" rIns="45720">
            <a:spAutoFit/>
          </a:bodyPr>
          <a:lstStyle/>
          <a:p>
            <a:pPr algn="l">
              <a:lnSpc>
                <a:spcPct val="115000"/>
              </a:lnSpc>
              <a:spcAft>
                <a:spcPts val="400"/>
              </a:spcAft>
            </a:pPr>
            <a:r>
              <a:rPr sz="950" i="0" b="0">
                <a:solidFill>
                  <a:srgbClr val="434343"/>
                </a:solidFill>
                <a:latin typeface="Inter"/>
              </a:rPr>
              <a:t>Hitung ongkir di </a:t>
            </a:r>
            <a:r>
              <a:rPr sz="950" i="0" b="0">
                <a:solidFill>
                  <a:srgbClr val="B5482A"/>
                </a:solidFill>
                <a:latin typeface="Consolas"/>
              </a:rPr>
              <a:t>OrderService.place_order()</a:t>
            </a:r>
            <a:r>
              <a:rPr sz="950" i="0" b="0">
                <a:solidFill>
                  <a:srgbClr val="434343"/>
                </a:solidFill>
                <a:latin typeface="Inter"/>
              </a:rPr>
              <a:t> setelah diskon</a:t>
            </a:r>
          </a:p>
        </p:txBody>
      </p:sp>
      <p:sp>
        <p:nvSpPr>
          <p:cNvPr id="28" name="Box 9"/>
          <p:cNvSpPr/>
          <p:nvPr/>
        </p:nvSpPr>
        <p:spPr>
          <a:xfrm>
            <a:off x="621792" y="3072384"/>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4</a:t>
            </a:r>
          </a:p>
        </p:txBody>
      </p:sp>
      <p:sp>
        <p:nvSpPr>
          <p:cNvPr id="29" name="Text 10"/>
          <p:cNvSpPr txBox="1"/>
          <p:nvPr/>
        </p:nvSpPr>
        <p:spPr>
          <a:xfrm>
            <a:off x="987552" y="3044952"/>
            <a:ext cx="4206240" cy="530352"/>
          </a:xfrm>
          <a:prstGeom prst="rect">
            <a:avLst/>
          </a:prstGeom>
          <a:noFill/>
        </p:spPr>
        <p:txBody>
          <a:bodyPr wrap="square" anchor="t" lIns="45720" rIns="45720">
            <a:spAutoFit/>
          </a:bodyPr>
          <a:lstStyle/>
          <a:p>
            <a:pPr algn="l">
              <a:lnSpc>
                <a:spcPct val="115000"/>
              </a:lnSpc>
              <a:spcAft>
                <a:spcPts val="400"/>
              </a:spcAft>
            </a:pPr>
            <a:r>
              <a:rPr sz="950" i="0" b="0">
                <a:solidFill>
                  <a:srgbClr val="434343"/>
                </a:solidFill>
                <a:latin typeface="Inter"/>
              </a:rPr>
              <a:t>Simpan dua kolom baru di </a:t>
            </a:r>
            <a:r>
              <a:rPr sz="950" i="0" b="0">
                <a:solidFill>
                  <a:srgbClr val="B5482A"/>
                </a:solidFill>
                <a:latin typeface="Consolas"/>
              </a:rPr>
              <a:t>SqliteOrderRepository</a:t>
            </a:r>
          </a:p>
        </p:txBody>
      </p:sp>
      <p:sp>
        <p:nvSpPr>
          <p:cNvPr id="30" name="Box 11"/>
          <p:cNvSpPr/>
          <p:nvPr/>
        </p:nvSpPr>
        <p:spPr>
          <a:xfrm>
            <a:off x="621792" y="3602736"/>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5</a:t>
            </a:r>
          </a:p>
        </p:txBody>
      </p:sp>
      <p:sp>
        <p:nvSpPr>
          <p:cNvPr id="31" name="Text 12"/>
          <p:cNvSpPr txBox="1"/>
          <p:nvPr/>
        </p:nvSpPr>
        <p:spPr>
          <a:xfrm>
            <a:off x="987552" y="3575304"/>
            <a:ext cx="4206240" cy="530352"/>
          </a:xfrm>
          <a:prstGeom prst="rect">
            <a:avLst/>
          </a:prstGeom>
          <a:noFill/>
        </p:spPr>
        <p:txBody>
          <a:bodyPr wrap="square" anchor="t" lIns="45720" rIns="45720">
            <a:spAutoFit/>
          </a:bodyPr>
          <a:lstStyle/>
          <a:p>
            <a:pPr algn="l">
              <a:lnSpc>
                <a:spcPct val="115000"/>
              </a:lnSpc>
              <a:spcAft>
                <a:spcPts val="400"/>
              </a:spcAft>
            </a:pPr>
            <a:r>
              <a:rPr sz="950" i="0" b="0">
                <a:solidFill>
                  <a:srgbClr val="434343"/>
                </a:solidFill>
                <a:latin typeface="Inter"/>
              </a:rPr>
              <a:t>Tambahkan </a:t>
            </a:r>
            <a:r>
              <a:rPr sz="950" i="0" b="0">
                <a:solidFill>
                  <a:srgbClr val="B5482A"/>
                </a:solidFill>
                <a:latin typeface="Consolas"/>
              </a:rPr>
              <a:t>courier</a:t>
            </a:r>
            <a:r>
              <a:rPr sz="950" i="0" b="0">
                <a:solidFill>
                  <a:srgbClr val="434343"/>
                </a:solidFill>
                <a:latin typeface="Inter"/>
              </a:rPr>
              <a:t> ke request body, ubah error kurir jadi HTTP 400</a:t>
            </a:r>
          </a:p>
        </p:txBody>
      </p:sp>
      <p:sp>
        <p:nvSpPr>
          <p:cNvPr id="32" name="Box 13"/>
          <p:cNvSpPr/>
          <p:nvPr/>
        </p:nvSpPr>
        <p:spPr>
          <a:xfrm>
            <a:off x="621792" y="4133087"/>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5000"/>
              </a:lnSpc>
              <a:spcAft>
                <a:spcPts val="200"/>
              </a:spcAft>
            </a:pPr>
            <a:r>
              <a:rPr sz="900" i="0" b="1">
                <a:solidFill>
                  <a:srgbClr val="FFFFFF"/>
                </a:solidFill>
                <a:latin typeface="Inter"/>
              </a:rPr>
              <a:t>6</a:t>
            </a:r>
          </a:p>
        </p:txBody>
      </p:sp>
      <p:sp>
        <p:nvSpPr>
          <p:cNvPr id="33" name="Text 14"/>
          <p:cNvSpPr txBox="1"/>
          <p:nvPr/>
        </p:nvSpPr>
        <p:spPr>
          <a:xfrm>
            <a:off x="987552" y="4105655"/>
            <a:ext cx="4206240" cy="530352"/>
          </a:xfrm>
          <a:prstGeom prst="rect">
            <a:avLst/>
          </a:prstGeom>
          <a:noFill/>
        </p:spPr>
        <p:txBody>
          <a:bodyPr wrap="square" anchor="t" lIns="45720" rIns="45720">
            <a:spAutoFit/>
          </a:bodyPr>
          <a:lstStyle/>
          <a:p>
            <a:pPr algn="l">
              <a:lnSpc>
                <a:spcPct val="115000"/>
              </a:lnSpc>
              <a:spcAft>
                <a:spcPts val="400"/>
              </a:spcAft>
            </a:pPr>
            <a:r>
              <a:rPr sz="950" i="0" b="0">
                <a:solidFill>
                  <a:srgbClr val="434343"/>
                </a:solidFill>
                <a:latin typeface="Inter"/>
              </a:rPr>
              <a:t>Tulis test: ongkir per kurir, gratis ongkir, kurir tidak dikenal, test API</a:t>
            </a:r>
          </a:p>
        </p:txBody>
      </p:sp>
      <p:sp>
        <p:nvSpPr>
          <p:cNvPr id="34" name="CodeTab 16"/>
          <p:cNvSpPr/>
          <p:nvPr/>
        </p:nvSpPr>
        <p:spPr>
          <a:xfrm>
            <a:off x="5349240" y="1481328"/>
            <a:ext cx="31363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5" name="Dot 17"/>
          <p:cNvSpPr/>
          <p:nvPr/>
        </p:nvSpPr>
        <p:spPr>
          <a:xfrm>
            <a:off x="545896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ot 18"/>
          <p:cNvSpPr/>
          <p:nvPr/>
        </p:nvSpPr>
        <p:spPr>
          <a:xfrm>
            <a:off x="559612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ot 19"/>
          <p:cNvSpPr/>
          <p:nvPr/>
        </p:nvSpPr>
        <p:spPr>
          <a:xfrm>
            <a:off x="573328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20"/>
          <p:cNvSpPr txBox="1"/>
          <p:nvPr/>
        </p:nvSpPr>
        <p:spPr>
          <a:xfrm>
            <a:off x="5897879" y="1490472"/>
            <a:ext cx="2496312" cy="219456"/>
          </a:xfrm>
          <a:prstGeom prst="rect">
            <a:avLst/>
          </a:prstGeom>
          <a:noFill/>
        </p:spPr>
        <p:txBody>
          <a:bodyPr wrap="square" anchor="ctr" lIns="18288" rIns="18288" tIns="18288" bIns="18288">
            <a:spAutoFit/>
          </a:bodyPr>
          <a:lstStyle/>
          <a:p>
            <a:pPr algn="l">
              <a:lnSpc>
                <a:spcPct val="115000"/>
              </a:lnSpc>
              <a:spcAft>
                <a:spcPts val="400"/>
              </a:spcAft>
            </a:pPr>
            <a:r>
              <a:rPr sz="800" i="0" b="0">
                <a:solidFill>
                  <a:srgbClr val="AEB8C4"/>
                </a:solidFill>
                <a:latin typeface="Consolas"/>
              </a:rPr>
              <a:t>file yang disentuh</a:t>
            </a:r>
          </a:p>
        </p:txBody>
      </p:sp>
      <p:sp>
        <p:nvSpPr>
          <p:cNvPr id="39" name="CodeBg 22"/>
          <p:cNvSpPr/>
          <p:nvPr/>
        </p:nvSpPr>
        <p:spPr>
          <a:xfrm>
            <a:off x="5349240" y="1719072"/>
            <a:ext cx="31363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40" name="Code 23"/>
          <p:cNvSpPr txBox="1"/>
          <p:nvPr/>
        </p:nvSpPr>
        <p:spPr>
          <a:xfrm>
            <a:off x="5349240" y="1719072"/>
            <a:ext cx="3136392" cy="2980944"/>
          </a:xfrm>
          <a:prstGeom prst="rect">
            <a:avLst/>
          </a:prstGeom>
          <a:noFill/>
        </p:spPr>
        <p:txBody>
          <a:bodyPr wrap="none" lIns="146304" rIns="146304" tIns="91440" bIns="54864">
            <a:spAutoFit/>
          </a:bodyPr>
          <a:lstStyle/>
          <a:p>
            <a:pPr>
              <a:lnSpc>
                <a:spcPts val="1100"/>
              </a:lnSpc>
              <a:spcAft>
                <a:spcPts val="0"/>
              </a:spcAft>
            </a:pPr>
            <a:r>
              <a:rPr sz="850" i="0">
                <a:solidFill>
                  <a:srgbClr val="E6EDF3"/>
                </a:solidFill>
                <a:latin typeface="Consolas"/>
              </a:rPr>
              <a:t>app/</a:t>
            </a:r>
          </a:p>
          <a:p>
            <a:pPr>
              <a:lnSpc>
                <a:spcPts val="1100"/>
              </a:lnSpc>
              <a:spcAft>
                <a:spcPts val="0"/>
              </a:spcAft>
            </a:pPr>
            <a:r>
              <a:rPr sz="850" i="0">
                <a:solidFill>
                  <a:srgbClr val="E6EDF3"/>
                </a:solidFill>
                <a:latin typeface="Consolas"/>
              </a:rPr>
              <a:t>  domain/</a:t>
            </a:r>
          </a:p>
          <a:p>
            <a:pPr>
              <a:lnSpc>
                <a:spcPts val="1100"/>
              </a:lnSpc>
              <a:spcAft>
                <a:spcPts val="0"/>
              </a:spcAft>
            </a:pPr>
            <a:r>
              <a:rPr sz="850" i="0">
                <a:solidFill>
                  <a:srgbClr val="E6EDF3"/>
                </a:solidFill>
                <a:latin typeface="Consolas"/>
              </a:rPr>
              <a:t>    shipping.py      # baru</a:t>
            </a:r>
          </a:p>
          <a:p>
            <a:pPr>
              <a:lnSpc>
                <a:spcPts val="1100"/>
              </a:lnSpc>
              <a:spcAft>
                <a:spcPts val="0"/>
              </a:spcAft>
            </a:pPr>
            <a:r>
              <a:rPr sz="850" i="0">
                <a:solidFill>
                  <a:srgbClr val="E6EDF3"/>
                </a:solidFill>
                <a:latin typeface="Consolas"/>
              </a:rPr>
              <a:t>    order.py         # + 2 field</a:t>
            </a:r>
          </a:p>
          <a:p>
            <a:pPr>
              <a:lnSpc>
                <a:spcPts val="1100"/>
              </a:lnSpc>
              <a:spcAft>
                <a:spcPts val="0"/>
              </a:spcAft>
            </a:pPr>
            <a:r>
              <a:rPr sz="850" i="0">
                <a:solidFill>
                  <a:srgbClr val="E6EDF3"/>
                </a:solidFill>
                <a:latin typeface="Consolas"/>
              </a:rPr>
              <a:t>  application/</a:t>
            </a:r>
          </a:p>
          <a:p>
            <a:pPr>
              <a:lnSpc>
                <a:spcPts val="1100"/>
              </a:lnSpc>
              <a:spcAft>
                <a:spcPts val="0"/>
              </a:spcAft>
            </a:pPr>
            <a:r>
              <a:rPr sz="850" i="0">
                <a:solidFill>
                  <a:srgbClr val="E6EDF3"/>
                </a:solidFill>
                <a:latin typeface="Consolas"/>
              </a:rPr>
              <a:t>    order_service.py</a:t>
            </a:r>
          </a:p>
          <a:p>
            <a:pPr>
              <a:lnSpc>
                <a:spcPts val="1100"/>
              </a:lnSpc>
              <a:spcAft>
                <a:spcPts val="0"/>
              </a:spcAft>
            </a:pPr>
            <a:r>
              <a:rPr sz="850" i="0">
                <a:solidFill>
                  <a:srgbClr val="E6EDF3"/>
                </a:solidFill>
                <a:latin typeface="Consolas"/>
              </a:rPr>
              <a:t>  infrastructure/</a:t>
            </a:r>
          </a:p>
          <a:p>
            <a:pPr>
              <a:lnSpc>
                <a:spcPts val="1100"/>
              </a:lnSpc>
              <a:spcAft>
                <a:spcPts val="0"/>
              </a:spcAft>
            </a:pPr>
            <a:r>
              <a:rPr sz="850" i="0">
                <a:solidFill>
                  <a:srgbClr val="E6EDF3"/>
                </a:solidFill>
                <a:latin typeface="Consolas"/>
              </a:rPr>
              <a:t>    sqlite_repository.py</a:t>
            </a:r>
          </a:p>
          <a:p>
            <a:pPr>
              <a:lnSpc>
                <a:spcPts val="1100"/>
              </a:lnSpc>
              <a:spcAft>
                <a:spcPts val="0"/>
              </a:spcAft>
            </a:pPr>
            <a:r>
              <a:rPr sz="850" i="0">
                <a:solidFill>
                  <a:srgbClr val="E6EDF3"/>
                </a:solidFill>
                <a:latin typeface="Consolas"/>
              </a:rPr>
              <a:t>  api/</a:t>
            </a:r>
          </a:p>
          <a:p>
            <a:pPr>
              <a:lnSpc>
                <a:spcPts val="1100"/>
              </a:lnSpc>
              <a:spcAft>
                <a:spcPts val="0"/>
              </a:spcAft>
            </a:pPr>
            <a:r>
              <a:rPr sz="850" i="0">
                <a:solidFill>
                  <a:srgbClr val="E6EDF3"/>
                </a:solidFill>
                <a:latin typeface="Consolas"/>
              </a:rPr>
              <a:t>    routes.py</a:t>
            </a:r>
          </a:p>
          <a:p>
            <a:pPr>
              <a:lnSpc>
                <a:spcPts val="1100"/>
              </a:lnSpc>
              <a:spcAft>
                <a:spcPts val="0"/>
              </a:spcAft>
            </a:pPr>
            <a:r>
              <a:rPr sz="850" i="0">
                <a:solidFill>
                  <a:srgbClr val="E6EDF3"/>
                </a:solidFill>
                <a:latin typeface="Consolas"/>
              </a:rPr>
              <a:t>tests/</a:t>
            </a:r>
          </a:p>
          <a:p>
            <a:pPr>
              <a:lnSpc>
                <a:spcPts val="1100"/>
              </a:lnSpc>
              <a:spcAft>
                <a:spcPts val="0"/>
              </a:spcAft>
            </a:pPr>
            <a:r>
              <a:rPr sz="850" i="0">
                <a:solidFill>
                  <a:srgbClr val="E6EDF3"/>
                </a:solidFill>
                <a:latin typeface="Consolas"/>
              </a:rPr>
              <a:t>  test_shipping.py   # baru</a:t>
            </a:r>
          </a:p>
          <a:p>
            <a:pPr>
              <a:lnSpc>
                <a:spcPts val="1100"/>
              </a:lnSpc>
              <a:spcAft>
                <a:spcPts val="0"/>
              </a:spcAft>
            </a:pPr>
            <a:r>
              <a:rPr sz="850" i="0">
                <a:solidFill>
                  <a:srgbClr val="E6EDF3"/>
                </a:solidFill>
                <a:latin typeface="Consolas"/>
              </a:rPr>
              <a:t>  test_api.py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Contoh Hasil yang Diharapkan</a:t>
            </a:r>
          </a:p>
        </p:txBody>
      </p:sp>
      <p:pic>
        <p:nvPicPr>
          <p:cNvPr id="22" name="Image 3" descr="s02-case-post.png"/>
          <p:cNvPicPr>
            <a:picLocks noChangeAspect="1"/>
          </p:cNvPicPr>
          <p:nvPr/>
        </p:nvPicPr>
        <p:blipFill>
          <a:blip r:embed="rId2"/>
          <a:stretch>
            <a:fillRect/>
          </a:stretch>
        </p:blipFill>
        <p:spPr>
          <a:xfrm>
            <a:off x="621792" y="1481328"/>
            <a:ext cx="2460322" cy="3218688"/>
          </a:xfrm>
          <a:prstGeom prst="rect">
            <a:avLst/>
          </a:prstGeom>
          <a:ln w="9525">
            <a:solidFill>
              <a:srgbClr val="D0D5DD"/>
            </a:solidFill>
          </a:ln>
        </p:spPr>
      </p:pic>
      <p:sp>
        <p:nvSpPr>
          <p:cNvPr id="23" name="Text 4"/>
          <p:cNvSpPr txBox="1"/>
          <p:nvPr/>
        </p:nvSpPr>
        <p:spPr>
          <a:xfrm>
            <a:off x="3291840" y="1481328"/>
            <a:ext cx="2377440" cy="2377440"/>
          </a:xfrm>
          <a:prstGeom prst="rect">
            <a:avLst/>
          </a:prstGeom>
          <a:noFill/>
        </p:spPr>
        <p:txBody>
          <a:bodyPr wrap="square" anchor="t" lIns="45720" rIns="45720">
            <a:spAutoFit/>
          </a:bodyPr>
          <a:lstStyle/>
          <a:p>
            <a:pPr algn="l">
              <a:lnSpc>
                <a:spcPct val="115000"/>
              </a:lnSpc>
              <a:spcAft>
                <a:spcPts val="400"/>
              </a:spcAft>
            </a:pPr>
            <a:r>
              <a:rPr sz="1050" i="0" b="1">
                <a:solidFill>
                  <a:srgbClr val="1C4587"/>
                </a:solidFill>
                <a:latin typeface="Inter"/>
              </a:rPr>
              <a:t>Kurir jne</a:t>
            </a:r>
          </a:p>
          <a:p>
            <a:pPr algn="l">
              <a:lnSpc>
                <a:spcPct val="115000"/>
              </a:lnSpc>
              <a:spcAft>
                <a:spcPts val="400"/>
              </a:spcAft>
            </a:pPr>
            <a:r>
              <a:rPr sz="950" i="0" b="0">
                <a:solidFill>
                  <a:srgbClr val="434343"/>
                </a:solidFill>
                <a:latin typeface="Inter"/>
              </a:rPr>
              <a:t>Belanja 2 × Rp100.000, customer regular:</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subtotal 200.000</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ongkir 15.000</a:t>
            </a:r>
          </a:p>
          <a:p>
            <a:pPr algn="l" marL="182880" indent="-182880">
              <a:lnSpc>
                <a:spcPct val="115000"/>
              </a:lnSpc>
              <a:spcAft>
                <a:spcPts val="400"/>
              </a:spcAft>
              <a:buClr>
                <a:srgbClr val="E0764F"/>
              </a:buClr>
              <a:buSzPct val="100000"/>
              <a:buFont typeface="Arial"/>
              <a:buChar char="•"/>
            </a:pPr>
            <a:r>
              <a:rPr sz="950" i="0" b="1">
                <a:solidFill>
                  <a:srgbClr val="434343"/>
                </a:solidFill>
                <a:latin typeface="Inter"/>
              </a:rPr>
              <a:t>total 215.000</a:t>
            </a:r>
          </a:p>
        </p:txBody>
      </p:sp>
      <p:pic>
        <p:nvPicPr>
          <p:cNvPr id="24" name="Image 5" descr="s02-case-400-resp.png"/>
          <p:cNvPicPr>
            <a:picLocks noChangeAspect="1"/>
          </p:cNvPicPr>
          <p:nvPr/>
        </p:nvPicPr>
        <p:blipFill>
          <a:blip r:embed="rId3"/>
          <a:stretch>
            <a:fillRect/>
          </a:stretch>
        </p:blipFill>
        <p:spPr>
          <a:xfrm>
            <a:off x="5760720" y="1481328"/>
            <a:ext cx="2724912" cy="699751"/>
          </a:xfrm>
          <a:prstGeom prst="rect">
            <a:avLst/>
          </a:prstGeom>
          <a:ln w="9525">
            <a:solidFill>
              <a:srgbClr val="D0D5DD"/>
            </a:solidFill>
          </a:ln>
        </p:spPr>
      </p:pic>
      <p:sp>
        <p:nvSpPr>
          <p:cNvPr id="25" name="Text 6"/>
          <p:cNvSpPr txBox="1"/>
          <p:nvPr/>
        </p:nvSpPr>
        <p:spPr>
          <a:xfrm>
            <a:off x="5760720" y="2240280"/>
            <a:ext cx="2724912" cy="457200"/>
          </a:xfrm>
          <a:prstGeom prst="rect">
            <a:avLst/>
          </a:prstGeom>
          <a:noFill/>
        </p:spPr>
        <p:txBody>
          <a:bodyPr wrap="square" anchor="t" lIns="45720" rIns="45720">
            <a:spAutoFit/>
          </a:bodyPr>
          <a:lstStyle/>
          <a:p>
            <a:pPr algn="l">
              <a:lnSpc>
                <a:spcPct val="115000"/>
              </a:lnSpc>
              <a:spcAft>
                <a:spcPts val="400"/>
              </a:spcAft>
            </a:pPr>
            <a:r>
              <a:rPr sz="850" i="0" b="0">
                <a:solidFill>
                  <a:srgbClr val="7A7A7A"/>
                </a:solidFill>
                <a:latin typeface="Inter"/>
              </a:rPr>
              <a:t>Kurir </a:t>
            </a:r>
            <a:r>
              <a:rPr sz="850" i="0" b="0">
                <a:solidFill>
                  <a:srgbClr val="B5482A"/>
                </a:solidFill>
                <a:latin typeface="Consolas"/>
              </a:rPr>
              <a:t>gojek</a:t>
            </a:r>
            <a:r>
              <a:rPr sz="850" i="0" b="0">
                <a:solidFill>
                  <a:srgbClr val="7A7A7A"/>
                </a:solidFill>
                <a:latin typeface="Inter"/>
              </a:rPr>
              <a:t> ditolak: 400</a:t>
            </a:r>
          </a:p>
        </p:txBody>
      </p:sp>
      <p:sp>
        <p:nvSpPr>
          <p:cNvPr id="26" name="Text 7"/>
          <p:cNvSpPr txBox="1"/>
          <p:nvPr/>
        </p:nvSpPr>
        <p:spPr>
          <a:xfrm>
            <a:off x="3291840" y="3840480"/>
            <a:ext cx="5193792" cy="822960"/>
          </a:xfrm>
          <a:prstGeom prst="rect">
            <a:avLst/>
          </a:prstGeom>
          <a:noFill/>
        </p:spPr>
        <p:txBody>
          <a:bodyPr wrap="square" anchor="t" lIns="45720" rIns="45720">
            <a:spAutoFit/>
          </a:bodyPr>
          <a:lstStyle/>
          <a:p>
            <a:pPr algn="l">
              <a:lnSpc>
                <a:spcPct val="115000"/>
              </a:lnSpc>
              <a:spcAft>
                <a:spcPts val="400"/>
              </a:spcAft>
            </a:pPr>
            <a:r>
              <a:rPr sz="950" i="0" b="0">
                <a:solidFill>
                  <a:srgbClr val="1C4587"/>
                </a:solidFill>
                <a:latin typeface="Inter"/>
              </a:rPr>
              <a:t>Kunci jawaban ada di </a:t>
            </a:r>
            <a:r>
              <a:rPr sz="950" i="0" b="0">
                <a:solidFill>
                  <a:srgbClr val="B5482A"/>
                </a:solidFill>
                <a:latin typeface="Consolas"/>
              </a:rPr>
              <a:t>08-studi-kasus-ongkir/after/</a:t>
            </a:r>
            <a:r>
              <a:rPr sz="950" i="0" b="0">
                <a:solidFill>
                  <a:srgbClr val="1C4587"/>
                </a:solidFill>
                <a:latin typeface="Inter"/>
              </a:rPr>
              <a:t>. Soal lengkap ada di README folder itu.</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Kriteria Selesai</a:t>
            </a:r>
          </a:p>
        </p:txBody>
      </p:sp>
      <p:sp>
        <p:nvSpPr>
          <p:cNvPr id="22" name="Box 3"/>
          <p:cNvSpPr/>
          <p:nvPr/>
        </p:nvSpPr>
        <p:spPr>
          <a:xfrm>
            <a:off x="621792" y="1481328"/>
            <a:ext cx="3931920"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Text 4"/>
          <p:cNvSpPr txBox="1"/>
          <p:nvPr/>
        </p:nvSpPr>
        <p:spPr>
          <a:xfrm>
            <a:off x="758952" y="1572768"/>
            <a:ext cx="3657600" cy="310896"/>
          </a:xfrm>
          <a:prstGeom prst="rect">
            <a:avLst/>
          </a:prstGeom>
          <a:noFill/>
        </p:spPr>
        <p:txBody>
          <a:bodyPr wrap="square" anchor="t" lIns="45720" rIns="45720">
            <a:spAutoFit/>
          </a:bodyPr>
          <a:lstStyle/>
          <a:p>
            <a:pPr algn="l">
              <a:lnSpc>
                <a:spcPct val="115000"/>
              </a:lnSpc>
              <a:spcAft>
                <a:spcPts val="400"/>
              </a:spcAft>
            </a:pPr>
            <a:r>
              <a:rPr sz="1100" i="0" b="1">
                <a:solidFill>
                  <a:srgbClr val="2E7D5B"/>
                </a:solidFill>
                <a:latin typeface="Inter"/>
              </a:rPr>
              <a:t>Checklist</a:t>
            </a:r>
          </a:p>
        </p:txBody>
      </p:sp>
      <p:sp>
        <p:nvSpPr>
          <p:cNvPr id="24" name="Text 5"/>
          <p:cNvSpPr txBox="1"/>
          <p:nvPr/>
        </p:nvSpPr>
        <p:spPr>
          <a:xfrm>
            <a:off x="758952" y="1892808"/>
            <a:ext cx="3657600" cy="2715768"/>
          </a:xfrm>
          <a:prstGeom prst="rect">
            <a:avLst/>
          </a:prstGeom>
          <a:noFill/>
        </p:spPr>
        <p:txBody>
          <a:bodyPr wrap="square" anchor="t" lIns="45720" rIns="45720">
            <a:spAutoFit/>
          </a:bodyPr>
          <a:lstStyle/>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Ongkir sesuai tabel, gratis ongkir mulai Rp500.000 setelah diskon</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Kurir tidak dikenal → 400 </a:t>
            </a:r>
            <a:r>
              <a:rPr sz="950" i="0" b="0">
                <a:solidFill>
                  <a:srgbClr val="B5482A"/>
                </a:solidFill>
                <a:latin typeface="Consolas"/>
              </a:rPr>
              <a:t>Kurir tidak dikenal</a:t>
            </a:r>
          </a:p>
          <a:p>
            <a:pPr algn="l" marL="182880" indent="-182880">
              <a:lnSpc>
                <a:spcPct val="115000"/>
              </a:lnSpc>
              <a:spcAft>
                <a:spcPts val="400"/>
              </a:spcAft>
              <a:buClr>
                <a:srgbClr val="E0764F"/>
              </a:buClr>
              <a:buSzPct val="100000"/>
              <a:buFont typeface="Arial"/>
              <a:buChar char="•"/>
            </a:pPr>
            <a:r>
              <a:rPr sz="950" i="0" b="0">
                <a:solidFill>
                  <a:srgbClr val="B5482A"/>
                </a:solidFill>
                <a:latin typeface="Consolas"/>
              </a:rPr>
              <a:t>courier</a:t>
            </a:r>
            <a:r>
              <a:rPr sz="950" i="0" b="0">
                <a:solidFill>
                  <a:srgbClr val="434343"/>
                </a:solidFill>
                <a:latin typeface="Inter"/>
              </a:rPr>
              <a:t> dan </a:t>
            </a:r>
            <a:r>
              <a:rPr sz="950" i="0" b="0">
                <a:solidFill>
                  <a:srgbClr val="B5482A"/>
                </a:solidFill>
                <a:latin typeface="Consolas"/>
              </a:rPr>
              <a:t>shipping_cost</a:t>
            </a:r>
            <a:r>
              <a:rPr sz="950" i="0" b="0">
                <a:solidFill>
                  <a:srgbClr val="434343"/>
                </a:solidFill>
                <a:latin typeface="Inter"/>
              </a:rPr>
              <a:t> tersimpan, </a:t>
            </a:r>
            <a:r>
              <a:rPr sz="950" i="0" b="0">
                <a:solidFill>
                  <a:srgbClr val="B5482A"/>
                </a:solidFill>
                <a:latin typeface="Consolas"/>
              </a:rPr>
              <a:t>GET /orders/{id}</a:t>
            </a:r>
            <a:r>
              <a:rPr sz="950" i="0" b="0">
                <a:solidFill>
                  <a:srgbClr val="434343"/>
                </a:solidFill>
                <a:latin typeface="Inter"/>
              </a:rPr>
              <a:t> sama dengan response POST</a:t>
            </a:r>
          </a:p>
          <a:p>
            <a:pPr algn="l" marL="182880" indent="-182880">
              <a:lnSpc>
                <a:spcPct val="115000"/>
              </a:lnSpc>
              <a:spcAft>
                <a:spcPts val="400"/>
              </a:spcAft>
              <a:buClr>
                <a:srgbClr val="E0764F"/>
              </a:buClr>
              <a:buSzPct val="100000"/>
              <a:buFont typeface="Arial"/>
              <a:buChar char="•"/>
            </a:pPr>
            <a:r>
              <a:rPr sz="950" i="0" b="0">
                <a:solidFill>
                  <a:srgbClr val="B5482A"/>
                </a:solidFill>
                <a:latin typeface="Consolas"/>
              </a:rPr>
              <a:t>domain/</a:t>
            </a:r>
            <a:r>
              <a:rPr sz="950" i="0" b="0">
                <a:solidFill>
                  <a:srgbClr val="434343"/>
                </a:solidFill>
                <a:latin typeface="Inter"/>
              </a:rPr>
              <a:t> &amp; </a:t>
            </a:r>
            <a:r>
              <a:rPr sz="950" i="0" b="0">
                <a:solidFill>
                  <a:srgbClr val="B5482A"/>
                </a:solidFill>
                <a:latin typeface="Consolas"/>
              </a:rPr>
              <a:t>application/</a:t>
            </a:r>
            <a:r>
              <a:rPr sz="950" i="0" b="0">
                <a:solidFill>
                  <a:srgbClr val="434343"/>
                </a:solidFill>
                <a:latin typeface="Inter"/>
              </a:rPr>
              <a:t> tetap tanpa </a:t>
            </a:r>
            <a:r>
              <a:rPr sz="950" i="0" b="0">
                <a:solidFill>
                  <a:srgbClr val="B5482A"/>
                </a:solidFill>
                <a:latin typeface="Consolas"/>
              </a:rPr>
              <a:t>fastapi</a:t>
            </a:r>
            <a:r>
              <a:rPr sz="950" i="0" b="0">
                <a:solidFill>
                  <a:srgbClr val="434343"/>
                </a:solidFill>
                <a:latin typeface="Inter"/>
              </a:rPr>
              <a:t>/</a:t>
            </a:r>
            <a:r>
              <a:rPr sz="950" i="0" b="0">
                <a:solidFill>
                  <a:srgbClr val="B5482A"/>
                </a:solidFill>
                <a:latin typeface="Consolas"/>
              </a:rPr>
              <a:t>sqlite3</a:t>
            </a:r>
          </a:p>
          <a:p>
            <a:pPr algn="l" marL="182880" indent="-182880">
              <a:lnSpc>
                <a:spcPct val="115000"/>
              </a:lnSpc>
              <a:spcAft>
                <a:spcPts val="400"/>
              </a:spcAft>
              <a:buClr>
                <a:srgbClr val="E0764F"/>
              </a:buClr>
              <a:buSzPct val="100000"/>
              <a:buFont typeface="Arial"/>
              <a:buChar char="•"/>
            </a:pPr>
            <a:r>
              <a:rPr sz="950" i="0" b="0">
                <a:solidFill>
                  <a:srgbClr val="434343"/>
                </a:solidFill>
                <a:latin typeface="Inter"/>
              </a:rPr>
              <a:t>Kurir baru cukup ditambah di file aturan ongkir</a:t>
            </a:r>
          </a:p>
          <a:p>
            <a:pPr algn="l" marL="182880" indent="-182880">
              <a:lnSpc>
                <a:spcPct val="115000"/>
              </a:lnSpc>
              <a:spcAft>
                <a:spcPts val="400"/>
              </a:spcAft>
              <a:buClr>
                <a:srgbClr val="E0764F"/>
              </a:buClr>
              <a:buSzPct val="100000"/>
              <a:buFont typeface="Arial"/>
              <a:buChar char="•"/>
            </a:pPr>
            <a:r>
              <a:rPr sz="950" i="0" b="0">
                <a:solidFill>
                  <a:srgbClr val="B5482A"/>
                </a:solidFill>
                <a:latin typeface="Consolas"/>
              </a:rPr>
              <a:t>pytest</a:t>
            </a:r>
            <a:r>
              <a:rPr sz="950" i="0" b="0">
                <a:solidFill>
                  <a:srgbClr val="434343"/>
                </a:solidFill>
                <a:latin typeface="Inter"/>
              </a:rPr>
              <a:t> hijau, termasuk test baru</a:t>
            </a:r>
          </a:p>
        </p:txBody>
      </p:sp>
      <p:pic>
        <p:nvPicPr>
          <p:cNvPr id="25" name="Image 6" descr="s02-case-pytest.png"/>
          <p:cNvPicPr>
            <a:picLocks noChangeAspect="1"/>
          </p:cNvPicPr>
          <p:nvPr/>
        </p:nvPicPr>
        <p:blipFill>
          <a:blip r:embed="rId2"/>
          <a:stretch>
            <a:fillRect/>
          </a:stretch>
        </p:blipFill>
        <p:spPr>
          <a:xfrm>
            <a:off x="4709160" y="1481328"/>
            <a:ext cx="3776472" cy="2253009"/>
          </a:xfrm>
          <a:prstGeom prst="rect">
            <a:avLst/>
          </a:prstGeom>
          <a:ln w="9525">
            <a:solidFill>
              <a:srgbClr val="D0D5DD"/>
            </a:solidFill>
          </a:ln>
        </p:spPr>
      </p:pic>
      <p:sp>
        <p:nvSpPr>
          <p:cNvPr id="26" name="Text 7"/>
          <p:cNvSpPr txBox="1"/>
          <p:nvPr/>
        </p:nvSpPr>
        <p:spPr>
          <a:xfrm>
            <a:off x="4709160" y="3840480"/>
            <a:ext cx="3776472" cy="822960"/>
          </a:xfrm>
          <a:prstGeom prst="rect">
            <a:avLst/>
          </a:prstGeom>
          <a:noFill/>
        </p:spPr>
        <p:txBody>
          <a:bodyPr wrap="square" anchor="t" lIns="45720" rIns="45720">
            <a:spAutoFit/>
          </a:bodyPr>
          <a:lstStyle/>
          <a:p>
            <a:pPr algn="l">
              <a:lnSpc>
                <a:spcPct val="115000"/>
              </a:lnSpc>
              <a:spcAft>
                <a:spcPts val="400"/>
              </a:spcAft>
            </a:pPr>
            <a:r>
              <a:rPr sz="900" i="0" b="0">
                <a:solidFill>
                  <a:srgbClr val="7A7A7A"/>
                </a:solidFill>
                <a:latin typeface="Inter"/>
              </a:rPr>
              <a:t>Output </a:t>
            </a:r>
            <a:r>
              <a:rPr sz="900" i="0" b="0">
                <a:solidFill>
                  <a:srgbClr val="B5482A"/>
                </a:solidFill>
                <a:latin typeface="Consolas"/>
              </a:rPr>
              <a:t>pytest -v</a:t>
            </a:r>
            <a:r>
              <a:rPr sz="900" i="0" b="0">
                <a:solidFill>
                  <a:srgbClr val="7A7A7A"/>
                </a:solidFill>
                <a:latin typeface="Inter"/>
              </a:rPr>
              <a:t> kunci jawaban: 16 passed. Hapus </a:t>
            </a:r>
            <a:r>
              <a:rPr sz="900" i="0" b="0">
                <a:solidFill>
                  <a:srgbClr val="B5482A"/>
                </a:solidFill>
                <a:latin typeface="Consolas"/>
              </a:rPr>
              <a:t>orders.db</a:t>
            </a:r>
            <a:r>
              <a:rPr sz="900" i="0" b="0">
                <a:solidFill>
                  <a:srgbClr val="7A7A7A"/>
                </a:solidFill>
                <a:latin typeface="Inter"/>
              </a:rPr>
              <a:t> lama sebelum menjalankan aplikasi, karena struktur tabelnya berubah.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 name="Google Shape;1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Text 1"/>
          <p:cNvSpPr txBox="1"/>
          <p:nvPr/>
        </p:nvSpPr>
        <p:spPr>
          <a:xfrm>
            <a:off x="621792" y="731520"/>
            <a:ext cx="7863840" cy="292608"/>
          </a:xfrm>
          <a:prstGeom prst="rect">
            <a:avLst/>
          </a:prstGeom>
          <a:noFill/>
        </p:spPr>
        <p:txBody>
          <a:bodyPr wrap="square" anchor="t" tIns="91440" bIns="91440">
            <a:spAutoFit/>
          </a:bodyPr>
          <a:lstStyle/>
          <a:p>
            <a:pPr algn="l">
              <a:lnSpc>
                <a:spcPct val="115000"/>
              </a:lnSpc>
              <a:spcAft>
                <a:spcPts val="400"/>
              </a:spcAft>
            </a:pPr>
            <a:r>
              <a:rPr sz="1300" i="1" b="0">
                <a:solidFill>
                  <a:srgbClr val="E0764F"/>
                </a:solidFill>
                <a:latin typeface="Inter"/>
              </a:rPr>
              <a:t>Penutup</a:t>
            </a:r>
          </a:p>
        </p:txBody>
      </p:sp>
      <p:sp>
        <p:nvSpPr>
          <p:cNvPr id="21" name="Text 2"/>
          <p:cNvSpPr txBox="1"/>
          <p:nvPr/>
        </p:nvSpPr>
        <p:spPr>
          <a:xfrm>
            <a:off x="621792" y="969264"/>
            <a:ext cx="7863840" cy="457200"/>
          </a:xfrm>
          <a:prstGeom prst="rect">
            <a:avLst/>
          </a:prstGeom>
          <a:noFill/>
        </p:spPr>
        <p:txBody>
          <a:bodyPr wrap="square" anchor="t" tIns="91440" bIns="91440">
            <a:spAutoFit/>
          </a:bodyPr>
          <a:lstStyle/>
          <a:p>
            <a:pPr algn="l">
              <a:lnSpc>
                <a:spcPct val="115000"/>
              </a:lnSpc>
              <a:spcAft>
                <a:spcPts val="400"/>
              </a:spcAft>
            </a:pPr>
            <a:r>
              <a:rPr sz="2100" i="0" b="0">
                <a:solidFill>
                  <a:srgbClr val="1C4587"/>
                </a:solidFill>
                <a:latin typeface="Work Sans ExtraBold"/>
              </a:rPr>
              <a:t>Rangkuman</a:t>
            </a:r>
          </a:p>
        </p:txBody>
      </p:sp>
      <p:sp>
        <p:nvSpPr>
          <p:cNvPr id="22" name="Box 3"/>
          <p:cNvSpPr/>
          <p:nvPr/>
        </p:nvSpPr>
        <p:spPr>
          <a:xfrm>
            <a:off x="621792"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3" name="Text 4"/>
          <p:cNvSpPr txBox="1"/>
          <p:nvPr/>
        </p:nvSpPr>
        <p:spPr>
          <a:xfrm>
            <a:off x="758952" y="1645920"/>
            <a:ext cx="2249424" cy="310896"/>
          </a:xfrm>
          <a:prstGeom prst="rect">
            <a:avLst/>
          </a:prstGeom>
          <a:noFill/>
        </p:spPr>
        <p:txBody>
          <a:bodyPr wrap="square" anchor="t" lIns="45720" rIns="45720">
            <a:spAutoFit/>
          </a:bodyPr>
          <a:lstStyle/>
          <a:p>
            <a:pPr algn="l">
              <a:lnSpc>
                <a:spcPct val="115000"/>
              </a:lnSpc>
              <a:spcAft>
                <a:spcPts val="400"/>
              </a:spcAft>
            </a:pPr>
            <a:r>
              <a:rPr sz="1150" i="0" b="1">
                <a:solidFill>
                  <a:srgbClr val="1C4587"/>
                </a:solidFill>
                <a:latin typeface="Inter"/>
              </a:rPr>
              <a:t>SOLID</a:t>
            </a:r>
          </a:p>
        </p:txBody>
      </p:sp>
      <p:sp>
        <p:nvSpPr>
          <p:cNvPr id="24" name="Text 5"/>
          <p:cNvSpPr txBox="1"/>
          <p:nvPr/>
        </p:nvSpPr>
        <p:spPr>
          <a:xfrm>
            <a:off x="758952" y="1965960"/>
            <a:ext cx="2249424" cy="868680"/>
          </a:xfrm>
          <a:prstGeom prst="rect">
            <a:avLst/>
          </a:prstGeom>
          <a:noFill/>
        </p:spPr>
        <p:txBody>
          <a:bodyPr wrap="square" anchor="t" lIns="45720" rIns="45720">
            <a:spAutoFit/>
          </a:bodyPr>
          <a:lstStyle/>
          <a:p>
            <a:pPr algn="l">
              <a:lnSpc>
                <a:spcPct val="115000"/>
              </a:lnSpc>
              <a:spcAft>
                <a:spcPts val="400"/>
              </a:spcAft>
            </a:pPr>
            <a:r>
              <a:rPr sz="1000" i="0" b="0">
                <a:solidFill>
                  <a:srgbClr val="434343"/>
                </a:solidFill>
                <a:latin typeface="Inter"/>
              </a:rPr>
              <a:t>Lima prinsip supaya class mudah diubah dan dites</a:t>
            </a:r>
          </a:p>
        </p:txBody>
      </p:sp>
      <p:sp>
        <p:nvSpPr>
          <p:cNvPr id="25" name="Box 6"/>
          <p:cNvSpPr/>
          <p:nvPr/>
        </p:nvSpPr>
        <p:spPr>
          <a:xfrm>
            <a:off x="3291840"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6" name="Text 7"/>
          <p:cNvSpPr txBox="1"/>
          <p:nvPr/>
        </p:nvSpPr>
        <p:spPr>
          <a:xfrm>
            <a:off x="3429000" y="1645920"/>
            <a:ext cx="2249424" cy="310896"/>
          </a:xfrm>
          <a:prstGeom prst="rect">
            <a:avLst/>
          </a:prstGeom>
          <a:noFill/>
        </p:spPr>
        <p:txBody>
          <a:bodyPr wrap="square" anchor="t" lIns="45720" rIns="45720">
            <a:spAutoFit/>
          </a:bodyPr>
          <a:lstStyle/>
          <a:p>
            <a:pPr algn="l">
              <a:lnSpc>
                <a:spcPct val="115000"/>
              </a:lnSpc>
              <a:spcAft>
                <a:spcPts val="400"/>
              </a:spcAft>
            </a:pPr>
            <a:r>
              <a:rPr sz="1150" i="0" b="1">
                <a:solidFill>
                  <a:srgbClr val="1C4587"/>
                </a:solidFill>
                <a:latin typeface="Inter"/>
              </a:rPr>
              <a:t>Code smell</a:t>
            </a:r>
          </a:p>
        </p:txBody>
      </p:sp>
      <p:sp>
        <p:nvSpPr>
          <p:cNvPr id="27" name="Text 8"/>
          <p:cNvSpPr txBox="1"/>
          <p:nvPr/>
        </p:nvSpPr>
        <p:spPr>
          <a:xfrm>
            <a:off x="3429000" y="1965960"/>
            <a:ext cx="2249424" cy="868680"/>
          </a:xfrm>
          <a:prstGeom prst="rect">
            <a:avLst/>
          </a:prstGeom>
          <a:noFill/>
        </p:spPr>
        <p:txBody>
          <a:bodyPr wrap="square" anchor="t" lIns="45720" rIns="45720">
            <a:spAutoFit/>
          </a:bodyPr>
          <a:lstStyle/>
          <a:p>
            <a:pPr algn="l">
              <a:lnSpc>
                <a:spcPct val="115000"/>
              </a:lnSpc>
              <a:spcAft>
                <a:spcPts val="400"/>
              </a:spcAft>
            </a:pPr>
            <a:r>
              <a:rPr sz="1000" i="0" b="0">
                <a:solidFill>
                  <a:srgbClr val="434343"/>
                </a:solidFill>
                <a:latin typeface="Inter"/>
              </a:rPr>
              <a:t>Class serba bisa, if/elif panjang, interface gemuk, dependency dibuat di dalam class</a:t>
            </a:r>
          </a:p>
        </p:txBody>
      </p:sp>
      <p:sp>
        <p:nvSpPr>
          <p:cNvPr id="28" name="Box 9"/>
          <p:cNvSpPr/>
          <p:nvPr/>
        </p:nvSpPr>
        <p:spPr>
          <a:xfrm>
            <a:off x="5961888"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29" name="Text 10"/>
          <p:cNvSpPr txBox="1"/>
          <p:nvPr/>
        </p:nvSpPr>
        <p:spPr>
          <a:xfrm>
            <a:off x="6099048" y="1645920"/>
            <a:ext cx="2249424" cy="310896"/>
          </a:xfrm>
          <a:prstGeom prst="rect">
            <a:avLst/>
          </a:prstGeom>
          <a:noFill/>
        </p:spPr>
        <p:txBody>
          <a:bodyPr wrap="square" anchor="t" lIns="45720" rIns="45720">
            <a:spAutoFit/>
          </a:bodyPr>
          <a:lstStyle/>
          <a:p>
            <a:pPr algn="l">
              <a:lnSpc>
                <a:spcPct val="115000"/>
              </a:lnSpc>
              <a:spcAft>
                <a:spcPts val="400"/>
              </a:spcAft>
            </a:pPr>
            <a:r>
              <a:rPr sz="1150" i="0" b="1">
                <a:solidFill>
                  <a:srgbClr val="1C4587"/>
                </a:solidFill>
                <a:latin typeface="Inter"/>
              </a:rPr>
              <a:t>Clean Architecture</a:t>
            </a:r>
          </a:p>
        </p:txBody>
      </p:sp>
      <p:sp>
        <p:nvSpPr>
          <p:cNvPr id="30" name="Text 11"/>
          <p:cNvSpPr txBox="1"/>
          <p:nvPr/>
        </p:nvSpPr>
        <p:spPr>
          <a:xfrm>
            <a:off x="6099048" y="1965960"/>
            <a:ext cx="2249424" cy="868680"/>
          </a:xfrm>
          <a:prstGeom prst="rect">
            <a:avLst/>
          </a:prstGeom>
          <a:noFill/>
        </p:spPr>
        <p:txBody>
          <a:bodyPr wrap="square" anchor="t" lIns="45720" rIns="45720">
            <a:spAutoFit/>
          </a:bodyPr>
          <a:lstStyle/>
          <a:p>
            <a:pPr algn="l">
              <a:lnSpc>
                <a:spcPct val="115000"/>
              </a:lnSpc>
              <a:spcAft>
                <a:spcPts val="400"/>
              </a:spcAft>
            </a:pPr>
            <a:r>
              <a:rPr sz="1000" i="0" b="0">
                <a:solidFill>
                  <a:srgbClr val="434343"/>
                </a:solidFill>
                <a:latin typeface="Inter"/>
              </a:rPr>
              <a:t>Domain, application, infrastructure, API</a:t>
            </a:r>
          </a:p>
        </p:txBody>
      </p:sp>
      <p:sp>
        <p:nvSpPr>
          <p:cNvPr id="31" name="Box 12"/>
          <p:cNvSpPr/>
          <p:nvPr/>
        </p:nvSpPr>
        <p:spPr>
          <a:xfrm>
            <a:off x="621792"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2" name="Text 13"/>
          <p:cNvSpPr txBox="1"/>
          <p:nvPr/>
        </p:nvSpPr>
        <p:spPr>
          <a:xfrm>
            <a:off x="758952" y="3200400"/>
            <a:ext cx="2249424" cy="310896"/>
          </a:xfrm>
          <a:prstGeom prst="rect">
            <a:avLst/>
          </a:prstGeom>
          <a:noFill/>
        </p:spPr>
        <p:txBody>
          <a:bodyPr wrap="square" anchor="t" lIns="45720" rIns="45720">
            <a:spAutoFit/>
          </a:bodyPr>
          <a:lstStyle/>
          <a:p>
            <a:pPr algn="l">
              <a:lnSpc>
                <a:spcPct val="115000"/>
              </a:lnSpc>
              <a:spcAft>
                <a:spcPts val="400"/>
              </a:spcAft>
            </a:pPr>
            <a:r>
              <a:rPr sz="1150" i="0" b="1">
                <a:solidFill>
                  <a:srgbClr val="1C4587"/>
                </a:solidFill>
                <a:latin typeface="Inter"/>
              </a:rPr>
              <a:t>Dependency rule</a:t>
            </a:r>
          </a:p>
        </p:txBody>
      </p:sp>
      <p:sp>
        <p:nvSpPr>
          <p:cNvPr id="33" name="Text 14"/>
          <p:cNvSpPr txBox="1"/>
          <p:nvPr/>
        </p:nvSpPr>
        <p:spPr>
          <a:xfrm>
            <a:off x="758952" y="3520440"/>
            <a:ext cx="2249424" cy="868680"/>
          </a:xfrm>
          <a:prstGeom prst="rect">
            <a:avLst/>
          </a:prstGeom>
          <a:noFill/>
        </p:spPr>
        <p:txBody>
          <a:bodyPr wrap="square" anchor="t" lIns="45720" rIns="45720">
            <a:spAutoFit/>
          </a:bodyPr>
          <a:lstStyle/>
          <a:p>
            <a:pPr algn="l">
              <a:lnSpc>
                <a:spcPct val="115000"/>
              </a:lnSpc>
              <a:spcAft>
                <a:spcPts val="400"/>
              </a:spcAft>
            </a:pPr>
            <a:r>
              <a:rPr sz="1000" i="0" b="0">
                <a:solidFill>
                  <a:srgbClr val="434343"/>
                </a:solidFill>
                <a:latin typeface="Inter"/>
              </a:rPr>
              <a:t>Import hanya boleh mengarah ke layer yang lebih dalam</a:t>
            </a:r>
          </a:p>
        </p:txBody>
      </p:sp>
      <p:sp>
        <p:nvSpPr>
          <p:cNvPr id="34" name="Box 15"/>
          <p:cNvSpPr/>
          <p:nvPr/>
        </p:nvSpPr>
        <p:spPr>
          <a:xfrm>
            <a:off x="3291840"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5" name="Text 16"/>
          <p:cNvSpPr txBox="1"/>
          <p:nvPr/>
        </p:nvSpPr>
        <p:spPr>
          <a:xfrm>
            <a:off x="3429000" y="3200400"/>
            <a:ext cx="2249424" cy="310896"/>
          </a:xfrm>
          <a:prstGeom prst="rect">
            <a:avLst/>
          </a:prstGeom>
          <a:noFill/>
        </p:spPr>
        <p:txBody>
          <a:bodyPr wrap="square" anchor="t" lIns="45720" rIns="45720">
            <a:spAutoFit/>
          </a:bodyPr>
          <a:lstStyle/>
          <a:p>
            <a:pPr algn="l">
              <a:lnSpc>
                <a:spcPct val="115000"/>
              </a:lnSpc>
              <a:spcAft>
                <a:spcPts val="400"/>
              </a:spcAft>
            </a:pPr>
            <a:r>
              <a:rPr sz="1150" i="0" b="1">
                <a:solidFill>
                  <a:srgbClr val="1C4587"/>
                </a:solidFill>
                <a:latin typeface="Inter"/>
              </a:rPr>
              <a:t>Ports &amp; Adapters</a:t>
            </a:r>
          </a:p>
        </p:txBody>
      </p:sp>
      <p:sp>
        <p:nvSpPr>
          <p:cNvPr id="36" name="Text 17"/>
          <p:cNvSpPr txBox="1"/>
          <p:nvPr/>
        </p:nvSpPr>
        <p:spPr>
          <a:xfrm>
            <a:off x="3429000" y="3520440"/>
            <a:ext cx="2249424" cy="868680"/>
          </a:xfrm>
          <a:prstGeom prst="rect">
            <a:avLst/>
          </a:prstGeom>
          <a:noFill/>
        </p:spPr>
        <p:txBody>
          <a:bodyPr wrap="square" anchor="t" lIns="45720" rIns="45720">
            <a:spAutoFit/>
          </a:bodyPr>
          <a:lstStyle/>
          <a:p>
            <a:pPr algn="l">
              <a:lnSpc>
                <a:spcPct val="115000"/>
              </a:lnSpc>
              <a:spcAft>
                <a:spcPts val="400"/>
              </a:spcAft>
            </a:pPr>
            <a:r>
              <a:rPr sz="1000" i="0" b="0">
                <a:solidFill>
                  <a:srgbClr val="434343"/>
                </a:solidFill>
                <a:latin typeface="Inter"/>
              </a:rPr>
              <a:t>Interface di application, implementasi di infrastructure</a:t>
            </a:r>
          </a:p>
        </p:txBody>
      </p:sp>
      <p:sp>
        <p:nvSpPr>
          <p:cNvPr id="37" name="Box 18"/>
          <p:cNvSpPr/>
          <p:nvPr/>
        </p:nvSpPr>
        <p:spPr>
          <a:xfrm>
            <a:off x="5961888"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ctr"/>
          </a:p>
        </p:txBody>
      </p:sp>
      <p:sp>
        <p:nvSpPr>
          <p:cNvPr id="38" name="Text 19"/>
          <p:cNvSpPr txBox="1"/>
          <p:nvPr/>
        </p:nvSpPr>
        <p:spPr>
          <a:xfrm>
            <a:off x="6099048" y="3200400"/>
            <a:ext cx="2249424" cy="310896"/>
          </a:xfrm>
          <a:prstGeom prst="rect">
            <a:avLst/>
          </a:prstGeom>
          <a:noFill/>
        </p:spPr>
        <p:txBody>
          <a:bodyPr wrap="square" anchor="t" lIns="45720" rIns="45720">
            <a:spAutoFit/>
          </a:bodyPr>
          <a:lstStyle/>
          <a:p>
            <a:pPr algn="l">
              <a:lnSpc>
                <a:spcPct val="115000"/>
              </a:lnSpc>
              <a:spcAft>
                <a:spcPts val="400"/>
              </a:spcAft>
            </a:pPr>
            <a:r>
              <a:rPr sz="1150" i="0" b="1">
                <a:solidFill>
                  <a:srgbClr val="1C4587"/>
                </a:solidFill>
                <a:latin typeface="Inter"/>
              </a:rPr>
              <a:t>Dependency Injection</a:t>
            </a:r>
          </a:p>
        </p:txBody>
      </p:sp>
      <p:sp>
        <p:nvSpPr>
          <p:cNvPr id="39" name="Text 20"/>
          <p:cNvSpPr txBox="1"/>
          <p:nvPr/>
        </p:nvSpPr>
        <p:spPr>
          <a:xfrm>
            <a:off x="6099048" y="3520440"/>
            <a:ext cx="2249424" cy="868680"/>
          </a:xfrm>
          <a:prstGeom prst="rect">
            <a:avLst/>
          </a:prstGeom>
          <a:noFill/>
        </p:spPr>
        <p:txBody>
          <a:bodyPr wrap="square" anchor="t" lIns="45720" rIns="45720">
            <a:spAutoFit/>
          </a:bodyPr>
          <a:lstStyle/>
          <a:p>
            <a:pPr algn="l">
              <a:lnSpc>
                <a:spcPct val="115000"/>
              </a:lnSpc>
              <a:spcAft>
                <a:spcPts val="400"/>
              </a:spcAft>
            </a:pPr>
            <a:r>
              <a:rPr sz="1000" i="0" b="0">
                <a:solidFill>
                  <a:srgbClr val="434343"/>
                </a:solidFill>
                <a:latin typeface="Inter"/>
              </a:rPr>
              <a:t>Teknik. </a:t>
            </a:r>
            <a:r>
              <a:rPr sz="1000" i="0" b="0">
                <a:solidFill>
                  <a:srgbClr val="B5482A"/>
                </a:solidFill>
                <a:latin typeface="Consolas"/>
              </a:rPr>
              <a:t>Depends</a:t>
            </a:r>
            <a:r>
              <a:rPr sz="1000" i="0" b="0">
                <a:solidFill>
                  <a:srgbClr val="434343"/>
                </a:solidFill>
                <a:latin typeface="Inter"/>
              </a:rPr>
              <a:t> = fitur FastAPI untuk menjalankannya</a:t>
            </a: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g2907dbd8723_0_0"/>
          <p:cNvPicPr preferRelativeResize="0"/>
          <p:nvPr/>
        </p:nvPicPr>
        <p:blipFill rotWithShape="1">
          <a:blip r:embed="rId3">
            <a:alphaModFix/>
          </a:blip>
          <a:srcRect b="0" l="0" r="0" t="0"/>
          <a:stretch/>
        </p:blipFill>
        <p:spPr>
          <a:xfrm>
            <a:off x="2843401" y="4399825"/>
            <a:ext cx="244986" cy="201168"/>
          </a:xfrm>
          <a:prstGeom prst="rect">
            <a:avLst/>
          </a:prstGeom>
          <a:noFill/>
          <a:ln>
            <a:noFill/>
          </a:ln>
        </p:spPr>
      </p:pic>
      <p:sp>
        <p:nvSpPr>
          <p:cNvPr id="254" name="Google Shape;254;g2907dbd8723_0_0"/>
          <p:cNvSpPr txBox="1"/>
          <p:nvPr/>
        </p:nvSpPr>
        <p:spPr>
          <a:xfrm>
            <a:off x="843350" y="1097280"/>
            <a:ext cx="4977000" cy="6348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7200"/>
              <a:buFont typeface="Arial"/>
              <a:buNone/>
            </a:pPr>
            <a:r>
              <a:rPr b="0" i="0" lang="en" sz="3000" u="none" cap="none" strike="noStrike">
                <a:solidFill>
                  <a:srgbClr val="FFFFFF"/>
                </a:solidFill>
                <a:latin typeface="Work Sans ExtraBold"/>
                <a:ea typeface="Work Sans ExtraBold"/>
                <a:cs typeface="Work Sans ExtraBold"/>
                <a:sym typeface="Work Sans ExtraBold"/>
              </a:rPr>
              <a:t>Source Code</a:t>
            </a:r>
            <a:endParaRPr b="0" i="0" sz="3000" u="none" cap="none" strike="noStrike">
              <a:solidFill>
                <a:srgbClr val="FFFFFF"/>
              </a:solidFill>
              <a:latin typeface="Work Sans ExtraBold"/>
              <a:ea typeface="Work Sans ExtraBold"/>
              <a:cs typeface="Work Sans ExtraBold"/>
              <a:sym typeface="Work Sans ExtraBold"/>
            </a:endParaRPr>
          </a:p>
        </p:txBody>
      </p:sp>
      <p:sp>
        <p:nvSpPr>
          <p:cNvPr id="255" name="Google Shape;255;g2907dbd8723_0_0"/>
          <p:cNvSpPr txBox="1"/>
          <p:nvPr/>
        </p:nvSpPr>
        <p:spPr>
          <a:xfrm>
            <a:off x="1230650" y="1934520"/>
            <a:ext cx="1920240" cy="451500"/>
          </a:xfrm>
          <a:prstGeom prst="rect">
            <a:avLst/>
          </a:prstGeom>
          <a:noFill/>
          <a:ln>
            <a:noFill/>
          </a:ln>
        </p:spPr>
        <p:txBody>
          <a:bodyPr anchorCtr="0" anchor="t" bIns="91425" lIns="91425" spcFirstLastPara="1" rIns="91425" wrap="non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300" u="none" cap="none" strike="noStrike">
                <a:solidFill>
                  <a:srgbClr val="FFFFFF"/>
                </a:solidFill>
                <a:latin typeface="Inter"/>
                <a:ea typeface="Inter"/>
                <a:cs typeface="Inter"/>
                <a:sym typeface="Inter"/>
              </a:rPr>
              <a:t>Sesi 2</a:t>
            </a:r>
            <a:endParaRPr b="0" i="1" sz="1500" u="none" cap="none" strike="noStrike">
              <a:solidFill>
                <a:srgbClr val="000000"/>
              </a:solidFill>
              <a:latin typeface="Inter"/>
              <a:ea typeface="Inter"/>
              <a:cs typeface="Inter"/>
              <a:sym typeface="Inter"/>
            </a:endParaRPr>
          </a:p>
        </p:txBody>
      </p:sp>
      <p:sp>
        <p:nvSpPr>
          <p:cNvPr id="256" name="Google Shape;256;g2907dbd8723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57" name="Google Shape;257;g2907dbd8723_0_0"/>
          <p:cNvPicPr preferRelativeResize="0"/>
          <p:nvPr/>
        </p:nvPicPr>
        <p:blipFill rotWithShape="1">
          <a:blip r:embed="rId4">
            <a:alphaModFix/>
          </a:blip>
          <a:srcRect b="0" l="0" r="0" t="0"/>
          <a:stretch/>
        </p:blipFill>
        <p:spPr>
          <a:xfrm>
            <a:off x="4654775" y="4399825"/>
            <a:ext cx="284713" cy="201168"/>
          </a:xfrm>
          <a:prstGeom prst="rect">
            <a:avLst/>
          </a:prstGeom>
          <a:noFill/>
          <a:ln>
            <a:noFill/>
          </a:ln>
        </p:spPr>
      </p:pic>
      <p:pic>
        <p:nvPicPr>
          <p:cNvPr id="258" name="Google Shape;258;g2907dbd8723_0_0"/>
          <p:cNvPicPr preferRelativeResize="0"/>
          <p:nvPr/>
        </p:nvPicPr>
        <p:blipFill rotWithShape="1">
          <a:blip r:embed="rId5">
            <a:alphaModFix/>
          </a:blip>
          <a:srcRect b="0" l="0" r="0" t="0"/>
          <a:stretch/>
        </p:blipFill>
        <p:spPr>
          <a:xfrm>
            <a:off x="6505899" y="4399825"/>
            <a:ext cx="198637" cy="201168"/>
          </a:xfrm>
          <a:prstGeom prst="rect">
            <a:avLst/>
          </a:prstGeom>
          <a:noFill/>
          <a:ln>
            <a:noFill/>
          </a:ln>
        </p:spPr>
      </p:pic>
      <p:pic>
        <p:nvPicPr>
          <p:cNvPr id="259" name="Google Shape;259;g2907dbd8723_0_0"/>
          <p:cNvPicPr preferRelativeResize="0"/>
          <p:nvPr/>
        </p:nvPicPr>
        <p:blipFill rotWithShape="1">
          <a:blip r:embed="rId6">
            <a:alphaModFix/>
          </a:blip>
          <a:srcRect b="0" l="0" r="0" t="0"/>
          <a:stretch/>
        </p:blipFill>
        <p:spPr>
          <a:xfrm>
            <a:off x="1028695" y="4399825"/>
            <a:ext cx="201948" cy="201168"/>
          </a:xfrm>
          <a:prstGeom prst="rect">
            <a:avLst/>
          </a:prstGeom>
          <a:noFill/>
          <a:ln>
            <a:noFill/>
          </a:ln>
        </p:spPr>
      </p:pic>
      <p:sp>
        <p:nvSpPr>
          <p:cNvPr id="260" name="Google Shape;260;g2907dbd8723_0_0"/>
          <p:cNvSpPr txBox="1"/>
          <p:nvPr/>
        </p:nvSpPr>
        <p:spPr>
          <a:xfrm>
            <a:off x="1230650" y="4338863"/>
            <a:ext cx="888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Inter"/>
                <a:ea typeface="Inter"/>
                <a:cs typeface="Inter"/>
                <a:sym typeface="Inter"/>
              </a:rPr>
              <a:t>Hacktiv8id</a:t>
            </a:r>
            <a:endParaRPr b="0" i="0" sz="900" u="none" cap="none" strike="noStrike">
              <a:solidFill>
                <a:srgbClr val="000000"/>
              </a:solidFill>
              <a:latin typeface="Arial"/>
              <a:ea typeface="Arial"/>
              <a:cs typeface="Arial"/>
              <a:sym typeface="Arial"/>
            </a:endParaRPr>
          </a:p>
        </p:txBody>
      </p:sp>
      <p:sp>
        <p:nvSpPr>
          <p:cNvPr id="261" name="Google Shape;261;g2907dbd8723_0_0"/>
          <p:cNvSpPr txBox="1"/>
          <p:nvPr/>
        </p:nvSpPr>
        <p:spPr>
          <a:xfrm>
            <a:off x="3088375" y="4338863"/>
            <a:ext cx="888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Inter"/>
                <a:ea typeface="Inter"/>
                <a:cs typeface="Inter"/>
                <a:sym typeface="Inter"/>
              </a:rPr>
              <a:t>Hacktiv8id</a:t>
            </a:r>
            <a:endParaRPr b="0" i="0" sz="900" u="none" cap="none" strike="noStrike">
              <a:solidFill>
                <a:srgbClr val="000000"/>
              </a:solidFill>
              <a:latin typeface="Arial"/>
              <a:ea typeface="Arial"/>
              <a:cs typeface="Arial"/>
              <a:sym typeface="Arial"/>
            </a:endParaRPr>
          </a:p>
        </p:txBody>
      </p:sp>
      <p:sp>
        <p:nvSpPr>
          <p:cNvPr id="262" name="Google Shape;262;g2907dbd8723_0_0"/>
          <p:cNvSpPr txBox="1"/>
          <p:nvPr/>
        </p:nvSpPr>
        <p:spPr>
          <a:xfrm>
            <a:off x="4946100" y="4338863"/>
            <a:ext cx="888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Inter"/>
                <a:ea typeface="Inter"/>
                <a:cs typeface="Inter"/>
                <a:sym typeface="Inter"/>
              </a:rPr>
              <a:t>Hacktiv8</a:t>
            </a:r>
            <a:endParaRPr b="0" i="0" sz="900" u="none" cap="none" strike="noStrike">
              <a:solidFill>
                <a:srgbClr val="000000"/>
              </a:solidFill>
              <a:latin typeface="Arial"/>
              <a:ea typeface="Arial"/>
              <a:cs typeface="Arial"/>
              <a:sym typeface="Arial"/>
            </a:endParaRPr>
          </a:p>
        </p:txBody>
      </p:sp>
      <p:sp>
        <p:nvSpPr>
          <p:cNvPr id="263" name="Google Shape;263;g2907dbd8723_0_0"/>
          <p:cNvSpPr txBox="1"/>
          <p:nvPr/>
        </p:nvSpPr>
        <p:spPr>
          <a:xfrm>
            <a:off x="6704525" y="4338875"/>
            <a:ext cx="14235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Inter"/>
                <a:ea typeface="Inter"/>
                <a:cs typeface="Inter"/>
                <a:sym typeface="Inter"/>
              </a:rPr>
              <a:t>Hacktiv8 Indonesia</a:t>
            </a:r>
            <a:endParaRPr b="0" i="0" sz="900" u="none" cap="none" strike="noStrike">
              <a:solidFill>
                <a:srgbClr val="000000"/>
              </a:solidFill>
              <a:latin typeface="Arial"/>
              <a:ea typeface="Arial"/>
              <a:cs typeface="Arial"/>
              <a:sym typeface="Arial"/>
            </a:endParaRPr>
          </a:p>
        </p:txBody>
      </p:sp>
      <p:cxnSp>
        <p:nvCxnSpPr>
          <p:cNvPr id="264" name="Google Shape;264;g2907dbd8723_0_0"/>
          <p:cNvCxnSpPr/>
          <p:nvPr/>
        </p:nvCxnSpPr>
        <p:spPr>
          <a:xfrm>
            <a:off x="3063240" y="2160270"/>
            <a:ext cx="914400" cy="9600"/>
          </a:xfrm>
          <a:prstGeom prst="straightConnector1">
            <a:avLst/>
          </a:prstGeom>
          <a:noFill/>
          <a:ln cap="flat" cmpd="sng" w="19050">
            <a:solidFill>
              <a:srgbClr val="FFF5D8"/>
            </a:solidFill>
            <a:prstDash val="solid"/>
            <a:round/>
            <a:headEnd len="sm" w="sm" type="none"/>
            <a:tailEnd len="sm" w="sm" type="none"/>
          </a:ln>
        </p:spPr>
      </p:cxnSp>
      <p:sp>
        <p:nvSpPr>
          <p:cNvPr id="265" name="Google Shape;265;g2907dbd8723_0_0">
            <a:hlinkClick r:id="rId7"/>
          </p:cNvPr>
          <p:cNvSpPr txBox="1"/>
          <p:nvPr/>
        </p:nvSpPr>
        <p:spPr>
          <a:xfrm>
            <a:off x="4206240" y="1934520"/>
            <a:ext cx="4023360" cy="451500"/>
          </a:xfrm>
          <a:prstGeom prst="rect">
            <a:avLst/>
          </a:prstGeom>
          <a:noFill/>
          <a:ln>
            <a:noFill/>
          </a:ln>
        </p:spPr>
        <p:txBody>
          <a:bodyPr anchorCtr="0" anchor="t" bIns="91425" lIns="91425" spcFirstLastPara="1" rIns="91425" wrap="none" tIns="91425">
            <a:noAutofit/>
          </a:bodyPr>
          <a:lstStyle/>
          <a:p>
            <a:pPr indent="0" lvl="0" marL="0" marR="0" rtl="0" algn="l">
              <a:lnSpc>
                <a:spcPct val="100000"/>
              </a:lnSpc>
              <a:spcBef>
                <a:spcPts val="0"/>
              </a:spcBef>
              <a:spcAft>
                <a:spcPts val="0"/>
              </a:spcAft>
              <a:buClr>
                <a:srgbClr val="000000"/>
              </a:buClr>
              <a:buSzPts val="2000"/>
              <a:buFont typeface="Arial"/>
              <a:buNone/>
            </a:pPr>
            <a:r>
              <a:rPr b="0" i="1" lang="en" sz="1200" u="sng" cap="none" strike="noStrike">
                <a:solidFill>
                  <a:schemeClr val="hlink"/>
                </a:solidFill>
                <a:latin typeface="Inter"/>
                <a:ea typeface="Inter"/>
                <a:cs typeface="Inter"/>
                <a:sym typeface="Inter"/>
                <a:hlinkClick r:id="rId8"/>
              </a:rPr>
              <a:t>github.com/bagusedghar/fastapi-intermediate</a:t>
            </a:r>
            <a:endParaRPr b="0" i="1" sz="1500" u="sng" cap="none" strike="noStrike">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